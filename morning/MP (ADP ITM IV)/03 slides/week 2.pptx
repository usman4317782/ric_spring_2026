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6256000" cy="9144000"/>
  <p:notesSz cx="9144000" cy="16256000"/>
  <p:embeddedFontLst>
    <p:embeddedFont>
      <p:font typeface="Quattrocento Sans" charset="-122" pitchFamily="34"/>
      <p:regular r:id="rId3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926"/>
        </a:solidFill>
      </p:bgPr>
    </p:bg>
    <p:spTree>
      <p:nvGrpSpPr>
        <p:cNvPr id="1" name=""/>
        <p:cNvGrpSpPr/>
        <p:nvPr/>
      </p:nvGrpSpPr>
      <p:grpSpPr>
        <a:xfrm>
          <a:off x="0" y="0"/>
          <a:ext cx="0" cy="0"/>
          <a:chOff x="0" y="0"/>
          <a:chExt cx="0" cy="0"/>
        </a:xfrm>
      </p:grpSpPr>
      <p:sp>
        <p:nvSpPr>
          <p:cNvPr id="2" name="Shape 0"/>
          <p:cNvSpPr/>
          <p:nvPr/>
        </p:nvSpPr>
        <p:spPr>
          <a:xfrm>
            <a:off x="6858000" y="2540000"/>
            <a:ext cx="2540000" cy="38100"/>
          </a:xfrm>
          <a:prstGeom prst="rect">
            <a:avLst/>
          </a:prstGeom>
          <a:solidFill>
            <a:srgbClr val="B85C38"/>
          </a:solidFill>
          <a:ln/>
        </p:spPr>
      </p:sp>
      <p:sp>
        <p:nvSpPr>
          <p:cNvPr id="3" name="Text 1"/>
          <p:cNvSpPr/>
          <p:nvPr/>
        </p:nvSpPr>
        <p:spPr>
          <a:xfrm>
            <a:off x="3048000" y="2921000"/>
            <a:ext cx="10160000" cy="381000"/>
          </a:xfrm>
          <a:prstGeom prst="rect">
            <a:avLst/>
          </a:prstGeom>
          <a:noFill/>
          <a:ln/>
        </p:spPr>
        <p:txBody>
          <a:bodyPr wrap="none" lIns="0" tIns="0" rIns="0" bIns="0" rtlCol="0" anchor="ctr"/>
          <a:lstStyle/>
          <a:p>
            <a:pPr algn="ctr">
              <a:lnSpc>
                <a:spcPct val="100000"/>
              </a:lnSpc>
            </a:pPr>
            <a:r>
              <a:rPr lang="en-US" sz="1400" spc="400" kern="0" dirty="0">
                <a:solidFill>
                  <a:srgbClr val="8C7B6B"/>
                </a:solidFill>
                <a:latin typeface="Quattrocento Sans" pitchFamily="34" charset="0"/>
                <a:ea typeface="Quattrocento Sans" pitchFamily="34" charset="-122"/>
                <a:cs typeface="Quattrocento Sans" pitchFamily="34" charset="-120"/>
              </a:rPr>
              <a:t>MULTIMEDIA PRODUCTION | WEEK 2</a:t>
            </a:r>
            <a:endParaRPr lang="en-US" sz="1600" dirty="0"/>
          </a:p>
        </p:txBody>
      </p:sp>
      <p:sp>
        <p:nvSpPr>
          <p:cNvPr id="4" name="Text 2"/>
          <p:cNvSpPr/>
          <p:nvPr/>
        </p:nvSpPr>
        <p:spPr>
          <a:xfrm>
            <a:off x="1778000" y="3429000"/>
            <a:ext cx="12700000" cy="1841500"/>
          </a:xfrm>
          <a:prstGeom prst="rect">
            <a:avLst/>
          </a:prstGeom>
          <a:noFill/>
          <a:ln/>
        </p:spPr>
        <p:txBody>
          <a:bodyPr wrap="square" lIns="0" tIns="0" rIns="0" bIns="0" rtlCol="0" anchor="ctr"/>
          <a:lstStyle/>
          <a:p>
            <a:pPr algn="ctr">
              <a:lnSpc>
                <a:spcPct val="120000"/>
              </a:lnSpc>
            </a:pPr>
            <a:r>
              <a:rPr lang="en-US" sz="4800" b="1" spc="600" kern="0" dirty="0">
                <a:solidFill>
                  <a:srgbClr val="FFFFFF"/>
                </a:solidFill>
                <a:latin typeface="QuattrocentoSans" pitchFamily="34" charset="0"/>
                <a:ea typeface="QuattrocentoSans" pitchFamily="34" charset="-122"/>
                <a:cs typeface="QuattrocentoSans" pitchFamily="34" charset="-120"/>
              </a:rPr>
              <a:t>MULTIMEDIA</a:t>
            </a:r>
            <a:endParaRPr lang="en-US" sz="4200" dirty="0"/>
          </a:p>
          <a:p>
            <a:pPr algn="ctr">
              <a:lnSpc>
                <a:spcPct val="120000"/>
              </a:lnSpc>
            </a:pPr>
            <a:r>
              <a:rPr lang="en-US" sz="4800" b="1" spc="600" kern="0" dirty="0">
                <a:solidFill>
                  <a:srgbClr val="FFFFFF"/>
                </a:solidFill>
                <a:latin typeface="QuattrocentoSans" pitchFamily="34" charset="0"/>
                <a:ea typeface="QuattrocentoSans" pitchFamily="34" charset="-122"/>
                <a:cs typeface="QuattrocentoSans" pitchFamily="34" charset="-120"/>
              </a:rPr>
              <a:t>LEARNING THEORIES</a:t>
            </a:r>
            <a:endParaRPr lang="en-US" sz="4200" dirty="0"/>
          </a:p>
        </p:txBody>
      </p:sp>
      <p:sp>
        <p:nvSpPr>
          <p:cNvPr id="5" name="Text 3"/>
          <p:cNvSpPr/>
          <p:nvPr/>
        </p:nvSpPr>
        <p:spPr>
          <a:xfrm>
            <a:off x="3048000" y="5334000"/>
            <a:ext cx="10160000" cy="508000"/>
          </a:xfrm>
          <a:prstGeom prst="rect">
            <a:avLst/>
          </a:prstGeom>
          <a:noFill/>
          <a:ln/>
        </p:spPr>
        <p:txBody>
          <a:bodyPr wrap="none" lIns="0" tIns="0" rIns="0" bIns="0" rtlCol="0" anchor="ctr"/>
          <a:lstStyle/>
          <a:p>
            <a:pPr algn="ctr">
              <a:lnSpc>
                <a:spcPct val="100000"/>
              </a:lnSpc>
            </a:pPr>
            <a:r>
              <a:rPr lang="en-US" sz="2000" dirty="0">
                <a:solidFill>
                  <a:srgbClr val="8C7B6B"/>
                </a:solidFill>
                <a:latin typeface="Quattrocento Sans" pitchFamily="34" charset="0"/>
                <a:ea typeface="Quattrocento Sans" pitchFamily="34" charset="-122"/>
                <a:cs typeface="Quattrocento Sans" pitchFamily="34" charset="-120"/>
              </a:rPr>
              <a:t>Lectures 3 &amp; 4 | Theories of Multimedia Learning</a:t>
            </a:r>
            <a:endParaRPr lang="en-US" sz="1600" dirty="0"/>
          </a:p>
        </p:txBody>
      </p:sp>
      <p:sp>
        <p:nvSpPr>
          <p:cNvPr id="6" name="Shape 4"/>
          <p:cNvSpPr/>
          <p:nvPr/>
        </p:nvSpPr>
        <p:spPr>
          <a:xfrm>
            <a:off x="6858000" y="6223000"/>
            <a:ext cx="2540000" cy="38100"/>
          </a:xfrm>
          <a:prstGeom prst="rect">
            <a:avLst/>
          </a:prstGeom>
          <a:solidFill>
            <a:srgbClr val="B85C38"/>
          </a:solidFill>
          <a:ln/>
        </p:spPr>
      </p:sp>
      <p:sp>
        <p:nvSpPr>
          <p:cNvPr id="7" name="Text 5"/>
          <p:cNvSpPr/>
          <p:nvPr/>
        </p:nvSpPr>
        <p:spPr>
          <a:xfrm>
            <a:off x="4318000" y="8128000"/>
            <a:ext cx="7620000" cy="381000"/>
          </a:xfrm>
          <a:prstGeom prst="rect">
            <a:avLst/>
          </a:prstGeom>
          <a:noFill/>
          <a:ln/>
        </p:spPr>
        <p:txBody>
          <a:bodyPr wrap="none" lIns="0" tIns="0" rIns="0" bIns="0" rtlCol="0" anchor="ctr"/>
          <a:lstStyle/>
          <a:p>
            <a:pPr algn="ctr">
              <a:lnSpc>
                <a:spcPct val="100000"/>
              </a:lnSpc>
            </a:pPr>
            <a:r>
              <a:rPr lang="en-US" sz="1300" spc="200" kern="0" dirty="0">
                <a:solidFill>
                  <a:srgbClr val="8C7B6B"/>
                </a:solidFill>
                <a:latin typeface="Quattrocento Sans" pitchFamily="34" charset="0"/>
                <a:ea typeface="Quattrocento Sans" pitchFamily="34" charset="-122"/>
                <a:cs typeface="Quattrocento Sans" pitchFamily="34" charset="-120"/>
              </a:rPr>
              <a:t>Cognitive Theory of Multimedia | Dual Coding Theory</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5334000" cy="9144000"/>
          </a:xfrm>
          <a:prstGeom prst="rect">
            <a:avLst/>
          </a:prstGeom>
          <a:solidFill>
            <a:srgbClr val="2D2926"/>
          </a:solidFill>
          <a:ln/>
        </p:spPr>
      </p:sp>
      <p:sp>
        <p:nvSpPr>
          <p:cNvPr id="3" name="Text 1"/>
          <p:cNvSpPr/>
          <p:nvPr/>
        </p:nvSpPr>
        <p:spPr>
          <a:xfrm>
            <a:off x="635000" y="1270000"/>
            <a:ext cx="4064000" cy="508000"/>
          </a:xfrm>
          <a:prstGeom prst="rect">
            <a:avLst/>
          </a:prstGeom>
          <a:noFill/>
          <a:ln/>
        </p:spPr>
        <p:txBody>
          <a:bodyPr wrap="none" lIns="0" tIns="0" rIns="0" bIns="0" rtlCol="0" anchor="ctr"/>
          <a:lstStyle/>
          <a:p>
            <a:pPr>
              <a:lnSpc>
                <a:spcPct val="100000"/>
              </a:lnSpc>
            </a:pPr>
            <a:r>
              <a:rPr lang="en-US" sz="1400" spc="400" kern="0" dirty="0">
                <a:solidFill>
                  <a:srgbClr val="B85C38"/>
                </a:solidFill>
                <a:latin typeface="Quattrocento Sans" pitchFamily="34" charset="0"/>
                <a:ea typeface="Quattrocento Sans" pitchFamily="34" charset="-122"/>
                <a:cs typeface="Quattrocento Sans" pitchFamily="34" charset="-120"/>
              </a:rPr>
              <a:t>LEARNING JOURNEY</a:t>
            </a:r>
            <a:endParaRPr lang="en-US" sz="1600" dirty="0"/>
          </a:p>
        </p:txBody>
      </p:sp>
      <p:sp>
        <p:nvSpPr>
          <p:cNvPr id="4" name="Text 2"/>
          <p:cNvSpPr/>
          <p:nvPr/>
        </p:nvSpPr>
        <p:spPr>
          <a:xfrm>
            <a:off x="635000" y="1905000"/>
            <a:ext cx="4064000" cy="762000"/>
          </a:xfrm>
          <a:prstGeom prst="rect">
            <a:avLst/>
          </a:prstGeom>
          <a:noFill/>
          <a:ln/>
        </p:spPr>
        <p:txBody>
          <a:bodyPr wrap="square" lIns="0" tIns="0" rIns="0" bIns="0" rtlCol="0" anchor="ctr"/>
          <a:lstStyle/>
          <a:p>
            <a:pPr>
              <a:lnSpc>
                <a:spcPct val="120000"/>
              </a:lnSpc>
            </a:pPr>
            <a:r>
              <a:rPr lang="en-US" sz="4200" b="1" spc="200" kern="0" dirty="0">
                <a:solidFill>
                  <a:srgbClr val="FFFFFF"/>
                </a:solidFill>
                <a:latin typeface="Quattrocento Sans" pitchFamily="34" charset="0"/>
                <a:ea typeface="Quattrocento Sans" pitchFamily="34" charset="-122"/>
                <a:cs typeface="Quattrocento Sans" pitchFamily="34" charset="-120"/>
              </a:rPr>
              <a:t>Contents</a:t>
            </a:r>
            <a:endParaRPr lang="en-US" sz="1600" dirty="0"/>
          </a:p>
        </p:txBody>
      </p:sp>
      <p:sp>
        <p:nvSpPr>
          <p:cNvPr id="5" name="Shape 3"/>
          <p:cNvSpPr/>
          <p:nvPr/>
        </p:nvSpPr>
        <p:spPr>
          <a:xfrm>
            <a:off x="635000" y="2921000"/>
            <a:ext cx="762000" cy="50800"/>
          </a:xfrm>
          <a:prstGeom prst="rect">
            <a:avLst/>
          </a:prstGeom>
          <a:solidFill>
            <a:srgbClr val="B85C38"/>
          </a:solidFill>
          <a:ln/>
        </p:spPr>
      </p:sp>
      <p:sp>
        <p:nvSpPr>
          <p:cNvPr id="6" name="Text 4"/>
          <p:cNvSpPr/>
          <p:nvPr/>
        </p:nvSpPr>
        <p:spPr>
          <a:xfrm>
            <a:off x="635000" y="3302000"/>
            <a:ext cx="4064000" cy="1524000"/>
          </a:xfrm>
          <a:prstGeom prst="rect">
            <a:avLst/>
          </a:prstGeom>
          <a:noFill/>
          <a:ln/>
        </p:spPr>
        <p:txBody>
          <a:bodyPr wrap="square" lIns="0" tIns="0" rIns="0" bIns="0" rtlCol="0" anchor="t"/>
          <a:lstStyle/>
          <a:p>
            <a:pPr>
              <a:lnSpc>
                <a:spcPct val="160000"/>
              </a:lnSpc>
            </a:pPr>
            <a:r>
              <a:rPr lang="en-US" sz="1600" dirty="0">
                <a:solidFill>
                  <a:srgbClr val="8C7B6B"/>
                </a:solidFill>
                <a:latin typeface="Quattrocento Sans" pitchFamily="34" charset="0"/>
                <a:ea typeface="Quattrocento Sans" pitchFamily="34" charset="-122"/>
                <a:cs typeface="Quattrocento Sans" pitchFamily="34" charset="-120"/>
              </a:rPr>
              <a:t>An exploration of the foundational theories that guide effective multimedia design for learning.</a:t>
            </a:r>
            <a:endParaRPr lang="en-US" sz="1600" dirty="0"/>
          </a:p>
        </p:txBody>
      </p:sp>
      <p:sp>
        <p:nvSpPr>
          <p:cNvPr id="7" name="Text 5"/>
          <p:cNvSpPr/>
          <p:nvPr/>
        </p:nvSpPr>
        <p:spPr>
          <a:xfrm>
            <a:off x="6096000" y="1524000"/>
            <a:ext cx="1016000" cy="635000"/>
          </a:xfrm>
          <a:prstGeom prst="rect">
            <a:avLst/>
          </a:prstGeom>
          <a:noFill/>
          <a:ln/>
        </p:spPr>
        <p:txBody>
          <a:bodyPr wrap="none" lIns="0" tIns="0" rIns="0" bIns="0" rtlCol="0" anchor="ctr"/>
          <a:lstStyle/>
          <a:p>
            <a:pPr>
              <a:lnSpc>
                <a:spcPct val="100000"/>
              </a:lnSpc>
            </a:pPr>
            <a:r>
              <a:rPr lang="en-US" sz="4200" b="1" dirty="0">
                <a:solidFill>
                  <a:srgbClr val="B85C38"/>
                </a:solidFill>
                <a:latin typeface="Quattrocento Sans" pitchFamily="34" charset="0"/>
                <a:ea typeface="Quattrocento Sans" pitchFamily="34" charset="-122"/>
                <a:cs typeface="Quattrocento Sans" pitchFamily="34" charset="-120"/>
              </a:rPr>
              <a:t>01</a:t>
            </a:r>
            <a:endParaRPr lang="en-US" sz="1600" dirty="0"/>
          </a:p>
        </p:txBody>
      </p:sp>
      <p:sp>
        <p:nvSpPr>
          <p:cNvPr id="8" name="Text 6"/>
          <p:cNvSpPr/>
          <p:nvPr/>
        </p:nvSpPr>
        <p:spPr>
          <a:xfrm>
            <a:off x="7239000" y="1498600"/>
            <a:ext cx="5080000" cy="381000"/>
          </a:xfrm>
          <a:prstGeom prst="rect">
            <a:avLst/>
          </a:prstGeom>
          <a:noFill/>
          <a:ln/>
        </p:spPr>
        <p:txBody>
          <a:bodyPr wrap="none" lIns="0" tIns="0" rIns="0" bIns="0" rtlCol="0" anchor="ctr"/>
          <a:lstStyle/>
          <a:p>
            <a:pPr>
              <a:lnSpc>
                <a:spcPct val="100000"/>
              </a:lnSpc>
            </a:pPr>
            <a:r>
              <a:rPr lang="en-US" sz="2200" b="1" dirty="0">
                <a:solidFill>
                  <a:srgbClr val="2D2926"/>
                </a:solidFill>
                <a:latin typeface="Quattrocento Sans" pitchFamily="34" charset="0"/>
                <a:ea typeface="Quattrocento Sans" pitchFamily="34" charset="-122"/>
                <a:cs typeface="Quattrocento Sans" pitchFamily="34" charset="-120"/>
              </a:rPr>
              <a:t>Introduction to Multimedia Learning</a:t>
            </a:r>
            <a:endParaRPr lang="en-US" sz="1600" dirty="0"/>
          </a:p>
        </p:txBody>
      </p:sp>
      <p:sp>
        <p:nvSpPr>
          <p:cNvPr id="9" name="Text 7"/>
          <p:cNvSpPr/>
          <p:nvPr/>
        </p:nvSpPr>
        <p:spPr>
          <a:xfrm>
            <a:off x="7239000" y="1930400"/>
            <a:ext cx="7620000" cy="635000"/>
          </a:xfrm>
          <a:prstGeom prst="rect">
            <a:avLst/>
          </a:prstGeom>
          <a:noFill/>
          <a:ln/>
        </p:spPr>
        <p:txBody>
          <a:bodyPr wrap="square" lIns="0" tIns="0" rIns="0" bIns="0" rtlCol="0" anchor="t"/>
          <a:lstStyle/>
          <a:p>
            <a:pPr>
              <a:lnSpc>
                <a:spcPct val="150000"/>
              </a:lnSpc>
            </a:pPr>
            <a:r>
              <a:rPr lang="en-US" sz="1500" dirty="0">
                <a:solidFill>
                  <a:srgbClr val="8C7B6B"/>
                </a:solidFill>
                <a:latin typeface="Quattrocento Sans" pitchFamily="34" charset="0"/>
                <a:ea typeface="Quattrocento Sans" pitchFamily="34" charset="-122"/>
                <a:cs typeface="Quattrocento Sans" pitchFamily="34" charset="-120"/>
              </a:rPr>
              <a:t>Understanding the foundations of how we learn from words and pictures combined</a:t>
            </a:r>
            <a:endParaRPr lang="en-US" sz="1600" dirty="0"/>
          </a:p>
        </p:txBody>
      </p:sp>
      <p:sp>
        <p:nvSpPr>
          <p:cNvPr id="10" name="Shape 8"/>
          <p:cNvSpPr/>
          <p:nvPr/>
        </p:nvSpPr>
        <p:spPr>
          <a:xfrm>
            <a:off x="6096000" y="2921000"/>
            <a:ext cx="8890000" cy="12700"/>
          </a:xfrm>
          <a:prstGeom prst="rect">
            <a:avLst/>
          </a:prstGeom>
          <a:solidFill>
            <a:srgbClr val="D5CBC2"/>
          </a:solidFill>
          <a:ln/>
        </p:spPr>
      </p:sp>
      <p:sp>
        <p:nvSpPr>
          <p:cNvPr id="11" name="Text 9"/>
          <p:cNvSpPr/>
          <p:nvPr/>
        </p:nvSpPr>
        <p:spPr>
          <a:xfrm>
            <a:off x="6096000" y="3429000"/>
            <a:ext cx="1016000" cy="635000"/>
          </a:xfrm>
          <a:prstGeom prst="rect">
            <a:avLst/>
          </a:prstGeom>
          <a:noFill/>
          <a:ln/>
        </p:spPr>
        <p:txBody>
          <a:bodyPr wrap="none" lIns="0" tIns="0" rIns="0" bIns="0" rtlCol="0" anchor="ctr"/>
          <a:lstStyle/>
          <a:p>
            <a:pPr>
              <a:lnSpc>
                <a:spcPct val="100000"/>
              </a:lnSpc>
            </a:pPr>
            <a:r>
              <a:rPr lang="en-US" sz="4200" b="1" dirty="0">
                <a:solidFill>
                  <a:srgbClr val="B85C38"/>
                </a:solidFill>
                <a:latin typeface="Quattrocento Sans" pitchFamily="34" charset="0"/>
                <a:ea typeface="Quattrocento Sans" pitchFamily="34" charset="-122"/>
                <a:cs typeface="Quattrocento Sans" pitchFamily="34" charset="-120"/>
              </a:rPr>
              <a:t>02</a:t>
            </a:r>
            <a:endParaRPr lang="en-US" sz="1600" dirty="0"/>
          </a:p>
        </p:txBody>
      </p:sp>
      <p:sp>
        <p:nvSpPr>
          <p:cNvPr id="12" name="Text 10"/>
          <p:cNvSpPr/>
          <p:nvPr/>
        </p:nvSpPr>
        <p:spPr>
          <a:xfrm>
            <a:off x="7239000" y="3403600"/>
            <a:ext cx="6350000" cy="381000"/>
          </a:xfrm>
          <a:prstGeom prst="rect">
            <a:avLst/>
          </a:prstGeom>
          <a:noFill/>
          <a:ln/>
        </p:spPr>
        <p:txBody>
          <a:bodyPr wrap="none" lIns="0" tIns="0" rIns="0" bIns="0" rtlCol="0" anchor="ctr"/>
          <a:lstStyle/>
          <a:p>
            <a:pPr>
              <a:lnSpc>
                <a:spcPct val="100000"/>
              </a:lnSpc>
            </a:pPr>
            <a:r>
              <a:rPr lang="en-US" sz="2200" b="1" dirty="0">
                <a:solidFill>
                  <a:srgbClr val="2D2926"/>
                </a:solidFill>
                <a:latin typeface="Quattrocento Sans" pitchFamily="34" charset="0"/>
                <a:ea typeface="Quattrocento Sans" pitchFamily="34" charset="-122"/>
                <a:cs typeface="Quattrocento Sans" pitchFamily="34" charset="-120"/>
              </a:rPr>
              <a:t>Cognitive Theory of Multimedia Learning</a:t>
            </a:r>
            <a:endParaRPr lang="en-US" sz="1600" dirty="0"/>
          </a:p>
        </p:txBody>
      </p:sp>
      <p:sp>
        <p:nvSpPr>
          <p:cNvPr id="13" name="Text 11"/>
          <p:cNvSpPr/>
          <p:nvPr/>
        </p:nvSpPr>
        <p:spPr>
          <a:xfrm>
            <a:off x="7239000" y="3835400"/>
            <a:ext cx="7620000" cy="635000"/>
          </a:xfrm>
          <a:prstGeom prst="rect">
            <a:avLst/>
          </a:prstGeom>
          <a:noFill/>
          <a:ln/>
        </p:spPr>
        <p:txBody>
          <a:bodyPr wrap="square" lIns="0" tIns="0" rIns="0" bIns="0" rtlCol="0" anchor="t"/>
          <a:lstStyle/>
          <a:p>
            <a:pPr>
              <a:lnSpc>
                <a:spcPct val="150000"/>
              </a:lnSpc>
            </a:pPr>
            <a:r>
              <a:rPr lang="en-US" sz="1500" dirty="0">
                <a:solidFill>
                  <a:srgbClr val="8C7B6B"/>
                </a:solidFill>
                <a:latin typeface="Quattrocento Sans" pitchFamily="34" charset="0"/>
                <a:ea typeface="Quattrocento Sans" pitchFamily="34" charset="-122"/>
                <a:cs typeface="Quattrocento Sans" pitchFamily="34" charset="-120"/>
              </a:rPr>
              <a:t>Richard Mayer's 12 evidence-based principles for multimedia instructional design</a:t>
            </a:r>
            <a:endParaRPr lang="en-US" sz="1600" dirty="0"/>
          </a:p>
        </p:txBody>
      </p:sp>
      <p:sp>
        <p:nvSpPr>
          <p:cNvPr id="14" name="Shape 12"/>
          <p:cNvSpPr/>
          <p:nvPr/>
        </p:nvSpPr>
        <p:spPr>
          <a:xfrm>
            <a:off x="6096000" y="4826000"/>
            <a:ext cx="8890000" cy="12700"/>
          </a:xfrm>
          <a:prstGeom prst="rect">
            <a:avLst/>
          </a:prstGeom>
          <a:solidFill>
            <a:srgbClr val="D5CBC2"/>
          </a:solidFill>
          <a:ln/>
        </p:spPr>
      </p:sp>
      <p:sp>
        <p:nvSpPr>
          <p:cNvPr id="15" name="Text 13"/>
          <p:cNvSpPr/>
          <p:nvPr/>
        </p:nvSpPr>
        <p:spPr>
          <a:xfrm>
            <a:off x="6096000" y="5334000"/>
            <a:ext cx="1016000" cy="635000"/>
          </a:xfrm>
          <a:prstGeom prst="rect">
            <a:avLst/>
          </a:prstGeom>
          <a:noFill/>
          <a:ln/>
        </p:spPr>
        <p:txBody>
          <a:bodyPr wrap="none" lIns="0" tIns="0" rIns="0" bIns="0" rtlCol="0" anchor="ctr"/>
          <a:lstStyle/>
          <a:p>
            <a:pPr>
              <a:lnSpc>
                <a:spcPct val="100000"/>
              </a:lnSpc>
            </a:pPr>
            <a:r>
              <a:rPr lang="en-US" sz="4200" b="1" dirty="0">
                <a:solidFill>
                  <a:srgbClr val="B85C38"/>
                </a:solidFill>
                <a:latin typeface="Quattrocento Sans" pitchFamily="34" charset="0"/>
                <a:ea typeface="Quattrocento Sans" pitchFamily="34" charset="-122"/>
                <a:cs typeface="Quattrocento Sans" pitchFamily="34" charset="-120"/>
              </a:rPr>
              <a:t>03</a:t>
            </a:r>
            <a:endParaRPr lang="en-US" sz="1600" dirty="0"/>
          </a:p>
        </p:txBody>
      </p:sp>
      <p:sp>
        <p:nvSpPr>
          <p:cNvPr id="16" name="Text 14"/>
          <p:cNvSpPr/>
          <p:nvPr/>
        </p:nvSpPr>
        <p:spPr>
          <a:xfrm>
            <a:off x="7239000" y="5308600"/>
            <a:ext cx="5080000" cy="381000"/>
          </a:xfrm>
          <a:prstGeom prst="rect">
            <a:avLst/>
          </a:prstGeom>
          <a:noFill/>
          <a:ln/>
        </p:spPr>
        <p:txBody>
          <a:bodyPr wrap="none" lIns="0" tIns="0" rIns="0" bIns="0" rtlCol="0" anchor="ctr"/>
          <a:lstStyle/>
          <a:p>
            <a:pPr>
              <a:lnSpc>
                <a:spcPct val="100000"/>
              </a:lnSpc>
            </a:pPr>
            <a:r>
              <a:rPr lang="en-US" sz="2200" b="1" dirty="0">
                <a:solidFill>
                  <a:srgbClr val="2D2926"/>
                </a:solidFill>
                <a:latin typeface="Quattrocento Sans" pitchFamily="34" charset="0"/>
                <a:ea typeface="Quattrocento Sans" pitchFamily="34" charset="-122"/>
                <a:cs typeface="Quattrocento Sans" pitchFamily="34" charset="-120"/>
              </a:rPr>
              <a:t>Dual Coding Theory</a:t>
            </a:r>
            <a:endParaRPr lang="en-US" sz="1600" dirty="0"/>
          </a:p>
        </p:txBody>
      </p:sp>
      <p:sp>
        <p:nvSpPr>
          <p:cNvPr id="17" name="Text 15"/>
          <p:cNvSpPr/>
          <p:nvPr/>
        </p:nvSpPr>
        <p:spPr>
          <a:xfrm>
            <a:off x="7239000" y="5740400"/>
            <a:ext cx="7620000" cy="635000"/>
          </a:xfrm>
          <a:prstGeom prst="rect">
            <a:avLst/>
          </a:prstGeom>
          <a:noFill/>
          <a:ln/>
        </p:spPr>
        <p:txBody>
          <a:bodyPr wrap="square" lIns="0" tIns="0" rIns="0" bIns="0" rtlCol="0" anchor="t"/>
          <a:lstStyle/>
          <a:p>
            <a:pPr>
              <a:lnSpc>
                <a:spcPct val="150000"/>
              </a:lnSpc>
            </a:pPr>
            <a:r>
              <a:rPr lang="en-US" sz="1500" dirty="0">
                <a:solidFill>
                  <a:srgbClr val="8C7B6B"/>
                </a:solidFill>
                <a:latin typeface="Quattrocento Sans" pitchFamily="34" charset="0"/>
                <a:ea typeface="Quattrocento Sans" pitchFamily="34" charset="-122"/>
                <a:cs typeface="Quattrocento Sans" pitchFamily="34" charset="-120"/>
              </a:rPr>
              <a:t>Allan Paivio's theory of verbal and visual information processing systems</a:t>
            </a:r>
            <a:endParaRPr lang="en-US" sz="1600" dirty="0"/>
          </a:p>
        </p:txBody>
      </p:sp>
      <p:sp>
        <p:nvSpPr>
          <p:cNvPr id="18" name="Shape 16"/>
          <p:cNvSpPr/>
          <p:nvPr/>
        </p:nvSpPr>
        <p:spPr>
          <a:xfrm>
            <a:off x="762000" y="8509000"/>
            <a:ext cx="508000" cy="38100"/>
          </a:xfrm>
          <a:prstGeom prst="rect">
            <a:avLst/>
          </a:prstGeom>
          <a:solidFill>
            <a:srgbClr val="B85C38"/>
          </a:solidFill>
          <a:ln/>
        </p:spPr>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ttps://kimi-img.moonshot.cn/pub/slides/okc/kslybh5rcgfge/mnt/agents/output/multimedia-theories/images/5_Free_Intricate_orange_network_Image.png">    </p:cNvPr>
          <p:cNvPicPr>
            <a:picLocks noChangeAspect="1"/>
          </p:cNvPicPr>
          <p:nvPr/>
        </p:nvPicPr>
        <p:blipFill>
          <a:blip r:embed="rId1"/>
          <a:srcRect l="0" r="0" t="21875" b="21875"/>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2926">
                  <a:alpha val="94000"/>
                </a:srgbClr>
              </a:gs>
              <a:gs pos="60000">
                <a:srgbClr val="2D2926">
                  <a:alpha val="82000"/>
                </a:srgbClr>
              </a:gs>
              <a:gs pos="100000">
                <a:srgbClr val="2D2926">
                  <a:alpha val="50000"/>
                </a:srgbClr>
              </a:gs>
            </a:gsLst>
            <a:lin ang="0" scaled="1"/>
          </a:gradFill>
          <a:ln w="12700">
            <a:solidFill>
              <a:srgbClr val="333333"/>
            </a:solidFill>
            <a:prstDash val="solid"/>
          </a:ln>
        </p:spPr>
      </p:sp>
      <p:sp>
        <p:nvSpPr>
          <p:cNvPr id="4" name="Text 1"/>
          <p:cNvSpPr/>
          <p:nvPr/>
        </p:nvSpPr>
        <p:spPr>
          <a:xfrm>
            <a:off x="762000" y="1524000"/>
            <a:ext cx="3810000" cy="1397000"/>
          </a:xfrm>
          <a:prstGeom prst="rect">
            <a:avLst/>
          </a:prstGeom>
          <a:noFill/>
          <a:ln/>
        </p:spPr>
        <p:txBody>
          <a:bodyPr wrap="none" lIns="0" tIns="0" rIns="0" bIns="0" rtlCol="0" anchor="ctr"/>
          <a:lstStyle/>
          <a:p>
            <a:pPr>
              <a:lnSpc>
                <a:spcPct val="100000"/>
              </a:lnSpc>
            </a:pPr>
            <a:r>
              <a:rPr lang="en-US" sz="9600" b="1" spc="400" kern="0" dirty="0">
                <a:solidFill>
                  <a:srgbClr val="FFFFFF">
                    <a:alpha val="8235"/>
                  </a:srgbClr>
                </a:solidFill>
                <a:latin typeface="QuattrocentoSans" pitchFamily="34" charset="0"/>
                <a:ea typeface="QuattrocentoSans" pitchFamily="34" charset="-122"/>
                <a:cs typeface="QuattrocentoSans" pitchFamily="34" charset="-120"/>
              </a:rPr>
              <a:t>01</a:t>
            </a:r>
            <a:endParaRPr lang="en-US" sz="8800" dirty="0"/>
          </a:p>
        </p:txBody>
      </p:sp>
      <p:sp>
        <p:nvSpPr>
          <p:cNvPr id="5" name="Shape 2"/>
          <p:cNvSpPr/>
          <p:nvPr/>
        </p:nvSpPr>
        <p:spPr>
          <a:xfrm>
            <a:off x="762000" y="3302000"/>
            <a:ext cx="762000" cy="50800"/>
          </a:xfrm>
          <a:prstGeom prst="rect">
            <a:avLst/>
          </a:prstGeom>
          <a:solidFill>
            <a:srgbClr val="B85C38"/>
          </a:solidFill>
          <a:ln/>
        </p:spPr>
      </p:sp>
      <p:sp>
        <p:nvSpPr>
          <p:cNvPr id="6" name="Text 3"/>
          <p:cNvSpPr/>
          <p:nvPr/>
        </p:nvSpPr>
        <p:spPr>
          <a:xfrm>
            <a:off x="762000" y="3683000"/>
            <a:ext cx="8890000" cy="635000"/>
          </a:xfrm>
          <a:prstGeom prst="rect">
            <a:avLst/>
          </a:prstGeom>
          <a:noFill/>
          <a:ln/>
        </p:spPr>
        <p:txBody>
          <a:bodyPr wrap="none" lIns="0" tIns="0" rIns="0" bIns="0" rtlCol="0" anchor="ctr"/>
          <a:lstStyle/>
          <a:p>
            <a:pPr>
              <a:lnSpc>
                <a:spcPct val="100000"/>
              </a:lnSpc>
            </a:pPr>
            <a:r>
              <a:rPr lang="en-US" sz="3600" b="1" spc="100" kern="0" dirty="0">
                <a:solidFill>
                  <a:srgbClr val="FFFFFF"/>
                </a:solidFill>
                <a:latin typeface="Quattrocento Sans" pitchFamily="34" charset="0"/>
                <a:ea typeface="Quattrocento Sans" pitchFamily="34" charset="-122"/>
                <a:cs typeface="Quattrocento Sans" pitchFamily="34" charset="-120"/>
              </a:rPr>
              <a:t>Introduction to Multimedia Learning</a:t>
            </a:r>
            <a:endParaRPr lang="en-US" sz="1600" dirty="0"/>
          </a:p>
        </p:txBody>
      </p:sp>
      <p:sp>
        <p:nvSpPr>
          <p:cNvPr id="7" name="Text 4"/>
          <p:cNvSpPr/>
          <p:nvPr/>
        </p:nvSpPr>
        <p:spPr>
          <a:xfrm>
            <a:off x="762000" y="4445000"/>
            <a:ext cx="7620000" cy="444500"/>
          </a:xfrm>
          <a:prstGeom prst="rect">
            <a:avLst/>
          </a:prstGeom>
          <a:noFill/>
          <a:ln/>
        </p:spPr>
        <p:txBody>
          <a:bodyPr wrap="none" lIns="0" tIns="0" rIns="0" bIns="0" rtlCol="0" anchor="ctr"/>
          <a:lstStyle/>
          <a:p>
            <a:pPr>
              <a:lnSpc>
                <a:spcPct val="100000"/>
              </a:lnSpc>
            </a:pPr>
            <a:r>
              <a:rPr lang="en-US" sz="1800" dirty="0">
                <a:solidFill>
                  <a:srgbClr val="8C7B6B"/>
                </a:solidFill>
                <a:latin typeface="Quattrocento Sans" pitchFamily="34" charset="0"/>
                <a:ea typeface="Quattrocento Sans" pitchFamily="34" charset="-122"/>
                <a:cs typeface="Quattrocento Sans" pitchFamily="34" charset="-120"/>
              </a:rPr>
              <a:t>Understanding the foundations of how we learn from words and pictures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889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What is Multimedia Learning?</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587500"/>
            <a:ext cx="8382000" cy="1397000"/>
          </a:xfrm>
          <a:prstGeom prst="rect">
            <a:avLst/>
          </a:prstGeom>
          <a:solidFill>
            <a:srgbClr val="EDE6DE"/>
          </a:solidFill>
          <a:ln/>
        </p:spPr>
      </p:sp>
      <p:sp>
        <p:nvSpPr>
          <p:cNvPr id="6" name="Shape 4"/>
          <p:cNvSpPr/>
          <p:nvPr/>
        </p:nvSpPr>
        <p:spPr>
          <a:xfrm>
            <a:off x="1016000" y="1841500"/>
            <a:ext cx="355600" cy="355600"/>
          </a:xfrm>
          <a:custGeom>
            <a:avLst/>
            <a:gdLst/>
            <a:ahLst/>
            <a:cxnLst/>
            <a:rect l="l" t="t" r="r" b="b"/>
            <a:pathLst>
              <a:path w="355600" h="355600">
                <a:moveTo>
                  <a:pt x="177800" y="98137"/>
                </a:moveTo>
                <a:lnTo>
                  <a:pt x="177800" y="312956"/>
                </a:lnTo>
                <a:lnTo>
                  <a:pt x="178147" y="312817"/>
                </a:lnTo>
                <a:cubicBezTo>
                  <a:pt x="216069" y="297051"/>
                  <a:pt x="256768" y="288925"/>
                  <a:pt x="297815" y="288925"/>
                </a:cubicBezTo>
                <a:lnTo>
                  <a:pt x="311150" y="288925"/>
                </a:lnTo>
                <a:lnTo>
                  <a:pt x="311150" y="66675"/>
                </a:lnTo>
                <a:lnTo>
                  <a:pt x="297815" y="66675"/>
                </a:lnTo>
                <a:cubicBezTo>
                  <a:pt x="268506" y="66675"/>
                  <a:pt x="239405" y="72509"/>
                  <a:pt x="212318" y="83760"/>
                </a:cubicBezTo>
                <a:cubicBezTo>
                  <a:pt x="200650" y="88622"/>
                  <a:pt x="189121" y="93414"/>
                  <a:pt x="177800" y="98137"/>
                </a:cubicBezTo>
                <a:close/>
                <a:moveTo>
                  <a:pt x="160367" y="42714"/>
                </a:moveTo>
                <a:lnTo>
                  <a:pt x="177800" y="50006"/>
                </a:lnTo>
                <a:lnTo>
                  <a:pt x="195233" y="42714"/>
                </a:lnTo>
                <a:cubicBezTo>
                  <a:pt x="227737" y="29170"/>
                  <a:pt x="262602" y="22225"/>
                  <a:pt x="297815" y="22225"/>
                </a:cubicBezTo>
                <a:lnTo>
                  <a:pt x="322263" y="22225"/>
                </a:lnTo>
                <a:cubicBezTo>
                  <a:pt x="340668" y="22225"/>
                  <a:pt x="355600" y="37157"/>
                  <a:pt x="355600" y="55563"/>
                </a:cubicBezTo>
                <a:lnTo>
                  <a:pt x="355600" y="300038"/>
                </a:lnTo>
                <a:cubicBezTo>
                  <a:pt x="355600" y="318443"/>
                  <a:pt x="340668" y="333375"/>
                  <a:pt x="322263" y="333375"/>
                </a:cubicBezTo>
                <a:lnTo>
                  <a:pt x="297815" y="333375"/>
                </a:lnTo>
                <a:cubicBezTo>
                  <a:pt x="262602" y="333375"/>
                  <a:pt x="227737" y="340320"/>
                  <a:pt x="195233" y="353864"/>
                </a:cubicBezTo>
                <a:lnTo>
                  <a:pt x="186343" y="357545"/>
                </a:lnTo>
                <a:cubicBezTo>
                  <a:pt x="180856" y="359837"/>
                  <a:pt x="174744" y="359837"/>
                  <a:pt x="169257" y="357545"/>
                </a:cubicBezTo>
                <a:lnTo>
                  <a:pt x="160367" y="353864"/>
                </a:lnTo>
                <a:cubicBezTo>
                  <a:pt x="127863" y="340320"/>
                  <a:pt x="92998" y="333375"/>
                  <a:pt x="57785" y="333375"/>
                </a:cubicBezTo>
                <a:lnTo>
                  <a:pt x="33337" y="333375"/>
                </a:lnTo>
                <a:cubicBezTo>
                  <a:pt x="14932" y="333375"/>
                  <a:pt x="0" y="318443"/>
                  <a:pt x="0" y="300038"/>
                </a:cubicBezTo>
                <a:lnTo>
                  <a:pt x="0" y="55563"/>
                </a:lnTo>
                <a:cubicBezTo>
                  <a:pt x="0" y="37157"/>
                  <a:pt x="14932" y="22225"/>
                  <a:pt x="33337" y="22225"/>
                </a:cubicBezTo>
                <a:lnTo>
                  <a:pt x="57785" y="22225"/>
                </a:lnTo>
                <a:cubicBezTo>
                  <a:pt x="92998" y="22225"/>
                  <a:pt x="127863" y="29170"/>
                  <a:pt x="160367" y="42714"/>
                </a:cubicBezTo>
                <a:close/>
              </a:path>
            </a:pathLst>
          </a:custGeom>
          <a:solidFill>
            <a:srgbClr val="B85C38"/>
          </a:solidFill>
          <a:ln/>
        </p:spPr>
      </p:sp>
      <p:sp>
        <p:nvSpPr>
          <p:cNvPr id="7" name="Text 5"/>
          <p:cNvSpPr/>
          <p:nvPr/>
        </p:nvSpPr>
        <p:spPr>
          <a:xfrm>
            <a:off x="1524000" y="1778000"/>
            <a:ext cx="2540000" cy="381000"/>
          </a:xfrm>
          <a:prstGeom prst="rect">
            <a:avLst/>
          </a:prstGeom>
          <a:noFill/>
          <a:ln/>
        </p:spPr>
        <p:txBody>
          <a:bodyPr wrap="none" lIns="0" tIns="0" rIns="0" bIns="0" rtlCol="0" anchor="ctr"/>
          <a:lstStyle/>
          <a:p>
            <a:pPr>
              <a:lnSpc>
                <a:spcPct val="100000"/>
              </a:lnSpc>
            </a:pPr>
            <a:r>
              <a:rPr lang="en-US" sz="1600" b="1" dirty="0">
                <a:solidFill>
                  <a:srgbClr val="B85C38"/>
                </a:solidFill>
                <a:latin typeface="Quattrocento Sans" pitchFamily="34" charset="0"/>
                <a:ea typeface="Quattrocento Sans" pitchFamily="34" charset="-122"/>
                <a:cs typeface="Quattrocento Sans" pitchFamily="34" charset="-120"/>
              </a:rPr>
              <a:t>Definition</a:t>
            </a:r>
            <a:endParaRPr lang="en-US" sz="1600" dirty="0"/>
          </a:p>
        </p:txBody>
      </p:sp>
      <p:sp>
        <p:nvSpPr>
          <p:cNvPr id="8" name="Text 6"/>
          <p:cNvSpPr/>
          <p:nvPr/>
        </p:nvSpPr>
        <p:spPr>
          <a:xfrm>
            <a:off x="1524000" y="2184400"/>
            <a:ext cx="7366000" cy="7874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Learning through a combination of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words</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(spoken or printed text) and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images</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(illustrations, charts, photos, animations, video).</a:t>
            </a:r>
            <a:endParaRPr lang="en-US" sz="1600" dirty="0"/>
          </a:p>
        </p:txBody>
      </p:sp>
      <p:sp>
        <p:nvSpPr>
          <p:cNvPr id="9" name="Shape 7"/>
          <p:cNvSpPr/>
          <p:nvPr/>
        </p:nvSpPr>
        <p:spPr>
          <a:xfrm>
            <a:off x="762000" y="3302000"/>
            <a:ext cx="8382000" cy="1016000"/>
          </a:xfrm>
          <a:prstGeom prst="rect">
            <a:avLst/>
          </a:prstGeom>
          <a:solidFill>
            <a:srgbClr val="B85C38"/>
          </a:solidFill>
          <a:ln/>
        </p:spPr>
      </p:sp>
      <p:sp>
        <p:nvSpPr>
          <p:cNvPr id="10" name="Shape 8"/>
          <p:cNvSpPr/>
          <p:nvPr/>
        </p:nvSpPr>
        <p:spPr>
          <a:xfrm>
            <a:off x="1060450" y="35560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FFFFFF"/>
          </a:solidFill>
          <a:ln/>
        </p:spPr>
      </p:sp>
      <p:sp>
        <p:nvSpPr>
          <p:cNvPr id="11" name="Text 9"/>
          <p:cNvSpPr/>
          <p:nvPr/>
        </p:nvSpPr>
        <p:spPr>
          <a:xfrm>
            <a:off x="1524000" y="3429000"/>
            <a:ext cx="3810000" cy="317500"/>
          </a:xfrm>
          <a:prstGeom prst="rect">
            <a:avLst/>
          </a:prstGeom>
          <a:noFill/>
          <a:ln/>
        </p:spPr>
        <p:txBody>
          <a:bodyPr wrap="none" lIns="0" tIns="0" rIns="0" bIns="0" rtlCol="0" anchor="ctr"/>
          <a:lstStyle/>
          <a:p>
            <a:pP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The Multimedia Principle</a:t>
            </a:r>
            <a:endParaRPr lang="en-US" sz="1600" dirty="0"/>
          </a:p>
        </p:txBody>
      </p:sp>
      <p:sp>
        <p:nvSpPr>
          <p:cNvPr id="12" name="Text 10"/>
          <p:cNvSpPr/>
          <p:nvPr/>
        </p:nvSpPr>
        <p:spPr>
          <a:xfrm>
            <a:off x="1524000" y="3784600"/>
            <a:ext cx="7366000" cy="381000"/>
          </a:xfrm>
          <a:prstGeom prst="rect">
            <a:avLst/>
          </a:prstGeom>
          <a:noFill/>
          <a:ln/>
        </p:spPr>
        <p:txBody>
          <a:bodyPr wrap="square" lIns="0" tIns="0" rIns="0" bIns="0" rtlCol="0" anchor="t"/>
          <a:lstStyle/>
          <a:p>
            <a:pPr>
              <a:lnSpc>
                <a:spcPct val="140000"/>
              </a:lnSpc>
            </a:pPr>
            <a:r>
              <a:rPr lang="en-US" sz="1500" dirty="0">
                <a:solidFill>
                  <a:srgbClr val="FFFFFF">
                    <a:alpha val="86667"/>
                  </a:srgbClr>
                </a:solidFill>
                <a:latin typeface="Quattrocento Sans" pitchFamily="34" charset="0"/>
                <a:ea typeface="Quattrocento Sans" pitchFamily="34" charset="-122"/>
                <a:cs typeface="Quattrocento Sans" pitchFamily="34" charset="-120"/>
              </a:rPr>
              <a:t>People learn more effectively from words and graphics than from words alone.</a:t>
            </a:r>
            <a:endParaRPr lang="en-US" sz="1600" dirty="0"/>
          </a:p>
        </p:txBody>
      </p:sp>
      <p:sp>
        <p:nvSpPr>
          <p:cNvPr id="13" name="Text 11"/>
          <p:cNvSpPr/>
          <p:nvPr/>
        </p:nvSpPr>
        <p:spPr>
          <a:xfrm>
            <a:off x="762000" y="4699000"/>
            <a:ext cx="3810000" cy="381000"/>
          </a:xfrm>
          <a:prstGeom prst="rect">
            <a:avLst/>
          </a:prstGeom>
          <a:noFill/>
          <a:ln/>
        </p:spPr>
        <p:txBody>
          <a:bodyPr wrap="none" lIns="0" tIns="0" rIns="0" bIns="0" rtlCol="0" anchor="ctr"/>
          <a:lstStyle/>
          <a:p>
            <a:pPr>
              <a:lnSpc>
                <a:spcPct val="100000"/>
              </a:lnSpc>
            </a:pPr>
            <a:r>
              <a:rPr lang="en-US" sz="1800" b="1" dirty="0">
                <a:solidFill>
                  <a:srgbClr val="2D2926"/>
                </a:solidFill>
                <a:latin typeface="Quattrocento Sans" pitchFamily="34" charset="0"/>
                <a:ea typeface="Quattrocento Sans" pitchFamily="34" charset="-122"/>
                <a:cs typeface="Quattrocento Sans" pitchFamily="34" charset="-120"/>
              </a:rPr>
              <a:t>Common Examples</a:t>
            </a:r>
            <a:endParaRPr lang="en-US" sz="1600" dirty="0"/>
          </a:p>
        </p:txBody>
      </p:sp>
      <p:sp>
        <p:nvSpPr>
          <p:cNvPr id="14" name="Shape 12"/>
          <p:cNvSpPr/>
          <p:nvPr/>
        </p:nvSpPr>
        <p:spPr>
          <a:xfrm>
            <a:off x="1016000" y="5334000"/>
            <a:ext cx="304800" cy="304800"/>
          </a:xfrm>
          <a:custGeom>
            <a:avLst/>
            <a:gdLst/>
            <a:ahLst/>
            <a:cxnLst/>
            <a:rect l="l" t="t" r="r" b="b"/>
            <a:pathLst>
              <a:path w="304800" h="304800">
                <a:moveTo>
                  <a:pt x="38100" y="19050"/>
                </a:moveTo>
                <a:cubicBezTo>
                  <a:pt x="17085" y="19050"/>
                  <a:pt x="0" y="36135"/>
                  <a:pt x="0" y="57150"/>
                </a:cubicBezTo>
                <a:lnTo>
                  <a:pt x="0" y="209550"/>
                </a:lnTo>
                <a:cubicBezTo>
                  <a:pt x="0" y="230565"/>
                  <a:pt x="17085" y="247650"/>
                  <a:pt x="38100" y="247650"/>
                </a:cubicBezTo>
                <a:lnTo>
                  <a:pt x="123825" y="247650"/>
                </a:lnTo>
                <a:lnTo>
                  <a:pt x="114300" y="276225"/>
                </a:lnTo>
                <a:lnTo>
                  <a:pt x="71438" y="276225"/>
                </a:lnTo>
                <a:cubicBezTo>
                  <a:pt x="63520" y="276225"/>
                  <a:pt x="57150" y="282595"/>
                  <a:pt x="57150" y="290513"/>
                </a:cubicBezTo>
                <a:cubicBezTo>
                  <a:pt x="57150" y="298430"/>
                  <a:pt x="63520" y="304800"/>
                  <a:pt x="71438" y="304800"/>
                </a:cubicBezTo>
                <a:lnTo>
                  <a:pt x="233363" y="304800"/>
                </a:lnTo>
                <a:cubicBezTo>
                  <a:pt x="241280" y="304800"/>
                  <a:pt x="247650" y="298430"/>
                  <a:pt x="247650" y="290513"/>
                </a:cubicBezTo>
                <a:cubicBezTo>
                  <a:pt x="247650" y="282595"/>
                  <a:pt x="241280" y="276225"/>
                  <a:pt x="233363" y="276225"/>
                </a:cubicBezTo>
                <a:lnTo>
                  <a:pt x="190500" y="276225"/>
                </a:lnTo>
                <a:lnTo>
                  <a:pt x="180975" y="247650"/>
                </a:lnTo>
                <a:lnTo>
                  <a:pt x="266700" y="247650"/>
                </a:lnTo>
                <a:cubicBezTo>
                  <a:pt x="287715" y="247650"/>
                  <a:pt x="304800" y="230565"/>
                  <a:pt x="304800" y="209550"/>
                </a:cubicBezTo>
                <a:lnTo>
                  <a:pt x="304800" y="57150"/>
                </a:lnTo>
                <a:cubicBezTo>
                  <a:pt x="304800" y="36135"/>
                  <a:pt x="287715" y="19050"/>
                  <a:pt x="266700" y="19050"/>
                </a:cubicBezTo>
                <a:lnTo>
                  <a:pt x="38100" y="19050"/>
                </a:lnTo>
                <a:close/>
                <a:moveTo>
                  <a:pt x="57150" y="57150"/>
                </a:moveTo>
                <a:lnTo>
                  <a:pt x="247650" y="57150"/>
                </a:lnTo>
                <a:cubicBezTo>
                  <a:pt x="258187" y="57150"/>
                  <a:pt x="266700" y="65663"/>
                  <a:pt x="266700" y="76200"/>
                </a:cubicBezTo>
                <a:lnTo>
                  <a:pt x="266700" y="171450"/>
                </a:lnTo>
                <a:cubicBezTo>
                  <a:pt x="266700" y="181987"/>
                  <a:pt x="258187" y="190500"/>
                  <a:pt x="247650" y="190500"/>
                </a:cubicBezTo>
                <a:lnTo>
                  <a:pt x="57150" y="190500"/>
                </a:lnTo>
                <a:cubicBezTo>
                  <a:pt x="46613" y="190500"/>
                  <a:pt x="38100" y="181987"/>
                  <a:pt x="38100" y="171450"/>
                </a:cubicBezTo>
                <a:lnTo>
                  <a:pt x="38100" y="76200"/>
                </a:lnTo>
                <a:cubicBezTo>
                  <a:pt x="38100" y="65663"/>
                  <a:pt x="46613" y="57150"/>
                  <a:pt x="57150" y="57150"/>
                </a:cubicBezTo>
                <a:close/>
              </a:path>
            </a:pathLst>
          </a:custGeom>
          <a:solidFill>
            <a:srgbClr val="B85C38"/>
          </a:solidFill>
          <a:ln/>
        </p:spPr>
      </p:sp>
      <p:sp>
        <p:nvSpPr>
          <p:cNvPr id="15" name="Text 13"/>
          <p:cNvSpPr/>
          <p:nvPr/>
        </p:nvSpPr>
        <p:spPr>
          <a:xfrm>
            <a:off x="1460500" y="5270500"/>
            <a:ext cx="3175000" cy="698500"/>
          </a:xfrm>
          <a:prstGeom prst="rect">
            <a:avLst/>
          </a:prstGeom>
          <a:noFill/>
          <a:ln/>
        </p:spPr>
        <p:txBody>
          <a:bodyPr wrap="square" lIns="0" tIns="0" rIns="0" bIns="0" rtlCol="0" anchor="t"/>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PowerPoint presentations with visuals</a:t>
            </a:r>
            <a:endParaRPr lang="en-US" sz="1600" dirty="0"/>
          </a:p>
        </p:txBody>
      </p:sp>
      <p:sp>
        <p:nvSpPr>
          <p:cNvPr id="16" name="Shape 14"/>
          <p:cNvSpPr/>
          <p:nvPr/>
        </p:nvSpPr>
        <p:spPr>
          <a:xfrm>
            <a:off x="4806950" y="5334000"/>
            <a:ext cx="342900" cy="304800"/>
          </a:xfrm>
          <a:custGeom>
            <a:avLst/>
            <a:gdLst/>
            <a:ahLst/>
            <a:cxnLst/>
            <a:rect l="l" t="t" r="r" b="b"/>
            <a:pathLst>
              <a:path w="342900" h="304800">
                <a:moveTo>
                  <a:pt x="57150" y="38100"/>
                </a:moveTo>
                <a:cubicBezTo>
                  <a:pt x="36135" y="38100"/>
                  <a:pt x="19050" y="55185"/>
                  <a:pt x="19050" y="76200"/>
                </a:cubicBezTo>
                <a:lnTo>
                  <a:pt x="19050" y="228600"/>
                </a:lnTo>
                <a:cubicBezTo>
                  <a:pt x="19050" y="249615"/>
                  <a:pt x="36135" y="266700"/>
                  <a:pt x="57150" y="266700"/>
                </a:cubicBezTo>
                <a:lnTo>
                  <a:pt x="209550" y="266700"/>
                </a:lnTo>
                <a:cubicBezTo>
                  <a:pt x="230565" y="266700"/>
                  <a:pt x="247650" y="249615"/>
                  <a:pt x="247650" y="228600"/>
                </a:cubicBezTo>
                <a:lnTo>
                  <a:pt x="247650" y="76200"/>
                </a:lnTo>
                <a:cubicBezTo>
                  <a:pt x="247650" y="55185"/>
                  <a:pt x="230565" y="38100"/>
                  <a:pt x="209550" y="38100"/>
                </a:cubicBezTo>
                <a:lnTo>
                  <a:pt x="57150" y="38100"/>
                </a:lnTo>
                <a:close/>
                <a:moveTo>
                  <a:pt x="276225" y="200025"/>
                </a:moveTo>
                <a:lnTo>
                  <a:pt x="319980" y="235029"/>
                </a:lnTo>
                <a:cubicBezTo>
                  <a:pt x="322481" y="237053"/>
                  <a:pt x="325576" y="238125"/>
                  <a:pt x="328791" y="238125"/>
                </a:cubicBezTo>
                <a:cubicBezTo>
                  <a:pt x="336590" y="238125"/>
                  <a:pt x="342900" y="231815"/>
                  <a:pt x="342900" y="224016"/>
                </a:cubicBezTo>
                <a:lnTo>
                  <a:pt x="342900" y="80784"/>
                </a:lnTo>
                <a:cubicBezTo>
                  <a:pt x="342900" y="72985"/>
                  <a:pt x="336590" y="66675"/>
                  <a:pt x="328791" y="66675"/>
                </a:cubicBezTo>
                <a:cubicBezTo>
                  <a:pt x="325576" y="66675"/>
                  <a:pt x="322481" y="67747"/>
                  <a:pt x="319980" y="69771"/>
                </a:cubicBezTo>
                <a:lnTo>
                  <a:pt x="276225" y="104775"/>
                </a:lnTo>
                <a:lnTo>
                  <a:pt x="276225" y="200025"/>
                </a:lnTo>
                <a:close/>
              </a:path>
            </a:pathLst>
          </a:custGeom>
          <a:solidFill>
            <a:srgbClr val="B85C38"/>
          </a:solidFill>
          <a:ln/>
        </p:spPr>
      </p:sp>
      <p:sp>
        <p:nvSpPr>
          <p:cNvPr id="17" name="Text 15"/>
          <p:cNvSpPr/>
          <p:nvPr/>
        </p:nvSpPr>
        <p:spPr>
          <a:xfrm>
            <a:off x="5270500" y="5270500"/>
            <a:ext cx="3175000" cy="698500"/>
          </a:xfrm>
          <a:prstGeom prst="rect">
            <a:avLst/>
          </a:prstGeom>
          <a:noFill/>
          <a:ln/>
        </p:spPr>
        <p:txBody>
          <a:bodyPr wrap="square" lIns="0" tIns="0" rIns="0" bIns="0" rtlCol="0" anchor="t"/>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Recorded lectures with on-screen graphics</a:t>
            </a:r>
            <a:endParaRPr lang="en-US" sz="1600" dirty="0"/>
          </a:p>
        </p:txBody>
      </p:sp>
      <p:sp>
        <p:nvSpPr>
          <p:cNvPr id="18" name="Shape 16"/>
          <p:cNvSpPr/>
          <p:nvPr/>
        </p:nvSpPr>
        <p:spPr>
          <a:xfrm>
            <a:off x="1016000" y="6223000"/>
            <a:ext cx="304800" cy="304800"/>
          </a:xfrm>
          <a:custGeom>
            <a:avLst/>
            <a:gdLst/>
            <a:ahLst/>
            <a:cxnLst/>
            <a:rect l="l" t="t" r="r" b="b"/>
            <a:pathLst>
              <a:path w="304800" h="304800">
                <a:moveTo>
                  <a:pt x="114300" y="38100"/>
                </a:moveTo>
                <a:cubicBezTo>
                  <a:pt x="114300" y="27563"/>
                  <a:pt x="122813" y="19050"/>
                  <a:pt x="133350" y="19050"/>
                </a:cubicBezTo>
                <a:lnTo>
                  <a:pt x="171450" y="19050"/>
                </a:lnTo>
                <a:cubicBezTo>
                  <a:pt x="181987" y="19050"/>
                  <a:pt x="190500" y="27563"/>
                  <a:pt x="190500" y="38100"/>
                </a:cubicBezTo>
                <a:lnTo>
                  <a:pt x="190500" y="76200"/>
                </a:lnTo>
                <a:cubicBezTo>
                  <a:pt x="190500" y="86737"/>
                  <a:pt x="181987" y="95250"/>
                  <a:pt x="171450" y="95250"/>
                </a:cubicBezTo>
                <a:lnTo>
                  <a:pt x="166688" y="95250"/>
                </a:lnTo>
                <a:lnTo>
                  <a:pt x="166688" y="133350"/>
                </a:lnTo>
                <a:lnTo>
                  <a:pt x="238125" y="133350"/>
                </a:lnTo>
                <a:cubicBezTo>
                  <a:pt x="261818" y="133350"/>
                  <a:pt x="280987" y="152519"/>
                  <a:pt x="280987" y="176212"/>
                </a:cubicBezTo>
                <a:lnTo>
                  <a:pt x="280987" y="209550"/>
                </a:lnTo>
                <a:lnTo>
                  <a:pt x="285750" y="209550"/>
                </a:lnTo>
                <a:cubicBezTo>
                  <a:pt x="296287" y="209550"/>
                  <a:pt x="304800" y="218063"/>
                  <a:pt x="304800" y="228600"/>
                </a:cubicBezTo>
                <a:lnTo>
                  <a:pt x="304800" y="266700"/>
                </a:lnTo>
                <a:cubicBezTo>
                  <a:pt x="304800" y="277237"/>
                  <a:pt x="296287" y="285750"/>
                  <a:pt x="285750" y="285750"/>
                </a:cubicBezTo>
                <a:lnTo>
                  <a:pt x="247650" y="285750"/>
                </a:lnTo>
                <a:cubicBezTo>
                  <a:pt x="237113" y="285750"/>
                  <a:pt x="228600" y="277237"/>
                  <a:pt x="228600" y="266700"/>
                </a:cubicBezTo>
                <a:lnTo>
                  <a:pt x="228600" y="228600"/>
                </a:lnTo>
                <a:cubicBezTo>
                  <a:pt x="228600" y="218063"/>
                  <a:pt x="237113" y="209550"/>
                  <a:pt x="247650" y="209550"/>
                </a:cubicBezTo>
                <a:lnTo>
                  <a:pt x="252413" y="209550"/>
                </a:lnTo>
                <a:lnTo>
                  <a:pt x="252413" y="176212"/>
                </a:lnTo>
                <a:cubicBezTo>
                  <a:pt x="252413" y="168295"/>
                  <a:pt x="246043" y="161925"/>
                  <a:pt x="238125" y="161925"/>
                </a:cubicBezTo>
                <a:lnTo>
                  <a:pt x="166688" y="161925"/>
                </a:lnTo>
                <a:lnTo>
                  <a:pt x="166688" y="209550"/>
                </a:lnTo>
                <a:lnTo>
                  <a:pt x="171450" y="209550"/>
                </a:lnTo>
                <a:cubicBezTo>
                  <a:pt x="181987" y="209550"/>
                  <a:pt x="190500" y="218063"/>
                  <a:pt x="190500" y="228600"/>
                </a:cubicBezTo>
                <a:lnTo>
                  <a:pt x="190500" y="266700"/>
                </a:lnTo>
                <a:cubicBezTo>
                  <a:pt x="190500" y="277237"/>
                  <a:pt x="181987" y="285750"/>
                  <a:pt x="171450" y="285750"/>
                </a:cubicBezTo>
                <a:lnTo>
                  <a:pt x="133350" y="285750"/>
                </a:lnTo>
                <a:cubicBezTo>
                  <a:pt x="122813" y="285750"/>
                  <a:pt x="114300" y="277237"/>
                  <a:pt x="114300" y="266700"/>
                </a:cubicBezTo>
                <a:lnTo>
                  <a:pt x="114300" y="228600"/>
                </a:lnTo>
                <a:cubicBezTo>
                  <a:pt x="114300" y="218063"/>
                  <a:pt x="122813" y="209550"/>
                  <a:pt x="133350" y="209550"/>
                </a:cubicBezTo>
                <a:lnTo>
                  <a:pt x="138113" y="209550"/>
                </a:lnTo>
                <a:lnTo>
                  <a:pt x="138113" y="161925"/>
                </a:lnTo>
                <a:lnTo>
                  <a:pt x="66675" y="161925"/>
                </a:lnTo>
                <a:cubicBezTo>
                  <a:pt x="58757" y="161925"/>
                  <a:pt x="52388" y="168295"/>
                  <a:pt x="52388" y="176212"/>
                </a:cubicBezTo>
                <a:lnTo>
                  <a:pt x="52388" y="209550"/>
                </a:lnTo>
                <a:lnTo>
                  <a:pt x="57150" y="209550"/>
                </a:lnTo>
                <a:cubicBezTo>
                  <a:pt x="67687" y="209550"/>
                  <a:pt x="76200" y="218063"/>
                  <a:pt x="76200" y="228600"/>
                </a:cubicBezTo>
                <a:lnTo>
                  <a:pt x="76200" y="266700"/>
                </a:lnTo>
                <a:cubicBezTo>
                  <a:pt x="76200" y="277237"/>
                  <a:pt x="67687" y="285750"/>
                  <a:pt x="57150" y="285750"/>
                </a:cubicBezTo>
                <a:lnTo>
                  <a:pt x="19050" y="285750"/>
                </a:lnTo>
                <a:cubicBezTo>
                  <a:pt x="8513" y="285750"/>
                  <a:pt x="0" y="277237"/>
                  <a:pt x="0" y="266700"/>
                </a:cubicBezTo>
                <a:lnTo>
                  <a:pt x="0" y="228600"/>
                </a:lnTo>
                <a:cubicBezTo>
                  <a:pt x="0" y="218063"/>
                  <a:pt x="8513" y="209550"/>
                  <a:pt x="19050" y="209550"/>
                </a:cubicBezTo>
                <a:lnTo>
                  <a:pt x="23813" y="209550"/>
                </a:lnTo>
                <a:lnTo>
                  <a:pt x="23813" y="176212"/>
                </a:lnTo>
                <a:cubicBezTo>
                  <a:pt x="23813" y="152519"/>
                  <a:pt x="42982" y="133350"/>
                  <a:pt x="66675" y="133350"/>
                </a:cubicBezTo>
                <a:lnTo>
                  <a:pt x="138113" y="133350"/>
                </a:lnTo>
                <a:lnTo>
                  <a:pt x="138113" y="95250"/>
                </a:lnTo>
                <a:lnTo>
                  <a:pt x="133350" y="95250"/>
                </a:lnTo>
                <a:cubicBezTo>
                  <a:pt x="122813" y="95250"/>
                  <a:pt x="114300" y="86737"/>
                  <a:pt x="114300" y="76200"/>
                </a:cubicBezTo>
                <a:lnTo>
                  <a:pt x="114300" y="38100"/>
                </a:lnTo>
                <a:close/>
              </a:path>
            </a:pathLst>
          </a:custGeom>
          <a:solidFill>
            <a:srgbClr val="B85C38"/>
          </a:solidFill>
          <a:ln/>
        </p:spPr>
      </p:sp>
      <p:sp>
        <p:nvSpPr>
          <p:cNvPr id="19" name="Text 17"/>
          <p:cNvSpPr/>
          <p:nvPr/>
        </p:nvSpPr>
        <p:spPr>
          <a:xfrm>
            <a:off x="1460500" y="6159500"/>
            <a:ext cx="3175000" cy="698500"/>
          </a:xfrm>
          <a:prstGeom prst="rect">
            <a:avLst/>
          </a:prstGeom>
          <a:noFill/>
          <a:ln/>
        </p:spPr>
        <p:txBody>
          <a:bodyPr wrap="square" lIns="0" tIns="0" rIns="0" bIns="0" rtlCol="0" anchor="t"/>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Concept maps and mind maps</a:t>
            </a:r>
            <a:endParaRPr lang="en-US" sz="1600" dirty="0"/>
          </a:p>
        </p:txBody>
      </p:sp>
      <p:sp>
        <p:nvSpPr>
          <p:cNvPr id="20" name="Shape 18"/>
          <p:cNvSpPr/>
          <p:nvPr/>
        </p:nvSpPr>
        <p:spPr>
          <a:xfrm>
            <a:off x="4845050" y="6223000"/>
            <a:ext cx="266700" cy="304800"/>
          </a:xfrm>
          <a:custGeom>
            <a:avLst/>
            <a:gdLst/>
            <a:ahLst/>
            <a:cxnLst/>
            <a:rect l="l" t="t" r="r" b="b"/>
            <a:pathLst>
              <a:path w="266700" h="304800">
                <a:moveTo>
                  <a:pt x="228600" y="304800"/>
                </a:moveTo>
                <a:lnTo>
                  <a:pt x="57150" y="304800"/>
                </a:lnTo>
                <a:cubicBezTo>
                  <a:pt x="25598" y="304800"/>
                  <a:pt x="0" y="279202"/>
                  <a:pt x="0" y="247650"/>
                </a:cubicBezTo>
                <a:lnTo>
                  <a:pt x="0" y="57150"/>
                </a:lnTo>
                <a:cubicBezTo>
                  <a:pt x="0" y="25598"/>
                  <a:pt x="25598" y="0"/>
                  <a:pt x="57150" y="0"/>
                </a:cubicBezTo>
                <a:lnTo>
                  <a:pt x="238125" y="0"/>
                </a:lnTo>
                <a:cubicBezTo>
                  <a:pt x="253901" y="0"/>
                  <a:pt x="266700" y="12799"/>
                  <a:pt x="266700" y="28575"/>
                </a:cubicBezTo>
                <a:lnTo>
                  <a:pt x="266700" y="200025"/>
                </a:lnTo>
                <a:cubicBezTo>
                  <a:pt x="266700" y="212467"/>
                  <a:pt x="258723" y="223064"/>
                  <a:pt x="247650" y="226993"/>
                </a:cubicBezTo>
                <a:lnTo>
                  <a:pt x="247650" y="266700"/>
                </a:lnTo>
                <a:cubicBezTo>
                  <a:pt x="258187" y="266700"/>
                  <a:pt x="266700" y="275213"/>
                  <a:pt x="266700" y="285750"/>
                </a:cubicBezTo>
                <a:cubicBezTo>
                  <a:pt x="266700" y="296287"/>
                  <a:pt x="258187" y="304800"/>
                  <a:pt x="247650" y="304800"/>
                </a:cubicBezTo>
                <a:lnTo>
                  <a:pt x="228600" y="304800"/>
                </a:lnTo>
                <a:close/>
                <a:moveTo>
                  <a:pt x="57150" y="228600"/>
                </a:moveTo>
                <a:cubicBezTo>
                  <a:pt x="46613" y="228600"/>
                  <a:pt x="38100" y="237113"/>
                  <a:pt x="38100" y="247650"/>
                </a:cubicBezTo>
                <a:cubicBezTo>
                  <a:pt x="38100" y="258187"/>
                  <a:pt x="46613" y="266700"/>
                  <a:pt x="57150" y="266700"/>
                </a:cubicBezTo>
                <a:lnTo>
                  <a:pt x="209550" y="266700"/>
                </a:lnTo>
                <a:lnTo>
                  <a:pt x="209550" y="228600"/>
                </a:lnTo>
                <a:lnTo>
                  <a:pt x="57150" y="228600"/>
                </a:lnTo>
                <a:close/>
                <a:moveTo>
                  <a:pt x="76200" y="90488"/>
                </a:moveTo>
                <a:cubicBezTo>
                  <a:pt x="76200" y="98405"/>
                  <a:pt x="82570" y="104775"/>
                  <a:pt x="90488" y="104775"/>
                </a:cubicBezTo>
                <a:lnTo>
                  <a:pt x="195263" y="104775"/>
                </a:lnTo>
                <a:cubicBezTo>
                  <a:pt x="203180" y="104775"/>
                  <a:pt x="209550" y="98405"/>
                  <a:pt x="209550" y="90488"/>
                </a:cubicBezTo>
                <a:cubicBezTo>
                  <a:pt x="209550" y="82570"/>
                  <a:pt x="203180" y="76200"/>
                  <a:pt x="195263" y="76200"/>
                </a:cubicBezTo>
                <a:lnTo>
                  <a:pt x="90488" y="76200"/>
                </a:lnTo>
                <a:cubicBezTo>
                  <a:pt x="82570" y="76200"/>
                  <a:pt x="76200" y="82570"/>
                  <a:pt x="76200" y="90488"/>
                </a:cubicBezTo>
                <a:close/>
                <a:moveTo>
                  <a:pt x="90488" y="133350"/>
                </a:moveTo>
                <a:cubicBezTo>
                  <a:pt x="82570" y="133350"/>
                  <a:pt x="76200" y="139720"/>
                  <a:pt x="76200" y="147638"/>
                </a:cubicBezTo>
                <a:cubicBezTo>
                  <a:pt x="76200" y="155555"/>
                  <a:pt x="82570" y="161925"/>
                  <a:pt x="90488" y="161925"/>
                </a:cubicBezTo>
                <a:lnTo>
                  <a:pt x="195263" y="161925"/>
                </a:lnTo>
                <a:cubicBezTo>
                  <a:pt x="203180" y="161925"/>
                  <a:pt x="209550" y="155555"/>
                  <a:pt x="209550" y="147638"/>
                </a:cubicBezTo>
                <a:cubicBezTo>
                  <a:pt x="209550" y="139720"/>
                  <a:pt x="203180" y="133350"/>
                  <a:pt x="195263" y="133350"/>
                </a:cubicBezTo>
                <a:lnTo>
                  <a:pt x="90488" y="133350"/>
                </a:lnTo>
                <a:close/>
              </a:path>
            </a:pathLst>
          </a:custGeom>
          <a:solidFill>
            <a:srgbClr val="B85C38"/>
          </a:solidFill>
          <a:ln/>
        </p:spPr>
      </p:sp>
      <p:sp>
        <p:nvSpPr>
          <p:cNvPr id="21" name="Text 19"/>
          <p:cNvSpPr/>
          <p:nvPr/>
        </p:nvSpPr>
        <p:spPr>
          <a:xfrm>
            <a:off x="5270500" y="6159500"/>
            <a:ext cx="3175000" cy="698500"/>
          </a:xfrm>
          <a:prstGeom prst="rect">
            <a:avLst/>
          </a:prstGeom>
          <a:noFill/>
          <a:ln/>
        </p:spPr>
        <p:txBody>
          <a:bodyPr wrap="square" lIns="0" tIns="0" rIns="0" bIns="0" rtlCol="0" anchor="t"/>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Illustrated textbooks and manuals</a:t>
            </a:r>
            <a:endParaRPr lang="en-US" sz="1600" dirty="0"/>
          </a:p>
        </p:txBody>
      </p:sp>
      <p:pic>
        <p:nvPicPr>
          <p:cNvPr id="22" name="Image 0" descr="https://kimi-img.moonshot.cn/pub/slides/okc/kslybh5rcgfge/mnt/agents/output/multimedia-theories/images/10_Advancing_Education_with_Technology.png">    </p:cNvPr>
          <p:cNvPicPr>
            <a:picLocks noChangeAspect="1"/>
          </p:cNvPicPr>
          <p:nvPr/>
        </p:nvPicPr>
        <p:blipFill>
          <a:blip r:embed="rId1"/>
          <a:srcRect l="0" r="0" t="3261" b="3261"/>
          <a:stretch/>
        </p:blipFill>
        <p:spPr>
          <a:xfrm>
            <a:off x="9652000" y="1587500"/>
            <a:ext cx="5842000" cy="5461000"/>
          </a:xfrm>
          <a:prstGeom prst="rect">
            <a:avLst/>
          </a:prstGeom>
        </p:spPr>
      </p:pic>
      <p:sp>
        <p:nvSpPr>
          <p:cNvPr id="23" name="Text 20"/>
          <p:cNvSpPr/>
          <p:nvPr/>
        </p:nvSpPr>
        <p:spPr>
          <a:xfrm>
            <a:off x="762000" y="7239000"/>
            <a:ext cx="8382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Mayer, R. E. (2009). Multimedia Learning. Cambridge University Press.</a:t>
            </a:r>
            <a:endParaRPr lang="en-US" sz="1300" dirty="0"/>
          </a:p>
        </p:txBody>
      </p:sp>
      <p:sp>
        <p:nvSpPr>
          <p:cNvPr id="24" name="Shape 21"/>
          <p:cNvSpPr/>
          <p:nvPr/>
        </p:nvSpPr>
        <p:spPr>
          <a:xfrm>
            <a:off x="762000" y="8699500"/>
            <a:ext cx="508000" cy="38100"/>
          </a:xfrm>
          <a:prstGeom prst="rect">
            <a:avLst/>
          </a:prstGeom>
          <a:solidFill>
            <a:srgbClr val="B85C38"/>
          </a:solidFill>
          <a:ln/>
        </p:spPr>
      </p:sp>
      <p:sp>
        <p:nvSpPr>
          <p:cNvPr id="25" name="Text 22"/>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04</a:t>
            </a:r>
            <a:endParaRPr lang="en-US" sz="13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889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Why Multimedia Learning Matters</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651000"/>
            <a:ext cx="4572000" cy="3175000"/>
          </a:xfrm>
          <a:prstGeom prst="rect">
            <a:avLst/>
          </a:prstGeom>
          <a:solidFill>
            <a:srgbClr val="EDE6DE"/>
          </a:solidFill>
          <a:ln/>
        </p:spPr>
      </p:sp>
      <p:sp>
        <p:nvSpPr>
          <p:cNvPr id="6" name="Shape 4"/>
          <p:cNvSpPr/>
          <p:nvPr/>
        </p:nvSpPr>
        <p:spPr>
          <a:xfrm>
            <a:off x="1079500" y="1968500"/>
            <a:ext cx="457200" cy="457200"/>
          </a:xfrm>
          <a:custGeom>
            <a:avLst/>
            <a:gdLst/>
            <a:ahLst/>
            <a:cxnLst/>
            <a:rect l="l" t="t" r="r" b="b"/>
            <a:pathLst>
              <a:path w="457200" h="457200">
                <a:moveTo>
                  <a:pt x="215205" y="77778"/>
                </a:moveTo>
                <a:lnTo>
                  <a:pt x="228600" y="96262"/>
                </a:lnTo>
                <a:lnTo>
                  <a:pt x="241995" y="77778"/>
                </a:lnTo>
                <a:cubicBezTo>
                  <a:pt x="264319" y="46881"/>
                  <a:pt x="300216" y="28575"/>
                  <a:pt x="338346" y="28575"/>
                </a:cubicBezTo>
                <a:cubicBezTo>
                  <a:pt x="403979" y="28575"/>
                  <a:pt x="457200" y="81796"/>
                  <a:pt x="457200" y="147429"/>
                </a:cubicBezTo>
                <a:lnTo>
                  <a:pt x="457200" y="149751"/>
                </a:lnTo>
                <a:cubicBezTo>
                  <a:pt x="457200" y="249942"/>
                  <a:pt x="332274" y="366296"/>
                  <a:pt x="267087" y="416034"/>
                </a:cubicBezTo>
                <a:cubicBezTo>
                  <a:pt x="256014" y="424428"/>
                  <a:pt x="242441" y="428625"/>
                  <a:pt x="228600" y="428625"/>
                </a:cubicBezTo>
                <a:cubicBezTo>
                  <a:pt x="214759" y="428625"/>
                  <a:pt x="201097" y="424517"/>
                  <a:pt x="190113" y="416034"/>
                </a:cubicBezTo>
                <a:cubicBezTo>
                  <a:pt x="124926" y="366296"/>
                  <a:pt x="0" y="249942"/>
                  <a:pt x="0" y="149751"/>
                </a:cubicBezTo>
                <a:lnTo>
                  <a:pt x="0" y="147429"/>
                </a:lnTo>
                <a:cubicBezTo>
                  <a:pt x="0" y="81796"/>
                  <a:pt x="53221" y="28575"/>
                  <a:pt x="118854" y="28575"/>
                </a:cubicBezTo>
                <a:cubicBezTo>
                  <a:pt x="156984" y="28575"/>
                  <a:pt x="192881" y="46881"/>
                  <a:pt x="215205" y="77778"/>
                </a:cubicBezTo>
                <a:close/>
              </a:path>
            </a:pathLst>
          </a:custGeom>
          <a:solidFill>
            <a:srgbClr val="B85C38"/>
          </a:solidFill>
          <a:ln/>
        </p:spPr>
      </p:sp>
      <p:sp>
        <p:nvSpPr>
          <p:cNvPr id="7" name="Text 5"/>
          <p:cNvSpPr/>
          <p:nvPr/>
        </p:nvSpPr>
        <p:spPr>
          <a:xfrm>
            <a:off x="1079500" y="2603500"/>
            <a:ext cx="3937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Boosts Engagement</a:t>
            </a:r>
            <a:endParaRPr lang="en-US" sz="1600" dirty="0"/>
          </a:p>
        </p:txBody>
      </p:sp>
      <p:sp>
        <p:nvSpPr>
          <p:cNvPr id="8" name="Text 6"/>
          <p:cNvSpPr/>
          <p:nvPr/>
        </p:nvSpPr>
        <p:spPr>
          <a:xfrm>
            <a:off x="1079500" y="3048000"/>
            <a:ext cx="3937000" cy="15240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Interactive and visually stimulating content captures attention more effectively than text-only materials, encouraging sustained interest.</a:t>
            </a:r>
            <a:endParaRPr lang="en-US" sz="1600" dirty="0"/>
          </a:p>
        </p:txBody>
      </p:sp>
      <p:sp>
        <p:nvSpPr>
          <p:cNvPr id="9" name="Shape 7"/>
          <p:cNvSpPr/>
          <p:nvPr/>
        </p:nvSpPr>
        <p:spPr>
          <a:xfrm>
            <a:off x="5842000" y="1651000"/>
            <a:ext cx="4572000" cy="3175000"/>
          </a:xfrm>
          <a:prstGeom prst="rect">
            <a:avLst/>
          </a:prstGeom>
          <a:solidFill>
            <a:srgbClr val="EDE6DE"/>
          </a:solidFill>
          <a:ln/>
        </p:spPr>
      </p:sp>
      <p:sp>
        <p:nvSpPr>
          <p:cNvPr id="10" name="Shape 8"/>
          <p:cNvSpPr/>
          <p:nvPr/>
        </p:nvSpPr>
        <p:spPr>
          <a:xfrm>
            <a:off x="6159500" y="1968500"/>
            <a:ext cx="457200" cy="457200"/>
          </a:xfrm>
          <a:custGeom>
            <a:avLst/>
            <a:gdLst/>
            <a:ahLst/>
            <a:cxnLst/>
            <a:rect l="l" t="t" r="r" b="b"/>
            <a:pathLst>
              <a:path w="457200" h="457200">
                <a:moveTo>
                  <a:pt x="107156" y="50006"/>
                </a:moveTo>
                <a:cubicBezTo>
                  <a:pt x="107156" y="22414"/>
                  <a:pt x="129570" y="0"/>
                  <a:pt x="157163" y="0"/>
                </a:cubicBezTo>
                <a:lnTo>
                  <a:pt x="178594" y="0"/>
                </a:lnTo>
                <a:cubicBezTo>
                  <a:pt x="194399" y="0"/>
                  <a:pt x="207169" y="12769"/>
                  <a:pt x="207169" y="28575"/>
                </a:cubicBezTo>
                <a:lnTo>
                  <a:pt x="207169" y="428625"/>
                </a:lnTo>
                <a:cubicBezTo>
                  <a:pt x="207169" y="444431"/>
                  <a:pt x="194399" y="457200"/>
                  <a:pt x="178594" y="457200"/>
                </a:cubicBezTo>
                <a:lnTo>
                  <a:pt x="150019" y="457200"/>
                </a:lnTo>
                <a:cubicBezTo>
                  <a:pt x="123408" y="457200"/>
                  <a:pt x="100995" y="438983"/>
                  <a:pt x="94655" y="414338"/>
                </a:cubicBezTo>
                <a:cubicBezTo>
                  <a:pt x="94030" y="414338"/>
                  <a:pt x="93494" y="414338"/>
                  <a:pt x="92869" y="414338"/>
                </a:cubicBezTo>
                <a:cubicBezTo>
                  <a:pt x="53400" y="414338"/>
                  <a:pt x="21431" y="382369"/>
                  <a:pt x="21431" y="342900"/>
                </a:cubicBezTo>
                <a:cubicBezTo>
                  <a:pt x="21431" y="326827"/>
                  <a:pt x="26789" y="312003"/>
                  <a:pt x="35719" y="300038"/>
                </a:cubicBezTo>
                <a:cubicBezTo>
                  <a:pt x="18395" y="287000"/>
                  <a:pt x="7144" y="266283"/>
                  <a:pt x="7144" y="242888"/>
                </a:cubicBezTo>
                <a:cubicBezTo>
                  <a:pt x="7144" y="215295"/>
                  <a:pt x="22860" y="191274"/>
                  <a:pt x="45720" y="179397"/>
                </a:cubicBezTo>
                <a:cubicBezTo>
                  <a:pt x="39380" y="168682"/>
                  <a:pt x="35719" y="156180"/>
                  <a:pt x="35719" y="142875"/>
                </a:cubicBezTo>
                <a:cubicBezTo>
                  <a:pt x="35719" y="103406"/>
                  <a:pt x="67687" y="71438"/>
                  <a:pt x="107156" y="71438"/>
                </a:cubicBezTo>
                <a:lnTo>
                  <a:pt x="107156" y="50006"/>
                </a:lnTo>
                <a:close/>
                <a:moveTo>
                  <a:pt x="350044" y="50006"/>
                </a:moveTo>
                <a:lnTo>
                  <a:pt x="350044" y="71438"/>
                </a:lnTo>
                <a:cubicBezTo>
                  <a:pt x="389513" y="71438"/>
                  <a:pt x="421481" y="103406"/>
                  <a:pt x="421481" y="142875"/>
                </a:cubicBezTo>
                <a:cubicBezTo>
                  <a:pt x="421481" y="156270"/>
                  <a:pt x="417820" y="168771"/>
                  <a:pt x="411480" y="179397"/>
                </a:cubicBezTo>
                <a:cubicBezTo>
                  <a:pt x="434429" y="191274"/>
                  <a:pt x="450056" y="215205"/>
                  <a:pt x="450056" y="242888"/>
                </a:cubicBezTo>
                <a:cubicBezTo>
                  <a:pt x="450056" y="266283"/>
                  <a:pt x="438805" y="287000"/>
                  <a:pt x="421481" y="300038"/>
                </a:cubicBezTo>
                <a:cubicBezTo>
                  <a:pt x="430411" y="312003"/>
                  <a:pt x="435769" y="326827"/>
                  <a:pt x="435769" y="342900"/>
                </a:cubicBezTo>
                <a:cubicBezTo>
                  <a:pt x="435769" y="382369"/>
                  <a:pt x="403800" y="414338"/>
                  <a:pt x="364331" y="414338"/>
                </a:cubicBezTo>
                <a:cubicBezTo>
                  <a:pt x="363706" y="414338"/>
                  <a:pt x="363170" y="414338"/>
                  <a:pt x="362545" y="414338"/>
                </a:cubicBezTo>
                <a:cubicBezTo>
                  <a:pt x="356205" y="438983"/>
                  <a:pt x="333792" y="457200"/>
                  <a:pt x="307181" y="457200"/>
                </a:cubicBezTo>
                <a:lnTo>
                  <a:pt x="278606" y="457200"/>
                </a:lnTo>
                <a:cubicBezTo>
                  <a:pt x="262801" y="457200"/>
                  <a:pt x="250031" y="444431"/>
                  <a:pt x="250031" y="428625"/>
                </a:cubicBezTo>
                <a:lnTo>
                  <a:pt x="250031" y="28575"/>
                </a:lnTo>
                <a:cubicBezTo>
                  <a:pt x="250031" y="12769"/>
                  <a:pt x="262801" y="0"/>
                  <a:pt x="278606" y="0"/>
                </a:cubicBezTo>
                <a:lnTo>
                  <a:pt x="300038" y="0"/>
                </a:lnTo>
                <a:cubicBezTo>
                  <a:pt x="327630" y="0"/>
                  <a:pt x="350044" y="22414"/>
                  <a:pt x="350044" y="50006"/>
                </a:cubicBezTo>
                <a:close/>
              </a:path>
            </a:pathLst>
          </a:custGeom>
          <a:solidFill>
            <a:srgbClr val="B85C38"/>
          </a:solidFill>
          <a:ln/>
        </p:spPr>
      </p:sp>
      <p:sp>
        <p:nvSpPr>
          <p:cNvPr id="11" name="Text 9"/>
          <p:cNvSpPr/>
          <p:nvPr/>
        </p:nvSpPr>
        <p:spPr>
          <a:xfrm>
            <a:off x="6159500" y="2603500"/>
            <a:ext cx="3937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Enhances Retention</a:t>
            </a:r>
            <a:endParaRPr lang="en-US" sz="1600" dirty="0"/>
          </a:p>
        </p:txBody>
      </p:sp>
      <p:sp>
        <p:nvSpPr>
          <p:cNvPr id="12" name="Text 10"/>
          <p:cNvSpPr/>
          <p:nvPr/>
        </p:nvSpPr>
        <p:spPr>
          <a:xfrm>
            <a:off x="6159500" y="3048000"/>
            <a:ext cx="3937000" cy="15240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Presenting information through multiple formats allows learners to process and remember complex topics from different angles.</a:t>
            </a:r>
            <a:endParaRPr lang="en-US" sz="1600" dirty="0"/>
          </a:p>
        </p:txBody>
      </p:sp>
      <p:sp>
        <p:nvSpPr>
          <p:cNvPr id="13" name="Shape 11"/>
          <p:cNvSpPr/>
          <p:nvPr/>
        </p:nvSpPr>
        <p:spPr>
          <a:xfrm>
            <a:off x="10922000" y="1651000"/>
            <a:ext cx="4572000" cy="3175000"/>
          </a:xfrm>
          <a:prstGeom prst="rect">
            <a:avLst/>
          </a:prstGeom>
          <a:solidFill>
            <a:srgbClr val="EDE6DE"/>
          </a:solidFill>
          <a:ln/>
        </p:spPr>
      </p:sp>
      <p:sp>
        <p:nvSpPr>
          <p:cNvPr id="14" name="Shape 12"/>
          <p:cNvSpPr/>
          <p:nvPr/>
        </p:nvSpPr>
        <p:spPr>
          <a:xfrm>
            <a:off x="11182350" y="1968500"/>
            <a:ext cx="571500" cy="457200"/>
          </a:xfrm>
          <a:custGeom>
            <a:avLst/>
            <a:gdLst/>
            <a:ahLst/>
            <a:cxnLst/>
            <a:rect l="l" t="t" r="r" b="b"/>
            <a:pathLst>
              <a:path w="571500" h="457200">
                <a:moveTo>
                  <a:pt x="285750" y="14288"/>
                </a:moveTo>
                <a:cubicBezTo>
                  <a:pt x="337006" y="14288"/>
                  <a:pt x="378619" y="55901"/>
                  <a:pt x="378619" y="107156"/>
                </a:cubicBezTo>
                <a:cubicBezTo>
                  <a:pt x="378619" y="158412"/>
                  <a:pt x="337006" y="200025"/>
                  <a:pt x="285750" y="200025"/>
                </a:cubicBezTo>
                <a:cubicBezTo>
                  <a:pt x="234494" y="200025"/>
                  <a:pt x="192881" y="158412"/>
                  <a:pt x="192881" y="107156"/>
                </a:cubicBezTo>
                <a:cubicBezTo>
                  <a:pt x="192881" y="55901"/>
                  <a:pt x="234494" y="14288"/>
                  <a:pt x="285750" y="14288"/>
                </a:cubicBezTo>
                <a:close/>
                <a:moveTo>
                  <a:pt x="85725" y="78581"/>
                </a:moveTo>
                <a:cubicBezTo>
                  <a:pt x="121210" y="78581"/>
                  <a:pt x="150019" y="107390"/>
                  <a:pt x="150019" y="142875"/>
                </a:cubicBezTo>
                <a:cubicBezTo>
                  <a:pt x="150019" y="178360"/>
                  <a:pt x="121210" y="207169"/>
                  <a:pt x="85725" y="207169"/>
                </a:cubicBezTo>
                <a:cubicBezTo>
                  <a:pt x="50240" y="207169"/>
                  <a:pt x="21431" y="178360"/>
                  <a:pt x="21431" y="142875"/>
                </a:cubicBezTo>
                <a:cubicBezTo>
                  <a:pt x="21431" y="107390"/>
                  <a:pt x="50240" y="78581"/>
                  <a:pt x="85725" y="78581"/>
                </a:cubicBezTo>
                <a:close/>
                <a:moveTo>
                  <a:pt x="0" y="371475"/>
                </a:moveTo>
                <a:cubicBezTo>
                  <a:pt x="0" y="308342"/>
                  <a:pt x="51167" y="257175"/>
                  <a:pt x="114300" y="257175"/>
                </a:cubicBezTo>
                <a:cubicBezTo>
                  <a:pt x="125730" y="257175"/>
                  <a:pt x="136803" y="258872"/>
                  <a:pt x="147251" y="261997"/>
                </a:cubicBezTo>
                <a:cubicBezTo>
                  <a:pt x="117872" y="294858"/>
                  <a:pt x="100013" y="338257"/>
                  <a:pt x="100013" y="385763"/>
                </a:cubicBezTo>
                <a:lnTo>
                  <a:pt x="100013" y="400050"/>
                </a:lnTo>
                <a:cubicBezTo>
                  <a:pt x="100013" y="410230"/>
                  <a:pt x="102156" y="419874"/>
                  <a:pt x="105995" y="428625"/>
                </a:cubicBezTo>
                <a:lnTo>
                  <a:pt x="28575" y="428625"/>
                </a:lnTo>
                <a:cubicBezTo>
                  <a:pt x="12769" y="428625"/>
                  <a:pt x="0" y="415856"/>
                  <a:pt x="0" y="400050"/>
                </a:cubicBezTo>
                <a:lnTo>
                  <a:pt x="0" y="371475"/>
                </a:lnTo>
                <a:close/>
                <a:moveTo>
                  <a:pt x="465505" y="428625"/>
                </a:moveTo>
                <a:cubicBezTo>
                  <a:pt x="469344" y="419874"/>
                  <a:pt x="471488" y="410230"/>
                  <a:pt x="471488" y="400050"/>
                </a:cubicBezTo>
                <a:lnTo>
                  <a:pt x="471488" y="385763"/>
                </a:lnTo>
                <a:cubicBezTo>
                  <a:pt x="471488" y="338257"/>
                  <a:pt x="453628" y="294858"/>
                  <a:pt x="424249" y="261997"/>
                </a:cubicBezTo>
                <a:cubicBezTo>
                  <a:pt x="434697" y="258872"/>
                  <a:pt x="445770" y="257175"/>
                  <a:pt x="457200" y="257175"/>
                </a:cubicBezTo>
                <a:cubicBezTo>
                  <a:pt x="520333" y="257175"/>
                  <a:pt x="571500" y="308342"/>
                  <a:pt x="571500" y="371475"/>
                </a:cubicBezTo>
                <a:lnTo>
                  <a:pt x="571500" y="400050"/>
                </a:lnTo>
                <a:cubicBezTo>
                  <a:pt x="571500" y="415856"/>
                  <a:pt x="558731" y="428625"/>
                  <a:pt x="542925" y="428625"/>
                </a:cubicBezTo>
                <a:lnTo>
                  <a:pt x="465505" y="428625"/>
                </a:lnTo>
                <a:close/>
                <a:moveTo>
                  <a:pt x="421481" y="142875"/>
                </a:moveTo>
                <a:cubicBezTo>
                  <a:pt x="421481" y="107390"/>
                  <a:pt x="450290" y="78581"/>
                  <a:pt x="485775" y="78581"/>
                </a:cubicBezTo>
                <a:cubicBezTo>
                  <a:pt x="521260" y="78581"/>
                  <a:pt x="550069" y="107390"/>
                  <a:pt x="550069" y="142875"/>
                </a:cubicBezTo>
                <a:cubicBezTo>
                  <a:pt x="550069" y="178360"/>
                  <a:pt x="521260" y="207169"/>
                  <a:pt x="485775" y="207169"/>
                </a:cubicBezTo>
                <a:cubicBezTo>
                  <a:pt x="450290" y="207169"/>
                  <a:pt x="421481" y="178360"/>
                  <a:pt x="421481" y="142875"/>
                </a:cubicBezTo>
                <a:close/>
                <a:moveTo>
                  <a:pt x="142875" y="385763"/>
                </a:moveTo>
                <a:cubicBezTo>
                  <a:pt x="142875" y="306824"/>
                  <a:pt x="206812" y="242888"/>
                  <a:pt x="285750" y="242888"/>
                </a:cubicBezTo>
                <a:cubicBezTo>
                  <a:pt x="364688" y="242888"/>
                  <a:pt x="428625" y="306824"/>
                  <a:pt x="428625" y="385763"/>
                </a:cubicBezTo>
                <a:lnTo>
                  <a:pt x="428625" y="400050"/>
                </a:lnTo>
                <a:cubicBezTo>
                  <a:pt x="428625" y="415856"/>
                  <a:pt x="415856" y="428625"/>
                  <a:pt x="400050" y="428625"/>
                </a:cubicBezTo>
                <a:lnTo>
                  <a:pt x="171450" y="428625"/>
                </a:lnTo>
                <a:cubicBezTo>
                  <a:pt x="155644" y="428625"/>
                  <a:pt x="142875" y="415856"/>
                  <a:pt x="142875" y="400050"/>
                </a:cubicBezTo>
                <a:lnTo>
                  <a:pt x="142875" y="385763"/>
                </a:lnTo>
                <a:close/>
              </a:path>
            </a:pathLst>
          </a:custGeom>
          <a:solidFill>
            <a:srgbClr val="B85C38"/>
          </a:solidFill>
          <a:ln/>
        </p:spPr>
      </p:sp>
      <p:sp>
        <p:nvSpPr>
          <p:cNvPr id="15" name="Text 13"/>
          <p:cNvSpPr/>
          <p:nvPr/>
        </p:nvSpPr>
        <p:spPr>
          <a:xfrm>
            <a:off x="11239500" y="2603500"/>
            <a:ext cx="3937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Diverse Learning Styles</a:t>
            </a:r>
            <a:endParaRPr lang="en-US" sz="1600" dirty="0"/>
          </a:p>
        </p:txBody>
      </p:sp>
      <p:sp>
        <p:nvSpPr>
          <p:cNvPr id="16" name="Text 14"/>
          <p:cNvSpPr/>
          <p:nvPr/>
        </p:nvSpPr>
        <p:spPr>
          <a:xfrm>
            <a:off x="11239500" y="3048000"/>
            <a:ext cx="3937000" cy="15240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Offering content in various forms makes education more adaptable, inclusive, and accessible to all learners.</a:t>
            </a:r>
            <a:endParaRPr lang="en-US" sz="1600" dirty="0"/>
          </a:p>
        </p:txBody>
      </p:sp>
      <p:sp>
        <p:nvSpPr>
          <p:cNvPr id="17" name="Shape 15"/>
          <p:cNvSpPr/>
          <p:nvPr/>
        </p:nvSpPr>
        <p:spPr>
          <a:xfrm>
            <a:off x="762000" y="5334000"/>
            <a:ext cx="14732000" cy="1270000"/>
          </a:xfrm>
          <a:prstGeom prst="rect">
            <a:avLst/>
          </a:prstGeom>
          <a:solidFill>
            <a:srgbClr val="2D2926"/>
          </a:solidFill>
          <a:ln/>
        </p:spPr>
      </p:sp>
      <p:sp>
        <p:nvSpPr>
          <p:cNvPr id="18" name="Text 16"/>
          <p:cNvSpPr/>
          <p:nvPr/>
        </p:nvSpPr>
        <p:spPr>
          <a:xfrm>
            <a:off x="1016000" y="5461000"/>
            <a:ext cx="2540000" cy="698500"/>
          </a:xfrm>
          <a:prstGeom prst="rect">
            <a:avLst/>
          </a:prstGeom>
          <a:noFill/>
          <a:ln/>
        </p:spPr>
        <p:txBody>
          <a:bodyPr wrap="none" lIns="0" tIns="0" rIns="0" bIns="0" rtlCol="0" anchor="ctr"/>
          <a:lstStyle/>
          <a:p>
            <a:pPr>
              <a:lnSpc>
                <a:spcPct val="100000"/>
              </a:lnSpc>
            </a:pPr>
            <a:r>
              <a:rPr lang="en-US" sz="4200" b="1" dirty="0">
                <a:solidFill>
                  <a:srgbClr val="B85C38"/>
                </a:solidFill>
                <a:latin typeface="Quattrocento Sans" pitchFamily="34" charset="0"/>
                <a:ea typeface="Quattrocento Sans" pitchFamily="34" charset="-122"/>
                <a:cs typeface="Quattrocento Sans" pitchFamily="34" charset="-120"/>
              </a:rPr>
              <a:t>70%</a:t>
            </a:r>
            <a:endParaRPr lang="en-US" sz="1600" dirty="0"/>
          </a:p>
        </p:txBody>
      </p:sp>
      <p:sp>
        <p:nvSpPr>
          <p:cNvPr id="19" name="Text 17"/>
          <p:cNvSpPr/>
          <p:nvPr/>
        </p:nvSpPr>
        <p:spPr>
          <a:xfrm>
            <a:off x="3556000" y="5524500"/>
            <a:ext cx="11430000" cy="889000"/>
          </a:xfrm>
          <a:prstGeom prst="rect">
            <a:avLst/>
          </a:prstGeom>
          <a:noFill/>
          <a:ln/>
        </p:spPr>
        <p:txBody>
          <a:bodyPr wrap="square" lIns="0" tIns="0" rIns="0" bIns="0" rtlCol="0" anchor="ctr"/>
          <a:lstStyle/>
          <a:p>
            <a:pPr>
              <a:lnSpc>
                <a:spcPct val="150000"/>
              </a:lnSpc>
            </a:pPr>
            <a:r>
              <a:rPr lang="en-US" sz="1800" dirty="0">
                <a:solidFill>
                  <a:srgbClr val="FFFFFF">
                    <a:alpha val="86667"/>
                  </a:srgbClr>
                </a:solidFill>
                <a:latin typeface="Quattrocento Sans" pitchFamily="34" charset="0"/>
                <a:ea typeface="Quattrocento Sans" pitchFamily="34" charset="-122"/>
                <a:cs typeface="Quattrocento Sans" pitchFamily="34" charset="-120"/>
              </a:rPr>
              <a:t>of students prefer digital learning to traditional classrooms when multimedia is well-designed and effectively implemented.</a:t>
            </a:r>
            <a:endParaRPr lang="en-US" sz="1600" dirty="0"/>
          </a:p>
        </p:txBody>
      </p:sp>
      <p:sp>
        <p:nvSpPr>
          <p:cNvPr id="20" name="Text 18"/>
          <p:cNvSpPr/>
          <p:nvPr/>
        </p:nvSpPr>
        <p:spPr>
          <a:xfrm>
            <a:off x="762000" y="6921500"/>
            <a:ext cx="762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Digital Learning Institute Survey, 2023</a:t>
            </a:r>
            <a:endParaRPr lang="en-US" sz="1300" dirty="0"/>
          </a:p>
        </p:txBody>
      </p:sp>
      <p:sp>
        <p:nvSpPr>
          <p:cNvPr id="21" name="Shape 19"/>
          <p:cNvSpPr/>
          <p:nvPr/>
        </p:nvSpPr>
        <p:spPr>
          <a:xfrm>
            <a:off x="762000" y="8699500"/>
            <a:ext cx="508000" cy="38100"/>
          </a:xfrm>
          <a:prstGeom prst="rect">
            <a:avLst/>
          </a:prstGeom>
          <a:solidFill>
            <a:srgbClr val="B85C38"/>
          </a:solidFill>
          <a:ln/>
        </p:spPr>
      </p:sp>
      <p:sp>
        <p:nvSpPr>
          <p:cNvPr id="22" name="Text 20"/>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05</a:t>
            </a:r>
            <a:endParaRPr lang="en-US" sz="13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The Science Behind Multimedia Learning</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8890000" cy="381000"/>
          </a:xfrm>
          <a:prstGeom prst="rect">
            <a:avLst/>
          </a:prstGeom>
          <a:noFill/>
          <a:ln/>
        </p:spPr>
        <p:txBody>
          <a:bodyPr wrap="none" lIns="0" tIns="0" rIns="0" bIns="0" rtlCol="0" anchor="ctr"/>
          <a:lstStyle/>
          <a:p>
            <a:pPr>
              <a:lnSpc>
                <a:spcPct val="100000"/>
              </a:lnSpc>
            </a:pPr>
            <a:r>
              <a:rPr lang="en-US" sz="1600" dirty="0">
                <a:solidFill>
                  <a:srgbClr val="8C7B6B"/>
                </a:solidFill>
                <a:latin typeface="Quattrocento Sans" pitchFamily="34" charset="0"/>
                <a:ea typeface="Quattrocento Sans" pitchFamily="34" charset="-122"/>
                <a:cs typeface="Quattrocento Sans" pitchFamily="34" charset="-120"/>
              </a:rPr>
              <a:t>Three foundational assumptions from cognitive science underpin all multimedia learning theories:</a:t>
            </a:r>
            <a:endParaRPr lang="en-US" sz="1600" dirty="0"/>
          </a:p>
        </p:txBody>
      </p:sp>
      <p:sp>
        <p:nvSpPr>
          <p:cNvPr id="6" name="Shape 4"/>
          <p:cNvSpPr/>
          <p:nvPr/>
        </p:nvSpPr>
        <p:spPr>
          <a:xfrm>
            <a:off x="762000" y="2095500"/>
            <a:ext cx="4699000" cy="3302000"/>
          </a:xfrm>
          <a:prstGeom prst="rect">
            <a:avLst/>
          </a:prstGeom>
          <a:solidFill>
            <a:srgbClr val="EDE6DE"/>
          </a:solidFill>
          <a:ln/>
        </p:spPr>
      </p:sp>
      <p:sp>
        <p:nvSpPr>
          <p:cNvPr id="7" name="Text 5"/>
          <p:cNvSpPr/>
          <p:nvPr/>
        </p:nvSpPr>
        <p:spPr>
          <a:xfrm>
            <a:off x="1016000" y="2222500"/>
            <a:ext cx="698500" cy="508000"/>
          </a:xfrm>
          <a:prstGeom prst="rect">
            <a:avLst/>
          </a:prstGeom>
          <a:noFill/>
          <a:ln/>
        </p:spPr>
        <p:txBody>
          <a:bodyPr wrap="none" lIns="0" tIns="0" rIns="0" bIns="0" rtlCol="0" anchor="ctr"/>
          <a:lstStyle/>
          <a:p>
            <a:pPr>
              <a:lnSpc>
                <a:spcPct val="100000"/>
              </a:lnSpc>
            </a:pPr>
            <a:r>
              <a:rPr lang="en-US" sz="3200" b="1" dirty="0">
                <a:solidFill>
                  <a:srgbClr val="B85C38"/>
                </a:solidFill>
                <a:latin typeface="Quattrocento Sans" pitchFamily="34" charset="0"/>
                <a:ea typeface="Quattrocento Sans" pitchFamily="34" charset="-122"/>
                <a:cs typeface="Quattrocento Sans" pitchFamily="34" charset="-120"/>
              </a:rPr>
              <a:t>01</a:t>
            </a:r>
            <a:endParaRPr lang="en-US" sz="1600" dirty="0"/>
          </a:p>
        </p:txBody>
      </p:sp>
      <p:sp>
        <p:nvSpPr>
          <p:cNvPr id="8" name="Text 6"/>
          <p:cNvSpPr/>
          <p:nvPr/>
        </p:nvSpPr>
        <p:spPr>
          <a:xfrm>
            <a:off x="1016000" y="2794000"/>
            <a:ext cx="4191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Dual-Channel Processing</a:t>
            </a:r>
            <a:endParaRPr lang="en-US" sz="1600" dirty="0"/>
          </a:p>
        </p:txBody>
      </p:sp>
      <p:sp>
        <p:nvSpPr>
          <p:cNvPr id="9" name="Shape 7"/>
          <p:cNvSpPr/>
          <p:nvPr/>
        </p:nvSpPr>
        <p:spPr>
          <a:xfrm>
            <a:off x="1016000" y="3238500"/>
            <a:ext cx="508000" cy="25400"/>
          </a:xfrm>
          <a:prstGeom prst="rect">
            <a:avLst/>
          </a:prstGeom>
          <a:solidFill>
            <a:srgbClr val="B85C38"/>
          </a:solidFill>
          <a:ln/>
        </p:spPr>
      </p:sp>
      <p:sp>
        <p:nvSpPr>
          <p:cNvPr id="10" name="Text 8"/>
          <p:cNvSpPr/>
          <p:nvPr/>
        </p:nvSpPr>
        <p:spPr>
          <a:xfrm>
            <a:off x="1016000" y="3429000"/>
            <a:ext cx="4191000" cy="17780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Humans have separate channels for visual/pictorial and auditory/verbal information processing.</a:t>
            </a:r>
            <a:endParaRPr lang="en-US" sz="1600" dirty="0"/>
          </a:p>
        </p:txBody>
      </p:sp>
      <p:sp>
        <p:nvSpPr>
          <p:cNvPr id="11" name="Shape 9"/>
          <p:cNvSpPr/>
          <p:nvPr/>
        </p:nvSpPr>
        <p:spPr>
          <a:xfrm>
            <a:off x="5778500" y="2095500"/>
            <a:ext cx="4699000" cy="3302000"/>
          </a:xfrm>
          <a:prstGeom prst="rect">
            <a:avLst/>
          </a:prstGeom>
          <a:solidFill>
            <a:srgbClr val="EDE6DE"/>
          </a:solidFill>
          <a:ln/>
        </p:spPr>
      </p:sp>
      <p:sp>
        <p:nvSpPr>
          <p:cNvPr id="12" name="Text 10"/>
          <p:cNvSpPr/>
          <p:nvPr/>
        </p:nvSpPr>
        <p:spPr>
          <a:xfrm>
            <a:off x="6032500" y="2222500"/>
            <a:ext cx="787400" cy="508000"/>
          </a:xfrm>
          <a:prstGeom prst="rect">
            <a:avLst/>
          </a:prstGeom>
          <a:noFill/>
          <a:ln/>
        </p:spPr>
        <p:txBody>
          <a:bodyPr wrap="none" lIns="0" tIns="0" rIns="0" bIns="0" rtlCol="0" anchor="ctr"/>
          <a:lstStyle/>
          <a:p>
            <a:pPr>
              <a:lnSpc>
                <a:spcPct val="100000"/>
              </a:lnSpc>
            </a:pPr>
            <a:r>
              <a:rPr lang="en-US" sz="3200" b="1" dirty="0">
                <a:solidFill>
                  <a:srgbClr val="B85C38"/>
                </a:solidFill>
                <a:latin typeface="Quattrocento Sans" pitchFamily="34" charset="0"/>
                <a:ea typeface="Quattrocento Sans" pitchFamily="34" charset="-122"/>
                <a:cs typeface="Quattrocento Sans" pitchFamily="34" charset="-120"/>
              </a:rPr>
              <a:t>02</a:t>
            </a:r>
            <a:endParaRPr lang="en-US" sz="1600" dirty="0"/>
          </a:p>
        </p:txBody>
      </p:sp>
      <p:sp>
        <p:nvSpPr>
          <p:cNvPr id="13" name="Text 11"/>
          <p:cNvSpPr/>
          <p:nvPr/>
        </p:nvSpPr>
        <p:spPr>
          <a:xfrm>
            <a:off x="6032500" y="2794000"/>
            <a:ext cx="4191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Limited Capacity</a:t>
            </a:r>
            <a:endParaRPr lang="en-US" sz="1600" dirty="0"/>
          </a:p>
        </p:txBody>
      </p:sp>
      <p:sp>
        <p:nvSpPr>
          <p:cNvPr id="14" name="Shape 12"/>
          <p:cNvSpPr/>
          <p:nvPr/>
        </p:nvSpPr>
        <p:spPr>
          <a:xfrm>
            <a:off x="6032500" y="3238500"/>
            <a:ext cx="508000" cy="25400"/>
          </a:xfrm>
          <a:prstGeom prst="rect">
            <a:avLst/>
          </a:prstGeom>
          <a:solidFill>
            <a:srgbClr val="B85C38"/>
          </a:solidFill>
          <a:ln/>
        </p:spPr>
      </p:sp>
      <p:sp>
        <p:nvSpPr>
          <p:cNvPr id="15" name="Text 13"/>
          <p:cNvSpPr/>
          <p:nvPr/>
        </p:nvSpPr>
        <p:spPr>
          <a:xfrm>
            <a:off x="6032500" y="3429000"/>
            <a:ext cx="4191000" cy="17780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Each channel can only process a limited amount of information at one time, requiring careful content design.</a:t>
            </a:r>
            <a:endParaRPr lang="en-US" sz="1600" dirty="0"/>
          </a:p>
        </p:txBody>
      </p:sp>
      <p:sp>
        <p:nvSpPr>
          <p:cNvPr id="16" name="Shape 14"/>
          <p:cNvSpPr/>
          <p:nvPr/>
        </p:nvSpPr>
        <p:spPr>
          <a:xfrm>
            <a:off x="10795000" y="2095500"/>
            <a:ext cx="4699000" cy="3302000"/>
          </a:xfrm>
          <a:prstGeom prst="rect">
            <a:avLst/>
          </a:prstGeom>
          <a:solidFill>
            <a:srgbClr val="EDE6DE"/>
          </a:solidFill>
          <a:ln/>
        </p:spPr>
      </p:sp>
      <p:sp>
        <p:nvSpPr>
          <p:cNvPr id="17" name="Text 15"/>
          <p:cNvSpPr/>
          <p:nvPr/>
        </p:nvSpPr>
        <p:spPr>
          <a:xfrm>
            <a:off x="11049000" y="2222500"/>
            <a:ext cx="787400" cy="508000"/>
          </a:xfrm>
          <a:prstGeom prst="rect">
            <a:avLst/>
          </a:prstGeom>
          <a:noFill/>
          <a:ln/>
        </p:spPr>
        <p:txBody>
          <a:bodyPr wrap="none" lIns="0" tIns="0" rIns="0" bIns="0" rtlCol="0" anchor="ctr"/>
          <a:lstStyle/>
          <a:p>
            <a:pPr>
              <a:lnSpc>
                <a:spcPct val="100000"/>
              </a:lnSpc>
            </a:pPr>
            <a:r>
              <a:rPr lang="en-US" sz="3200" b="1" dirty="0">
                <a:solidFill>
                  <a:srgbClr val="B85C38"/>
                </a:solidFill>
                <a:latin typeface="Quattrocento Sans" pitchFamily="34" charset="0"/>
                <a:ea typeface="Quattrocento Sans" pitchFamily="34" charset="-122"/>
                <a:cs typeface="Quattrocento Sans" pitchFamily="34" charset="-120"/>
              </a:rPr>
              <a:t>03</a:t>
            </a:r>
            <a:endParaRPr lang="en-US" sz="1600" dirty="0"/>
          </a:p>
        </p:txBody>
      </p:sp>
      <p:sp>
        <p:nvSpPr>
          <p:cNvPr id="18" name="Text 16"/>
          <p:cNvSpPr/>
          <p:nvPr/>
        </p:nvSpPr>
        <p:spPr>
          <a:xfrm>
            <a:off x="11049000" y="2794000"/>
            <a:ext cx="4191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Active Processing</a:t>
            </a:r>
            <a:endParaRPr lang="en-US" sz="1600" dirty="0"/>
          </a:p>
        </p:txBody>
      </p:sp>
      <p:sp>
        <p:nvSpPr>
          <p:cNvPr id="19" name="Shape 17"/>
          <p:cNvSpPr/>
          <p:nvPr/>
        </p:nvSpPr>
        <p:spPr>
          <a:xfrm>
            <a:off x="11049000" y="3238500"/>
            <a:ext cx="508000" cy="25400"/>
          </a:xfrm>
          <a:prstGeom prst="rect">
            <a:avLst/>
          </a:prstGeom>
          <a:solidFill>
            <a:srgbClr val="B85C38"/>
          </a:solidFill>
          <a:ln/>
        </p:spPr>
      </p:sp>
      <p:sp>
        <p:nvSpPr>
          <p:cNvPr id="20" name="Text 18"/>
          <p:cNvSpPr/>
          <p:nvPr/>
        </p:nvSpPr>
        <p:spPr>
          <a:xfrm>
            <a:off x="11049000" y="3429000"/>
            <a:ext cx="4191000" cy="17780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Meaningful learning requires learners to actively select, organize, and integrate information.</a:t>
            </a:r>
            <a:endParaRPr lang="en-US" sz="1600" dirty="0"/>
          </a:p>
        </p:txBody>
      </p:sp>
      <p:sp>
        <p:nvSpPr>
          <p:cNvPr id="21" name="Shape 19"/>
          <p:cNvSpPr/>
          <p:nvPr/>
        </p:nvSpPr>
        <p:spPr>
          <a:xfrm>
            <a:off x="762000" y="5842000"/>
            <a:ext cx="14732000" cy="1016000"/>
          </a:xfrm>
          <a:prstGeom prst="rect">
            <a:avLst/>
          </a:prstGeom>
          <a:solidFill>
            <a:srgbClr val="B85C38"/>
          </a:solidFill>
          <a:ln/>
        </p:spPr>
      </p:sp>
      <p:sp>
        <p:nvSpPr>
          <p:cNvPr id="22" name="Shape 20"/>
          <p:cNvSpPr/>
          <p:nvPr/>
        </p:nvSpPr>
        <p:spPr>
          <a:xfrm>
            <a:off x="1057275" y="6096000"/>
            <a:ext cx="400050" cy="355600"/>
          </a:xfrm>
          <a:custGeom>
            <a:avLst/>
            <a:gdLst/>
            <a:ahLst/>
            <a:cxnLst/>
            <a:rect l="l" t="t" r="r" b="b"/>
            <a:pathLst>
              <a:path w="400050" h="355600">
                <a:moveTo>
                  <a:pt x="214957" y="-13127"/>
                </a:moveTo>
                <a:cubicBezTo>
                  <a:pt x="212110" y="-18683"/>
                  <a:pt x="206345" y="-22225"/>
                  <a:pt x="200094" y="-22225"/>
                </a:cubicBezTo>
                <a:cubicBezTo>
                  <a:pt x="193844" y="-22225"/>
                  <a:pt x="188079" y="-18683"/>
                  <a:pt x="185231" y="-13127"/>
                </a:cubicBezTo>
                <a:lnTo>
                  <a:pt x="134114" y="87025"/>
                </a:lnTo>
                <a:lnTo>
                  <a:pt x="23058" y="104666"/>
                </a:lnTo>
                <a:cubicBezTo>
                  <a:pt x="16877" y="105638"/>
                  <a:pt x="11738" y="110014"/>
                  <a:pt x="9793" y="115987"/>
                </a:cubicBezTo>
                <a:cubicBezTo>
                  <a:pt x="7848" y="121960"/>
                  <a:pt x="9446" y="128488"/>
                  <a:pt x="13821" y="132933"/>
                </a:cubicBezTo>
                <a:lnTo>
                  <a:pt x="93276" y="212457"/>
                </a:lnTo>
                <a:lnTo>
                  <a:pt x="75773" y="323513"/>
                </a:lnTo>
                <a:cubicBezTo>
                  <a:pt x="74801" y="329694"/>
                  <a:pt x="77371" y="335945"/>
                  <a:pt x="82441" y="339626"/>
                </a:cubicBezTo>
                <a:cubicBezTo>
                  <a:pt x="87511" y="343307"/>
                  <a:pt x="94178" y="343862"/>
                  <a:pt x="99804" y="341015"/>
                </a:cubicBezTo>
                <a:lnTo>
                  <a:pt x="200094" y="290036"/>
                </a:lnTo>
                <a:lnTo>
                  <a:pt x="300315" y="341015"/>
                </a:lnTo>
                <a:cubicBezTo>
                  <a:pt x="305872" y="343862"/>
                  <a:pt x="312609" y="343307"/>
                  <a:pt x="317679" y="339626"/>
                </a:cubicBezTo>
                <a:cubicBezTo>
                  <a:pt x="322749" y="335945"/>
                  <a:pt x="325318" y="329763"/>
                  <a:pt x="324346" y="323513"/>
                </a:cubicBezTo>
                <a:lnTo>
                  <a:pt x="306774" y="212457"/>
                </a:lnTo>
                <a:lnTo>
                  <a:pt x="386229" y="132933"/>
                </a:lnTo>
                <a:cubicBezTo>
                  <a:pt x="390674" y="128488"/>
                  <a:pt x="392202" y="121960"/>
                  <a:pt x="390257" y="115987"/>
                </a:cubicBezTo>
                <a:cubicBezTo>
                  <a:pt x="388312" y="110014"/>
                  <a:pt x="383242" y="105638"/>
                  <a:pt x="376992" y="104666"/>
                </a:cubicBezTo>
                <a:lnTo>
                  <a:pt x="266005" y="87025"/>
                </a:lnTo>
                <a:lnTo>
                  <a:pt x="214957" y="-13127"/>
                </a:lnTo>
                <a:close/>
              </a:path>
            </a:pathLst>
          </a:custGeom>
          <a:solidFill>
            <a:srgbClr val="FFFFFF"/>
          </a:solidFill>
          <a:ln/>
        </p:spPr>
      </p:sp>
      <p:sp>
        <p:nvSpPr>
          <p:cNvPr id="23" name="Text 21"/>
          <p:cNvSpPr/>
          <p:nvPr/>
        </p:nvSpPr>
        <p:spPr>
          <a:xfrm>
            <a:off x="1587500" y="5969000"/>
            <a:ext cx="13589000" cy="762000"/>
          </a:xfrm>
          <a:prstGeom prst="rect">
            <a:avLst/>
          </a:prstGeom>
          <a:noFill/>
          <a:ln/>
        </p:spPr>
        <p:txBody>
          <a:bodyPr wrap="square" lIns="0" tIns="0" rIns="0" bIns="0" rtlCol="0" anchor="ctr"/>
          <a:lstStyle/>
          <a:p>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These three assumptions form the basis of both the </a:t>
            </a:r>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Cognitive Theory of Multimedia Learning</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(Mayer) and </a:t>
            </a:r>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Dual Coding Theory</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(Paivio).</a:t>
            </a:r>
            <a:endParaRPr lang="en-US" sz="1600" dirty="0"/>
          </a:p>
        </p:txBody>
      </p:sp>
      <p:sp>
        <p:nvSpPr>
          <p:cNvPr id="24" name="Text 22"/>
          <p:cNvSpPr/>
          <p:nvPr/>
        </p:nvSpPr>
        <p:spPr>
          <a:xfrm>
            <a:off x="762000" y="7175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Multimedia Learning Principles, UC San Diego</a:t>
            </a:r>
            <a:endParaRPr lang="en-US" sz="1300" dirty="0"/>
          </a:p>
        </p:txBody>
      </p:sp>
      <p:sp>
        <p:nvSpPr>
          <p:cNvPr id="25" name="Shape 23"/>
          <p:cNvSpPr/>
          <p:nvPr/>
        </p:nvSpPr>
        <p:spPr>
          <a:xfrm>
            <a:off x="762000" y="8699500"/>
            <a:ext cx="508000" cy="38100"/>
          </a:xfrm>
          <a:prstGeom prst="rect">
            <a:avLst/>
          </a:prstGeom>
          <a:solidFill>
            <a:srgbClr val="B85C38"/>
          </a:solidFill>
          <a:ln/>
        </p:spPr>
      </p:sp>
      <p:sp>
        <p:nvSpPr>
          <p:cNvPr id="26" name="Text 24"/>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06</a:t>
            </a:r>
            <a:endParaRPr lang="en-US" sz="13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ttps://kimi-img.moonshot.cn/pub/slides/okc/kslybh5rcgfge/mnt/agents/output/multimedia-theories/images/2_Neutral_Embroidered_Brain_in_Warm.png">    </p:cNvPr>
          <p:cNvPicPr>
            <a:picLocks noChangeAspect="1"/>
          </p:cNvPicPr>
          <p:nvPr/>
        </p:nvPicPr>
        <p:blipFill>
          <a:blip r:embed="rId1"/>
          <a:srcRect l="0" r="0" t="21875" b="21875"/>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2926">
                  <a:alpha val="94000"/>
                </a:srgbClr>
              </a:gs>
              <a:gs pos="60000">
                <a:srgbClr val="2D2926">
                  <a:alpha val="82000"/>
                </a:srgbClr>
              </a:gs>
              <a:gs pos="100000">
                <a:srgbClr val="2D2926">
                  <a:alpha val="50000"/>
                </a:srgbClr>
              </a:gs>
            </a:gsLst>
            <a:lin ang="0" scaled="1"/>
          </a:gradFill>
          <a:ln w="12700">
            <a:solidFill>
              <a:srgbClr val="333333"/>
            </a:solidFill>
            <a:prstDash val="solid"/>
          </a:ln>
        </p:spPr>
      </p:sp>
      <p:sp>
        <p:nvSpPr>
          <p:cNvPr id="4" name="Text 1"/>
          <p:cNvSpPr/>
          <p:nvPr/>
        </p:nvSpPr>
        <p:spPr>
          <a:xfrm>
            <a:off x="762000" y="1524000"/>
            <a:ext cx="3810000" cy="1397000"/>
          </a:xfrm>
          <a:prstGeom prst="rect">
            <a:avLst/>
          </a:prstGeom>
          <a:noFill/>
          <a:ln/>
        </p:spPr>
        <p:txBody>
          <a:bodyPr wrap="none" lIns="0" tIns="0" rIns="0" bIns="0" rtlCol="0" anchor="ctr"/>
          <a:lstStyle/>
          <a:p>
            <a:pPr>
              <a:lnSpc>
                <a:spcPct val="100000"/>
              </a:lnSpc>
            </a:pPr>
            <a:r>
              <a:rPr lang="en-US" sz="9600" b="1" spc="400" kern="0" dirty="0">
                <a:solidFill>
                  <a:srgbClr val="FFFFFF">
                    <a:alpha val="8235"/>
                  </a:srgbClr>
                </a:solidFill>
                <a:latin typeface="QuattrocentoSans" pitchFamily="34" charset="0"/>
                <a:ea typeface="QuattrocentoSans" pitchFamily="34" charset="-122"/>
                <a:cs typeface="QuattrocentoSans" pitchFamily="34" charset="-120"/>
              </a:rPr>
              <a:t>02</a:t>
            </a:r>
            <a:endParaRPr lang="en-US" sz="8800" dirty="0"/>
          </a:p>
        </p:txBody>
      </p:sp>
      <p:sp>
        <p:nvSpPr>
          <p:cNvPr id="5" name="Shape 2"/>
          <p:cNvSpPr/>
          <p:nvPr/>
        </p:nvSpPr>
        <p:spPr>
          <a:xfrm>
            <a:off x="762000" y="3302000"/>
            <a:ext cx="762000" cy="50800"/>
          </a:xfrm>
          <a:prstGeom prst="rect">
            <a:avLst/>
          </a:prstGeom>
          <a:solidFill>
            <a:srgbClr val="B85C38"/>
          </a:solidFill>
          <a:ln/>
        </p:spPr>
      </p:sp>
      <p:sp>
        <p:nvSpPr>
          <p:cNvPr id="6" name="Text 3"/>
          <p:cNvSpPr/>
          <p:nvPr/>
        </p:nvSpPr>
        <p:spPr>
          <a:xfrm>
            <a:off x="762000" y="3683000"/>
            <a:ext cx="9525000" cy="635000"/>
          </a:xfrm>
          <a:prstGeom prst="rect">
            <a:avLst/>
          </a:prstGeom>
          <a:noFill/>
          <a:ln/>
        </p:spPr>
        <p:txBody>
          <a:bodyPr wrap="none" lIns="0" tIns="0" rIns="0" bIns="0" rtlCol="0" anchor="ctr"/>
          <a:lstStyle/>
          <a:p>
            <a:pPr>
              <a:lnSpc>
                <a:spcPct val="100000"/>
              </a:lnSpc>
            </a:pPr>
            <a:r>
              <a:rPr lang="en-US" sz="3400" b="1" spc="100" kern="0" dirty="0">
                <a:solidFill>
                  <a:srgbClr val="FFFFFF"/>
                </a:solidFill>
                <a:latin typeface="Quattrocento Sans" pitchFamily="34" charset="0"/>
                <a:ea typeface="Quattrocento Sans" pitchFamily="34" charset="-122"/>
                <a:cs typeface="Quattrocento Sans" pitchFamily="34" charset="-120"/>
              </a:rPr>
              <a:t>Cognitive Theory of Multimedia Learning</a:t>
            </a:r>
            <a:endParaRPr lang="en-US" sz="1600" dirty="0"/>
          </a:p>
        </p:txBody>
      </p:sp>
      <p:sp>
        <p:nvSpPr>
          <p:cNvPr id="7" name="Text 4"/>
          <p:cNvSpPr/>
          <p:nvPr/>
        </p:nvSpPr>
        <p:spPr>
          <a:xfrm>
            <a:off x="762000" y="4445000"/>
            <a:ext cx="7620000" cy="444500"/>
          </a:xfrm>
          <a:prstGeom prst="rect">
            <a:avLst/>
          </a:prstGeom>
          <a:noFill/>
          <a:ln/>
        </p:spPr>
        <p:txBody>
          <a:bodyPr wrap="none" lIns="0" tIns="0" rIns="0" bIns="0" rtlCol="0" anchor="ctr"/>
          <a:lstStyle/>
          <a:p>
            <a:pPr>
              <a:lnSpc>
                <a:spcPct val="100000"/>
              </a:lnSpc>
            </a:pPr>
            <a:r>
              <a:rPr lang="en-US" sz="1800" dirty="0">
                <a:solidFill>
                  <a:srgbClr val="8C7B6B"/>
                </a:solidFill>
                <a:latin typeface="Quattrocento Sans" pitchFamily="34" charset="0"/>
                <a:ea typeface="Quattrocento Sans" pitchFamily="34" charset="-122"/>
                <a:cs typeface="Quattrocento Sans" pitchFamily="34" charset="-120"/>
              </a:rPr>
              <a:t>Richard Mayer's evidence-based framework for multimedia instruction</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CTML Overview - Richard E. Mayer</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587500"/>
            <a:ext cx="8382000" cy="5207000"/>
          </a:xfrm>
          <a:prstGeom prst="rect">
            <a:avLst/>
          </a:prstGeom>
          <a:solidFill>
            <a:srgbClr val="EDE6DE"/>
          </a:solidFill>
          <a:ln/>
        </p:spPr>
      </p:sp>
      <p:sp>
        <p:nvSpPr>
          <p:cNvPr id="6" name="Text 4"/>
          <p:cNvSpPr/>
          <p:nvPr/>
        </p:nvSpPr>
        <p:spPr>
          <a:xfrm>
            <a:off x="1079500" y="1778000"/>
            <a:ext cx="3810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THE THEORY</a:t>
            </a:r>
            <a:endParaRPr lang="en-US" sz="1600" dirty="0"/>
          </a:p>
        </p:txBody>
      </p:sp>
      <p:sp>
        <p:nvSpPr>
          <p:cNvPr id="7" name="Text 5"/>
          <p:cNvSpPr/>
          <p:nvPr/>
        </p:nvSpPr>
        <p:spPr>
          <a:xfrm>
            <a:off x="1079500" y="2184400"/>
            <a:ext cx="7747000" cy="2476500"/>
          </a:xfrm>
          <a:prstGeom prst="rect">
            <a:avLst/>
          </a:prstGeom>
          <a:noFill/>
          <a:ln/>
        </p:spPr>
        <p:txBody>
          <a:bodyPr wrap="square" lIns="0" tIns="0" rIns="0" bIns="0" rtlCol="0" anchor="t"/>
          <a:lstStyle/>
          <a:p>
            <a:pPr>
              <a:lnSpc>
                <a:spcPct val="160000"/>
              </a:lnSpc>
            </a:pPr>
            <a:r>
              <a:rPr lang="en-US" sz="1600" dirty="0">
                <a:solidFill>
                  <a:srgbClr val="2D2926"/>
                </a:solidFill>
                <a:latin typeface="Quattrocento Sans" pitchFamily="34" charset="0"/>
                <a:ea typeface="Quattrocento Sans" pitchFamily="34" charset="-122"/>
                <a:cs typeface="Quattrocento Sans" pitchFamily="34" charset="-120"/>
              </a:rPr>
              <a:t>The </a:t>
            </a:r>
            <a:pPr>
              <a:lnSpc>
                <a:spcPct val="160000"/>
              </a:lnSpc>
            </a:pPr>
            <a:r>
              <a:rPr lang="en-US" sz="1600" b="1" dirty="0">
                <a:solidFill>
                  <a:srgbClr val="2D2926"/>
                </a:solidFill>
                <a:latin typeface="Quattrocento Sans" pitchFamily="34" charset="0"/>
                <a:ea typeface="Quattrocento Sans" pitchFamily="34" charset="-122"/>
                <a:cs typeface="Quattrocento Sans" pitchFamily="34" charset="-120"/>
              </a:rPr>
              <a:t>Cognitive Theory of Multimedia Learning (CTML)</a:t>
            </a:r>
            <a:pPr>
              <a:lnSpc>
                <a:spcPct val="160000"/>
              </a:lnSpc>
            </a:pPr>
            <a:r>
              <a:rPr lang="en-US" sz="1600" dirty="0">
                <a:solidFill>
                  <a:srgbClr val="2D2926"/>
                </a:solidFill>
                <a:latin typeface="Quattrocento Sans" pitchFamily="34" charset="0"/>
                <a:ea typeface="Quattrocento Sans" pitchFamily="34" charset="-122"/>
                <a:cs typeface="Quattrocento Sans" pitchFamily="34" charset="-120"/>
              </a:rPr>
              <a:t> draws together Dual Coding Theory and Cognitive Load Theory, applying them to multimedia instruction.</a:t>
            </a:r>
            <a:endParaRPr lang="en-US" sz="1600" dirty="0"/>
          </a:p>
          <a:p>
            <a:pPr>
              <a:lnSpc>
                <a:spcPct val="160000"/>
              </a:lnSpc>
              <a:spcBef>
                <a:spcPts val="800"/>
              </a:spcBef>
            </a:pPr>
            <a:r>
              <a:rPr lang="en-US" sz="1600" dirty="0">
                <a:solidFill>
                  <a:srgbClr val="2D2926"/>
                </a:solidFill>
                <a:latin typeface="Quattrocento Sans" pitchFamily="34" charset="0"/>
                <a:ea typeface="Quattrocento Sans" pitchFamily="34" charset="-122"/>
                <a:cs typeface="Quattrocento Sans" pitchFamily="34" charset="-120"/>
              </a:rPr>
              <a:t>At its core: people learn more effectively from </a:t>
            </a:r>
            <a:pPr>
              <a:lnSpc>
                <a:spcPct val="160000"/>
              </a:lnSpc>
              <a:spcBef>
                <a:spcPts val="800"/>
              </a:spcBef>
            </a:pPr>
            <a:r>
              <a:rPr lang="en-US" sz="1600" b="1" dirty="0">
                <a:solidFill>
                  <a:srgbClr val="2D2926"/>
                </a:solidFill>
                <a:latin typeface="Quattrocento Sans" pitchFamily="34" charset="0"/>
                <a:ea typeface="Quattrocento Sans" pitchFamily="34" charset="-122"/>
                <a:cs typeface="Quattrocento Sans" pitchFamily="34" charset="-120"/>
              </a:rPr>
              <a:t>words and graphics</a:t>
            </a:r>
            <a:pPr>
              <a:lnSpc>
                <a:spcPct val="160000"/>
              </a:lnSpc>
              <a:spcBef>
                <a:spcPts val="800"/>
              </a:spcBef>
            </a:pPr>
            <a:r>
              <a:rPr lang="en-US" sz="1600" dirty="0">
                <a:solidFill>
                  <a:srgbClr val="2D2926"/>
                </a:solidFill>
                <a:latin typeface="Quattrocento Sans" pitchFamily="34" charset="0"/>
                <a:ea typeface="Quattrocento Sans" pitchFamily="34" charset="-122"/>
                <a:cs typeface="Quattrocento Sans" pitchFamily="34" charset="-120"/>
              </a:rPr>
              <a:t> than from words alone.</a:t>
            </a:r>
            <a:endParaRPr lang="en-US" sz="1600" dirty="0"/>
          </a:p>
        </p:txBody>
      </p:sp>
      <p:sp>
        <p:nvSpPr>
          <p:cNvPr id="8" name="Shape 6"/>
          <p:cNvSpPr/>
          <p:nvPr/>
        </p:nvSpPr>
        <p:spPr>
          <a:xfrm>
            <a:off x="1079500" y="4699000"/>
            <a:ext cx="7747000" cy="12700"/>
          </a:xfrm>
          <a:prstGeom prst="rect">
            <a:avLst/>
          </a:prstGeom>
          <a:solidFill>
            <a:srgbClr val="D5CBC2"/>
          </a:solidFill>
          <a:ln/>
        </p:spPr>
      </p:sp>
      <p:sp>
        <p:nvSpPr>
          <p:cNvPr id="9" name="Text 7"/>
          <p:cNvSpPr/>
          <p:nvPr/>
        </p:nvSpPr>
        <p:spPr>
          <a:xfrm>
            <a:off x="1079500" y="4889500"/>
            <a:ext cx="3810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ABOUT THE AUTHOR</a:t>
            </a:r>
            <a:endParaRPr lang="en-US" sz="1600" dirty="0"/>
          </a:p>
        </p:txBody>
      </p:sp>
      <p:sp>
        <p:nvSpPr>
          <p:cNvPr id="10" name="Shape 8"/>
          <p:cNvSpPr/>
          <p:nvPr/>
        </p:nvSpPr>
        <p:spPr>
          <a:xfrm>
            <a:off x="1098550" y="5334000"/>
            <a:ext cx="266700" cy="304800"/>
          </a:xfrm>
          <a:custGeom>
            <a:avLst/>
            <a:gdLst/>
            <a:ahLst/>
            <a:cxnLst/>
            <a:rect l="l" t="t" r="r" b="b"/>
            <a:pathLst>
              <a:path w="266700" h="304800">
                <a:moveTo>
                  <a:pt x="143649" y="-7739"/>
                </a:moveTo>
                <a:cubicBezTo>
                  <a:pt x="136862" y="-9108"/>
                  <a:pt x="129897" y="-9108"/>
                  <a:pt x="123111" y="-7739"/>
                </a:cubicBezTo>
                <a:lnTo>
                  <a:pt x="11490" y="14585"/>
                </a:lnTo>
                <a:cubicBezTo>
                  <a:pt x="4822" y="15895"/>
                  <a:pt x="0" y="21788"/>
                  <a:pt x="0" y="28575"/>
                </a:cubicBezTo>
                <a:cubicBezTo>
                  <a:pt x="0" y="34707"/>
                  <a:pt x="3870" y="40065"/>
                  <a:pt x="9525" y="42029"/>
                </a:cubicBezTo>
                <a:lnTo>
                  <a:pt x="9525" y="85725"/>
                </a:lnTo>
                <a:lnTo>
                  <a:pt x="179" y="132517"/>
                </a:lnTo>
                <a:cubicBezTo>
                  <a:pt x="60" y="133052"/>
                  <a:pt x="0" y="133648"/>
                  <a:pt x="0" y="134243"/>
                </a:cubicBezTo>
                <a:cubicBezTo>
                  <a:pt x="0" y="139005"/>
                  <a:pt x="3870" y="142935"/>
                  <a:pt x="8692" y="142935"/>
                </a:cubicBezTo>
                <a:lnTo>
                  <a:pt x="29468" y="142935"/>
                </a:lnTo>
                <a:cubicBezTo>
                  <a:pt x="34230" y="142935"/>
                  <a:pt x="38160" y="139065"/>
                  <a:pt x="38160" y="134243"/>
                </a:cubicBezTo>
                <a:cubicBezTo>
                  <a:pt x="38160" y="133648"/>
                  <a:pt x="38100" y="133112"/>
                  <a:pt x="37981" y="132517"/>
                </a:cubicBezTo>
                <a:lnTo>
                  <a:pt x="28575" y="85725"/>
                </a:lnTo>
                <a:lnTo>
                  <a:pt x="28575" y="46018"/>
                </a:lnTo>
                <a:lnTo>
                  <a:pt x="57150" y="51733"/>
                </a:lnTo>
                <a:lnTo>
                  <a:pt x="57150" y="85725"/>
                </a:lnTo>
                <a:cubicBezTo>
                  <a:pt x="57150" y="127814"/>
                  <a:pt x="91261" y="161925"/>
                  <a:pt x="133350" y="161925"/>
                </a:cubicBezTo>
                <a:cubicBezTo>
                  <a:pt x="175439" y="161925"/>
                  <a:pt x="209550" y="127814"/>
                  <a:pt x="209550" y="85725"/>
                </a:cubicBezTo>
                <a:lnTo>
                  <a:pt x="209550" y="51733"/>
                </a:lnTo>
                <a:lnTo>
                  <a:pt x="255210" y="42624"/>
                </a:lnTo>
                <a:cubicBezTo>
                  <a:pt x="261878" y="41255"/>
                  <a:pt x="266700" y="35362"/>
                  <a:pt x="266700" y="28575"/>
                </a:cubicBezTo>
                <a:cubicBezTo>
                  <a:pt x="266700" y="21788"/>
                  <a:pt x="261878" y="15895"/>
                  <a:pt x="255210" y="14585"/>
                </a:cubicBezTo>
                <a:lnTo>
                  <a:pt x="143649" y="-7739"/>
                </a:lnTo>
                <a:close/>
                <a:moveTo>
                  <a:pt x="133350" y="133350"/>
                </a:moveTo>
                <a:cubicBezTo>
                  <a:pt x="107037" y="133350"/>
                  <a:pt x="85725" y="112038"/>
                  <a:pt x="85725" y="85725"/>
                </a:cubicBezTo>
                <a:lnTo>
                  <a:pt x="180975" y="85725"/>
                </a:lnTo>
                <a:cubicBezTo>
                  <a:pt x="180975" y="112038"/>
                  <a:pt x="159663" y="133350"/>
                  <a:pt x="133350" y="133350"/>
                </a:cubicBezTo>
                <a:close/>
                <a:moveTo>
                  <a:pt x="71497" y="190560"/>
                </a:moveTo>
                <a:cubicBezTo>
                  <a:pt x="34945" y="207347"/>
                  <a:pt x="9525" y="244257"/>
                  <a:pt x="9525" y="287119"/>
                </a:cubicBezTo>
                <a:cubicBezTo>
                  <a:pt x="9525" y="296882"/>
                  <a:pt x="17443" y="304800"/>
                  <a:pt x="27206" y="304800"/>
                </a:cubicBezTo>
                <a:lnTo>
                  <a:pt x="119062" y="304800"/>
                </a:lnTo>
                <a:lnTo>
                  <a:pt x="119062" y="217884"/>
                </a:lnTo>
                <a:lnTo>
                  <a:pt x="84892" y="192286"/>
                </a:lnTo>
                <a:cubicBezTo>
                  <a:pt x="81022" y="189369"/>
                  <a:pt x="75843" y="188595"/>
                  <a:pt x="71438" y="190619"/>
                </a:cubicBezTo>
                <a:close/>
                <a:moveTo>
                  <a:pt x="147638" y="304800"/>
                </a:moveTo>
                <a:lnTo>
                  <a:pt x="239494" y="304800"/>
                </a:lnTo>
                <a:cubicBezTo>
                  <a:pt x="249257" y="304800"/>
                  <a:pt x="257175" y="296882"/>
                  <a:pt x="257175" y="287119"/>
                </a:cubicBezTo>
                <a:cubicBezTo>
                  <a:pt x="257175" y="244257"/>
                  <a:pt x="231755" y="207347"/>
                  <a:pt x="195203" y="190619"/>
                </a:cubicBezTo>
                <a:cubicBezTo>
                  <a:pt x="190798" y="188595"/>
                  <a:pt x="185618" y="189369"/>
                  <a:pt x="181749" y="192286"/>
                </a:cubicBezTo>
                <a:lnTo>
                  <a:pt x="147578" y="217884"/>
                </a:lnTo>
                <a:lnTo>
                  <a:pt x="147578" y="304800"/>
                </a:lnTo>
                <a:close/>
              </a:path>
            </a:pathLst>
          </a:custGeom>
          <a:solidFill>
            <a:srgbClr val="B85C38"/>
          </a:solidFill>
          <a:ln/>
        </p:spPr>
      </p:sp>
      <p:sp>
        <p:nvSpPr>
          <p:cNvPr id="11" name="Text 9"/>
          <p:cNvSpPr/>
          <p:nvPr/>
        </p:nvSpPr>
        <p:spPr>
          <a:xfrm>
            <a:off x="1524000" y="5270500"/>
            <a:ext cx="7302500" cy="889000"/>
          </a:xfrm>
          <a:prstGeom prst="rect">
            <a:avLst/>
          </a:prstGeom>
          <a:noFill/>
          <a:ln/>
        </p:spPr>
        <p:txBody>
          <a:bodyPr wrap="square" lIns="0" tIns="0" rIns="0" bIns="0" rtlCol="0" anchor="t"/>
          <a:lstStyle/>
          <a:p>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Richard E. Mayer</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 Professor of Psychology at UC Santa Barbara. Developed 12 evidence-based principles from 200+ experimental studies.</a:t>
            </a:r>
            <a:endParaRPr lang="en-US" sz="1600" dirty="0"/>
          </a:p>
        </p:txBody>
      </p:sp>
      <p:sp>
        <p:nvSpPr>
          <p:cNvPr id="12" name="Shape 10"/>
          <p:cNvSpPr/>
          <p:nvPr/>
        </p:nvSpPr>
        <p:spPr>
          <a:xfrm>
            <a:off x="9652000" y="1587500"/>
            <a:ext cx="5842000" cy="2286000"/>
          </a:xfrm>
          <a:prstGeom prst="rect">
            <a:avLst/>
          </a:prstGeom>
          <a:solidFill>
            <a:srgbClr val="B85C38"/>
          </a:solidFill>
          <a:ln/>
        </p:spPr>
      </p:sp>
      <p:sp>
        <p:nvSpPr>
          <p:cNvPr id="13" name="Text 11"/>
          <p:cNvSpPr/>
          <p:nvPr/>
        </p:nvSpPr>
        <p:spPr>
          <a:xfrm>
            <a:off x="10033000" y="1841500"/>
            <a:ext cx="2540000" cy="889000"/>
          </a:xfrm>
          <a:prstGeom prst="rect">
            <a:avLst/>
          </a:prstGeom>
          <a:noFill/>
          <a:ln/>
        </p:spPr>
        <p:txBody>
          <a:bodyPr wrap="none" lIns="0" tIns="0" rIns="0" bIns="0" rtlCol="0" anchor="ctr"/>
          <a:lstStyle/>
          <a:p>
            <a:pPr>
              <a:lnSpc>
                <a:spcPct val="100000"/>
              </a:lnSpc>
            </a:pPr>
            <a:r>
              <a:rPr lang="en-US" sz="5600" b="1" dirty="0">
                <a:solidFill>
                  <a:srgbClr val="FFFFFF"/>
                </a:solidFill>
                <a:latin typeface="Quattrocento Sans" pitchFamily="34" charset="0"/>
                <a:ea typeface="Quattrocento Sans" pitchFamily="34" charset="-122"/>
                <a:cs typeface="Quattrocento Sans" pitchFamily="34" charset="-120"/>
              </a:rPr>
              <a:t>12</a:t>
            </a:r>
            <a:endParaRPr lang="en-US" sz="1600" dirty="0"/>
          </a:p>
        </p:txBody>
      </p:sp>
      <p:sp>
        <p:nvSpPr>
          <p:cNvPr id="14" name="Text 12"/>
          <p:cNvSpPr/>
          <p:nvPr/>
        </p:nvSpPr>
        <p:spPr>
          <a:xfrm>
            <a:off x="10033000" y="2794000"/>
            <a:ext cx="5080000" cy="762000"/>
          </a:xfrm>
          <a:prstGeom prst="rect">
            <a:avLst/>
          </a:prstGeom>
          <a:noFill/>
          <a:ln/>
        </p:spPr>
        <p:txBody>
          <a:bodyPr wrap="square" lIns="0" tIns="0" rIns="0" bIns="0" rtlCol="0" anchor="t"/>
          <a:lstStyle/>
          <a:p>
            <a:pPr>
              <a:lnSpc>
                <a:spcPct val="140000"/>
              </a:lnSpc>
            </a:pPr>
            <a:r>
              <a:rPr lang="en-US" sz="1800" dirty="0">
                <a:solidFill>
                  <a:srgbClr val="FFFFFF">
                    <a:alpha val="86667"/>
                  </a:srgbClr>
                </a:solidFill>
                <a:latin typeface="Quattrocento Sans" pitchFamily="34" charset="0"/>
                <a:ea typeface="Quattrocento Sans" pitchFamily="34" charset="-122"/>
                <a:cs typeface="Quattrocento Sans" pitchFamily="34" charset="-120"/>
              </a:rPr>
              <a:t>Evidence-Based Principles for Multimedia Instructional Design</a:t>
            </a:r>
            <a:endParaRPr lang="en-US" sz="1600" dirty="0"/>
          </a:p>
        </p:txBody>
      </p:sp>
      <p:sp>
        <p:nvSpPr>
          <p:cNvPr id="15" name="Shape 13"/>
          <p:cNvSpPr/>
          <p:nvPr/>
        </p:nvSpPr>
        <p:spPr>
          <a:xfrm>
            <a:off x="9652000" y="4191000"/>
            <a:ext cx="5842000" cy="2603500"/>
          </a:xfrm>
          <a:prstGeom prst="rect">
            <a:avLst/>
          </a:prstGeom>
          <a:solidFill>
            <a:srgbClr val="2D2926"/>
          </a:solidFill>
          <a:ln/>
        </p:spPr>
      </p:sp>
      <p:sp>
        <p:nvSpPr>
          <p:cNvPr id="16" name="Text 14"/>
          <p:cNvSpPr/>
          <p:nvPr/>
        </p:nvSpPr>
        <p:spPr>
          <a:xfrm>
            <a:off x="10033000" y="4381500"/>
            <a:ext cx="3810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KEY PUBLICATIONS</a:t>
            </a:r>
            <a:endParaRPr lang="en-US" sz="1600" dirty="0"/>
          </a:p>
        </p:txBody>
      </p:sp>
      <p:sp>
        <p:nvSpPr>
          <p:cNvPr id="17" name="Text 15"/>
          <p:cNvSpPr/>
          <p:nvPr/>
        </p:nvSpPr>
        <p:spPr>
          <a:xfrm>
            <a:off x="10033000" y="4800600"/>
            <a:ext cx="5080000" cy="1841500"/>
          </a:xfrm>
          <a:prstGeom prst="rect">
            <a:avLst/>
          </a:prstGeom>
          <a:noFill/>
          <a:ln/>
        </p:spPr>
        <p:txBody>
          <a:bodyPr wrap="square" lIns="0" tIns="0" rIns="0" bIns="0" rtlCol="0" anchor="t"/>
          <a:lstStyle/>
          <a:p>
            <a:pPr>
              <a:lnSpc>
                <a:spcPct val="17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Multimedia Learning (2001, 2009, 2014)</a:t>
            </a:r>
            <a:endParaRPr lang="en-US" sz="1600" dirty="0"/>
          </a:p>
          <a:p>
            <a:pPr>
              <a:lnSpc>
                <a:spcPct val="17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The Cambridge Handbook of Multimedia Learning</a:t>
            </a:r>
            <a:endParaRPr lang="en-US" sz="1600" dirty="0"/>
          </a:p>
          <a:p>
            <a:pPr>
              <a:lnSpc>
                <a:spcPct val="17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200+ Experimental Research Studies</a:t>
            </a:r>
            <a:endParaRPr lang="en-US" sz="1600" dirty="0"/>
          </a:p>
          <a:p>
            <a:pPr>
              <a:lnSpc>
                <a:spcPct val="17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Professor, UC Santa Barbara (since 1975)</a:t>
            </a:r>
            <a:endParaRPr lang="en-US" sz="1600" dirty="0"/>
          </a:p>
        </p:txBody>
      </p:sp>
      <p:sp>
        <p:nvSpPr>
          <p:cNvPr id="18" name="Text 16"/>
          <p:cNvSpPr/>
          <p:nvPr/>
        </p:nvSpPr>
        <p:spPr>
          <a:xfrm>
            <a:off x="762000" y="7048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Harvard Center for Health Decision Science, 2023</a:t>
            </a:r>
            <a:endParaRPr lang="en-US" sz="1300" dirty="0"/>
          </a:p>
        </p:txBody>
      </p:sp>
      <p:sp>
        <p:nvSpPr>
          <p:cNvPr id="19" name="Shape 17"/>
          <p:cNvSpPr/>
          <p:nvPr/>
        </p:nvSpPr>
        <p:spPr>
          <a:xfrm>
            <a:off x="762000" y="8699500"/>
            <a:ext cx="508000" cy="38100"/>
          </a:xfrm>
          <a:prstGeom prst="rect">
            <a:avLst/>
          </a:prstGeom>
          <a:solidFill>
            <a:srgbClr val="B85C38"/>
          </a:solidFill>
          <a:ln/>
        </p:spPr>
      </p:sp>
      <p:sp>
        <p:nvSpPr>
          <p:cNvPr id="20" name="Text 18"/>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08</a:t>
            </a:r>
            <a:endParaRPr lang="en-US" sz="13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Three Core Assumptions of CTML</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587500"/>
            <a:ext cx="14732000" cy="1905000"/>
          </a:xfrm>
          <a:prstGeom prst="rect">
            <a:avLst/>
          </a:prstGeom>
          <a:solidFill>
            <a:srgbClr val="EDE6DE"/>
          </a:solidFill>
          <a:ln/>
        </p:spPr>
      </p:sp>
      <p:sp>
        <p:nvSpPr>
          <p:cNvPr id="6" name="Text 4"/>
          <p:cNvSpPr/>
          <p:nvPr/>
        </p:nvSpPr>
        <p:spPr>
          <a:xfrm>
            <a:off x="1079500" y="1778000"/>
            <a:ext cx="889000" cy="635000"/>
          </a:xfrm>
          <a:prstGeom prst="rect">
            <a:avLst/>
          </a:prstGeom>
          <a:noFill/>
          <a:ln/>
        </p:spPr>
        <p:txBody>
          <a:bodyPr wrap="none" lIns="0" tIns="0" rIns="0" bIns="0" rtlCol="0" anchor="ctr"/>
          <a:lstStyle/>
          <a:p>
            <a:pPr algn="ctr">
              <a:lnSpc>
                <a:spcPct val="100000"/>
              </a:lnSpc>
            </a:pPr>
            <a:r>
              <a:rPr lang="en-US" sz="3600" b="1" dirty="0">
                <a:solidFill>
                  <a:srgbClr val="B85C38"/>
                </a:solidFill>
                <a:latin typeface="Quattrocento Sans" pitchFamily="34" charset="0"/>
                <a:ea typeface="Quattrocento Sans" pitchFamily="34" charset="-122"/>
                <a:cs typeface="Quattrocento Sans" pitchFamily="34" charset="-120"/>
              </a:rPr>
              <a:t>1</a:t>
            </a:r>
            <a:endParaRPr lang="en-US" sz="1600" dirty="0"/>
          </a:p>
        </p:txBody>
      </p:sp>
      <p:sp>
        <p:nvSpPr>
          <p:cNvPr id="7" name="Text 5"/>
          <p:cNvSpPr/>
          <p:nvPr/>
        </p:nvSpPr>
        <p:spPr>
          <a:xfrm>
            <a:off x="2032000" y="1778000"/>
            <a:ext cx="5080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Dual-Channel Assumption</a:t>
            </a:r>
            <a:endParaRPr lang="en-US" sz="1600" dirty="0"/>
          </a:p>
        </p:txBody>
      </p:sp>
      <p:sp>
        <p:nvSpPr>
          <p:cNvPr id="8" name="Text 6"/>
          <p:cNvSpPr/>
          <p:nvPr/>
        </p:nvSpPr>
        <p:spPr>
          <a:xfrm>
            <a:off x="2032000" y="2222500"/>
            <a:ext cx="13081000" cy="10795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Humans possess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separate information processing systems</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for visual/pictorial material and auditory/verbal material. On-screen text enters through the eyes but is converted to sounds for verbal processing.</a:t>
            </a:r>
            <a:endParaRPr lang="en-US" sz="1600" dirty="0"/>
          </a:p>
        </p:txBody>
      </p:sp>
      <p:sp>
        <p:nvSpPr>
          <p:cNvPr id="9" name="Shape 7"/>
          <p:cNvSpPr/>
          <p:nvPr/>
        </p:nvSpPr>
        <p:spPr>
          <a:xfrm>
            <a:off x="762000" y="3746500"/>
            <a:ext cx="14732000" cy="1905000"/>
          </a:xfrm>
          <a:prstGeom prst="rect">
            <a:avLst/>
          </a:prstGeom>
          <a:solidFill>
            <a:srgbClr val="EDE6DE"/>
          </a:solidFill>
          <a:ln/>
        </p:spPr>
      </p:sp>
      <p:sp>
        <p:nvSpPr>
          <p:cNvPr id="10" name="Text 8"/>
          <p:cNvSpPr/>
          <p:nvPr/>
        </p:nvSpPr>
        <p:spPr>
          <a:xfrm>
            <a:off x="1079500" y="3937000"/>
            <a:ext cx="889000" cy="635000"/>
          </a:xfrm>
          <a:prstGeom prst="rect">
            <a:avLst/>
          </a:prstGeom>
          <a:noFill/>
          <a:ln/>
        </p:spPr>
        <p:txBody>
          <a:bodyPr wrap="none" lIns="0" tIns="0" rIns="0" bIns="0" rtlCol="0" anchor="ctr"/>
          <a:lstStyle/>
          <a:p>
            <a:pPr algn="ctr">
              <a:lnSpc>
                <a:spcPct val="100000"/>
              </a:lnSpc>
            </a:pPr>
            <a:r>
              <a:rPr lang="en-US" sz="3600" b="1" dirty="0">
                <a:solidFill>
                  <a:srgbClr val="B85C38"/>
                </a:solidFill>
                <a:latin typeface="Quattrocento Sans" pitchFamily="34" charset="0"/>
                <a:ea typeface="Quattrocento Sans" pitchFamily="34" charset="-122"/>
                <a:cs typeface="Quattrocento Sans" pitchFamily="34" charset="-120"/>
              </a:rPr>
              <a:t>2</a:t>
            </a:r>
            <a:endParaRPr lang="en-US" sz="1600" dirty="0"/>
          </a:p>
        </p:txBody>
      </p:sp>
      <p:sp>
        <p:nvSpPr>
          <p:cNvPr id="11" name="Text 9"/>
          <p:cNvSpPr/>
          <p:nvPr/>
        </p:nvSpPr>
        <p:spPr>
          <a:xfrm>
            <a:off x="2032000" y="3937000"/>
            <a:ext cx="5080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Limited Capacity Assumption</a:t>
            </a:r>
            <a:endParaRPr lang="en-US" sz="1600" dirty="0"/>
          </a:p>
        </p:txBody>
      </p:sp>
      <p:sp>
        <p:nvSpPr>
          <p:cNvPr id="12" name="Text 10"/>
          <p:cNvSpPr/>
          <p:nvPr/>
        </p:nvSpPr>
        <p:spPr>
          <a:xfrm>
            <a:off x="2032000" y="4381500"/>
            <a:ext cx="13081000" cy="10795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Humans are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limited in the amount of material</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they can process in each channel at one time. Presenting too much on screen overloads the visual channel; too much audio overloads the verbal channel.</a:t>
            </a:r>
            <a:endParaRPr lang="en-US" sz="1600" dirty="0"/>
          </a:p>
        </p:txBody>
      </p:sp>
      <p:sp>
        <p:nvSpPr>
          <p:cNvPr id="13" name="Shape 11"/>
          <p:cNvSpPr/>
          <p:nvPr/>
        </p:nvSpPr>
        <p:spPr>
          <a:xfrm>
            <a:off x="762000" y="5905500"/>
            <a:ext cx="14732000" cy="1905000"/>
          </a:xfrm>
          <a:prstGeom prst="rect">
            <a:avLst/>
          </a:prstGeom>
          <a:solidFill>
            <a:srgbClr val="EDE6DE"/>
          </a:solidFill>
          <a:ln/>
        </p:spPr>
      </p:sp>
      <p:sp>
        <p:nvSpPr>
          <p:cNvPr id="14" name="Text 12"/>
          <p:cNvSpPr/>
          <p:nvPr/>
        </p:nvSpPr>
        <p:spPr>
          <a:xfrm>
            <a:off x="1079500" y="6096000"/>
            <a:ext cx="889000" cy="635000"/>
          </a:xfrm>
          <a:prstGeom prst="rect">
            <a:avLst/>
          </a:prstGeom>
          <a:noFill/>
          <a:ln/>
        </p:spPr>
        <p:txBody>
          <a:bodyPr wrap="none" lIns="0" tIns="0" rIns="0" bIns="0" rtlCol="0" anchor="ctr"/>
          <a:lstStyle/>
          <a:p>
            <a:pPr algn="ctr">
              <a:lnSpc>
                <a:spcPct val="100000"/>
              </a:lnSpc>
            </a:pPr>
            <a:r>
              <a:rPr lang="en-US" sz="3600" b="1" dirty="0">
                <a:solidFill>
                  <a:srgbClr val="B85C38"/>
                </a:solidFill>
                <a:latin typeface="Quattrocento Sans" pitchFamily="34" charset="0"/>
                <a:ea typeface="Quattrocento Sans" pitchFamily="34" charset="-122"/>
                <a:cs typeface="Quattrocento Sans" pitchFamily="34" charset="-120"/>
              </a:rPr>
              <a:t>3</a:t>
            </a:r>
            <a:endParaRPr lang="en-US" sz="1600" dirty="0"/>
          </a:p>
        </p:txBody>
      </p:sp>
      <p:sp>
        <p:nvSpPr>
          <p:cNvPr id="15" name="Text 13"/>
          <p:cNvSpPr/>
          <p:nvPr/>
        </p:nvSpPr>
        <p:spPr>
          <a:xfrm>
            <a:off x="2032000" y="6096000"/>
            <a:ext cx="5080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Active Processing Assumption</a:t>
            </a:r>
            <a:endParaRPr lang="en-US" sz="1600" dirty="0"/>
          </a:p>
        </p:txBody>
      </p:sp>
      <p:sp>
        <p:nvSpPr>
          <p:cNvPr id="16" name="Text 14"/>
          <p:cNvSpPr/>
          <p:nvPr/>
        </p:nvSpPr>
        <p:spPr>
          <a:xfrm>
            <a:off x="2032000" y="6540500"/>
            <a:ext cx="13081000" cy="10795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Humans engage in meaningful learning by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attending to relevant information</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organizing it into coherent mental representations, and integrating with prior knowledge from long-term memory.</a:t>
            </a:r>
            <a:endParaRPr lang="en-US" sz="1600" dirty="0"/>
          </a:p>
        </p:txBody>
      </p:sp>
      <p:sp>
        <p:nvSpPr>
          <p:cNvPr id="17" name="Shape 15"/>
          <p:cNvSpPr/>
          <p:nvPr/>
        </p:nvSpPr>
        <p:spPr>
          <a:xfrm>
            <a:off x="762000" y="8699500"/>
            <a:ext cx="508000" cy="38100"/>
          </a:xfrm>
          <a:prstGeom prst="rect">
            <a:avLst/>
          </a:prstGeom>
          <a:solidFill>
            <a:srgbClr val="B85C38"/>
          </a:solidFill>
          <a:ln/>
        </p:spPr>
      </p:sp>
      <p:sp>
        <p:nvSpPr>
          <p:cNvPr id="18" name="Text 16"/>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09</a:t>
            </a:r>
            <a:endParaRPr lang="en-US" sz="13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The Dual-Channel Assumption</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651000"/>
            <a:ext cx="6858000" cy="3048000"/>
          </a:xfrm>
          <a:prstGeom prst="rect">
            <a:avLst/>
          </a:prstGeom>
          <a:solidFill>
            <a:srgbClr val="B85C38"/>
          </a:solidFill>
          <a:ln/>
        </p:spPr>
      </p:sp>
      <p:sp>
        <p:nvSpPr>
          <p:cNvPr id="6" name="Shape 4"/>
          <p:cNvSpPr/>
          <p:nvPr/>
        </p:nvSpPr>
        <p:spPr>
          <a:xfrm>
            <a:off x="1047750" y="1968500"/>
            <a:ext cx="571500" cy="508000"/>
          </a:xfrm>
          <a:custGeom>
            <a:avLst/>
            <a:gdLst/>
            <a:ahLst/>
            <a:cxnLst/>
            <a:rect l="l" t="t" r="r" b="b"/>
            <a:pathLst>
              <a:path w="571500" h="508000">
                <a:moveTo>
                  <a:pt x="285750" y="31750"/>
                </a:moveTo>
                <a:cubicBezTo>
                  <a:pt x="205581" y="31750"/>
                  <a:pt x="141387" y="68263"/>
                  <a:pt x="94655" y="111720"/>
                </a:cubicBezTo>
                <a:cubicBezTo>
                  <a:pt x="48220" y="154880"/>
                  <a:pt x="17165" y="206375"/>
                  <a:pt x="2381" y="241796"/>
                </a:cubicBezTo>
                <a:cubicBezTo>
                  <a:pt x="-893" y="249634"/>
                  <a:pt x="-893" y="258366"/>
                  <a:pt x="2381" y="266204"/>
                </a:cubicBezTo>
                <a:cubicBezTo>
                  <a:pt x="17165" y="301625"/>
                  <a:pt x="48220" y="353219"/>
                  <a:pt x="94655" y="396280"/>
                </a:cubicBezTo>
                <a:cubicBezTo>
                  <a:pt x="141387" y="439638"/>
                  <a:pt x="205581" y="476250"/>
                  <a:pt x="285750" y="476250"/>
                </a:cubicBezTo>
                <a:cubicBezTo>
                  <a:pt x="365919" y="476250"/>
                  <a:pt x="430113" y="439737"/>
                  <a:pt x="476845" y="396280"/>
                </a:cubicBezTo>
                <a:cubicBezTo>
                  <a:pt x="523280" y="353120"/>
                  <a:pt x="554335" y="301625"/>
                  <a:pt x="569119" y="266204"/>
                </a:cubicBezTo>
                <a:cubicBezTo>
                  <a:pt x="572393" y="258366"/>
                  <a:pt x="572393" y="249634"/>
                  <a:pt x="569119" y="241796"/>
                </a:cubicBezTo>
                <a:cubicBezTo>
                  <a:pt x="554335" y="206375"/>
                  <a:pt x="523280" y="154781"/>
                  <a:pt x="476845" y="111720"/>
                </a:cubicBezTo>
                <a:cubicBezTo>
                  <a:pt x="430113" y="68362"/>
                  <a:pt x="365919" y="31750"/>
                  <a:pt x="285750" y="31750"/>
                </a:cubicBezTo>
                <a:close/>
                <a:moveTo>
                  <a:pt x="142875" y="254000"/>
                </a:moveTo>
                <a:cubicBezTo>
                  <a:pt x="142875" y="175145"/>
                  <a:pt x="206895" y="111125"/>
                  <a:pt x="285750" y="111125"/>
                </a:cubicBezTo>
                <a:cubicBezTo>
                  <a:pt x="364605" y="111125"/>
                  <a:pt x="428625" y="175145"/>
                  <a:pt x="428625" y="254000"/>
                </a:cubicBezTo>
                <a:cubicBezTo>
                  <a:pt x="428625" y="332855"/>
                  <a:pt x="364605" y="396875"/>
                  <a:pt x="285750" y="396875"/>
                </a:cubicBezTo>
                <a:cubicBezTo>
                  <a:pt x="206895" y="396875"/>
                  <a:pt x="142875" y="332855"/>
                  <a:pt x="142875" y="254000"/>
                </a:cubicBezTo>
                <a:close/>
                <a:moveTo>
                  <a:pt x="285750" y="190500"/>
                </a:moveTo>
                <a:cubicBezTo>
                  <a:pt x="285750" y="225524"/>
                  <a:pt x="257274" y="254000"/>
                  <a:pt x="222250" y="254000"/>
                </a:cubicBezTo>
                <a:cubicBezTo>
                  <a:pt x="210840" y="254000"/>
                  <a:pt x="200124" y="251023"/>
                  <a:pt x="190798" y="245666"/>
                </a:cubicBezTo>
                <a:cubicBezTo>
                  <a:pt x="189805" y="256480"/>
                  <a:pt x="190698" y="267593"/>
                  <a:pt x="193675" y="278606"/>
                </a:cubicBezTo>
                <a:cubicBezTo>
                  <a:pt x="207268" y="329406"/>
                  <a:pt x="259556" y="359569"/>
                  <a:pt x="310356" y="345976"/>
                </a:cubicBezTo>
                <a:cubicBezTo>
                  <a:pt x="361156" y="332383"/>
                  <a:pt x="391319" y="280095"/>
                  <a:pt x="377726" y="229295"/>
                </a:cubicBezTo>
                <a:cubicBezTo>
                  <a:pt x="365621" y="183952"/>
                  <a:pt x="322659" y="155079"/>
                  <a:pt x="277416" y="159048"/>
                </a:cubicBezTo>
                <a:cubicBezTo>
                  <a:pt x="282674" y="168275"/>
                  <a:pt x="285750" y="178991"/>
                  <a:pt x="285750" y="190500"/>
                </a:cubicBezTo>
                <a:close/>
              </a:path>
            </a:pathLst>
          </a:custGeom>
          <a:solidFill>
            <a:srgbClr val="FFFFFF"/>
          </a:solidFill>
          <a:ln/>
        </p:spPr>
      </p:sp>
      <p:sp>
        <p:nvSpPr>
          <p:cNvPr id="7" name="Text 5"/>
          <p:cNvSpPr/>
          <p:nvPr/>
        </p:nvSpPr>
        <p:spPr>
          <a:xfrm>
            <a:off x="1778000" y="1968500"/>
            <a:ext cx="3810000" cy="444500"/>
          </a:xfrm>
          <a:prstGeom prst="rect">
            <a:avLst/>
          </a:prstGeom>
          <a:noFill/>
          <a:ln/>
        </p:spPr>
        <p:txBody>
          <a:bodyPr wrap="none" lIns="0" tIns="0" rIns="0" bIns="0" rtlCol="0" anchor="ctr"/>
          <a:lstStyle/>
          <a:p>
            <a:pPr>
              <a:lnSpc>
                <a:spcPct val="100000"/>
              </a:lnSpc>
            </a:pPr>
            <a:r>
              <a:rPr lang="en-US" sz="2200" b="1" dirty="0">
                <a:solidFill>
                  <a:srgbClr val="FFFFFF"/>
                </a:solidFill>
                <a:latin typeface="Quattrocento Sans" pitchFamily="34" charset="0"/>
                <a:ea typeface="Quattrocento Sans" pitchFamily="34" charset="-122"/>
                <a:cs typeface="Quattrocento Sans" pitchFamily="34" charset="-120"/>
              </a:rPr>
              <a:t>Visual / Pictorial Channel</a:t>
            </a:r>
            <a:endParaRPr lang="en-US" sz="1600" dirty="0"/>
          </a:p>
        </p:txBody>
      </p:sp>
      <p:sp>
        <p:nvSpPr>
          <p:cNvPr id="8" name="Text 6"/>
          <p:cNvSpPr/>
          <p:nvPr/>
        </p:nvSpPr>
        <p:spPr>
          <a:xfrm>
            <a:off x="1079500" y="2603500"/>
            <a:ext cx="6223000" cy="1841500"/>
          </a:xfrm>
          <a:prstGeom prst="rect">
            <a:avLst/>
          </a:prstGeom>
          <a:noFill/>
          <a:ln/>
        </p:spPr>
        <p:txBody>
          <a:bodyPr wrap="square" lIns="0" tIns="0" rIns="0" bIns="0" rtlCol="0" anchor="t"/>
          <a:lstStyle/>
          <a:p>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Processes images, diagrams, animations, and video that enter through the </a:t>
            </a:r>
            <a:pPr>
              <a:lnSpc>
                <a:spcPct val="16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eyes</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a:t>
            </a:r>
            <a:endParaRPr lang="en-US" sz="1600" dirty="0"/>
          </a:p>
          <a:p>
            <a:pPr>
              <a:lnSpc>
                <a:spcPct val="160000"/>
              </a:lnSpc>
              <a:spcBef>
                <a:spcPts val="600"/>
              </a:spcBef>
            </a:pPr>
            <a:r>
              <a:rPr lang="en-US" sz="1600" dirty="0">
                <a:solidFill>
                  <a:srgbClr val="FFFFFF">
                    <a:alpha val="86667"/>
                  </a:srgbClr>
                </a:solidFill>
                <a:latin typeface="Quattrocento Sans" pitchFamily="34" charset="0"/>
                <a:ea typeface="Quattrocento Sans" pitchFamily="34" charset="-122"/>
                <a:cs typeface="Quattrocento Sans" pitchFamily="34" charset="-120"/>
              </a:rPr>
              <a:t>On-screen text is initially processed here before conversion to verbal processing.</a:t>
            </a:r>
            <a:endParaRPr lang="en-US" sz="1600" dirty="0"/>
          </a:p>
        </p:txBody>
      </p:sp>
      <p:sp>
        <p:nvSpPr>
          <p:cNvPr id="9" name="Shape 7"/>
          <p:cNvSpPr/>
          <p:nvPr/>
        </p:nvSpPr>
        <p:spPr>
          <a:xfrm>
            <a:off x="8001000" y="1651000"/>
            <a:ext cx="7493000" cy="3048000"/>
          </a:xfrm>
          <a:prstGeom prst="rect">
            <a:avLst/>
          </a:prstGeom>
          <a:solidFill>
            <a:srgbClr val="2D2926"/>
          </a:solidFill>
          <a:ln/>
        </p:spPr>
      </p:sp>
      <p:sp>
        <p:nvSpPr>
          <p:cNvPr id="10" name="Shape 8"/>
          <p:cNvSpPr/>
          <p:nvPr/>
        </p:nvSpPr>
        <p:spPr>
          <a:xfrm>
            <a:off x="8255000" y="1968500"/>
            <a:ext cx="635000" cy="508000"/>
          </a:xfrm>
          <a:custGeom>
            <a:avLst/>
            <a:gdLst/>
            <a:ahLst/>
            <a:cxnLst/>
            <a:rect l="l" t="t" r="r" b="b"/>
            <a:pathLst>
              <a:path w="635000" h="508000">
                <a:moveTo>
                  <a:pt x="529431" y="32246"/>
                </a:moveTo>
                <a:cubicBezTo>
                  <a:pt x="519212" y="23912"/>
                  <a:pt x="504230" y="25499"/>
                  <a:pt x="495895" y="35719"/>
                </a:cubicBezTo>
                <a:cubicBezTo>
                  <a:pt x="487561" y="45938"/>
                  <a:pt x="489148" y="60920"/>
                  <a:pt x="499368" y="69255"/>
                </a:cubicBezTo>
                <a:cubicBezTo>
                  <a:pt x="553145" y="112911"/>
                  <a:pt x="587375" y="179388"/>
                  <a:pt x="587375" y="254000"/>
                </a:cubicBezTo>
                <a:cubicBezTo>
                  <a:pt x="587375" y="328613"/>
                  <a:pt x="553145" y="395089"/>
                  <a:pt x="499368" y="438845"/>
                </a:cubicBezTo>
                <a:cubicBezTo>
                  <a:pt x="489148" y="447179"/>
                  <a:pt x="487660" y="462161"/>
                  <a:pt x="495895" y="472380"/>
                </a:cubicBezTo>
                <a:cubicBezTo>
                  <a:pt x="504130" y="482600"/>
                  <a:pt x="519212" y="484088"/>
                  <a:pt x="529431" y="475853"/>
                </a:cubicBezTo>
                <a:cubicBezTo>
                  <a:pt x="593824" y="423366"/>
                  <a:pt x="635000" y="343495"/>
                  <a:pt x="635000" y="254000"/>
                </a:cubicBezTo>
                <a:cubicBezTo>
                  <a:pt x="635000" y="164505"/>
                  <a:pt x="593824" y="84534"/>
                  <a:pt x="529431" y="32246"/>
                </a:cubicBezTo>
                <a:close/>
                <a:moveTo>
                  <a:pt x="469404" y="106164"/>
                </a:moveTo>
                <a:cubicBezTo>
                  <a:pt x="459184" y="97830"/>
                  <a:pt x="444202" y="99417"/>
                  <a:pt x="435868" y="109637"/>
                </a:cubicBezTo>
                <a:cubicBezTo>
                  <a:pt x="427534" y="119856"/>
                  <a:pt x="429121" y="134838"/>
                  <a:pt x="439341" y="143173"/>
                </a:cubicBezTo>
                <a:cubicBezTo>
                  <a:pt x="471587" y="169366"/>
                  <a:pt x="492125" y="209252"/>
                  <a:pt x="492125" y="254000"/>
                </a:cubicBezTo>
                <a:cubicBezTo>
                  <a:pt x="492125" y="298748"/>
                  <a:pt x="471587" y="338634"/>
                  <a:pt x="439341" y="364927"/>
                </a:cubicBezTo>
                <a:cubicBezTo>
                  <a:pt x="429121" y="373261"/>
                  <a:pt x="427633" y="388243"/>
                  <a:pt x="435868" y="398463"/>
                </a:cubicBezTo>
                <a:cubicBezTo>
                  <a:pt x="444103" y="408682"/>
                  <a:pt x="459184" y="410170"/>
                  <a:pt x="469404" y="401935"/>
                </a:cubicBezTo>
                <a:cubicBezTo>
                  <a:pt x="512266" y="367010"/>
                  <a:pt x="539750" y="313730"/>
                  <a:pt x="539750" y="254099"/>
                </a:cubicBezTo>
                <a:cubicBezTo>
                  <a:pt x="539750" y="194469"/>
                  <a:pt x="512266" y="141188"/>
                  <a:pt x="469404" y="106263"/>
                </a:cubicBezTo>
                <a:close/>
                <a:moveTo>
                  <a:pt x="409377" y="180082"/>
                </a:moveTo>
                <a:cubicBezTo>
                  <a:pt x="399157" y="171748"/>
                  <a:pt x="384175" y="173335"/>
                  <a:pt x="375841" y="183555"/>
                </a:cubicBezTo>
                <a:cubicBezTo>
                  <a:pt x="367506" y="193774"/>
                  <a:pt x="369094" y="208756"/>
                  <a:pt x="379313" y="217091"/>
                </a:cubicBezTo>
                <a:cubicBezTo>
                  <a:pt x="390029" y="225822"/>
                  <a:pt x="396875" y="239117"/>
                  <a:pt x="396875" y="254000"/>
                </a:cubicBezTo>
                <a:cubicBezTo>
                  <a:pt x="396875" y="268883"/>
                  <a:pt x="390029" y="282178"/>
                  <a:pt x="379313" y="291009"/>
                </a:cubicBezTo>
                <a:cubicBezTo>
                  <a:pt x="369094" y="299343"/>
                  <a:pt x="367605" y="314325"/>
                  <a:pt x="375841" y="324545"/>
                </a:cubicBezTo>
                <a:cubicBezTo>
                  <a:pt x="384076" y="334764"/>
                  <a:pt x="399157" y="336252"/>
                  <a:pt x="409377" y="328017"/>
                </a:cubicBezTo>
                <a:cubicBezTo>
                  <a:pt x="430709" y="310455"/>
                  <a:pt x="444500" y="283865"/>
                  <a:pt x="444500" y="254000"/>
                </a:cubicBezTo>
                <a:cubicBezTo>
                  <a:pt x="444500" y="224135"/>
                  <a:pt x="430709" y="197545"/>
                  <a:pt x="409377" y="180082"/>
                </a:cubicBezTo>
                <a:close/>
                <a:moveTo>
                  <a:pt x="79375" y="349250"/>
                </a:moveTo>
                <a:lnTo>
                  <a:pt x="127000" y="349250"/>
                </a:lnTo>
                <a:lnTo>
                  <a:pt x="260052" y="467519"/>
                </a:lnTo>
                <a:cubicBezTo>
                  <a:pt x="266402" y="473174"/>
                  <a:pt x="274538" y="476250"/>
                  <a:pt x="282972" y="476250"/>
                </a:cubicBezTo>
                <a:cubicBezTo>
                  <a:pt x="302022" y="476250"/>
                  <a:pt x="317500" y="460772"/>
                  <a:pt x="317500" y="441722"/>
                </a:cubicBezTo>
                <a:lnTo>
                  <a:pt x="317500" y="66278"/>
                </a:lnTo>
                <a:cubicBezTo>
                  <a:pt x="317500" y="47228"/>
                  <a:pt x="302022" y="31750"/>
                  <a:pt x="282972" y="31750"/>
                </a:cubicBezTo>
                <a:cubicBezTo>
                  <a:pt x="274538" y="31750"/>
                  <a:pt x="266402" y="34826"/>
                  <a:pt x="260052" y="40481"/>
                </a:cubicBezTo>
                <a:lnTo>
                  <a:pt x="127000" y="158750"/>
                </a:lnTo>
                <a:lnTo>
                  <a:pt x="79375" y="158750"/>
                </a:lnTo>
                <a:cubicBezTo>
                  <a:pt x="53082" y="158750"/>
                  <a:pt x="31750" y="180082"/>
                  <a:pt x="31750" y="206375"/>
                </a:cubicBezTo>
                <a:lnTo>
                  <a:pt x="31750" y="301625"/>
                </a:lnTo>
                <a:cubicBezTo>
                  <a:pt x="31750" y="327918"/>
                  <a:pt x="53082" y="349250"/>
                  <a:pt x="79375" y="349250"/>
                </a:cubicBezTo>
                <a:close/>
              </a:path>
            </a:pathLst>
          </a:custGeom>
          <a:solidFill>
            <a:srgbClr val="B85C38"/>
          </a:solidFill>
          <a:ln/>
        </p:spPr>
      </p:sp>
      <p:sp>
        <p:nvSpPr>
          <p:cNvPr id="11" name="Text 9"/>
          <p:cNvSpPr/>
          <p:nvPr/>
        </p:nvSpPr>
        <p:spPr>
          <a:xfrm>
            <a:off x="9017000" y="1968500"/>
            <a:ext cx="4445000" cy="444500"/>
          </a:xfrm>
          <a:prstGeom prst="rect">
            <a:avLst/>
          </a:prstGeom>
          <a:noFill/>
          <a:ln/>
        </p:spPr>
        <p:txBody>
          <a:bodyPr wrap="none" lIns="0" tIns="0" rIns="0" bIns="0" rtlCol="0" anchor="ctr"/>
          <a:lstStyle/>
          <a:p>
            <a:pPr>
              <a:lnSpc>
                <a:spcPct val="100000"/>
              </a:lnSpc>
            </a:pPr>
            <a:r>
              <a:rPr lang="en-US" sz="2200" b="1" dirty="0">
                <a:solidFill>
                  <a:srgbClr val="FFFFFF"/>
                </a:solidFill>
                <a:latin typeface="Quattrocento Sans" pitchFamily="34" charset="0"/>
                <a:ea typeface="Quattrocento Sans" pitchFamily="34" charset="-122"/>
                <a:cs typeface="Quattrocento Sans" pitchFamily="34" charset="-120"/>
              </a:rPr>
              <a:t>Auditory / Verbal Channel</a:t>
            </a:r>
            <a:endParaRPr lang="en-US" sz="1600" dirty="0"/>
          </a:p>
        </p:txBody>
      </p:sp>
      <p:sp>
        <p:nvSpPr>
          <p:cNvPr id="12" name="Text 10"/>
          <p:cNvSpPr/>
          <p:nvPr/>
        </p:nvSpPr>
        <p:spPr>
          <a:xfrm>
            <a:off x="8318500" y="2603500"/>
            <a:ext cx="6858000" cy="1841500"/>
          </a:xfrm>
          <a:prstGeom prst="rect">
            <a:avLst/>
          </a:prstGeom>
          <a:noFill/>
          <a:ln/>
        </p:spPr>
        <p:txBody>
          <a:bodyPr wrap="square" lIns="0" tIns="0" rIns="0" bIns="0" rtlCol="0" anchor="t"/>
          <a:lstStyle/>
          <a:p>
            <a:pPr>
              <a:lnSpc>
                <a:spcPct val="16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Processes spoken words and sounds that enter through the </a:t>
            </a:r>
            <a:pPr>
              <a:lnSpc>
                <a:spcPct val="160000"/>
              </a:lnSpc>
            </a:pPr>
            <a:r>
              <a:rPr lang="en-US" sz="1600" b="1" dirty="0">
                <a:solidFill>
                  <a:srgbClr val="FFFFFF">
                    <a:alpha val="80000"/>
                  </a:srgbClr>
                </a:solidFill>
                <a:latin typeface="Quattrocento Sans" pitchFamily="34" charset="0"/>
                <a:ea typeface="Quattrocento Sans" pitchFamily="34" charset="-122"/>
                <a:cs typeface="Quattrocento Sans" pitchFamily="34" charset="-120"/>
              </a:rPr>
              <a:t>ears</a:t>
            </a:r>
            <a:pPr>
              <a:lnSpc>
                <a:spcPct val="16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a:t>
            </a:r>
            <a:endParaRPr lang="en-US" sz="1600" dirty="0"/>
          </a:p>
          <a:p>
            <a:pPr>
              <a:lnSpc>
                <a:spcPct val="160000"/>
              </a:lnSpc>
              <a:spcBef>
                <a:spcPts val="600"/>
              </a:spcBef>
            </a:pPr>
            <a:r>
              <a:rPr lang="en-US" sz="1600" dirty="0">
                <a:solidFill>
                  <a:srgbClr val="FFFFFF">
                    <a:alpha val="80000"/>
                  </a:srgbClr>
                </a:solidFill>
                <a:latin typeface="Quattrocento Sans" pitchFamily="34" charset="0"/>
                <a:ea typeface="Quattrocento Sans" pitchFamily="34" charset="-122"/>
                <a:cs typeface="Quattrocento Sans" pitchFamily="34" charset="-120"/>
              </a:rPr>
              <a:t>Narration and spoken explanations are processed directly in this channel.</a:t>
            </a:r>
            <a:endParaRPr lang="en-US" sz="1600" dirty="0"/>
          </a:p>
        </p:txBody>
      </p:sp>
      <p:sp>
        <p:nvSpPr>
          <p:cNvPr id="13" name="Shape 11"/>
          <p:cNvSpPr/>
          <p:nvPr/>
        </p:nvSpPr>
        <p:spPr>
          <a:xfrm>
            <a:off x="762000" y="5080000"/>
            <a:ext cx="14732000" cy="1651000"/>
          </a:xfrm>
          <a:prstGeom prst="rect">
            <a:avLst/>
          </a:prstGeom>
          <a:solidFill>
            <a:srgbClr val="EDE6DE"/>
          </a:solidFill>
          <a:ln/>
        </p:spPr>
      </p:sp>
      <p:sp>
        <p:nvSpPr>
          <p:cNvPr id="14" name="Shape 12"/>
          <p:cNvSpPr/>
          <p:nvPr/>
        </p:nvSpPr>
        <p:spPr>
          <a:xfrm>
            <a:off x="1123950" y="53975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B85C38"/>
          </a:solidFill>
          <a:ln/>
        </p:spPr>
      </p:sp>
      <p:sp>
        <p:nvSpPr>
          <p:cNvPr id="15" name="Text 13"/>
          <p:cNvSpPr/>
          <p:nvPr/>
        </p:nvSpPr>
        <p:spPr>
          <a:xfrm>
            <a:off x="1587500" y="5270500"/>
            <a:ext cx="2540000" cy="317500"/>
          </a:xfrm>
          <a:prstGeom prst="rect">
            <a:avLst/>
          </a:prstGeom>
          <a:noFill/>
          <a:ln/>
        </p:spPr>
        <p:txBody>
          <a:bodyPr wrap="none" lIns="0" tIns="0" rIns="0" bIns="0" rtlCol="0" anchor="ctr"/>
          <a:lstStyle/>
          <a:p>
            <a:pPr>
              <a:lnSpc>
                <a:spcPct val="100000"/>
              </a:lnSpc>
            </a:pPr>
            <a:r>
              <a:rPr lang="en-US" sz="1600" b="1" dirty="0">
                <a:solidFill>
                  <a:srgbClr val="B85C38"/>
                </a:solidFill>
                <a:latin typeface="Quattrocento Sans" pitchFamily="34" charset="0"/>
                <a:ea typeface="Quattrocento Sans" pitchFamily="34" charset="-122"/>
                <a:cs typeface="Quattrocento Sans" pitchFamily="34" charset="-120"/>
              </a:rPr>
              <a:t>Key Implication</a:t>
            </a:r>
            <a:endParaRPr lang="en-US" sz="1600" dirty="0"/>
          </a:p>
        </p:txBody>
      </p:sp>
      <p:sp>
        <p:nvSpPr>
          <p:cNvPr id="16" name="Text 14"/>
          <p:cNvSpPr/>
          <p:nvPr/>
        </p:nvSpPr>
        <p:spPr>
          <a:xfrm>
            <a:off x="1587500" y="5651500"/>
            <a:ext cx="13589000" cy="8890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Presenting information through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both channels simultaneously</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can enhance learning when properly designed, as each channel processes different types of information in parallel. This is the foundation of the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Multimedia Principle</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a:t>
            </a:r>
            <a:endParaRPr lang="en-US" sz="1600" dirty="0"/>
          </a:p>
        </p:txBody>
      </p:sp>
      <p:sp>
        <p:nvSpPr>
          <p:cNvPr id="17" name="Text 15"/>
          <p:cNvSpPr/>
          <p:nvPr/>
        </p:nvSpPr>
        <p:spPr>
          <a:xfrm>
            <a:off x="762000" y="7048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Mayer, R. E. (2001). Multimedia Learning. Cambridge University Press.</a:t>
            </a:r>
            <a:endParaRPr lang="en-US" sz="1300" dirty="0"/>
          </a:p>
        </p:txBody>
      </p:sp>
      <p:sp>
        <p:nvSpPr>
          <p:cNvPr id="18" name="Shape 16"/>
          <p:cNvSpPr/>
          <p:nvPr/>
        </p:nvSpPr>
        <p:spPr>
          <a:xfrm>
            <a:off x="762000" y="8699500"/>
            <a:ext cx="508000" cy="38100"/>
          </a:xfrm>
          <a:prstGeom prst="rect">
            <a:avLst/>
          </a:prstGeom>
          <a:solidFill>
            <a:srgbClr val="B85C38"/>
          </a:solidFill>
          <a:ln/>
        </p:spPr>
      </p:sp>
      <p:sp>
        <p:nvSpPr>
          <p:cNvPr id="19" name="Text 17"/>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10</a:t>
            </a:r>
            <a:endParaRPr lang="en-US" sz="13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The Limited Capacity Assumption</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587500"/>
            <a:ext cx="8890000" cy="2540000"/>
          </a:xfrm>
          <a:prstGeom prst="rect">
            <a:avLst/>
          </a:prstGeom>
          <a:solidFill>
            <a:srgbClr val="EDE6DE"/>
          </a:solidFill>
          <a:ln/>
        </p:spPr>
      </p:sp>
      <p:sp>
        <p:nvSpPr>
          <p:cNvPr id="6" name="Text 4"/>
          <p:cNvSpPr/>
          <p:nvPr/>
        </p:nvSpPr>
        <p:spPr>
          <a:xfrm>
            <a:off x="1079500" y="1778000"/>
            <a:ext cx="8255000" cy="2159000"/>
          </a:xfrm>
          <a:prstGeom prst="rect">
            <a:avLst/>
          </a:prstGeom>
          <a:noFill/>
          <a:ln/>
        </p:spPr>
        <p:txBody>
          <a:bodyPr wrap="square" lIns="0" tIns="0" rIns="0" bIns="0" rtlCol="0" anchor="t"/>
          <a:lstStyle/>
          <a:p>
            <a:pPr>
              <a:lnSpc>
                <a:spcPct val="160000"/>
              </a:lnSpc>
            </a:pPr>
            <a:r>
              <a:rPr lang="en-US" sz="1700" dirty="0">
                <a:solidFill>
                  <a:srgbClr val="2D2926"/>
                </a:solidFill>
                <a:latin typeface="Quattrocento Sans" pitchFamily="34" charset="0"/>
                <a:ea typeface="Quattrocento Sans" pitchFamily="34" charset="-122"/>
                <a:cs typeface="Quattrocento Sans" pitchFamily="34" charset="-120"/>
              </a:rPr>
              <a:t>Each information processing channel has </a:t>
            </a:r>
            <a:pPr>
              <a:lnSpc>
                <a:spcPct val="160000"/>
              </a:lnSpc>
            </a:pPr>
            <a:r>
              <a:rPr lang="en-US" sz="1700" b="1" dirty="0">
                <a:solidFill>
                  <a:srgbClr val="2D2926"/>
                </a:solidFill>
                <a:latin typeface="Quattrocento Sans" pitchFamily="34" charset="0"/>
                <a:ea typeface="Quattrocento Sans" pitchFamily="34" charset="-122"/>
                <a:cs typeface="Quattrocento Sans" pitchFamily="34" charset="-120"/>
              </a:rPr>
              <a:t>constraints</a:t>
            </a:r>
            <a:pPr>
              <a:lnSpc>
                <a:spcPct val="160000"/>
              </a:lnSpc>
            </a:pPr>
            <a:r>
              <a:rPr lang="en-US" sz="1700" dirty="0">
                <a:solidFill>
                  <a:srgbClr val="2D2926"/>
                </a:solidFill>
                <a:latin typeface="Quattrocento Sans" pitchFamily="34" charset="0"/>
                <a:ea typeface="Quattrocento Sans" pitchFamily="34" charset="-122"/>
                <a:cs typeface="Quattrocento Sans" pitchFamily="34" charset="-120"/>
              </a:rPr>
              <a:t> on how much it can process at once. Working memory can hold approximately </a:t>
            </a:r>
            <a:pPr>
              <a:lnSpc>
                <a:spcPct val="160000"/>
              </a:lnSpc>
            </a:pPr>
            <a:r>
              <a:rPr lang="en-US" sz="1700" b="1" dirty="0">
                <a:solidFill>
                  <a:srgbClr val="2D2926"/>
                </a:solidFill>
                <a:latin typeface="Quattrocento Sans" pitchFamily="34" charset="0"/>
                <a:ea typeface="Quattrocento Sans" pitchFamily="34" charset="-122"/>
                <a:cs typeface="Quattrocento Sans" pitchFamily="34" charset="-120"/>
              </a:rPr>
              <a:t>7 +/- 2 chunks</a:t>
            </a:r>
            <a:pPr>
              <a:lnSpc>
                <a:spcPct val="160000"/>
              </a:lnSpc>
            </a:pPr>
            <a:r>
              <a:rPr lang="en-US" sz="1700" dirty="0">
                <a:solidFill>
                  <a:srgbClr val="2D2926"/>
                </a:solidFill>
                <a:latin typeface="Quattrocento Sans" pitchFamily="34" charset="0"/>
                <a:ea typeface="Quattrocento Sans" pitchFamily="34" charset="-122"/>
                <a:cs typeface="Quattrocento Sans" pitchFamily="34" charset="-120"/>
              </a:rPr>
              <a:t> of information.</a:t>
            </a:r>
            <a:endParaRPr lang="en-US" sz="1600" dirty="0"/>
          </a:p>
          <a:p>
            <a:pPr>
              <a:lnSpc>
                <a:spcPct val="160000"/>
              </a:lnSpc>
              <a:spcBef>
                <a:spcPts val="800"/>
              </a:spcBef>
            </a:pPr>
            <a:r>
              <a:rPr lang="en-US" sz="1700" dirty="0">
                <a:solidFill>
                  <a:srgbClr val="2D2926"/>
                </a:solidFill>
                <a:latin typeface="Quattrocento Sans" pitchFamily="34" charset="0"/>
                <a:ea typeface="Quattrocento Sans" pitchFamily="34" charset="-122"/>
                <a:cs typeface="Quattrocento Sans" pitchFamily="34" charset="-120"/>
              </a:rPr>
              <a:t>When either channel is overloaded, learning suffers because the brain cannot effectively process and integrate new information.</a:t>
            </a:r>
            <a:endParaRPr lang="en-US" sz="1600" dirty="0"/>
          </a:p>
        </p:txBody>
      </p:sp>
      <p:sp>
        <p:nvSpPr>
          <p:cNvPr id="7" name="Shape 5"/>
          <p:cNvSpPr/>
          <p:nvPr/>
        </p:nvSpPr>
        <p:spPr>
          <a:xfrm>
            <a:off x="762000" y="4508500"/>
            <a:ext cx="7112000" cy="2032000"/>
          </a:xfrm>
          <a:prstGeom prst="rect">
            <a:avLst/>
          </a:prstGeom>
          <a:solidFill>
            <a:srgbClr val="B85C38"/>
          </a:solidFill>
          <a:ln/>
        </p:spPr>
      </p:sp>
      <p:sp>
        <p:nvSpPr>
          <p:cNvPr id="8" name="Shape 6"/>
          <p:cNvSpPr/>
          <p:nvPr/>
        </p:nvSpPr>
        <p:spPr>
          <a:xfrm>
            <a:off x="1057275" y="4762500"/>
            <a:ext cx="400050" cy="355600"/>
          </a:xfrm>
          <a:custGeom>
            <a:avLst/>
            <a:gdLst/>
            <a:ahLst/>
            <a:cxnLst/>
            <a:rect l="l" t="t" r="r" b="b"/>
            <a:pathLst>
              <a:path w="400050" h="355600">
                <a:moveTo>
                  <a:pt x="200025" y="22225"/>
                </a:moveTo>
                <a:cubicBezTo>
                  <a:pt x="143907" y="22225"/>
                  <a:pt x="98971" y="47784"/>
                  <a:pt x="66258" y="78204"/>
                </a:cubicBezTo>
                <a:cubicBezTo>
                  <a:pt x="33754" y="108416"/>
                  <a:pt x="12015" y="144463"/>
                  <a:pt x="1667" y="169257"/>
                </a:cubicBezTo>
                <a:cubicBezTo>
                  <a:pt x="-625" y="174744"/>
                  <a:pt x="-625" y="180856"/>
                  <a:pt x="1667" y="186343"/>
                </a:cubicBezTo>
                <a:cubicBezTo>
                  <a:pt x="12015" y="211138"/>
                  <a:pt x="33754" y="247253"/>
                  <a:pt x="66258" y="277396"/>
                </a:cubicBezTo>
                <a:cubicBezTo>
                  <a:pt x="98971" y="307747"/>
                  <a:pt x="143907" y="333375"/>
                  <a:pt x="200025" y="333375"/>
                </a:cubicBezTo>
                <a:cubicBezTo>
                  <a:pt x="256143" y="333375"/>
                  <a:pt x="301079" y="307816"/>
                  <a:pt x="333792" y="277396"/>
                </a:cubicBezTo>
                <a:cubicBezTo>
                  <a:pt x="366296" y="247184"/>
                  <a:pt x="388035" y="211138"/>
                  <a:pt x="398383" y="186343"/>
                </a:cubicBezTo>
                <a:cubicBezTo>
                  <a:pt x="400675" y="180856"/>
                  <a:pt x="400675" y="174744"/>
                  <a:pt x="398383" y="169257"/>
                </a:cubicBezTo>
                <a:cubicBezTo>
                  <a:pt x="388035" y="144462"/>
                  <a:pt x="366296" y="108347"/>
                  <a:pt x="333792" y="78204"/>
                </a:cubicBezTo>
                <a:cubicBezTo>
                  <a:pt x="301079" y="47853"/>
                  <a:pt x="256143" y="22225"/>
                  <a:pt x="200025" y="22225"/>
                </a:cubicBezTo>
                <a:close/>
                <a:moveTo>
                  <a:pt x="100013" y="177800"/>
                </a:moveTo>
                <a:cubicBezTo>
                  <a:pt x="100013" y="122602"/>
                  <a:pt x="144827" y="77788"/>
                  <a:pt x="200025" y="77788"/>
                </a:cubicBezTo>
                <a:cubicBezTo>
                  <a:pt x="255223" y="77788"/>
                  <a:pt x="300038" y="122602"/>
                  <a:pt x="300038" y="177800"/>
                </a:cubicBezTo>
                <a:cubicBezTo>
                  <a:pt x="300038" y="232998"/>
                  <a:pt x="255223" y="277813"/>
                  <a:pt x="200025" y="277813"/>
                </a:cubicBezTo>
                <a:cubicBezTo>
                  <a:pt x="144827" y="277813"/>
                  <a:pt x="100013" y="232998"/>
                  <a:pt x="100013" y="177800"/>
                </a:cubicBezTo>
                <a:close/>
                <a:moveTo>
                  <a:pt x="200025" y="133350"/>
                </a:moveTo>
                <a:cubicBezTo>
                  <a:pt x="200025" y="157867"/>
                  <a:pt x="180092" y="177800"/>
                  <a:pt x="155575" y="177800"/>
                </a:cubicBezTo>
                <a:cubicBezTo>
                  <a:pt x="147588" y="177800"/>
                  <a:pt x="140087" y="175716"/>
                  <a:pt x="133558" y="171966"/>
                </a:cubicBezTo>
                <a:cubicBezTo>
                  <a:pt x="132864" y="179536"/>
                  <a:pt x="133489" y="187315"/>
                  <a:pt x="135573" y="195024"/>
                </a:cubicBezTo>
                <a:cubicBezTo>
                  <a:pt x="145088" y="230584"/>
                  <a:pt x="181689" y="251698"/>
                  <a:pt x="217249" y="242183"/>
                </a:cubicBezTo>
                <a:cubicBezTo>
                  <a:pt x="252809" y="232668"/>
                  <a:pt x="273923" y="196066"/>
                  <a:pt x="264408" y="160506"/>
                </a:cubicBezTo>
                <a:cubicBezTo>
                  <a:pt x="255935" y="128766"/>
                  <a:pt x="225862" y="108555"/>
                  <a:pt x="194191" y="111333"/>
                </a:cubicBezTo>
                <a:cubicBezTo>
                  <a:pt x="197872" y="117793"/>
                  <a:pt x="200025" y="125293"/>
                  <a:pt x="200025" y="133350"/>
                </a:cubicBezTo>
                <a:close/>
              </a:path>
            </a:pathLst>
          </a:custGeom>
          <a:solidFill>
            <a:srgbClr val="FFFFFF"/>
          </a:solidFill>
          <a:ln/>
        </p:spPr>
      </p:sp>
      <p:sp>
        <p:nvSpPr>
          <p:cNvPr id="9" name="Text 7"/>
          <p:cNvSpPr/>
          <p:nvPr/>
        </p:nvSpPr>
        <p:spPr>
          <a:xfrm>
            <a:off x="1587500" y="4724400"/>
            <a:ext cx="38100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Visual Overload</a:t>
            </a:r>
            <a:endParaRPr lang="en-US" sz="1600" dirty="0"/>
          </a:p>
        </p:txBody>
      </p:sp>
      <p:sp>
        <p:nvSpPr>
          <p:cNvPr id="10" name="Text 8"/>
          <p:cNvSpPr/>
          <p:nvPr/>
        </p:nvSpPr>
        <p:spPr>
          <a:xfrm>
            <a:off x="1079500" y="5207000"/>
            <a:ext cx="6477000" cy="1143000"/>
          </a:xfrm>
          <a:prstGeom prst="rect">
            <a:avLst/>
          </a:prstGeom>
          <a:noFill/>
          <a:ln/>
        </p:spPr>
        <p:txBody>
          <a:bodyPr wrap="square" lIns="0" tIns="0" rIns="0" bIns="0" rtlCol="0" anchor="t"/>
          <a:lstStyle/>
          <a:p>
            <a:pPr>
              <a:lnSpc>
                <a:spcPct val="150000"/>
              </a:lnSpc>
            </a:pPr>
            <a:r>
              <a:rPr lang="en-US" sz="1500" dirty="0">
                <a:solidFill>
                  <a:srgbClr val="FFFFFF">
                    <a:alpha val="86667"/>
                  </a:srgbClr>
                </a:solidFill>
                <a:latin typeface="Quattrocento Sans" pitchFamily="34" charset="0"/>
                <a:ea typeface="Quattrocento Sans" pitchFamily="34" charset="-122"/>
                <a:cs typeface="Quattrocento Sans" pitchFamily="34" charset="-120"/>
              </a:rPr>
              <a:t>Too much material on screen at once overloads the visual/pictorial channel, causing learners to miss key information.</a:t>
            </a:r>
            <a:endParaRPr lang="en-US" sz="1600" dirty="0"/>
          </a:p>
        </p:txBody>
      </p:sp>
      <p:sp>
        <p:nvSpPr>
          <p:cNvPr id="11" name="Shape 9"/>
          <p:cNvSpPr/>
          <p:nvPr/>
        </p:nvSpPr>
        <p:spPr>
          <a:xfrm>
            <a:off x="8382000" y="4508500"/>
            <a:ext cx="7112000" cy="2032000"/>
          </a:xfrm>
          <a:prstGeom prst="rect">
            <a:avLst/>
          </a:prstGeom>
          <a:solidFill>
            <a:srgbClr val="2D2926"/>
          </a:solidFill>
          <a:ln/>
        </p:spPr>
      </p:sp>
      <p:sp>
        <p:nvSpPr>
          <p:cNvPr id="12" name="Shape 10"/>
          <p:cNvSpPr/>
          <p:nvPr/>
        </p:nvSpPr>
        <p:spPr>
          <a:xfrm>
            <a:off x="8655050" y="4762500"/>
            <a:ext cx="444500" cy="355600"/>
          </a:xfrm>
          <a:custGeom>
            <a:avLst/>
            <a:gdLst/>
            <a:ahLst/>
            <a:cxnLst/>
            <a:rect l="l" t="t" r="r" b="b"/>
            <a:pathLst>
              <a:path w="444500" h="355600">
                <a:moveTo>
                  <a:pt x="370602" y="22572"/>
                </a:moveTo>
                <a:cubicBezTo>
                  <a:pt x="363448" y="16738"/>
                  <a:pt x="352961" y="17849"/>
                  <a:pt x="347127" y="25003"/>
                </a:cubicBezTo>
                <a:cubicBezTo>
                  <a:pt x="341293" y="32157"/>
                  <a:pt x="342404" y="42644"/>
                  <a:pt x="349558" y="48478"/>
                </a:cubicBezTo>
                <a:cubicBezTo>
                  <a:pt x="387201" y="79038"/>
                  <a:pt x="411162" y="125571"/>
                  <a:pt x="411162" y="177800"/>
                </a:cubicBezTo>
                <a:cubicBezTo>
                  <a:pt x="411162" y="230029"/>
                  <a:pt x="387201" y="276562"/>
                  <a:pt x="349558" y="307191"/>
                </a:cubicBezTo>
                <a:cubicBezTo>
                  <a:pt x="342404" y="313025"/>
                  <a:pt x="341362" y="323513"/>
                  <a:pt x="347127" y="330666"/>
                </a:cubicBezTo>
                <a:cubicBezTo>
                  <a:pt x="352891" y="337820"/>
                  <a:pt x="363448" y="338862"/>
                  <a:pt x="370602" y="333097"/>
                </a:cubicBezTo>
                <a:cubicBezTo>
                  <a:pt x="415677" y="296356"/>
                  <a:pt x="444500" y="240447"/>
                  <a:pt x="444500" y="177800"/>
                </a:cubicBezTo>
                <a:cubicBezTo>
                  <a:pt x="444500" y="115153"/>
                  <a:pt x="415677" y="59174"/>
                  <a:pt x="370602" y="22572"/>
                </a:cubicBezTo>
                <a:close/>
                <a:moveTo>
                  <a:pt x="328583" y="74315"/>
                </a:moveTo>
                <a:cubicBezTo>
                  <a:pt x="321429" y="68481"/>
                  <a:pt x="310942" y="69592"/>
                  <a:pt x="305108" y="76746"/>
                </a:cubicBezTo>
                <a:cubicBezTo>
                  <a:pt x="299274" y="83899"/>
                  <a:pt x="300385" y="94387"/>
                  <a:pt x="307538" y="100221"/>
                </a:cubicBezTo>
                <a:cubicBezTo>
                  <a:pt x="330111" y="118556"/>
                  <a:pt x="344488" y="146477"/>
                  <a:pt x="344488" y="177800"/>
                </a:cubicBezTo>
                <a:cubicBezTo>
                  <a:pt x="344488" y="209123"/>
                  <a:pt x="330111" y="237044"/>
                  <a:pt x="307538" y="255449"/>
                </a:cubicBezTo>
                <a:cubicBezTo>
                  <a:pt x="300385" y="261283"/>
                  <a:pt x="299343" y="271770"/>
                  <a:pt x="305108" y="278924"/>
                </a:cubicBezTo>
                <a:cubicBezTo>
                  <a:pt x="310872" y="286077"/>
                  <a:pt x="321429" y="287119"/>
                  <a:pt x="328583" y="281355"/>
                </a:cubicBezTo>
                <a:cubicBezTo>
                  <a:pt x="358586" y="256907"/>
                  <a:pt x="377825" y="219611"/>
                  <a:pt x="377825" y="177869"/>
                </a:cubicBezTo>
                <a:cubicBezTo>
                  <a:pt x="377825" y="136128"/>
                  <a:pt x="358586" y="98832"/>
                  <a:pt x="328583" y="74384"/>
                </a:cubicBezTo>
                <a:close/>
                <a:moveTo>
                  <a:pt x="286564" y="126057"/>
                </a:moveTo>
                <a:cubicBezTo>
                  <a:pt x="279410" y="120223"/>
                  <a:pt x="268923" y="121335"/>
                  <a:pt x="263088" y="128488"/>
                </a:cubicBezTo>
                <a:cubicBezTo>
                  <a:pt x="257254" y="135642"/>
                  <a:pt x="258366" y="146129"/>
                  <a:pt x="265519" y="151963"/>
                </a:cubicBezTo>
                <a:cubicBezTo>
                  <a:pt x="273020" y="158075"/>
                  <a:pt x="277813" y="167382"/>
                  <a:pt x="277813" y="177800"/>
                </a:cubicBezTo>
                <a:cubicBezTo>
                  <a:pt x="277813" y="188218"/>
                  <a:pt x="273020" y="197525"/>
                  <a:pt x="265519" y="203706"/>
                </a:cubicBezTo>
                <a:cubicBezTo>
                  <a:pt x="258366" y="209540"/>
                  <a:pt x="257324" y="220028"/>
                  <a:pt x="263088" y="227181"/>
                </a:cubicBezTo>
                <a:cubicBezTo>
                  <a:pt x="268853" y="234335"/>
                  <a:pt x="279410" y="235377"/>
                  <a:pt x="286564" y="229612"/>
                </a:cubicBezTo>
                <a:cubicBezTo>
                  <a:pt x="301496" y="217319"/>
                  <a:pt x="311150" y="198705"/>
                  <a:pt x="311150" y="177800"/>
                </a:cubicBezTo>
                <a:cubicBezTo>
                  <a:pt x="311150" y="156895"/>
                  <a:pt x="301496" y="138281"/>
                  <a:pt x="286564" y="126057"/>
                </a:cubicBezTo>
                <a:close/>
                <a:moveTo>
                  <a:pt x="55563" y="244475"/>
                </a:moveTo>
                <a:lnTo>
                  <a:pt x="88900" y="244475"/>
                </a:lnTo>
                <a:lnTo>
                  <a:pt x="182037" y="327263"/>
                </a:lnTo>
                <a:cubicBezTo>
                  <a:pt x="186482" y="331222"/>
                  <a:pt x="192177" y="333375"/>
                  <a:pt x="198080" y="333375"/>
                </a:cubicBezTo>
                <a:cubicBezTo>
                  <a:pt x="211415" y="333375"/>
                  <a:pt x="222250" y="322540"/>
                  <a:pt x="222250" y="309205"/>
                </a:cubicBezTo>
                <a:lnTo>
                  <a:pt x="222250" y="46395"/>
                </a:lnTo>
                <a:cubicBezTo>
                  <a:pt x="222250" y="33060"/>
                  <a:pt x="211415" y="22225"/>
                  <a:pt x="198080" y="22225"/>
                </a:cubicBezTo>
                <a:cubicBezTo>
                  <a:pt x="192177" y="22225"/>
                  <a:pt x="186482" y="24378"/>
                  <a:pt x="182037" y="28337"/>
                </a:cubicBezTo>
                <a:lnTo>
                  <a:pt x="88900" y="111125"/>
                </a:lnTo>
                <a:lnTo>
                  <a:pt x="55563" y="111125"/>
                </a:lnTo>
                <a:cubicBezTo>
                  <a:pt x="37157" y="111125"/>
                  <a:pt x="22225" y="126057"/>
                  <a:pt x="22225" y="144463"/>
                </a:cubicBezTo>
                <a:lnTo>
                  <a:pt x="22225" y="211138"/>
                </a:lnTo>
                <a:cubicBezTo>
                  <a:pt x="22225" y="229543"/>
                  <a:pt x="37157" y="244475"/>
                  <a:pt x="55563" y="244475"/>
                </a:cubicBezTo>
                <a:close/>
              </a:path>
            </a:pathLst>
          </a:custGeom>
          <a:solidFill>
            <a:srgbClr val="B85C38"/>
          </a:solidFill>
          <a:ln/>
        </p:spPr>
      </p:sp>
      <p:sp>
        <p:nvSpPr>
          <p:cNvPr id="13" name="Text 11"/>
          <p:cNvSpPr/>
          <p:nvPr/>
        </p:nvSpPr>
        <p:spPr>
          <a:xfrm>
            <a:off x="9207500" y="4724400"/>
            <a:ext cx="38100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Verbal Overload</a:t>
            </a:r>
            <a:endParaRPr lang="en-US" sz="1600" dirty="0"/>
          </a:p>
        </p:txBody>
      </p:sp>
      <p:sp>
        <p:nvSpPr>
          <p:cNvPr id="14" name="Text 12"/>
          <p:cNvSpPr/>
          <p:nvPr/>
        </p:nvSpPr>
        <p:spPr>
          <a:xfrm>
            <a:off x="8699500" y="5207000"/>
            <a:ext cx="6477000" cy="1143000"/>
          </a:xfrm>
          <a:prstGeom prst="rect">
            <a:avLst/>
          </a:prstGeom>
          <a:noFill/>
          <a:ln/>
        </p:spPr>
        <p:txBody>
          <a:bodyPr wrap="square" lIns="0" tIns="0" rIns="0" bIns="0" rtlCol="0" anchor="t"/>
          <a:lstStyle/>
          <a:p>
            <a:pPr>
              <a:lnSpc>
                <a:spcPct val="15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Too much auditory information at once overloads the auditory/verbal channel, reducing comprehension.</a:t>
            </a:r>
            <a:endParaRPr lang="en-US" sz="1600" dirty="0"/>
          </a:p>
        </p:txBody>
      </p:sp>
      <p:sp>
        <p:nvSpPr>
          <p:cNvPr id="15" name="Shape 13"/>
          <p:cNvSpPr/>
          <p:nvPr/>
        </p:nvSpPr>
        <p:spPr>
          <a:xfrm>
            <a:off x="10033000" y="1587500"/>
            <a:ext cx="5461000" cy="2540000"/>
          </a:xfrm>
          <a:prstGeom prst="rect">
            <a:avLst/>
          </a:prstGeom>
          <a:solidFill>
            <a:srgbClr val="2D2926"/>
          </a:solidFill>
          <a:ln/>
        </p:spPr>
      </p:sp>
      <p:sp>
        <p:nvSpPr>
          <p:cNvPr id="16" name="Text 14"/>
          <p:cNvSpPr/>
          <p:nvPr/>
        </p:nvSpPr>
        <p:spPr>
          <a:xfrm>
            <a:off x="10414000" y="1841500"/>
            <a:ext cx="2540000" cy="889000"/>
          </a:xfrm>
          <a:prstGeom prst="rect">
            <a:avLst/>
          </a:prstGeom>
          <a:noFill/>
          <a:ln/>
        </p:spPr>
        <p:txBody>
          <a:bodyPr wrap="none" lIns="0" tIns="0" rIns="0" bIns="0" rtlCol="0" anchor="ctr"/>
          <a:lstStyle/>
          <a:p>
            <a:pPr>
              <a:lnSpc>
                <a:spcPct val="100000"/>
              </a:lnSpc>
            </a:pPr>
            <a:r>
              <a:rPr lang="en-US" sz="5600" b="1" dirty="0">
                <a:solidFill>
                  <a:srgbClr val="B85C38"/>
                </a:solidFill>
                <a:latin typeface="Quattrocento Sans" pitchFamily="34" charset="0"/>
                <a:ea typeface="Quattrocento Sans" pitchFamily="34" charset="-122"/>
                <a:cs typeface="Quattrocento Sans" pitchFamily="34" charset="-120"/>
              </a:rPr>
              <a:t>7+/-2</a:t>
            </a:r>
            <a:endParaRPr lang="en-US" sz="1600" dirty="0"/>
          </a:p>
        </p:txBody>
      </p:sp>
      <p:sp>
        <p:nvSpPr>
          <p:cNvPr id="17" name="Text 15"/>
          <p:cNvSpPr/>
          <p:nvPr/>
        </p:nvSpPr>
        <p:spPr>
          <a:xfrm>
            <a:off x="10414000" y="2794000"/>
            <a:ext cx="4699000" cy="1016000"/>
          </a:xfrm>
          <a:prstGeom prst="rect">
            <a:avLst/>
          </a:prstGeom>
          <a:noFill/>
          <a:ln/>
        </p:spPr>
        <p:txBody>
          <a:bodyPr wrap="square" lIns="0" tIns="0" rIns="0" bIns="0" rtlCol="0" anchor="t"/>
          <a:lstStyle/>
          <a:p>
            <a:pPr>
              <a:lnSpc>
                <a:spcPct val="15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Chunks of information that working memory can hold simultaneously in each channel</a:t>
            </a:r>
            <a:endParaRPr lang="en-US" sz="1600" dirty="0"/>
          </a:p>
        </p:txBody>
      </p:sp>
      <p:sp>
        <p:nvSpPr>
          <p:cNvPr id="18" name="Shape 16"/>
          <p:cNvSpPr/>
          <p:nvPr/>
        </p:nvSpPr>
        <p:spPr>
          <a:xfrm>
            <a:off x="762000" y="8699500"/>
            <a:ext cx="508000" cy="38100"/>
          </a:xfrm>
          <a:prstGeom prst="rect">
            <a:avLst/>
          </a:prstGeom>
          <a:solidFill>
            <a:srgbClr val="B85C38"/>
          </a:solidFill>
          <a:ln/>
        </p:spPr>
      </p:sp>
      <p:sp>
        <p:nvSpPr>
          <p:cNvPr id="19" name="Text 17"/>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11</a:t>
            </a:r>
            <a:endParaRPr lang="en-US" sz="13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The Active Processing Assumption</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10160000" cy="381000"/>
          </a:xfrm>
          <a:prstGeom prst="rect">
            <a:avLst/>
          </a:prstGeom>
          <a:noFill/>
          <a:ln/>
        </p:spPr>
        <p:txBody>
          <a:bodyPr wrap="none" lIns="0" tIns="0" rIns="0" bIns="0" rtlCol="0" anchor="ctr"/>
          <a:lstStyle/>
          <a:p>
            <a:pPr>
              <a:lnSpc>
                <a:spcPct val="100000"/>
              </a:lnSpc>
            </a:pPr>
            <a:r>
              <a:rPr lang="en-US" sz="1600" dirty="0">
                <a:solidFill>
                  <a:srgbClr val="8C7B6B"/>
                </a:solidFill>
                <a:latin typeface="Quattrocento Sans" pitchFamily="34" charset="0"/>
                <a:ea typeface="Quattrocento Sans" pitchFamily="34" charset="-122"/>
                <a:cs typeface="Quattrocento Sans" pitchFamily="34" charset="-120"/>
              </a:rPr>
              <a:t>Meaningful learning requires active cognitive engagement through three essential processes:</a:t>
            </a:r>
            <a:endParaRPr lang="en-US" sz="1600" dirty="0"/>
          </a:p>
        </p:txBody>
      </p:sp>
      <p:sp>
        <p:nvSpPr>
          <p:cNvPr id="6" name="Shape 4"/>
          <p:cNvSpPr/>
          <p:nvPr/>
        </p:nvSpPr>
        <p:spPr>
          <a:xfrm>
            <a:off x="762000" y="2095500"/>
            <a:ext cx="4699000" cy="3175000"/>
          </a:xfrm>
          <a:prstGeom prst="rect">
            <a:avLst/>
          </a:prstGeom>
          <a:solidFill>
            <a:srgbClr val="EDE6DE"/>
          </a:solidFill>
          <a:ln/>
        </p:spPr>
      </p:sp>
      <p:sp>
        <p:nvSpPr>
          <p:cNvPr id="7" name="Text 5"/>
          <p:cNvSpPr/>
          <p:nvPr/>
        </p:nvSpPr>
        <p:spPr>
          <a:xfrm>
            <a:off x="1016000" y="2222500"/>
            <a:ext cx="698500" cy="571500"/>
          </a:xfrm>
          <a:prstGeom prst="rect">
            <a:avLst/>
          </a:prstGeom>
          <a:noFill/>
          <a:ln/>
        </p:spPr>
        <p:txBody>
          <a:bodyPr wrap="none" lIns="0" tIns="0" rIns="0" bIns="0" rtlCol="0" anchor="ctr"/>
          <a:lstStyle/>
          <a:p>
            <a:pPr>
              <a:lnSpc>
                <a:spcPct val="100000"/>
              </a:lnSpc>
            </a:pPr>
            <a:r>
              <a:rPr lang="en-US" sz="3600" b="1" dirty="0">
                <a:solidFill>
                  <a:srgbClr val="B85C38"/>
                </a:solidFill>
                <a:latin typeface="Quattrocento Sans" pitchFamily="34" charset="0"/>
                <a:ea typeface="Quattrocento Sans" pitchFamily="34" charset="-122"/>
                <a:cs typeface="Quattrocento Sans" pitchFamily="34" charset="-120"/>
              </a:rPr>
              <a:t>1</a:t>
            </a:r>
            <a:endParaRPr lang="en-US" sz="1600" dirty="0"/>
          </a:p>
        </p:txBody>
      </p:sp>
      <p:sp>
        <p:nvSpPr>
          <p:cNvPr id="8" name="Text 6"/>
          <p:cNvSpPr/>
          <p:nvPr/>
        </p:nvSpPr>
        <p:spPr>
          <a:xfrm>
            <a:off x="1016000" y="2857500"/>
            <a:ext cx="4191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Selecting</a:t>
            </a:r>
            <a:endParaRPr lang="en-US" sz="1600" dirty="0"/>
          </a:p>
        </p:txBody>
      </p:sp>
      <p:sp>
        <p:nvSpPr>
          <p:cNvPr id="9" name="Shape 7"/>
          <p:cNvSpPr/>
          <p:nvPr/>
        </p:nvSpPr>
        <p:spPr>
          <a:xfrm>
            <a:off x="1016000" y="3276600"/>
            <a:ext cx="508000" cy="25400"/>
          </a:xfrm>
          <a:prstGeom prst="rect">
            <a:avLst/>
          </a:prstGeom>
          <a:solidFill>
            <a:srgbClr val="B85C38"/>
          </a:solidFill>
          <a:ln/>
        </p:spPr>
      </p:sp>
      <p:sp>
        <p:nvSpPr>
          <p:cNvPr id="10" name="Text 8"/>
          <p:cNvSpPr/>
          <p:nvPr/>
        </p:nvSpPr>
        <p:spPr>
          <a:xfrm>
            <a:off x="1016000" y="3429000"/>
            <a:ext cx="4191000" cy="16510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The learner must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identify and select</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relevant words and images from the presented material, filtering out irrelevant information.</a:t>
            </a:r>
            <a:endParaRPr lang="en-US" sz="1600" dirty="0"/>
          </a:p>
        </p:txBody>
      </p:sp>
      <p:sp>
        <p:nvSpPr>
          <p:cNvPr id="11" name="Shape 9"/>
          <p:cNvSpPr/>
          <p:nvPr/>
        </p:nvSpPr>
        <p:spPr>
          <a:xfrm>
            <a:off x="5778500" y="2095500"/>
            <a:ext cx="4699000" cy="3175000"/>
          </a:xfrm>
          <a:prstGeom prst="rect">
            <a:avLst/>
          </a:prstGeom>
          <a:solidFill>
            <a:srgbClr val="EDE6DE"/>
          </a:solidFill>
          <a:ln/>
        </p:spPr>
      </p:sp>
      <p:sp>
        <p:nvSpPr>
          <p:cNvPr id="12" name="Text 10"/>
          <p:cNvSpPr/>
          <p:nvPr/>
        </p:nvSpPr>
        <p:spPr>
          <a:xfrm>
            <a:off x="6032500" y="2222500"/>
            <a:ext cx="698500" cy="571500"/>
          </a:xfrm>
          <a:prstGeom prst="rect">
            <a:avLst/>
          </a:prstGeom>
          <a:noFill/>
          <a:ln/>
        </p:spPr>
        <p:txBody>
          <a:bodyPr wrap="none" lIns="0" tIns="0" rIns="0" bIns="0" rtlCol="0" anchor="ctr"/>
          <a:lstStyle/>
          <a:p>
            <a:pPr>
              <a:lnSpc>
                <a:spcPct val="100000"/>
              </a:lnSpc>
            </a:pPr>
            <a:r>
              <a:rPr lang="en-US" sz="3600" b="1" dirty="0">
                <a:solidFill>
                  <a:srgbClr val="B85C38"/>
                </a:solidFill>
                <a:latin typeface="Quattrocento Sans" pitchFamily="34" charset="0"/>
                <a:ea typeface="Quattrocento Sans" pitchFamily="34" charset="-122"/>
                <a:cs typeface="Quattrocento Sans" pitchFamily="34" charset="-120"/>
              </a:rPr>
              <a:t>2</a:t>
            </a:r>
            <a:endParaRPr lang="en-US" sz="1600" dirty="0"/>
          </a:p>
        </p:txBody>
      </p:sp>
      <p:sp>
        <p:nvSpPr>
          <p:cNvPr id="13" name="Text 11"/>
          <p:cNvSpPr/>
          <p:nvPr/>
        </p:nvSpPr>
        <p:spPr>
          <a:xfrm>
            <a:off x="6032500" y="2857500"/>
            <a:ext cx="4191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Organizing</a:t>
            </a:r>
            <a:endParaRPr lang="en-US" sz="1600" dirty="0"/>
          </a:p>
        </p:txBody>
      </p:sp>
      <p:sp>
        <p:nvSpPr>
          <p:cNvPr id="14" name="Shape 12"/>
          <p:cNvSpPr/>
          <p:nvPr/>
        </p:nvSpPr>
        <p:spPr>
          <a:xfrm>
            <a:off x="6032500" y="3276600"/>
            <a:ext cx="508000" cy="25400"/>
          </a:xfrm>
          <a:prstGeom prst="rect">
            <a:avLst/>
          </a:prstGeom>
          <a:solidFill>
            <a:srgbClr val="B85C38"/>
          </a:solidFill>
          <a:ln/>
        </p:spPr>
      </p:sp>
      <p:sp>
        <p:nvSpPr>
          <p:cNvPr id="15" name="Text 13"/>
          <p:cNvSpPr/>
          <p:nvPr/>
        </p:nvSpPr>
        <p:spPr>
          <a:xfrm>
            <a:off x="6032500" y="3429000"/>
            <a:ext cx="4191000" cy="16510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The learner must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organize selected information</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into coherent mental representations, creating a verbal model and a pictorial model.</a:t>
            </a:r>
            <a:endParaRPr lang="en-US" sz="1600" dirty="0"/>
          </a:p>
        </p:txBody>
      </p:sp>
      <p:sp>
        <p:nvSpPr>
          <p:cNvPr id="16" name="Shape 14"/>
          <p:cNvSpPr/>
          <p:nvPr/>
        </p:nvSpPr>
        <p:spPr>
          <a:xfrm>
            <a:off x="10795000" y="2095500"/>
            <a:ext cx="4699000" cy="3175000"/>
          </a:xfrm>
          <a:prstGeom prst="rect">
            <a:avLst/>
          </a:prstGeom>
          <a:solidFill>
            <a:srgbClr val="EDE6DE"/>
          </a:solidFill>
          <a:ln/>
        </p:spPr>
      </p:sp>
      <p:sp>
        <p:nvSpPr>
          <p:cNvPr id="17" name="Text 15"/>
          <p:cNvSpPr/>
          <p:nvPr/>
        </p:nvSpPr>
        <p:spPr>
          <a:xfrm>
            <a:off x="11049000" y="2222500"/>
            <a:ext cx="698500" cy="571500"/>
          </a:xfrm>
          <a:prstGeom prst="rect">
            <a:avLst/>
          </a:prstGeom>
          <a:noFill/>
          <a:ln/>
        </p:spPr>
        <p:txBody>
          <a:bodyPr wrap="none" lIns="0" tIns="0" rIns="0" bIns="0" rtlCol="0" anchor="ctr"/>
          <a:lstStyle/>
          <a:p>
            <a:pPr>
              <a:lnSpc>
                <a:spcPct val="100000"/>
              </a:lnSpc>
            </a:pPr>
            <a:r>
              <a:rPr lang="en-US" sz="3600" b="1" dirty="0">
                <a:solidFill>
                  <a:srgbClr val="B85C38"/>
                </a:solidFill>
                <a:latin typeface="Quattrocento Sans" pitchFamily="34" charset="0"/>
                <a:ea typeface="Quattrocento Sans" pitchFamily="34" charset="-122"/>
                <a:cs typeface="Quattrocento Sans" pitchFamily="34" charset="-120"/>
              </a:rPr>
              <a:t>3</a:t>
            </a:r>
            <a:endParaRPr lang="en-US" sz="1600" dirty="0"/>
          </a:p>
        </p:txBody>
      </p:sp>
      <p:sp>
        <p:nvSpPr>
          <p:cNvPr id="18" name="Text 16"/>
          <p:cNvSpPr/>
          <p:nvPr/>
        </p:nvSpPr>
        <p:spPr>
          <a:xfrm>
            <a:off x="11049000" y="2857500"/>
            <a:ext cx="4191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Integrating</a:t>
            </a:r>
            <a:endParaRPr lang="en-US" sz="1600" dirty="0"/>
          </a:p>
        </p:txBody>
      </p:sp>
      <p:sp>
        <p:nvSpPr>
          <p:cNvPr id="19" name="Shape 17"/>
          <p:cNvSpPr/>
          <p:nvPr/>
        </p:nvSpPr>
        <p:spPr>
          <a:xfrm>
            <a:off x="11049000" y="3276600"/>
            <a:ext cx="508000" cy="25400"/>
          </a:xfrm>
          <a:prstGeom prst="rect">
            <a:avLst/>
          </a:prstGeom>
          <a:solidFill>
            <a:srgbClr val="B85C38"/>
          </a:solidFill>
          <a:ln/>
        </p:spPr>
      </p:sp>
      <p:sp>
        <p:nvSpPr>
          <p:cNvPr id="20" name="Text 18"/>
          <p:cNvSpPr/>
          <p:nvPr/>
        </p:nvSpPr>
        <p:spPr>
          <a:xfrm>
            <a:off x="11049000" y="3429000"/>
            <a:ext cx="4191000" cy="16510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The learner must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connect mental representations</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with each other and with prior knowledge from long-term memory.</a:t>
            </a:r>
            <a:endParaRPr lang="en-US" sz="1600" dirty="0"/>
          </a:p>
        </p:txBody>
      </p:sp>
      <p:sp>
        <p:nvSpPr>
          <p:cNvPr id="21" name="Shape 19"/>
          <p:cNvSpPr/>
          <p:nvPr/>
        </p:nvSpPr>
        <p:spPr>
          <a:xfrm>
            <a:off x="762000" y="5651500"/>
            <a:ext cx="14732000" cy="1016000"/>
          </a:xfrm>
          <a:prstGeom prst="rect">
            <a:avLst/>
          </a:prstGeom>
          <a:solidFill>
            <a:srgbClr val="B85C38"/>
          </a:solidFill>
          <a:ln/>
        </p:spPr>
      </p:sp>
      <p:sp>
        <p:nvSpPr>
          <p:cNvPr id="22" name="Text 20"/>
          <p:cNvSpPr/>
          <p:nvPr/>
        </p:nvSpPr>
        <p:spPr>
          <a:xfrm>
            <a:off x="1079500" y="5778500"/>
            <a:ext cx="14097000" cy="762000"/>
          </a:xfrm>
          <a:prstGeom prst="rect">
            <a:avLst/>
          </a:prstGeom>
          <a:noFill/>
          <a:ln/>
        </p:spPr>
        <p:txBody>
          <a:bodyPr wrap="square" lIns="0" tIns="0" rIns="0" bIns="0" rtlCol="0" anchor="ctr"/>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All five processes</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(selecting words, selecting images, organizing words, organizing images, and integrating) </a:t>
            </a:r>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must occur</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for meaningful learning to take place.</a:t>
            </a:r>
            <a:endParaRPr lang="en-US" sz="1600" dirty="0"/>
          </a:p>
        </p:txBody>
      </p:sp>
      <p:sp>
        <p:nvSpPr>
          <p:cNvPr id="23" name="Shape 21"/>
          <p:cNvSpPr/>
          <p:nvPr/>
        </p:nvSpPr>
        <p:spPr>
          <a:xfrm>
            <a:off x="762000" y="8699500"/>
            <a:ext cx="508000" cy="38100"/>
          </a:xfrm>
          <a:prstGeom prst="rect">
            <a:avLst/>
          </a:prstGeom>
          <a:solidFill>
            <a:srgbClr val="B85C38"/>
          </a:solidFill>
          <a:ln/>
        </p:spPr>
      </p:sp>
      <p:sp>
        <p:nvSpPr>
          <p:cNvPr id="24" name="Text 22"/>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12</a:t>
            </a:r>
            <a:endParaRPr lang="en-US" sz="13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The Five Cognitive Processes in CTML</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651000"/>
            <a:ext cx="2794000" cy="1270000"/>
          </a:xfrm>
          <a:prstGeom prst="rect">
            <a:avLst/>
          </a:prstGeom>
          <a:solidFill>
            <a:srgbClr val="B85C38"/>
          </a:solidFill>
          <a:ln/>
        </p:spPr>
      </p:sp>
      <p:sp>
        <p:nvSpPr>
          <p:cNvPr id="6" name="Text 4"/>
          <p:cNvSpPr/>
          <p:nvPr/>
        </p:nvSpPr>
        <p:spPr>
          <a:xfrm>
            <a:off x="889000" y="1714500"/>
            <a:ext cx="508000" cy="381000"/>
          </a:xfrm>
          <a:prstGeom prst="rect">
            <a:avLst/>
          </a:prstGeom>
          <a:noFill/>
          <a:ln/>
        </p:spPr>
        <p:txBody>
          <a:bodyPr wrap="none" lIns="0" tIns="0" rIns="0" bIns="0" rtlCol="0" anchor="ctr"/>
          <a:lstStyle/>
          <a:p>
            <a:pPr algn="ctr">
              <a:lnSpc>
                <a:spcPct val="100000"/>
              </a:lnSpc>
            </a:pPr>
            <a:r>
              <a:rPr lang="en-US" sz="2000" b="1" dirty="0">
                <a:solidFill>
                  <a:srgbClr val="FFFFFF">
                    <a:alpha val="50196"/>
                  </a:srgbClr>
                </a:solidFill>
                <a:latin typeface="Quattrocento Sans" pitchFamily="34" charset="0"/>
                <a:ea typeface="Quattrocento Sans" pitchFamily="34" charset="-122"/>
                <a:cs typeface="Quattrocento Sans" pitchFamily="34" charset="-120"/>
              </a:rPr>
              <a:t>1</a:t>
            </a:r>
            <a:endParaRPr lang="en-US" sz="1600" dirty="0"/>
          </a:p>
        </p:txBody>
      </p:sp>
      <p:sp>
        <p:nvSpPr>
          <p:cNvPr id="7" name="Text 5"/>
          <p:cNvSpPr/>
          <p:nvPr/>
        </p:nvSpPr>
        <p:spPr>
          <a:xfrm>
            <a:off x="889000" y="2095500"/>
            <a:ext cx="2540000" cy="3175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Selecting Words</a:t>
            </a:r>
            <a:endParaRPr lang="en-US" sz="1600" dirty="0"/>
          </a:p>
        </p:txBody>
      </p:sp>
      <p:sp>
        <p:nvSpPr>
          <p:cNvPr id="8" name="Text 6"/>
          <p:cNvSpPr/>
          <p:nvPr/>
        </p:nvSpPr>
        <p:spPr>
          <a:xfrm>
            <a:off x="889000" y="2438400"/>
            <a:ext cx="2540000" cy="381000"/>
          </a:xfrm>
          <a:prstGeom prst="rect">
            <a:avLst/>
          </a:prstGeom>
          <a:noFill/>
          <a:ln/>
        </p:spPr>
        <p:txBody>
          <a:bodyPr wrap="square" lIns="0" tIns="0" rIns="0" bIns="0" rtlCol="0" anchor="t"/>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Attend to relevant verbal info</a:t>
            </a:r>
            <a:endParaRPr lang="en-US" sz="1600" dirty="0"/>
          </a:p>
        </p:txBody>
      </p:sp>
      <p:sp>
        <p:nvSpPr>
          <p:cNvPr id="9" name="Shape 7"/>
          <p:cNvSpPr/>
          <p:nvPr/>
        </p:nvSpPr>
        <p:spPr>
          <a:xfrm>
            <a:off x="3683000" y="2159000"/>
            <a:ext cx="381000" cy="0"/>
          </a:xfrm>
          <a:prstGeom prst="straightConnector1">
            <a:avLst/>
          </a:prstGeom>
          <a:noFill/>
          <a:ln w="25400">
            <a:solidFill>
              <a:srgbClr val="B85C38"/>
            </a:solidFill>
            <a:prstDash val="solid"/>
            <a:headEnd type="none"/>
            <a:tailEnd type="arrow"/>
          </a:ln>
        </p:spPr>
      </p:sp>
      <p:sp>
        <p:nvSpPr>
          <p:cNvPr id="10" name="Shape 8"/>
          <p:cNvSpPr/>
          <p:nvPr/>
        </p:nvSpPr>
        <p:spPr>
          <a:xfrm>
            <a:off x="4191000" y="1651000"/>
            <a:ext cx="2794000" cy="1270000"/>
          </a:xfrm>
          <a:prstGeom prst="rect">
            <a:avLst/>
          </a:prstGeom>
          <a:solidFill>
            <a:srgbClr val="B85C38"/>
          </a:solidFill>
          <a:ln/>
        </p:spPr>
      </p:sp>
      <p:sp>
        <p:nvSpPr>
          <p:cNvPr id="11" name="Text 9"/>
          <p:cNvSpPr/>
          <p:nvPr/>
        </p:nvSpPr>
        <p:spPr>
          <a:xfrm>
            <a:off x="4318000" y="1714500"/>
            <a:ext cx="508000" cy="381000"/>
          </a:xfrm>
          <a:prstGeom prst="rect">
            <a:avLst/>
          </a:prstGeom>
          <a:noFill/>
          <a:ln/>
        </p:spPr>
        <p:txBody>
          <a:bodyPr wrap="none" lIns="0" tIns="0" rIns="0" bIns="0" rtlCol="0" anchor="ctr"/>
          <a:lstStyle/>
          <a:p>
            <a:pPr algn="ctr">
              <a:lnSpc>
                <a:spcPct val="100000"/>
              </a:lnSpc>
            </a:pPr>
            <a:r>
              <a:rPr lang="en-US" sz="2000" b="1" dirty="0">
                <a:solidFill>
                  <a:srgbClr val="FFFFFF">
                    <a:alpha val="50196"/>
                  </a:srgbClr>
                </a:solidFill>
                <a:latin typeface="Quattrocento Sans" pitchFamily="34" charset="0"/>
                <a:ea typeface="Quattrocento Sans" pitchFamily="34" charset="-122"/>
                <a:cs typeface="Quattrocento Sans" pitchFamily="34" charset="-120"/>
              </a:rPr>
              <a:t>2</a:t>
            </a:r>
            <a:endParaRPr lang="en-US" sz="1600" dirty="0"/>
          </a:p>
        </p:txBody>
      </p:sp>
      <p:sp>
        <p:nvSpPr>
          <p:cNvPr id="12" name="Text 10"/>
          <p:cNvSpPr/>
          <p:nvPr/>
        </p:nvSpPr>
        <p:spPr>
          <a:xfrm>
            <a:off x="4318000" y="2095500"/>
            <a:ext cx="2540000" cy="3175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Selecting Images</a:t>
            </a:r>
            <a:endParaRPr lang="en-US" sz="1600" dirty="0"/>
          </a:p>
        </p:txBody>
      </p:sp>
      <p:sp>
        <p:nvSpPr>
          <p:cNvPr id="13" name="Text 11"/>
          <p:cNvSpPr/>
          <p:nvPr/>
        </p:nvSpPr>
        <p:spPr>
          <a:xfrm>
            <a:off x="4318000" y="2438400"/>
            <a:ext cx="2540000" cy="381000"/>
          </a:xfrm>
          <a:prstGeom prst="rect">
            <a:avLst/>
          </a:prstGeom>
          <a:noFill/>
          <a:ln/>
        </p:spPr>
        <p:txBody>
          <a:bodyPr wrap="square" lIns="0" tIns="0" rIns="0" bIns="0" rtlCol="0" anchor="t"/>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Attend to relevant visual info</a:t>
            </a:r>
            <a:endParaRPr lang="en-US" sz="1600" dirty="0"/>
          </a:p>
        </p:txBody>
      </p:sp>
      <p:sp>
        <p:nvSpPr>
          <p:cNvPr id="14" name="Shape 12"/>
          <p:cNvSpPr/>
          <p:nvPr/>
        </p:nvSpPr>
        <p:spPr>
          <a:xfrm>
            <a:off x="7112000" y="2159000"/>
            <a:ext cx="381000" cy="0"/>
          </a:xfrm>
          <a:prstGeom prst="straightConnector1">
            <a:avLst/>
          </a:prstGeom>
          <a:noFill/>
          <a:ln w="25400">
            <a:solidFill>
              <a:srgbClr val="B85C38"/>
            </a:solidFill>
            <a:prstDash val="solid"/>
            <a:headEnd type="none"/>
            <a:tailEnd type="arrow"/>
          </a:ln>
        </p:spPr>
      </p:sp>
      <p:sp>
        <p:nvSpPr>
          <p:cNvPr id="15" name="Shape 13"/>
          <p:cNvSpPr/>
          <p:nvPr/>
        </p:nvSpPr>
        <p:spPr>
          <a:xfrm>
            <a:off x="7620000" y="1651000"/>
            <a:ext cx="2794000" cy="1270000"/>
          </a:xfrm>
          <a:prstGeom prst="rect">
            <a:avLst/>
          </a:prstGeom>
          <a:solidFill>
            <a:srgbClr val="2D2926"/>
          </a:solidFill>
          <a:ln/>
        </p:spPr>
      </p:sp>
      <p:sp>
        <p:nvSpPr>
          <p:cNvPr id="16" name="Text 14"/>
          <p:cNvSpPr/>
          <p:nvPr/>
        </p:nvSpPr>
        <p:spPr>
          <a:xfrm>
            <a:off x="7747000" y="1714500"/>
            <a:ext cx="508000" cy="381000"/>
          </a:xfrm>
          <a:prstGeom prst="rect">
            <a:avLst/>
          </a:prstGeom>
          <a:noFill/>
          <a:ln/>
        </p:spPr>
        <p:txBody>
          <a:bodyPr wrap="none" lIns="0" tIns="0" rIns="0" bIns="0" rtlCol="0" anchor="ctr"/>
          <a:lstStyle/>
          <a:p>
            <a:pPr algn="ctr">
              <a:lnSpc>
                <a:spcPct val="100000"/>
              </a:lnSpc>
            </a:pPr>
            <a:r>
              <a:rPr lang="en-US" sz="2000" b="1" dirty="0">
                <a:solidFill>
                  <a:srgbClr val="FFFFFF">
                    <a:alpha val="25098"/>
                  </a:srgbClr>
                </a:solidFill>
                <a:latin typeface="Quattrocento Sans" pitchFamily="34" charset="0"/>
                <a:ea typeface="Quattrocento Sans" pitchFamily="34" charset="-122"/>
                <a:cs typeface="Quattrocento Sans" pitchFamily="34" charset="-120"/>
              </a:rPr>
              <a:t>3</a:t>
            </a:r>
            <a:endParaRPr lang="en-US" sz="1600" dirty="0"/>
          </a:p>
        </p:txBody>
      </p:sp>
      <p:sp>
        <p:nvSpPr>
          <p:cNvPr id="17" name="Text 15"/>
          <p:cNvSpPr/>
          <p:nvPr/>
        </p:nvSpPr>
        <p:spPr>
          <a:xfrm>
            <a:off x="7747000" y="2095500"/>
            <a:ext cx="2540000" cy="3175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Organizing Words</a:t>
            </a:r>
            <a:endParaRPr lang="en-US" sz="1600" dirty="0"/>
          </a:p>
        </p:txBody>
      </p:sp>
      <p:sp>
        <p:nvSpPr>
          <p:cNvPr id="18" name="Text 16"/>
          <p:cNvSpPr/>
          <p:nvPr/>
        </p:nvSpPr>
        <p:spPr>
          <a:xfrm>
            <a:off x="7747000" y="2438400"/>
            <a:ext cx="2540000" cy="381000"/>
          </a:xfrm>
          <a:prstGeom prst="rect">
            <a:avLst/>
          </a:prstGeom>
          <a:noFill/>
          <a:ln/>
        </p:spPr>
        <p:txBody>
          <a:bodyPr wrap="square" lIns="0" tIns="0" rIns="0" bIns="0" rtlCol="0" anchor="t"/>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Build verbal mental model</a:t>
            </a:r>
            <a:endParaRPr lang="en-US" sz="1600" dirty="0"/>
          </a:p>
        </p:txBody>
      </p:sp>
      <p:sp>
        <p:nvSpPr>
          <p:cNvPr id="19" name="Shape 17"/>
          <p:cNvSpPr/>
          <p:nvPr/>
        </p:nvSpPr>
        <p:spPr>
          <a:xfrm>
            <a:off x="10541000" y="2159000"/>
            <a:ext cx="381000" cy="0"/>
          </a:xfrm>
          <a:prstGeom prst="straightConnector1">
            <a:avLst/>
          </a:prstGeom>
          <a:noFill/>
          <a:ln w="25400">
            <a:solidFill>
              <a:srgbClr val="8C7B6B"/>
            </a:solidFill>
            <a:prstDash val="solid"/>
            <a:headEnd type="none"/>
            <a:tailEnd type="arrow"/>
          </a:ln>
        </p:spPr>
      </p:sp>
      <p:sp>
        <p:nvSpPr>
          <p:cNvPr id="20" name="Shape 18"/>
          <p:cNvSpPr/>
          <p:nvPr/>
        </p:nvSpPr>
        <p:spPr>
          <a:xfrm>
            <a:off x="11049000" y="1651000"/>
            <a:ext cx="2794000" cy="1270000"/>
          </a:xfrm>
          <a:prstGeom prst="rect">
            <a:avLst/>
          </a:prstGeom>
          <a:solidFill>
            <a:srgbClr val="2D2926"/>
          </a:solidFill>
          <a:ln/>
        </p:spPr>
      </p:sp>
      <p:sp>
        <p:nvSpPr>
          <p:cNvPr id="21" name="Text 19"/>
          <p:cNvSpPr/>
          <p:nvPr/>
        </p:nvSpPr>
        <p:spPr>
          <a:xfrm>
            <a:off x="11176000" y="1714500"/>
            <a:ext cx="508000" cy="381000"/>
          </a:xfrm>
          <a:prstGeom prst="rect">
            <a:avLst/>
          </a:prstGeom>
          <a:noFill/>
          <a:ln/>
        </p:spPr>
        <p:txBody>
          <a:bodyPr wrap="none" lIns="0" tIns="0" rIns="0" bIns="0" rtlCol="0" anchor="ctr"/>
          <a:lstStyle/>
          <a:p>
            <a:pPr algn="ctr">
              <a:lnSpc>
                <a:spcPct val="100000"/>
              </a:lnSpc>
            </a:pPr>
            <a:r>
              <a:rPr lang="en-US" sz="2000" b="1" dirty="0">
                <a:solidFill>
                  <a:srgbClr val="FFFFFF">
                    <a:alpha val="25098"/>
                  </a:srgbClr>
                </a:solidFill>
                <a:latin typeface="Quattrocento Sans" pitchFamily="34" charset="0"/>
                <a:ea typeface="Quattrocento Sans" pitchFamily="34" charset="-122"/>
                <a:cs typeface="Quattrocento Sans" pitchFamily="34" charset="-120"/>
              </a:rPr>
              <a:t>4</a:t>
            </a:r>
            <a:endParaRPr lang="en-US" sz="1600" dirty="0"/>
          </a:p>
        </p:txBody>
      </p:sp>
      <p:sp>
        <p:nvSpPr>
          <p:cNvPr id="22" name="Text 20"/>
          <p:cNvSpPr/>
          <p:nvPr/>
        </p:nvSpPr>
        <p:spPr>
          <a:xfrm>
            <a:off x="11176000" y="2095500"/>
            <a:ext cx="2540000" cy="317500"/>
          </a:xfrm>
          <a:prstGeom prst="rect">
            <a:avLst/>
          </a:prstGeom>
          <a:noFill/>
          <a:ln/>
        </p:spPr>
        <p:txBody>
          <a:bodyPr wrap="none" lIns="0" tIns="0" rIns="0" bIns="0" rtlCol="0" anchor="ctr"/>
          <a:lstStyle/>
          <a:p>
            <a:pPr>
              <a:lnSpc>
                <a:spcPct val="100000"/>
              </a:lnSpc>
            </a:pPr>
            <a:r>
              <a:rPr lang="en-US" sz="1500" b="1" dirty="0">
                <a:solidFill>
                  <a:srgbClr val="FFFFFF"/>
                </a:solidFill>
                <a:latin typeface="Quattrocento Sans" pitchFamily="34" charset="0"/>
                <a:ea typeface="Quattrocento Sans" pitchFamily="34" charset="-122"/>
                <a:cs typeface="Quattrocento Sans" pitchFamily="34" charset="-120"/>
              </a:rPr>
              <a:t>Organizing Images</a:t>
            </a:r>
            <a:endParaRPr lang="en-US" sz="1600" dirty="0"/>
          </a:p>
        </p:txBody>
      </p:sp>
      <p:sp>
        <p:nvSpPr>
          <p:cNvPr id="23" name="Text 21"/>
          <p:cNvSpPr/>
          <p:nvPr/>
        </p:nvSpPr>
        <p:spPr>
          <a:xfrm>
            <a:off x="11176000" y="2438400"/>
            <a:ext cx="2540000" cy="381000"/>
          </a:xfrm>
          <a:prstGeom prst="rect">
            <a:avLst/>
          </a:prstGeom>
          <a:noFill/>
          <a:ln/>
        </p:spPr>
        <p:txBody>
          <a:bodyPr wrap="square" lIns="0" tIns="0" rIns="0" bIns="0" rtlCol="0" anchor="t"/>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Build pictorial mental model</a:t>
            </a:r>
            <a:endParaRPr lang="en-US" sz="1600" dirty="0"/>
          </a:p>
        </p:txBody>
      </p:sp>
      <p:sp>
        <p:nvSpPr>
          <p:cNvPr id="24" name="Shape 22"/>
          <p:cNvSpPr/>
          <p:nvPr/>
        </p:nvSpPr>
        <p:spPr>
          <a:xfrm>
            <a:off x="9017000" y="3048000"/>
            <a:ext cx="0" cy="508000"/>
          </a:xfrm>
          <a:prstGeom prst="straightConnector1">
            <a:avLst/>
          </a:prstGeom>
          <a:noFill/>
          <a:ln w="25400">
            <a:solidFill>
              <a:srgbClr val="B85C38"/>
            </a:solidFill>
            <a:prstDash val="solid"/>
            <a:headEnd type="none"/>
            <a:tailEnd type="arrow"/>
          </a:ln>
        </p:spPr>
      </p:sp>
      <p:sp>
        <p:nvSpPr>
          <p:cNvPr id="25" name="Shape 23"/>
          <p:cNvSpPr/>
          <p:nvPr/>
        </p:nvSpPr>
        <p:spPr>
          <a:xfrm>
            <a:off x="12446000" y="3048000"/>
            <a:ext cx="0" cy="508000"/>
          </a:xfrm>
          <a:prstGeom prst="straightConnector1">
            <a:avLst/>
          </a:prstGeom>
          <a:noFill/>
          <a:ln w="25400">
            <a:solidFill>
              <a:srgbClr val="B85C38"/>
            </a:solidFill>
            <a:prstDash val="solid"/>
            <a:headEnd type="none"/>
            <a:tailEnd type="arrow"/>
          </a:ln>
        </p:spPr>
      </p:sp>
      <p:sp>
        <p:nvSpPr>
          <p:cNvPr id="26" name="Shape 24"/>
          <p:cNvSpPr/>
          <p:nvPr/>
        </p:nvSpPr>
        <p:spPr>
          <a:xfrm>
            <a:off x="5588000" y="3683000"/>
            <a:ext cx="5080000" cy="1270000"/>
          </a:xfrm>
          <a:prstGeom prst="rect">
            <a:avLst/>
          </a:prstGeom>
          <a:solidFill>
            <a:srgbClr val="B85C38"/>
          </a:solidFill>
          <a:ln/>
        </p:spPr>
      </p:sp>
      <p:sp>
        <p:nvSpPr>
          <p:cNvPr id="27" name="Text 25"/>
          <p:cNvSpPr/>
          <p:nvPr/>
        </p:nvSpPr>
        <p:spPr>
          <a:xfrm>
            <a:off x="5778500" y="3784600"/>
            <a:ext cx="508000" cy="381000"/>
          </a:xfrm>
          <a:prstGeom prst="rect">
            <a:avLst/>
          </a:prstGeom>
          <a:noFill/>
          <a:ln/>
        </p:spPr>
        <p:txBody>
          <a:bodyPr wrap="none" lIns="0" tIns="0" rIns="0" bIns="0" rtlCol="0" anchor="ctr"/>
          <a:lstStyle/>
          <a:p>
            <a:pPr algn="ctr">
              <a:lnSpc>
                <a:spcPct val="100000"/>
              </a:lnSpc>
            </a:pPr>
            <a:r>
              <a:rPr lang="en-US" sz="2000" b="1" dirty="0">
                <a:solidFill>
                  <a:srgbClr val="FFFFFF">
                    <a:alpha val="50196"/>
                  </a:srgbClr>
                </a:solidFill>
                <a:latin typeface="Quattrocento Sans" pitchFamily="34" charset="0"/>
                <a:ea typeface="Quattrocento Sans" pitchFamily="34" charset="-122"/>
                <a:cs typeface="Quattrocento Sans" pitchFamily="34" charset="-120"/>
              </a:rPr>
              <a:t>5</a:t>
            </a:r>
            <a:endParaRPr lang="en-US" sz="1600" dirty="0"/>
          </a:p>
        </p:txBody>
      </p:sp>
      <p:sp>
        <p:nvSpPr>
          <p:cNvPr id="28" name="Text 26"/>
          <p:cNvSpPr/>
          <p:nvPr/>
        </p:nvSpPr>
        <p:spPr>
          <a:xfrm>
            <a:off x="5778500" y="4165600"/>
            <a:ext cx="46990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Integrating</a:t>
            </a:r>
            <a:endParaRPr lang="en-US" sz="1600" dirty="0"/>
          </a:p>
        </p:txBody>
      </p:sp>
      <p:sp>
        <p:nvSpPr>
          <p:cNvPr id="29" name="Text 27"/>
          <p:cNvSpPr/>
          <p:nvPr/>
        </p:nvSpPr>
        <p:spPr>
          <a:xfrm>
            <a:off x="5778500" y="4546600"/>
            <a:ext cx="4699000" cy="317500"/>
          </a:xfrm>
          <a:prstGeom prst="rect">
            <a:avLst/>
          </a:prstGeom>
          <a:noFill/>
          <a:ln/>
        </p:spPr>
        <p:txBody>
          <a:bodyPr wrap="square" lIns="0" tIns="0" rIns="0" bIns="0" rtlCol="0" anchor="t"/>
          <a:lstStyle/>
          <a:p>
            <a:pPr>
              <a:lnSpc>
                <a:spcPct val="130000"/>
              </a:lnSpc>
            </a:pPr>
            <a:r>
              <a:rPr lang="en-US" sz="1300" dirty="0">
                <a:solidFill>
                  <a:srgbClr val="FFFFFF">
                    <a:alpha val="80000"/>
                  </a:srgbClr>
                </a:solidFill>
                <a:latin typeface="Quattrocento Sans" pitchFamily="34" charset="0"/>
                <a:ea typeface="Quattrocento Sans" pitchFamily="34" charset="-122"/>
                <a:cs typeface="Quattrocento Sans" pitchFamily="34" charset="-120"/>
              </a:rPr>
              <a:t>Connect models with prior knowledge</a:t>
            </a:r>
            <a:endParaRPr lang="en-US" sz="1600" dirty="0"/>
          </a:p>
        </p:txBody>
      </p:sp>
      <p:sp>
        <p:nvSpPr>
          <p:cNvPr id="30" name="Shape 28"/>
          <p:cNvSpPr/>
          <p:nvPr/>
        </p:nvSpPr>
        <p:spPr>
          <a:xfrm>
            <a:off x="9017000" y="3556000"/>
            <a:ext cx="0" cy="190500"/>
          </a:xfrm>
          <a:prstGeom prst="straightConnector1">
            <a:avLst/>
          </a:prstGeom>
          <a:noFill/>
          <a:ln w="25400">
            <a:solidFill>
              <a:srgbClr val="B85C38"/>
            </a:solidFill>
            <a:prstDash val="solid"/>
            <a:headEnd type="none"/>
            <a:tailEnd type="arrow"/>
          </a:ln>
        </p:spPr>
      </p:sp>
      <p:sp>
        <p:nvSpPr>
          <p:cNvPr id="31" name="Shape 29"/>
          <p:cNvSpPr/>
          <p:nvPr/>
        </p:nvSpPr>
        <p:spPr>
          <a:xfrm>
            <a:off x="10668000" y="3556000"/>
            <a:ext cx="0" cy="190500"/>
          </a:xfrm>
          <a:prstGeom prst="straightConnector1">
            <a:avLst/>
          </a:prstGeom>
          <a:noFill/>
          <a:ln w="25400">
            <a:solidFill>
              <a:srgbClr val="B85C38"/>
            </a:solidFill>
            <a:prstDash val="solid"/>
            <a:headEnd type="none"/>
            <a:tailEnd type="arrow"/>
          </a:ln>
        </p:spPr>
      </p:sp>
      <p:sp>
        <p:nvSpPr>
          <p:cNvPr id="32" name="Text 30"/>
          <p:cNvSpPr/>
          <p:nvPr/>
        </p:nvSpPr>
        <p:spPr>
          <a:xfrm>
            <a:off x="762000" y="5334000"/>
            <a:ext cx="5080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Process Details</a:t>
            </a:r>
            <a:endParaRPr lang="en-US" sz="1600" dirty="0"/>
          </a:p>
        </p:txBody>
      </p:sp>
      <p:sp>
        <p:nvSpPr>
          <p:cNvPr id="33" name="Text 31"/>
          <p:cNvSpPr/>
          <p:nvPr/>
        </p:nvSpPr>
        <p:spPr>
          <a:xfrm>
            <a:off x="762000" y="5842000"/>
            <a:ext cx="14732000" cy="1905000"/>
          </a:xfrm>
          <a:prstGeom prst="rect">
            <a:avLst/>
          </a:prstGeom>
          <a:noFill/>
          <a:ln/>
        </p:spPr>
        <p:txBody>
          <a:bodyPr wrap="square" lIns="0" tIns="0" rIns="0" bIns="0" rtlCol="0" anchor="t"/>
          <a:lstStyle/>
          <a:p>
            <a:pPr>
              <a:lnSpc>
                <a:spcPct val="160000"/>
              </a:lnSpc>
            </a:pPr>
            <a:r>
              <a:rPr lang="en-US" sz="1600" b="1" dirty="0">
                <a:solidFill>
                  <a:srgbClr val="2D2926"/>
                </a:solidFill>
                <a:latin typeface="Quattrocento Sans" pitchFamily="34" charset="0"/>
                <a:ea typeface="Quattrocento Sans" pitchFamily="34" charset="-122"/>
                <a:cs typeface="Quattrocento Sans" pitchFamily="34" charset="-120"/>
              </a:rPr>
              <a:t>Selecting</a:t>
            </a:r>
            <a:pPr>
              <a:lnSpc>
                <a:spcPct val="160000"/>
              </a:lnSpc>
            </a:pPr>
            <a:r>
              <a:rPr lang="en-US" sz="1600" dirty="0">
                <a:solidFill>
                  <a:srgbClr val="2D2926"/>
                </a:solidFill>
                <a:latin typeface="Quattrocento Sans" pitchFamily="34" charset="0"/>
                <a:ea typeface="Quattrocento Sans" pitchFamily="34" charset="-122"/>
                <a:cs typeface="Quattrocento Sans" pitchFamily="34" charset="-120"/>
              </a:rPr>
              <a:t> involves paying attention to relevant incoming words and images. </a:t>
            </a:r>
            <a:pPr>
              <a:lnSpc>
                <a:spcPct val="160000"/>
              </a:lnSpc>
            </a:pPr>
            <a:r>
              <a:rPr lang="en-US" sz="1600" b="1" dirty="0">
                <a:solidFill>
                  <a:srgbClr val="2D2926"/>
                </a:solidFill>
                <a:latin typeface="Quattrocento Sans" pitchFamily="34" charset="0"/>
                <a:ea typeface="Quattrocento Sans" pitchFamily="34" charset="-122"/>
                <a:cs typeface="Quattrocento Sans" pitchFamily="34" charset="-120"/>
              </a:rPr>
              <a:t>Organizing</a:t>
            </a:r>
            <a:pPr>
              <a:lnSpc>
                <a:spcPct val="160000"/>
              </a:lnSpc>
            </a:pPr>
            <a:r>
              <a:rPr lang="en-US" sz="1600" dirty="0">
                <a:solidFill>
                  <a:srgbClr val="2D2926"/>
                </a:solidFill>
                <a:latin typeface="Quattrocento Sans" pitchFamily="34" charset="0"/>
                <a:ea typeface="Quattrocento Sans" pitchFamily="34" charset="-122"/>
                <a:cs typeface="Quattrocento Sans" pitchFamily="34" charset="-120"/>
              </a:rPr>
              <a:t> involves building coherent mental structures from the selected material. </a:t>
            </a:r>
            <a:pPr>
              <a:lnSpc>
                <a:spcPct val="160000"/>
              </a:lnSpc>
            </a:pPr>
            <a:r>
              <a:rPr lang="en-US" sz="1600" b="1" dirty="0">
                <a:solidFill>
                  <a:srgbClr val="2D2926"/>
                </a:solidFill>
                <a:latin typeface="Quattrocento Sans" pitchFamily="34" charset="0"/>
                <a:ea typeface="Quattrocento Sans" pitchFamily="34" charset="-122"/>
                <a:cs typeface="Quattrocento Sans" pitchFamily="34" charset="-120"/>
              </a:rPr>
              <a:t>Integrating</a:t>
            </a:r>
            <a:pPr>
              <a:lnSpc>
                <a:spcPct val="160000"/>
              </a:lnSpc>
            </a:pPr>
            <a:r>
              <a:rPr lang="en-US" sz="1600" dirty="0">
                <a:solidFill>
                  <a:srgbClr val="2D2926"/>
                </a:solidFill>
                <a:latin typeface="Quattrocento Sans" pitchFamily="34" charset="0"/>
                <a:ea typeface="Quattrocento Sans" pitchFamily="34" charset="-122"/>
                <a:cs typeface="Quattrocento Sans" pitchFamily="34" charset="-120"/>
              </a:rPr>
              <a:t> involves connecting the verbal and pictorial models with each other and with prior knowledge.</a:t>
            </a:r>
            <a:endParaRPr lang="en-US" sz="1600" dirty="0"/>
          </a:p>
          <a:p>
            <a:pPr>
              <a:lnSpc>
                <a:spcPct val="160000"/>
              </a:lnSpc>
              <a:spcBef>
                <a:spcPts val="800"/>
              </a:spcBef>
            </a:pPr>
            <a:r>
              <a:rPr lang="en-US" sz="1600" dirty="0">
                <a:solidFill>
                  <a:srgbClr val="2D2926"/>
                </a:solidFill>
                <a:latin typeface="Quattrocento Sans" pitchFamily="34" charset="0"/>
                <a:ea typeface="Quattrocento Sans" pitchFamily="34" charset="-122"/>
                <a:cs typeface="Quattrocento Sans" pitchFamily="34" charset="-120"/>
              </a:rPr>
              <a:t>Multimedia design should </a:t>
            </a:r>
            <a:pPr>
              <a:lnSpc>
                <a:spcPct val="160000"/>
              </a:lnSpc>
              <a:spcBef>
                <a:spcPts val="800"/>
              </a:spcBef>
            </a:pPr>
            <a:r>
              <a:rPr lang="en-US" sz="1600" b="1" dirty="0">
                <a:solidFill>
                  <a:srgbClr val="2D2926"/>
                </a:solidFill>
                <a:latin typeface="Quattrocento Sans" pitchFamily="34" charset="0"/>
                <a:ea typeface="Quattrocento Sans" pitchFamily="34" charset="-122"/>
                <a:cs typeface="Quattrocento Sans" pitchFamily="34" charset="-120"/>
              </a:rPr>
              <a:t>facilitate each of these five processes</a:t>
            </a:r>
            <a:pPr>
              <a:lnSpc>
                <a:spcPct val="160000"/>
              </a:lnSpc>
              <a:spcBef>
                <a:spcPts val="800"/>
              </a:spcBef>
            </a:pPr>
            <a:r>
              <a:rPr lang="en-US" sz="1600" dirty="0">
                <a:solidFill>
                  <a:srgbClr val="2D2926"/>
                </a:solidFill>
                <a:latin typeface="Quattrocento Sans" pitchFamily="34" charset="0"/>
                <a:ea typeface="Quattrocento Sans" pitchFamily="34" charset="-122"/>
                <a:cs typeface="Quattrocento Sans" pitchFamily="34" charset="-120"/>
              </a:rPr>
              <a:t> to maximize learning effectiveness. When any process is hindered, learning outcomes decrease.</a:t>
            </a:r>
            <a:endParaRPr lang="en-US" sz="1600" dirty="0"/>
          </a:p>
        </p:txBody>
      </p:sp>
      <p:sp>
        <p:nvSpPr>
          <p:cNvPr id="34" name="Shape 32"/>
          <p:cNvSpPr/>
          <p:nvPr/>
        </p:nvSpPr>
        <p:spPr>
          <a:xfrm>
            <a:off x="762000" y="8699500"/>
            <a:ext cx="508000" cy="38100"/>
          </a:xfrm>
          <a:prstGeom prst="rect">
            <a:avLst/>
          </a:prstGeom>
          <a:solidFill>
            <a:srgbClr val="B85C38"/>
          </a:solidFill>
          <a:ln/>
        </p:spPr>
      </p:sp>
      <p:sp>
        <p:nvSpPr>
          <p:cNvPr id="35" name="Text 33"/>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13</a:t>
            </a:r>
            <a:endParaRPr lang="en-US" sz="13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143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Reducing Extraneous Processing - Part 1</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5461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GOAL: ELIMINATE UNNECESSARY COGNITIVE LOAD</a:t>
            </a:r>
            <a:endParaRPr lang="en-US" sz="1600" dirty="0"/>
          </a:p>
        </p:txBody>
      </p:sp>
      <p:sp>
        <p:nvSpPr>
          <p:cNvPr id="6" name="Shape 4"/>
          <p:cNvSpPr/>
          <p:nvPr/>
        </p:nvSpPr>
        <p:spPr>
          <a:xfrm>
            <a:off x="762000" y="2032000"/>
            <a:ext cx="4699000" cy="3683000"/>
          </a:xfrm>
          <a:prstGeom prst="rect">
            <a:avLst/>
          </a:prstGeom>
          <a:solidFill>
            <a:srgbClr val="EDE6DE"/>
          </a:solidFill>
          <a:ln/>
        </p:spPr>
      </p:sp>
      <p:sp>
        <p:nvSpPr>
          <p:cNvPr id="7" name="Shape 5"/>
          <p:cNvSpPr/>
          <p:nvPr/>
        </p:nvSpPr>
        <p:spPr>
          <a:xfrm>
            <a:off x="1079500" y="2286000"/>
            <a:ext cx="406400" cy="406400"/>
          </a:xfrm>
          <a:custGeom>
            <a:avLst/>
            <a:gdLst/>
            <a:ahLst/>
            <a:cxnLst/>
            <a:rect l="l" t="t" r="r" b="b"/>
            <a:pathLst>
              <a:path w="406400" h="406400">
                <a:moveTo>
                  <a:pt x="152400" y="203200"/>
                </a:moveTo>
                <a:lnTo>
                  <a:pt x="121047" y="234553"/>
                </a:lnTo>
                <a:cubicBezTo>
                  <a:pt x="111046" y="230664"/>
                  <a:pt x="100251" y="228600"/>
                  <a:pt x="88900" y="228600"/>
                </a:cubicBezTo>
                <a:cubicBezTo>
                  <a:pt x="39767" y="228600"/>
                  <a:pt x="0" y="268367"/>
                  <a:pt x="0" y="317500"/>
                </a:cubicBezTo>
                <a:cubicBezTo>
                  <a:pt x="0" y="366633"/>
                  <a:pt x="39767" y="406400"/>
                  <a:pt x="88900" y="406400"/>
                </a:cubicBezTo>
                <a:cubicBezTo>
                  <a:pt x="138033" y="406400"/>
                  <a:pt x="177800" y="366633"/>
                  <a:pt x="177800" y="317500"/>
                </a:cubicBezTo>
                <a:cubicBezTo>
                  <a:pt x="177800" y="306149"/>
                  <a:pt x="175657" y="295354"/>
                  <a:pt x="171847" y="285353"/>
                </a:cubicBezTo>
                <a:lnTo>
                  <a:pt x="396240" y="60960"/>
                </a:lnTo>
                <a:cubicBezTo>
                  <a:pt x="401876" y="55324"/>
                  <a:pt x="401876" y="46276"/>
                  <a:pt x="396240" y="40640"/>
                </a:cubicBezTo>
                <a:cubicBezTo>
                  <a:pt x="373777" y="18177"/>
                  <a:pt x="337423" y="18177"/>
                  <a:pt x="314960" y="40640"/>
                </a:cubicBezTo>
                <a:lnTo>
                  <a:pt x="203200" y="152400"/>
                </a:lnTo>
                <a:lnTo>
                  <a:pt x="171847" y="121047"/>
                </a:lnTo>
                <a:cubicBezTo>
                  <a:pt x="175736" y="111046"/>
                  <a:pt x="177800" y="100251"/>
                  <a:pt x="177800" y="88900"/>
                </a:cubicBezTo>
                <a:cubicBezTo>
                  <a:pt x="177800" y="39767"/>
                  <a:pt x="138033" y="0"/>
                  <a:pt x="88900" y="0"/>
                </a:cubicBezTo>
                <a:cubicBezTo>
                  <a:pt x="39767" y="0"/>
                  <a:pt x="0" y="39767"/>
                  <a:pt x="0" y="88900"/>
                </a:cubicBezTo>
                <a:cubicBezTo>
                  <a:pt x="0" y="138033"/>
                  <a:pt x="39767" y="177800"/>
                  <a:pt x="88900" y="177800"/>
                </a:cubicBezTo>
                <a:cubicBezTo>
                  <a:pt x="100251" y="177800"/>
                  <a:pt x="111046" y="175657"/>
                  <a:pt x="121047" y="171847"/>
                </a:cubicBezTo>
                <a:lnTo>
                  <a:pt x="152400" y="203200"/>
                </a:lnTo>
                <a:close/>
                <a:moveTo>
                  <a:pt x="230108" y="280908"/>
                </a:moveTo>
                <a:lnTo>
                  <a:pt x="314960" y="365760"/>
                </a:lnTo>
                <a:cubicBezTo>
                  <a:pt x="337423" y="388223"/>
                  <a:pt x="373777" y="388223"/>
                  <a:pt x="396240" y="365760"/>
                </a:cubicBezTo>
                <a:cubicBezTo>
                  <a:pt x="401876" y="360124"/>
                  <a:pt x="401876" y="351076"/>
                  <a:pt x="396240" y="345440"/>
                </a:cubicBezTo>
                <a:lnTo>
                  <a:pt x="280908" y="230108"/>
                </a:lnTo>
                <a:lnTo>
                  <a:pt x="230108" y="280908"/>
                </a:lnTo>
                <a:close/>
                <a:moveTo>
                  <a:pt x="50800" y="88900"/>
                </a:moveTo>
                <a:cubicBezTo>
                  <a:pt x="50800" y="67872"/>
                  <a:pt x="67872" y="50800"/>
                  <a:pt x="88900" y="50800"/>
                </a:cubicBezTo>
                <a:cubicBezTo>
                  <a:pt x="109928" y="50800"/>
                  <a:pt x="127000" y="67872"/>
                  <a:pt x="127000" y="88900"/>
                </a:cubicBezTo>
                <a:cubicBezTo>
                  <a:pt x="127000" y="109928"/>
                  <a:pt x="109928" y="127000"/>
                  <a:pt x="88900" y="127000"/>
                </a:cubicBezTo>
                <a:cubicBezTo>
                  <a:pt x="67872" y="127000"/>
                  <a:pt x="50800" y="109928"/>
                  <a:pt x="50800" y="88900"/>
                </a:cubicBezTo>
                <a:close/>
                <a:moveTo>
                  <a:pt x="88900" y="279400"/>
                </a:moveTo>
                <a:cubicBezTo>
                  <a:pt x="109928" y="279400"/>
                  <a:pt x="127000" y="296472"/>
                  <a:pt x="127000" y="317500"/>
                </a:cubicBezTo>
                <a:cubicBezTo>
                  <a:pt x="127000" y="338528"/>
                  <a:pt x="109928" y="355600"/>
                  <a:pt x="88900" y="355600"/>
                </a:cubicBezTo>
                <a:cubicBezTo>
                  <a:pt x="67872" y="355600"/>
                  <a:pt x="50800" y="338528"/>
                  <a:pt x="50800" y="317500"/>
                </a:cubicBezTo>
                <a:cubicBezTo>
                  <a:pt x="50800" y="296472"/>
                  <a:pt x="67872" y="279400"/>
                  <a:pt x="88900" y="279400"/>
                </a:cubicBezTo>
                <a:close/>
              </a:path>
            </a:pathLst>
          </a:custGeom>
          <a:solidFill>
            <a:srgbClr val="B85C38"/>
          </a:solidFill>
          <a:ln/>
        </p:spPr>
      </p:sp>
      <p:sp>
        <p:nvSpPr>
          <p:cNvPr id="8" name="Text 6"/>
          <p:cNvSpPr/>
          <p:nvPr/>
        </p:nvSpPr>
        <p:spPr>
          <a:xfrm>
            <a:off x="1079500" y="2857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Coherence Principle</a:t>
            </a:r>
            <a:endParaRPr lang="en-US" sz="1600" dirty="0"/>
          </a:p>
        </p:txBody>
      </p:sp>
      <p:sp>
        <p:nvSpPr>
          <p:cNvPr id="9" name="Shape 7"/>
          <p:cNvSpPr/>
          <p:nvPr/>
        </p:nvSpPr>
        <p:spPr>
          <a:xfrm>
            <a:off x="1079500" y="3276600"/>
            <a:ext cx="508000" cy="25400"/>
          </a:xfrm>
          <a:prstGeom prst="rect">
            <a:avLst/>
          </a:prstGeom>
          <a:solidFill>
            <a:srgbClr val="B85C38"/>
          </a:solidFill>
          <a:ln/>
        </p:spPr>
      </p:sp>
      <p:sp>
        <p:nvSpPr>
          <p:cNvPr id="10" name="Text 8"/>
          <p:cNvSpPr/>
          <p:nvPr/>
        </p:nvSpPr>
        <p:spPr>
          <a:xfrm>
            <a:off x="1079500" y="3429000"/>
            <a:ext cx="4064000" cy="2095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more deeply when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extraneous material is excluded</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Eliminate distracting graphics, sounds, and unnecessary content that doesn't support learning goals.</a:t>
            </a:r>
            <a:endParaRPr lang="en-US" sz="1600" dirty="0"/>
          </a:p>
        </p:txBody>
      </p:sp>
      <p:sp>
        <p:nvSpPr>
          <p:cNvPr id="11" name="Shape 9"/>
          <p:cNvSpPr/>
          <p:nvPr/>
        </p:nvSpPr>
        <p:spPr>
          <a:xfrm>
            <a:off x="5778500" y="2032000"/>
            <a:ext cx="4699000" cy="3683000"/>
          </a:xfrm>
          <a:prstGeom prst="rect">
            <a:avLst/>
          </a:prstGeom>
          <a:solidFill>
            <a:srgbClr val="EDE6DE"/>
          </a:solidFill>
          <a:ln/>
        </p:spPr>
      </p:sp>
      <p:sp>
        <p:nvSpPr>
          <p:cNvPr id="12" name="Shape 10"/>
          <p:cNvSpPr/>
          <p:nvPr/>
        </p:nvSpPr>
        <p:spPr>
          <a:xfrm>
            <a:off x="6096000" y="2286000"/>
            <a:ext cx="406400" cy="406400"/>
          </a:xfrm>
          <a:custGeom>
            <a:avLst/>
            <a:gdLst/>
            <a:ahLst/>
            <a:cxnLst/>
            <a:rect l="l" t="t" r="r" b="b"/>
            <a:pathLst>
              <a:path w="406400" h="406400">
                <a:moveTo>
                  <a:pt x="203518" y="0"/>
                </a:moveTo>
                <a:cubicBezTo>
                  <a:pt x="189468" y="0"/>
                  <a:pt x="178117" y="11351"/>
                  <a:pt x="178117" y="25400"/>
                </a:cubicBezTo>
                <a:lnTo>
                  <a:pt x="178117" y="50800"/>
                </a:lnTo>
                <a:lnTo>
                  <a:pt x="51117" y="50800"/>
                </a:lnTo>
                <a:cubicBezTo>
                  <a:pt x="37068" y="50800"/>
                  <a:pt x="25717" y="62151"/>
                  <a:pt x="25717" y="76200"/>
                </a:cubicBezTo>
                <a:lnTo>
                  <a:pt x="25717" y="127000"/>
                </a:lnTo>
                <a:cubicBezTo>
                  <a:pt x="25717" y="141049"/>
                  <a:pt x="37068" y="152400"/>
                  <a:pt x="51117" y="152400"/>
                </a:cubicBezTo>
                <a:lnTo>
                  <a:pt x="178117" y="152400"/>
                </a:lnTo>
                <a:lnTo>
                  <a:pt x="178117" y="203200"/>
                </a:lnTo>
                <a:lnTo>
                  <a:pt x="56356" y="203200"/>
                </a:lnTo>
                <a:cubicBezTo>
                  <a:pt x="53022" y="203200"/>
                  <a:pt x="49768" y="204549"/>
                  <a:pt x="47387" y="206931"/>
                </a:cubicBezTo>
                <a:lnTo>
                  <a:pt x="9287" y="245031"/>
                </a:lnTo>
                <a:cubicBezTo>
                  <a:pt x="4366" y="249952"/>
                  <a:pt x="4366" y="258048"/>
                  <a:pt x="9287" y="262969"/>
                </a:cubicBezTo>
                <a:lnTo>
                  <a:pt x="47387" y="301069"/>
                </a:lnTo>
                <a:cubicBezTo>
                  <a:pt x="49768" y="303451"/>
                  <a:pt x="53022" y="304800"/>
                  <a:pt x="56356" y="304800"/>
                </a:cubicBezTo>
                <a:lnTo>
                  <a:pt x="178117" y="304800"/>
                </a:lnTo>
                <a:lnTo>
                  <a:pt x="178117" y="381000"/>
                </a:lnTo>
                <a:cubicBezTo>
                  <a:pt x="178117" y="395049"/>
                  <a:pt x="189468" y="406400"/>
                  <a:pt x="203518" y="406400"/>
                </a:cubicBezTo>
                <a:cubicBezTo>
                  <a:pt x="217567" y="406400"/>
                  <a:pt x="228918" y="395049"/>
                  <a:pt x="228918" y="381000"/>
                </a:cubicBezTo>
                <a:lnTo>
                  <a:pt x="228918" y="304800"/>
                </a:lnTo>
                <a:lnTo>
                  <a:pt x="355918" y="304800"/>
                </a:lnTo>
                <a:cubicBezTo>
                  <a:pt x="369967" y="304800"/>
                  <a:pt x="381317" y="293449"/>
                  <a:pt x="381317" y="279400"/>
                </a:cubicBezTo>
                <a:lnTo>
                  <a:pt x="381317" y="228600"/>
                </a:lnTo>
                <a:cubicBezTo>
                  <a:pt x="381317" y="214551"/>
                  <a:pt x="369967" y="203200"/>
                  <a:pt x="355918" y="203200"/>
                </a:cubicBezTo>
                <a:lnTo>
                  <a:pt x="228918" y="203200"/>
                </a:lnTo>
                <a:lnTo>
                  <a:pt x="228918" y="152400"/>
                </a:lnTo>
                <a:lnTo>
                  <a:pt x="350679" y="152400"/>
                </a:lnTo>
                <a:cubicBezTo>
                  <a:pt x="354012" y="152400"/>
                  <a:pt x="357267" y="151051"/>
                  <a:pt x="359648" y="148669"/>
                </a:cubicBezTo>
                <a:lnTo>
                  <a:pt x="397748" y="110569"/>
                </a:lnTo>
                <a:cubicBezTo>
                  <a:pt x="402669" y="105648"/>
                  <a:pt x="402669" y="97552"/>
                  <a:pt x="397748" y="92631"/>
                </a:cubicBezTo>
                <a:lnTo>
                  <a:pt x="359648" y="54531"/>
                </a:lnTo>
                <a:cubicBezTo>
                  <a:pt x="357267" y="52149"/>
                  <a:pt x="354012" y="50800"/>
                  <a:pt x="350679" y="50800"/>
                </a:cubicBezTo>
                <a:lnTo>
                  <a:pt x="228918" y="50800"/>
                </a:lnTo>
                <a:lnTo>
                  <a:pt x="228918" y="25400"/>
                </a:lnTo>
                <a:cubicBezTo>
                  <a:pt x="228918" y="11351"/>
                  <a:pt x="217567" y="0"/>
                  <a:pt x="203518" y="0"/>
                </a:cubicBezTo>
                <a:close/>
              </a:path>
            </a:pathLst>
          </a:custGeom>
          <a:solidFill>
            <a:srgbClr val="B85C38"/>
          </a:solidFill>
          <a:ln/>
        </p:spPr>
      </p:sp>
      <p:sp>
        <p:nvSpPr>
          <p:cNvPr id="13" name="Text 11"/>
          <p:cNvSpPr/>
          <p:nvPr/>
        </p:nvSpPr>
        <p:spPr>
          <a:xfrm>
            <a:off x="6096000" y="2857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Signaling Principle</a:t>
            </a:r>
            <a:endParaRPr lang="en-US" sz="1600" dirty="0"/>
          </a:p>
        </p:txBody>
      </p:sp>
      <p:sp>
        <p:nvSpPr>
          <p:cNvPr id="14" name="Shape 12"/>
          <p:cNvSpPr/>
          <p:nvPr/>
        </p:nvSpPr>
        <p:spPr>
          <a:xfrm>
            <a:off x="6096000" y="3276600"/>
            <a:ext cx="508000" cy="25400"/>
          </a:xfrm>
          <a:prstGeom prst="rect">
            <a:avLst/>
          </a:prstGeom>
          <a:solidFill>
            <a:srgbClr val="B85C38"/>
          </a:solidFill>
          <a:ln/>
        </p:spPr>
      </p:sp>
      <p:sp>
        <p:nvSpPr>
          <p:cNvPr id="15" name="Text 13"/>
          <p:cNvSpPr/>
          <p:nvPr/>
        </p:nvSpPr>
        <p:spPr>
          <a:xfrm>
            <a:off x="6096000" y="3429000"/>
            <a:ext cx="4064000" cy="2095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more deeply when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cues highlight essential material</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Use outlines, headings, and highlighting to guide attention to what's important.</a:t>
            </a:r>
            <a:endParaRPr lang="en-US" sz="1600" dirty="0"/>
          </a:p>
        </p:txBody>
      </p:sp>
      <p:sp>
        <p:nvSpPr>
          <p:cNvPr id="16" name="Shape 14"/>
          <p:cNvSpPr/>
          <p:nvPr/>
        </p:nvSpPr>
        <p:spPr>
          <a:xfrm>
            <a:off x="10795000" y="2032000"/>
            <a:ext cx="4699000" cy="3683000"/>
          </a:xfrm>
          <a:prstGeom prst="rect">
            <a:avLst/>
          </a:prstGeom>
          <a:solidFill>
            <a:srgbClr val="EDE6DE"/>
          </a:solidFill>
          <a:ln/>
        </p:spPr>
      </p:sp>
      <p:sp>
        <p:nvSpPr>
          <p:cNvPr id="17" name="Shape 15"/>
          <p:cNvSpPr/>
          <p:nvPr/>
        </p:nvSpPr>
        <p:spPr>
          <a:xfrm>
            <a:off x="11112500" y="2286000"/>
            <a:ext cx="406400" cy="406400"/>
          </a:xfrm>
          <a:custGeom>
            <a:avLst/>
            <a:gdLst/>
            <a:ahLst/>
            <a:cxnLst/>
            <a:rect l="l" t="t" r="r" b="b"/>
            <a:pathLst>
              <a:path w="406400" h="406400">
                <a:moveTo>
                  <a:pt x="228600" y="355600"/>
                </a:moveTo>
                <a:lnTo>
                  <a:pt x="50800" y="355600"/>
                </a:lnTo>
                <a:lnTo>
                  <a:pt x="50800" y="177800"/>
                </a:lnTo>
                <a:lnTo>
                  <a:pt x="88900" y="177800"/>
                </a:lnTo>
                <a:lnTo>
                  <a:pt x="88900" y="127000"/>
                </a:lnTo>
                <a:lnTo>
                  <a:pt x="50800" y="127000"/>
                </a:lnTo>
                <a:cubicBezTo>
                  <a:pt x="22781" y="127000"/>
                  <a:pt x="0" y="149781"/>
                  <a:pt x="0" y="177800"/>
                </a:cubicBezTo>
                <a:lnTo>
                  <a:pt x="0" y="355600"/>
                </a:lnTo>
                <a:cubicBezTo>
                  <a:pt x="0" y="383619"/>
                  <a:pt x="22781" y="406400"/>
                  <a:pt x="50800" y="406400"/>
                </a:cubicBezTo>
                <a:lnTo>
                  <a:pt x="228600" y="406400"/>
                </a:lnTo>
                <a:cubicBezTo>
                  <a:pt x="256619" y="406400"/>
                  <a:pt x="279400" y="383619"/>
                  <a:pt x="279400" y="355600"/>
                </a:cubicBezTo>
                <a:lnTo>
                  <a:pt x="279400" y="317500"/>
                </a:lnTo>
                <a:lnTo>
                  <a:pt x="228600" y="317500"/>
                </a:lnTo>
                <a:lnTo>
                  <a:pt x="228600" y="355600"/>
                </a:lnTo>
                <a:close/>
                <a:moveTo>
                  <a:pt x="177800" y="279400"/>
                </a:moveTo>
                <a:lnTo>
                  <a:pt x="355600" y="279400"/>
                </a:lnTo>
                <a:cubicBezTo>
                  <a:pt x="383619" y="279400"/>
                  <a:pt x="406400" y="256619"/>
                  <a:pt x="406400" y="228600"/>
                </a:cubicBezTo>
                <a:lnTo>
                  <a:pt x="406400" y="50800"/>
                </a:lnTo>
                <a:cubicBezTo>
                  <a:pt x="406400" y="22781"/>
                  <a:pt x="383619" y="0"/>
                  <a:pt x="355600" y="0"/>
                </a:cubicBezTo>
                <a:lnTo>
                  <a:pt x="177800" y="0"/>
                </a:lnTo>
                <a:cubicBezTo>
                  <a:pt x="149781" y="0"/>
                  <a:pt x="127000" y="22781"/>
                  <a:pt x="127000" y="50800"/>
                </a:cubicBezTo>
                <a:lnTo>
                  <a:pt x="127000" y="228600"/>
                </a:lnTo>
                <a:cubicBezTo>
                  <a:pt x="127000" y="256619"/>
                  <a:pt x="149781" y="279400"/>
                  <a:pt x="177800" y="279400"/>
                </a:cubicBezTo>
                <a:close/>
              </a:path>
            </a:pathLst>
          </a:custGeom>
          <a:solidFill>
            <a:srgbClr val="B85C38"/>
          </a:solidFill>
          <a:ln/>
        </p:spPr>
      </p:sp>
      <p:sp>
        <p:nvSpPr>
          <p:cNvPr id="18" name="Text 16"/>
          <p:cNvSpPr/>
          <p:nvPr/>
        </p:nvSpPr>
        <p:spPr>
          <a:xfrm>
            <a:off x="11112500" y="2857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Redundancy Principle</a:t>
            </a:r>
            <a:endParaRPr lang="en-US" sz="1600" dirty="0"/>
          </a:p>
        </p:txBody>
      </p:sp>
      <p:sp>
        <p:nvSpPr>
          <p:cNvPr id="19" name="Shape 17"/>
          <p:cNvSpPr/>
          <p:nvPr/>
        </p:nvSpPr>
        <p:spPr>
          <a:xfrm>
            <a:off x="11112500" y="3276600"/>
            <a:ext cx="508000" cy="25400"/>
          </a:xfrm>
          <a:prstGeom prst="rect">
            <a:avLst/>
          </a:prstGeom>
          <a:solidFill>
            <a:srgbClr val="B85C38"/>
          </a:solidFill>
          <a:ln/>
        </p:spPr>
      </p:sp>
      <p:sp>
        <p:nvSpPr>
          <p:cNvPr id="20" name="Text 18"/>
          <p:cNvSpPr/>
          <p:nvPr/>
        </p:nvSpPr>
        <p:spPr>
          <a:xfrm>
            <a:off x="11112500" y="3429000"/>
            <a:ext cx="4064000" cy="2095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better from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graphics + narration</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than from graphics + narration + on-screen text."</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Avoid duplicating spoken words as on-screen text.</a:t>
            </a:r>
            <a:endParaRPr lang="en-US" sz="1600" dirty="0"/>
          </a:p>
        </p:txBody>
      </p:sp>
      <p:sp>
        <p:nvSpPr>
          <p:cNvPr id="21" name="Text 19"/>
          <p:cNvSpPr/>
          <p:nvPr/>
        </p:nvSpPr>
        <p:spPr>
          <a:xfrm>
            <a:off x="762000" y="6032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Mayer, R. E. (2009). Multimedia Learning Principles.</a:t>
            </a:r>
            <a:endParaRPr lang="en-US" sz="1300" dirty="0"/>
          </a:p>
        </p:txBody>
      </p:sp>
      <p:sp>
        <p:nvSpPr>
          <p:cNvPr id="22" name="Shape 20"/>
          <p:cNvSpPr/>
          <p:nvPr/>
        </p:nvSpPr>
        <p:spPr>
          <a:xfrm>
            <a:off x="762000" y="8699500"/>
            <a:ext cx="508000" cy="38100"/>
          </a:xfrm>
          <a:prstGeom prst="rect">
            <a:avLst/>
          </a:prstGeom>
          <a:solidFill>
            <a:srgbClr val="B85C38"/>
          </a:solidFill>
          <a:ln/>
        </p:spPr>
      </p:sp>
      <p:sp>
        <p:nvSpPr>
          <p:cNvPr id="23" name="Text 21"/>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14</a:t>
            </a:r>
            <a:endParaRPr lang="en-US" sz="13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143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Reducing Extraneous Processing - Part 2</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651000"/>
            <a:ext cx="7112000" cy="2921000"/>
          </a:xfrm>
          <a:prstGeom prst="rect">
            <a:avLst/>
          </a:prstGeom>
          <a:solidFill>
            <a:srgbClr val="EDE6DE"/>
          </a:solidFill>
          <a:ln/>
        </p:spPr>
      </p:sp>
      <p:sp>
        <p:nvSpPr>
          <p:cNvPr id="6" name="Shape 4"/>
          <p:cNvSpPr/>
          <p:nvPr/>
        </p:nvSpPr>
        <p:spPr>
          <a:xfrm>
            <a:off x="1054100" y="1968500"/>
            <a:ext cx="457200" cy="406400"/>
          </a:xfrm>
          <a:custGeom>
            <a:avLst/>
            <a:gdLst/>
            <a:ahLst/>
            <a:cxnLst/>
            <a:rect l="l" t="t" r="r" b="b"/>
            <a:pathLst>
              <a:path w="457200" h="406400">
                <a:moveTo>
                  <a:pt x="373539" y="297339"/>
                </a:moveTo>
                <a:lnTo>
                  <a:pt x="449739" y="221139"/>
                </a:lnTo>
                <a:cubicBezTo>
                  <a:pt x="459661" y="211217"/>
                  <a:pt x="459661" y="195104"/>
                  <a:pt x="449739" y="185182"/>
                </a:cubicBezTo>
                <a:lnTo>
                  <a:pt x="373539" y="108982"/>
                </a:lnTo>
                <a:cubicBezTo>
                  <a:pt x="363617" y="99060"/>
                  <a:pt x="347504" y="99060"/>
                  <a:pt x="337582" y="108982"/>
                </a:cubicBezTo>
                <a:cubicBezTo>
                  <a:pt x="327660" y="118904"/>
                  <a:pt x="327660" y="135017"/>
                  <a:pt x="337582" y="144939"/>
                </a:cubicBezTo>
                <a:lnTo>
                  <a:pt x="370443" y="177800"/>
                </a:lnTo>
                <a:lnTo>
                  <a:pt x="86678" y="177800"/>
                </a:lnTo>
                <a:lnTo>
                  <a:pt x="119539" y="144939"/>
                </a:lnTo>
                <a:cubicBezTo>
                  <a:pt x="129461" y="135017"/>
                  <a:pt x="129461" y="118904"/>
                  <a:pt x="119539" y="108982"/>
                </a:cubicBezTo>
                <a:cubicBezTo>
                  <a:pt x="109617" y="99060"/>
                  <a:pt x="93504" y="99060"/>
                  <a:pt x="83582" y="108982"/>
                </a:cubicBezTo>
                <a:lnTo>
                  <a:pt x="7382" y="185182"/>
                </a:lnTo>
                <a:cubicBezTo>
                  <a:pt x="2619" y="189944"/>
                  <a:pt x="-79" y="196374"/>
                  <a:pt x="-79" y="203121"/>
                </a:cubicBezTo>
                <a:cubicBezTo>
                  <a:pt x="-79" y="209868"/>
                  <a:pt x="2619" y="216297"/>
                  <a:pt x="7382" y="221059"/>
                </a:cubicBezTo>
                <a:lnTo>
                  <a:pt x="83582" y="297259"/>
                </a:lnTo>
                <a:cubicBezTo>
                  <a:pt x="93504" y="307181"/>
                  <a:pt x="109617" y="307181"/>
                  <a:pt x="119539" y="297259"/>
                </a:cubicBezTo>
                <a:cubicBezTo>
                  <a:pt x="129461" y="287338"/>
                  <a:pt x="129461" y="271224"/>
                  <a:pt x="119539" y="261302"/>
                </a:cubicBezTo>
                <a:lnTo>
                  <a:pt x="86678" y="228441"/>
                </a:lnTo>
                <a:lnTo>
                  <a:pt x="370443" y="228441"/>
                </a:lnTo>
                <a:lnTo>
                  <a:pt x="337582" y="261302"/>
                </a:lnTo>
                <a:cubicBezTo>
                  <a:pt x="327660" y="271224"/>
                  <a:pt x="327660" y="287338"/>
                  <a:pt x="337582" y="297259"/>
                </a:cubicBezTo>
                <a:cubicBezTo>
                  <a:pt x="347504" y="307181"/>
                  <a:pt x="363617" y="307181"/>
                  <a:pt x="373539" y="297259"/>
                </a:cubicBezTo>
                <a:close/>
              </a:path>
            </a:pathLst>
          </a:custGeom>
          <a:solidFill>
            <a:srgbClr val="B85C38"/>
          </a:solidFill>
          <a:ln/>
        </p:spPr>
      </p:sp>
      <p:sp>
        <p:nvSpPr>
          <p:cNvPr id="7" name="Text 5"/>
          <p:cNvSpPr/>
          <p:nvPr/>
        </p:nvSpPr>
        <p:spPr>
          <a:xfrm>
            <a:off x="1079500" y="2540000"/>
            <a:ext cx="6477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Spatial Contiguity Principle</a:t>
            </a:r>
            <a:endParaRPr lang="en-US" sz="1600" dirty="0"/>
          </a:p>
        </p:txBody>
      </p:sp>
      <p:sp>
        <p:nvSpPr>
          <p:cNvPr id="8" name="Shape 6"/>
          <p:cNvSpPr/>
          <p:nvPr/>
        </p:nvSpPr>
        <p:spPr>
          <a:xfrm>
            <a:off x="1079500" y="2959100"/>
            <a:ext cx="508000" cy="25400"/>
          </a:xfrm>
          <a:prstGeom prst="rect">
            <a:avLst/>
          </a:prstGeom>
          <a:solidFill>
            <a:srgbClr val="B85C38"/>
          </a:solidFill>
          <a:ln/>
        </p:spPr>
      </p:sp>
      <p:sp>
        <p:nvSpPr>
          <p:cNvPr id="9" name="Text 7"/>
          <p:cNvSpPr/>
          <p:nvPr/>
        </p:nvSpPr>
        <p:spPr>
          <a:xfrm>
            <a:off x="1079500" y="3111500"/>
            <a:ext cx="6477000" cy="12700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"People learn more deeply when corresponding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words and pictures are presented near each other</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Place text labels close to relevant parts of diagrams.</a:t>
            </a:r>
            <a:endParaRPr lang="en-US" sz="1600" dirty="0"/>
          </a:p>
        </p:txBody>
      </p:sp>
      <p:sp>
        <p:nvSpPr>
          <p:cNvPr id="10" name="Shape 8"/>
          <p:cNvSpPr/>
          <p:nvPr/>
        </p:nvSpPr>
        <p:spPr>
          <a:xfrm>
            <a:off x="8382000" y="1651000"/>
            <a:ext cx="7112000" cy="2921000"/>
          </a:xfrm>
          <a:prstGeom prst="rect">
            <a:avLst/>
          </a:prstGeom>
          <a:solidFill>
            <a:srgbClr val="EDE6DE"/>
          </a:solidFill>
          <a:ln/>
        </p:spPr>
      </p:sp>
      <p:sp>
        <p:nvSpPr>
          <p:cNvPr id="11" name="Shape 9"/>
          <p:cNvSpPr/>
          <p:nvPr/>
        </p:nvSpPr>
        <p:spPr>
          <a:xfrm>
            <a:off x="8699500" y="1968500"/>
            <a:ext cx="406400" cy="406400"/>
          </a:xfrm>
          <a:custGeom>
            <a:avLst/>
            <a:gdLst/>
            <a:ahLst/>
            <a:cxnLst/>
            <a:rect l="l" t="t" r="r" b="b"/>
            <a:pathLst>
              <a:path w="406400" h="406400">
                <a:moveTo>
                  <a:pt x="203200" y="0"/>
                </a:moveTo>
                <a:cubicBezTo>
                  <a:pt x="315349" y="0"/>
                  <a:pt x="406400" y="91051"/>
                  <a:pt x="406400" y="203200"/>
                </a:cubicBezTo>
                <a:cubicBezTo>
                  <a:pt x="406400" y="315349"/>
                  <a:pt x="315349" y="406400"/>
                  <a:pt x="203200" y="406400"/>
                </a:cubicBezTo>
                <a:cubicBezTo>
                  <a:pt x="91051" y="406400"/>
                  <a:pt x="0" y="315349"/>
                  <a:pt x="0" y="203200"/>
                </a:cubicBezTo>
                <a:cubicBezTo>
                  <a:pt x="0" y="91051"/>
                  <a:pt x="91051" y="0"/>
                  <a:pt x="203200" y="0"/>
                </a:cubicBezTo>
                <a:close/>
                <a:moveTo>
                  <a:pt x="184150" y="95250"/>
                </a:moveTo>
                <a:lnTo>
                  <a:pt x="184150" y="203200"/>
                </a:lnTo>
                <a:cubicBezTo>
                  <a:pt x="184150" y="209550"/>
                  <a:pt x="187325" y="215503"/>
                  <a:pt x="192643" y="219075"/>
                </a:cubicBezTo>
                <a:lnTo>
                  <a:pt x="268843" y="269875"/>
                </a:lnTo>
                <a:cubicBezTo>
                  <a:pt x="277574" y="275749"/>
                  <a:pt x="289401" y="273368"/>
                  <a:pt x="295275" y="264557"/>
                </a:cubicBezTo>
                <a:cubicBezTo>
                  <a:pt x="301149" y="255746"/>
                  <a:pt x="298768" y="243999"/>
                  <a:pt x="289957" y="238125"/>
                </a:cubicBezTo>
                <a:lnTo>
                  <a:pt x="222250" y="193040"/>
                </a:lnTo>
                <a:lnTo>
                  <a:pt x="222250" y="95250"/>
                </a:lnTo>
                <a:cubicBezTo>
                  <a:pt x="222250" y="84693"/>
                  <a:pt x="213757" y="76200"/>
                  <a:pt x="203200" y="76200"/>
                </a:cubicBezTo>
                <a:cubicBezTo>
                  <a:pt x="192643" y="76200"/>
                  <a:pt x="184150" y="84693"/>
                  <a:pt x="184150" y="95250"/>
                </a:cubicBezTo>
                <a:close/>
              </a:path>
            </a:pathLst>
          </a:custGeom>
          <a:solidFill>
            <a:srgbClr val="B85C38"/>
          </a:solidFill>
          <a:ln/>
        </p:spPr>
      </p:sp>
      <p:sp>
        <p:nvSpPr>
          <p:cNvPr id="12" name="Text 10"/>
          <p:cNvSpPr/>
          <p:nvPr/>
        </p:nvSpPr>
        <p:spPr>
          <a:xfrm>
            <a:off x="8699500" y="2540000"/>
            <a:ext cx="6477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Temporal Contiguity Principle</a:t>
            </a:r>
            <a:endParaRPr lang="en-US" sz="1600" dirty="0"/>
          </a:p>
        </p:txBody>
      </p:sp>
      <p:sp>
        <p:nvSpPr>
          <p:cNvPr id="13" name="Shape 11"/>
          <p:cNvSpPr/>
          <p:nvPr/>
        </p:nvSpPr>
        <p:spPr>
          <a:xfrm>
            <a:off x="8699500" y="2959100"/>
            <a:ext cx="508000" cy="25400"/>
          </a:xfrm>
          <a:prstGeom prst="rect">
            <a:avLst/>
          </a:prstGeom>
          <a:solidFill>
            <a:srgbClr val="B85C38"/>
          </a:solidFill>
          <a:ln/>
        </p:spPr>
      </p:sp>
      <p:sp>
        <p:nvSpPr>
          <p:cNvPr id="14" name="Text 12"/>
          <p:cNvSpPr/>
          <p:nvPr/>
        </p:nvSpPr>
        <p:spPr>
          <a:xfrm>
            <a:off x="8699500" y="3111500"/>
            <a:ext cx="6477000" cy="12700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"People learn more deeply when words and pictures are presented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simultaneously</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Present narration at the same time as corresponding animation.</a:t>
            </a:r>
            <a:endParaRPr lang="en-US" sz="1600" dirty="0"/>
          </a:p>
        </p:txBody>
      </p:sp>
      <p:sp>
        <p:nvSpPr>
          <p:cNvPr id="15" name="Shape 13"/>
          <p:cNvSpPr/>
          <p:nvPr/>
        </p:nvSpPr>
        <p:spPr>
          <a:xfrm>
            <a:off x="762000" y="4953000"/>
            <a:ext cx="14732000" cy="1651000"/>
          </a:xfrm>
          <a:prstGeom prst="rect">
            <a:avLst/>
          </a:prstGeom>
          <a:solidFill>
            <a:srgbClr val="2D2926"/>
          </a:solidFill>
          <a:ln/>
        </p:spPr>
      </p:sp>
      <p:sp>
        <p:nvSpPr>
          <p:cNvPr id="16" name="Shape 14"/>
          <p:cNvSpPr/>
          <p:nvPr/>
        </p:nvSpPr>
        <p:spPr>
          <a:xfrm>
            <a:off x="1079500" y="5270500"/>
            <a:ext cx="355600" cy="355600"/>
          </a:xfrm>
          <a:custGeom>
            <a:avLst/>
            <a:gdLst/>
            <a:ahLst/>
            <a:cxnLst/>
            <a:rect l="l" t="t" r="r" b="b"/>
            <a:pathLst>
              <a:path w="355600" h="355600">
                <a:moveTo>
                  <a:pt x="103555" y="45006"/>
                </a:moveTo>
                <a:lnTo>
                  <a:pt x="96331" y="66675"/>
                </a:lnTo>
                <a:lnTo>
                  <a:pt x="44450" y="66675"/>
                </a:lnTo>
                <a:cubicBezTo>
                  <a:pt x="19933" y="66675"/>
                  <a:pt x="0" y="86608"/>
                  <a:pt x="0" y="111125"/>
                </a:cubicBezTo>
                <a:lnTo>
                  <a:pt x="0" y="288925"/>
                </a:lnTo>
                <a:cubicBezTo>
                  <a:pt x="0" y="313442"/>
                  <a:pt x="19933" y="333375"/>
                  <a:pt x="44450" y="333375"/>
                </a:cubicBezTo>
                <a:lnTo>
                  <a:pt x="311150" y="333375"/>
                </a:lnTo>
                <a:cubicBezTo>
                  <a:pt x="335667" y="333375"/>
                  <a:pt x="355600" y="313442"/>
                  <a:pt x="355600" y="288925"/>
                </a:cubicBezTo>
                <a:lnTo>
                  <a:pt x="355600" y="111125"/>
                </a:lnTo>
                <a:cubicBezTo>
                  <a:pt x="355600" y="86608"/>
                  <a:pt x="335667" y="66675"/>
                  <a:pt x="311150" y="66675"/>
                </a:cubicBezTo>
                <a:lnTo>
                  <a:pt x="259269" y="66675"/>
                </a:lnTo>
                <a:lnTo>
                  <a:pt x="252045" y="45006"/>
                </a:lnTo>
                <a:cubicBezTo>
                  <a:pt x="247531" y="31393"/>
                  <a:pt x="234821" y="22225"/>
                  <a:pt x="220444" y="22225"/>
                </a:cubicBezTo>
                <a:lnTo>
                  <a:pt x="135156" y="22225"/>
                </a:lnTo>
                <a:cubicBezTo>
                  <a:pt x="120779" y="22225"/>
                  <a:pt x="108069" y="31393"/>
                  <a:pt x="103555" y="45006"/>
                </a:cubicBezTo>
                <a:close/>
                <a:moveTo>
                  <a:pt x="177800" y="133350"/>
                </a:moveTo>
                <a:cubicBezTo>
                  <a:pt x="214599" y="133350"/>
                  <a:pt x="244475" y="163226"/>
                  <a:pt x="244475" y="200025"/>
                </a:cubicBezTo>
                <a:cubicBezTo>
                  <a:pt x="244475" y="236824"/>
                  <a:pt x="214599" y="266700"/>
                  <a:pt x="177800" y="266700"/>
                </a:cubicBezTo>
                <a:cubicBezTo>
                  <a:pt x="141001" y="266700"/>
                  <a:pt x="111125" y="236824"/>
                  <a:pt x="111125" y="200025"/>
                </a:cubicBezTo>
                <a:cubicBezTo>
                  <a:pt x="111125" y="163226"/>
                  <a:pt x="141001" y="133350"/>
                  <a:pt x="177800" y="133350"/>
                </a:cubicBezTo>
                <a:close/>
              </a:path>
            </a:pathLst>
          </a:custGeom>
          <a:solidFill>
            <a:srgbClr val="B85C38"/>
          </a:solidFill>
          <a:ln/>
        </p:spPr>
      </p:sp>
      <p:sp>
        <p:nvSpPr>
          <p:cNvPr id="17" name="Text 15"/>
          <p:cNvSpPr/>
          <p:nvPr/>
        </p:nvSpPr>
        <p:spPr>
          <a:xfrm>
            <a:off x="1587500" y="5143500"/>
            <a:ext cx="38100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The Image Principle</a:t>
            </a:r>
            <a:endParaRPr lang="en-US" sz="1600" dirty="0"/>
          </a:p>
        </p:txBody>
      </p:sp>
      <p:sp>
        <p:nvSpPr>
          <p:cNvPr id="18" name="Text 16"/>
          <p:cNvSpPr/>
          <p:nvPr/>
        </p:nvSpPr>
        <p:spPr>
          <a:xfrm>
            <a:off x="1587500" y="5588000"/>
            <a:ext cx="13589000" cy="825500"/>
          </a:xfrm>
          <a:prstGeom prst="rect">
            <a:avLst/>
          </a:prstGeom>
          <a:noFill/>
          <a:ln/>
        </p:spPr>
        <p:txBody>
          <a:bodyPr wrap="square" lIns="0" tIns="0" rIns="0" bIns="0" rtlCol="0" anchor="t"/>
          <a:lstStyle/>
          <a:p>
            <a:pPr>
              <a:lnSpc>
                <a:spcPct val="15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"People do not necessarily learn more deeply when the speaker's image is visible on screen." The teacher's face isn't always integral to learning the material and adds cognitive load that must be weighed against affective benefits.</a:t>
            </a:r>
            <a:endParaRPr lang="en-US" sz="1600" dirty="0"/>
          </a:p>
        </p:txBody>
      </p:sp>
      <p:sp>
        <p:nvSpPr>
          <p:cNvPr id="19" name="Text 17"/>
          <p:cNvSpPr/>
          <p:nvPr/>
        </p:nvSpPr>
        <p:spPr>
          <a:xfrm>
            <a:off x="762000" y="6921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Mayer, R. E. (2009). Multimedia Learning Principles.</a:t>
            </a:r>
            <a:endParaRPr lang="en-US" sz="1300" dirty="0"/>
          </a:p>
        </p:txBody>
      </p:sp>
      <p:sp>
        <p:nvSpPr>
          <p:cNvPr id="20" name="Shape 18"/>
          <p:cNvSpPr/>
          <p:nvPr/>
        </p:nvSpPr>
        <p:spPr>
          <a:xfrm>
            <a:off x="762000" y="8699500"/>
            <a:ext cx="508000" cy="38100"/>
          </a:xfrm>
          <a:prstGeom prst="rect">
            <a:avLst/>
          </a:prstGeom>
          <a:solidFill>
            <a:srgbClr val="B85C38"/>
          </a:solidFill>
          <a:ln/>
        </p:spPr>
      </p:sp>
      <p:sp>
        <p:nvSpPr>
          <p:cNvPr id="21" name="Text 19"/>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15</a:t>
            </a:r>
            <a:endParaRPr lang="en-US" sz="13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143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Managing Essential Processing</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6731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GOAL: MANAGE THE COGNITIVE LOAD OF ESSENTIAL MATERIAL</a:t>
            </a:r>
            <a:endParaRPr lang="en-US" sz="1600" dirty="0"/>
          </a:p>
        </p:txBody>
      </p:sp>
      <p:sp>
        <p:nvSpPr>
          <p:cNvPr id="6" name="Shape 4"/>
          <p:cNvSpPr/>
          <p:nvPr/>
        </p:nvSpPr>
        <p:spPr>
          <a:xfrm>
            <a:off x="762000" y="2032000"/>
            <a:ext cx="4699000" cy="3937000"/>
          </a:xfrm>
          <a:prstGeom prst="rect">
            <a:avLst/>
          </a:prstGeom>
          <a:solidFill>
            <a:srgbClr val="EDE6DE"/>
          </a:solidFill>
          <a:ln/>
        </p:spPr>
      </p:sp>
      <p:sp>
        <p:nvSpPr>
          <p:cNvPr id="7" name="Shape 5"/>
          <p:cNvSpPr/>
          <p:nvPr/>
        </p:nvSpPr>
        <p:spPr>
          <a:xfrm>
            <a:off x="1079500" y="2349500"/>
            <a:ext cx="457200" cy="457200"/>
          </a:xfrm>
          <a:custGeom>
            <a:avLst/>
            <a:gdLst/>
            <a:ahLst/>
            <a:cxnLst/>
            <a:rect l="l" t="t" r="r" b="b"/>
            <a:pathLst>
              <a:path w="457200" h="457200">
                <a:moveTo>
                  <a:pt x="200025" y="0"/>
                </a:moveTo>
                <a:cubicBezTo>
                  <a:pt x="231547" y="0"/>
                  <a:pt x="257175" y="19199"/>
                  <a:pt x="257175" y="42863"/>
                </a:cubicBezTo>
                <a:cubicBezTo>
                  <a:pt x="257175" y="52149"/>
                  <a:pt x="253246" y="60722"/>
                  <a:pt x="246459" y="67776"/>
                </a:cubicBezTo>
                <a:cubicBezTo>
                  <a:pt x="240566" y="73938"/>
                  <a:pt x="235744" y="81439"/>
                  <a:pt x="235744" y="90011"/>
                </a:cubicBezTo>
                <a:cubicBezTo>
                  <a:pt x="235744" y="103406"/>
                  <a:pt x="246638" y="114300"/>
                  <a:pt x="260033" y="114300"/>
                </a:cubicBezTo>
                <a:lnTo>
                  <a:pt x="300038" y="114300"/>
                </a:lnTo>
                <a:cubicBezTo>
                  <a:pt x="323701" y="114300"/>
                  <a:pt x="342900" y="133499"/>
                  <a:pt x="342900" y="157163"/>
                </a:cubicBezTo>
                <a:lnTo>
                  <a:pt x="342900" y="197168"/>
                </a:lnTo>
                <a:cubicBezTo>
                  <a:pt x="342900" y="210562"/>
                  <a:pt x="353794" y="221456"/>
                  <a:pt x="367189" y="221456"/>
                </a:cubicBezTo>
                <a:cubicBezTo>
                  <a:pt x="375672" y="221456"/>
                  <a:pt x="383262" y="216634"/>
                  <a:pt x="389424" y="210741"/>
                </a:cubicBezTo>
                <a:cubicBezTo>
                  <a:pt x="396478" y="204043"/>
                  <a:pt x="405051" y="200025"/>
                  <a:pt x="414337" y="200025"/>
                </a:cubicBezTo>
                <a:cubicBezTo>
                  <a:pt x="438001" y="200025"/>
                  <a:pt x="457200" y="225653"/>
                  <a:pt x="457200" y="257175"/>
                </a:cubicBezTo>
                <a:cubicBezTo>
                  <a:pt x="457200" y="288697"/>
                  <a:pt x="438001" y="314325"/>
                  <a:pt x="414337" y="314325"/>
                </a:cubicBezTo>
                <a:cubicBezTo>
                  <a:pt x="405051" y="314325"/>
                  <a:pt x="396389" y="310396"/>
                  <a:pt x="389424" y="303609"/>
                </a:cubicBezTo>
                <a:cubicBezTo>
                  <a:pt x="383262" y="297716"/>
                  <a:pt x="375761" y="292894"/>
                  <a:pt x="367189" y="292894"/>
                </a:cubicBezTo>
                <a:cubicBezTo>
                  <a:pt x="353794" y="292894"/>
                  <a:pt x="342900" y="303788"/>
                  <a:pt x="342900" y="317183"/>
                </a:cubicBezTo>
                <a:lnTo>
                  <a:pt x="342900" y="414338"/>
                </a:lnTo>
                <a:cubicBezTo>
                  <a:pt x="342900" y="438001"/>
                  <a:pt x="323701" y="457200"/>
                  <a:pt x="300038" y="457200"/>
                </a:cubicBezTo>
                <a:lnTo>
                  <a:pt x="249317" y="457200"/>
                </a:lnTo>
                <a:cubicBezTo>
                  <a:pt x="237887" y="457200"/>
                  <a:pt x="228600" y="447913"/>
                  <a:pt x="228600" y="436483"/>
                </a:cubicBezTo>
                <a:cubicBezTo>
                  <a:pt x="228600" y="428268"/>
                  <a:pt x="233779" y="421035"/>
                  <a:pt x="240387" y="416123"/>
                </a:cubicBezTo>
                <a:cubicBezTo>
                  <a:pt x="250746" y="408355"/>
                  <a:pt x="257175" y="397639"/>
                  <a:pt x="257175" y="385763"/>
                </a:cubicBezTo>
                <a:cubicBezTo>
                  <a:pt x="257175" y="362099"/>
                  <a:pt x="231547" y="342900"/>
                  <a:pt x="200025" y="342900"/>
                </a:cubicBezTo>
                <a:cubicBezTo>
                  <a:pt x="168503" y="342900"/>
                  <a:pt x="142875" y="362099"/>
                  <a:pt x="142875" y="385763"/>
                </a:cubicBezTo>
                <a:cubicBezTo>
                  <a:pt x="142875" y="397639"/>
                  <a:pt x="149304" y="408355"/>
                  <a:pt x="159663" y="416123"/>
                </a:cubicBezTo>
                <a:cubicBezTo>
                  <a:pt x="166271" y="421035"/>
                  <a:pt x="171450" y="428179"/>
                  <a:pt x="171450" y="436483"/>
                </a:cubicBezTo>
                <a:cubicBezTo>
                  <a:pt x="171450" y="447913"/>
                  <a:pt x="162163" y="457200"/>
                  <a:pt x="150733" y="457200"/>
                </a:cubicBezTo>
                <a:lnTo>
                  <a:pt x="42863" y="457200"/>
                </a:lnTo>
                <a:cubicBezTo>
                  <a:pt x="19199" y="457200"/>
                  <a:pt x="0" y="438001"/>
                  <a:pt x="0" y="414338"/>
                </a:cubicBezTo>
                <a:lnTo>
                  <a:pt x="0" y="306467"/>
                </a:lnTo>
                <a:cubicBezTo>
                  <a:pt x="0" y="295037"/>
                  <a:pt x="9287" y="285750"/>
                  <a:pt x="20717" y="285750"/>
                </a:cubicBezTo>
                <a:cubicBezTo>
                  <a:pt x="28932" y="285750"/>
                  <a:pt x="36165" y="290929"/>
                  <a:pt x="41077" y="297537"/>
                </a:cubicBezTo>
                <a:cubicBezTo>
                  <a:pt x="48845" y="307896"/>
                  <a:pt x="59561" y="314325"/>
                  <a:pt x="71438" y="314325"/>
                </a:cubicBezTo>
                <a:cubicBezTo>
                  <a:pt x="95101" y="314325"/>
                  <a:pt x="114300" y="288697"/>
                  <a:pt x="114300" y="257175"/>
                </a:cubicBezTo>
                <a:cubicBezTo>
                  <a:pt x="114300" y="225653"/>
                  <a:pt x="95101" y="200025"/>
                  <a:pt x="71438" y="200025"/>
                </a:cubicBezTo>
                <a:cubicBezTo>
                  <a:pt x="59561" y="200025"/>
                  <a:pt x="48845" y="206454"/>
                  <a:pt x="41077" y="216813"/>
                </a:cubicBezTo>
                <a:cubicBezTo>
                  <a:pt x="36165" y="223421"/>
                  <a:pt x="29021" y="228600"/>
                  <a:pt x="20717" y="228600"/>
                </a:cubicBezTo>
                <a:cubicBezTo>
                  <a:pt x="9287" y="228600"/>
                  <a:pt x="0" y="219313"/>
                  <a:pt x="0" y="207883"/>
                </a:cubicBezTo>
                <a:lnTo>
                  <a:pt x="0" y="157163"/>
                </a:lnTo>
                <a:cubicBezTo>
                  <a:pt x="0" y="133499"/>
                  <a:pt x="19199" y="114300"/>
                  <a:pt x="42863" y="114300"/>
                </a:cubicBezTo>
                <a:lnTo>
                  <a:pt x="140018" y="114300"/>
                </a:lnTo>
                <a:cubicBezTo>
                  <a:pt x="153412" y="114300"/>
                  <a:pt x="164306" y="103406"/>
                  <a:pt x="164306" y="90011"/>
                </a:cubicBezTo>
                <a:cubicBezTo>
                  <a:pt x="164306" y="81528"/>
                  <a:pt x="159484" y="73938"/>
                  <a:pt x="153591" y="67776"/>
                </a:cubicBezTo>
                <a:cubicBezTo>
                  <a:pt x="146893" y="60722"/>
                  <a:pt x="142875" y="52149"/>
                  <a:pt x="142875" y="42863"/>
                </a:cubicBezTo>
                <a:cubicBezTo>
                  <a:pt x="142875" y="19199"/>
                  <a:pt x="168503" y="0"/>
                  <a:pt x="200025" y="0"/>
                </a:cubicBezTo>
                <a:close/>
              </a:path>
            </a:pathLst>
          </a:custGeom>
          <a:solidFill>
            <a:srgbClr val="B85C38"/>
          </a:solidFill>
          <a:ln/>
        </p:spPr>
      </p:sp>
      <p:sp>
        <p:nvSpPr>
          <p:cNvPr id="8" name="Text 6"/>
          <p:cNvSpPr/>
          <p:nvPr/>
        </p:nvSpPr>
        <p:spPr>
          <a:xfrm>
            <a:off x="1079500" y="2984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Segmenting Principle</a:t>
            </a:r>
            <a:endParaRPr lang="en-US" sz="1600" dirty="0"/>
          </a:p>
        </p:txBody>
      </p:sp>
      <p:sp>
        <p:nvSpPr>
          <p:cNvPr id="9" name="Shape 7"/>
          <p:cNvSpPr/>
          <p:nvPr/>
        </p:nvSpPr>
        <p:spPr>
          <a:xfrm>
            <a:off x="1079500" y="3403600"/>
            <a:ext cx="508000" cy="25400"/>
          </a:xfrm>
          <a:prstGeom prst="rect">
            <a:avLst/>
          </a:prstGeom>
          <a:solidFill>
            <a:srgbClr val="B85C38"/>
          </a:solidFill>
          <a:ln/>
        </p:spPr>
      </p:sp>
      <p:sp>
        <p:nvSpPr>
          <p:cNvPr id="10" name="Text 8"/>
          <p:cNvSpPr/>
          <p:nvPr/>
        </p:nvSpPr>
        <p:spPr>
          <a:xfrm>
            <a:off x="1079500" y="3556000"/>
            <a:ext cx="4064000" cy="2222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more deeply when content is presented in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learner-paced segments</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Break lessons into manageable chunks that learners control, defined by content complexity and learner level.</a:t>
            </a:r>
            <a:endParaRPr lang="en-US" sz="1600" dirty="0"/>
          </a:p>
        </p:txBody>
      </p:sp>
      <p:sp>
        <p:nvSpPr>
          <p:cNvPr id="11" name="Shape 9"/>
          <p:cNvSpPr/>
          <p:nvPr/>
        </p:nvSpPr>
        <p:spPr>
          <a:xfrm>
            <a:off x="5778500" y="2032000"/>
            <a:ext cx="4699000" cy="3937000"/>
          </a:xfrm>
          <a:prstGeom prst="rect">
            <a:avLst/>
          </a:prstGeom>
          <a:solidFill>
            <a:srgbClr val="EDE6DE"/>
          </a:solidFill>
          <a:ln/>
        </p:spPr>
      </p:sp>
      <p:sp>
        <p:nvSpPr>
          <p:cNvPr id="12" name="Shape 10"/>
          <p:cNvSpPr/>
          <p:nvPr/>
        </p:nvSpPr>
        <p:spPr>
          <a:xfrm>
            <a:off x="6067425" y="2349500"/>
            <a:ext cx="514350" cy="457200"/>
          </a:xfrm>
          <a:custGeom>
            <a:avLst/>
            <a:gdLst/>
            <a:ahLst/>
            <a:cxnLst/>
            <a:rect l="l" t="t" r="r" b="b"/>
            <a:pathLst>
              <a:path w="514350" h="457200">
                <a:moveTo>
                  <a:pt x="42863" y="174843"/>
                </a:moveTo>
                <a:lnTo>
                  <a:pt x="229672" y="251728"/>
                </a:lnTo>
                <a:cubicBezTo>
                  <a:pt x="238423" y="255300"/>
                  <a:pt x="247710" y="257175"/>
                  <a:pt x="257175" y="257175"/>
                </a:cubicBezTo>
                <a:cubicBezTo>
                  <a:pt x="266640" y="257175"/>
                  <a:pt x="275927" y="255300"/>
                  <a:pt x="284678" y="251728"/>
                </a:cubicBezTo>
                <a:lnTo>
                  <a:pt x="501134" y="162610"/>
                </a:lnTo>
                <a:cubicBezTo>
                  <a:pt x="509171" y="159306"/>
                  <a:pt x="514350" y="151537"/>
                  <a:pt x="514350" y="142875"/>
                </a:cubicBezTo>
                <a:cubicBezTo>
                  <a:pt x="514350" y="134213"/>
                  <a:pt x="509171" y="126444"/>
                  <a:pt x="501134" y="123140"/>
                </a:cubicBezTo>
                <a:lnTo>
                  <a:pt x="284678" y="34022"/>
                </a:lnTo>
                <a:cubicBezTo>
                  <a:pt x="275927" y="30450"/>
                  <a:pt x="266640" y="28575"/>
                  <a:pt x="257175" y="28575"/>
                </a:cubicBezTo>
                <a:cubicBezTo>
                  <a:pt x="247710" y="28575"/>
                  <a:pt x="238423" y="30450"/>
                  <a:pt x="229672" y="34022"/>
                </a:cubicBezTo>
                <a:lnTo>
                  <a:pt x="13216" y="123140"/>
                </a:lnTo>
                <a:cubicBezTo>
                  <a:pt x="5179" y="126444"/>
                  <a:pt x="0" y="134213"/>
                  <a:pt x="0" y="142875"/>
                </a:cubicBezTo>
                <a:lnTo>
                  <a:pt x="0" y="407194"/>
                </a:lnTo>
                <a:cubicBezTo>
                  <a:pt x="0" y="419070"/>
                  <a:pt x="9555" y="428625"/>
                  <a:pt x="21431" y="428625"/>
                </a:cubicBezTo>
                <a:cubicBezTo>
                  <a:pt x="33308" y="428625"/>
                  <a:pt x="42863" y="419070"/>
                  <a:pt x="42863" y="407194"/>
                </a:cubicBezTo>
                <a:lnTo>
                  <a:pt x="42863" y="174843"/>
                </a:lnTo>
                <a:close/>
                <a:moveTo>
                  <a:pt x="85725" y="238869"/>
                </a:moveTo>
                <a:lnTo>
                  <a:pt x="85725" y="342900"/>
                </a:lnTo>
                <a:cubicBezTo>
                  <a:pt x="85725" y="390227"/>
                  <a:pt x="162520" y="428625"/>
                  <a:pt x="257175" y="428625"/>
                </a:cubicBezTo>
                <a:cubicBezTo>
                  <a:pt x="351830" y="428625"/>
                  <a:pt x="428625" y="390227"/>
                  <a:pt x="428625" y="342900"/>
                </a:cubicBezTo>
                <a:lnTo>
                  <a:pt x="428625" y="238780"/>
                </a:lnTo>
                <a:lnTo>
                  <a:pt x="301020" y="291376"/>
                </a:lnTo>
                <a:cubicBezTo>
                  <a:pt x="287089" y="297091"/>
                  <a:pt x="272266" y="300037"/>
                  <a:pt x="257175" y="300037"/>
                </a:cubicBezTo>
                <a:cubicBezTo>
                  <a:pt x="242084" y="300037"/>
                  <a:pt x="227261" y="297091"/>
                  <a:pt x="213330" y="291376"/>
                </a:cubicBezTo>
                <a:lnTo>
                  <a:pt x="85725" y="238780"/>
                </a:lnTo>
                <a:close/>
              </a:path>
            </a:pathLst>
          </a:custGeom>
          <a:solidFill>
            <a:srgbClr val="B85C38"/>
          </a:solidFill>
          <a:ln/>
        </p:spPr>
      </p:sp>
      <p:sp>
        <p:nvSpPr>
          <p:cNvPr id="13" name="Text 11"/>
          <p:cNvSpPr/>
          <p:nvPr/>
        </p:nvSpPr>
        <p:spPr>
          <a:xfrm>
            <a:off x="6096000" y="2984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Pre-training Principle</a:t>
            </a:r>
            <a:endParaRPr lang="en-US" sz="1600" dirty="0"/>
          </a:p>
        </p:txBody>
      </p:sp>
      <p:sp>
        <p:nvSpPr>
          <p:cNvPr id="14" name="Shape 12"/>
          <p:cNvSpPr/>
          <p:nvPr/>
        </p:nvSpPr>
        <p:spPr>
          <a:xfrm>
            <a:off x="6096000" y="3403600"/>
            <a:ext cx="508000" cy="25400"/>
          </a:xfrm>
          <a:prstGeom prst="rect">
            <a:avLst/>
          </a:prstGeom>
          <a:solidFill>
            <a:srgbClr val="B85C38"/>
          </a:solidFill>
          <a:ln/>
        </p:spPr>
      </p:sp>
      <p:sp>
        <p:nvSpPr>
          <p:cNvPr id="15" name="Text 13"/>
          <p:cNvSpPr/>
          <p:nvPr/>
        </p:nvSpPr>
        <p:spPr>
          <a:xfrm>
            <a:off x="6096000" y="3556000"/>
            <a:ext cx="4064000" cy="2222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more deeply when they know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names and characteristics of main concepts</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first."</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Provide definitions and key characteristics before the main lesson to free up cognitive capacity.</a:t>
            </a:r>
            <a:endParaRPr lang="en-US" sz="1600" dirty="0"/>
          </a:p>
        </p:txBody>
      </p:sp>
      <p:sp>
        <p:nvSpPr>
          <p:cNvPr id="16" name="Shape 14"/>
          <p:cNvSpPr/>
          <p:nvPr/>
        </p:nvSpPr>
        <p:spPr>
          <a:xfrm>
            <a:off x="10795000" y="2032000"/>
            <a:ext cx="4699000" cy="3937000"/>
          </a:xfrm>
          <a:prstGeom prst="rect">
            <a:avLst/>
          </a:prstGeom>
          <a:solidFill>
            <a:srgbClr val="EDE6DE"/>
          </a:solidFill>
          <a:ln/>
        </p:spPr>
      </p:sp>
      <p:sp>
        <p:nvSpPr>
          <p:cNvPr id="17" name="Shape 15"/>
          <p:cNvSpPr/>
          <p:nvPr/>
        </p:nvSpPr>
        <p:spPr>
          <a:xfrm>
            <a:off x="11169650" y="2349500"/>
            <a:ext cx="342900" cy="457200"/>
          </a:xfrm>
          <a:custGeom>
            <a:avLst/>
            <a:gdLst/>
            <a:ahLst/>
            <a:cxnLst/>
            <a:rect l="l" t="t" r="r" b="b"/>
            <a:pathLst>
              <a:path w="342900" h="457200">
                <a:moveTo>
                  <a:pt x="171450" y="0"/>
                </a:moveTo>
                <a:cubicBezTo>
                  <a:pt x="124123" y="0"/>
                  <a:pt x="85725" y="38398"/>
                  <a:pt x="85725" y="85725"/>
                </a:cubicBezTo>
                <a:lnTo>
                  <a:pt x="85725" y="200025"/>
                </a:lnTo>
                <a:cubicBezTo>
                  <a:pt x="85725" y="247352"/>
                  <a:pt x="124123" y="285750"/>
                  <a:pt x="171450" y="285750"/>
                </a:cubicBezTo>
                <a:cubicBezTo>
                  <a:pt x="218777" y="285750"/>
                  <a:pt x="257175" y="247352"/>
                  <a:pt x="257175" y="200025"/>
                </a:cubicBezTo>
                <a:lnTo>
                  <a:pt x="257175" y="85725"/>
                </a:lnTo>
                <a:cubicBezTo>
                  <a:pt x="257175" y="38398"/>
                  <a:pt x="218777" y="0"/>
                  <a:pt x="171450" y="0"/>
                </a:cubicBezTo>
                <a:close/>
                <a:moveTo>
                  <a:pt x="42863" y="164306"/>
                </a:moveTo>
                <a:cubicBezTo>
                  <a:pt x="42863" y="152430"/>
                  <a:pt x="33308" y="142875"/>
                  <a:pt x="21431" y="142875"/>
                </a:cubicBezTo>
                <a:cubicBezTo>
                  <a:pt x="9555" y="142875"/>
                  <a:pt x="0" y="152430"/>
                  <a:pt x="0" y="164306"/>
                </a:cubicBezTo>
                <a:lnTo>
                  <a:pt x="0" y="200025"/>
                </a:lnTo>
                <a:cubicBezTo>
                  <a:pt x="0" y="287447"/>
                  <a:pt x="65455" y="359599"/>
                  <a:pt x="150019" y="370136"/>
                </a:cubicBezTo>
                <a:lnTo>
                  <a:pt x="150019" y="414338"/>
                </a:lnTo>
                <a:lnTo>
                  <a:pt x="107156" y="414338"/>
                </a:lnTo>
                <a:cubicBezTo>
                  <a:pt x="95280" y="414338"/>
                  <a:pt x="85725" y="423892"/>
                  <a:pt x="85725" y="435769"/>
                </a:cubicBezTo>
                <a:cubicBezTo>
                  <a:pt x="85725" y="447645"/>
                  <a:pt x="95280" y="457200"/>
                  <a:pt x="107156" y="457200"/>
                </a:cubicBezTo>
                <a:lnTo>
                  <a:pt x="235744" y="457200"/>
                </a:lnTo>
                <a:cubicBezTo>
                  <a:pt x="247620" y="457200"/>
                  <a:pt x="257175" y="447645"/>
                  <a:pt x="257175" y="435769"/>
                </a:cubicBezTo>
                <a:cubicBezTo>
                  <a:pt x="257175" y="423892"/>
                  <a:pt x="247620" y="414338"/>
                  <a:pt x="235744" y="414338"/>
                </a:cubicBezTo>
                <a:lnTo>
                  <a:pt x="192881" y="414338"/>
                </a:lnTo>
                <a:lnTo>
                  <a:pt x="192881" y="370136"/>
                </a:lnTo>
                <a:cubicBezTo>
                  <a:pt x="277445" y="359599"/>
                  <a:pt x="342900" y="287447"/>
                  <a:pt x="342900" y="200025"/>
                </a:cubicBezTo>
                <a:lnTo>
                  <a:pt x="342900" y="164306"/>
                </a:lnTo>
                <a:cubicBezTo>
                  <a:pt x="342900" y="152430"/>
                  <a:pt x="333345" y="142875"/>
                  <a:pt x="321469" y="142875"/>
                </a:cubicBezTo>
                <a:cubicBezTo>
                  <a:pt x="309592" y="142875"/>
                  <a:pt x="300038" y="152430"/>
                  <a:pt x="300038" y="164306"/>
                </a:cubicBezTo>
                <a:lnTo>
                  <a:pt x="300038" y="200025"/>
                </a:lnTo>
                <a:cubicBezTo>
                  <a:pt x="300038" y="271016"/>
                  <a:pt x="242441" y="328613"/>
                  <a:pt x="171450" y="328613"/>
                </a:cubicBezTo>
                <a:cubicBezTo>
                  <a:pt x="100459" y="328613"/>
                  <a:pt x="42863" y="271016"/>
                  <a:pt x="42863" y="200025"/>
                </a:cubicBezTo>
                <a:lnTo>
                  <a:pt x="42863" y="164306"/>
                </a:lnTo>
                <a:close/>
              </a:path>
            </a:pathLst>
          </a:custGeom>
          <a:solidFill>
            <a:srgbClr val="B85C38"/>
          </a:solidFill>
          <a:ln/>
        </p:spPr>
      </p:sp>
      <p:sp>
        <p:nvSpPr>
          <p:cNvPr id="18" name="Text 16"/>
          <p:cNvSpPr/>
          <p:nvPr/>
        </p:nvSpPr>
        <p:spPr>
          <a:xfrm>
            <a:off x="11112500" y="2984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Modality Principle</a:t>
            </a:r>
            <a:endParaRPr lang="en-US" sz="1600" dirty="0"/>
          </a:p>
        </p:txBody>
      </p:sp>
      <p:sp>
        <p:nvSpPr>
          <p:cNvPr id="19" name="Shape 17"/>
          <p:cNvSpPr/>
          <p:nvPr/>
        </p:nvSpPr>
        <p:spPr>
          <a:xfrm>
            <a:off x="11112500" y="3403600"/>
            <a:ext cx="508000" cy="25400"/>
          </a:xfrm>
          <a:prstGeom prst="rect">
            <a:avLst/>
          </a:prstGeom>
          <a:solidFill>
            <a:srgbClr val="B85C38"/>
          </a:solidFill>
          <a:ln/>
        </p:spPr>
      </p:sp>
      <p:sp>
        <p:nvSpPr>
          <p:cNvPr id="20" name="Text 18"/>
          <p:cNvSpPr/>
          <p:nvPr/>
        </p:nvSpPr>
        <p:spPr>
          <a:xfrm>
            <a:off x="11112500" y="3556000"/>
            <a:ext cx="4064000" cy="2222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more deeply when words are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spoken rather than printed</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Use narration with visuals so the visual channel processes images while the verbal channel processes spoken words.</a:t>
            </a:r>
            <a:endParaRPr lang="en-US" sz="1600" dirty="0"/>
          </a:p>
        </p:txBody>
      </p:sp>
      <p:sp>
        <p:nvSpPr>
          <p:cNvPr id="21" name="Text 19"/>
          <p:cNvSpPr/>
          <p:nvPr/>
        </p:nvSpPr>
        <p:spPr>
          <a:xfrm>
            <a:off x="762000" y="6286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Harvard Center for Health Decision Science, 2023</a:t>
            </a:r>
            <a:endParaRPr lang="en-US" sz="1300" dirty="0"/>
          </a:p>
        </p:txBody>
      </p:sp>
      <p:sp>
        <p:nvSpPr>
          <p:cNvPr id="22" name="Shape 20"/>
          <p:cNvSpPr/>
          <p:nvPr/>
        </p:nvSpPr>
        <p:spPr>
          <a:xfrm>
            <a:off x="762000" y="8699500"/>
            <a:ext cx="508000" cy="38100"/>
          </a:xfrm>
          <a:prstGeom prst="rect">
            <a:avLst/>
          </a:prstGeom>
          <a:solidFill>
            <a:srgbClr val="B85C38"/>
          </a:solidFill>
          <a:ln/>
        </p:spPr>
      </p:sp>
      <p:sp>
        <p:nvSpPr>
          <p:cNvPr id="23" name="Text 21"/>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16</a:t>
            </a:r>
            <a:endParaRPr lang="en-US" sz="13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143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Fostering Generative Processing</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7620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GOAL: USE SOCIAL CUES TO MOTIVATE DEEPER COGNITIVE ENGAGEMENT</a:t>
            </a:r>
            <a:endParaRPr lang="en-US" sz="1600" dirty="0"/>
          </a:p>
        </p:txBody>
      </p:sp>
      <p:sp>
        <p:nvSpPr>
          <p:cNvPr id="6" name="Shape 4"/>
          <p:cNvSpPr/>
          <p:nvPr/>
        </p:nvSpPr>
        <p:spPr>
          <a:xfrm>
            <a:off x="762000" y="2032000"/>
            <a:ext cx="4699000" cy="3810000"/>
          </a:xfrm>
          <a:prstGeom prst="rect">
            <a:avLst/>
          </a:prstGeom>
          <a:solidFill>
            <a:srgbClr val="EDE6DE"/>
          </a:solidFill>
          <a:ln/>
        </p:spPr>
      </p:sp>
      <p:sp>
        <p:nvSpPr>
          <p:cNvPr id="7" name="Shape 5"/>
          <p:cNvSpPr/>
          <p:nvPr/>
        </p:nvSpPr>
        <p:spPr>
          <a:xfrm>
            <a:off x="1050925" y="2349500"/>
            <a:ext cx="514350" cy="457200"/>
          </a:xfrm>
          <a:custGeom>
            <a:avLst/>
            <a:gdLst/>
            <a:ahLst/>
            <a:cxnLst/>
            <a:rect l="l" t="t" r="r" b="b"/>
            <a:pathLst>
              <a:path w="514350" h="457200">
                <a:moveTo>
                  <a:pt x="342900" y="128588"/>
                </a:moveTo>
                <a:cubicBezTo>
                  <a:pt x="342900" y="215384"/>
                  <a:pt x="266105" y="285750"/>
                  <a:pt x="171450" y="285750"/>
                </a:cubicBezTo>
                <a:cubicBezTo>
                  <a:pt x="147608" y="285750"/>
                  <a:pt x="124926" y="281285"/>
                  <a:pt x="104299" y="273248"/>
                </a:cubicBezTo>
                <a:lnTo>
                  <a:pt x="31433" y="311825"/>
                </a:lnTo>
                <a:cubicBezTo>
                  <a:pt x="23128" y="316200"/>
                  <a:pt x="12948" y="314682"/>
                  <a:pt x="6251" y="308074"/>
                </a:cubicBezTo>
                <a:cubicBezTo>
                  <a:pt x="-446" y="301466"/>
                  <a:pt x="-1965" y="291197"/>
                  <a:pt x="2500" y="282893"/>
                </a:cubicBezTo>
                <a:lnTo>
                  <a:pt x="34290" y="222885"/>
                </a:lnTo>
                <a:cubicBezTo>
                  <a:pt x="12769" y="196632"/>
                  <a:pt x="0" y="163949"/>
                  <a:pt x="0" y="128588"/>
                </a:cubicBezTo>
                <a:cubicBezTo>
                  <a:pt x="0" y="41791"/>
                  <a:pt x="76795" y="-28575"/>
                  <a:pt x="171450" y="-28575"/>
                </a:cubicBezTo>
                <a:cubicBezTo>
                  <a:pt x="266105" y="-28575"/>
                  <a:pt x="342900" y="41791"/>
                  <a:pt x="342900" y="128588"/>
                </a:cubicBezTo>
                <a:close/>
                <a:moveTo>
                  <a:pt x="342900" y="457200"/>
                </a:moveTo>
                <a:cubicBezTo>
                  <a:pt x="258872" y="457200"/>
                  <a:pt x="188952" y="401747"/>
                  <a:pt x="174308" y="328613"/>
                </a:cubicBezTo>
                <a:cubicBezTo>
                  <a:pt x="281464" y="327273"/>
                  <a:pt x="374600" y="251014"/>
                  <a:pt x="384870" y="147608"/>
                </a:cubicBezTo>
                <a:cubicBezTo>
                  <a:pt x="459254" y="164753"/>
                  <a:pt x="514350" y="226457"/>
                  <a:pt x="514350" y="300038"/>
                </a:cubicBezTo>
                <a:cubicBezTo>
                  <a:pt x="514350" y="335399"/>
                  <a:pt x="501581" y="368082"/>
                  <a:pt x="480060" y="394335"/>
                </a:cubicBezTo>
                <a:lnTo>
                  <a:pt x="511850" y="454342"/>
                </a:lnTo>
                <a:cubicBezTo>
                  <a:pt x="516225" y="462647"/>
                  <a:pt x="514707" y="472827"/>
                  <a:pt x="508099" y="479524"/>
                </a:cubicBezTo>
                <a:cubicBezTo>
                  <a:pt x="501491" y="486221"/>
                  <a:pt x="491222" y="487740"/>
                  <a:pt x="482917" y="483275"/>
                </a:cubicBezTo>
                <a:lnTo>
                  <a:pt x="410051" y="444698"/>
                </a:lnTo>
                <a:cubicBezTo>
                  <a:pt x="389424" y="452735"/>
                  <a:pt x="366742" y="457200"/>
                  <a:pt x="342900" y="457200"/>
                </a:cubicBezTo>
                <a:close/>
              </a:path>
            </a:pathLst>
          </a:custGeom>
          <a:solidFill>
            <a:srgbClr val="B85C38"/>
          </a:solidFill>
          <a:ln/>
        </p:spPr>
      </p:sp>
      <p:sp>
        <p:nvSpPr>
          <p:cNvPr id="8" name="Text 6"/>
          <p:cNvSpPr/>
          <p:nvPr/>
        </p:nvSpPr>
        <p:spPr>
          <a:xfrm>
            <a:off x="1079500" y="2984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Personalization Principle</a:t>
            </a:r>
            <a:endParaRPr lang="en-US" sz="1600" dirty="0"/>
          </a:p>
        </p:txBody>
      </p:sp>
      <p:sp>
        <p:nvSpPr>
          <p:cNvPr id="9" name="Shape 7"/>
          <p:cNvSpPr/>
          <p:nvPr/>
        </p:nvSpPr>
        <p:spPr>
          <a:xfrm>
            <a:off x="1079500" y="3403600"/>
            <a:ext cx="508000" cy="25400"/>
          </a:xfrm>
          <a:prstGeom prst="rect">
            <a:avLst/>
          </a:prstGeom>
          <a:solidFill>
            <a:srgbClr val="B85C38"/>
          </a:solidFill>
          <a:ln/>
        </p:spPr>
      </p:sp>
      <p:sp>
        <p:nvSpPr>
          <p:cNvPr id="10" name="Text 8"/>
          <p:cNvSpPr/>
          <p:nvPr/>
        </p:nvSpPr>
        <p:spPr>
          <a:xfrm>
            <a:off x="1079500" y="3556000"/>
            <a:ext cx="4064000" cy="2095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better when words are in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conversational style</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rather than formal style."</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Use "you" and "your" to create social presence and social proximity between educator and learner.</a:t>
            </a:r>
            <a:endParaRPr lang="en-US" sz="1600" dirty="0"/>
          </a:p>
        </p:txBody>
      </p:sp>
      <p:sp>
        <p:nvSpPr>
          <p:cNvPr id="11" name="Shape 9"/>
          <p:cNvSpPr/>
          <p:nvPr/>
        </p:nvSpPr>
        <p:spPr>
          <a:xfrm>
            <a:off x="5778500" y="2032000"/>
            <a:ext cx="4699000" cy="3810000"/>
          </a:xfrm>
          <a:prstGeom prst="rect">
            <a:avLst/>
          </a:prstGeom>
          <a:solidFill>
            <a:srgbClr val="EDE6DE"/>
          </a:solidFill>
          <a:ln/>
        </p:spPr>
      </p:sp>
      <p:sp>
        <p:nvSpPr>
          <p:cNvPr id="12" name="Shape 10"/>
          <p:cNvSpPr/>
          <p:nvPr/>
        </p:nvSpPr>
        <p:spPr>
          <a:xfrm>
            <a:off x="6124575" y="2349500"/>
            <a:ext cx="400050" cy="457200"/>
          </a:xfrm>
          <a:custGeom>
            <a:avLst/>
            <a:gdLst/>
            <a:ahLst/>
            <a:cxnLst/>
            <a:rect l="l" t="t" r="r" b="b"/>
            <a:pathLst>
              <a:path w="400050" h="457200">
                <a:moveTo>
                  <a:pt x="200025" y="57150"/>
                </a:moveTo>
                <a:cubicBezTo>
                  <a:pt x="129480" y="57150"/>
                  <a:pt x="70812" y="108317"/>
                  <a:pt x="59204" y="175647"/>
                </a:cubicBezTo>
                <a:cubicBezTo>
                  <a:pt x="67508" y="172968"/>
                  <a:pt x="76438" y="171450"/>
                  <a:pt x="85725" y="171450"/>
                </a:cubicBezTo>
                <a:lnTo>
                  <a:pt x="100013" y="171450"/>
                </a:lnTo>
                <a:cubicBezTo>
                  <a:pt x="123676" y="171450"/>
                  <a:pt x="142875" y="190649"/>
                  <a:pt x="142875" y="214313"/>
                </a:cubicBezTo>
                <a:lnTo>
                  <a:pt x="142875" y="300038"/>
                </a:lnTo>
                <a:cubicBezTo>
                  <a:pt x="142875" y="323701"/>
                  <a:pt x="123676" y="342900"/>
                  <a:pt x="100013" y="342900"/>
                </a:cubicBezTo>
                <a:lnTo>
                  <a:pt x="85725" y="342900"/>
                </a:lnTo>
                <a:cubicBezTo>
                  <a:pt x="38398" y="342900"/>
                  <a:pt x="0" y="304502"/>
                  <a:pt x="0" y="257175"/>
                </a:cubicBezTo>
                <a:lnTo>
                  <a:pt x="0" y="200025"/>
                </a:lnTo>
                <a:cubicBezTo>
                  <a:pt x="0" y="89565"/>
                  <a:pt x="89565" y="0"/>
                  <a:pt x="200025" y="0"/>
                </a:cubicBezTo>
                <a:cubicBezTo>
                  <a:pt x="310485" y="0"/>
                  <a:pt x="400050" y="89565"/>
                  <a:pt x="400050" y="200025"/>
                </a:cubicBezTo>
                <a:lnTo>
                  <a:pt x="400050" y="350133"/>
                </a:lnTo>
                <a:cubicBezTo>
                  <a:pt x="400050" y="409337"/>
                  <a:pt x="352008" y="457289"/>
                  <a:pt x="292804" y="457289"/>
                </a:cubicBezTo>
                <a:lnTo>
                  <a:pt x="214312" y="457200"/>
                </a:lnTo>
                <a:lnTo>
                  <a:pt x="185737" y="457200"/>
                </a:lnTo>
                <a:cubicBezTo>
                  <a:pt x="162074" y="457200"/>
                  <a:pt x="142875" y="438001"/>
                  <a:pt x="142875" y="414338"/>
                </a:cubicBezTo>
                <a:cubicBezTo>
                  <a:pt x="142875" y="390674"/>
                  <a:pt x="162074" y="371475"/>
                  <a:pt x="185737" y="371475"/>
                </a:cubicBezTo>
                <a:lnTo>
                  <a:pt x="214312" y="371475"/>
                </a:lnTo>
                <a:cubicBezTo>
                  <a:pt x="237976" y="371475"/>
                  <a:pt x="257175" y="390674"/>
                  <a:pt x="257175" y="414338"/>
                </a:cubicBezTo>
                <a:lnTo>
                  <a:pt x="257175" y="414338"/>
                </a:lnTo>
                <a:lnTo>
                  <a:pt x="292894" y="414338"/>
                </a:lnTo>
                <a:cubicBezTo>
                  <a:pt x="328434" y="414338"/>
                  <a:pt x="357188" y="385584"/>
                  <a:pt x="357188" y="350044"/>
                </a:cubicBezTo>
                <a:lnTo>
                  <a:pt x="357188" y="331381"/>
                </a:lnTo>
                <a:cubicBezTo>
                  <a:pt x="344597" y="338703"/>
                  <a:pt x="329952" y="342811"/>
                  <a:pt x="314325" y="342811"/>
                </a:cubicBezTo>
                <a:lnTo>
                  <a:pt x="300038" y="342811"/>
                </a:lnTo>
                <a:cubicBezTo>
                  <a:pt x="276374" y="342811"/>
                  <a:pt x="257175" y="323612"/>
                  <a:pt x="257175" y="299948"/>
                </a:cubicBezTo>
                <a:lnTo>
                  <a:pt x="257175" y="214223"/>
                </a:lnTo>
                <a:cubicBezTo>
                  <a:pt x="257175" y="190560"/>
                  <a:pt x="276374" y="171361"/>
                  <a:pt x="300038" y="171361"/>
                </a:cubicBezTo>
                <a:lnTo>
                  <a:pt x="314325" y="171361"/>
                </a:lnTo>
                <a:cubicBezTo>
                  <a:pt x="323612" y="171361"/>
                  <a:pt x="332452" y="172789"/>
                  <a:pt x="340846" y="175558"/>
                </a:cubicBezTo>
                <a:cubicBezTo>
                  <a:pt x="329238" y="108317"/>
                  <a:pt x="270659" y="57061"/>
                  <a:pt x="200025" y="57061"/>
                </a:cubicBezTo>
                <a:close/>
              </a:path>
            </a:pathLst>
          </a:custGeom>
          <a:solidFill>
            <a:srgbClr val="B85C38"/>
          </a:solidFill>
          <a:ln/>
        </p:spPr>
      </p:sp>
      <p:sp>
        <p:nvSpPr>
          <p:cNvPr id="13" name="Text 11"/>
          <p:cNvSpPr/>
          <p:nvPr/>
        </p:nvSpPr>
        <p:spPr>
          <a:xfrm>
            <a:off x="6096000" y="2984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Voice Principle</a:t>
            </a:r>
            <a:endParaRPr lang="en-US" sz="1600" dirty="0"/>
          </a:p>
        </p:txBody>
      </p:sp>
      <p:sp>
        <p:nvSpPr>
          <p:cNvPr id="14" name="Shape 12"/>
          <p:cNvSpPr/>
          <p:nvPr/>
        </p:nvSpPr>
        <p:spPr>
          <a:xfrm>
            <a:off x="6096000" y="3403600"/>
            <a:ext cx="508000" cy="25400"/>
          </a:xfrm>
          <a:prstGeom prst="rect">
            <a:avLst/>
          </a:prstGeom>
          <a:solidFill>
            <a:srgbClr val="B85C38"/>
          </a:solidFill>
          <a:ln/>
        </p:spPr>
      </p:sp>
      <p:sp>
        <p:nvSpPr>
          <p:cNvPr id="15" name="Text 13"/>
          <p:cNvSpPr/>
          <p:nvPr/>
        </p:nvSpPr>
        <p:spPr>
          <a:xfrm>
            <a:off x="6096000" y="3556000"/>
            <a:ext cx="4064000" cy="2095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better when narration uses a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friendly human voice</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rather than machine voice."</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Human voices create social proximity and enhance learner motivation.</a:t>
            </a:r>
            <a:endParaRPr lang="en-US" sz="1600" dirty="0"/>
          </a:p>
        </p:txBody>
      </p:sp>
      <p:sp>
        <p:nvSpPr>
          <p:cNvPr id="16" name="Shape 14"/>
          <p:cNvSpPr/>
          <p:nvPr/>
        </p:nvSpPr>
        <p:spPr>
          <a:xfrm>
            <a:off x="10795000" y="2032000"/>
            <a:ext cx="4699000" cy="3810000"/>
          </a:xfrm>
          <a:prstGeom prst="rect">
            <a:avLst/>
          </a:prstGeom>
          <a:solidFill>
            <a:srgbClr val="EDE6DE"/>
          </a:solidFill>
          <a:ln/>
        </p:spPr>
      </p:sp>
      <p:sp>
        <p:nvSpPr>
          <p:cNvPr id="17" name="Shape 15"/>
          <p:cNvSpPr/>
          <p:nvPr/>
        </p:nvSpPr>
        <p:spPr>
          <a:xfrm>
            <a:off x="11169650" y="2349500"/>
            <a:ext cx="342900" cy="457200"/>
          </a:xfrm>
          <a:custGeom>
            <a:avLst/>
            <a:gdLst/>
            <a:ahLst/>
            <a:cxnLst/>
            <a:rect l="l" t="t" r="r" b="b"/>
            <a:pathLst>
              <a:path w="342900" h="457200">
                <a:moveTo>
                  <a:pt x="28575" y="28575"/>
                </a:moveTo>
                <a:cubicBezTo>
                  <a:pt x="28575" y="12769"/>
                  <a:pt x="41344" y="0"/>
                  <a:pt x="57150" y="0"/>
                </a:cubicBezTo>
                <a:cubicBezTo>
                  <a:pt x="72956" y="0"/>
                  <a:pt x="85725" y="12769"/>
                  <a:pt x="85725" y="28575"/>
                </a:cubicBezTo>
                <a:lnTo>
                  <a:pt x="85725" y="214313"/>
                </a:lnTo>
                <a:lnTo>
                  <a:pt x="28575" y="214313"/>
                </a:lnTo>
                <a:lnTo>
                  <a:pt x="28575" y="28575"/>
                </a:lnTo>
                <a:close/>
                <a:moveTo>
                  <a:pt x="200025" y="171450"/>
                </a:moveTo>
                <a:cubicBezTo>
                  <a:pt x="200025" y="155644"/>
                  <a:pt x="212794" y="142875"/>
                  <a:pt x="228600" y="142875"/>
                </a:cubicBezTo>
                <a:cubicBezTo>
                  <a:pt x="244406" y="142875"/>
                  <a:pt x="257175" y="155644"/>
                  <a:pt x="257175" y="171450"/>
                </a:cubicBezTo>
                <a:lnTo>
                  <a:pt x="257175" y="228600"/>
                </a:lnTo>
                <a:cubicBezTo>
                  <a:pt x="257175" y="244406"/>
                  <a:pt x="244406" y="257175"/>
                  <a:pt x="228600" y="257175"/>
                </a:cubicBezTo>
                <a:cubicBezTo>
                  <a:pt x="212794" y="257175"/>
                  <a:pt x="200025" y="244406"/>
                  <a:pt x="200025" y="228600"/>
                </a:cubicBezTo>
                <a:lnTo>
                  <a:pt x="200025" y="171450"/>
                </a:lnTo>
                <a:close/>
                <a:moveTo>
                  <a:pt x="142875" y="114300"/>
                </a:moveTo>
                <a:cubicBezTo>
                  <a:pt x="158681" y="114300"/>
                  <a:pt x="171450" y="127069"/>
                  <a:pt x="171450" y="142875"/>
                </a:cubicBezTo>
                <a:lnTo>
                  <a:pt x="171450" y="185738"/>
                </a:lnTo>
                <a:cubicBezTo>
                  <a:pt x="171450" y="201543"/>
                  <a:pt x="158681" y="214313"/>
                  <a:pt x="142875" y="214313"/>
                </a:cubicBezTo>
                <a:cubicBezTo>
                  <a:pt x="127069" y="214313"/>
                  <a:pt x="114300" y="201543"/>
                  <a:pt x="114300" y="185738"/>
                </a:cubicBezTo>
                <a:lnTo>
                  <a:pt x="114300" y="142875"/>
                </a:lnTo>
                <a:cubicBezTo>
                  <a:pt x="114300" y="127069"/>
                  <a:pt x="127069" y="114300"/>
                  <a:pt x="142875" y="114300"/>
                </a:cubicBezTo>
                <a:close/>
                <a:moveTo>
                  <a:pt x="285750" y="200025"/>
                </a:moveTo>
                <a:cubicBezTo>
                  <a:pt x="285750" y="184219"/>
                  <a:pt x="298519" y="171450"/>
                  <a:pt x="314325" y="171450"/>
                </a:cubicBezTo>
                <a:cubicBezTo>
                  <a:pt x="330131" y="171450"/>
                  <a:pt x="342900" y="184219"/>
                  <a:pt x="342900" y="200025"/>
                </a:cubicBezTo>
                <a:lnTo>
                  <a:pt x="342900" y="257175"/>
                </a:lnTo>
                <a:cubicBezTo>
                  <a:pt x="342900" y="272981"/>
                  <a:pt x="330131" y="285750"/>
                  <a:pt x="314325" y="285750"/>
                </a:cubicBezTo>
                <a:cubicBezTo>
                  <a:pt x="298519" y="285750"/>
                  <a:pt x="285750" y="272981"/>
                  <a:pt x="285750" y="257175"/>
                </a:cubicBezTo>
                <a:lnTo>
                  <a:pt x="285750" y="200025"/>
                </a:lnTo>
                <a:close/>
                <a:moveTo>
                  <a:pt x="200025" y="278606"/>
                </a:moveTo>
                <a:lnTo>
                  <a:pt x="200025" y="278070"/>
                </a:lnTo>
                <a:cubicBezTo>
                  <a:pt x="208419" y="282892"/>
                  <a:pt x="218152" y="285750"/>
                  <a:pt x="228600" y="285750"/>
                </a:cubicBezTo>
                <a:cubicBezTo>
                  <a:pt x="240387" y="285750"/>
                  <a:pt x="251281" y="282178"/>
                  <a:pt x="260390" y="276106"/>
                </a:cubicBezTo>
                <a:cubicBezTo>
                  <a:pt x="268159" y="298341"/>
                  <a:pt x="289411" y="314325"/>
                  <a:pt x="314325" y="314325"/>
                </a:cubicBezTo>
                <a:cubicBezTo>
                  <a:pt x="324773" y="314325"/>
                  <a:pt x="334506" y="311557"/>
                  <a:pt x="342900" y="306645"/>
                </a:cubicBezTo>
                <a:lnTo>
                  <a:pt x="342900" y="314325"/>
                </a:lnTo>
                <a:cubicBezTo>
                  <a:pt x="342900" y="393263"/>
                  <a:pt x="278963" y="457200"/>
                  <a:pt x="200025" y="457200"/>
                </a:cubicBezTo>
                <a:lnTo>
                  <a:pt x="144929" y="457200"/>
                </a:lnTo>
                <a:cubicBezTo>
                  <a:pt x="107067" y="457200"/>
                  <a:pt x="70723" y="442109"/>
                  <a:pt x="43934" y="415320"/>
                </a:cubicBezTo>
                <a:lnTo>
                  <a:pt x="33486" y="404961"/>
                </a:lnTo>
                <a:cubicBezTo>
                  <a:pt x="12055" y="383530"/>
                  <a:pt x="0" y="354419"/>
                  <a:pt x="0" y="324148"/>
                </a:cubicBezTo>
                <a:lnTo>
                  <a:pt x="0" y="300038"/>
                </a:lnTo>
                <a:cubicBezTo>
                  <a:pt x="0" y="268516"/>
                  <a:pt x="25628" y="242888"/>
                  <a:pt x="57150" y="242888"/>
                </a:cubicBezTo>
                <a:lnTo>
                  <a:pt x="135731" y="242888"/>
                </a:lnTo>
                <a:cubicBezTo>
                  <a:pt x="155466" y="242888"/>
                  <a:pt x="171450" y="258872"/>
                  <a:pt x="171450" y="278606"/>
                </a:cubicBezTo>
                <a:cubicBezTo>
                  <a:pt x="171450" y="298341"/>
                  <a:pt x="155466" y="314325"/>
                  <a:pt x="135731" y="314325"/>
                </a:cubicBezTo>
                <a:lnTo>
                  <a:pt x="85725" y="314325"/>
                </a:lnTo>
                <a:cubicBezTo>
                  <a:pt x="77867" y="314325"/>
                  <a:pt x="71438" y="320754"/>
                  <a:pt x="71438" y="328613"/>
                </a:cubicBezTo>
                <a:cubicBezTo>
                  <a:pt x="71438" y="336471"/>
                  <a:pt x="77867" y="342900"/>
                  <a:pt x="85725" y="342900"/>
                </a:cubicBezTo>
                <a:lnTo>
                  <a:pt x="135731" y="342900"/>
                </a:lnTo>
                <a:cubicBezTo>
                  <a:pt x="171271" y="342900"/>
                  <a:pt x="200025" y="314146"/>
                  <a:pt x="200025" y="278606"/>
                </a:cubicBezTo>
                <a:close/>
              </a:path>
            </a:pathLst>
          </a:custGeom>
          <a:solidFill>
            <a:srgbClr val="B85C38"/>
          </a:solidFill>
          <a:ln/>
        </p:spPr>
      </p:sp>
      <p:sp>
        <p:nvSpPr>
          <p:cNvPr id="18" name="Text 16"/>
          <p:cNvSpPr/>
          <p:nvPr/>
        </p:nvSpPr>
        <p:spPr>
          <a:xfrm>
            <a:off x="11112500" y="2984500"/>
            <a:ext cx="4064000" cy="3556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Embodiment Principle</a:t>
            </a:r>
            <a:endParaRPr lang="en-US" sz="1600" dirty="0"/>
          </a:p>
        </p:txBody>
      </p:sp>
      <p:sp>
        <p:nvSpPr>
          <p:cNvPr id="19" name="Shape 17"/>
          <p:cNvSpPr/>
          <p:nvPr/>
        </p:nvSpPr>
        <p:spPr>
          <a:xfrm>
            <a:off x="11112500" y="3403600"/>
            <a:ext cx="508000" cy="25400"/>
          </a:xfrm>
          <a:prstGeom prst="rect">
            <a:avLst/>
          </a:prstGeom>
          <a:solidFill>
            <a:srgbClr val="B85C38"/>
          </a:solidFill>
          <a:ln/>
        </p:spPr>
      </p:sp>
      <p:sp>
        <p:nvSpPr>
          <p:cNvPr id="20" name="Text 18"/>
          <p:cNvSpPr/>
          <p:nvPr/>
        </p:nvSpPr>
        <p:spPr>
          <a:xfrm>
            <a:off x="11112500" y="3556000"/>
            <a:ext cx="4064000" cy="2095500"/>
          </a:xfrm>
          <a:prstGeom prst="rect">
            <a:avLst/>
          </a:prstGeom>
          <a:noFill/>
          <a:ln/>
        </p:spPr>
        <p:txBody>
          <a:bodyPr wrap="square" lIns="0" tIns="0" rIns="0" bIns="0" rtlCol="0" anchor="t"/>
          <a:lstStyle/>
          <a:p>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"People learn better when onscreen agents use </a:t>
            </a:r>
            <a:pPr>
              <a:lnSpc>
                <a:spcPct val="150000"/>
              </a:lnSpc>
            </a:pPr>
            <a:r>
              <a:rPr lang="en-US" sz="1500" b="1" dirty="0">
                <a:solidFill>
                  <a:srgbClr val="2D2926"/>
                </a:solidFill>
                <a:latin typeface="Quattrocento Sans" pitchFamily="34" charset="0"/>
                <a:ea typeface="Quattrocento Sans" pitchFamily="34" charset="-122"/>
                <a:cs typeface="Quattrocento Sans" pitchFamily="34" charset="-120"/>
              </a:rPr>
              <a:t>human-like gestures</a:t>
            </a:r>
            <a:pPr>
              <a:lnSpc>
                <a:spcPct val="150000"/>
              </a:lnSpc>
            </a:pPr>
            <a:r>
              <a:rPr lang="en-US" sz="1500" dirty="0">
                <a:solidFill>
                  <a:srgbClr val="2D2926"/>
                </a:solidFill>
                <a:latin typeface="Quattrocento Sans" pitchFamily="34" charset="0"/>
                <a:ea typeface="Quattrocento Sans" pitchFamily="34" charset="-122"/>
                <a:cs typeface="Quattrocento Sans" pitchFamily="34" charset="-120"/>
              </a:rPr>
              <a:t> and movements."</a:t>
            </a:r>
            <a:endParaRPr lang="en-US" sz="1600" dirty="0"/>
          </a:p>
          <a:p>
            <a:pPr>
              <a:lnSpc>
                <a:spcPct val="150000"/>
              </a:lnSpc>
              <a:spcBef>
                <a:spcPts val="600"/>
              </a:spcBef>
            </a:pPr>
            <a:r>
              <a:rPr lang="en-US" sz="1500" dirty="0">
                <a:solidFill>
                  <a:srgbClr val="2D2926"/>
                </a:solidFill>
                <a:latin typeface="Quattrocento Sans" pitchFamily="34" charset="0"/>
                <a:ea typeface="Quattrocento Sans" pitchFamily="34" charset="-122"/>
                <a:cs typeface="Quattrocento Sans" pitchFamily="34" charset="-120"/>
              </a:rPr>
              <a:t>Pedagogical agents with natural movements enhance learning through social cues.</a:t>
            </a:r>
            <a:endParaRPr lang="en-US" sz="1600" dirty="0"/>
          </a:p>
        </p:txBody>
      </p:sp>
      <p:sp>
        <p:nvSpPr>
          <p:cNvPr id="21" name="Text 19"/>
          <p:cNvSpPr/>
          <p:nvPr/>
        </p:nvSpPr>
        <p:spPr>
          <a:xfrm>
            <a:off x="762000" y="62230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Mayer, R. E. (2009). Multimedia Learning Principles.</a:t>
            </a:r>
            <a:endParaRPr lang="en-US" sz="1300" dirty="0"/>
          </a:p>
        </p:txBody>
      </p:sp>
      <p:sp>
        <p:nvSpPr>
          <p:cNvPr id="22" name="Shape 20"/>
          <p:cNvSpPr/>
          <p:nvPr/>
        </p:nvSpPr>
        <p:spPr>
          <a:xfrm>
            <a:off x="762000" y="8699500"/>
            <a:ext cx="508000" cy="38100"/>
          </a:xfrm>
          <a:prstGeom prst="rect">
            <a:avLst/>
          </a:prstGeom>
          <a:solidFill>
            <a:srgbClr val="B85C38"/>
          </a:solidFill>
          <a:ln/>
        </p:spPr>
      </p:sp>
      <p:sp>
        <p:nvSpPr>
          <p:cNvPr id="23" name="Text 21"/>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17</a:t>
            </a:r>
            <a:endParaRPr lang="en-US" sz="13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Mayer's 12 Principles at a Glance</a:t>
            </a:r>
            <a:endParaRPr lang="en-US" sz="2800" dirty="0"/>
          </a:p>
        </p:txBody>
      </p:sp>
      <p:sp>
        <p:nvSpPr>
          <p:cNvPr id="4" name="Shape 2"/>
          <p:cNvSpPr/>
          <p:nvPr/>
        </p:nvSpPr>
        <p:spPr>
          <a:xfrm>
            <a:off x="762000" y="1270000"/>
            <a:ext cx="635000" cy="38100"/>
          </a:xfrm>
          <a:prstGeom prst="rect">
            <a:avLst/>
          </a:prstGeom>
          <a:solidFill>
            <a:srgbClr val="B85C38"/>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62000" y="1524000"/>
          <a:ext cx="14732000" cy="6096000"/>
        </p:xfrm>
        <a:graphic>
          <a:graphicData uri="http://schemas.openxmlformats.org/drawingml/2006/table">
            <a:tbl>
              <a:tblPr/>
              <a:tblGrid>
                <a:gridCol w="5156200"/>
                <a:gridCol w="9575800"/>
              </a:tblGrid>
              <a:tr h="609600">
                <a:tc>
                  <a:txBody>
                    <a:bodyPr/>
                    <a:lstStyle/>
                    <a:p>
                      <a:pPr algn="l"/>
                      <a:r>
                        <a:rPr lang="en-US" sz="1500" b="1" u="none" dirty="0">
                          <a:solidFill>
                            <a:srgbClr val="FFFFFF"/>
                          </a:solidFill>
                          <a:latin typeface="QuattrocentoSans" pitchFamily="34" charset="0"/>
                          <a:ea typeface="QuattrocentoSans" pitchFamily="34" charset="-122"/>
                          <a:cs typeface="QuattrocentoSans" pitchFamily="34" charset="-120"/>
                        </a:rPr>
                        <a:t>Category</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B85C38"/>
                    </a:solidFill>
                  </a:tcPr>
                </a:tc>
                <a:tc>
                  <a:txBody>
                    <a:bodyPr/>
                    <a:lstStyle/>
                    <a:p>
                      <a:pPr algn="l"/>
                      <a:r>
                        <a:rPr lang="en-US" sz="1500" b="1" u="none" dirty="0">
                          <a:solidFill>
                            <a:srgbClr val="FFFFFF"/>
                          </a:solidFill>
                          <a:latin typeface="QuattrocentoSans" pitchFamily="34" charset="0"/>
                          <a:ea typeface="QuattrocentoSans" pitchFamily="34" charset="-122"/>
                          <a:cs typeface="QuattrocentoSans" pitchFamily="34" charset="-120"/>
                        </a:rPr>
                        <a:t>Principles</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B85C38"/>
                    </a:solidFill>
                  </a:tcPr>
                </a:tc>
              </a:tr>
              <a:tr h="914400">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Reduce Extraneous Processing</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Coherence, Signaling, Redundancy, Spatial Contiguity, Temporal Contiguity</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r>
              <a:tr h="914400">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Manage Essential Processing</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Segmenting, Pre-training, Modality</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r>
              <a:tr h="914400">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Foster Generative Processing</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Personalization, Voice, Embodiment</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r>
              <a:tr h="914400">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Foundation</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Multimedia Principle: "People learn better from words and pictures than from words alone"</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r>
              <a:tr h="914400">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Image Note</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Image Principle: Speaker's visible image doesn't necessarily improve learning outcomes</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r>
              <a:tr h="914400">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Total</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c>
                  <a:txBody>
                    <a:bodyPr/>
                    <a:lstStyle/>
                    <a:p>
                      <a:pPr algn="l"/>
                      <a:r>
                        <a:rPr lang="en-US" sz="1500" u="none" dirty="0">
                          <a:solidFill>
                            <a:srgbClr val="2D2926"/>
                          </a:solidFill>
                          <a:latin typeface="QuattrocentoSans" pitchFamily="34" charset="0"/>
                          <a:ea typeface="QuattrocentoSans" pitchFamily="34" charset="-122"/>
                          <a:cs typeface="QuattrocentoSans" pitchFamily="34" charset="-120"/>
                        </a:rPr>
                        <a:t>12 Evidence-Based Principles grounded in 200+ experimental research studies</a:t>
                      </a:r>
                      <a:endParaRPr lang="en-US" sz="1500" dirty="0">
                        <a:latin typeface="QuattrocentoSans" charset="0"/>
                        <a:ea typeface="QuattrocentoSans" charset="0"/>
                        <a:cs typeface="QuattrocentoSans" charset="0"/>
                      </a:endParaRPr>
                    </a:p>
                  </a:txBody>
                  <a:tcPr marL="91440" marR="91440" marT="0" marB="0" anchor="ctr">
                    <a:lnL w="12700" cap="flat" cmpd="sng" algn="ctr">
                      <a:solidFill>
                        <a:srgbClr val="D5CBC2"/>
                      </a:solidFill>
                      <a:prstDash val="solid"/>
                      <a:round/>
                      <a:headEnd type="none" w="med" len="med"/>
                      <a:tailEnd type="none" w="med" len="med"/>
                    </a:lnL>
                    <a:lnR w="12700" cap="flat" cmpd="sng" algn="ctr">
                      <a:solidFill>
                        <a:srgbClr val="D5CBC2"/>
                      </a:solidFill>
                      <a:prstDash val="solid"/>
                      <a:round/>
                      <a:headEnd type="none" w="med" len="med"/>
                      <a:tailEnd type="none" w="med" len="med"/>
                    </a:lnR>
                    <a:lnT w="12700" cap="flat" cmpd="sng" algn="ctr">
                      <a:solidFill>
                        <a:srgbClr val="D5CBC2"/>
                      </a:solidFill>
                      <a:prstDash val="solid"/>
                      <a:round/>
                      <a:headEnd type="none" w="med" len="med"/>
                      <a:tailEnd type="none" w="med" len="med"/>
                    </a:lnT>
                    <a:lnB w="12700" cap="flat" cmpd="sng" algn="ctr">
                      <a:solidFill>
                        <a:srgbClr val="D5CBC2"/>
                      </a:solidFill>
                      <a:prstDash val="solid"/>
                      <a:round/>
                      <a:headEnd type="none" w="med" len="med"/>
                      <a:tailEnd type="none" w="med" len="med"/>
                    </a:lnB>
                    <a:solidFill>
                      <a:srgbClr val="EDE6DE"/>
                    </a:solidFill>
                  </a:tcPr>
                </a:tc>
              </a:tr>
            </a:tbl>
          </a:graphicData>
        </a:graphic>
      </p:graphicFrame>
      <p:sp>
        <p:nvSpPr>
          <p:cNvPr id="6" name="Text 3"/>
          <p:cNvSpPr/>
          <p:nvPr/>
        </p:nvSpPr>
        <p:spPr>
          <a:xfrm>
            <a:off x="762000" y="78740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Mayer, R. E. (2009). Multimedia Learning. Cambridge University Press.</a:t>
            </a:r>
            <a:endParaRPr lang="en-US" sz="1300" dirty="0"/>
          </a:p>
        </p:txBody>
      </p:sp>
      <p:sp>
        <p:nvSpPr>
          <p:cNvPr id="7" name="Shape 4"/>
          <p:cNvSpPr/>
          <p:nvPr/>
        </p:nvSpPr>
        <p:spPr>
          <a:xfrm>
            <a:off x="762000" y="8699500"/>
            <a:ext cx="508000" cy="38100"/>
          </a:xfrm>
          <a:prstGeom prst="rect">
            <a:avLst/>
          </a:prstGeom>
          <a:solidFill>
            <a:srgbClr val="B85C38"/>
          </a:solidFill>
          <a:ln/>
        </p:spPr>
      </p:sp>
      <p:sp>
        <p:nvSpPr>
          <p:cNvPr id="8" name="Text 5"/>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18</a:t>
            </a:r>
            <a:endParaRPr lang="en-US" sz="13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ttps://kimi-img.moonshot.cn/pub/slides/okc/kslybh5rcgfge/mnt/agents/output/multimedia-theories/images/1_Dual_Coding_Why_Words_and_Images.png">    </p:cNvPr>
          <p:cNvPicPr>
            <a:picLocks noChangeAspect="1"/>
          </p:cNvPicPr>
          <p:nvPr/>
        </p:nvPicPr>
        <p:blipFill>
          <a:blip r:embed="rId1"/>
          <a:srcRect l="0" r="0" t="13606" b="13606"/>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2926">
                  <a:alpha val="94000"/>
                </a:srgbClr>
              </a:gs>
              <a:gs pos="60000">
                <a:srgbClr val="2D2926">
                  <a:alpha val="82000"/>
                </a:srgbClr>
              </a:gs>
              <a:gs pos="100000">
                <a:srgbClr val="2D2926">
                  <a:alpha val="50000"/>
                </a:srgbClr>
              </a:gs>
            </a:gsLst>
            <a:lin ang="0" scaled="1"/>
          </a:gradFill>
          <a:ln w="12700">
            <a:solidFill>
              <a:srgbClr val="333333"/>
            </a:solidFill>
            <a:prstDash val="solid"/>
          </a:ln>
        </p:spPr>
      </p:sp>
      <p:sp>
        <p:nvSpPr>
          <p:cNvPr id="4" name="Text 1"/>
          <p:cNvSpPr/>
          <p:nvPr/>
        </p:nvSpPr>
        <p:spPr>
          <a:xfrm>
            <a:off x="762000" y="1524000"/>
            <a:ext cx="3810000" cy="1397000"/>
          </a:xfrm>
          <a:prstGeom prst="rect">
            <a:avLst/>
          </a:prstGeom>
          <a:noFill/>
          <a:ln/>
        </p:spPr>
        <p:txBody>
          <a:bodyPr wrap="none" lIns="0" tIns="0" rIns="0" bIns="0" rtlCol="0" anchor="ctr"/>
          <a:lstStyle/>
          <a:p>
            <a:pPr>
              <a:lnSpc>
                <a:spcPct val="100000"/>
              </a:lnSpc>
            </a:pPr>
            <a:r>
              <a:rPr lang="en-US" sz="9600" b="1" spc="400" kern="0" dirty="0">
                <a:solidFill>
                  <a:srgbClr val="FFFFFF">
                    <a:alpha val="8235"/>
                  </a:srgbClr>
                </a:solidFill>
                <a:latin typeface="QuattrocentoSans" pitchFamily="34" charset="0"/>
                <a:ea typeface="QuattrocentoSans" pitchFamily="34" charset="-122"/>
                <a:cs typeface="QuattrocentoSans" pitchFamily="34" charset="-120"/>
              </a:rPr>
              <a:t>03</a:t>
            </a:r>
            <a:endParaRPr lang="en-US" sz="8800" dirty="0"/>
          </a:p>
        </p:txBody>
      </p:sp>
      <p:sp>
        <p:nvSpPr>
          <p:cNvPr id="5" name="Shape 2"/>
          <p:cNvSpPr/>
          <p:nvPr/>
        </p:nvSpPr>
        <p:spPr>
          <a:xfrm>
            <a:off x="762000" y="3302000"/>
            <a:ext cx="762000" cy="50800"/>
          </a:xfrm>
          <a:prstGeom prst="rect">
            <a:avLst/>
          </a:prstGeom>
          <a:solidFill>
            <a:srgbClr val="B85C38"/>
          </a:solidFill>
          <a:ln/>
        </p:spPr>
      </p:sp>
      <p:sp>
        <p:nvSpPr>
          <p:cNvPr id="6" name="Text 3"/>
          <p:cNvSpPr/>
          <p:nvPr/>
        </p:nvSpPr>
        <p:spPr>
          <a:xfrm>
            <a:off x="762000" y="3683000"/>
            <a:ext cx="8890000" cy="635000"/>
          </a:xfrm>
          <a:prstGeom prst="rect">
            <a:avLst/>
          </a:prstGeom>
          <a:noFill/>
          <a:ln/>
        </p:spPr>
        <p:txBody>
          <a:bodyPr wrap="none" lIns="0" tIns="0" rIns="0" bIns="0" rtlCol="0" anchor="ctr"/>
          <a:lstStyle/>
          <a:p>
            <a:pPr>
              <a:lnSpc>
                <a:spcPct val="100000"/>
              </a:lnSpc>
            </a:pPr>
            <a:r>
              <a:rPr lang="en-US" sz="3600" b="1" spc="100" kern="0" dirty="0">
                <a:solidFill>
                  <a:srgbClr val="FFFFFF"/>
                </a:solidFill>
                <a:latin typeface="Quattrocento Sans" pitchFamily="34" charset="0"/>
                <a:ea typeface="Quattrocento Sans" pitchFamily="34" charset="-122"/>
                <a:cs typeface="Quattrocento Sans" pitchFamily="34" charset="-120"/>
              </a:rPr>
              <a:t>Dual Coding Theory</a:t>
            </a:r>
            <a:endParaRPr lang="en-US" sz="1600" dirty="0"/>
          </a:p>
        </p:txBody>
      </p:sp>
      <p:sp>
        <p:nvSpPr>
          <p:cNvPr id="7" name="Text 4"/>
          <p:cNvSpPr/>
          <p:nvPr/>
        </p:nvSpPr>
        <p:spPr>
          <a:xfrm>
            <a:off x="762000" y="4445000"/>
            <a:ext cx="7620000" cy="444500"/>
          </a:xfrm>
          <a:prstGeom prst="rect">
            <a:avLst/>
          </a:prstGeom>
          <a:noFill/>
          <a:ln/>
        </p:spPr>
        <p:txBody>
          <a:bodyPr wrap="none" lIns="0" tIns="0" rIns="0" bIns="0" rtlCol="0" anchor="ctr"/>
          <a:lstStyle/>
          <a:p>
            <a:pPr>
              <a:lnSpc>
                <a:spcPct val="100000"/>
              </a:lnSpc>
            </a:pPr>
            <a:r>
              <a:rPr lang="en-US" sz="1800" dirty="0">
                <a:solidFill>
                  <a:srgbClr val="8C7B6B"/>
                </a:solidFill>
                <a:latin typeface="Quattrocento Sans" pitchFamily="34" charset="0"/>
                <a:ea typeface="Quattrocento Sans" pitchFamily="34" charset="-122"/>
                <a:cs typeface="Quattrocento Sans" pitchFamily="34" charset="-120"/>
              </a:rPr>
              <a:t>Allan Paivio's theory of verbal and visual information processing</a:t>
            </a:r>
            <a:endParaRPr lang="en-US" sz="16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Dual Coding Theory Overview - Allan Paivio</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587500"/>
            <a:ext cx="8382000" cy="4064000"/>
          </a:xfrm>
          <a:prstGeom prst="rect">
            <a:avLst/>
          </a:prstGeom>
          <a:solidFill>
            <a:srgbClr val="EDE6DE"/>
          </a:solidFill>
          <a:ln/>
        </p:spPr>
      </p:sp>
      <p:sp>
        <p:nvSpPr>
          <p:cNvPr id="6" name="Text 4"/>
          <p:cNvSpPr/>
          <p:nvPr/>
        </p:nvSpPr>
        <p:spPr>
          <a:xfrm>
            <a:off x="1079500" y="1778000"/>
            <a:ext cx="3810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THE THEORY</a:t>
            </a:r>
            <a:endParaRPr lang="en-US" sz="1600" dirty="0"/>
          </a:p>
        </p:txBody>
      </p:sp>
      <p:sp>
        <p:nvSpPr>
          <p:cNvPr id="7" name="Text 5"/>
          <p:cNvSpPr/>
          <p:nvPr/>
        </p:nvSpPr>
        <p:spPr>
          <a:xfrm>
            <a:off x="1079500" y="2184400"/>
            <a:ext cx="7747000" cy="3365500"/>
          </a:xfrm>
          <a:prstGeom prst="rect">
            <a:avLst/>
          </a:prstGeom>
          <a:noFill/>
          <a:ln/>
        </p:spPr>
        <p:txBody>
          <a:bodyPr wrap="square" lIns="0" tIns="0" rIns="0" bIns="0" rtlCol="0" anchor="t"/>
          <a:lstStyle/>
          <a:p>
            <a:pPr>
              <a:lnSpc>
                <a:spcPct val="160000"/>
              </a:lnSpc>
            </a:pPr>
            <a:r>
              <a:rPr lang="en-US" sz="1600" dirty="0">
                <a:solidFill>
                  <a:srgbClr val="2D2926"/>
                </a:solidFill>
                <a:latin typeface="Quattrocento Sans" pitchFamily="34" charset="0"/>
                <a:ea typeface="Quattrocento Sans" pitchFamily="34" charset="-122"/>
                <a:cs typeface="Quattrocento Sans" pitchFamily="34" charset="-120"/>
              </a:rPr>
              <a:t>Developed by </a:t>
            </a:r>
            <a:pPr>
              <a:lnSpc>
                <a:spcPct val="160000"/>
              </a:lnSpc>
            </a:pPr>
            <a:r>
              <a:rPr lang="en-US" sz="1600" b="1" dirty="0">
                <a:solidFill>
                  <a:srgbClr val="2D2926"/>
                </a:solidFill>
                <a:latin typeface="Quattrocento Sans" pitchFamily="34" charset="0"/>
                <a:ea typeface="Quattrocento Sans" pitchFamily="34" charset="-122"/>
                <a:cs typeface="Quattrocento Sans" pitchFamily="34" charset="-120"/>
              </a:rPr>
              <a:t>Allan Paivio in 1971</a:t>
            </a:r>
            <a:pPr>
              <a:lnSpc>
                <a:spcPct val="160000"/>
              </a:lnSpc>
            </a:pPr>
            <a:r>
              <a:rPr lang="en-US" sz="1600" dirty="0">
                <a:solidFill>
                  <a:srgbClr val="2D2926"/>
                </a:solidFill>
                <a:latin typeface="Quattrocento Sans" pitchFamily="34" charset="0"/>
                <a:ea typeface="Quattrocento Sans" pitchFamily="34" charset="-122"/>
                <a:cs typeface="Quattrocento Sans" pitchFamily="34" charset="-120"/>
              </a:rPr>
              <a:t>, Dual Coding Theory proposes that the human brain processes knowledge more effectively when </a:t>
            </a:r>
            <a:pPr>
              <a:lnSpc>
                <a:spcPct val="160000"/>
              </a:lnSpc>
            </a:pPr>
            <a:r>
              <a:rPr lang="en-US" sz="1600" b="1" dirty="0">
                <a:solidFill>
                  <a:srgbClr val="2D2926"/>
                </a:solidFill>
                <a:latin typeface="Quattrocento Sans" pitchFamily="34" charset="0"/>
                <a:ea typeface="Quattrocento Sans" pitchFamily="34" charset="-122"/>
                <a:cs typeface="Quattrocento Sans" pitchFamily="34" charset="-120"/>
              </a:rPr>
              <a:t>multiple sensory modalities</a:t>
            </a:r>
            <a:pPr>
              <a:lnSpc>
                <a:spcPct val="160000"/>
              </a:lnSpc>
            </a:pPr>
            <a:r>
              <a:rPr lang="en-US" sz="1600" dirty="0">
                <a:solidFill>
                  <a:srgbClr val="2D2926"/>
                </a:solidFill>
                <a:latin typeface="Quattrocento Sans" pitchFamily="34" charset="0"/>
                <a:ea typeface="Quattrocento Sans" pitchFamily="34" charset="-122"/>
                <a:cs typeface="Quattrocento Sans" pitchFamily="34" charset="-120"/>
              </a:rPr>
              <a:t> are simultaneously engaged.</a:t>
            </a:r>
            <a:endParaRPr lang="en-US" sz="1600" dirty="0"/>
          </a:p>
          <a:p>
            <a:pPr>
              <a:lnSpc>
                <a:spcPct val="160000"/>
              </a:lnSpc>
              <a:spcBef>
                <a:spcPts val="800"/>
              </a:spcBef>
            </a:pPr>
            <a:r>
              <a:rPr lang="en-US" sz="1600" dirty="0">
                <a:solidFill>
                  <a:srgbClr val="2D2926"/>
                </a:solidFill>
                <a:latin typeface="Quattrocento Sans" pitchFamily="34" charset="0"/>
                <a:ea typeface="Quattrocento Sans" pitchFamily="34" charset="-122"/>
                <a:cs typeface="Quattrocento Sans" pitchFamily="34" charset="-120"/>
              </a:rPr>
              <a:t>The theory recognizes two separate but </a:t>
            </a:r>
            <a:pPr>
              <a:lnSpc>
                <a:spcPct val="160000"/>
              </a:lnSpc>
              <a:spcBef>
                <a:spcPts val="800"/>
              </a:spcBef>
            </a:pPr>
            <a:r>
              <a:rPr lang="en-US" sz="1600" b="1" dirty="0">
                <a:solidFill>
                  <a:srgbClr val="2D2926"/>
                </a:solidFill>
                <a:latin typeface="Quattrocento Sans" pitchFamily="34" charset="0"/>
                <a:ea typeface="Quattrocento Sans" pitchFamily="34" charset="-122"/>
                <a:cs typeface="Quattrocento Sans" pitchFamily="34" charset="-120"/>
              </a:rPr>
              <a:t>interconnected processing systems</a:t>
            </a:r>
            <a:pPr>
              <a:lnSpc>
                <a:spcPct val="160000"/>
              </a:lnSpc>
              <a:spcBef>
                <a:spcPts val="800"/>
              </a:spcBef>
            </a:pPr>
            <a:r>
              <a:rPr lang="en-US" sz="1600" dirty="0">
                <a:solidFill>
                  <a:srgbClr val="2D2926"/>
                </a:solidFill>
                <a:latin typeface="Quattrocento Sans" pitchFamily="34" charset="0"/>
                <a:ea typeface="Quattrocento Sans" pitchFamily="34" charset="-122"/>
                <a:cs typeface="Quattrocento Sans" pitchFamily="34" charset="-120"/>
              </a:rPr>
              <a:t> - one for verbal (language-based) information and one for non-verbal (image-based) information.</a:t>
            </a:r>
            <a:endParaRPr lang="en-US" sz="1600" dirty="0"/>
          </a:p>
          <a:p>
            <a:pPr>
              <a:lnSpc>
                <a:spcPct val="160000"/>
              </a:lnSpc>
              <a:spcBef>
                <a:spcPts val="800"/>
              </a:spcBef>
            </a:pPr>
            <a:r>
              <a:rPr lang="en-US" sz="1600" dirty="0">
                <a:solidFill>
                  <a:srgbClr val="2D2926"/>
                </a:solidFill>
                <a:latin typeface="Quattrocento Sans" pitchFamily="34" charset="0"/>
                <a:ea typeface="Quattrocento Sans" pitchFamily="34" charset="-122"/>
                <a:cs typeface="Quattrocento Sans" pitchFamily="34" charset="-120"/>
              </a:rPr>
              <a:t>Unlike other theories, DCT emphasizes that these systems work </a:t>
            </a:r>
            <a:pPr>
              <a:lnSpc>
                <a:spcPct val="160000"/>
              </a:lnSpc>
              <a:spcBef>
                <a:spcPts val="800"/>
              </a:spcBef>
            </a:pPr>
            <a:r>
              <a:rPr lang="en-US" sz="1600" b="1" dirty="0">
                <a:solidFill>
                  <a:srgbClr val="2D2926"/>
                </a:solidFill>
                <a:latin typeface="Quattrocento Sans" pitchFamily="34" charset="0"/>
                <a:ea typeface="Quattrocento Sans" pitchFamily="34" charset="-122"/>
                <a:cs typeface="Quattrocento Sans" pitchFamily="34" charset="-120"/>
              </a:rPr>
              <a:t>independently but also form powerful connections</a:t>
            </a:r>
            <a:pPr>
              <a:lnSpc>
                <a:spcPct val="160000"/>
              </a:lnSpc>
              <a:spcBef>
                <a:spcPts val="800"/>
              </a:spcBef>
            </a:pPr>
            <a:r>
              <a:rPr lang="en-US" sz="1600" dirty="0">
                <a:solidFill>
                  <a:srgbClr val="2D2926"/>
                </a:solidFill>
                <a:latin typeface="Quattrocento Sans" pitchFamily="34" charset="0"/>
                <a:ea typeface="Quattrocento Sans" pitchFamily="34" charset="-122"/>
                <a:cs typeface="Quattrocento Sans" pitchFamily="34" charset="-120"/>
              </a:rPr>
              <a:t> that enhance memory and learning.</a:t>
            </a:r>
            <a:endParaRPr lang="en-US" sz="1600" dirty="0"/>
          </a:p>
        </p:txBody>
      </p:sp>
      <p:sp>
        <p:nvSpPr>
          <p:cNvPr id="8" name="Shape 6"/>
          <p:cNvSpPr/>
          <p:nvPr/>
        </p:nvSpPr>
        <p:spPr>
          <a:xfrm>
            <a:off x="9652000" y="1587500"/>
            <a:ext cx="5842000" cy="1778000"/>
          </a:xfrm>
          <a:prstGeom prst="rect">
            <a:avLst/>
          </a:prstGeom>
          <a:solidFill>
            <a:srgbClr val="B85C38"/>
          </a:solidFill>
          <a:ln/>
        </p:spPr>
      </p:sp>
      <p:sp>
        <p:nvSpPr>
          <p:cNvPr id="9" name="Shape 7"/>
          <p:cNvSpPr/>
          <p:nvPr/>
        </p:nvSpPr>
        <p:spPr>
          <a:xfrm>
            <a:off x="10055225" y="1905000"/>
            <a:ext cx="311150" cy="355600"/>
          </a:xfrm>
          <a:custGeom>
            <a:avLst/>
            <a:gdLst/>
            <a:ahLst/>
            <a:cxnLst/>
            <a:rect l="l" t="t" r="r" b="b"/>
            <a:pathLst>
              <a:path w="311150" h="355600">
                <a:moveTo>
                  <a:pt x="167590" y="-9029"/>
                </a:moveTo>
                <a:cubicBezTo>
                  <a:pt x="159673" y="-10626"/>
                  <a:pt x="151547" y="-10626"/>
                  <a:pt x="143629" y="-9029"/>
                </a:cubicBezTo>
                <a:lnTo>
                  <a:pt x="13404" y="17016"/>
                </a:lnTo>
                <a:cubicBezTo>
                  <a:pt x="5626" y="18544"/>
                  <a:pt x="0" y="25420"/>
                  <a:pt x="0" y="33337"/>
                </a:cubicBezTo>
                <a:cubicBezTo>
                  <a:pt x="0" y="40491"/>
                  <a:pt x="4514" y="46742"/>
                  <a:pt x="11112" y="49034"/>
                </a:cubicBezTo>
                <a:lnTo>
                  <a:pt x="11112" y="100013"/>
                </a:lnTo>
                <a:lnTo>
                  <a:pt x="208" y="154603"/>
                </a:lnTo>
                <a:cubicBezTo>
                  <a:pt x="69" y="155228"/>
                  <a:pt x="0" y="155922"/>
                  <a:pt x="0" y="156617"/>
                </a:cubicBezTo>
                <a:cubicBezTo>
                  <a:pt x="0" y="162173"/>
                  <a:pt x="4514" y="166757"/>
                  <a:pt x="10140" y="166757"/>
                </a:cubicBezTo>
                <a:lnTo>
                  <a:pt x="34379" y="166757"/>
                </a:lnTo>
                <a:cubicBezTo>
                  <a:pt x="39936" y="166757"/>
                  <a:pt x="44519" y="162243"/>
                  <a:pt x="44519" y="156617"/>
                </a:cubicBezTo>
                <a:cubicBezTo>
                  <a:pt x="44519" y="155922"/>
                  <a:pt x="44450" y="155297"/>
                  <a:pt x="44311" y="154603"/>
                </a:cubicBezTo>
                <a:lnTo>
                  <a:pt x="33337" y="100013"/>
                </a:lnTo>
                <a:lnTo>
                  <a:pt x="33337" y="53687"/>
                </a:lnTo>
                <a:lnTo>
                  <a:pt x="66675" y="60355"/>
                </a:lnTo>
                <a:lnTo>
                  <a:pt x="66675" y="100013"/>
                </a:lnTo>
                <a:cubicBezTo>
                  <a:pt x="66675" y="149116"/>
                  <a:pt x="106472" y="188913"/>
                  <a:pt x="155575" y="188913"/>
                </a:cubicBezTo>
                <a:cubicBezTo>
                  <a:pt x="204678" y="188913"/>
                  <a:pt x="244475" y="149116"/>
                  <a:pt x="244475" y="100013"/>
                </a:cubicBezTo>
                <a:lnTo>
                  <a:pt x="244475" y="60355"/>
                </a:lnTo>
                <a:lnTo>
                  <a:pt x="297746" y="49728"/>
                </a:lnTo>
                <a:cubicBezTo>
                  <a:pt x="305524" y="48131"/>
                  <a:pt x="311150" y="41255"/>
                  <a:pt x="311150" y="33337"/>
                </a:cubicBezTo>
                <a:cubicBezTo>
                  <a:pt x="311150" y="25420"/>
                  <a:pt x="305524" y="18544"/>
                  <a:pt x="297746" y="17016"/>
                </a:cubicBezTo>
                <a:lnTo>
                  <a:pt x="167590" y="-9029"/>
                </a:lnTo>
                <a:close/>
                <a:moveTo>
                  <a:pt x="155575" y="155575"/>
                </a:moveTo>
                <a:cubicBezTo>
                  <a:pt x="124877" y="155575"/>
                  <a:pt x="100013" y="130711"/>
                  <a:pt x="100013" y="100013"/>
                </a:cubicBezTo>
                <a:lnTo>
                  <a:pt x="211138" y="100013"/>
                </a:lnTo>
                <a:cubicBezTo>
                  <a:pt x="211138" y="130711"/>
                  <a:pt x="186273" y="155575"/>
                  <a:pt x="155575" y="155575"/>
                </a:cubicBezTo>
                <a:close/>
                <a:moveTo>
                  <a:pt x="83413" y="222319"/>
                </a:moveTo>
                <a:cubicBezTo>
                  <a:pt x="40769" y="241905"/>
                  <a:pt x="11112" y="284966"/>
                  <a:pt x="11112" y="334972"/>
                </a:cubicBezTo>
                <a:cubicBezTo>
                  <a:pt x="11112" y="346363"/>
                  <a:pt x="20350" y="355600"/>
                  <a:pt x="31740" y="355600"/>
                </a:cubicBezTo>
                <a:lnTo>
                  <a:pt x="138906" y="355600"/>
                </a:lnTo>
                <a:lnTo>
                  <a:pt x="138906" y="254198"/>
                </a:lnTo>
                <a:lnTo>
                  <a:pt x="99040" y="224334"/>
                </a:lnTo>
                <a:cubicBezTo>
                  <a:pt x="94526" y="220930"/>
                  <a:pt x="88483" y="220028"/>
                  <a:pt x="83344" y="222389"/>
                </a:cubicBezTo>
                <a:close/>
                <a:moveTo>
                  <a:pt x="172244" y="355600"/>
                </a:moveTo>
                <a:lnTo>
                  <a:pt x="279410" y="355600"/>
                </a:lnTo>
                <a:cubicBezTo>
                  <a:pt x="290800" y="355600"/>
                  <a:pt x="300038" y="346363"/>
                  <a:pt x="300038" y="334972"/>
                </a:cubicBezTo>
                <a:cubicBezTo>
                  <a:pt x="300038" y="284966"/>
                  <a:pt x="270381" y="241905"/>
                  <a:pt x="227737" y="222389"/>
                </a:cubicBezTo>
                <a:cubicBezTo>
                  <a:pt x="222597" y="220028"/>
                  <a:pt x="216555" y="220930"/>
                  <a:pt x="212040" y="224334"/>
                </a:cubicBezTo>
                <a:lnTo>
                  <a:pt x="172174" y="254198"/>
                </a:lnTo>
                <a:lnTo>
                  <a:pt x="172174" y="355600"/>
                </a:lnTo>
                <a:close/>
              </a:path>
            </a:pathLst>
          </a:custGeom>
          <a:solidFill>
            <a:srgbClr val="FFFFFF"/>
          </a:solidFill>
          <a:ln/>
        </p:spPr>
      </p:sp>
      <p:sp>
        <p:nvSpPr>
          <p:cNvPr id="10" name="Text 8"/>
          <p:cNvSpPr/>
          <p:nvPr/>
        </p:nvSpPr>
        <p:spPr>
          <a:xfrm>
            <a:off x="10541000" y="1841500"/>
            <a:ext cx="3810000" cy="317500"/>
          </a:xfrm>
          <a:prstGeom prst="rect">
            <a:avLst/>
          </a:prstGeom>
          <a:noFill/>
          <a:ln/>
        </p:spPr>
        <p:txBody>
          <a:bodyPr wrap="none" lIns="0" tIns="0" rIns="0" bIns="0" rtlCol="0" anchor="ctr"/>
          <a:lstStyle/>
          <a:p>
            <a:pPr>
              <a:lnSpc>
                <a:spcPct val="100000"/>
              </a:lnSpc>
            </a:pPr>
            <a:r>
              <a:rPr lang="en-US" sz="1400" spc="200" kern="0" dirty="0">
                <a:solidFill>
                  <a:srgbClr val="FFFFFF"/>
                </a:solidFill>
                <a:latin typeface="Quattrocento Sans" pitchFamily="34" charset="0"/>
                <a:ea typeface="Quattrocento Sans" pitchFamily="34" charset="-122"/>
                <a:cs typeface="Quattrocento Sans" pitchFamily="34" charset="-120"/>
              </a:rPr>
              <a:t>ABOUT THE AUTHOR</a:t>
            </a:r>
            <a:endParaRPr lang="en-US" sz="1600" dirty="0"/>
          </a:p>
        </p:txBody>
      </p:sp>
      <p:sp>
        <p:nvSpPr>
          <p:cNvPr id="11" name="Text 9"/>
          <p:cNvSpPr/>
          <p:nvPr/>
        </p:nvSpPr>
        <p:spPr>
          <a:xfrm>
            <a:off x="10033000" y="2286000"/>
            <a:ext cx="5080000" cy="1079500"/>
          </a:xfrm>
          <a:prstGeom prst="rect">
            <a:avLst/>
          </a:prstGeom>
          <a:noFill/>
          <a:ln/>
        </p:spPr>
        <p:txBody>
          <a:bodyPr wrap="square" lIns="0" tIns="0" rIns="0" bIns="0" rtlCol="0" anchor="t"/>
          <a:lstStyle/>
          <a:p>
            <a:pPr>
              <a:lnSpc>
                <a:spcPct val="150000"/>
              </a:lnSpc>
            </a:pPr>
            <a:r>
              <a:rPr lang="en-US" sz="1500" b="1" dirty="0">
                <a:solidFill>
                  <a:srgbClr val="FFFFFF">
                    <a:alpha val="86667"/>
                  </a:srgbClr>
                </a:solidFill>
                <a:latin typeface="Quattrocento Sans" pitchFamily="34" charset="0"/>
                <a:ea typeface="Quattrocento Sans" pitchFamily="34" charset="-122"/>
                <a:cs typeface="Quattrocento Sans" pitchFamily="34" charset="-120"/>
              </a:rPr>
              <a:t>Allan Paivio</a:t>
            </a:r>
            <a:pPr>
              <a:lnSpc>
                <a:spcPct val="150000"/>
              </a:lnSpc>
            </a:pPr>
            <a:r>
              <a:rPr lang="en-US" sz="1500" dirty="0">
                <a:solidFill>
                  <a:srgbClr val="FFFFFF">
                    <a:alpha val="86667"/>
                  </a:srgbClr>
                </a:solidFill>
                <a:latin typeface="Quattrocento Sans" pitchFamily="34" charset="0"/>
                <a:ea typeface="Quattrocento Sans" pitchFamily="34" charset="-122"/>
                <a:cs typeface="Quattrocento Sans" pitchFamily="34" charset="-120"/>
              </a:rPr>
              <a:t> - Canadian psychologist who revolutionized our understanding of how verbal and visual information interact in memory.</a:t>
            </a:r>
            <a:endParaRPr lang="en-US" sz="1600" dirty="0"/>
          </a:p>
        </p:txBody>
      </p:sp>
      <p:sp>
        <p:nvSpPr>
          <p:cNvPr id="12" name="Shape 10"/>
          <p:cNvSpPr/>
          <p:nvPr/>
        </p:nvSpPr>
        <p:spPr>
          <a:xfrm>
            <a:off x="9652000" y="3683000"/>
            <a:ext cx="5842000" cy="1714500"/>
          </a:xfrm>
          <a:prstGeom prst="rect">
            <a:avLst/>
          </a:prstGeom>
          <a:solidFill>
            <a:srgbClr val="2D2926"/>
          </a:solidFill>
          <a:ln/>
        </p:spPr>
      </p:sp>
      <p:sp>
        <p:nvSpPr>
          <p:cNvPr id="13" name="Text 11"/>
          <p:cNvSpPr/>
          <p:nvPr/>
        </p:nvSpPr>
        <p:spPr>
          <a:xfrm>
            <a:off x="10033000" y="3810000"/>
            <a:ext cx="2540000" cy="762000"/>
          </a:xfrm>
          <a:prstGeom prst="rect">
            <a:avLst/>
          </a:prstGeom>
          <a:noFill/>
          <a:ln/>
        </p:spPr>
        <p:txBody>
          <a:bodyPr wrap="none" lIns="0" tIns="0" rIns="0" bIns="0" rtlCol="0" anchor="ctr"/>
          <a:lstStyle/>
          <a:p>
            <a:pPr>
              <a:lnSpc>
                <a:spcPct val="100000"/>
              </a:lnSpc>
            </a:pPr>
            <a:r>
              <a:rPr lang="en-US" sz="4800" b="1" dirty="0">
                <a:solidFill>
                  <a:srgbClr val="B85C38"/>
                </a:solidFill>
                <a:latin typeface="Quattrocento Sans" pitchFamily="34" charset="0"/>
                <a:ea typeface="Quattrocento Sans" pitchFamily="34" charset="-122"/>
                <a:cs typeface="Quattrocento Sans" pitchFamily="34" charset="-120"/>
              </a:rPr>
              <a:t>1971</a:t>
            </a:r>
            <a:endParaRPr lang="en-US" sz="1600" dirty="0"/>
          </a:p>
        </p:txBody>
      </p:sp>
      <p:sp>
        <p:nvSpPr>
          <p:cNvPr id="14" name="Text 12"/>
          <p:cNvSpPr/>
          <p:nvPr/>
        </p:nvSpPr>
        <p:spPr>
          <a:xfrm>
            <a:off x="10033000" y="4635500"/>
            <a:ext cx="5080000" cy="698500"/>
          </a:xfrm>
          <a:prstGeom prst="rect">
            <a:avLst/>
          </a:prstGeom>
          <a:noFill/>
          <a:ln/>
        </p:spPr>
        <p:txBody>
          <a:bodyPr wrap="square" lIns="0" tIns="0" rIns="0" bIns="0" rtlCol="0" anchor="t"/>
          <a:lstStyle/>
          <a:p>
            <a:pPr>
              <a:lnSpc>
                <a:spcPct val="14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Year Dual Coding Theory was first published, establishing a new framework for understanding multimodal cognition</a:t>
            </a:r>
            <a:endParaRPr lang="en-US" sz="1600" dirty="0"/>
          </a:p>
        </p:txBody>
      </p:sp>
      <p:sp>
        <p:nvSpPr>
          <p:cNvPr id="15" name="Shape 13"/>
          <p:cNvSpPr/>
          <p:nvPr/>
        </p:nvSpPr>
        <p:spPr>
          <a:xfrm>
            <a:off x="762000" y="5778500"/>
            <a:ext cx="14732000" cy="1016000"/>
          </a:xfrm>
          <a:prstGeom prst="rect">
            <a:avLst/>
          </a:prstGeom>
          <a:solidFill>
            <a:srgbClr val="B85C38"/>
          </a:solidFill>
          <a:ln/>
        </p:spPr>
      </p:sp>
      <p:sp>
        <p:nvSpPr>
          <p:cNvPr id="16" name="Shape 14"/>
          <p:cNvSpPr/>
          <p:nvPr/>
        </p:nvSpPr>
        <p:spPr>
          <a:xfrm>
            <a:off x="1079500" y="6032500"/>
            <a:ext cx="355600" cy="355600"/>
          </a:xfrm>
          <a:custGeom>
            <a:avLst/>
            <a:gdLst/>
            <a:ahLst/>
            <a:cxnLst/>
            <a:rect l="l" t="t" r="r" b="b"/>
            <a:pathLst>
              <a:path w="355600" h="355600">
                <a:moveTo>
                  <a:pt x="233363" y="244475"/>
                </a:moveTo>
                <a:cubicBezTo>
                  <a:pt x="300871" y="244475"/>
                  <a:pt x="355600" y="189746"/>
                  <a:pt x="355600" y="122238"/>
                </a:cubicBezTo>
                <a:cubicBezTo>
                  <a:pt x="355600" y="54729"/>
                  <a:pt x="300871" y="0"/>
                  <a:pt x="233363" y="0"/>
                </a:cubicBezTo>
                <a:cubicBezTo>
                  <a:pt x="165854" y="0"/>
                  <a:pt x="111125" y="54729"/>
                  <a:pt x="111125" y="122238"/>
                </a:cubicBezTo>
                <a:cubicBezTo>
                  <a:pt x="111125" y="135225"/>
                  <a:pt x="113139" y="147796"/>
                  <a:pt x="116890" y="159534"/>
                </a:cubicBezTo>
                <a:lnTo>
                  <a:pt x="4862" y="271562"/>
                </a:lnTo>
                <a:cubicBezTo>
                  <a:pt x="1736" y="274687"/>
                  <a:pt x="0" y="278924"/>
                  <a:pt x="0" y="283369"/>
                </a:cubicBezTo>
                <a:lnTo>
                  <a:pt x="0" y="338931"/>
                </a:lnTo>
                <a:cubicBezTo>
                  <a:pt x="0" y="348169"/>
                  <a:pt x="7431" y="355600"/>
                  <a:pt x="16669" y="355600"/>
                </a:cubicBezTo>
                <a:lnTo>
                  <a:pt x="72231" y="355600"/>
                </a:lnTo>
                <a:cubicBezTo>
                  <a:pt x="81469" y="355600"/>
                  <a:pt x="88900" y="348169"/>
                  <a:pt x="88900" y="338931"/>
                </a:cubicBezTo>
                <a:lnTo>
                  <a:pt x="88900" y="311150"/>
                </a:lnTo>
                <a:lnTo>
                  <a:pt x="116681" y="311150"/>
                </a:lnTo>
                <a:cubicBezTo>
                  <a:pt x="125919" y="311150"/>
                  <a:pt x="133350" y="303719"/>
                  <a:pt x="133350" y="294481"/>
                </a:cubicBezTo>
                <a:lnTo>
                  <a:pt x="133350" y="266700"/>
                </a:lnTo>
                <a:lnTo>
                  <a:pt x="161131" y="266700"/>
                </a:lnTo>
                <a:cubicBezTo>
                  <a:pt x="165576" y="266700"/>
                  <a:pt x="169813" y="264964"/>
                  <a:pt x="172938" y="261838"/>
                </a:cubicBezTo>
                <a:lnTo>
                  <a:pt x="196066" y="238710"/>
                </a:lnTo>
                <a:cubicBezTo>
                  <a:pt x="207804" y="242461"/>
                  <a:pt x="220375" y="244475"/>
                  <a:pt x="233363" y="244475"/>
                </a:cubicBezTo>
                <a:close/>
                <a:moveTo>
                  <a:pt x="261144" y="66675"/>
                </a:moveTo>
                <a:cubicBezTo>
                  <a:pt x="276477" y="66675"/>
                  <a:pt x="288925" y="79123"/>
                  <a:pt x="288925" y="94456"/>
                </a:cubicBezTo>
                <a:cubicBezTo>
                  <a:pt x="288925" y="109789"/>
                  <a:pt x="276477" y="122238"/>
                  <a:pt x="261144" y="122238"/>
                </a:cubicBezTo>
                <a:cubicBezTo>
                  <a:pt x="245811" y="122238"/>
                  <a:pt x="233363" y="109789"/>
                  <a:pt x="233363" y="94456"/>
                </a:cubicBezTo>
                <a:cubicBezTo>
                  <a:pt x="233363" y="79123"/>
                  <a:pt x="245811" y="66675"/>
                  <a:pt x="261144" y="66675"/>
                </a:cubicBezTo>
                <a:close/>
              </a:path>
            </a:pathLst>
          </a:custGeom>
          <a:solidFill>
            <a:srgbClr val="FFFFFF"/>
          </a:solidFill>
          <a:ln/>
        </p:spPr>
      </p:sp>
      <p:sp>
        <p:nvSpPr>
          <p:cNvPr id="17" name="Text 15"/>
          <p:cNvSpPr/>
          <p:nvPr/>
        </p:nvSpPr>
        <p:spPr>
          <a:xfrm>
            <a:off x="1587500" y="5905500"/>
            <a:ext cx="13589000" cy="762000"/>
          </a:xfrm>
          <a:prstGeom prst="rect">
            <a:avLst/>
          </a:prstGeom>
          <a:noFill/>
          <a:ln/>
        </p:spPr>
        <p:txBody>
          <a:bodyPr wrap="square" lIns="0" tIns="0" rIns="0" bIns="0" rtlCol="0" anchor="ctr"/>
          <a:lstStyle/>
          <a:p>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Core Insight:</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When teachers use both verbal and visual elements, students create more complex interconnected memories, leading to better retention and understanding.</a:t>
            </a:r>
            <a:endParaRPr lang="en-US" sz="1600" dirty="0"/>
          </a:p>
        </p:txBody>
      </p:sp>
      <p:sp>
        <p:nvSpPr>
          <p:cNvPr id="18" name="Text 16"/>
          <p:cNvSpPr/>
          <p:nvPr/>
        </p:nvSpPr>
        <p:spPr>
          <a:xfrm>
            <a:off x="762000" y="71120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NTU Academic Development Blog, 2025</a:t>
            </a:r>
            <a:endParaRPr lang="en-US" sz="1300" dirty="0"/>
          </a:p>
        </p:txBody>
      </p:sp>
      <p:sp>
        <p:nvSpPr>
          <p:cNvPr id="19" name="Shape 17"/>
          <p:cNvSpPr/>
          <p:nvPr/>
        </p:nvSpPr>
        <p:spPr>
          <a:xfrm>
            <a:off x="762000" y="8699500"/>
            <a:ext cx="508000" cy="38100"/>
          </a:xfrm>
          <a:prstGeom prst="rect">
            <a:avLst/>
          </a:prstGeom>
          <a:solidFill>
            <a:srgbClr val="B85C38"/>
          </a:solidFill>
          <a:ln/>
        </p:spPr>
      </p:sp>
      <p:sp>
        <p:nvSpPr>
          <p:cNvPr id="20" name="Text 18"/>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20</a:t>
            </a:r>
            <a:endParaRPr lang="en-US" sz="13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Two Cognitive Processing Systems</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651000"/>
            <a:ext cx="7112000" cy="3302000"/>
          </a:xfrm>
          <a:prstGeom prst="rect">
            <a:avLst/>
          </a:prstGeom>
          <a:solidFill>
            <a:srgbClr val="B85C38"/>
          </a:solidFill>
          <a:ln/>
        </p:spPr>
      </p:sp>
      <p:sp>
        <p:nvSpPr>
          <p:cNvPr id="6" name="Shape 4"/>
          <p:cNvSpPr/>
          <p:nvPr/>
        </p:nvSpPr>
        <p:spPr>
          <a:xfrm>
            <a:off x="1079500" y="1968500"/>
            <a:ext cx="508000" cy="508000"/>
          </a:xfrm>
          <a:custGeom>
            <a:avLst/>
            <a:gdLst/>
            <a:ahLst/>
            <a:cxnLst/>
            <a:rect l="l" t="t" r="r" b="b"/>
            <a:pathLst>
              <a:path w="508000" h="508000">
                <a:moveTo>
                  <a:pt x="282873" y="50304"/>
                </a:moveTo>
                <a:cubicBezTo>
                  <a:pt x="277713" y="38993"/>
                  <a:pt x="266402" y="31750"/>
                  <a:pt x="254000" y="31750"/>
                </a:cubicBezTo>
                <a:cubicBezTo>
                  <a:pt x="241598" y="31750"/>
                  <a:pt x="230287" y="38993"/>
                  <a:pt x="225127" y="50304"/>
                </a:cubicBezTo>
                <a:lnTo>
                  <a:pt x="59035" y="412750"/>
                </a:lnTo>
                <a:lnTo>
                  <a:pt x="47625" y="412750"/>
                </a:lnTo>
                <a:cubicBezTo>
                  <a:pt x="30063" y="412750"/>
                  <a:pt x="15875" y="426938"/>
                  <a:pt x="15875" y="444500"/>
                </a:cubicBezTo>
                <a:cubicBezTo>
                  <a:pt x="15875" y="462062"/>
                  <a:pt x="30063" y="476250"/>
                  <a:pt x="47625" y="476250"/>
                </a:cubicBezTo>
                <a:lnTo>
                  <a:pt x="134938" y="476250"/>
                </a:lnTo>
                <a:cubicBezTo>
                  <a:pt x="152499" y="476250"/>
                  <a:pt x="166688" y="462062"/>
                  <a:pt x="166688" y="444500"/>
                </a:cubicBezTo>
                <a:cubicBezTo>
                  <a:pt x="166688" y="426938"/>
                  <a:pt x="152499" y="412750"/>
                  <a:pt x="134938" y="412750"/>
                </a:cubicBezTo>
                <a:lnTo>
                  <a:pt x="128885" y="412750"/>
                </a:lnTo>
                <a:lnTo>
                  <a:pt x="150713" y="365125"/>
                </a:lnTo>
                <a:lnTo>
                  <a:pt x="357386" y="365125"/>
                </a:lnTo>
                <a:lnTo>
                  <a:pt x="379214" y="412750"/>
                </a:lnTo>
                <a:lnTo>
                  <a:pt x="373162" y="412750"/>
                </a:lnTo>
                <a:cubicBezTo>
                  <a:pt x="355600" y="412750"/>
                  <a:pt x="341412" y="426938"/>
                  <a:pt x="341412" y="444500"/>
                </a:cubicBezTo>
                <a:cubicBezTo>
                  <a:pt x="341412" y="462062"/>
                  <a:pt x="355600" y="476250"/>
                  <a:pt x="373162" y="476250"/>
                </a:cubicBezTo>
                <a:lnTo>
                  <a:pt x="460474" y="476250"/>
                </a:lnTo>
                <a:cubicBezTo>
                  <a:pt x="478036" y="476250"/>
                  <a:pt x="492224" y="462062"/>
                  <a:pt x="492224" y="444500"/>
                </a:cubicBezTo>
                <a:cubicBezTo>
                  <a:pt x="492224" y="426938"/>
                  <a:pt x="478036" y="412750"/>
                  <a:pt x="460474" y="412750"/>
                </a:cubicBezTo>
                <a:lnTo>
                  <a:pt x="449064" y="412750"/>
                </a:lnTo>
                <a:lnTo>
                  <a:pt x="282972" y="50304"/>
                </a:lnTo>
                <a:close/>
                <a:moveTo>
                  <a:pt x="328216" y="301625"/>
                </a:moveTo>
                <a:lnTo>
                  <a:pt x="179784" y="301625"/>
                </a:lnTo>
                <a:lnTo>
                  <a:pt x="254000" y="139700"/>
                </a:lnTo>
                <a:lnTo>
                  <a:pt x="328216" y="301625"/>
                </a:lnTo>
                <a:close/>
              </a:path>
            </a:pathLst>
          </a:custGeom>
          <a:solidFill>
            <a:srgbClr val="FFFFFF"/>
          </a:solidFill>
          <a:ln/>
        </p:spPr>
      </p:sp>
      <p:sp>
        <p:nvSpPr>
          <p:cNvPr id="7" name="Text 5"/>
          <p:cNvSpPr/>
          <p:nvPr/>
        </p:nvSpPr>
        <p:spPr>
          <a:xfrm>
            <a:off x="1778000" y="1968500"/>
            <a:ext cx="3810000" cy="444500"/>
          </a:xfrm>
          <a:prstGeom prst="rect">
            <a:avLst/>
          </a:prstGeom>
          <a:noFill/>
          <a:ln/>
        </p:spPr>
        <p:txBody>
          <a:bodyPr wrap="none" lIns="0" tIns="0" rIns="0" bIns="0" rtlCol="0" anchor="ctr"/>
          <a:lstStyle/>
          <a:p>
            <a:pPr>
              <a:lnSpc>
                <a:spcPct val="100000"/>
              </a:lnSpc>
            </a:pPr>
            <a:r>
              <a:rPr lang="en-US" sz="2200" b="1" dirty="0">
                <a:solidFill>
                  <a:srgbClr val="FFFFFF"/>
                </a:solidFill>
                <a:latin typeface="Quattrocento Sans" pitchFamily="34" charset="0"/>
                <a:ea typeface="Quattrocento Sans" pitchFamily="34" charset="-122"/>
                <a:cs typeface="Quattrocento Sans" pitchFamily="34" charset="-120"/>
              </a:rPr>
              <a:t>The Verbal System</a:t>
            </a:r>
            <a:endParaRPr lang="en-US" sz="1600" dirty="0"/>
          </a:p>
        </p:txBody>
      </p:sp>
      <p:sp>
        <p:nvSpPr>
          <p:cNvPr id="8" name="Text 6"/>
          <p:cNvSpPr/>
          <p:nvPr/>
        </p:nvSpPr>
        <p:spPr>
          <a:xfrm>
            <a:off x="1079500" y="2603500"/>
            <a:ext cx="6477000" cy="2159000"/>
          </a:xfrm>
          <a:prstGeom prst="rect">
            <a:avLst/>
          </a:prstGeom>
          <a:noFill/>
          <a:ln/>
        </p:spPr>
        <p:txBody>
          <a:bodyPr wrap="square" lIns="0" tIns="0" rIns="0" bIns="0" rtlCol="0" anchor="t"/>
          <a:lstStyle/>
          <a:p>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Responsible for processing </a:t>
            </a:r>
            <a:pPr>
              <a:lnSpc>
                <a:spcPct val="16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language</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 both spoken and written words.</a:t>
            </a:r>
            <a:endParaRPr lang="en-US" sz="1600" dirty="0"/>
          </a:p>
          <a:p>
            <a:pPr>
              <a:lnSpc>
                <a:spcPct val="160000"/>
              </a:lnSpc>
              <a:spcBef>
                <a:spcPts val="600"/>
              </a:spcBef>
            </a:pPr>
            <a:r>
              <a:rPr lang="en-US" sz="1600" dirty="0">
                <a:solidFill>
                  <a:srgbClr val="FFFFFF">
                    <a:alpha val="86667"/>
                  </a:srgbClr>
                </a:solidFill>
                <a:latin typeface="Quattrocento Sans" pitchFamily="34" charset="0"/>
                <a:ea typeface="Quattrocento Sans" pitchFamily="34" charset="-122"/>
                <a:cs typeface="Quattrocento Sans" pitchFamily="34" charset="-120"/>
              </a:rPr>
              <a:t>Creates </a:t>
            </a:r>
            <a:pPr>
              <a:lnSpc>
                <a:spcPct val="160000"/>
              </a:lnSpc>
              <a:spcBef>
                <a:spcPts val="600"/>
              </a:spcBef>
            </a:pPr>
            <a:r>
              <a:rPr lang="en-US" sz="1600" b="1" dirty="0">
                <a:solidFill>
                  <a:srgbClr val="FFFFFF">
                    <a:alpha val="86667"/>
                  </a:srgbClr>
                </a:solidFill>
                <a:latin typeface="Quattrocento Sans" pitchFamily="34" charset="0"/>
                <a:ea typeface="Quattrocento Sans" pitchFamily="34" charset="-122"/>
                <a:cs typeface="Quattrocento Sans" pitchFamily="34" charset="-120"/>
              </a:rPr>
              <a:t>logogens</a:t>
            </a:r>
            <a:pPr>
              <a:lnSpc>
                <a:spcPct val="160000"/>
              </a:lnSpc>
              <a:spcBef>
                <a:spcPts val="600"/>
              </a:spcBef>
            </a:pPr>
            <a:r>
              <a:rPr lang="en-US" sz="1600" dirty="0">
                <a:solidFill>
                  <a:srgbClr val="FFFFFF">
                    <a:alpha val="86667"/>
                  </a:srgbClr>
                </a:solidFill>
                <a:latin typeface="Quattrocento Sans" pitchFamily="34" charset="0"/>
                <a:ea typeface="Quattrocento Sans" pitchFamily="34" charset="-122"/>
                <a:cs typeface="Quattrocento Sans" pitchFamily="34" charset="-120"/>
              </a:rPr>
              <a:t> (verbal mental representations) when processing linguistic information.</a:t>
            </a:r>
            <a:endParaRPr lang="en-US" sz="1600" dirty="0"/>
          </a:p>
          <a:p>
            <a:pPr>
              <a:lnSpc>
                <a:spcPct val="160000"/>
              </a:lnSpc>
              <a:spcBef>
                <a:spcPts val="600"/>
              </a:spcBef>
            </a:pPr>
            <a:r>
              <a:rPr lang="en-US" sz="1600" dirty="0">
                <a:solidFill>
                  <a:srgbClr val="FFFFFF">
                    <a:alpha val="86667"/>
                  </a:srgbClr>
                </a:solidFill>
                <a:latin typeface="Quattrocento Sans" pitchFamily="34" charset="0"/>
                <a:ea typeface="Quattrocento Sans" pitchFamily="34" charset="-122"/>
                <a:cs typeface="Quattrocento Sans" pitchFamily="34" charset="-120"/>
              </a:rPr>
              <a:t>Handles words, sentences, and linguistic concepts.</a:t>
            </a:r>
            <a:endParaRPr lang="en-US" sz="1600" dirty="0"/>
          </a:p>
        </p:txBody>
      </p:sp>
      <p:sp>
        <p:nvSpPr>
          <p:cNvPr id="9" name="Shape 7"/>
          <p:cNvSpPr/>
          <p:nvPr/>
        </p:nvSpPr>
        <p:spPr>
          <a:xfrm>
            <a:off x="8382000" y="1651000"/>
            <a:ext cx="7112000" cy="3302000"/>
          </a:xfrm>
          <a:prstGeom prst="rect">
            <a:avLst/>
          </a:prstGeom>
          <a:solidFill>
            <a:srgbClr val="2D2926"/>
          </a:solidFill>
          <a:ln/>
        </p:spPr>
      </p:sp>
      <p:sp>
        <p:nvSpPr>
          <p:cNvPr id="10" name="Shape 8"/>
          <p:cNvSpPr/>
          <p:nvPr/>
        </p:nvSpPr>
        <p:spPr>
          <a:xfrm>
            <a:off x="8731250" y="1968500"/>
            <a:ext cx="444500" cy="508000"/>
          </a:xfrm>
          <a:custGeom>
            <a:avLst/>
            <a:gdLst/>
            <a:ahLst/>
            <a:cxnLst/>
            <a:rect l="l" t="t" r="r" b="b"/>
            <a:pathLst>
              <a:path w="444500" h="508000">
                <a:moveTo>
                  <a:pt x="63500" y="31750"/>
                </a:moveTo>
                <a:cubicBezTo>
                  <a:pt x="28476" y="31750"/>
                  <a:pt x="0" y="60226"/>
                  <a:pt x="0" y="95250"/>
                </a:cubicBezTo>
                <a:lnTo>
                  <a:pt x="0" y="412750"/>
                </a:lnTo>
                <a:cubicBezTo>
                  <a:pt x="0" y="447774"/>
                  <a:pt x="28476" y="476250"/>
                  <a:pt x="63500" y="476250"/>
                </a:cubicBezTo>
                <a:lnTo>
                  <a:pt x="381000" y="476250"/>
                </a:lnTo>
                <a:cubicBezTo>
                  <a:pt x="416024" y="476250"/>
                  <a:pt x="444500" y="447774"/>
                  <a:pt x="444500" y="412750"/>
                </a:cubicBezTo>
                <a:lnTo>
                  <a:pt x="444500" y="95250"/>
                </a:lnTo>
                <a:cubicBezTo>
                  <a:pt x="444500" y="60226"/>
                  <a:pt x="416024" y="31750"/>
                  <a:pt x="381000" y="31750"/>
                </a:cubicBezTo>
                <a:lnTo>
                  <a:pt x="63500" y="31750"/>
                </a:lnTo>
                <a:close/>
                <a:moveTo>
                  <a:pt x="127000" y="111125"/>
                </a:moveTo>
                <a:cubicBezTo>
                  <a:pt x="153285" y="111125"/>
                  <a:pt x="174625" y="132465"/>
                  <a:pt x="174625" y="158750"/>
                </a:cubicBezTo>
                <a:cubicBezTo>
                  <a:pt x="174625" y="185035"/>
                  <a:pt x="153285" y="206375"/>
                  <a:pt x="127000" y="206375"/>
                </a:cubicBezTo>
                <a:cubicBezTo>
                  <a:pt x="100715" y="206375"/>
                  <a:pt x="79375" y="185035"/>
                  <a:pt x="79375" y="158750"/>
                </a:cubicBezTo>
                <a:cubicBezTo>
                  <a:pt x="79375" y="132465"/>
                  <a:pt x="100715" y="111125"/>
                  <a:pt x="127000" y="111125"/>
                </a:cubicBezTo>
                <a:close/>
                <a:moveTo>
                  <a:pt x="269875" y="222250"/>
                </a:moveTo>
                <a:cubicBezTo>
                  <a:pt x="278209" y="222250"/>
                  <a:pt x="285849" y="226616"/>
                  <a:pt x="290215" y="233660"/>
                </a:cubicBezTo>
                <a:lnTo>
                  <a:pt x="377527" y="376535"/>
                </a:lnTo>
                <a:cubicBezTo>
                  <a:pt x="381992" y="383877"/>
                  <a:pt x="382191" y="393105"/>
                  <a:pt x="378023" y="400645"/>
                </a:cubicBezTo>
                <a:cubicBezTo>
                  <a:pt x="373856" y="408186"/>
                  <a:pt x="365820" y="412750"/>
                  <a:pt x="357188" y="412750"/>
                </a:cubicBezTo>
                <a:lnTo>
                  <a:pt x="87313" y="412750"/>
                </a:lnTo>
                <a:cubicBezTo>
                  <a:pt x="78482" y="412750"/>
                  <a:pt x="70247" y="407789"/>
                  <a:pt x="66179" y="399951"/>
                </a:cubicBezTo>
                <a:cubicBezTo>
                  <a:pt x="62111" y="392113"/>
                  <a:pt x="62706" y="382588"/>
                  <a:pt x="67766" y="375345"/>
                </a:cubicBezTo>
                <a:lnTo>
                  <a:pt x="123329" y="295970"/>
                </a:lnTo>
                <a:cubicBezTo>
                  <a:pt x="127794" y="289620"/>
                  <a:pt x="135037" y="285849"/>
                  <a:pt x="142875" y="285849"/>
                </a:cubicBezTo>
                <a:cubicBezTo>
                  <a:pt x="150713" y="285849"/>
                  <a:pt x="157956" y="289620"/>
                  <a:pt x="162421" y="295970"/>
                </a:cubicBezTo>
                <a:lnTo>
                  <a:pt x="188615" y="333474"/>
                </a:lnTo>
                <a:lnTo>
                  <a:pt x="249535" y="233759"/>
                </a:lnTo>
                <a:cubicBezTo>
                  <a:pt x="253901" y="226715"/>
                  <a:pt x="261541" y="222349"/>
                  <a:pt x="269875" y="222349"/>
                </a:cubicBezTo>
                <a:close/>
              </a:path>
            </a:pathLst>
          </a:custGeom>
          <a:solidFill>
            <a:srgbClr val="B85C38"/>
          </a:solidFill>
          <a:ln/>
        </p:spPr>
      </p:sp>
      <p:sp>
        <p:nvSpPr>
          <p:cNvPr id="11" name="Text 9"/>
          <p:cNvSpPr/>
          <p:nvPr/>
        </p:nvSpPr>
        <p:spPr>
          <a:xfrm>
            <a:off x="9398000" y="1968500"/>
            <a:ext cx="4445000" cy="444500"/>
          </a:xfrm>
          <a:prstGeom prst="rect">
            <a:avLst/>
          </a:prstGeom>
          <a:noFill/>
          <a:ln/>
        </p:spPr>
        <p:txBody>
          <a:bodyPr wrap="none" lIns="0" tIns="0" rIns="0" bIns="0" rtlCol="0" anchor="ctr"/>
          <a:lstStyle/>
          <a:p>
            <a:pPr>
              <a:lnSpc>
                <a:spcPct val="100000"/>
              </a:lnSpc>
            </a:pPr>
            <a:r>
              <a:rPr lang="en-US" sz="2200" b="1" dirty="0">
                <a:solidFill>
                  <a:srgbClr val="FFFFFF"/>
                </a:solidFill>
                <a:latin typeface="Quattrocento Sans" pitchFamily="34" charset="0"/>
                <a:ea typeface="Quattrocento Sans" pitchFamily="34" charset="-122"/>
                <a:cs typeface="Quattrocento Sans" pitchFamily="34" charset="-120"/>
              </a:rPr>
              <a:t>The Non-Verbal System</a:t>
            </a:r>
            <a:endParaRPr lang="en-US" sz="1600" dirty="0"/>
          </a:p>
        </p:txBody>
      </p:sp>
      <p:sp>
        <p:nvSpPr>
          <p:cNvPr id="12" name="Text 10"/>
          <p:cNvSpPr/>
          <p:nvPr/>
        </p:nvSpPr>
        <p:spPr>
          <a:xfrm>
            <a:off x="8699500" y="2603500"/>
            <a:ext cx="6477000" cy="2159000"/>
          </a:xfrm>
          <a:prstGeom prst="rect">
            <a:avLst/>
          </a:prstGeom>
          <a:noFill/>
          <a:ln/>
        </p:spPr>
        <p:txBody>
          <a:bodyPr wrap="square" lIns="0" tIns="0" rIns="0" bIns="0" rtlCol="0" anchor="t"/>
          <a:lstStyle/>
          <a:p>
            <a:pPr>
              <a:lnSpc>
                <a:spcPct val="16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Deals with </a:t>
            </a:r>
            <a:pPr>
              <a:lnSpc>
                <a:spcPct val="160000"/>
              </a:lnSpc>
            </a:pPr>
            <a:r>
              <a:rPr lang="en-US" sz="1600" b="1" dirty="0">
                <a:solidFill>
                  <a:srgbClr val="FFFFFF">
                    <a:alpha val="80000"/>
                  </a:srgbClr>
                </a:solidFill>
                <a:latin typeface="Quattrocento Sans" pitchFamily="34" charset="0"/>
                <a:ea typeface="Quattrocento Sans" pitchFamily="34" charset="-122"/>
                <a:cs typeface="Quattrocento Sans" pitchFamily="34" charset="-120"/>
              </a:rPr>
              <a:t>image-based information</a:t>
            </a:r>
            <a:pPr>
              <a:lnSpc>
                <a:spcPct val="16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 visuals, sounds, sensations, and emotions.</a:t>
            </a:r>
            <a:endParaRPr lang="en-US" sz="1600" dirty="0"/>
          </a:p>
          <a:p>
            <a:pPr>
              <a:lnSpc>
                <a:spcPct val="160000"/>
              </a:lnSpc>
              <a:spcBef>
                <a:spcPts val="600"/>
              </a:spcBef>
            </a:pPr>
            <a:r>
              <a:rPr lang="en-US" sz="1600" dirty="0">
                <a:solidFill>
                  <a:srgbClr val="FFFFFF">
                    <a:alpha val="80000"/>
                  </a:srgbClr>
                </a:solidFill>
                <a:latin typeface="Quattrocento Sans" pitchFamily="34" charset="0"/>
                <a:ea typeface="Quattrocento Sans" pitchFamily="34" charset="-122"/>
                <a:cs typeface="Quattrocento Sans" pitchFamily="34" charset="-120"/>
              </a:rPr>
              <a:t>Creates </a:t>
            </a:r>
            <a:pPr>
              <a:lnSpc>
                <a:spcPct val="160000"/>
              </a:lnSpc>
              <a:spcBef>
                <a:spcPts val="600"/>
              </a:spcBef>
            </a:pPr>
            <a:r>
              <a:rPr lang="en-US" sz="1600" b="1" dirty="0">
                <a:solidFill>
                  <a:srgbClr val="FFFFFF">
                    <a:alpha val="80000"/>
                  </a:srgbClr>
                </a:solidFill>
                <a:latin typeface="Quattrocento Sans" pitchFamily="34" charset="0"/>
                <a:ea typeface="Quattrocento Sans" pitchFamily="34" charset="-122"/>
                <a:cs typeface="Quattrocento Sans" pitchFamily="34" charset="-120"/>
              </a:rPr>
              <a:t>imagens</a:t>
            </a:r>
            <a:pPr>
              <a:lnSpc>
                <a:spcPct val="160000"/>
              </a:lnSpc>
              <a:spcBef>
                <a:spcPts val="600"/>
              </a:spcBef>
            </a:pPr>
            <a:r>
              <a:rPr lang="en-US" sz="1600" dirty="0">
                <a:solidFill>
                  <a:srgbClr val="FFFFFF">
                    <a:alpha val="80000"/>
                  </a:srgbClr>
                </a:solidFill>
                <a:latin typeface="Quattrocento Sans" pitchFamily="34" charset="0"/>
                <a:ea typeface="Quattrocento Sans" pitchFamily="34" charset="-122"/>
                <a:cs typeface="Quattrocento Sans" pitchFamily="34" charset="-120"/>
              </a:rPr>
              <a:t> (non-verbal mental representations) when processing visual and sensory information.</a:t>
            </a:r>
            <a:endParaRPr lang="en-US" sz="1600" dirty="0"/>
          </a:p>
          <a:p>
            <a:pPr>
              <a:lnSpc>
                <a:spcPct val="160000"/>
              </a:lnSpc>
              <a:spcBef>
                <a:spcPts val="600"/>
              </a:spcBef>
            </a:pPr>
            <a:r>
              <a:rPr lang="en-US" sz="1600" dirty="0">
                <a:solidFill>
                  <a:srgbClr val="FFFFFF">
                    <a:alpha val="80000"/>
                  </a:srgbClr>
                </a:solidFill>
                <a:latin typeface="Quattrocento Sans" pitchFamily="34" charset="0"/>
                <a:ea typeface="Quattrocento Sans" pitchFamily="34" charset="-122"/>
                <a:cs typeface="Quattrocento Sans" pitchFamily="34" charset="-120"/>
              </a:rPr>
              <a:t>Handles images, sounds, and sensory experiences.</a:t>
            </a:r>
            <a:endParaRPr lang="en-US" sz="1600" dirty="0"/>
          </a:p>
        </p:txBody>
      </p:sp>
      <p:sp>
        <p:nvSpPr>
          <p:cNvPr id="13" name="Shape 11"/>
          <p:cNvSpPr/>
          <p:nvPr/>
        </p:nvSpPr>
        <p:spPr>
          <a:xfrm>
            <a:off x="762000" y="5334000"/>
            <a:ext cx="14732000" cy="1270000"/>
          </a:xfrm>
          <a:prstGeom prst="rect">
            <a:avLst/>
          </a:prstGeom>
          <a:solidFill>
            <a:srgbClr val="EDE6DE"/>
          </a:solidFill>
          <a:ln/>
        </p:spPr>
      </p:sp>
      <p:sp>
        <p:nvSpPr>
          <p:cNvPr id="14" name="Shape 12"/>
          <p:cNvSpPr/>
          <p:nvPr/>
        </p:nvSpPr>
        <p:spPr>
          <a:xfrm>
            <a:off x="1079500" y="5651500"/>
            <a:ext cx="355600" cy="355600"/>
          </a:xfrm>
          <a:custGeom>
            <a:avLst/>
            <a:gdLst/>
            <a:ahLst/>
            <a:cxnLst/>
            <a:rect l="l" t="t" r="r" b="b"/>
            <a:pathLst>
              <a:path w="355600" h="355600">
                <a:moveTo>
                  <a:pt x="45770" y="158700"/>
                </a:moveTo>
                <a:cubicBezTo>
                  <a:pt x="55007" y="94109"/>
                  <a:pt x="110639" y="44450"/>
                  <a:pt x="177800" y="44450"/>
                </a:cubicBezTo>
                <a:cubicBezTo>
                  <a:pt x="214610" y="44450"/>
                  <a:pt x="247948" y="59382"/>
                  <a:pt x="272117" y="83483"/>
                </a:cubicBezTo>
                <a:cubicBezTo>
                  <a:pt x="272256" y="83622"/>
                  <a:pt x="272395" y="83760"/>
                  <a:pt x="272534" y="83899"/>
                </a:cubicBezTo>
                <a:lnTo>
                  <a:pt x="277813" y="88900"/>
                </a:lnTo>
                <a:lnTo>
                  <a:pt x="244544" y="88900"/>
                </a:lnTo>
                <a:cubicBezTo>
                  <a:pt x="232251" y="88900"/>
                  <a:pt x="222319" y="98832"/>
                  <a:pt x="222319" y="111125"/>
                </a:cubicBezTo>
                <a:cubicBezTo>
                  <a:pt x="222319" y="123418"/>
                  <a:pt x="232251" y="133350"/>
                  <a:pt x="244544" y="133350"/>
                </a:cubicBezTo>
                <a:lnTo>
                  <a:pt x="333444" y="133350"/>
                </a:lnTo>
                <a:cubicBezTo>
                  <a:pt x="345738" y="133350"/>
                  <a:pt x="355669" y="123418"/>
                  <a:pt x="355669" y="111125"/>
                </a:cubicBezTo>
                <a:lnTo>
                  <a:pt x="355669" y="22225"/>
                </a:lnTo>
                <a:cubicBezTo>
                  <a:pt x="355669" y="9932"/>
                  <a:pt x="345738" y="0"/>
                  <a:pt x="333444" y="0"/>
                </a:cubicBezTo>
                <a:cubicBezTo>
                  <a:pt x="321151" y="0"/>
                  <a:pt x="311219" y="9932"/>
                  <a:pt x="311219" y="22225"/>
                </a:cubicBezTo>
                <a:lnTo>
                  <a:pt x="311219" y="59313"/>
                </a:lnTo>
                <a:lnTo>
                  <a:pt x="303371" y="51881"/>
                </a:lnTo>
                <a:cubicBezTo>
                  <a:pt x="271214" y="19864"/>
                  <a:pt x="226764" y="0"/>
                  <a:pt x="177800" y="0"/>
                </a:cubicBezTo>
                <a:cubicBezTo>
                  <a:pt x="88205" y="0"/>
                  <a:pt x="14099" y="66258"/>
                  <a:pt x="1806" y="152450"/>
                </a:cubicBezTo>
                <a:cubicBezTo>
                  <a:pt x="69" y="164604"/>
                  <a:pt x="8473" y="175855"/>
                  <a:pt x="20628" y="177592"/>
                </a:cubicBezTo>
                <a:cubicBezTo>
                  <a:pt x="32782" y="179328"/>
                  <a:pt x="44033" y="170855"/>
                  <a:pt x="45770" y="158770"/>
                </a:cubicBezTo>
                <a:close/>
                <a:moveTo>
                  <a:pt x="353794" y="203150"/>
                </a:moveTo>
                <a:cubicBezTo>
                  <a:pt x="355531" y="190996"/>
                  <a:pt x="347057" y="179745"/>
                  <a:pt x="334972" y="178008"/>
                </a:cubicBezTo>
                <a:cubicBezTo>
                  <a:pt x="322888" y="176272"/>
                  <a:pt x="311567" y="184745"/>
                  <a:pt x="309830" y="196830"/>
                </a:cubicBezTo>
                <a:cubicBezTo>
                  <a:pt x="300593" y="261422"/>
                  <a:pt x="244961" y="311081"/>
                  <a:pt x="177800" y="311081"/>
                </a:cubicBezTo>
                <a:cubicBezTo>
                  <a:pt x="140990" y="311081"/>
                  <a:pt x="107652" y="296148"/>
                  <a:pt x="83483" y="272048"/>
                </a:cubicBezTo>
                <a:cubicBezTo>
                  <a:pt x="83344" y="271909"/>
                  <a:pt x="83205" y="271770"/>
                  <a:pt x="83066" y="271631"/>
                </a:cubicBezTo>
                <a:lnTo>
                  <a:pt x="77787" y="266631"/>
                </a:lnTo>
                <a:lnTo>
                  <a:pt x="111056" y="266631"/>
                </a:lnTo>
                <a:cubicBezTo>
                  <a:pt x="123349" y="266631"/>
                  <a:pt x="133281" y="256699"/>
                  <a:pt x="133281" y="244406"/>
                </a:cubicBezTo>
                <a:cubicBezTo>
                  <a:pt x="133281" y="232112"/>
                  <a:pt x="123349" y="222181"/>
                  <a:pt x="111056" y="222181"/>
                </a:cubicBezTo>
                <a:lnTo>
                  <a:pt x="22225" y="222250"/>
                </a:lnTo>
                <a:cubicBezTo>
                  <a:pt x="16321" y="222250"/>
                  <a:pt x="10626" y="224611"/>
                  <a:pt x="6459" y="228848"/>
                </a:cubicBezTo>
                <a:cubicBezTo>
                  <a:pt x="2292" y="233085"/>
                  <a:pt x="-69" y="238710"/>
                  <a:pt x="0" y="244683"/>
                </a:cubicBezTo>
                <a:lnTo>
                  <a:pt x="695" y="332889"/>
                </a:lnTo>
                <a:cubicBezTo>
                  <a:pt x="764" y="345182"/>
                  <a:pt x="10835" y="355044"/>
                  <a:pt x="23128" y="354905"/>
                </a:cubicBezTo>
                <a:cubicBezTo>
                  <a:pt x="35421" y="354767"/>
                  <a:pt x="45283" y="344765"/>
                  <a:pt x="45145" y="332472"/>
                </a:cubicBezTo>
                <a:lnTo>
                  <a:pt x="44867" y="296704"/>
                </a:lnTo>
                <a:lnTo>
                  <a:pt x="52298" y="303719"/>
                </a:lnTo>
                <a:cubicBezTo>
                  <a:pt x="84455" y="335736"/>
                  <a:pt x="128836" y="355600"/>
                  <a:pt x="177800" y="355600"/>
                </a:cubicBezTo>
                <a:cubicBezTo>
                  <a:pt x="267395" y="355600"/>
                  <a:pt x="341501" y="289342"/>
                  <a:pt x="353794" y="203150"/>
                </a:cubicBezTo>
                <a:close/>
              </a:path>
            </a:pathLst>
          </a:custGeom>
          <a:solidFill>
            <a:srgbClr val="B85C38"/>
          </a:solidFill>
          <a:ln/>
        </p:spPr>
      </p:sp>
      <p:sp>
        <p:nvSpPr>
          <p:cNvPr id="15" name="Text 13"/>
          <p:cNvSpPr/>
          <p:nvPr/>
        </p:nvSpPr>
        <p:spPr>
          <a:xfrm>
            <a:off x="1587500" y="5524500"/>
            <a:ext cx="3810000" cy="317500"/>
          </a:xfrm>
          <a:prstGeom prst="rect">
            <a:avLst/>
          </a:prstGeom>
          <a:noFill/>
          <a:ln/>
        </p:spPr>
        <p:txBody>
          <a:bodyPr wrap="none" lIns="0" tIns="0" rIns="0" bIns="0" rtlCol="0" anchor="ctr"/>
          <a:lstStyle/>
          <a:p>
            <a:pPr>
              <a:lnSpc>
                <a:spcPct val="100000"/>
              </a:lnSpc>
            </a:pPr>
            <a:r>
              <a:rPr lang="en-US" sz="1600" b="1" dirty="0">
                <a:solidFill>
                  <a:srgbClr val="B85C38"/>
                </a:solidFill>
                <a:latin typeface="Quattrocento Sans" pitchFamily="34" charset="0"/>
                <a:ea typeface="Quattrocento Sans" pitchFamily="34" charset="-122"/>
                <a:cs typeface="Quattrocento Sans" pitchFamily="34" charset="-120"/>
              </a:rPr>
              <a:t>Key Characteristic</a:t>
            </a:r>
            <a:endParaRPr lang="en-US" sz="1600" dirty="0"/>
          </a:p>
        </p:txBody>
      </p:sp>
      <p:sp>
        <p:nvSpPr>
          <p:cNvPr id="16" name="Text 14"/>
          <p:cNvSpPr/>
          <p:nvPr/>
        </p:nvSpPr>
        <p:spPr>
          <a:xfrm>
            <a:off x="1587500" y="5905500"/>
            <a:ext cx="13589000" cy="5715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These two systems operate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independently</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but can also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interact</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which is the key to enhanced learning and memory through dual coding.</a:t>
            </a:r>
            <a:endParaRPr lang="en-US" sz="1600" dirty="0"/>
          </a:p>
        </p:txBody>
      </p:sp>
      <p:sp>
        <p:nvSpPr>
          <p:cNvPr id="17" name="Text 15"/>
          <p:cNvSpPr/>
          <p:nvPr/>
        </p:nvSpPr>
        <p:spPr>
          <a:xfrm>
            <a:off x="762000" y="6921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Paivio, A. (1971, 2007). Dual Coding Theory.</a:t>
            </a:r>
            <a:endParaRPr lang="en-US" sz="1300" dirty="0"/>
          </a:p>
        </p:txBody>
      </p:sp>
      <p:sp>
        <p:nvSpPr>
          <p:cNvPr id="18" name="Shape 16"/>
          <p:cNvSpPr/>
          <p:nvPr/>
        </p:nvSpPr>
        <p:spPr>
          <a:xfrm>
            <a:off x="762000" y="8699500"/>
            <a:ext cx="508000" cy="38100"/>
          </a:xfrm>
          <a:prstGeom prst="rect">
            <a:avLst/>
          </a:prstGeom>
          <a:solidFill>
            <a:srgbClr val="B85C38"/>
          </a:solidFill>
          <a:ln/>
        </p:spPr>
      </p:sp>
      <p:sp>
        <p:nvSpPr>
          <p:cNvPr id="19" name="Text 17"/>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21</a:t>
            </a:r>
            <a:endParaRPr lang="en-US" sz="13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Representational Connections</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11430000" cy="381000"/>
          </a:xfrm>
          <a:prstGeom prst="rect">
            <a:avLst/>
          </a:prstGeom>
          <a:noFill/>
          <a:ln/>
        </p:spPr>
        <p:txBody>
          <a:bodyPr wrap="none" lIns="0" tIns="0" rIns="0" bIns="0" rtlCol="0" anchor="ctr"/>
          <a:lstStyle/>
          <a:p>
            <a:pPr>
              <a:lnSpc>
                <a:spcPct val="100000"/>
              </a:lnSpc>
            </a:pPr>
            <a:r>
              <a:rPr lang="en-US" sz="1600" dirty="0">
                <a:solidFill>
                  <a:srgbClr val="8C7B6B"/>
                </a:solidFill>
                <a:latin typeface="Quattrocento Sans" pitchFamily="34" charset="0"/>
                <a:ea typeface="Quattrocento Sans" pitchFamily="34" charset="-122"/>
                <a:cs typeface="Quattrocento Sans" pitchFamily="34" charset="-120"/>
              </a:rPr>
              <a:t>Representational connections are formed within each processing system independently:</a:t>
            </a:r>
            <a:endParaRPr lang="en-US" sz="1600" dirty="0"/>
          </a:p>
        </p:txBody>
      </p:sp>
      <p:sp>
        <p:nvSpPr>
          <p:cNvPr id="6" name="Shape 4"/>
          <p:cNvSpPr/>
          <p:nvPr/>
        </p:nvSpPr>
        <p:spPr>
          <a:xfrm>
            <a:off x="762000" y="2095500"/>
            <a:ext cx="7112000" cy="3175000"/>
          </a:xfrm>
          <a:prstGeom prst="rect">
            <a:avLst/>
          </a:prstGeom>
          <a:solidFill>
            <a:srgbClr val="EDE6DE"/>
          </a:solidFill>
          <a:ln/>
        </p:spPr>
      </p:sp>
      <p:sp>
        <p:nvSpPr>
          <p:cNvPr id="7" name="Text 5"/>
          <p:cNvSpPr/>
          <p:nvPr/>
        </p:nvSpPr>
        <p:spPr>
          <a:xfrm>
            <a:off x="1079500" y="2286000"/>
            <a:ext cx="3810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VERBAL SYSTEM</a:t>
            </a:r>
            <a:endParaRPr lang="en-US" sz="1600" dirty="0"/>
          </a:p>
        </p:txBody>
      </p:sp>
      <p:sp>
        <p:nvSpPr>
          <p:cNvPr id="8" name="Text 6"/>
          <p:cNvSpPr/>
          <p:nvPr/>
        </p:nvSpPr>
        <p:spPr>
          <a:xfrm>
            <a:off x="1079500" y="2730500"/>
            <a:ext cx="2540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Logogens</a:t>
            </a:r>
            <a:endParaRPr lang="en-US" sz="1600" dirty="0"/>
          </a:p>
        </p:txBody>
      </p:sp>
      <p:sp>
        <p:nvSpPr>
          <p:cNvPr id="9" name="Text 7"/>
          <p:cNvSpPr/>
          <p:nvPr/>
        </p:nvSpPr>
        <p:spPr>
          <a:xfrm>
            <a:off x="1079500" y="3238500"/>
            <a:ext cx="6477000" cy="19685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When the brain receives a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verbal stimulus</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(hearing or reading a word), it forms a cognitive structure in the verbal system called a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logogen</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a:t>
            </a:r>
            <a:endParaRPr lang="en-US" sz="1600" dirty="0"/>
          </a:p>
          <a:p>
            <a:pPr>
              <a:lnSpc>
                <a:spcPct val="150000"/>
              </a:lnSpc>
              <a:spcBef>
                <a:spcPts val="600"/>
              </a:spcBef>
            </a:pPr>
            <a:r>
              <a:rPr lang="en-US" sz="1600" dirty="0">
                <a:solidFill>
                  <a:srgbClr val="2D2926"/>
                </a:solidFill>
                <a:latin typeface="Quattrocento Sans" pitchFamily="34" charset="0"/>
                <a:ea typeface="Quattrocento Sans" pitchFamily="34" charset="-122"/>
                <a:cs typeface="Quattrocento Sans" pitchFamily="34" charset="-120"/>
              </a:rPr>
              <a:t>These connections are activated when we encounter the same or similar words again.</a:t>
            </a:r>
            <a:endParaRPr lang="en-US" sz="1600" dirty="0"/>
          </a:p>
        </p:txBody>
      </p:sp>
      <p:sp>
        <p:nvSpPr>
          <p:cNvPr id="10" name="Shape 8"/>
          <p:cNvSpPr/>
          <p:nvPr/>
        </p:nvSpPr>
        <p:spPr>
          <a:xfrm>
            <a:off x="8382000" y="2095500"/>
            <a:ext cx="7112000" cy="2794000"/>
          </a:xfrm>
          <a:prstGeom prst="rect">
            <a:avLst/>
          </a:prstGeom>
          <a:solidFill>
            <a:srgbClr val="EDE6DE"/>
          </a:solidFill>
          <a:ln/>
        </p:spPr>
      </p:sp>
      <p:sp>
        <p:nvSpPr>
          <p:cNvPr id="11" name="Text 9"/>
          <p:cNvSpPr/>
          <p:nvPr/>
        </p:nvSpPr>
        <p:spPr>
          <a:xfrm>
            <a:off x="8699500" y="2286000"/>
            <a:ext cx="3810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NON-VERBAL SYSTEM</a:t>
            </a:r>
            <a:endParaRPr lang="en-US" sz="1600" dirty="0"/>
          </a:p>
        </p:txBody>
      </p:sp>
      <p:sp>
        <p:nvSpPr>
          <p:cNvPr id="12" name="Text 10"/>
          <p:cNvSpPr/>
          <p:nvPr/>
        </p:nvSpPr>
        <p:spPr>
          <a:xfrm>
            <a:off x="8699500" y="2730500"/>
            <a:ext cx="2540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Imagens</a:t>
            </a:r>
            <a:endParaRPr lang="en-US" sz="1600" dirty="0"/>
          </a:p>
        </p:txBody>
      </p:sp>
      <p:sp>
        <p:nvSpPr>
          <p:cNvPr id="13" name="Text 11"/>
          <p:cNvSpPr/>
          <p:nvPr/>
        </p:nvSpPr>
        <p:spPr>
          <a:xfrm>
            <a:off x="8699500" y="3238500"/>
            <a:ext cx="6477000" cy="15875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When the brain receives a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non-verbal stimulus</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(seeing an image), it forms a cognitive structure in the non-verbal system called an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imagen</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a:t>
            </a:r>
            <a:endParaRPr lang="en-US" sz="1600" dirty="0"/>
          </a:p>
          <a:p>
            <a:pPr>
              <a:lnSpc>
                <a:spcPct val="150000"/>
              </a:lnSpc>
              <a:spcBef>
                <a:spcPts val="600"/>
              </a:spcBef>
            </a:pPr>
            <a:r>
              <a:rPr lang="en-US" sz="1600" dirty="0">
                <a:solidFill>
                  <a:srgbClr val="2D2926"/>
                </a:solidFill>
                <a:latin typeface="Quattrocento Sans" pitchFamily="34" charset="0"/>
                <a:ea typeface="Quattrocento Sans" pitchFamily="34" charset="-122"/>
                <a:cs typeface="Quattrocento Sans" pitchFamily="34" charset="-120"/>
              </a:rPr>
              <a:t>These connections are activated when we see similar visual stimuli again.</a:t>
            </a:r>
            <a:endParaRPr lang="en-US" sz="1600" dirty="0"/>
          </a:p>
        </p:txBody>
      </p:sp>
      <p:sp>
        <p:nvSpPr>
          <p:cNvPr id="14" name="Shape 12"/>
          <p:cNvSpPr/>
          <p:nvPr/>
        </p:nvSpPr>
        <p:spPr>
          <a:xfrm>
            <a:off x="762000" y="5270500"/>
            <a:ext cx="14732000" cy="1524000"/>
          </a:xfrm>
          <a:prstGeom prst="rect">
            <a:avLst/>
          </a:prstGeom>
          <a:solidFill>
            <a:srgbClr val="2D2926"/>
          </a:solidFill>
          <a:ln/>
        </p:spPr>
      </p:sp>
      <p:sp>
        <p:nvSpPr>
          <p:cNvPr id="15" name="Shape 13"/>
          <p:cNvSpPr/>
          <p:nvPr/>
        </p:nvSpPr>
        <p:spPr>
          <a:xfrm>
            <a:off x="1079500" y="5588000"/>
            <a:ext cx="355600" cy="355600"/>
          </a:xfrm>
          <a:custGeom>
            <a:avLst/>
            <a:gdLst/>
            <a:ahLst/>
            <a:cxnLst/>
            <a:rect l="l" t="t" r="r" b="b"/>
            <a:pathLst>
              <a:path w="355600" h="355600">
                <a:moveTo>
                  <a:pt x="322957" y="4862"/>
                </a:moveTo>
                <a:cubicBezTo>
                  <a:pt x="316428" y="-1667"/>
                  <a:pt x="305872" y="-1667"/>
                  <a:pt x="299412" y="4862"/>
                </a:cubicBezTo>
                <a:lnTo>
                  <a:pt x="266005" y="38199"/>
                </a:lnTo>
                <a:cubicBezTo>
                  <a:pt x="264339" y="39866"/>
                  <a:pt x="263019" y="41880"/>
                  <a:pt x="262186" y="44103"/>
                </a:cubicBezTo>
                <a:lnTo>
                  <a:pt x="251490" y="72579"/>
                </a:lnTo>
                <a:lnTo>
                  <a:pt x="197664" y="126474"/>
                </a:lnTo>
                <a:cubicBezTo>
                  <a:pt x="166340" y="106055"/>
                  <a:pt x="128697" y="105499"/>
                  <a:pt x="106680" y="127585"/>
                </a:cubicBezTo>
                <a:cubicBezTo>
                  <a:pt x="99040" y="135225"/>
                  <a:pt x="94178" y="144671"/>
                  <a:pt x="91817" y="155089"/>
                </a:cubicBezTo>
                <a:cubicBezTo>
                  <a:pt x="89247" y="166618"/>
                  <a:pt x="78551" y="176411"/>
                  <a:pt x="66744" y="177036"/>
                </a:cubicBezTo>
                <a:cubicBezTo>
                  <a:pt x="48964" y="177939"/>
                  <a:pt x="32504" y="184467"/>
                  <a:pt x="20003" y="196900"/>
                </a:cubicBezTo>
                <a:cubicBezTo>
                  <a:pt x="-11112" y="228015"/>
                  <a:pt x="-5278" y="284272"/>
                  <a:pt x="32990" y="322540"/>
                </a:cubicBezTo>
                <a:cubicBezTo>
                  <a:pt x="71259" y="360809"/>
                  <a:pt x="127516" y="366712"/>
                  <a:pt x="158631" y="335598"/>
                </a:cubicBezTo>
                <a:cubicBezTo>
                  <a:pt x="171063" y="323165"/>
                  <a:pt x="177661" y="306636"/>
                  <a:pt x="178495" y="288856"/>
                </a:cubicBezTo>
                <a:cubicBezTo>
                  <a:pt x="179120" y="277049"/>
                  <a:pt x="188913" y="266422"/>
                  <a:pt x="200442" y="263783"/>
                </a:cubicBezTo>
                <a:cubicBezTo>
                  <a:pt x="210860" y="261422"/>
                  <a:pt x="220305" y="256490"/>
                  <a:pt x="227945" y="248920"/>
                </a:cubicBezTo>
                <a:cubicBezTo>
                  <a:pt x="250031" y="226834"/>
                  <a:pt x="249476" y="189260"/>
                  <a:pt x="229056" y="157936"/>
                </a:cubicBezTo>
                <a:lnTo>
                  <a:pt x="282952" y="104041"/>
                </a:lnTo>
                <a:lnTo>
                  <a:pt x="311428" y="93345"/>
                </a:lnTo>
                <a:cubicBezTo>
                  <a:pt x="313650" y="92512"/>
                  <a:pt x="315664" y="91192"/>
                  <a:pt x="317331" y="89525"/>
                </a:cubicBezTo>
                <a:lnTo>
                  <a:pt x="350669" y="56188"/>
                </a:lnTo>
                <a:cubicBezTo>
                  <a:pt x="357197" y="49659"/>
                  <a:pt x="357197" y="39102"/>
                  <a:pt x="350669" y="32643"/>
                </a:cubicBezTo>
                <a:lnTo>
                  <a:pt x="322957" y="4862"/>
                </a:lnTo>
                <a:close/>
                <a:moveTo>
                  <a:pt x="144463" y="177800"/>
                </a:moveTo>
                <a:cubicBezTo>
                  <a:pt x="162862" y="177800"/>
                  <a:pt x="177800" y="192738"/>
                  <a:pt x="177800" y="211138"/>
                </a:cubicBezTo>
                <a:cubicBezTo>
                  <a:pt x="177800" y="229537"/>
                  <a:pt x="162862" y="244475"/>
                  <a:pt x="144463" y="244475"/>
                </a:cubicBezTo>
                <a:cubicBezTo>
                  <a:pt x="126063" y="244475"/>
                  <a:pt x="111125" y="229537"/>
                  <a:pt x="111125" y="211138"/>
                </a:cubicBezTo>
                <a:cubicBezTo>
                  <a:pt x="111125" y="192738"/>
                  <a:pt x="126063" y="177800"/>
                  <a:pt x="144463" y="177800"/>
                </a:cubicBezTo>
                <a:close/>
              </a:path>
            </a:pathLst>
          </a:custGeom>
          <a:solidFill>
            <a:srgbClr val="B85C38"/>
          </a:solidFill>
          <a:ln/>
        </p:spPr>
      </p:sp>
      <p:sp>
        <p:nvSpPr>
          <p:cNvPr id="16" name="Text 14"/>
          <p:cNvSpPr/>
          <p:nvPr/>
        </p:nvSpPr>
        <p:spPr>
          <a:xfrm>
            <a:off x="1587500" y="5461000"/>
            <a:ext cx="2540000" cy="317500"/>
          </a:xfrm>
          <a:prstGeom prst="rect">
            <a:avLst/>
          </a:prstGeom>
          <a:noFill/>
          <a:ln/>
        </p:spPr>
        <p:txBody>
          <a:bodyPr wrap="none" lIns="0" tIns="0" rIns="0" bIns="0" rtlCol="0" anchor="ctr"/>
          <a:lstStyle/>
          <a:p>
            <a:pPr>
              <a:lnSpc>
                <a:spcPct val="100000"/>
              </a:lnSpc>
            </a:pPr>
            <a:r>
              <a:rPr lang="en-US" sz="1600" b="1" dirty="0">
                <a:solidFill>
                  <a:srgbClr val="B85C38"/>
                </a:solidFill>
                <a:latin typeface="Quattrocento Sans" pitchFamily="34" charset="0"/>
                <a:ea typeface="Quattrocento Sans" pitchFamily="34" charset="-122"/>
                <a:cs typeface="Quattrocento Sans" pitchFamily="34" charset="-120"/>
              </a:rPr>
              <a:t>Example</a:t>
            </a:r>
            <a:endParaRPr lang="en-US" sz="1600" dirty="0"/>
          </a:p>
        </p:txBody>
      </p:sp>
      <p:sp>
        <p:nvSpPr>
          <p:cNvPr id="17" name="Text 15"/>
          <p:cNvSpPr/>
          <p:nvPr/>
        </p:nvSpPr>
        <p:spPr>
          <a:xfrm>
            <a:off x="1587500" y="5842000"/>
            <a:ext cx="13589000" cy="762000"/>
          </a:xfrm>
          <a:prstGeom prst="rect">
            <a:avLst/>
          </a:prstGeom>
          <a:noFill/>
          <a:ln/>
        </p:spPr>
        <p:txBody>
          <a:bodyPr wrap="square" lIns="0" tIns="0" rIns="0" bIns="0" rtlCol="0" anchor="t"/>
          <a:lstStyle/>
          <a:p>
            <a:pPr>
              <a:lnSpc>
                <a:spcPct val="15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When you see a </a:t>
            </a:r>
            <a:pPr>
              <a:lnSpc>
                <a:spcPct val="150000"/>
              </a:lnSpc>
            </a:pPr>
            <a:r>
              <a:rPr lang="en-US" sz="1600" b="1" dirty="0">
                <a:solidFill>
                  <a:srgbClr val="FFFFFF">
                    <a:alpha val="80000"/>
                  </a:srgbClr>
                </a:solidFill>
                <a:latin typeface="Quattrocento Sans" pitchFamily="34" charset="0"/>
                <a:ea typeface="Quattrocento Sans" pitchFamily="34" charset="-122"/>
                <a:cs typeface="Quattrocento Sans" pitchFamily="34" charset="-120"/>
              </a:rPr>
              <a:t>cello</a:t>
            </a:r>
            <a:pPr>
              <a:lnSpc>
                <a:spcPct val="15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your mind constructs a mental image (imagen). When you see another string instrument, you use this pre-existing mental image to differentiate it from a cello.</a:t>
            </a:r>
            <a:endParaRPr lang="en-US" sz="1600" dirty="0"/>
          </a:p>
        </p:txBody>
      </p:sp>
      <p:sp>
        <p:nvSpPr>
          <p:cNvPr id="18" name="Text 16"/>
          <p:cNvSpPr/>
          <p:nvPr/>
        </p:nvSpPr>
        <p:spPr>
          <a:xfrm>
            <a:off x="762000" y="71120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Paivio, A. (2007). Mind and Its Evolution.</a:t>
            </a:r>
            <a:endParaRPr lang="en-US" sz="1300" dirty="0"/>
          </a:p>
        </p:txBody>
      </p:sp>
      <p:sp>
        <p:nvSpPr>
          <p:cNvPr id="19" name="Shape 17"/>
          <p:cNvSpPr/>
          <p:nvPr/>
        </p:nvSpPr>
        <p:spPr>
          <a:xfrm>
            <a:off x="762000" y="8699500"/>
            <a:ext cx="508000" cy="38100"/>
          </a:xfrm>
          <a:prstGeom prst="rect">
            <a:avLst/>
          </a:prstGeom>
          <a:solidFill>
            <a:srgbClr val="B85C38"/>
          </a:solidFill>
          <a:ln/>
        </p:spPr>
      </p:sp>
      <p:sp>
        <p:nvSpPr>
          <p:cNvPr id="20" name="Text 18"/>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22</a:t>
            </a:r>
            <a:endParaRPr lang="en-US" sz="13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Referential Connections</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11430000" cy="381000"/>
          </a:xfrm>
          <a:prstGeom prst="rect">
            <a:avLst/>
          </a:prstGeom>
          <a:noFill/>
          <a:ln/>
        </p:spPr>
        <p:txBody>
          <a:bodyPr wrap="none" lIns="0" tIns="0" rIns="0" bIns="0" rtlCol="0" anchor="ctr"/>
          <a:lstStyle/>
          <a:p>
            <a:pPr>
              <a:lnSpc>
                <a:spcPct val="100000"/>
              </a:lnSpc>
            </a:pPr>
            <a:r>
              <a:rPr lang="en-US" sz="1600" dirty="0">
                <a:solidFill>
                  <a:srgbClr val="8C7B6B"/>
                </a:solidFill>
                <a:latin typeface="Quattrocento Sans" pitchFamily="34" charset="0"/>
                <a:ea typeface="Quattrocento Sans" pitchFamily="34" charset="-122"/>
                <a:cs typeface="Quattrocento Sans" pitchFamily="34" charset="-120"/>
              </a:rPr>
              <a:t>Referential connections are the links between the verbal and non-verbal systems:</a:t>
            </a:r>
            <a:endParaRPr lang="en-US" sz="1600" dirty="0"/>
          </a:p>
        </p:txBody>
      </p:sp>
      <p:sp>
        <p:nvSpPr>
          <p:cNvPr id="6" name="Shape 4"/>
          <p:cNvSpPr/>
          <p:nvPr/>
        </p:nvSpPr>
        <p:spPr>
          <a:xfrm>
            <a:off x="762000" y="2095500"/>
            <a:ext cx="8890000" cy="2540000"/>
          </a:xfrm>
          <a:prstGeom prst="rect">
            <a:avLst/>
          </a:prstGeom>
          <a:solidFill>
            <a:srgbClr val="EDE6DE"/>
          </a:solidFill>
          <a:ln/>
        </p:spPr>
      </p:sp>
      <p:sp>
        <p:nvSpPr>
          <p:cNvPr id="7" name="Text 5"/>
          <p:cNvSpPr/>
          <p:nvPr/>
        </p:nvSpPr>
        <p:spPr>
          <a:xfrm>
            <a:off x="1079500" y="2286000"/>
            <a:ext cx="8255000" cy="2159000"/>
          </a:xfrm>
          <a:prstGeom prst="rect">
            <a:avLst/>
          </a:prstGeom>
          <a:noFill/>
          <a:ln/>
        </p:spPr>
        <p:txBody>
          <a:bodyPr wrap="square" lIns="0" tIns="0" rIns="0" bIns="0" rtlCol="0" anchor="t"/>
          <a:lstStyle/>
          <a:p>
            <a:pPr>
              <a:lnSpc>
                <a:spcPct val="160000"/>
              </a:lnSpc>
            </a:pPr>
            <a:r>
              <a:rPr lang="en-US" sz="1700" dirty="0">
                <a:solidFill>
                  <a:srgbClr val="2D2926"/>
                </a:solidFill>
                <a:latin typeface="Quattrocento Sans" pitchFamily="34" charset="0"/>
                <a:ea typeface="Quattrocento Sans" pitchFamily="34" charset="-122"/>
                <a:cs typeface="Quattrocento Sans" pitchFamily="34" charset="-120"/>
              </a:rPr>
              <a:t>When the brain responds to stimuli, it creates </a:t>
            </a:r>
            <a:pPr>
              <a:lnSpc>
                <a:spcPct val="160000"/>
              </a:lnSpc>
            </a:pPr>
            <a:r>
              <a:rPr lang="en-US" sz="1700" b="1" dirty="0">
                <a:solidFill>
                  <a:srgbClr val="2D2926"/>
                </a:solidFill>
                <a:latin typeface="Quattrocento Sans" pitchFamily="34" charset="0"/>
                <a:ea typeface="Quattrocento Sans" pitchFamily="34" charset="-122"/>
                <a:cs typeface="Quattrocento Sans" pitchFamily="34" charset="-120"/>
              </a:rPr>
              <a:t>connections between verbal and non-verbal representations</a:t>
            </a:r>
            <a:pPr>
              <a:lnSpc>
                <a:spcPct val="160000"/>
              </a:lnSpc>
            </a:pPr>
            <a:r>
              <a:rPr lang="en-US" sz="1700" dirty="0">
                <a:solidFill>
                  <a:srgbClr val="2D2926"/>
                </a:solidFill>
                <a:latin typeface="Quattrocento Sans" pitchFamily="34" charset="0"/>
                <a:ea typeface="Quattrocento Sans" pitchFamily="34" charset="-122"/>
                <a:cs typeface="Quattrocento Sans" pitchFamily="34" charset="-120"/>
              </a:rPr>
              <a:t>.</a:t>
            </a:r>
            <a:endParaRPr lang="en-US" sz="1600" dirty="0"/>
          </a:p>
          <a:p>
            <a:pPr>
              <a:lnSpc>
                <a:spcPct val="160000"/>
              </a:lnSpc>
              <a:spcBef>
                <a:spcPts val="800"/>
              </a:spcBef>
            </a:pPr>
            <a:r>
              <a:rPr lang="en-US" sz="1700" dirty="0">
                <a:solidFill>
                  <a:srgbClr val="2D2926"/>
                </a:solidFill>
                <a:latin typeface="Quattrocento Sans" pitchFamily="34" charset="0"/>
                <a:ea typeface="Quattrocento Sans" pitchFamily="34" charset="-122"/>
                <a:cs typeface="Quattrocento Sans" pitchFamily="34" charset="-120"/>
              </a:rPr>
              <a:t>For example, when you hear the word "cello," you can associate it with the </a:t>
            </a:r>
            <a:pPr>
              <a:lnSpc>
                <a:spcPct val="160000"/>
              </a:lnSpc>
              <a:spcBef>
                <a:spcPts val="800"/>
              </a:spcBef>
            </a:pPr>
            <a:r>
              <a:rPr lang="en-US" sz="1700" b="1" dirty="0">
                <a:solidFill>
                  <a:srgbClr val="2D2926"/>
                </a:solidFill>
                <a:latin typeface="Quattrocento Sans" pitchFamily="34" charset="0"/>
                <a:ea typeface="Quattrocento Sans" pitchFamily="34" charset="-122"/>
                <a:cs typeface="Quattrocento Sans" pitchFamily="34" charset="-120"/>
              </a:rPr>
              <a:t>shape of the instrument</a:t>
            </a:r>
            <a:pPr>
              <a:lnSpc>
                <a:spcPct val="160000"/>
              </a:lnSpc>
              <a:spcBef>
                <a:spcPts val="800"/>
              </a:spcBef>
            </a:pPr>
            <a:r>
              <a:rPr lang="en-US" sz="1700" dirty="0">
                <a:solidFill>
                  <a:srgbClr val="2D2926"/>
                </a:solidFill>
                <a:latin typeface="Quattrocento Sans" pitchFamily="34" charset="0"/>
                <a:ea typeface="Quattrocento Sans" pitchFamily="34" charset="-122"/>
                <a:cs typeface="Quattrocento Sans" pitchFamily="34" charset="-120"/>
              </a:rPr>
              <a:t>, the </a:t>
            </a:r>
            <a:pPr>
              <a:lnSpc>
                <a:spcPct val="160000"/>
              </a:lnSpc>
              <a:spcBef>
                <a:spcPts val="800"/>
              </a:spcBef>
            </a:pPr>
            <a:r>
              <a:rPr lang="en-US" sz="1700" b="1" dirty="0">
                <a:solidFill>
                  <a:srgbClr val="2D2926"/>
                </a:solidFill>
                <a:latin typeface="Quattrocento Sans" pitchFamily="34" charset="0"/>
                <a:ea typeface="Quattrocento Sans" pitchFamily="34" charset="-122"/>
                <a:cs typeface="Quattrocento Sans" pitchFamily="34" charset="-120"/>
              </a:rPr>
              <a:t>sound it makes</a:t>
            </a:r>
            <a:pPr>
              <a:lnSpc>
                <a:spcPct val="160000"/>
              </a:lnSpc>
              <a:spcBef>
                <a:spcPts val="800"/>
              </a:spcBef>
            </a:pPr>
            <a:r>
              <a:rPr lang="en-US" sz="1700" dirty="0">
                <a:solidFill>
                  <a:srgbClr val="2D2926"/>
                </a:solidFill>
                <a:latin typeface="Quattrocento Sans" pitchFamily="34" charset="0"/>
                <a:ea typeface="Quattrocento Sans" pitchFamily="34" charset="-122"/>
                <a:cs typeface="Quattrocento Sans" pitchFamily="34" charset="-120"/>
              </a:rPr>
              <a:t>, and your </a:t>
            </a:r>
            <a:pPr>
              <a:lnSpc>
                <a:spcPct val="160000"/>
              </a:lnSpc>
              <a:spcBef>
                <a:spcPts val="800"/>
              </a:spcBef>
            </a:pPr>
            <a:r>
              <a:rPr lang="en-US" sz="1700" b="1" dirty="0">
                <a:solidFill>
                  <a:srgbClr val="2D2926"/>
                </a:solidFill>
                <a:latin typeface="Quattrocento Sans" pitchFamily="34" charset="0"/>
                <a:ea typeface="Quattrocento Sans" pitchFamily="34" charset="-122"/>
                <a:cs typeface="Quattrocento Sans" pitchFamily="34" charset="-120"/>
              </a:rPr>
              <a:t>emotional response</a:t>
            </a:r>
            <a:pPr>
              <a:lnSpc>
                <a:spcPct val="160000"/>
              </a:lnSpc>
              <a:spcBef>
                <a:spcPts val="800"/>
              </a:spcBef>
            </a:pPr>
            <a:r>
              <a:rPr lang="en-US" sz="1700" dirty="0">
                <a:solidFill>
                  <a:srgbClr val="2D2926"/>
                </a:solidFill>
                <a:latin typeface="Quattrocento Sans" pitchFamily="34" charset="0"/>
                <a:ea typeface="Quattrocento Sans" pitchFamily="34" charset="-122"/>
                <a:cs typeface="Quattrocento Sans" pitchFamily="34" charset="-120"/>
              </a:rPr>
              <a:t> to its music.</a:t>
            </a:r>
            <a:endParaRPr lang="en-US" sz="1600" dirty="0"/>
          </a:p>
        </p:txBody>
      </p:sp>
      <p:sp>
        <p:nvSpPr>
          <p:cNvPr id="8" name="Shape 6"/>
          <p:cNvSpPr/>
          <p:nvPr/>
        </p:nvSpPr>
        <p:spPr>
          <a:xfrm>
            <a:off x="10033000" y="2095500"/>
            <a:ext cx="5461000" cy="2540000"/>
          </a:xfrm>
          <a:prstGeom prst="rect">
            <a:avLst/>
          </a:prstGeom>
          <a:solidFill>
            <a:srgbClr val="B85C38"/>
          </a:solidFill>
          <a:ln/>
        </p:spPr>
      </p:sp>
      <p:sp>
        <p:nvSpPr>
          <p:cNvPr id="9" name="Shape 7"/>
          <p:cNvSpPr/>
          <p:nvPr/>
        </p:nvSpPr>
        <p:spPr>
          <a:xfrm>
            <a:off x="10388600" y="2413000"/>
            <a:ext cx="457200" cy="406400"/>
          </a:xfrm>
          <a:custGeom>
            <a:avLst/>
            <a:gdLst/>
            <a:ahLst/>
            <a:cxnLst/>
            <a:rect l="l" t="t" r="r" b="b"/>
            <a:pathLst>
              <a:path w="457200" h="406400">
                <a:moveTo>
                  <a:pt x="332978" y="76200"/>
                </a:moveTo>
                <a:cubicBezTo>
                  <a:pt x="319802" y="76200"/>
                  <a:pt x="307023" y="79772"/>
                  <a:pt x="295831" y="86281"/>
                </a:cubicBezTo>
                <a:cubicBezTo>
                  <a:pt x="283289" y="73581"/>
                  <a:pt x="268684" y="62944"/>
                  <a:pt x="252571" y="54928"/>
                </a:cubicBezTo>
                <a:cubicBezTo>
                  <a:pt x="274955" y="35878"/>
                  <a:pt x="303451" y="25400"/>
                  <a:pt x="332978" y="25400"/>
                </a:cubicBezTo>
                <a:cubicBezTo>
                  <a:pt x="401558" y="25400"/>
                  <a:pt x="457200" y="80963"/>
                  <a:pt x="457200" y="149622"/>
                </a:cubicBezTo>
                <a:cubicBezTo>
                  <a:pt x="457200" y="182563"/>
                  <a:pt x="444103" y="214154"/>
                  <a:pt x="420846" y="237411"/>
                </a:cubicBezTo>
                <a:lnTo>
                  <a:pt x="364411" y="293846"/>
                </a:lnTo>
                <a:cubicBezTo>
                  <a:pt x="341154" y="317103"/>
                  <a:pt x="309563" y="330200"/>
                  <a:pt x="276622" y="330200"/>
                </a:cubicBezTo>
                <a:cubicBezTo>
                  <a:pt x="208042" y="330200"/>
                  <a:pt x="152400" y="274638"/>
                  <a:pt x="152400" y="205978"/>
                </a:cubicBezTo>
                <a:cubicBezTo>
                  <a:pt x="152400" y="204788"/>
                  <a:pt x="152400" y="203597"/>
                  <a:pt x="152479" y="202406"/>
                </a:cubicBezTo>
                <a:cubicBezTo>
                  <a:pt x="152876" y="188357"/>
                  <a:pt x="164544" y="177324"/>
                  <a:pt x="178594" y="177721"/>
                </a:cubicBezTo>
                <a:cubicBezTo>
                  <a:pt x="192643" y="178118"/>
                  <a:pt x="203676" y="189786"/>
                  <a:pt x="203279" y="203835"/>
                </a:cubicBezTo>
                <a:cubicBezTo>
                  <a:pt x="203279" y="204549"/>
                  <a:pt x="203279" y="205264"/>
                  <a:pt x="203279" y="205899"/>
                </a:cubicBezTo>
                <a:cubicBezTo>
                  <a:pt x="203279" y="246459"/>
                  <a:pt x="236141" y="279321"/>
                  <a:pt x="276701" y="279321"/>
                </a:cubicBezTo>
                <a:cubicBezTo>
                  <a:pt x="296148" y="279321"/>
                  <a:pt x="314801" y="271621"/>
                  <a:pt x="328613" y="257810"/>
                </a:cubicBezTo>
                <a:lnTo>
                  <a:pt x="385048" y="201374"/>
                </a:lnTo>
                <a:cubicBezTo>
                  <a:pt x="398780" y="187643"/>
                  <a:pt x="406559" y="168910"/>
                  <a:pt x="406559" y="149463"/>
                </a:cubicBezTo>
                <a:cubicBezTo>
                  <a:pt x="406559" y="108903"/>
                  <a:pt x="373698" y="76041"/>
                  <a:pt x="333137" y="76041"/>
                </a:cubicBezTo>
                <a:close/>
                <a:moveTo>
                  <a:pt x="218440" y="137557"/>
                </a:moveTo>
                <a:cubicBezTo>
                  <a:pt x="216932" y="136922"/>
                  <a:pt x="215424" y="136049"/>
                  <a:pt x="214074" y="135096"/>
                </a:cubicBezTo>
                <a:cubicBezTo>
                  <a:pt x="204073" y="129937"/>
                  <a:pt x="192643" y="127000"/>
                  <a:pt x="180658" y="127000"/>
                </a:cubicBezTo>
                <a:cubicBezTo>
                  <a:pt x="161211" y="127000"/>
                  <a:pt x="142558" y="134699"/>
                  <a:pt x="128746" y="148511"/>
                </a:cubicBezTo>
                <a:lnTo>
                  <a:pt x="72311" y="204946"/>
                </a:lnTo>
                <a:cubicBezTo>
                  <a:pt x="58579" y="218678"/>
                  <a:pt x="50800" y="237411"/>
                  <a:pt x="50800" y="256858"/>
                </a:cubicBezTo>
                <a:cubicBezTo>
                  <a:pt x="50800" y="297418"/>
                  <a:pt x="83661" y="330279"/>
                  <a:pt x="124222" y="330279"/>
                </a:cubicBezTo>
                <a:cubicBezTo>
                  <a:pt x="137319" y="330279"/>
                  <a:pt x="150098" y="326787"/>
                  <a:pt x="161290" y="320278"/>
                </a:cubicBezTo>
                <a:cubicBezTo>
                  <a:pt x="173831" y="332978"/>
                  <a:pt x="188436" y="343614"/>
                  <a:pt x="204629" y="351631"/>
                </a:cubicBezTo>
                <a:cubicBezTo>
                  <a:pt x="182245" y="370602"/>
                  <a:pt x="153829" y="381159"/>
                  <a:pt x="124222" y="381159"/>
                </a:cubicBezTo>
                <a:cubicBezTo>
                  <a:pt x="55642" y="381159"/>
                  <a:pt x="0" y="325596"/>
                  <a:pt x="0" y="256937"/>
                </a:cubicBezTo>
                <a:cubicBezTo>
                  <a:pt x="0" y="223996"/>
                  <a:pt x="13097" y="192405"/>
                  <a:pt x="36354" y="169148"/>
                </a:cubicBezTo>
                <a:lnTo>
                  <a:pt x="92789" y="112713"/>
                </a:lnTo>
                <a:cubicBezTo>
                  <a:pt x="116046" y="89456"/>
                  <a:pt x="147638" y="76359"/>
                  <a:pt x="180578" y="76359"/>
                </a:cubicBezTo>
                <a:cubicBezTo>
                  <a:pt x="249317" y="76359"/>
                  <a:pt x="304800" y="132398"/>
                  <a:pt x="304800" y="200898"/>
                </a:cubicBezTo>
                <a:cubicBezTo>
                  <a:pt x="304800" y="201930"/>
                  <a:pt x="304800" y="202962"/>
                  <a:pt x="304800" y="203994"/>
                </a:cubicBezTo>
                <a:cubicBezTo>
                  <a:pt x="304483" y="218043"/>
                  <a:pt x="292814" y="229076"/>
                  <a:pt x="278765" y="228759"/>
                </a:cubicBezTo>
                <a:cubicBezTo>
                  <a:pt x="264716" y="228441"/>
                  <a:pt x="253682" y="216773"/>
                  <a:pt x="254000" y="202724"/>
                </a:cubicBezTo>
                <a:cubicBezTo>
                  <a:pt x="254000" y="202089"/>
                  <a:pt x="254000" y="201533"/>
                  <a:pt x="254000" y="200898"/>
                </a:cubicBezTo>
                <a:cubicBezTo>
                  <a:pt x="254000" y="174149"/>
                  <a:pt x="239713" y="150654"/>
                  <a:pt x="218440" y="137716"/>
                </a:cubicBezTo>
                <a:close/>
              </a:path>
            </a:pathLst>
          </a:custGeom>
          <a:solidFill>
            <a:srgbClr val="FFFFFF"/>
          </a:solidFill>
          <a:ln/>
        </p:spPr>
      </p:sp>
      <p:sp>
        <p:nvSpPr>
          <p:cNvPr id="10" name="Text 8"/>
          <p:cNvSpPr/>
          <p:nvPr/>
        </p:nvSpPr>
        <p:spPr>
          <a:xfrm>
            <a:off x="10414000" y="2984500"/>
            <a:ext cx="4699000" cy="3556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More Connections = Better Memory</a:t>
            </a:r>
            <a:endParaRPr lang="en-US" sz="1600" dirty="0"/>
          </a:p>
        </p:txBody>
      </p:sp>
      <p:sp>
        <p:nvSpPr>
          <p:cNvPr id="11" name="Text 9"/>
          <p:cNvSpPr/>
          <p:nvPr/>
        </p:nvSpPr>
        <p:spPr>
          <a:xfrm>
            <a:off x="10414000" y="3429000"/>
            <a:ext cx="4699000" cy="1016000"/>
          </a:xfrm>
          <a:prstGeom prst="rect">
            <a:avLst/>
          </a:prstGeom>
          <a:noFill/>
          <a:ln/>
        </p:spPr>
        <p:txBody>
          <a:bodyPr wrap="square" lIns="0" tIns="0" rIns="0" bIns="0" rtlCol="0" anchor="t"/>
          <a:lstStyle/>
          <a:p>
            <a:pPr>
              <a:lnSpc>
                <a:spcPct val="150000"/>
              </a:lnSpc>
            </a:pPr>
            <a:r>
              <a:rPr lang="en-US" sz="1500" dirty="0">
                <a:solidFill>
                  <a:srgbClr val="FFFFFF">
                    <a:alpha val="86667"/>
                  </a:srgbClr>
                </a:solidFill>
                <a:latin typeface="Quattrocento Sans" pitchFamily="34" charset="0"/>
                <a:ea typeface="Quattrocento Sans" pitchFamily="34" charset="-122"/>
                <a:cs typeface="Quattrocento Sans" pitchFamily="34" charset="-120"/>
              </a:rPr>
              <a:t>The more referential connections the brain creates, the better we can remember and recall information.</a:t>
            </a:r>
            <a:endParaRPr lang="en-US" sz="1600" dirty="0"/>
          </a:p>
        </p:txBody>
      </p:sp>
      <p:sp>
        <p:nvSpPr>
          <p:cNvPr id="12" name="Shape 10"/>
          <p:cNvSpPr/>
          <p:nvPr/>
        </p:nvSpPr>
        <p:spPr>
          <a:xfrm>
            <a:off x="762000" y="5080000"/>
            <a:ext cx="14732000" cy="1524000"/>
          </a:xfrm>
          <a:prstGeom prst="rect">
            <a:avLst/>
          </a:prstGeom>
          <a:solidFill>
            <a:srgbClr val="2D2926"/>
          </a:solidFill>
          <a:ln/>
        </p:spPr>
      </p:sp>
      <p:sp>
        <p:nvSpPr>
          <p:cNvPr id="13" name="Shape 11"/>
          <p:cNvSpPr/>
          <p:nvPr/>
        </p:nvSpPr>
        <p:spPr>
          <a:xfrm>
            <a:off x="1079500" y="5397500"/>
            <a:ext cx="355600" cy="355600"/>
          </a:xfrm>
          <a:custGeom>
            <a:avLst/>
            <a:gdLst/>
            <a:ahLst/>
            <a:cxnLst/>
            <a:rect l="l" t="t" r="r" b="b"/>
            <a:pathLst>
              <a:path w="355600" h="355600">
                <a:moveTo>
                  <a:pt x="83344" y="38894"/>
                </a:moveTo>
                <a:cubicBezTo>
                  <a:pt x="83344" y="17433"/>
                  <a:pt x="100776" y="0"/>
                  <a:pt x="122238" y="0"/>
                </a:cubicBezTo>
                <a:lnTo>
                  <a:pt x="138906" y="0"/>
                </a:lnTo>
                <a:cubicBezTo>
                  <a:pt x="151199" y="0"/>
                  <a:pt x="161131" y="9932"/>
                  <a:pt x="161131" y="22225"/>
                </a:cubicBezTo>
                <a:lnTo>
                  <a:pt x="161131" y="333375"/>
                </a:lnTo>
                <a:cubicBezTo>
                  <a:pt x="161131" y="345668"/>
                  <a:pt x="151199" y="355600"/>
                  <a:pt x="138906" y="355600"/>
                </a:cubicBezTo>
                <a:lnTo>
                  <a:pt x="116681" y="355600"/>
                </a:lnTo>
                <a:cubicBezTo>
                  <a:pt x="95984" y="355600"/>
                  <a:pt x="78551" y="341432"/>
                  <a:pt x="73620" y="322263"/>
                </a:cubicBezTo>
                <a:cubicBezTo>
                  <a:pt x="73134" y="322263"/>
                  <a:pt x="72717" y="322263"/>
                  <a:pt x="72231" y="322263"/>
                </a:cubicBezTo>
                <a:cubicBezTo>
                  <a:pt x="41533" y="322263"/>
                  <a:pt x="16669" y="297398"/>
                  <a:pt x="16669" y="266700"/>
                </a:cubicBezTo>
                <a:cubicBezTo>
                  <a:pt x="16669" y="254198"/>
                  <a:pt x="20836" y="242669"/>
                  <a:pt x="27781" y="233363"/>
                </a:cubicBezTo>
                <a:cubicBezTo>
                  <a:pt x="14307" y="223222"/>
                  <a:pt x="5556" y="207109"/>
                  <a:pt x="5556" y="188913"/>
                </a:cubicBezTo>
                <a:cubicBezTo>
                  <a:pt x="5556" y="167451"/>
                  <a:pt x="17780" y="148769"/>
                  <a:pt x="35560" y="139531"/>
                </a:cubicBezTo>
                <a:cubicBezTo>
                  <a:pt x="30629" y="131197"/>
                  <a:pt x="27781" y="121474"/>
                  <a:pt x="27781" y="111125"/>
                </a:cubicBezTo>
                <a:cubicBezTo>
                  <a:pt x="27781" y="80427"/>
                  <a:pt x="52645" y="55563"/>
                  <a:pt x="83344" y="55563"/>
                </a:cubicBezTo>
                <a:lnTo>
                  <a:pt x="83344" y="38894"/>
                </a:lnTo>
                <a:close/>
                <a:moveTo>
                  <a:pt x="272256" y="38894"/>
                </a:moveTo>
                <a:lnTo>
                  <a:pt x="272256" y="55563"/>
                </a:lnTo>
                <a:cubicBezTo>
                  <a:pt x="302955" y="55563"/>
                  <a:pt x="327819" y="80427"/>
                  <a:pt x="327819" y="111125"/>
                </a:cubicBezTo>
                <a:cubicBezTo>
                  <a:pt x="327819" y="121543"/>
                  <a:pt x="324971" y="131266"/>
                  <a:pt x="320040" y="139531"/>
                </a:cubicBezTo>
                <a:cubicBezTo>
                  <a:pt x="337889" y="148769"/>
                  <a:pt x="350044" y="167382"/>
                  <a:pt x="350044" y="188913"/>
                </a:cubicBezTo>
                <a:cubicBezTo>
                  <a:pt x="350044" y="207109"/>
                  <a:pt x="341293" y="223222"/>
                  <a:pt x="327819" y="233363"/>
                </a:cubicBezTo>
                <a:cubicBezTo>
                  <a:pt x="334764" y="242669"/>
                  <a:pt x="338931" y="254198"/>
                  <a:pt x="338931" y="266700"/>
                </a:cubicBezTo>
                <a:cubicBezTo>
                  <a:pt x="338931" y="297398"/>
                  <a:pt x="314067" y="322263"/>
                  <a:pt x="283369" y="322263"/>
                </a:cubicBezTo>
                <a:cubicBezTo>
                  <a:pt x="282883" y="322263"/>
                  <a:pt x="282466" y="322263"/>
                  <a:pt x="281980" y="322263"/>
                </a:cubicBezTo>
                <a:cubicBezTo>
                  <a:pt x="277049" y="341432"/>
                  <a:pt x="259616" y="355600"/>
                  <a:pt x="238919" y="355600"/>
                </a:cubicBezTo>
                <a:lnTo>
                  <a:pt x="216694" y="355600"/>
                </a:lnTo>
                <a:cubicBezTo>
                  <a:pt x="204401" y="355600"/>
                  <a:pt x="194469" y="345668"/>
                  <a:pt x="194469" y="333375"/>
                </a:cubicBezTo>
                <a:lnTo>
                  <a:pt x="194469" y="22225"/>
                </a:lnTo>
                <a:cubicBezTo>
                  <a:pt x="194469" y="9932"/>
                  <a:pt x="204401" y="0"/>
                  <a:pt x="216694" y="0"/>
                </a:cubicBezTo>
                <a:lnTo>
                  <a:pt x="233363" y="0"/>
                </a:lnTo>
                <a:cubicBezTo>
                  <a:pt x="254824" y="0"/>
                  <a:pt x="272256" y="17433"/>
                  <a:pt x="272256" y="38894"/>
                </a:cubicBezTo>
                <a:close/>
              </a:path>
            </a:pathLst>
          </a:custGeom>
          <a:solidFill>
            <a:srgbClr val="B85C38"/>
          </a:solidFill>
          <a:ln/>
        </p:spPr>
      </p:sp>
      <p:sp>
        <p:nvSpPr>
          <p:cNvPr id="14" name="Text 12"/>
          <p:cNvSpPr/>
          <p:nvPr/>
        </p:nvSpPr>
        <p:spPr>
          <a:xfrm>
            <a:off x="1587500" y="5270500"/>
            <a:ext cx="3810000" cy="317500"/>
          </a:xfrm>
          <a:prstGeom prst="rect">
            <a:avLst/>
          </a:prstGeom>
          <a:noFill/>
          <a:ln/>
        </p:spPr>
        <p:txBody>
          <a:bodyPr wrap="none" lIns="0" tIns="0" rIns="0" bIns="0" rtlCol="0" anchor="ctr"/>
          <a:lstStyle/>
          <a:p>
            <a:pPr>
              <a:lnSpc>
                <a:spcPct val="100000"/>
              </a:lnSpc>
            </a:pPr>
            <a:r>
              <a:rPr lang="en-US" sz="1600" b="1" dirty="0">
                <a:solidFill>
                  <a:srgbClr val="B85C38"/>
                </a:solidFill>
                <a:latin typeface="Quattrocento Sans" pitchFamily="34" charset="0"/>
                <a:ea typeface="Quattrocento Sans" pitchFamily="34" charset="-122"/>
                <a:cs typeface="Quattrocento Sans" pitchFamily="34" charset="-120"/>
              </a:rPr>
              <a:t>Additional Benefit</a:t>
            </a:r>
            <a:endParaRPr lang="en-US" sz="1600" dirty="0"/>
          </a:p>
        </p:txBody>
      </p:sp>
      <p:sp>
        <p:nvSpPr>
          <p:cNvPr id="15" name="Text 13"/>
          <p:cNvSpPr/>
          <p:nvPr/>
        </p:nvSpPr>
        <p:spPr>
          <a:xfrm>
            <a:off x="1587500" y="5651500"/>
            <a:ext cx="13589000" cy="762000"/>
          </a:xfrm>
          <a:prstGeom prst="rect">
            <a:avLst/>
          </a:prstGeom>
          <a:noFill/>
          <a:ln/>
        </p:spPr>
        <p:txBody>
          <a:bodyPr wrap="square" lIns="0" tIns="0" rIns="0" bIns="0" rtlCol="0" anchor="t"/>
          <a:lstStyle/>
          <a:p>
            <a:pPr>
              <a:lnSpc>
                <a:spcPct val="15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Existing referential connections make it easier to </a:t>
            </a:r>
            <a:pPr>
              <a:lnSpc>
                <a:spcPct val="150000"/>
              </a:lnSpc>
            </a:pPr>
            <a:r>
              <a:rPr lang="en-US" sz="1600" b="1" dirty="0">
                <a:solidFill>
                  <a:srgbClr val="FFFFFF">
                    <a:alpha val="80000"/>
                  </a:srgbClr>
                </a:solidFill>
                <a:latin typeface="Quattrocento Sans" pitchFamily="34" charset="0"/>
                <a:ea typeface="Quattrocento Sans" pitchFamily="34" charset="-122"/>
                <a:cs typeface="Quattrocento Sans" pitchFamily="34" charset="-120"/>
              </a:rPr>
              <a:t>interpret new stimuli</a:t>
            </a:r>
            <a:pPr>
              <a:lnSpc>
                <a:spcPct val="15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 and develop further connections that associate new information with cognitive structures already created.</a:t>
            </a:r>
            <a:endParaRPr lang="en-US" sz="1600" dirty="0"/>
          </a:p>
        </p:txBody>
      </p:sp>
      <p:sp>
        <p:nvSpPr>
          <p:cNvPr id="16" name="Text 14"/>
          <p:cNvSpPr/>
          <p:nvPr/>
        </p:nvSpPr>
        <p:spPr>
          <a:xfrm>
            <a:off x="762000" y="6921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Paivio, A. (2007). Mind and Its Evolution.</a:t>
            </a:r>
            <a:endParaRPr lang="en-US" sz="1300" dirty="0"/>
          </a:p>
        </p:txBody>
      </p:sp>
      <p:sp>
        <p:nvSpPr>
          <p:cNvPr id="17" name="Shape 15"/>
          <p:cNvSpPr/>
          <p:nvPr/>
        </p:nvSpPr>
        <p:spPr>
          <a:xfrm>
            <a:off x="762000" y="8699500"/>
            <a:ext cx="508000" cy="38100"/>
          </a:xfrm>
          <a:prstGeom prst="rect">
            <a:avLst/>
          </a:prstGeom>
          <a:solidFill>
            <a:srgbClr val="B85C38"/>
          </a:solidFill>
          <a:ln/>
        </p:spPr>
      </p:sp>
      <p:sp>
        <p:nvSpPr>
          <p:cNvPr id="18" name="Text 16"/>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23</a:t>
            </a:r>
            <a:endParaRPr lang="en-US" sz="13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Educational Applications of Dual Coding</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11430000" cy="381000"/>
          </a:xfrm>
          <a:prstGeom prst="rect">
            <a:avLst/>
          </a:prstGeom>
          <a:noFill/>
          <a:ln/>
        </p:spPr>
        <p:txBody>
          <a:bodyPr wrap="none" lIns="0" tIns="0" rIns="0" bIns="0" rtlCol="0" anchor="ctr"/>
          <a:lstStyle/>
          <a:p>
            <a:pPr>
              <a:lnSpc>
                <a:spcPct val="100000"/>
              </a:lnSpc>
            </a:pPr>
            <a:r>
              <a:rPr lang="en-US" sz="1600" dirty="0">
                <a:solidFill>
                  <a:srgbClr val="8C7B6B"/>
                </a:solidFill>
                <a:latin typeface="Quattrocento Sans" pitchFamily="34" charset="0"/>
                <a:ea typeface="Quattrocento Sans" pitchFamily="34" charset="-122"/>
                <a:cs typeface="Quattrocento Sans" pitchFamily="34" charset="-120"/>
              </a:rPr>
              <a:t>Dual Coding Theory has significant implications for teaching and learning:</a:t>
            </a:r>
            <a:endParaRPr lang="en-US" sz="1600" dirty="0"/>
          </a:p>
        </p:txBody>
      </p:sp>
      <p:sp>
        <p:nvSpPr>
          <p:cNvPr id="6" name="Shape 4"/>
          <p:cNvSpPr/>
          <p:nvPr/>
        </p:nvSpPr>
        <p:spPr>
          <a:xfrm>
            <a:off x="762000" y="2095500"/>
            <a:ext cx="4699000" cy="1968500"/>
          </a:xfrm>
          <a:prstGeom prst="rect">
            <a:avLst/>
          </a:prstGeom>
          <a:solidFill>
            <a:srgbClr val="EDE6DE"/>
          </a:solidFill>
          <a:ln/>
        </p:spPr>
      </p:sp>
      <p:sp>
        <p:nvSpPr>
          <p:cNvPr id="7" name="Shape 5"/>
          <p:cNvSpPr/>
          <p:nvPr/>
        </p:nvSpPr>
        <p:spPr>
          <a:xfrm>
            <a:off x="1057275" y="2286000"/>
            <a:ext cx="400050" cy="355600"/>
          </a:xfrm>
          <a:custGeom>
            <a:avLst/>
            <a:gdLst/>
            <a:ahLst/>
            <a:cxnLst/>
            <a:rect l="l" t="t" r="r" b="b"/>
            <a:pathLst>
              <a:path w="400050" h="355600">
                <a:moveTo>
                  <a:pt x="66675" y="44450"/>
                </a:moveTo>
                <a:cubicBezTo>
                  <a:pt x="42158" y="44450"/>
                  <a:pt x="22225" y="64383"/>
                  <a:pt x="22225" y="88900"/>
                </a:cubicBezTo>
                <a:lnTo>
                  <a:pt x="22225" y="266700"/>
                </a:lnTo>
                <a:cubicBezTo>
                  <a:pt x="9932" y="266700"/>
                  <a:pt x="0" y="276632"/>
                  <a:pt x="0" y="288925"/>
                </a:cubicBezTo>
                <a:cubicBezTo>
                  <a:pt x="0" y="301218"/>
                  <a:pt x="9932" y="311150"/>
                  <a:pt x="22225" y="311150"/>
                </a:cubicBezTo>
                <a:lnTo>
                  <a:pt x="377825" y="311150"/>
                </a:lnTo>
                <a:cubicBezTo>
                  <a:pt x="390118" y="311150"/>
                  <a:pt x="400050" y="301218"/>
                  <a:pt x="400050" y="288925"/>
                </a:cubicBezTo>
                <a:cubicBezTo>
                  <a:pt x="400050" y="276632"/>
                  <a:pt x="390118" y="266700"/>
                  <a:pt x="377825" y="266700"/>
                </a:cubicBezTo>
                <a:lnTo>
                  <a:pt x="377825" y="88900"/>
                </a:lnTo>
                <a:cubicBezTo>
                  <a:pt x="377825" y="64383"/>
                  <a:pt x="357892" y="44450"/>
                  <a:pt x="333375" y="44450"/>
                </a:cubicBezTo>
                <a:lnTo>
                  <a:pt x="66675" y="44450"/>
                </a:lnTo>
                <a:close/>
                <a:moveTo>
                  <a:pt x="333375" y="266700"/>
                </a:moveTo>
                <a:lnTo>
                  <a:pt x="288925" y="266700"/>
                </a:lnTo>
                <a:lnTo>
                  <a:pt x="288925" y="244475"/>
                </a:lnTo>
                <a:cubicBezTo>
                  <a:pt x="288925" y="232182"/>
                  <a:pt x="278993" y="222250"/>
                  <a:pt x="266700" y="222250"/>
                </a:cubicBezTo>
                <a:lnTo>
                  <a:pt x="200025" y="222250"/>
                </a:lnTo>
                <a:cubicBezTo>
                  <a:pt x="187732" y="222250"/>
                  <a:pt x="177800" y="232182"/>
                  <a:pt x="177800" y="244475"/>
                </a:cubicBezTo>
                <a:lnTo>
                  <a:pt x="177800" y="266700"/>
                </a:lnTo>
                <a:lnTo>
                  <a:pt x="66675" y="266700"/>
                </a:lnTo>
                <a:lnTo>
                  <a:pt x="66675" y="88900"/>
                </a:lnTo>
                <a:lnTo>
                  <a:pt x="333375" y="88900"/>
                </a:lnTo>
                <a:lnTo>
                  <a:pt x="333375" y="266700"/>
                </a:lnTo>
                <a:close/>
              </a:path>
            </a:pathLst>
          </a:custGeom>
          <a:solidFill>
            <a:srgbClr val="B85C38"/>
          </a:solidFill>
          <a:ln/>
        </p:spPr>
      </p:sp>
      <p:sp>
        <p:nvSpPr>
          <p:cNvPr id="8" name="Text 6"/>
          <p:cNvSpPr/>
          <p:nvPr/>
        </p:nvSpPr>
        <p:spPr>
          <a:xfrm>
            <a:off x="1079500" y="2730500"/>
            <a:ext cx="4064000" cy="317500"/>
          </a:xfrm>
          <a:prstGeom prst="rect">
            <a:avLst/>
          </a:prstGeom>
          <a:noFill/>
          <a:ln/>
        </p:spPr>
        <p:txBody>
          <a:bodyPr wrap="none" lIns="0" tIns="0" rIns="0" bIns="0" rtlCol="0" anchor="ctr"/>
          <a:lstStyle/>
          <a:p>
            <a:pPr>
              <a:lnSpc>
                <a:spcPct val="100000"/>
              </a:lnSpc>
            </a:pPr>
            <a:r>
              <a:rPr lang="en-US" sz="1600" b="1" dirty="0">
                <a:solidFill>
                  <a:srgbClr val="2D2926"/>
                </a:solidFill>
                <a:latin typeface="Quattrocento Sans" pitchFamily="34" charset="0"/>
                <a:ea typeface="Quattrocento Sans" pitchFamily="34" charset="-122"/>
                <a:cs typeface="Quattrocento Sans" pitchFamily="34" charset="-120"/>
              </a:rPr>
              <a:t>Visual Supplements</a:t>
            </a:r>
            <a:endParaRPr lang="en-US" sz="1600" dirty="0"/>
          </a:p>
        </p:txBody>
      </p:sp>
      <p:sp>
        <p:nvSpPr>
          <p:cNvPr id="9" name="Text 7"/>
          <p:cNvSpPr/>
          <p:nvPr/>
        </p:nvSpPr>
        <p:spPr>
          <a:xfrm>
            <a:off x="1079500" y="3111500"/>
            <a:ext cx="4064000" cy="762000"/>
          </a:xfrm>
          <a:prstGeom prst="rect">
            <a:avLst/>
          </a:prstGeom>
          <a:noFill/>
          <a:ln/>
        </p:spPr>
        <p:txBody>
          <a:bodyPr wrap="square" lIns="0" tIns="0" rIns="0" bIns="0" rtlCol="0" anchor="t"/>
          <a:lstStyle/>
          <a:p>
            <a:pPr>
              <a:lnSpc>
                <a:spcPct val="140000"/>
              </a:lnSpc>
            </a:pPr>
            <a:r>
              <a:rPr lang="en-US" sz="1400" dirty="0">
                <a:solidFill>
                  <a:srgbClr val="2D2926"/>
                </a:solidFill>
                <a:latin typeface="Quattrocento Sans" pitchFamily="34" charset="0"/>
                <a:ea typeface="Quattrocento Sans" pitchFamily="34" charset="-122"/>
                <a:cs typeface="Quattrocento Sans" pitchFamily="34" charset="-120"/>
              </a:rPr>
              <a:t>Use whiteboards, charts, and concept maps to supplement verbal explanations</a:t>
            </a:r>
            <a:endParaRPr lang="en-US" sz="1600" dirty="0"/>
          </a:p>
        </p:txBody>
      </p:sp>
      <p:sp>
        <p:nvSpPr>
          <p:cNvPr id="10" name="Shape 8"/>
          <p:cNvSpPr/>
          <p:nvPr/>
        </p:nvSpPr>
        <p:spPr>
          <a:xfrm>
            <a:off x="5778500" y="2095500"/>
            <a:ext cx="4699000" cy="1968500"/>
          </a:xfrm>
          <a:prstGeom prst="rect">
            <a:avLst/>
          </a:prstGeom>
          <a:solidFill>
            <a:srgbClr val="EDE6DE"/>
          </a:solidFill>
          <a:ln/>
        </p:spPr>
      </p:sp>
      <p:sp>
        <p:nvSpPr>
          <p:cNvPr id="11" name="Shape 9"/>
          <p:cNvSpPr/>
          <p:nvPr/>
        </p:nvSpPr>
        <p:spPr>
          <a:xfrm>
            <a:off x="6096000" y="2286000"/>
            <a:ext cx="355600" cy="355600"/>
          </a:xfrm>
          <a:custGeom>
            <a:avLst/>
            <a:gdLst/>
            <a:ahLst/>
            <a:cxnLst/>
            <a:rect l="l" t="t" r="r" b="b"/>
            <a:pathLst>
              <a:path w="355600" h="355600">
                <a:moveTo>
                  <a:pt x="280591" y="0"/>
                </a:moveTo>
                <a:cubicBezTo>
                  <a:pt x="293926" y="0"/>
                  <a:pt x="306705" y="5278"/>
                  <a:pt x="316081" y="14724"/>
                </a:cubicBezTo>
                <a:lnTo>
                  <a:pt x="340876" y="39519"/>
                </a:lnTo>
                <a:cubicBezTo>
                  <a:pt x="350322" y="48895"/>
                  <a:pt x="355600" y="61674"/>
                  <a:pt x="355600" y="75009"/>
                </a:cubicBezTo>
                <a:cubicBezTo>
                  <a:pt x="355600" y="88344"/>
                  <a:pt x="350322" y="101124"/>
                  <a:pt x="340876" y="110500"/>
                </a:cubicBezTo>
                <a:lnTo>
                  <a:pt x="309691" y="141684"/>
                </a:lnTo>
                <a:lnTo>
                  <a:pt x="213916" y="45909"/>
                </a:lnTo>
                <a:lnTo>
                  <a:pt x="245100" y="14724"/>
                </a:lnTo>
                <a:cubicBezTo>
                  <a:pt x="254476" y="5278"/>
                  <a:pt x="267256" y="0"/>
                  <a:pt x="280591" y="0"/>
                </a:cubicBezTo>
                <a:close/>
                <a:moveTo>
                  <a:pt x="40908" y="218847"/>
                </a:moveTo>
                <a:lnTo>
                  <a:pt x="190371" y="69453"/>
                </a:lnTo>
                <a:lnTo>
                  <a:pt x="286147" y="165229"/>
                </a:lnTo>
                <a:lnTo>
                  <a:pt x="136753" y="314692"/>
                </a:lnTo>
                <a:cubicBezTo>
                  <a:pt x="129322" y="322124"/>
                  <a:pt x="120015" y="327541"/>
                  <a:pt x="109875" y="330389"/>
                </a:cubicBezTo>
                <a:lnTo>
                  <a:pt x="21114" y="354975"/>
                </a:lnTo>
                <a:cubicBezTo>
                  <a:pt x="15349" y="356572"/>
                  <a:pt x="9098" y="354975"/>
                  <a:pt x="4862" y="350669"/>
                </a:cubicBezTo>
                <a:cubicBezTo>
                  <a:pt x="625" y="346363"/>
                  <a:pt x="-1042" y="340181"/>
                  <a:pt x="556" y="334417"/>
                </a:cubicBezTo>
                <a:lnTo>
                  <a:pt x="25281" y="245725"/>
                </a:lnTo>
                <a:cubicBezTo>
                  <a:pt x="28129" y="235585"/>
                  <a:pt x="33476" y="226348"/>
                  <a:pt x="40977" y="218847"/>
                </a:cubicBezTo>
                <a:close/>
                <a:moveTo>
                  <a:pt x="156547" y="56118"/>
                </a:moveTo>
                <a:lnTo>
                  <a:pt x="56118" y="156547"/>
                </a:lnTo>
                <a:lnTo>
                  <a:pt x="8126" y="108555"/>
                </a:lnTo>
                <a:cubicBezTo>
                  <a:pt x="-2709" y="97721"/>
                  <a:pt x="-2709" y="80149"/>
                  <a:pt x="8126" y="69245"/>
                </a:cubicBezTo>
                <a:lnTo>
                  <a:pt x="69245" y="8126"/>
                </a:lnTo>
                <a:cubicBezTo>
                  <a:pt x="80079" y="-2709"/>
                  <a:pt x="97651" y="-2709"/>
                  <a:pt x="108555" y="8126"/>
                </a:cubicBezTo>
                <a:lnTo>
                  <a:pt x="112653" y="12224"/>
                </a:lnTo>
                <a:lnTo>
                  <a:pt x="73551" y="51326"/>
                </a:lnTo>
                <a:cubicBezTo>
                  <a:pt x="68134" y="56743"/>
                  <a:pt x="68134" y="65564"/>
                  <a:pt x="73551" y="70981"/>
                </a:cubicBezTo>
                <a:cubicBezTo>
                  <a:pt x="78968" y="76398"/>
                  <a:pt x="87789" y="76398"/>
                  <a:pt x="93206" y="70981"/>
                </a:cubicBezTo>
                <a:lnTo>
                  <a:pt x="132308" y="31879"/>
                </a:lnTo>
                <a:lnTo>
                  <a:pt x="156547" y="56118"/>
                </a:lnTo>
                <a:close/>
                <a:moveTo>
                  <a:pt x="299482" y="199053"/>
                </a:moveTo>
                <a:lnTo>
                  <a:pt x="323721" y="223292"/>
                </a:lnTo>
                <a:lnTo>
                  <a:pt x="284619" y="262394"/>
                </a:lnTo>
                <a:cubicBezTo>
                  <a:pt x="279202" y="267811"/>
                  <a:pt x="279202" y="276632"/>
                  <a:pt x="284619" y="282049"/>
                </a:cubicBezTo>
                <a:cubicBezTo>
                  <a:pt x="290036" y="287466"/>
                  <a:pt x="298857" y="287466"/>
                  <a:pt x="304274" y="282049"/>
                </a:cubicBezTo>
                <a:lnTo>
                  <a:pt x="343376" y="242947"/>
                </a:lnTo>
                <a:lnTo>
                  <a:pt x="347474" y="247045"/>
                </a:lnTo>
                <a:cubicBezTo>
                  <a:pt x="358309" y="257879"/>
                  <a:pt x="358309" y="275451"/>
                  <a:pt x="347474" y="286355"/>
                </a:cubicBezTo>
                <a:lnTo>
                  <a:pt x="286355" y="347474"/>
                </a:lnTo>
                <a:cubicBezTo>
                  <a:pt x="275521" y="358309"/>
                  <a:pt x="257949" y="358309"/>
                  <a:pt x="247045" y="347474"/>
                </a:cubicBezTo>
                <a:lnTo>
                  <a:pt x="199053" y="299482"/>
                </a:lnTo>
                <a:lnTo>
                  <a:pt x="299482" y="199053"/>
                </a:lnTo>
                <a:close/>
              </a:path>
            </a:pathLst>
          </a:custGeom>
          <a:solidFill>
            <a:srgbClr val="B85C38"/>
          </a:solidFill>
          <a:ln/>
        </p:spPr>
      </p:sp>
      <p:sp>
        <p:nvSpPr>
          <p:cNvPr id="12" name="Text 10"/>
          <p:cNvSpPr/>
          <p:nvPr/>
        </p:nvSpPr>
        <p:spPr>
          <a:xfrm>
            <a:off x="6096000" y="2730500"/>
            <a:ext cx="4064000" cy="317500"/>
          </a:xfrm>
          <a:prstGeom prst="rect">
            <a:avLst/>
          </a:prstGeom>
          <a:noFill/>
          <a:ln/>
        </p:spPr>
        <p:txBody>
          <a:bodyPr wrap="none" lIns="0" tIns="0" rIns="0" bIns="0" rtlCol="0" anchor="ctr"/>
          <a:lstStyle/>
          <a:p>
            <a:pPr>
              <a:lnSpc>
                <a:spcPct val="100000"/>
              </a:lnSpc>
            </a:pPr>
            <a:r>
              <a:rPr lang="en-US" sz="1600" b="1" dirty="0">
                <a:solidFill>
                  <a:srgbClr val="2D2926"/>
                </a:solidFill>
                <a:latin typeface="Quattrocento Sans" pitchFamily="34" charset="0"/>
                <a:ea typeface="Quattrocento Sans" pitchFamily="34" charset="-122"/>
                <a:cs typeface="Quattrocento Sans" pitchFamily="34" charset="-120"/>
              </a:rPr>
              <a:t>Active Creation</a:t>
            </a:r>
            <a:endParaRPr lang="en-US" sz="1600" dirty="0"/>
          </a:p>
        </p:txBody>
      </p:sp>
      <p:sp>
        <p:nvSpPr>
          <p:cNvPr id="13" name="Text 11"/>
          <p:cNvSpPr/>
          <p:nvPr/>
        </p:nvSpPr>
        <p:spPr>
          <a:xfrm>
            <a:off x="6096000" y="3111500"/>
            <a:ext cx="4064000" cy="762000"/>
          </a:xfrm>
          <a:prstGeom prst="rect">
            <a:avLst/>
          </a:prstGeom>
          <a:noFill/>
          <a:ln/>
        </p:spPr>
        <p:txBody>
          <a:bodyPr wrap="square" lIns="0" tIns="0" rIns="0" bIns="0" rtlCol="0" anchor="t"/>
          <a:lstStyle/>
          <a:p>
            <a:pPr>
              <a:lnSpc>
                <a:spcPct val="140000"/>
              </a:lnSpc>
            </a:pPr>
            <a:r>
              <a:rPr lang="en-US" sz="1400" dirty="0">
                <a:solidFill>
                  <a:srgbClr val="2D2926"/>
                </a:solidFill>
                <a:latin typeface="Quattrocento Sans" pitchFamily="34" charset="0"/>
                <a:ea typeface="Quattrocento Sans" pitchFamily="34" charset="-122"/>
                <a:cs typeface="Quattrocento Sans" pitchFamily="34" charset="-120"/>
              </a:rPr>
              <a:t>Draw diagrams, write keywords, display images that visually represent content</a:t>
            </a:r>
            <a:endParaRPr lang="en-US" sz="1600" dirty="0"/>
          </a:p>
        </p:txBody>
      </p:sp>
      <p:sp>
        <p:nvSpPr>
          <p:cNvPr id="14" name="Shape 12"/>
          <p:cNvSpPr/>
          <p:nvPr/>
        </p:nvSpPr>
        <p:spPr>
          <a:xfrm>
            <a:off x="10795000" y="2095500"/>
            <a:ext cx="4699000" cy="1968500"/>
          </a:xfrm>
          <a:prstGeom prst="rect">
            <a:avLst/>
          </a:prstGeom>
          <a:solidFill>
            <a:srgbClr val="EDE6DE"/>
          </a:solidFill>
          <a:ln/>
        </p:spPr>
      </p:sp>
      <p:sp>
        <p:nvSpPr>
          <p:cNvPr id="15" name="Shape 13"/>
          <p:cNvSpPr/>
          <p:nvPr/>
        </p:nvSpPr>
        <p:spPr>
          <a:xfrm>
            <a:off x="11090275" y="2286000"/>
            <a:ext cx="400050" cy="355600"/>
          </a:xfrm>
          <a:custGeom>
            <a:avLst/>
            <a:gdLst/>
            <a:ahLst/>
            <a:cxnLst/>
            <a:rect l="l" t="t" r="r" b="b"/>
            <a:pathLst>
              <a:path w="400050" h="355600">
                <a:moveTo>
                  <a:pt x="266700" y="100013"/>
                </a:moveTo>
                <a:cubicBezTo>
                  <a:pt x="266700" y="167521"/>
                  <a:pt x="206970" y="222250"/>
                  <a:pt x="133350" y="222250"/>
                </a:cubicBezTo>
                <a:cubicBezTo>
                  <a:pt x="114806" y="222250"/>
                  <a:pt x="97165" y="218777"/>
                  <a:pt x="81121" y="212527"/>
                </a:cubicBezTo>
                <a:lnTo>
                  <a:pt x="24448" y="242530"/>
                </a:lnTo>
                <a:cubicBezTo>
                  <a:pt x="17988" y="245934"/>
                  <a:pt x="10071" y="244753"/>
                  <a:pt x="4862" y="239613"/>
                </a:cubicBezTo>
                <a:cubicBezTo>
                  <a:pt x="-347" y="234474"/>
                  <a:pt x="-1528" y="226487"/>
                  <a:pt x="1945" y="220028"/>
                </a:cubicBezTo>
                <a:lnTo>
                  <a:pt x="26670" y="173355"/>
                </a:lnTo>
                <a:cubicBezTo>
                  <a:pt x="9932" y="152936"/>
                  <a:pt x="0" y="127516"/>
                  <a:pt x="0" y="100013"/>
                </a:cubicBezTo>
                <a:cubicBezTo>
                  <a:pt x="0" y="32504"/>
                  <a:pt x="59730" y="-22225"/>
                  <a:pt x="133350" y="-22225"/>
                </a:cubicBezTo>
                <a:cubicBezTo>
                  <a:pt x="206970" y="-22225"/>
                  <a:pt x="266700" y="32504"/>
                  <a:pt x="266700" y="100013"/>
                </a:cubicBezTo>
                <a:close/>
                <a:moveTo>
                  <a:pt x="266700" y="355600"/>
                </a:moveTo>
                <a:cubicBezTo>
                  <a:pt x="201345" y="355600"/>
                  <a:pt x="146963" y="312470"/>
                  <a:pt x="135572" y="255587"/>
                </a:cubicBezTo>
                <a:cubicBezTo>
                  <a:pt x="218916" y="254546"/>
                  <a:pt x="291356" y="195233"/>
                  <a:pt x="299343" y="114806"/>
                </a:cubicBezTo>
                <a:cubicBezTo>
                  <a:pt x="357197" y="128141"/>
                  <a:pt x="400050" y="176133"/>
                  <a:pt x="400050" y="233363"/>
                </a:cubicBezTo>
                <a:cubicBezTo>
                  <a:pt x="400050" y="260866"/>
                  <a:pt x="390118" y="286286"/>
                  <a:pt x="373380" y="306705"/>
                </a:cubicBezTo>
                <a:lnTo>
                  <a:pt x="398105" y="353378"/>
                </a:lnTo>
                <a:cubicBezTo>
                  <a:pt x="401509" y="359837"/>
                  <a:pt x="400328" y="367754"/>
                  <a:pt x="395188" y="372963"/>
                </a:cubicBezTo>
                <a:cubicBezTo>
                  <a:pt x="390049" y="378172"/>
                  <a:pt x="382062" y="379353"/>
                  <a:pt x="375602" y="375880"/>
                </a:cubicBezTo>
                <a:lnTo>
                  <a:pt x="318929" y="345877"/>
                </a:lnTo>
                <a:cubicBezTo>
                  <a:pt x="302885" y="352127"/>
                  <a:pt x="285244" y="355600"/>
                  <a:pt x="266700" y="355600"/>
                </a:cubicBezTo>
                <a:close/>
              </a:path>
            </a:pathLst>
          </a:custGeom>
          <a:solidFill>
            <a:srgbClr val="B85C38"/>
          </a:solidFill>
          <a:ln/>
        </p:spPr>
      </p:sp>
      <p:sp>
        <p:nvSpPr>
          <p:cNvPr id="16" name="Text 14"/>
          <p:cNvSpPr/>
          <p:nvPr/>
        </p:nvSpPr>
        <p:spPr>
          <a:xfrm>
            <a:off x="11112500" y="2730500"/>
            <a:ext cx="4064000" cy="317500"/>
          </a:xfrm>
          <a:prstGeom prst="rect">
            <a:avLst/>
          </a:prstGeom>
          <a:noFill/>
          <a:ln/>
        </p:spPr>
        <p:txBody>
          <a:bodyPr wrap="none" lIns="0" tIns="0" rIns="0" bIns="0" rtlCol="0" anchor="ctr"/>
          <a:lstStyle/>
          <a:p>
            <a:pPr>
              <a:lnSpc>
                <a:spcPct val="100000"/>
              </a:lnSpc>
            </a:pPr>
            <a:r>
              <a:rPr lang="en-US" sz="1600" b="1" dirty="0">
                <a:solidFill>
                  <a:srgbClr val="2D2926"/>
                </a:solidFill>
                <a:latin typeface="Quattrocento Sans" pitchFamily="34" charset="0"/>
                <a:ea typeface="Quattrocento Sans" pitchFamily="34" charset="-122"/>
                <a:cs typeface="Quattrocento Sans" pitchFamily="34" charset="-120"/>
              </a:rPr>
              <a:t>Discussion Around Visuals</a:t>
            </a:r>
            <a:endParaRPr lang="en-US" sz="1600" dirty="0"/>
          </a:p>
        </p:txBody>
      </p:sp>
      <p:sp>
        <p:nvSpPr>
          <p:cNvPr id="17" name="Text 15"/>
          <p:cNvSpPr/>
          <p:nvPr/>
        </p:nvSpPr>
        <p:spPr>
          <a:xfrm>
            <a:off x="11112500" y="3111500"/>
            <a:ext cx="4064000" cy="762000"/>
          </a:xfrm>
          <a:prstGeom prst="rect">
            <a:avLst/>
          </a:prstGeom>
          <a:noFill/>
          <a:ln/>
        </p:spPr>
        <p:txBody>
          <a:bodyPr wrap="square" lIns="0" tIns="0" rIns="0" bIns="0" rtlCol="0" anchor="t"/>
          <a:lstStyle/>
          <a:p>
            <a:pPr>
              <a:lnSpc>
                <a:spcPct val="140000"/>
              </a:lnSpc>
            </a:pPr>
            <a:r>
              <a:rPr lang="en-US" sz="1400" dirty="0">
                <a:solidFill>
                  <a:srgbClr val="2D2926"/>
                </a:solidFill>
                <a:latin typeface="Quattrocento Sans" pitchFamily="34" charset="0"/>
                <a:ea typeface="Quattrocento Sans" pitchFamily="34" charset="-122"/>
                <a:cs typeface="Quattrocento Sans" pitchFamily="34" charset="-120"/>
              </a:rPr>
              <a:t>Involve students in verbal discussions around visual resources and materials</a:t>
            </a:r>
            <a:endParaRPr lang="en-US" sz="1600" dirty="0"/>
          </a:p>
        </p:txBody>
      </p:sp>
      <p:sp>
        <p:nvSpPr>
          <p:cNvPr id="18" name="Shape 16"/>
          <p:cNvSpPr/>
          <p:nvPr/>
        </p:nvSpPr>
        <p:spPr>
          <a:xfrm>
            <a:off x="762000" y="4381500"/>
            <a:ext cx="7112000" cy="1968500"/>
          </a:xfrm>
          <a:prstGeom prst="rect">
            <a:avLst/>
          </a:prstGeom>
          <a:solidFill>
            <a:srgbClr val="EDE6DE"/>
          </a:solidFill>
          <a:ln/>
        </p:spPr>
      </p:sp>
      <p:sp>
        <p:nvSpPr>
          <p:cNvPr id="19" name="Shape 17"/>
          <p:cNvSpPr/>
          <p:nvPr/>
        </p:nvSpPr>
        <p:spPr>
          <a:xfrm>
            <a:off x="1079500" y="4572000"/>
            <a:ext cx="355600" cy="355600"/>
          </a:xfrm>
          <a:custGeom>
            <a:avLst/>
            <a:gdLst/>
            <a:ahLst/>
            <a:cxnLst/>
            <a:rect l="l" t="t" r="r" b="b"/>
            <a:pathLst>
              <a:path w="355600" h="355600">
                <a:moveTo>
                  <a:pt x="355600" y="111125"/>
                </a:moveTo>
                <a:lnTo>
                  <a:pt x="355531" y="161548"/>
                </a:lnTo>
                <a:cubicBezTo>
                  <a:pt x="355531" y="192663"/>
                  <a:pt x="343307" y="222042"/>
                  <a:pt x="322263" y="243780"/>
                </a:cubicBezTo>
                <a:cubicBezTo>
                  <a:pt x="322054" y="190302"/>
                  <a:pt x="294412" y="140712"/>
                  <a:pt x="249059" y="112306"/>
                </a:cubicBezTo>
                <a:lnTo>
                  <a:pt x="247739" y="111472"/>
                </a:lnTo>
                <a:cubicBezTo>
                  <a:pt x="249476" y="108903"/>
                  <a:pt x="249684" y="105499"/>
                  <a:pt x="248017" y="102652"/>
                </a:cubicBezTo>
                <a:lnTo>
                  <a:pt x="204956" y="28059"/>
                </a:lnTo>
                <a:cubicBezTo>
                  <a:pt x="200372" y="20072"/>
                  <a:pt x="203081" y="9862"/>
                  <a:pt x="211068" y="5278"/>
                </a:cubicBezTo>
                <a:cubicBezTo>
                  <a:pt x="219055" y="695"/>
                  <a:pt x="229195" y="3473"/>
                  <a:pt x="233779" y="11460"/>
                </a:cubicBezTo>
                <a:lnTo>
                  <a:pt x="281007" y="93276"/>
                </a:lnTo>
                <a:lnTo>
                  <a:pt x="281007" y="93276"/>
                </a:lnTo>
                <a:lnTo>
                  <a:pt x="281007" y="93276"/>
                </a:lnTo>
                <a:lnTo>
                  <a:pt x="311081" y="145365"/>
                </a:lnTo>
                <a:lnTo>
                  <a:pt x="311150" y="111125"/>
                </a:lnTo>
                <a:cubicBezTo>
                  <a:pt x="311150" y="98832"/>
                  <a:pt x="321151" y="88900"/>
                  <a:pt x="333375" y="88900"/>
                </a:cubicBezTo>
                <a:cubicBezTo>
                  <a:pt x="345599" y="88900"/>
                  <a:pt x="355600" y="98901"/>
                  <a:pt x="355600" y="111125"/>
                </a:cubicBezTo>
                <a:close/>
                <a:moveTo>
                  <a:pt x="207248" y="86261"/>
                </a:moveTo>
                <a:cubicBezTo>
                  <a:pt x="197455" y="80149"/>
                  <a:pt x="186551" y="77440"/>
                  <a:pt x="175855" y="77857"/>
                </a:cubicBezTo>
                <a:lnTo>
                  <a:pt x="150505" y="33893"/>
                </a:lnTo>
                <a:cubicBezTo>
                  <a:pt x="145921" y="25906"/>
                  <a:pt x="148630" y="15696"/>
                  <a:pt x="156617" y="11112"/>
                </a:cubicBezTo>
                <a:cubicBezTo>
                  <a:pt x="164604" y="6529"/>
                  <a:pt x="174814" y="9237"/>
                  <a:pt x="179397" y="17224"/>
                </a:cubicBezTo>
                <a:lnTo>
                  <a:pt x="226000" y="97929"/>
                </a:lnTo>
                <a:lnTo>
                  <a:pt x="207248" y="86191"/>
                </a:lnTo>
                <a:close/>
                <a:moveTo>
                  <a:pt x="147171" y="61466"/>
                </a:moveTo>
                <a:lnTo>
                  <a:pt x="158561" y="81191"/>
                </a:lnTo>
                <a:cubicBezTo>
                  <a:pt x="148074" y="85011"/>
                  <a:pt x="138698" y="92025"/>
                  <a:pt x="131961" y="101818"/>
                </a:cubicBezTo>
                <a:lnTo>
                  <a:pt x="118279" y="78065"/>
                </a:lnTo>
                <a:cubicBezTo>
                  <a:pt x="113695" y="70078"/>
                  <a:pt x="116403" y="59869"/>
                  <a:pt x="124391" y="55285"/>
                </a:cubicBezTo>
                <a:cubicBezTo>
                  <a:pt x="132378" y="50701"/>
                  <a:pt x="142587" y="53409"/>
                  <a:pt x="147171" y="61397"/>
                </a:cubicBezTo>
                <a:close/>
                <a:moveTo>
                  <a:pt x="114945" y="105708"/>
                </a:moveTo>
                <a:lnTo>
                  <a:pt x="123627" y="120779"/>
                </a:lnTo>
                <a:cubicBezTo>
                  <a:pt x="122238" y="126752"/>
                  <a:pt x="121890" y="132933"/>
                  <a:pt x="122446" y="138906"/>
                </a:cubicBezTo>
                <a:lnTo>
                  <a:pt x="119459" y="138906"/>
                </a:lnTo>
                <a:lnTo>
                  <a:pt x="119459" y="138906"/>
                </a:lnTo>
                <a:lnTo>
                  <a:pt x="95567" y="138906"/>
                </a:lnTo>
                <a:lnTo>
                  <a:pt x="86052" y="122376"/>
                </a:lnTo>
                <a:cubicBezTo>
                  <a:pt x="81469" y="114389"/>
                  <a:pt x="84177" y="104180"/>
                  <a:pt x="92164" y="99596"/>
                </a:cubicBezTo>
                <a:cubicBezTo>
                  <a:pt x="100151" y="95012"/>
                  <a:pt x="110361" y="97721"/>
                  <a:pt x="114945" y="105708"/>
                </a:cubicBezTo>
                <a:close/>
                <a:moveTo>
                  <a:pt x="158978" y="121543"/>
                </a:moveTo>
                <a:cubicBezTo>
                  <a:pt x="165507" y="111125"/>
                  <a:pt x="179189" y="108000"/>
                  <a:pt x="189607" y="114459"/>
                </a:cubicBezTo>
                <a:lnTo>
                  <a:pt x="231418" y="140573"/>
                </a:lnTo>
                <a:cubicBezTo>
                  <a:pt x="267186" y="163006"/>
                  <a:pt x="288925" y="202248"/>
                  <a:pt x="288925" y="244475"/>
                </a:cubicBezTo>
                <a:lnTo>
                  <a:pt x="288925" y="250031"/>
                </a:lnTo>
                <a:cubicBezTo>
                  <a:pt x="288925" y="308302"/>
                  <a:pt x="241627" y="355600"/>
                  <a:pt x="183356" y="355600"/>
                </a:cubicBezTo>
                <a:lnTo>
                  <a:pt x="61119" y="355600"/>
                </a:lnTo>
                <a:cubicBezTo>
                  <a:pt x="51881" y="355600"/>
                  <a:pt x="44450" y="348169"/>
                  <a:pt x="44450" y="338931"/>
                </a:cubicBezTo>
                <a:cubicBezTo>
                  <a:pt x="44450" y="329694"/>
                  <a:pt x="51881" y="322263"/>
                  <a:pt x="61119" y="322263"/>
                </a:cubicBezTo>
                <a:lnTo>
                  <a:pt x="125016" y="322263"/>
                </a:lnTo>
                <a:cubicBezTo>
                  <a:pt x="129600" y="322263"/>
                  <a:pt x="133350" y="318512"/>
                  <a:pt x="133350" y="313928"/>
                </a:cubicBezTo>
                <a:cubicBezTo>
                  <a:pt x="133350" y="309344"/>
                  <a:pt x="129600" y="305594"/>
                  <a:pt x="125016" y="305594"/>
                </a:cubicBezTo>
                <a:lnTo>
                  <a:pt x="38894" y="305594"/>
                </a:lnTo>
                <a:cubicBezTo>
                  <a:pt x="29656" y="305594"/>
                  <a:pt x="22225" y="298162"/>
                  <a:pt x="22225" y="288925"/>
                </a:cubicBezTo>
                <a:cubicBezTo>
                  <a:pt x="22225" y="279688"/>
                  <a:pt x="29656" y="272256"/>
                  <a:pt x="38894" y="272256"/>
                </a:cubicBezTo>
                <a:lnTo>
                  <a:pt x="125016" y="272256"/>
                </a:lnTo>
                <a:cubicBezTo>
                  <a:pt x="129600" y="272256"/>
                  <a:pt x="133350" y="268506"/>
                  <a:pt x="133350" y="263922"/>
                </a:cubicBezTo>
                <a:cubicBezTo>
                  <a:pt x="133350" y="259338"/>
                  <a:pt x="129600" y="255587"/>
                  <a:pt x="125016" y="255587"/>
                </a:cubicBezTo>
                <a:lnTo>
                  <a:pt x="16669" y="255587"/>
                </a:lnTo>
                <a:cubicBezTo>
                  <a:pt x="7431" y="255587"/>
                  <a:pt x="0" y="248156"/>
                  <a:pt x="0" y="238919"/>
                </a:cubicBezTo>
                <a:cubicBezTo>
                  <a:pt x="0" y="229681"/>
                  <a:pt x="7431" y="222250"/>
                  <a:pt x="16669" y="222250"/>
                </a:cubicBezTo>
                <a:lnTo>
                  <a:pt x="125016" y="222250"/>
                </a:lnTo>
                <a:cubicBezTo>
                  <a:pt x="129600" y="222250"/>
                  <a:pt x="133350" y="218500"/>
                  <a:pt x="133350" y="213916"/>
                </a:cubicBezTo>
                <a:cubicBezTo>
                  <a:pt x="133350" y="209332"/>
                  <a:pt x="129600" y="205581"/>
                  <a:pt x="125016" y="205581"/>
                </a:cubicBezTo>
                <a:lnTo>
                  <a:pt x="38894" y="205581"/>
                </a:lnTo>
                <a:cubicBezTo>
                  <a:pt x="29656" y="205581"/>
                  <a:pt x="22225" y="198150"/>
                  <a:pt x="22225" y="188913"/>
                </a:cubicBezTo>
                <a:cubicBezTo>
                  <a:pt x="22225" y="179675"/>
                  <a:pt x="29656" y="172244"/>
                  <a:pt x="38894" y="172244"/>
                </a:cubicBezTo>
                <a:lnTo>
                  <a:pt x="133350" y="172244"/>
                </a:lnTo>
                <a:lnTo>
                  <a:pt x="133350" y="172244"/>
                </a:lnTo>
                <a:lnTo>
                  <a:pt x="133350" y="172244"/>
                </a:lnTo>
                <a:lnTo>
                  <a:pt x="198080" y="172244"/>
                </a:lnTo>
                <a:lnTo>
                  <a:pt x="165993" y="152172"/>
                </a:lnTo>
                <a:cubicBezTo>
                  <a:pt x="155575" y="145643"/>
                  <a:pt x="152450" y="131961"/>
                  <a:pt x="158909" y="121543"/>
                </a:cubicBezTo>
                <a:close/>
              </a:path>
            </a:pathLst>
          </a:custGeom>
          <a:solidFill>
            <a:srgbClr val="B85C38"/>
          </a:solidFill>
          <a:ln/>
        </p:spPr>
      </p:sp>
      <p:sp>
        <p:nvSpPr>
          <p:cNvPr id="20" name="Text 18"/>
          <p:cNvSpPr/>
          <p:nvPr/>
        </p:nvSpPr>
        <p:spPr>
          <a:xfrm>
            <a:off x="1079500" y="5016500"/>
            <a:ext cx="6477000" cy="317500"/>
          </a:xfrm>
          <a:prstGeom prst="rect">
            <a:avLst/>
          </a:prstGeom>
          <a:noFill/>
          <a:ln/>
        </p:spPr>
        <p:txBody>
          <a:bodyPr wrap="none" lIns="0" tIns="0" rIns="0" bIns="0" rtlCol="0" anchor="ctr"/>
          <a:lstStyle/>
          <a:p>
            <a:pPr>
              <a:lnSpc>
                <a:spcPct val="100000"/>
              </a:lnSpc>
            </a:pPr>
            <a:r>
              <a:rPr lang="en-US" sz="1600" b="1" dirty="0">
                <a:solidFill>
                  <a:srgbClr val="2D2926"/>
                </a:solidFill>
                <a:latin typeface="Quattrocento Sans" pitchFamily="34" charset="0"/>
                <a:ea typeface="Quattrocento Sans" pitchFamily="34" charset="-122"/>
                <a:cs typeface="Quattrocento Sans" pitchFamily="34" charset="-120"/>
              </a:rPr>
              <a:t>Hands-on Manipulation</a:t>
            </a:r>
            <a:endParaRPr lang="en-US" sz="1600" dirty="0"/>
          </a:p>
        </p:txBody>
      </p:sp>
      <p:sp>
        <p:nvSpPr>
          <p:cNvPr id="21" name="Text 19"/>
          <p:cNvSpPr/>
          <p:nvPr/>
        </p:nvSpPr>
        <p:spPr>
          <a:xfrm>
            <a:off x="1079500" y="5397500"/>
            <a:ext cx="6477000" cy="762000"/>
          </a:xfrm>
          <a:prstGeom prst="rect">
            <a:avLst/>
          </a:prstGeom>
          <a:noFill/>
          <a:ln/>
        </p:spPr>
        <p:txBody>
          <a:bodyPr wrap="square" lIns="0" tIns="0" rIns="0" bIns="0" rtlCol="0" anchor="t"/>
          <a:lstStyle/>
          <a:p>
            <a:pPr>
              <a:lnSpc>
                <a:spcPct val="140000"/>
              </a:lnSpc>
            </a:pPr>
            <a:r>
              <a:rPr lang="en-US" sz="1400" dirty="0">
                <a:solidFill>
                  <a:srgbClr val="2D2926"/>
                </a:solidFill>
                <a:latin typeface="Quattrocento Sans" pitchFamily="34" charset="0"/>
                <a:ea typeface="Quattrocento Sans" pitchFamily="34" charset="-122"/>
                <a:cs typeface="Quattrocento Sans" pitchFamily="34" charset="-120"/>
              </a:rPr>
              <a:t>Ask students to perform tasks involving manipulation of objects while receiving verbal instruction</a:t>
            </a:r>
            <a:endParaRPr lang="en-US" sz="1600" dirty="0"/>
          </a:p>
        </p:txBody>
      </p:sp>
      <p:sp>
        <p:nvSpPr>
          <p:cNvPr id="22" name="Shape 20"/>
          <p:cNvSpPr/>
          <p:nvPr/>
        </p:nvSpPr>
        <p:spPr>
          <a:xfrm>
            <a:off x="8382000" y="4381500"/>
            <a:ext cx="7112000" cy="1968500"/>
          </a:xfrm>
          <a:prstGeom prst="rect">
            <a:avLst/>
          </a:prstGeom>
          <a:solidFill>
            <a:srgbClr val="EDE6DE"/>
          </a:solidFill>
          <a:ln/>
        </p:spPr>
      </p:sp>
      <p:sp>
        <p:nvSpPr>
          <p:cNvPr id="23" name="Shape 21"/>
          <p:cNvSpPr/>
          <p:nvPr/>
        </p:nvSpPr>
        <p:spPr>
          <a:xfrm>
            <a:off x="8655050" y="4572000"/>
            <a:ext cx="444500" cy="355600"/>
          </a:xfrm>
          <a:custGeom>
            <a:avLst/>
            <a:gdLst/>
            <a:ahLst/>
            <a:cxnLst/>
            <a:rect l="l" t="t" r="r" b="b"/>
            <a:pathLst>
              <a:path w="444500" h="355600">
                <a:moveTo>
                  <a:pt x="88900" y="22225"/>
                </a:moveTo>
                <a:cubicBezTo>
                  <a:pt x="64383" y="22225"/>
                  <a:pt x="44450" y="42158"/>
                  <a:pt x="44450" y="66675"/>
                </a:cubicBezTo>
                <a:lnTo>
                  <a:pt x="44450" y="233363"/>
                </a:lnTo>
                <a:lnTo>
                  <a:pt x="88900" y="233363"/>
                </a:lnTo>
                <a:lnTo>
                  <a:pt x="88900" y="66675"/>
                </a:lnTo>
                <a:lnTo>
                  <a:pt x="355600" y="66675"/>
                </a:lnTo>
                <a:lnTo>
                  <a:pt x="355600" y="233363"/>
                </a:lnTo>
                <a:lnTo>
                  <a:pt x="400050" y="233363"/>
                </a:lnTo>
                <a:lnTo>
                  <a:pt x="400050" y="66675"/>
                </a:lnTo>
                <a:cubicBezTo>
                  <a:pt x="400050" y="42158"/>
                  <a:pt x="380117" y="22225"/>
                  <a:pt x="355600" y="22225"/>
                </a:cubicBezTo>
                <a:lnTo>
                  <a:pt x="88900" y="22225"/>
                </a:lnTo>
                <a:close/>
                <a:moveTo>
                  <a:pt x="13335" y="266700"/>
                </a:moveTo>
                <a:cubicBezTo>
                  <a:pt x="5973" y="266700"/>
                  <a:pt x="0" y="272673"/>
                  <a:pt x="0" y="280035"/>
                </a:cubicBezTo>
                <a:cubicBezTo>
                  <a:pt x="0" y="309483"/>
                  <a:pt x="23892" y="333375"/>
                  <a:pt x="53340" y="333375"/>
                </a:cubicBezTo>
                <a:lnTo>
                  <a:pt x="391160" y="333375"/>
                </a:lnTo>
                <a:cubicBezTo>
                  <a:pt x="420608" y="333375"/>
                  <a:pt x="444500" y="309483"/>
                  <a:pt x="444500" y="280035"/>
                </a:cubicBezTo>
                <a:cubicBezTo>
                  <a:pt x="444500" y="272673"/>
                  <a:pt x="438527" y="266700"/>
                  <a:pt x="431165" y="266700"/>
                </a:cubicBezTo>
                <a:lnTo>
                  <a:pt x="13335" y="266700"/>
                </a:lnTo>
                <a:close/>
              </a:path>
            </a:pathLst>
          </a:custGeom>
          <a:solidFill>
            <a:srgbClr val="B85C38"/>
          </a:solidFill>
          <a:ln/>
        </p:spPr>
      </p:sp>
      <p:sp>
        <p:nvSpPr>
          <p:cNvPr id="24" name="Text 22"/>
          <p:cNvSpPr/>
          <p:nvPr/>
        </p:nvSpPr>
        <p:spPr>
          <a:xfrm>
            <a:off x="8699500" y="5016500"/>
            <a:ext cx="6477000" cy="317500"/>
          </a:xfrm>
          <a:prstGeom prst="rect">
            <a:avLst/>
          </a:prstGeom>
          <a:noFill/>
          <a:ln/>
        </p:spPr>
        <p:txBody>
          <a:bodyPr wrap="none" lIns="0" tIns="0" rIns="0" bIns="0" rtlCol="0" anchor="ctr"/>
          <a:lstStyle/>
          <a:p>
            <a:pPr>
              <a:lnSpc>
                <a:spcPct val="100000"/>
              </a:lnSpc>
            </a:pPr>
            <a:r>
              <a:rPr lang="en-US" sz="1600" b="1" dirty="0">
                <a:solidFill>
                  <a:srgbClr val="2D2926"/>
                </a:solidFill>
                <a:latin typeface="Quattrocento Sans" pitchFamily="34" charset="0"/>
                <a:ea typeface="Quattrocento Sans" pitchFamily="34" charset="-122"/>
                <a:cs typeface="Quattrocento Sans" pitchFamily="34" charset="-120"/>
              </a:rPr>
              <a:t>Online Learning Design</a:t>
            </a:r>
            <a:endParaRPr lang="en-US" sz="1600" dirty="0"/>
          </a:p>
        </p:txBody>
      </p:sp>
      <p:sp>
        <p:nvSpPr>
          <p:cNvPr id="25" name="Text 23"/>
          <p:cNvSpPr/>
          <p:nvPr/>
        </p:nvSpPr>
        <p:spPr>
          <a:xfrm>
            <a:off x="8699500" y="5397500"/>
            <a:ext cx="6477000" cy="762000"/>
          </a:xfrm>
          <a:prstGeom prst="rect">
            <a:avLst/>
          </a:prstGeom>
          <a:noFill/>
          <a:ln/>
        </p:spPr>
        <p:txBody>
          <a:bodyPr wrap="square" lIns="0" tIns="0" rIns="0" bIns="0" rtlCol="0" anchor="t"/>
          <a:lstStyle/>
          <a:p>
            <a:pPr>
              <a:lnSpc>
                <a:spcPct val="140000"/>
              </a:lnSpc>
            </a:pPr>
            <a:r>
              <a:rPr lang="en-US" sz="1400" dirty="0">
                <a:solidFill>
                  <a:srgbClr val="2D2926"/>
                </a:solidFill>
                <a:latin typeface="Quattrocento Sans" pitchFamily="34" charset="0"/>
                <a:ea typeface="Quattrocento Sans" pitchFamily="34" charset="-122"/>
                <a:cs typeface="Quattrocento Sans" pitchFamily="34" charset="-120"/>
              </a:rPr>
              <a:t>In online contexts, Dual Coding requires careful planning to integrate visual and verbal content effectively</a:t>
            </a:r>
            <a:endParaRPr lang="en-US" sz="1600" dirty="0"/>
          </a:p>
        </p:txBody>
      </p:sp>
      <p:sp>
        <p:nvSpPr>
          <p:cNvPr id="26" name="Shape 24"/>
          <p:cNvSpPr/>
          <p:nvPr/>
        </p:nvSpPr>
        <p:spPr>
          <a:xfrm>
            <a:off x="762000" y="6731000"/>
            <a:ext cx="14732000" cy="889000"/>
          </a:xfrm>
          <a:prstGeom prst="rect">
            <a:avLst/>
          </a:prstGeom>
          <a:solidFill>
            <a:srgbClr val="B85C38"/>
          </a:solidFill>
          <a:ln/>
        </p:spPr>
      </p:sp>
      <p:sp>
        <p:nvSpPr>
          <p:cNvPr id="27" name="Text 25"/>
          <p:cNvSpPr/>
          <p:nvPr/>
        </p:nvSpPr>
        <p:spPr>
          <a:xfrm>
            <a:off x="1079500" y="6858000"/>
            <a:ext cx="14097000" cy="635000"/>
          </a:xfrm>
          <a:prstGeom prst="rect">
            <a:avLst/>
          </a:prstGeom>
          <a:noFill/>
          <a:ln/>
        </p:spPr>
        <p:txBody>
          <a:bodyPr wrap="square" lIns="0" tIns="0" rIns="0" bIns="0" rtlCol="0" anchor="ctr"/>
          <a:lstStyle/>
          <a:p>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Unlike face-to-face learning where Dual Coding occurs naturally, </a:t>
            </a:r>
            <a:pPr>
              <a:lnSpc>
                <a:spcPct val="150000"/>
              </a:lnSpc>
            </a:pPr>
            <a:r>
              <a:rPr lang="en-US" sz="1600" b="1" dirty="0">
                <a:solidFill>
                  <a:srgbClr val="FFFFFF"/>
                </a:solidFill>
                <a:latin typeface="Quattrocento Sans" pitchFamily="34" charset="0"/>
                <a:ea typeface="Quattrocento Sans" pitchFamily="34" charset="-122"/>
                <a:cs typeface="Quattrocento Sans" pitchFamily="34" charset="-120"/>
              </a:rPr>
              <a:t>online learning requires careful design</a:t>
            </a:r>
            <a:pP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 to effectively integrate visual and verbal elements.</a:t>
            </a:r>
            <a:endParaRPr lang="en-US" sz="1600" dirty="0"/>
          </a:p>
        </p:txBody>
      </p:sp>
      <p:sp>
        <p:nvSpPr>
          <p:cNvPr id="28" name="Text 26"/>
          <p:cNvSpPr/>
          <p:nvPr/>
        </p:nvSpPr>
        <p:spPr>
          <a:xfrm>
            <a:off x="762000" y="7937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 NTU Academic Development Blog, 2025</a:t>
            </a:r>
            <a:endParaRPr lang="en-US" sz="1300" dirty="0"/>
          </a:p>
        </p:txBody>
      </p:sp>
      <p:sp>
        <p:nvSpPr>
          <p:cNvPr id="29" name="Shape 27"/>
          <p:cNvSpPr/>
          <p:nvPr/>
        </p:nvSpPr>
        <p:spPr>
          <a:xfrm>
            <a:off x="762000" y="8699500"/>
            <a:ext cx="508000" cy="38100"/>
          </a:xfrm>
          <a:prstGeom prst="rect">
            <a:avLst/>
          </a:prstGeom>
          <a:solidFill>
            <a:srgbClr val="B85C38"/>
          </a:solidFill>
          <a:ln/>
        </p:spPr>
      </p:sp>
      <p:sp>
        <p:nvSpPr>
          <p:cNvPr id="30" name="Text 28"/>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24</a:t>
            </a:r>
            <a:endParaRPr lang="en-US" sz="13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143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CTML vs. Dual Coding Theory - A Comparison</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587500"/>
            <a:ext cx="7112000" cy="3556000"/>
          </a:xfrm>
          <a:prstGeom prst="rect">
            <a:avLst/>
          </a:prstGeom>
          <a:solidFill>
            <a:srgbClr val="B85C38"/>
          </a:solidFill>
          <a:ln/>
        </p:spPr>
      </p:sp>
      <p:sp>
        <p:nvSpPr>
          <p:cNvPr id="6" name="Shape 4"/>
          <p:cNvSpPr/>
          <p:nvPr/>
        </p:nvSpPr>
        <p:spPr>
          <a:xfrm>
            <a:off x="1079500" y="1841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236418" y="147727"/>
                </a:moveTo>
                <a:lnTo>
                  <a:pt x="180856" y="236627"/>
                </a:lnTo>
                <a:cubicBezTo>
                  <a:pt x="177939" y="241280"/>
                  <a:pt x="172938" y="244197"/>
                  <a:pt x="167451" y="244475"/>
                </a:cubicBezTo>
                <a:cubicBezTo>
                  <a:pt x="161965" y="244753"/>
                  <a:pt x="156686" y="242253"/>
                  <a:pt x="153422" y="237808"/>
                </a:cubicBezTo>
                <a:lnTo>
                  <a:pt x="120084" y="193357"/>
                </a:lnTo>
                <a:cubicBezTo>
                  <a:pt x="114528" y="185995"/>
                  <a:pt x="116056" y="175577"/>
                  <a:pt x="123418" y="170021"/>
                </a:cubicBezTo>
                <a:cubicBezTo>
                  <a:pt x="130780" y="164465"/>
                  <a:pt x="141198" y="165993"/>
                  <a:pt x="146754" y="173355"/>
                </a:cubicBezTo>
                <a:lnTo>
                  <a:pt x="165507" y="198358"/>
                </a:lnTo>
                <a:lnTo>
                  <a:pt x="208151" y="130086"/>
                </a:lnTo>
                <a:cubicBezTo>
                  <a:pt x="213013" y="122307"/>
                  <a:pt x="223292" y="119876"/>
                  <a:pt x="231140" y="124807"/>
                </a:cubicBezTo>
                <a:cubicBezTo>
                  <a:pt x="238988" y="129738"/>
                  <a:pt x="241350" y="139948"/>
                  <a:pt x="236418" y="147796"/>
                </a:cubicBezTo>
                <a:close/>
              </a:path>
            </a:pathLst>
          </a:custGeom>
          <a:solidFill>
            <a:srgbClr val="FFFFFF"/>
          </a:solidFill>
          <a:ln/>
        </p:spPr>
      </p:sp>
      <p:sp>
        <p:nvSpPr>
          <p:cNvPr id="7" name="Text 5"/>
          <p:cNvSpPr/>
          <p:nvPr/>
        </p:nvSpPr>
        <p:spPr>
          <a:xfrm>
            <a:off x="1587500" y="1803400"/>
            <a:ext cx="3810000" cy="3810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Similarities</a:t>
            </a:r>
            <a:endParaRPr lang="en-US" sz="1600" dirty="0"/>
          </a:p>
        </p:txBody>
      </p:sp>
      <p:sp>
        <p:nvSpPr>
          <p:cNvPr id="8" name="Text 6"/>
          <p:cNvSpPr/>
          <p:nvPr/>
        </p:nvSpPr>
        <p:spPr>
          <a:xfrm>
            <a:off x="1079500" y="2349500"/>
            <a:ext cx="6477000" cy="2540000"/>
          </a:xfrm>
          <a:prstGeom prst="rect">
            <a:avLst/>
          </a:prstGeom>
          <a:noFill/>
          <a:ln/>
        </p:spPr>
        <p:txBody>
          <a:bodyPr wrap="square" lIns="0" tIns="0" rIns="0" bIns="0" rtlCol="0" anchor="t"/>
          <a:lstStyle/>
          <a:p>
            <a:pPr>
              <a:lnSpc>
                <a:spcPct val="160000"/>
              </a:lnSpc>
            </a:pPr>
            <a:r>
              <a:rPr lang="en-US" sz="1500" dirty="0">
                <a:solidFill>
                  <a:srgbClr val="FFFFFF">
                    <a:alpha val="86667"/>
                  </a:srgbClr>
                </a:solidFill>
                <a:latin typeface="Quattrocento Sans" pitchFamily="34" charset="0"/>
                <a:ea typeface="Quattrocento Sans" pitchFamily="34" charset="-122"/>
                <a:cs typeface="Quattrocento Sans" pitchFamily="34" charset="-120"/>
              </a:rPr>
              <a:t>Both recognize </a:t>
            </a:r>
            <a:pPr>
              <a:lnSpc>
                <a:spcPct val="160000"/>
              </a:lnSpc>
            </a:pPr>
            <a:r>
              <a:rPr lang="en-US" sz="1500" b="1" dirty="0">
                <a:solidFill>
                  <a:srgbClr val="FFFFFF">
                    <a:alpha val="86667"/>
                  </a:srgbClr>
                </a:solidFill>
                <a:latin typeface="Quattrocento Sans" pitchFamily="34" charset="0"/>
                <a:ea typeface="Quattrocento Sans" pitchFamily="34" charset="-122"/>
                <a:cs typeface="Quattrocento Sans" pitchFamily="34" charset="-120"/>
              </a:rPr>
              <a:t>dual processing channels</a:t>
            </a:r>
            <a:pPr>
              <a:lnSpc>
                <a:spcPct val="160000"/>
              </a:lnSpc>
            </a:pPr>
            <a:r>
              <a:rPr lang="en-US" sz="1500" dirty="0">
                <a:solidFill>
                  <a:srgbClr val="FFFFFF">
                    <a:alpha val="86667"/>
                  </a:srgbClr>
                </a:solidFill>
                <a:latin typeface="Quattrocento Sans" pitchFamily="34" charset="0"/>
                <a:ea typeface="Quattrocento Sans" pitchFamily="34" charset="-122"/>
                <a:cs typeface="Quattrocento Sans" pitchFamily="34" charset="-120"/>
              </a:rPr>
              <a:t> (verbal and visual)</a:t>
            </a:r>
            <a:endParaRPr lang="en-US" sz="1600" dirty="0"/>
          </a:p>
          <a:p>
            <a:pPr>
              <a:lnSpc>
                <a:spcPct val="160000"/>
              </a:lnSpc>
              <a:spcBef>
                <a:spcPts val="400"/>
              </a:spcBef>
            </a:pPr>
            <a:r>
              <a:rPr lang="en-US" sz="1500" dirty="0">
                <a:solidFill>
                  <a:srgbClr val="FFFFFF">
                    <a:alpha val="86667"/>
                  </a:srgbClr>
                </a:solidFill>
                <a:latin typeface="Quattrocento Sans" pitchFamily="34" charset="0"/>
                <a:ea typeface="Quattrocento Sans" pitchFamily="34" charset="-122"/>
                <a:cs typeface="Quattrocento Sans" pitchFamily="34" charset="-120"/>
              </a:rPr>
              <a:t>Both acknowledge </a:t>
            </a:r>
            <a:pPr>
              <a:lnSpc>
                <a:spcPct val="160000"/>
              </a:lnSpc>
              <a:spcBef>
                <a:spcPts val="400"/>
              </a:spcBef>
            </a:pPr>
            <a:r>
              <a:rPr lang="en-US" sz="1500" b="1" dirty="0">
                <a:solidFill>
                  <a:srgbClr val="FFFFFF">
                    <a:alpha val="86667"/>
                  </a:srgbClr>
                </a:solidFill>
                <a:latin typeface="Quattrocento Sans" pitchFamily="34" charset="0"/>
                <a:ea typeface="Quattrocento Sans" pitchFamily="34" charset="-122"/>
                <a:cs typeface="Quattrocento Sans" pitchFamily="34" charset="-120"/>
              </a:rPr>
              <a:t>limited cognitive capacity</a:t>
            </a:r>
            <a:endParaRPr lang="en-US" sz="1600" dirty="0"/>
          </a:p>
          <a:p>
            <a:pPr>
              <a:lnSpc>
                <a:spcPct val="160000"/>
              </a:lnSpc>
              <a:spcBef>
                <a:spcPts val="400"/>
              </a:spcBef>
            </a:pPr>
            <a:r>
              <a:rPr lang="en-US" sz="1500" dirty="0">
                <a:solidFill>
                  <a:srgbClr val="FFFFFF">
                    <a:alpha val="86667"/>
                  </a:srgbClr>
                </a:solidFill>
                <a:latin typeface="Quattrocento Sans" pitchFamily="34" charset="0"/>
                <a:ea typeface="Quattrocento Sans" pitchFamily="34" charset="-122"/>
                <a:cs typeface="Quattrocento Sans" pitchFamily="34" charset="-120"/>
              </a:rPr>
              <a:t>Both advocate </a:t>
            </a:r>
            <a:pPr>
              <a:lnSpc>
                <a:spcPct val="160000"/>
              </a:lnSpc>
              <a:spcBef>
                <a:spcPts val="400"/>
              </a:spcBef>
            </a:pPr>
            <a:r>
              <a:rPr lang="en-US" sz="1500" b="1" dirty="0">
                <a:solidFill>
                  <a:srgbClr val="FFFFFF">
                    <a:alpha val="86667"/>
                  </a:srgbClr>
                </a:solidFill>
                <a:latin typeface="Quattrocento Sans" pitchFamily="34" charset="0"/>
                <a:ea typeface="Quattrocento Sans" pitchFamily="34" charset="-122"/>
                <a:cs typeface="Quattrocento Sans" pitchFamily="34" charset="-120"/>
              </a:rPr>
              <a:t>combining words and images</a:t>
            </a:r>
            <a:endParaRPr lang="en-US" sz="1600" dirty="0"/>
          </a:p>
          <a:p>
            <a:pPr>
              <a:lnSpc>
                <a:spcPct val="160000"/>
              </a:lnSpc>
              <a:spcBef>
                <a:spcPts val="400"/>
              </a:spcBef>
            </a:pPr>
            <a:r>
              <a:rPr lang="en-US" sz="1500" dirty="0">
                <a:solidFill>
                  <a:srgbClr val="FFFFFF">
                    <a:alpha val="86667"/>
                  </a:srgbClr>
                </a:solidFill>
                <a:latin typeface="Quattrocento Sans" pitchFamily="34" charset="0"/>
                <a:ea typeface="Quattrocento Sans" pitchFamily="34" charset="-122"/>
                <a:cs typeface="Quattrocento Sans" pitchFamily="34" charset="-120"/>
              </a:rPr>
              <a:t>Both are supported by </a:t>
            </a:r>
            <a:pPr>
              <a:lnSpc>
                <a:spcPct val="160000"/>
              </a:lnSpc>
              <a:spcBef>
                <a:spcPts val="400"/>
              </a:spcBef>
            </a:pPr>
            <a:r>
              <a:rPr lang="en-US" sz="1500" b="1" dirty="0">
                <a:solidFill>
                  <a:srgbClr val="FFFFFF">
                    <a:alpha val="86667"/>
                  </a:srgbClr>
                </a:solidFill>
                <a:latin typeface="Quattrocento Sans" pitchFamily="34" charset="0"/>
                <a:ea typeface="Quattrocento Sans" pitchFamily="34" charset="-122"/>
                <a:cs typeface="Quattrocento Sans" pitchFamily="34" charset="-120"/>
              </a:rPr>
              <a:t>extensive research</a:t>
            </a:r>
            <a:endParaRPr lang="en-US" sz="1600" dirty="0"/>
          </a:p>
          <a:p>
            <a:pPr>
              <a:lnSpc>
                <a:spcPct val="160000"/>
              </a:lnSpc>
              <a:spcBef>
                <a:spcPts val="400"/>
              </a:spcBef>
            </a:pPr>
            <a:r>
              <a:rPr lang="en-US" sz="1500" dirty="0">
                <a:solidFill>
                  <a:srgbClr val="FFFFFF">
                    <a:alpha val="86667"/>
                  </a:srgbClr>
                </a:solidFill>
                <a:latin typeface="Quattrocento Sans" pitchFamily="34" charset="0"/>
                <a:ea typeface="Quattrocento Sans" pitchFamily="34" charset="-122"/>
                <a:cs typeface="Quattrocento Sans" pitchFamily="34" charset="-120"/>
              </a:rPr>
              <a:t>Both share the fundamental insight that </a:t>
            </a:r>
            <a:pPr>
              <a:lnSpc>
                <a:spcPct val="160000"/>
              </a:lnSpc>
              <a:spcBef>
                <a:spcPts val="400"/>
              </a:spcBef>
            </a:pPr>
            <a:r>
              <a:rPr lang="en-US" sz="1500" b="1" dirty="0">
                <a:solidFill>
                  <a:srgbClr val="FFFFFF">
                    <a:alpha val="86667"/>
                  </a:srgbClr>
                </a:solidFill>
                <a:latin typeface="Quattrocento Sans" pitchFamily="34" charset="0"/>
                <a:ea typeface="Quattrocento Sans" pitchFamily="34" charset="-122"/>
                <a:cs typeface="Quattrocento Sans" pitchFamily="34" charset="-120"/>
              </a:rPr>
              <a:t>multimodal presentation enhances learning</a:t>
            </a:r>
            <a:endParaRPr lang="en-US" sz="1600" dirty="0"/>
          </a:p>
        </p:txBody>
      </p:sp>
      <p:sp>
        <p:nvSpPr>
          <p:cNvPr id="9" name="Shape 7"/>
          <p:cNvSpPr/>
          <p:nvPr/>
        </p:nvSpPr>
        <p:spPr>
          <a:xfrm>
            <a:off x="8382000" y="1587500"/>
            <a:ext cx="7112000" cy="3556000"/>
          </a:xfrm>
          <a:prstGeom prst="rect">
            <a:avLst/>
          </a:prstGeom>
          <a:solidFill>
            <a:srgbClr val="2D2926"/>
          </a:solidFill>
          <a:ln/>
        </p:spPr>
      </p:sp>
      <p:sp>
        <p:nvSpPr>
          <p:cNvPr id="10" name="Shape 8"/>
          <p:cNvSpPr/>
          <p:nvPr/>
        </p:nvSpPr>
        <p:spPr>
          <a:xfrm>
            <a:off x="8699500" y="1841500"/>
            <a:ext cx="355600" cy="355600"/>
          </a:xfrm>
          <a:custGeom>
            <a:avLst/>
            <a:gdLst/>
            <a:ahLst/>
            <a:cxnLst/>
            <a:rect l="l" t="t" r="r" b="b"/>
            <a:pathLst>
              <a:path w="355600" h="355600">
                <a:moveTo>
                  <a:pt x="138073" y="1250"/>
                </a:moveTo>
                <a:cubicBezTo>
                  <a:pt x="144324" y="-1320"/>
                  <a:pt x="151477" y="69"/>
                  <a:pt x="156270" y="4862"/>
                </a:cubicBezTo>
                <a:lnTo>
                  <a:pt x="195163" y="43755"/>
                </a:lnTo>
                <a:cubicBezTo>
                  <a:pt x="201692" y="50284"/>
                  <a:pt x="201692" y="60841"/>
                  <a:pt x="195163" y="67300"/>
                </a:cubicBezTo>
                <a:lnTo>
                  <a:pt x="156270" y="106194"/>
                </a:lnTo>
                <a:cubicBezTo>
                  <a:pt x="151477" y="110986"/>
                  <a:pt x="144324" y="112375"/>
                  <a:pt x="138073" y="109805"/>
                </a:cubicBezTo>
                <a:cubicBezTo>
                  <a:pt x="131822" y="107236"/>
                  <a:pt x="127794" y="101193"/>
                  <a:pt x="127794" y="94456"/>
                </a:cubicBezTo>
                <a:lnTo>
                  <a:pt x="127794" y="77788"/>
                </a:lnTo>
                <a:lnTo>
                  <a:pt x="111125" y="77788"/>
                </a:lnTo>
                <a:cubicBezTo>
                  <a:pt x="98832" y="77788"/>
                  <a:pt x="88900" y="87719"/>
                  <a:pt x="88900" y="100013"/>
                </a:cubicBezTo>
                <a:lnTo>
                  <a:pt x="88900" y="249128"/>
                </a:lnTo>
                <a:cubicBezTo>
                  <a:pt x="108555" y="257671"/>
                  <a:pt x="122238" y="277257"/>
                  <a:pt x="122238" y="300038"/>
                </a:cubicBezTo>
                <a:cubicBezTo>
                  <a:pt x="122238" y="330736"/>
                  <a:pt x="97373" y="355600"/>
                  <a:pt x="66675" y="355600"/>
                </a:cubicBezTo>
                <a:cubicBezTo>
                  <a:pt x="35977" y="355600"/>
                  <a:pt x="11112" y="330736"/>
                  <a:pt x="11112" y="300038"/>
                </a:cubicBezTo>
                <a:cubicBezTo>
                  <a:pt x="11112" y="277257"/>
                  <a:pt x="24795" y="257671"/>
                  <a:pt x="44450" y="249128"/>
                </a:cubicBezTo>
                <a:lnTo>
                  <a:pt x="44450" y="100013"/>
                </a:lnTo>
                <a:cubicBezTo>
                  <a:pt x="44450" y="63202"/>
                  <a:pt x="74315" y="33337"/>
                  <a:pt x="111125" y="33337"/>
                </a:cubicBezTo>
                <a:lnTo>
                  <a:pt x="127794" y="33337"/>
                </a:lnTo>
                <a:lnTo>
                  <a:pt x="127794" y="16669"/>
                </a:lnTo>
                <a:cubicBezTo>
                  <a:pt x="127794" y="9932"/>
                  <a:pt x="131822" y="3820"/>
                  <a:pt x="138073" y="1250"/>
                </a:cubicBezTo>
                <a:close/>
                <a:moveTo>
                  <a:pt x="272256" y="55563"/>
                </a:moveTo>
                <a:cubicBezTo>
                  <a:pt x="272256" y="64762"/>
                  <a:pt x="279725" y="72231"/>
                  <a:pt x="288925" y="72231"/>
                </a:cubicBezTo>
                <a:cubicBezTo>
                  <a:pt x="298125" y="72231"/>
                  <a:pt x="305594" y="64762"/>
                  <a:pt x="305594" y="55563"/>
                </a:cubicBezTo>
                <a:cubicBezTo>
                  <a:pt x="305594" y="46363"/>
                  <a:pt x="298125" y="38894"/>
                  <a:pt x="288925" y="38894"/>
                </a:cubicBezTo>
                <a:cubicBezTo>
                  <a:pt x="279725" y="38894"/>
                  <a:pt x="272256" y="46363"/>
                  <a:pt x="272256" y="55563"/>
                </a:cubicBezTo>
                <a:close/>
                <a:moveTo>
                  <a:pt x="266700" y="106472"/>
                </a:moveTo>
                <a:cubicBezTo>
                  <a:pt x="247045" y="97929"/>
                  <a:pt x="233363" y="78343"/>
                  <a:pt x="233363" y="55563"/>
                </a:cubicBezTo>
                <a:cubicBezTo>
                  <a:pt x="233363" y="24864"/>
                  <a:pt x="258227" y="0"/>
                  <a:pt x="288925" y="0"/>
                </a:cubicBezTo>
                <a:cubicBezTo>
                  <a:pt x="319623" y="0"/>
                  <a:pt x="344488" y="24864"/>
                  <a:pt x="344488" y="55563"/>
                </a:cubicBezTo>
                <a:cubicBezTo>
                  <a:pt x="344488" y="78343"/>
                  <a:pt x="330805" y="97929"/>
                  <a:pt x="311150" y="106472"/>
                </a:cubicBezTo>
                <a:lnTo>
                  <a:pt x="311150" y="255587"/>
                </a:lnTo>
                <a:cubicBezTo>
                  <a:pt x="311150" y="292398"/>
                  <a:pt x="281285" y="322263"/>
                  <a:pt x="244475" y="322263"/>
                </a:cubicBezTo>
                <a:lnTo>
                  <a:pt x="227806" y="322263"/>
                </a:lnTo>
                <a:lnTo>
                  <a:pt x="227806" y="338931"/>
                </a:lnTo>
                <a:cubicBezTo>
                  <a:pt x="227806" y="345668"/>
                  <a:pt x="223778" y="351780"/>
                  <a:pt x="217527" y="354350"/>
                </a:cubicBezTo>
                <a:cubicBezTo>
                  <a:pt x="211276" y="356920"/>
                  <a:pt x="204123" y="355531"/>
                  <a:pt x="199330" y="350738"/>
                </a:cubicBezTo>
                <a:lnTo>
                  <a:pt x="160437" y="311845"/>
                </a:lnTo>
                <a:cubicBezTo>
                  <a:pt x="153908" y="305316"/>
                  <a:pt x="153908" y="294759"/>
                  <a:pt x="160437" y="288300"/>
                </a:cubicBezTo>
                <a:lnTo>
                  <a:pt x="199330" y="249406"/>
                </a:lnTo>
                <a:cubicBezTo>
                  <a:pt x="204123" y="244614"/>
                  <a:pt x="211276" y="243225"/>
                  <a:pt x="217527" y="245795"/>
                </a:cubicBezTo>
                <a:cubicBezTo>
                  <a:pt x="223778" y="248364"/>
                  <a:pt x="227806" y="254407"/>
                  <a:pt x="227806" y="261144"/>
                </a:cubicBezTo>
                <a:lnTo>
                  <a:pt x="227806" y="277813"/>
                </a:lnTo>
                <a:lnTo>
                  <a:pt x="244475" y="277813"/>
                </a:lnTo>
                <a:cubicBezTo>
                  <a:pt x="256768" y="277813"/>
                  <a:pt x="266700" y="267881"/>
                  <a:pt x="266700" y="255587"/>
                </a:cubicBezTo>
                <a:lnTo>
                  <a:pt x="266700" y="106472"/>
                </a:lnTo>
                <a:close/>
                <a:moveTo>
                  <a:pt x="50006" y="300038"/>
                </a:moveTo>
                <a:cubicBezTo>
                  <a:pt x="50006" y="309237"/>
                  <a:pt x="57475" y="316706"/>
                  <a:pt x="66675" y="316706"/>
                </a:cubicBezTo>
                <a:cubicBezTo>
                  <a:pt x="75875" y="316706"/>
                  <a:pt x="83344" y="309237"/>
                  <a:pt x="83344" y="300038"/>
                </a:cubicBezTo>
                <a:cubicBezTo>
                  <a:pt x="83344" y="290838"/>
                  <a:pt x="75875" y="283369"/>
                  <a:pt x="66675" y="283369"/>
                </a:cubicBezTo>
                <a:cubicBezTo>
                  <a:pt x="57475" y="283369"/>
                  <a:pt x="50006" y="290838"/>
                  <a:pt x="50006" y="300038"/>
                </a:cubicBezTo>
                <a:close/>
              </a:path>
            </a:pathLst>
          </a:custGeom>
          <a:solidFill>
            <a:srgbClr val="B85C38"/>
          </a:solidFill>
          <a:ln/>
        </p:spPr>
      </p:sp>
      <p:sp>
        <p:nvSpPr>
          <p:cNvPr id="11" name="Text 9"/>
          <p:cNvSpPr/>
          <p:nvPr/>
        </p:nvSpPr>
        <p:spPr>
          <a:xfrm>
            <a:off x="9207500" y="1803400"/>
            <a:ext cx="3810000" cy="3810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Differences</a:t>
            </a:r>
            <a:endParaRPr lang="en-US" sz="1600" dirty="0"/>
          </a:p>
        </p:txBody>
      </p:sp>
      <p:sp>
        <p:nvSpPr>
          <p:cNvPr id="12" name="Text 10"/>
          <p:cNvSpPr/>
          <p:nvPr/>
        </p:nvSpPr>
        <p:spPr>
          <a:xfrm>
            <a:off x="8699500" y="2349500"/>
            <a:ext cx="6477000" cy="2540000"/>
          </a:xfrm>
          <a:prstGeom prst="rect">
            <a:avLst/>
          </a:prstGeom>
          <a:noFill/>
          <a:ln/>
        </p:spPr>
        <p:txBody>
          <a:bodyPr wrap="square" lIns="0" tIns="0" rIns="0" bIns="0" rtlCol="0" anchor="t"/>
          <a:lstStyle/>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CTML focuses on </a:t>
            </a:r>
            <a:pPr>
              <a:lnSpc>
                <a:spcPct val="160000"/>
              </a:lnSpc>
            </a:pPr>
            <a:r>
              <a:rPr lang="en-US" sz="1500" b="1" dirty="0">
                <a:solidFill>
                  <a:srgbClr val="FFFFFF">
                    <a:alpha val="80000"/>
                  </a:srgbClr>
                </a:solidFill>
                <a:latin typeface="Quattrocento Sans" pitchFamily="34" charset="0"/>
                <a:ea typeface="Quattrocento Sans" pitchFamily="34" charset="-122"/>
                <a:cs typeface="Quattrocento Sans" pitchFamily="34" charset="-120"/>
              </a:rPr>
              <a:t>multimedia instruction design</a:t>
            </a:r>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with 12 practical principles</a:t>
            </a:r>
            <a:endParaRPr lang="en-US" sz="1600" dirty="0"/>
          </a:p>
          <a:p>
            <a:pPr>
              <a:lnSpc>
                <a:spcPct val="160000"/>
              </a:lnSpc>
              <a:spcBef>
                <a:spcPts val="4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DCT is broader, explaining </a:t>
            </a:r>
            <a:pPr>
              <a:lnSpc>
                <a:spcPct val="160000"/>
              </a:lnSpc>
              <a:spcBef>
                <a:spcPts val="400"/>
              </a:spcBef>
            </a:pPr>
            <a:r>
              <a:rPr lang="en-US" sz="1500" b="1" dirty="0">
                <a:solidFill>
                  <a:srgbClr val="FFFFFF">
                    <a:alpha val="80000"/>
                  </a:srgbClr>
                </a:solidFill>
                <a:latin typeface="Quattrocento Sans" pitchFamily="34" charset="0"/>
                <a:ea typeface="Quattrocento Sans" pitchFamily="34" charset="-122"/>
                <a:cs typeface="Quattrocento Sans" pitchFamily="34" charset="-120"/>
              </a:rPr>
              <a:t>general cognitive processing</a:t>
            </a:r>
            <a:pPr>
              <a:lnSpc>
                <a:spcPct val="160000"/>
              </a:lnSpc>
              <a:spcBef>
                <a:spcPts val="4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 and memory</a:t>
            </a:r>
            <a:endParaRPr lang="en-US" sz="1600" dirty="0"/>
          </a:p>
          <a:p>
            <a:pPr>
              <a:lnSpc>
                <a:spcPct val="160000"/>
              </a:lnSpc>
              <a:spcBef>
                <a:spcPts val="4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CTML emphasizes </a:t>
            </a:r>
            <a:pPr>
              <a:lnSpc>
                <a:spcPct val="160000"/>
              </a:lnSpc>
              <a:spcBef>
                <a:spcPts val="400"/>
              </a:spcBef>
            </a:pPr>
            <a:r>
              <a:rPr lang="en-US" sz="1500" b="1" dirty="0">
                <a:solidFill>
                  <a:srgbClr val="FFFFFF">
                    <a:alpha val="80000"/>
                  </a:srgbClr>
                </a:solidFill>
                <a:latin typeface="Quattrocento Sans" pitchFamily="34" charset="0"/>
                <a:ea typeface="Quattrocento Sans" pitchFamily="34" charset="-122"/>
                <a:cs typeface="Quattrocento Sans" pitchFamily="34" charset="-120"/>
              </a:rPr>
              <a:t>managing cognitive load</a:t>
            </a:r>
            <a:endParaRPr lang="en-US" sz="1600" dirty="0"/>
          </a:p>
          <a:p>
            <a:pPr>
              <a:lnSpc>
                <a:spcPct val="160000"/>
              </a:lnSpc>
              <a:spcBef>
                <a:spcPts val="4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DCT emphasizes </a:t>
            </a:r>
            <a:pPr>
              <a:lnSpc>
                <a:spcPct val="160000"/>
              </a:lnSpc>
              <a:spcBef>
                <a:spcPts val="400"/>
              </a:spcBef>
            </a:pPr>
            <a:r>
              <a:rPr lang="en-US" sz="1500" b="1" dirty="0">
                <a:solidFill>
                  <a:srgbClr val="FFFFFF">
                    <a:alpha val="80000"/>
                  </a:srgbClr>
                </a:solidFill>
                <a:latin typeface="Quattrocento Sans" pitchFamily="34" charset="0"/>
                <a:ea typeface="Quattrocento Sans" pitchFamily="34" charset="-122"/>
                <a:cs typeface="Quattrocento Sans" pitchFamily="34" charset="-120"/>
              </a:rPr>
              <a:t>building referential connections</a:t>
            </a:r>
            <a:endParaRPr lang="en-US" sz="1600" dirty="0"/>
          </a:p>
          <a:p>
            <a:pPr>
              <a:lnSpc>
                <a:spcPct val="160000"/>
              </a:lnSpc>
              <a:spcBef>
                <a:spcPts val="4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CTML is more </a:t>
            </a:r>
            <a:pPr>
              <a:lnSpc>
                <a:spcPct val="160000"/>
              </a:lnSpc>
              <a:spcBef>
                <a:spcPts val="400"/>
              </a:spcBef>
            </a:pPr>
            <a:r>
              <a:rPr lang="en-US" sz="1500" b="1" dirty="0">
                <a:solidFill>
                  <a:srgbClr val="FFFFFF">
                    <a:alpha val="80000"/>
                  </a:srgbClr>
                </a:solidFill>
                <a:latin typeface="Quattrocento Sans" pitchFamily="34" charset="0"/>
                <a:ea typeface="Quattrocento Sans" pitchFamily="34" charset="-122"/>
                <a:cs typeface="Quattrocento Sans" pitchFamily="34" charset="-120"/>
              </a:rPr>
              <a:t>prescriptive</a:t>
            </a:r>
            <a:pPr>
              <a:lnSpc>
                <a:spcPct val="160000"/>
              </a:lnSpc>
              <a:spcBef>
                <a:spcPts val="4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 DCT is more </a:t>
            </a:r>
            <a:pPr>
              <a:lnSpc>
                <a:spcPct val="160000"/>
              </a:lnSpc>
              <a:spcBef>
                <a:spcPts val="400"/>
              </a:spcBef>
            </a:pPr>
            <a:r>
              <a:rPr lang="en-US" sz="1500" b="1" dirty="0">
                <a:solidFill>
                  <a:srgbClr val="FFFFFF">
                    <a:alpha val="80000"/>
                  </a:srgbClr>
                </a:solidFill>
                <a:latin typeface="Quattrocento Sans" pitchFamily="34" charset="0"/>
                <a:ea typeface="Quattrocento Sans" pitchFamily="34" charset="-122"/>
                <a:cs typeface="Quattrocento Sans" pitchFamily="34" charset="-120"/>
              </a:rPr>
              <a:t>descriptive</a:t>
            </a:r>
            <a:endParaRPr lang="en-US" sz="1600" dirty="0"/>
          </a:p>
        </p:txBody>
      </p:sp>
      <p:sp>
        <p:nvSpPr>
          <p:cNvPr id="13" name="Shape 11"/>
          <p:cNvSpPr/>
          <p:nvPr/>
        </p:nvSpPr>
        <p:spPr>
          <a:xfrm>
            <a:off x="762000" y="5524500"/>
            <a:ext cx="14732000" cy="1143000"/>
          </a:xfrm>
          <a:prstGeom prst="rect">
            <a:avLst/>
          </a:prstGeom>
          <a:solidFill>
            <a:srgbClr val="EDE6DE"/>
          </a:solidFill>
          <a:ln/>
        </p:spPr>
      </p:sp>
      <p:sp>
        <p:nvSpPr>
          <p:cNvPr id="14" name="Shape 12"/>
          <p:cNvSpPr/>
          <p:nvPr/>
        </p:nvSpPr>
        <p:spPr>
          <a:xfrm>
            <a:off x="1123950" y="5816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B85C38"/>
          </a:solidFill>
          <a:ln/>
        </p:spPr>
      </p:sp>
      <p:sp>
        <p:nvSpPr>
          <p:cNvPr id="15" name="Text 13"/>
          <p:cNvSpPr/>
          <p:nvPr/>
        </p:nvSpPr>
        <p:spPr>
          <a:xfrm>
            <a:off x="1587500" y="5689600"/>
            <a:ext cx="13589000" cy="825500"/>
          </a:xfrm>
          <a:prstGeom prst="rect">
            <a:avLst/>
          </a:prstGeom>
          <a:noFill/>
          <a:ln/>
        </p:spPr>
        <p:txBody>
          <a:bodyPr wrap="square" lIns="0" tIns="0" rIns="0" bIns="0" rtlCol="0" anchor="ctr"/>
          <a:lstStyle/>
          <a:p>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Together, these theories provide a comprehensive framework:</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CTML tells us HOW to design multimedia instruction, while DCT explains WHY combining verbal and visual information works at a cognitive level.</a:t>
            </a:r>
            <a:endParaRPr lang="en-US" sz="1600" dirty="0"/>
          </a:p>
        </p:txBody>
      </p:sp>
      <p:sp>
        <p:nvSpPr>
          <p:cNvPr id="16" name="Text 14"/>
          <p:cNvSpPr/>
          <p:nvPr/>
        </p:nvSpPr>
        <p:spPr>
          <a:xfrm>
            <a:off x="762000" y="70485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Sources: Mayer (2009); Paivio (2007)</a:t>
            </a:r>
            <a:endParaRPr lang="en-US" sz="1300" dirty="0"/>
          </a:p>
        </p:txBody>
      </p:sp>
      <p:sp>
        <p:nvSpPr>
          <p:cNvPr id="17" name="Shape 15"/>
          <p:cNvSpPr/>
          <p:nvPr/>
        </p:nvSpPr>
        <p:spPr>
          <a:xfrm>
            <a:off x="762000" y="8699500"/>
            <a:ext cx="508000" cy="38100"/>
          </a:xfrm>
          <a:prstGeom prst="rect">
            <a:avLst/>
          </a:prstGeom>
          <a:solidFill>
            <a:srgbClr val="B85C38"/>
          </a:solidFill>
          <a:ln/>
        </p:spPr>
      </p:sp>
      <p:sp>
        <p:nvSpPr>
          <p:cNvPr id="18" name="Text 16"/>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25</a:t>
            </a:r>
            <a:endParaRPr lang="en-US" sz="13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Practical Design Implications</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Text 3"/>
          <p:cNvSpPr/>
          <p:nvPr/>
        </p:nvSpPr>
        <p:spPr>
          <a:xfrm>
            <a:off x="762000" y="1460500"/>
            <a:ext cx="6350000" cy="317500"/>
          </a:xfrm>
          <a:prstGeom prst="rect">
            <a:avLst/>
          </a:prstGeom>
          <a:noFill/>
          <a:ln/>
        </p:spPr>
        <p:txBody>
          <a:bodyPr wrap="none" lIns="0" tIns="0" rIns="0" bIns="0" rtlCol="0" anchor="ctr"/>
          <a:lstStyle/>
          <a:p>
            <a:pPr>
              <a:lnSpc>
                <a:spcPct val="100000"/>
              </a:lnSpc>
            </a:pPr>
            <a:r>
              <a:rPr lang="en-US" sz="1400" spc="200" kern="0" dirty="0">
                <a:solidFill>
                  <a:srgbClr val="B85C38"/>
                </a:solidFill>
                <a:latin typeface="Quattrocento Sans" pitchFamily="34" charset="0"/>
                <a:ea typeface="Quattrocento Sans" pitchFamily="34" charset="-122"/>
                <a:cs typeface="Quattrocento Sans" pitchFamily="34" charset="-120"/>
              </a:rPr>
              <a:t>KEY TAKEAWAYS FOR MULTIMEDIA PRODUCTION</a:t>
            </a:r>
            <a:endParaRPr lang="en-US" sz="1600" dirty="0"/>
          </a:p>
        </p:txBody>
      </p:sp>
      <p:sp>
        <p:nvSpPr>
          <p:cNvPr id="6" name="Shape 4"/>
          <p:cNvSpPr/>
          <p:nvPr/>
        </p:nvSpPr>
        <p:spPr>
          <a:xfrm>
            <a:off x="762000" y="2032000"/>
            <a:ext cx="7112000" cy="825500"/>
          </a:xfrm>
          <a:prstGeom prst="rect">
            <a:avLst/>
          </a:prstGeom>
          <a:solidFill>
            <a:srgbClr val="EDE6DE"/>
          </a:solidFill>
          <a:ln/>
        </p:spPr>
      </p:sp>
      <p:sp>
        <p:nvSpPr>
          <p:cNvPr id="7" name="Text 5"/>
          <p:cNvSpPr/>
          <p:nvPr/>
        </p:nvSpPr>
        <p:spPr>
          <a:xfrm>
            <a:off x="952500" y="2095500"/>
            <a:ext cx="444500" cy="381000"/>
          </a:xfrm>
          <a:prstGeom prst="rect">
            <a:avLst/>
          </a:prstGeom>
          <a:noFill/>
          <a:ln/>
        </p:spPr>
        <p:txBody>
          <a:bodyPr wrap="none" lIns="0" tIns="0" rIns="0" bIns="0" rtlCol="0" anchor="ctr"/>
          <a:lstStyle/>
          <a:p>
            <a:pPr algn="ctr">
              <a:lnSpc>
                <a:spcPct val="100000"/>
              </a:lnSpc>
            </a:pPr>
            <a:r>
              <a:rPr lang="en-US" sz="1800" b="1" dirty="0">
                <a:solidFill>
                  <a:srgbClr val="B85C38"/>
                </a:solidFill>
                <a:latin typeface="Quattrocento Sans" pitchFamily="34" charset="0"/>
                <a:ea typeface="Quattrocento Sans" pitchFamily="34" charset="-122"/>
                <a:cs typeface="Quattrocento Sans" pitchFamily="34" charset="-120"/>
              </a:rPr>
              <a:t>1</a:t>
            </a:r>
            <a:endParaRPr lang="en-US" sz="1600" dirty="0"/>
          </a:p>
        </p:txBody>
      </p:sp>
      <p:sp>
        <p:nvSpPr>
          <p:cNvPr id="8" name="Text 6"/>
          <p:cNvSpPr/>
          <p:nvPr/>
        </p:nvSpPr>
        <p:spPr>
          <a:xfrm>
            <a:off x="1460500" y="2133600"/>
            <a:ext cx="6159500" cy="635000"/>
          </a:xfrm>
          <a:prstGeom prst="rect">
            <a:avLst/>
          </a:prstGeom>
          <a:noFill/>
          <a:ln/>
        </p:spPr>
        <p:txBody>
          <a:bodyPr wrap="square" lIns="0" tIns="0" rIns="0" bIns="0" rtlCol="0" anchor="ctr"/>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Always combine </a:t>
            </a:r>
            <a:pPr>
              <a:lnSpc>
                <a:spcPct val="140000"/>
              </a:lnSpc>
            </a:pPr>
            <a:r>
              <a:rPr lang="en-US" sz="1500" b="1" dirty="0">
                <a:solidFill>
                  <a:srgbClr val="2D2926"/>
                </a:solidFill>
                <a:latin typeface="Quattrocento Sans" pitchFamily="34" charset="0"/>
                <a:ea typeface="Quattrocento Sans" pitchFamily="34" charset="-122"/>
                <a:cs typeface="Quattrocento Sans" pitchFamily="34" charset="-120"/>
              </a:rPr>
              <a:t>relevant visuals</a:t>
            </a:r>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 with verbal content - never rely on text alone</a:t>
            </a:r>
            <a:endParaRPr lang="en-US" sz="1600" dirty="0"/>
          </a:p>
        </p:txBody>
      </p:sp>
      <p:sp>
        <p:nvSpPr>
          <p:cNvPr id="9" name="Shape 7"/>
          <p:cNvSpPr/>
          <p:nvPr/>
        </p:nvSpPr>
        <p:spPr>
          <a:xfrm>
            <a:off x="8382000" y="2032000"/>
            <a:ext cx="7112000" cy="825500"/>
          </a:xfrm>
          <a:prstGeom prst="rect">
            <a:avLst/>
          </a:prstGeom>
          <a:solidFill>
            <a:srgbClr val="EDE6DE"/>
          </a:solidFill>
          <a:ln/>
        </p:spPr>
      </p:sp>
      <p:sp>
        <p:nvSpPr>
          <p:cNvPr id="10" name="Text 8"/>
          <p:cNvSpPr/>
          <p:nvPr/>
        </p:nvSpPr>
        <p:spPr>
          <a:xfrm>
            <a:off x="8572500" y="2095500"/>
            <a:ext cx="444500" cy="381000"/>
          </a:xfrm>
          <a:prstGeom prst="rect">
            <a:avLst/>
          </a:prstGeom>
          <a:noFill/>
          <a:ln/>
        </p:spPr>
        <p:txBody>
          <a:bodyPr wrap="none" lIns="0" tIns="0" rIns="0" bIns="0" rtlCol="0" anchor="ctr"/>
          <a:lstStyle/>
          <a:p>
            <a:pPr algn="ctr">
              <a:lnSpc>
                <a:spcPct val="100000"/>
              </a:lnSpc>
            </a:pPr>
            <a:r>
              <a:rPr lang="en-US" sz="1800" b="1" dirty="0">
                <a:solidFill>
                  <a:srgbClr val="B85C38"/>
                </a:solidFill>
                <a:latin typeface="Quattrocento Sans" pitchFamily="34" charset="0"/>
                <a:ea typeface="Quattrocento Sans" pitchFamily="34" charset="-122"/>
                <a:cs typeface="Quattrocento Sans" pitchFamily="34" charset="-120"/>
              </a:rPr>
              <a:t>2</a:t>
            </a:r>
            <a:endParaRPr lang="en-US" sz="1600" dirty="0"/>
          </a:p>
        </p:txBody>
      </p:sp>
      <p:sp>
        <p:nvSpPr>
          <p:cNvPr id="11" name="Text 9"/>
          <p:cNvSpPr/>
          <p:nvPr/>
        </p:nvSpPr>
        <p:spPr>
          <a:xfrm>
            <a:off x="9080500" y="2133600"/>
            <a:ext cx="6159500" cy="635000"/>
          </a:xfrm>
          <a:prstGeom prst="rect">
            <a:avLst/>
          </a:prstGeom>
          <a:noFill/>
          <a:ln/>
        </p:spPr>
        <p:txBody>
          <a:bodyPr wrap="square" lIns="0" tIns="0" rIns="0" bIns="0" rtlCol="0" anchor="ctr"/>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Place text </a:t>
            </a:r>
            <a:pPr>
              <a:lnSpc>
                <a:spcPct val="140000"/>
              </a:lnSpc>
            </a:pPr>
            <a:r>
              <a:rPr lang="en-US" sz="1500" b="1" dirty="0">
                <a:solidFill>
                  <a:srgbClr val="2D2926"/>
                </a:solidFill>
                <a:latin typeface="Quattrocento Sans" pitchFamily="34" charset="0"/>
                <a:ea typeface="Quattrocento Sans" pitchFamily="34" charset="-122"/>
                <a:cs typeface="Quattrocento Sans" pitchFamily="34" charset="-120"/>
              </a:rPr>
              <a:t>near corresponding visuals</a:t>
            </a:r>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 to reduce cognitive effort</a:t>
            </a:r>
            <a:endParaRPr lang="en-US" sz="1600" dirty="0"/>
          </a:p>
        </p:txBody>
      </p:sp>
      <p:sp>
        <p:nvSpPr>
          <p:cNvPr id="12" name="Shape 10"/>
          <p:cNvSpPr/>
          <p:nvPr/>
        </p:nvSpPr>
        <p:spPr>
          <a:xfrm>
            <a:off x="762000" y="3111500"/>
            <a:ext cx="7112000" cy="825500"/>
          </a:xfrm>
          <a:prstGeom prst="rect">
            <a:avLst/>
          </a:prstGeom>
          <a:solidFill>
            <a:srgbClr val="EDE6DE"/>
          </a:solidFill>
          <a:ln/>
        </p:spPr>
      </p:sp>
      <p:sp>
        <p:nvSpPr>
          <p:cNvPr id="13" name="Text 11"/>
          <p:cNvSpPr/>
          <p:nvPr/>
        </p:nvSpPr>
        <p:spPr>
          <a:xfrm>
            <a:off x="952500" y="3175000"/>
            <a:ext cx="444500" cy="381000"/>
          </a:xfrm>
          <a:prstGeom prst="rect">
            <a:avLst/>
          </a:prstGeom>
          <a:noFill/>
          <a:ln/>
        </p:spPr>
        <p:txBody>
          <a:bodyPr wrap="none" lIns="0" tIns="0" rIns="0" bIns="0" rtlCol="0" anchor="ctr"/>
          <a:lstStyle/>
          <a:p>
            <a:pPr algn="ctr">
              <a:lnSpc>
                <a:spcPct val="100000"/>
              </a:lnSpc>
            </a:pPr>
            <a:r>
              <a:rPr lang="en-US" sz="1800" b="1" dirty="0">
                <a:solidFill>
                  <a:srgbClr val="B85C38"/>
                </a:solidFill>
                <a:latin typeface="Quattrocento Sans" pitchFamily="34" charset="0"/>
                <a:ea typeface="Quattrocento Sans" pitchFamily="34" charset="-122"/>
                <a:cs typeface="Quattrocento Sans" pitchFamily="34" charset="-120"/>
              </a:rPr>
              <a:t>3</a:t>
            </a:r>
            <a:endParaRPr lang="en-US" sz="1600" dirty="0"/>
          </a:p>
        </p:txBody>
      </p:sp>
      <p:sp>
        <p:nvSpPr>
          <p:cNvPr id="14" name="Text 12"/>
          <p:cNvSpPr/>
          <p:nvPr/>
        </p:nvSpPr>
        <p:spPr>
          <a:xfrm>
            <a:off x="1460500" y="3213100"/>
            <a:ext cx="6159500" cy="635000"/>
          </a:xfrm>
          <a:prstGeom prst="rect">
            <a:avLst/>
          </a:prstGeom>
          <a:noFill/>
          <a:ln/>
        </p:spPr>
        <p:txBody>
          <a:bodyPr wrap="square" lIns="0" tIns="0" rIns="0" bIns="0" rtlCol="0" anchor="ctr"/>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Remove </a:t>
            </a:r>
            <a:pPr>
              <a:lnSpc>
                <a:spcPct val="140000"/>
              </a:lnSpc>
            </a:pPr>
            <a:r>
              <a:rPr lang="en-US" sz="1500" b="1" dirty="0">
                <a:solidFill>
                  <a:srgbClr val="2D2926"/>
                </a:solidFill>
                <a:latin typeface="Quattrocento Sans" pitchFamily="34" charset="0"/>
                <a:ea typeface="Quattrocento Sans" pitchFamily="34" charset="-122"/>
                <a:cs typeface="Quattrocento Sans" pitchFamily="34" charset="-120"/>
              </a:rPr>
              <a:t>unnecessary decorative elements</a:t>
            </a:r>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 that don't support learning goals</a:t>
            </a:r>
            <a:endParaRPr lang="en-US" sz="1600" dirty="0"/>
          </a:p>
        </p:txBody>
      </p:sp>
      <p:sp>
        <p:nvSpPr>
          <p:cNvPr id="15" name="Shape 13"/>
          <p:cNvSpPr/>
          <p:nvPr/>
        </p:nvSpPr>
        <p:spPr>
          <a:xfrm>
            <a:off x="8382000" y="3111500"/>
            <a:ext cx="7112000" cy="825500"/>
          </a:xfrm>
          <a:prstGeom prst="rect">
            <a:avLst/>
          </a:prstGeom>
          <a:solidFill>
            <a:srgbClr val="EDE6DE"/>
          </a:solidFill>
          <a:ln/>
        </p:spPr>
      </p:sp>
      <p:sp>
        <p:nvSpPr>
          <p:cNvPr id="16" name="Text 14"/>
          <p:cNvSpPr/>
          <p:nvPr/>
        </p:nvSpPr>
        <p:spPr>
          <a:xfrm>
            <a:off x="8572500" y="3175000"/>
            <a:ext cx="444500" cy="381000"/>
          </a:xfrm>
          <a:prstGeom prst="rect">
            <a:avLst/>
          </a:prstGeom>
          <a:noFill/>
          <a:ln/>
        </p:spPr>
        <p:txBody>
          <a:bodyPr wrap="none" lIns="0" tIns="0" rIns="0" bIns="0" rtlCol="0" anchor="ctr"/>
          <a:lstStyle/>
          <a:p>
            <a:pPr algn="ctr">
              <a:lnSpc>
                <a:spcPct val="100000"/>
              </a:lnSpc>
            </a:pPr>
            <a:r>
              <a:rPr lang="en-US" sz="1800" b="1" dirty="0">
                <a:solidFill>
                  <a:srgbClr val="B85C38"/>
                </a:solidFill>
                <a:latin typeface="Quattrocento Sans" pitchFamily="34" charset="0"/>
                <a:ea typeface="Quattrocento Sans" pitchFamily="34" charset="-122"/>
                <a:cs typeface="Quattrocento Sans" pitchFamily="34" charset="-120"/>
              </a:rPr>
              <a:t>4</a:t>
            </a:r>
            <a:endParaRPr lang="en-US" sz="1600" dirty="0"/>
          </a:p>
        </p:txBody>
      </p:sp>
      <p:sp>
        <p:nvSpPr>
          <p:cNvPr id="17" name="Text 15"/>
          <p:cNvSpPr/>
          <p:nvPr/>
        </p:nvSpPr>
        <p:spPr>
          <a:xfrm>
            <a:off x="9080500" y="3213100"/>
            <a:ext cx="6159500" cy="635000"/>
          </a:xfrm>
          <a:prstGeom prst="rect">
            <a:avLst/>
          </a:prstGeom>
          <a:noFill/>
          <a:ln/>
        </p:spPr>
        <p:txBody>
          <a:bodyPr wrap="square" lIns="0" tIns="0" rIns="0" bIns="0" rtlCol="0" anchor="ctr"/>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Break complex content into </a:t>
            </a:r>
            <a:pPr>
              <a:lnSpc>
                <a:spcPct val="140000"/>
              </a:lnSpc>
            </a:pPr>
            <a:r>
              <a:rPr lang="en-US" sz="1500" b="1" dirty="0">
                <a:solidFill>
                  <a:srgbClr val="2D2926"/>
                </a:solidFill>
                <a:latin typeface="Quattrocento Sans" pitchFamily="34" charset="0"/>
                <a:ea typeface="Quattrocento Sans" pitchFamily="34" charset="-122"/>
                <a:cs typeface="Quattrocento Sans" pitchFamily="34" charset="-120"/>
              </a:rPr>
              <a:t>manageable, learner-paced segments</a:t>
            </a:r>
            <a:endParaRPr lang="en-US" sz="1600" dirty="0"/>
          </a:p>
        </p:txBody>
      </p:sp>
      <p:sp>
        <p:nvSpPr>
          <p:cNvPr id="18" name="Shape 16"/>
          <p:cNvSpPr/>
          <p:nvPr/>
        </p:nvSpPr>
        <p:spPr>
          <a:xfrm>
            <a:off x="762000" y="4191000"/>
            <a:ext cx="7112000" cy="825500"/>
          </a:xfrm>
          <a:prstGeom prst="rect">
            <a:avLst/>
          </a:prstGeom>
          <a:solidFill>
            <a:srgbClr val="EDE6DE"/>
          </a:solidFill>
          <a:ln/>
        </p:spPr>
      </p:sp>
      <p:sp>
        <p:nvSpPr>
          <p:cNvPr id="19" name="Text 17"/>
          <p:cNvSpPr/>
          <p:nvPr/>
        </p:nvSpPr>
        <p:spPr>
          <a:xfrm>
            <a:off x="952500" y="4254500"/>
            <a:ext cx="444500" cy="381000"/>
          </a:xfrm>
          <a:prstGeom prst="rect">
            <a:avLst/>
          </a:prstGeom>
          <a:noFill/>
          <a:ln/>
        </p:spPr>
        <p:txBody>
          <a:bodyPr wrap="none" lIns="0" tIns="0" rIns="0" bIns="0" rtlCol="0" anchor="ctr"/>
          <a:lstStyle/>
          <a:p>
            <a:pPr algn="ctr">
              <a:lnSpc>
                <a:spcPct val="100000"/>
              </a:lnSpc>
            </a:pPr>
            <a:r>
              <a:rPr lang="en-US" sz="1800" b="1" dirty="0">
                <a:solidFill>
                  <a:srgbClr val="B85C38"/>
                </a:solidFill>
                <a:latin typeface="Quattrocento Sans" pitchFamily="34" charset="0"/>
                <a:ea typeface="Quattrocento Sans" pitchFamily="34" charset="-122"/>
                <a:cs typeface="Quattrocento Sans" pitchFamily="34" charset="-120"/>
              </a:rPr>
              <a:t>5</a:t>
            </a:r>
            <a:endParaRPr lang="en-US" sz="1600" dirty="0"/>
          </a:p>
        </p:txBody>
      </p:sp>
      <p:sp>
        <p:nvSpPr>
          <p:cNvPr id="20" name="Text 18"/>
          <p:cNvSpPr/>
          <p:nvPr/>
        </p:nvSpPr>
        <p:spPr>
          <a:xfrm>
            <a:off x="1460500" y="4292600"/>
            <a:ext cx="6159500" cy="635000"/>
          </a:xfrm>
          <a:prstGeom prst="rect">
            <a:avLst/>
          </a:prstGeom>
          <a:noFill/>
          <a:ln/>
        </p:spPr>
        <p:txBody>
          <a:bodyPr wrap="square" lIns="0" tIns="0" rIns="0" bIns="0" rtlCol="0" anchor="ctr"/>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Use </a:t>
            </a:r>
            <a:pPr>
              <a:lnSpc>
                <a:spcPct val="140000"/>
              </a:lnSpc>
            </a:pPr>
            <a:r>
              <a:rPr lang="en-US" sz="1500" b="1" dirty="0">
                <a:solidFill>
                  <a:srgbClr val="2D2926"/>
                </a:solidFill>
                <a:latin typeface="Quattrocento Sans" pitchFamily="34" charset="0"/>
                <a:ea typeface="Quattrocento Sans" pitchFamily="34" charset="-122"/>
                <a:cs typeface="Quattrocento Sans" pitchFamily="34" charset="-120"/>
              </a:rPr>
              <a:t>narration with visuals</a:t>
            </a:r>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 rather than on-screen text when possible</a:t>
            </a:r>
            <a:endParaRPr lang="en-US" sz="1600" dirty="0"/>
          </a:p>
        </p:txBody>
      </p:sp>
      <p:sp>
        <p:nvSpPr>
          <p:cNvPr id="21" name="Shape 19"/>
          <p:cNvSpPr/>
          <p:nvPr/>
        </p:nvSpPr>
        <p:spPr>
          <a:xfrm>
            <a:off x="8382000" y="4191000"/>
            <a:ext cx="7112000" cy="825500"/>
          </a:xfrm>
          <a:prstGeom prst="rect">
            <a:avLst/>
          </a:prstGeom>
          <a:solidFill>
            <a:srgbClr val="EDE6DE"/>
          </a:solidFill>
          <a:ln/>
        </p:spPr>
      </p:sp>
      <p:sp>
        <p:nvSpPr>
          <p:cNvPr id="22" name="Text 20"/>
          <p:cNvSpPr/>
          <p:nvPr/>
        </p:nvSpPr>
        <p:spPr>
          <a:xfrm>
            <a:off x="8572500" y="4254500"/>
            <a:ext cx="444500" cy="381000"/>
          </a:xfrm>
          <a:prstGeom prst="rect">
            <a:avLst/>
          </a:prstGeom>
          <a:noFill/>
          <a:ln/>
        </p:spPr>
        <p:txBody>
          <a:bodyPr wrap="none" lIns="0" tIns="0" rIns="0" bIns="0" rtlCol="0" anchor="ctr"/>
          <a:lstStyle/>
          <a:p>
            <a:pPr algn="ctr">
              <a:lnSpc>
                <a:spcPct val="100000"/>
              </a:lnSpc>
            </a:pPr>
            <a:r>
              <a:rPr lang="en-US" sz="1800" b="1" dirty="0">
                <a:solidFill>
                  <a:srgbClr val="B85C38"/>
                </a:solidFill>
                <a:latin typeface="Quattrocento Sans" pitchFamily="34" charset="0"/>
                <a:ea typeface="Quattrocento Sans" pitchFamily="34" charset="-122"/>
                <a:cs typeface="Quattrocento Sans" pitchFamily="34" charset="-120"/>
              </a:rPr>
              <a:t>6</a:t>
            </a:r>
            <a:endParaRPr lang="en-US" sz="1600" dirty="0"/>
          </a:p>
        </p:txBody>
      </p:sp>
      <p:sp>
        <p:nvSpPr>
          <p:cNvPr id="23" name="Text 21"/>
          <p:cNvSpPr/>
          <p:nvPr/>
        </p:nvSpPr>
        <p:spPr>
          <a:xfrm>
            <a:off x="9080500" y="4292600"/>
            <a:ext cx="6159500" cy="635000"/>
          </a:xfrm>
          <a:prstGeom prst="rect">
            <a:avLst/>
          </a:prstGeom>
          <a:noFill/>
          <a:ln/>
        </p:spPr>
        <p:txBody>
          <a:bodyPr wrap="square" lIns="0" tIns="0" rIns="0" bIns="0" rtlCol="0" anchor="ctr"/>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Design for </a:t>
            </a:r>
            <a:pPr>
              <a:lnSpc>
                <a:spcPct val="140000"/>
              </a:lnSpc>
            </a:pPr>
            <a:r>
              <a:rPr lang="en-US" sz="1500" b="1" dirty="0">
                <a:solidFill>
                  <a:srgbClr val="2D2926"/>
                </a:solidFill>
                <a:latin typeface="Quattrocento Sans" pitchFamily="34" charset="0"/>
                <a:ea typeface="Quattrocento Sans" pitchFamily="34" charset="-122"/>
                <a:cs typeface="Quattrocento Sans" pitchFamily="34" charset="-120"/>
              </a:rPr>
              <a:t>both processing channels</a:t>
            </a:r>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 while respecting their limited capacity</a:t>
            </a:r>
            <a:endParaRPr lang="en-US" sz="1600" dirty="0"/>
          </a:p>
        </p:txBody>
      </p:sp>
      <p:sp>
        <p:nvSpPr>
          <p:cNvPr id="24" name="Shape 22"/>
          <p:cNvSpPr/>
          <p:nvPr/>
        </p:nvSpPr>
        <p:spPr>
          <a:xfrm>
            <a:off x="762000" y="5270500"/>
            <a:ext cx="7112000" cy="825500"/>
          </a:xfrm>
          <a:prstGeom prst="rect">
            <a:avLst/>
          </a:prstGeom>
          <a:solidFill>
            <a:srgbClr val="EDE6DE"/>
          </a:solidFill>
          <a:ln/>
        </p:spPr>
      </p:sp>
      <p:sp>
        <p:nvSpPr>
          <p:cNvPr id="25" name="Text 23"/>
          <p:cNvSpPr/>
          <p:nvPr/>
        </p:nvSpPr>
        <p:spPr>
          <a:xfrm>
            <a:off x="952500" y="5334000"/>
            <a:ext cx="444500" cy="381000"/>
          </a:xfrm>
          <a:prstGeom prst="rect">
            <a:avLst/>
          </a:prstGeom>
          <a:noFill/>
          <a:ln/>
        </p:spPr>
        <p:txBody>
          <a:bodyPr wrap="none" lIns="0" tIns="0" rIns="0" bIns="0" rtlCol="0" anchor="ctr"/>
          <a:lstStyle/>
          <a:p>
            <a:pPr algn="ctr">
              <a:lnSpc>
                <a:spcPct val="100000"/>
              </a:lnSpc>
            </a:pPr>
            <a:r>
              <a:rPr lang="en-US" sz="1800" b="1" dirty="0">
                <a:solidFill>
                  <a:srgbClr val="B85C38"/>
                </a:solidFill>
                <a:latin typeface="Quattrocento Sans" pitchFamily="34" charset="0"/>
                <a:ea typeface="Quattrocento Sans" pitchFamily="34" charset="-122"/>
                <a:cs typeface="Quattrocento Sans" pitchFamily="34" charset="-120"/>
              </a:rPr>
              <a:t>7</a:t>
            </a:r>
            <a:endParaRPr lang="en-US" sz="1600" dirty="0"/>
          </a:p>
        </p:txBody>
      </p:sp>
      <p:sp>
        <p:nvSpPr>
          <p:cNvPr id="26" name="Text 24"/>
          <p:cNvSpPr/>
          <p:nvPr/>
        </p:nvSpPr>
        <p:spPr>
          <a:xfrm>
            <a:off x="1460500" y="5372100"/>
            <a:ext cx="6159500" cy="635000"/>
          </a:xfrm>
          <a:prstGeom prst="rect">
            <a:avLst/>
          </a:prstGeom>
          <a:noFill/>
          <a:ln/>
        </p:spPr>
        <p:txBody>
          <a:bodyPr wrap="square" lIns="0" tIns="0" rIns="0" bIns="0" rtlCol="0" anchor="ctr"/>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Create opportunities for </a:t>
            </a:r>
            <a:pPr>
              <a:lnSpc>
                <a:spcPct val="140000"/>
              </a:lnSpc>
            </a:pPr>
            <a:r>
              <a:rPr lang="en-US" sz="1500" b="1" dirty="0">
                <a:solidFill>
                  <a:srgbClr val="2D2926"/>
                </a:solidFill>
                <a:latin typeface="Quattrocento Sans" pitchFamily="34" charset="0"/>
                <a:ea typeface="Quattrocento Sans" pitchFamily="34" charset="-122"/>
                <a:cs typeface="Quattrocento Sans" pitchFamily="34" charset="-120"/>
              </a:rPr>
              <a:t>referential connections</a:t>
            </a:r>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 between words and images</a:t>
            </a:r>
            <a:endParaRPr lang="en-US" sz="1600" dirty="0"/>
          </a:p>
        </p:txBody>
      </p:sp>
      <p:sp>
        <p:nvSpPr>
          <p:cNvPr id="27" name="Shape 25"/>
          <p:cNvSpPr/>
          <p:nvPr/>
        </p:nvSpPr>
        <p:spPr>
          <a:xfrm>
            <a:off x="8382000" y="5270500"/>
            <a:ext cx="7112000" cy="825500"/>
          </a:xfrm>
          <a:prstGeom prst="rect">
            <a:avLst/>
          </a:prstGeom>
          <a:solidFill>
            <a:srgbClr val="EDE6DE"/>
          </a:solidFill>
          <a:ln/>
        </p:spPr>
      </p:sp>
      <p:sp>
        <p:nvSpPr>
          <p:cNvPr id="28" name="Text 26"/>
          <p:cNvSpPr/>
          <p:nvPr/>
        </p:nvSpPr>
        <p:spPr>
          <a:xfrm>
            <a:off x="8572500" y="5334000"/>
            <a:ext cx="444500" cy="381000"/>
          </a:xfrm>
          <a:prstGeom prst="rect">
            <a:avLst/>
          </a:prstGeom>
          <a:noFill/>
          <a:ln/>
        </p:spPr>
        <p:txBody>
          <a:bodyPr wrap="none" lIns="0" tIns="0" rIns="0" bIns="0" rtlCol="0" anchor="ctr"/>
          <a:lstStyle/>
          <a:p>
            <a:pPr algn="ctr">
              <a:lnSpc>
                <a:spcPct val="100000"/>
              </a:lnSpc>
            </a:pPr>
            <a:r>
              <a:rPr lang="en-US" sz="1800" b="1" dirty="0">
                <a:solidFill>
                  <a:srgbClr val="B85C38"/>
                </a:solidFill>
                <a:latin typeface="Quattrocento Sans" pitchFamily="34" charset="0"/>
                <a:ea typeface="Quattrocento Sans" pitchFamily="34" charset="-122"/>
                <a:cs typeface="Quattrocento Sans" pitchFamily="34" charset="-120"/>
              </a:rPr>
              <a:t>8</a:t>
            </a:r>
            <a:endParaRPr lang="en-US" sz="1600" dirty="0"/>
          </a:p>
        </p:txBody>
      </p:sp>
      <p:sp>
        <p:nvSpPr>
          <p:cNvPr id="29" name="Text 27"/>
          <p:cNvSpPr/>
          <p:nvPr/>
        </p:nvSpPr>
        <p:spPr>
          <a:xfrm>
            <a:off x="9080500" y="5372100"/>
            <a:ext cx="6159500" cy="635000"/>
          </a:xfrm>
          <a:prstGeom prst="rect">
            <a:avLst/>
          </a:prstGeom>
          <a:noFill/>
          <a:ln/>
        </p:spPr>
        <p:txBody>
          <a:bodyPr wrap="square" lIns="0" tIns="0" rIns="0" bIns="0" rtlCol="0" anchor="ctr"/>
          <a:lstStyle/>
          <a:p>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Use </a:t>
            </a:r>
            <a:pPr>
              <a:lnSpc>
                <a:spcPct val="140000"/>
              </a:lnSpc>
            </a:pPr>
            <a:r>
              <a:rPr lang="en-US" sz="1500" b="1" dirty="0">
                <a:solidFill>
                  <a:srgbClr val="2D2926"/>
                </a:solidFill>
                <a:latin typeface="Quattrocento Sans" pitchFamily="34" charset="0"/>
                <a:ea typeface="Quattrocento Sans" pitchFamily="34" charset="-122"/>
                <a:cs typeface="Quattrocento Sans" pitchFamily="34" charset="-120"/>
              </a:rPr>
              <a:t>conversational, engaging language</a:t>
            </a:r>
            <a:pPr>
              <a:lnSpc>
                <a:spcPct val="140000"/>
              </a:lnSpc>
            </a:pPr>
            <a:r>
              <a:rPr lang="en-US" sz="1500" dirty="0">
                <a:solidFill>
                  <a:srgbClr val="2D2926"/>
                </a:solidFill>
                <a:latin typeface="Quattrocento Sans" pitchFamily="34" charset="0"/>
                <a:ea typeface="Quattrocento Sans" pitchFamily="34" charset="-122"/>
                <a:cs typeface="Quattrocento Sans" pitchFamily="34" charset="-120"/>
              </a:rPr>
              <a:t> to foster generative processing</a:t>
            </a:r>
            <a:endParaRPr lang="en-US" sz="1600" dirty="0"/>
          </a:p>
        </p:txBody>
      </p:sp>
      <p:sp>
        <p:nvSpPr>
          <p:cNvPr id="30" name="Text 28"/>
          <p:cNvSpPr/>
          <p:nvPr/>
        </p:nvSpPr>
        <p:spPr>
          <a:xfrm>
            <a:off x="762000" y="6477000"/>
            <a:ext cx="8890000" cy="279400"/>
          </a:xfrm>
          <a:prstGeom prst="rect">
            <a:avLst/>
          </a:prstGeom>
          <a:noFill/>
          <a:ln/>
        </p:spPr>
        <p:txBody>
          <a:bodyPr wrap="squar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Sources: Mayer (2009); Paivio (2007); SGCitizenry (2024)</a:t>
            </a:r>
            <a:endParaRPr lang="en-US" sz="1300" dirty="0"/>
          </a:p>
        </p:txBody>
      </p:sp>
      <p:sp>
        <p:nvSpPr>
          <p:cNvPr id="31" name="Shape 29"/>
          <p:cNvSpPr/>
          <p:nvPr/>
        </p:nvSpPr>
        <p:spPr>
          <a:xfrm>
            <a:off x="762000" y="8699500"/>
            <a:ext cx="508000" cy="38100"/>
          </a:xfrm>
          <a:prstGeom prst="rect">
            <a:avLst/>
          </a:prstGeom>
          <a:solidFill>
            <a:srgbClr val="B85C38"/>
          </a:solidFill>
          <a:ln/>
        </p:spPr>
      </p:sp>
      <p:sp>
        <p:nvSpPr>
          <p:cNvPr id="32" name="Text 30"/>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26</a:t>
            </a:r>
            <a:endParaRPr lang="en-US" sz="13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0EB"/>
        </a:solidFill>
      </p:bgPr>
    </p:bg>
    <p:spTree>
      <p:nvGrpSpPr>
        <p:cNvPr id="1" name=""/>
        <p:cNvGrpSpPr/>
        <p:nvPr/>
      </p:nvGrpSpPr>
      <p:grpSpPr>
        <a:xfrm>
          <a:off x="0" y="0"/>
          <a:ext cx="0" cy="0"/>
          <a:chOff x="0" y="0"/>
          <a:chExt cx="0" cy="0"/>
        </a:xfrm>
      </p:grpSpPr>
      <p:sp>
        <p:nvSpPr>
          <p:cNvPr id="2" name="Text 0"/>
          <p:cNvSpPr/>
          <p:nvPr/>
        </p:nvSpPr>
        <p:spPr>
          <a:xfrm>
            <a:off x="762000" y="317500"/>
            <a:ext cx="3810000" cy="279400"/>
          </a:xfrm>
          <a:prstGeom prst="rect">
            <a:avLst/>
          </a:prstGeom>
          <a:noFill/>
          <a:ln/>
        </p:spPr>
        <p:txBody>
          <a:bodyPr wrap="none" lIns="0" tIns="0" rIns="0" bIns="0" rtlCol="0" anchor="ctr"/>
          <a:lstStyle/>
          <a:p>
            <a:pP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MULTIMEDIA PRODUCTION | W2</a:t>
            </a:r>
            <a:endParaRPr lang="en-US" sz="1300" dirty="0"/>
          </a:p>
        </p:txBody>
      </p:sp>
      <p:sp>
        <p:nvSpPr>
          <p:cNvPr id="3" name="Text 1"/>
          <p:cNvSpPr/>
          <p:nvPr/>
        </p:nvSpPr>
        <p:spPr>
          <a:xfrm>
            <a:off x="762000" y="698500"/>
            <a:ext cx="10160000" cy="508000"/>
          </a:xfrm>
          <a:prstGeom prst="rect">
            <a:avLst/>
          </a:prstGeom>
          <a:noFill/>
          <a:ln/>
        </p:spPr>
        <p:txBody>
          <a:bodyPr wrap="none" lIns="0" tIns="0" rIns="0" bIns="0" rtlCol="0" anchor="ctr"/>
          <a:lstStyle/>
          <a:p>
            <a:pPr>
              <a:lnSpc>
                <a:spcPct val="130000"/>
              </a:lnSpc>
            </a:pPr>
            <a:r>
              <a:rPr lang="en-US" sz="2800" b="1" dirty="0">
                <a:solidFill>
                  <a:srgbClr val="B85C38"/>
                </a:solidFill>
                <a:latin typeface="QuattrocentoSans" pitchFamily="34" charset="0"/>
                <a:ea typeface="QuattrocentoSans" pitchFamily="34" charset="-122"/>
                <a:cs typeface="QuattrocentoSans" pitchFamily="34" charset="-120"/>
              </a:rPr>
              <a:t>Key Takeaways</a:t>
            </a:r>
            <a:endParaRPr lang="en-US" sz="2800" dirty="0"/>
          </a:p>
        </p:txBody>
      </p:sp>
      <p:sp>
        <p:nvSpPr>
          <p:cNvPr id="4" name="Shape 2"/>
          <p:cNvSpPr/>
          <p:nvPr/>
        </p:nvSpPr>
        <p:spPr>
          <a:xfrm>
            <a:off x="762000" y="1270000"/>
            <a:ext cx="635000" cy="38100"/>
          </a:xfrm>
          <a:prstGeom prst="rect">
            <a:avLst/>
          </a:prstGeom>
          <a:solidFill>
            <a:srgbClr val="B85C38"/>
          </a:solidFill>
          <a:ln/>
        </p:spPr>
      </p:sp>
      <p:sp>
        <p:nvSpPr>
          <p:cNvPr id="5" name="Shape 3"/>
          <p:cNvSpPr/>
          <p:nvPr/>
        </p:nvSpPr>
        <p:spPr>
          <a:xfrm>
            <a:off x="762000" y="1651000"/>
            <a:ext cx="7112000" cy="3302000"/>
          </a:xfrm>
          <a:prstGeom prst="rect">
            <a:avLst/>
          </a:prstGeom>
          <a:solidFill>
            <a:srgbClr val="B85C38"/>
          </a:solidFill>
          <a:ln/>
        </p:spPr>
      </p:sp>
      <p:sp>
        <p:nvSpPr>
          <p:cNvPr id="6" name="Shape 4"/>
          <p:cNvSpPr/>
          <p:nvPr/>
        </p:nvSpPr>
        <p:spPr>
          <a:xfrm>
            <a:off x="1079500" y="1968500"/>
            <a:ext cx="406400" cy="406400"/>
          </a:xfrm>
          <a:custGeom>
            <a:avLst/>
            <a:gdLst/>
            <a:ahLst/>
            <a:cxnLst/>
            <a:rect l="l" t="t" r="r" b="b"/>
            <a:pathLst>
              <a:path w="406400" h="406400">
                <a:moveTo>
                  <a:pt x="95250" y="44450"/>
                </a:moveTo>
                <a:cubicBezTo>
                  <a:pt x="95250" y="19923"/>
                  <a:pt x="115173" y="0"/>
                  <a:pt x="139700" y="0"/>
                </a:cubicBezTo>
                <a:lnTo>
                  <a:pt x="158750" y="0"/>
                </a:lnTo>
                <a:cubicBezTo>
                  <a:pt x="172799" y="0"/>
                  <a:pt x="184150" y="11351"/>
                  <a:pt x="184150" y="25400"/>
                </a:cubicBezTo>
                <a:lnTo>
                  <a:pt x="184150" y="381000"/>
                </a:lnTo>
                <a:cubicBezTo>
                  <a:pt x="184150" y="395049"/>
                  <a:pt x="172799" y="406400"/>
                  <a:pt x="158750" y="406400"/>
                </a:cubicBezTo>
                <a:lnTo>
                  <a:pt x="133350" y="406400"/>
                </a:lnTo>
                <a:cubicBezTo>
                  <a:pt x="109696" y="406400"/>
                  <a:pt x="89773" y="390208"/>
                  <a:pt x="84138" y="368300"/>
                </a:cubicBezTo>
                <a:cubicBezTo>
                  <a:pt x="83582" y="368300"/>
                  <a:pt x="83106" y="368300"/>
                  <a:pt x="82550" y="368300"/>
                </a:cubicBezTo>
                <a:cubicBezTo>
                  <a:pt x="47466" y="368300"/>
                  <a:pt x="19050" y="339884"/>
                  <a:pt x="19050" y="304800"/>
                </a:cubicBezTo>
                <a:cubicBezTo>
                  <a:pt x="19050" y="290513"/>
                  <a:pt x="23813" y="277336"/>
                  <a:pt x="31750" y="266700"/>
                </a:cubicBezTo>
                <a:cubicBezTo>
                  <a:pt x="16351" y="255111"/>
                  <a:pt x="6350" y="236696"/>
                  <a:pt x="6350" y="215900"/>
                </a:cubicBezTo>
                <a:cubicBezTo>
                  <a:pt x="6350" y="191373"/>
                  <a:pt x="20320" y="170021"/>
                  <a:pt x="40640" y="159464"/>
                </a:cubicBezTo>
                <a:cubicBezTo>
                  <a:pt x="35004" y="149939"/>
                  <a:pt x="31750" y="138827"/>
                  <a:pt x="31750" y="127000"/>
                </a:cubicBezTo>
                <a:cubicBezTo>
                  <a:pt x="31750" y="91916"/>
                  <a:pt x="60166" y="63500"/>
                  <a:pt x="95250" y="63500"/>
                </a:cubicBezTo>
                <a:lnTo>
                  <a:pt x="95250" y="44450"/>
                </a:lnTo>
                <a:close/>
                <a:moveTo>
                  <a:pt x="311150" y="44450"/>
                </a:moveTo>
                <a:lnTo>
                  <a:pt x="311150" y="63500"/>
                </a:lnTo>
                <a:cubicBezTo>
                  <a:pt x="346234" y="63500"/>
                  <a:pt x="374650" y="91916"/>
                  <a:pt x="374650" y="127000"/>
                </a:cubicBezTo>
                <a:cubicBezTo>
                  <a:pt x="374650" y="138906"/>
                  <a:pt x="371396" y="150019"/>
                  <a:pt x="365760" y="159464"/>
                </a:cubicBezTo>
                <a:cubicBezTo>
                  <a:pt x="386159" y="170021"/>
                  <a:pt x="400050" y="191294"/>
                  <a:pt x="400050" y="215900"/>
                </a:cubicBezTo>
                <a:cubicBezTo>
                  <a:pt x="400050" y="236696"/>
                  <a:pt x="390049" y="255111"/>
                  <a:pt x="374650" y="266700"/>
                </a:cubicBezTo>
                <a:cubicBezTo>
                  <a:pt x="382588" y="277336"/>
                  <a:pt x="387350" y="290513"/>
                  <a:pt x="387350" y="304800"/>
                </a:cubicBezTo>
                <a:cubicBezTo>
                  <a:pt x="387350" y="339884"/>
                  <a:pt x="358934" y="368300"/>
                  <a:pt x="323850" y="368300"/>
                </a:cubicBezTo>
                <a:cubicBezTo>
                  <a:pt x="323294" y="368300"/>
                  <a:pt x="322818" y="368300"/>
                  <a:pt x="322263" y="368300"/>
                </a:cubicBezTo>
                <a:cubicBezTo>
                  <a:pt x="316627" y="390208"/>
                  <a:pt x="296704" y="406400"/>
                  <a:pt x="273050" y="406400"/>
                </a:cubicBezTo>
                <a:lnTo>
                  <a:pt x="247650" y="406400"/>
                </a:lnTo>
                <a:cubicBezTo>
                  <a:pt x="233601" y="406400"/>
                  <a:pt x="222250" y="395049"/>
                  <a:pt x="222250" y="381000"/>
                </a:cubicBezTo>
                <a:lnTo>
                  <a:pt x="222250" y="25400"/>
                </a:lnTo>
                <a:cubicBezTo>
                  <a:pt x="222250" y="11351"/>
                  <a:pt x="233601" y="0"/>
                  <a:pt x="247650" y="0"/>
                </a:cubicBezTo>
                <a:lnTo>
                  <a:pt x="266700" y="0"/>
                </a:lnTo>
                <a:cubicBezTo>
                  <a:pt x="291227" y="0"/>
                  <a:pt x="311150" y="19923"/>
                  <a:pt x="311150" y="44450"/>
                </a:cubicBezTo>
                <a:close/>
              </a:path>
            </a:pathLst>
          </a:custGeom>
          <a:solidFill>
            <a:srgbClr val="FFFFFF"/>
          </a:solidFill>
          <a:ln/>
        </p:spPr>
      </p:sp>
      <p:sp>
        <p:nvSpPr>
          <p:cNvPr id="7" name="Text 5"/>
          <p:cNvSpPr/>
          <p:nvPr/>
        </p:nvSpPr>
        <p:spPr>
          <a:xfrm>
            <a:off x="1651000" y="1930400"/>
            <a:ext cx="5080000" cy="3810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Cognitive Theory of Multimedia Learning</a:t>
            </a:r>
            <a:endParaRPr lang="en-US" sz="1600" dirty="0"/>
          </a:p>
        </p:txBody>
      </p:sp>
      <p:sp>
        <p:nvSpPr>
          <p:cNvPr id="8" name="Text 6"/>
          <p:cNvSpPr/>
          <p:nvPr/>
        </p:nvSpPr>
        <p:spPr>
          <a:xfrm>
            <a:off x="1079500" y="2540000"/>
            <a:ext cx="6477000" cy="2222500"/>
          </a:xfrm>
          <a:prstGeom prst="rect">
            <a:avLst/>
          </a:prstGeom>
          <a:noFill/>
          <a:ln/>
        </p:spPr>
        <p:txBody>
          <a:bodyPr wrap="square" lIns="0" tIns="0" rIns="0" bIns="0" rtlCol="0" anchor="t"/>
          <a:lstStyle/>
          <a:p>
            <a:pPr>
              <a:lnSpc>
                <a:spcPct val="160000"/>
              </a:lnSpc>
            </a:pPr>
            <a:r>
              <a:rPr lang="en-US" sz="1500" dirty="0">
                <a:solidFill>
                  <a:srgbClr val="FFFFFF">
                    <a:alpha val="86667"/>
                  </a:srgbClr>
                </a:solidFill>
                <a:latin typeface="Quattrocento Sans" pitchFamily="34" charset="0"/>
                <a:ea typeface="Quattrocento Sans" pitchFamily="34" charset="-122"/>
                <a:cs typeface="Quattrocento Sans" pitchFamily="34" charset="-120"/>
              </a:rPr>
              <a:t>Provides </a:t>
            </a:r>
            <a:pPr>
              <a:lnSpc>
                <a:spcPct val="160000"/>
              </a:lnSpc>
            </a:pPr>
            <a:r>
              <a:rPr lang="en-US" sz="1500" b="1" dirty="0">
                <a:solidFill>
                  <a:srgbClr val="FFFFFF">
                    <a:alpha val="86667"/>
                  </a:srgbClr>
                </a:solidFill>
                <a:latin typeface="Quattrocento Sans" pitchFamily="34" charset="0"/>
                <a:ea typeface="Quattrocento Sans" pitchFamily="34" charset="-122"/>
                <a:cs typeface="Quattrocento Sans" pitchFamily="34" charset="-120"/>
              </a:rPr>
              <a:t>12 evidence-based principles</a:t>
            </a:r>
            <a:pPr>
              <a:lnSpc>
                <a:spcPct val="160000"/>
              </a:lnSpc>
            </a:pPr>
            <a:r>
              <a:rPr lang="en-US" sz="1500" dirty="0">
                <a:solidFill>
                  <a:srgbClr val="FFFFFF">
                    <a:alpha val="86667"/>
                  </a:srgbClr>
                </a:solidFill>
                <a:latin typeface="Quattrocento Sans" pitchFamily="34" charset="0"/>
                <a:ea typeface="Quattrocento Sans" pitchFamily="34" charset="-122"/>
                <a:cs typeface="Quattrocento Sans" pitchFamily="34" charset="-120"/>
              </a:rPr>
              <a:t> organized around three goals:</a:t>
            </a:r>
            <a:endParaRPr lang="en-US" sz="1600" dirty="0"/>
          </a:p>
          <a:p>
            <a:pPr>
              <a:lnSpc>
                <a:spcPct val="160000"/>
              </a:lnSpc>
              <a:spcBef>
                <a:spcPts val="400"/>
              </a:spcBef>
            </a:pPr>
            <a:r>
              <a:rPr lang="en-US" sz="1500" dirty="0">
                <a:solidFill>
                  <a:srgbClr val="FFFFFF">
                    <a:alpha val="86667"/>
                  </a:srgbClr>
                </a:solidFill>
                <a:latin typeface="Quattrocento Sans" pitchFamily="34" charset="0"/>
                <a:ea typeface="Quattrocento Sans" pitchFamily="34" charset="-122"/>
                <a:cs typeface="Quattrocento Sans" pitchFamily="34" charset="-120"/>
              </a:rPr>
              <a:t>- Reducing extraneous processing</a:t>
            </a:r>
            <a:endParaRPr lang="en-US" sz="1600" dirty="0"/>
          </a:p>
          <a:p>
            <a:pPr>
              <a:lnSpc>
                <a:spcPct val="160000"/>
              </a:lnSpc>
              <a:spcBef>
                <a:spcPts val="200"/>
              </a:spcBef>
            </a:pPr>
            <a:r>
              <a:rPr lang="en-US" sz="1500" dirty="0">
                <a:solidFill>
                  <a:srgbClr val="FFFFFF">
                    <a:alpha val="86667"/>
                  </a:srgbClr>
                </a:solidFill>
                <a:latin typeface="Quattrocento Sans" pitchFamily="34" charset="0"/>
                <a:ea typeface="Quattrocento Sans" pitchFamily="34" charset="-122"/>
                <a:cs typeface="Quattrocento Sans" pitchFamily="34" charset="-120"/>
              </a:rPr>
              <a:t>- Managing essential processing</a:t>
            </a:r>
            <a:endParaRPr lang="en-US" sz="1600" dirty="0"/>
          </a:p>
          <a:p>
            <a:pPr>
              <a:lnSpc>
                <a:spcPct val="160000"/>
              </a:lnSpc>
              <a:spcBef>
                <a:spcPts val="200"/>
              </a:spcBef>
            </a:pPr>
            <a:r>
              <a:rPr lang="en-US" sz="1500" dirty="0">
                <a:solidFill>
                  <a:srgbClr val="FFFFFF">
                    <a:alpha val="86667"/>
                  </a:srgbClr>
                </a:solidFill>
                <a:latin typeface="Quattrocento Sans" pitchFamily="34" charset="0"/>
                <a:ea typeface="Quattrocento Sans" pitchFamily="34" charset="-122"/>
                <a:cs typeface="Quattrocento Sans" pitchFamily="34" charset="-120"/>
              </a:rPr>
              <a:t>- Fostering generative processing</a:t>
            </a:r>
            <a:endParaRPr lang="en-US" sz="1600" dirty="0"/>
          </a:p>
          <a:p>
            <a:pPr>
              <a:lnSpc>
                <a:spcPct val="160000"/>
              </a:lnSpc>
              <a:spcBef>
                <a:spcPts val="600"/>
              </a:spcBef>
            </a:pPr>
            <a:r>
              <a:rPr lang="en-US" sz="1500" dirty="0">
                <a:solidFill>
                  <a:srgbClr val="FFFFFF">
                    <a:alpha val="86667"/>
                  </a:srgbClr>
                </a:solidFill>
                <a:latin typeface="Quattrocento Sans" pitchFamily="34" charset="0"/>
                <a:ea typeface="Quattrocento Sans" pitchFamily="34" charset="-122"/>
                <a:cs typeface="Quattrocento Sans" pitchFamily="34" charset="-120"/>
              </a:rPr>
              <a:t>A practical framework for instructional designers.</a:t>
            </a:r>
            <a:endParaRPr lang="en-US" sz="1600" dirty="0"/>
          </a:p>
        </p:txBody>
      </p:sp>
      <p:sp>
        <p:nvSpPr>
          <p:cNvPr id="9" name="Shape 7"/>
          <p:cNvSpPr/>
          <p:nvPr/>
        </p:nvSpPr>
        <p:spPr>
          <a:xfrm>
            <a:off x="8382000" y="1651000"/>
            <a:ext cx="7112000" cy="3302000"/>
          </a:xfrm>
          <a:prstGeom prst="rect">
            <a:avLst/>
          </a:prstGeom>
          <a:solidFill>
            <a:srgbClr val="2D2926"/>
          </a:solidFill>
          <a:ln/>
        </p:spPr>
      </p:sp>
      <p:sp>
        <p:nvSpPr>
          <p:cNvPr id="10" name="Shape 8"/>
          <p:cNvSpPr/>
          <p:nvPr/>
        </p:nvSpPr>
        <p:spPr>
          <a:xfrm>
            <a:off x="8724900" y="1968500"/>
            <a:ext cx="355600" cy="406400"/>
          </a:xfrm>
          <a:custGeom>
            <a:avLst/>
            <a:gdLst/>
            <a:ahLst/>
            <a:cxnLst/>
            <a:rect l="l" t="t" r="r" b="b"/>
            <a:pathLst>
              <a:path w="355600" h="406400">
                <a:moveTo>
                  <a:pt x="63500" y="82550"/>
                </a:moveTo>
                <a:cubicBezTo>
                  <a:pt x="74014" y="82550"/>
                  <a:pt x="82550" y="74014"/>
                  <a:pt x="82550" y="63500"/>
                </a:cubicBezTo>
                <a:cubicBezTo>
                  <a:pt x="82550" y="52986"/>
                  <a:pt x="74014" y="44450"/>
                  <a:pt x="63500" y="44450"/>
                </a:cubicBezTo>
                <a:cubicBezTo>
                  <a:pt x="52986" y="44450"/>
                  <a:pt x="44450" y="52986"/>
                  <a:pt x="44450" y="63500"/>
                </a:cubicBezTo>
                <a:cubicBezTo>
                  <a:pt x="44450" y="74014"/>
                  <a:pt x="52986" y="82550"/>
                  <a:pt x="63500" y="82550"/>
                </a:cubicBezTo>
                <a:close/>
                <a:moveTo>
                  <a:pt x="127000" y="63500"/>
                </a:moveTo>
                <a:cubicBezTo>
                  <a:pt x="127000" y="89535"/>
                  <a:pt x="111363" y="111919"/>
                  <a:pt x="88900" y="121682"/>
                </a:cubicBezTo>
                <a:lnTo>
                  <a:pt x="88900" y="177800"/>
                </a:lnTo>
                <a:lnTo>
                  <a:pt x="228600" y="177800"/>
                </a:lnTo>
                <a:cubicBezTo>
                  <a:pt x="249634" y="177800"/>
                  <a:pt x="266700" y="160734"/>
                  <a:pt x="266700" y="139700"/>
                </a:cubicBezTo>
                <a:lnTo>
                  <a:pt x="266700" y="121682"/>
                </a:lnTo>
                <a:cubicBezTo>
                  <a:pt x="244237" y="111919"/>
                  <a:pt x="228600" y="89535"/>
                  <a:pt x="228600" y="63500"/>
                </a:cubicBezTo>
                <a:cubicBezTo>
                  <a:pt x="228600" y="28416"/>
                  <a:pt x="257016" y="0"/>
                  <a:pt x="292100" y="0"/>
                </a:cubicBezTo>
                <a:cubicBezTo>
                  <a:pt x="327184" y="0"/>
                  <a:pt x="355600" y="28416"/>
                  <a:pt x="355600" y="63500"/>
                </a:cubicBezTo>
                <a:cubicBezTo>
                  <a:pt x="355600" y="89535"/>
                  <a:pt x="339963" y="111919"/>
                  <a:pt x="317500" y="121682"/>
                </a:cubicBezTo>
                <a:lnTo>
                  <a:pt x="317500" y="139700"/>
                </a:lnTo>
                <a:cubicBezTo>
                  <a:pt x="317500" y="188833"/>
                  <a:pt x="277733" y="228600"/>
                  <a:pt x="228600" y="228600"/>
                </a:cubicBezTo>
                <a:lnTo>
                  <a:pt x="88900" y="228600"/>
                </a:lnTo>
                <a:lnTo>
                  <a:pt x="88900" y="284718"/>
                </a:lnTo>
                <a:cubicBezTo>
                  <a:pt x="111363" y="294481"/>
                  <a:pt x="127000" y="316865"/>
                  <a:pt x="127000" y="342900"/>
                </a:cubicBezTo>
                <a:cubicBezTo>
                  <a:pt x="127000" y="377984"/>
                  <a:pt x="98584" y="406400"/>
                  <a:pt x="63500" y="406400"/>
                </a:cubicBezTo>
                <a:cubicBezTo>
                  <a:pt x="28416" y="406400"/>
                  <a:pt x="0" y="377984"/>
                  <a:pt x="0" y="342900"/>
                </a:cubicBezTo>
                <a:cubicBezTo>
                  <a:pt x="0" y="316865"/>
                  <a:pt x="15637" y="294481"/>
                  <a:pt x="38100" y="284718"/>
                </a:cubicBezTo>
                <a:lnTo>
                  <a:pt x="38100" y="121761"/>
                </a:lnTo>
                <a:cubicBezTo>
                  <a:pt x="15637" y="111919"/>
                  <a:pt x="0" y="89535"/>
                  <a:pt x="0" y="63500"/>
                </a:cubicBezTo>
                <a:cubicBezTo>
                  <a:pt x="0" y="28416"/>
                  <a:pt x="28416" y="0"/>
                  <a:pt x="63500" y="0"/>
                </a:cubicBezTo>
                <a:cubicBezTo>
                  <a:pt x="98584" y="0"/>
                  <a:pt x="127000" y="28416"/>
                  <a:pt x="127000" y="63500"/>
                </a:cubicBezTo>
                <a:close/>
                <a:moveTo>
                  <a:pt x="311150" y="63500"/>
                </a:moveTo>
                <a:cubicBezTo>
                  <a:pt x="311150" y="52986"/>
                  <a:pt x="302614" y="44450"/>
                  <a:pt x="292100" y="44450"/>
                </a:cubicBezTo>
                <a:cubicBezTo>
                  <a:pt x="281586" y="44450"/>
                  <a:pt x="273050" y="52986"/>
                  <a:pt x="273050" y="63500"/>
                </a:cubicBezTo>
                <a:cubicBezTo>
                  <a:pt x="273050" y="74014"/>
                  <a:pt x="281586" y="82550"/>
                  <a:pt x="292100" y="82550"/>
                </a:cubicBezTo>
                <a:cubicBezTo>
                  <a:pt x="302614" y="82550"/>
                  <a:pt x="311150" y="74014"/>
                  <a:pt x="311150" y="63500"/>
                </a:cubicBezTo>
                <a:close/>
                <a:moveTo>
                  <a:pt x="63500" y="361950"/>
                </a:moveTo>
                <a:cubicBezTo>
                  <a:pt x="74014" y="361950"/>
                  <a:pt x="82550" y="353414"/>
                  <a:pt x="82550" y="342900"/>
                </a:cubicBezTo>
                <a:cubicBezTo>
                  <a:pt x="82550" y="332386"/>
                  <a:pt x="74014" y="323850"/>
                  <a:pt x="63500" y="323850"/>
                </a:cubicBezTo>
                <a:cubicBezTo>
                  <a:pt x="52986" y="323850"/>
                  <a:pt x="44450" y="332386"/>
                  <a:pt x="44450" y="342900"/>
                </a:cubicBezTo>
                <a:cubicBezTo>
                  <a:pt x="44450" y="353414"/>
                  <a:pt x="52986" y="361950"/>
                  <a:pt x="63500" y="361950"/>
                </a:cubicBezTo>
                <a:close/>
              </a:path>
            </a:pathLst>
          </a:custGeom>
          <a:solidFill>
            <a:srgbClr val="B85C38"/>
          </a:solidFill>
          <a:ln/>
        </p:spPr>
      </p:sp>
      <p:sp>
        <p:nvSpPr>
          <p:cNvPr id="11" name="Text 9"/>
          <p:cNvSpPr/>
          <p:nvPr/>
        </p:nvSpPr>
        <p:spPr>
          <a:xfrm>
            <a:off x="9271000" y="1930400"/>
            <a:ext cx="5080000" cy="3810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Dual Coding Theory</a:t>
            </a:r>
            <a:endParaRPr lang="en-US" sz="1600" dirty="0"/>
          </a:p>
        </p:txBody>
      </p:sp>
      <p:sp>
        <p:nvSpPr>
          <p:cNvPr id="12" name="Text 10"/>
          <p:cNvSpPr/>
          <p:nvPr/>
        </p:nvSpPr>
        <p:spPr>
          <a:xfrm>
            <a:off x="8699500" y="2540000"/>
            <a:ext cx="6477000" cy="2413000"/>
          </a:xfrm>
          <a:prstGeom prst="rect">
            <a:avLst/>
          </a:prstGeom>
          <a:noFill/>
          <a:ln/>
        </p:spPr>
        <p:txBody>
          <a:bodyPr wrap="square" lIns="0" tIns="0" rIns="0" bIns="0" rtlCol="0" anchor="t"/>
          <a:lstStyle/>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Explains how </a:t>
            </a:r>
            <a:pPr>
              <a:lnSpc>
                <a:spcPct val="160000"/>
              </a:lnSpc>
            </a:pPr>
            <a:r>
              <a:rPr lang="en-US" sz="1500" b="1" dirty="0">
                <a:solidFill>
                  <a:srgbClr val="FFFFFF">
                    <a:alpha val="80000"/>
                  </a:srgbClr>
                </a:solidFill>
                <a:latin typeface="Quattrocento Sans" pitchFamily="34" charset="0"/>
                <a:ea typeface="Quattrocento Sans" pitchFamily="34" charset="-122"/>
                <a:cs typeface="Quattrocento Sans" pitchFamily="34" charset="-120"/>
              </a:rPr>
              <a:t>verbal and non-verbal processing systems</a:t>
            </a:r>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work together through:</a:t>
            </a:r>
            <a:endParaRPr lang="en-US" sz="1600" dirty="0"/>
          </a:p>
          <a:p>
            <a:pPr>
              <a:lnSpc>
                <a:spcPct val="160000"/>
              </a:lnSpc>
              <a:spcBef>
                <a:spcPts val="4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 Representational connections</a:t>
            </a:r>
            <a:endParaRPr lang="en-US" sz="1600" dirty="0"/>
          </a:p>
          <a:p>
            <a:pPr>
              <a:lnSpc>
                <a:spcPct val="160000"/>
              </a:lnSpc>
              <a:spcBef>
                <a:spcPts val="2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 Referential connections</a:t>
            </a:r>
            <a:endParaRPr lang="en-US" sz="1600" dirty="0"/>
          </a:p>
          <a:p>
            <a:pPr>
              <a:lnSpc>
                <a:spcPct val="160000"/>
              </a:lnSpc>
              <a:spcBef>
                <a:spcPts val="600"/>
              </a:spcBef>
            </a:pPr>
            <a:r>
              <a:rPr lang="en-US" sz="1500" dirty="0">
                <a:solidFill>
                  <a:srgbClr val="FFFFFF">
                    <a:alpha val="80000"/>
                  </a:srgbClr>
                </a:solidFill>
                <a:latin typeface="Quattrocento Sans" pitchFamily="34" charset="0"/>
                <a:ea typeface="Quattrocento Sans" pitchFamily="34" charset="-122"/>
                <a:cs typeface="Quattrocento Sans" pitchFamily="34" charset="-120"/>
              </a:rPr>
              <a:t>A descriptive theory of cognitive mechanisms underlying multimedia learning.</a:t>
            </a:r>
            <a:endParaRPr lang="en-US" sz="1600" dirty="0"/>
          </a:p>
        </p:txBody>
      </p:sp>
      <p:sp>
        <p:nvSpPr>
          <p:cNvPr id="13" name="Shape 11"/>
          <p:cNvSpPr/>
          <p:nvPr/>
        </p:nvSpPr>
        <p:spPr>
          <a:xfrm>
            <a:off x="762000" y="5397500"/>
            <a:ext cx="14732000" cy="1524000"/>
          </a:xfrm>
          <a:prstGeom prst="rect">
            <a:avLst/>
          </a:prstGeom>
          <a:solidFill>
            <a:srgbClr val="EDE6DE"/>
          </a:solidFill>
          <a:ln/>
        </p:spPr>
      </p:sp>
      <p:sp>
        <p:nvSpPr>
          <p:cNvPr id="14" name="Shape 12"/>
          <p:cNvSpPr/>
          <p:nvPr/>
        </p:nvSpPr>
        <p:spPr>
          <a:xfrm>
            <a:off x="1054100" y="5715000"/>
            <a:ext cx="457200" cy="406400"/>
          </a:xfrm>
          <a:custGeom>
            <a:avLst/>
            <a:gdLst/>
            <a:ahLst/>
            <a:cxnLst/>
            <a:rect l="l" t="t" r="r" b="b"/>
            <a:pathLst>
              <a:path w="457200" h="406400">
                <a:moveTo>
                  <a:pt x="245666" y="-15002"/>
                </a:moveTo>
                <a:cubicBezTo>
                  <a:pt x="242411" y="-21352"/>
                  <a:pt x="235823" y="-25400"/>
                  <a:pt x="228679" y="-25400"/>
                </a:cubicBezTo>
                <a:cubicBezTo>
                  <a:pt x="221536" y="-25400"/>
                  <a:pt x="214948" y="-21352"/>
                  <a:pt x="211693" y="-15002"/>
                </a:cubicBezTo>
                <a:lnTo>
                  <a:pt x="153273" y="99457"/>
                </a:lnTo>
                <a:lnTo>
                  <a:pt x="26353" y="119618"/>
                </a:lnTo>
                <a:cubicBezTo>
                  <a:pt x="19288" y="120729"/>
                  <a:pt x="13414" y="125730"/>
                  <a:pt x="11192" y="132556"/>
                </a:cubicBezTo>
                <a:cubicBezTo>
                  <a:pt x="8969" y="139383"/>
                  <a:pt x="10795" y="146844"/>
                  <a:pt x="15796" y="151924"/>
                </a:cubicBezTo>
                <a:lnTo>
                  <a:pt x="106601" y="242808"/>
                </a:lnTo>
                <a:lnTo>
                  <a:pt x="86598" y="369729"/>
                </a:lnTo>
                <a:cubicBezTo>
                  <a:pt x="85487" y="376793"/>
                  <a:pt x="88424" y="383937"/>
                  <a:pt x="94218" y="388144"/>
                </a:cubicBezTo>
                <a:cubicBezTo>
                  <a:pt x="100013" y="392351"/>
                  <a:pt x="107633" y="392986"/>
                  <a:pt x="114062" y="389731"/>
                </a:cubicBezTo>
                <a:lnTo>
                  <a:pt x="228679" y="331470"/>
                </a:lnTo>
                <a:lnTo>
                  <a:pt x="343218" y="389731"/>
                </a:lnTo>
                <a:cubicBezTo>
                  <a:pt x="349568" y="392986"/>
                  <a:pt x="357267" y="392351"/>
                  <a:pt x="363061" y="388144"/>
                </a:cubicBezTo>
                <a:cubicBezTo>
                  <a:pt x="368856" y="383937"/>
                  <a:pt x="371793" y="376873"/>
                  <a:pt x="370681" y="369729"/>
                </a:cubicBezTo>
                <a:lnTo>
                  <a:pt x="350599" y="242808"/>
                </a:lnTo>
                <a:lnTo>
                  <a:pt x="441404" y="151924"/>
                </a:lnTo>
                <a:cubicBezTo>
                  <a:pt x="446484" y="146844"/>
                  <a:pt x="448231" y="139383"/>
                  <a:pt x="446008" y="132556"/>
                </a:cubicBezTo>
                <a:cubicBezTo>
                  <a:pt x="443786" y="125730"/>
                  <a:pt x="437991" y="120729"/>
                  <a:pt x="430847" y="119618"/>
                </a:cubicBezTo>
                <a:lnTo>
                  <a:pt x="304006" y="99457"/>
                </a:lnTo>
                <a:lnTo>
                  <a:pt x="245666" y="-15002"/>
                </a:lnTo>
                <a:close/>
              </a:path>
            </a:pathLst>
          </a:custGeom>
          <a:solidFill>
            <a:srgbClr val="B85C38"/>
          </a:solidFill>
          <a:ln/>
        </p:spPr>
      </p:sp>
      <p:sp>
        <p:nvSpPr>
          <p:cNvPr id="15" name="Text 13"/>
          <p:cNvSpPr/>
          <p:nvPr/>
        </p:nvSpPr>
        <p:spPr>
          <a:xfrm>
            <a:off x="1651000" y="5651500"/>
            <a:ext cx="5080000" cy="381000"/>
          </a:xfrm>
          <a:prstGeom prst="rect">
            <a:avLst/>
          </a:prstGeom>
          <a:noFill/>
          <a:ln/>
        </p:spPr>
        <p:txBody>
          <a:bodyPr wrap="none" lIns="0" tIns="0" rIns="0" bIns="0" rtlCol="0" anchor="ctr"/>
          <a:lstStyle/>
          <a:p>
            <a:pPr>
              <a:lnSpc>
                <a:spcPct val="100000"/>
              </a:lnSpc>
            </a:pPr>
            <a:r>
              <a:rPr lang="en-US" sz="2000" b="1" dirty="0">
                <a:solidFill>
                  <a:srgbClr val="2D2926"/>
                </a:solidFill>
                <a:latin typeface="Quattrocento Sans" pitchFamily="34" charset="0"/>
                <a:ea typeface="Quattrocento Sans" pitchFamily="34" charset="-122"/>
                <a:cs typeface="Quattrocento Sans" pitchFamily="34" charset="-120"/>
              </a:rPr>
              <a:t>Unified Insight</a:t>
            </a:r>
            <a:endParaRPr lang="en-US" sz="1600" dirty="0"/>
          </a:p>
        </p:txBody>
      </p:sp>
      <p:sp>
        <p:nvSpPr>
          <p:cNvPr id="16" name="Text 14"/>
          <p:cNvSpPr/>
          <p:nvPr/>
        </p:nvSpPr>
        <p:spPr>
          <a:xfrm>
            <a:off x="1651000" y="6070600"/>
            <a:ext cx="13462000" cy="762000"/>
          </a:xfrm>
          <a:prstGeom prst="rect">
            <a:avLst/>
          </a:prstGeom>
          <a:noFill/>
          <a:ln/>
        </p:spPr>
        <p:txBody>
          <a:bodyPr wrap="square" lIns="0" tIns="0" rIns="0" bIns="0" rtlCol="0" anchor="t"/>
          <a:lstStyle/>
          <a:p>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Both theories share the fundamental insight: people learn better when information is presented through </a:t>
            </a:r>
            <a:pPr>
              <a:lnSpc>
                <a:spcPct val="150000"/>
              </a:lnSpc>
            </a:pPr>
            <a:r>
              <a:rPr lang="en-US" sz="1600" b="1" dirty="0">
                <a:solidFill>
                  <a:srgbClr val="2D2926"/>
                </a:solidFill>
                <a:latin typeface="Quattrocento Sans" pitchFamily="34" charset="0"/>
                <a:ea typeface="Quattrocento Sans" pitchFamily="34" charset="-122"/>
                <a:cs typeface="Quattrocento Sans" pitchFamily="34" charset="-120"/>
              </a:rPr>
              <a:t>multiple channels - words AND pictures</a:t>
            </a:r>
            <a:pPr>
              <a:lnSpc>
                <a:spcPct val="150000"/>
              </a:lnSpc>
            </a:pPr>
            <a:r>
              <a:rPr lang="en-US" sz="1600" dirty="0">
                <a:solidFill>
                  <a:srgbClr val="2D2926"/>
                </a:solidFill>
                <a:latin typeface="Quattrocento Sans" pitchFamily="34" charset="0"/>
                <a:ea typeface="Quattrocento Sans" pitchFamily="34" charset="-122"/>
                <a:cs typeface="Quattrocento Sans" pitchFamily="34" charset="-120"/>
              </a:rPr>
              <a:t> - rather than words alone.</a:t>
            </a:r>
            <a:endParaRPr lang="en-US" sz="1600" dirty="0"/>
          </a:p>
        </p:txBody>
      </p:sp>
      <p:sp>
        <p:nvSpPr>
          <p:cNvPr id="17" name="Shape 15"/>
          <p:cNvSpPr/>
          <p:nvPr/>
        </p:nvSpPr>
        <p:spPr>
          <a:xfrm>
            <a:off x="762000" y="8699500"/>
            <a:ext cx="508000" cy="38100"/>
          </a:xfrm>
          <a:prstGeom prst="rect">
            <a:avLst/>
          </a:prstGeom>
          <a:solidFill>
            <a:srgbClr val="B85C38"/>
          </a:solidFill>
          <a:ln/>
        </p:spPr>
      </p:sp>
      <p:sp>
        <p:nvSpPr>
          <p:cNvPr id="18" name="Text 16"/>
          <p:cNvSpPr/>
          <p:nvPr/>
        </p:nvSpPr>
        <p:spPr>
          <a:xfrm>
            <a:off x="14986000" y="8699500"/>
            <a:ext cx="508000" cy="254000"/>
          </a:xfrm>
          <a:prstGeom prst="rect">
            <a:avLst/>
          </a:prstGeom>
          <a:noFill/>
          <a:ln/>
        </p:spPr>
        <p:txBody>
          <a:bodyPr wrap="none" lIns="0" tIns="0" rIns="0" bIns="0" rtlCol="0" anchor="ctr"/>
          <a:lstStyle/>
          <a:p>
            <a:pPr algn="r">
              <a:lnSpc>
                <a:spcPct val="140000"/>
              </a:lnSpc>
            </a:pPr>
            <a:r>
              <a:rPr lang="en-US" sz="1300" dirty="0">
                <a:solidFill>
                  <a:srgbClr val="8C7B6B"/>
                </a:solidFill>
                <a:latin typeface="QuattrocentoSans" pitchFamily="34" charset="0"/>
                <a:ea typeface="QuattrocentoSans" pitchFamily="34" charset="-122"/>
                <a:cs typeface="QuattrocentoSans" pitchFamily="34" charset="-120"/>
              </a:rPr>
              <a:t>27</a:t>
            </a:r>
            <a:endParaRPr lang="en-US" sz="13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D2926"/>
        </a:solidFill>
      </p:bgPr>
    </p:bg>
    <p:spTree>
      <p:nvGrpSpPr>
        <p:cNvPr id="1" name=""/>
        <p:cNvGrpSpPr/>
        <p:nvPr/>
      </p:nvGrpSpPr>
      <p:grpSpPr>
        <a:xfrm>
          <a:off x="0" y="0"/>
          <a:ext cx="0" cy="0"/>
          <a:chOff x="0" y="0"/>
          <a:chExt cx="0" cy="0"/>
        </a:xfrm>
      </p:grpSpPr>
      <p:sp>
        <p:nvSpPr>
          <p:cNvPr id="2" name="Shape 0"/>
          <p:cNvSpPr/>
          <p:nvPr/>
        </p:nvSpPr>
        <p:spPr>
          <a:xfrm>
            <a:off x="6858000" y="2794000"/>
            <a:ext cx="2540000" cy="38100"/>
          </a:xfrm>
          <a:prstGeom prst="rect">
            <a:avLst/>
          </a:prstGeom>
          <a:solidFill>
            <a:srgbClr val="B85C38"/>
          </a:solidFill>
          <a:ln/>
        </p:spPr>
      </p:sp>
      <p:sp>
        <p:nvSpPr>
          <p:cNvPr id="3" name="Text 1"/>
          <p:cNvSpPr/>
          <p:nvPr/>
        </p:nvSpPr>
        <p:spPr>
          <a:xfrm>
            <a:off x="3048000" y="3175000"/>
            <a:ext cx="10160000" cy="889000"/>
          </a:xfrm>
          <a:prstGeom prst="rect">
            <a:avLst/>
          </a:prstGeom>
          <a:noFill/>
          <a:ln/>
        </p:spPr>
        <p:txBody>
          <a:bodyPr wrap="none" lIns="0" tIns="0" rIns="0" bIns="0" rtlCol="0" anchor="ctr"/>
          <a:lstStyle/>
          <a:p>
            <a:pPr algn="ctr">
              <a:lnSpc>
                <a:spcPct val="100000"/>
              </a:lnSpc>
            </a:pPr>
            <a:r>
              <a:rPr lang="en-US" sz="4800" b="1" spc="600" kern="0" dirty="0">
                <a:solidFill>
                  <a:srgbClr val="FFFFFF"/>
                </a:solidFill>
                <a:latin typeface="Quattrocento Sans" pitchFamily="34" charset="0"/>
                <a:ea typeface="Quattrocento Sans" pitchFamily="34" charset="-122"/>
                <a:cs typeface="Quattrocento Sans" pitchFamily="34" charset="-120"/>
              </a:rPr>
              <a:t>THANK YOU</a:t>
            </a:r>
            <a:endParaRPr lang="en-US" sz="1600" dirty="0"/>
          </a:p>
        </p:txBody>
      </p:sp>
      <p:sp>
        <p:nvSpPr>
          <p:cNvPr id="4" name="Text 2"/>
          <p:cNvSpPr/>
          <p:nvPr/>
        </p:nvSpPr>
        <p:spPr>
          <a:xfrm>
            <a:off x="3048000" y="4191000"/>
            <a:ext cx="10160000" cy="444500"/>
          </a:xfrm>
          <a:prstGeom prst="rect">
            <a:avLst/>
          </a:prstGeom>
          <a:noFill/>
          <a:ln/>
        </p:spPr>
        <p:txBody>
          <a:bodyPr wrap="none" lIns="0" tIns="0" rIns="0" bIns="0" rtlCol="0" anchor="ctr"/>
          <a:lstStyle/>
          <a:p>
            <a:pPr algn="ctr">
              <a:lnSpc>
                <a:spcPct val="100000"/>
              </a:lnSpc>
            </a:pPr>
            <a:r>
              <a:rPr lang="en-US" sz="2000" dirty="0">
                <a:solidFill>
                  <a:srgbClr val="8C7B6B"/>
                </a:solidFill>
                <a:latin typeface="Quattrocento Sans" pitchFamily="34" charset="0"/>
                <a:ea typeface="Quattrocento Sans" pitchFamily="34" charset="-122"/>
                <a:cs typeface="Quattrocento Sans" pitchFamily="34" charset="-120"/>
              </a:rPr>
              <a:t>Questions &amp; Discussion</a:t>
            </a:r>
            <a:endParaRPr lang="en-US" sz="1600" dirty="0"/>
          </a:p>
        </p:txBody>
      </p:sp>
      <p:sp>
        <p:nvSpPr>
          <p:cNvPr id="5" name="Shape 3"/>
          <p:cNvSpPr/>
          <p:nvPr/>
        </p:nvSpPr>
        <p:spPr>
          <a:xfrm>
            <a:off x="6858000" y="4953000"/>
            <a:ext cx="2540000" cy="38100"/>
          </a:xfrm>
          <a:prstGeom prst="rect">
            <a:avLst/>
          </a:prstGeom>
          <a:solidFill>
            <a:srgbClr val="B85C38"/>
          </a:solidFill>
          <a:ln/>
        </p:spPr>
      </p:sp>
      <p:sp>
        <p:nvSpPr>
          <p:cNvPr id="6" name="Text 4"/>
          <p:cNvSpPr/>
          <p:nvPr/>
        </p:nvSpPr>
        <p:spPr>
          <a:xfrm>
            <a:off x="4318000" y="5588000"/>
            <a:ext cx="7620000" cy="381000"/>
          </a:xfrm>
          <a:prstGeom prst="rect">
            <a:avLst/>
          </a:prstGeom>
          <a:noFill/>
          <a:ln/>
        </p:spPr>
        <p:txBody>
          <a:bodyPr wrap="none" lIns="0" tIns="0" rIns="0" bIns="0" rtlCol="0" anchor="ctr"/>
          <a:lstStyle/>
          <a:p>
            <a:pPr algn="ctr">
              <a:lnSpc>
                <a:spcPct val="100000"/>
              </a:lnSpc>
            </a:pPr>
            <a:r>
              <a:rPr lang="en-US" sz="1600" spc="200" kern="0" dirty="0">
                <a:solidFill>
                  <a:srgbClr val="8C7B6B"/>
                </a:solidFill>
                <a:latin typeface="Quattrocento Sans" pitchFamily="34" charset="0"/>
                <a:ea typeface="Quattrocento Sans" pitchFamily="34" charset="-122"/>
                <a:cs typeface="Quattrocento Sans" pitchFamily="34" charset="-120"/>
              </a:rPr>
              <a:t>NEXT WEEK: MULTIMEDIA AUTHORING TOOLS</a:t>
            </a:r>
            <a:endParaRPr lang="en-US" sz="1600" dirty="0"/>
          </a:p>
        </p:txBody>
      </p:sp>
      <p:sp>
        <p:nvSpPr>
          <p:cNvPr id="7" name="Text 5"/>
          <p:cNvSpPr/>
          <p:nvPr/>
        </p:nvSpPr>
        <p:spPr>
          <a:xfrm>
            <a:off x="4318000" y="8128000"/>
            <a:ext cx="7620000" cy="317500"/>
          </a:xfrm>
          <a:prstGeom prst="rect">
            <a:avLst/>
          </a:prstGeom>
          <a:noFill/>
          <a:ln/>
        </p:spPr>
        <p:txBody>
          <a:bodyPr wrap="none" lIns="0" tIns="0" rIns="0" bIns="0" rtlCol="0" anchor="ctr"/>
          <a:lstStyle/>
          <a:p>
            <a:pPr algn="ctr">
              <a:lnSpc>
                <a:spcPct val="100000"/>
              </a:lnSpc>
            </a:pPr>
            <a:r>
              <a:rPr lang="en-US" sz="1300" spc="200" kern="0" dirty="0">
                <a:solidFill>
                  <a:srgbClr val="8C7B6B"/>
                </a:solidFill>
                <a:latin typeface="Quattrocento Sans" pitchFamily="34" charset="0"/>
                <a:ea typeface="Quattrocento Sans" pitchFamily="34" charset="-122"/>
                <a:cs typeface="Quattrocento Sans" pitchFamily="34" charset="-120"/>
              </a:rPr>
              <a:t>MULTIMEDIA PRODUCTION | WEEK 2</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Learning Theories</dc:title>
  <dc:subject>Multimedia Learning Theories</dc:subject>
  <dc:creator>Kimi</dc:creator>
  <cp:lastModifiedBy>Kimi</cp:lastModifiedBy>
  <cp:revision>1</cp:revision>
  <dcterms:created xsi:type="dcterms:W3CDTF">2026-05-26T11:31:49Z</dcterms:created>
  <dcterms:modified xsi:type="dcterms:W3CDTF">2026-05-26T11:31:49Z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{"Label":"Multimedia Learning Theories","ContentProducer":"001191110108MACG2KBH8F10000","ProduceID":"19e63f7b-a632-8454-8000-00002ba84571","ReservedCode1":"","ContentPropagator":"001191110108MACG2KBH8F20000","PropagateID":"19e63f7b-a632-8454-8000-00002ba84571","ReservedCode2":""}</vt:lpwstr>
  </property>
</Properties>
</file>