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6256000" cy="9144000"/>
  <p:notesSz cx="9144000" cy="16256000"/>
  <p:embeddedFontLst>
    <p:embeddedFont>
      <p:font typeface="Liter" charset="-122" pitchFamily="34"/>
      <p:regular r:id="rId35"/>
    </p:embeddedFont>
    <p:embeddedFont>
      <p:font typeface="Quattrocento Sans" charset="-122" pitchFamily="34"/>
      <p:regular r:id="rId3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font" Target="fonts/font1.fntdata"/><Relationship Id="rId36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3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2D3142"/>
              </a:gs>
              <a:gs pos="50000">
                <a:srgbClr val="2D3142"/>
              </a:gs>
              <a:gs pos="100000">
                <a:srgbClr val="1A1A2E"/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10160000" y="-1270000"/>
            <a:ext cx="6350000" cy="6350000"/>
          </a:xfrm>
          <a:prstGeom prst="ellipse">
            <a:avLst/>
          </a:prstGeom>
          <a:solidFill>
            <a:srgbClr val="C45D3E">
              <a:alpha val="8235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0" y="4445000"/>
            <a:ext cx="5715000" cy="5715000"/>
          </a:xfrm>
          <a:prstGeom prst="ellipse">
            <a:avLst/>
          </a:prstGeom>
          <a:solidFill>
            <a:srgbClr val="C45D3E">
              <a:alpha val="6275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900000">
            <a:off x="9525000" y="2540000"/>
            <a:ext cx="2286000" cy="2286000"/>
          </a:xfrm>
          <a:prstGeom prst="rect">
            <a:avLst/>
          </a:prstGeom>
          <a:solidFill>
            <a:srgbClr val="C45D3E">
              <a:alpha val="12549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-600000">
            <a:off x="13335000" y="1270000"/>
            <a:ext cx="1524000" cy="1524000"/>
          </a:xfrm>
          <a:prstGeom prst="rect">
            <a:avLst/>
          </a:prstGeom>
          <a:solidFill>
            <a:srgbClr val="F5F1EB">
              <a:alpha val="7059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2476500"/>
            <a:ext cx="762000" cy="508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730500"/>
            <a:ext cx="889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4800" spc="4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MULTIMEDIA</a:t>
            </a:r>
            <a:endParaRPr lang="en-US" sz="4200" dirty="0"/>
          </a:p>
          <a:p>
            <a:pPr>
              <a:lnSpc>
                <a:spcPct val="120000"/>
              </a:lnSpc>
            </a:pPr>
            <a:r>
              <a:rPr lang="en-US" sz="4800" spc="4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PRINCIPLES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016000" y="4445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spc="600" kern="0" dirty="0">
                <a:solidFill>
                  <a:srgbClr val="C45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 VISUAL DESIGN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5334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5F1EB">
                    <a:alpha val="6902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PRINCIPLES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16000" y="6096000"/>
            <a:ext cx="5080000" cy="12700"/>
          </a:xfrm>
          <a:prstGeom prst="rect">
            <a:avLst/>
          </a:prstGeom>
          <a:solidFill>
            <a:srgbClr val="F5F1EB">
              <a:alpha val="25098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64135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5F1EB">
                    <a:alpha val="56471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Multimedia Production | Week 5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5F1EB">
                    <a:alpha val="56471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Lessons 9 &amp; 10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16000" y="8255000"/>
            <a:ext cx="1524000" cy="38100"/>
          </a:xfrm>
          <a:prstGeom prst="rect">
            <a:avLst/>
          </a:prstGeom>
          <a:solidFill>
            <a:srgbClr val="C45D3E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4000" cy="9144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1270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600" kern="0" dirty="0">
                <a:solidFill>
                  <a:srgbClr val="C45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1778000"/>
            <a:ext cx="406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42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794000"/>
            <a:ext cx="635000" cy="508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3175000"/>
            <a:ext cx="406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5F1EB">
                    <a:alpha val="6902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session covers the science of multimedia learning and the art of visual design principles.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6000" y="1778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C45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12000" y="1841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200" spc="200" kern="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MULTIMEDIA PRINCIPLES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96000" y="2667000"/>
            <a:ext cx="9144000" cy="12700"/>
          </a:xfrm>
          <a:prstGeom prst="rect">
            <a:avLst/>
          </a:prstGeom>
          <a:solidFill>
            <a:srgbClr val="E0DCD6"/>
          </a:solidFill>
          <a:ln/>
        </p:spPr>
      </p:sp>
      <p:sp>
        <p:nvSpPr>
          <p:cNvPr id="10" name="Text 8"/>
          <p:cNvSpPr/>
          <p:nvPr/>
        </p:nvSpPr>
        <p:spPr>
          <a:xfrm>
            <a:off x="6096000" y="2921000"/>
            <a:ext cx="838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Mayer's Cognitive Theory of Multimedia Learning (CTML) and 12 evidence-based design principles for creating effective learning environments.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0" y="4064000"/>
            <a:ext cx="838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400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400" dirty="0">
                <a:solidFill>
                  <a:srgbClr val="8D8D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Three Core Assumptions of CTML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400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400" dirty="0">
                <a:solidFill>
                  <a:srgbClr val="8D8D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12 Principles: Reducing Extraneous, Managing Essential, Fostering Generative Processing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6000" y="5588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C45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12000" y="5651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200" spc="200" kern="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DESIGN PRINCIPLES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96000" y="6477000"/>
            <a:ext cx="9144000" cy="12700"/>
          </a:xfrm>
          <a:prstGeom prst="rect">
            <a:avLst/>
          </a:prstGeom>
          <a:solidFill>
            <a:srgbClr val="E0DCD6"/>
          </a:solidFill>
          <a:ln/>
        </p:spPr>
      </p:sp>
      <p:sp>
        <p:nvSpPr>
          <p:cNvPr id="15" name="Text 13"/>
          <p:cNvSpPr/>
          <p:nvPr/>
        </p:nvSpPr>
        <p:spPr>
          <a:xfrm>
            <a:off x="6096000" y="6731000"/>
            <a:ext cx="838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Gestalt and compositional principles — Balance, Harmony, Closure, Proximity, Contrast, Color, Alignment, and Emphasis.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96000" y="7874000"/>
            <a:ext cx="838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400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400" dirty="0">
                <a:solidFill>
                  <a:srgbClr val="8D8D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Balance, Harmony, Closure, Proximity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400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400" dirty="0">
                <a:solidFill>
                  <a:srgbClr val="8D8D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Contrast, Color Theory, Alignment, Emphasis &amp; Hierarchy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8636000"/>
            <a:ext cx="1524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18" name="Text 16"/>
          <p:cNvSpPr/>
          <p:nvPr/>
        </p:nvSpPr>
        <p:spPr>
          <a:xfrm>
            <a:off x="14986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D8D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3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2D3142"/>
              </a:gs>
              <a:gs pos="60000">
                <a:srgbClr val="2D3142"/>
              </a:gs>
              <a:gs pos="100000">
                <a:srgbClr val="1A1A2E"/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9525000" y="635000"/>
            <a:ext cx="6985000" cy="6985000"/>
          </a:xfrm>
          <a:prstGeom prst="ellipse">
            <a:avLst/>
          </a:prstGeom>
          <a:solidFill>
            <a:srgbClr val="C45D3E">
              <a:alpha val="7059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1200000">
            <a:off x="11176000" y="5080000"/>
            <a:ext cx="2540000" cy="2540000"/>
          </a:xfrm>
          <a:prstGeom prst="rect">
            <a:avLst/>
          </a:prstGeom>
          <a:solidFill>
            <a:srgbClr val="C45D3E">
              <a:alpha val="9412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3970000" y="1905000"/>
            <a:ext cx="1905000" cy="1905000"/>
          </a:xfrm>
          <a:prstGeom prst="triangle">
            <a:avLst>
              <a:gd name="adj" fmla="val 50000"/>
            </a:avLst>
          </a:prstGeom>
          <a:solidFill>
            <a:srgbClr val="F5F1EB">
              <a:alpha val="6275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032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600" dirty="0">
                <a:solidFill>
                  <a:srgbClr val="C45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16000" y="3556000"/>
            <a:ext cx="762000" cy="508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38735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spc="4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MULTIMEDIA PRINCIPLES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4699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5F1EB">
                    <a:alpha val="6902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Designing Effective Learning Environments Based on Cognitive Science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16000" y="8255000"/>
            <a:ext cx="1524000" cy="38100"/>
          </a:xfrm>
          <a:prstGeom prst="rect">
            <a:avLst/>
          </a:prstGeom>
          <a:solidFill>
            <a:srgbClr val="C45D3E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0" y="3175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200" kern="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MULTIMEDIA PRINCIPLES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300" kern="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MULTIMEDIA LEARNING?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24000"/>
            <a:ext cx="7112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Multimedia learning involves learning through 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combination of words and images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including spoken or printed text, illustrations, charts, photos, animations, and video.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Research by Richard Mayer demonstrates that 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C45D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people learn more effectively from words and pictures than from words alone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this is the foundational 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Multimedia Principle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382000" y="1524000"/>
            <a:ext cx="7112000" cy="330200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7" name="Text 5"/>
          <p:cNvSpPr/>
          <p:nvPr/>
        </p:nvSpPr>
        <p:spPr>
          <a:xfrm>
            <a:off x="8763000" y="1778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spc="100" kern="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BENEFITS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763000" y="2349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1438" y="33338"/>
                </a:moveTo>
                <a:cubicBezTo>
                  <a:pt x="71438" y="14942"/>
                  <a:pt x="86380" y="0"/>
                  <a:pt x="104775" y="0"/>
                </a:cubicBezTo>
                <a:lnTo>
                  <a:pt x="119062" y="0"/>
                </a:lnTo>
                <a:cubicBezTo>
                  <a:pt x="129600" y="0"/>
                  <a:pt x="138113" y="8513"/>
                  <a:pt x="138113" y="19050"/>
                </a:cubicBezTo>
                <a:lnTo>
                  <a:pt x="138113" y="285750"/>
                </a:lnTo>
                <a:cubicBezTo>
                  <a:pt x="138113" y="296287"/>
                  <a:pt x="129600" y="304800"/>
                  <a:pt x="119062" y="304800"/>
                </a:cubicBezTo>
                <a:lnTo>
                  <a:pt x="100013" y="304800"/>
                </a:lnTo>
                <a:cubicBezTo>
                  <a:pt x="82272" y="304800"/>
                  <a:pt x="67330" y="292656"/>
                  <a:pt x="63103" y="276225"/>
                </a:cubicBezTo>
                <a:cubicBezTo>
                  <a:pt x="62686" y="276225"/>
                  <a:pt x="62329" y="276225"/>
                  <a:pt x="61912" y="276225"/>
                </a:cubicBezTo>
                <a:cubicBezTo>
                  <a:pt x="35600" y="276225"/>
                  <a:pt x="14288" y="254913"/>
                  <a:pt x="14288" y="228600"/>
                </a:cubicBezTo>
                <a:cubicBezTo>
                  <a:pt x="14288" y="217884"/>
                  <a:pt x="17859" y="208002"/>
                  <a:pt x="23813" y="200025"/>
                </a:cubicBezTo>
                <a:cubicBezTo>
                  <a:pt x="12263" y="191333"/>
                  <a:pt x="4763" y="177522"/>
                  <a:pt x="4763" y="161925"/>
                </a:cubicBezTo>
                <a:cubicBezTo>
                  <a:pt x="4763" y="143530"/>
                  <a:pt x="15240" y="127516"/>
                  <a:pt x="30480" y="119598"/>
                </a:cubicBezTo>
                <a:cubicBezTo>
                  <a:pt x="26253" y="112455"/>
                  <a:pt x="23813" y="104120"/>
                  <a:pt x="23813" y="95250"/>
                </a:cubicBezTo>
                <a:cubicBezTo>
                  <a:pt x="23813" y="68937"/>
                  <a:pt x="45125" y="47625"/>
                  <a:pt x="71438" y="47625"/>
                </a:cubicBezTo>
                <a:lnTo>
                  <a:pt x="71438" y="33338"/>
                </a:lnTo>
                <a:close/>
                <a:moveTo>
                  <a:pt x="233363" y="33338"/>
                </a:moveTo>
                <a:lnTo>
                  <a:pt x="233363" y="47625"/>
                </a:lnTo>
                <a:cubicBezTo>
                  <a:pt x="259675" y="47625"/>
                  <a:pt x="280987" y="68937"/>
                  <a:pt x="280987" y="95250"/>
                </a:cubicBezTo>
                <a:cubicBezTo>
                  <a:pt x="280987" y="104180"/>
                  <a:pt x="278547" y="112514"/>
                  <a:pt x="274320" y="119598"/>
                </a:cubicBezTo>
                <a:cubicBezTo>
                  <a:pt x="289620" y="127516"/>
                  <a:pt x="300038" y="143470"/>
                  <a:pt x="300038" y="161925"/>
                </a:cubicBezTo>
                <a:cubicBezTo>
                  <a:pt x="300038" y="177522"/>
                  <a:pt x="292537" y="191333"/>
                  <a:pt x="280987" y="200025"/>
                </a:cubicBezTo>
                <a:cubicBezTo>
                  <a:pt x="286941" y="208002"/>
                  <a:pt x="290513" y="217884"/>
                  <a:pt x="290513" y="228600"/>
                </a:cubicBezTo>
                <a:cubicBezTo>
                  <a:pt x="290513" y="254913"/>
                  <a:pt x="269200" y="276225"/>
                  <a:pt x="242888" y="276225"/>
                </a:cubicBezTo>
                <a:cubicBezTo>
                  <a:pt x="242471" y="276225"/>
                  <a:pt x="242114" y="276225"/>
                  <a:pt x="241697" y="276225"/>
                </a:cubicBezTo>
                <a:cubicBezTo>
                  <a:pt x="237470" y="292656"/>
                  <a:pt x="222528" y="304800"/>
                  <a:pt x="204787" y="304800"/>
                </a:cubicBezTo>
                <a:lnTo>
                  <a:pt x="185738" y="304800"/>
                </a:lnTo>
                <a:cubicBezTo>
                  <a:pt x="175200" y="304800"/>
                  <a:pt x="166688" y="296287"/>
                  <a:pt x="166688" y="285750"/>
                </a:cubicBezTo>
                <a:lnTo>
                  <a:pt x="166688" y="19050"/>
                </a:lnTo>
                <a:cubicBezTo>
                  <a:pt x="166688" y="8513"/>
                  <a:pt x="175200" y="0"/>
                  <a:pt x="185738" y="0"/>
                </a:cubicBezTo>
                <a:lnTo>
                  <a:pt x="200025" y="0"/>
                </a:lnTo>
                <a:cubicBezTo>
                  <a:pt x="218420" y="0"/>
                  <a:pt x="233363" y="14942"/>
                  <a:pt x="233363" y="33338"/>
                </a:cubicBezTo>
                <a:close/>
              </a:path>
            </a:pathLst>
          </a:custGeom>
          <a:solidFill>
            <a:srgbClr val="C45D3E"/>
          </a:solidFill>
          <a:ln/>
        </p:spPr>
      </p:sp>
      <p:sp>
        <p:nvSpPr>
          <p:cNvPr id="9" name="Text 7"/>
          <p:cNvSpPr/>
          <p:nvPr/>
        </p:nvSpPr>
        <p:spPr>
          <a:xfrm>
            <a:off x="9220200" y="2311400"/>
            <a:ext cx="5969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Boosts Engagement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Interactive, visually stimulating content captures and sustains attention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763000" y="3111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38100"/>
                </a:moveTo>
                <a:cubicBezTo>
                  <a:pt x="38100" y="27563"/>
                  <a:pt x="29587" y="19050"/>
                  <a:pt x="19050" y="19050"/>
                </a:cubicBezTo>
                <a:cubicBezTo>
                  <a:pt x="8513" y="19050"/>
                  <a:pt x="0" y="27563"/>
                  <a:pt x="0" y="38100"/>
                </a:cubicBezTo>
                <a:lnTo>
                  <a:pt x="0" y="238125"/>
                </a:lnTo>
                <a:cubicBezTo>
                  <a:pt x="0" y="264438"/>
                  <a:pt x="21312" y="285750"/>
                  <a:pt x="47625" y="285750"/>
                </a:cubicBezTo>
                <a:lnTo>
                  <a:pt x="285750" y="285750"/>
                </a:lnTo>
                <a:cubicBezTo>
                  <a:pt x="296287" y="285750"/>
                  <a:pt x="304800" y="277237"/>
                  <a:pt x="304800" y="266700"/>
                </a:cubicBezTo>
                <a:cubicBezTo>
                  <a:pt x="304800" y="256163"/>
                  <a:pt x="296287" y="247650"/>
                  <a:pt x="285750" y="247650"/>
                </a:cubicBezTo>
                <a:lnTo>
                  <a:pt x="47625" y="247650"/>
                </a:lnTo>
                <a:cubicBezTo>
                  <a:pt x="42386" y="247650"/>
                  <a:pt x="38100" y="243364"/>
                  <a:pt x="38100" y="238125"/>
                </a:cubicBezTo>
                <a:lnTo>
                  <a:pt x="38100" y="38100"/>
                </a:lnTo>
                <a:close/>
                <a:moveTo>
                  <a:pt x="280154" y="89654"/>
                </a:moveTo>
                <a:cubicBezTo>
                  <a:pt x="287595" y="82213"/>
                  <a:pt x="287595" y="70128"/>
                  <a:pt x="280154" y="62686"/>
                </a:cubicBezTo>
                <a:cubicBezTo>
                  <a:pt x="272713" y="55245"/>
                  <a:pt x="260628" y="55245"/>
                  <a:pt x="253186" y="62686"/>
                </a:cubicBezTo>
                <a:lnTo>
                  <a:pt x="190500" y="125432"/>
                </a:lnTo>
                <a:lnTo>
                  <a:pt x="156329" y="91321"/>
                </a:lnTo>
                <a:cubicBezTo>
                  <a:pt x="148888" y="83880"/>
                  <a:pt x="136803" y="83880"/>
                  <a:pt x="129361" y="91321"/>
                </a:cubicBezTo>
                <a:lnTo>
                  <a:pt x="72211" y="148471"/>
                </a:lnTo>
                <a:cubicBezTo>
                  <a:pt x="64770" y="155912"/>
                  <a:pt x="64770" y="167997"/>
                  <a:pt x="72211" y="175439"/>
                </a:cubicBezTo>
                <a:cubicBezTo>
                  <a:pt x="79653" y="182880"/>
                  <a:pt x="91738" y="182880"/>
                  <a:pt x="99179" y="175439"/>
                </a:cubicBezTo>
                <a:lnTo>
                  <a:pt x="142875" y="131743"/>
                </a:lnTo>
                <a:lnTo>
                  <a:pt x="177046" y="165914"/>
                </a:lnTo>
                <a:cubicBezTo>
                  <a:pt x="184487" y="173355"/>
                  <a:pt x="196572" y="173355"/>
                  <a:pt x="204014" y="165914"/>
                </a:cubicBezTo>
                <a:lnTo>
                  <a:pt x="280214" y="89714"/>
                </a:lnTo>
                <a:close/>
              </a:path>
            </a:pathLst>
          </a:custGeom>
          <a:solidFill>
            <a:srgbClr val="C45D3E"/>
          </a:solidFill>
          <a:ln/>
        </p:spPr>
      </p:sp>
      <p:sp>
        <p:nvSpPr>
          <p:cNvPr id="11" name="Text 9"/>
          <p:cNvSpPr/>
          <p:nvPr/>
        </p:nvSpPr>
        <p:spPr>
          <a:xfrm>
            <a:off x="9220200" y="3175000"/>
            <a:ext cx="5969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Enhances Retention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Multiple formats help process and remember complex topics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724900" y="38735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190500" y="9525"/>
                </a:moveTo>
                <a:cubicBezTo>
                  <a:pt x="224670" y="9525"/>
                  <a:pt x="252413" y="37267"/>
                  <a:pt x="252413" y="71438"/>
                </a:cubicBezTo>
                <a:cubicBezTo>
                  <a:pt x="252413" y="105608"/>
                  <a:pt x="224670" y="133350"/>
                  <a:pt x="190500" y="133350"/>
                </a:cubicBezTo>
                <a:cubicBezTo>
                  <a:pt x="156330" y="133350"/>
                  <a:pt x="128588" y="105608"/>
                  <a:pt x="128588" y="71438"/>
                </a:cubicBezTo>
                <a:cubicBezTo>
                  <a:pt x="128588" y="37267"/>
                  <a:pt x="156330" y="9525"/>
                  <a:pt x="190500" y="9525"/>
                </a:cubicBezTo>
                <a:close/>
                <a:moveTo>
                  <a:pt x="57150" y="52388"/>
                </a:moveTo>
                <a:cubicBezTo>
                  <a:pt x="80806" y="52388"/>
                  <a:pt x="100013" y="71594"/>
                  <a:pt x="100013" y="95250"/>
                </a:cubicBezTo>
                <a:cubicBezTo>
                  <a:pt x="100013" y="118906"/>
                  <a:pt x="80806" y="138113"/>
                  <a:pt x="57150" y="138113"/>
                </a:cubicBezTo>
                <a:cubicBezTo>
                  <a:pt x="33494" y="138113"/>
                  <a:pt x="14288" y="118906"/>
                  <a:pt x="14288" y="95250"/>
                </a:cubicBezTo>
                <a:cubicBezTo>
                  <a:pt x="14288" y="71594"/>
                  <a:pt x="33494" y="52388"/>
                  <a:pt x="57150" y="52388"/>
                </a:cubicBezTo>
                <a:close/>
                <a:moveTo>
                  <a:pt x="0" y="247650"/>
                </a:moveTo>
                <a:cubicBezTo>
                  <a:pt x="0" y="205561"/>
                  <a:pt x="34111" y="171450"/>
                  <a:pt x="76200" y="171450"/>
                </a:cubicBezTo>
                <a:cubicBezTo>
                  <a:pt x="83820" y="171450"/>
                  <a:pt x="91202" y="172581"/>
                  <a:pt x="98167" y="174665"/>
                </a:cubicBezTo>
                <a:cubicBezTo>
                  <a:pt x="78581" y="196572"/>
                  <a:pt x="66675" y="225504"/>
                  <a:pt x="66675" y="257175"/>
                </a:cubicBezTo>
                <a:lnTo>
                  <a:pt x="66675" y="266700"/>
                </a:lnTo>
                <a:cubicBezTo>
                  <a:pt x="66675" y="273487"/>
                  <a:pt x="68104" y="279916"/>
                  <a:pt x="70664" y="285750"/>
                </a:cubicBezTo>
                <a:lnTo>
                  <a:pt x="19050" y="285750"/>
                </a:lnTo>
                <a:cubicBezTo>
                  <a:pt x="8513" y="285750"/>
                  <a:pt x="0" y="277237"/>
                  <a:pt x="0" y="266700"/>
                </a:cubicBezTo>
                <a:lnTo>
                  <a:pt x="0" y="247650"/>
                </a:lnTo>
                <a:close/>
                <a:moveTo>
                  <a:pt x="310336" y="285750"/>
                </a:moveTo>
                <a:cubicBezTo>
                  <a:pt x="312896" y="279916"/>
                  <a:pt x="314325" y="273487"/>
                  <a:pt x="314325" y="266700"/>
                </a:cubicBezTo>
                <a:lnTo>
                  <a:pt x="314325" y="257175"/>
                </a:lnTo>
                <a:cubicBezTo>
                  <a:pt x="314325" y="225504"/>
                  <a:pt x="302419" y="196572"/>
                  <a:pt x="282833" y="174665"/>
                </a:cubicBezTo>
                <a:cubicBezTo>
                  <a:pt x="289798" y="172581"/>
                  <a:pt x="297180" y="171450"/>
                  <a:pt x="304800" y="171450"/>
                </a:cubicBezTo>
                <a:cubicBezTo>
                  <a:pt x="346889" y="171450"/>
                  <a:pt x="381000" y="205561"/>
                  <a:pt x="381000" y="247650"/>
                </a:cubicBezTo>
                <a:lnTo>
                  <a:pt x="381000" y="266700"/>
                </a:lnTo>
                <a:cubicBezTo>
                  <a:pt x="381000" y="277237"/>
                  <a:pt x="372487" y="285750"/>
                  <a:pt x="361950" y="285750"/>
                </a:cubicBezTo>
                <a:lnTo>
                  <a:pt x="310336" y="285750"/>
                </a:lnTo>
                <a:close/>
                <a:moveTo>
                  <a:pt x="280987" y="95250"/>
                </a:moveTo>
                <a:cubicBezTo>
                  <a:pt x="280987" y="71594"/>
                  <a:pt x="300194" y="52388"/>
                  <a:pt x="323850" y="52388"/>
                </a:cubicBezTo>
                <a:cubicBezTo>
                  <a:pt x="347506" y="52388"/>
                  <a:pt x="366712" y="71594"/>
                  <a:pt x="366712" y="95250"/>
                </a:cubicBezTo>
                <a:cubicBezTo>
                  <a:pt x="366712" y="118906"/>
                  <a:pt x="347506" y="138113"/>
                  <a:pt x="323850" y="138113"/>
                </a:cubicBezTo>
                <a:cubicBezTo>
                  <a:pt x="300194" y="138113"/>
                  <a:pt x="280987" y="118906"/>
                  <a:pt x="280987" y="95250"/>
                </a:cubicBezTo>
                <a:close/>
                <a:moveTo>
                  <a:pt x="95250" y="257175"/>
                </a:moveTo>
                <a:cubicBezTo>
                  <a:pt x="95250" y="204549"/>
                  <a:pt x="137874" y="161925"/>
                  <a:pt x="190500" y="161925"/>
                </a:cubicBezTo>
                <a:cubicBezTo>
                  <a:pt x="243126" y="161925"/>
                  <a:pt x="285750" y="204549"/>
                  <a:pt x="285750" y="257175"/>
                </a:cubicBezTo>
                <a:lnTo>
                  <a:pt x="285750" y="266700"/>
                </a:lnTo>
                <a:cubicBezTo>
                  <a:pt x="285750" y="277237"/>
                  <a:pt x="277237" y="285750"/>
                  <a:pt x="266700" y="285750"/>
                </a:cubicBezTo>
                <a:lnTo>
                  <a:pt x="114300" y="285750"/>
                </a:lnTo>
                <a:cubicBezTo>
                  <a:pt x="103763" y="285750"/>
                  <a:pt x="95250" y="277237"/>
                  <a:pt x="95250" y="266700"/>
                </a:cubicBezTo>
                <a:lnTo>
                  <a:pt x="95250" y="257175"/>
                </a:lnTo>
                <a:close/>
              </a:path>
            </a:pathLst>
          </a:custGeom>
          <a:solidFill>
            <a:srgbClr val="C45D3E"/>
          </a:solidFill>
          <a:ln/>
        </p:spPr>
      </p:sp>
      <p:sp>
        <p:nvSpPr>
          <p:cNvPr id="13" name="Text 11"/>
          <p:cNvSpPr/>
          <p:nvPr/>
        </p:nvSpPr>
        <p:spPr>
          <a:xfrm>
            <a:off x="9220200" y="4038600"/>
            <a:ext cx="5969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Diverse Learning Styles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Various content forms make education more inclusive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5207000"/>
            <a:ext cx="14732000" cy="2794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5397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400" kern="0" dirty="0">
                <a:solidFill>
                  <a:srgbClr val="C45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397000" y="5969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244475"/>
                </a:lnTo>
                <a:cubicBezTo>
                  <a:pt x="0" y="268992"/>
                  <a:pt x="19933" y="288925"/>
                  <a:pt x="44450" y="288925"/>
                </a:cubicBezTo>
                <a:lnTo>
                  <a:pt x="144463" y="288925"/>
                </a:lnTo>
                <a:lnTo>
                  <a:pt x="133350" y="322263"/>
                </a:lnTo>
                <a:lnTo>
                  <a:pt x="83344" y="322263"/>
                </a:lnTo>
                <a:cubicBezTo>
                  <a:pt x="74106" y="322263"/>
                  <a:pt x="66675" y="329694"/>
                  <a:pt x="66675" y="338931"/>
                </a:cubicBezTo>
                <a:cubicBezTo>
                  <a:pt x="66675" y="348169"/>
                  <a:pt x="74106" y="355600"/>
                  <a:pt x="83344" y="355600"/>
                </a:cubicBezTo>
                <a:lnTo>
                  <a:pt x="272256" y="355600"/>
                </a:lnTo>
                <a:cubicBezTo>
                  <a:pt x="281494" y="355600"/>
                  <a:pt x="288925" y="348169"/>
                  <a:pt x="288925" y="338931"/>
                </a:cubicBezTo>
                <a:cubicBezTo>
                  <a:pt x="288925" y="329694"/>
                  <a:pt x="281494" y="322263"/>
                  <a:pt x="272256" y="322263"/>
                </a:cubicBezTo>
                <a:lnTo>
                  <a:pt x="222250" y="322263"/>
                </a:lnTo>
                <a:lnTo>
                  <a:pt x="211138" y="288925"/>
                </a:lnTo>
                <a:lnTo>
                  <a:pt x="311150" y="288925"/>
                </a:lnTo>
                <a:cubicBezTo>
                  <a:pt x="335667" y="288925"/>
                  <a:pt x="355600" y="268992"/>
                  <a:pt x="355600" y="244475"/>
                </a:cubicBezTo>
                <a:lnTo>
                  <a:pt x="355600" y="66675"/>
                </a:lnTo>
                <a:cubicBezTo>
                  <a:pt x="355600" y="42158"/>
                  <a:pt x="335667" y="22225"/>
                  <a:pt x="311150" y="22225"/>
                </a:cubicBezTo>
                <a:lnTo>
                  <a:pt x="44450" y="22225"/>
                </a:lnTo>
                <a:close/>
                <a:moveTo>
                  <a:pt x="66675" y="66675"/>
                </a:moveTo>
                <a:lnTo>
                  <a:pt x="288925" y="66675"/>
                </a:lnTo>
                <a:cubicBezTo>
                  <a:pt x="301218" y="66675"/>
                  <a:pt x="311150" y="76607"/>
                  <a:pt x="311150" y="88900"/>
                </a:cubicBezTo>
                <a:lnTo>
                  <a:pt x="311150" y="200025"/>
                </a:lnTo>
                <a:cubicBezTo>
                  <a:pt x="311150" y="212318"/>
                  <a:pt x="301218" y="222250"/>
                  <a:pt x="288925" y="222250"/>
                </a:cubicBezTo>
                <a:lnTo>
                  <a:pt x="66675" y="222250"/>
                </a:lnTo>
                <a:cubicBezTo>
                  <a:pt x="54382" y="222250"/>
                  <a:pt x="44450" y="212318"/>
                  <a:pt x="44450" y="200025"/>
                </a:cubicBezTo>
                <a:lnTo>
                  <a:pt x="44450" y="88900"/>
                </a:lnTo>
                <a:cubicBezTo>
                  <a:pt x="44450" y="76607"/>
                  <a:pt x="54382" y="66675"/>
                  <a:pt x="66675" y="66675"/>
                </a:cubicBezTo>
                <a:close/>
              </a:path>
            </a:pathLst>
          </a:custGeom>
          <a:solidFill>
            <a:srgbClr val="C45D3E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64516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PowerPoint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Presentations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76775" y="5969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66675" y="44450"/>
                </a:moveTo>
                <a:cubicBezTo>
                  <a:pt x="42158" y="44450"/>
                  <a:pt x="22225" y="64383"/>
                  <a:pt x="22225" y="88900"/>
                </a:cubicBezTo>
                <a:lnTo>
                  <a:pt x="22225" y="266700"/>
                </a:lnTo>
                <a:cubicBezTo>
                  <a:pt x="22225" y="291217"/>
                  <a:pt x="42158" y="311150"/>
                  <a:pt x="66675" y="311150"/>
                </a:cubicBezTo>
                <a:lnTo>
                  <a:pt x="244475" y="311150"/>
                </a:lnTo>
                <a:cubicBezTo>
                  <a:pt x="268992" y="311150"/>
                  <a:pt x="288925" y="291217"/>
                  <a:pt x="288925" y="266700"/>
                </a:cubicBezTo>
                <a:lnTo>
                  <a:pt x="288925" y="88900"/>
                </a:lnTo>
                <a:cubicBezTo>
                  <a:pt x="288925" y="64383"/>
                  <a:pt x="268992" y="44450"/>
                  <a:pt x="244475" y="44450"/>
                </a:cubicBezTo>
                <a:lnTo>
                  <a:pt x="66675" y="44450"/>
                </a:lnTo>
                <a:close/>
                <a:moveTo>
                  <a:pt x="322263" y="233363"/>
                </a:moveTo>
                <a:lnTo>
                  <a:pt x="373311" y="274201"/>
                </a:lnTo>
                <a:cubicBezTo>
                  <a:pt x="376228" y="276562"/>
                  <a:pt x="379839" y="277813"/>
                  <a:pt x="383590" y="277813"/>
                </a:cubicBezTo>
                <a:cubicBezTo>
                  <a:pt x="392688" y="277813"/>
                  <a:pt x="400050" y="270450"/>
                  <a:pt x="400050" y="261352"/>
                </a:cubicBezTo>
                <a:lnTo>
                  <a:pt x="400050" y="94248"/>
                </a:lnTo>
                <a:cubicBezTo>
                  <a:pt x="400050" y="85150"/>
                  <a:pt x="392688" y="77788"/>
                  <a:pt x="383590" y="77788"/>
                </a:cubicBezTo>
                <a:cubicBezTo>
                  <a:pt x="379839" y="77788"/>
                  <a:pt x="376228" y="79038"/>
                  <a:pt x="373311" y="81399"/>
                </a:cubicBezTo>
                <a:lnTo>
                  <a:pt x="322263" y="122238"/>
                </a:lnTo>
                <a:lnTo>
                  <a:pt x="322263" y="233363"/>
                </a:lnTo>
                <a:close/>
              </a:path>
            </a:pathLst>
          </a:custGeom>
          <a:solidFill>
            <a:srgbClr val="C45D3E"/>
          </a:solidFill>
          <a:ln/>
        </p:spPr>
      </p:sp>
      <p:sp>
        <p:nvSpPr>
          <p:cNvPr id="19" name="Text 17"/>
          <p:cNvSpPr/>
          <p:nvPr/>
        </p:nvSpPr>
        <p:spPr>
          <a:xfrm>
            <a:off x="4191000" y="64516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Recorded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Lectures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001000" y="5969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33350" y="44450"/>
                </a:moveTo>
                <a:cubicBezTo>
                  <a:pt x="133350" y="32157"/>
                  <a:pt x="143282" y="22225"/>
                  <a:pt x="155575" y="22225"/>
                </a:cubicBezTo>
                <a:lnTo>
                  <a:pt x="200025" y="22225"/>
                </a:lnTo>
                <a:cubicBezTo>
                  <a:pt x="212318" y="22225"/>
                  <a:pt x="222250" y="32157"/>
                  <a:pt x="222250" y="44450"/>
                </a:cubicBezTo>
                <a:lnTo>
                  <a:pt x="222250" y="88900"/>
                </a:lnTo>
                <a:cubicBezTo>
                  <a:pt x="222250" y="101193"/>
                  <a:pt x="212318" y="111125"/>
                  <a:pt x="200025" y="111125"/>
                </a:cubicBezTo>
                <a:lnTo>
                  <a:pt x="194469" y="111125"/>
                </a:lnTo>
                <a:lnTo>
                  <a:pt x="194469" y="155575"/>
                </a:lnTo>
                <a:lnTo>
                  <a:pt x="277813" y="155575"/>
                </a:lnTo>
                <a:cubicBezTo>
                  <a:pt x="305455" y="155575"/>
                  <a:pt x="327819" y="177939"/>
                  <a:pt x="327819" y="205581"/>
                </a:cubicBezTo>
                <a:lnTo>
                  <a:pt x="327819" y="244475"/>
                </a:lnTo>
                <a:lnTo>
                  <a:pt x="333375" y="244475"/>
                </a:lnTo>
                <a:cubicBezTo>
                  <a:pt x="345668" y="244475"/>
                  <a:pt x="355600" y="254407"/>
                  <a:pt x="355600" y="266700"/>
                </a:cubicBezTo>
                <a:lnTo>
                  <a:pt x="355600" y="311150"/>
                </a:lnTo>
                <a:cubicBezTo>
                  <a:pt x="355600" y="323443"/>
                  <a:pt x="345668" y="333375"/>
                  <a:pt x="333375" y="333375"/>
                </a:cubicBezTo>
                <a:lnTo>
                  <a:pt x="288925" y="333375"/>
                </a:lnTo>
                <a:cubicBezTo>
                  <a:pt x="276632" y="333375"/>
                  <a:pt x="266700" y="323443"/>
                  <a:pt x="266700" y="311150"/>
                </a:cubicBezTo>
                <a:lnTo>
                  <a:pt x="266700" y="266700"/>
                </a:lnTo>
                <a:cubicBezTo>
                  <a:pt x="266700" y="254407"/>
                  <a:pt x="276632" y="244475"/>
                  <a:pt x="288925" y="244475"/>
                </a:cubicBezTo>
                <a:lnTo>
                  <a:pt x="294481" y="244475"/>
                </a:lnTo>
                <a:lnTo>
                  <a:pt x="294481" y="205581"/>
                </a:lnTo>
                <a:cubicBezTo>
                  <a:pt x="294481" y="196344"/>
                  <a:pt x="287050" y="188913"/>
                  <a:pt x="277813" y="188913"/>
                </a:cubicBezTo>
                <a:lnTo>
                  <a:pt x="194469" y="188913"/>
                </a:lnTo>
                <a:lnTo>
                  <a:pt x="194469" y="244475"/>
                </a:lnTo>
                <a:lnTo>
                  <a:pt x="200025" y="244475"/>
                </a:lnTo>
                <a:cubicBezTo>
                  <a:pt x="212318" y="244475"/>
                  <a:pt x="222250" y="254407"/>
                  <a:pt x="222250" y="266700"/>
                </a:cubicBezTo>
                <a:lnTo>
                  <a:pt x="222250" y="311150"/>
                </a:lnTo>
                <a:cubicBezTo>
                  <a:pt x="222250" y="323443"/>
                  <a:pt x="212318" y="333375"/>
                  <a:pt x="200025" y="333375"/>
                </a:cubicBezTo>
                <a:lnTo>
                  <a:pt x="155575" y="333375"/>
                </a:lnTo>
                <a:cubicBezTo>
                  <a:pt x="143282" y="333375"/>
                  <a:pt x="133350" y="323443"/>
                  <a:pt x="133350" y="311150"/>
                </a:cubicBezTo>
                <a:lnTo>
                  <a:pt x="133350" y="266700"/>
                </a:lnTo>
                <a:cubicBezTo>
                  <a:pt x="133350" y="254407"/>
                  <a:pt x="143282" y="244475"/>
                  <a:pt x="155575" y="244475"/>
                </a:cubicBezTo>
                <a:lnTo>
                  <a:pt x="161131" y="244475"/>
                </a:lnTo>
                <a:lnTo>
                  <a:pt x="161131" y="188913"/>
                </a:lnTo>
                <a:lnTo>
                  <a:pt x="77788" y="188913"/>
                </a:lnTo>
                <a:cubicBezTo>
                  <a:pt x="68550" y="188913"/>
                  <a:pt x="61119" y="196344"/>
                  <a:pt x="61119" y="205581"/>
                </a:cubicBezTo>
                <a:lnTo>
                  <a:pt x="61119" y="244475"/>
                </a:lnTo>
                <a:lnTo>
                  <a:pt x="66675" y="244475"/>
                </a:lnTo>
                <a:cubicBezTo>
                  <a:pt x="78968" y="244475"/>
                  <a:pt x="88900" y="254407"/>
                  <a:pt x="88900" y="266700"/>
                </a:cubicBezTo>
                <a:lnTo>
                  <a:pt x="88900" y="311150"/>
                </a:lnTo>
                <a:cubicBezTo>
                  <a:pt x="88900" y="323443"/>
                  <a:pt x="78968" y="333375"/>
                  <a:pt x="66675" y="333375"/>
                </a:cubicBezTo>
                <a:lnTo>
                  <a:pt x="22225" y="333375"/>
                </a:lnTo>
                <a:cubicBezTo>
                  <a:pt x="9932" y="333375"/>
                  <a:pt x="0" y="323443"/>
                  <a:pt x="0" y="311150"/>
                </a:cubicBezTo>
                <a:lnTo>
                  <a:pt x="0" y="266700"/>
                </a:lnTo>
                <a:cubicBezTo>
                  <a:pt x="0" y="254407"/>
                  <a:pt x="9932" y="244475"/>
                  <a:pt x="22225" y="244475"/>
                </a:cubicBezTo>
                <a:lnTo>
                  <a:pt x="27781" y="244475"/>
                </a:lnTo>
                <a:lnTo>
                  <a:pt x="27781" y="205581"/>
                </a:lnTo>
                <a:cubicBezTo>
                  <a:pt x="27781" y="177939"/>
                  <a:pt x="50145" y="155575"/>
                  <a:pt x="77788" y="155575"/>
                </a:cubicBezTo>
                <a:lnTo>
                  <a:pt x="161131" y="155575"/>
                </a:lnTo>
                <a:lnTo>
                  <a:pt x="161131" y="111125"/>
                </a:lnTo>
                <a:lnTo>
                  <a:pt x="155575" y="111125"/>
                </a:lnTo>
                <a:cubicBezTo>
                  <a:pt x="143282" y="111125"/>
                  <a:pt x="133350" y="101193"/>
                  <a:pt x="133350" y="88900"/>
                </a:cubicBezTo>
                <a:lnTo>
                  <a:pt x="133350" y="44450"/>
                </a:lnTo>
                <a:close/>
              </a:path>
            </a:pathLst>
          </a:custGeom>
          <a:solidFill>
            <a:srgbClr val="C45D3E"/>
          </a:solidFill>
          <a:ln/>
        </p:spPr>
      </p:sp>
      <p:sp>
        <p:nvSpPr>
          <p:cNvPr id="21" name="Text 19"/>
          <p:cNvSpPr/>
          <p:nvPr/>
        </p:nvSpPr>
        <p:spPr>
          <a:xfrm>
            <a:off x="7493000" y="64516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Concept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Maps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280775" y="5969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33337" y="135989"/>
                </a:moveTo>
                <a:lnTo>
                  <a:pt x="178633" y="195788"/>
                </a:lnTo>
                <a:cubicBezTo>
                  <a:pt x="185440" y="198566"/>
                  <a:pt x="192663" y="200025"/>
                  <a:pt x="200025" y="200025"/>
                </a:cubicBezTo>
                <a:cubicBezTo>
                  <a:pt x="207387" y="200025"/>
                  <a:pt x="214610" y="198566"/>
                  <a:pt x="221417" y="195788"/>
                </a:cubicBezTo>
                <a:lnTo>
                  <a:pt x="389771" y="126474"/>
                </a:lnTo>
                <a:cubicBezTo>
                  <a:pt x="396022" y="123904"/>
                  <a:pt x="400050" y="117862"/>
                  <a:pt x="400050" y="111125"/>
                </a:cubicBezTo>
                <a:cubicBezTo>
                  <a:pt x="400050" y="104388"/>
                  <a:pt x="396022" y="98346"/>
                  <a:pt x="389771" y="95776"/>
                </a:cubicBezTo>
                <a:lnTo>
                  <a:pt x="221417" y="26462"/>
                </a:lnTo>
                <a:cubicBezTo>
                  <a:pt x="214610" y="23684"/>
                  <a:pt x="207387" y="22225"/>
                  <a:pt x="200025" y="22225"/>
                </a:cubicBezTo>
                <a:cubicBezTo>
                  <a:pt x="192663" y="22225"/>
                  <a:pt x="185440" y="23684"/>
                  <a:pt x="178633" y="26462"/>
                </a:cubicBezTo>
                <a:lnTo>
                  <a:pt x="10279" y="95776"/>
                </a:lnTo>
                <a:cubicBezTo>
                  <a:pt x="4028" y="98346"/>
                  <a:pt x="0" y="104388"/>
                  <a:pt x="0" y="111125"/>
                </a:cubicBezTo>
                <a:lnTo>
                  <a:pt x="0" y="316706"/>
                </a:lnTo>
                <a:cubicBezTo>
                  <a:pt x="0" y="325944"/>
                  <a:pt x="7431" y="333375"/>
                  <a:pt x="16669" y="333375"/>
                </a:cubicBezTo>
                <a:cubicBezTo>
                  <a:pt x="25906" y="333375"/>
                  <a:pt x="33337" y="325944"/>
                  <a:pt x="33337" y="316706"/>
                </a:cubicBezTo>
                <a:lnTo>
                  <a:pt x="33337" y="135989"/>
                </a:lnTo>
                <a:close/>
                <a:moveTo>
                  <a:pt x="66675" y="185787"/>
                </a:moveTo>
                <a:lnTo>
                  <a:pt x="66675" y="266700"/>
                </a:lnTo>
                <a:cubicBezTo>
                  <a:pt x="66675" y="303510"/>
                  <a:pt x="126405" y="333375"/>
                  <a:pt x="200025" y="333375"/>
                </a:cubicBezTo>
                <a:cubicBezTo>
                  <a:pt x="273645" y="333375"/>
                  <a:pt x="333375" y="303510"/>
                  <a:pt x="333375" y="266700"/>
                </a:cubicBezTo>
                <a:lnTo>
                  <a:pt x="333375" y="185718"/>
                </a:lnTo>
                <a:lnTo>
                  <a:pt x="234126" y="226626"/>
                </a:lnTo>
                <a:cubicBezTo>
                  <a:pt x="223292" y="231071"/>
                  <a:pt x="211763" y="233362"/>
                  <a:pt x="200025" y="233362"/>
                </a:cubicBezTo>
                <a:cubicBezTo>
                  <a:pt x="188287" y="233362"/>
                  <a:pt x="176758" y="231071"/>
                  <a:pt x="165924" y="226626"/>
                </a:cubicBezTo>
                <a:lnTo>
                  <a:pt x="66675" y="185718"/>
                </a:lnTo>
                <a:close/>
              </a:path>
            </a:pathLst>
          </a:custGeom>
          <a:solidFill>
            <a:srgbClr val="C45D3E"/>
          </a:solidFill>
          <a:ln/>
        </p:spPr>
      </p:sp>
      <p:sp>
        <p:nvSpPr>
          <p:cNvPr id="23" name="Text 21"/>
          <p:cNvSpPr/>
          <p:nvPr/>
        </p:nvSpPr>
        <p:spPr>
          <a:xfrm>
            <a:off x="10795000" y="64516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Tutorials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3843000" y="5969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98137"/>
                </a:moveTo>
                <a:lnTo>
                  <a:pt x="177800" y="312956"/>
                </a:lnTo>
                <a:lnTo>
                  <a:pt x="178147" y="312817"/>
                </a:lnTo>
                <a:cubicBezTo>
                  <a:pt x="216069" y="297051"/>
                  <a:pt x="256768" y="288925"/>
                  <a:pt x="297815" y="288925"/>
                </a:cubicBezTo>
                <a:lnTo>
                  <a:pt x="311150" y="288925"/>
                </a:lnTo>
                <a:lnTo>
                  <a:pt x="311150" y="66675"/>
                </a:lnTo>
                <a:lnTo>
                  <a:pt x="297815" y="66675"/>
                </a:lnTo>
                <a:cubicBezTo>
                  <a:pt x="268506" y="66675"/>
                  <a:pt x="239405" y="72509"/>
                  <a:pt x="212318" y="83760"/>
                </a:cubicBezTo>
                <a:cubicBezTo>
                  <a:pt x="200650" y="88622"/>
                  <a:pt x="189121" y="93414"/>
                  <a:pt x="177800" y="98137"/>
                </a:cubicBezTo>
                <a:close/>
                <a:moveTo>
                  <a:pt x="160367" y="42714"/>
                </a:moveTo>
                <a:lnTo>
                  <a:pt x="177800" y="50006"/>
                </a:lnTo>
                <a:lnTo>
                  <a:pt x="195233" y="42714"/>
                </a:lnTo>
                <a:cubicBezTo>
                  <a:pt x="227737" y="29170"/>
                  <a:pt x="262602" y="22225"/>
                  <a:pt x="297815" y="22225"/>
                </a:cubicBezTo>
                <a:lnTo>
                  <a:pt x="322263" y="22225"/>
                </a:lnTo>
                <a:cubicBezTo>
                  <a:pt x="340668" y="22225"/>
                  <a:pt x="355600" y="37157"/>
                  <a:pt x="355600" y="55563"/>
                </a:cubicBezTo>
                <a:lnTo>
                  <a:pt x="355600" y="300038"/>
                </a:lnTo>
                <a:cubicBezTo>
                  <a:pt x="355600" y="318443"/>
                  <a:pt x="340668" y="333375"/>
                  <a:pt x="322263" y="333375"/>
                </a:cubicBezTo>
                <a:lnTo>
                  <a:pt x="297815" y="333375"/>
                </a:lnTo>
                <a:cubicBezTo>
                  <a:pt x="262602" y="333375"/>
                  <a:pt x="227737" y="340320"/>
                  <a:pt x="195233" y="353864"/>
                </a:cubicBezTo>
                <a:lnTo>
                  <a:pt x="186343" y="357545"/>
                </a:lnTo>
                <a:cubicBezTo>
                  <a:pt x="180856" y="359837"/>
                  <a:pt x="174744" y="359837"/>
                  <a:pt x="169257" y="357545"/>
                </a:cubicBezTo>
                <a:lnTo>
                  <a:pt x="160367" y="353864"/>
                </a:lnTo>
                <a:cubicBezTo>
                  <a:pt x="127863" y="340320"/>
                  <a:pt x="92998" y="333375"/>
                  <a:pt x="57785" y="333375"/>
                </a:cubicBezTo>
                <a:lnTo>
                  <a:pt x="33337" y="333375"/>
                </a:lnTo>
                <a:cubicBezTo>
                  <a:pt x="14932" y="333375"/>
                  <a:pt x="0" y="318443"/>
                  <a:pt x="0" y="300038"/>
                </a:cubicBezTo>
                <a:lnTo>
                  <a:pt x="0" y="55563"/>
                </a:lnTo>
                <a:cubicBezTo>
                  <a:pt x="0" y="37157"/>
                  <a:pt x="14932" y="22225"/>
                  <a:pt x="33337" y="22225"/>
                </a:cubicBezTo>
                <a:lnTo>
                  <a:pt x="57785" y="22225"/>
                </a:lnTo>
                <a:cubicBezTo>
                  <a:pt x="92998" y="22225"/>
                  <a:pt x="127863" y="29170"/>
                  <a:pt x="160367" y="42714"/>
                </a:cubicBezTo>
                <a:close/>
              </a:path>
            </a:pathLst>
          </a:custGeom>
          <a:solidFill>
            <a:srgbClr val="C45D3E"/>
          </a:solidFill>
          <a:ln/>
        </p:spPr>
      </p:sp>
      <p:sp>
        <p:nvSpPr>
          <p:cNvPr id="25" name="Text 23"/>
          <p:cNvSpPr/>
          <p:nvPr/>
        </p:nvSpPr>
        <p:spPr>
          <a:xfrm>
            <a:off x="13335000" y="6451600"/>
            <a:ext cx="215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Educational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43000" y="7302500"/>
            <a:ext cx="139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5F1EB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Source: Mayer, R. E. (2009). Multimedia Learning, 2nd Edition. Cambridge University Press.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8636000"/>
            <a:ext cx="1524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28" name="Text 26"/>
          <p:cNvSpPr/>
          <p:nvPr/>
        </p:nvSpPr>
        <p:spPr>
          <a:xfrm>
            <a:off x="14986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D8D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0" y="3175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200" kern="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MULTIMEDIA PRINCIPLES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spc="300" kern="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MAYER'S COGNITIVE THEORY OF MULTIMEDIA LEARNING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Developed by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Richard E. Mayer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the Cognitive Theory of Multimedia Learning (CTML) draws on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Paivio's Dual Coding Theory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Sweller's Cognitive Load Theory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explain how people learn from words and pictures.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667000"/>
            <a:ext cx="4699000" cy="254000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2667000"/>
            <a:ext cx="50800" cy="25400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8" name="Text 6"/>
          <p:cNvSpPr/>
          <p:nvPr/>
        </p:nvSpPr>
        <p:spPr>
          <a:xfrm>
            <a:off x="1066800" y="28575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spc="100" kern="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DUAL CODING THEORY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66800" y="3302000"/>
            <a:ext cx="40640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Allan Paivio (1986) proposed that humans process verbal and visual information through separate but interconnected channels. Memory is maximized when both channels are engaged.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78500" y="2667000"/>
            <a:ext cx="4699000" cy="254000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11" name="Shape 9"/>
          <p:cNvSpPr/>
          <p:nvPr/>
        </p:nvSpPr>
        <p:spPr>
          <a:xfrm>
            <a:off x="5778500" y="2667000"/>
            <a:ext cx="50800" cy="25400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12" name="Text 10"/>
          <p:cNvSpPr/>
          <p:nvPr/>
        </p:nvSpPr>
        <p:spPr>
          <a:xfrm>
            <a:off x="6083300" y="28575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spc="100" kern="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COGNITIVE LOAD THEORY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083300" y="3302000"/>
            <a:ext cx="40640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John Sweller (1998) demonstrated that working memory has limited capacity. Effective instruction manages three types of cognitive load: intrinsic, extraneous, and germane.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795000" y="2667000"/>
            <a:ext cx="4699000" cy="254000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15" name="Shape 13"/>
          <p:cNvSpPr/>
          <p:nvPr/>
        </p:nvSpPr>
        <p:spPr>
          <a:xfrm>
            <a:off x="10795000" y="2667000"/>
            <a:ext cx="50800" cy="25400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16" name="Text 14"/>
          <p:cNvSpPr/>
          <p:nvPr/>
        </p:nvSpPr>
        <p:spPr>
          <a:xfrm>
            <a:off x="11099800" y="28575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spc="100" kern="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CTML INTEGRATION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099800" y="3302000"/>
            <a:ext cx="40640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Mayer integrated these theories into CTML, asserting that deep learning requires learners to engage in five specific cognitive processes across dual channels.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5588000"/>
            <a:ext cx="14732000" cy="1270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19" name="Shape 17"/>
          <p:cNvSpPr/>
          <p:nvPr/>
        </p:nvSpPr>
        <p:spPr>
          <a:xfrm>
            <a:off x="1187450" y="5905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C45D3E"/>
          </a:solidFill>
          <a:ln/>
        </p:spPr>
      </p:sp>
      <p:sp>
        <p:nvSpPr>
          <p:cNvPr id="20" name="Text 18"/>
          <p:cNvSpPr/>
          <p:nvPr/>
        </p:nvSpPr>
        <p:spPr>
          <a:xfrm>
            <a:off x="1651000" y="5715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300" kern="0" dirty="0">
                <a:solidFill>
                  <a:srgbClr val="C45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51000" y="5994400"/>
            <a:ext cx="13462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learning occurs when learners engage in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five cognitive processes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selecting words, selecting images, organizing words, organizing images, and integrating representations with prior knowledge.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2000" y="7175500"/>
            <a:ext cx="14732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8D8D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Mayer, R. E. (2009). Multimedia Learning. Cambridge University Press; Paivio, A. (1986). Mental Representations. Oxford University Press.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62000" y="8636000"/>
            <a:ext cx="1524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24" name="Text 22"/>
          <p:cNvSpPr/>
          <p:nvPr/>
        </p:nvSpPr>
        <p:spPr>
          <a:xfrm>
            <a:off x="14986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D8D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0" y="3175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200" kern="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MULTIMEDIA PRINCIPLES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300" kern="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CORE ASSUMPTIONS OF CTML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24000"/>
            <a:ext cx="4699000" cy="431800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7145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4200" dirty="0">
                <a:solidFill>
                  <a:srgbClr val="C45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016000" y="24130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spc="100" kern="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DUAL CHANNEL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16000" y="2895600"/>
            <a:ext cx="41910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Humans possess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separate information processing channels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one for visual/pictorial material and one for auditory/verbal material.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On-screen text initially enters through the visual channel but is converted to sounds for verbal processing.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0" y="1524000"/>
            <a:ext cx="4699000" cy="431800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10" name="Text 8"/>
          <p:cNvSpPr/>
          <p:nvPr/>
        </p:nvSpPr>
        <p:spPr>
          <a:xfrm>
            <a:off x="6032500" y="17145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4200" dirty="0">
                <a:solidFill>
                  <a:srgbClr val="C45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032500" y="24130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spc="100" kern="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LIMITED CAPACITY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032500" y="2895600"/>
            <a:ext cx="41910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channel can only process a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limited amount of information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 one time. Presenting too much material can overload working memory.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Effective design "splits the load" across both channels strategically.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795000" y="1524000"/>
            <a:ext cx="4699000" cy="431800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14" name="Text 12"/>
          <p:cNvSpPr/>
          <p:nvPr/>
        </p:nvSpPr>
        <p:spPr>
          <a:xfrm>
            <a:off x="11049000" y="17145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4200" dirty="0">
                <a:solidFill>
                  <a:srgbClr val="C45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11049000" y="24130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spc="100" kern="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ACTIVE PROCESSING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049000" y="2895600"/>
            <a:ext cx="41910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Meaningful learning requires learners to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actively engage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attending to relevant information, organizing it, and integrating with prior knowledge.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Learning is not passive absorption but conscious cognitive effort.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6350000"/>
            <a:ext cx="14732000" cy="1143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6540500"/>
            <a:ext cx="1397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Implication for Designers: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Present words as narration (not on-screen text), place graphics near corresponding words, and eliminate extraneous material to prevent cognitive overload.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8636000"/>
            <a:ext cx="1524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20" name="Text 18"/>
          <p:cNvSpPr/>
          <p:nvPr/>
        </p:nvSpPr>
        <p:spPr>
          <a:xfrm>
            <a:off x="14986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D8D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0" y="3175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200" kern="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MULTIMEDIA PRINCIPLES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spc="300" kern="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FIVE COGNITIVE PROCESSES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60500"/>
            <a:ext cx="14732000" cy="558800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651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spc="200" kern="0" dirty="0">
                <a:solidFill>
                  <a:srgbClr val="C45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CHANNEL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016000" y="2159000"/>
            <a:ext cx="2540000" cy="762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1590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Selecting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Relevant Images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556000" y="2476500"/>
            <a:ext cx="508000" cy="0"/>
          </a:xfrm>
          <a:prstGeom prst="straightConnector1">
            <a:avLst/>
          </a:prstGeom>
          <a:noFill/>
          <a:ln w="25400">
            <a:solidFill>
              <a:srgbClr val="C45D3E"/>
            </a:solidFill>
            <a:prstDash val="solid"/>
            <a:headEnd type="none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4064000" y="2159000"/>
            <a:ext cx="2540000" cy="762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11" name="Text 9"/>
          <p:cNvSpPr/>
          <p:nvPr/>
        </p:nvSpPr>
        <p:spPr>
          <a:xfrm>
            <a:off x="4064000" y="21590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Organizing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Model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604000" y="2476500"/>
            <a:ext cx="508000" cy="0"/>
          </a:xfrm>
          <a:prstGeom prst="straightConnector1">
            <a:avLst/>
          </a:prstGeom>
          <a:noFill/>
          <a:ln w="25400">
            <a:solidFill>
              <a:srgbClr val="C45D3E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7112000" y="2159000"/>
            <a:ext cx="2540000" cy="7620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14" name="Text 12"/>
          <p:cNvSpPr/>
          <p:nvPr/>
        </p:nvSpPr>
        <p:spPr>
          <a:xfrm>
            <a:off x="7112000" y="21590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Integrating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 Prior Knowledge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33020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spc="200" kern="0" dirty="0">
                <a:solidFill>
                  <a:srgbClr val="C45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VERBAL CHANNEL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016000" y="3810000"/>
            <a:ext cx="2540000" cy="762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17" name="Text 15"/>
          <p:cNvSpPr/>
          <p:nvPr/>
        </p:nvSpPr>
        <p:spPr>
          <a:xfrm>
            <a:off x="1016000" y="38100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Selecting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Relevant Words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556000" y="4127500"/>
            <a:ext cx="508000" cy="0"/>
          </a:xfrm>
          <a:prstGeom prst="straightConnector1">
            <a:avLst/>
          </a:prstGeom>
          <a:noFill/>
          <a:ln w="25400">
            <a:solidFill>
              <a:srgbClr val="C45D3E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4064000" y="3810000"/>
            <a:ext cx="2540000" cy="762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20" name="Text 18"/>
          <p:cNvSpPr/>
          <p:nvPr/>
        </p:nvSpPr>
        <p:spPr>
          <a:xfrm>
            <a:off x="4064000" y="38100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Organizing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Verbal Model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604000" y="4127500"/>
            <a:ext cx="508000" cy="0"/>
          </a:xfrm>
          <a:prstGeom prst="straightConnector1">
            <a:avLst/>
          </a:prstGeom>
          <a:noFill/>
          <a:ln w="25400">
            <a:solidFill>
              <a:srgbClr val="C45D3E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7112000" y="3810000"/>
            <a:ext cx="2540000" cy="7620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23" name="Text 21"/>
          <p:cNvSpPr/>
          <p:nvPr/>
        </p:nvSpPr>
        <p:spPr>
          <a:xfrm>
            <a:off x="7112000" y="38100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Integrating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 Prior Knowledge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82000" y="2921000"/>
            <a:ext cx="0" cy="889000"/>
          </a:xfrm>
          <a:prstGeom prst="straightConnector1">
            <a:avLst/>
          </a:prstGeom>
          <a:noFill/>
          <a:ln w="25400">
            <a:solidFill>
              <a:srgbClr val="8D8D8D"/>
            </a:solidFill>
            <a:prstDash val="sysDot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10160000" y="2794000"/>
            <a:ext cx="482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Integration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the critical step where verbal and pictorial models connect to each other and to prior knowledge in long-term memory.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16000" y="5080000"/>
            <a:ext cx="14224000" cy="889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27" name="Text 25"/>
          <p:cNvSpPr/>
          <p:nvPr/>
        </p:nvSpPr>
        <p:spPr>
          <a:xfrm>
            <a:off x="1270000" y="5207000"/>
            <a:ext cx="1371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meaningful learning, corresponding verbal and pictorial material must be held in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working memory simultaneously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62000" y="8636000"/>
            <a:ext cx="1524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29" name="Text 27"/>
          <p:cNvSpPr/>
          <p:nvPr/>
        </p:nvSpPr>
        <p:spPr>
          <a:xfrm>
            <a:off x="14986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D8D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0" y="3175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200" kern="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MULTIMEDIA PRINCIPLES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300" kern="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STRATEGIES FOR EFFECTIVE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24000"/>
            <a:ext cx="4699000" cy="5080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7145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200" dirty="0">
                <a:solidFill>
                  <a:srgbClr val="C45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476500"/>
            <a:ext cx="419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 EXTRANEOUS PROCESSING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16000" y="3365500"/>
            <a:ext cx="508000" cy="254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3429000"/>
            <a:ext cx="419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Eliminate unnecessary cognitive load so learners can focus on essential material.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4826000"/>
            <a:ext cx="419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300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300" dirty="0">
                <a:solidFill>
                  <a:srgbClr val="F5F1EB">
                    <a:alpha val="56471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Coherence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300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300" dirty="0">
                <a:solidFill>
                  <a:srgbClr val="F5F1EB">
                    <a:alpha val="56471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Redundancy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300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300" dirty="0">
                <a:solidFill>
                  <a:srgbClr val="F5F1EB">
                    <a:alpha val="56471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Signaling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300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300" dirty="0">
                <a:solidFill>
                  <a:srgbClr val="F5F1EB">
                    <a:alpha val="56471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Spatial &amp; Temporal Contiguity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78500" y="1524000"/>
            <a:ext cx="4699000" cy="508000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12" name="Text 10"/>
          <p:cNvSpPr/>
          <p:nvPr/>
        </p:nvSpPr>
        <p:spPr>
          <a:xfrm>
            <a:off x="6032500" y="17145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200" dirty="0">
                <a:solidFill>
                  <a:srgbClr val="C45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32500" y="2476500"/>
            <a:ext cx="419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spc="100" kern="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MANAGE ESSENTIAL PROCESSING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32500" y="3365500"/>
            <a:ext cx="508000" cy="254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15" name="Text 13"/>
          <p:cNvSpPr/>
          <p:nvPr/>
        </p:nvSpPr>
        <p:spPr>
          <a:xfrm>
            <a:off x="6032500" y="3429000"/>
            <a:ext cx="419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Help learners process complex material without overwhelming working memory capacity.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32500" y="4826000"/>
            <a:ext cx="419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300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300" dirty="0">
                <a:solidFill>
                  <a:srgbClr val="8D8D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Segmenting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300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300" dirty="0">
                <a:solidFill>
                  <a:srgbClr val="8D8D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Pre-training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300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300" dirty="0">
                <a:solidFill>
                  <a:srgbClr val="8D8D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Modality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795000" y="1524000"/>
            <a:ext cx="4699000" cy="508000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18" name="Text 16"/>
          <p:cNvSpPr/>
          <p:nvPr/>
        </p:nvSpPr>
        <p:spPr>
          <a:xfrm>
            <a:off x="11049000" y="17145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200" dirty="0">
                <a:solidFill>
                  <a:srgbClr val="C45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049000" y="2476500"/>
            <a:ext cx="419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spc="100" kern="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FOSTER GENERATIVE PROCESSING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049000" y="3365500"/>
            <a:ext cx="508000" cy="254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21" name="Text 19"/>
          <p:cNvSpPr/>
          <p:nvPr/>
        </p:nvSpPr>
        <p:spPr>
          <a:xfrm>
            <a:off x="11049000" y="3429000"/>
            <a:ext cx="419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Encourage learners to actively make sense of the material through social cues and motivation.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049000" y="4826000"/>
            <a:ext cx="419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300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300" dirty="0">
                <a:solidFill>
                  <a:srgbClr val="8D8D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Personalization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300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300" dirty="0">
                <a:solidFill>
                  <a:srgbClr val="8D8D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Voice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300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300" dirty="0">
                <a:solidFill>
                  <a:srgbClr val="8D8D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Embodiment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300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300" dirty="0">
                <a:solidFill>
                  <a:srgbClr val="8D8D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Image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2000" y="69215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D8D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Each principle is empirically validated through extensive research by Mayer and colleagues. Source: Mayer, R. E. (2009).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62000" y="8636000"/>
            <a:ext cx="1524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25" name="Text 23"/>
          <p:cNvSpPr/>
          <p:nvPr/>
        </p:nvSpPr>
        <p:spPr>
          <a:xfrm>
            <a:off x="14986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D8D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0" y="3175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200" kern="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MULTIMEDIA PRINCIPLES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635000"/>
            <a:ext cx="3810000" cy="3302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635000"/>
            <a:ext cx="406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 EXTRANEOUS PROCESSING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1143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300" kern="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COHERENCE PRINCIPLE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714500"/>
            <a:ext cx="635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2032000"/>
            <a:ext cx="14732000" cy="101600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2032000"/>
            <a:ext cx="50800" cy="10160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9" name="Text 7"/>
          <p:cNvSpPr/>
          <p:nvPr/>
        </p:nvSpPr>
        <p:spPr>
          <a:xfrm>
            <a:off x="1066800" y="2159000"/>
            <a:ext cx="1409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"People learn more deeply from a multimedia message when extraneous material is excluded rather than included." — Mayer (2009)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62000" y="3429000"/>
            <a:ext cx="6858000" cy="302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Coherence Principle states that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eliminating distracting and unnecessary material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results in better learning outcomes.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 includes: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C45D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Humorous but irrelevant graphics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C45D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Unrelated animations or sound effects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C45D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Decorative elements that don't support learning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28000" y="3429000"/>
            <a:ext cx="7366000" cy="2540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12" name="Text 10"/>
          <p:cNvSpPr/>
          <p:nvPr/>
        </p:nvSpPr>
        <p:spPr>
          <a:xfrm>
            <a:off x="8509000" y="3619500"/>
            <a:ext cx="660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C45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BEFORE vs AFTER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09000" y="4064000"/>
            <a:ext cx="304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F5F1EB">
                    <a:alpha val="5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CLUTTERED SLIDE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509000" y="4419600"/>
            <a:ext cx="3048000" cy="1270000"/>
          </a:xfrm>
          <a:prstGeom prst="rect">
            <a:avLst/>
          </a:prstGeom>
          <a:solidFill>
            <a:srgbClr val="3D4154"/>
          </a:solidFill>
          <a:ln/>
        </p:spPr>
      </p:sp>
      <p:sp>
        <p:nvSpPr>
          <p:cNvPr id="15" name="Text 13"/>
          <p:cNvSpPr/>
          <p:nvPr/>
        </p:nvSpPr>
        <p:spPr>
          <a:xfrm>
            <a:off x="8636000" y="4508500"/>
            <a:ext cx="27940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100" dirty="0">
                <a:solidFill>
                  <a:srgbClr val="F5F1EB">
                    <a:alpha val="56471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[Text] + [Diagram] + [Clip art] + [Background music] + [Decorative border] + [Fun fact box]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938000" y="4064000"/>
            <a:ext cx="304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45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CLEAN SLIDE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938000" y="4419600"/>
            <a:ext cx="3048000" cy="1270000"/>
          </a:xfrm>
          <a:prstGeom prst="rect">
            <a:avLst/>
          </a:prstGeom>
          <a:solidFill>
            <a:srgbClr val="3D4154"/>
          </a:solidFill>
          <a:ln/>
        </p:spPr>
      </p:sp>
      <p:sp>
        <p:nvSpPr>
          <p:cNvPr id="18" name="Text 16"/>
          <p:cNvSpPr/>
          <p:nvPr/>
        </p:nvSpPr>
        <p:spPr>
          <a:xfrm>
            <a:off x="12065000" y="4508500"/>
            <a:ext cx="27940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1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[Text] + [Diagram]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100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1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Only essential elements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100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70000"/>
              </a:lnSpc>
            </a:pPr>
            <a:r>
              <a:rPr lang="en-US" sz="11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Clear learning focus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6350000"/>
            <a:ext cx="14732000" cy="101600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20" name="Shape 18"/>
          <p:cNvSpPr/>
          <p:nvPr/>
        </p:nvSpPr>
        <p:spPr>
          <a:xfrm>
            <a:off x="762000" y="6350000"/>
            <a:ext cx="50800" cy="10160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21" name="Shape 19"/>
          <p:cNvSpPr/>
          <p:nvPr/>
        </p:nvSpPr>
        <p:spPr>
          <a:xfrm>
            <a:off x="1047750" y="66040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303252" y="58698"/>
                </a:moveTo>
                <a:cubicBezTo>
                  <a:pt x="307777" y="54173"/>
                  <a:pt x="315337" y="55305"/>
                  <a:pt x="317599" y="61258"/>
                </a:cubicBezTo>
                <a:cubicBezTo>
                  <a:pt x="321647" y="71795"/>
                  <a:pt x="323850" y="83284"/>
                  <a:pt x="323850" y="95250"/>
                </a:cubicBezTo>
                <a:cubicBezTo>
                  <a:pt x="323850" y="147876"/>
                  <a:pt x="281226" y="190500"/>
                  <a:pt x="228600" y="190500"/>
                </a:cubicBezTo>
                <a:cubicBezTo>
                  <a:pt x="218182" y="190500"/>
                  <a:pt x="208121" y="188833"/>
                  <a:pt x="198715" y="185738"/>
                </a:cubicBezTo>
                <a:lnTo>
                  <a:pt x="87451" y="297001"/>
                </a:lnTo>
                <a:cubicBezTo>
                  <a:pt x="70723" y="313730"/>
                  <a:pt x="43577" y="313730"/>
                  <a:pt x="26849" y="297001"/>
                </a:cubicBezTo>
                <a:cubicBezTo>
                  <a:pt x="10120" y="280273"/>
                  <a:pt x="10120" y="253127"/>
                  <a:pt x="26849" y="236399"/>
                </a:cubicBezTo>
                <a:lnTo>
                  <a:pt x="138113" y="125135"/>
                </a:lnTo>
                <a:cubicBezTo>
                  <a:pt x="135017" y="115729"/>
                  <a:pt x="133350" y="105728"/>
                  <a:pt x="133350" y="95250"/>
                </a:cubicBezTo>
                <a:cubicBezTo>
                  <a:pt x="133350" y="42624"/>
                  <a:pt x="175974" y="0"/>
                  <a:pt x="228600" y="0"/>
                </a:cubicBezTo>
                <a:cubicBezTo>
                  <a:pt x="240566" y="0"/>
                  <a:pt x="252055" y="2203"/>
                  <a:pt x="262592" y="6251"/>
                </a:cubicBezTo>
                <a:cubicBezTo>
                  <a:pt x="268545" y="8513"/>
                  <a:pt x="269617" y="16073"/>
                  <a:pt x="265152" y="20598"/>
                </a:cubicBezTo>
                <a:lnTo>
                  <a:pt x="212348" y="73402"/>
                </a:lnTo>
                <a:cubicBezTo>
                  <a:pt x="210562" y="75188"/>
                  <a:pt x="209550" y="77629"/>
                  <a:pt x="209550" y="80129"/>
                </a:cubicBezTo>
                <a:lnTo>
                  <a:pt x="209550" y="104775"/>
                </a:lnTo>
                <a:cubicBezTo>
                  <a:pt x="209550" y="110014"/>
                  <a:pt x="213836" y="114300"/>
                  <a:pt x="219075" y="114300"/>
                </a:cubicBezTo>
                <a:lnTo>
                  <a:pt x="243721" y="114300"/>
                </a:lnTo>
                <a:cubicBezTo>
                  <a:pt x="246221" y="114300"/>
                  <a:pt x="248662" y="113288"/>
                  <a:pt x="250448" y="111502"/>
                </a:cubicBezTo>
                <a:lnTo>
                  <a:pt x="303252" y="58698"/>
                </a:lnTo>
                <a:close/>
              </a:path>
            </a:pathLst>
          </a:custGeom>
          <a:solidFill>
            <a:srgbClr val="C45D3E"/>
          </a:solidFill>
          <a:ln/>
        </p:spPr>
      </p:sp>
      <p:sp>
        <p:nvSpPr>
          <p:cNvPr id="22" name="Text 20"/>
          <p:cNvSpPr/>
          <p:nvPr/>
        </p:nvSpPr>
        <p:spPr>
          <a:xfrm>
            <a:off x="1498600" y="6413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300" kern="0" dirty="0">
                <a:solidFill>
                  <a:srgbClr val="C45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98600" y="6731000"/>
            <a:ext cx="13716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Review every element on your slide — if it doesn't directly contribute to the learning objective,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remove it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8636000"/>
            <a:ext cx="1524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25" name="Text 23"/>
          <p:cNvSpPr/>
          <p:nvPr/>
        </p:nvSpPr>
        <p:spPr>
          <a:xfrm>
            <a:off x="14986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D8D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0" y="3175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200" kern="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MULTIMEDIA PRINCIPLES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635000"/>
            <a:ext cx="4064000" cy="3302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635000"/>
            <a:ext cx="355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 EXTRANEOUS PROCESSING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1143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300" kern="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REDUNDANCY &amp; SIGNALING PRINCIPLES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714500"/>
            <a:ext cx="635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2032000"/>
            <a:ext cx="7112000" cy="317500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2032000"/>
            <a:ext cx="50800" cy="31750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9" name="Text 7"/>
          <p:cNvSpPr/>
          <p:nvPr/>
        </p:nvSpPr>
        <p:spPr>
          <a:xfrm>
            <a:off x="1066800" y="2222500"/>
            <a:ext cx="647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spc="100" kern="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REDUNDANCY PRINCIPLE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66800" y="2692400"/>
            <a:ext cx="6477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"People learn more deeply from graphics and narration than from graphics, narration, and on-screen text."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66800" y="3492500"/>
            <a:ext cx="6477000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Avoid presenting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identical information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multiple formats simultaneously — it splits attention and overloads the verbal channel.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Learners focus on printed words rather than relevant portions of graphics.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382000" y="2032000"/>
            <a:ext cx="7112000" cy="317500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13" name="Shape 11"/>
          <p:cNvSpPr/>
          <p:nvPr/>
        </p:nvSpPr>
        <p:spPr>
          <a:xfrm>
            <a:off x="8382000" y="2032000"/>
            <a:ext cx="50800" cy="31750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0" y="2222500"/>
            <a:ext cx="647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spc="100" kern="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SIGNALING PRINCIPLE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686800" y="2692400"/>
            <a:ext cx="647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"People learn more deeply when cues highlight the organization of essential material."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686800" y="3492500"/>
            <a:ext cx="6477000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cues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guide attention: headings, highlights, outlines, arrows, and color emphasis.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Signaling reduces the cognitive effort needed to figure out what to pay attention to.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5588000"/>
            <a:ext cx="14732000" cy="1651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5778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300" kern="0" dirty="0">
                <a:solidFill>
                  <a:srgbClr val="C45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PRACTICAL APPLICATIONS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6159500"/>
            <a:ext cx="685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Redundancy: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Don't add captions to narrated graphics. Use narration + visuals, not narration + visuals + identical text.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82000" y="6159500"/>
            <a:ext cx="685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Signaling: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color highlighting, bold text, arrows, and structured headings to signal importance and organization.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8636000"/>
            <a:ext cx="1524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22" name="Text 20"/>
          <p:cNvSpPr/>
          <p:nvPr/>
        </p:nvSpPr>
        <p:spPr>
          <a:xfrm>
            <a:off x="14986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D8D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0" y="3175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200" kern="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MULTIMEDIA PRINCIPLES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635000"/>
            <a:ext cx="4064000" cy="3302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635000"/>
            <a:ext cx="355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 EXTRANEOUS PROCESSING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1143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spc="300" kern="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SPATIAL &amp; TEMPORAL CONTIGUITY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714500"/>
            <a:ext cx="635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2032000"/>
            <a:ext cx="7112000" cy="355600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2225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C45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905000" y="2260600"/>
            <a:ext cx="558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spc="100" kern="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SPATIAL CONTIGUITY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16000" y="2794000"/>
            <a:ext cx="6604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"People learn more deeply when corresponding words and graphics are presented near rather than far from each other."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16000" y="3556000"/>
            <a:ext cx="6604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Place labels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adjacent to diagram elements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not in a separate legend. Integrate captions into graphics rather than placing them below or on another page.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reduces the cognitive effort needed to connect related information.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382000" y="2032000"/>
            <a:ext cx="7112000" cy="355600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13" name="Text 11"/>
          <p:cNvSpPr/>
          <p:nvPr/>
        </p:nvSpPr>
        <p:spPr>
          <a:xfrm>
            <a:off x="8636000" y="22225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C45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525000" y="2260600"/>
            <a:ext cx="558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spc="100" kern="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TEMPORAL CONTIGUITY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636000" y="2794000"/>
            <a:ext cx="6604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"People learn more deeply when corresponding spoken words and graphics are presented simultaneously."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636000" y="3556000"/>
            <a:ext cx="6604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Sync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narration with on-screen visuals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Presenting words and graphics separately forces learners to hold one in memory while processing the other.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Simultaneous presentation allows both channels to work in parallel.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5969000"/>
            <a:ext cx="14732000" cy="1397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6096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300" kern="0" dirty="0">
                <a:solidFill>
                  <a:srgbClr val="C45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COMPARISON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6413500"/>
            <a:ext cx="13970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Spatial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words and graphics are close together in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space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(on the same slide, adjacent).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Temporal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words and graphics are close together in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(presented simultaneously, not sequentially).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8636000"/>
            <a:ext cx="1524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21" name="Text 19"/>
          <p:cNvSpPr/>
          <p:nvPr/>
        </p:nvSpPr>
        <p:spPr>
          <a:xfrm>
            <a:off x="14986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D8D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0" y="3175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200" kern="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MULTIMEDIA PRINCIPLES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635000"/>
            <a:ext cx="3810000" cy="3302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635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MANAGE ESSENTIAL PROCESSING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1143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300" kern="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SEGMENTING &amp; PRE-TRAINING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714500"/>
            <a:ext cx="635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2032000"/>
            <a:ext cx="7112000" cy="368300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2032000"/>
            <a:ext cx="7112000" cy="508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22860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spc="100" kern="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SEGMENTING PRINCIPLE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16000" y="2768600"/>
            <a:ext cx="6604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"People learn more deeply when a multimedia message is presented in learner-paced segments rather than as a continuous unit."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16000" y="3556000"/>
            <a:ext cx="6604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Break content into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manageable chunks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learners can process at their own pace. Each segment should represent one complete concept or step.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Divide long videos into chapters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"next" buttons for self-pacing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382000" y="2032000"/>
            <a:ext cx="7112000" cy="368300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13" name="Shape 11"/>
          <p:cNvSpPr/>
          <p:nvPr/>
        </p:nvSpPr>
        <p:spPr>
          <a:xfrm>
            <a:off x="8382000" y="2032000"/>
            <a:ext cx="7112000" cy="508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14" name="Text 12"/>
          <p:cNvSpPr/>
          <p:nvPr/>
        </p:nvSpPr>
        <p:spPr>
          <a:xfrm>
            <a:off x="8636000" y="22860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spc="100" kern="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PRE-TRAINING PRINCIPLE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636000" y="2768600"/>
            <a:ext cx="6604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"People learn more deeply when they know the names and characteristics of key concepts beforehand."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636000" y="3556000"/>
            <a:ext cx="6604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terminology and concepts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before the main lesson. This frees cognitive capacity for understanding relationships rather than memorizing definitions.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Provide glossaries or concept previews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Teach tool basics before complex tasks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6096000"/>
            <a:ext cx="14732000" cy="1270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6223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300" kern="0" dirty="0">
                <a:solidFill>
                  <a:srgbClr val="C45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 FLOW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43000" y="6604000"/>
            <a:ext cx="2794000" cy="5715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6604000"/>
            <a:ext cx="279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Pre-Training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 Key Concepts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937000" y="6858000"/>
            <a:ext cx="635000" cy="0"/>
          </a:xfrm>
          <a:prstGeom prst="straightConnector1">
            <a:avLst/>
          </a:prstGeom>
          <a:noFill/>
          <a:ln w="25400">
            <a:solidFill>
              <a:srgbClr val="C45D3E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4572000" y="6604000"/>
            <a:ext cx="2794000" cy="571500"/>
          </a:xfrm>
          <a:prstGeom prst="rect">
            <a:avLst/>
          </a:prstGeom>
          <a:solidFill>
            <a:srgbClr val="3D415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0" y="6604000"/>
            <a:ext cx="279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Segment 1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 First Chunk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366000" y="6858000"/>
            <a:ext cx="635000" cy="0"/>
          </a:xfrm>
          <a:prstGeom prst="straightConnector1">
            <a:avLst/>
          </a:prstGeom>
          <a:noFill/>
          <a:ln w="25400">
            <a:solidFill>
              <a:srgbClr val="C45D3E"/>
            </a:solidFill>
            <a:prstDash val="solid"/>
            <a:headEnd type="none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8001000" y="6604000"/>
            <a:ext cx="2794000" cy="571500"/>
          </a:xfrm>
          <a:prstGeom prst="rect">
            <a:avLst/>
          </a:prstGeom>
          <a:solidFill>
            <a:srgbClr val="3D4154"/>
          </a:solidFill>
          <a:ln/>
        </p:spPr>
      </p:sp>
      <p:sp>
        <p:nvSpPr>
          <p:cNvPr id="26" name="Text 24"/>
          <p:cNvSpPr/>
          <p:nvPr/>
        </p:nvSpPr>
        <p:spPr>
          <a:xfrm>
            <a:off x="8001000" y="6604000"/>
            <a:ext cx="279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Segment 2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 Next Chunk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795000" y="6858000"/>
            <a:ext cx="635000" cy="0"/>
          </a:xfrm>
          <a:prstGeom prst="straightConnector1">
            <a:avLst/>
          </a:prstGeom>
          <a:noFill/>
          <a:ln w="25400">
            <a:solidFill>
              <a:srgbClr val="C45D3E"/>
            </a:solidFill>
            <a:prstDash val="solid"/>
            <a:headEnd type="none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11430000" y="6604000"/>
            <a:ext cx="2794000" cy="5715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29" name="Text 27"/>
          <p:cNvSpPr/>
          <p:nvPr/>
        </p:nvSpPr>
        <p:spPr>
          <a:xfrm>
            <a:off x="11430000" y="6604000"/>
            <a:ext cx="279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Integration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 All Concepts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2000" y="8636000"/>
            <a:ext cx="1524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31" name="Text 29"/>
          <p:cNvSpPr/>
          <p:nvPr/>
        </p:nvSpPr>
        <p:spPr>
          <a:xfrm>
            <a:off x="14986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D8D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0" y="3175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200" kern="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MULTIMEDIA PRINCIPLES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635000"/>
            <a:ext cx="3810000" cy="3302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635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MANAGE ESSENTIAL PROCESSING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1143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300" kern="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MODALITY PRINCIPLE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714500"/>
            <a:ext cx="635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2032000"/>
            <a:ext cx="14732000" cy="88900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2032000"/>
            <a:ext cx="50800" cy="8890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9" name="Text 7"/>
          <p:cNvSpPr/>
          <p:nvPr/>
        </p:nvSpPr>
        <p:spPr>
          <a:xfrm>
            <a:off x="1066800" y="2133600"/>
            <a:ext cx="1409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"People learn more deeply from a multimedia message when words are spoken rather than printed." — Mayer (2009)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62000" y="3302000"/>
            <a:ext cx="7112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Spreading information across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visual and auditory channels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more efficient than overloading a single channel.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visual channel processes graphics while the auditory channel processes narration — an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C45D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optimal division of labor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382000" y="3175000"/>
            <a:ext cx="7112000" cy="2159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12" name="Shape 10"/>
          <p:cNvSpPr/>
          <p:nvPr/>
        </p:nvSpPr>
        <p:spPr>
          <a:xfrm>
            <a:off x="8994775" y="3492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00025" y="22225"/>
                </a:moveTo>
                <a:cubicBezTo>
                  <a:pt x="143907" y="22225"/>
                  <a:pt x="98971" y="47784"/>
                  <a:pt x="66258" y="78204"/>
                </a:cubicBezTo>
                <a:cubicBezTo>
                  <a:pt x="33754" y="108416"/>
                  <a:pt x="12015" y="144463"/>
                  <a:pt x="1667" y="169257"/>
                </a:cubicBezTo>
                <a:cubicBezTo>
                  <a:pt x="-625" y="174744"/>
                  <a:pt x="-625" y="180856"/>
                  <a:pt x="1667" y="186343"/>
                </a:cubicBezTo>
                <a:cubicBezTo>
                  <a:pt x="12015" y="211138"/>
                  <a:pt x="33754" y="247253"/>
                  <a:pt x="66258" y="277396"/>
                </a:cubicBezTo>
                <a:cubicBezTo>
                  <a:pt x="98971" y="307747"/>
                  <a:pt x="143907" y="333375"/>
                  <a:pt x="200025" y="333375"/>
                </a:cubicBezTo>
                <a:cubicBezTo>
                  <a:pt x="256143" y="333375"/>
                  <a:pt x="301079" y="307816"/>
                  <a:pt x="333792" y="277396"/>
                </a:cubicBezTo>
                <a:cubicBezTo>
                  <a:pt x="366296" y="247184"/>
                  <a:pt x="388035" y="211138"/>
                  <a:pt x="398383" y="186343"/>
                </a:cubicBezTo>
                <a:cubicBezTo>
                  <a:pt x="400675" y="180856"/>
                  <a:pt x="400675" y="174744"/>
                  <a:pt x="398383" y="169257"/>
                </a:cubicBezTo>
                <a:cubicBezTo>
                  <a:pt x="388035" y="144462"/>
                  <a:pt x="366296" y="108347"/>
                  <a:pt x="333792" y="78204"/>
                </a:cubicBezTo>
                <a:cubicBezTo>
                  <a:pt x="301079" y="47853"/>
                  <a:pt x="256143" y="22225"/>
                  <a:pt x="200025" y="22225"/>
                </a:cubicBezTo>
                <a:close/>
                <a:moveTo>
                  <a:pt x="100013" y="177800"/>
                </a:moveTo>
                <a:cubicBezTo>
                  <a:pt x="100013" y="122602"/>
                  <a:pt x="144827" y="77788"/>
                  <a:pt x="200025" y="77788"/>
                </a:cubicBezTo>
                <a:cubicBezTo>
                  <a:pt x="255223" y="77788"/>
                  <a:pt x="300038" y="122602"/>
                  <a:pt x="300038" y="177800"/>
                </a:cubicBezTo>
                <a:cubicBezTo>
                  <a:pt x="300038" y="232998"/>
                  <a:pt x="255223" y="277813"/>
                  <a:pt x="200025" y="277813"/>
                </a:cubicBezTo>
                <a:cubicBezTo>
                  <a:pt x="144827" y="277813"/>
                  <a:pt x="100013" y="232998"/>
                  <a:pt x="100013" y="177800"/>
                </a:cubicBezTo>
                <a:close/>
                <a:moveTo>
                  <a:pt x="200025" y="133350"/>
                </a:moveTo>
                <a:cubicBezTo>
                  <a:pt x="200025" y="157867"/>
                  <a:pt x="180092" y="177800"/>
                  <a:pt x="155575" y="177800"/>
                </a:cubicBezTo>
                <a:cubicBezTo>
                  <a:pt x="147588" y="177800"/>
                  <a:pt x="140087" y="175716"/>
                  <a:pt x="133558" y="171966"/>
                </a:cubicBezTo>
                <a:cubicBezTo>
                  <a:pt x="132864" y="179536"/>
                  <a:pt x="133489" y="187315"/>
                  <a:pt x="135573" y="195024"/>
                </a:cubicBezTo>
                <a:cubicBezTo>
                  <a:pt x="145088" y="230584"/>
                  <a:pt x="181689" y="251698"/>
                  <a:pt x="217249" y="242183"/>
                </a:cubicBezTo>
                <a:cubicBezTo>
                  <a:pt x="252809" y="232668"/>
                  <a:pt x="273923" y="196066"/>
                  <a:pt x="264408" y="160506"/>
                </a:cubicBezTo>
                <a:cubicBezTo>
                  <a:pt x="255935" y="128766"/>
                  <a:pt x="225862" y="108555"/>
                  <a:pt x="194191" y="111333"/>
                </a:cubicBezTo>
                <a:cubicBezTo>
                  <a:pt x="197872" y="117793"/>
                  <a:pt x="200025" y="125293"/>
                  <a:pt x="200025" y="133350"/>
                </a:cubicBezTo>
                <a:close/>
              </a:path>
            </a:pathLst>
          </a:custGeom>
          <a:solidFill>
            <a:srgbClr val="C45D3E"/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0" y="3454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200" kern="0" dirty="0">
                <a:solidFill>
                  <a:srgbClr val="C45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CHANNEL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525000" y="3810000"/>
            <a:ext cx="558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5F1EB">
                    <a:alpha val="6902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Processes diagrams, images, animations, charts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039225" y="4381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44450" y="155575"/>
                </a:moveTo>
                <a:cubicBezTo>
                  <a:pt x="44450" y="94178"/>
                  <a:pt x="94178" y="44450"/>
                  <a:pt x="155575" y="44450"/>
                </a:cubicBezTo>
                <a:cubicBezTo>
                  <a:pt x="216972" y="44450"/>
                  <a:pt x="266700" y="94178"/>
                  <a:pt x="266700" y="155575"/>
                </a:cubicBezTo>
                <a:lnTo>
                  <a:pt x="266700" y="181620"/>
                </a:lnTo>
                <a:cubicBezTo>
                  <a:pt x="259755" y="179189"/>
                  <a:pt x="252254" y="177800"/>
                  <a:pt x="244475" y="177800"/>
                </a:cubicBezTo>
                <a:lnTo>
                  <a:pt x="233363" y="177800"/>
                </a:lnTo>
                <a:cubicBezTo>
                  <a:pt x="214957" y="177800"/>
                  <a:pt x="200025" y="192732"/>
                  <a:pt x="200025" y="211138"/>
                </a:cubicBezTo>
                <a:lnTo>
                  <a:pt x="200025" y="300038"/>
                </a:lnTo>
                <a:cubicBezTo>
                  <a:pt x="200025" y="318443"/>
                  <a:pt x="214957" y="333375"/>
                  <a:pt x="233363" y="333375"/>
                </a:cubicBezTo>
                <a:lnTo>
                  <a:pt x="244475" y="333375"/>
                </a:lnTo>
                <a:cubicBezTo>
                  <a:pt x="281285" y="333375"/>
                  <a:pt x="311150" y="303510"/>
                  <a:pt x="311150" y="266700"/>
                </a:cubicBezTo>
                <a:lnTo>
                  <a:pt x="311150" y="155575"/>
                </a:lnTo>
                <a:cubicBezTo>
                  <a:pt x="311150" y="69661"/>
                  <a:pt x="241489" y="0"/>
                  <a:pt x="155575" y="0"/>
                </a:cubicBezTo>
                <a:cubicBezTo>
                  <a:pt x="69661" y="0"/>
                  <a:pt x="0" y="69661"/>
                  <a:pt x="0" y="155575"/>
                </a:cubicBezTo>
                <a:lnTo>
                  <a:pt x="0" y="266700"/>
                </a:lnTo>
                <a:cubicBezTo>
                  <a:pt x="0" y="303510"/>
                  <a:pt x="29865" y="333375"/>
                  <a:pt x="66675" y="333375"/>
                </a:cubicBezTo>
                <a:lnTo>
                  <a:pt x="77788" y="333375"/>
                </a:lnTo>
                <a:cubicBezTo>
                  <a:pt x="96193" y="333375"/>
                  <a:pt x="111125" y="318443"/>
                  <a:pt x="111125" y="300038"/>
                </a:cubicBezTo>
                <a:lnTo>
                  <a:pt x="111125" y="211138"/>
                </a:lnTo>
                <a:cubicBezTo>
                  <a:pt x="111125" y="192732"/>
                  <a:pt x="96193" y="177800"/>
                  <a:pt x="77788" y="177800"/>
                </a:cubicBezTo>
                <a:lnTo>
                  <a:pt x="66675" y="177800"/>
                </a:lnTo>
                <a:cubicBezTo>
                  <a:pt x="58896" y="177800"/>
                  <a:pt x="51395" y="179120"/>
                  <a:pt x="44450" y="181620"/>
                </a:cubicBezTo>
                <a:lnTo>
                  <a:pt x="44450" y="155575"/>
                </a:lnTo>
                <a:close/>
              </a:path>
            </a:pathLst>
          </a:custGeom>
          <a:solidFill>
            <a:srgbClr val="C45D3E"/>
          </a:solidFill>
          <a:ln/>
        </p:spPr>
      </p:sp>
      <p:sp>
        <p:nvSpPr>
          <p:cNvPr id="16" name="Text 14"/>
          <p:cNvSpPr/>
          <p:nvPr/>
        </p:nvSpPr>
        <p:spPr>
          <a:xfrm>
            <a:off x="9525000" y="4343400"/>
            <a:ext cx="279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200" kern="0" dirty="0">
                <a:solidFill>
                  <a:srgbClr val="C45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AUDITORY CHANNEL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525000" y="4699000"/>
            <a:ext cx="558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5F1EB">
                    <a:alpha val="6902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Processes narration, spoken explanations, dialogue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5715000"/>
            <a:ext cx="14732000" cy="165100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19" name="Shape 17"/>
          <p:cNvSpPr/>
          <p:nvPr/>
        </p:nvSpPr>
        <p:spPr>
          <a:xfrm>
            <a:off x="762000" y="5715000"/>
            <a:ext cx="50800" cy="1651000"/>
          </a:xfrm>
          <a:prstGeom prst="rect">
            <a:avLst/>
          </a:prstGeom>
          <a:solidFill>
            <a:srgbClr val="8D8D8D"/>
          </a:solidFill>
          <a:ln/>
        </p:spPr>
      </p:sp>
      <p:sp>
        <p:nvSpPr>
          <p:cNvPr id="20" name="Shape 18"/>
          <p:cNvSpPr/>
          <p:nvPr/>
        </p:nvSpPr>
        <p:spPr>
          <a:xfrm>
            <a:off x="1066800" y="5905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279400"/>
                </a:moveTo>
                <a:cubicBezTo>
                  <a:pt x="216803" y="279400"/>
                  <a:pt x="279400" y="216803"/>
                  <a:pt x="279400" y="139700"/>
                </a:cubicBezTo>
                <a:cubicBezTo>
                  <a:pt x="279400" y="62597"/>
                  <a:pt x="216803" y="0"/>
                  <a:pt x="139700" y="0"/>
                </a:cubicBezTo>
                <a:cubicBezTo>
                  <a:pt x="62597" y="0"/>
                  <a:pt x="0" y="62597"/>
                  <a:pt x="0" y="139700"/>
                </a:cubicBezTo>
                <a:cubicBezTo>
                  <a:pt x="0" y="216803"/>
                  <a:pt x="62597" y="279400"/>
                  <a:pt x="139700" y="279400"/>
                </a:cubicBezTo>
                <a:close/>
                <a:moveTo>
                  <a:pt x="122238" y="87313"/>
                </a:moveTo>
                <a:cubicBezTo>
                  <a:pt x="122238" y="77675"/>
                  <a:pt x="130062" y="69850"/>
                  <a:pt x="139700" y="69850"/>
                </a:cubicBezTo>
                <a:cubicBezTo>
                  <a:pt x="149338" y="69850"/>
                  <a:pt x="157163" y="77675"/>
                  <a:pt x="157163" y="87313"/>
                </a:cubicBezTo>
                <a:cubicBezTo>
                  <a:pt x="157163" y="96950"/>
                  <a:pt x="149338" y="104775"/>
                  <a:pt x="139700" y="104775"/>
                </a:cubicBezTo>
                <a:cubicBezTo>
                  <a:pt x="130062" y="104775"/>
                  <a:pt x="122238" y="96950"/>
                  <a:pt x="122238" y="87313"/>
                </a:cubicBezTo>
                <a:close/>
                <a:moveTo>
                  <a:pt x="117872" y="122238"/>
                </a:moveTo>
                <a:lnTo>
                  <a:pt x="144066" y="122238"/>
                </a:lnTo>
                <a:cubicBezTo>
                  <a:pt x="151323" y="122238"/>
                  <a:pt x="157163" y="128077"/>
                  <a:pt x="157163" y="135334"/>
                </a:cubicBezTo>
                <a:lnTo>
                  <a:pt x="157163" y="183356"/>
                </a:lnTo>
                <a:lnTo>
                  <a:pt x="161528" y="183356"/>
                </a:lnTo>
                <a:cubicBezTo>
                  <a:pt x="168786" y="183356"/>
                  <a:pt x="174625" y="189195"/>
                  <a:pt x="174625" y="196453"/>
                </a:cubicBezTo>
                <a:cubicBezTo>
                  <a:pt x="174625" y="203711"/>
                  <a:pt x="168786" y="209550"/>
                  <a:pt x="161528" y="209550"/>
                </a:cubicBezTo>
                <a:lnTo>
                  <a:pt x="117872" y="209550"/>
                </a:lnTo>
                <a:cubicBezTo>
                  <a:pt x="110614" y="209550"/>
                  <a:pt x="104775" y="203711"/>
                  <a:pt x="104775" y="196453"/>
                </a:cubicBezTo>
                <a:cubicBezTo>
                  <a:pt x="104775" y="189195"/>
                  <a:pt x="110614" y="183356"/>
                  <a:pt x="117872" y="183356"/>
                </a:cubicBezTo>
                <a:lnTo>
                  <a:pt x="130969" y="183356"/>
                </a:lnTo>
                <a:lnTo>
                  <a:pt x="130969" y="148431"/>
                </a:lnTo>
                <a:lnTo>
                  <a:pt x="117872" y="148431"/>
                </a:lnTo>
                <a:cubicBezTo>
                  <a:pt x="110614" y="148431"/>
                  <a:pt x="104775" y="142592"/>
                  <a:pt x="104775" y="135334"/>
                </a:cubicBezTo>
                <a:cubicBezTo>
                  <a:pt x="104775" y="128077"/>
                  <a:pt x="110614" y="122238"/>
                  <a:pt x="117872" y="122238"/>
                </a:cubicBezTo>
                <a:close/>
              </a:path>
            </a:pathLst>
          </a:custGeom>
          <a:solidFill>
            <a:srgbClr val="8D8D8D"/>
          </a:solidFill>
          <a:ln/>
        </p:spPr>
      </p:sp>
      <p:sp>
        <p:nvSpPr>
          <p:cNvPr id="21" name="Text 19"/>
          <p:cNvSpPr/>
          <p:nvPr/>
        </p:nvSpPr>
        <p:spPr>
          <a:xfrm>
            <a:off x="1447800" y="58801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300" kern="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IMPORTANT EXCEPTIONS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66800" y="6286500"/>
            <a:ext cx="1409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On-screen text IS appropriate when: summarizing key steps, providing directions, listing references, or when learners are non-native speakers. Use voice narration for diagrams; minimize bullet points when narration is available.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8636000"/>
            <a:ext cx="1524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24" name="Text 22"/>
          <p:cNvSpPr/>
          <p:nvPr/>
        </p:nvSpPr>
        <p:spPr>
          <a:xfrm>
            <a:off x="14986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D8D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0" y="3175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200" kern="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MULTIMEDIA PRINCIPLES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635000"/>
            <a:ext cx="4064000" cy="3302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635000"/>
            <a:ext cx="406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FOSTER GENERATIVE PROCESSING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1143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300" kern="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PERSONALIZATION, VOICE &amp; EMBODIMENT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714500"/>
            <a:ext cx="635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2032000"/>
            <a:ext cx="14732000" cy="76200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057400"/>
            <a:ext cx="14224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Generative processing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the cognitive effort learners expend to make sense of material. These principles use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social cues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prime motivation and encourage deeper engagement.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3111500"/>
            <a:ext cx="4699000" cy="330200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3111500"/>
            <a:ext cx="4699000" cy="508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11" name="Shape 9"/>
          <p:cNvSpPr/>
          <p:nvPr/>
        </p:nvSpPr>
        <p:spPr>
          <a:xfrm>
            <a:off x="1016000" y="3365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285750"/>
                </a:moveTo>
                <a:cubicBezTo>
                  <a:pt x="236577" y="285750"/>
                  <a:pt x="304800" y="221754"/>
                  <a:pt x="304800" y="142875"/>
                </a:cubicBezTo>
                <a:cubicBezTo>
                  <a:pt x="304800" y="63996"/>
                  <a:pt x="236577" y="0"/>
                  <a:pt x="152400" y="0"/>
                </a:cubicBezTo>
                <a:cubicBezTo>
                  <a:pt x="68223" y="0"/>
                  <a:pt x="0" y="63996"/>
                  <a:pt x="0" y="142875"/>
                </a:cubicBezTo>
                <a:cubicBezTo>
                  <a:pt x="0" y="175200"/>
                  <a:pt x="11430" y="204966"/>
                  <a:pt x="30718" y="228898"/>
                </a:cubicBezTo>
                <a:lnTo>
                  <a:pt x="1667" y="283845"/>
                </a:lnTo>
                <a:cubicBezTo>
                  <a:pt x="-1191" y="289203"/>
                  <a:pt x="-298" y="295751"/>
                  <a:pt x="3810" y="300216"/>
                </a:cubicBezTo>
                <a:cubicBezTo>
                  <a:pt x="7918" y="304681"/>
                  <a:pt x="14407" y="306050"/>
                  <a:pt x="19943" y="303669"/>
                </a:cubicBezTo>
                <a:lnTo>
                  <a:pt x="90428" y="273487"/>
                </a:lnTo>
                <a:cubicBezTo>
                  <a:pt x="109359" y="281345"/>
                  <a:pt x="130314" y="285750"/>
                  <a:pt x="152400" y="285750"/>
                </a:cubicBezTo>
                <a:close/>
                <a:moveTo>
                  <a:pt x="76200" y="123825"/>
                </a:moveTo>
                <a:cubicBezTo>
                  <a:pt x="86714" y="123825"/>
                  <a:pt x="95250" y="132361"/>
                  <a:pt x="95250" y="142875"/>
                </a:cubicBezTo>
                <a:cubicBezTo>
                  <a:pt x="95250" y="153389"/>
                  <a:pt x="86714" y="161925"/>
                  <a:pt x="76200" y="161925"/>
                </a:cubicBezTo>
                <a:cubicBezTo>
                  <a:pt x="65686" y="161925"/>
                  <a:pt x="57150" y="153389"/>
                  <a:pt x="57150" y="142875"/>
                </a:cubicBezTo>
                <a:cubicBezTo>
                  <a:pt x="57150" y="132361"/>
                  <a:pt x="65686" y="123825"/>
                  <a:pt x="76200" y="123825"/>
                </a:cubicBezTo>
                <a:close/>
                <a:moveTo>
                  <a:pt x="152400" y="123825"/>
                </a:moveTo>
                <a:cubicBezTo>
                  <a:pt x="162914" y="123825"/>
                  <a:pt x="171450" y="132361"/>
                  <a:pt x="171450" y="142875"/>
                </a:cubicBezTo>
                <a:cubicBezTo>
                  <a:pt x="171450" y="153389"/>
                  <a:pt x="162914" y="161925"/>
                  <a:pt x="152400" y="161925"/>
                </a:cubicBezTo>
                <a:cubicBezTo>
                  <a:pt x="141886" y="161925"/>
                  <a:pt x="133350" y="153389"/>
                  <a:pt x="133350" y="142875"/>
                </a:cubicBezTo>
                <a:cubicBezTo>
                  <a:pt x="133350" y="132361"/>
                  <a:pt x="141886" y="123825"/>
                  <a:pt x="152400" y="123825"/>
                </a:cubicBezTo>
                <a:close/>
                <a:moveTo>
                  <a:pt x="209550" y="142875"/>
                </a:moveTo>
                <a:cubicBezTo>
                  <a:pt x="209550" y="132361"/>
                  <a:pt x="218086" y="123825"/>
                  <a:pt x="228600" y="123825"/>
                </a:cubicBezTo>
                <a:cubicBezTo>
                  <a:pt x="239114" y="123825"/>
                  <a:pt x="247650" y="132361"/>
                  <a:pt x="247650" y="142875"/>
                </a:cubicBezTo>
                <a:cubicBezTo>
                  <a:pt x="247650" y="153389"/>
                  <a:pt x="239114" y="161925"/>
                  <a:pt x="228600" y="161925"/>
                </a:cubicBezTo>
                <a:cubicBezTo>
                  <a:pt x="218086" y="161925"/>
                  <a:pt x="209550" y="153389"/>
                  <a:pt x="209550" y="142875"/>
                </a:cubicBezTo>
                <a:close/>
              </a:path>
            </a:pathLst>
          </a:custGeom>
          <a:solidFill>
            <a:srgbClr val="C45D3E"/>
          </a:solidFill>
          <a:ln/>
        </p:spPr>
      </p:sp>
      <p:sp>
        <p:nvSpPr>
          <p:cNvPr id="12" name="Text 10"/>
          <p:cNvSpPr/>
          <p:nvPr/>
        </p:nvSpPr>
        <p:spPr>
          <a:xfrm>
            <a:off x="1422400" y="33401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spc="100" kern="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PERSONALIZATION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16000" y="3810000"/>
            <a:ext cx="4191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conversational style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rather than formal style. Creates "social proximity" between educator and learner.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"you," "we," "I"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contractions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Sound natural, unscripted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78500" y="3111500"/>
            <a:ext cx="4699000" cy="330200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15" name="Shape 13"/>
          <p:cNvSpPr/>
          <p:nvPr/>
        </p:nvSpPr>
        <p:spPr>
          <a:xfrm>
            <a:off x="5778500" y="3111500"/>
            <a:ext cx="4699000" cy="508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16" name="Shape 14"/>
          <p:cNvSpPr/>
          <p:nvPr/>
        </p:nvSpPr>
        <p:spPr>
          <a:xfrm>
            <a:off x="6070600" y="33655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14300" y="0"/>
                </a:moveTo>
                <a:cubicBezTo>
                  <a:pt x="82748" y="0"/>
                  <a:pt x="57150" y="25598"/>
                  <a:pt x="57150" y="57150"/>
                </a:cubicBezTo>
                <a:lnTo>
                  <a:pt x="57150" y="133350"/>
                </a:lnTo>
                <a:cubicBezTo>
                  <a:pt x="57150" y="164902"/>
                  <a:pt x="82748" y="190500"/>
                  <a:pt x="114300" y="190500"/>
                </a:cubicBezTo>
                <a:cubicBezTo>
                  <a:pt x="145852" y="190500"/>
                  <a:pt x="171450" y="164902"/>
                  <a:pt x="171450" y="133350"/>
                </a:cubicBezTo>
                <a:lnTo>
                  <a:pt x="171450" y="57150"/>
                </a:lnTo>
                <a:cubicBezTo>
                  <a:pt x="171450" y="25598"/>
                  <a:pt x="145852" y="0"/>
                  <a:pt x="114300" y="0"/>
                </a:cubicBezTo>
                <a:close/>
                <a:moveTo>
                  <a:pt x="28575" y="109537"/>
                </a:moveTo>
                <a:cubicBezTo>
                  <a:pt x="28575" y="101620"/>
                  <a:pt x="22205" y="95250"/>
                  <a:pt x="14288" y="95250"/>
                </a:cubicBezTo>
                <a:cubicBezTo>
                  <a:pt x="6370" y="95250"/>
                  <a:pt x="0" y="101620"/>
                  <a:pt x="0" y="109537"/>
                </a:cubicBezTo>
                <a:lnTo>
                  <a:pt x="0" y="133350"/>
                </a:lnTo>
                <a:cubicBezTo>
                  <a:pt x="0" y="191631"/>
                  <a:pt x="43636" y="239732"/>
                  <a:pt x="100013" y="246757"/>
                </a:cubicBezTo>
                <a:lnTo>
                  <a:pt x="100013" y="276225"/>
                </a:lnTo>
                <a:lnTo>
                  <a:pt x="71438" y="276225"/>
                </a:lnTo>
                <a:cubicBezTo>
                  <a:pt x="63520" y="276225"/>
                  <a:pt x="57150" y="282595"/>
                  <a:pt x="57150" y="290513"/>
                </a:cubicBezTo>
                <a:cubicBezTo>
                  <a:pt x="57150" y="298430"/>
                  <a:pt x="63520" y="304800"/>
                  <a:pt x="71438" y="304800"/>
                </a:cubicBezTo>
                <a:lnTo>
                  <a:pt x="157163" y="304800"/>
                </a:lnTo>
                <a:cubicBezTo>
                  <a:pt x="165080" y="304800"/>
                  <a:pt x="171450" y="298430"/>
                  <a:pt x="171450" y="290513"/>
                </a:cubicBezTo>
                <a:cubicBezTo>
                  <a:pt x="171450" y="282595"/>
                  <a:pt x="165080" y="276225"/>
                  <a:pt x="157163" y="276225"/>
                </a:cubicBezTo>
                <a:lnTo>
                  <a:pt x="128588" y="276225"/>
                </a:lnTo>
                <a:lnTo>
                  <a:pt x="128588" y="246757"/>
                </a:lnTo>
                <a:cubicBezTo>
                  <a:pt x="184964" y="239732"/>
                  <a:pt x="228600" y="191631"/>
                  <a:pt x="228600" y="133350"/>
                </a:cubicBezTo>
                <a:lnTo>
                  <a:pt x="228600" y="109537"/>
                </a:lnTo>
                <a:cubicBezTo>
                  <a:pt x="228600" y="101620"/>
                  <a:pt x="222230" y="95250"/>
                  <a:pt x="214313" y="95250"/>
                </a:cubicBezTo>
                <a:cubicBezTo>
                  <a:pt x="206395" y="95250"/>
                  <a:pt x="200025" y="101620"/>
                  <a:pt x="200025" y="109537"/>
                </a:cubicBezTo>
                <a:lnTo>
                  <a:pt x="200025" y="133350"/>
                </a:lnTo>
                <a:cubicBezTo>
                  <a:pt x="200025" y="180677"/>
                  <a:pt x="161627" y="219075"/>
                  <a:pt x="114300" y="219075"/>
                </a:cubicBezTo>
                <a:cubicBezTo>
                  <a:pt x="66973" y="219075"/>
                  <a:pt x="28575" y="180677"/>
                  <a:pt x="28575" y="133350"/>
                </a:cubicBezTo>
                <a:lnTo>
                  <a:pt x="28575" y="109537"/>
                </a:lnTo>
                <a:close/>
              </a:path>
            </a:pathLst>
          </a:custGeom>
          <a:solidFill>
            <a:srgbClr val="C45D3E"/>
          </a:solidFill>
          <a:ln/>
        </p:spPr>
      </p:sp>
      <p:sp>
        <p:nvSpPr>
          <p:cNvPr id="17" name="Text 15"/>
          <p:cNvSpPr/>
          <p:nvPr/>
        </p:nvSpPr>
        <p:spPr>
          <a:xfrm>
            <a:off x="6438900" y="33401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spc="100" kern="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VOICE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032500" y="3810000"/>
            <a:ext cx="4191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a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friendly human voice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rather than a machine voice. Enhances social presence and learner connection.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Record human narration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Avoid synthetic TTS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Warm, inviting tone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795000" y="3111500"/>
            <a:ext cx="4699000" cy="330200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20" name="Shape 18"/>
          <p:cNvSpPr/>
          <p:nvPr/>
        </p:nvSpPr>
        <p:spPr>
          <a:xfrm>
            <a:off x="10795000" y="3111500"/>
            <a:ext cx="4699000" cy="508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21" name="Shape 19"/>
          <p:cNvSpPr/>
          <p:nvPr/>
        </p:nvSpPr>
        <p:spPr>
          <a:xfrm>
            <a:off x="11087100" y="33655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9050" y="19050"/>
                </a:moveTo>
                <a:cubicBezTo>
                  <a:pt x="19050" y="8513"/>
                  <a:pt x="27563" y="0"/>
                  <a:pt x="38100" y="0"/>
                </a:cubicBezTo>
                <a:cubicBezTo>
                  <a:pt x="48637" y="0"/>
                  <a:pt x="57150" y="8513"/>
                  <a:pt x="57150" y="19050"/>
                </a:cubicBezTo>
                <a:lnTo>
                  <a:pt x="57150" y="142875"/>
                </a:lnTo>
                <a:lnTo>
                  <a:pt x="19050" y="142875"/>
                </a:lnTo>
                <a:lnTo>
                  <a:pt x="19050" y="19050"/>
                </a:lnTo>
                <a:close/>
                <a:moveTo>
                  <a:pt x="133350" y="114300"/>
                </a:moveTo>
                <a:cubicBezTo>
                  <a:pt x="133350" y="103763"/>
                  <a:pt x="141863" y="95250"/>
                  <a:pt x="152400" y="95250"/>
                </a:cubicBezTo>
                <a:cubicBezTo>
                  <a:pt x="162937" y="95250"/>
                  <a:pt x="171450" y="103763"/>
                  <a:pt x="171450" y="114300"/>
                </a:cubicBezTo>
                <a:lnTo>
                  <a:pt x="171450" y="152400"/>
                </a:lnTo>
                <a:cubicBezTo>
                  <a:pt x="171450" y="162937"/>
                  <a:pt x="162937" y="171450"/>
                  <a:pt x="152400" y="171450"/>
                </a:cubicBezTo>
                <a:cubicBezTo>
                  <a:pt x="141863" y="171450"/>
                  <a:pt x="133350" y="162937"/>
                  <a:pt x="133350" y="152400"/>
                </a:cubicBezTo>
                <a:lnTo>
                  <a:pt x="133350" y="114300"/>
                </a:lnTo>
                <a:close/>
                <a:moveTo>
                  <a:pt x="95250" y="76200"/>
                </a:moveTo>
                <a:cubicBezTo>
                  <a:pt x="105787" y="76200"/>
                  <a:pt x="114300" y="84713"/>
                  <a:pt x="114300" y="95250"/>
                </a:cubicBezTo>
                <a:lnTo>
                  <a:pt x="114300" y="123825"/>
                </a:lnTo>
                <a:cubicBezTo>
                  <a:pt x="114300" y="134362"/>
                  <a:pt x="105787" y="142875"/>
                  <a:pt x="95250" y="142875"/>
                </a:cubicBezTo>
                <a:cubicBezTo>
                  <a:pt x="84713" y="142875"/>
                  <a:pt x="76200" y="134362"/>
                  <a:pt x="76200" y="123825"/>
                </a:cubicBezTo>
                <a:lnTo>
                  <a:pt x="76200" y="95250"/>
                </a:lnTo>
                <a:cubicBezTo>
                  <a:pt x="76200" y="84713"/>
                  <a:pt x="84713" y="76200"/>
                  <a:pt x="95250" y="76200"/>
                </a:cubicBezTo>
                <a:close/>
                <a:moveTo>
                  <a:pt x="190500" y="133350"/>
                </a:moveTo>
                <a:cubicBezTo>
                  <a:pt x="190500" y="122813"/>
                  <a:pt x="199013" y="114300"/>
                  <a:pt x="209550" y="114300"/>
                </a:cubicBezTo>
                <a:cubicBezTo>
                  <a:pt x="220087" y="114300"/>
                  <a:pt x="228600" y="122813"/>
                  <a:pt x="228600" y="133350"/>
                </a:cubicBezTo>
                <a:lnTo>
                  <a:pt x="228600" y="171450"/>
                </a:lnTo>
                <a:cubicBezTo>
                  <a:pt x="228600" y="181987"/>
                  <a:pt x="220087" y="190500"/>
                  <a:pt x="209550" y="190500"/>
                </a:cubicBezTo>
                <a:cubicBezTo>
                  <a:pt x="199013" y="190500"/>
                  <a:pt x="190500" y="181987"/>
                  <a:pt x="190500" y="171450"/>
                </a:cubicBezTo>
                <a:lnTo>
                  <a:pt x="190500" y="133350"/>
                </a:lnTo>
                <a:close/>
                <a:moveTo>
                  <a:pt x="133350" y="185738"/>
                </a:moveTo>
                <a:lnTo>
                  <a:pt x="133350" y="185380"/>
                </a:lnTo>
                <a:cubicBezTo>
                  <a:pt x="138946" y="188595"/>
                  <a:pt x="145435" y="190500"/>
                  <a:pt x="152400" y="190500"/>
                </a:cubicBezTo>
                <a:cubicBezTo>
                  <a:pt x="160258" y="190500"/>
                  <a:pt x="167521" y="188119"/>
                  <a:pt x="173593" y="184071"/>
                </a:cubicBezTo>
                <a:cubicBezTo>
                  <a:pt x="178772" y="198894"/>
                  <a:pt x="192941" y="209550"/>
                  <a:pt x="209550" y="209550"/>
                </a:cubicBezTo>
                <a:cubicBezTo>
                  <a:pt x="216515" y="209550"/>
                  <a:pt x="223004" y="207705"/>
                  <a:pt x="228600" y="204430"/>
                </a:cubicBezTo>
                <a:lnTo>
                  <a:pt x="228600" y="209550"/>
                </a:lnTo>
                <a:cubicBezTo>
                  <a:pt x="228600" y="262176"/>
                  <a:pt x="185976" y="304800"/>
                  <a:pt x="133350" y="304800"/>
                </a:cubicBezTo>
                <a:lnTo>
                  <a:pt x="96619" y="304800"/>
                </a:lnTo>
                <a:cubicBezTo>
                  <a:pt x="71378" y="304800"/>
                  <a:pt x="47149" y="294739"/>
                  <a:pt x="29289" y="276880"/>
                </a:cubicBezTo>
                <a:lnTo>
                  <a:pt x="22324" y="269974"/>
                </a:lnTo>
                <a:cubicBezTo>
                  <a:pt x="8037" y="255687"/>
                  <a:pt x="0" y="236280"/>
                  <a:pt x="0" y="216098"/>
                </a:cubicBezTo>
                <a:lnTo>
                  <a:pt x="0" y="200025"/>
                </a:lnTo>
                <a:cubicBezTo>
                  <a:pt x="0" y="179010"/>
                  <a:pt x="17085" y="161925"/>
                  <a:pt x="38100" y="161925"/>
                </a:cubicBezTo>
                <a:lnTo>
                  <a:pt x="90488" y="161925"/>
                </a:lnTo>
                <a:cubicBezTo>
                  <a:pt x="103644" y="161925"/>
                  <a:pt x="114300" y="172581"/>
                  <a:pt x="114300" y="185738"/>
                </a:cubicBezTo>
                <a:cubicBezTo>
                  <a:pt x="114300" y="198894"/>
                  <a:pt x="103644" y="209550"/>
                  <a:pt x="90488" y="209550"/>
                </a:cubicBezTo>
                <a:lnTo>
                  <a:pt x="57150" y="209550"/>
                </a:lnTo>
                <a:cubicBezTo>
                  <a:pt x="51911" y="209550"/>
                  <a:pt x="47625" y="213836"/>
                  <a:pt x="47625" y="219075"/>
                </a:cubicBezTo>
                <a:cubicBezTo>
                  <a:pt x="47625" y="224314"/>
                  <a:pt x="51911" y="228600"/>
                  <a:pt x="57150" y="228600"/>
                </a:cubicBezTo>
                <a:lnTo>
                  <a:pt x="90488" y="228600"/>
                </a:lnTo>
                <a:cubicBezTo>
                  <a:pt x="114181" y="228600"/>
                  <a:pt x="133350" y="209431"/>
                  <a:pt x="133350" y="185738"/>
                </a:cubicBezTo>
                <a:close/>
              </a:path>
            </a:pathLst>
          </a:custGeom>
          <a:solidFill>
            <a:srgbClr val="C45D3E"/>
          </a:solidFill>
          <a:ln/>
        </p:spPr>
      </p:sp>
      <p:sp>
        <p:nvSpPr>
          <p:cNvPr id="22" name="Text 20"/>
          <p:cNvSpPr/>
          <p:nvPr/>
        </p:nvSpPr>
        <p:spPr>
          <a:xfrm>
            <a:off x="11455400" y="33401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spc="100" kern="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EMBODIMENT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1049000" y="3810000"/>
            <a:ext cx="4191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On-screen agents should use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human-like gestures and movements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create social presence.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Natural hand gestures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Eye contact with camera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Expressive body language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8636000"/>
            <a:ext cx="1524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25" name="Text 23"/>
          <p:cNvSpPr/>
          <p:nvPr/>
        </p:nvSpPr>
        <p:spPr>
          <a:xfrm>
            <a:off x="14986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D8D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0" y="3175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200" kern="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MULTIMEDIA PRINCIPLES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300" kern="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IMAGE PRINCIPLE &amp; KEY INSIGHT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24000"/>
            <a:ext cx="14732000" cy="254000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524000"/>
            <a:ext cx="50800" cy="25400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7" name="Text 5"/>
          <p:cNvSpPr/>
          <p:nvPr/>
        </p:nvSpPr>
        <p:spPr>
          <a:xfrm>
            <a:off x="1066800" y="16764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300" kern="0" dirty="0">
                <a:solidFill>
                  <a:srgbClr val="C45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IMAGE PRINCIPLE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6800" y="2057400"/>
            <a:ext cx="140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"People do not necessarily learn more deeply when the speaker's image is visible on screen." — Mayer (2009)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66800" y="2768600"/>
            <a:ext cx="889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instructor's face adds cognitive load without necessarily improving learning. Every element must earn its place.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Exception: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Include when no other visuals exist, or to enhance social connection.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4445000"/>
            <a:ext cx="14732000" cy="2032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5974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300" kern="0" dirty="0">
                <a:solidFill>
                  <a:srgbClr val="C45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MULTIMEDIA PRINCIPLE REVISITED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92200" y="50800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152400" y="50800"/>
                </a:moveTo>
                <a:cubicBezTo>
                  <a:pt x="152400" y="22781"/>
                  <a:pt x="175181" y="0"/>
                  <a:pt x="203200" y="0"/>
                </a:cubicBezTo>
                <a:lnTo>
                  <a:pt x="457200" y="0"/>
                </a:lnTo>
                <a:cubicBezTo>
                  <a:pt x="485219" y="0"/>
                  <a:pt x="508000" y="22781"/>
                  <a:pt x="508000" y="50800"/>
                </a:cubicBezTo>
                <a:lnTo>
                  <a:pt x="508000" y="228600"/>
                </a:lnTo>
                <a:cubicBezTo>
                  <a:pt x="508000" y="256619"/>
                  <a:pt x="485219" y="279400"/>
                  <a:pt x="457200" y="279400"/>
                </a:cubicBezTo>
                <a:lnTo>
                  <a:pt x="203200" y="279400"/>
                </a:lnTo>
                <a:cubicBezTo>
                  <a:pt x="175181" y="279400"/>
                  <a:pt x="152400" y="256619"/>
                  <a:pt x="152400" y="228600"/>
                </a:cubicBezTo>
                <a:lnTo>
                  <a:pt x="152400" y="50800"/>
                </a:lnTo>
                <a:close/>
                <a:moveTo>
                  <a:pt x="254000" y="76200"/>
                </a:moveTo>
                <a:cubicBezTo>
                  <a:pt x="254000" y="62181"/>
                  <a:pt x="242619" y="50800"/>
                  <a:pt x="228600" y="50800"/>
                </a:cubicBezTo>
                <a:cubicBezTo>
                  <a:pt x="214581" y="50800"/>
                  <a:pt x="203200" y="62181"/>
                  <a:pt x="203200" y="76200"/>
                </a:cubicBezTo>
                <a:cubicBezTo>
                  <a:pt x="203200" y="90219"/>
                  <a:pt x="214581" y="101600"/>
                  <a:pt x="228600" y="101600"/>
                </a:cubicBezTo>
                <a:cubicBezTo>
                  <a:pt x="242619" y="101600"/>
                  <a:pt x="254000" y="90219"/>
                  <a:pt x="254000" y="76200"/>
                </a:cubicBezTo>
                <a:close/>
                <a:moveTo>
                  <a:pt x="378222" y="85328"/>
                </a:moveTo>
                <a:cubicBezTo>
                  <a:pt x="374729" y="79693"/>
                  <a:pt x="368617" y="76200"/>
                  <a:pt x="361950" y="76200"/>
                </a:cubicBezTo>
                <a:cubicBezTo>
                  <a:pt x="355283" y="76200"/>
                  <a:pt x="349171" y="79693"/>
                  <a:pt x="345678" y="85328"/>
                </a:cubicBezTo>
                <a:lnTo>
                  <a:pt x="302816" y="155416"/>
                </a:lnTo>
                <a:lnTo>
                  <a:pt x="288608" y="135096"/>
                </a:lnTo>
                <a:cubicBezTo>
                  <a:pt x="285036" y="130016"/>
                  <a:pt x="279241" y="127000"/>
                  <a:pt x="272971" y="127000"/>
                </a:cubicBezTo>
                <a:cubicBezTo>
                  <a:pt x="266700" y="127000"/>
                  <a:pt x="260906" y="130016"/>
                  <a:pt x="257334" y="135096"/>
                </a:cubicBezTo>
                <a:lnTo>
                  <a:pt x="212884" y="198596"/>
                </a:lnTo>
                <a:cubicBezTo>
                  <a:pt x="208836" y="204391"/>
                  <a:pt x="208280" y="212011"/>
                  <a:pt x="211614" y="218281"/>
                </a:cubicBezTo>
                <a:cubicBezTo>
                  <a:pt x="214948" y="224552"/>
                  <a:pt x="221536" y="228600"/>
                  <a:pt x="228600" y="228600"/>
                </a:cubicBezTo>
                <a:lnTo>
                  <a:pt x="431800" y="228600"/>
                </a:lnTo>
                <a:cubicBezTo>
                  <a:pt x="438706" y="228600"/>
                  <a:pt x="445056" y="224869"/>
                  <a:pt x="448389" y="218837"/>
                </a:cubicBezTo>
                <a:cubicBezTo>
                  <a:pt x="451723" y="212804"/>
                  <a:pt x="451644" y="205502"/>
                  <a:pt x="447993" y="199549"/>
                </a:cubicBezTo>
                <a:lnTo>
                  <a:pt x="378143" y="85249"/>
                </a:lnTo>
                <a:close/>
                <a:moveTo>
                  <a:pt x="114300" y="101600"/>
                </a:moveTo>
                <a:lnTo>
                  <a:pt x="114300" y="228600"/>
                </a:lnTo>
                <a:cubicBezTo>
                  <a:pt x="114300" y="277733"/>
                  <a:pt x="154067" y="317500"/>
                  <a:pt x="203200" y="317500"/>
                </a:cubicBezTo>
                <a:lnTo>
                  <a:pt x="355600" y="317500"/>
                </a:lnTo>
                <a:lnTo>
                  <a:pt x="355600" y="330200"/>
                </a:lnTo>
                <a:cubicBezTo>
                  <a:pt x="355600" y="358219"/>
                  <a:pt x="332819" y="381000"/>
                  <a:pt x="304800" y="381000"/>
                </a:cubicBezTo>
                <a:lnTo>
                  <a:pt x="50800" y="381000"/>
                </a:lnTo>
                <a:cubicBezTo>
                  <a:pt x="22781" y="381000"/>
                  <a:pt x="0" y="358219"/>
                  <a:pt x="0" y="330200"/>
                </a:cubicBezTo>
                <a:lnTo>
                  <a:pt x="0" y="152400"/>
                </a:lnTo>
                <a:cubicBezTo>
                  <a:pt x="0" y="124381"/>
                  <a:pt x="22781" y="101600"/>
                  <a:pt x="50800" y="101600"/>
                </a:cubicBezTo>
                <a:lnTo>
                  <a:pt x="114300" y="101600"/>
                </a:lnTo>
                <a:close/>
                <a:moveTo>
                  <a:pt x="41275" y="155575"/>
                </a:moveTo>
                <a:lnTo>
                  <a:pt x="41275" y="174625"/>
                </a:lnTo>
                <a:cubicBezTo>
                  <a:pt x="41275" y="181610"/>
                  <a:pt x="46990" y="187325"/>
                  <a:pt x="53975" y="187325"/>
                </a:cubicBezTo>
                <a:lnTo>
                  <a:pt x="73025" y="187325"/>
                </a:lnTo>
                <a:cubicBezTo>
                  <a:pt x="80010" y="187325"/>
                  <a:pt x="85725" y="181610"/>
                  <a:pt x="85725" y="174625"/>
                </a:cubicBezTo>
                <a:lnTo>
                  <a:pt x="85725" y="155575"/>
                </a:lnTo>
                <a:cubicBezTo>
                  <a:pt x="85725" y="148590"/>
                  <a:pt x="80010" y="142875"/>
                  <a:pt x="73025" y="142875"/>
                </a:cubicBezTo>
                <a:lnTo>
                  <a:pt x="53975" y="142875"/>
                </a:lnTo>
                <a:cubicBezTo>
                  <a:pt x="46990" y="142875"/>
                  <a:pt x="41275" y="148590"/>
                  <a:pt x="41275" y="155575"/>
                </a:cubicBezTo>
                <a:close/>
                <a:moveTo>
                  <a:pt x="53975" y="219075"/>
                </a:moveTo>
                <a:cubicBezTo>
                  <a:pt x="46990" y="219075"/>
                  <a:pt x="41275" y="224790"/>
                  <a:pt x="41275" y="231775"/>
                </a:cubicBezTo>
                <a:lnTo>
                  <a:pt x="41275" y="250825"/>
                </a:lnTo>
                <a:cubicBezTo>
                  <a:pt x="41275" y="257810"/>
                  <a:pt x="46990" y="263525"/>
                  <a:pt x="53975" y="263525"/>
                </a:cubicBezTo>
                <a:lnTo>
                  <a:pt x="73025" y="263525"/>
                </a:lnTo>
                <a:cubicBezTo>
                  <a:pt x="80010" y="263525"/>
                  <a:pt x="85725" y="257810"/>
                  <a:pt x="85725" y="250825"/>
                </a:cubicBezTo>
                <a:lnTo>
                  <a:pt x="85725" y="231775"/>
                </a:lnTo>
                <a:cubicBezTo>
                  <a:pt x="85725" y="224790"/>
                  <a:pt x="80010" y="219075"/>
                  <a:pt x="73025" y="219075"/>
                </a:cubicBezTo>
                <a:lnTo>
                  <a:pt x="53975" y="219075"/>
                </a:lnTo>
                <a:close/>
                <a:moveTo>
                  <a:pt x="53975" y="295275"/>
                </a:moveTo>
                <a:cubicBezTo>
                  <a:pt x="46990" y="295275"/>
                  <a:pt x="41275" y="300990"/>
                  <a:pt x="41275" y="307975"/>
                </a:cubicBezTo>
                <a:lnTo>
                  <a:pt x="41275" y="327025"/>
                </a:lnTo>
                <a:cubicBezTo>
                  <a:pt x="41275" y="334010"/>
                  <a:pt x="46990" y="339725"/>
                  <a:pt x="53975" y="339725"/>
                </a:cubicBezTo>
                <a:lnTo>
                  <a:pt x="73025" y="339725"/>
                </a:lnTo>
                <a:cubicBezTo>
                  <a:pt x="80010" y="339725"/>
                  <a:pt x="85725" y="334010"/>
                  <a:pt x="85725" y="327025"/>
                </a:cubicBezTo>
                <a:lnTo>
                  <a:pt x="85725" y="307975"/>
                </a:lnTo>
                <a:cubicBezTo>
                  <a:pt x="85725" y="300990"/>
                  <a:pt x="80010" y="295275"/>
                  <a:pt x="73025" y="295275"/>
                </a:cubicBezTo>
                <a:lnTo>
                  <a:pt x="53975" y="295275"/>
                </a:lnTo>
                <a:close/>
              </a:path>
            </a:pathLst>
          </a:custGeom>
          <a:solidFill>
            <a:srgbClr val="C45D3E"/>
          </a:solidFill>
          <a:ln/>
        </p:spPr>
      </p:sp>
      <p:sp>
        <p:nvSpPr>
          <p:cNvPr id="13" name="Text 11"/>
          <p:cNvSpPr/>
          <p:nvPr/>
        </p:nvSpPr>
        <p:spPr>
          <a:xfrm>
            <a:off x="1778000" y="5016500"/>
            <a:ext cx="1333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"People learn better from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words and pictures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than from words alone." — the foundational principle of CTML.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element must earn its place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either it supports learning or it adds unnecessary cognitive load.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6858000"/>
            <a:ext cx="14732000" cy="88900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15" name="Shape 13"/>
          <p:cNvSpPr/>
          <p:nvPr/>
        </p:nvSpPr>
        <p:spPr>
          <a:xfrm>
            <a:off x="762000" y="6858000"/>
            <a:ext cx="50800" cy="889000"/>
          </a:xfrm>
          <a:prstGeom prst="rect">
            <a:avLst/>
          </a:prstGeom>
          <a:solidFill>
            <a:srgbClr val="8D8D8D"/>
          </a:solidFill>
          <a:ln/>
        </p:spPr>
      </p:sp>
      <p:sp>
        <p:nvSpPr>
          <p:cNvPr id="16" name="Shape 14"/>
          <p:cNvSpPr/>
          <p:nvPr/>
        </p:nvSpPr>
        <p:spPr>
          <a:xfrm>
            <a:off x="1049338" y="7086600"/>
            <a:ext cx="314325" cy="279400"/>
          </a:xfrm>
          <a:custGeom>
            <a:avLst/>
            <a:gdLst/>
            <a:ahLst/>
            <a:cxnLst/>
            <a:rect l="l" t="t" r="r" b="b"/>
            <a:pathLst>
              <a:path w="314325" h="279400">
                <a:moveTo>
                  <a:pt x="168895" y="-10314"/>
                </a:moveTo>
                <a:cubicBezTo>
                  <a:pt x="166658" y="-14679"/>
                  <a:pt x="162128" y="-17462"/>
                  <a:pt x="157217" y="-17462"/>
                </a:cubicBezTo>
                <a:cubicBezTo>
                  <a:pt x="152306" y="-17462"/>
                  <a:pt x="147776" y="-14679"/>
                  <a:pt x="145539" y="-10314"/>
                </a:cubicBezTo>
                <a:lnTo>
                  <a:pt x="105375" y="68377"/>
                </a:lnTo>
                <a:lnTo>
                  <a:pt x="18117" y="82237"/>
                </a:lnTo>
                <a:cubicBezTo>
                  <a:pt x="13261" y="83001"/>
                  <a:pt x="9222" y="86439"/>
                  <a:pt x="7694" y="91132"/>
                </a:cubicBezTo>
                <a:cubicBezTo>
                  <a:pt x="6166" y="95825"/>
                  <a:pt x="7422" y="100955"/>
                  <a:pt x="10859" y="104448"/>
                </a:cubicBezTo>
                <a:lnTo>
                  <a:pt x="73288" y="166931"/>
                </a:lnTo>
                <a:lnTo>
                  <a:pt x="59536" y="254189"/>
                </a:lnTo>
                <a:cubicBezTo>
                  <a:pt x="58772" y="259045"/>
                  <a:pt x="60791" y="263957"/>
                  <a:pt x="64775" y="266849"/>
                </a:cubicBezTo>
                <a:cubicBezTo>
                  <a:pt x="68759" y="269741"/>
                  <a:pt x="73997" y="270178"/>
                  <a:pt x="78418" y="267940"/>
                </a:cubicBezTo>
                <a:lnTo>
                  <a:pt x="157217" y="227886"/>
                </a:lnTo>
                <a:lnTo>
                  <a:pt x="235962" y="267940"/>
                </a:lnTo>
                <a:cubicBezTo>
                  <a:pt x="240328" y="270178"/>
                  <a:pt x="245621" y="269741"/>
                  <a:pt x="249605" y="266849"/>
                </a:cubicBezTo>
                <a:cubicBezTo>
                  <a:pt x="253588" y="263957"/>
                  <a:pt x="255607" y="259100"/>
                  <a:pt x="254843" y="254189"/>
                </a:cubicBezTo>
                <a:lnTo>
                  <a:pt x="241037" y="166931"/>
                </a:lnTo>
                <a:lnTo>
                  <a:pt x="303466" y="104448"/>
                </a:lnTo>
                <a:cubicBezTo>
                  <a:pt x="306958" y="100955"/>
                  <a:pt x="308159" y="95825"/>
                  <a:pt x="306631" y="91132"/>
                </a:cubicBezTo>
                <a:cubicBezTo>
                  <a:pt x="305103" y="86439"/>
                  <a:pt x="301119" y="83001"/>
                  <a:pt x="296208" y="82237"/>
                </a:cubicBezTo>
                <a:lnTo>
                  <a:pt x="209004" y="68377"/>
                </a:lnTo>
                <a:lnTo>
                  <a:pt x="168895" y="-10314"/>
                </a:lnTo>
                <a:close/>
              </a:path>
            </a:pathLst>
          </a:custGeom>
          <a:solidFill>
            <a:srgbClr val="8D8D8D"/>
          </a:solidFill>
          <a:ln/>
        </p:spPr>
      </p:sp>
      <p:sp>
        <p:nvSpPr>
          <p:cNvPr id="17" name="Text 15"/>
          <p:cNvSpPr/>
          <p:nvPr/>
        </p:nvSpPr>
        <p:spPr>
          <a:xfrm>
            <a:off x="1447800" y="69596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300" kern="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TAKEAWAY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47800" y="7264400"/>
            <a:ext cx="1371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 with intention: include only elements that directly support the learning objective. Remove everything else.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8636000"/>
            <a:ext cx="1524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20" name="Text 18"/>
          <p:cNvSpPr/>
          <p:nvPr/>
        </p:nvSpPr>
        <p:spPr>
          <a:xfrm>
            <a:off x="14986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D8D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0" y="3175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200" kern="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MULTIMEDIA PRINCIPLES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spc="300" kern="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MAYER'S 12 PRINCIPLES — COMPLETE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60500"/>
            <a:ext cx="4699000" cy="5461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6256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C45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 EXTRANEOUS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095500"/>
            <a:ext cx="4191000" cy="463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Coherence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Delete extraneous material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Redundancy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Don't add captions to narrated graphics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Signaling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Highlight essential material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Spatial Contiguity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Place words near graphics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 Temporal Contiguity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 words and graphics simultaneously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78500" y="1460500"/>
            <a:ext cx="4699000" cy="546100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9" name="Text 7"/>
          <p:cNvSpPr/>
          <p:nvPr/>
        </p:nvSpPr>
        <p:spPr>
          <a:xfrm>
            <a:off x="6032500" y="16256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C45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MANAGE ESSENTIAL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32500" y="2095500"/>
            <a:ext cx="4191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6. Segmenting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Break into learner-paced parts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7. Pre-training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 key concepts first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8. Modality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spoken words rather than printed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795000" y="1460500"/>
            <a:ext cx="4699000" cy="546100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12" name="Text 10"/>
          <p:cNvSpPr/>
          <p:nvPr/>
        </p:nvSpPr>
        <p:spPr>
          <a:xfrm>
            <a:off x="11049000" y="16256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C45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FOSTER GENERATIVE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049000" y="2095500"/>
            <a:ext cx="4191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9. Personalization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conversational style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10. Voice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human voice over machine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11. Embodiment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human-like gestures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12. Image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Speaker image not always beneficial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7175500"/>
            <a:ext cx="14732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8D8D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Mayer, R. E. (2009). Multimedia Learning, 2nd Edition. Cambridge University Press.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62000" y="8636000"/>
            <a:ext cx="1524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16" name="Text 14"/>
          <p:cNvSpPr/>
          <p:nvPr/>
        </p:nvSpPr>
        <p:spPr>
          <a:xfrm>
            <a:off x="14986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D8D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D3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A1A2E"/>
              </a:gs>
              <a:gs pos="50000">
                <a:srgbClr val="2D3142"/>
              </a:gs>
              <a:gs pos="100000">
                <a:srgbClr val="2D3142"/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-1270000" y="2540000"/>
            <a:ext cx="5715000" cy="5715000"/>
          </a:xfrm>
          <a:prstGeom prst="ellipse">
            <a:avLst/>
          </a:prstGeom>
          <a:solidFill>
            <a:srgbClr val="C45D3E">
              <a:alpha val="7059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-900000">
            <a:off x="1905000" y="5715000"/>
            <a:ext cx="2286000" cy="2286000"/>
          </a:xfrm>
          <a:prstGeom prst="rect">
            <a:avLst/>
          </a:prstGeom>
          <a:solidFill>
            <a:srgbClr val="C45D3E">
              <a:alpha val="9412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35000" y="1016000"/>
            <a:ext cx="1270000" cy="1270000"/>
          </a:xfrm>
          <a:prstGeom prst="diamond">
            <a:avLst/>
          </a:prstGeom>
          <a:solidFill>
            <a:srgbClr val="F5F1EB">
              <a:alpha val="6275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620000" y="2032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600" dirty="0">
                <a:solidFill>
                  <a:srgbClr val="C45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0" y="3556000"/>
            <a:ext cx="762000" cy="508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0" y="38735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spc="4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DESIGN PRINCIPLES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0" y="4699000"/>
            <a:ext cx="787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5F1EB">
                    <a:alpha val="6902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Balance, Harmony, Closure, Proximity, Contrast, Color, Alignment, Emphasis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0" y="8255000"/>
            <a:ext cx="1524000" cy="38100"/>
          </a:xfrm>
          <a:prstGeom prst="rect">
            <a:avLst/>
          </a:prstGeom>
          <a:solidFill>
            <a:srgbClr val="C45D3E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954000" y="317500"/>
            <a:ext cx="304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200" kern="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DESIGN PRINCIPLES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300" kern="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Balance means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 single element overwhelms the composition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visual weight is distributed to create stability and equilibrium.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413000"/>
            <a:ext cx="4699000" cy="406400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6035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spc="100" kern="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SYMMETRICAL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651000" y="3175000"/>
            <a:ext cx="1270000" cy="1270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9" name="Shape 7"/>
          <p:cNvSpPr/>
          <p:nvPr/>
        </p:nvSpPr>
        <p:spPr>
          <a:xfrm>
            <a:off x="3302000" y="3175000"/>
            <a:ext cx="1270000" cy="1270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10" name="Shape 8"/>
          <p:cNvSpPr/>
          <p:nvPr/>
        </p:nvSpPr>
        <p:spPr>
          <a:xfrm>
            <a:off x="3111500" y="3111500"/>
            <a:ext cx="0" cy="1397000"/>
          </a:xfrm>
          <a:prstGeom prst="straightConnector1">
            <a:avLst/>
          </a:prstGeom>
          <a:noFill/>
          <a:ln w="12700">
            <a:solidFill>
              <a:srgbClr val="C45D3E"/>
            </a:solidFill>
            <a:prstDash val="sysDot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3111500" y="3048000"/>
            <a:ext cx="762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C45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AXIS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4699000"/>
            <a:ext cx="4191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Elements are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mirrored on both sides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a center line. Creates stability, formality, and order.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Formal, conservative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Predictable and calming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78500" y="2413000"/>
            <a:ext cx="4699000" cy="406400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14" name="Text 12"/>
          <p:cNvSpPr/>
          <p:nvPr/>
        </p:nvSpPr>
        <p:spPr>
          <a:xfrm>
            <a:off x="6032500" y="26035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spc="100" kern="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ASYMMETRICAL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350000" y="3175000"/>
            <a:ext cx="2032000" cy="1270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16" name="Shape 14"/>
          <p:cNvSpPr/>
          <p:nvPr/>
        </p:nvSpPr>
        <p:spPr>
          <a:xfrm>
            <a:off x="8763000" y="3175000"/>
            <a:ext cx="635000" cy="5715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17" name="Shape 15"/>
          <p:cNvSpPr/>
          <p:nvPr/>
        </p:nvSpPr>
        <p:spPr>
          <a:xfrm>
            <a:off x="8763000" y="3873500"/>
            <a:ext cx="635000" cy="5715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18" name="Text 16"/>
          <p:cNvSpPr/>
          <p:nvPr/>
        </p:nvSpPr>
        <p:spPr>
          <a:xfrm>
            <a:off x="6032500" y="4699000"/>
            <a:ext cx="419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Different elements with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equal visual weight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 opposite sides. Creates dynamic energy.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Bold and visually interesting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More engaging than symmetrical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795000" y="2413000"/>
            <a:ext cx="4699000" cy="406400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20" name="Text 18"/>
          <p:cNvSpPr/>
          <p:nvPr/>
        </p:nvSpPr>
        <p:spPr>
          <a:xfrm>
            <a:off x="11049000" y="26035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spc="100" kern="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RADIAL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12827000" y="3619500"/>
            <a:ext cx="635000" cy="635000"/>
          </a:xfrm>
          <a:prstGeom prst="ellipse">
            <a:avLst/>
          </a:prstGeom>
          <a:solidFill>
            <a:srgbClr val="C45D3E"/>
          </a:solidFill>
          <a:ln/>
        </p:spPr>
      </p:sp>
      <p:sp>
        <p:nvSpPr>
          <p:cNvPr id="22" name="Shape 20"/>
          <p:cNvSpPr/>
          <p:nvPr/>
        </p:nvSpPr>
        <p:spPr>
          <a:xfrm>
            <a:off x="12192000" y="3302000"/>
            <a:ext cx="381000" cy="381000"/>
          </a:xfrm>
          <a:prstGeom prst="ellipse">
            <a:avLst/>
          </a:prstGeom>
          <a:solidFill>
            <a:srgbClr val="2D3142"/>
          </a:solidFill>
          <a:ln/>
        </p:spPr>
      </p:sp>
      <p:sp>
        <p:nvSpPr>
          <p:cNvPr id="23" name="Shape 21"/>
          <p:cNvSpPr/>
          <p:nvPr/>
        </p:nvSpPr>
        <p:spPr>
          <a:xfrm>
            <a:off x="13716000" y="3302000"/>
            <a:ext cx="381000" cy="381000"/>
          </a:xfrm>
          <a:prstGeom prst="ellipse">
            <a:avLst/>
          </a:prstGeom>
          <a:solidFill>
            <a:srgbClr val="2D3142"/>
          </a:solidFill>
          <a:ln/>
        </p:spPr>
      </p:sp>
      <p:sp>
        <p:nvSpPr>
          <p:cNvPr id="24" name="Shape 22"/>
          <p:cNvSpPr/>
          <p:nvPr/>
        </p:nvSpPr>
        <p:spPr>
          <a:xfrm>
            <a:off x="12192000" y="4191000"/>
            <a:ext cx="381000" cy="381000"/>
          </a:xfrm>
          <a:prstGeom prst="ellipse">
            <a:avLst/>
          </a:prstGeom>
          <a:solidFill>
            <a:srgbClr val="2D3142"/>
          </a:solidFill>
          <a:ln/>
        </p:spPr>
      </p:sp>
      <p:sp>
        <p:nvSpPr>
          <p:cNvPr id="25" name="Shape 23"/>
          <p:cNvSpPr/>
          <p:nvPr/>
        </p:nvSpPr>
        <p:spPr>
          <a:xfrm>
            <a:off x="13716000" y="4191000"/>
            <a:ext cx="381000" cy="381000"/>
          </a:xfrm>
          <a:prstGeom prst="ellipse">
            <a:avLst/>
          </a:prstGeom>
          <a:solidFill>
            <a:srgbClr val="2D3142"/>
          </a:solidFill>
          <a:ln/>
        </p:spPr>
      </p:sp>
      <p:sp>
        <p:nvSpPr>
          <p:cNvPr id="26" name="Text 24"/>
          <p:cNvSpPr/>
          <p:nvPr/>
        </p:nvSpPr>
        <p:spPr>
          <a:xfrm>
            <a:off x="11049000" y="4699000"/>
            <a:ext cx="419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Elements arranged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around a central point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Draws attention to the center.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Focus on central element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Creates visual unity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6794500"/>
            <a:ext cx="14732000" cy="6985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28" name="Text 26"/>
          <p:cNvSpPr/>
          <p:nvPr/>
        </p:nvSpPr>
        <p:spPr>
          <a:xfrm>
            <a:off x="1143000" y="6921500"/>
            <a:ext cx="1397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weight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comes from color intensity, size, texture, and position. Balance these factors across your composition.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8636000"/>
            <a:ext cx="1524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30" name="Text 28"/>
          <p:cNvSpPr/>
          <p:nvPr/>
        </p:nvSpPr>
        <p:spPr>
          <a:xfrm>
            <a:off x="14986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D8D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954000" y="317500"/>
            <a:ext cx="304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200" kern="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DESIGN PRINCIPLES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300" kern="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HARMONY &amp; UNITY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24000"/>
            <a:ext cx="7112000" cy="317500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524000"/>
            <a:ext cx="50800" cy="31750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7" name="Text 5"/>
          <p:cNvSpPr/>
          <p:nvPr/>
        </p:nvSpPr>
        <p:spPr>
          <a:xfrm>
            <a:off x="1066800" y="1714500"/>
            <a:ext cx="647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spc="100" kern="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HARMONY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66800" y="2222500"/>
            <a:ext cx="6477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pleasing arrangement of parts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into a cohesive whole — when all elements work together without competing.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Harmony creates a sense of visual "rightness" — everything feels like it belongs. Achieved through thoughtful use of color, proportion, and rhythm.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1524000"/>
            <a:ext cx="7112000" cy="317500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10" name="Shape 8"/>
          <p:cNvSpPr/>
          <p:nvPr/>
        </p:nvSpPr>
        <p:spPr>
          <a:xfrm>
            <a:off x="8382000" y="1524000"/>
            <a:ext cx="50800" cy="3175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0" y="1714500"/>
            <a:ext cx="647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spc="100" kern="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UNITY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686800" y="2222500"/>
            <a:ext cx="6477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sense that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elements belong together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achieved through consistent use of color, typography, spacing, and style.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Without unity, designs feel fragmented and chaotic. With unity, the design communicates as one integrated message rather than competing parts.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5080000"/>
            <a:ext cx="14732000" cy="2540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52705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300" kern="0" dirty="0">
                <a:solidFill>
                  <a:srgbClr val="C45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TECHNIQUES FOR ACHIEVING UNITY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397000" y="5842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52400"/>
                </a:moveTo>
                <a:cubicBezTo>
                  <a:pt x="304800" y="152936"/>
                  <a:pt x="304800" y="153472"/>
                  <a:pt x="304800" y="154007"/>
                </a:cubicBezTo>
                <a:cubicBezTo>
                  <a:pt x="304562" y="175736"/>
                  <a:pt x="284797" y="190500"/>
                  <a:pt x="263069" y="190500"/>
                </a:cubicBezTo>
                <a:lnTo>
                  <a:pt x="204787" y="190500"/>
                </a:lnTo>
                <a:cubicBezTo>
                  <a:pt x="189012" y="190500"/>
                  <a:pt x="176212" y="203299"/>
                  <a:pt x="176212" y="219075"/>
                </a:cubicBezTo>
                <a:cubicBezTo>
                  <a:pt x="176212" y="221099"/>
                  <a:pt x="176451" y="223064"/>
                  <a:pt x="176808" y="224969"/>
                </a:cubicBezTo>
                <a:cubicBezTo>
                  <a:pt x="178058" y="231041"/>
                  <a:pt x="180677" y="236875"/>
                  <a:pt x="183237" y="242768"/>
                </a:cubicBezTo>
                <a:cubicBezTo>
                  <a:pt x="186869" y="250984"/>
                  <a:pt x="190440" y="259140"/>
                  <a:pt x="190440" y="267772"/>
                </a:cubicBezTo>
                <a:cubicBezTo>
                  <a:pt x="190440" y="286702"/>
                  <a:pt x="177582" y="303907"/>
                  <a:pt x="158651" y="304681"/>
                </a:cubicBezTo>
                <a:cubicBezTo>
                  <a:pt x="156567" y="304740"/>
                  <a:pt x="154484" y="304800"/>
                  <a:pt x="152340" y="304800"/>
                </a:cubicBezTo>
                <a:cubicBezTo>
                  <a:pt x="68163" y="304800"/>
                  <a:pt x="-60" y="236577"/>
                  <a:pt x="-60" y="152400"/>
                </a:cubicBezTo>
                <a:cubicBezTo>
                  <a:pt x="-60" y="68223"/>
                  <a:pt x="68223" y="0"/>
                  <a:pt x="152400" y="0"/>
                </a:cubicBezTo>
                <a:cubicBezTo>
                  <a:pt x="236577" y="0"/>
                  <a:pt x="304800" y="68223"/>
                  <a:pt x="304800" y="152400"/>
                </a:cubicBezTo>
                <a:close/>
                <a:moveTo>
                  <a:pt x="76200" y="171450"/>
                </a:moveTo>
                <a:cubicBezTo>
                  <a:pt x="76200" y="160936"/>
                  <a:pt x="67664" y="152400"/>
                  <a:pt x="57150" y="152400"/>
                </a:cubicBezTo>
                <a:cubicBezTo>
                  <a:pt x="46636" y="152400"/>
                  <a:pt x="38100" y="160936"/>
                  <a:pt x="38100" y="171450"/>
                </a:cubicBezTo>
                <a:cubicBezTo>
                  <a:pt x="38100" y="181964"/>
                  <a:pt x="46636" y="190500"/>
                  <a:pt x="57150" y="190500"/>
                </a:cubicBezTo>
                <a:cubicBezTo>
                  <a:pt x="67664" y="190500"/>
                  <a:pt x="76200" y="181964"/>
                  <a:pt x="76200" y="171450"/>
                </a:cubicBezTo>
                <a:close/>
                <a:moveTo>
                  <a:pt x="76200" y="114300"/>
                </a:moveTo>
                <a:cubicBezTo>
                  <a:pt x="86714" y="114300"/>
                  <a:pt x="95250" y="105764"/>
                  <a:pt x="95250" y="95250"/>
                </a:cubicBezTo>
                <a:cubicBezTo>
                  <a:pt x="95250" y="84736"/>
                  <a:pt x="86714" y="76200"/>
                  <a:pt x="76200" y="76200"/>
                </a:cubicBezTo>
                <a:cubicBezTo>
                  <a:pt x="65686" y="76200"/>
                  <a:pt x="57150" y="84736"/>
                  <a:pt x="57150" y="95250"/>
                </a:cubicBezTo>
                <a:cubicBezTo>
                  <a:pt x="57150" y="105764"/>
                  <a:pt x="65686" y="114300"/>
                  <a:pt x="76200" y="114300"/>
                </a:cubicBezTo>
                <a:close/>
                <a:moveTo>
                  <a:pt x="171450" y="57150"/>
                </a:moveTo>
                <a:cubicBezTo>
                  <a:pt x="171450" y="46636"/>
                  <a:pt x="162914" y="38100"/>
                  <a:pt x="152400" y="38100"/>
                </a:cubicBezTo>
                <a:cubicBezTo>
                  <a:pt x="141886" y="38100"/>
                  <a:pt x="133350" y="46636"/>
                  <a:pt x="133350" y="57150"/>
                </a:cubicBezTo>
                <a:cubicBezTo>
                  <a:pt x="133350" y="67664"/>
                  <a:pt x="141886" y="76200"/>
                  <a:pt x="152400" y="76200"/>
                </a:cubicBezTo>
                <a:cubicBezTo>
                  <a:pt x="162914" y="76200"/>
                  <a:pt x="171450" y="67664"/>
                  <a:pt x="171450" y="57150"/>
                </a:cubicBezTo>
                <a:close/>
                <a:moveTo>
                  <a:pt x="228600" y="114300"/>
                </a:moveTo>
                <a:cubicBezTo>
                  <a:pt x="239114" y="114300"/>
                  <a:pt x="247650" y="105764"/>
                  <a:pt x="247650" y="95250"/>
                </a:cubicBezTo>
                <a:cubicBezTo>
                  <a:pt x="247650" y="84736"/>
                  <a:pt x="239114" y="76200"/>
                  <a:pt x="228600" y="76200"/>
                </a:cubicBezTo>
                <a:cubicBezTo>
                  <a:pt x="218086" y="76200"/>
                  <a:pt x="209550" y="84736"/>
                  <a:pt x="209550" y="95250"/>
                </a:cubicBezTo>
                <a:cubicBezTo>
                  <a:pt x="209550" y="105764"/>
                  <a:pt x="218086" y="114300"/>
                  <a:pt x="228600" y="114300"/>
                </a:cubicBezTo>
                <a:close/>
              </a:path>
            </a:pathLst>
          </a:custGeom>
          <a:solidFill>
            <a:srgbClr val="C45D3E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6273800"/>
            <a:ext cx="304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Consistent Color Palette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 to 2-4 colors throughout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953000" y="5842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69724" y="30182"/>
                </a:moveTo>
                <a:cubicBezTo>
                  <a:pt x="166628" y="23396"/>
                  <a:pt x="159841" y="19050"/>
                  <a:pt x="152400" y="19050"/>
                </a:cubicBezTo>
                <a:cubicBezTo>
                  <a:pt x="144959" y="19050"/>
                  <a:pt x="138172" y="23396"/>
                  <a:pt x="135076" y="30182"/>
                </a:cubicBezTo>
                <a:lnTo>
                  <a:pt x="35421" y="247650"/>
                </a:lnTo>
                <a:lnTo>
                  <a:pt x="28575" y="247650"/>
                </a:lnTo>
                <a:cubicBezTo>
                  <a:pt x="18038" y="247650"/>
                  <a:pt x="9525" y="256163"/>
                  <a:pt x="9525" y="266700"/>
                </a:cubicBezTo>
                <a:cubicBezTo>
                  <a:pt x="9525" y="277237"/>
                  <a:pt x="18038" y="285750"/>
                  <a:pt x="28575" y="285750"/>
                </a:cubicBezTo>
                <a:lnTo>
                  <a:pt x="80962" y="285750"/>
                </a:lnTo>
                <a:cubicBezTo>
                  <a:pt x="91500" y="285750"/>
                  <a:pt x="100013" y="277237"/>
                  <a:pt x="100013" y="266700"/>
                </a:cubicBezTo>
                <a:cubicBezTo>
                  <a:pt x="100013" y="256163"/>
                  <a:pt x="91500" y="247650"/>
                  <a:pt x="80962" y="247650"/>
                </a:cubicBezTo>
                <a:lnTo>
                  <a:pt x="77331" y="247650"/>
                </a:lnTo>
                <a:lnTo>
                  <a:pt x="90428" y="219075"/>
                </a:lnTo>
                <a:lnTo>
                  <a:pt x="214432" y="219075"/>
                </a:lnTo>
                <a:lnTo>
                  <a:pt x="227528" y="247650"/>
                </a:lnTo>
                <a:lnTo>
                  <a:pt x="223897" y="247650"/>
                </a:lnTo>
                <a:cubicBezTo>
                  <a:pt x="213360" y="247650"/>
                  <a:pt x="204847" y="256163"/>
                  <a:pt x="204847" y="266700"/>
                </a:cubicBezTo>
                <a:cubicBezTo>
                  <a:pt x="204847" y="277237"/>
                  <a:pt x="213360" y="285750"/>
                  <a:pt x="223897" y="285750"/>
                </a:cubicBezTo>
                <a:lnTo>
                  <a:pt x="276285" y="285750"/>
                </a:lnTo>
                <a:cubicBezTo>
                  <a:pt x="286822" y="285750"/>
                  <a:pt x="295335" y="277237"/>
                  <a:pt x="295335" y="266700"/>
                </a:cubicBezTo>
                <a:cubicBezTo>
                  <a:pt x="295335" y="256163"/>
                  <a:pt x="286822" y="247650"/>
                  <a:pt x="276285" y="247650"/>
                </a:cubicBezTo>
                <a:lnTo>
                  <a:pt x="269438" y="247650"/>
                </a:lnTo>
                <a:lnTo>
                  <a:pt x="169783" y="30182"/>
                </a:lnTo>
                <a:close/>
                <a:moveTo>
                  <a:pt x="196929" y="180975"/>
                </a:moveTo>
                <a:lnTo>
                  <a:pt x="107871" y="180975"/>
                </a:lnTo>
                <a:lnTo>
                  <a:pt x="152400" y="83820"/>
                </a:lnTo>
                <a:lnTo>
                  <a:pt x="196929" y="180975"/>
                </a:lnTo>
                <a:close/>
              </a:path>
            </a:pathLst>
          </a:custGeom>
          <a:solidFill>
            <a:srgbClr val="C45D3E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6273800"/>
            <a:ext cx="304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Limited Typefaces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1-2 fonts maximum per design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82000" y="5842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0154" y="70604"/>
                </a:moveTo>
                <a:cubicBezTo>
                  <a:pt x="287595" y="63163"/>
                  <a:pt x="287595" y="51078"/>
                  <a:pt x="280154" y="43636"/>
                </a:cubicBezTo>
                <a:lnTo>
                  <a:pt x="242054" y="5536"/>
                </a:lnTo>
                <a:cubicBezTo>
                  <a:pt x="236577" y="60"/>
                  <a:pt x="228421" y="-1548"/>
                  <a:pt x="221278" y="1429"/>
                </a:cubicBezTo>
                <a:cubicBezTo>
                  <a:pt x="214134" y="4405"/>
                  <a:pt x="209550" y="11370"/>
                  <a:pt x="209550" y="19050"/>
                </a:cubicBezTo>
                <a:lnTo>
                  <a:pt x="209550" y="38100"/>
                </a:lnTo>
                <a:lnTo>
                  <a:pt x="114300" y="38100"/>
                </a:lnTo>
                <a:cubicBezTo>
                  <a:pt x="51197" y="38100"/>
                  <a:pt x="0" y="89297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cubicBezTo>
                  <a:pt x="29587" y="171450"/>
                  <a:pt x="38100" y="162937"/>
                  <a:pt x="38100" y="152400"/>
                </a:cubicBezTo>
                <a:cubicBezTo>
                  <a:pt x="38100" y="110311"/>
                  <a:pt x="72211" y="76200"/>
                  <a:pt x="114300" y="76200"/>
                </a:cubicBezTo>
                <a:lnTo>
                  <a:pt x="209550" y="76200"/>
                </a:lnTo>
                <a:lnTo>
                  <a:pt x="209550" y="95250"/>
                </a:lnTo>
                <a:cubicBezTo>
                  <a:pt x="209550" y="102930"/>
                  <a:pt x="214193" y="109895"/>
                  <a:pt x="221337" y="112871"/>
                </a:cubicBezTo>
                <a:cubicBezTo>
                  <a:pt x="228481" y="115848"/>
                  <a:pt x="236637" y="114181"/>
                  <a:pt x="242114" y="108764"/>
                </a:cubicBezTo>
                <a:lnTo>
                  <a:pt x="280214" y="70664"/>
                </a:lnTo>
                <a:close/>
                <a:moveTo>
                  <a:pt x="24646" y="234196"/>
                </a:moveTo>
                <a:cubicBezTo>
                  <a:pt x="17205" y="241637"/>
                  <a:pt x="17205" y="253722"/>
                  <a:pt x="24646" y="261164"/>
                </a:cubicBezTo>
                <a:lnTo>
                  <a:pt x="62746" y="299264"/>
                </a:lnTo>
                <a:cubicBezTo>
                  <a:pt x="68223" y="304740"/>
                  <a:pt x="76379" y="306348"/>
                  <a:pt x="83522" y="303371"/>
                </a:cubicBezTo>
                <a:cubicBezTo>
                  <a:pt x="90666" y="300395"/>
                  <a:pt x="95250" y="293430"/>
                  <a:pt x="95250" y="285750"/>
                </a:cubicBezTo>
                <a:lnTo>
                  <a:pt x="95250" y="266700"/>
                </a:lnTo>
                <a:lnTo>
                  <a:pt x="190500" y="266700"/>
                </a:lnTo>
                <a:cubicBezTo>
                  <a:pt x="253603" y="266700"/>
                  <a:pt x="304800" y="215503"/>
                  <a:pt x="304800" y="152400"/>
                </a:cubicBezTo>
                <a:cubicBezTo>
                  <a:pt x="304800" y="141863"/>
                  <a:pt x="296287" y="133350"/>
                  <a:pt x="285750" y="133350"/>
                </a:cubicBezTo>
                <a:cubicBezTo>
                  <a:pt x="275213" y="133350"/>
                  <a:pt x="266700" y="141863"/>
                  <a:pt x="266700" y="152400"/>
                </a:cubicBezTo>
                <a:cubicBezTo>
                  <a:pt x="266700" y="194489"/>
                  <a:pt x="232589" y="228600"/>
                  <a:pt x="190500" y="228600"/>
                </a:cubicBezTo>
                <a:lnTo>
                  <a:pt x="95250" y="228600"/>
                </a:lnTo>
                <a:lnTo>
                  <a:pt x="95250" y="209550"/>
                </a:lnTo>
                <a:cubicBezTo>
                  <a:pt x="95250" y="201870"/>
                  <a:pt x="90607" y="194905"/>
                  <a:pt x="83463" y="191929"/>
                </a:cubicBezTo>
                <a:cubicBezTo>
                  <a:pt x="76319" y="188952"/>
                  <a:pt x="68163" y="190619"/>
                  <a:pt x="62686" y="196036"/>
                </a:cubicBezTo>
                <a:lnTo>
                  <a:pt x="24586" y="234136"/>
                </a:lnTo>
                <a:close/>
              </a:path>
            </a:pathLst>
          </a:custGeom>
          <a:solidFill>
            <a:srgbClr val="C45D3E"/>
          </a:solidFill>
          <a:ln/>
        </p:spPr>
      </p:sp>
      <p:sp>
        <p:nvSpPr>
          <p:cNvPr id="20" name="Text 18"/>
          <p:cNvSpPr/>
          <p:nvPr/>
        </p:nvSpPr>
        <p:spPr>
          <a:xfrm>
            <a:off x="8001000" y="6273800"/>
            <a:ext cx="304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Repeating Motifs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Reuse shapes, patterns, icons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1957050" y="58420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595" y="262950"/>
                </a:moveTo>
                <a:cubicBezTo>
                  <a:pt x="3274" y="275927"/>
                  <a:pt x="14764" y="285750"/>
                  <a:pt x="28575" y="285750"/>
                </a:cubicBezTo>
                <a:lnTo>
                  <a:pt x="238125" y="285750"/>
                </a:lnTo>
                <a:cubicBezTo>
                  <a:pt x="253901" y="285750"/>
                  <a:pt x="266700" y="272951"/>
                  <a:pt x="266700" y="257175"/>
                </a:cubicBezTo>
                <a:lnTo>
                  <a:pt x="266700" y="200025"/>
                </a:lnTo>
                <a:cubicBezTo>
                  <a:pt x="266700" y="184249"/>
                  <a:pt x="253901" y="171450"/>
                  <a:pt x="238125" y="171450"/>
                </a:cubicBezTo>
                <a:lnTo>
                  <a:pt x="209550" y="171450"/>
                </a:lnTo>
                <a:lnTo>
                  <a:pt x="209550" y="214313"/>
                </a:lnTo>
                <a:cubicBezTo>
                  <a:pt x="209550" y="222230"/>
                  <a:pt x="203180" y="228600"/>
                  <a:pt x="195263" y="228600"/>
                </a:cubicBezTo>
                <a:cubicBezTo>
                  <a:pt x="187345" y="228600"/>
                  <a:pt x="180975" y="222230"/>
                  <a:pt x="180975" y="214313"/>
                </a:cubicBezTo>
                <a:lnTo>
                  <a:pt x="180975" y="171450"/>
                </a:lnTo>
                <a:lnTo>
                  <a:pt x="142875" y="171450"/>
                </a:lnTo>
                <a:lnTo>
                  <a:pt x="142875" y="214313"/>
                </a:lnTo>
                <a:cubicBezTo>
                  <a:pt x="142875" y="222230"/>
                  <a:pt x="136505" y="228600"/>
                  <a:pt x="128588" y="228600"/>
                </a:cubicBezTo>
                <a:cubicBezTo>
                  <a:pt x="120670" y="228600"/>
                  <a:pt x="114300" y="222230"/>
                  <a:pt x="114300" y="214313"/>
                </a:cubicBezTo>
                <a:lnTo>
                  <a:pt x="114300" y="171450"/>
                </a:lnTo>
                <a:lnTo>
                  <a:pt x="71438" y="171450"/>
                </a:lnTo>
                <a:cubicBezTo>
                  <a:pt x="63520" y="171450"/>
                  <a:pt x="57150" y="165080"/>
                  <a:pt x="57150" y="157163"/>
                </a:cubicBezTo>
                <a:cubicBezTo>
                  <a:pt x="57150" y="149245"/>
                  <a:pt x="63520" y="142875"/>
                  <a:pt x="71438" y="142875"/>
                </a:cubicBezTo>
                <a:lnTo>
                  <a:pt x="114300" y="142875"/>
                </a:lnTo>
                <a:lnTo>
                  <a:pt x="114300" y="104775"/>
                </a:lnTo>
                <a:lnTo>
                  <a:pt x="71438" y="104775"/>
                </a:lnTo>
                <a:cubicBezTo>
                  <a:pt x="63520" y="104775"/>
                  <a:pt x="57150" y="98405"/>
                  <a:pt x="57150" y="90488"/>
                </a:cubicBezTo>
                <a:cubicBezTo>
                  <a:pt x="57150" y="82570"/>
                  <a:pt x="63520" y="76200"/>
                  <a:pt x="71438" y="76200"/>
                </a:cubicBezTo>
                <a:lnTo>
                  <a:pt x="114300" y="76200"/>
                </a:lnTo>
                <a:lnTo>
                  <a:pt x="114300" y="47625"/>
                </a:lnTo>
                <a:cubicBezTo>
                  <a:pt x="114300" y="31849"/>
                  <a:pt x="101501" y="19050"/>
                  <a:pt x="85725" y="19050"/>
                </a:cubicBezTo>
                <a:lnTo>
                  <a:pt x="28575" y="19050"/>
                </a:lnTo>
                <a:cubicBezTo>
                  <a:pt x="12799" y="19050"/>
                  <a:pt x="0" y="31849"/>
                  <a:pt x="0" y="47625"/>
                </a:cubicBezTo>
                <a:lnTo>
                  <a:pt x="0" y="257175"/>
                </a:lnTo>
                <a:cubicBezTo>
                  <a:pt x="0" y="259140"/>
                  <a:pt x="179" y="261104"/>
                  <a:pt x="595" y="262950"/>
                </a:cubicBezTo>
                <a:close/>
              </a:path>
            </a:pathLst>
          </a:custGeom>
          <a:solidFill>
            <a:srgbClr val="C45D3E"/>
          </a:solidFill>
          <a:ln/>
        </p:spPr>
      </p:sp>
      <p:sp>
        <p:nvSpPr>
          <p:cNvPr id="22" name="Text 20"/>
          <p:cNvSpPr/>
          <p:nvPr/>
        </p:nvSpPr>
        <p:spPr>
          <a:xfrm>
            <a:off x="11557000" y="6273800"/>
            <a:ext cx="304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Uniform Spacing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Consistent margins and grids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8636000"/>
            <a:ext cx="1524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24" name="Text 22"/>
          <p:cNvSpPr/>
          <p:nvPr/>
        </p:nvSpPr>
        <p:spPr>
          <a:xfrm>
            <a:off x="14986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D8D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954000" y="317500"/>
            <a:ext cx="304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200" kern="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DESIGN PRINCIPLES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300" kern="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CLOSURE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24000"/>
            <a:ext cx="7112000" cy="254000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524000"/>
            <a:ext cx="50800" cy="25400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7" name="Text 5"/>
          <p:cNvSpPr/>
          <p:nvPr/>
        </p:nvSpPr>
        <p:spPr>
          <a:xfrm>
            <a:off x="1066800" y="16764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300" kern="0" dirty="0">
                <a:solidFill>
                  <a:srgbClr val="C45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GESTALT PRINCIPLE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6800" y="2032000"/>
            <a:ext cx="6477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human brain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naturally fills in missing information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perceive complete shapes. We see whole forms rather than collections of disconnected parts.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mind seeks completeness — it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700" b="1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actively completes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what is only partially shown.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1524000"/>
            <a:ext cx="7112000" cy="2540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0" y="16764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300" kern="0" dirty="0">
                <a:solidFill>
                  <a:srgbClr val="C45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FAMOUS EXAMPLE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0" y="2057400"/>
            <a:ext cx="6477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WWF panda logo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uses incomplete shapes that the viewer's mind completes into a recognizable panda.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226800" y="2857500"/>
            <a:ext cx="1016000" cy="1016000"/>
          </a:xfrm>
          <a:prstGeom prst="ellipse">
            <a:avLst/>
          </a:prstGeom>
          <a:solidFill>
            <a:srgbClr val="F5F1EB">
              <a:alpha val="12549"/>
            </a:srgbClr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53800" y="2768600"/>
            <a:ext cx="279400" cy="2794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1836400" y="2768600"/>
            <a:ext cx="279400" cy="2794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11493500" y="3149600"/>
            <a:ext cx="203200" cy="254000"/>
          </a:xfrm>
          <a:prstGeom prst="ellipse">
            <a:avLst/>
          </a:prstGeom>
          <a:solidFill>
            <a:srgbClr val="2D3142"/>
          </a:solidFill>
          <a:ln/>
        </p:spPr>
      </p:sp>
      <p:sp>
        <p:nvSpPr>
          <p:cNvPr id="16" name="Shape 14"/>
          <p:cNvSpPr/>
          <p:nvPr/>
        </p:nvSpPr>
        <p:spPr>
          <a:xfrm>
            <a:off x="11772900" y="3149600"/>
            <a:ext cx="203200" cy="254000"/>
          </a:xfrm>
          <a:prstGeom prst="ellipse">
            <a:avLst/>
          </a:prstGeom>
          <a:solidFill>
            <a:srgbClr val="2D3142"/>
          </a:solidFill>
          <a:ln/>
        </p:spPr>
      </p:sp>
      <p:sp>
        <p:nvSpPr>
          <p:cNvPr id="17" name="Shape 15"/>
          <p:cNvSpPr/>
          <p:nvPr/>
        </p:nvSpPr>
        <p:spPr>
          <a:xfrm>
            <a:off x="11633200" y="3454400"/>
            <a:ext cx="203200" cy="152400"/>
          </a:xfrm>
          <a:prstGeom prst="ellipse">
            <a:avLst/>
          </a:prstGeom>
          <a:solidFill>
            <a:srgbClr val="2D3142"/>
          </a:solidFill>
          <a:ln/>
        </p:spPr>
      </p:sp>
      <p:sp>
        <p:nvSpPr>
          <p:cNvPr id="18" name="Shape 16"/>
          <p:cNvSpPr/>
          <p:nvPr/>
        </p:nvSpPr>
        <p:spPr>
          <a:xfrm>
            <a:off x="762000" y="4445000"/>
            <a:ext cx="14732000" cy="292100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19" name="Text 17"/>
          <p:cNvSpPr/>
          <p:nvPr/>
        </p:nvSpPr>
        <p:spPr>
          <a:xfrm>
            <a:off x="1066800" y="45974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300" kern="0" dirty="0">
                <a:solidFill>
                  <a:srgbClr val="C45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APPLICATIONS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66800" y="5016500"/>
            <a:ext cx="673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negative space creatively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don't show everything. Let the viewer's brain engage and complete the image.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82000" y="5016500"/>
            <a:ext cx="673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visual interest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through partial shapes, cut-off elements, and implied forms that invite active participation.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66800" y="6223000"/>
            <a:ext cx="13970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8D8D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Logo design with implied shapes (FedEx arrow, NBC peacock)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8D8D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UI design using partial icons that users instantly recognize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8D8D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Photography with subjects partially out of frame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8636000"/>
            <a:ext cx="1524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24" name="Text 22"/>
          <p:cNvSpPr/>
          <p:nvPr/>
        </p:nvSpPr>
        <p:spPr>
          <a:xfrm>
            <a:off x="14986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D8D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954000" y="317500"/>
            <a:ext cx="304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200" kern="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DESIGN PRINCIPLES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300" kern="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PROXIMITY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14732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Proximity Principle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states that items placed close together are perceived as related; items spaced apart are seen as separate. One of the most powerful tools for creating visual hierarchy.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476500"/>
            <a:ext cx="7112000" cy="330200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6416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300" kern="0" dirty="0">
                <a:solidFill>
                  <a:srgbClr val="C45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GOOD PROXIMITY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43000" y="3111500"/>
            <a:ext cx="3048000" cy="1016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9" name="Text 7"/>
          <p:cNvSpPr/>
          <p:nvPr/>
        </p:nvSpPr>
        <p:spPr>
          <a:xfrm>
            <a:off x="1270000" y="3238500"/>
            <a:ext cx="279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 A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Item 1, Item 2, Item 3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45000" y="3111500"/>
            <a:ext cx="3048000" cy="10160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3238500"/>
            <a:ext cx="279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 B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Item 4, Item 5, Item 6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667000" y="4191000"/>
            <a:ext cx="0" cy="508000"/>
          </a:xfrm>
          <a:prstGeom prst="straightConnector1">
            <a:avLst/>
          </a:prstGeom>
          <a:noFill/>
          <a:ln w="12700">
            <a:solidFill>
              <a:srgbClr val="8D8D8D"/>
            </a:solidFill>
            <a:prstDash val="solid"/>
            <a:headEnd type="arrow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5969000" y="4191000"/>
            <a:ext cx="0" cy="508000"/>
          </a:xfrm>
          <a:prstGeom prst="straightConnector1">
            <a:avLst/>
          </a:prstGeom>
          <a:noFill/>
          <a:ln w="12700">
            <a:solidFill>
              <a:srgbClr val="8D8D8D"/>
            </a:solidFill>
            <a:prstDash val="solid"/>
            <a:headEnd type="arrow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1270000" y="4762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8D8D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Tight spacing within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4762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8D8D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Tight spacing within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16000" y="5207000"/>
            <a:ext cx="660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Clear groups, instant understanding of relationships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82000" y="2476500"/>
            <a:ext cx="7112000" cy="330200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18" name="Text 16"/>
          <p:cNvSpPr/>
          <p:nvPr/>
        </p:nvSpPr>
        <p:spPr>
          <a:xfrm>
            <a:off x="8636000" y="26416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300" kern="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POOR PROXIMITY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763000" y="3175000"/>
            <a:ext cx="1270000" cy="635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20" name="Text 18"/>
          <p:cNvSpPr/>
          <p:nvPr/>
        </p:nvSpPr>
        <p:spPr>
          <a:xfrm>
            <a:off x="8763000" y="317500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A1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287000" y="3175000"/>
            <a:ext cx="1270000" cy="6350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22" name="Text 20"/>
          <p:cNvSpPr/>
          <p:nvPr/>
        </p:nvSpPr>
        <p:spPr>
          <a:xfrm>
            <a:off x="10287000" y="317500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B1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811000" y="3175000"/>
            <a:ext cx="1270000" cy="635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24" name="Text 22"/>
          <p:cNvSpPr/>
          <p:nvPr/>
        </p:nvSpPr>
        <p:spPr>
          <a:xfrm>
            <a:off x="11811000" y="317500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A2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3335000" y="3175000"/>
            <a:ext cx="1270000" cy="6350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26" name="Text 24"/>
          <p:cNvSpPr/>
          <p:nvPr/>
        </p:nvSpPr>
        <p:spPr>
          <a:xfrm>
            <a:off x="13335000" y="317500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B2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525000" y="4064000"/>
            <a:ext cx="1270000" cy="635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28" name="Text 26"/>
          <p:cNvSpPr/>
          <p:nvPr/>
        </p:nvSpPr>
        <p:spPr>
          <a:xfrm>
            <a:off x="9525000" y="406400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A3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2573000" y="4064000"/>
            <a:ext cx="1270000" cy="6350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30" name="Text 28"/>
          <p:cNvSpPr/>
          <p:nvPr/>
        </p:nvSpPr>
        <p:spPr>
          <a:xfrm>
            <a:off x="12573000" y="406400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636000" y="5207000"/>
            <a:ext cx="660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D8D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Confusing — unclear which items belong together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62000" y="6159500"/>
            <a:ext cx="14732000" cy="1270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33" name="Text 31"/>
          <p:cNvSpPr/>
          <p:nvPr/>
        </p:nvSpPr>
        <p:spPr>
          <a:xfrm>
            <a:off x="1143000" y="6350000"/>
            <a:ext cx="1397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Principle: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Combine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generous spacing between groups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tight spacing within groups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Proximity reduces cognitive effort — the viewer instantly understands relationships without conscious analysis.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62000" y="8636000"/>
            <a:ext cx="1524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35" name="Text 33"/>
          <p:cNvSpPr/>
          <p:nvPr/>
        </p:nvSpPr>
        <p:spPr>
          <a:xfrm>
            <a:off x="14986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D8D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954000" y="317500"/>
            <a:ext cx="304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200" kern="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DESIGN PRINCIPLES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300" kern="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CONTRAST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14732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Contrast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enhances visual interest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by emphasizing differences between design elements. Without contrast, designs become monotonous; with too much, they become chaotic.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413000"/>
            <a:ext cx="9652000" cy="304800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5654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300" kern="0" dirty="0">
                <a:solidFill>
                  <a:srgbClr val="C45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CONTRAST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74750" y="30734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95250" y="254000"/>
                </a:moveTo>
                <a:cubicBezTo>
                  <a:pt x="42664" y="254000"/>
                  <a:pt x="0" y="211336"/>
                  <a:pt x="0" y="158750"/>
                </a:cubicBezTo>
                <a:cubicBezTo>
                  <a:pt x="0" y="113506"/>
                  <a:pt x="64591" y="22771"/>
                  <a:pt x="82649" y="-1736"/>
                </a:cubicBezTo>
                <a:cubicBezTo>
                  <a:pt x="85576" y="-5705"/>
                  <a:pt x="90190" y="-7937"/>
                  <a:pt x="95151" y="-7937"/>
                </a:cubicBezTo>
                <a:lnTo>
                  <a:pt x="95349" y="-7937"/>
                </a:lnTo>
                <a:cubicBezTo>
                  <a:pt x="100310" y="-7937"/>
                  <a:pt x="104924" y="-5705"/>
                  <a:pt x="107851" y="-1736"/>
                </a:cubicBezTo>
                <a:cubicBezTo>
                  <a:pt x="125909" y="22771"/>
                  <a:pt x="190500" y="113506"/>
                  <a:pt x="190500" y="158750"/>
                </a:cubicBezTo>
                <a:cubicBezTo>
                  <a:pt x="190500" y="211336"/>
                  <a:pt x="147836" y="254000"/>
                  <a:pt x="95250" y="254000"/>
                </a:cubicBezTo>
                <a:close/>
                <a:moveTo>
                  <a:pt x="55563" y="154781"/>
                </a:moveTo>
                <a:cubicBezTo>
                  <a:pt x="55563" y="148183"/>
                  <a:pt x="50254" y="142875"/>
                  <a:pt x="43656" y="142875"/>
                </a:cubicBezTo>
                <a:cubicBezTo>
                  <a:pt x="37058" y="142875"/>
                  <a:pt x="31750" y="148183"/>
                  <a:pt x="31750" y="154781"/>
                </a:cubicBezTo>
                <a:cubicBezTo>
                  <a:pt x="31750" y="192038"/>
                  <a:pt x="61962" y="222250"/>
                  <a:pt x="99219" y="222250"/>
                </a:cubicBezTo>
                <a:cubicBezTo>
                  <a:pt x="105817" y="222250"/>
                  <a:pt x="111125" y="216942"/>
                  <a:pt x="111125" y="210344"/>
                </a:cubicBezTo>
                <a:cubicBezTo>
                  <a:pt x="111125" y="203746"/>
                  <a:pt x="105817" y="198438"/>
                  <a:pt x="99219" y="198438"/>
                </a:cubicBezTo>
                <a:cubicBezTo>
                  <a:pt x="75109" y="198438"/>
                  <a:pt x="55563" y="178891"/>
                  <a:pt x="55563" y="154781"/>
                </a:cubicBezTo>
                <a:close/>
              </a:path>
            </a:pathLst>
          </a:custGeom>
          <a:solidFill>
            <a:srgbClr val="C45D3E"/>
          </a:solidFill>
          <a:ln/>
        </p:spPr>
      </p:sp>
      <p:sp>
        <p:nvSpPr>
          <p:cNvPr id="9" name="Text 7"/>
          <p:cNvSpPr/>
          <p:nvPr/>
        </p:nvSpPr>
        <p:spPr>
          <a:xfrm>
            <a:off x="1524000" y="3022600"/>
            <a:ext cx="3556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Color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light vs. dark, warm vs. cool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58875" y="36830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15875" y="15875"/>
                </a:moveTo>
                <a:cubicBezTo>
                  <a:pt x="7094" y="15875"/>
                  <a:pt x="0" y="22969"/>
                  <a:pt x="0" y="31750"/>
                </a:cubicBezTo>
                <a:lnTo>
                  <a:pt x="0" y="79375"/>
                </a:lnTo>
                <a:cubicBezTo>
                  <a:pt x="0" y="88156"/>
                  <a:pt x="7094" y="95250"/>
                  <a:pt x="15875" y="95250"/>
                </a:cubicBezTo>
                <a:cubicBezTo>
                  <a:pt x="24656" y="95250"/>
                  <a:pt x="31750" y="88156"/>
                  <a:pt x="31750" y="79375"/>
                </a:cubicBezTo>
                <a:lnTo>
                  <a:pt x="31750" y="47625"/>
                </a:lnTo>
                <a:lnTo>
                  <a:pt x="63500" y="47625"/>
                </a:lnTo>
                <a:cubicBezTo>
                  <a:pt x="72281" y="47625"/>
                  <a:pt x="79375" y="40531"/>
                  <a:pt x="79375" y="31750"/>
                </a:cubicBezTo>
                <a:cubicBezTo>
                  <a:pt x="79375" y="22969"/>
                  <a:pt x="72281" y="15875"/>
                  <a:pt x="63500" y="15875"/>
                </a:cubicBezTo>
                <a:lnTo>
                  <a:pt x="15875" y="15875"/>
                </a:lnTo>
                <a:close/>
                <a:moveTo>
                  <a:pt x="31750" y="174625"/>
                </a:moveTo>
                <a:cubicBezTo>
                  <a:pt x="31750" y="165844"/>
                  <a:pt x="24656" y="158750"/>
                  <a:pt x="15875" y="158750"/>
                </a:cubicBezTo>
                <a:cubicBezTo>
                  <a:pt x="7094" y="158750"/>
                  <a:pt x="0" y="165844"/>
                  <a:pt x="0" y="174625"/>
                </a:cubicBezTo>
                <a:lnTo>
                  <a:pt x="0" y="222250"/>
                </a:lnTo>
                <a:cubicBezTo>
                  <a:pt x="0" y="231031"/>
                  <a:pt x="7094" y="238125"/>
                  <a:pt x="15875" y="238125"/>
                </a:cubicBezTo>
                <a:lnTo>
                  <a:pt x="63500" y="238125"/>
                </a:lnTo>
                <a:cubicBezTo>
                  <a:pt x="72281" y="238125"/>
                  <a:pt x="79375" y="231031"/>
                  <a:pt x="79375" y="222250"/>
                </a:cubicBezTo>
                <a:cubicBezTo>
                  <a:pt x="79375" y="213469"/>
                  <a:pt x="72281" y="206375"/>
                  <a:pt x="63500" y="206375"/>
                </a:cubicBezTo>
                <a:lnTo>
                  <a:pt x="31750" y="206375"/>
                </a:lnTo>
                <a:lnTo>
                  <a:pt x="31750" y="174625"/>
                </a:lnTo>
                <a:close/>
                <a:moveTo>
                  <a:pt x="158750" y="15875"/>
                </a:moveTo>
                <a:cubicBezTo>
                  <a:pt x="149969" y="15875"/>
                  <a:pt x="142875" y="22969"/>
                  <a:pt x="142875" y="31750"/>
                </a:cubicBezTo>
                <a:cubicBezTo>
                  <a:pt x="142875" y="40531"/>
                  <a:pt x="149969" y="47625"/>
                  <a:pt x="158750" y="47625"/>
                </a:cubicBezTo>
                <a:lnTo>
                  <a:pt x="190500" y="47625"/>
                </a:lnTo>
                <a:lnTo>
                  <a:pt x="190500" y="79375"/>
                </a:lnTo>
                <a:cubicBezTo>
                  <a:pt x="190500" y="88156"/>
                  <a:pt x="197594" y="95250"/>
                  <a:pt x="206375" y="95250"/>
                </a:cubicBezTo>
                <a:cubicBezTo>
                  <a:pt x="215156" y="95250"/>
                  <a:pt x="222250" y="88156"/>
                  <a:pt x="222250" y="79375"/>
                </a:cubicBezTo>
                <a:lnTo>
                  <a:pt x="222250" y="31750"/>
                </a:lnTo>
                <a:cubicBezTo>
                  <a:pt x="222250" y="22969"/>
                  <a:pt x="215156" y="15875"/>
                  <a:pt x="206375" y="15875"/>
                </a:cubicBezTo>
                <a:lnTo>
                  <a:pt x="158750" y="15875"/>
                </a:lnTo>
                <a:close/>
                <a:moveTo>
                  <a:pt x="222250" y="174625"/>
                </a:moveTo>
                <a:cubicBezTo>
                  <a:pt x="222250" y="165844"/>
                  <a:pt x="215156" y="158750"/>
                  <a:pt x="206375" y="158750"/>
                </a:cubicBezTo>
                <a:cubicBezTo>
                  <a:pt x="197594" y="158750"/>
                  <a:pt x="190500" y="165844"/>
                  <a:pt x="190500" y="174625"/>
                </a:cubicBezTo>
                <a:lnTo>
                  <a:pt x="190500" y="206375"/>
                </a:lnTo>
                <a:lnTo>
                  <a:pt x="158750" y="206375"/>
                </a:lnTo>
                <a:cubicBezTo>
                  <a:pt x="149969" y="206375"/>
                  <a:pt x="142875" y="213469"/>
                  <a:pt x="142875" y="222250"/>
                </a:cubicBezTo>
                <a:cubicBezTo>
                  <a:pt x="142875" y="231031"/>
                  <a:pt x="149969" y="238125"/>
                  <a:pt x="158750" y="238125"/>
                </a:cubicBezTo>
                <a:lnTo>
                  <a:pt x="206375" y="238125"/>
                </a:lnTo>
                <a:cubicBezTo>
                  <a:pt x="215156" y="238125"/>
                  <a:pt x="222250" y="231031"/>
                  <a:pt x="222250" y="222250"/>
                </a:cubicBezTo>
                <a:lnTo>
                  <a:pt x="222250" y="174625"/>
                </a:lnTo>
                <a:close/>
              </a:path>
            </a:pathLst>
          </a:custGeom>
          <a:solidFill>
            <a:srgbClr val="C45D3E"/>
          </a:solidFill>
          <a:ln/>
        </p:spPr>
      </p:sp>
      <p:sp>
        <p:nvSpPr>
          <p:cNvPr id="11" name="Text 9"/>
          <p:cNvSpPr/>
          <p:nvPr/>
        </p:nvSpPr>
        <p:spPr>
          <a:xfrm>
            <a:off x="1524000" y="3657600"/>
            <a:ext cx="3556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Size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large vs. small elements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43000" y="4292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32556" y="0"/>
                  <a:pt x="137765" y="2927"/>
                  <a:pt x="140593" y="7689"/>
                </a:cubicBezTo>
                <a:lnTo>
                  <a:pt x="188218" y="87064"/>
                </a:lnTo>
                <a:cubicBezTo>
                  <a:pt x="191145" y="91976"/>
                  <a:pt x="191244" y="98078"/>
                  <a:pt x="188416" y="103039"/>
                </a:cubicBezTo>
                <a:cubicBezTo>
                  <a:pt x="185589" y="108000"/>
                  <a:pt x="180330" y="111125"/>
                  <a:pt x="174625" y="111125"/>
                </a:cubicBezTo>
                <a:lnTo>
                  <a:pt x="79375" y="111125"/>
                </a:lnTo>
                <a:cubicBezTo>
                  <a:pt x="73670" y="111125"/>
                  <a:pt x="68362" y="108049"/>
                  <a:pt x="65584" y="103088"/>
                </a:cubicBezTo>
                <a:cubicBezTo>
                  <a:pt x="62805" y="98127"/>
                  <a:pt x="62855" y="92025"/>
                  <a:pt x="65782" y="87114"/>
                </a:cubicBezTo>
                <a:lnTo>
                  <a:pt x="113407" y="7739"/>
                </a:lnTo>
                <a:cubicBezTo>
                  <a:pt x="116235" y="2927"/>
                  <a:pt x="121444" y="0"/>
                  <a:pt x="127000" y="0"/>
                </a:cubicBezTo>
                <a:close/>
                <a:moveTo>
                  <a:pt x="63500" y="134938"/>
                </a:moveTo>
                <a:cubicBezTo>
                  <a:pt x="94166" y="134938"/>
                  <a:pt x="119063" y="159834"/>
                  <a:pt x="119063" y="190500"/>
                </a:cubicBezTo>
                <a:cubicBezTo>
                  <a:pt x="119063" y="221166"/>
                  <a:pt x="94166" y="246063"/>
                  <a:pt x="63500" y="246063"/>
                </a:cubicBezTo>
                <a:cubicBezTo>
                  <a:pt x="32834" y="246063"/>
                  <a:pt x="7938" y="221166"/>
                  <a:pt x="7938" y="190500"/>
                </a:cubicBezTo>
                <a:cubicBezTo>
                  <a:pt x="7938" y="159834"/>
                  <a:pt x="32834" y="134938"/>
                  <a:pt x="63500" y="134938"/>
                </a:cubicBezTo>
                <a:close/>
                <a:moveTo>
                  <a:pt x="162719" y="142875"/>
                </a:moveTo>
                <a:lnTo>
                  <a:pt x="218281" y="142875"/>
                </a:lnTo>
                <a:cubicBezTo>
                  <a:pt x="229245" y="142875"/>
                  <a:pt x="238125" y="151755"/>
                  <a:pt x="238125" y="162719"/>
                </a:cubicBezTo>
                <a:lnTo>
                  <a:pt x="238125" y="218281"/>
                </a:lnTo>
                <a:cubicBezTo>
                  <a:pt x="238125" y="229245"/>
                  <a:pt x="229245" y="238125"/>
                  <a:pt x="218281" y="238125"/>
                </a:cubicBezTo>
                <a:lnTo>
                  <a:pt x="162719" y="238125"/>
                </a:lnTo>
                <a:cubicBezTo>
                  <a:pt x="151755" y="238125"/>
                  <a:pt x="142875" y="229245"/>
                  <a:pt x="142875" y="218281"/>
                </a:cubicBezTo>
                <a:lnTo>
                  <a:pt x="142875" y="162719"/>
                </a:lnTo>
                <a:cubicBezTo>
                  <a:pt x="142875" y="151755"/>
                  <a:pt x="151755" y="142875"/>
                  <a:pt x="162719" y="142875"/>
                </a:cubicBezTo>
                <a:close/>
              </a:path>
            </a:pathLst>
          </a:custGeom>
          <a:solidFill>
            <a:srgbClr val="C45D3E"/>
          </a:solidFill>
          <a:ln/>
        </p:spPr>
      </p:sp>
      <p:sp>
        <p:nvSpPr>
          <p:cNvPr id="13" name="Text 11"/>
          <p:cNvSpPr/>
          <p:nvPr/>
        </p:nvSpPr>
        <p:spPr>
          <a:xfrm>
            <a:off x="1524000" y="4292600"/>
            <a:ext cx="3556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Shape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geometric vs. organic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11750" y="30734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39688" y="71438"/>
                </a:moveTo>
                <a:cubicBezTo>
                  <a:pt x="61592" y="71438"/>
                  <a:pt x="79375" y="53654"/>
                  <a:pt x="79375" y="31750"/>
                </a:cubicBezTo>
                <a:cubicBezTo>
                  <a:pt x="79375" y="9846"/>
                  <a:pt x="61592" y="-7937"/>
                  <a:pt x="39688" y="-7937"/>
                </a:cubicBezTo>
                <a:cubicBezTo>
                  <a:pt x="17783" y="-7937"/>
                  <a:pt x="0" y="9846"/>
                  <a:pt x="0" y="31750"/>
                </a:cubicBezTo>
                <a:cubicBezTo>
                  <a:pt x="0" y="53654"/>
                  <a:pt x="17783" y="71438"/>
                  <a:pt x="39687" y="71438"/>
                </a:cubicBezTo>
                <a:close/>
                <a:moveTo>
                  <a:pt x="39688" y="166688"/>
                </a:moveTo>
                <a:cubicBezTo>
                  <a:pt x="61592" y="166688"/>
                  <a:pt x="79375" y="148904"/>
                  <a:pt x="79375" y="127000"/>
                </a:cubicBezTo>
                <a:cubicBezTo>
                  <a:pt x="79375" y="105096"/>
                  <a:pt x="61592" y="87313"/>
                  <a:pt x="39688" y="87313"/>
                </a:cubicBezTo>
                <a:cubicBezTo>
                  <a:pt x="17783" y="87313"/>
                  <a:pt x="0" y="105096"/>
                  <a:pt x="0" y="127000"/>
                </a:cubicBezTo>
                <a:cubicBezTo>
                  <a:pt x="0" y="148904"/>
                  <a:pt x="17783" y="166688"/>
                  <a:pt x="39687" y="166688"/>
                </a:cubicBezTo>
                <a:close/>
                <a:moveTo>
                  <a:pt x="39688" y="234156"/>
                </a:moveTo>
                <a:cubicBezTo>
                  <a:pt x="33089" y="234156"/>
                  <a:pt x="27781" y="228848"/>
                  <a:pt x="27781" y="222250"/>
                </a:cubicBezTo>
                <a:cubicBezTo>
                  <a:pt x="27781" y="215652"/>
                  <a:pt x="33089" y="210344"/>
                  <a:pt x="39688" y="210344"/>
                </a:cubicBezTo>
                <a:cubicBezTo>
                  <a:pt x="46286" y="210344"/>
                  <a:pt x="51594" y="215652"/>
                  <a:pt x="51594" y="222250"/>
                </a:cubicBezTo>
                <a:cubicBezTo>
                  <a:pt x="51594" y="228848"/>
                  <a:pt x="46286" y="234156"/>
                  <a:pt x="39688" y="234156"/>
                </a:cubicBezTo>
                <a:close/>
                <a:moveTo>
                  <a:pt x="39688" y="261937"/>
                </a:moveTo>
                <a:cubicBezTo>
                  <a:pt x="61615" y="261937"/>
                  <a:pt x="79375" y="244177"/>
                  <a:pt x="79375" y="222250"/>
                </a:cubicBezTo>
                <a:cubicBezTo>
                  <a:pt x="79375" y="200323"/>
                  <a:pt x="61615" y="182563"/>
                  <a:pt x="39688" y="182563"/>
                </a:cubicBezTo>
                <a:cubicBezTo>
                  <a:pt x="17760" y="182563"/>
                  <a:pt x="0" y="200323"/>
                  <a:pt x="0" y="222250"/>
                </a:cubicBezTo>
                <a:cubicBezTo>
                  <a:pt x="0" y="244177"/>
                  <a:pt x="17760" y="261937"/>
                  <a:pt x="39688" y="261937"/>
                </a:cubicBezTo>
                <a:close/>
                <a:moveTo>
                  <a:pt x="162719" y="222250"/>
                </a:moveTo>
                <a:cubicBezTo>
                  <a:pt x="162719" y="228848"/>
                  <a:pt x="157411" y="234156"/>
                  <a:pt x="150813" y="234156"/>
                </a:cubicBezTo>
                <a:cubicBezTo>
                  <a:pt x="144214" y="234156"/>
                  <a:pt x="138906" y="228848"/>
                  <a:pt x="138906" y="222250"/>
                </a:cubicBezTo>
                <a:cubicBezTo>
                  <a:pt x="138906" y="215652"/>
                  <a:pt x="144214" y="210344"/>
                  <a:pt x="150813" y="210344"/>
                </a:cubicBezTo>
                <a:cubicBezTo>
                  <a:pt x="157411" y="210344"/>
                  <a:pt x="162719" y="215652"/>
                  <a:pt x="162719" y="222250"/>
                </a:cubicBezTo>
                <a:close/>
                <a:moveTo>
                  <a:pt x="190500" y="222250"/>
                </a:moveTo>
                <a:cubicBezTo>
                  <a:pt x="190500" y="200323"/>
                  <a:pt x="172740" y="182563"/>
                  <a:pt x="150813" y="182563"/>
                </a:cubicBezTo>
                <a:cubicBezTo>
                  <a:pt x="128885" y="182563"/>
                  <a:pt x="111125" y="200323"/>
                  <a:pt x="111125" y="222250"/>
                </a:cubicBezTo>
                <a:cubicBezTo>
                  <a:pt x="111125" y="244177"/>
                  <a:pt x="128885" y="261937"/>
                  <a:pt x="150813" y="261937"/>
                </a:cubicBezTo>
                <a:cubicBezTo>
                  <a:pt x="172740" y="261937"/>
                  <a:pt x="190500" y="244177"/>
                  <a:pt x="190500" y="222250"/>
                </a:cubicBezTo>
                <a:close/>
                <a:moveTo>
                  <a:pt x="150813" y="115094"/>
                </a:moveTo>
                <a:cubicBezTo>
                  <a:pt x="157384" y="115094"/>
                  <a:pt x="162719" y="120429"/>
                  <a:pt x="162719" y="127000"/>
                </a:cubicBezTo>
                <a:cubicBezTo>
                  <a:pt x="162719" y="133571"/>
                  <a:pt x="157384" y="138906"/>
                  <a:pt x="150813" y="138906"/>
                </a:cubicBezTo>
                <a:cubicBezTo>
                  <a:pt x="144241" y="138906"/>
                  <a:pt x="138906" y="133571"/>
                  <a:pt x="138906" y="127000"/>
                </a:cubicBezTo>
                <a:cubicBezTo>
                  <a:pt x="138906" y="120429"/>
                  <a:pt x="144241" y="115094"/>
                  <a:pt x="150813" y="115094"/>
                </a:cubicBezTo>
                <a:close/>
                <a:moveTo>
                  <a:pt x="150813" y="166688"/>
                </a:moveTo>
                <a:cubicBezTo>
                  <a:pt x="172717" y="166688"/>
                  <a:pt x="190500" y="148904"/>
                  <a:pt x="190500" y="127000"/>
                </a:cubicBezTo>
                <a:cubicBezTo>
                  <a:pt x="190500" y="105096"/>
                  <a:pt x="172717" y="87313"/>
                  <a:pt x="150813" y="87313"/>
                </a:cubicBezTo>
                <a:cubicBezTo>
                  <a:pt x="128908" y="87313"/>
                  <a:pt x="111125" y="105096"/>
                  <a:pt x="111125" y="127000"/>
                </a:cubicBezTo>
                <a:cubicBezTo>
                  <a:pt x="111125" y="148904"/>
                  <a:pt x="128908" y="166688"/>
                  <a:pt x="150813" y="166688"/>
                </a:cubicBezTo>
                <a:close/>
                <a:moveTo>
                  <a:pt x="150813" y="71438"/>
                </a:moveTo>
                <a:cubicBezTo>
                  <a:pt x="172717" y="71438"/>
                  <a:pt x="190500" y="53654"/>
                  <a:pt x="190500" y="31750"/>
                </a:cubicBezTo>
                <a:cubicBezTo>
                  <a:pt x="190500" y="9846"/>
                  <a:pt x="172717" y="-7937"/>
                  <a:pt x="150813" y="-7937"/>
                </a:cubicBezTo>
                <a:cubicBezTo>
                  <a:pt x="128908" y="-7937"/>
                  <a:pt x="111125" y="9846"/>
                  <a:pt x="111125" y="31750"/>
                </a:cubicBezTo>
                <a:cubicBezTo>
                  <a:pt x="111125" y="53654"/>
                  <a:pt x="128908" y="71438"/>
                  <a:pt x="150813" y="71438"/>
                </a:cubicBezTo>
                <a:close/>
              </a:path>
            </a:pathLst>
          </a:custGeom>
          <a:solidFill>
            <a:srgbClr val="C45D3E"/>
          </a:solidFill>
          <a:ln/>
        </p:spPr>
      </p:sp>
      <p:sp>
        <p:nvSpPr>
          <p:cNvPr id="15" name="Text 13"/>
          <p:cNvSpPr/>
          <p:nvPr/>
        </p:nvSpPr>
        <p:spPr>
          <a:xfrm>
            <a:off x="5461000" y="3022600"/>
            <a:ext cx="3556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Texture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smooth vs. rough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11750" y="36830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15875" y="15875"/>
                </a:moveTo>
                <a:cubicBezTo>
                  <a:pt x="7094" y="15875"/>
                  <a:pt x="0" y="22969"/>
                  <a:pt x="0" y="31750"/>
                </a:cubicBezTo>
                <a:cubicBezTo>
                  <a:pt x="0" y="40531"/>
                  <a:pt x="7094" y="47625"/>
                  <a:pt x="15875" y="47625"/>
                </a:cubicBezTo>
                <a:lnTo>
                  <a:pt x="31750" y="47625"/>
                </a:lnTo>
                <a:lnTo>
                  <a:pt x="31750" y="206375"/>
                </a:lnTo>
                <a:lnTo>
                  <a:pt x="15875" y="206375"/>
                </a:lnTo>
                <a:cubicBezTo>
                  <a:pt x="7094" y="206375"/>
                  <a:pt x="0" y="213469"/>
                  <a:pt x="0" y="222250"/>
                </a:cubicBezTo>
                <a:cubicBezTo>
                  <a:pt x="0" y="231031"/>
                  <a:pt x="7094" y="238125"/>
                  <a:pt x="15875" y="238125"/>
                </a:cubicBezTo>
                <a:lnTo>
                  <a:pt x="127000" y="238125"/>
                </a:lnTo>
                <a:cubicBezTo>
                  <a:pt x="162074" y="238125"/>
                  <a:pt x="190500" y="209699"/>
                  <a:pt x="190500" y="174625"/>
                </a:cubicBezTo>
                <a:cubicBezTo>
                  <a:pt x="190500" y="151557"/>
                  <a:pt x="178197" y="131316"/>
                  <a:pt x="159742" y="120204"/>
                </a:cubicBezTo>
                <a:cubicBezTo>
                  <a:pt x="169019" y="109141"/>
                  <a:pt x="174625" y="94903"/>
                  <a:pt x="174625" y="79375"/>
                </a:cubicBezTo>
                <a:cubicBezTo>
                  <a:pt x="174625" y="44301"/>
                  <a:pt x="146199" y="15875"/>
                  <a:pt x="111125" y="15875"/>
                </a:cubicBezTo>
                <a:lnTo>
                  <a:pt x="15875" y="15875"/>
                </a:lnTo>
                <a:close/>
                <a:moveTo>
                  <a:pt x="142875" y="79375"/>
                </a:moveTo>
                <a:cubicBezTo>
                  <a:pt x="142875" y="96887"/>
                  <a:pt x="128637" y="111125"/>
                  <a:pt x="111125" y="111125"/>
                </a:cubicBezTo>
                <a:lnTo>
                  <a:pt x="63500" y="111125"/>
                </a:lnTo>
                <a:lnTo>
                  <a:pt x="63500" y="47625"/>
                </a:lnTo>
                <a:lnTo>
                  <a:pt x="111125" y="47625"/>
                </a:lnTo>
                <a:cubicBezTo>
                  <a:pt x="128637" y="47625"/>
                  <a:pt x="142875" y="61863"/>
                  <a:pt x="142875" y="79375"/>
                </a:cubicBezTo>
                <a:close/>
                <a:moveTo>
                  <a:pt x="63500" y="206375"/>
                </a:moveTo>
                <a:lnTo>
                  <a:pt x="63500" y="142875"/>
                </a:lnTo>
                <a:lnTo>
                  <a:pt x="127000" y="142875"/>
                </a:lnTo>
                <a:cubicBezTo>
                  <a:pt x="144512" y="142875"/>
                  <a:pt x="158750" y="157113"/>
                  <a:pt x="158750" y="174625"/>
                </a:cubicBezTo>
                <a:cubicBezTo>
                  <a:pt x="158750" y="192137"/>
                  <a:pt x="144512" y="206375"/>
                  <a:pt x="127000" y="206375"/>
                </a:cubicBezTo>
                <a:lnTo>
                  <a:pt x="63500" y="206375"/>
                </a:lnTo>
                <a:close/>
              </a:path>
            </a:pathLst>
          </a:custGeom>
          <a:solidFill>
            <a:srgbClr val="C45D3E"/>
          </a:solidFill>
          <a:ln/>
        </p:spPr>
      </p:sp>
      <p:sp>
        <p:nvSpPr>
          <p:cNvPr id="17" name="Text 15"/>
          <p:cNvSpPr/>
          <p:nvPr/>
        </p:nvSpPr>
        <p:spPr>
          <a:xfrm>
            <a:off x="5461000" y="3657600"/>
            <a:ext cx="3556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Weight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bold vs. light type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95875" y="42926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142875" y="31750"/>
                </a:moveTo>
                <a:cubicBezTo>
                  <a:pt x="142875" y="40531"/>
                  <a:pt x="135781" y="47625"/>
                  <a:pt x="127000" y="47625"/>
                </a:cubicBezTo>
                <a:lnTo>
                  <a:pt x="15875" y="47625"/>
                </a:lnTo>
                <a:cubicBezTo>
                  <a:pt x="7094" y="47625"/>
                  <a:pt x="0" y="40531"/>
                  <a:pt x="0" y="31750"/>
                </a:cubicBezTo>
                <a:cubicBezTo>
                  <a:pt x="0" y="22969"/>
                  <a:pt x="7094" y="15875"/>
                  <a:pt x="15875" y="15875"/>
                </a:cubicBezTo>
                <a:lnTo>
                  <a:pt x="127000" y="15875"/>
                </a:lnTo>
                <a:cubicBezTo>
                  <a:pt x="135781" y="15875"/>
                  <a:pt x="142875" y="22969"/>
                  <a:pt x="142875" y="31750"/>
                </a:cubicBezTo>
                <a:close/>
                <a:moveTo>
                  <a:pt x="142875" y="158750"/>
                </a:moveTo>
                <a:cubicBezTo>
                  <a:pt x="142875" y="167531"/>
                  <a:pt x="135781" y="174625"/>
                  <a:pt x="127000" y="174625"/>
                </a:cubicBezTo>
                <a:lnTo>
                  <a:pt x="15875" y="174625"/>
                </a:lnTo>
                <a:cubicBezTo>
                  <a:pt x="7094" y="174625"/>
                  <a:pt x="0" y="167531"/>
                  <a:pt x="0" y="158750"/>
                </a:cubicBezTo>
                <a:cubicBezTo>
                  <a:pt x="0" y="149969"/>
                  <a:pt x="7094" y="142875"/>
                  <a:pt x="15875" y="142875"/>
                </a:cubicBezTo>
                <a:lnTo>
                  <a:pt x="127000" y="142875"/>
                </a:lnTo>
                <a:cubicBezTo>
                  <a:pt x="135781" y="142875"/>
                  <a:pt x="142875" y="149969"/>
                  <a:pt x="142875" y="158750"/>
                </a:cubicBezTo>
                <a:close/>
                <a:moveTo>
                  <a:pt x="0" y="95250"/>
                </a:moveTo>
                <a:cubicBezTo>
                  <a:pt x="0" y="86469"/>
                  <a:pt x="7094" y="79375"/>
                  <a:pt x="15875" y="79375"/>
                </a:cubicBezTo>
                <a:lnTo>
                  <a:pt x="206375" y="79375"/>
                </a:lnTo>
                <a:cubicBezTo>
                  <a:pt x="215156" y="79375"/>
                  <a:pt x="222250" y="86469"/>
                  <a:pt x="222250" y="95250"/>
                </a:cubicBezTo>
                <a:cubicBezTo>
                  <a:pt x="222250" y="104031"/>
                  <a:pt x="215156" y="111125"/>
                  <a:pt x="206375" y="111125"/>
                </a:cubicBezTo>
                <a:lnTo>
                  <a:pt x="15875" y="111125"/>
                </a:lnTo>
                <a:cubicBezTo>
                  <a:pt x="7094" y="111125"/>
                  <a:pt x="0" y="104031"/>
                  <a:pt x="0" y="95250"/>
                </a:cubicBezTo>
                <a:close/>
                <a:moveTo>
                  <a:pt x="222250" y="222250"/>
                </a:moveTo>
                <a:cubicBezTo>
                  <a:pt x="222250" y="231031"/>
                  <a:pt x="215156" y="238125"/>
                  <a:pt x="206375" y="238125"/>
                </a:cubicBezTo>
                <a:lnTo>
                  <a:pt x="15875" y="238125"/>
                </a:lnTo>
                <a:cubicBezTo>
                  <a:pt x="7094" y="238125"/>
                  <a:pt x="0" y="231031"/>
                  <a:pt x="0" y="222250"/>
                </a:cubicBezTo>
                <a:cubicBezTo>
                  <a:pt x="0" y="213469"/>
                  <a:pt x="7094" y="206375"/>
                  <a:pt x="15875" y="206375"/>
                </a:cubicBezTo>
                <a:lnTo>
                  <a:pt x="206375" y="206375"/>
                </a:lnTo>
                <a:cubicBezTo>
                  <a:pt x="215156" y="206375"/>
                  <a:pt x="222250" y="213469"/>
                  <a:pt x="222250" y="222250"/>
                </a:cubicBezTo>
                <a:close/>
              </a:path>
            </a:pathLst>
          </a:custGeom>
          <a:solidFill>
            <a:srgbClr val="C45D3E"/>
          </a:solidFill>
          <a:ln/>
        </p:spPr>
      </p:sp>
      <p:sp>
        <p:nvSpPr>
          <p:cNvPr id="19" name="Text 17"/>
          <p:cNvSpPr/>
          <p:nvPr/>
        </p:nvSpPr>
        <p:spPr>
          <a:xfrm>
            <a:off x="5461000" y="4292600"/>
            <a:ext cx="3556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Alignment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structured vs. free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922000" y="2413000"/>
            <a:ext cx="4572000" cy="3048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21" name="Text 19"/>
          <p:cNvSpPr/>
          <p:nvPr/>
        </p:nvSpPr>
        <p:spPr>
          <a:xfrm>
            <a:off x="11176000" y="25654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300" kern="0" dirty="0">
                <a:solidFill>
                  <a:srgbClr val="C45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CLASSIC EXAMPLE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176000" y="2984500"/>
            <a:ext cx="406400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iPod silhouette ads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white device against bold colored backgrounds creates instant focus through extreme color and value contrast.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2700000" y="4445000"/>
            <a:ext cx="1016000" cy="762000"/>
          </a:xfrm>
          <a:prstGeom prst="roundRect">
            <a:avLst>
              <a:gd name="adj" fmla="val 8000"/>
            </a:avLst>
          </a:prstGeom>
          <a:solidFill>
            <a:srgbClr val="C45D3E"/>
          </a:solidFill>
          <a:ln/>
        </p:spPr>
      </p:sp>
      <p:sp>
        <p:nvSpPr>
          <p:cNvPr id="24" name="Shape 22"/>
          <p:cNvSpPr/>
          <p:nvPr/>
        </p:nvSpPr>
        <p:spPr>
          <a:xfrm>
            <a:off x="12954000" y="4318000"/>
            <a:ext cx="508000" cy="635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762000" y="5842000"/>
            <a:ext cx="14732000" cy="152400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26" name="Shape 24"/>
          <p:cNvSpPr/>
          <p:nvPr/>
        </p:nvSpPr>
        <p:spPr>
          <a:xfrm>
            <a:off x="762000" y="5842000"/>
            <a:ext cx="50800" cy="15240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27" name="Shape 25"/>
          <p:cNvSpPr/>
          <p:nvPr/>
        </p:nvSpPr>
        <p:spPr>
          <a:xfrm>
            <a:off x="1066800" y="6032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400"/>
                </a:moveTo>
                <a:cubicBezTo>
                  <a:pt x="0" y="68288"/>
                  <a:pt x="68288" y="0"/>
                  <a:pt x="152400" y="0"/>
                </a:cubicBez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lose/>
                <a:moveTo>
                  <a:pt x="96143" y="101144"/>
                </a:moveTo>
                <a:cubicBezTo>
                  <a:pt x="88880" y="98048"/>
                  <a:pt x="80486" y="101382"/>
                  <a:pt x="77391" y="108645"/>
                </a:cubicBezTo>
                <a:cubicBezTo>
                  <a:pt x="74295" y="115907"/>
                  <a:pt x="77629" y="124301"/>
                  <a:pt x="84892" y="127397"/>
                </a:cubicBezTo>
                <a:lnTo>
                  <a:pt x="91976" y="130433"/>
                </a:lnTo>
                <a:cubicBezTo>
                  <a:pt x="102275" y="134838"/>
                  <a:pt x="112931" y="138113"/>
                  <a:pt x="123885" y="140137"/>
                </a:cubicBezTo>
                <a:lnTo>
                  <a:pt x="123885" y="169962"/>
                </a:lnTo>
                <a:cubicBezTo>
                  <a:pt x="123885" y="172522"/>
                  <a:pt x="123468" y="175081"/>
                  <a:pt x="122634" y="177463"/>
                </a:cubicBezTo>
                <a:lnTo>
                  <a:pt x="105549" y="228719"/>
                </a:lnTo>
                <a:cubicBezTo>
                  <a:pt x="103049" y="236220"/>
                  <a:pt x="107097" y="244316"/>
                  <a:pt x="114598" y="246817"/>
                </a:cubicBezTo>
                <a:cubicBezTo>
                  <a:pt x="122099" y="249317"/>
                  <a:pt x="130195" y="245269"/>
                  <a:pt x="132695" y="237768"/>
                </a:cubicBezTo>
                <a:lnTo>
                  <a:pt x="147221" y="194191"/>
                </a:lnTo>
                <a:cubicBezTo>
                  <a:pt x="147995" y="191929"/>
                  <a:pt x="150078" y="190381"/>
                  <a:pt x="152460" y="190381"/>
                </a:cubicBezTo>
                <a:cubicBezTo>
                  <a:pt x="154841" y="190381"/>
                  <a:pt x="156984" y="191929"/>
                  <a:pt x="157698" y="194191"/>
                </a:cubicBezTo>
                <a:lnTo>
                  <a:pt x="172224" y="237768"/>
                </a:lnTo>
                <a:cubicBezTo>
                  <a:pt x="174724" y="245269"/>
                  <a:pt x="182820" y="249317"/>
                  <a:pt x="190321" y="246817"/>
                </a:cubicBezTo>
                <a:cubicBezTo>
                  <a:pt x="197822" y="244316"/>
                  <a:pt x="201811" y="236339"/>
                  <a:pt x="199311" y="228838"/>
                </a:cubicBezTo>
                <a:lnTo>
                  <a:pt x="182225" y="177582"/>
                </a:lnTo>
                <a:cubicBezTo>
                  <a:pt x="181392" y="175141"/>
                  <a:pt x="180975" y="172641"/>
                  <a:pt x="180975" y="170081"/>
                </a:cubicBezTo>
                <a:lnTo>
                  <a:pt x="180975" y="140256"/>
                </a:lnTo>
                <a:cubicBezTo>
                  <a:pt x="191929" y="138172"/>
                  <a:pt x="202585" y="134957"/>
                  <a:pt x="212884" y="130552"/>
                </a:cubicBezTo>
                <a:lnTo>
                  <a:pt x="219968" y="127516"/>
                </a:lnTo>
                <a:cubicBezTo>
                  <a:pt x="227231" y="124420"/>
                  <a:pt x="230565" y="116026"/>
                  <a:pt x="227469" y="108764"/>
                </a:cubicBezTo>
                <a:cubicBezTo>
                  <a:pt x="224373" y="101501"/>
                  <a:pt x="215979" y="98167"/>
                  <a:pt x="208717" y="101263"/>
                </a:cubicBezTo>
                <a:lnTo>
                  <a:pt x="201632" y="104180"/>
                </a:lnTo>
                <a:cubicBezTo>
                  <a:pt x="186095" y="110847"/>
                  <a:pt x="169366" y="114300"/>
                  <a:pt x="152400" y="114300"/>
                </a:cubicBezTo>
                <a:cubicBezTo>
                  <a:pt x="135434" y="114300"/>
                  <a:pt x="118765" y="110847"/>
                  <a:pt x="103168" y="104180"/>
                </a:cubicBezTo>
                <a:lnTo>
                  <a:pt x="96083" y="101144"/>
                </a:lnTo>
                <a:close/>
                <a:moveTo>
                  <a:pt x="152400" y="95250"/>
                </a:moveTo>
                <a:cubicBezTo>
                  <a:pt x="165542" y="95250"/>
                  <a:pt x="176212" y="84580"/>
                  <a:pt x="176212" y="71438"/>
                </a:cubicBezTo>
                <a:cubicBezTo>
                  <a:pt x="176212" y="58295"/>
                  <a:pt x="165542" y="47625"/>
                  <a:pt x="152400" y="47625"/>
                </a:cubicBezTo>
                <a:cubicBezTo>
                  <a:pt x="139258" y="47625"/>
                  <a:pt x="128588" y="58295"/>
                  <a:pt x="128588" y="71438"/>
                </a:cubicBezTo>
                <a:cubicBezTo>
                  <a:pt x="128588" y="84580"/>
                  <a:pt x="139258" y="95250"/>
                  <a:pt x="152400" y="95250"/>
                </a:cubicBezTo>
                <a:close/>
              </a:path>
            </a:pathLst>
          </a:custGeom>
          <a:solidFill>
            <a:srgbClr val="C45D3E"/>
          </a:solidFill>
          <a:ln/>
        </p:spPr>
      </p:sp>
      <p:sp>
        <p:nvSpPr>
          <p:cNvPr id="28" name="Text 26"/>
          <p:cNvSpPr/>
          <p:nvPr/>
        </p:nvSpPr>
        <p:spPr>
          <a:xfrm>
            <a:off x="1498600" y="60071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300" kern="0" dirty="0">
                <a:solidFill>
                  <a:srgbClr val="C45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ACCESSIBILITY NOTE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66800" y="6413500"/>
            <a:ext cx="1409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Contrast is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essential for accessibility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text must be readable against its background. WCAG guidelines recommend a minimum contrast ratio of 4.5:1 for normal text and 3:1 for large text.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2000" y="8636000"/>
            <a:ext cx="1524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31" name="Text 29"/>
          <p:cNvSpPr/>
          <p:nvPr/>
        </p:nvSpPr>
        <p:spPr>
          <a:xfrm>
            <a:off x="14986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D8D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954000" y="317500"/>
            <a:ext cx="304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200" kern="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DESIGN PRINCIPLES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300" kern="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COLOR THEORY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Color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sets mood, builds brand recognition, and creates emphasis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Understanding color theory is essential for effective multimedia design.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095500"/>
            <a:ext cx="7366000" cy="330200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2479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300" kern="0" dirty="0">
                <a:solidFill>
                  <a:srgbClr val="C45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COLOR HARMONY SCHEMES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6670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Complementary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16000" y="3022600"/>
            <a:ext cx="508000" cy="3175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10" name="Shape 8"/>
          <p:cNvSpPr/>
          <p:nvPr/>
        </p:nvSpPr>
        <p:spPr>
          <a:xfrm>
            <a:off x="1587500" y="3022600"/>
            <a:ext cx="508000" cy="317500"/>
          </a:xfrm>
          <a:prstGeom prst="rect">
            <a:avLst/>
          </a:prstGeom>
          <a:solidFill>
            <a:srgbClr val="3E8DC4"/>
          </a:solidFill>
          <a:ln/>
        </p:spPr>
      </p:sp>
      <p:sp>
        <p:nvSpPr>
          <p:cNvPr id="11" name="Text 9"/>
          <p:cNvSpPr/>
          <p:nvPr/>
        </p:nvSpPr>
        <p:spPr>
          <a:xfrm>
            <a:off x="2222500" y="3022600"/>
            <a:ext cx="254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D8D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Opposite colors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34925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Analogous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16000" y="3848100"/>
            <a:ext cx="381000" cy="3175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14" name="Shape 12"/>
          <p:cNvSpPr/>
          <p:nvPr/>
        </p:nvSpPr>
        <p:spPr>
          <a:xfrm>
            <a:off x="1460500" y="3848100"/>
            <a:ext cx="381000" cy="317500"/>
          </a:xfrm>
          <a:prstGeom prst="rect">
            <a:avLst/>
          </a:prstGeom>
          <a:solidFill>
            <a:srgbClr val="C47B3E"/>
          </a:solidFill>
          <a:ln/>
        </p:spPr>
      </p:sp>
      <p:sp>
        <p:nvSpPr>
          <p:cNvPr id="15" name="Shape 13"/>
          <p:cNvSpPr/>
          <p:nvPr/>
        </p:nvSpPr>
        <p:spPr>
          <a:xfrm>
            <a:off x="1905000" y="3848100"/>
            <a:ext cx="381000" cy="317500"/>
          </a:xfrm>
          <a:prstGeom prst="rect">
            <a:avLst/>
          </a:prstGeom>
          <a:solidFill>
            <a:srgbClr val="C4993E"/>
          </a:solidFill>
          <a:ln/>
        </p:spPr>
      </p:sp>
      <p:sp>
        <p:nvSpPr>
          <p:cNvPr id="16" name="Text 14"/>
          <p:cNvSpPr/>
          <p:nvPr/>
        </p:nvSpPr>
        <p:spPr>
          <a:xfrm>
            <a:off x="2413000" y="3848100"/>
            <a:ext cx="254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D8D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Adjacent colors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16000" y="43180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Triadic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16000" y="4673600"/>
            <a:ext cx="381000" cy="3175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19" name="Shape 17"/>
          <p:cNvSpPr/>
          <p:nvPr/>
        </p:nvSpPr>
        <p:spPr>
          <a:xfrm>
            <a:off x="1460500" y="4673600"/>
            <a:ext cx="381000" cy="317500"/>
          </a:xfrm>
          <a:prstGeom prst="rect">
            <a:avLst/>
          </a:prstGeom>
          <a:solidFill>
            <a:srgbClr val="3EC47B"/>
          </a:solidFill>
          <a:ln/>
        </p:spPr>
      </p:sp>
      <p:sp>
        <p:nvSpPr>
          <p:cNvPr id="20" name="Shape 18"/>
          <p:cNvSpPr/>
          <p:nvPr/>
        </p:nvSpPr>
        <p:spPr>
          <a:xfrm>
            <a:off x="1905000" y="4673600"/>
            <a:ext cx="381000" cy="317500"/>
          </a:xfrm>
          <a:prstGeom prst="rect">
            <a:avLst/>
          </a:prstGeom>
          <a:solidFill>
            <a:srgbClr val="3E5DC4"/>
          </a:solidFill>
          <a:ln/>
        </p:spPr>
      </p:sp>
      <p:sp>
        <p:nvSpPr>
          <p:cNvPr id="21" name="Text 19"/>
          <p:cNvSpPr/>
          <p:nvPr/>
        </p:nvSpPr>
        <p:spPr>
          <a:xfrm>
            <a:off x="2413000" y="4673600"/>
            <a:ext cx="254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D8D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 evenly spaced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16000" y="51435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Monochromatic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16000" y="5499100"/>
            <a:ext cx="381000" cy="317500"/>
          </a:xfrm>
          <a:prstGeom prst="rect">
            <a:avLst/>
          </a:prstGeom>
          <a:solidFill>
            <a:srgbClr val="8B3E2A"/>
          </a:solidFill>
          <a:ln/>
        </p:spPr>
      </p:sp>
      <p:sp>
        <p:nvSpPr>
          <p:cNvPr id="24" name="Shape 22"/>
          <p:cNvSpPr/>
          <p:nvPr/>
        </p:nvSpPr>
        <p:spPr>
          <a:xfrm>
            <a:off x="1460500" y="5499100"/>
            <a:ext cx="381000" cy="3175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25" name="Shape 23"/>
          <p:cNvSpPr/>
          <p:nvPr/>
        </p:nvSpPr>
        <p:spPr>
          <a:xfrm>
            <a:off x="1905000" y="5499100"/>
            <a:ext cx="381000" cy="317500"/>
          </a:xfrm>
          <a:prstGeom prst="rect">
            <a:avLst/>
          </a:prstGeom>
          <a:solidFill>
            <a:srgbClr val="E08A70"/>
          </a:solidFill>
          <a:ln/>
        </p:spPr>
      </p:sp>
      <p:sp>
        <p:nvSpPr>
          <p:cNvPr id="26" name="Text 24"/>
          <p:cNvSpPr/>
          <p:nvPr/>
        </p:nvSpPr>
        <p:spPr>
          <a:xfrm>
            <a:off x="2413000" y="5499100"/>
            <a:ext cx="254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D8D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Variations of one hue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509000" y="2095500"/>
            <a:ext cx="6985000" cy="3302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28" name="Text 26"/>
          <p:cNvSpPr/>
          <p:nvPr/>
        </p:nvSpPr>
        <p:spPr>
          <a:xfrm>
            <a:off x="8763000" y="22479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300" kern="0" dirty="0">
                <a:solidFill>
                  <a:srgbClr val="C45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COLOR PSYCHOLOGY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763000" y="2692400"/>
            <a:ext cx="254000" cy="254000"/>
          </a:xfrm>
          <a:prstGeom prst="ellipse">
            <a:avLst/>
          </a:prstGeom>
          <a:solidFill>
            <a:srgbClr val="E05252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0" y="2667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Urgency, passion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763000" y="3098800"/>
            <a:ext cx="254000" cy="254000"/>
          </a:xfrm>
          <a:prstGeom prst="ellipse">
            <a:avLst/>
          </a:prstGeom>
          <a:solidFill>
            <a:srgbClr val="3E7CC4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0" y="3073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Blue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Trust, calm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763000" y="3505200"/>
            <a:ext cx="254000" cy="254000"/>
          </a:xfrm>
          <a:prstGeom prst="ellipse">
            <a:avLst/>
          </a:prstGeom>
          <a:solidFill>
            <a:srgbClr val="E0C840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00" y="3479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Yellow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Optimism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2065000" y="2692400"/>
            <a:ext cx="254000" cy="254000"/>
          </a:xfrm>
          <a:prstGeom prst="ellipse">
            <a:avLst/>
          </a:prstGeom>
          <a:solidFill>
            <a:srgbClr val="3EC47B"/>
          </a:solidFill>
          <a:ln/>
        </p:spPr>
      </p:sp>
      <p:sp>
        <p:nvSpPr>
          <p:cNvPr id="36" name="Text 34"/>
          <p:cNvSpPr/>
          <p:nvPr/>
        </p:nvSpPr>
        <p:spPr>
          <a:xfrm>
            <a:off x="12446000" y="2667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Green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Growth, nature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2065000" y="3098800"/>
            <a:ext cx="254000" cy="254000"/>
          </a:xfrm>
          <a:prstGeom prst="ellipse">
            <a:avLst/>
          </a:prstGeom>
          <a:solidFill>
            <a:srgbClr val="8B3EC4"/>
          </a:solidFill>
          <a:ln/>
        </p:spPr>
      </p:sp>
      <p:sp>
        <p:nvSpPr>
          <p:cNvPr id="38" name="Text 36"/>
          <p:cNvSpPr/>
          <p:nvPr/>
        </p:nvSpPr>
        <p:spPr>
          <a:xfrm>
            <a:off x="12446000" y="3073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Purple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Luxury, creativity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2065000" y="3505200"/>
            <a:ext cx="254000" cy="254000"/>
          </a:xfrm>
          <a:prstGeom prst="ellipse">
            <a:avLst/>
          </a:prstGeom>
          <a:solidFill>
            <a:srgbClr val="E08A40"/>
          </a:solidFill>
          <a:ln/>
        </p:spPr>
      </p:sp>
      <p:sp>
        <p:nvSpPr>
          <p:cNvPr id="40" name="Text 38"/>
          <p:cNvSpPr/>
          <p:nvPr/>
        </p:nvSpPr>
        <p:spPr>
          <a:xfrm>
            <a:off x="12446000" y="3479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Orange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Energy, fun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62000" y="5778500"/>
            <a:ext cx="14732000" cy="165100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42" name="Shape 40"/>
          <p:cNvSpPr/>
          <p:nvPr/>
        </p:nvSpPr>
        <p:spPr>
          <a:xfrm>
            <a:off x="762000" y="5778500"/>
            <a:ext cx="50800" cy="16510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43" name="Text 41"/>
          <p:cNvSpPr/>
          <p:nvPr/>
        </p:nvSpPr>
        <p:spPr>
          <a:xfrm>
            <a:off x="1066800" y="59309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300" kern="0" dirty="0">
                <a:solidFill>
                  <a:srgbClr val="C45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PRACTICE: THE 60-30-10 RULE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66800" y="6324600"/>
            <a:ext cx="1409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60%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Dominant color (background) |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30%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Secondary color (supporting elements) |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10%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Accent color (calls to action, highlights)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 palettes to 2-4 colors for consistency. Warm colors advance; cool colors recede.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62000" y="8636000"/>
            <a:ext cx="1524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46" name="Text 44"/>
          <p:cNvSpPr/>
          <p:nvPr/>
        </p:nvSpPr>
        <p:spPr>
          <a:xfrm>
            <a:off x="14986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D8D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954000" y="317500"/>
            <a:ext cx="304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200" kern="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DESIGN PRINCIPLES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300" kern="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ALIGNMENT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Alignment creates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order by placing elements along common edges or baselines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invisible lines that organize content and create visual connections.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349500"/>
            <a:ext cx="14732000" cy="63500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4130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"Nothing should be placed on the page arbitrarily. Every element should have a visual connection with something else." — Robin Williams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62000" y="3302000"/>
            <a:ext cx="14732000" cy="330200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34544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300" kern="0" dirty="0">
                <a:solidFill>
                  <a:srgbClr val="C45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ALIGNMENT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3937000"/>
            <a:ext cx="254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Left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readable for Western text. Creates a strong vertical edge.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937000" y="3937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Right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special emphasis. Creates an unconventional, edgy feel.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0" y="3937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Center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Formal and elegant. Best for short text and invitations.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779000" y="3937000"/>
            <a:ext cx="254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Justified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 edges on both sides. Common in print and magazines.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700000" y="3937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Grid-Based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12-column grids standard for web and print design.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16000" y="5207000"/>
            <a:ext cx="14224000" cy="1143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16" name="Shape 14"/>
          <p:cNvSpPr/>
          <p:nvPr/>
        </p:nvSpPr>
        <p:spPr>
          <a:xfrm>
            <a:off x="1143000" y="5334000"/>
            <a:ext cx="1016000" cy="889000"/>
          </a:xfrm>
          <a:prstGeom prst="rect">
            <a:avLst/>
          </a:prstGeom>
          <a:solidFill>
            <a:srgbClr val="3D4154"/>
          </a:solidFill>
          <a:ln/>
        </p:spPr>
      </p:sp>
      <p:sp>
        <p:nvSpPr>
          <p:cNvPr id="17" name="Shape 15"/>
          <p:cNvSpPr/>
          <p:nvPr/>
        </p:nvSpPr>
        <p:spPr>
          <a:xfrm>
            <a:off x="2286000" y="5334000"/>
            <a:ext cx="1016000" cy="889000"/>
          </a:xfrm>
          <a:prstGeom prst="rect">
            <a:avLst/>
          </a:prstGeom>
          <a:solidFill>
            <a:srgbClr val="3D4154"/>
          </a:solidFill>
          <a:ln/>
        </p:spPr>
      </p:sp>
      <p:sp>
        <p:nvSpPr>
          <p:cNvPr id="18" name="Shape 16"/>
          <p:cNvSpPr/>
          <p:nvPr/>
        </p:nvSpPr>
        <p:spPr>
          <a:xfrm>
            <a:off x="3429000" y="5334000"/>
            <a:ext cx="1016000" cy="889000"/>
          </a:xfrm>
          <a:prstGeom prst="rect">
            <a:avLst/>
          </a:prstGeom>
          <a:solidFill>
            <a:srgbClr val="3D4154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0" y="5334000"/>
            <a:ext cx="1016000" cy="8890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20" name="Shape 18"/>
          <p:cNvSpPr/>
          <p:nvPr/>
        </p:nvSpPr>
        <p:spPr>
          <a:xfrm>
            <a:off x="5715000" y="5334000"/>
            <a:ext cx="1016000" cy="889000"/>
          </a:xfrm>
          <a:prstGeom prst="rect">
            <a:avLst/>
          </a:prstGeom>
          <a:solidFill>
            <a:srgbClr val="3D4154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0" y="5334000"/>
            <a:ext cx="1016000" cy="889000"/>
          </a:xfrm>
          <a:prstGeom prst="rect">
            <a:avLst/>
          </a:prstGeom>
          <a:solidFill>
            <a:srgbClr val="3D4154"/>
          </a:solidFill>
          <a:ln/>
        </p:spPr>
      </p:sp>
      <p:sp>
        <p:nvSpPr>
          <p:cNvPr id="22" name="Shape 20"/>
          <p:cNvSpPr/>
          <p:nvPr/>
        </p:nvSpPr>
        <p:spPr>
          <a:xfrm>
            <a:off x="8001000" y="5334000"/>
            <a:ext cx="1016000" cy="889000"/>
          </a:xfrm>
          <a:prstGeom prst="rect">
            <a:avLst/>
          </a:prstGeom>
          <a:solidFill>
            <a:srgbClr val="3D4154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0" y="5334000"/>
            <a:ext cx="1016000" cy="889000"/>
          </a:xfrm>
          <a:prstGeom prst="rect">
            <a:avLst/>
          </a:prstGeom>
          <a:solidFill>
            <a:srgbClr val="3D4154"/>
          </a:solidFill>
          <a:ln/>
        </p:spPr>
      </p:sp>
      <p:sp>
        <p:nvSpPr>
          <p:cNvPr id="24" name="Shape 22"/>
          <p:cNvSpPr/>
          <p:nvPr/>
        </p:nvSpPr>
        <p:spPr>
          <a:xfrm>
            <a:off x="10287000" y="5334000"/>
            <a:ext cx="1016000" cy="889000"/>
          </a:xfrm>
          <a:prstGeom prst="rect">
            <a:avLst/>
          </a:prstGeom>
          <a:solidFill>
            <a:srgbClr val="3D4154"/>
          </a:solidFill>
          <a:ln/>
        </p:spPr>
      </p:sp>
      <p:sp>
        <p:nvSpPr>
          <p:cNvPr id="25" name="Shape 23"/>
          <p:cNvSpPr/>
          <p:nvPr/>
        </p:nvSpPr>
        <p:spPr>
          <a:xfrm>
            <a:off x="11430000" y="5334000"/>
            <a:ext cx="1016000" cy="8890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26" name="Shape 24"/>
          <p:cNvSpPr/>
          <p:nvPr/>
        </p:nvSpPr>
        <p:spPr>
          <a:xfrm>
            <a:off x="12573000" y="5334000"/>
            <a:ext cx="1016000" cy="889000"/>
          </a:xfrm>
          <a:prstGeom prst="rect">
            <a:avLst/>
          </a:prstGeom>
          <a:solidFill>
            <a:srgbClr val="3D4154"/>
          </a:solidFill>
          <a:ln/>
        </p:spPr>
      </p:sp>
      <p:sp>
        <p:nvSpPr>
          <p:cNvPr id="27" name="Shape 25"/>
          <p:cNvSpPr/>
          <p:nvPr/>
        </p:nvSpPr>
        <p:spPr>
          <a:xfrm>
            <a:off x="13716000" y="5334000"/>
            <a:ext cx="1016000" cy="889000"/>
          </a:xfrm>
          <a:prstGeom prst="rect">
            <a:avLst/>
          </a:prstGeom>
          <a:solidFill>
            <a:srgbClr val="3D4154"/>
          </a:solidFill>
          <a:ln/>
        </p:spPr>
      </p:sp>
      <p:sp>
        <p:nvSpPr>
          <p:cNvPr id="28" name="Text 26"/>
          <p:cNvSpPr/>
          <p:nvPr/>
        </p:nvSpPr>
        <p:spPr>
          <a:xfrm>
            <a:off x="1016000" y="65405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D8D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12-column grid layout — the industry standard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7048500"/>
            <a:ext cx="14732000" cy="6985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30" name="Text 28"/>
          <p:cNvSpPr/>
          <p:nvPr/>
        </p:nvSpPr>
        <p:spPr>
          <a:xfrm>
            <a:off x="1143000" y="7175500"/>
            <a:ext cx="1397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Point: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Consistent alignment creates a professional, polished appearance. Misalignment looks careless and undermines credibility.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62000" y="8636000"/>
            <a:ext cx="1524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32" name="Text 30"/>
          <p:cNvSpPr/>
          <p:nvPr/>
        </p:nvSpPr>
        <p:spPr>
          <a:xfrm>
            <a:off x="14986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D8D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954000" y="317500"/>
            <a:ext cx="304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200" kern="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DESIGN PRINCIPLES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300" kern="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EMPHASIS &amp; VISUAL HIERARCHY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711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Emphasis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the focal point — the element that grabs immediate attention.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Visual Hierarchy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the deliberate ranking of elements so viewers know what to notice first, second, third.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382000" y="1460500"/>
            <a:ext cx="7112000" cy="254000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7" name="Text 5"/>
          <p:cNvSpPr/>
          <p:nvPr/>
        </p:nvSpPr>
        <p:spPr>
          <a:xfrm>
            <a:off x="8636000" y="15875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300" kern="0" dirty="0">
                <a:solidFill>
                  <a:srgbClr val="C45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HIERARCHY EXAMPLE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36000" y="2006600"/>
            <a:ext cx="660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Headline (First)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36000" y="2540000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Subheadline (Second)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36000" y="3022600"/>
            <a:ext cx="660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Body text (Third) — the detailed content...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36000" y="34544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C45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Call to Action (Last)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2794000"/>
            <a:ext cx="7112000" cy="3556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13" name="Text 11"/>
          <p:cNvSpPr/>
          <p:nvPr/>
        </p:nvSpPr>
        <p:spPr>
          <a:xfrm>
            <a:off x="1016000" y="29464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300" kern="0" dirty="0">
                <a:solidFill>
                  <a:srgbClr val="C45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TOOLS FOR CREATING EMPHASIS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160463" y="34544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17463" y="17463"/>
                </a:moveTo>
                <a:cubicBezTo>
                  <a:pt x="7804" y="17463"/>
                  <a:pt x="0" y="25266"/>
                  <a:pt x="0" y="34925"/>
                </a:cubicBezTo>
                <a:lnTo>
                  <a:pt x="0" y="87313"/>
                </a:lnTo>
                <a:cubicBezTo>
                  <a:pt x="0" y="96971"/>
                  <a:pt x="7804" y="104775"/>
                  <a:pt x="17463" y="104775"/>
                </a:cubicBezTo>
                <a:cubicBezTo>
                  <a:pt x="27121" y="104775"/>
                  <a:pt x="34925" y="96971"/>
                  <a:pt x="34925" y="87313"/>
                </a:cubicBezTo>
                <a:lnTo>
                  <a:pt x="34925" y="52388"/>
                </a:lnTo>
                <a:lnTo>
                  <a:pt x="69850" y="52388"/>
                </a:lnTo>
                <a:cubicBezTo>
                  <a:pt x="79509" y="52388"/>
                  <a:pt x="87313" y="44584"/>
                  <a:pt x="87313" y="34925"/>
                </a:cubicBezTo>
                <a:cubicBezTo>
                  <a:pt x="87313" y="25266"/>
                  <a:pt x="79509" y="17463"/>
                  <a:pt x="69850" y="17463"/>
                </a:cubicBezTo>
                <a:lnTo>
                  <a:pt x="17463" y="17463"/>
                </a:lnTo>
                <a:close/>
                <a:moveTo>
                  <a:pt x="34925" y="192088"/>
                </a:moveTo>
                <a:cubicBezTo>
                  <a:pt x="34925" y="182429"/>
                  <a:pt x="27121" y="174625"/>
                  <a:pt x="17463" y="174625"/>
                </a:cubicBezTo>
                <a:cubicBezTo>
                  <a:pt x="7804" y="174625"/>
                  <a:pt x="0" y="182429"/>
                  <a:pt x="0" y="192088"/>
                </a:cubicBezTo>
                <a:lnTo>
                  <a:pt x="0" y="244475"/>
                </a:lnTo>
                <a:cubicBezTo>
                  <a:pt x="0" y="254134"/>
                  <a:pt x="7804" y="261938"/>
                  <a:pt x="17463" y="261938"/>
                </a:cubicBezTo>
                <a:lnTo>
                  <a:pt x="69850" y="261938"/>
                </a:lnTo>
                <a:cubicBezTo>
                  <a:pt x="79509" y="261938"/>
                  <a:pt x="87313" y="254134"/>
                  <a:pt x="87313" y="244475"/>
                </a:cubicBezTo>
                <a:cubicBezTo>
                  <a:pt x="87313" y="234816"/>
                  <a:pt x="79509" y="227013"/>
                  <a:pt x="69850" y="227013"/>
                </a:cubicBezTo>
                <a:lnTo>
                  <a:pt x="34925" y="227013"/>
                </a:lnTo>
                <a:lnTo>
                  <a:pt x="34925" y="192088"/>
                </a:lnTo>
                <a:close/>
                <a:moveTo>
                  <a:pt x="174625" y="17463"/>
                </a:moveTo>
                <a:cubicBezTo>
                  <a:pt x="164966" y="17463"/>
                  <a:pt x="157163" y="25266"/>
                  <a:pt x="157163" y="34925"/>
                </a:cubicBezTo>
                <a:cubicBezTo>
                  <a:pt x="157163" y="44584"/>
                  <a:pt x="164966" y="52388"/>
                  <a:pt x="174625" y="52388"/>
                </a:cubicBezTo>
                <a:lnTo>
                  <a:pt x="209550" y="52388"/>
                </a:lnTo>
                <a:lnTo>
                  <a:pt x="209550" y="87313"/>
                </a:lnTo>
                <a:cubicBezTo>
                  <a:pt x="209550" y="96971"/>
                  <a:pt x="217354" y="104775"/>
                  <a:pt x="227013" y="104775"/>
                </a:cubicBezTo>
                <a:cubicBezTo>
                  <a:pt x="236671" y="104775"/>
                  <a:pt x="244475" y="96971"/>
                  <a:pt x="244475" y="87313"/>
                </a:cubicBezTo>
                <a:lnTo>
                  <a:pt x="244475" y="34925"/>
                </a:lnTo>
                <a:cubicBezTo>
                  <a:pt x="244475" y="25266"/>
                  <a:pt x="236671" y="17463"/>
                  <a:pt x="227013" y="17463"/>
                </a:cubicBezTo>
                <a:lnTo>
                  <a:pt x="174625" y="17463"/>
                </a:lnTo>
                <a:close/>
                <a:moveTo>
                  <a:pt x="244475" y="192088"/>
                </a:moveTo>
                <a:cubicBezTo>
                  <a:pt x="244475" y="182429"/>
                  <a:pt x="236671" y="174625"/>
                  <a:pt x="227013" y="174625"/>
                </a:cubicBezTo>
                <a:cubicBezTo>
                  <a:pt x="217354" y="174625"/>
                  <a:pt x="209550" y="182429"/>
                  <a:pt x="209550" y="192088"/>
                </a:cubicBezTo>
                <a:lnTo>
                  <a:pt x="209550" y="227013"/>
                </a:lnTo>
                <a:lnTo>
                  <a:pt x="174625" y="227013"/>
                </a:lnTo>
                <a:cubicBezTo>
                  <a:pt x="164966" y="227013"/>
                  <a:pt x="157163" y="234816"/>
                  <a:pt x="157163" y="244475"/>
                </a:cubicBezTo>
                <a:cubicBezTo>
                  <a:pt x="157163" y="254134"/>
                  <a:pt x="164966" y="261938"/>
                  <a:pt x="174625" y="261938"/>
                </a:cubicBezTo>
                <a:lnTo>
                  <a:pt x="227013" y="261938"/>
                </a:lnTo>
                <a:cubicBezTo>
                  <a:pt x="236671" y="261938"/>
                  <a:pt x="244475" y="254134"/>
                  <a:pt x="244475" y="244475"/>
                </a:cubicBezTo>
                <a:lnTo>
                  <a:pt x="244475" y="192088"/>
                </a:lnTo>
                <a:close/>
              </a:path>
            </a:pathLst>
          </a:custGeom>
          <a:solidFill>
            <a:srgbClr val="C45D3E"/>
          </a:solidFill>
          <a:ln/>
        </p:spPr>
      </p:sp>
      <p:sp>
        <p:nvSpPr>
          <p:cNvPr id="15" name="Text 13"/>
          <p:cNvSpPr/>
          <p:nvPr/>
        </p:nvSpPr>
        <p:spPr>
          <a:xfrm>
            <a:off x="1524000" y="34036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Size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Larger elements are perceived as more important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43000" y="40894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279400" y="139700"/>
                </a:moveTo>
                <a:cubicBezTo>
                  <a:pt x="279400" y="140191"/>
                  <a:pt x="279400" y="140682"/>
                  <a:pt x="279400" y="141173"/>
                </a:cubicBezTo>
                <a:cubicBezTo>
                  <a:pt x="279182" y="161092"/>
                  <a:pt x="261064" y="174625"/>
                  <a:pt x="241146" y="174625"/>
                </a:cubicBezTo>
                <a:lnTo>
                  <a:pt x="187722" y="174625"/>
                </a:lnTo>
                <a:cubicBezTo>
                  <a:pt x="173261" y="174625"/>
                  <a:pt x="161528" y="186358"/>
                  <a:pt x="161528" y="200819"/>
                </a:cubicBezTo>
                <a:cubicBezTo>
                  <a:pt x="161528" y="202674"/>
                  <a:pt x="161746" y="204475"/>
                  <a:pt x="162074" y="206221"/>
                </a:cubicBezTo>
                <a:cubicBezTo>
                  <a:pt x="163220" y="211787"/>
                  <a:pt x="165621" y="217135"/>
                  <a:pt x="167967" y="222538"/>
                </a:cubicBezTo>
                <a:cubicBezTo>
                  <a:pt x="171296" y="230068"/>
                  <a:pt x="174570" y="237545"/>
                  <a:pt x="174570" y="245457"/>
                </a:cubicBezTo>
                <a:cubicBezTo>
                  <a:pt x="174570" y="262811"/>
                  <a:pt x="162783" y="278581"/>
                  <a:pt x="145430" y="279291"/>
                </a:cubicBezTo>
                <a:cubicBezTo>
                  <a:pt x="143520" y="279345"/>
                  <a:pt x="141610" y="279400"/>
                  <a:pt x="139645" y="279400"/>
                </a:cubicBezTo>
                <a:cubicBezTo>
                  <a:pt x="62483" y="279400"/>
                  <a:pt x="-55" y="216862"/>
                  <a:pt x="-55" y="139700"/>
                </a:cubicBezTo>
                <a:cubicBezTo>
                  <a:pt x="-55" y="62538"/>
                  <a:pt x="62538" y="0"/>
                  <a:pt x="139700" y="0"/>
                </a:cubicBezTo>
                <a:cubicBezTo>
                  <a:pt x="216862" y="0"/>
                  <a:pt x="279400" y="62538"/>
                  <a:pt x="279400" y="139700"/>
                </a:cubicBezTo>
                <a:close/>
                <a:moveTo>
                  <a:pt x="69850" y="157163"/>
                </a:moveTo>
                <a:cubicBezTo>
                  <a:pt x="69850" y="147525"/>
                  <a:pt x="62025" y="139700"/>
                  <a:pt x="52388" y="139700"/>
                </a:cubicBezTo>
                <a:cubicBezTo>
                  <a:pt x="42750" y="139700"/>
                  <a:pt x="34925" y="147525"/>
                  <a:pt x="34925" y="157163"/>
                </a:cubicBezTo>
                <a:cubicBezTo>
                  <a:pt x="34925" y="166800"/>
                  <a:pt x="42750" y="174625"/>
                  <a:pt x="52388" y="174625"/>
                </a:cubicBezTo>
                <a:cubicBezTo>
                  <a:pt x="62025" y="174625"/>
                  <a:pt x="69850" y="166800"/>
                  <a:pt x="69850" y="157163"/>
                </a:cubicBezTo>
                <a:close/>
                <a:moveTo>
                  <a:pt x="69850" y="104775"/>
                </a:moveTo>
                <a:cubicBezTo>
                  <a:pt x="79488" y="104775"/>
                  <a:pt x="87313" y="96950"/>
                  <a:pt x="87313" y="87313"/>
                </a:cubicBezTo>
                <a:cubicBezTo>
                  <a:pt x="87313" y="77675"/>
                  <a:pt x="79488" y="69850"/>
                  <a:pt x="69850" y="69850"/>
                </a:cubicBezTo>
                <a:cubicBezTo>
                  <a:pt x="60212" y="69850"/>
                  <a:pt x="52388" y="77675"/>
                  <a:pt x="52388" y="87313"/>
                </a:cubicBezTo>
                <a:cubicBezTo>
                  <a:pt x="52388" y="96950"/>
                  <a:pt x="60212" y="104775"/>
                  <a:pt x="69850" y="104775"/>
                </a:cubicBezTo>
                <a:close/>
                <a:moveTo>
                  <a:pt x="157163" y="52388"/>
                </a:moveTo>
                <a:cubicBezTo>
                  <a:pt x="157163" y="42750"/>
                  <a:pt x="149338" y="34925"/>
                  <a:pt x="139700" y="34925"/>
                </a:cubicBezTo>
                <a:cubicBezTo>
                  <a:pt x="130062" y="34925"/>
                  <a:pt x="122238" y="42750"/>
                  <a:pt x="122238" y="52388"/>
                </a:cubicBezTo>
                <a:cubicBezTo>
                  <a:pt x="122238" y="62025"/>
                  <a:pt x="130062" y="69850"/>
                  <a:pt x="139700" y="69850"/>
                </a:cubicBezTo>
                <a:cubicBezTo>
                  <a:pt x="149338" y="69850"/>
                  <a:pt x="157163" y="62025"/>
                  <a:pt x="157163" y="52388"/>
                </a:cubicBezTo>
                <a:close/>
                <a:moveTo>
                  <a:pt x="209550" y="104775"/>
                </a:moveTo>
                <a:cubicBezTo>
                  <a:pt x="219188" y="104775"/>
                  <a:pt x="227013" y="96950"/>
                  <a:pt x="227013" y="87313"/>
                </a:cubicBezTo>
                <a:cubicBezTo>
                  <a:pt x="227013" y="77675"/>
                  <a:pt x="219188" y="69850"/>
                  <a:pt x="209550" y="69850"/>
                </a:cubicBezTo>
                <a:cubicBezTo>
                  <a:pt x="199912" y="69850"/>
                  <a:pt x="192088" y="77675"/>
                  <a:pt x="192088" y="87313"/>
                </a:cubicBezTo>
                <a:cubicBezTo>
                  <a:pt x="192088" y="96950"/>
                  <a:pt x="199912" y="104775"/>
                  <a:pt x="209550" y="104775"/>
                </a:cubicBezTo>
                <a:close/>
              </a:path>
            </a:pathLst>
          </a:custGeom>
          <a:solidFill>
            <a:srgbClr val="C45D3E"/>
          </a:solidFill>
          <a:ln/>
        </p:spPr>
      </p:sp>
      <p:sp>
        <p:nvSpPr>
          <p:cNvPr id="17" name="Text 15"/>
          <p:cNvSpPr/>
          <p:nvPr/>
        </p:nvSpPr>
        <p:spPr>
          <a:xfrm>
            <a:off x="1524000" y="40386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Color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High contrast draws attention instantly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25538" y="4724400"/>
            <a:ext cx="314325" cy="279400"/>
          </a:xfrm>
          <a:custGeom>
            <a:avLst/>
            <a:gdLst/>
            <a:ahLst/>
            <a:cxnLst/>
            <a:rect l="l" t="t" r="r" b="b"/>
            <a:pathLst>
              <a:path w="314325" h="279400">
                <a:moveTo>
                  <a:pt x="157163" y="-8731"/>
                </a:moveTo>
                <a:cubicBezTo>
                  <a:pt x="166821" y="-8731"/>
                  <a:pt x="174625" y="-928"/>
                  <a:pt x="174625" y="8731"/>
                </a:cubicBezTo>
                <a:lnTo>
                  <a:pt x="174625" y="18718"/>
                </a:lnTo>
                <a:cubicBezTo>
                  <a:pt x="228158" y="26357"/>
                  <a:pt x="270505" y="68704"/>
                  <a:pt x="278145" y="122238"/>
                </a:cubicBezTo>
                <a:lnTo>
                  <a:pt x="288131" y="122238"/>
                </a:lnTo>
                <a:cubicBezTo>
                  <a:pt x="297790" y="122238"/>
                  <a:pt x="305594" y="130041"/>
                  <a:pt x="305594" y="139700"/>
                </a:cubicBezTo>
                <a:cubicBezTo>
                  <a:pt x="305594" y="149359"/>
                  <a:pt x="297790" y="157163"/>
                  <a:pt x="288131" y="157163"/>
                </a:cubicBezTo>
                <a:lnTo>
                  <a:pt x="278145" y="157163"/>
                </a:lnTo>
                <a:cubicBezTo>
                  <a:pt x="270505" y="210696"/>
                  <a:pt x="228158" y="253043"/>
                  <a:pt x="174625" y="260682"/>
                </a:cubicBezTo>
                <a:lnTo>
                  <a:pt x="174625" y="270669"/>
                </a:lnTo>
                <a:cubicBezTo>
                  <a:pt x="174625" y="280328"/>
                  <a:pt x="166821" y="288131"/>
                  <a:pt x="157163" y="288131"/>
                </a:cubicBezTo>
                <a:cubicBezTo>
                  <a:pt x="147504" y="288131"/>
                  <a:pt x="139700" y="280328"/>
                  <a:pt x="139700" y="270669"/>
                </a:cubicBezTo>
                <a:lnTo>
                  <a:pt x="139700" y="260682"/>
                </a:lnTo>
                <a:cubicBezTo>
                  <a:pt x="86167" y="253043"/>
                  <a:pt x="43820" y="210696"/>
                  <a:pt x="36180" y="157163"/>
                </a:cubicBezTo>
                <a:lnTo>
                  <a:pt x="26194" y="157163"/>
                </a:lnTo>
                <a:cubicBezTo>
                  <a:pt x="16535" y="157163"/>
                  <a:pt x="8731" y="149359"/>
                  <a:pt x="8731" y="139700"/>
                </a:cubicBezTo>
                <a:cubicBezTo>
                  <a:pt x="8731" y="130041"/>
                  <a:pt x="16535" y="122238"/>
                  <a:pt x="26194" y="122238"/>
                </a:cubicBezTo>
                <a:lnTo>
                  <a:pt x="36180" y="122238"/>
                </a:lnTo>
                <a:cubicBezTo>
                  <a:pt x="43820" y="68704"/>
                  <a:pt x="86167" y="26357"/>
                  <a:pt x="139700" y="18718"/>
                </a:cubicBezTo>
                <a:lnTo>
                  <a:pt x="139700" y="8731"/>
                </a:lnTo>
                <a:cubicBezTo>
                  <a:pt x="139700" y="-928"/>
                  <a:pt x="147504" y="-8731"/>
                  <a:pt x="157163" y="-8731"/>
                </a:cubicBezTo>
                <a:close/>
                <a:moveTo>
                  <a:pt x="71596" y="157163"/>
                </a:moveTo>
                <a:cubicBezTo>
                  <a:pt x="78527" y="191378"/>
                  <a:pt x="105484" y="218336"/>
                  <a:pt x="139700" y="225266"/>
                </a:cubicBezTo>
                <a:lnTo>
                  <a:pt x="139700" y="218281"/>
                </a:lnTo>
                <a:cubicBezTo>
                  <a:pt x="139700" y="208622"/>
                  <a:pt x="147504" y="200819"/>
                  <a:pt x="157163" y="200819"/>
                </a:cubicBezTo>
                <a:cubicBezTo>
                  <a:pt x="166821" y="200819"/>
                  <a:pt x="174625" y="208622"/>
                  <a:pt x="174625" y="218281"/>
                </a:cubicBezTo>
                <a:lnTo>
                  <a:pt x="174625" y="225266"/>
                </a:lnTo>
                <a:cubicBezTo>
                  <a:pt x="208841" y="218336"/>
                  <a:pt x="235798" y="191378"/>
                  <a:pt x="242729" y="157163"/>
                </a:cubicBezTo>
                <a:lnTo>
                  <a:pt x="235744" y="157163"/>
                </a:lnTo>
                <a:cubicBezTo>
                  <a:pt x="226085" y="157163"/>
                  <a:pt x="218281" y="149359"/>
                  <a:pt x="218281" y="139700"/>
                </a:cubicBezTo>
                <a:cubicBezTo>
                  <a:pt x="218281" y="130041"/>
                  <a:pt x="226085" y="122238"/>
                  <a:pt x="235744" y="122238"/>
                </a:cubicBezTo>
                <a:lnTo>
                  <a:pt x="242729" y="122238"/>
                </a:lnTo>
                <a:cubicBezTo>
                  <a:pt x="235798" y="88022"/>
                  <a:pt x="208841" y="61064"/>
                  <a:pt x="174625" y="54134"/>
                </a:cubicBezTo>
                <a:lnTo>
                  <a:pt x="174625" y="61119"/>
                </a:lnTo>
                <a:cubicBezTo>
                  <a:pt x="174625" y="70778"/>
                  <a:pt x="166821" y="78581"/>
                  <a:pt x="157163" y="78581"/>
                </a:cubicBezTo>
                <a:cubicBezTo>
                  <a:pt x="147504" y="78581"/>
                  <a:pt x="139700" y="70778"/>
                  <a:pt x="139700" y="61119"/>
                </a:cubicBezTo>
                <a:lnTo>
                  <a:pt x="139700" y="54134"/>
                </a:lnTo>
                <a:cubicBezTo>
                  <a:pt x="105484" y="61064"/>
                  <a:pt x="78527" y="88022"/>
                  <a:pt x="71596" y="122238"/>
                </a:cubicBezTo>
                <a:lnTo>
                  <a:pt x="78581" y="122238"/>
                </a:lnTo>
                <a:cubicBezTo>
                  <a:pt x="88240" y="122238"/>
                  <a:pt x="96044" y="130041"/>
                  <a:pt x="96044" y="139700"/>
                </a:cubicBezTo>
                <a:cubicBezTo>
                  <a:pt x="96044" y="149359"/>
                  <a:pt x="88240" y="157163"/>
                  <a:pt x="78581" y="157163"/>
                </a:cubicBezTo>
                <a:lnTo>
                  <a:pt x="71596" y="157163"/>
                </a:lnTo>
                <a:close/>
                <a:moveTo>
                  <a:pt x="157163" y="113506"/>
                </a:moveTo>
                <a:cubicBezTo>
                  <a:pt x="171619" y="113506"/>
                  <a:pt x="183356" y="125243"/>
                  <a:pt x="183356" y="139700"/>
                </a:cubicBezTo>
                <a:cubicBezTo>
                  <a:pt x="183356" y="154157"/>
                  <a:pt x="171619" y="165894"/>
                  <a:pt x="157163" y="165894"/>
                </a:cubicBezTo>
                <a:cubicBezTo>
                  <a:pt x="142706" y="165894"/>
                  <a:pt x="130969" y="154157"/>
                  <a:pt x="130969" y="139700"/>
                </a:cubicBezTo>
                <a:cubicBezTo>
                  <a:pt x="130969" y="125243"/>
                  <a:pt x="142706" y="113506"/>
                  <a:pt x="157163" y="113506"/>
                </a:cubicBezTo>
                <a:close/>
              </a:path>
            </a:pathLst>
          </a:custGeom>
          <a:solidFill>
            <a:srgbClr val="C45D3E"/>
          </a:solidFill>
          <a:ln/>
        </p:spPr>
      </p:sp>
      <p:sp>
        <p:nvSpPr>
          <p:cNvPr id="19" name="Text 17"/>
          <p:cNvSpPr/>
          <p:nvPr/>
        </p:nvSpPr>
        <p:spPr>
          <a:xfrm>
            <a:off x="1524000" y="46736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Position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Top and center get noticed first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60463" y="53594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17463" y="17463"/>
                </a:moveTo>
                <a:cubicBezTo>
                  <a:pt x="7804" y="17463"/>
                  <a:pt x="0" y="25266"/>
                  <a:pt x="0" y="34925"/>
                </a:cubicBezTo>
                <a:lnTo>
                  <a:pt x="0" y="87313"/>
                </a:lnTo>
                <a:cubicBezTo>
                  <a:pt x="0" y="96971"/>
                  <a:pt x="7804" y="104775"/>
                  <a:pt x="17463" y="104775"/>
                </a:cubicBezTo>
                <a:cubicBezTo>
                  <a:pt x="27121" y="104775"/>
                  <a:pt x="34925" y="96971"/>
                  <a:pt x="34925" y="87313"/>
                </a:cubicBezTo>
                <a:lnTo>
                  <a:pt x="34925" y="52388"/>
                </a:lnTo>
                <a:lnTo>
                  <a:pt x="69850" y="52388"/>
                </a:lnTo>
                <a:cubicBezTo>
                  <a:pt x="79509" y="52388"/>
                  <a:pt x="87313" y="44584"/>
                  <a:pt x="87313" y="34925"/>
                </a:cubicBezTo>
                <a:cubicBezTo>
                  <a:pt x="87313" y="25266"/>
                  <a:pt x="79509" y="17463"/>
                  <a:pt x="69850" y="17463"/>
                </a:cubicBezTo>
                <a:lnTo>
                  <a:pt x="17463" y="17463"/>
                </a:lnTo>
                <a:close/>
                <a:moveTo>
                  <a:pt x="34925" y="192088"/>
                </a:moveTo>
                <a:cubicBezTo>
                  <a:pt x="34925" y="182429"/>
                  <a:pt x="27121" y="174625"/>
                  <a:pt x="17463" y="174625"/>
                </a:cubicBezTo>
                <a:cubicBezTo>
                  <a:pt x="7804" y="174625"/>
                  <a:pt x="0" y="182429"/>
                  <a:pt x="0" y="192088"/>
                </a:cubicBezTo>
                <a:lnTo>
                  <a:pt x="0" y="244475"/>
                </a:lnTo>
                <a:cubicBezTo>
                  <a:pt x="0" y="254134"/>
                  <a:pt x="7804" y="261938"/>
                  <a:pt x="17463" y="261938"/>
                </a:cubicBezTo>
                <a:lnTo>
                  <a:pt x="69850" y="261938"/>
                </a:lnTo>
                <a:cubicBezTo>
                  <a:pt x="79509" y="261938"/>
                  <a:pt x="87313" y="254134"/>
                  <a:pt x="87313" y="244475"/>
                </a:cubicBezTo>
                <a:cubicBezTo>
                  <a:pt x="87313" y="234816"/>
                  <a:pt x="79509" y="227013"/>
                  <a:pt x="69850" y="227013"/>
                </a:cubicBezTo>
                <a:lnTo>
                  <a:pt x="34925" y="227013"/>
                </a:lnTo>
                <a:lnTo>
                  <a:pt x="34925" y="192088"/>
                </a:lnTo>
                <a:close/>
                <a:moveTo>
                  <a:pt x="174625" y="17463"/>
                </a:moveTo>
                <a:cubicBezTo>
                  <a:pt x="164966" y="17463"/>
                  <a:pt x="157163" y="25266"/>
                  <a:pt x="157163" y="34925"/>
                </a:cubicBezTo>
                <a:cubicBezTo>
                  <a:pt x="157163" y="44584"/>
                  <a:pt x="164966" y="52388"/>
                  <a:pt x="174625" y="52388"/>
                </a:cubicBezTo>
                <a:lnTo>
                  <a:pt x="209550" y="52388"/>
                </a:lnTo>
                <a:lnTo>
                  <a:pt x="209550" y="87313"/>
                </a:lnTo>
                <a:cubicBezTo>
                  <a:pt x="209550" y="96971"/>
                  <a:pt x="217354" y="104775"/>
                  <a:pt x="227013" y="104775"/>
                </a:cubicBezTo>
                <a:cubicBezTo>
                  <a:pt x="236671" y="104775"/>
                  <a:pt x="244475" y="96971"/>
                  <a:pt x="244475" y="87313"/>
                </a:cubicBezTo>
                <a:lnTo>
                  <a:pt x="244475" y="34925"/>
                </a:lnTo>
                <a:cubicBezTo>
                  <a:pt x="244475" y="25266"/>
                  <a:pt x="236671" y="17463"/>
                  <a:pt x="227013" y="17463"/>
                </a:cubicBezTo>
                <a:lnTo>
                  <a:pt x="174625" y="17463"/>
                </a:lnTo>
                <a:close/>
                <a:moveTo>
                  <a:pt x="244475" y="192088"/>
                </a:moveTo>
                <a:cubicBezTo>
                  <a:pt x="244475" y="182429"/>
                  <a:pt x="236671" y="174625"/>
                  <a:pt x="227013" y="174625"/>
                </a:cubicBezTo>
                <a:cubicBezTo>
                  <a:pt x="217354" y="174625"/>
                  <a:pt x="209550" y="182429"/>
                  <a:pt x="209550" y="192088"/>
                </a:cubicBezTo>
                <a:lnTo>
                  <a:pt x="209550" y="227013"/>
                </a:lnTo>
                <a:lnTo>
                  <a:pt x="174625" y="227013"/>
                </a:lnTo>
                <a:cubicBezTo>
                  <a:pt x="164966" y="227013"/>
                  <a:pt x="157163" y="234816"/>
                  <a:pt x="157163" y="244475"/>
                </a:cubicBezTo>
                <a:cubicBezTo>
                  <a:pt x="157163" y="254134"/>
                  <a:pt x="164966" y="261938"/>
                  <a:pt x="174625" y="261938"/>
                </a:cubicBezTo>
                <a:lnTo>
                  <a:pt x="227013" y="261938"/>
                </a:lnTo>
                <a:cubicBezTo>
                  <a:pt x="236671" y="261938"/>
                  <a:pt x="244475" y="254134"/>
                  <a:pt x="244475" y="244475"/>
                </a:cubicBezTo>
                <a:lnTo>
                  <a:pt x="244475" y="192088"/>
                </a:lnTo>
                <a:close/>
              </a:path>
            </a:pathLst>
          </a:custGeom>
          <a:solidFill>
            <a:srgbClr val="C45D3E"/>
          </a:solidFill>
          <a:ln/>
        </p:spPr>
      </p:sp>
      <p:sp>
        <p:nvSpPr>
          <p:cNvPr id="21" name="Text 19"/>
          <p:cNvSpPr/>
          <p:nvPr/>
        </p:nvSpPr>
        <p:spPr>
          <a:xfrm>
            <a:off x="1524000" y="53086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Whitespace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Isolation creates focus on key elements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382000" y="4318000"/>
            <a:ext cx="7112000" cy="203200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23" name="Text 21"/>
          <p:cNvSpPr/>
          <p:nvPr/>
        </p:nvSpPr>
        <p:spPr>
          <a:xfrm>
            <a:off x="8636000" y="44704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300" kern="0" dirty="0">
                <a:solidFill>
                  <a:srgbClr val="C45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READING PATTERNS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36000" y="4889500"/>
            <a:ext cx="317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Z-Pattern: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Top-left → Top-right → Diagonal → Bottom-left → Bottom-right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065000" y="4889500"/>
            <a:ext cx="317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F-Pattern: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Top horizontal scan → Down left side → Shorter horizontal scans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636000" y="5715000"/>
            <a:ext cx="6604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8D8D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Place the most important content along these natural reading paths.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6731000"/>
            <a:ext cx="14732000" cy="88900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28" name="Shape 26"/>
          <p:cNvSpPr/>
          <p:nvPr/>
        </p:nvSpPr>
        <p:spPr>
          <a:xfrm>
            <a:off x="762000" y="6731000"/>
            <a:ext cx="50800" cy="889000"/>
          </a:xfrm>
          <a:prstGeom prst="rect">
            <a:avLst/>
          </a:prstGeom>
          <a:solidFill>
            <a:srgbClr val="8D8D8D"/>
          </a:solidFill>
          <a:ln/>
        </p:spPr>
      </p:sp>
      <p:sp>
        <p:nvSpPr>
          <p:cNvPr id="29" name="Text 27"/>
          <p:cNvSpPr/>
          <p:nvPr/>
        </p:nvSpPr>
        <p:spPr>
          <a:xfrm>
            <a:off x="1066800" y="6858000"/>
            <a:ext cx="140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8D8D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Without clear emphasis and hierarchy, viewers feel lost — they don't know where to look or what's important.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2000" y="8636000"/>
            <a:ext cx="1524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31" name="Text 29"/>
          <p:cNvSpPr/>
          <p:nvPr/>
        </p:nvSpPr>
        <p:spPr>
          <a:xfrm>
            <a:off x="14986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D8D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954000" y="317500"/>
            <a:ext cx="304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200" kern="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DESIGN PRINCIPLES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spc="300" kern="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GESTALT PRINCIPLES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60500"/>
            <a:ext cx="14732000" cy="76200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460500"/>
            <a:ext cx="14224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Gestalt psychology: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"The whole is greater than the sum of its parts" — we perceive unified wholes rather than individual elements. These principles explain how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Closure and Proximity work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540000"/>
            <a:ext cx="3492500" cy="266700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8" name="Text 6"/>
          <p:cNvSpPr/>
          <p:nvPr/>
        </p:nvSpPr>
        <p:spPr>
          <a:xfrm>
            <a:off x="952500" y="2692400"/>
            <a:ext cx="3111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C45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SIMILARITY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52500" y="3073400"/>
            <a:ext cx="3111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Elements that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look alike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are perceived as a group — same color, shape, or size.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06500" y="4064000"/>
            <a:ext cx="254000" cy="254000"/>
          </a:xfrm>
          <a:prstGeom prst="ellipse">
            <a:avLst/>
          </a:prstGeom>
          <a:solidFill>
            <a:srgbClr val="C45D3E"/>
          </a:solidFill>
          <a:ln/>
        </p:spPr>
      </p:sp>
      <p:sp>
        <p:nvSpPr>
          <p:cNvPr id="11" name="Shape 9"/>
          <p:cNvSpPr/>
          <p:nvPr/>
        </p:nvSpPr>
        <p:spPr>
          <a:xfrm>
            <a:off x="1587500" y="4064000"/>
            <a:ext cx="254000" cy="254000"/>
          </a:xfrm>
          <a:prstGeom prst="ellipse">
            <a:avLst/>
          </a:prstGeom>
          <a:solidFill>
            <a:srgbClr val="C45D3E"/>
          </a:solidFill>
          <a:ln/>
        </p:spPr>
      </p:sp>
      <p:sp>
        <p:nvSpPr>
          <p:cNvPr id="12" name="Shape 10"/>
          <p:cNvSpPr/>
          <p:nvPr/>
        </p:nvSpPr>
        <p:spPr>
          <a:xfrm>
            <a:off x="1968500" y="4064000"/>
            <a:ext cx="254000" cy="254000"/>
          </a:xfrm>
          <a:prstGeom prst="ellipse">
            <a:avLst/>
          </a:prstGeom>
          <a:solidFill>
            <a:srgbClr val="C45D3E"/>
          </a:solidFill>
          <a:ln/>
        </p:spPr>
      </p:sp>
      <p:sp>
        <p:nvSpPr>
          <p:cNvPr id="13" name="Shape 11"/>
          <p:cNvSpPr/>
          <p:nvPr/>
        </p:nvSpPr>
        <p:spPr>
          <a:xfrm>
            <a:off x="2540000" y="4064000"/>
            <a:ext cx="254000" cy="254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14" name="Shape 12"/>
          <p:cNvSpPr/>
          <p:nvPr/>
        </p:nvSpPr>
        <p:spPr>
          <a:xfrm>
            <a:off x="2921000" y="4064000"/>
            <a:ext cx="254000" cy="254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15" name="Shape 13"/>
          <p:cNvSpPr/>
          <p:nvPr/>
        </p:nvSpPr>
        <p:spPr>
          <a:xfrm>
            <a:off x="3302000" y="4064000"/>
            <a:ext cx="254000" cy="254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16" name="Shape 14"/>
          <p:cNvSpPr/>
          <p:nvPr/>
        </p:nvSpPr>
        <p:spPr>
          <a:xfrm>
            <a:off x="4508500" y="2540000"/>
            <a:ext cx="3492500" cy="266700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17" name="Text 15"/>
          <p:cNvSpPr/>
          <p:nvPr/>
        </p:nvSpPr>
        <p:spPr>
          <a:xfrm>
            <a:off x="4699000" y="2692400"/>
            <a:ext cx="3111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C45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99000" y="3073400"/>
            <a:ext cx="3111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eye follows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smooth, continuous paths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rather than abrupt changes in direction.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26000" y="4064000"/>
            <a:ext cx="2794000" cy="381000"/>
          </a:xfrm>
          <a:prstGeom prst="straightConnector1">
            <a:avLst/>
          </a:prstGeom>
          <a:noFill/>
          <a:ln w="38100">
            <a:solidFill>
              <a:srgbClr val="C45D3E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8255000" y="2540000"/>
            <a:ext cx="3492500" cy="266700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21" name="Text 19"/>
          <p:cNvSpPr/>
          <p:nvPr/>
        </p:nvSpPr>
        <p:spPr>
          <a:xfrm>
            <a:off x="8445500" y="2692400"/>
            <a:ext cx="3111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C45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FIGURE-GROUND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45500" y="3073400"/>
            <a:ext cx="3111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automatically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separate foreground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background in visual scenes.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144000" y="3937000"/>
            <a:ext cx="762000" cy="762000"/>
          </a:xfrm>
          <a:prstGeom prst="ellipse">
            <a:avLst/>
          </a:prstGeom>
          <a:solidFill>
            <a:srgbClr val="C45D3E"/>
          </a:solidFill>
          <a:ln/>
        </p:spPr>
      </p:sp>
      <p:sp>
        <p:nvSpPr>
          <p:cNvPr id="24" name="Shape 22"/>
          <p:cNvSpPr/>
          <p:nvPr/>
        </p:nvSpPr>
        <p:spPr>
          <a:xfrm>
            <a:off x="8890000" y="3810000"/>
            <a:ext cx="1270000" cy="1016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25" name="Shape 23"/>
          <p:cNvSpPr/>
          <p:nvPr/>
        </p:nvSpPr>
        <p:spPr>
          <a:xfrm>
            <a:off x="12001500" y="2540000"/>
            <a:ext cx="3492500" cy="266700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26" name="Text 24"/>
          <p:cNvSpPr/>
          <p:nvPr/>
        </p:nvSpPr>
        <p:spPr>
          <a:xfrm>
            <a:off x="12192000" y="2692400"/>
            <a:ext cx="3111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C45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FATE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192000" y="3073400"/>
            <a:ext cx="3111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Elements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moving in the same direction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are perceived as related or part of a group.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2446000" y="4064000"/>
            <a:ext cx="254000" cy="254000"/>
          </a:xfrm>
          <a:prstGeom prst="ellipse">
            <a:avLst/>
          </a:prstGeom>
          <a:solidFill>
            <a:srgbClr val="C45D3E"/>
          </a:solidFill>
          <a:ln/>
        </p:spPr>
      </p:sp>
      <p:sp>
        <p:nvSpPr>
          <p:cNvPr id="29" name="Shape 27"/>
          <p:cNvSpPr/>
          <p:nvPr/>
        </p:nvSpPr>
        <p:spPr>
          <a:xfrm>
            <a:off x="12890500" y="4064000"/>
            <a:ext cx="254000" cy="254000"/>
          </a:xfrm>
          <a:prstGeom prst="ellipse">
            <a:avLst/>
          </a:prstGeom>
          <a:solidFill>
            <a:srgbClr val="C45D3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335000" y="4064000"/>
            <a:ext cx="254000" cy="254000"/>
          </a:xfrm>
          <a:prstGeom prst="ellipse">
            <a:avLst/>
          </a:prstGeom>
          <a:solidFill>
            <a:srgbClr val="C45D3E"/>
          </a:solidFill>
          <a:ln/>
        </p:spPr>
      </p:sp>
      <p:sp>
        <p:nvSpPr>
          <p:cNvPr id="31" name="Shape 29"/>
          <p:cNvSpPr/>
          <p:nvPr/>
        </p:nvSpPr>
        <p:spPr>
          <a:xfrm>
            <a:off x="12382500" y="4445000"/>
            <a:ext cx="1270000" cy="0"/>
          </a:xfrm>
          <a:prstGeom prst="straightConnector1">
            <a:avLst/>
          </a:prstGeom>
          <a:noFill/>
          <a:ln w="25400">
            <a:solidFill>
              <a:srgbClr val="C45D3E"/>
            </a:solidFill>
            <a:prstDash val="solid"/>
            <a:headEnd type="none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762000" y="5588000"/>
            <a:ext cx="14732000" cy="1397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33" name="Text 31"/>
          <p:cNvSpPr/>
          <p:nvPr/>
        </p:nvSpPr>
        <p:spPr>
          <a:xfrm>
            <a:off x="1143000" y="57404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300" kern="0" dirty="0">
                <a:solidFill>
                  <a:srgbClr val="C45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GESTALT MATTERS FOR DESIGNERS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43000" y="6070600"/>
            <a:ext cx="1397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These principles reflect how the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 visual system is wired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Understanding them allows designers to create layouts that feel intuitive and natural — viewers understand the design without conscious effort.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62000" y="8636000"/>
            <a:ext cx="1524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36" name="Text 34"/>
          <p:cNvSpPr/>
          <p:nvPr/>
        </p:nvSpPr>
        <p:spPr>
          <a:xfrm>
            <a:off x="14986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D8D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954000" y="317500"/>
            <a:ext cx="304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200" kern="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DESIGN PRINCIPLES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spc="300" kern="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APPLYING PRINCIPLES TOGETHER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well-designed landing page demonstrates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multiple principles simultaneously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each serving the communication goal.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095500"/>
            <a:ext cx="14732000" cy="482600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2286000"/>
            <a:ext cx="14224000" cy="1016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8" name="Text 6"/>
          <p:cNvSpPr/>
          <p:nvPr/>
        </p:nvSpPr>
        <p:spPr>
          <a:xfrm>
            <a:off x="1270000" y="2476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C45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HERO SECTION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70000" y="2794000"/>
            <a:ext cx="137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Emphasis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(focal point) + 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Balance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(image vs. text weight) + 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Contrast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(headline stands out)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16000" y="3492500"/>
            <a:ext cx="8890000" cy="1524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1" name="Text 9"/>
          <p:cNvSpPr/>
          <p:nvPr/>
        </p:nvSpPr>
        <p:spPr>
          <a:xfrm>
            <a:off x="1270000" y="3619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 AREA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70000" y="3962400"/>
            <a:ext cx="838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Alignment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(grid-based layout) + </a:t>
            </a:r>
            <a:pPr>
              <a:lnSpc>
                <a:spcPct val="150000"/>
              </a:lnSpc>
            </a:pPr>
            <a:r>
              <a:rPr lang="en-US" sz="1300" b="1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Proximity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(features grouped with icons) + </a:t>
            </a:r>
            <a:pPr>
              <a:lnSpc>
                <a:spcPct val="150000"/>
              </a:lnSpc>
            </a:pPr>
            <a:r>
              <a:rPr lang="en-US" sz="1300" b="1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Harmony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(consistent colors and spacing)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160000" y="3492500"/>
            <a:ext cx="5080000" cy="15240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14" name="Text 12"/>
          <p:cNvSpPr/>
          <p:nvPr/>
        </p:nvSpPr>
        <p:spPr>
          <a:xfrm>
            <a:off x="10414000" y="3619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CTA SECTION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414000" y="3962400"/>
            <a:ext cx="457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Emphasis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(isolated, high contrast) + </a:t>
            </a:r>
            <a:pPr>
              <a:lnSpc>
                <a:spcPct val="150000"/>
              </a:lnSpc>
            </a:pPr>
            <a:r>
              <a:rPr lang="en-US" sz="13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Whitespace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(breathing room) + </a:t>
            </a:r>
            <a:pPr>
              <a:lnSpc>
                <a:spcPct val="150000"/>
              </a:lnSpc>
            </a:pPr>
            <a:r>
              <a:rPr lang="en-US" sz="13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Closure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(implied action)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16000" y="5207000"/>
            <a:ext cx="14224000" cy="762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17" name="Text 15"/>
          <p:cNvSpPr/>
          <p:nvPr/>
        </p:nvSpPr>
        <p:spPr>
          <a:xfrm>
            <a:off x="1270000" y="5334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C45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FOOTER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70000" y="5651500"/>
            <a:ext cx="137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5F1EB">
                    <a:alpha val="56471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Alignment (consistent grid) + Proximity (related links grouped) + Unity (consistent styling with header)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5240000" y="2476500"/>
            <a:ext cx="0" cy="3302000"/>
          </a:xfrm>
          <a:prstGeom prst="straightConnector1">
            <a:avLst/>
          </a:prstGeom>
          <a:noFill/>
          <a:ln w="25400">
            <a:solidFill>
              <a:srgbClr val="C45D3E"/>
            </a:solidFill>
            <a:prstDash val="solid"/>
            <a:headEnd type="none"/>
            <a:tailEnd type="arrow"/>
          </a:ln>
        </p:spPr>
      </p:sp>
      <p:sp>
        <p:nvSpPr>
          <p:cNvPr id="20" name="Text 18"/>
          <p:cNvSpPr/>
          <p:nvPr/>
        </p:nvSpPr>
        <p:spPr>
          <a:xfrm>
            <a:off x="15367000" y="3810000"/>
            <a:ext cx="381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eaVert"/>
          <a:lstStyle/>
          <a:p>
            <a:pPr algn="ctr">
              <a:lnSpc>
                <a:spcPct val="100000"/>
              </a:lnSpc>
            </a:pPr>
            <a:r>
              <a:rPr lang="en-US" sz="1100" spc="100" kern="0" dirty="0">
                <a:solidFill>
                  <a:srgbClr val="C45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HIERARCHY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7239000"/>
            <a:ext cx="14732000" cy="6985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7366000"/>
            <a:ext cx="1397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Every principle serves the communication goal — principled design is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purposeful design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No principle operates in isolation.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8636000"/>
            <a:ext cx="1524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24" name="Text 22"/>
          <p:cNvSpPr/>
          <p:nvPr/>
        </p:nvSpPr>
        <p:spPr>
          <a:xfrm>
            <a:off x="14986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D8D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D3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A1A2E"/>
              </a:gs>
              <a:gs pos="50000">
                <a:srgbClr val="2D3142"/>
              </a:gs>
              <a:gs pos="100000">
                <a:srgbClr val="2D3142"/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-1905000" y="5080000"/>
            <a:ext cx="5080000" cy="5080000"/>
          </a:xfrm>
          <a:prstGeom prst="ellipse">
            <a:avLst/>
          </a:prstGeom>
          <a:solidFill>
            <a:srgbClr val="C45D3E">
              <a:alpha val="7059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900000">
            <a:off x="12700000" y="-1016000"/>
            <a:ext cx="3810000" cy="3810000"/>
          </a:xfrm>
          <a:prstGeom prst="rect">
            <a:avLst/>
          </a:prstGeom>
          <a:solidFill>
            <a:srgbClr val="C45D3E">
              <a:alpha val="8235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2286000"/>
            <a:ext cx="2540000" cy="508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6" name="Text 4"/>
          <p:cNvSpPr/>
          <p:nvPr/>
        </p:nvSpPr>
        <p:spPr>
          <a:xfrm>
            <a:off x="1778000" y="2540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200" spc="6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0" y="3492500"/>
            <a:ext cx="2540000" cy="12700"/>
          </a:xfrm>
          <a:prstGeom prst="rect">
            <a:avLst/>
          </a:prstGeom>
          <a:solidFill>
            <a:srgbClr val="F5F1EB">
              <a:alpha val="25098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778000" y="3810000"/>
            <a:ext cx="1270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Design multimedia with the brain in mind — Mayer's 12 principles provide an </a:t>
            </a:r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evidence-based framework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creating effective learning materials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78000" y="4953000"/>
            <a:ext cx="1270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Every visual design principle serves a purpose — Balance, Harmony, Closure, Proximity, Contrast, Color, Alignment, and Emphasis </a:t>
            </a:r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 together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78000" y="6096000"/>
            <a:ext cx="12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Great multimedia production combines </a:t>
            </a:r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cognitive science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</a:t>
            </a:r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F5F1EB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design artistry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18000" y="7239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5F1EB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Multimedia Production | Week 5 | Lessons 9 &amp; 10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66000" y="8255000"/>
            <a:ext cx="1524000" cy="38100"/>
          </a:xfrm>
          <a:prstGeom prst="rect">
            <a:avLst/>
          </a:prstGeom>
          <a:solidFill>
            <a:srgbClr val="C45D3E"/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Multimedia Principles &amp; Visual Design Principles</dc:title>
  <dc:subject>Multimedia Principles &amp; Visual Design Principles</dc:subject>
  <dc:creator>Kimi</dc:creator>
  <cp:lastModifiedBy>Kimi</cp:lastModifiedBy>
  <cp:revision>1</cp:revision>
  <dcterms:created xsi:type="dcterms:W3CDTF">2026-05-26T11:32:49Z</dcterms:created>
  <dcterms:modified xsi:type="dcterms:W3CDTF">2026-05-26T11:32:49Z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{"Label":"Multimedia Principles &amp; Visual Design Principles","ContentProducer":"001191110108MACG2KBH8F10000","ProduceID":"19e6400f-1612-87ae-8000-0000cc7e8936","ReservedCode1":"","ContentPropagator":"001191110108MACG2KBH8F20000","PropagateID":"19e6400f-1612-87ae-8000-0000cc7e8936","ReservedCode2":""}</vt:lpwstr>
  </property>
</Properties>
</file>