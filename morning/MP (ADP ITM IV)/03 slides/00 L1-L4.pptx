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Liter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057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learningmole.com/b4a304f347cb4c18d0a0a3d0face483e16592613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8894" b="88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310640"/>
            <a:ext cx="1960245" cy="426720"/>
          </a:xfrm>
          <a:custGeom>
            <a:avLst/>
            <a:gdLst/>
            <a:ahLst/>
            <a:cxnLst/>
            <a:rect l="l" t="t" r="r" b="b"/>
            <a:pathLst>
              <a:path w="1960245" h="426720">
                <a:moveTo>
                  <a:pt x="76199" y="0"/>
                </a:moveTo>
                <a:lnTo>
                  <a:pt x="1884046" y="0"/>
                </a:lnTo>
                <a:cubicBezTo>
                  <a:pt x="1926129" y="0"/>
                  <a:pt x="1960245" y="34116"/>
                  <a:pt x="1960245" y="76199"/>
                </a:cubicBezTo>
                <a:lnTo>
                  <a:pt x="1960245" y="350521"/>
                </a:lnTo>
                <a:cubicBezTo>
                  <a:pt x="1960245" y="392604"/>
                  <a:pt x="1926129" y="426720"/>
                  <a:pt x="188404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398270"/>
            <a:ext cx="1733907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BEGINNER'S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93570"/>
            <a:ext cx="72104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903220"/>
            <a:ext cx="7096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 and Learning Theories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1762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08432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multimedia, its history, benefits, and the science behind how we learn with 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04718" y="53035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876193" y="528447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Weeks • 4 Lectures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19191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702612" y="1717358"/>
            <a:ext cx="2788920" cy="541020"/>
          </a:xfrm>
          <a:custGeom>
            <a:avLst/>
            <a:gdLst/>
            <a:ahLst/>
            <a:cxnLst/>
            <a:rect l="l" t="t" r="r" b="b"/>
            <a:pathLst>
              <a:path w="2788920" h="541020">
                <a:moveTo>
                  <a:pt x="114301" y="0"/>
                </a:moveTo>
                <a:lnTo>
                  <a:pt x="2674619" y="0"/>
                </a:lnTo>
                <a:cubicBezTo>
                  <a:pt x="2737746" y="0"/>
                  <a:pt x="2788920" y="51174"/>
                  <a:pt x="2788920" y="114301"/>
                </a:cubicBezTo>
                <a:lnTo>
                  <a:pt x="2788920" y="426719"/>
                </a:lnTo>
                <a:cubicBezTo>
                  <a:pt x="2788920" y="489846"/>
                  <a:pt x="2737746" y="541020"/>
                  <a:pt x="2674619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7871" y="1820228"/>
            <a:ext cx="243601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– LECTURE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34089" y="2566869"/>
            <a:ext cx="7724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Multimedia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3881" y="3366969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2319814" y="3709869"/>
            <a:ext cx="755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Overview, Multimedia Basics, Hypermedia, and Key Terms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80774" y="4542354"/>
            <a:ext cx="2369820" cy="598170"/>
          </a:xfrm>
          <a:custGeom>
            <a:avLst/>
            <a:gdLst/>
            <a:ahLst/>
            <a:cxnLst/>
            <a:rect l="l" t="t" r="r" b="b"/>
            <a:pathLst>
              <a:path w="2369820" h="598170">
                <a:moveTo>
                  <a:pt x="114298" y="0"/>
                </a:moveTo>
                <a:lnTo>
                  <a:pt x="2255522" y="0"/>
                </a:lnTo>
                <a:cubicBezTo>
                  <a:pt x="2318647" y="0"/>
                  <a:pt x="2369820" y="51173"/>
                  <a:pt x="2369820" y="114298"/>
                </a:cubicBezTo>
                <a:lnTo>
                  <a:pt x="2369820" y="483872"/>
                </a:lnTo>
                <a:cubicBezTo>
                  <a:pt x="2369820" y="546997"/>
                  <a:pt x="2318647" y="598170"/>
                  <a:pt x="2255522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284" y="46985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78860"/>
                </a:moveTo>
                <a:lnTo>
                  <a:pt x="142875" y="251482"/>
                </a:lnTo>
                <a:lnTo>
                  <a:pt x="143154" y="251371"/>
                </a:lnTo>
                <a:cubicBezTo>
                  <a:pt x="173627" y="238702"/>
                  <a:pt x="206332" y="232172"/>
                  <a:pt x="239316" y="232172"/>
                </a:cubicBezTo>
                <a:lnTo>
                  <a:pt x="250031" y="232172"/>
                </a:lnTo>
                <a:lnTo>
                  <a:pt x="250031" y="53578"/>
                </a:lnTo>
                <a:lnTo>
                  <a:pt x="239316" y="53578"/>
                </a:lnTo>
                <a:cubicBezTo>
                  <a:pt x="215764" y="53578"/>
                  <a:pt x="192379" y="58266"/>
                  <a:pt x="170613" y="67308"/>
                </a:cubicBezTo>
                <a:cubicBezTo>
                  <a:pt x="161237" y="71214"/>
                  <a:pt x="151972" y="75065"/>
                  <a:pt x="142875" y="78860"/>
                </a:cubicBezTo>
                <a:close/>
                <a:moveTo>
                  <a:pt x="128867" y="34323"/>
                </a:moveTo>
                <a:lnTo>
                  <a:pt x="142875" y="40184"/>
                </a:lnTo>
                <a:lnTo>
                  <a:pt x="156883" y="34323"/>
                </a:lnTo>
                <a:cubicBezTo>
                  <a:pt x="183003" y="23440"/>
                  <a:pt x="211020" y="17859"/>
                  <a:pt x="239316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241102"/>
                </a:lnTo>
                <a:cubicBezTo>
                  <a:pt x="285750" y="255891"/>
                  <a:pt x="273751" y="267891"/>
                  <a:pt x="258961" y="267891"/>
                </a:cubicBezTo>
                <a:lnTo>
                  <a:pt x="239316" y="267891"/>
                </a:lnTo>
                <a:cubicBezTo>
                  <a:pt x="211020" y="267891"/>
                  <a:pt x="183003" y="273472"/>
                  <a:pt x="156883" y="284355"/>
                </a:cubicBezTo>
                <a:lnTo>
                  <a:pt x="149740" y="287313"/>
                </a:lnTo>
                <a:cubicBezTo>
                  <a:pt x="145331" y="289154"/>
                  <a:pt x="140419" y="289154"/>
                  <a:pt x="136010" y="287313"/>
                </a:cubicBezTo>
                <a:lnTo>
                  <a:pt x="128867" y="284355"/>
                </a:lnTo>
                <a:cubicBezTo>
                  <a:pt x="102747" y="273472"/>
                  <a:pt x="74730" y="267891"/>
                  <a:pt x="46434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44648"/>
                </a:lnTo>
                <a:cubicBezTo>
                  <a:pt x="0" y="29859"/>
                  <a:pt x="11999" y="17859"/>
                  <a:pt x="26789" y="17859"/>
                </a:cubicBezTo>
                <a:lnTo>
                  <a:pt x="46434" y="17859"/>
                </a:lnTo>
                <a:cubicBezTo>
                  <a:pt x="74730" y="17859"/>
                  <a:pt x="102747" y="23440"/>
                  <a:pt x="128867" y="3432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037046" y="4708088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1704" y="4542354"/>
            <a:ext cx="2465070" cy="598170"/>
          </a:xfrm>
          <a:custGeom>
            <a:avLst/>
            <a:gdLst/>
            <a:ahLst/>
            <a:cxnLst/>
            <a:rect l="l" t="t" r="r" b="b"/>
            <a:pathLst>
              <a:path w="2465070" h="598170">
                <a:moveTo>
                  <a:pt x="114298" y="0"/>
                </a:moveTo>
                <a:lnTo>
                  <a:pt x="2350772" y="0"/>
                </a:lnTo>
                <a:cubicBezTo>
                  <a:pt x="2413897" y="0"/>
                  <a:pt x="2465070" y="51173"/>
                  <a:pt x="2465070" y="114298"/>
                </a:cubicBezTo>
                <a:lnTo>
                  <a:pt x="2465070" y="483872"/>
                </a:lnTo>
                <a:cubicBezTo>
                  <a:pt x="2465070" y="546997"/>
                  <a:pt x="2413897" y="598170"/>
                  <a:pt x="2350772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96495" y="469856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7156" y="35719"/>
                </a:moveTo>
                <a:cubicBezTo>
                  <a:pt x="107156" y="16018"/>
                  <a:pt x="123174" y="0"/>
                  <a:pt x="142875" y="0"/>
                </a:cubicBezTo>
                <a:lnTo>
                  <a:pt x="321469" y="0"/>
                </a:lnTo>
                <a:cubicBezTo>
                  <a:pt x="341170" y="0"/>
                  <a:pt x="357188" y="16018"/>
                  <a:pt x="357188" y="35719"/>
                </a:cubicBezTo>
                <a:lnTo>
                  <a:pt x="357188" y="160734"/>
                </a:lnTo>
                <a:cubicBezTo>
                  <a:pt x="357188" y="180435"/>
                  <a:pt x="341170" y="196453"/>
                  <a:pt x="321469" y="196453"/>
                </a:cubicBezTo>
                <a:lnTo>
                  <a:pt x="142875" y="196453"/>
                </a:lnTo>
                <a:cubicBezTo>
                  <a:pt x="123174" y="196453"/>
                  <a:pt x="107156" y="180435"/>
                  <a:pt x="107156" y="160734"/>
                </a:cubicBezTo>
                <a:lnTo>
                  <a:pt x="107156" y="35719"/>
                </a:lnTo>
                <a:close/>
                <a:moveTo>
                  <a:pt x="178594" y="53578"/>
                </a:moveTo>
                <a:cubicBezTo>
                  <a:pt x="178594" y="43721"/>
                  <a:pt x="170591" y="35719"/>
                  <a:pt x="160734" y="35719"/>
                </a:cubicBezTo>
                <a:cubicBezTo>
                  <a:pt x="150878" y="35719"/>
                  <a:pt x="142875" y="43721"/>
                  <a:pt x="142875" y="53578"/>
                </a:cubicBezTo>
                <a:cubicBezTo>
                  <a:pt x="142875" y="63435"/>
                  <a:pt x="150878" y="71438"/>
                  <a:pt x="160734" y="71438"/>
                </a:cubicBezTo>
                <a:cubicBezTo>
                  <a:pt x="170591" y="71438"/>
                  <a:pt x="178594" y="63435"/>
                  <a:pt x="178594" y="53578"/>
                </a:cubicBezTo>
                <a:close/>
                <a:moveTo>
                  <a:pt x="265937" y="59996"/>
                </a:moveTo>
                <a:cubicBezTo>
                  <a:pt x="263482" y="56034"/>
                  <a:pt x="259184" y="53578"/>
                  <a:pt x="254496" y="53578"/>
                </a:cubicBezTo>
                <a:cubicBezTo>
                  <a:pt x="249808" y="53578"/>
                  <a:pt x="245511" y="56034"/>
                  <a:pt x="243055" y="59996"/>
                </a:cubicBezTo>
                <a:lnTo>
                  <a:pt x="212917" y="109277"/>
                </a:lnTo>
                <a:lnTo>
                  <a:pt x="202927" y="94990"/>
                </a:lnTo>
                <a:cubicBezTo>
                  <a:pt x="200416" y="91418"/>
                  <a:pt x="196342" y="89297"/>
                  <a:pt x="191932" y="89297"/>
                </a:cubicBezTo>
                <a:cubicBezTo>
                  <a:pt x="187523" y="89297"/>
                  <a:pt x="183449" y="91418"/>
                  <a:pt x="180938" y="94990"/>
                </a:cubicBezTo>
                <a:lnTo>
                  <a:pt x="149684" y="139638"/>
                </a:lnTo>
                <a:cubicBezTo>
                  <a:pt x="146838" y="143712"/>
                  <a:pt x="146447" y="149070"/>
                  <a:pt x="148791" y="153479"/>
                </a:cubicBezTo>
                <a:cubicBezTo>
                  <a:pt x="151135" y="157888"/>
                  <a:pt x="155767" y="160734"/>
                  <a:pt x="160734" y="160734"/>
                </a:cubicBezTo>
                <a:lnTo>
                  <a:pt x="303609" y="160734"/>
                </a:lnTo>
                <a:cubicBezTo>
                  <a:pt x="308465" y="160734"/>
                  <a:pt x="312930" y="158111"/>
                  <a:pt x="315274" y="153870"/>
                </a:cubicBezTo>
                <a:cubicBezTo>
                  <a:pt x="317618" y="149628"/>
                  <a:pt x="317562" y="144494"/>
                  <a:pt x="314995" y="140308"/>
                </a:cubicBezTo>
                <a:lnTo>
                  <a:pt x="265881" y="59941"/>
                </a:lnTo>
                <a:close/>
                <a:moveTo>
                  <a:pt x="80367" y="71438"/>
                </a:moveTo>
                <a:lnTo>
                  <a:pt x="80367" y="160734"/>
                </a:lnTo>
                <a:cubicBezTo>
                  <a:pt x="80367" y="195281"/>
                  <a:pt x="108328" y="223242"/>
                  <a:pt x="142875" y="223242"/>
                </a:cubicBezTo>
                <a:lnTo>
                  <a:pt x="250031" y="223242"/>
                </a:ln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80367" y="71438"/>
                </a:lnTo>
                <a:close/>
                <a:moveTo>
                  <a:pt x="29021" y="109389"/>
                </a:moveTo>
                <a:lnTo>
                  <a:pt x="29021" y="122783"/>
                </a:lnTo>
                <a:cubicBezTo>
                  <a:pt x="29021" y="127695"/>
                  <a:pt x="33040" y="131713"/>
                  <a:pt x="37951" y="131713"/>
                </a:cubicBezTo>
                <a:lnTo>
                  <a:pt x="51346" y="131713"/>
                </a:lnTo>
                <a:cubicBezTo>
                  <a:pt x="56257" y="131713"/>
                  <a:pt x="60275" y="127695"/>
                  <a:pt x="60275" y="122783"/>
                </a:cubicBezTo>
                <a:lnTo>
                  <a:pt x="60275" y="109389"/>
                </a:lnTo>
                <a:cubicBezTo>
                  <a:pt x="60275" y="104477"/>
                  <a:pt x="56257" y="100459"/>
                  <a:pt x="51346" y="100459"/>
                </a:cubicBezTo>
                <a:lnTo>
                  <a:pt x="37951" y="100459"/>
                </a:lnTo>
                <a:cubicBezTo>
                  <a:pt x="33040" y="100459"/>
                  <a:pt x="29021" y="104477"/>
                  <a:pt x="29021" y="109389"/>
                </a:cubicBezTo>
                <a:close/>
                <a:moveTo>
                  <a:pt x="37951" y="154037"/>
                </a:moveTo>
                <a:cubicBezTo>
                  <a:pt x="33040" y="154037"/>
                  <a:pt x="29021" y="158055"/>
                  <a:pt x="29021" y="162967"/>
                </a:cubicBezTo>
                <a:lnTo>
                  <a:pt x="29021" y="176361"/>
                </a:lnTo>
                <a:cubicBezTo>
                  <a:pt x="29021" y="181273"/>
                  <a:pt x="33040" y="185291"/>
                  <a:pt x="37951" y="185291"/>
                </a:cubicBezTo>
                <a:lnTo>
                  <a:pt x="51346" y="185291"/>
                </a:lnTo>
                <a:cubicBezTo>
                  <a:pt x="56257" y="185291"/>
                  <a:pt x="60275" y="181273"/>
                  <a:pt x="60275" y="176361"/>
                </a:cubicBezTo>
                <a:lnTo>
                  <a:pt x="60275" y="162967"/>
                </a:lnTo>
                <a:cubicBezTo>
                  <a:pt x="60275" y="158055"/>
                  <a:pt x="56257" y="154037"/>
                  <a:pt x="51346" y="154037"/>
                </a:cubicBezTo>
                <a:lnTo>
                  <a:pt x="37951" y="154037"/>
                </a:lnTo>
                <a:close/>
                <a:moveTo>
                  <a:pt x="37951" y="207615"/>
                </a:moveTo>
                <a:cubicBezTo>
                  <a:pt x="33040" y="207615"/>
                  <a:pt x="29021" y="211634"/>
                  <a:pt x="29021" y="216545"/>
                </a:cubicBezTo>
                <a:lnTo>
                  <a:pt x="29021" y="229939"/>
                </a:lnTo>
                <a:cubicBezTo>
                  <a:pt x="29021" y="234851"/>
                  <a:pt x="33040" y="238869"/>
                  <a:pt x="37951" y="238869"/>
                </a:cubicBezTo>
                <a:lnTo>
                  <a:pt x="51346" y="238869"/>
                </a:lnTo>
                <a:cubicBezTo>
                  <a:pt x="56257" y="238869"/>
                  <a:pt x="60275" y="234851"/>
                  <a:pt x="60275" y="229939"/>
                </a:cubicBezTo>
                <a:lnTo>
                  <a:pt x="60275" y="216545"/>
                </a:lnTo>
                <a:cubicBezTo>
                  <a:pt x="60275" y="211634"/>
                  <a:pt x="56257" y="207615"/>
                  <a:pt x="51346" y="207615"/>
                </a:cubicBezTo>
                <a:lnTo>
                  <a:pt x="37951" y="20761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717977" y="4708088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Basics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43243" y="4542354"/>
            <a:ext cx="1969770" cy="598170"/>
          </a:xfrm>
          <a:custGeom>
            <a:avLst/>
            <a:gdLst/>
            <a:ahLst/>
            <a:cxnLst/>
            <a:rect l="l" t="t" r="r" b="b"/>
            <a:pathLst>
              <a:path w="1969770" h="598170">
                <a:moveTo>
                  <a:pt x="114298" y="0"/>
                </a:moveTo>
                <a:lnTo>
                  <a:pt x="1855472" y="0"/>
                </a:lnTo>
                <a:cubicBezTo>
                  <a:pt x="1918597" y="0"/>
                  <a:pt x="1969770" y="51173"/>
                  <a:pt x="1969770" y="114298"/>
                </a:cubicBezTo>
                <a:lnTo>
                  <a:pt x="1969770" y="483872"/>
                </a:lnTo>
                <a:cubicBezTo>
                  <a:pt x="1969770" y="546997"/>
                  <a:pt x="1918597" y="598170"/>
                  <a:pt x="1855472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5893" y="469856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499515" y="4708088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 and Study Scheme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will learn in this course and how we will progress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360295"/>
          </a:xfrm>
          <a:custGeom>
            <a:avLst/>
            <a:gdLst/>
            <a:ahLst/>
            <a:cxnLst/>
            <a:rect l="l" t="t" r="r" b="b"/>
            <a:pathLst>
              <a:path w="5627370" h="2360295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2207891"/>
                </a:lnTo>
                <a:cubicBezTo>
                  <a:pt x="5627370" y="2292061"/>
                  <a:pt x="5559136" y="2360295"/>
                  <a:pt x="5474966" y="2360295"/>
                </a:cubicBezTo>
                <a:lnTo>
                  <a:pt x="152404" y="2360295"/>
                </a:lnTo>
                <a:cubicBezTo>
                  <a:pt x="68234" y="2360295"/>
                  <a:pt x="0" y="2292061"/>
                  <a:pt x="0" y="220789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7056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661160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11824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2351" y="2080142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what multimedia is and its key components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46114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351" y="2423042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the difference between multimedia, hypermedia, and hypertext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" y="280404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2351" y="2765942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Explore the history and benefits of multimedia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314694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351" y="3108842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Cognitive Theory and Dual Coding Theory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010" y="1337310"/>
            <a:ext cx="5627370" cy="2360295"/>
          </a:xfrm>
          <a:custGeom>
            <a:avLst/>
            <a:gdLst/>
            <a:ahLst/>
            <a:cxnLst/>
            <a:rect l="l" t="t" r="r" b="b"/>
            <a:pathLst>
              <a:path w="5627370" h="2360295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2207891"/>
                </a:lnTo>
                <a:cubicBezTo>
                  <a:pt x="5627370" y="2292061"/>
                  <a:pt x="5559136" y="2360295"/>
                  <a:pt x="5474966" y="2360295"/>
                </a:cubicBezTo>
                <a:lnTo>
                  <a:pt x="152404" y="2360295"/>
                </a:lnTo>
                <a:cubicBezTo>
                  <a:pt x="68234" y="2360295"/>
                  <a:pt x="0" y="2292061"/>
                  <a:pt x="0" y="220789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6279" y="154102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41807" y="1531620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Schedule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74130" y="1954411"/>
            <a:ext cx="5236845" cy="731520"/>
          </a:xfrm>
          <a:custGeom>
            <a:avLst/>
            <a:gdLst/>
            <a:ahLst/>
            <a:cxnLst/>
            <a:rect l="l" t="t" r="r" b="b"/>
            <a:pathLst>
              <a:path w="5236845" h="731520">
                <a:moveTo>
                  <a:pt x="114300" y="0"/>
                </a:moveTo>
                <a:lnTo>
                  <a:pt x="5122545" y="0"/>
                </a:lnTo>
                <a:cubicBezTo>
                  <a:pt x="5185629" y="0"/>
                  <a:pt x="5236845" y="51216"/>
                  <a:pt x="5236845" y="114300"/>
                </a:cubicBezTo>
                <a:lnTo>
                  <a:pt x="5236845" y="617220"/>
                </a:lnTo>
                <a:cubicBezTo>
                  <a:pt x="5236845" y="680346"/>
                  <a:pt x="5185671" y="731520"/>
                  <a:pt x="512254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72521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70288" y="209157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Lectures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339221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basics, history, examples, hypermedia &amp; hypertext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4130" y="2769752"/>
            <a:ext cx="5236845" cy="731520"/>
          </a:xfrm>
          <a:custGeom>
            <a:avLst/>
            <a:gdLst/>
            <a:ahLst/>
            <a:cxnLst/>
            <a:rect l="l" t="t" r="r" b="b"/>
            <a:pathLst>
              <a:path w="5236845" h="731520">
                <a:moveTo>
                  <a:pt x="114300" y="0"/>
                </a:moveTo>
                <a:lnTo>
                  <a:pt x="5122545" y="0"/>
                </a:lnTo>
                <a:cubicBezTo>
                  <a:pt x="5185629" y="0"/>
                  <a:pt x="5236845" y="51216"/>
                  <a:pt x="5236845" y="114300"/>
                </a:cubicBezTo>
                <a:lnTo>
                  <a:pt x="5236845" y="617220"/>
                </a:lnTo>
                <a:cubicBezTo>
                  <a:pt x="5236845" y="680346"/>
                  <a:pt x="5185671" y="731520"/>
                  <a:pt x="512254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887861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70288" y="290691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Lectures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3154561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&amp; Dual Coding Theory with visual examples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3859411"/>
            <a:ext cx="11418570" cy="2122170"/>
          </a:xfrm>
          <a:custGeom>
            <a:avLst/>
            <a:gdLst/>
            <a:ahLst/>
            <a:cxnLst/>
            <a:rect l="l" t="t" r="r" b="b"/>
            <a:pathLst>
              <a:path w="11418570" h="2122170">
                <a:moveTo>
                  <a:pt x="152393" y="0"/>
                </a:moveTo>
                <a:lnTo>
                  <a:pt x="11266177" y="0"/>
                </a:lnTo>
                <a:cubicBezTo>
                  <a:pt x="11350341" y="0"/>
                  <a:pt x="11418570" y="68229"/>
                  <a:pt x="11418570" y="152393"/>
                </a:cubicBezTo>
                <a:lnTo>
                  <a:pt x="11418570" y="1969777"/>
                </a:lnTo>
                <a:cubicBezTo>
                  <a:pt x="11418570" y="2053941"/>
                  <a:pt x="11350341" y="2122170"/>
                  <a:pt x="11266177" y="2122170"/>
                </a:cubicBezTo>
                <a:lnTo>
                  <a:pt x="152393" y="2122170"/>
                </a:lnTo>
                <a:cubicBezTo>
                  <a:pt x="68285" y="2122170"/>
                  <a:pt x="0" y="2053885"/>
                  <a:pt x="0" y="1969777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2939" y="406312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50608" y="405372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120" y="4472703"/>
            <a:ext cx="11106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course is designed for beginners. We start with simple definitions and progress to advanced learning theories. Each concept includes real-world examples to make learning easy and fun.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2930" y="5086111"/>
            <a:ext cx="11028045" cy="693420"/>
          </a:xfrm>
          <a:custGeom>
            <a:avLst/>
            <a:gdLst/>
            <a:ahLst/>
            <a:cxnLst/>
            <a:rect l="l" t="t" r="r" b="b"/>
            <a:pathLst>
              <a:path w="11028045" h="693420">
                <a:moveTo>
                  <a:pt x="114303" y="0"/>
                </a:moveTo>
                <a:lnTo>
                  <a:pt x="10913742" y="0"/>
                </a:lnTo>
                <a:cubicBezTo>
                  <a:pt x="10976870" y="0"/>
                  <a:pt x="11028045" y="51175"/>
                  <a:pt x="11028045" y="114303"/>
                </a:cubicBezTo>
                <a:lnTo>
                  <a:pt x="11028045" y="579117"/>
                </a:lnTo>
                <a:cubicBezTo>
                  <a:pt x="11028045" y="642245"/>
                  <a:pt x="10976870" y="693420"/>
                  <a:pt x="10913742" y="693420"/>
                </a:cubicBezTo>
                <a:lnTo>
                  <a:pt x="114303" y="693420"/>
                </a:lnTo>
                <a:cubicBezTo>
                  <a:pt x="51218" y="693420"/>
                  <a:pt x="0" y="642202"/>
                  <a:pt x="0" y="57911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040" y="5204222"/>
            <a:ext cx="1086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Think of this course like learning to cook: first, you learn about ingredients (multimedia basics), then you learn recipes (theories), and finally you create delicious meals (multimedia projects).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6099573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217683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Flowchart showing course progression from Week 1 to Week 2 | Image: Students in a modern classroom with multimedia tools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Multimedia?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down the word and understanding the 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6789420" cy="1988820"/>
          </a:xfrm>
          <a:custGeom>
            <a:avLst/>
            <a:gdLst/>
            <a:ahLst/>
            <a:cxnLst/>
            <a:rect l="l" t="t" r="r" b="b"/>
            <a:pathLst>
              <a:path w="6789420" h="1988820">
                <a:moveTo>
                  <a:pt x="152403" y="0"/>
                </a:moveTo>
                <a:lnTo>
                  <a:pt x="6637017" y="0"/>
                </a:lnTo>
                <a:cubicBezTo>
                  <a:pt x="6721187" y="0"/>
                  <a:pt x="6789420" y="68233"/>
                  <a:pt x="6789420" y="152403"/>
                </a:cubicBezTo>
                <a:lnTo>
                  <a:pt x="6789420" y="1836417"/>
                </a:lnTo>
                <a:cubicBezTo>
                  <a:pt x="6789420" y="1920587"/>
                  <a:pt x="6721187" y="1988820"/>
                  <a:pt x="6637017" y="1988820"/>
                </a:cubicBezTo>
                <a:lnTo>
                  <a:pt x="152403" y="1988820"/>
                </a:lnTo>
                <a:cubicBezTo>
                  <a:pt x="68233" y="1988820"/>
                  <a:pt x="0" y="1920587"/>
                  <a:pt x="0" y="18364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501" y="154102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7156" y="35719"/>
                </a:moveTo>
                <a:cubicBezTo>
                  <a:pt x="107156" y="16018"/>
                  <a:pt x="123174" y="0"/>
                  <a:pt x="142875" y="0"/>
                </a:cubicBezTo>
                <a:lnTo>
                  <a:pt x="321469" y="0"/>
                </a:lnTo>
                <a:cubicBezTo>
                  <a:pt x="341170" y="0"/>
                  <a:pt x="357188" y="16018"/>
                  <a:pt x="357188" y="35719"/>
                </a:cubicBezTo>
                <a:lnTo>
                  <a:pt x="357188" y="160734"/>
                </a:lnTo>
                <a:cubicBezTo>
                  <a:pt x="357188" y="180435"/>
                  <a:pt x="341170" y="196453"/>
                  <a:pt x="321469" y="196453"/>
                </a:cubicBezTo>
                <a:lnTo>
                  <a:pt x="142875" y="196453"/>
                </a:lnTo>
                <a:cubicBezTo>
                  <a:pt x="123174" y="196453"/>
                  <a:pt x="107156" y="180435"/>
                  <a:pt x="107156" y="160734"/>
                </a:cubicBezTo>
                <a:lnTo>
                  <a:pt x="107156" y="35719"/>
                </a:lnTo>
                <a:close/>
                <a:moveTo>
                  <a:pt x="178594" y="53578"/>
                </a:moveTo>
                <a:cubicBezTo>
                  <a:pt x="178594" y="43721"/>
                  <a:pt x="170591" y="35719"/>
                  <a:pt x="160734" y="35719"/>
                </a:cubicBezTo>
                <a:cubicBezTo>
                  <a:pt x="150878" y="35719"/>
                  <a:pt x="142875" y="43721"/>
                  <a:pt x="142875" y="53578"/>
                </a:cubicBezTo>
                <a:cubicBezTo>
                  <a:pt x="142875" y="63435"/>
                  <a:pt x="150878" y="71438"/>
                  <a:pt x="160734" y="71438"/>
                </a:cubicBezTo>
                <a:cubicBezTo>
                  <a:pt x="170591" y="71438"/>
                  <a:pt x="178594" y="63435"/>
                  <a:pt x="178594" y="53578"/>
                </a:cubicBezTo>
                <a:close/>
                <a:moveTo>
                  <a:pt x="265937" y="59996"/>
                </a:moveTo>
                <a:cubicBezTo>
                  <a:pt x="263482" y="56034"/>
                  <a:pt x="259184" y="53578"/>
                  <a:pt x="254496" y="53578"/>
                </a:cubicBezTo>
                <a:cubicBezTo>
                  <a:pt x="249808" y="53578"/>
                  <a:pt x="245511" y="56034"/>
                  <a:pt x="243055" y="59996"/>
                </a:cubicBezTo>
                <a:lnTo>
                  <a:pt x="212917" y="109277"/>
                </a:lnTo>
                <a:lnTo>
                  <a:pt x="202927" y="94990"/>
                </a:lnTo>
                <a:cubicBezTo>
                  <a:pt x="200416" y="91418"/>
                  <a:pt x="196342" y="89297"/>
                  <a:pt x="191932" y="89297"/>
                </a:cubicBezTo>
                <a:cubicBezTo>
                  <a:pt x="187523" y="89297"/>
                  <a:pt x="183449" y="91418"/>
                  <a:pt x="180938" y="94990"/>
                </a:cubicBezTo>
                <a:lnTo>
                  <a:pt x="149684" y="139638"/>
                </a:lnTo>
                <a:cubicBezTo>
                  <a:pt x="146838" y="143712"/>
                  <a:pt x="146447" y="149070"/>
                  <a:pt x="148791" y="153479"/>
                </a:cubicBezTo>
                <a:cubicBezTo>
                  <a:pt x="151135" y="157888"/>
                  <a:pt x="155767" y="160734"/>
                  <a:pt x="160734" y="160734"/>
                </a:cubicBezTo>
                <a:lnTo>
                  <a:pt x="303609" y="160734"/>
                </a:lnTo>
                <a:cubicBezTo>
                  <a:pt x="308465" y="160734"/>
                  <a:pt x="312930" y="158111"/>
                  <a:pt x="315274" y="153870"/>
                </a:cubicBezTo>
                <a:cubicBezTo>
                  <a:pt x="317618" y="149628"/>
                  <a:pt x="317562" y="144494"/>
                  <a:pt x="314995" y="140308"/>
                </a:cubicBezTo>
                <a:lnTo>
                  <a:pt x="265881" y="59941"/>
                </a:lnTo>
                <a:close/>
                <a:moveTo>
                  <a:pt x="80367" y="71438"/>
                </a:moveTo>
                <a:lnTo>
                  <a:pt x="80367" y="160734"/>
                </a:lnTo>
                <a:cubicBezTo>
                  <a:pt x="80367" y="195281"/>
                  <a:pt x="108328" y="223242"/>
                  <a:pt x="142875" y="223242"/>
                </a:cubicBezTo>
                <a:lnTo>
                  <a:pt x="250031" y="223242"/>
                </a:ln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80367" y="71438"/>
                </a:lnTo>
                <a:close/>
                <a:moveTo>
                  <a:pt x="29021" y="109389"/>
                </a:moveTo>
                <a:lnTo>
                  <a:pt x="29021" y="122783"/>
                </a:lnTo>
                <a:cubicBezTo>
                  <a:pt x="29021" y="127695"/>
                  <a:pt x="33040" y="131713"/>
                  <a:pt x="37951" y="131713"/>
                </a:cubicBezTo>
                <a:lnTo>
                  <a:pt x="51346" y="131713"/>
                </a:lnTo>
                <a:cubicBezTo>
                  <a:pt x="56257" y="131713"/>
                  <a:pt x="60275" y="127695"/>
                  <a:pt x="60275" y="122783"/>
                </a:cubicBezTo>
                <a:lnTo>
                  <a:pt x="60275" y="109389"/>
                </a:lnTo>
                <a:cubicBezTo>
                  <a:pt x="60275" y="104477"/>
                  <a:pt x="56257" y="100459"/>
                  <a:pt x="51346" y="100459"/>
                </a:cubicBezTo>
                <a:lnTo>
                  <a:pt x="37951" y="100459"/>
                </a:lnTo>
                <a:cubicBezTo>
                  <a:pt x="33040" y="100459"/>
                  <a:pt x="29021" y="104477"/>
                  <a:pt x="29021" y="109389"/>
                </a:cubicBezTo>
                <a:close/>
                <a:moveTo>
                  <a:pt x="37951" y="154037"/>
                </a:moveTo>
                <a:cubicBezTo>
                  <a:pt x="33040" y="154037"/>
                  <a:pt x="29021" y="158055"/>
                  <a:pt x="29021" y="162967"/>
                </a:cubicBezTo>
                <a:lnTo>
                  <a:pt x="29021" y="176361"/>
                </a:lnTo>
                <a:cubicBezTo>
                  <a:pt x="29021" y="181273"/>
                  <a:pt x="33040" y="185291"/>
                  <a:pt x="37951" y="185291"/>
                </a:cubicBezTo>
                <a:lnTo>
                  <a:pt x="51346" y="185291"/>
                </a:lnTo>
                <a:cubicBezTo>
                  <a:pt x="56257" y="185291"/>
                  <a:pt x="60275" y="181273"/>
                  <a:pt x="60275" y="176361"/>
                </a:cubicBezTo>
                <a:lnTo>
                  <a:pt x="60275" y="162967"/>
                </a:lnTo>
                <a:cubicBezTo>
                  <a:pt x="60275" y="158055"/>
                  <a:pt x="56257" y="154037"/>
                  <a:pt x="51346" y="154037"/>
                </a:cubicBezTo>
                <a:lnTo>
                  <a:pt x="37951" y="154037"/>
                </a:lnTo>
                <a:close/>
                <a:moveTo>
                  <a:pt x="37951" y="207615"/>
                </a:moveTo>
                <a:cubicBezTo>
                  <a:pt x="33040" y="207615"/>
                  <a:pt x="29021" y="211634"/>
                  <a:pt x="29021" y="216545"/>
                </a:cubicBezTo>
                <a:lnTo>
                  <a:pt x="29021" y="229939"/>
                </a:lnTo>
                <a:cubicBezTo>
                  <a:pt x="29021" y="234851"/>
                  <a:pt x="33040" y="238869"/>
                  <a:pt x="37951" y="238869"/>
                </a:cubicBezTo>
                <a:lnTo>
                  <a:pt x="51346" y="238869"/>
                </a:lnTo>
                <a:cubicBezTo>
                  <a:pt x="56257" y="238869"/>
                  <a:pt x="60275" y="234851"/>
                  <a:pt x="60275" y="229939"/>
                </a:cubicBezTo>
                <a:lnTo>
                  <a:pt x="60275" y="216545"/>
                </a:lnTo>
                <a:cubicBezTo>
                  <a:pt x="60275" y="211634"/>
                  <a:pt x="56257" y="207615"/>
                  <a:pt x="51346" y="207615"/>
                </a:cubicBezTo>
                <a:lnTo>
                  <a:pt x="37951" y="20761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20"/>
            <a:ext cx="183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2"/>
            <a:ext cx="647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Many | </a:t>
            </a: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Ways of communicating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388752"/>
            <a:ext cx="6477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= Using many different ways to communicate information in one presentation. Instead of just reading text, you see images, hear sounds, watch videos, and interact with content.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486032"/>
            <a:ext cx="6789420" cy="2398395"/>
          </a:xfrm>
          <a:custGeom>
            <a:avLst/>
            <a:gdLst/>
            <a:ahLst/>
            <a:cxnLst/>
            <a:rect l="l" t="t" r="r" b="b"/>
            <a:pathLst>
              <a:path w="6789420" h="2398395">
                <a:moveTo>
                  <a:pt x="152394" y="0"/>
                </a:moveTo>
                <a:lnTo>
                  <a:pt x="6637026" y="0"/>
                </a:lnTo>
                <a:cubicBezTo>
                  <a:pt x="6721191" y="0"/>
                  <a:pt x="6789420" y="68229"/>
                  <a:pt x="6789420" y="152394"/>
                </a:cubicBezTo>
                <a:lnTo>
                  <a:pt x="6789420" y="2246001"/>
                </a:lnTo>
                <a:cubicBezTo>
                  <a:pt x="6789420" y="2330166"/>
                  <a:pt x="6721191" y="2398395"/>
                  <a:pt x="6637026" y="2398395"/>
                </a:cubicBezTo>
                <a:lnTo>
                  <a:pt x="152394" y="2398395"/>
                </a:lnTo>
                <a:cubicBezTo>
                  <a:pt x="68285" y="2398395"/>
                  <a:pt x="0" y="2330110"/>
                  <a:pt x="0" y="224600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" y="368974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8502" y="-726"/>
                </a:moveTo>
                <a:cubicBezTo>
                  <a:pt x="148847" y="-6307"/>
                  <a:pt x="136903" y="-6307"/>
                  <a:pt x="127248" y="-726"/>
                </a:cubicBezTo>
                <a:lnTo>
                  <a:pt x="80256" y="26398"/>
                </a:lnTo>
                <a:cubicBezTo>
                  <a:pt x="70600" y="31979"/>
                  <a:pt x="64629" y="42304"/>
                  <a:pt x="64629" y="53467"/>
                </a:cubicBezTo>
                <a:lnTo>
                  <a:pt x="64629" y="110337"/>
                </a:lnTo>
                <a:lnTo>
                  <a:pt x="15348" y="138801"/>
                </a:lnTo>
                <a:cubicBezTo>
                  <a:pt x="5693" y="144382"/>
                  <a:pt x="-279" y="154707"/>
                  <a:pt x="-279" y="165869"/>
                </a:cubicBezTo>
                <a:lnTo>
                  <a:pt x="-279" y="220173"/>
                </a:lnTo>
                <a:cubicBezTo>
                  <a:pt x="-279" y="231335"/>
                  <a:pt x="5693" y="241660"/>
                  <a:pt x="15348" y="247241"/>
                </a:cubicBezTo>
                <a:lnTo>
                  <a:pt x="62396" y="274365"/>
                </a:lnTo>
                <a:cubicBezTo>
                  <a:pt x="72051" y="279946"/>
                  <a:pt x="83995" y="279946"/>
                  <a:pt x="93650" y="274365"/>
                </a:cubicBezTo>
                <a:lnTo>
                  <a:pt x="142931" y="245901"/>
                </a:lnTo>
                <a:lnTo>
                  <a:pt x="192212" y="274365"/>
                </a:lnTo>
                <a:cubicBezTo>
                  <a:pt x="201867" y="279946"/>
                  <a:pt x="213810" y="279946"/>
                  <a:pt x="223465" y="274365"/>
                </a:cubicBezTo>
                <a:lnTo>
                  <a:pt x="270402" y="247241"/>
                </a:lnTo>
                <a:cubicBezTo>
                  <a:pt x="280057" y="241660"/>
                  <a:pt x="286029" y="231335"/>
                  <a:pt x="286029" y="220173"/>
                </a:cubicBezTo>
                <a:lnTo>
                  <a:pt x="286029" y="165869"/>
                </a:lnTo>
                <a:cubicBezTo>
                  <a:pt x="286029" y="154707"/>
                  <a:pt x="280057" y="144382"/>
                  <a:pt x="270402" y="138801"/>
                </a:cubicBezTo>
                <a:lnTo>
                  <a:pt x="221121" y="110337"/>
                </a:lnTo>
                <a:lnTo>
                  <a:pt x="221121" y="53467"/>
                </a:lnTo>
                <a:cubicBezTo>
                  <a:pt x="221121" y="42304"/>
                  <a:pt x="215150" y="31979"/>
                  <a:pt x="205494" y="26398"/>
                </a:cubicBezTo>
                <a:lnTo>
                  <a:pt x="158502" y="-726"/>
                </a:lnTo>
                <a:close/>
                <a:moveTo>
                  <a:pt x="129480" y="163302"/>
                </a:moveTo>
                <a:lnTo>
                  <a:pt x="129480" y="222740"/>
                </a:lnTo>
                <a:lnTo>
                  <a:pt x="80200" y="251203"/>
                </a:lnTo>
                <a:cubicBezTo>
                  <a:pt x="79530" y="251594"/>
                  <a:pt x="78749" y="251817"/>
                  <a:pt x="77967" y="251817"/>
                </a:cubicBezTo>
                <a:lnTo>
                  <a:pt x="77967" y="193049"/>
                </a:lnTo>
                <a:lnTo>
                  <a:pt x="129480" y="163302"/>
                </a:lnTo>
                <a:close/>
                <a:moveTo>
                  <a:pt x="258626" y="163637"/>
                </a:moveTo>
                <a:cubicBezTo>
                  <a:pt x="259017" y="164306"/>
                  <a:pt x="259240" y="165088"/>
                  <a:pt x="259240" y="165869"/>
                </a:cubicBezTo>
                <a:lnTo>
                  <a:pt x="259240" y="220173"/>
                </a:lnTo>
                <a:cubicBezTo>
                  <a:pt x="259240" y="221791"/>
                  <a:pt x="258403" y="223242"/>
                  <a:pt x="257008" y="224024"/>
                </a:cubicBezTo>
                <a:lnTo>
                  <a:pt x="209959" y="251147"/>
                </a:lnTo>
                <a:cubicBezTo>
                  <a:pt x="209290" y="251538"/>
                  <a:pt x="208508" y="251761"/>
                  <a:pt x="207727" y="251761"/>
                </a:cubicBezTo>
                <a:lnTo>
                  <a:pt x="207727" y="192993"/>
                </a:lnTo>
                <a:lnTo>
                  <a:pt x="258626" y="163637"/>
                </a:lnTo>
                <a:close/>
                <a:moveTo>
                  <a:pt x="194388" y="53467"/>
                </a:moveTo>
                <a:lnTo>
                  <a:pt x="194388" y="110337"/>
                </a:lnTo>
                <a:lnTo>
                  <a:pt x="142875" y="140084"/>
                </a:lnTo>
                <a:lnTo>
                  <a:pt x="142875" y="80646"/>
                </a:lnTo>
                <a:lnTo>
                  <a:pt x="193774" y="51290"/>
                </a:lnTo>
                <a:cubicBezTo>
                  <a:pt x="194165" y="51960"/>
                  <a:pt x="194388" y="52741"/>
                  <a:pt x="194388" y="535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0608" y="368034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Building Blocks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2930" y="4141232"/>
            <a:ext cx="1179195" cy="731520"/>
          </a:xfrm>
          <a:custGeom>
            <a:avLst/>
            <a:gdLst/>
            <a:ahLst/>
            <a:cxnLst/>
            <a:rect l="l" t="t" r="r" b="b"/>
            <a:pathLst>
              <a:path w="1179195" h="731520">
                <a:moveTo>
                  <a:pt x="114300" y="0"/>
                </a:moveTo>
                <a:lnTo>
                  <a:pt x="1064895" y="0"/>
                </a:lnTo>
                <a:cubicBezTo>
                  <a:pt x="1127979" y="0"/>
                  <a:pt x="1179195" y="51216"/>
                  <a:pt x="1179195" y="114300"/>
                </a:cubicBezTo>
                <a:lnTo>
                  <a:pt x="1179195" y="617220"/>
                </a:lnTo>
                <a:cubicBezTo>
                  <a:pt x="1179195" y="680346"/>
                  <a:pt x="1128021" y="731520"/>
                  <a:pt x="10648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9180" y="42593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702" y="456414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85950" y="4141232"/>
            <a:ext cx="1179195" cy="731520"/>
          </a:xfrm>
          <a:custGeom>
            <a:avLst/>
            <a:gdLst/>
            <a:ahLst/>
            <a:cxnLst/>
            <a:rect l="l" t="t" r="r" b="b"/>
            <a:pathLst>
              <a:path w="1179195" h="731520">
                <a:moveTo>
                  <a:pt x="114300" y="0"/>
                </a:moveTo>
                <a:lnTo>
                  <a:pt x="1064895" y="0"/>
                </a:lnTo>
                <a:cubicBezTo>
                  <a:pt x="1127979" y="0"/>
                  <a:pt x="1179195" y="51216"/>
                  <a:pt x="1179195" y="114300"/>
                </a:cubicBezTo>
                <a:lnTo>
                  <a:pt x="1179195" y="617220"/>
                </a:lnTo>
                <a:cubicBezTo>
                  <a:pt x="1179195" y="680346"/>
                  <a:pt x="1128021" y="731520"/>
                  <a:pt x="10648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6488" y="425934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970723" y="456414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88970" y="4141232"/>
            <a:ext cx="1179195" cy="731520"/>
          </a:xfrm>
          <a:custGeom>
            <a:avLst/>
            <a:gdLst/>
            <a:ahLst/>
            <a:cxnLst/>
            <a:rect l="l" t="t" r="r" b="b"/>
            <a:pathLst>
              <a:path w="1179195" h="731520">
                <a:moveTo>
                  <a:pt x="114300" y="0"/>
                </a:moveTo>
                <a:lnTo>
                  <a:pt x="1064895" y="0"/>
                </a:lnTo>
                <a:cubicBezTo>
                  <a:pt x="1127979" y="0"/>
                  <a:pt x="1179195" y="51216"/>
                  <a:pt x="1179195" y="114300"/>
                </a:cubicBezTo>
                <a:lnTo>
                  <a:pt x="1179195" y="617220"/>
                </a:lnTo>
                <a:cubicBezTo>
                  <a:pt x="1179195" y="680346"/>
                  <a:pt x="1128021" y="731520"/>
                  <a:pt x="10648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6645" y="42593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3273743" y="456414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91990" y="4141232"/>
            <a:ext cx="1179195" cy="731520"/>
          </a:xfrm>
          <a:custGeom>
            <a:avLst/>
            <a:gdLst/>
            <a:ahLst/>
            <a:cxnLst/>
            <a:rect l="l" t="t" r="r" b="b"/>
            <a:pathLst>
              <a:path w="1179195" h="731520">
                <a:moveTo>
                  <a:pt x="114300" y="0"/>
                </a:moveTo>
                <a:lnTo>
                  <a:pt x="1064895" y="0"/>
                </a:lnTo>
                <a:cubicBezTo>
                  <a:pt x="1127979" y="0"/>
                  <a:pt x="1179195" y="51216"/>
                  <a:pt x="1179195" y="114300"/>
                </a:cubicBezTo>
                <a:lnTo>
                  <a:pt x="1179195" y="617220"/>
                </a:lnTo>
                <a:cubicBezTo>
                  <a:pt x="1179195" y="680346"/>
                  <a:pt x="1128021" y="731520"/>
                  <a:pt x="10648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3953" y="425934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6763" y="456414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5010" y="4141232"/>
            <a:ext cx="1179195" cy="731520"/>
          </a:xfrm>
          <a:custGeom>
            <a:avLst/>
            <a:gdLst/>
            <a:ahLst/>
            <a:cxnLst/>
            <a:rect l="l" t="t" r="r" b="b"/>
            <a:pathLst>
              <a:path w="1179195" h="731520">
                <a:moveTo>
                  <a:pt x="114300" y="0"/>
                </a:moveTo>
                <a:lnTo>
                  <a:pt x="1064895" y="0"/>
                </a:lnTo>
                <a:cubicBezTo>
                  <a:pt x="1127979" y="0"/>
                  <a:pt x="1179195" y="51216"/>
                  <a:pt x="1179195" y="114300"/>
                </a:cubicBezTo>
                <a:lnTo>
                  <a:pt x="1179195" y="617220"/>
                </a:lnTo>
                <a:cubicBezTo>
                  <a:pt x="1179195" y="680346"/>
                  <a:pt x="1128021" y="731520"/>
                  <a:pt x="10648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5548" y="425934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879782" y="456414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34250" y="1337310"/>
            <a:ext cx="4474845" cy="2198370"/>
          </a:xfrm>
          <a:custGeom>
            <a:avLst/>
            <a:gdLst/>
            <a:ahLst/>
            <a:cxnLst/>
            <a:rect l="l" t="t" r="r" b="b"/>
            <a:pathLst>
              <a:path w="4474845" h="2198370">
                <a:moveTo>
                  <a:pt x="152391" y="0"/>
                </a:moveTo>
                <a:lnTo>
                  <a:pt x="4322454" y="0"/>
                </a:lnTo>
                <a:cubicBezTo>
                  <a:pt x="4406617" y="0"/>
                  <a:pt x="4474845" y="68228"/>
                  <a:pt x="4474845" y="152391"/>
                </a:cubicBezTo>
                <a:lnTo>
                  <a:pt x="4474845" y="2045979"/>
                </a:lnTo>
                <a:cubicBezTo>
                  <a:pt x="4474845" y="2130142"/>
                  <a:pt x="4406617" y="2198370"/>
                  <a:pt x="4322454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02379" y="173914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8000048" y="172974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28560" y="2148722"/>
            <a:ext cx="41624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Imagine reading a boring textbook with only words. Now imagine the same book with pictures, videos, and audio explanations. Which is more interesting? That's the power of multimedia!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4250" y="3691890"/>
            <a:ext cx="4474845" cy="2198370"/>
          </a:xfrm>
          <a:custGeom>
            <a:avLst/>
            <a:gdLst/>
            <a:ahLst/>
            <a:cxnLst/>
            <a:rect l="l" t="t" r="r" b="b"/>
            <a:pathLst>
              <a:path w="4474845" h="2198370">
                <a:moveTo>
                  <a:pt x="152391" y="0"/>
                </a:moveTo>
                <a:lnTo>
                  <a:pt x="4322454" y="0"/>
                </a:lnTo>
                <a:cubicBezTo>
                  <a:pt x="4406617" y="0"/>
                  <a:pt x="4474845" y="68228"/>
                  <a:pt x="4474845" y="152391"/>
                </a:cubicBezTo>
                <a:lnTo>
                  <a:pt x="4474845" y="2045979"/>
                </a:lnTo>
                <a:cubicBezTo>
                  <a:pt x="4474845" y="2130142"/>
                  <a:pt x="4406617" y="2198370"/>
                  <a:pt x="4322454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66660" y="42175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8000048" y="4208145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28560" y="4627127"/>
            <a:ext cx="4162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 Video: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cooking tutorial combines video (shows cooking), audio (chef explains), text (recipe on screen), and images (ingredient photos). This is multimedia!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6008371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12648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Venn diagram showing 5 media types overlapping in "Multimedia" | Image: A YouTube video screen showing multiple media elements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762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Hypermedia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multimedia meets clickable connections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274570"/>
          </a:xfrm>
          <a:custGeom>
            <a:avLst/>
            <a:gdLst/>
            <a:ahLst/>
            <a:cxnLst/>
            <a:rect l="l" t="t" r="r" b="b"/>
            <a:pathLst>
              <a:path w="5627370" h="2274570">
                <a:moveTo>
                  <a:pt x="152396" y="0"/>
                </a:moveTo>
                <a:lnTo>
                  <a:pt x="5474974" y="0"/>
                </a:lnTo>
                <a:cubicBezTo>
                  <a:pt x="5559140" y="0"/>
                  <a:pt x="5627370" y="68230"/>
                  <a:pt x="5627370" y="152396"/>
                </a:cubicBezTo>
                <a:lnTo>
                  <a:pt x="5627370" y="2122174"/>
                </a:lnTo>
                <a:cubicBezTo>
                  <a:pt x="5627370" y="2206340"/>
                  <a:pt x="5559140" y="2274570"/>
                  <a:pt x="547497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410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2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Hypermedia?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= Hypertext + Multimedia. Documents with clickable links to text, images, audio, and video.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2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2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it: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digital magazine where clicking a photo plays a video, clicking text shows a map, and clicking a diagram shows 3D animation.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767971"/>
            <a:ext cx="5627370" cy="2122170"/>
          </a:xfrm>
          <a:custGeom>
            <a:avLst/>
            <a:gdLst/>
            <a:ahLst/>
            <a:cxnLst/>
            <a:rect l="l" t="t" r="r" b="b"/>
            <a:pathLst>
              <a:path w="5627370" h="2122170">
                <a:moveTo>
                  <a:pt x="152393" y="0"/>
                </a:moveTo>
                <a:lnTo>
                  <a:pt x="5474977" y="0"/>
                </a:lnTo>
                <a:cubicBezTo>
                  <a:pt x="5559141" y="0"/>
                  <a:pt x="5627370" y="68229"/>
                  <a:pt x="5627370" y="152393"/>
                </a:cubicBezTo>
                <a:lnTo>
                  <a:pt x="5627370" y="1969777"/>
                </a:lnTo>
                <a:cubicBezTo>
                  <a:pt x="5627370" y="2053941"/>
                  <a:pt x="5559141" y="2122170"/>
                  <a:pt x="5474977" y="2122170"/>
                </a:cubicBezTo>
                <a:lnTo>
                  <a:pt x="152393" y="2122170"/>
                </a:lnTo>
                <a:cubicBezTo>
                  <a:pt x="68285" y="2122170"/>
                  <a:pt x="0" y="2053885"/>
                  <a:pt x="0" y="1969777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939" y="436042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08" y="435102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48081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transforms passive viewing into active exploration. You control your journey through content by clicking different media elements.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6010" y="1337310"/>
            <a:ext cx="5627370" cy="2636520"/>
          </a:xfrm>
          <a:custGeom>
            <a:avLst/>
            <a:gdLst/>
            <a:ahLst/>
            <a:cxnLst/>
            <a:rect l="l" t="t" r="r" b="b"/>
            <a:pathLst>
              <a:path w="5627370" h="263652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484129"/>
                </a:lnTo>
                <a:cubicBezTo>
                  <a:pt x="5627370" y="2568292"/>
                  <a:pt x="5559142" y="2636520"/>
                  <a:pt x="5474979" y="2636520"/>
                </a:cubicBezTo>
                <a:lnTo>
                  <a:pt x="152391" y="2636520"/>
                </a:lnTo>
                <a:cubicBezTo>
                  <a:pt x="68228" y="2636520"/>
                  <a:pt x="0" y="2568292"/>
                  <a:pt x="0" y="248412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8420" y="15410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841807" y="153162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0320" y="202680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3551" y="1988702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Links connect different media types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0320" y="240780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3551" y="2369702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navigate non-linearly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0320" y="278880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3551" y="2750702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and engaging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0320" y="316980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3551" y="3131702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web of connected content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355080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03551" y="3512702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multiple media formats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010" y="4133732"/>
            <a:ext cx="5627370" cy="1750695"/>
          </a:xfrm>
          <a:custGeom>
            <a:avLst/>
            <a:gdLst/>
            <a:ahLst/>
            <a:cxnLst/>
            <a:rect l="l" t="t" r="r" b="b"/>
            <a:pathLst>
              <a:path w="5627370" h="1750695">
                <a:moveTo>
                  <a:pt x="152398" y="0"/>
                </a:moveTo>
                <a:lnTo>
                  <a:pt x="5474972" y="0"/>
                </a:lnTo>
                <a:cubicBezTo>
                  <a:pt x="5559083" y="0"/>
                  <a:pt x="5627370" y="68287"/>
                  <a:pt x="5627370" y="152398"/>
                </a:cubicBezTo>
                <a:lnTo>
                  <a:pt x="5627370" y="1598297"/>
                </a:lnTo>
                <a:cubicBezTo>
                  <a:pt x="5627370" y="1682408"/>
                  <a:pt x="5559083" y="1750695"/>
                  <a:pt x="5474972" y="1750695"/>
                </a:cubicBezTo>
                <a:lnTo>
                  <a:pt x="152398" y="1750695"/>
                </a:lnTo>
                <a:cubicBezTo>
                  <a:pt x="68287" y="1750695"/>
                  <a:pt x="0" y="1682408"/>
                  <a:pt x="0" y="159829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8420" y="45623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841807" y="45529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0320" y="4971931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Geographic Website: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article about lions includes text, photos, audio of lion roars, and video. Clicking a map shows migration patterns.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6008371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12648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Flowchart showing hypermedia structure with interconnected media nodes | Image: Interactive website with clickable multimedia elements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834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Related Terms in Multimedia (Part 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building blocks: Text, Graphics, Audio, and Video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934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9116" y="28296"/>
                </a:moveTo>
                <a:cubicBezTo>
                  <a:pt x="156214" y="21934"/>
                  <a:pt x="149851" y="17859"/>
                  <a:pt x="142875" y="17859"/>
                </a:cubicBezTo>
                <a:cubicBezTo>
                  <a:pt x="135899" y="17859"/>
                  <a:pt x="129536" y="21934"/>
                  <a:pt x="126634" y="28296"/>
                </a:cubicBezTo>
                <a:lnTo>
                  <a:pt x="33207" y="232172"/>
                </a:lnTo>
                <a:lnTo>
                  <a:pt x="26789" y="232172"/>
                </a:lnTo>
                <a:cubicBezTo>
                  <a:pt x="16911" y="232172"/>
                  <a:pt x="8930" y="240153"/>
                  <a:pt x="8930" y="250031"/>
                </a:cubicBezTo>
                <a:cubicBezTo>
                  <a:pt x="8930" y="259910"/>
                  <a:pt x="16911" y="267891"/>
                  <a:pt x="26789" y="267891"/>
                </a:cubicBezTo>
                <a:lnTo>
                  <a:pt x="75902" y="267891"/>
                </a:lnTo>
                <a:cubicBezTo>
                  <a:pt x="85781" y="267891"/>
                  <a:pt x="93762" y="259910"/>
                  <a:pt x="93762" y="250031"/>
                </a:cubicBezTo>
                <a:cubicBezTo>
                  <a:pt x="93762" y="240153"/>
                  <a:pt x="85781" y="232172"/>
                  <a:pt x="75902" y="232172"/>
                </a:cubicBezTo>
                <a:lnTo>
                  <a:pt x="72498" y="232172"/>
                </a:lnTo>
                <a:lnTo>
                  <a:pt x="84776" y="205383"/>
                </a:lnTo>
                <a:lnTo>
                  <a:pt x="201030" y="205383"/>
                </a:lnTo>
                <a:lnTo>
                  <a:pt x="213308" y="232172"/>
                </a:lnTo>
                <a:lnTo>
                  <a:pt x="209903" y="232172"/>
                </a:lnTo>
                <a:cubicBezTo>
                  <a:pt x="200025" y="232172"/>
                  <a:pt x="192044" y="240153"/>
                  <a:pt x="192044" y="250031"/>
                </a:cubicBezTo>
                <a:cubicBezTo>
                  <a:pt x="192044" y="259910"/>
                  <a:pt x="200025" y="267891"/>
                  <a:pt x="209903" y="267891"/>
                </a:cubicBezTo>
                <a:lnTo>
                  <a:pt x="259017" y="267891"/>
                </a:lnTo>
                <a:cubicBezTo>
                  <a:pt x="268895" y="267891"/>
                  <a:pt x="276876" y="259910"/>
                  <a:pt x="276876" y="250031"/>
                </a:cubicBezTo>
                <a:cubicBezTo>
                  <a:pt x="276876" y="240153"/>
                  <a:pt x="268895" y="232172"/>
                  <a:pt x="259017" y="232172"/>
                </a:cubicBezTo>
                <a:lnTo>
                  <a:pt x="252599" y="232172"/>
                </a:lnTo>
                <a:lnTo>
                  <a:pt x="159172" y="28296"/>
                </a:lnTo>
                <a:close/>
                <a:moveTo>
                  <a:pt x="184621" y="169664"/>
                </a:moveTo>
                <a:lnTo>
                  <a:pt x="101129" y="169664"/>
                </a:lnTo>
                <a:lnTo>
                  <a:pt x="142875" y="78581"/>
                </a:lnTo>
                <a:lnTo>
                  <a:pt x="184621" y="1696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68402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1030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Written words that provide information. Text is the foundation of most multimedia content.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716412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040" y="283452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Words on a website, subtitles in a video, captions under photos.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337310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6279" y="169342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41807" y="1684020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320" y="21030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elements like photos, illustrations, charts, and diagrams that help explain concepts.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4130" y="2716412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3452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Photos in an article, infographics, diagrams in textbooks.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691892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01" y="4048009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97805" y="18138"/>
                </a:moveTo>
                <a:cubicBezTo>
                  <a:pt x="292057" y="13450"/>
                  <a:pt x="283629" y="14343"/>
                  <a:pt x="278941" y="20092"/>
                </a:cubicBezTo>
                <a:cubicBezTo>
                  <a:pt x="274253" y="25840"/>
                  <a:pt x="275146" y="34268"/>
                  <a:pt x="280894" y="38956"/>
                </a:cubicBezTo>
                <a:cubicBezTo>
                  <a:pt x="311144" y="63512"/>
                  <a:pt x="330398" y="100905"/>
                  <a:pt x="330398" y="142875"/>
                </a:cubicBezTo>
                <a:cubicBezTo>
                  <a:pt x="330398" y="184845"/>
                  <a:pt x="311144" y="222238"/>
                  <a:pt x="280894" y="246850"/>
                </a:cubicBezTo>
                <a:cubicBezTo>
                  <a:pt x="275146" y="251538"/>
                  <a:pt x="274309" y="259966"/>
                  <a:pt x="278941" y="265714"/>
                </a:cubicBezTo>
                <a:cubicBezTo>
                  <a:pt x="283573" y="271463"/>
                  <a:pt x="292057" y="272300"/>
                  <a:pt x="297805" y="267667"/>
                </a:cubicBezTo>
                <a:cubicBezTo>
                  <a:pt x="334026" y="238144"/>
                  <a:pt x="357188" y="193216"/>
                  <a:pt x="357188" y="142875"/>
                </a:cubicBezTo>
                <a:cubicBezTo>
                  <a:pt x="357188" y="92534"/>
                  <a:pt x="334026" y="47551"/>
                  <a:pt x="297805" y="18138"/>
                </a:cubicBezTo>
                <a:close/>
                <a:moveTo>
                  <a:pt x="264040" y="59717"/>
                </a:moveTo>
                <a:cubicBezTo>
                  <a:pt x="258291" y="55029"/>
                  <a:pt x="249864" y="55922"/>
                  <a:pt x="245176" y="61671"/>
                </a:cubicBezTo>
                <a:cubicBezTo>
                  <a:pt x="240488" y="67419"/>
                  <a:pt x="241381" y="75847"/>
                  <a:pt x="247129" y="80535"/>
                </a:cubicBezTo>
                <a:cubicBezTo>
                  <a:pt x="265268" y="95269"/>
                  <a:pt x="276820" y="117704"/>
                  <a:pt x="276820" y="142875"/>
                </a:cubicBezTo>
                <a:cubicBezTo>
                  <a:pt x="276820" y="168046"/>
                  <a:pt x="265268" y="190481"/>
                  <a:pt x="247129" y="205271"/>
                </a:cubicBezTo>
                <a:cubicBezTo>
                  <a:pt x="241381" y="209959"/>
                  <a:pt x="240543" y="218387"/>
                  <a:pt x="245176" y="224135"/>
                </a:cubicBezTo>
                <a:cubicBezTo>
                  <a:pt x="249808" y="229884"/>
                  <a:pt x="258291" y="230721"/>
                  <a:pt x="264040" y="226089"/>
                </a:cubicBezTo>
                <a:cubicBezTo>
                  <a:pt x="288150" y="206443"/>
                  <a:pt x="303609" y="176473"/>
                  <a:pt x="303609" y="142931"/>
                </a:cubicBezTo>
                <a:cubicBezTo>
                  <a:pt x="303609" y="109389"/>
                  <a:pt x="288150" y="79418"/>
                  <a:pt x="264040" y="59773"/>
                </a:cubicBezTo>
                <a:close/>
                <a:moveTo>
                  <a:pt x="230274" y="101296"/>
                </a:moveTo>
                <a:cubicBezTo>
                  <a:pt x="224526" y="96608"/>
                  <a:pt x="216098" y="97501"/>
                  <a:pt x="211410" y="103250"/>
                </a:cubicBezTo>
                <a:cubicBezTo>
                  <a:pt x="206722" y="108998"/>
                  <a:pt x="207615" y="117425"/>
                  <a:pt x="213364" y="122113"/>
                </a:cubicBezTo>
                <a:cubicBezTo>
                  <a:pt x="219391" y="127025"/>
                  <a:pt x="223242" y="134503"/>
                  <a:pt x="223242" y="142875"/>
                </a:cubicBezTo>
                <a:cubicBezTo>
                  <a:pt x="223242" y="151247"/>
                  <a:pt x="219391" y="158725"/>
                  <a:pt x="213364" y="163692"/>
                </a:cubicBezTo>
                <a:cubicBezTo>
                  <a:pt x="207615" y="168380"/>
                  <a:pt x="206778" y="176808"/>
                  <a:pt x="211410" y="182556"/>
                </a:cubicBezTo>
                <a:cubicBezTo>
                  <a:pt x="216043" y="188305"/>
                  <a:pt x="224526" y="189142"/>
                  <a:pt x="230274" y="184510"/>
                </a:cubicBezTo>
                <a:cubicBezTo>
                  <a:pt x="242274" y="174631"/>
                  <a:pt x="250031" y="159674"/>
                  <a:pt x="250031" y="142875"/>
                </a:cubicBezTo>
                <a:cubicBezTo>
                  <a:pt x="250031" y="126076"/>
                  <a:pt x="242274" y="111119"/>
                  <a:pt x="230274" y="101296"/>
                </a:cubicBezTo>
                <a:close/>
                <a:moveTo>
                  <a:pt x="44648" y="196453"/>
                </a:moveTo>
                <a:lnTo>
                  <a:pt x="71438" y="196453"/>
                </a:lnTo>
                <a:lnTo>
                  <a:pt x="146279" y="262979"/>
                </a:lnTo>
                <a:cubicBezTo>
                  <a:pt x="149851" y="266160"/>
                  <a:pt x="154428" y="267891"/>
                  <a:pt x="159172" y="267891"/>
                </a:cubicBezTo>
                <a:cubicBezTo>
                  <a:pt x="169887" y="267891"/>
                  <a:pt x="178594" y="259184"/>
                  <a:pt x="178594" y="248469"/>
                </a:cubicBezTo>
                <a:lnTo>
                  <a:pt x="178594" y="37281"/>
                </a:lnTo>
                <a:cubicBezTo>
                  <a:pt x="178594" y="26566"/>
                  <a:pt x="169887" y="17859"/>
                  <a:pt x="159172" y="17859"/>
                </a:cubicBezTo>
                <a:cubicBezTo>
                  <a:pt x="154428" y="17859"/>
                  <a:pt x="149851" y="19590"/>
                  <a:pt x="146279" y="22771"/>
                </a:cubicBezTo>
                <a:lnTo>
                  <a:pt x="71438" y="89297"/>
                </a:lnTo>
                <a:lnTo>
                  <a:pt x="44648" y="89297"/>
                </a:lnTo>
                <a:cubicBezTo>
                  <a:pt x="29859" y="89297"/>
                  <a:pt x="17859" y="101296"/>
                  <a:pt x="17859" y="116086"/>
                </a:cubicBezTo>
                <a:lnTo>
                  <a:pt x="17859" y="169664"/>
                </a:lnTo>
                <a:cubicBezTo>
                  <a:pt x="17859" y="184454"/>
                  <a:pt x="29859" y="196453"/>
                  <a:pt x="44648" y="196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608" y="4038600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4457584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Sound elements including music, narration, sound effects, and voice recordings.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2930" y="507099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040" y="5189102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Podcasts, background music in videos, voiceovers in tutorials.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3691892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0561" y="404800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1807" y="4038600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4457584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Moving images with sound that show processes, tell stories, or demonstrate concepts.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4130" y="507099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189102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YouTube tutorials, movies, video lectures, documentaries.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6008369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Four labeled boxes showing each media type with icons | Image: Collage showing text, photo, audio waveform, and video frame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842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Related Terms in Multimedia (Part 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essential terms: Animation, Interactivity, Navigation, and User Interface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79" y="169342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53578"/>
                </a:moveTo>
                <a:cubicBezTo>
                  <a:pt x="0" y="33877"/>
                  <a:pt x="16018" y="17859"/>
                  <a:pt x="35719" y="17859"/>
                </a:cubicBezTo>
                <a:lnTo>
                  <a:pt x="214313" y="17859"/>
                </a:lnTo>
                <a:cubicBezTo>
                  <a:pt x="234014" y="17859"/>
                  <a:pt x="250031" y="33877"/>
                  <a:pt x="250031" y="5357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53578"/>
                </a:lnTo>
                <a:close/>
                <a:moveTo>
                  <a:pt x="26789" y="205383"/>
                </a:moveTo>
                <a:lnTo>
                  <a:pt x="26789" y="223242"/>
                </a:lnTo>
                <a:cubicBezTo>
                  <a:pt x="26789" y="228154"/>
                  <a:pt x="30807" y="232172"/>
                  <a:pt x="35719" y="232172"/>
                </a:cubicBezTo>
                <a:lnTo>
                  <a:pt x="53578" y="232172"/>
                </a:lnTo>
                <a:cubicBezTo>
                  <a:pt x="58489" y="232172"/>
                  <a:pt x="62508" y="228154"/>
                  <a:pt x="62508" y="223242"/>
                </a:cubicBezTo>
                <a:lnTo>
                  <a:pt x="62508" y="205383"/>
                </a:lnTo>
                <a:cubicBezTo>
                  <a:pt x="62508" y="200471"/>
                  <a:pt x="58489" y="196453"/>
                  <a:pt x="53578" y="196453"/>
                </a:cubicBezTo>
                <a:lnTo>
                  <a:pt x="35719" y="196453"/>
                </a:lnTo>
                <a:cubicBezTo>
                  <a:pt x="30807" y="196453"/>
                  <a:pt x="26789" y="200471"/>
                  <a:pt x="26789" y="205383"/>
                </a:cubicBezTo>
                <a:close/>
                <a:moveTo>
                  <a:pt x="196453" y="196453"/>
                </a:moveTo>
                <a:cubicBezTo>
                  <a:pt x="191542" y="196453"/>
                  <a:pt x="187523" y="200471"/>
                  <a:pt x="187523" y="205383"/>
                </a:cubicBezTo>
                <a:lnTo>
                  <a:pt x="187523" y="223242"/>
                </a:lnTo>
                <a:cubicBezTo>
                  <a:pt x="187523" y="228154"/>
                  <a:pt x="191542" y="232172"/>
                  <a:pt x="196453" y="232172"/>
                </a:cubicBezTo>
                <a:lnTo>
                  <a:pt x="214313" y="232172"/>
                </a:lnTo>
                <a:cubicBezTo>
                  <a:pt x="219224" y="232172"/>
                  <a:pt x="223242" y="228154"/>
                  <a:pt x="223242" y="223242"/>
                </a:cubicBezTo>
                <a:lnTo>
                  <a:pt x="223242" y="205383"/>
                </a:lnTo>
                <a:cubicBezTo>
                  <a:pt x="223242" y="200471"/>
                  <a:pt x="219224" y="196453"/>
                  <a:pt x="214313" y="196453"/>
                </a:cubicBezTo>
                <a:lnTo>
                  <a:pt x="196453" y="196453"/>
                </a:lnTo>
                <a:close/>
                <a:moveTo>
                  <a:pt x="26789" y="133945"/>
                </a:moveTo>
                <a:lnTo>
                  <a:pt x="26789" y="151805"/>
                </a:lnTo>
                <a:cubicBezTo>
                  <a:pt x="26789" y="156716"/>
                  <a:pt x="30807" y="160734"/>
                  <a:pt x="35719" y="160734"/>
                </a:cubicBezTo>
                <a:lnTo>
                  <a:pt x="53578" y="160734"/>
                </a:lnTo>
                <a:cubicBezTo>
                  <a:pt x="58489" y="160734"/>
                  <a:pt x="62508" y="156716"/>
                  <a:pt x="62508" y="151805"/>
                </a:cubicBezTo>
                <a:lnTo>
                  <a:pt x="62508" y="133945"/>
                </a:lnTo>
                <a:cubicBezTo>
                  <a:pt x="62508" y="129034"/>
                  <a:pt x="58489" y="125016"/>
                  <a:pt x="53578" y="125016"/>
                </a:cubicBezTo>
                <a:lnTo>
                  <a:pt x="35719" y="125016"/>
                </a:lnTo>
                <a:cubicBezTo>
                  <a:pt x="30807" y="125016"/>
                  <a:pt x="26789" y="129034"/>
                  <a:pt x="26789" y="133945"/>
                </a:cubicBezTo>
                <a:close/>
                <a:moveTo>
                  <a:pt x="196453" y="125016"/>
                </a:moveTo>
                <a:cubicBezTo>
                  <a:pt x="191542" y="125016"/>
                  <a:pt x="187523" y="129034"/>
                  <a:pt x="187523" y="133945"/>
                </a:cubicBezTo>
                <a:lnTo>
                  <a:pt x="187523" y="151805"/>
                </a:lnTo>
                <a:cubicBezTo>
                  <a:pt x="187523" y="156716"/>
                  <a:pt x="191542" y="160734"/>
                  <a:pt x="196453" y="160734"/>
                </a:cubicBezTo>
                <a:lnTo>
                  <a:pt x="214313" y="160734"/>
                </a:lnTo>
                <a:cubicBezTo>
                  <a:pt x="219224" y="160734"/>
                  <a:pt x="223242" y="156716"/>
                  <a:pt x="223242" y="151805"/>
                </a:cubicBezTo>
                <a:lnTo>
                  <a:pt x="223242" y="133945"/>
                </a:lnTo>
                <a:cubicBezTo>
                  <a:pt x="223242" y="129034"/>
                  <a:pt x="219224" y="125016"/>
                  <a:pt x="214313" y="125016"/>
                </a:cubicBezTo>
                <a:lnTo>
                  <a:pt x="196453" y="125016"/>
                </a:lnTo>
                <a:close/>
                <a:moveTo>
                  <a:pt x="26789" y="62508"/>
                </a:moveTo>
                <a:lnTo>
                  <a:pt x="26789" y="80367"/>
                </a:lnTo>
                <a:cubicBezTo>
                  <a:pt x="26789" y="85279"/>
                  <a:pt x="30807" y="89297"/>
                  <a:pt x="35719" y="89297"/>
                </a:cubicBezTo>
                <a:lnTo>
                  <a:pt x="53578" y="89297"/>
                </a:lnTo>
                <a:cubicBezTo>
                  <a:pt x="58489" y="89297"/>
                  <a:pt x="62508" y="85279"/>
                  <a:pt x="62508" y="80367"/>
                </a:cubicBezTo>
                <a:lnTo>
                  <a:pt x="62508" y="62508"/>
                </a:lnTo>
                <a:cubicBezTo>
                  <a:pt x="62508" y="57596"/>
                  <a:pt x="58489" y="53578"/>
                  <a:pt x="53578" y="53578"/>
                </a:cubicBezTo>
                <a:lnTo>
                  <a:pt x="35719" y="53578"/>
                </a:lnTo>
                <a:cubicBezTo>
                  <a:pt x="30807" y="53578"/>
                  <a:pt x="26789" y="57596"/>
                  <a:pt x="26789" y="62508"/>
                </a:cubicBezTo>
                <a:close/>
                <a:moveTo>
                  <a:pt x="196453" y="53578"/>
                </a:moveTo>
                <a:cubicBezTo>
                  <a:pt x="191542" y="53578"/>
                  <a:pt x="187523" y="57596"/>
                  <a:pt x="187523" y="62508"/>
                </a:cubicBezTo>
                <a:lnTo>
                  <a:pt x="187523" y="80367"/>
                </a:lnTo>
                <a:cubicBezTo>
                  <a:pt x="187523" y="85279"/>
                  <a:pt x="191542" y="89297"/>
                  <a:pt x="196453" y="89297"/>
                </a:cubicBezTo>
                <a:lnTo>
                  <a:pt x="214313" y="89297"/>
                </a:lnTo>
                <a:cubicBezTo>
                  <a:pt x="219224" y="89297"/>
                  <a:pt x="223242" y="85279"/>
                  <a:pt x="223242" y="80367"/>
                </a:cubicBezTo>
                <a:lnTo>
                  <a:pt x="223242" y="62508"/>
                </a:lnTo>
                <a:cubicBezTo>
                  <a:pt x="223242" y="57596"/>
                  <a:pt x="219224" y="53578"/>
                  <a:pt x="214313" y="53578"/>
                </a:cubicBezTo>
                <a:lnTo>
                  <a:pt x="196453" y="5357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684023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1030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movement from still images. Animations make complex processes easy to understand.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716412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040" y="283452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Cartoons, explainer videos, animated GIFs, motion graphics.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337310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6279" y="169342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22324"/>
                </a:moveTo>
                <a:cubicBezTo>
                  <a:pt x="71438" y="9990"/>
                  <a:pt x="81428" y="0"/>
                  <a:pt x="93762" y="0"/>
                </a:cubicBezTo>
                <a:cubicBezTo>
                  <a:pt x="106096" y="0"/>
                  <a:pt x="116086" y="9990"/>
                  <a:pt x="116086" y="22324"/>
                </a:cubicBezTo>
                <a:lnTo>
                  <a:pt x="116086" y="105035"/>
                </a:lnTo>
                <a:cubicBezTo>
                  <a:pt x="120830" y="100794"/>
                  <a:pt x="127081" y="98227"/>
                  <a:pt x="133945" y="98227"/>
                </a:cubicBezTo>
                <a:cubicBezTo>
                  <a:pt x="145442" y="98227"/>
                  <a:pt x="155265" y="105482"/>
                  <a:pt x="159060" y="115639"/>
                </a:cubicBezTo>
                <a:cubicBezTo>
                  <a:pt x="163971" y="110449"/>
                  <a:pt x="170892" y="107156"/>
                  <a:pt x="178594" y="107156"/>
                </a:cubicBezTo>
                <a:cubicBezTo>
                  <a:pt x="192714" y="107156"/>
                  <a:pt x="204267" y="118039"/>
                  <a:pt x="205327" y="131880"/>
                </a:cubicBezTo>
                <a:cubicBezTo>
                  <a:pt x="210071" y="127583"/>
                  <a:pt x="216377" y="125016"/>
                  <a:pt x="223242" y="125016"/>
                </a:cubicBezTo>
                <a:cubicBezTo>
                  <a:pt x="238032" y="125016"/>
                  <a:pt x="250031" y="137015"/>
                  <a:pt x="250031" y="151805"/>
                </a:cubicBezTo>
                <a:lnTo>
                  <a:pt x="250031" y="214313"/>
                </a:lnTo>
                <a:cubicBezTo>
                  <a:pt x="250031" y="253771"/>
                  <a:pt x="218052" y="285750"/>
                  <a:pt x="178594" y="285750"/>
                </a:cubicBezTo>
                <a:lnTo>
                  <a:pt x="130987" y="285750"/>
                </a:lnTo>
                <a:cubicBezTo>
                  <a:pt x="128197" y="285750"/>
                  <a:pt x="125462" y="285583"/>
                  <a:pt x="122783" y="285192"/>
                </a:cubicBezTo>
                <a:cubicBezTo>
                  <a:pt x="91920" y="282067"/>
                  <a:pt x="63512" y="266216"/>
                  <a:pt x="44648" y="241102"/>
                </a:cubicBezTo>
                <a:lnTo>
                  <a:pt x="4465" y="187523"/>
                </a:lnTo>
                <a:cubicBezTo>
                  <a:pt x="-2958" y="177645"/>
                  <a:pt x="-949" y="163692"/>
                  <a:pt x="8930" y="156270"/>
                </a:cubicBezTo>
                <a:cubicBezTo>
                  <a:pt x="18808" y="148847"/>
                  <a:pt x="32761" y="150856"/>
                  <a:pt x="40184" y="160734"/>
                </a:cubicBezTo>
                <a:lnTo>
                  <a:pt x="71438" y="202425"/>
                </a:lnTo>
                <a:lnTo>
                  <a:pt x="71438" y="22324"/>
                </a:lnTo>
                <a:close/>
                <a:moveTo>
                  <a:pt x="133945" y="169664"/>
                </a:moveTo>
                <a:cubicBezTo>
                  <a:pt x="133945" y="164753"/>
                  <a:pt x="129927" y="160734"/>
                  <a:pt x="125016" y="160734"/>
                </a:cubicBezTo>
                <a:cubicBezTo>
                  <a:pt x="120104" y="160734"/>
                  <a:pt x="116086" y="164753"/>
                  <a:pt x="116086" y="169664"/>
                </a:cubicBezTo>
                <a:lnTo>
                  <a:pt x="116086" y="223242"/>
                </a:lnTo>
                <a:cubicBezTo>
                  <a:pt x="116086" y="228154"/>
                  <a:pt x="120104" y="232172"/>
                  <a:pt x="125016" y="232172"/>
                </a:cubicBezTo>
                <a:cubicBezTo>
                  <a:pt x="129927" y="232172"/>
                  <a:pt x="133945" y="228154"/>
                  <a:pt x="133945" y="223242"/>
                </a:cubicBezTo>
                <a:lnTo>
                  <a:pt x="133945" y="169664"/>
                </a:lnTo>
                <a:close/>
                <a:moveTo>
                  <a:pt x="160734" y="160734"/>
                </a:moveTo>
                <a:cubicBezTo>
                  <a:pt x="155823" y="160734"/>
                  <a:pt x="151805" y="164753"/>
                  <a:pt x="151805" y="169664"/>
                </a:cubicBezTo>
                <a:lnTo>
                  <a:pt x="151805" y="223242"/>
                </a:lnTo>
                <a:cubicBezTo>
                  <a:pt x="151805" y="228154"/>
                  <a:pt x="155823" y="232172"/>
                  <a:pt x="160734" y="232172"/>
                </a:cubicBezTo>
                <a:cubicBezTo>
                  <a:pt x="165646" y="232172"/>
                  <a:pt x="169664" y="228154"/>
                  <a:pt x="169664" y="223242"/>
                </a:cubicBezTo>
                <a:lnTo>
                  <a:pt x="169664" y="169664"/>
                </a:lnTo>
                <a:cubicBezTo>
                  <a:pt x="169664" y="164753"/>
                  <a:pt x="165646" y="160734"/>
                  <a:pt x="160734" y="160734"/>
                </a:cubicBezTo>
                <a:close/>
                <a:moveTo>
                  <a:pt x="205383" y="169664"/>
                </a:moveTo>
                <a:cubicBezTo>
                  <a:pt x="205383" y="164753"/>
                  <a:pt x="201364" y="160734"/>
                  <a:pt x="196453" y="160734"/>
                </a:cubicBezTo>
                <a:cubicBezTo>
                  <a:pt x="191542" y="160734"/>
                  <a:pt x="187523" y="164753"/>
                  <a:pt x="187523" y="169664"/>
                </a:cubicBezTo>
                <a:lnTo>
                  <a:pt x="187523" y="223242"/>
                </a:lnTo>
                <a:cubicBezTo>
                  <a:pt x="187523" y="228154"/>
                  <a:pt x="191542" y="232172"/>
                  <a:pt x="196453" y="232172"/>
                </a:cubicBezTo>
                <a:cubicBezTo>
                  <a:pt x="201364" y="232172"/>
                  <a:pt x="205383" y="228154"/>
                  <a:pt x="205383" y="223242"/>
                </a:cubicBezTo>
                <a:lnTo>
                  <a:pt x="205383" y="1696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41807" y="1684023"/>
            <a:ext cx="131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320" y="2103002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users can control and interact with content instead of just watching passively.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4130" y="2716412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34520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Clicking buttons, taking quizzes, dragging items, making choices.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691892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" y="40480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71171" y="181440"/>
                </a:moveTo>
                <a:lnTo>
                  <a:pt x="90636" y="212415"/>
                </a:lnTo>
                <a:cubicBezTo>
                  <a:pt x="79809" y="216601"/>
                  <a:pt x="69149" y="205941"/>
                  <a:pt x="73335" y="195114"/>
                </a:cubicBezTo>
                <a:lnTo>
                  <a:pt x="104310" y="114579"/>
                </a:lnTo>
                <a:cubicBezTo>
                  <a:pt x="106152" y="109835"/>
                  <a:pt x="109835" y="106152"/>
                  <a:pt x="114579" y="104310"/>
                </a:cubicBezTo>
                <a:lnTo>
                  <a:pt x="195114" y="73335"/>
                </a:lnTo>
                <a:cubicBezTo>
                  <a:pt x="205941" y="69149"/>
                  <a:pt x="216601" y="79809"/>
                  <a:pt x="212415" y="90636"/>
                </a:cubicBezTo>
                <a:lnTo>
                  <a:pt x="181440" y="171171"/>
                </a:lnTo>
                <a:cubicBezTo>
                  <a:pt x="179654" y="175915"/>
                  <a:pt x="175915" y="179598"/>
                  <a:pt x="171171" y="181440"/>
                </a:cubicBezTo>
                <a:close/>
                <a:moveTo>
                  <a:pt x="160734" y="142875"/>
                </a:moveTo>
                <a:cubicBezTo>
                  <a:pt x="160734" y="133018"/>
                  <a:pt x="152732" y="125016"/>
                  <a:pt x="142875" y="125016"/>
                </a:cubicBezTo>
                <a:cubicBezTo>
                  <a:pt x="133018" y="125016"/>
                  <a:pt x="125016" y="133018"/>
                  <a:pt x="125016" y="142875"/>
                </a:cubicBezTo>
                <a:cubicBezTo>
                  <a:pt x="125016" y="152732"/>
                  <a:pt x="133018" y="160734"/>
                  <a:pt x="142875" y="160734"/>
                </a:cubicBezTo>
                <a:cubicBezTo>
                  <a:pt x="152732" y="160734"/>
                  <a:pt x="160734" y="152732"/>
                  <a:pt x="160734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608" y="4038600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4457584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users move through multimedia content. Good navigation makes content easy to explore.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2930" y="507099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040" y="5189102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Menus, buttons, hyperlinks, scroll bars, next/previous buttons.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3691892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8420" y="40480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1807" y="40386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(UI)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4457584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visual design that helps users interact with multimedia. Good UI is intuitive and user-friendly.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4130" y="507099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189102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 layouts, website menus, control panels, touchscreens.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6008369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Four labeled boxes showing each term with icons | Image: Interactive app interface showing buttons, menus, and animations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363940"/>
            <a:ext cx="72788" cy="436728"/>
          </a:xfrm>
          <a:custGeom>
            <a:avLst/>
            <a:gdLst/>
            <a:ahLst/>
            <a:cxnLst/>
            <a:rect l="l" t="t" r="r" b="b"/>
            <a:pathLst>
              <a:path w="72788" h="436728">
                <a:moveTo>
                  <a:pt x="36394" y="0"/>
                </a:moveTo>
                <a:lnTo>
                  <a:pt x="36394" y="0"/>
                </a:lnTo>
                <a:cubicBezTo>
                  <a:pt x="56480" y="0"/>
                  <a:pt x="72788" y="16308"/>
                  <a:pt x="72788" y="36394"/>
                </a:cubicBezTo>
                <a:lnTo>
                  <a:pt x="72788" y="400334"/>
                </a:lnTo>
                <a:cubicBezTo>
                  <a:pt x="72788" y="420434"/>
                  <a:pt x="56494" y="436728"/>
                  <a:pt x="36394" y="436728"/>
                </a:cubicBezTo>
                <a:lnTo>
                  <a:pt x="36394" y="436728"/>
                </a:lnTo>
                <a:cubicBezTo>
                  <a:pt x="16294" y="436728"/>
                  <a:pt x="0" y="420434"/>
                  <a:pt x="0" y="400334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5910" y="363940"/>
            <a:ext cx="5140657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Recap: Week 1 – Lecture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5910" y="873457"/>
            <a:ext cx="1136403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review of what we learned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580" y="1277430"/>
            <a:ext cx="5657452" cy="2518467"/>
          </a:xfrm>
          <a:custGeom>
            <a:avLst/>
            <a:gdLst/>
            <a:ahLst/>
            <a:cxnLst/>
            <a:rect l="l" t="t" r="r" b="b"/>
            <a:pathLst>
              <a:path w="5657452" h="2518467">
                <a:moveTo>
                  <a:pt x="145567" y="0"/>
                </a:moveTo>
                <a:lnTo>
                  <a:pt x="5511885" y="0"/>
                </a:lnTo>
                <a:cubicBezTo>
                  <a:pt x="5592279" y="0"/>
                  <a:pt x="5657452" y="65173"/>
                  <a:pt x="5657452" y="145567"/>
                </a:cubicBezTo>
                <a:lnTo>
                  <a:pt x="5657452" y="2372899"/>
                </a:lnTo>
                <a:cubicBezTo>
                  <a:pt x="5657452" y="2453294"/>
                  <a:pt x="5592279" y="2518467"/>
                  <a:pt x="5511885" y="2518467"/>
                </a:cubicBezTo>
                <a:lnTo>
                  <a:pt x="145567" y="2518467"/>
                </a:lnTo>
                <a:cubicBezTo>
                  <a:pt x="65173" y="2518467"/>
                  <a:pt x="0" y="2453294"/>
                  <a:pt x="0" y="2372899"/>
                </a:cubicBezTo>
                <a:lnTo>
                  <a:pt x="0" y="145567"/>
                </a:lnTo>
                <a:cubicBezTo>
                  <a:pt x="0" y="65227"/>
                  <a:pt x="65227" y="0"/>
                  <a:pt x="1455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583" y="1472026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136478" y="272955"/>
                </a:moveTo>
                <a:cubicBezTo>
                  <a:pt x="211802" y="272955"/>
                  <a:pt x="272955" y="211802"/>
                  <a:pt x="272955" y="136478"/>
                </a:cubicBezTo>
                <a:cubicBezTo>
                  <a:pt x="272955" y="61154"/>
                  <a:pt x="211802" y="0"/>
                  <a:pt x="136478" y="0"/>
                </a:cubicBezTo>
                <a:cubicBezTo>
                  <a:pt x="61154" y="0"/>
                  <a:pt x="0" y="61154"/>
                  <a:pt x="0" y="136478"/>
                </a:cubicBezTo>
                <a:cubicBezTo>
                  <a:pt x="0" y="211802"/>
                  <a:pt x="61154" y="272955"/>
                  <a:pt x="136478" y="272955"/>
                </a:cubicBezTo>
                <a:close/>
                <a:moveTo>
                  <a:pt x="181473" y="113394"/>
                </a:moveTo>
                <a:lnTo>
                  <a:pt x="138823" y="181633"/>
                </a:lnTo>
                <a:cubicBezTo>
                  <a:pt x="136584" y="185204"/>
                  <a:pt x="132746" y="187443"/>
                  <a:pt x="128534" y="187657"/>
                </a:cubicBezTo>
                <a:cubicBezTo>
                  <a:pt x="124323" y="187870"/>
                  <a:pt x="120271" y="185951"/>
                  <a:pt x="117765" y="182539"/>
                </a:cubicBezTo>
                <a:lnTo>
                  <a:pt x="92176" y="148419"/>
                </a:lnTo>
                <a:cubicBezTo>
                  <a:pt x="87911" y="142768"/>
                  <a:pt x="89084" y="134772"/>
                  <a:pt x="94735" y="130507"/>
                </a:cubicBezTo>
                <a:cubicBezTo>
                  <a:pt x="100386" y="126242"/>
                  <a:pt x="108382" y="127415"/>
                  <a:pt x="112647" y="133066"/>
                </a:cubicBezTo>
                <a:lnTo>
                  <a:pt x="127041" y="152258"/>
                </a:lnTo>
                <a:lnTo>
                  <a:pt x="159775" y="99853"/>
                </a:lnTo>
                <a:cubicBezTo>
                  <a:pt x="163507" y="93882"/>
                  <a:pt x="171397" y="92016"/>
                  <a:pt x="177421" y="95801"/>
                </a:cubicBezTo>
                <a:cubicBezTo>
                  <a:pt x="183445" y="99586"/>
                  <a:pt x="185258" y="107423"/>
                  <a:pt x="181473" y="1134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03565" y="1463043"/>
            <a:ext cx="1865194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189" y="1936050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553" y="1899656"/>
            <a:ext cx="277504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= Many media types combined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189" y="2299990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553" y="2263596"/>
            <a:ext cx="363030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building blocks: Text, Images, Audio, Video, Animation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189" y="2663930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53" y="2627536"/>
            <a:ext cx="373038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= Hypertext + Multimedia with clickable links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189" y="3027870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1553" y="2991476"/>
            <a:ext cx="3266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terms: Interactivity, Navigation, User Interface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189" y="3391811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53" y="3355417"/>
            <a:ext cx="277504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makes learning more engaging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7580" y="3948638"/>
            <a:ext cx="5657452" cy="2345595"/>
          </a:xfrm>
          <a:custGeom>
            <a:avLst/>
            <a:gdLst/>
            <a:ahLst/>
            <a:cxnLst/>
            <a:rect l="l" t="t" r="r" b="b"/>
            <a:pathLst>
              <a:path w="5657452" h="2345595">
                <a:moveTo>
                  <a:pt x="145568" y="0"/>
                </a:moveTo>
                <a:lnTo>
                  <a:pt x="5511884" y="0"/>
                </a:lnTo>
                <a:cubicBezTo>
                  <a:pt x="5592279" y="0"/>
                  <a:pt x="5657452" y="65173"/>
                  <a:pt x="5657452" y="145568"/>
                </a:cubicBezTo>
                <a:lnTo>
                  <a:pt x="5657452" y="2200028"/>
                </a:lnTo>
                <a:cubicBezTo>
                  <a:pt x="5657452" y="2280422"/>
                  <a:pt x="5592279" y="2345595"/>
                  <a:pt x="5511884" y="2345595"/>
                </a:cubicBezTo>
                <a:lnTo>
                  <a:pt x="145568" y="2345595"/>
                </a:lnTo>
                <a:cubicBezTo>
                  <a:pt x="65227" y="2345595"/>
                  <a:pt x="0" y="2280369"/>
                  <a:pt x="0" y="2200028"/>
                </a:cubicBezTo>
                <a:lnTo>
                  <a:pt x="0" y="145568"/>
                </a:lnTo>
                <a:cubicBezTo>
                  <a:pt x="0" y="65227"/>
                  <a:pt x="65227" y="0"/>
                  <a:pt x="14556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583" y="4143233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136478" y="272955"/>
                </a:moveTo>
                <a:cubicBezTo>
                  <a:pt x="211802" y="272955"/>
                  <a:pt x="272955" y="211802"/>
                  <a:pt x="272955" y="136478"/>
                </a:cubicBezTo>
                <a:cubicBezTo>
                  <a:pt x="272955" y="61154"/>
                  <a:pt x="211802" y="0"/>
                  <a:pt x="136478" y="0"/>
                </a:cubicBezTo>
                <a:cubicBezTo>
                  <a:pt x="61154" y="0"/>
                  <a:pt x="0" y="61154"/>
                  <a:pt x="0" y="136478"/>
                </a:cubicBezTo>
                <a:cubicBezTo>
                  <a:pt x="0" y="211802"/>
                  <a:pt x="61154" y="272955"/>
                  <a:pt x="136478" y="272955"/>
                </a:cubicBezTo>
                <a:close/>
                <a:moveTo>
                  <a:pt x="136478" y="93828"/>
                </a:moveTo>
                <a:cubicBezTo>
                  <a:pt x="127041" y="93828"/>
                  <a:pt x="119418" y="101452"/>
                  <a:pt x="119418" y="110888"/>
                </a:cubicBezTo>
                <a:cubicBezTo>
                  <a:pt x="119418" y="117978"/>
                  <a:pt x="113714" y="123683"/>
                  <a:pt x="106623" y="123683"/>
                </a:cubicBezTo>
                <a:cubicBezTo>
                  <a:pt x="99533" y="123683"/>
                  <a:pt x="93828" y="117978"/>
                  <a:pt x="93828" y="110888"/>
                </a:cubicBezTo>
                <a:cubicBezTo>
                  <a:pt x="93828" y="87324"/>
                  <a:pt x="112914" y="68239"/>
                  <a:pt x="136478" y="68239"/>
                </a:cubicBezTo>
                <a:cubicBezTo>
                  <a:pt x="160041" y="68239"/>
                  <a:pt x="179127" y="87324"/>
                  <a:pt x="179127" y="110888"/>
                </a:cubicBezTo>
                <a:cubicBezTo>
                  <a:pt x="179127" y="136051"/>
                  <a:pt x="159935" y="146713"/>
                  <a:pt x="149272" y="150605"/>
                </a:cubicBezTo>
                <a:lnTo>
                  <a:pt x="149272" y="152631"/>
                </a:lnTo>
                <a:cubicBezTo>
                  <a:pt x="149272" y="159721"/>
                  <a:pt x="143568" y="165426"/>
                  <a:pt x="136478" y="165426"/>
                </a:cubicBezTo>
                <a:cubicBezTo>
                  <a:pt x="129387" y="165426"/>
                  <a:pt x="123683" y="159721"/>
                  <a:pt x="123683" y="152631"/>
                </a:cubicBezTo>
                <a:lnTo>
                  <a:pt x="123683" y="148313"/>
                </a:lnTo>
                <a:cubicBezTo>
                  <a:pt x="123683" y="137384"/>
                  <a:pt x="131573" y="129547"/>
                  <a:pt x="139730" y="126882"/>
                </a:cubicBezTo>
                <a:cubicBezTo>
                  <a:pt x="143142" y="125762"/>
                  <a:pt x="146767" y="123949"/>
                  <a:pt x="149432" y="121390"/>
                </a:cubicBezTo>
                <a:cubicBezTo>
                  <a:pt x="151725" y="119151"/>
                  <a:pt x="153537" y="116059"/>
                  <a:pt x="153537" y="110941"/>
                </a:cubicBezTo>
                <a:cubicBezTo>
                  <a:pt x="153537" y="101505"/>
                  <a:pt x="145914" y="93882"/>
                  <a:pt x="136478" y="93882"/>
                </a:cubicBezTo>
                <a:close/>
                <a:moveTo>
                  <a:pt x="119418" y="196187"/>
                </a:moveTo>
                <a:cubicBezTo>
                  <a:pt x="119418" y="186771"/>
                  <a:pt x="127062" y="179127"/>
                  <a:pt x="136478" y="179127"/>
                </a:cubicBezTo>
                <a:cubicBezTo>
                  <a:pt x="145893" y="179127"/>
                  <a:pt x="153537" y="186771"/>
                  <a:pt x="153537" y="196187"/>
                </a:cubicBezTo>
                <a:cubicBezTo>
                  <a:pt x="153537" y="205602"/>
                  <a:pt x="145893" y="213246"/>
                  <a:pt x="136478" y="213246"/>
                </a:cubicBezTo>
                <a:cubicBezTo>
                  <a:pt x="127062" y="213246"/>
                  <a:pt x="119418" y="205602"/>
                  <a:pt x="119418" y="1961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565" y="4134250"/>
            <a:ext cx="221093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Self-Check Questions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6829" y="4538108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650" y="4650932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What does "multi" in multimedia mean?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829" y="5098577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650" y="5211397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Name 3 types of media used in multimedia.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6829" y="5659046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650" y="5771866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What is the difference between hypermedia and hypertext?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4361" y="1277430"/>
            <a:ext cx="5657452" cy="2427482"/>
          </a:xfrm>
          <a:custGeom>
            <a:avLst/>
            <a:gdLst/>
            <a:ahLst/>
            <a:cxnLst/>
            <a:rect l="l" t="t" r="r" b="b"/>
            <a:pathLst>
              <a:path w="5657452" h="2427482">
                <a:moveTo>
                  <a:pt x="145576" y="0"/>
                </a:moveTo>
                <a:lnTo>
                  <a:pt x="5511876" y="0"/>
                </a:lnTo>
                <a:cubicBezTo>
                  <a:pt x="5592275" y="0"/>
                  <a:pt x="5657452" y="65177"/>
                  <a:pt x="5657452" y="145576"/>
                </a:cubicBezTo>
                <a:lnTo>
                  <a:pt x="5657452" y="2281906"/>
                </a:lnTo>
                <a:cubicBezTo>
                  <a:pt x="5657452" y="2362305"/>
                  <a:pt x="5592275" y="2427482"/>
                  <a:pt x="5511876" y="2427482"/>
                </a:cubicBezTo>
                <a:lnTo>
                  <a:pt x="145576" y="2427482"/>
                </a:lnTo>
                <a:cubicBezTo>
                  <a:pt x="65177" y="2427482"/>
                  <a:pt x="0" y="2362305"/>
                  <a:pt x="0" y="2281906"/>
                </a:cubicBezTo>
                <a:lnTo>
                  <a:pt x="0" y="145576"/>
                </a:lnTo>
                <a:cubicBezTo>
                  <a:pt x="0" y="65177"/>
                  <a:pt x="65177" y="0"/>
                  <a:pt x="14557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0484" y="1946970"/>
            <a:ext cx="204716" cy="272955"/>
          </a:xfrm>
          <a:custGeom>
            <a:avLst/>
            <a:gdLst/>
            <a:ahLst/>
            <a:cxnLst/>
            <a:rect l="l" t="t" r="r" b="b"/>
            <a:pathLst>
              <a:path w="204716" h="272955">
                <a:moveTo>
                  <a:pt x="156150" y="204716"/>
                </a:moveTo>
                <a:cubicBezTo>
                  <a:pt x="160041" y="192828"/>
                  <a:pt x="167825" y="182059"/>
                  <a:pt x="176621" y="172783"/>
                </a:cubicBezTo>
                <a:cubicBezTo>
                  <a:pt x="194054" y="154444"/>
                  <a:pt x="204716" y="129654"/>
                  <a:pt x="204716" y="102358"/>
                </a:cubicBezTo>
                <a:cubicBezTo>
                  <a:pt x="204716" y="45848"/>
                  <a:pt x="158868" y="0"/>
                  <a:pt x="102358" y="0"/>
                </a:cubicBezTo>
                <a:cubicBezTo>
                  <a:pt x="45848" y="0"/>
                  <a:pt x="0" y="45848"/>
                  <a:pt x="0" y="102358"/>
                </a:cubicBezTo>
                <a:cubicBezTo>
                  <a:pt x="0" y="129654"/>
                  <a:pt x="10662" y="154444"/>
                  <a:pt x="28095" y="172783"/>
                </a:cubicBezTo>
                <a:cubicBezTo>
                  <a:pt x="36892" y="182059"/>
                  <a:pt x="44728" y="192828"/>
                  <a:pt x="48567" y="204716"/>
                </a:cubicBezTo>
                <a:lnTo>
                  <a:pt x="156096" y="204716"/>
                </a:lnTo>
                <a:close/>
                <a:moveTo>
                  <a:pt x="153537" y="230306"/>
                </a:moveTo>
                <a:lnTo>
                  <a:pt x="51179" y="230306"/>
                </a:lnTo>
                <a:lnTo>
                  <a:pt x="51179" y="238836"/>
                </a:lnTo>
                <a:cubicBezTo>
                  <a:pt x="51179" y="262400"/>
                  <a:pt x="70265" y="281485"/>
                  <a:pt x="93828" y="281485"/>
                </a:cubicBezTo>
                <a:lnTo>
                  <a:pt x="110888" y="281485"/>
                </a:lnTo>
                <a:cubicBezTo>
                  <a:pt x="134452" y="281485"/>
                  <a:pt x="153537" y="262400"/>
                  <a:pt x="153537" y="238836"/>
                </a:cubicBezTo>
                <a:lnTo>
                  <a:pt x="153537" y="230306"/>
                </a:lnTo>
                <a:close/>
                <a:moveTo>
                  <a:pt x="98093" y="59709"/>
                </a:moveTo>
                <a:cubicBezTo>
                  <a:pt x="76875" y="59709"/>
                  <a:pt x="59709" y="76875"/>
                  <a:pt x="59709" y="98093"/>
                </a:cubicBezTo>
                <a:cubicBezTo>
                  <a:pt x="59709" y="105184"/>
                  <a:pt x="54005" y="110888"/>
                  <a:pt x="46914" y="110888"/>
                </a:cubicBezTo>
                <a:cubicBezTo>
                  <a:pt x="39824" y="110888"/>
                  <a:pt x="34119" y="105184"/>
                  <a:pt x="34119" y="98093"/>
                </a:cubicBezTo>
                <a:cubicBezTo>
                  <a:pt x="34119" y="62748"/>
                  <a:pt x="62748" y="34119"/>
                  <a:pt x="98093" y="34119"/>
                </a:cubicBezTo>
                <a:cubicBezTo>
                  <a:pt x="105184" y="34119"/>
                  <a:pt x="110888" y="39824"/>
                  <a:pt x="110888" y="46914"/>
                </a:cubicBezTo>
                <a:cubicBezTo>
                  <a:pt x="110888" y="54005"/>
                  <a:pt x="105184" y="59709"/>
                  <a:pt x="98093" y="597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10347" y="1937982"/>
            <a:ext cx="123739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9971" y="2338205"/>
            <a:ext cx="5359021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 we built the foundation. We learned what multimedia is, its key components, and how hypermedia connects different media types. These basics prepare us for understanding multimedia's history and benefits.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4361" y="3861296"/>
            <a:ext cx="5657452" cy="2427482"/>
          </a:xfrm>
          <a:custGeom>
            <a:avLst/>
            <a:gdLst/>
            <a:ahLst/>
            <a:cxnLst/>
            <a:rect l="l" t="t" r="r" b="b"/>
            <a:pathLst>
              <a:path w="5657452" h="2427482">
                <a:moveTo>
                  <a:pt x="145576" y="0"/>
                </a:moveTo>
                <a:lnTo>
                  <a:pt x="5511876" y="0"/>
                </a:lnTo>
                <a:cubicBezTo>
                  <a:pt x="5592275" y="0"/>
                  <a:pt x="5657452" y="65177"/>
                  <a:pt x="5657452" y="145576"/>
                </a:cubicBezTo>
                <a:lnTo>
                  <a:pt x="5657452" y="2281906"/>
                </a:lnTo>
                <a:cubicBezTo>
                  <a:pt x="5657452" y="2362305"/>
                  <a:pt x="5592275" y="2427482"/>
                  <a:pt x="5511876" y="2427482"/>
                </a:cubicBezTo>
                <a:lnTo>
                  <a:pt x="145576" y="2427482"/>
                </a:lnTo>
                <a:cubicBezTo>
                  <a:pt x="65177" y="2427482"/>
                  <a:pt x="0" y="2362305"/>
                  <a:pt x="0" y="2281906"/>
                </a:cubicBezTo>
                <a:lnTo>
                  <a:pt x="0" y="145576"/>
                </a:lnTo>
                <a:cubicBezTo>
                  <a:pt x="0" y="65177"/>
                  <a:pt x="65177" y="0"/>
                  <a:pt x="14557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6365" y="4649111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267944" y="148526"/>
                </a:moveTo>
                <a:cubicBezTo>
                  <a:pt x="274608" y="141862"/>
                  <a:pt x="274608" y="131040"/>
                  <a:pt x="267944" y="124376"/>
                </a:cubicBezTo>
                <a:lnTo>
                  <a:pt x="182645" y="39077"/>
                </a:lnTo>
                <a:cubicBezTo>
                  <a:pt x="175981" y="32413"/>
                  <a:pt x="165159" y="32413"/>
                  <a:pt x="158495" y="39077"/>
                </a:cubicBezTo>
                <a:cubicBezTo>
                  <a:pt x="151831" y="45741"/>
                  <a:pt x="151831" y="56564"/>
                  <a:pt x="158495" y="63228"/>
                </a:cubicBezTo>
                <a:lnTo>
                  <a:pt x="214686" y="119418"/>
                </a:lnTo>
                <a:lnTo>
                  <a:pt x="17060" y="119418"/>
                </a:lnTo>
                <a:cubicBezTo>
                  <a:pt x="7624" y="119418"/>
                  <a:pt x="0" y="127041"/>
                  <a:pt x="0" y="136478"/>
                </a:cubicBezTo>
                <a:cubicBezTo>
                  <a:pt x="0" y="145914"/>
                  <a:pt x="7624" y="153537"/>
                  <a:pt x="17060" y="153537"/>
                </a:cubicBezTo>
                <a:lnTo>
                  <a:pt x="214686" y="153537"/>
                </a:lnTo>
                <a:lnTo>
                  <a:pt x="158495" y="209728"/>
                </a:lnTo>
                <a:cubicBezTo>
                  <a:pt x="151831" y="216392"/>
                  <a:pt x="151831" y="227214"/>
                  <a:pt x="158495" y="233878"/>
                </a:cubicBezTo>
                <a:cubicBezTo>
                  <a:pt x="165159" y="240542"/>
                  <a:pt x="175981" y="240542"/>
                  <a:pt x="182645" y="233878"/>
                </a:cubicBezTo>
                <a:lnTo>
                  <a:pt x="267944" y="1485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810347" y="4640128"/>
            <a:ext cx="169232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9971" y="5040347"/>
            <a:ext cx="53590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2:</a:t>
            </a: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 will explore the history of multimedia, its benefits, real-world examples, and dive deeper into hypermedia and hypertext.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7580" y="6408762"/>
            <a:ext cx="11462300" cy="444007"/>
          </a:xfrm>
          <a:custGeom>
            <a:avLst/>
            <a:gdLst/>
            <a:ahLst/>
            <a:cxnLst/>
            <a:rect l="l" t="t" r="r" b="b"/>
            <a:pathLst>
              <a:path w="11462300" h="444007">
                <a:moveTo>
                  <a:pt x="109181" y="0"/>
                </a:moveTo>
                <a:lnTo>
                  <a:pt x="11353118" y="0"/>
                </a:lnTo>
                <a:cubicBezTo>
                  <a:pt x="11413418" y="0"/>
                  <a:pt x="11462300" y="48882"/>
                  <a:pt x="11462300" y="109181"/>
                </a:cubicBezTo>
                <a:lnTo>
                  <a:pt x="11462300" y="334826"/>
                </a:lnTo>
                <a:cubicBezTo>
                  <a:pt x="11462300" y="395125"/>
                  <a:pt x="11413418" y="444007"/>
                  <a:pt x="11353118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401" y="6521582"/>
            <a:ext cx="1130944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Mind map connecting all key terms from Lecture 1 | Image: Students reviewing notes with multimedia devices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19191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681895" y="1717357"/>
            <a:ext cx="2827020" cy="541020"/>
          </a:xfrm>
          <a:custGeom>
            <a:avLst/>
            <a:gdLst/>
            <a:ahLst/>
            <a:cxnLst/>
            <a:rect l="l" t="t" r="r" b="b"/>
            <a:pathLst>
              <a:path w="2827020" h="541020">
                <a:moveTo>
                  <a:pt x="114301" y="0"/>
                </a:moveTo>
                <a:lnTo>
                  <a:pt x="2712719" y="0"/>
                </a:lnTo>
                <a:cubicBezTo>
                  <a:pt x="2775846" y="0"/>
                  <a:pt x="2827020" y="51174"/>
                  <a:pt x="2827020" y="114301"/>
                </a:cubicBezTo>
                <a:lnTo>
                  <a:pt x="2827020" y="426719"/>
                </a:lnTo>
                <a:cubicBezTo>
                  <a:pt x="2827020" y="489846"/>
                  <a:pt x="2775846" y="541020"/>
                  <a:pt x="2712719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57155" y="1820228"/>
            <a:ext cx="247745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– LECTURE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36063" y="2566871"/>
            <a:ext cx="8515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History, Benefits, and Examples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3881" y="3366971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921788" y="3709871"/>
            <a:ext cx="8343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Multimedia, Benefits, Real-World Examples, Hypermedia, and Hypertext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5533" y="4542356"/>
            <a:ext cx="1550670" cy="598170"/>
          </a:xfrm>
          <a:custGeom>
            <a:avLst/>
            <a:gdLst/>
            <a:ahLst/>
            <a:cxnLst/>
            <a:rect l="l" t="t" r="r" b="b"/>
            <a:pathLst>
              <a:path w="1550670" h="598170">
                <a:moveTo>
                  <a:pt x="114298" y="0"/>
                </a:moveTo>
                <a:lnTo>
                  <a:pt x="1436372" y="0"/>
                </a:lnTo>
                <a:cubicBezTo>
                  <a:pt x="1499497" y="0"/>
                  <a:pt x="1550670" y="51173"/>
                  <a:pt x="1550670" y="114298"/>
                </a:cubicBezTo>
                <a:lnTo>
                  <a:pt x="1550670" y="483872"/>
                </a:lnTo>
                <a:cubicBezTo>
                  <a:pt x="1550670" y="546997"/>
                  <a:pt x="1499497" y="598170"/>
                  <a:pt x="1436372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8184" y="469856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35719"/>
                </a:moveTo>
                <a:cubicBezTo>
                  <a:pt x="219894" y="35719"/>
                  <a:pt x="267891" y="83716"/>
                  <a:pt x="267891" y="142875"/>
                </a:cubicBezTo>
                <a:cubicBezTo>
                  <a:pt x="267891" y="202034"/>
                  <a:pt x="219894" y="250031"/>
                  <a:pt x="160734" y="250031"/>
                </a:cubicBezTo>
                <a:cubicBezTo>
                  <a:pt x="124346" y="250031"/>
                  <a:pt x="92143" y="231893"/>
                  <a:pt x="72777" y="204099"/>
                </a:cubicBezTo>
                <a:cubicBezTo>
                  <a:pt x="67140" y="196007"/>
                  <a:pt x="55978" y="194053"/>
                  <a:pt x="47885" y="199690"/>
                </a:cubicBezTo>
                <a:cubicBezTo>
                  <a:pt x="39793" y="205327"/>
                  <a:pt x="37840" y="216489"/>
                  <a:pt x="43476" y="224582"/>
                </a:cubicBezTo>
                <a:cubicBezTo>
                  <a:pt x="69261" y="261528"/>
                  <a:pt x="112179" y="285750"/>
                  <a:pt x="160734" y="285750"/>
                </a:cubicBezTo>
                <a:cubicBezTo>
                  <a:pt x="239650" y="285750"/>
                  <a:pt x="303609" y="221791"/>
                  <a:pt x="303609" y="142875"/>
                </a:cubicBezTo>
                <a:cubicBezTo>
                  <a:pt x="303609" y="63959"/>
                  <a:pt x="239650" y="0"/>
                  <a:pt x="160734" y="0"/>
                </a:cubicBezTo>
                <a:cubicBezTo>
                  <a:pt x="112905" y="0"/>
                  <a:pt x="70600" y="23496"/>
                  <a:pt x="44648" y="59550"/>
                </a:cubicBezTo>
                <a:lnTo>
                  <a:pt x="44648" y="44648"/>
                </a:lnTo>
                <a:cubicBezTo>
                  <a:pt x="44648" y="34770"/>
                  <a:pt x="36668" y="26789"/>
                  <a:pt x="26789" y="26789"/>
                </a:cubicBezTo>
                <a:cubicBezTo>
                  <a:pt x="16911" y="26789"/>
                  <a:pt x="8930" y="34770"/>
                  <a:pt x="8930" y="44648"/>
                </a:cubicBezTo>
                <a:lnTo>
                  <a:pt x="8930" y="107156"/>
                </a:lnTo>
                <a:cubicBezTo>
                  <a:pt x="8930" y="117035"/>
                  <a:pt x="16911" y="125016"/>
                  <a:pt x="26789" y="125016"/>
                </a:cubicBezTo>
                <a:lnTo>
                  <a:pt x="40518" y="125016"/>
                </a:lnTo>
                <a:cubicBezTo>
                  <a:pt x="40798" y="125016"/>
                  <a:pt x="41077" y="125016"/>
                  <a:pt x="41356" y="125016"/>
                </a:cubicBezTo>
                <a:lnTo>
                  <a:pt x="89353" y="125016"/>
                </a:lnTo>
                <a:cubicBezTo>
                  <a:pt x="99231" y="125016"/>
                  <a:pt x="107212" y="117035"/>
                  <a:pt x="107212" y="107156"/>
                </a:cubicBezTo>
                <a:cubicBezTo>
                  <a:pt x="107212" y="97278"/>
                  <a:pt x="99231" y="89297"/>
                  <a:pt x="89353" y="89297"/>
                </a:cubicBezTo>
                <a:lnTo>
                  <a:pt x="67977" y="89297"/>
                </a:lnTo>
                <a:cubicBezTo>
                  <a:pt x="86451" y="57262"/>
                  <a:pt x="121109" y="35719"/>
                  <a:pt x="160734" y="35719"/>
                </a:cubicBezTo>
                <a:close/>
                <a:moveTo>
                  <a:pt x="174129" y="84832"/>
                </a:moveTo>
                <a:cubicBezTo>
                  <a:pt x="174129" y="77409"/>
                  <a:pt x="168157" y="71438"/>
                  <a:pt x="160734" y="71438"/>
                </a:cubicBezTo>
                <a:cubicBezTo>
                  <a:pt x="153312" y="71438"/>
                  <a:pt x="147340" y="77409"/>
                  <a:pt x="147340" y="84832"/>
                </a:cubicBezTo>
                <a:lnTo>
                  <a:pt x="147340" y="142875"/>
                </a:lnTo>
                <a:cubicBezTo>
                  <a:pt x="147340" y="146447"/>
                  <a:pt x="148735" y="149851"/>
                  <a:pt x="151247" y="152363"/>
                </a:cubicBezTo>
                <a:lnTo>
                  <a:pt x="191430" y="192546"/>
                </a:lnTo>
                <a:cubicBezTo>
                  <a:pt x="196676" y="197793"/>
                  <a:pt x="205160" y="197793"/>
                  <a:pt x="210350" y="192546"/>
                </a:cubicBezTo>
                <a:cubicBezTo>
                  <a:pt x="215540" y="187300"/>
                  <a:pt x="215596" y="178817"/>
                  <a:pt x="210350" y="173627"/>
                </a:cubicBezTo>
                <a:lnTo>
                  <a:pt x="174073" y="137350"/>
                </a:lnTo>
                <a:lnTo>
                  <a:pt x="174073" y="8483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971806" y="4708089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77314" y="4542356"/>
            <a:ext cx="1636395" cy="598170"/>
          </a:xfrm>
          <a:custGeom>
            <a:avLst/>
            <a:gdLst/>
            <a:ahLst/>
            <a:cxnLst/>
            <a:rect l="l" t="t" r="r" b="b"/>
            <a:pathLst>
              <a:path w="1636395" h="598170">
                <a:moveTo>
                  <a:pt x="114298" y="0"/>
                </a:moveTo>
                <a:lnTo>
                  <a:pt x="1522097" y="0"/>
                </a:lnTo>
                <a:cubicBezTo>
                  <a:pt x="1585222" y="0"/>
                  <a:pt x="1636395" y="51173"/>
                  <a:pt x="1636395" y="114298"/>
                </a:cubicBezTo>
                <a:lnTo>
                  <a:pt x="1636395" y="483872"/>
                </a:lnTo>
                <a:cubicBezTo>
                  <a:pt x="1636395" y="546997"/>
                  <a:pt x="1585222" y="598170"/>
                  <a:pt x="1522097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9964" y="469856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833586" y="4708089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23271" y="4542356"/>
            <a:ext cx="1750695" cy="598170"/>
          </a:xfrm>
          <a:custGeom>
            <a:avLst/>
            <a:gdLst/>
            <a:ahLst/>
            <a:cxnLst/>
            <a:rect l="l" t="t" r="r" b="b"/>
            <a:pathLst>
              <a:path w="1750695" h="598170">
                <a:moveTo>
                  <a:pt x="114298" y="0"/>
                </a:moveTo>
                <a:lnTo>
                  <a:pt x="1636397" y="0"/>
                </a:lnTo>
                <a:cubicBezTo>
                  <a:pt x="1699522" y="0"/>
                  <a:pt x="1750695" y="51173"/>
                  <a:pt x="1750695" y="114298"/>
                </a:cubicBezTo>
                <a:lnTo>
                  <a:pt x="1750695" y="483872"/>
                </a:lnTo>
                <a:cubicBezTo>
                  <a:pt x="1750695" y="546997"/>
                  <a:pt x="1699522" y="598170"/>
                  <a:pt x="1636397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8063" y="469856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1438" y="17859"/>
                </a:moveTo>
                <a:cubicBezTo>
                  <a:pt x="51736" y="17859"/>
                  <a:pt x="35719" y="33877"/>
                  <a:pt x="35719" y="53578"/>
                </a:cubicBezTo>
                <a:lnTo>
                  <a:pt x="35719" y="187523"/>
                </a:lnTo>
                <a:lnTo>
                  <a:pt x="71438" y="187523"/>
                </a:lnTo>
                <a:lnTo>
                  <a:pt x="71438" y="53578"/>
                </a:lnTo>
                <a:lnTo>
                  <a:pt x="285750" y="53578"/>
                </a:lnTo>
                <a:lnTo>
                  <a:pt x="285750" y="187523"/>
                </a:lnTo>
                <a:lnTo>
                  <a:pt x="321469" y="187523"/>
                </a:lnTo>
                <a:lnTo>
                  <a:pt x="321469" y="53578"/>
                </a:lnTo>
                <a:cubicBezTo>
                  <a:pt x="321469" y="33877"/>
                  <a:pt x="305451" y="17859"/>
                  <a:pt x="285750" y="17859"/>
                </a:cubicBezTo>
                <a:lnTo>
                  <a:pt x="71438" y="17859"/>
                </a:lnTo>
                <a:close/>
                <a:moveTo>
                  <a:pt x="10716" y="214313"/>
                </a:moveTo>
                <a:cubicBezTo>
                  <a:pt x="4800" y="214313"/>
                  <a:pt x="0" y="219112"/>
                  <a:pt x="0" y="225028"/>
                </a:cubicBezTo>
                <a:cubicBezTo>
                  <a:pt x="0" y="248692"/>
                  <a:pt x="19199" y="267891"/>
                  <a:pt x="42863" y="267891"/>
                </a:cubicBezTo>
                <a:lnTo>
                  <a:pt x="314325" y="267891"/>
                </a:lnTo>
                <a:cubicBezTo>
                  <a:pt x="337989" y="267891"/>
                  <a:pt x="357187" y="248692"/>
                  <a:pt x="357187" y="225028"/>
                </a:cubicBezTo>
                <a:cubicBezTo>
                  <a:pt x="357187" y="219112"/>
                  <a:pt x="352388" y="214313"/>
                  <a:pt x="346472" y="214313"/>
                </a:cubicBezTo>
                <a:lnTo>
                  <a:pt x="10716" y="2143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9544" y="4708089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61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Brief History of Multimedia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multimedia evolved from simple text to interactive experiences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7560945" cy="4551045"/>
          </a:xfrm>
          <a:custGeom>
            <a:avLst/>
            <a:gdLst/>
            <a:ahLst/>
            <a:cxnLst/>
            <a:rect l="l" t="t" r="r" b="b"/>
            <a:pathLst>
              <a:path w="7560945" h="4551045">
                <a:moveTo>
                  <a:pt x="152414" y="0"/>
                </a:moveTo>
                <a:lnTo>
                  <a:pt x="7408531" y="0"/>
                </a:lnTo>
                <a:cubicBezTo>
                  <a:pt x="7492707" y="0"/>
                  <a:pt x="7560945" y="68238"/>
                  <a:pt x="7560945" y="152414"/>
                </a:cubicBezTo>
                <a:lnTo>
                  <a:pt x="7560945" y="4398631"/>
                </a:lnTo>
                <a:cubicBezTo>
                  <a:pt x="7560945" y="4482807"/>
                  <a:pt x="7492707" y="4551045"/>
                  <a:pt x="7408531" y="4551045"/>
                </a:cubicBezTo>
                <a:lnTo>
                  <a:pt x="152414" y="4551045"/>
                </a:lnTo>
                <a:cubicBezTo>
                  <a:pt x="68238" y="4551045"/>
                  <a:pt x="0" y="4482807"/>
                  <a:pt x="0" y="4398631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410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23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of Multimedia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30" y="1992512"/>
            <a:ext cx="7160895" cy="617220"/>
          </a:xfrm>
          <a:custGeom>
            <a:avLst/>
            <a:gdLst/>
            <a:ahLst/>
            <a:cxnLst/>
            <a:rect l="l" t="t" r="r" b="b"/>
            <a:pathLst>
              <a:path w="7160895" h="617220">
                <a:moveTo>
                  <a:pt x="114303" y="0"/>
                </a:moveTo>
                <a:lnTo>
                  <a:pt x="7046592" y="0"/>
                </a:lnTo>
                <a:cubicBezTo>
                  <a:pt x="7109720" y="0"/>
                  <a:pt x="7160895" y="51175"/>
                  <a:pt x="7160895" y="114303"/>
                </a:cubicBezTo>
                <a:lnTo>
                  <a:pt x="7160895" y="502917"/>
                </a:lnTo>
                <a:cubicBezTo>
                  <a:pt x="7160895" y="566045"/>
                  <a:pt x="7109720" y="617220"/>
                  <a:pt x="70465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" y="207252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76202" y="0"/>
                </a:moveTo>
                <a:lnTo>
                  <a:pt x="838198" y="0"/>
                </a:lnTo>
                <a:cubicBezTo>
                  <a:pt x="880283" y="0"/>
                  <a:pt x="914400" y="34117"/>
                  <a:pt x="914400" y="76202"/>
                </a:cubicBezTo>
                <a:lnTo>
                  <a:pt x="914400" y="380998"/>
                </a:lnTo>
                <a:cubicBezTo>
                  <a:pt x="914400" y="423083"/>
                  <a:pt x="880283" y="457200"/>
                  <a:pt x="838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38451" y="2205870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1960s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18682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Researchers experimented with combining text and images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930" y="2693553"/>
            <a:ext cx="7160895" cy="617220"/>
          </a:xfrm>
          <a:custGeom>
            <a:avLst/>
            <a:gdLst/>
            <a:ahLst/>
            <a:cxnLst/>
            <a:rect l="l" t="t" r="r" b="b"/>
            <a:pathLst>
              <a:path w="7160895" h="617220">
                <a:moveTo>
                  <a:pt x="114303" y="0"/>
                </a:moveTo>
                <a:lnTo>
                  <a:pt x="7046592" y="0"/>
                </a:lnTo>
                <a:cubicBezTo>
                  <a:pt x="7109720" y="0"/>
                  <a:pt x="7160895" y="51175"/>
                  <a:pt x="7160895" y="114303"/>
                </a:cubicBezTo>
                <a:lnTo>
                  <a:pt x="7160895" y="502917"/>
                </a:lnTo>
                <a:cubicBezTo>
                  <a:pt x="7160895" y="566045"/>
                  <a:pt x="7109720" y="617220"/>
                  <a:pt x="70465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" y="2773561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76202" y="0"/>
                </a:moveTo>
                <a:lnTo>
                  <a:pt x="838198" y="0"/>
                </a:lnTo>
                <a:cubicBezTo>
                  <a:pt x="880283" y="0"/>
                  <a:pt x="914400" y="34117"/>
                  <a:pt x="914400" y="76202"/>
                </a:cubicBezTo>
                <a:lnTo>
                  <a:pt x="914400" y="380998"/>
                </a:lnTo>
                <a:cubicBezTo>
                  <a:pt x="914400" y="423083"/>
                  <a:pt x="880283" y="457200"/>
                  <a:pt x="838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37379" y="2906911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887861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computers made multimedia accessible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930" y="3394594"/>
            <a:ext cx="7160895" cy="617220"/>
          </a:xfrm>
          <a:custGeom>
            <a:avLst/>
            <a:gdLst/>
            <a:ahLst/>
            <a:cxnLst/>
            <a:rect l="l" t="t" r="r" b="b"/>
            <a:pathLst>
              <a:path w="7160895" h="617220">
                <a:moveTo>
                  <a:pt x="114303" y="0"/>
                </a:moveTo>
                <a:lnTo>
                  <a:pt x="7046592" y="0"/>
                </a:lnTo>
                <a:cubicBezTo>
                  <a:pt x="7109720" y="0"/>
                  <a:pt x="7160895" y="51175"/>
                  <a:pt x="7160895" y="114303"/>
                </a:cubicBezTo>
                <a:lnTo>
                  <a:pt x="7160895" y="502917"/>
                </a:lnTo>
                <a:cubicBezTo>
                  <a:pt x="7160895" y="566045"/>
                  <a:pt x="7109720" y="617220"/>
                  <a:pt x="70465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" y="3474602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76202" y="0"/>
                </a:moveTo>
                <a:lnTo>
                  <a:pt x="838198" y="0"/>
                </a:lnTo>
                <a:cubicBezTo>
                  <a:pt x="880283" y="0"/>
                  <a:pt x="914400" y="34117"/>
                  <a:pt x="914400" y="76202"/>
                </a:cubicBezTo>
                <a:lnTo>
                  <a:pt x="914400" y="380998"/>
                </a:lnTo>
                <a:cubicBezTo>
                  <a:pt x="914400" y="423083"/>
                  <a:pt x="880283" y="457200"/>
                  <a:pt x="838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87028" y="3607952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588902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Wide Web created by Tim Berners-Lee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2930" y="4095630"/>
            <a:ext cx="7160895" cy="617220"/>
          </a:xfrm>
          <a:custGeom>
            <a:avLst/>
            <a:gdLst/>
            <a:ahLst/>
            <a:cxnLst/>
            <a:rect l="l" t="t" r="r" b="b"/>
            <a:pathLst>
              <a:path w="7160895" h="617220">
                <a:moveTo>
                  <a:pt x="114303" y="0"/>
                </a:moveTo>
                <a:lnTo>
                  <a:pt x="7046592" y="0"/>
                </a:lnTo>
                <a:cubicBezTo>
                  <a:pt x="7109720" y="0"/>
                  <a:pt x="7160895" y="51175"/>
                  <a:pt x="7160895" y="114303"/>
                </a:cubicBezTo>
                <a:lnTo>
                  <a:pt x="7160895" y="502917"/>
                </a:lnTo>
                <a:cubicBezTo>
                  <a:pt x="7160895" y="566045"/>
                  <a:pt x="7109720" y="617220"/>
                  <a:pt x="70465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" y="4175643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76202" y="0"/>
                </a:moveTo>
                <a:lnTo>
                  <a:pt x="838198" y="0"/>
                </a:lnTo>
                <a:cubicBezTo>
                  <a:pt x="880283" y="0"/>
                  <a:pt x="914400" y="34117"/>
                  <a:pt x="914400" y="76202"/>
                </a:cubicBezTo>
                <a:lnTo>
                  <a:pt x="914400" y="380998"/>
                </a:lnTo>
                <a:cubicBezTo>
                  <a:pt x="914400" y="423083"/>
                  <a:pt x="880283" y="457200"/>
                  <a:pt x="838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21068" y="4308993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289943"/>
            <a:ext cx="3876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Smartphones and social media revolutionized multimedia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2930" y="4796671"/>
            <a:ext cx="7160895" cy="617220"/>
          </a:xfrm>
          <a:custGeom>
            <a:avLst/>
            <a:gdLst/>
            <a:ahLst/>
            <a:cxnLst/>
            <a:rect l="l" t="t" r="r" b="b"/>
            <a:pathLst>
              <a:path w="7160895" h="617220">
                <a:moveTo>
                  <a:pt x="114303" y="0"/>
                </a:moveTo>
                <a:lnTo>
                  <a:pt x="7046592" y="0"/>
                </a:lnTo>
                <a:cubicBezTo>
                  <a:pt x="7109720" y="0"/>
                  <a:pt x="7160895" y="51175"/>
                  <a:pt x="7160895" y="114303"/>
                </a:cubicBezTo>
                <a:lnTo>
                  <a:pt x="7160895" y="502917"/>
                </a:lnTo>
                <a:cubicBezTo>
                  <a:pt x="7160895" y="566045"/>
                  <a:pt x="7109720" y="617220"/>
                  <a:pt x="70465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" y="4876684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76202" y="0"/>
                </a:moveTo>
                <a:lnTo>
                  <a:pt x="838198" y="0"/>
                </a:lnTo>
                <a:cubicBezTo>
                  <a:pt x="880283" y="0"/>
                  <a:pt x="914400" y="34117"/>
                  <a:pt x="914400" y="76202"/>
                </a:cubicBezTo>
                <a:lnTo>
                  <a:pt x="914400" y="380998"/>
                </a:lnTo>
                <a:cubicBezTo>
                  <a:pt x="914400" y="423083"/>
                  <a:pt x="880283" y="457200"/>
                  <a:pt x="838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99993" y="5010034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2010s+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4990984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services, apps, VR, and AI-powered multimedia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6371" y="1337310"/>
            <a:ext cx="3703320" cy="2198370"/>
          </a:xfrm>
          <a:custGeom>
            <a:avLst/>
            <a:gdLst/>
            <a:ahLst/>
            <a:cxnLst/>
            <a:rect l="l" t="t" r="r" b="b"/>
            <a:pathLst>
              <a:path w="3703320" h="2198370">
                <a:moveTo>
                  <a:pt x="152391" y="0"/>
                </a:moveTo>
                <a:lnTo>
                  <a:pt x="3550929" y="0"/>
                </a:lnTo>
                <a:cubicBezTo>
                  <a:pt x="3635092" y="0"/>
                  <a:pt x="3703320" y="68228"/>
                  <a:pt x="3703320" y="152391"/>
                </a:cubicBezTo>
                <a:lnTo>
                  <a:pt x="3703320" y="2045979"/>
                </a:lnTo>
                <a:cubicBezTo>
                  <a:pt x="3703320" y="2130142"/>
                  <a:pt x="3635092" y="2198370"/>
                  <a:pt x="355092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4499" y="186297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8772168" y="1853566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0681" y="2272545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evolved from simple experiments to everyday technology. Each decade brought new innovations.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6371" y="3691892"/>
            <a:ext cx="3703320" cy="2198370"/>
          </a:xfrm>
          <a:custGeom>
            <a:avLst/>
            <a:gdLst/>
            <a:ahLst/>
            <a:cxnLst/>
            <a:rect l="l" t="t" r="r" b="b"/>
            <a:pathLst>
              <a:path w="3703320" h="2198370">
                <a:moveTo>
                  <a:pt x="152391" y="0"/>
                </a:moveTo>
                <a:lnTo>
                  <a:pt x="3550929" y="0"/>
                </a:lnTo>
                <a:cubicBezTo>
                  <a:pt x="3635092" y="0"/>
                  <a:pt x="3703320" y="68228"/>
                  <a:pt x="3703320" y="152391"/>
                </a:cubicBezTo>
                <a:lnTo>
                  <a:pt x="3703320" y="2045979"/>
                </a:lnTo>
                <a:cubicBezTo>
                  <a:pt x="3703320" y="2130142"/>
                  <a:pt x="3635092" y="2198370"/>
                  <a:pt x="355092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8781" y="42175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8772168" y="4208148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0681" y="4627127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 (2005):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Revolutionized video sharing, allowing anyone to create and share multimedia content globally.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6008369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Horizontal timeline with key dates and icons | Image: Technology evolution showing old computers to modern smartphones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77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Multimedia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multimedia makes learning and communication better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3703320" cy="1483995"/>
          </a:xfrm>
          <a:custGeom>
            <a:avLst/>
            <a:gdLst/>
            <a:ahLst/>
            <a:cxnLst/>
            <a:rect l="l" t="t" r="r" b="b"/>
            <a:pathLst>
              <a:path w="3703320" h="1483995">
                <a:moveTo>
                  <a:pt x="152406" y="0"/>
                </a:moveTo>
                <a:lnTo>
                  <a:pt x="3550914" y="0"/>
                </a:lnTo>
                <a:cubicBezTo>
                  <a:pt x="3635029" y="0"/>
                  <a:pt x="3703320" y="68291"/>
                  <a:pt x="3703320" y="152406"/>
                </a:cubicBezTo>
                <a:lnTo>
                  <a:pt x="3703320" y="1331589"/>
                </a:lnTo>
                <a:cubicBezTo>
                  <a:pt x="3703320" y="1415704"/>
                  <a:pt x="3635029" y="1483995"/>
                  <a:pt x="3550914" y="1483995"/>
                </a:cubicBezTo>
                <a:lnTo>
                  <a:pt x="152406" y="1483995"/>
                </a:lnTo>
                <a:cubicBezTo>
                  <a:pt x="68291" y="1483995"/>
                  <a:pt x="0" y="1415704"/>
                  <a:pt x="0" y="133158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516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661159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Increases Engagement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051684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captures attention with visuals, sounds, and interactivity, making learning fun.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45531" y="1337310"/>
            <a:ext cx="3703320" cy="1483995"/>
          </a:xfrm>
          <a:custGeom>
            <a:avLst/>
            <a:gdLst/>
            <a:ahLst/>
            <a:cxnLst/>
            <a:rect l="l" t="t" r="r" b="b"/>
            <a:pathLst>
              <a:path w="3703320" h="1483995">
                <a:moveTo>
                  <a:pt x="152406" y="0"/>
                </a:moveTo>
                <a:lnTo>
                  <a:pt x="3550914" y="0"/>
                </a:lnTo>
                <a:cubicBezTo>
                  <a:pt x="3635029" y="0"/>
                  <a:pt x="3703320" y="68291"/>
                  <a:pt x="3703320" y="152406"/>
                </a:cubicBezTo>
                <a:lnTo>
                  <a:pt x="3703320" y="1331589"/>
                </a:lnTo>
                <a:cubicBezTo>
                  <a:pt x="3703320" y="1415704"/>
                  <a:pt x="3635029" y="1483995"/>
                  <a:pt x="3550914" y="1483995"/>
                </a:cubicBezTo>
                <a:lnTo>
                  <a:pt x="152406" y="1483995"/>
                </a:lnTo>
                <a:cubicBezTo>
                  <a:pt x="68291" y="1483995"/>
                  <a:pt x="0" y="1415704"/>
                  <a:pt x="0" y="133158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7941" y="16516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911328" y="1661159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Retention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9841" y="2051684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remember 65% of visual content vs 10% of text after 3 days.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2983233"/>
            <a:ext cx="3703320" cy="1483995"/>
          </a:xfrm>
          <a:custGeom>
            <a:avLst/>
            <a:gdLst/>
            <a:ahLst/>
            <a:cxnLst/>
            <a:rect l="l" t="t" r="r" b="b"/>
            <a:pathLst>
              <a:path w="3703320" h="1483995">
                <a:moveTo>
                  <a:pt x="152406" y="0"/>
                </a:moveTo>
                <a:lnTo>
                  <a:pt x="3550914" y="0"/>
                </a:lnTo>
                <a:cubicBezTo>
                  <a:pt x="3635029" y="0"/>
                  <a:pt x="3703320" y="68291"/>
                  <a:pt x="3703320" y="152406"/>
                </a:cubicBezTo>
                <a:lnTo>
                  <a:pt x="3703320" y="1331589"/>
                </a:lnTo>
                <a:cubicBezTo>
                  <a:pt x="3703320" y="1415704"/>
                  <a:pt x="3635029" y="1483995"/>
                  <a:pt x="3550914" y="1483995"/>
                </a:cubicBezTo>
                <a:lnTo>
                  <a:pt x="152406" y="1483995"/>
                </a:lnTo>
                <a:cubicBezTo>
                  <a:pt x="68291" y="1483995"/>
                  <a:pt x="0" y="1415704"/>
                  <a:pt x="0" y="133158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501" y="329755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0608" y="3307082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Learning Styles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3697607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visual, auditory, and kinesthetic elements for all learners.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5531" y="2983233"/>
            <a:ext cx="3703320" cy="1483995"/>
          </a:xfrm>
          <a:custGeom>
            <a:avLst/>
            <a:gdLst/>
            <a:ahLst/>
            <a:cxnLst/>
            <a:rect l="l" t="t" r="r" b="b"/>
            <a:pathLst>
              <a:path w="3703320" h="1483995">
                <a:moveTo>
                  <a:pt x="152406" y="0"/>
                </a:moveTo>
                <a:lnTo>
                  <a:pt x="3550914" y="0"/>
                </a:lnTo>
                <a:cubicBezTo>
                  <a:pt x="3635029" y="0"/>
                  <a:pt x="3703320" y="68291"/>
                  <a:pt x="3703320" y="152406"/>
                </a:cubicBezTo>
                <a:lnTo>
                  <a:pt x="3703320" y="1331589"/>
                </a:lnTo>
                <a:cubicBezTo>
                  <a:pt x="3703320" y="1415704"/>
                  <a:pt x="3635029" y="1483995"/>
                  <a:pt x="3550914" y="1483995"/>
                </a:cubicBezTo>
                <a:lnTo>
                  <a:pt x="152406" y="1483995"/>
                </a:lnTo>
                <a:cubicBezTo>
                  <a:pt x="68291" y="1483995"/>
                  <a:pt x="0" y="1415704"/>
                  <a:pt x="0" y="133158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7941" y="32975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911328" y="3307082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Simplifies Complex Ideas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9841" y="3697607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Animations and videos break down difficult concepts into easy steps.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4629151"/>
            <a:ext cx="7560945" cy="1255395"/>
          </a:xfrm>
          <a:custGeom>
            <a:avLst/>
            <a:gdLst/>
            <a:ahLst/>
            <a:cxnLst/>
            <a:rect l="l" t="t" r="r" b="b"/>
            <a:pathLst>
              <a:path w="7560945" h="1255395">
                <a:moveTo>
                  <a:pt x="152405" y="0"/>
                </a:moveTo>
                <a:lnTo>
                  <a:pt x="7408540" y="0"/>
                </a:lnTo>
                <a:cubicBezTo>
                  <a:pt x="7492711" y="0"/>
                  <a:pt x="7560945" y="68234"/>
                  <a:pt x="7560945" y="152405"/>
                </a:cubicBezTo>
                <a:lnTo>
                  <a:pt x="7560945" y="1102990"/>
                </a:lnTo>
                <a:cubicBezTo>
                  <a:pt x="7560945" y="1187161"/>
                  <a:pt x="7492711" y="1255395"/>
                  <a:pt x="7408540" y="1255395"/>
                </a:cubicBezTo>
                <a:lnTo>
                  <a:pt x="152405" y="1255395"/>
                </a:lnTo>
                <a:cubicBezTo>
                  <a:pt x="68234" y="1255395"/>
                  <a:pt x="0" y="1187161"/>
                  <a:pt x="0" y="1102990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" y="4943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50608" y="495300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Self-Paced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9120" y="5343525"/>
            <a:ext cx="724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can pause, rewind, and review content at their own speed.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6371" y="1337310"/>
            <a:ext cx="3703320" cy="2198370"/>
          </a:xfrm>
          <a:custGeom>
            <a:avLst/>
            <a:gdLst/>
            <a:ahLst/>
            <a:cxnLst/>
            <a:rect l="l" t="t" r="r" b="b"/>
            <a:pathLst>
              <a:path w="3703320" h="2198370">
                <a:moveTo>
                  <a:pt x="152391" y="0"/>
                </a:moveTo>
                <a:lnTo>
                  <a:pt x="3550929" y="0"/>
                </a:lnTo>
                <a:cubicBezTo>
                  <a:pt x="3635092" y="0"/>
                  <a:pt x="3703320" y="68228"/>
                  <a:pt x="3703320" y="152391"/>
                </a:cubicBezTo>
                <a:lnTo>
                  <a:pt x="3703320" y="2045979"/>
                </a:lnTo>
                <a:cubicBezTo>
                  <a:pt x="3703320" y="2130142"/>
                  <a:pt x="3635092" y="2198370"/>
                  <a:pt x="355092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4499" y="198679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8772168" y="197739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00681" y="239637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engages multiple senses, creating stronger memory connections.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6371" y="3691892"/>
            <a:ext cx="3703320" cy="2198370"/>
          </a:xfrm>
          <a:custGeom>
            <a:avLst/>
            <a:gdLst/>
            <a:ahLst/>
            <a:cxnLst/>
            <a:rect l="l" t="t" r="r" b="b"/>
            <a:pathLst>
              <a:path w="3703320" h="2198370">
                <a:moveTo>
                  <a:pt x="152391" y="0"/>
                </a:moveTo>
                <a:lnTo>
                  <a:pt x="3550929" y="0"/>
                </a:lnTo>
                <a:cubicBezTo>
                  <a:pt x="3635092" y="0"/>
                  <a:pt x="3703320" y="68228"/>
                  <a:pt x="3703320" y="152391"/>
                </a:cubicBezTo>
                <a:lnTo>
                  <a:pt x="3703320" y="2045979"/>
                </a:lnTo>
                <a:cubicBezTo>
                  <a:pt x="3703320" y="2130142"/>
                  <a:pt x="3635092" y="2198370"/>
                  <a:pt x="355092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8781" y="42175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8772168" y="4208148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00681" y="4627127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Khan Academy: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videos, quizzes, and interactive exercises. Students learn at their own pace.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6008374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Five benefit icons in a star pattern | Image: Students using tablets with engaged expressions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886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Multimedia in Real Life (Part 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and Audio examples you use every 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312670"/>
          </a:xfrm>
          <a:custGeom>
            <a:avLst/>
            <a:gdLst/>
            <a:ahLst/>
            <a:cxnLst/>
            <a:rect l="l" t="t" r="r" b="b"/>
            <a:pathLst>
              <a:path w="5627370" h="2312670">
                <a:moveTo>
                  <a:pt x="152405" y="0"/>
                </a:moveTo>
                <a:lnTo>
                  <a:pt x="5474965" y="0"/>
                </a:lnTo>
                <a:cubicBezTo>
                  <a:pt x="5559136" y="0"/>
                  <a:pt x="5627370" y="68234"/>
                  <a:pt x="5627370" y="152405"/>
                </a:cubicBezTo>
                <a:lnTo>
                  <a:pt x="5627370" y="2160265"/>
                </a:lnTo>
                <a:cubicBezTo>
                  <a:pt x="5627370" y="2244436"/>
                  <a:pt x="5559136" y="2312670"/>
                  <a:pt x="5474965" y="2312670"/>
                </a:cubicBezTo>
                <a:lnTo>
                  <a:pt x="152405" y="2312670"/>
                </a:lnTo>
                <a:cubicBezTo>
                  <a:pt x="68234" y="2312670"/>
                  <a:pt x="0" y="2244436"/>
                  <a:pt x="0" y="216026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9361" y="156008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06791" y="69261"/>
                </a:moveTo>
                <a:cubicBezTo>
                  <a:pt x="303330" y="56034"/>
                  <a:pt x="292950" y="45653"/>
                  <a:pt x="279834" y="42137"/>
                </a:cubicBezTo>
                <a:cubicBezTo>
                  <a:pt x="256115" y="35719"/>
                  <a:pt x="160790" y="35719"/>
                  <a:pt x="160790" y="35719"/>
                </a:cubicBezTo>
                <a:cubicBezTo>
                  <a:pt x="160790" y="35719"/>
                  <a:pt x="65466" y="35719"/>
                  <a:pt x="41690" y="42137"/>
                </a:cubicBezTo>
                <a:cubicBezTo>
                  <a:pt x="28575" y="45653"/>
                  <a:pt x="18250" y="56034"/>
                  <a:pt x="14734" y="69261"/>
                </a:cubicBezTo>
                <a:cubicBezTo>
                  <a:pt x="8372" y="93204"/>
                  <a:pt x="8372" y="143098"/>
                  <a:pt x="8372" y="143098"/>
                </a:cubicBezTo>
                <a:cubicBezTo>
                  <a:pt x="8372" y="143098"/>
                  <a:pt x="8372" y="192993"/>
                  <a:pt x="14734" y="216936"/>
                </a:cubicBezTo>
                <a:cubicBezTo>
                  <a:pt x="18250" y="230107"/>
                  <a:pt x="28575" y="240097"/>
                  <a:pt x="41690" y="243613"/>
                </a:cubicBezTo>
                <a:cubicBezTo>
                  <a:pt x="65466" y="250031"/>
                  <a:pt x="160790" y="250031"/>
                  <a:pt x="160790" y="250031"/>
                </a:cubicBezTo>
                <a:cubicBezTo>
                  <a:pt x="160790" y="250031"/>
                  <a:pt x="256115" y="250031"/>
                  <a:pt x="279890" y="243613"/>
                </a:cubicBezTo>
                <a:cubicBezTo>
                  <a:pt x="293005" y="240097"/>
                  <a:pt x="303330" y="230107"/>
                  <a:pt x="306846" y="216936"/>
                </a:cubicBezTo>
                <a:cubicBezTo>
                  <a:pt x="313209" y="192993"/>
                  <a:pt x="313209" y="143098"/>
                  <a:pt x="313209" y="143098"/>
                </a:cubicBezTo>
                <a:cubicBezTo>
                  <a:pt x="313209" y="143098"/>
                  <a:pt x="313209" y="93204"/>
                  <a:pt x="306846" y="69261"/>
                </a:cubicBezTo>
                <a:close/>
                <a:moveTo>
                  <a:pt x="129592" y="188416"/>
                </a:moveTo>
                <a:lnTo>
                  <a:pt x="129592" y="97780"/>
                </a:lnTo>
                <a:lnTo>
                  <a:pt x="209234" y="143098"/>
                </a:lnTo>
                <a:lnTo>
                  <a:pt x="129592" y="1884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50668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 Educational Videos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00775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 combines video, audio, text (titles, descriptions, comments), and images (thumbnails).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59267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815475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Visual demonstrations + verbal explanations = better understanding.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337310"/>
            <a:ext cx="5627370" cy="2312670"/>
          </a:xfrm>
          <a:custGeom>
            <a:avLst/>
            <a:gdLst/>
            <a:ahLst/>
            <a:cxnLst/>
            <a:rect l="l" t="t" r="r" b="b"/>
            <a:pathLst>
              <a:path w="5627370" h="2312670">
                <a:moveTo>
                  <a:pt x="152405" y="0"/>
                </a:moveTo>
                <a:lnTo>
                  <a:pt x="5474965" y="0"/>
                </a:lnTo>
                <a:cubicBezTo>
                  <a:pt x="5559136" y="0"/>
                  <a:pt x="5627370" y="68234"/>
                  <a:pt x="5627370" y="152405"/>
                </a:cubicBezTo>
                <a:lnTo>
                  <a:pt x="5627370" y="2160265"/>
                </a:lnTo>
                <a:cubicBezTo>
                  <a:pt x="5627370" y="2244436"/>
                  <a:pt x="5559136" y="2312670"/>
                  <a:pt x="5474965" y="2312670"/>
                </a:cubicBezTo>
                <a:lnTo>
                  <a:pt x="152405" y="2312670"/>
                </a:lnTo>
                <a:cubicBezTo>
                  <a:pt x="68234" y="2312670"/>
                  <a:pt x="0" y="2244436"/>
                  <a:pt x="0" y="216026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6279" y="179820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7523" y="200806"/>
                </a:moveTo>
                <a:cubicBezTo>
                  <a:pt x="209345" y="182780"/>
                  <a:pt x="223242" y="155544"/>
                  <a:pt x="223242" y="125016"/>
                </a:cubicBezTo>
                <a:cubicBezTo>
                  <a:pt x="223242" y="70768"/>
                  <a:pt x="179263" y="26789"/>
                  <a:pt x="125016" y="26789"/>
                </a:cubicBezTo>
                <a:cubicBezTo>
                  <a:pt x="70768" y="26789"/>
                  <a:pt x="26789" y="70768"/>
                  <a:pt x="26789" y="125016"/>
                </a:cubicBezTo>
                <a:cubicBezTo>
                  <a:pt x="26789" y="155544"/>
                  <a:pt x="40686" y="182780"/>
                  <a:pt x="62508" y="200806"/>
                </a:cubicBezTo>
                <a:cubicBezTo>
                  <a:pt x="62731" y="210629"/>
                  <a:pt x="64294" y="223354"/>
                  <a:pt x="66080" y="235297"/>
                </a:cubicBezTo>
                <a:cubicBezTo>
                  <a:pt x="26789" y="214257"/>
                  <a:pt x="0" y="172734"/>
                  <a:pt x="0" y="125016"/>
                </a:cubicBezTo>
                <a:cubicBezTo>
                  <a:pt x="0" y="55978"/>
                  <a:pt x="55978" y="0"/>
                  <a:pt x="125016" y="0"/>
                </a:cubicBezTo>
                <a:cubicBezTo>
                  <a:pt x="194053" y="0"/>
                  <a:pt x="250031" y="55978"/>
                  <a:pt x="250031" y="125016"/>
                </a:cubicBezTo>
                <a:cubicBezTo>
                  <a:pt x="250031" y="172789"/>
                  <a:pt x="223242" y="214257"/>
                  <a:pt x="183896" y="235297"/>
                </a:cubicBezTo>
                <a:cubicBezTo>
                  <a:pt x="185738" y="223354"/>
                  <a:pt x="187244" y="210629"/>
                  <a:pt x="187468" y="200806"/>
                </a:cubicBezTo>
                <a:close/>
                <a:moveTo>
                  <a:pt x="179710" y="171004"/>
                </a:moveTo>
                <a:cubicBezTo>
                  <a:pt x="175078" y="163971"/>
                  <a:pt x="168994" y="158948"/>
                  <a:pt x="162744" y="155488"/>
                </a:cubicBezTo>
                <a:cubicBezTo>
                  <a:pt x="161572" y="154874"/>
                  <a:pt x="160400" y="154260"/>
                  <a:pt x="159227" y="153702"/>
                </a:cubicBezTo>
                <a:cubicBezTo>
                  <a:pt x="165757" y="145945"/>
                  <a:pt x="169720" y="135899"/>
                  <a:pt x="169720" y="124960"/>
                </a:cubicBezTo>
                <a:cubicBezTo>
                  <a:pt x="169720" y="100292"/>
                  <a:pt x="149740" y="80311"/>
                  <a:pt x="125071" y="80311"/>
                </a:cubicBezTo>
                <a:cubicBezTo>
                  <a:pt x="100403" y="80311"/>
                  <a:pt x="80423" y="100292"/>
                  <a:pt x="80423" y="124960"/>
                </a:cubicBezTo>
                <a:cubicBezTo>
                  <a:pt x="80423" y="135899"/>
                  <a:pt x="84386" y="145945"/>
                  <a:pt x="90915" y="153702"/>
                </a:cubicBezTo>
                <a:cubicBezTo>
                  <a:pt x="89743" y="154260"/>
                  <a:pt x="88571" y="154818"/>
                  <a:pt x="87399" y="155488"/>
                </a:cubicBezTo>
                <a:cubicBezTo>
                  <a:pt x="81149" y="158948"/>
                  <a:pt x="75065" y="163971"/>
                  <a:pt x="70433" y="171004"/>
                </a:cubicBezTo>
                <a:cubicBezTo>
                  <a:pt x="59941" y="158558"/>
                  <a:pt x="53634" y="142540"/>
                  <a:pt x="53634" y="125016"/>
                </a:cubicBezTo>
                <a:cubicBezTo>
                  <a:pt x="53634" y="85558"/>
                  <a:pt x="85613" y="53578"/>
                  <a:pt x="125071" y="53578"/>
                </a:cubicBezTo>
                <a:cubicBezTo>
                  <a:pt x="164529" y="53578"/>
                  <a:pt x="196509" y="85558"/>
                  <a:pt x="196509" y="125016"/>
                </a:cubicBezTo>
                <a:cubicBezTo>
                  <a:pt x="196509" y="142540"/>
                  <a:pt x="190202" y="158614"/>
                  <a:pt x="179710" y="171004"/>
                </a:cubicBezTo>
                <a:close/>
                <a:moveTo>
                  <a:pt x="125016" y="174129"/>
                </a:moveTo>
                <a:cubicBezTo>
                  <a:pt x="143377" y="174129"/>
                  <a:pt x="160734" y="178929"/>
                  <a:pt x="160734" y="198574"/>
                </a:cubicBezTo>
                <a:cubicBezTo>
                  <a:pt x="160734" y="216991"/>
                  <a:pt x="153535" y="256673"/>
                  <a:pt x="149237" y="272746"/>
                </a:cubicBezTo>
                <a:cubicBezTo>
                  <a:pt x="146391" y="283350"/>
                  <a:pt x="135564" y="285806"/>
                  <a:pt x="125016" y="285806"/>
                </a:cubicBezTo>
                <a:cubicBezTo>
                  <a:pt x="114467" y="285806"/>
                  <a:pt x="103696" y="283350"/>
                  <a:pt x="100794" y="272746"/>
                </a:cubicBezTo>
                <a:cubicBezTo>
                  <a:pt x="96441" y="256840"/>
                  <a:pt x="89297" y="217103"/>
                  <a:pt x="89297" y="198630"/>
                </a:cubicBezTo>
                <a:cubicBezTo>
                  <a:pt x="89297" y="179040"/>
                  <a:pt x="106654" y="174185"/>
                  <a:pt x="125016" y="174185"/>
                </a:cubicBezTo>
                <a:close/>
                <a:moveTo>
                  <a:pt x="125016" y="102691"/>
                </a:moveTo>
                <a:cubicBezTo>
                  <a:pt x="137337" y="102691"/>
                  <a:pt x="147340" y="112695"/>
                  <a:pt x="147340" y="125016"/>
                </a:cubicBezTo>
                <a:cubicBezTo>
                  <a:pt x="147340" y="137337"/>
                  <a:pt x="137337" y="147340"/>
                  <a:pt x="125016" y="147340"/>
                </a:cubicBezTo>
                <a:cubicBezTo>
                  <a:pt x="112695" y="147340"/>
                  <a:pt x="102691" y="137337"/>
                  <a:pt x="102691" y="125016"/>
                </a:cubicBezTo>
                <a:cubicBezTo>
                  <a:pt x="102691" y="112695"/>
                  <a:pt x="112695" y="102691"/>
                  <a:pt x="125016" y="1026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41807" y="1788793"/>
            <a:ext cx="272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Podcasts and Audiobooks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320" y="2245882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Audio-based multimedia with text descriptions, cover images, and show notes.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4130" y="2649742"/>
            <a:ext cx="5236845" cy="541020"/>
          </a:xfrm>
          <a:custGeom>
            <a:avLst/>
            <a:gdLst/>
            <a:ahLst/>
            <a:cxnLst/>
            <a:rect l="l" t="t" r="r" b="b"/>
            <a:pathLst>
              <a:path w="5236845" h="541020">
                <a:moveTo>
                  <a:pt x="114301" y="0"/>
                </a:moveTo>
                <a:lnTo>
                  <a:pt x="5122544" y="0"/>
                </a:lnTo>
                <a:cubicBezTo>
                  <a:pt x="5185671" y="0"/>
                  <a:pt x="5236845" y="51174"/>
                  <a:pt x="5236845" y="114301"/>
                </a:cubicBezTo>
                <a:lnTo>
                  <a:pt x="5236845" y="426719"/>
                </a:lnTo>
                <a:cubicBezTo>
                  <a:pt x="5236845" y="489846"/>
                  <a:pt x="5185671" y="541020"/>
                  <a:pt x="5122544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0340" y="2805950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 while commuting, exercising, or relaxing.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806192"/>
            <a:ext cx="5627370" cy="2084070"/>
          </a:xfrm>
          <a:custGeom>
            <a:avLst/>
            <a:gdLst/>
            <a:ahLst/>
            <a:cxnLst/>
            <a:rect l="l" t="t" r="r" b="b"/>
            <a:pathLst>
              <a:path w="5627370" h="2084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931662"/>
                </a:lnTo>
                <a:cubicBezTo>
                  <a:pt x="5627370" y="2015835"/>
                  <a:pt x="5559135" y="2084070"/>
                  <a:pt x="5474962" y="2084070"/>
                </a:cubicBezTo>
                <a:lnTo>
                  <a:pt x="152408" y="2084070"/>
                </a:lnTo>
                <a:cubicBezTo>
                  <a:pt x="68235" y="2084070"/>
                  <a:pt x="0" y="2015835"/>
                  <a:pt x="0" y="1931662"/>
                </a:cubicBezTo>
                <a:lnTo>
                  <a:pt x="0" y="152408"/>
                </a:lnTo>
                <a:cubicBezTo>
                  <a:pt x="0" y="68235"/>
                  <a:pt x="68235" y="0"/>
                  <a:pt x="1524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" y="402895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1193" y="3907"/>
                </a:moveTo>
                <a:cubicBezTo>
                  <a:pt x="265435" y="7311"/>
                  <a:pt x="267891" y="12446"/>
                  <a:pt x="267891" y="17859"/>
                </a:cubicBezTo>
                <a:lnTo>
                  <a:pt x="267891" y="187523"/>
                </a:lnTo>
                <a:cubicBezTo>
                  <a:pt x="267891" y="212192"/>
                  <a:pt x="243892" y="232172"/>
                  <a:pt x="214313" y="232172"/>
                </a:cubicBezTo>
                <a:cubicBezTo>
                  <a:pt x="184733" y="232172"/>
                  <a:pt x="160734" y="212192"/>
                  <a:pt x="160734" y="187523"/>
                </a:cubicBezTo>
                <a:cubicBezTo>
                  <a:pt x="160734" y="162855"/>
                  <a:pt x="184733" y="142875"/>
                  <a:pt x="214313" y="142875"/>
                </a:cubicBezTo>
                <a:cubicBezTo>
                  <a:pt x="220563" y="142875"/>
                  <a:pt x="226591" y="143768"/>
                  <a:pt x="232172" y="145442"/>
                </a:cubicBezTo>
                <a:lnTo>
                  <a:pt x="232172" y="80311"/>
                </a:lnTo>
                <a:lnTo>
                  <a:pt x="107156" y="108105"/>
                </a:lnTo>
                <a:lnTo>
                  <a:pt x="107156" y="223242"/>
                </a:lnTo>
                <a:cubicBezTo>
                  <a:pt x="107156" y="247910"/>
                  <a:pt x="83158" y="267891"/>
                  <a:pt x="53578" y="267891"/>
                </a:cubicBezTo>
                <a:cubicBezTo>
                  <a:pt x="23999" y="267891"/>
                  <a:pt x="0" y="247910"/>
                  <a:pt x="0" y="223242"/>
                </a:cubicBezTo>
                <a:cubicBezTo>
                  <a:pt x="0" y="198574"/>
                  <a:pt x="23999" y="178594"/>
                  <a:pt x="53578" y="178594"/>
                </a:cubicBezTo>
                <a:cubicBezTo>
                  <a:pt x="59829" y="178594"/>
                  <a:pt x="65856" y="179487"/>
                  <a:pt x="71438" y="181161"/>
                </a:cubicBezTo>
                <a:lnTo>
                  <a:pt x="71438" y="53578"/>
                </a:lnTo>
                <a:cubicBezTo>
                  <a:pt x="71438" y="45207"/>
                  <a:pt x="77242" y="37951"/>
                  <a:pt x="85446" y="36165"/>
                </a:cubicBezTo>
                <a:lnTo>
                  <a:pt x="246180" y="446"/>
                </a:lnTo>
                <a:cubicBezTo>
                  <a:pt x="251482" y="-726"/>
                  <a:pt x="257008" y="558"/>
                  <a:pt x="261249" y="39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608" y="4019550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Music Streaming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4476629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Spotify/Apple Music combine audio with album artwork, lyrics, and artist photos.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2930" y="5128139"/>
            <a:ext cx="5236845" cy="541020"/>
          </a:xfrm>
          <a:custGeom>
            <a:avLst/>
            <a:gdLst/>
            <a:ahLst/>
            <a:cxnLst/>
            <a:rect l="l" t="t" r="r" b="b"/>
            <a:pathLst>
              <a:path w="5236845" h="541020">
                <a:moveTo>
                  <a:pt x="114301" y="0"/>
                </a:moveTo>
                <a:lnTo>
                  <a:pt x="5122544" y="0"/>
                </a:lnTo>
                <a:cubicBezTo>
                  <a:pt x="5185671" y="0"/>
                  <a:pt x="5236845" y="51174"/>
                  <a:pt x="5236845" y="114301"/>
                </a:cubicBezTo>
                <a:lnTo>
                  <a:pt x="5236845" y="426719"/>
                </a:lnTo>
                <a:cubicBezTo>
                  <a:pt x="5236845" y="489846"/>
                  <a:pt x="5185671" y="541020"/>
                  <a:pt x="5122544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" y="5284357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Visual context enhances the listening experience.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3806192"/>
            <a:ext cx="5627370" cy="2084070"/>
          </a:xfrm>
          <a:custGeom>
            <a:avLst/>
            <a:gdLst/>
            <a:ahLst/>
            <a:cxnLst/>
            <a:rect l="l" t="t" r="r" b="b"/>
            <a:pathLst>
              <a:path w="5627370" h="2084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931662"/>
                </a:lnTo>
                <a:cubicBezTo>
                  <a:pt x="5627370" y="2015835"/>
                  <a:pt x="5559135" y="2084070"/>
                  <a:pt x="5474962" y="2084070"/>
                </a:cubicBezTo>
                <a:lnTo>
                  <a:pt x="152408" y="2084070"/>
                </a:lnTo>
                <a:cubicBezTo>
                  <a:pt x="68235" y="2084070"/>
                  <a:pt x="0" y="2015835"/>
                  <a:pt x="0" y="1931662"/>
                </a:cubicBezTo>
                <a:lnTo>
                  <a:pt x="0" y="152408"/>
                </a:lnTo>
                <a:cubicBezTo>
                  <a:pt x="0" y="68235"/>
                  <a:pt x="68235" y="0"/>
                  <a:pt x="15240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0561" y="403847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1807" y="4029075"/>
            <a:ext cx="272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Conferencing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4486154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Zoom/Teams combine live video, audio, screen sharing, and chat messages.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4130" y="4890014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0340" y="5046232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works: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Multiple communication channels for effective remote learning.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6008374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Four labeled boxes showing each example with icons | Image: Screenshots of YouTube, Spotify, and Zoom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895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Multimedia in Real Life (Part 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and Interactive Media examples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274570"/>
          </a:xfrm>
          <a:custGeom>
            <a:avLst/>
            <a:gdLst/>
            <a:ahLst/>
            <a:cxnLst/>
            <a:rect l="l" t="t" r="r" b="b"/>
            <a:pathLst>
              <a:path w="5627370" h="2274570">
                <a:moveTo>
                  <a:pt x="152396" y="0"/>
                </a:moveTo>
                <a:lnTo>
                  <a:pt x="5474974" y="0"/>
                </a:lnTo>
                <a:cubicBezTo>
                  <a:pt x="5559140" y="0"/>
                  <a:pt x="5627370" y="68230"/>
                  <a:pt x="5627370" y="152396"/>
                </a:cubicBezTo>
                <a:lnTo>
                  <a:pt x="5627370" y="2122174"/>
                </a:lnTo>
                <a:cubicBezTo>
                  <a:pt x="5627370" y="2206340"/>
                  <a:pt x="5559140" y="2274570"/>
                  <a:pt x="547497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410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809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Explainer Videos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 animations that explain complex topics simply, using motion graphics, narration, and text.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7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Crash Course uses animations to teach science, history, and literature.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337310"/>
            <a:ext cx="5627370" cy="2274570"/>
          </a:xfrm>
          <a:custGeom>
            <a:avLst/>
            <a:gdLst/>
            <a:ahLst/>
            <a:cxnLst/>
            <a:rect l="l" t="t" r="r" b="b"/>
            <a:pathLst>
              <a:path w="5627370" h="2274570">
                <a:moveTo>
                  <a:pt x="152396" y="0"/>
                </a:moveTo>
                <a:lnTo>
                  <a:pt x="5474974" y="0"/>
                </a:lnTo>
                <a:cubicBezTo>
                  <a:pt x="5559140" y="0"/>
                  <a:pt x="5627370" y="68230"/>
                  <a:pt x="5627370" y="152396"/>
                </a:cubicBezTo>
                <a:lnTo>
                  <a:pt x="5627370" y="2122174"/>
                </a:lnTo>
                <a:cubicBezTo>
                  <a:pt x="5627370" y="2206340"/>
                  <a:pt x="5559140" y="2274570"/>
                  <a:pt x="547497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2701" y="166485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9" y="53578"/>
                </a:moveTo>
                <a:cubicBezTo>
                  <a:pt x="35719" y="33877"/>
                  <a:pt x="51736" y="17859"/>
                  <a:pt x="71438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71438" y="53578"/>
                </a:lnTo>
                <a:lnTo>
                  <a:pt x="71438" y="187523"/>
                </a:lnTo>
                <a:lnTo>
                  <a:pt x="35719" y="187523"/>
                </a:lnTo>
                <a:lnTo>
                  <a:pt x="35719" y="53578"/>
                </a:lnTo>
                <a:close/>
                <a:moveTo>
                  <a:pt x="0" y="225028"/>
                </a:moveTo>
                <a:cubicBezTo>
                  <a:pt x="0" y="219112"/>
                  <a:pt x="4800" y="214313"/>
                  <a:pt x="10716" y="214313"/>
                </a:cubicBezTo>
                <a:lnTo>
                  <a:pt x="346472" y="214313"/>
                </a:lnTo>
                <a:cubicBezTo>
                  <a:pt x="352388" y="214313"/>
                  <a:pt x="357188" y="219112"/>
                  <a:pt x="357188" y="225028"/>
                </a:cubicBezTo>
                <a:cubicBezTo>
                  <a:pt x="357188" y="248692"/>
                  <a:pt x="337989" y="267891"/>
                  <a:pt x="314325" y="267891"/>
                </a:cubicBezTo>
                <a:lnTo>
                  <a:pt x="42863" y="267891"/>
                </a:lnTo>
                <a:cubicBezTo>
                  <a:pt x="19199" y="267891"/>
                  <a:pt x="0" y="248692"/>
                  <a:pt x="0" y="225028"/>
                </a:cubicBezTo>
                <a:close/>
                <a:moveTo>
                  <a:pt x="156828" y="116644"/>
                </a:moveTo>
                <a:lnTo>
                  <a:pt x="139526" y="133945"/>
                </a:lnTo>
                <a:lnTo>
                  <a:pt x="156828" y="151247"/>
                </a:lnTo>
                <a:cubicBezTo>
                  <a:pt x="162074" y="156493"/>
                  <a:pt x="162074" y="164976"/>
                  <a:pt x="156828" y="170166"/>
                </a:cubicBezTo>
                <a:cubicBezTo>
                  <a:pt x="151581" y="175357"/>
                  <a:pt x="143098" y="175413"/>
                  <a:pt x="137908" y="170166"/>
                </a:cubicBezTo>
                <a:lnTo>
                  <a:pt x="111119" y="143377"/>
                </a:lnTo>
                <a:cubicBezTo>
                  <a:pt x="105873" y="138131"/>
                  <a:pt x="105873" y="129648"/>
                  <a:pt x="111119" y="124458"/>
                </a:cubicBezTo>
                <a:lnTo>
                  <a:pt x="137908" y="97668"/>
                </a:lnTo>
                <a:cubicBezTo>
                  <a:pt x="143154" y="92422"/>
                  <a:pt x="151637" y="92422"/>
                  <a:pt x="156828" y="97668"/>
                </a:cubicBezTo>
                <a:cubicBezTo>
                  <a:pt x="162018" y="102915"/>
                  <a:pt x="162074" y="111398"/>
                  <a:pt x="156828" y="116588"/>
                </a:cubicBezTo>
                <a:close/>
                <a:moveTo>
                  <a:pt x="219335" y="97668"/>
                </a:moveTo>
                <a:lnTo>
                  <a:pt x="246125" y="124458"/>
                </a:lnTo>
                <a:cubicBezTo>
                  <a:pt x="251371" y="129704"/>
                  <a:pt x="251371" y="138187"/>
                  <a:pt x="246125" y="143377"/>
                </a:cubicBezTo>
                <a:lnTo>
                  <a:pt x="219335" y="170166"/>
                </a:lnTo>
                <a:cubicBezTo>
                  <a:pt x="214089" y="175413"/>
                  <a:pt x="205606" y="175413"/>
                  <a:pt x="200416" y="170166"/>
                </a:cubicBezTo>
                <a:cubicBezTo>
                  <a:pt x="195225" y="164920"/>
                  <a:pt x="195169" y="156437"/>
                  <a:pt x="200416" y="151247"/>
                </a:cubicBezTo>
                <a:lnTo>
                  <a:pt x="217717" y="133945"/>
                </a:lnTo>
                <a:lnTo>
                  <a:pt x="200416" y="116644"/>
                </a:lnTo>
                <a:cubicBezTo>
                  <a:pt x="195169" y="111398"/>
                  <a:pt x="195169" y="102915"/>
                  <a:pt x="200416" y="97724"/>
                </a:cubicBezTo>
                <a:cubicBezTo>
                  <a:pt x="205662" y="92534"/>
                  <a:pt x="214145" y="92478"/>
                  <a:pt x="219335" y="9772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41807" y="1655443"/>
            <a:ext cx="321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E-Learning Courses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320" y="2112532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courses with videos, quizzes, simulations, and interactive exercises.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4130" y="2516392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0340" y="2672600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Duolingo uses interactive lessons with audio, images, and instant feedback.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767971"/>
            <a:ext cx="5627370" cy="2274570"/>
          </a:xfrm>
          <a:custGeom>
            <a:avLst/>
            <a:gdLst/>
            <a:ahLst/>
            <a:cxnLst/>
            <a:rect l="l" t="t" r="r" b="b"/>
            <a:pathLst>
              <a:path w="5627370" h="2274570">
                <a:moveTo>
                  <a:pt x="152396" y="0"/>
                </a:moveTo>
                <a:lnTo>
                  <a:pt x="5474974" y="0"/>
                </a:lnTo>
                <a:cubicBezTo>
                  <a:pt x="5559140" y="0"/>
                  <a:pt x="5627370" y="68230"/>
                  <a:pt x="5627370" y="152396"/>
                </a:cubicBezTo>
                <a:lnTo>
                  <a:pt x="5627370" y="2122174"/>
                </a:lnTo>
                <a:cubicBezTo>
                  <a:pt x="5627370" y="2206340"/>
                  <a:pt x="5559140" y="2274570"/>
                  <a:pt x="547497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01" y="397169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0608" y="3962279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Games with Storylines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441936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combine video, audio, text, and interactivity to create immersive experiences.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2930" y="5070877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" y="5227086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Minecraft Education teaches math, science, and coding through gameplay.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3767971"/>
            <a:ext cx="5627370" cy="2274570"/>
          </a:xfrm>
          <a:custGeom>
            <a:avLst/>
            <a:gdLst/>
            <a:ahLst/>
            <a:cxnLst/>
            <a:rect l="l" t="t" r="r" b="b"/>
            <a:pathLst>
              <a:path w="5627370" h="2274570">
                <a:moveTo>
                  <a:pt x="152396" y="0"/>
                </a:moveTo>
                <a:lnTo>
                  <a:pt x="5474974" y="0"/>
                </a:lnTo>
                <a:cubicBezTo>
                  <a:pt x="5559140" y="0"/>
                  <a:pt x="5627370" y="68230"/>
                  <a:pt x="5627370" y="152396"/>
                </a:cubicBezTo>
                <a:lnTo>
                  <a:pt x="5627370" y="2122174"/>
                </a:lnTo>
                <a:cubicBezTo>
                  <a:pt x="5627370" y="2206340"/>
                  <a:pt x="5559140" y="2274570"/>
                  <a:pt x="547497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0561" y="397169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750" y="53578"/>
                </a:move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01296" y="232172"/>
                </a:lnTo>
                <a:cubicBezTo>
                  <a:pt x="110784" y="232172"/>
                  <a:pt x="119881" y="228433"/>
                  <a:pt x="126578" y="221735"/>
                </a:cubicBezTo>
                <a:lnTo>
                  <a:pt x="145498" y="202816"/>
                </a:lnTo>
                <a:cubicBezTo>
                  <a:pt x="149516" y="198797"/>
                  <a:pt x="155042" y="196509"/>
                  <a:pt x="160734" y="196509"/>
                </a:cubicBezTo>
                <a:cubicBezTo>
                  <a:pt x="166427" y="196509"/>
                  <a:pt x="171952" y="198797"/>
                  <a:pt x="175971" y="202816"/>
                </a:cubicBezTo>
                <a:lnTo>
                  <a:pt x="194890" y="221735"/>
                </a:lnTo>
                <a:cubicBezTo>
                  <a:pt x="201588" y="228433"/>
                  <a:pt x="210685" y="232172"/>
                  <a:pt x="220173" y="232172"/>
                </a:cubicBezTo>
                <a:lnTo>
                  <a:pt x="285750" y="232172"/>
                </a:lnTo>
                <a:cubicBezTo>
                  <a:pt x="305451" y="232172"/>
                  <a:pt x="321469" y="216154"/>
                  <a:pt x="321469" y="196453"/>
                </a:cubicBezTo>
                <a:lnTo>
                  <a:pt x="321469" y="89297"/>
                </a:lnTo>
                <a:cubicBezTo>
                  <a:pt x="321469" y="69596"/>
                  <a:pt x="305451" y="53578"/>
                  <a:pt x="285750" y="53578"/>
                </a:cubicBezTo>
                <a:close/>
                <a:moveTo>
                  <a:pt x="44648" y="133945"/>
                </a:moveTo>
                <a:cubicBezTo>
                  <a:pt x="44648" y="114232"/>
                  <a:pt x="60653" y="98227"/>
                  <a:pt x="80367" y="98227"/>
                </a:cubicBezTo>
                <a:cubicBezTo>
                  <a:pt x="100081" y="98227"/>
                  <a:pt x="116086" y="114232"/>
                  <a:pt x="116086" y="133945"/>
                </a:cubicBezTo>
                <a:cubicBezTo>
                  <a:pt x="116086" y="153659"/>
                  <a:pt x="100081" y="169664"/>
                  <a:pt x="80367" y="169664"/>
                </a:cubicBezTo>
                <a:cubicBezTo>
                  <a:pt x="60653" y="169664"/>
                  <a:pt x="44648" y="153659"/>
                  <a:pt x="44648" y="133945"/>
                </a:cubicBezTo>
                <a:close/>
                <a:moveTo>
                  <a:pt x="241102" y="98227"/>
                </a:moveTo>
                <a:cubicBezTo>
                  <a:pt x="260815" y="98227"/>
                  <a:pt x="276820" y="114232"/>
                  <a:pt x="276820" y="133945"/>
                </a:cubicBezTo>
                <a:cubicBezTo>
                  <a:pt x="276820" y="153659"/>
                  <a:pt x="260815" y="169664"/>
                  <a:pt x="241102" y="169664"/>
                </a:cubicBezTo>
                <a:cubicBezTo>
                  <a:pt x="221388" y="169664"/>
                  <a:pt x="205383" y="153659"/>
                  <a:pt x="205383" y="133945"/>
                </a:cubicBezTo>
                <a:cubicBezTo>
                  <a:pt x="205383" y="114232"/>
                  <a:pt x="221388" y="98227"/>
                  <a:pt x="241102" y="982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1807" y="3962279"/>
            <a:ext cx="330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Reality (VR) Experiences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441936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 creates immersive 3D environments with visuals, audio, and interactive elements.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4130" y="5070877"/>
            <a:ext cx="5236845" cy="769620"/>
          </a:xfrm>
          <a:custGeom>
            <a:avLst/>
            <a:gdLst/>
            <a:ahLst/>
            <a:cxnLst/>
            <a:rect l="l" t="t" r="r" b="b"/>
            <a:pathLst>
              <a:path w="5236845" h="7696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655324"/>
                </a:lnTo>
                <a:cubicBezTo>
                  <a:pt x="5236845" y="718448"/>
                  <a:pt x="5185673" y="769620"/>
                  <a:pt x="51225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0340" y="5227086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Google Expeditions lets students explore the Great Barrier Reef virtually.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6160532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27864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Four labeled boxes showing each example with icons | Image: Screenshots of Duolingo, Minecraft Education, and VR headset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350" y="347350"/>
            <a:ext cx="69470" cy="416821"/>
          </a:xfrm>
          <a:custGeom>
            <a:avLst/>
            <a:gdLst/>
            <a:ahLst/>
            <a:cxnLst/>
            <a:rect l="l" t="t" r="r" b="b"/>
            <a:pathLst>
              <a:path w="69470" h="416821">
                <a:moveTo>
                  <a:pt x="34735" y="0"/>
                </a:moveTo>
                <a:lnTo>
                  <a:pt x="34735" y="0"/>
                </a:lnTo>
                <a:cubicBezTo>
                  <a:pt x="53906" y="0"/>
                  <a:pt x="69470" y="15564"/>
                  <a:pt x="69470" y="34735"/>
                </a:cubicBezTo>
                <a:lnTo>
                  <a:pt x="69470" y="382085"/>
                </a:lnTo>
                <a:cubicBezTo>
                  <a:pt x="69470" y="401269"/>
                  <a:pt x="53919" y="416821"/>
                  <a:pt x="34735" y="416821"/>
                </a:cubicBezTo>
                <a:lnTo>
                  <a:pt x="34735" y="416821"/>
                </a:lnTo>
                <a:cubicBezTo>
                  <a:pt x="15551" y="416821"/>
                  <a:pt x="0" y="401269"/>
                  <a:pt x="0" y="38208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21026" y="347350"/>
            <a:ext cx="5271043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Hypermedia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1026" y="833641"/>
            <a:ext cx="1140177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 into how hypermedia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824" y="1219200"/>
            <a:ext cx="6841067" cy="3011528"/>
          </a:xfrm>
          <a:custGeom>
            <a:avLst/>
            <a:gdLst/>
            <a:ahLst/>
            <a:cxnLst/>
            <a:rect l="l" t="t" r="r" b="b"/>
            <a:pathLst>
              <a:path w="6841067" h="3011528">
                <a:moveTo>
                  <a:pt x="138952" y="0"/>
                </a:moveTo>
                <a:lnTo>
                  <a:pt x="6702115" y="0"/>
                </a:lnTo>
                <a:cubicBezTo>
                  <a:pt x="6778856" y="0"/>
                  <a:pt x="6841067" y="62211"/>
                  <a:pt x="6841067" y="138952"/>
                </a:cubicBezTo>
                <a:lnTo>
                  <a:pt x="6841067" y="2872576"/>
                </a:lnTo>
                <a:cubicBezTo>
                  <a:pt x="6841067" y="2949317"/>
                  <a:pt x="6778856" y="3011528"/>
                  <a:pt x="6702115" y="3011528"/>
                </a:cubicBezTo>
                <a:lnTo>
                  <a:pt x="138952" y="3011528"/>
                </a:lnTo>
                <a:cubicBezTo>
                  <a:pt x="62262" y="3011528"/>
                  <a:pt x="0" y="2949266"/>
                  <a:pt x="0" y="2872576"/>
                </a:cubicBezTo>
                <a:lnTo>
                  <a:pt x="0" y="138952"/>
                </a:lnTo>
                <a:cubicBezTo>
                  <a:pt x="0" y="62262"/>
                  <a:pt x="62262" y="0"/>
                  <a:pt x="13895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708" y="1404929"/>
            <a:ext cx="260513" cy="260513"/>
          </a:xfrm>
          <a:custGeom>
            <a:avLst/>
            <a:gdLst/>
            <a:ahLst/>
            <a:cxnLst/>
            <a:rect l="l" t="t" r="r" b="b"/>
            <a:pathLst>
              <a:path w="260513" h="260513">
                <a:moveTo>
                  <a:pt x="0" y="40705"/>
                </a:moveTo>
                <a:cubicBezTo>
                  <a:pt x="0" y="27222"/>
                  <a:pt x="10940" y="16282"/>
                  <a:pt x="24423" y="16282"/>
                </a:cubicBezTo>
                <a:lnTo>
                  <a:pt x="73269" y="16282"/>
                </a:lnTo>
                <a:cubicBezTo>
                  <a:pt x="86753" y="16282"/>
                  <a:pt x="97692" y="27222"/>
                  <a:pt x="97692" y="40705"/>
                </a:cubicBezTo>
                <a:lnTo>
                  <a:pt x="97692" y="48846"/>
                </a:lnTo>
                <a:lnTo>
                  <a:pt x="162821" y="48846"/>
                </a:lnTo>
                <a:lnTo>
                  <a:pt x="162821" y="40705"/>
                </a:lnTo>
                <a:cubicBezTo>
                  <a:pt x="162821" y="27222"/>
                  <a:pt x="173760" y="16282"/>
                  <a:pt x="187244" y="16282"/>
                </a:cubicBezTo>
                <a:lnTo>
                  <a:pt x="236090" y="16282"/>
                </a:lnTo>
                <a:cubicBezTo>
                  <a:pt x="249573" y="16282"/>
                  <a:pt x="260513" y="27222"/>
                  <a:pt x="260513" y="40705"/>
                </a:cubicBezTo>
                <a:lnTo>
                  <a:pt x="260513" y="89551"/>
                </a:lnTo>
                <a:cubicBezTo>
                  <a:pt x="260513" y="103035"/>
                  <a:pt x="249573" y="113974"/>
                  <a:pt x="236090" y="113974"/>
                </a:cubicBezTo>
                <a:lnTo>
                  <a:pt x="187244" y="113974"/>
                </a:lnTo>
                <a:cubicBezTo>
                  <a:pt x="173760" y="113974"/>
                  <a:pt x="162821" y="103035"/>
                  <a:pt x="162821" y="89551"/>
                </a:cubicBezTo>
                <a:lnTo>
                  <a:pt x="162821" y="81410"/>
                </a:lnTo>
                <a:lnTo>
                  <a:pt x="97692" y="81410"/>
                </a:lnTo>
                <a:lnTo>
                  <a:pt x="97692" y="89551"/>
                </a:lnTo>
                <a:cubicBezTo>
                  <a:pt x="97692" y="93266"/>
                  <a:pt x="96827" y="96827"/>
                  <a:pt x="95352" y="99982"/>
                </a:cubicBezTo>
                <a:lnTo>
                  <a:pt x="130256" y="146538"/>
                </a:lnTo>
                <a:lnTo>
                  <a:pt x="170962" y="146538"/>
                </a:lnTo>
                <a:cubicBezTo>
                  <a:pt x="184445" y="146538"/>
                  <a:pt x="195385" y="157478"/>
                  <a:pt x="195385" y="170962"/>
                </a:cubicBezTo>
                <a:lnTo>
                  <a:pt x="195385" y="219808"/>
                </a:lnTo>
                <a:cubicBezTo>
                  <a:pt x="195385" y="233291"/>
                  <a:pt x="184445" y="244231"/>
                  <a:pt x="170962" y="244231"/>
                </a:cubicBezTo>
                <a:lnTo>
                  <a:pt x="122115" y="244231"/>
                </a:lnTo>
                <a:cubicBezTo>
                  <a:pt x="108632" y="244231"/>
                  <a:pt x="97692" y="233291"/>
                  <a:pt x="97692" y="219808"/>
                </a:cubicBezTo>
                <a:lnTo>
                  <a:pt x="97692" y="170962"/>
                </a:lnTo>
                <a:cubicBezTo>
                  <a:pt x="97692" y="167247"/>
                  <a:pt x="98557" y="163685"/>
                  <a:pt x="100033" y="160531"/>
                </a:cubicBezTo>
                <a:lnTo>
                  <a:pt x="65128" y="113974"/>
                </a:lnTo>
                <a:lnTo>
                  <a:pt x="24423" y="113974"/>
                </a:lnTo>
                <a:cubicBezTo>
                  <a:pt x="10940" y="113974"/>
                  <a:pt x="0" y="103035"/>
                  <a:pt x="0" y="89551"/>
                </a:cubicBezTo>
                <a:lnTo>
                  <a:pt x="0" y="4070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57819" y="1396347"/>
            <a:ext cx="2344615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Hypermedia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973" y="1813066"/>
            <a:ext cx="6556239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creates a web of connected content. Clicking one media element leads to related content in different formats.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1446" y="2407035"/>
            <a:ext cx="6476349" cy="1639494"/>
          </a:xfrm>
          <a:custGeom>
            <a:avLst/>
            <a:gdLst/>
            <a:ahLst/>
            <a:cxnLst/>
            <a:rect l="l" t="t" r="r" b="b"/>
            <a:pathLst>
              <a:path w="6476349" h="1639494">
                <a:moveTo>
                  <a:pt x="104206" y="0"/>
                </a:moveTo>
                <a:lnTo>
                  <a:pt x="6372142" y="0"/>
                </a:lnTo>
                <a:cubicBezTo>
                  <a:pt x="6429694" y="0"/>
                  <a:pt x="6476349" y="46655"/>
                  <a:pt x="6476349" y="104206"/>
                </a:cubicBezTo>
                <a:lnTo>
                  <a:pt x="6476349" y="1535288"/>
                </a:lnTo>
                <a:cubicBezTo>
                  <a:pt x="6476349" y="1592839"/>
                  <a:pt x="6429694" y="1639494"/>
                  <a:pt x="6372142" y="1639494"/>
                </a:cubicBezTo>
                <a:lnTo>
                  <a:pt x="104206" y="1639494"/>
                </a:lnTo>
                <a:cubicBezTo>
                  <a:pt x="46655" y="1639494"/>
                  <a:pt x="0" y="1592839"/>
                  <a:pt x="0" y="1535288"/>
                </a:cubicBezTo>
                <a:lnTo>
                  <a:pt x="0" y="104206"/>
                </a:lnTo>
                <a:cubicBezTo>
                  <a:pt x="0" y="46655"/>
                  <a:pt x="46655" y="0"/>
                  <a:pt x="10420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860" y="2549447"/>
            <a:ext cx="1153095" cy="20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Journey: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860" y="2862062"/>
            <a:ext cx="62609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Read article about space (text)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860" y="3139943"/>
            <a:ext cx="62609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Click photo → see video of rocket launch (video)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860" y="3417823"/>
            <a:ext cx="62609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Click diagram → hear astronaut interview (audio)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860" y="3695703"/>
            <a:ext cx="62609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Click map → explore 3D model of space station (interactive)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0824" y="4373033"/>
            <a:ext cx="6841067" cy="1952109"/>
          </a:xfrm>
          <a:custGeom>
            <a:avLst/>
            <a:gdLst/>
            <a:ahLst/>
            <a:cxnLst/>
            <a:rect l="l" t="t" r="r" b="b"/>
            <a:pathLst>
              <a:path w="6841067" h="1952109">
                <a:moveTo>
                  <a:pt x="138932" y="0"/>
                </a:moveTo>
                <a:lnTo>
                  <a:pt x="6702135" y="0"/>
                </a:lnTo>
                <a:cubicBezTo>
                  <a:pt x="6778865" y="0"/>
                  <a:pt x="6841067" y="62202"/>
                  <a:pt x="6841067" y="138932"/>
                </a:cubicBezTo>
                <a:lnTo>
                  <a:pt x="6841067" y="1813178"/>
                </a:lnTo>
                <a:cubicBezTo>
                  <a:pt x="6841067" y="1889908"/>
                  <a:pt x="6778865" y="1952109"/>
                  <a:pt x="6702135" y="1952109"/>
                </a:cubicBezTo>
                <a:lnTo>
                  <a:pt x="138932" y="1952109"/>
                </a:lnTo>
                <a:cubicBezTo>
                  <a:pt x="62202" y="1952109"/>
                  <a:pt x="0" y="1889908"/>
                  <a:pt x="0" y="1813178"/>
                </a:cubicBezTo>
                <a:lnTo>
                  <a:pt x="0" y="138932"/>
                </a:lnTo>
                <a:cubicBezTo>
                  <a:pt x="0" y="62202"/>
                  <a:pt x="62202" y="0"/>
                  <a:pt x="1389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708" y="4558762"/>
            <a:ext cx="260513" cy="260513"/>
          </a:xfrm>
          <a:custGeom>
            <a:avLst/>
            <a:gdLst/>
            <a:ahLst/>
            <a:cxnLst/>
            <a:rect l="l" t="t" r="r" b="b"/>
            <a:pathLst>
              <a:path w="260513" h="260513">
                <a:moveTo>
                  <a:pt x="68079" y="18470"/>
                </a:moveTo>
                <a:cubicBezTo>
                  <a:pt x="73625" y="22337"/>
                  <a:pt x="74948" y="29969"/>
                  <a:pt x="71081" y="35464"/>
                </a:cubicBezTo>
                <a:lnTo>
                  <a:pt x="42588" y="76169"/>
                </a:lnTo>
                <a:cubicBezTo>
                  <a:pt x="40502" y="79121"/>
                  <a:pt x="37245" y="81003"/>
                  <a:pt x="33633" y="81308"/>
                </a:cubicBezTo>
                <a:cubicBezTo>
                  <a:pt x="30020" y="81614"/>
                  <a:pt x="26458" y="80393"/>
                  <a:pt x="23914" y="77849"/>
                </a:cubicBezTo>
                <a:lnTo>
                  <a:pt x="3562" y="57496"/>
                </a:lnTo>
                <a:cubicBezTo>
                  <a:pt x="-1170" y="52713"/>
                  <a:pt x="-1170" y="44979"/>
                  <a:pt x="3562" y="40196"/>
                </a:cubicBezTo>
                <a:cubicBezTo>
                  <a:pt x="8294" y="35413"/>
                  <a:pt x="16079" y="35464"/>
                  <a:pt x="20861" y="40196"/>
                </a:cubicBezTo>
                <a:lnTo>
                  <a:pt x="30936" y="50271"/>
                </a:lnTo>
                <a:lnTo>
                  <a:pt x="51085" y="21472"/>
                </a:lnTo>
                <a:cubicBezTo>
                  <a:pt x="54952" y="15926"/>
                  <a:pt x="62584" y="14603"/>
                  <a:pt x="68079" y="18470"/>
                </a:cubicBezTo>
                <a:close/>
                <a:moveTo>
                  <a:pt x="68079" y="99880"/>
                </a:moveTo>
                <a:cubicBezTo>
                  <a:pt x="73625" y="103747"/>
                  <a:pt x="74948" y="111379"/>
                  <a:pt x="71081" y="116875"/>
                </a:cubicBezTo>
                <a:lnTo>
                  <a:pt x="42588" y="157580"/>
                </a:lnTo>
                <a:cubicBezTo>
                  <a:pt x="40502" y="160531"/>
                  <a:pt x="37245" y="162413"/>
                  <a:pt x="33633" y="162719"/>
                </a:cubicBezTo>
                <a:cubicBezTo>
                  <a:pt x="30020" y="163024"/>
                  <a:pt x="26458" y="161803"/>
                  <a:pt x="23914" y="159259"/>
                </a:cubicBezTo>
                <a:lnTo>
                  <a:pt x="3562" y="138906"/>
                </a:lnTo>
                <a:cubicBezTo>
                  <a:pt x="-1221" y="134123"/>
                  <a:pt x="-1221" y="126389"/>
                  <a:pt x="3562" y="121657"/>
                </a:cubicBezTo>
                <a:cubicBezTo>
                  <a:pt x="8345" y="116925"/>
                  <a:pt x="16079" y="116875"/>
                  <a:pt x="20810" y="121657"/>
                </a:cubicBezTo>
                <a:lnTo>
                  <a:pt x="30885" y="131732"/>
                </a:lnTo>
                <a:lnTo>
                  <a:pt x="51034" y="102933"/>
                </a:lnTo>
                <a:cubicBezTo>
                  <a:pt x="54901" y="97387"/>
                  <a:pt x="62533" y="96064"/>
                  <a:pt x="68028" y="99931"/>
                </a:cubicBezTo>
                <a:close/>
                <a:moveTo>
                  <a:pt x="113974" y="48846"/>
                </a:moveTo>
                <a:cubicBezTo>
                  <a:pt x="113974" y="39840"/>
                  <a:pt x="121250" y="32564"/>
                  <a:pt x="130256" y="32564"/>
                </a:cubicBezTo>
                <a:lnTo>
                  <a:pt x="244231" y="32564"/>
                </a:lnTo>
                <a:cubicBezTo>
                  <a:pt x="253237" y="32564"/>
                  <a:pt x="260513" y="39840"/>
                  <a:pt x="260513" y="48846"/>
                </a:cubicBezTo>
                <a:cubicBezTo>
                  <a:pt x="260513" y="57852"/>
                  <a:pt x="253237" y="65128"/>
                  <a:pt x="244231" y="65128"/>
                </a:cubicBezTo>
                <a:lnTo>
                  <a:pt x="130256" y="65128"/>
                </a:lnTo>
                <a:cubicBezTo>
                  <a:pt x="121250" y="65128"/>
                  <a:pt x="113974" y="57852"/>
                  <a:pt x="113974" y="48846"/>
                </a:cubicBezTo>
                <a:close/>
                <a:moveTo>
                  <a:pt x="113974" y="130256"/>
                </a:moveTo>
                <a:cubicBezTo>
                  <a:pt x="113974" y="121250"/>
                  <a:pt x="121250" y="113974"/>
                  <a:pt x="130256" y="113974"/>
                </a:cubicBezTo>
                <a:lnTo>
                  <a:pt x="244231" y="113974"/>
                </a:lnTo>
                <a:cubicBezTo>
                  <a:pt x="253237" y="113974"/>
                  <a:pt x="260513" y="121250"/>
                  <a:pt x="260513" y="130256"/>
                </a:cubicBezTo>
                <a:cubicBezTo>
                  <a:pt x="260513" y="139262"/>
                  <a:pt x="253237" y="146538"/>
                  <a:pt x="244231" y="146538"/>
                </a:cubicBezTo>
                <a:lnTo>
                  <a:pt x="130256" y="146538"/>
                </a:lnTo>
                <a:cubicBezTo>
                  <a:pt x="121250" y="146538"/>
                  <a:pt x="113974" y="139262"/>
                  <a:pt x="113974" y="130256"/>
                </a:cubicBezTo>
                <a:close/>
                <a:moveTo>
                  <a:pt x="81410" y="211667"/>
                </a:moveTo>
                <a:cubicBezTo>
                  <a:pt x="81410" y="202661"/>
                  <a:pt x="88686" y="195385"/>
                  <a:pt x="97692" y="195385"/>
                </a:cubicBezTo>
                <a:lnTo>
                  <a:pt x="244231" y="195385"/>
                </a:lnTo>
                <a:cubicBezTo>
                  <a:pt x="253237" y="195385"/>
                  <a:pt x="260513" y="202661"/>
                  <a:pt x="260513" y="211667"/>
                </a:cubicBezTo>
                <a:cubicBezTo>
                  <a:pt x="260513" y="220673"/>
                  <a:pt x="253237" y="227949"/>
                  <a:pt x="244231" y="227949"/>
                </a:cubicBezTo>
                <a:lnTo>
                  <a:pt x="97692" y="227949"/>
                </a:lnTo>
                <a:cubicBezTo>
                  <a:pt x="88686" y="227949"/>
                  <a:pt x="81410" y="220673"/>
                  <a:pt x="81410" y="211667"/>
                </a:cubicBezTo>
                <a:close/>
                <a:moveTo>
                  <a:pt x="32564" y="191314"/>
                </a:moveTo>
                <a:cubicBezTo>
                  <a:pt x="43797" y="191314"/>
                  <a:pt x="52917" y="200434"/>
                  <a:pt x="52917" y="211667"/>
                </a:cubicBezTo>
                <a:cubicBezTo>
                  <a:pt x="52917" y="222900"/>
                  <a:pt x="43797" y="232019"/>
                  <a:pt x="32564" y="232019"/>
                </a:cubicBezTo>
                <a:cubicBezTo>
                  <a:pt x="21331" y="232019"/>
                  <a:pt x="12212" y="222900"/>
                  <a:pt x="12212" y="211667"/>
                </a:cubicBezTo>
                <a:cubicBezTo>
                  <a:pt x="12212" y="200434"/>
                  <a:pt x="21331" y="191314"/>
                  <a:pt x="32564" y="19131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957819" y="4550180"/>
            <a:ext cx="1884376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973" y="5001634"/>
            <a:ext cx="121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437" y="4966899"/>
            <a:ext cx="138071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navigation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7973" y="5314250"/>
            <a:ext cx="121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437" y="5279514"/>
            <a:ext cx="202331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media types connected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7973" y="5626865"/>
            <a:ext cx="121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437" y="5592130"/>
            <a:ext cx="174543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User-controlled exploration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973" y="5939480"/>
            <a:ext cx="121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437" y="5904745"/>
            <a:ext cx="205805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Rich, layered content experience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34847" y="1219200"/>
            <a:ext cx="4513819" cy="2481819"/>
          </a:xfrm>
          <a:custGeom>
            <a:avLst/>
            <a:gdLst/>
            <a:ahLst/>
            <a:cxnLst/>
            <a:rect l="l" t="t" r="r" b="b"/>
            <a:pathLst>
              <a:path w="4513819" h="2481819">
                <a:moveTo>
                  <a:pt x="138932" y="0"/>
                </a:moveTo>
                <a:lnTo>
                  <a:pt x="4374887" y="0"/>
                </a:lnTo>
                <a:cubicBezTo>
                  <a:pt x="4451617" y="0"/>
                  <a:pt x="4513819" y="62202"/>
                  <a:pt x="4513819" y="138932"/>
                </a:cubicBezTo>
                <a:lnTo>
                  <a:pt x="4513819" y="2342887"/>
                </a:lnTo>
                <a:cubicBezTo>
                  <a:pt x="4513819" y="2419617"/>
                  <a:pt x="4451617" y="2481819"/>
                  <a:pt x="4374887" y="2481819"/>
                </a:cubicBezTo>
                <a:lnTo>
                  <a:pt x="138932" y="2481819"/>
                </a:lnTo>
                <a:cubicBezTo>
                  <a:pt x="62202" y="2481819"/>
                  <a:pt x="0" y="2419617"/>
                  <a:pt x="0" y="2342887"/>
                </a:cubicBezTo>
                <a:lnTo>
                  <a:pt x="0" y="138932"/>
                </a:lnTo>
                <a:cubicBezTo>
                  <a:pt x="0" y="62202"/>
                  <a:pt x="62202" y="0"/>
                  <a:pt x="1389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79295" y="2050996"/>
            <a:ext cx="195385" cy="260513"/>
          </a:xfrm>
          <a:custGeom>
            <a:avLst/>
            <a:gdLst/>
            <a:ahLst/>
            <a:cxnLst/>
            <a:rect l="l" t="t" r="r" b="b"/>
            <a:pathLst>
              <a:path w="195385" h="260513">
                <a:moveTo>
                  <a:pt x="149032" y="195385"/>
                </a:moveTo>
                <a:cubicBezTo>
                  <a:pt x="152746" y="184038"/>
                  <a:pt x="160175" y="173760"/>
                  <a:pt x="168570" y="164907"/>
                </a:cubicBezTo>
                <a:cubicBezTo>
                  <a:pt x="185208" y="147403"/>
                  <a:pt x="195385" y="123744"/>
                  <a:pt x="195385" y="97692"/>
                </a:cubicBezTo>
                <a:cubicBezTo>
                  <a:pt x="195385" y="43758"/>
                  <a:pt x="151627" y="0"/>
                  <a:pt x="97692" y="0"/>
                </a:cubicBezTo>
                <a:cubicBezTo>
                  <a:pt x="43758" y="0"/>
                  <a:pt x="0" y="43758"/>
                  <a:pt x="0" y="97692"/>
                </a:cubicBezTo>
                <a:cubicBezTo>
                  <a:pt x="0" y="123744"/>
                  <a:pt x="10176" y="147403"/>
                  <a:pt x="26815" y="164907"/>
                </a:cubicBezTo>
                <a:cubicBezTo>
                  <a:pt x="35210" y="173760"/>
                  <a:pt x="42690" y="184038"/>
                  <a:pt x="46353" y="195385"/>
                </a:cubicBezTo>
                <a:lnTo>
                  <a:pt x="148981" y="195385"/>
                </a:lnTo>
                <a:close/>
                <a:moveTo>
                  <a:pt x="146538" y="219808"/>
                </a:moveTo>
                <a:lnTo>
                  <a:pt x="48846" y="219808"/>
                </a:lnTo>
                <a:lnTo>
                  <a:pt x="48846" y="227949"/>
                </a:lnTo>
                <a:cubicBezTo>
                  <a:pt x="48846" y="250438"/>
                  <a:pt x="67062" y="268654"/>
                  <a:pt x="89551" y="268654"/>
                </a:cubicBezTo>
                <a:lnTo>
                  <a:pt x="105833" y="268654"/>
                </a:lnTo>
                <a:cubicBezTo>
                  <a:pt x="128323" y="268654"/>
                  <a:pt x="146538" y="250438"/>
                  <a:pt x="146538" y="227949"/>
                </a:cubicBezTo>
                <a:lnTo>
                  <a:pt x="146538" y="219808"/>
                </a:lnTo>
                <a:close/>
                <a:moveTo>
                  <a:pt x="93622" y="56987"/>
                </a:moveTo>
                <a:cubicBezTo>
                  <a:pt x="73371" y="56987"/>
                  <a:pt x="56987" y="73371"/>
                  <a:pt x="56987" y="93622"/>
                </a:cubicBezTo>
                <a:cubicBezTo>
                  <a:pt x="56987" y="100389"/>
                  <a:pt x="51543" y="105833"/>
                  <a:pt x="44776" y="105833"/>
                </a:cubicBezTo>
                <a:cubicBezTo>
                  <a:pt x="38008" y="105833"/>
                  <a:pt x="32564" y="100389"/>
                  <a:pt x="32564" y="93622"/>
                </a:cubicBezTo>
                <a:cubicBezTo>
                  <a:pt x="32564" y="59887"/>
                  <a:pt x="59887" y="32564"/>
                  <a:pt x="93622" y="32564"/>
                </a:cubicBezTo>
                <a:cubicBezTo>
                  <a:pt x="100389" y="32564"/>
                  <a:pt x="105833" y="38008"/>
                  <a:pt x="105833" y="44776"/>
                </a:cubicBezTo>
                <a:cubicBezTo>
                  <a:pt x="105833" y="51543"/>
                  <a:pt x="100389" y="56987"/>
                  <a:pt x="93622" y="569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7941842" y="2042422"/>
            <a:ext cx="1180991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11996" y="2424397"/>
            <a:ext cx="4228991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transforms passive viewing into active exploration. You choose your path.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4847" y="3845062"/>
            <a:ext cx="4513819" cy="2481819"/>
          </a:xfrm>
          <a:custGeom>
            <a:avLst/>
            <a:gdLst/>
            <a:ahLst/>
            <a:cxnLst/>
            <a:rect l="l" t="t" r="r" b="b"/>
            <a:pathLst>
              <a:path w="4513819" h="2481819">
                <a:moveTo>
                  <a:pt x="138932" y="0"/>
                </a:moveTo>
                <a:lnTo>
                  <a:pt x="4374887" y="0"/>
                </a:lnTo>
                <a:cubicBezTo>
                  <a:pt x="4451617" y="0"/>
                  <a:pt x="4513819" y="62202"/>
                  <a:pt x="4513819" y="138932"/>
                </a:cubicBezTo>
                <a:lnTo>
                  <a:pt x="4513819" y="2342887"/>
                </a:lnTo>
                <a:cubicBezTo>
                  <a:pt x="4513819" y="2419617"/>
                  <a:pt x="4451617" y="2481819"/>
                  <a:pt x="4374887" y="2481819"/>
                </a:cubicBezTo>
                <a:lnTo>
                  <a:pt x="138932" y="2481819"/>
                </a:lnTo>
                <a:cubicBezTo>
                  <a:pt x="62202" y="2481819"/>
                  <a:pt x="0" y="2419617"/>
                  <a:pt x="0" y="2342887"/>
                </a:cubicBezTo>
                <a:lnTo>
                  <a:pt x="0" y="138932"/>
                </a:lnTo>
                <a:cubicBezTo>
                  <a:pt x="0" y="62202"/>
                  <a:pt x="62202" y="0"/>
                  <a:pt x="1389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6731" y="4676858"/>
            <a:ext cx="260513" cy="260513"/>
          </a:xfrm>
          <a:custGeom>
            <a:avLst/>
            <a:gdLst/>
            <a:ahLst/>
            <a:cxnLst/>
            <a:rect l="l" t="t" r="r" b="b"/>
            <a:pathLst>
              <a:path w="260513" h="260513">
                <a:moveTo>
                  <a:pt x="179052" y="142468"/>
                </a:moveTo>
                <a:lnTo>
                  <a:pt x="81919" y="142468"/>
                </a:lnTo>
                <a:cubicBezTo>
                  <a:pt x="83395" y="175286"/>
                  <a:pt x="90671" y="205510"/>
                  <a:pt x="101000" y="227643"/>
                </a:cubicBezTo>
                <a:cubicBezTo>
                  <a:pt x="106800" y="240109"/>
                  <a:pt x="113058" y="248912"/>
                  <a:pt x="118859" y="254305"/>
                </a:cubicBezTo>
                <a:cubicBezTo>
                  <a:pt x="124558" y="259648"/>
                  <a:pt x="128476" y="260513"/>
                  <a:pt x="130511" y="260513"/>
                </a:cubicBezTo>
                <a:cubicBezTo>
                  <a:pt x="132546" y="260513"/>
                  <a:pt x="136464" y="259648"/>
                  <a:pt x="142163" y="254305"/>
                </a:cubicBezTo>
                <a:cubicBezTo>
                  <a:pt x="147963" y="248912"/>
                  <a:pt x="154222" y="240058"/>
                  <a:pt x="160022" y="227643"/>
                </a:cubicBezTo>
                <a:cubicBezTo>
                  <a:pt x="170351" y="205510"/>
                  <a:pt x="177627" y="175286"/>
                  <a:pt x="179103" y="142468"/>
                </a:cubicBezTo>
                <a:close/>
                <a:moveTo>
                  <a:pt x="81868" y="118045"/>
                </a:moveTo>
                <a:lnTo>
                  <a:pt x="179001" y="118045"/>
                </a:lnTo>
                <a:cubicBezTo>
                  <a:pt x="177576" y="85226"/>
                  <a:pt x="170300" y="55003"/>
                  <a:pt x="159971" y="32869"/>
                </a:cubicBezTo>
                <a:cubicBezTo>
                  <a:pt x="154171" y="20454"/>
                  <a:pt x="147912" y="11601"/>
                  <a:pt x="142112" y="6208"/>
                </a:cubicBezTo>
                <a:cubicBezTo>
                  <a:pt x="136413" y="865"/>
                  <a:pt x="132495" y="0"/>
                  <a:pt x="130460" y="0"/>
                </a:cubicBezTo>
                <a:cubicBezTo>
                  <a:pt x="128425" y="0"/>
                  <a:pt x="124507" y="865"/>
                  <a:pt x="118808" y="6208"/>
                </a:cubicBezTo>
                <a:cubicBezTo>
                  <a:pt x="113008" y="11601"/>
                  <a:pt x="106749" y="20454"/>
                  <a:pt x="100949" y="32869"/>
                </a:cubicBezTo>
                <a:cubicBezTo>
                  <a:pt x="90620" y="55003"/>
                  <a:pt x="83344" y="85226"/>
                  <a:pt x="81868" y="118045"/>
                </a:cubicBezTo>
                <a:close/>
                <a:moveTo>
                  <a:pt x="57445" y="118045"/>
                </a:moveTo>
                <a:cubicBezTo>
                  <a:pt x="59226" y="74490"/>
                  <a:pt x="70471" y="34040"/>
                  <a:pt x="86905" y="7480"/>
                </a:cubicBezTo>
                <a:cubicBezTo>
                  <a:pt x="40044" y="24067"/>
                  <a:pt x="5546" y="66756"/>
                  <a:pt x="763" y="118045"/>
                </a:cubicBezTo>
                <a:lnTo>
                  <a:pt x="57445" y="118045"/>
                </a:lnTo>
                <a:close/>
                <a:moveTo>
                  <a:pt x="763" y="142468"/>
                </a:moveTo>
                <a:cubicBezTo>
                  <a:pt x="5546" y="193756"/>
                  <a:pt x="40044" y="236446"/>
                  <a:pt x="86905" y="253033"/>
                </a:cubicBezTo>
                <a:cubicBezTo>
                  <a:pt x="70471" y="226473"/>
                  <a:pt x="59226" y="186022"/>
                  <a:pt x="57445" y="142468"/>
                </a:cubicBezTo>
                <a:lnTo>
                  <a:pt x="763" y="142468"/>
                </a:lnTo>
                <a:close/>
                <a:moveTo>
                  <a:pt x="203475" y="142468"/>
                </a:moveTo>
                <a:cubicBezTo>
                  <a:pt x="201694" y="186022"/>
                  <a:pt x="190449" y="226473"/>
                  <a:pt x="174014" y="253033"/>
                </a:cubicBezTo>
                <a:cubicBezTo>
                  <a:pt x="220876" y="236395"/>
                  <a:pt x="255374" y="193756"/>
                  <a:pt x="260157" y="142468"/>
                </a:cubicBezTo>
                <a:lnTo>
                  <a:pt x="203475" y="142468"/>
                </a:lnTo>
                <a:close/>
                <a:moveTo>
                  <a:pt x="260157" y="118045"/>
                </a:moveTo>
                <a:cubicBezTo>
                  <a:pt x="255374" y="66756"/>
                  <a:pt x="220876" y="24067"/>
                  <a:pt x="174014" y="7480"/>
                </a:cubicBezTo>
                <a:cubicBezTo>
                  <a:pt x="190449" y="34040"/>
                  <a:pt x="201694" y="74490"/>
                  <a:pt x="203475" y="118045"/>
                </a:cubicBezTo>
                <a:lnTo>
                  <a:pt x="260157" y="11804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7941842" y="4668285"/>
            <a:ext cx="197989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11996" y="5050260"/>
            <a:ext cx="4228991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Wikipedia:</a:t>
            </a: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article contains links to related topics, images, audio clips, and videos.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0824" y="6436190"/>
            <a:ext cx="11495562" cy="423768"/>
          </a:xfrm>
          <a:custGeom>
            <a:avLst/>
            <a:gdLst/>
            <a:ahLst/>
            <a:cxnLst/>
            <a:rect l="l" t="t" r="r" b="b"/>
            <a:pathLst>
              <a:path w="11495562" h="423768">
                <a:moveTo>
                  <a:pt x="104204" y="0"/>
                </a:moveTo>
                <a:lnTo>
                  <a:pt x="11391358" y="0"/>
                </a:lnTo>
                <a:cubicBezTo>
                  <a:pt x="11448908" y="0"/>
                  <a:pt x="11495562" y="46654"/>
                  <a:pt x="11495562" y="104204"/>
                </a:cubicBezTo>
                <a:lnTo>
                  <a:pt x="11495562" y="319563"/>
                </a:lnTo>
                <a:cubicBezTo>
                  <a:pt x="11495562" y="377114"/>
                  <a:pt x="11448908" y="423768"/>
                  <a:pt x="11391358" y="423768"/>
                </a:cubicBezTo>
                <a:lnTo>
                  <a:pt x="104204" y="423768"/>
                </a:lnTo>
                <a:cubicBezTo>
                  <a:pt x="46654" y="423768"/>
                  <a:pt x="0" y="377114"/>
                  <a:pt x="0" y="319563"/>
                </a:cubicBezTo>
                <a:lnTo>
                  <a:pt x="0" y="104204"/>
                </a:lnTo>
                <a:cubicBezTo>
                  <a:pt x="0" y="46692"/>
                  <a:pt x="46692" y="0"/>
                  <a:pt x="1042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503" y="6543867"/>
            <a:ext cx="1134967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09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Flowchart showing interconnected media nodes with arrows | Image: Wikipedia page with highlighted links to different media types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324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Hypertext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foundation of the World Wide Web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388870"/>
          </a:xfrm>
          <a:custGeom>
            <a:avLst/>
            <a:gdLst/>
            <a:ahLst/>
            <a:cxnLst/>
            <a:rect l="l" t="t" r="r" b="b"/>
            <a:pathLst>
              <a:path w="5627370" h="2388870">
                <a:moveTo>
                  <a:pt x="152410" y="0"/>
                </a:moveTo>
                <a:lnTo>
                  <a:pt x="5474960" y="0"/>
                </a:lnTo>
                <a:cubicBezTo>
                  <a:pt x="5559134" y="0"/>
                  <a:pt x="5627370" y="68236"/>
                  <a:pt x="5627370" y="152410"/>
                </a:cubicBezTo>
                <a:lnTo>
                  <a:pt x="5627370" y="2236460"/>
                </a:lnTo>
                <a:cubicBezTo>
                  <a:pt x="5627370" y="2320634"/>
                  <a:pt x="5559134" y="2388870"/>
                  <a:pt x="5474960" y="2388870"/>
                </a:cubicBezTo>
                <a:lnTo>
                  <a:pt x="152410" y="2388870"/>
                </a:lnTo>
                <a:cubicBezTo>
                  <a:pt x="68236" y="2388870"/>
                  <a:pt x="0" y="2320634"/>
                  <a:pt x="0" y="223646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9361" y="154103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047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Hypertext?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with clickable links to other text. Hypertext is the foundation of the World Wide Web.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7"/>
            <a:ext cx="5236845" cy="883920"/>
          </a:xfrm>
          <a:custGeom>
            <a:avLst/>
            <a:gdLst/>
            <a:ahLst/>
            <a:cxnLst/>
            <a:rect l="l" t="t" r="r" b="b"/>
            <a:pathLst>
              <a:path w="5236845" h="883920">
                <a:moveTo>
                  <a:pt x="114300" y="0"/>
                </a:moveTo>
                <a:lnTo>
                  <a:pt x="5122545" y="0"/>
                </a:lnTo>
                <a:cubicBezTo>
                  <a:pt x="5185671" y="0"/>
                  <a:pt x="5236845" y="51174"/>
                  <a:pt x="5236845" y="114300"/>
                </a:cubicBezTo>
                <a:lnTo>
                  <a:pt x="5236845" y="769620"/>
                </a:lnTo>
                <a:cubicBezTo>
                  <a:pt x="5236845" y="832746"/>
                  <a:pt x="5185671" y="883920"/>
                  <a:pt x="5122545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11851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Example: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9140" y="31393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about "Solar System" and clicking "Mars" to learn about Mars.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3882271"/>
            <a:ext cx="5627370" cy="1903095"/>
          </a:xfrm>
          <a:custGeom>
            <a:avLst/>
            <a:gdLst/>
            <a:ahLst/>
            <a:cxnLst/>
            <a:rect l="l" t="t" r="r" b="b"/>
            <a:pathLst>
              <a:path w="5627370" h="1903095">
                <a:moveTo>
                  <a:pt x="152400" y="0"/>
                </a:moveTo>
                <a:lnTo>
                  <a:pt x="5474970" y="0"/>
                </a:lnTo>
                <a:cubicBezTo>
                  <a:pt x="5559138" y="0"/>
                  <a:pt x="5627370" y="68232"/>
                  <a:pt x="5627370" y="152400"/>
                </a:cubicBezTo>
                <a:lnTo>
                  <a:pt x="5627370" y="1750695"/>
                </a:lnTo>
                <a:cubicBezTo>
                  <a:pt x="5627370" y="1834863"/>
                  <a:pt x="5559138" y="1903095"/>
                  <a:pt x="5474970" y="1903095"/>
                </a:cubicBezTo>
                <a:lnTo>
                  <a:pt x="152400" y="1903095"/>
                </a:lnTo>
                <a:cubicBezTo>
                  <a:pt x="68232" y="1903095"/>
                  <a:pt x="0" y="1834863"/>
                  <a:pt x="0" y="175069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" y="408599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84051"/>
                </a:moveTo>
                <a:lnTo>
                  <a:pt x="226926" y="137629"/>
                </a:lnTo>
                <a:cubicBezTo>
                  <a:pt x="221791" y="142763"/>
                  <a:pt x="214145" y="144270"/>
                  <a:pt x="207448" y="141480"/>
                </a:cubicBezTo>
                <a:cubicBezTo>
                  <a:pt x="200751" y="138689"/>
                  <a:pt x="196453" y="132215"/>
                  <a:pt x="196453" y="125016"/>
                </a:cubicBezTo>
                <a:lnTo>
                  <a:pt x="196453" y="89297"/>
                </a:ln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196453" y="53578"/>
                </a:lnTo>
                <a:lnTo>
                  <a:pt x="196453" y="17859"/>
                </a:lnTo>
                <a:cubicBezTo>
                  <a:pt x="196453" y="10660"/>
                  <a:pt x="200806" y="4130"/>
                  <a:pt x="207504" y="1339"/>
                </a:cubicBezTo>
                <a:cubicBezTo>
                  <a:pt x="214201" y="-1451"/>
                  <a:pt x="221847" y="112"/>
                  <a:pt x="226981" y="5190"/>
                </a:cubicBezTo>
                <a:lnTo>
                  <a:pt x="280560" y="58769"/>
                </a:lnTo>
                <a:cubicBezTo>
                  <a:pt x="287536" y="65745"/>
                  <a:pt x="287536" y="77074"/>
                  <a:pt x="280560" y="84051"/>
                </a:cubicBezTo>
                <a:close/>
                <a:moveTo>
                  <a:pt x="58769" y="280504"/>
                </a:moveTo>
                <a:lnTo>
                  <a:pt x="5190" y="226926"/>
                </a:lnTo>
                <a:cubicBezTo>
                  <a:pt x="-1786" y="219949"/>
                  <a:pt x="-1786" y="208620"/>
                  <a:pt x="5190" y="201644"/>
                </a:cubicBezTo>
                <a:lnTo>
                  <a:pt x="58769" y="148065"/>
                </a:lnTo>
                <a:cubicBezTo>
                  <a:pt x="63903" y="142931"/>
                  <a:pt x="71549" y="141424"/>
                  <a:pt x="78246" y="144214"/>
                </a:cubicBezTo>
                <a:cubicBezTo>
                  <a:pt x="84944" y="147005"/>
                  <a:pt x="89297" y="153535"/>
                  <a:pt x="89297" y="160734"/>
                </a:cubicBezTo>
                <a:lnTo>
                  <a:pt x="89297" y="196453"/>
                </a:lnTo>
                <a:lnTo>
                  <a:pt x="267891" y="196453"/>
                </a:lnTo>
                <a:cubicBezTo>
                  <a:pt x="277769" y="196453"/>
                  <a:pt x="285750" y="204434"/>
                  <a:pt x="285750" y="214313"/>
                </a:cubicBezTo>
                <a:cubicBezTo>
                  <a:pt x="285750" y="224191"/>
                  <a:pt x="277769" y="232172"/>
                  <a:pt x="267891" y="232172"/>
                </a:cubicBezTo>
                <a:lnTo>
                  <a:pt x="89297" y="232172"/>
                </a:lnTo>
                <a:lnTo>
                  <a:pt x="89297" y="267891"/>
                </a:lnTo>
                <a:cubicBezTo>
                  <a:pt x="89297" y="275090"/>
                  <a:pt x="84944" y="281620"/>
                  <a:pt x="78246" y="284411"/>
                </a:cubicBezTo>
                <a:cubicBezTo>
                  <a:pt x="71549" y="287201"/>
                  <a:pt x="63903" y="285638"/>
                  <a:pt x="58769" y="28056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608" y="4076579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Hypertext vs Hypermedia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2930" y="4537477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040" y="4655586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Hypertext: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Links connect text to text only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" y="512421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040" y="5242322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Links connect text, images, audio, video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010" y="1337310"/>
            <a:ext cx="5627370" cy="2141220"/>
          </a:xfrm>
          <a:custGeom>
            <a:avLst/>
            <a:gdLst/>
            <a:ahLst/>
            <a:cxnLst/>
            <a:rect l="l" t="t" r="r" b="b"/>
            <a:pathLst>
              <a:path w="5627370" h="214122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1988829"/>
                </a:lnTo>
                <a:cubicBezTo>
                  <a:pt x="5627370" y="2072992"/>
                  <a:pt x="5559142" y="2141220"/>
                  <a:pt x="5474979" y="2141220"/>
                </a:cubicBezTo>
                <a:lnTo>
                  <a:pt x="152391" y="2141220"/>
                </a:lnTo>
                <a:cubicBezTo>
                  <a:pt x="68228" y="2141220"/>
                  <a:pt x="0" y="2072992"/>
                  <a:pt x="0" y="19888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4139" y="1962029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841807" y="1952625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0320" y="2371604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Hypertext allows non-linear reading. Instead of reading page 1, then 2, then 3, you jump to what interests you.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3642239"/>
            <a:ext cx="5627370" cy="2141220"/>
          </a:xfrm>
          <a:custGeom>
            <a:avLst/>
            <a:gdLst/>
            <a:ahLst/>
            <a:cxnLst/>
            <a:rect l="l" t="t" r="r" b="b"/>
            <a:pathLst>
              <a:path w="5627370" h="214122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1988829"/>
                </a:lnTo>
                <a:cubicBezTo>
                  <a:pt x="5627370" y="2072992"/>
                  <a:pt x="5559142" y="2141220"/>
                  <a:pt x="5474979" y="2141220"/>
                </a:cubicBezTo>
                <a:lnTo>
                  <a:pt x="152391" y="2141220"/>
                </a:lnTo>
                <a:cubicBezTo>
                  <a:pt x="68228" y="2141220"/>
                  <a:pt x="0" y="2072992"/>
                  <a:pt x="0" y="19888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8420" y="439079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1807" y="4381379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4800367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Website: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Clicking "Home", "About", or "Contact" are hypertext links.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5909077"/>
            <a:ext cx="11418570" cy="693420"/>
          </a:xfrm>
          <a:custGeom>
            <a:avLst/>
            <a:gdLst/>
            <a:ahLst/>
            <a:cxnLst/>
            <a:rect l="l" t="t" r="r" b="b"/>
            <a:pathLst>
              <a:path w="11418570" h="6934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579117"/>
                </a:lnTo>
                <a:cubicBezTo>
                  <a:pt x="11418570" y="642245"/>
                  <a:pt x="11367395" y="693420"/>
                  <a:pt x="11304267" y="693420"/>
                </a:cubicBezTo>
                <a:lnTo>
                  <a:pt x="114303" y="693420"/>
                </a:lnTo>
                <a:cubicBezTo>
                  <a:pt x="51218" y="693420"/>
                  <a:pt x="0" y="642202"/>
                  <a:pt x="0" y="57911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027186"/>
            <a:ext cx="1125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Side-by-side comparison showing hypertext (text links) vs hypermedia (multiple media links) | Image: Website navigation menu with highlighted hyperlinks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363940"/>
            <a:ext cx="72788" cy="436728"/>
          </a:xfrm>
          <a:custGeom>
            <a:avLst/>
            <a:gdLst/>
            <a:ahLst/>
            <a:cxnLst/>
            <a:rect l="l" t="t" r="r" b="b"/>
            <a:pathLst>
              <a:path w="72788" h="436728">
                <a:moveTo>
                  <a:pt x="36394" y="0"/>
                </a:moveTo>
                <a:lnTo>
                  <a:pt x="36394" y="0"/>
                </a:lnTo>
                <a:cubicBezTo>
                  <a:pt x="56480" y="0"/>
                  <a:pt x="72788" y="16308"/>
                  <a:pt x="72788" y="36394"/>
                </a:cubicBezTo>
                <a:lnTo>
                  <a:pt x="72788" y="400334"/>
                </a:lnTo>
                <a:cubicBezTo>
                  <a:pt x="72788" y="420434"/>
                  <a:pt x="56494" y="436728"/>
                  <a:pt x="36394" y="436728"/>
                </a:cubicBezTo>
                <a:lnTo>
                  <a:pt x="36394" y="436728"/>
                </a:lnTo>
                <a:cubicBezTo>
                  <a:pt x="16294" y="436728"/>
                  <a:pt x="0" y="420434"/>
                  <a:pt x="0" y="400334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5910" y="363940"/>
            <a:ext cx="5213445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Recap: Week 1 – Lecture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5910" y="873457"/>
            <a:ext cx="11364036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of history, benefits, examples, hypermedia, and hypertext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580" y="1277430"/>
            <a:ext cx="5657452" cy="2518467"/>
          </a:xfrm>
          <a:custGeom>
            <a:avLst/>
            <a:gdLst/>
            <a:ahLst/>
            <a:cxnLst/>
            <a:rect l="l" t="t" r="r" b="b"/>
            <a:pathLst>
              <a:path w="5657452" h="2518467">
                <a:moveTo>
                  <a:pt x="145567" y="0"/>
                </a:moveTo>
                <a:lnTo>
                  <a:pt x="5511885" y="0"/>
                </a:lnTo>
                <a:cubicBezTo>
                  <a:pt x="5592279" y="0"/>
                  <a:pt x="5657452" y="65173"/>
                  <a:pt x="5657452" y="145567"/>
                </a:cubicBezTo>
                <a:lnTo>
                  <a:pt x="5657452" y="2372899"/>
                </a:lnTo>
                <a:cubicBezTo>
                  <a:pt x="5657452" y="2453294"/>
                  <a:pt x="5592279" y="2518467"/>
                  <a:pt x="5511885" y="2518467"/>
                </a:cubicBezTo>
                <a:lnTo>
                  <a:pt x="145567" y="2518467"/>
                </a:lnTo>
                <a:cubicBezTo>
                  <a:pt x="65173" y="2518467"/>
                  <a:pt x="0" y="2453294"/>
                  <a:pt x="0" y="2372899"/>
                </a:cubicBezTo>
                <a:lnTo>
                  <a:pt x="0" y="145567"/>
                </a:lnTo>
                <a:cubicBezTo>
                  <a:pt x="0" y="65227"/>
                  <a:pt x="65227" y="0"/>
                  <a:pt x="14556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583" y="1472030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136478" y="272955"/>
                </a:moveTo>
                <a:cubicBezTo>
                  <a:pt x="211802" y="272955"/>
                  <a:pt x="272955" y="211802"/>
                  <a:pt x="272955" y="136478"/>
                </a:cubicBezTo>
                <a:cubicBezTo>
                  <a:pt x="272955" y="61154"/>
                  <a:pt x="211802" y="0"/>
                  <a:pt x="136478" y="0"/>
                </a:cubicBezTo>
                <a:cubicBezTo>
                  <a:pt x="61154" y="0"/>
                  <a:pt x="0" y="61154"/>
                  <a:pt x="0" y="136478"/>
                </a:cubicBezTo>
                <a:cubicBezTo>
                  <a:pt x="0" y="211802"/>
                  <a:pt x="61154" y="272955"/>
                  <a:pt x="136478" y="272955"/>
                </a:cubicBezTo>
                <a:close/>
                <a:moveTo>
                  <a:pt x="181473" y="113394"/>
                </a:moveTo>
                <a:lnTo>
                  <a:pt x="138823" y="181633"/>
                </a:lnTo>
                <a:cubicBezTo>
                  <a:pt x="136584" y="185204"/>
                  <a:pt x="132746" y="187443"/>
                  <a:pt x="128534" y="187657"/>
                </a:cubicBezTo>
                <a:cubicBezTo>
                  <a:pt x="124323" y="187870"/>
                  <a:pt x="120271" y="185951"/>
                  <a:pt x="117765" y="182539"/>
                </a:cubicBezTo>
                <a:lnTo>
                  <a:pt x="92176" y="148419"/>
                </a:lnTo>
                <a:cubicBezTo>
                  <a:pt x="87911" y="142768"/>
                  <a:pt x="89084" y="134772"/>
                  <a:pt x="94735" y="130507"/>
                </a:cubicBezTo>
                <a:cubicBezTo>
                  <a:pt x="100386" y="126242"/>
                  <a:pt x="108382" y="127415"/>
                  <a:pt x="112647" y="133066"/>
                </a:cubicBezTo>
                <a:lnTo>
                  <a:pt x="127041" y="152258"/>
                </a:lnTo>
                <a:lnTo>
                  <a:pt x="159775" y="99853"/>
                </a:lnTo>
                <a:cubicBezTo>
                  <a:pt x="163507" y="93882"/>
                  <a:pt x="171397" y="92016"/>
                  <a:pt x="177421" y="95801"/>
                </a:cubicBezTo>
                <a:cubicBezTo>
                  <a:pt x="183445" y="99586"/>
                  <a:pt x="185258" y="107423"/>
                  <a:pt x="181473" y="1134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03565" y="1463038"/>
            <a:ext cx="1865194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189" y="1936054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553" y="1899660"/>
            <a:ext cx="344833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evolved from 1960s to modern streaming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189" y="2299994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553" y="2263600"/>
            <a:ext cx="369399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Benefits: engagement, retention, different learning styles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189" y="2663935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553" y="2627541"/>
            <a:ext cx="354841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YouTube, podcasts, games, VR experiences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189" y="3027875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1553" y="2991481"/>
            <a:ext cx="333005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Hypermedia: clickable links to multiple media types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189" y="3391815"/>
            <a:ext cx="21836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553" y="3355421"/>
            <a:ext cx="3575713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Hypertext: text-only clickable links (foundation of web)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7580" y="3948642"/>
            <a:ext cx="5657452" cy="2345595"/>
          </a:xfrm>
          <a:custGeom>
            <a:avLst/>
            <a:gdLst/>
            <a:ahLst/>
            <a:cxnLst/>
            <a:rect l="l" t="t" r="r" b="b"/>
            <a:pathLst>
              <a:path w="5657452" h="2345595">
                <a:moveTo>
                  <a:pt x="145568" y="0"/>
                </a:moveTo>
                <a:lnTo>
                  <a:pt x="5511884" y="0"/>
                </a:lnTo>
                <a:cubicBezTo>
                  <a:pt x="5592279" y="0"/>
                  <a:pt x="5657452" y="65173"/>
                  <a:pt x="5657452" y="145568"/>
                </a:cubicBezTo>
                <a:lnTo>
                  <a:pt x="5657452" y="2200028"/>
                </a:lnTo>
                <a:cubicBezTo>
                  <a:pt x="5657452" y="2280422"/>
                  <a:pt x="5592279" y="2345595"/>
                  <a:pt x="5511884" y="2345595"/>
                </a:cubicBezTo>
                <a:lnTo>
                  <a:pt x="145568" y="2345595"/>
                </a:lnTo>
                <a:cubicBezTo>
                  <a:pt x="65227" y="2345595"/>
                  <a:pt x="0" y="2280369"/>
                  <a:pt x="0" y="2200028"/>
                </a:cubicBezTo>
                <a:lnTo>
                  <a:pt x="0" y="145568"/>
                </a:lnTo>
                <a:cubicBezTo>
                  <a:pt x="0" y="65227"/>
                  <a:pt x="65227" y="0"/>
                  <a:pt x="14556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583" y="4143233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136478" y="272955"/>
                </a:moveTo>
                <a:cubicBezTo>
                  <a:pt x="211802" y="272955"/>
                  <a:pt x="272955" y="211802"/>
                  <a:pt x="272955" y="136478"/>
                </a:cubicBezTo>
                <a:cubicBezTo>
                  <a:pt x="272955" y="61154"/>
                  <a:pt x="211802" y="0"/>
                  <a:pt x="136478" y="0"/>
                </a:cubicBezTo>
                <a:cubicBezTo>
                  <a:pt x="61154" y="0"/>
                  <a:pt x="0" y="61154"/>
                  <a:pt x="0" y="136478"/>
                </a:cubicBezTo>
                <a:cubicBezTo>
                  <a:pt x="0" y="211802"/>
                  <a:pt x="61154" y="272955"/>
                  <a:pt x="136478" y="272955"/>
                </a:cubicBezTo>
                <a:close/>
                <a:moveTo>
                  <a:pt x="136478" y="93828"/>
                </a:moveTo>
                <a:cubicBezTo>
                  <a:pt x="127041" y="93828"/>
                  <a:pt x="119418" y="101452"/>
                  <a:pt x="119418" y="110888"/>
                </a:cubicBezTo>
                <a:cubicBezTo>
                  <a:pt x="119418" y="117978"/>
                  <a:pt x="113714" y="123683"/>
                  <a:pt x="106623" y="123683"/>
                </a:cubicBezTo>
                <a:cubicBezTo>
                  <a:pt x="99533" y="123683"/>
                  <a:pt x="93828" y="117978"/>
                  <a:pt x="93828" y="110888"/>
                </a:cubicBezTo>
                <a:cubicBezTo>
                  <a:pt x="93828" y="87324"/>
                  <a:pt x="112914" y="68239"/>
                  <a:pt x="136478" y="68239"/>
                </a:cubicBezTo>
                <a:cubicBezTo>
                  <a:pt x="160041" y="68239"/>
                  <a:pt x="179127" y="87324"/>
                  <a:pt x="179127" y="110888"/>
                </a:cubicBezTo>
                <a:cubicBezTo>
                  <a:pt x="179127" y="136051"/>
                  <a:pt x="159935" y="146713"/>
                  <a:pt x="149272" y="150605"/>
                </a:cubicBezTo>
                <a:lnTo>
                  <a:pt x="149272" y="152631"/>
                </a:lnTo>
                <a:cubicBezTo>
                  <a:pt x="149272" y="159721"/>
                  <a:pt x="143568" y="165426"/>
                  <a:pt x="136478" y="165426"/>
                </a:cubicBezTo>
                <a:cubicBezTo>
                  <a:pt x="129387" y="165426"/>
                  <a:pt x="123683" y="159721"/>
                  <a:pt x="123683" y="152631"/>
                </a:cubicBezTo>
                <a:lnTo>
                  <a:pt x="123683" y="148313"/>
                </a:lnTo>
                <a:cubicBezTo>
                  <a:pt x="123683" y="137384"/>
                  <a:pt x="131573" y="129547"/>
                  <a:pt x="139730" y="126882"/>
                </a:cubicBezTo>
                <a:cubicBezTo>
                  <a:pt x="143142" y="125762"/>
                  <a:pt x="146767" y="123949"/>
                  <a:pt x="149432" y="121390"/>
                </a:cubicBezTo>
                <a:cubicBezTo>
                  <a:pt x="151725" y="119151"/>
                  <a:pt x="153537" y="116059"/>
                  <a:pt x="153537" y="110941"/>
                </a:cubicBezTo>
                <a:cubicBezTo>
                  <a:pt x="153537" y="101505"/>
                  <a:pt x="145914" y="93882"/>
                  <a:pt x="136478" y="93882"/>
                </a:cubicBezTo>
                <a:close/>
                <a:moveTo>
                  <a:pt x="119418" y="196187"/>
                </a:moveTo>
                <a:cubicBezTo>
                  <a:pt x="119418" y="186771"/>
                  <a:pt x="127062" y="179127"/>
                  <a:pt x="136478" y="179127"/>
                </a:cubicBezTo>
                <a:cubicBezTo>
                  <a:pt x="145893" y="179127"/>
                  <a:pt x="153537" y="186771"/>
                  <a:pt x="153537" y="196187"/>
                </a:cubicBezTo>
                <a:cubicBezTo>
                  <a:pt x="153537" y="205602"/>
                  <a:pt x="145893" y="213246"/>
                  <a:pt x="136478" y="213246"/>
                </a:cubicBezTo>
                <a:cubicBezTo>
                  <a:pt x="127062" y="213246"/>
                  <a:pt x="119418" y="205602"/>
                  <a:pt x="119418" y="1961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565" y="4134250"/>
            <a:ext cx="221093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Self-Check Questions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6829" y="4538108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650" y="4650928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Name one benefit of using multimedia in education.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829" y="5098581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650" y="5211401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Give an example of multimedia you used today.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6829" y="5659046"/>
            <a:ext cx="5275315" cy="444007"/>
          </a:xfrm>
          <a:custGeom>
            <a:avLst/>
            <a:gdLst/>
            <a:ahLst/>
            <a:cxnLst/>
            <a:rect l="l" t="t" r="r" b="b"/>
            <a:pathLst>
              <a:path w="5275315" h="444007">
                <a:moveTo>
                  <a:pt x="109181" y="0"/>
                </a:moveTo>
                <a:lnTo>
                  <a:pt x="5166133" y="0"/>
                </a:lnTo>
                <a:cubicBezTo>
                  <a:pt x="5226432" y="0"/>
                  <a:pt x="5275315" y="48882"/>
                  <a:pt x="5275315" y="109181"/>
                </a:cubicBezTo>
                <a:lnTo>
                  <a:pt x="5275315" y="334826"/>
                </a:lnTo>
                <a:cubicBezTo>
                  <a:pt x="5275315" y="395125"/>
                  <a:pt x="5226432" y="444007"/>
                  <a:pt x="5166133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650" y="5771866"/>
            <a:ext cx="512246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What is the main difference between hypertext and hypermedia?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4361" y="1277430"/>
            <a:ext cx="5657452" cy="2427482"/>
          </a:xfrm>
          <a:custGeom>
            <a:avLst/>
            <a:gdLst/>
            <a:ahLst/>
            <a:cxnLst/>
            <a:rect l="l" t="t" r="r" b="b"/>
            <a:pathLst>
              <a:path w="5657452" h="2427482">
                <a:moveTo>
                  <a:pt x="145576" y="0"/>
                </a:moveTo>
                <a:lnTo>
                  <a:pt x="5511876" y="0"/>
                </a:lnTo>
                <a:cubicBezTo>
                  <a:pt x="5592275" y="0"/>
                  <a:pt x="5657452" y="65177"/>
                  <a:pt x="5657452" y="145576"/>
                </a:cubicBezTo>
                <a:lnTo>
                  <a:pt x="5657452" y="2281906"/>
                </a:lnTo>
                <a:cubicBezTo>
                  <a:pt x="5657452" y="2362305"/>
                  <a:pt x="5592275" y="2427482"/>
                  <a:pt x="5511876" y="2427482"/>
                </a:cubicBezTo>
                <a:lnTo>
                  <a:pt x="145576" y="2427482"/>
                </a:lnTo>
                <a:cubicBezTo>
                  <a:pt x="65177" y="2427482"/>
                  <a:pt x="0" y="2362305"/>
                  <a:pt x="0" y="2281906"/>
                </a:cubicBezTo>
                <a:lnTo>
                  <a:pt x="0" y="145576"/>
                </a:lnTo>
                <a:cubicBezTo>
                  <a:pt x="0" y="65177"/>
                  <a:pt x="65177" y="0"/>
                  <a:pt x="14557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0484" y="1946965"/>
            <a:ext cx="204716" cy="272955"/>
          </a:xfrm>
          <a:custGeom>
            <a:avLst/>
            <a:gdLst/>
            <a:ahLst/>
            <a:cxnLst/>
            <a:rect l="l" t="t" r="r" b="b"/>
            <a:pathLst>
              <a:path w="204716" h="272955">
                <a:moveTo>
                  <a:pt x="156150" y="204716"/>
                </a:moveTo>
                <a:cubicBezTo>
                  <a:pt x="160041" y="192828"/>
                  <a:pt x="167825" y="182059"/>
                  <a:pt x="176621" y="172783"/>
                </a:cubicBezTo>
                <a:cubicBezTo>
                  <a:pt x="194054" y="154444"/>
                  <a:pt x="204716" y="129654"/>
                  <a:pt x="204716" y="102358"/>
                </a:cubicBezTo>
                <a:cubicBezTo>
                  <a:pt x="204716" y="45848"/>
                  <a:pt x="158868" y="0"/>
                  <a:pt x="102358" y="0"/>
                </a:cubicBezTo>
                <a:cubicBezTo>
                  <a:pt x="45848" y="0"/>
                  <a:pt x="0" y="45848"/>
                  <a:pt x="0" y="102358"/>
                </a:cubicBezTo>
                <a:cubicBezTo>
                  <a:pt x="0" y="129654"/>
                  <a:pt x="10662" y="154444"/>
                  <a:pt x="28095" y="172783"/>
                </a:cubicBezTo>
                <a:cubicBezTo>
                  <a:pt x="36892" y="182059"/>
                  <a:pt x="44728" y="192828"/>
                  <a:pt x="48567" y="204716"/>
                </a:cubicBezTo>
                <a:lnTo>
                  <a:pt x="156096" y="204716"/>
                </a:lnTo>
                <a:close/>
                <a:moveTo>
                  <a:pt x="153537" y="230306"/>
                </a:moveTo>
                <a:lnTo>
                  <a:pt x="51179" y="230306"/>
                </a:lnTo>
                <a:lnTo>
                  <a:pt x="51179" y="238836"/>
                </a:lnTo>
                <a:cubicBezTo>
                  <a:pt x="51179" y="262400"/>
                  <a:pt x="70265" y="281485"/>
                  <a:pt x="93828" y="281485"/>
                </a:cubicBezTo>
                <a:lnTo>
                  <a:pt x="110888" y="281485"/>
                </a:lnTo>
                <a:cubicBezTo>
                  <a:pt x="134452" y="281485"/>
                  <a:pt x="153537" y="262400"/>
                  <a:pt x="153537" y="238836"/>
                </a:cubicBezTo>
                <a:lnTo>
                  <a:pt x="153537" y="230306"/>
                </a:lnTo>
                <a:close/>
                <a:moveTo>
                  <a:pt x="98093" y="59709"/>
                </a:moveTo>
                <a:cubicBezTo>
                  <a:pt x="76875" y="59709"/>
                  <a:pt x="59709" y="76875"/>
                  <a:pt x="59709" y="98093"/>
                </a:cubicBezTo>
                <a:cubicBezTo>
                  <a:pt x="59709" y="105184"/>
                  <a:pt x="54005" y="110888"/>
                  <a:pt x="46914" y="110888"/>
                </a:cubicBezTo>
                <a:cubicBezTo>
                  <a:pt x="39824" y="110888"/>
                  <a:pt x="34119" y="105184"/>
                  <a:pt x="34119" y="98093"/>
                </a:cubicBezTo>
                <a:cubicBezTo>
                  <a:pt x="34119" y="62748"/>
                  <a:pt x="62748" y="34119"/>
                  <a:pt x="98093" y="34119"/>
                </a:cubicBezTo>
                <a:cubicBezTo>
                  <a:pt x="105184" y="34119"/>
                  <a:pt x="110888" y="39824"/>
                  <a:pt x="110888" y="46914"/>
                </a:cubicBezTo>
                <a:cubicBezTo>
                  <a:pt x="110888" y="54005"/>
                  <a:pt x="105184" y="59709"/>
                  <a:pt x="98093" y="597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10347" y="1937982"/>
            <a:ext cx="123739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9971" y="2338201"/>
            <a:ext cx="5359021" cy="70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lecture showed how multimedia evolved, why it's beneficial, and real-world applications. Understanding hypermedia and hypertext prepares us for learning theories.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4361" y="3861291"/>
            <a:ext cx="5657452" cy="2427482"/>
          </a:xfrm>
          <a:custGeom>
            <a:avLst/>
            <a:gdLst/>
            <a:ahLst/>
            <a:cxnLst/>
            <a:rect l="l" t="t" r="r" b="b"/>
            <a:pathLst>
              <a:path w="5657452" h="2427482">
                <a:moveTo>
                  <a:pt x="145576" y="0"/>
                </a:moveTo>
                <a:lnTo>
                  <a:pt x="5511876" y="0"/>
                </a:lnTo>
                <a:cubicBezTo>
                  <a:pt x="5592275" y="0"/>
                  <a:pt x="5657452" y="65177"/>
                  <a:pt x="5657452" y="145576"/>
                </a:cubicBezTo>
                <a:lnTo>
                  <a:pt x="5657452" y="2281906"/>
                </a:lnTo>
                <a:cubicBezTo>
                  <a:pt x="5657452" y="2362305"/>
                  <a:pt x="5592275" y="2427482"/>
                  <a:pt x="5511876" y="2427482"/>
                </a:cubicBezTo>
                <a:lnTo>
                  <a:pt x="145576" y="2427482"/>
                </a:lnTo>
                <a:cubicBezTo>
                  <a:pt x="65177" y="2427482"/>
                  <a:pt x="0" y="2362305"/>
                  <a:pt x="0" y="2281906"/>
                </a:cubicBezTo>
                <a:lnTo>
                  <a:pt x="0" y="145576"/>
                </a:lnTo>
                <a:cubicBezTo>
                  <a:pt x="0" y="65177"/>
                  <a:pt x="65177" y="0"/>
                  <a:pt x="14557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6365" y="4649115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267944" y="148526"/>
                </a:moveTo>
                <a:cubicBezTo>
                  <a:pt x="274608" y="141862"/>
                  <a:pt x="274608" y="131040"/>
                  <a:pt x="267944" y="124376"/>
                </a:cubicBezTo>
                <a:lnTo>
                  <a:pt x="182645" y="39077"/>
                </a:lnTo>
                <a:cubicBezTo>
                  <a:pt x="175981" y="32413"/>
                  <a:pt x="165159" y="32413"/>
                  <a:pt x="158495" y="39077"/>
                </a:cubicBezTo>
                <a:cubicBezTo>
                  <a:pt x="151831" y="45741"/>
                  <a:pt x="151831" y="56564"/>
                  <a:pt x="158495" y="63228"/>
                </a:cubicBezTo>
                <a:lnTo>
                  <a:pt x="214686" y="119418"/>
                </a:lnTo>
                <a:lnTo>
                  <a:pt x="17060" y="119418"/>
                </a:lnTo>
                <a:cubicBezTo>
                  <a:pt x="7624" y="119418"/>
                  <a:pt x="0" y="127041"/>
                  <a:pt x="0" y="136478"/>
                </a:cubicBezTo>
                <a:cubicBezTo>
                  <a:pt x="0" y="145914"/>
                  <a:pt x="7624" y="153537"/>
                  <a:pt x="17060" y="153537"/>
                </a:cubicBezTo>
                <a:lnTo>
                  <a:pt x="214686" y="153537"/>
                </a:lnTo>
                <a:lnTo>
                  <a:pt x="158495" y="209728"/>
                </a:lnTo>
                <a:cubicBezTo>
                  <a:pt x="151831" y="216392"/>
                  <a:pt x="151831" y="227214"/>
                  <a:pt x="158495" y="233878"/>
                </a:cubicBezTo>
                <a:cubicBezTo>
                  <a:pt x="165159" y="240542"/>
                  <a:pt x="175981" y="240542"/>
                  <a:pt x="182645" y="233878"/>
                </a:cubicBezTo>
                <a:lnTo>
                  <a:pt x="267944" y="1485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810347" y="4640123"/>
            <a:ext cx="169232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9971" y="5040351"/>
            <a:ext cx="5359021" cy="47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2:</a:t>
            </a: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 will explore learning theories: Cognitive Theory of Multimedia Learning and Dual Coding Theory.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7580" y="6408767"/>
            <a:ext cx="11462300" cy="444007"/>
          </a:xfrm>
          <a:custGeom>
            <a:avLst/>
            <a:gdLst/>
            <a:ahLst/>
            <a:cxnLst/>
            <a:rect l="l" t="t" r="r" b="b"/>
            <a:pathLst>
              <a:path w="11462300" h="444007">
                <a:moveTo>
                  <a:pt x="109181" y="0"/>
                </a:moveTo>
                <a:lnTo>
                  <a:pt x="11353118" y="0"/>
                </a:lnTo>
                <a:cubicBezTo>
                  <a:pt x="11413418" y="0"/>
                  <a:pt x="11462300" y="48882"/>
                  <a:pt x="11462300" y="109181"/>
                </a:cubicBezTo>
                <a:lnTo>
                  <a:pt x="11462300" y="334826"/>
                </a:lnTo>
                <a:cubicBezTo>
                  <a:pt x="11462300" y="395125"/>
                  <a:pt x="11413418" y="444007"/>
                  <a:pt x="11353118" y="444007"/>
                </a:cubicBezTo>
                <a:lnTo>
                  <a:pt x="109181" y="444007"/>
                </a:lnTo>
                <a:cubicBezTo>
                  <a:pt x="48882" y="444007"/>
                  <a:pt x="0" y="395125"/>
                  <a:pt x="0" y="334826"/>
                </a:cubicBezTo>
                <a:lnTo>
                  <a:pt x="0" y="109181"/>
                </a:lnTo>
                <a:cubicBezTo>
                  <a:pt x="0" y="48923"/>
                  <a:pt x="48923" y="0"/>
                  <a:pt x="10918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401" y="6521586"/>
            <a:ext cx="1130944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4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Concept map connecting all Week 1 topics | Image: Students taking a quiz or reviewing material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19191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363641" y="1717361"/>
            <a:ext cx="3465195" cy="541020"/>
          </a:xfrm>
          <a:custGeom>
            <a:avLst/>
            <a:gdLst/>
            <a:ahLst/>
            <a:cxnLst/>
            <a:rect l="l" t="t" r="r" b="b"/>
            <a:pathLst>
              <a:path w="3465195" h="541020">
                <a:moveTo>
                  <a:pt x="114301" y="0"/>
                </a:moveTo>
                <a:lnTo>
                  <a:pt x="3350894" y="0"/>
                </a:lnTo>
                <a:cubicBezTo>
                  <a:pt x="3414021" y="0"/>
                  <a:pt x="3465195" y="51174"/>
                  <a:pt x="3465195" y="114301"/>
                </a:cubicBezTo>
                <a:lnTo>
                  <a:pt x="3465195" y="426719"/>
                </a:lnTo>
                <a:cubicBezTo>
                  <a:pt x="3465195" y="489846"/>
                  <a:pt x="3414021" y="541020"/>
                  <a:pt x="3350894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38901" y="1820233"/>
            <a:ext cx="3114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– LECTURES 3 &amp;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02857" y="2566867"/>
            <a:ext cx="838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Theories of Multimedia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0" y="336696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988582" y="3709867"/>
            <a:ext cx="82105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of Multimedia Learning and Dual Coding Theory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73091" y="4542352"/>
            <a:ext cx="2369820" cy="598170"/>
          </a:xfrm>
          <a:custGeom>
            <a:avLst/>
            <a:gdLst/>
            <a:ahLst/>
            <a:cxnLst/>
            <a:rect l="l" t="t" r="r" b="b"/>
            <a:pathLst>
              <a:path w="2369820" h="598170">
                <a:moveTo>
                  <a:pt x="114298" y="0"/>
                </a:moveTo>
                <a:lnTo>
                  <a:pt x="2255522" y="0"/>
                </a:lnTo>
                <a:cubicBezTo>
                  <a:pt x="2318647" y="0"/>
                  <a:pt x="2369820" y="51173"/>
                  <a:pt x="2369820" y="114298"/>
                </a:cubicBezTo>
                <a:lnTo>
                  <a:pt x="2369820" y="483872"/>
                </a:lnTo>
                <a:cubicBezTo>
                  <a:pt x="2369820" y="546997"/>
                  <a:pt x="2318647" y="598170"/>
                  <a:pt x="2255522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3601" y="469856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429363" y="4708094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57117" y="4542352"/>
            <a:ext cx="1960245" cy="598170"/>
          </a:xfrm>
          <a:custGeom>
            <a:avLst/>
            <a:gdLst/>
            <a:ahLst/>
            <a:cxnLst/>
            <a:rect l="l" t="t" r="r" b="b"/>
            <a:pathLst>
              <a:path w="1960245" h="598170">
                <a:moveTo>
                  <a:pt x="114298" y="0"/>
                </a:moveTo>
                <a:lnTo>
                  <a:pt x="1845947" y="0"/>
                </a:lnTo>
                <a:cubicBezTo>
                  <a:pt x="1909072" y="0"/>
                  <a:pt x="1960245" y="51173"/>
                  <a:pt x="1960245" y="114298"/>
                </a:cubicBezTo>
                <a:lnTo>
                  <a:pt x="1960245" y="483872"/>
                </a:lnTo>
                <a:cubicBezTo>
                  <a:pt x="1960245" y="546997"/>
                  <a:pt x="1909072" y="598170"/>
                  <a:pt x="1845947" y="598170"/>
                </a:cubicBezTo>
                <a:lnTo>
                  <a:pt x="114298" y="598170"/>
                </a:lnTo>
                <a:cubicBezTo>
                  <a:pt x="51215" y="598170"/>
                  <a:pt x="0" y="546955"/>
                  <a:pt x="0" y="4838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5486" y="469856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113389" y="4708094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689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Learning Theories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how people learn from multimedia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503170"/>
          </a:xfrm>
          <a:custGeom>
            <a:avLst/>
            <a:gdLst/>
            <a:ahLst/>
            <a:cxnLst/>
            <a:rect l="l" t="t" r="r" b="b"/>
            <a:pathLst>
              <a:path w="5627370" h="2503170">
                <a:moveTo>
                  <a:pt x="152393" y="0"/>
                </a:moveTo>
                <a:lnTo>
                  <a:pt x="5474977" y="0"/>
                </a:lnTo>
                <a:cubicBezTo>
                  <a:pt x="5559141" y="0"/>
                  <a:pt x="5627370" y="68229"/>
                  <a:pt x="5627370" y="152393"/>
                </a:cubicBezTo>
                <a:lnTo>
                  <a:pt x="5627370" y="2350777"/>
                </a:lnTo>
                <a:cubicBezTo>
                  <a:pt x="5627370" y="2434941"/>
                  <a:pt x="5559141" y="2503170"/>
                  <a:pt x="5474977" y="2503170"/>
                </a:cubicBezTo>
                <a:lnTo>
                  <a:pt x="152393" y="2503170"/>
                </a:lnTo>
                <a:cubicBezTo>
                  <a:pt x="68229" y="2503170"/>
                  <a:pt x="0" y="2434941"/>
                  <a:pt x="0" y="2350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79" y="154103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Learning Theories?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Scientific explanations of how people learn. They help us design better educational materials.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7"/>
            <a:ext cx="5236845" cy="998220"/>
          </a:xfrm>
          <a:custGeom>
            <a:avLst/>
            <a:gdLst/>
            <a:ahLst/>
            <a:cxnLst/>
            <a:rect l="l" t="t" r="r" b="b"/>
            <a:pathLst>
              <a:path w="5236845" h="9982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883924"/>
                </a:lnTo>
                <a:cubicBezTo>
                  <a:pt x="5236845" y="947048"/>
                  <a:pt x="5185673" y="998220"/>
                  <a:pt x="512254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5000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Learning theories are like recipes. They tell us the best ingredients (media types) and methods (teaching strategies) for effective learning.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996571"/>
            <a:ext cx="5627370" cy="2141220"/>
          </a:xfrm>
          <a:custGeom>
            <a:avLst/>
            <a:gdLst/>
            <a:ahLst/>
            <a:cxnLst/>
            <a:rect l="l" t="t" r="r" b="b"/>
            <a:pathLst>
              <a:path w="5627370" h="214122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1988829"/>
                </a:lnTo>
                <a:cubicBezTo>
                  <a:pt x="5627370" y="2072992"/>
                  <a:pt x="5559142" y="2141220"/>
                  <a:pt x="5474979" y="2141220"/>
                </a:cubicBezTo>
                <a:lnTo>
                  <a:pt x="152391" y="2141220"/>
                </a:lnTo>
                <a:cubicBezTo>
                  <a:pt x="68228" y="2141220"/>
                  <a:pt x="0" y="2072992"/>
                  <a:pt x="0" y="19888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361" y="420029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08" y="4190879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They Matter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468606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351" y="4647967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 create effective educational 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502896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2351" y="4990867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 why multimedia 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120" y="537186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2351" y="5333767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 instructional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571476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2351" y="5676667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student learning outcomes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010" y="1337310"/>
            <a:ext cx="5627370" cy="2969895"/>
          </a:xfrm>
          <a:custGeom>
            <a:avLst/>
            <a:gdLst/>
            <a:ahLst/>
            <a:cxnLst/>
            <a:rect l="l" t="t" r="r" b="b"/>
            <a:pathLst>
              <a:path w="5627370" h="2969895">
                <a:moveTo>
                  <a:pt x="152385" y="0"/>
                </a:moveTo>
                <a:lnTo>
                  <a:pt x="5474985" y="0"/>
                </a:lnTo>
                <a:cubicBezTo>
                  <a:pt x="5559145" y="0"/>
                  <a:pt x="5627370" y="68225"/>
                  <a:pt x="5627370" y="152385"/>
                </a:cubicBezTo>
                <a:lnTo>
                  <a:pt x="5627370" y="2817510"/>
                </a:lnTo>
                <a:cubicBezTo>
                  <a:pt x="5627370" y="2901670"/>
                  <a:pt x="5559145" y="2969895"/>
                  <a:pt x="5474985" y="2969895"/>
                </a:cubicBezTo>
                <a:lnTo>
                  <a:pt x="152385" y="2969895"/>
                </a:lnTo>
                <a:cubicBezTo>
                  <a:pt x="68282" y="2969895"/>
                  <a:pt x="0" y="2901613"/>
                  <a:pt x="0" y="2817510"/>
                </a:cubicBezTo>
                <a:lnTo>
                  <a:pt x="0" y="152385"/>
                </a:lnTo>
                <a:cubicBezTo>
                  <a:pt x="0" y="68225"/>
                  <a:pt x="68225" y="0"/>
                  <a:pt x="15238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8420" y="15410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841807" y="1531618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Major Theories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4130" y="1992517"/>
            <a:ext cx="5236845" cy="998220"/>
          </a:xfrm>
          <a:custGeom>
            <a:avLst/>
            <a:gdLst/>
            <a:ahLst/>
            <a:cxnLst/>
            <a:rect l="l" t="t" r="r" b="b"/>
            <a:pathLst>
              <a:path w="5236845" h="9982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883924"/>
                </a:lnTo>
                <a:cubicBezTo>
                  <a:pt x="5236845" y="947048"/>
                  <a:pt x="5185673" y="998220"/>
                  <a:pt x="512254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0340" y="214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90360" y="222492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5640" y="2205875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of Multimedia Learning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0340" y="26059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Richard Mayer (2001) - How we process words and pictures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4130" y="3112653"/>
            <a:ext cx="5236845" cy="998220"/>
          </a:xfrm>
          <a:custGeom>
            <a:avLst/>
            <a:gdLst/>
            <a:ahLst/>
            <a:cxnLst/>
            <a:rect l="l" t="t" r="r" b="b"/>
            <a:pathLst>
              <a:path w="5236845" h="998220">
                <a:moveTo>
                  <a:pt x="114296" y="0"/>
                </a:moveTo>
                <a:lnTo>
                  <a:pt x="5122549" y="0"/>
                </a:lnTo>
                <a:cubicBezTo>
                  <a:pt x="5185673" y="0"/>
                  <a:pt x="5236845" y="51172"/>
                  <a:pt x="5236845" y="114296"/>
                </a:cubicBezTo>
                <a:lnTo>
                  <a:pt x="5236845" y="883924"/>
                </a:lnTo>
                <a:cubicBezTo>
                  <a:pt x="5236845" y="947048"/>
                  <a:pt x="5185673" y="998220"/>
                  <a:pt x="512254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0340" y="32688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676549" y="334506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25640" y="3326011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0340" y="3726061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Allan Paivio (1986) - How verbal and visual systems work together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6010" y="4469017"/>
            <a:ext cx="5627370" cy="1664970"/>
          </a:xfrm>
          <a:custGeom>
            <a:avLst/>
            <a:gdLst/>
            <a:ahLst/>
            <a:cxnLst/>
            <a:rect l="l" t="t" r="r" b="b"/>
            <a:pathLst>
              <a:path w="5627370" h="1664970">
                <a:moveTo>
                  <a:pt x="152395" y="0"/>
                </a:moveTo>
                <a:lnTo>
                  <a:pt x="5474975" y="0"/>
                </a:lnTo>
                <a:cubicBezTo>
                  <a:pt x="5559141" y="0"/>
                  <a:pt x="5627370" y="68229"/>
                  <a:pt x="5627370" y="152395"/>
                </a:cubicBezTo>
                <a:lnTo>
                  <a:pt x="5627370" y="1512575"/>
                </a:lnTo>
                <a:cubicBezTo>
                  <a:pt x="5627370" y="1596741"/>
                  <a:pt x="5559141" y="1664970"/>
                  <a:pt x="5474975" y="1664970"/>
                </a:cubicBezTo>
                <a:lnTo>
                  <a:pt x="152395" y="1664970"/>
                </a:lnTo>
                <a:cubicBezTo>
                  <a:pt x="68286" y="1664970"/>
                  <a:pt x="0" y="1596684"/>
                  <a:pt x="0" y="151257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4139" y="485561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841807" y="4846207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70320" y="5265186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theories are based on decades of research. They explain why combining words and pictures is more effective than words alone.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6259596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377704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Two theory boxes connected to "Better Learning" outcome | Image: Brain with highlighted processing areas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10487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of Multimedia Learning: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Richard Mayer's groundbreaking theory from 2001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6789420" cy="2274570"/>
          </a:xfrm>
          <a:custGeom>
            <a:avLst/>
            <a:gdLst/>
            <a:ahLst/>
            <a:cxnLst/>
            <a:rect l="l" t="t" r="r" b="b"/>
            <a:pathLst>
              <a:path w="6789420" h="2274570">
                <a:moveTo>
                  <a:pt x="152396" y="0"/>
                </a:moveTo>
                <a:lnTo>
                  <a:pt x="6637024" y="0"/>
                </a:lnTo>
                <a:cubicBezTo>
                  <a:pt x="6721190" y="0"/>
                  <a:pt x="6789420" y="68230"/>
                  <a:pt x="6789420" y="152396"/>
                </a:cubicBezTo>
                <a:lnTo>
                  <a:pt x="6789420" y="2122174"/>
                </a:lnTo>
                <a:cubicBezTo>
                  <a:pt x="6789420" y="2206340"/>
                  <a:pt x="6721190" y="2274570"/>
                  <a:pt x="66370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79" y="154103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Richard Mayer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7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Professor at UC Santa Barbara who researched how people learn from words and pictures. Published theory in 2001.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7"/>
            <a:ext cx="6389370" cy="769620"/>
          </a:xfrm>
          <a:custGeom>
            <a:avLst/>
            <a:gdLst/>
            <a:ahLst/>
            <a:cxnLst/>
            <a:rect l="l" t="t" r="r" b="b"/>
            <a:pathLst>
              <a:path w="6389370" h="769620">
                <a:moveTo>
                  <a:pt x="114296" y="0"/>
                </a:moveTo>
                <a:lnTo>
                  <a:pt x="6275074" y="0"/>
                </a:lnTo>
                <a:cubicBezTo>
                  <a:pt x="6338198" y="0"/>
                  <a:pt x="6389370" y="51172"/>
                  <a:pt x="6389370" y="114296"/>
                </a:cubicBezTo>
                <a:lnTo>
                  <a:pt x="6389370" y="655324"/>
                </a:lnTo>
                <a:cubicBezTo>
                  <a:pt x="6389370" y="718448"/>
                  <a:pt x="6338198" y="769620"/>
                  <a:pt x="6275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615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People learn better from words + pictures than words alone. This is called the "Multimedia Effect."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767971"/>
            <a:ext cx="6789420" cy="2236470"/>
          </a:xfrm>
          <a:custGeom>
            <a:avLst/>
            <a:gdLst/>
            <a:ahLst/>
            <a:cxnLst/>
            <a:rect l="l" t="t" r="r" b="b"/>
            <a:pathLst>
              <a:path w="6789420" h="2236470">
                <a:moveTo>
                  <a:pt x="152393" y="0"/>
                </a:moveTo>
                <a:lnTo>
                  <a:pt x="6637027" y="0"/>
                </a:lnTo>
                <a:cubicBezTo>
                  <a:pt x="6721191" y="0"/>
                  <a:pt x="6789420" y="68229"/>
                  <a:pt x="6789420" y="152393"/>
                </a:cubicBezTo>
                <a:lnTo>
                  <a:pt x="6789420" y="2084077"/>
                </a:lnTo>
                <a:cubicBezTo>
                  <a:pt x="6789420" y="2168241"/>
                  <a:pt x="6721191" y="2236470"/>
                  <a:pt x="6637027" y="2236470"/>
                </a:cubicBezTo>
                <a:lnTo>
                  <a:pt x="152393" y="2236470"/>
                </a:lnTo>
                <a:cubicBezTo>
                  <a:pt x="68229" y="2236470"/>
                  <a:pt x="0" y="2168241"/>
                  <a:pt x="0" y="20840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" y="397169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0"/>
                </a:moveTo>
                <a:cubicBezTo>
                  <a:pt x="83437" y="0"/>
                  <a:pt x="71438" y="11999"/>
                  <a:pt x="71438" y="26789"/>
                </a:cubicBezTo>
                <a:lnTo>
                  <a:pt x="71438" y="142875"/>
                </a:lnTo>
                <a:cubicBezTo>
                  <a:pt x="71438" y="157665"/>
                  <a:pt x="83437" y="169664"/>
                  <a:pt x="98227" y="169664"/>
                </a:cubicBezTo>
                <a:lnTo>
                  <a:pt x="133945" y="169664"/>
                </a:lnTo>
                <a:cubicBezTo>
                  <a:pt x="148735" y="169664"/>
                  <a:pt x="160734" y="157665"/>
                  <a:pt x="160734" y="142875"/>
                </a:cubicBezTo>
                <a:lnTo>
                  <a:pt x="160734" y="107156"/>
                </a:lnTo>
                <a:lnTo>
                  <a:pt x="178594" y="107156"/>
                </a:lnTo>
                <a:cubicBezTo>
                  <a:pt x="218052" y="107156"/>
                  <a:pt x="250031" y="139136"/>
                  <a:pt x="250031" y="178594"/>
                </a:cubicBezTo>
                <a:cubicBezTo>
                  <a:pt x="250031" y="218052"/>
                  <a:pt x="218052" y="250031"/>
                  <a:pt x="178594" y="250031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58012"/>
                  <a:pt x="277769" y="250031"/>
                  <a:pt x="267891" y="250031"/>
                </a:cubicBezTo>
                <a:lnTo>
                  <a:pt x="258459" y="250031"/>
                </a:lnTo>
                <a:cubicBezTo>
                  <a:pt x="275425" y="231056"/>
                  <a:pt x="285750" y="206053"/>
                  <a:pt x="285750" y="178594"/>
                </a:cubicBezTo>
                <a:cubicBezTo>
                  <a:pt x="285750" y="119435"/>
                  <a:pt x="237753" y="71438"/>
                  <a:pt x="178594" y="71438"/>
                </a:cubicBezTo>
                <a:lnTo>
                  <a:pt x="160734" y="71438"/>
                </a:lnTo>
                <a:lnTo>
                  <a:pt x="160734" y="26789"/>
                </a:lnTo>
                <a:cubicBezTo>
                  <a:pt x="160734" y="11999"/>
                  <a:pt x="148735" y="0"/>
                  <a:pt x="133945" y="0"/>
                </a:cubicBezTo>
                <a:lnTo>
                  <a:pt x="98227" y="0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65199" y="223242"/>
                </a:lnTo>
                <a:cubicBezTo>
                  <a:pt x="172622" y="223242"/>
                  <a:pt x="178594" y="217270"/>
                  <a:pt x="178594" y="209848"/>
                </a:cubicBezTo>
                <a:cubicBezTo>
                  <a:pt x="178594" y="202425"/>
                  <a:pt x="172622" y="196453"/>
                  <a:pt x="165199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08" y="3962279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Theory Explains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4419367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Describes how our brain processes multimedia information and how to design effective learning materials.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2930" y="5070877"/>
            <a:ext cx="2045970" cy="731520"/>
          </a:xfrm>
          <a:custGeom>
            <a:avLst/>
            <a:gdLst/>
            <a:ahLst/>
            <a:cxnLst/>
            <a:rect l="l" t="t" r="r" b="b"/>
            <a:pathLst>
              <a:path w="2045970" h="731520">
                <a:moveTo>
                  <a:pt x="114300" y="0"/>
                </a:moveTo>
                <a:lnTo>
                  <a:pt x="1931670" y="0"/>
                </a:lnTo>
                <a:cubicBezTo>
                  <a:pt x="1994754" y="0"/>
                  <a:pt x="2045970" y="51216"/>
                  <a:pt x="2045970" y="114300"/>
                </a:cubicBezTo>
                <a:lnTo>
                  <a:pt x="2045970" y="617220"/>
                </a:lnTo>
                <a:cubicBezTo>
                  <a:pt x="2045970" y="680346"/>
                  <a:pt x="1994796" y="731520"/>
                  <a:pt x="19316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3520" y="51889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702" y="5493786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Channel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54630" y="5070877"/>
            <a:ext cx="2045970" cy="731520"/>
          </a:xfrm>
          <a:custGeom>
            <a:avLst/>
            <a:gdLst/>
            <a:ahLst/>
            <a:cxnLst/>
            <a:rect l="l" t="t" r="r" b="b"/>
            <a:pathLst>
              <a:path w="2045970" h="731520">
                <a:moveTo>
                  <a:pt x="114300" y="0"/>
                </a:moveTo>
                <a:lnTo>
                  <a:pt x="1931670" y="0"/>
                </a:lnTo>
                <a:cubicBezTo>
                  <a:pt x="1994754" y="0"/>
                  <a:pt x="2045970" y="51216"/>
                  <a:pt x="2045970" y="114300"/>
                </a:cubicBezTo>
                <a:lnTo>
                  <a:pt x="2045970" y="617220"/>
                </a:lnTo>
                <a:cubicBezTo>
                  <a:pt x="2045970" y="680346"/>
                  <a:pt x="1994796" y="731520"/>
                  <a:pt x="19316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6645" y="518898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5744" y="57150"/>
                </a:moveTo>
                <a:cubicBezTo>
                  <a:pt x="239673" y="57150"/>
                  <a:pt x="242888" y="60365"/>
                  <a:pt x="242888" y="64294"/>
                </a:cubicBezTo>
                <a:lnTo>
                  <a:pt x="242888" y="164306"/>
                </a:lnTo>
                <a:cubicBezTo>
                  <a:pt x="242888" y="168235"/>
                  <a:pt x="239673" y="171450"/>
                  <a:pt x="235744" y="171450"/>
                </a:cubicBezTo>
                <a:lnTo>
                  <a:pt x="50006" y="171450"/>
                </a:lnTo>
                <a:cubicBezTo>
                  <a:pt x="46077" y="171450"/>
                  <a:pt x="42863" y="168235"/>
                  <a:pt x="42863" y="164306"/>
                </a:cubicBezTo>
                <a:lnTo>
                  <a:pt x="42863" y="64294"/>
                </a:lnTo>
                <a:cubicBezTo>
                  <a:pt x="42863" y="60365"/>
                  <a:pt x="46077" y="57150"/>
                  <a:pt x="50006" y="57150"/>
                </a:cubicBezTo>
                <a:lnTo>
                  <a:pt x="235744" y="57150"/>
                </a:lnTo>
                <a:close/>
                <a:moveTo>
                  <a:pt x="50006" y="28575"/>
                </a:moveTo>
                <a:cubicBezTo>
                  <a:pt x="30272" y="28575"/>
                  <a:pt x="14288" y="44559"/>
                  <a:pt x="14288" y="64294"/>
                </a:cubicBezTo>
                <a:lnTo>
                  <a:pt x="14288" y="164306"/>
                </a:lnTo>
                <a:cubicBezTo>
                  <a:pt x="14288" y="184041"/>
                  <a:pt x="30272" y="200025"/>
                  <a:pt x="50006" y="200025"/>
                </a:cubicBezTo>
                <a:lnTo>
                  <a:pt x="235744" y="200025"/>
                </a:lnTo>
                <a:cubicBezTo>
                  <a:pt x="255478" y="200025"/>
                  <a:pt x="271463" y="184041"/>
                  <a:pt x="271463" y="164306"/>
                </a:cubicBezTo>
                <a:lnTo>
                  <a:pt x="271463" y="142875"/>
                </a:lnTo>
                <a:cubicBezTo>
                  <a:pt x="279365" y="142875"/>
                  <a:pt x="285750" y="136490"/>
                  <a:pt x="285750" y="128588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lnTo>
                  <a:pt x="271463" y="64294"/>
                </a:lnTo>
                <a:cubicBezTo>
                  <a:pt x="271463" y="44559"/>
                  <a:pt x="255478" y="28575"/>
                  <a:pt x="235744" y="28575"/>
                </a:cubicBezTo>
                <a:lnTo>
                  <a:pt x="50006" y="28575"/>
                </a:lnTo>
                <a:close/>
                <a:moveTo>
                  <a:pt x="75009" y="78581"/>
                </a:moveTo>
                <a:cubicBezTo>
                  <a:pt x="69071" y="78581"/>
                  <a:pt x="64294" y="83359"/>
                  <a:pt x="64294" y="89297"/>
                </a:cubicBezTo>
                <a:lnTo>
                  <a:pt x="64294" y="139303"/>
                </a:lnTo>
                <a:cubicBezTo>
                  <a:pt x="64294" y="145241"/>
                  <a:pt x="69071" y="150019"/>
                  <a:pt x="75009" y="150019"/>
                </a:cubicBezTo>
                <a:lnTo>
                  <a:pt x="139303" y="150019"/>
                </a:lnTo>
                <a:cubicBezTo>
                  <a:pt x="145241" y="150019"/>
                  <a:pt x="150019" y="145241"/>
                  <a:pt x="150019" y="139303"/>
                </a:cubicBezTo>
                <a:lnTo>
                  <a:pt x="150019" y="89297"/>
                </a:lnTo>
                <a:cubicBezTo>
                  <a:pt x="150019" y="83359"/>
                  <a:pt x="145241" y="78581"/>
                  <a:pt x="139303" y="78581"/>
                </a:cubicBezTo>
                <a:lnTo>
                  <a:pt x="75009" y="785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2839403" y="5493786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6330" y="5070877"/>
            <a:ext cx="2045970" cy="731520"/>
          </a:xfrm>
          <a:custGeom>
            <a:avLst/>
            <a:gdLst/>
            <a:ahLst/>
            <a:cxnLst/>
            <a:rect l="l" t="t" r="r" b="b"/>
            <a:pathLst>
              <a:path w="2045970" h="731520">
                <a:moveTo>
                  <a:pt x="114300" y="0"/>
                </a:moveTo>
                <a:lnTo>
                  <a:pt x="1931670" y="0"/>
                </a:lnTo>
                <a:cubicBezTo>
                  <a:pt x="1994754" y="0"/>
                  <a:pt x="2045970" y="51216"/>
                  <a:pt x="2045970" y="114300"/>
                </a:cubicBezTo>
                <a:lnTo>
                  <a:pt x="2045970" y="617220"/>
                </a:lnTo>
                <a:cubicBezTo>
                  <a:pt x="2045970" y="680346"/>
                  <a:pt x="1994796" y="731520"/>
                  <a:pt x="19316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1207" y="518898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011103" y="5493786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4250" y="1337310"/>
            <a:ext cx="4474845" cy="2255520"/>
          </a:xfrm>
          <a:custGeom>
            <a:avLst/>
            <a:gdLst/>
            <a:ahLst/>
            <a:cxnLst/>
            <a:rect l="l" t="t" r="r" b="b"/>
            <a:pathLst>
              <a:path w="4474845" h="2255520">
                <a:moveTo>
                  <a:pt x="152405" y="0"/>
                </a:moveTo>
                <a:lnTo>
                  <a:pt x="4322440" y="0"/>
                </a:lnTo>
                <a:cubicBezTo>
                  <a:pt x="4406611" y="0"/>
                  <a:pt x="4474845" y="68234"/>
                  <a:pt x="4474845" y="152405"/>
                </a:cubicBezTo>
                <a:lnTo>
                  <a:pt x="4474845" y="2103115"/>
                </a:lnTo>
                <a:cubicBezTo>
                  <a:pt x="4474845" y="2187286"/>
                  <a:pt x="4406611" y="2255520"/>
                  <a:pt x="4322440" y="2255520"/>
                </a:cubicBezTo>
                <a:lnTo>
                  <a:pt x="152405" y="2255520"/>
                </a:lnTo>
                <a:cubicBezTo>
                  <a:pt x="68234" y="2255520"/>
                  <a:pt x="0" y="2187286"/>
                  <a:pt x="0" y="21031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2379" y="20153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8000048" y="200597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28560" y="2424950"/>
            <a:ext cx="4162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theory is like a user's manual for your brain. It tells us how to combine words and pictures for maximum learning.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34250" y="3748921"/>
            <a:ext cx="4474845" cy="2255520"/>
          </a:xfrm>
          <a:custGeom>
            <a:avLst/>
            <a:gdLst/>
            <a:ahLst/>
            <a:cxnLst/>
            <a:rect l="l" t="t" r="r" b="b"/>
            <a:pathLst>
              <a:path w="4474845" h="2255520">
                <a:moveTo>
                  <a:pt x="152405" y="0"/>
                </a:moveTo>
                <a:lnTo>
                  <a:pt x="4322440" y="0"/>
                </a:lnTo>
                <a:cubicBezTo>
                  <a:pt x="4406611" y="0"/>
                  <a:pt x="4474845" y="68234"/>
                  <a:pt x="4474845" y="152405"/>
                </a:cubicBezTo>
                <a:lnTo>
                  <a:pt x="4474845" y="2103115"/>
                </a:lnTo>
                <a:cubicBezTo>
                  <a:pt x="4474845" y="2187286"/>
                  <a:pt x="4406611" y="2255520"/>
                  <a:pt x="4322440" y="2255520"/>
                </a:cubicBezTo>
                <a:lnTo>
                  <a:pt x="152405" y="2255520"/>
                </a:lnTo>
                <a:cubicBezTo>
                  <a:pt x="68234" y="2255520"/>
                  <a:pt x="0" y="2187286"/>
                  <a:pt x="0" y="21031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6660" y="442698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8000048" y="4417582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28560" y="4836561"/>
            <a:ext cx="4162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TED-Ed Videos: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narration + animation based on Mayer's principles. Research shows 65% better retention.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6122432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24054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Three pillars labeled with the three assumptions | Image: Richard Mayer's book cover or portrait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904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Theory: Dual Channel Assumption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brain has two separate processing channels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741295"/>
          </a:xfrm>
          <a:custGeom>
            <a:avLst/>
            <a:gdLst/>
            <a:ahLst/>
            <a:cxnLst/>
            <a:rect l="l" t="t" r="r" b="b"/>
            <a:pathLst>
              <a:path w="5627370" h="2741295">
                <a:moveTo>
                  <a:pt x="152389" y="0"/>
                </a:moveTo>
                <a:lnTo>
                  <a:pt x="5474981" y="0"/>
                </a:lnTo>
                <a:cubicBezTo>
                  <a:pt x="5559087" y="0"/>
                  <a:pt x="5627370" y="68283"/>
                  <a:pt x="5627370" y="152389"/>
                </a:cubicBezTo>
                <a:lnTo>
                  <a:pt x="5627370" y="2588906"/>
                </a:lnTo>
                <a:cubicBezTo>
                  <a:pt x="5627370" y="2673068"/>
                  <a:pt x="5559143" y="2741295"/>
                  <a:pt x="5474981" y="2741295"/>
                </a:cubicBezTo>
                <a:lnTo>
                  <a:pt x="152389" y="2741295"/>
                </a:lnTo>
                <a:cubicBezTo>
                  <a:pt x="68283" y="2741295"/>
                  <a:pt x="0" y="2673012"/>
                  <a:pt x="0" y="2588906"/>
                </a:cubicBezTo>
                <a:lnTo>
                  <a:pt x="0" y="152389"/>
                </a:lnTo>
                <a:cubicBezTo>
                  <a:pt x="0" y="68227"/>
                  <a:pt x="68227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410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53578"/>
                </a:moveTo>
                <a:cubicBezTo>
                  <a:pt x="285750" y="81595"/>
                  <a:pt x="252766" y="123397"/>
                  <a:pt x="238534" y="140084"/>
                </a:cubicBezTo>
                <a:cubicBezTo>
                  <a:pt x="236413" y="142540"/>
                  <a:pt x="233288" y="143489"/>
                  <a:pt x="230442" y="142875"/>
                </a:cubicBezTo>
                <a:lnTo>
                  <a:pt x="178594" y="142875"/>
                </a:lnTo>
                <a:cubicBezTo>
                  <a:pt x="168715" y="142875"/>
                  <a:pt x="160734" y="150856"/>
                  <a:pt x="160734" y="160734"/>
                </a:cubicBezTo>
                <a:cubicBezTo>
                  <a:pt x="160734" y="170613"/>
                  <a:pt x="168715" y="178594"/>
                  <a:pt x="178594" y="178594"/>
                </a:cubicBezTo>
                <a:lnTo>
                  <a:pt x="232172" y="178594"/>
                </a:lnTo>
                <a:cubicBezTo>
                  <a:pt x="261751" y="178594"/>
                  <a:pt x="285750" y="202592"/>
                  <a:pt x="285750" y="232172"/>
                </a:cubicBezTo>
                <a:cubicBezTo>
                  <a:pt x="285750" y="261751"/>
                  <a:pt x="261751" y="285750"/>
                  <a:pt x="232172" y="285750"/>
                </a:cubicBezTo>
                <a:lnTo>
                  <a:pt x="77912" y="285750"/>
                </a:lnTo>
                <a:cubicBezTo>
                  <a:pt x="82767" y="280225"/>
                  <a:pt x="88683" y="273137"/>
                  <a:pt x="94655" y="265212"/>
                </a:cubicBezTo>
                <a:cubicBezTo>
                  <a:pt x="98171" y="260524"/>
                  <a:pt x="101798" y="255389"/>
                  <a:pt x="105259" y="250031"/>
                </a:cubicBezTo>
                <a:lnTo>
                  <a:pt x="232172" y="250031"/>
                </a:lnTo>
                <a:cubicBezTo>
                  <a:pt x="242050" y="250031"/>
                  <a:pt x="250031" y="242050"/>
                  <a:pt x="250031" y="232172"/>
                </a:cubicBezTo>
                <a:cubicBezTo>
                  <a:pt x="250031" y="222293"/>
                  <a:pt x="242050" y="214313"/>
                  <a:pt x="232172" y="214313"/>
                </a:cubicBezTo>
                <a:lnTo>
                  <a:pt x="178594" y="214313"/>
                </a:lnTo>
                <a:cubicBezTo>
                  <a:pt x="149014" y="214313"/>
                  <a:pt x="125016" y="190314"/>
                  <a:pt x="125016" y="160734"/>
                </a:cubicBezTo>
                <a:cubicBezTo>
                  <a:pt x="125016" y="131155"/>
                  <a:pt x="149014" y="107156"/>
                  <a:pt x="178594" y="107156"/>
                </a:cubicBezTo>
                <a:lnTo>
                  <a:pt x="200806" y="107156"/>
                </a:lnTo>
                <a:cubicBezTo>
                  <a:pt x="189086" y="89576"/>
                  <a:pt x="178594" y="69373"/>
                  <a:pt x="178594" y="53578"/>
                </a:cubicBezTo>
                <a:cubicBezTo>
                  <a:pt x="178594" y="23999"/>
                  <a:pt x="202592" y="0"/>
                  <a:pt x="232172" y="0"/>
                </a:cubicBezTo>
                <a:cubicBezTo>
                  <a:pt x="261751" y="0"/>
                  <a:pt x="285750" y="23999"/>
                  <a:pt x="285750" y="53578"/>
                </a:cubicBezTo>
                <a:close/>
                <a:moveTo>
                  <a:pt x="65354" y="272969"/>
                </a:moveTo>
                <a:cubicBezTo>
                  <a:pt x="63233" y="275369"/>
                  <a:pt x="61336" y="277490"/>
                  <a:pt x="59717" y="279276"/>
                </a:cubicBezTo>
                <a:lnTo>
                  <a:pt x="58713" y="280392"/>
                </a:lnTo>
                <a:lnTo>
                  <a:pt x="58601" y="280281"/>
                </a:lnTo>
                <a:cubicBezTo>
                  <a:pt x="55252" y="282848"/>
                  <a:pt x="50453" y="282513"/>
                  <a:pt x="47439" y="279276"/>
                </a:cubicBezTo>
                <a:cubicBezTo>
                  <a:pt x="33375" y="263984"/>
                  <a:pt x="0" y="224637"/>
                  <a:pt x="0" y="196453"/>
                </a:cubicBezTo>
                <a:cubicBezTo>
                  <a:pt x="0" y="166874"/>
                  <a:pt x="23999" y="142875"/>
                  <a:pt x="53578" y="142875"/>
                </a:cubicBezTo>
                <a:cubicBezTo>
                  <a:pt x="83158" y="142875"/>
                  <a:pt x="107156" y="166874"/>
                  <a:pt x="107156" y="196453"/>
                </a:cubicBezTo>
                <a:cubicBezTo>
                  <a:pt x="107156" y="213196"/>
                  <a:pt x="95380" y="233846"/>
                  <a:pt x="82879" y="251092"/>
                </a:cubicBezTo>
                <a:cubicBezTo>
                  <a:pt x="76907" y="259296"/>
                  <a:pt x="70768" y="266719"/>
                  <a:pt x="65689" y="272579"/>
                </a:cubicBezTo>
                <a:lnTo>
                  <a:pt x="65354" y="272969"/>
                </a:lnTo>
                <a:close/>
                <a:moveTo>
                  <a:pt x="71438" y="196453"/>
                </a:moveTo>
                <a:cubicBezTo>
                  <a:pt x="71438" y="186596"/>
                  <a:pt x="63435" y="178594"/>
                  <a:pt x="53578" y="178594"/>
                </a:cubicBezTo>
                <a:cubicBezTo>
                  <a:pt x="43721" y="178594"/>
                  <a:pt x="35719" y="186596"/>
                  <a:pt x="35719" y="196453"/>
                </a:cubicBezTo>
                <a:cubicBezTo>
                  <a:pt x="35719" y="206310"/>
                  <a:pt x="43721" y="214313"/>
                  <a:pt x="53578" y="214313"/>
                </a:cubicBezTo>
                <a:cubicBezTo>
                  <a:pt x="63435" y="214313"/>
                  <a:pt x="71438" y="206310"/>
                  <a:pt x="71438" y="196453"/>
                </a:cubicBezTo>
                <a:close/>
                <a:moveTo>
                  <a:pt x="232172" y="71438"/>
                </a:moveTo>
                <a:cubicBezTo>
                  <a:pt x="242029" y="71438"/>
                  <a:pt x="250031" y="63435"/>
                  <a:pt x="250031" y="53578"/>
                </a:cubicBezTo>
                <a:cubicBezTo>
                  <a:pt x="250031" y="43721"/>
                  <a:pt x="242029" y="35719"/>
                  <a:pt x="232172" y="35719"/>
                </a:cubicBezTo>
                <a:cubicBezTo>
                  <a:pt x="222315" y="35719"/>
                  <a:pt x="214313" y="43721"/>
                  <a:pt x="214313" y="53578"/>
                </a:cubicBezTo>
                <a:cubicBezTo>
                  <a:pt x="214313" y="63435"/>
                  <a:pt x="222315" y="71438"/>
                  <a:pt x="232172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Separate Channels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930" y="1992517"/>
            <a:ext cx="5236845" cy="883920"/>
          </a:xfrm>
          <a:custGeom>
            <a:avLst/>
            <a:gdLst/>
            <a:ahLst/>
            <a:cxnLst/>
            <a:rect l="l" t="t" r="r" b="b"/>
            <a:pathLst>
              <a:path w="5236845" h="883920">
                <a:moveTo>
                  <a:pt x="114300" y="0"/>
                </a:moveTo>
                <a:lnTo>
                  <a:pt x="5122545" y="0"/>
                </a:lnTo>
                <a:cubicBezTo>
                  <a:pt x="5185671" y="0"/>
                  <a:pt x="5236845" y="51174"/>
                  <a:pt x="5236845" y="114300"/>
                </a:cubicBezTo>
                <a:lnTo>
                  <a:pt x="5236845" y="769620"/>
                </a:lnTo>
                <a:cubicBezTo>
                  <a:pt x="5236845" y="832746"/>
                  <a:pt x="5185671" y="883920"/>
                  <a:pt x="5122545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3427" y="21677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39190" y="2148725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Visual/Pictorial Channel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9140" y="24916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Processes: Images, animations, video, diagrams, charts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930" y="2998353"/>
            <a:ext cx="5236845" cy="883920"/>
          </a:xfrm>
          <a:custGeom>
            <a:avLst/>
            <a:gdLst/>
            <a:ahLst/>
            <a:cxnLst/>
            <a:rect l="l" t="t" r="r" b="b"/>
            <a:pathLst>
              <a:path w="5236845" h="883920">
                <a:moveTo>
                  <a:pt x="114300" y="0"/>
                </a:moveTo>
                <a:lnTo>
                  <a:pt x="5122545" y="0"/>
                </a:lnTo>
                <a:cubicBezTo>
                  <a:pt x="5185671" y="0"/>
                  <a:pt x="5236845" y="51174"/>
                  <a:pt x="5236845" y="114300"/>
                </a:cubicBezTo>
                <a:lnTo>
                  <a:pt x="5236845" y="769620"/>
                </a:lnTo>
                <a:cubicBezTo>
                  <a:pt x="5236845" y="832746"/>
                  <a:pt x="5185671" y="883920"/>
                  <a:pt x="5122545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7715" y="31736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9485" y="134"/>
                </a:moveTo>
                <a:cubicBezTo>
                  <a:pt x="165512" y="670"/>
                  <a:pt x="161806" y="2902"/>
                  <a:pt x="159484" y="6429"/>
                </a:cubicBezTo>
                <a:cubicBezTo>
                  <a:pt x="156448" y="11073"/>
                  <a:pt x="156359" y="17190"/>
                  <a:pt x="159306" y="21878"/>
                </a:cubicBezTo>
                <a:cubicBezTo>
                  <a:pt x="161806" y="25851"/>
                  <a:pt x="166226" y="27548"/>
                  <a:pt x="169932" y="30138"/>
                </a:cubicBezTo>
                <a:cubicBezTo>
                  <a:pt x="173281" y="32459"/>
                  <a:pt x="177790" y="36031"/>
                  <a:pt x="182300" y="40943"/>
                </a:cubicBezTo>
                <a:cubicBezTo>
                  <a:pt x="191229" y="50631"/>
                  <a:pt x="199936" y="65187"/>
                  <a:pt x="199936" y="85725"/>
                </a:cubicBezTo>
                <a:cubicBezTo>
                  <a:pt x="199936" y="93628"/>
                  <a:pt x="206320" y="100013"/>
                  <a:pt x="214223" y="100013"/>
                </a:cubicBezTo>
                <a:cubicBezTo>
                  <a:pt x="222126" y="100013"/>
                  <a:pt x="228511" y="93628"/>
                  <a:pt x="228511" y="85725"/>
                </a:cubicBezTo>
                <a:cubicBezTo>
                  <a:pt x="228511" y="56257"/>
                  <a:pt x="215786" y="35094"/>
                  <a:pt x="203284" y="21565"/>
                </a:cubicBezTo>
                <a:cubicBezTo>
                  <a:pt x="197078" y="14823"/>
                  <a:pt x="190872" y="9912"/>
                  <a:pt x="186184" y="6697"/>
                </a:cubicBezTo>
                <a:cubicBezTo>
                  <a:pt x="181273" y="3304"/>
                  <a:pt x="175692" y="-714"/>
                  <a:pt x="169396" y="134"/>
                </a:cubicBezTo>
                <a:close/>
                <a:moveTo>
                  <a:pt x="107156" y="57150"/>
                </a:moveTo>
                <a:cubicBezTo>
                  <a:pt x="81439" y="57150"/>
                  <a:pt x="60231" y="76617"/>
                  <a:pt x="57463" y="101575"/>
                </a:cubicBezTo>
                <a:cubicBezTo>
                  <a:pt x="56614" y="109433"/>
                  <a:pt x="49515" y="115059"/>
                  <a:pt x="41702" y="114211"/>
                </a:cubicBezTo>
                <a:cubicBezTo>
                  <a:pt x="33888" y="113362"/>
                  <a:pt x="28218" y="106263"/>
                  <a:pt x="29066" y="98450"/>
                </a:cubicBezTo>
                <a:cubicBezTo>
                  <a:pt x="33397" y="59159"/>
                  <a:pt x="66705" y="28575"/>
                  <a:pt x="107156" y="28575"/>
                </a:cubicBezTo>
                <a:cubicBezTo>
                  <a:pt x="150555" y="28575"/>
                  <a:pt x="185738" y="63758"/>
                  <a:pt x="185738" y="107156"/>
                </a:cubicBezTo>
                <a:cubicBezTo>
                  <a:pt x="185738" y="127695"/>
                  <a:pt x="177835" y="146402"/>
                  <a:pt x="164931" y="160422"/>
                </a:cubicBezTo>
                <a:cubicBezTo>
                  <a:pt x="159574" y="166226"/>
                  <a:pt x="157163" y="171495"/>
                  <a:pt x="157163" y="175915"/>
                </a:cubicBezTo>
                <a:lnTo>
                  <a:pt x="157163" y="178638"/>
                </a:lnTo>
                <a:cubicBezTo>
                  <a:pt x="157163" y="206276"/>
                  <a:pt x="134794" y="228645"/>
                  <a:pt x="107156" y="228645"/>
                </a:cubicBezTo>
                <a:cubicBezTo>
                  <a:pt x="99253" y="228645"/>
                  <a:pt x="92869" y="222260"/>
                  <a:pt x="92869" y="214357"/>
                </a:cubicBezTo>
                <a:cubicBezTo>
                  <a:pt x="92869" y="206454"/>
                  <a:pt x="99253" y="200070"/>
                  <a:pt x="107156" y="200070"/>
                </a:cubicBezTo>
                <a:cubicBezTo>
                  <a:pt x="118988" y="200070"/>
                  <a:pt x="128588" y="190470"/>
                  <a:pt x="128588" y="178638"/>
                </a:cubicBezTo>
                <a:lnTo>
                  <a:pt x="128588" y="175915"/>
                </a:lnTo>
                <a:cubicBezTo>
                  <a:pt x="128588" y="161226"/>
                  <a:pt x="136356" y="149304"/>
                  <a:pt x="143947" y="141089"/>
                </a:cubicBezTo>
                <a:cubicBezTo>
                  <a:pt x="152162" y="132159"/>
                  <a:pt x="157163" y="120283"/>
                  <a:pt x="157163" y="107201"/>
                </a:cubicBezTo>
                <a:cubicBezTo>
                  <a:pt x="157163" y="79564"/>
                  <a:pt x="134794" y="57195"/>
                  <a:pt x="107156" y="57195"/>
                </a:cubicBezTo>
                <a:close/>
                <a:moveTo>
                  <a:pt x="0" y="214313"/>
                </a:moveTo>
                <a:cubicBezTo>
                  <a:pt x="0" y="206427"/>
                  <a:pt x="6402" y="200025"/>
                  <a:pt x="14287" y="200025"/>
                </a:cubicBezTo>
                <a:cubicBezTo>
                  <a:pt x="22173" y="200025"/>
                  <a:pt x="28575" y="206427"/>
                  <a:pt x="28575" y="214313"/>
                </a:cubicBezTo>
                <a:cubicBezTo>
                  <a:pt x="28575" y="222198"/>
                  <a:pt x="22173" y="228600"/>
                  <a:pt x="14288" y="228600"/>
                </a:cubicBezTo>
                <a:cubicBezTo>
                  <a:pt x="6402" y="228600"/>
                  <a:pt x="0" y="222198"/>
                  <a:pt x="0" y="214313"/>
                </a:cubicBezTo>
                <a:close/>
                <a:moveTo>
                  <a:pt x="71438" y="171450"/>
                </a:moveTo>
                <a:cubicBezTo>
                  <a:pt x="79323" y="171450"/>
                  <a:pt x="85725" y="165048"/>
                  <a:pt x="85725" y="157163"/>
                </a:cubicBezTo>
                <a:cubicBezTo>
                  <a:pt x="85725" y="149277"/>
                  <a:pt x="79323" y="142875"/>
                  <a:pt x="71438" y="142875"/>
                </a:cubicBezTo>
                <a:cubicBezTo>
                  <a:pt x="63552" y="142875"/>
                  <a:pt x="57150" y="149277"/>
                  <a:pt x="57150" y="157163"/>
                </a:cubicBezTo>
                <a:cubicBezTo>
                  <a:pt x="57150" y="165048"/>
                  <a:pt x="63552" y="171450"/>
                  <a:pt x="71438" y="171450"/>
                </a:cubicBezTo>
                <a:close/>
                <a:moveTo>
                  <a:pt x="38666" y="161359"/>
                </a:moveTo>
                <a:cubicBezTo>
                  <a:pt x="33084" y="155778"/>
                  <a:pt x="24021" y="155778"/>
                  <a:pt x="18440" y="161359"/>
                </a:cubicBezTo>
                <a:cubicBezTo>
                  <a:pt x="12859" y="166941"/>
                  <a:pt x="12859" y="176004"/>
                  <a:pt x="18440" y="181585"/>
                </a:cubicBezTo>
                <a:lnTo>
                  <a:pt x="47015" y="210160"/>
                </a:lnTo>
                <a:cubicBezTo>
                  <a:pt x="52596" y="215741"/>
                  <a:pt x="61659" y="215741"/>
                  <a:pt x="67241" y="210160"/>
                </a:cubicBezTo>
                <a:cubicBezTo>
                  <a:pt x="72822" y="204579"/>
                  <a:pt x="72822" y="195516"/>
                  <a:pt x="67241" y="189934"/>
                </a:cubicBezTo>
                <a:lnTo>
                  <a:pt x="38666" y="161359"/>
                </a:lnTo>
                <a:close/>
                <a:moveTo>
                  <a:pt x="107156" y="92869"/>
                </a:moveTo>
                <a:cubicBezTo>
                  <a:pt x="99253" y="92869"/>
                  <a:pt x="92869" y="99253"/>
                  <a:pt x="92869" y="107156"/>
                </a:cubicBezTo>
                <a:cubicBezTo>
                  <a:pt x="92869" y="113094"/>
                  <a:pt x="88091" y="117872"/>
                  <a:pt x="82153" y="117872"/>
                </a:cubicBezTo>
                <a:cubicBezTo>
                  <a:pt x="76215" y="117872"/>
                  <a:pt x="71438" y="113094"/>
                  <a:pt x="71438" y="107156"/>
                </a:cubicBezTo>
                <a:cubicBezTo>
                  <a:pt x="71438" y="87422"/>
                  <a:pt x="87422" y="71438"/>
                  <a:pt x="107156" y="71438"/>
                </a:cubicBezTo>
                <a:cubicBezTo>
                  <a:pt x="126891" y="71438"/>
                  <a:pt x="142875" y="87422"/>
                  <a:pt x="142875" y="107156"/>
                </a:cubicBezTo>
                <a:cubicBezTo>
                  <a:pt x="142875" y="113094"/>
                  <a:pt x="138098" y="117872"/>
                  <a:pt x="132159" y="117872"/>
                </a:cubicBezTo>
                <a:cubicBezTo>
                  <a:pt x="126221" y="117872"/>
                  <a:pt x="121444" y="113094"/>
                  <a:pt x="121444" y="107156"/>
                </a:cubicBezTo>
                <a:cubicBezTo>
                  <a:pt x="121444" y="99253"/>
                  <a:pt x="115059" y="92869"/>
                  <a:pt x="107156" y="928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139190" y="3154561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Auditory/Verbal Channel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9140" y="3497461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Processes: Spoken words, sounds, narration, music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240417"/>
            <a:ext cx="5627370" cy="1645920"/>
          </a:xfrm>
          <a:custGeom>
            <a:avLst/>
            <a:gdLst/>
            <a:ahLst/>
            <a:cxnLst/>
            <a:rect l="l" t="t" r="r" b="b"/>
            <a:pathLst>
              <a:path w="5627370" h="1645920">
                <a:moveTo>
                  <a:pt x="152396" y="0"/>
                </a:moveTo>
                <a:lnTo>
                  <a:pt x="5474974" y="0"/>
                </a:lnTo>
                <a:cubicBezTo>
                  <a:pt x="5559084" y="0"/>
                  <a:pt x="5627370" y="68286"/>
                  <a:pt x="5627370" y="152396"/>
                </a:cubicBezTo>
                <a:lnTo>
                  <a:pt x="5627370" y="1493524"/>
                </a:lnTo>
                <a:cubicBezTo>
                  <a:pt x="5627370" y="1577690"/>
                  <a:pt x="5559140" y="1645920"/>
                  <a:pt x="5474974" y="1645920"/>
                </a:cubicBezTo>
                <a:lnTo>
                  <a:pt x="152396" y="1645920"/>
                </a:lnTo>
                <a:cubicBezTo>
                  <a:pt x="68286" y="1645920"/>
                  <a:pt x="0" y="1577634"/>
                  <a:pt x="0" y="149352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939" y="46157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0608" y="4606296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120" y="50252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your brain like a highway with two lanes. Each lane handles different traffic. When both lanes work together, information flows smoothly.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010" y="1337310"/>
            <a:ext cx="5627370" cy="2255520"/>
          </a:xfrm>
          <a:custGeom>
            <a:avLst/>
            <a:gdLst/>
            <a:ahLst/>
            <a:cxnLst/>
            <a:rect l="l" t="t" r="r" b="b"/>
            <a:pathLst>
              <a:path w="5627370" h="2255520">
                <a:moveTo>
                  <a:pt x="152405" y="0"/>
                </a:moveTo>
                <a:lnTo>
                  <a:pt x="5474965" y="0"/>
                </a:lnTo>
                <a:cubicBezTo>
                  <a:pt x="5559136" y="0"/>
                  <a:pt x="5627370" y="68234"/>
                  <a:pt x="5627370" y="152405"/>
                </a:cubicBezTo>
                <a:lnTo>
                  <a:pt x="5627370" y="2103115"/>
                </a:lnTo>
                <a:cubicBezTo>
                  <a:pt x="5627370" y="2187286"/>
                  <a:pt x="5559136" y="2255520"/>
                  <a:pt x="5474965" y="2255520"/>
                </a:cubicBezTo>
                <a:lnTo>
                  <a:pt x="152405" y="2255520"/>
                </a:lnTo>
                <a:cubicBezTo>
                  <a:pt x="68234" y="2255520"/>
                  <a:pt x="0" y="2187286"/>
                  <a:pt x="0" y="21031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2701" y="154103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841807" y="1531618"/>
            <a:ext cx="2695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 Together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0320" y="202680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03551" y="1988707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channel processes images and video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0320" y="240780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03551" y="2369707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Auditory channel processes spoken words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0320" y="278880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3551" y="2750707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channels have separate capacities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0320" y="316980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03551" y="3131707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both channels = better learning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3752735"/>
            <a:ext cx="5627370" cy="2131695"/>
          </a:xfrm>
          <a:custGeom>
            <a:avLst/>
            <a:gdLst/>
            <a:ahLst/>
            <a:cxnLst/>
            <a:rect l="l" t="t" r="r" b="b"/>
            <a:pathLst>
              <a:path w="5627370" h="2131695">
                <a:moveTo>
                  <a:pt x="152395" y="0"/>
                </a:moveTo>
                <a:lnTo>
                  <a:pt x="5474975" y="0"/>
                </a:lnTo>
                <a:cubicBezTo>
                  <a:pt x="5559084" y="0"/>
                  <a:pt x="5627370" y="68286"/>
                  <a:pt x="5627370" y="152395"/>
                </a:cubicBezTo>
                <a:lnTo>
                  <a:pt x="5627370" y="1979300"/>
                </a:lnTo>
                <a:cubicBezTo>
                  <a:pt x="5627370" y="2063465"/>
                  <a:pt x="5559140" y="2131695"/>
                  <a:pt x="5474975" y="2131695"/>
                </a:cubicBezTo>
                <a:lnTo>
                  <a:pt x="152395" y="2131695"/>
                </a:lnTo>
                <a:cubicBezTo>
                  <a:pt x="68286" y="2131695"/>
                  <a:pt x="0" y="2063409"/>
                  <a:pt x="0" y="197930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8420" y="437185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841807" y="43624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0320" y="4781429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Cooking Show: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Your eyes watch the chef (visual channel) while your ears listen to instructions (auditory channel). Using both helps you learn faster.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6008374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Two parallel pathways labeled "Visual Channel" and "Auditory Channel" with arrows | Image: Brain scan showing two active processing areas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979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Theory: Limited Capacity Assumption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brain can only handle so much at once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617470"/>
          </a:xfrm>
          <a:custGeom>
            <a:avLst/>
            <a:gdLst/>
            <a:ahLst/>
            <a:cxnLst/>
            <a:rect l="l" t="t" r="r" b="b"/>
            <a:pathLst>
              <a:path w="5627370" h="2617470">
                <a:moveTo>
                  <a:pt x="152389" y="0"/>
                </a:moveTo>
                <a:lnTo>
                  <a:pt x="5474981" y="0"/>
                </a:lnTo>
                <a:cubicBezTo>
                  <a:pt x="5559143" y="0"/>
                  <a:pt x="5627370" y="68227"/>
                  <a:pt x="5627370" y="152389"/>
                </a:cubicBezTo>
                <a:lnTo>
                  <a:pt x="5627370" y="2465081"/>
                </a:lnTo>
                <a:cubicBezTo>
                  <a:pt x="5627370" y="2549243"/>
                  <a:pt x="5559143" y="2617470"/>
                  <a:pt x="5474981" y="2617470"/>
                </a:cubicBezTo>
                <a:lnTo>
                  <a:pt x="152389" y="2617470"/>
                </a:lnTo>
                <a:cubicBezTo>
                  <a:pt x="68227" y="2617470"/>
                  <a:pt x="0" y="2549243"/>
                  <a:pt x="0" y="24650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501" y="154103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94680" y="71438"/>
                </a:moveTo>
                <a:cubicBezTo>
                  <a:pt x="299591" y="71438"/>
                  <a:pt x="303609" y="75456"/>
                  <a:pt x="303609" y="80367"/>
                </a:cubicBezTo>
                <a:lnTo>
                  <a:pt x="303609" y="205383"/>
                </a:lnTo>
                <a:cubicBezTo>
                  <a:pt x="303609" y="210294"/>
                  <a:pt x="299591" y="214313"/>
                  <a:pt x="294680" y="214313"/>
                </a:cubicBezTo>
                <a:lnTo>
                  <a:pt x="62508" y="214313"/>
                </a:lnTo>
                <a:cubicBezTo>
                  <a:pt x="57596" y="214313"/>
                  <a:pt x="53578" y="210294"/>
                  <a:pt x="53578" y="205383"/>
                </a:cubicBezTo>
                <a:lnTo>
                  <a:pt x="53578" y="80367"/>
                </a:lnTo>
                <a:cubicBezTo>
                  <a:pt x="53578" y="75456"/>
                  <a:pt x="57596" y="71438"/>
                  <a:pt x="62508" y="71438"/>
                </a:cubicBezTo>
                <a:lnTo>
                  <a:pt x="294680" y="71438"/>
                </a:lnTo>
                <a:close/>
                <a:moveTo>
                  <a:pt x="62508" y="35719"/>
                </a:moveTo>
                <a:cubicBezTo>
                  <a:pt x="37840" y="35719"/>
                  <a:pt x="17859" y="55699"/>
                  <a:pt x="17859" y="80367"/>
                </a:cubicBezTo>
                <a:lnTo>
                  <a:pt x="17859" y="205383"/>
                </a:lnTo>
                <a:cubicBezTo>
                  <a:pt x="17859" y="230051"/>
                  <a:pt x="37840" y="250031"/>
                  <a:pt x="62508" y="250031"/>
                </a:cubicBezTo>
                <a:lnTo>
                  <a:pt x="294680" y="250031"/>
                </a:lnTo>
                <a:cubicBezTo>
                  <a:pt x="319348" y="250031"/>
                  <a:pt x="339328" y="230051"/>
                  <a:pt x="339328" y="205383"/>
                </a:cubicBezTo>
                <a:lnTo>
                  <a:pt x="339328" y="178594"/>
                </a:lnTo>
                <a:cubicBezTo>
                  <a:pt x="349207" y="178594"/>
                  <a:pt x="357188" y="170613"/>
                  <a:pt x="357188" y="16073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lnTo>
                  <a:pt x="339328" y="80367"/>
                </a:lnTo>
                <a:cubicBezTo>
                  <a:pt x="339328" y="55699"/>
                  <a:pt x="319348" y="35719"/>
                  <a:pt x="294680" y="35719"/>
                </a:cubicBezTo>
                <a:lnTo>
                  <a:pt x="62508" y="35719"/>
                </a:lnTo>
                <a:close/>
                <a:moveTo>
                  <a:pt x="93762" y="98227"/>
                </a:moveTo>
                <a:cubicBezTo>
                  <a:pt x="86339" y="98227"/>
                  <a:pt x="80367" y="104198"/>
                  <a:pt x="80367" y="111621"/>
                </a:cubicBezTo>
                <a:lnTo>
                  <a:pt x="80367" y="174129"/>
                </a:lnTo>
                <a:cubicBezTo>
                  <a:pt x="80367" y="181552"/>
                  <a:pt x="86339" y="187523"/>
                  <a:pt x="93762" y="187523"/>
                </a:cubicBezTo>
                <a:lnTo>
                  <a:pt x="174129" y="187523"/>
                </a:lnTo>
                <a:cubicBezTo>
                  <a:pt x="181552" y="187523"/>
                  <a:pt x="187523" y="181552"/>
                  <a:pt x="187523" y="174129"/>
                </a:cubicBezTo>
                <a:lnTo>
                  <a:pt x="187523" y="111621"/>
                </a:lnTo>
                <a:cubicBezTo>
                  <a:pt x="187523" y="104198"/>
                  <a:pt x="181552" y="98227"/>
                  <a:pt x="174129" y="98227"/>
                </a:cubicBezTo>
                <a:lnTo>
                  <a:pt x="93762" y="9822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18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Processing Power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7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channel can only process a limited amount of information at one time. Like a funnel - only so much can go through.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17"/>
            <a:ext cx="5236845" cy="1112520"/>
          </a:xfrm>
          <a:custGeom>
            <a:avLst/>
            <a:gdLst/>
            <a:ahLst/>
            <a:cxnLst/>
            <a:rect l="l" t="t" r="r" b="b"/>
            <a:pathLst>
              <a:path w="5236845" h="1112520">
                <a:moveTo>
                  <a:pt x="114300" y="0"/>
                </a:moveTo>
                <a:lnTo>
                  <a:pt x="5122545" y="0"/>
                </a:lnTo>
                <a:cubicBezTo>
                  <a:pt x="5185671" y="0"/>
                  <a:pt x="5236845" y="51174"/>
                  <a:pt x="5236845" y="114300"/>
                </a:cubicBezTo>
                <a:lnTo>
                  <a:pt x="5236845" y="998220"/>
                </a:lnTo>
                <a:cubicBezTo>
                  <a:pt x="5236845" y="1061346"/>
                  <a:pt x="5185671" y="1112520"/>
                  <a:pt x="5122545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66258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9140" y="3139325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brain is like a smartphone. Run too many apps, and it slows down. Each channel has limited RAM.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4110871"/>
            <a:ext cx="5627370" cy="1779270"/>
          </a:xfrm>
          <a:custGeom>
            <a:avLst/>
            <a:gdLst/>
            <a:ahLst/>
            <a:cxnLst/>
            <a:rect l="l" t="t" r="r" b="b"/>
            <a:pathLst>
              <a:path w="5627370" h="1779270">
                <a:moveTo>
                  <a:pt x="152394" y="0"/>
                </a:moveTo>
                <a:lnTo>
                  <a:pt x="5474976" y="0"/>
                </a:lnTo>
                <a:cubicBezTo>
                  <a:pt x="5559141" y="0"/>
                  <a:pt x="5627370" y="68229"/>
                  <a:pt x="5627370" y="152394"/>
                </a:cubicBezTo>
                <a:lnTo>
                  <a:pt x="5627370" y="1626876"/>
                </a:lnTo>
                <a:cubicBezTo>
                  <a:pt x="5627370" y="1711041"/>
                  <a:pt x="5559141" y="1779270"/>
                  <a:pt x="5474976" y="1779270"/>
                </a:cubicBezTo>
                <a:lnTo>
                  <a:pt x="152394" y="1779270"/>
                </a:lnTo>
                <a:cubicBezTo>
                  <a:pt x="68229" y="1779270"/>
                  <a:pt x="0" y="1711041"/>
                  <a:pt x="0" y="162687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939" y="4550932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608" y="4541518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49605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either channel gets overloaded, learning suffers. Good multimedia design prevents overload.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010" y="1337310"/>
            <a:ext cx="5627370" cy="2512695"/>
          </a:xfrm>
          <a:custGeom>
            <a:avLst/>
            <a:gdLst/>
            <a:ahLst/>
            <a:cxnLst/>
            <a:rect l="l" t="t" r="r" b="b"/>
            <a:pathLst>
              <a:path w="5627370" h="2512695">
                <a:moveTo>
                  <a:pt x="152395" y="0"/>
                </a:moveTo>
                <a:lnTo>
                  <a:pt x="5474975" y="0"/>
                </a:lnTo>
                <a:cubicBezTo>
                  <a:pt x="5559140" y="0"/>
                  <a:pt x="5627370" y="68230"/>
                  <a:pt x="5627370" y="152395"/>
                </a:cubicBezTo>
                <a:lnTo>
                  <a:pt x="5627370" y="2360300"/>
                </a:lnTo>
                <a:cubicBezTo>
                  <a:pt x="5627370" y="2444465"/>
                  <a:pt x="5559140" y="2512695"/>
                  <a:pt x="5474975" y="2512695"/>
                </a:cubicBezTo>
                <a:lnTo>
                  <a:pt x="152395" y="2512695"/>
                </a:lnTo>
                <a:cubicBezTo>
                  <a:pt x="68230" y="2512695"/>
                  <a:pt x="0" y="2444465"/>
                  <a:pt x="0" y="2360300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8420" y="15410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41807" y="1531618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Cognitive Overload?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320" y="1988707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too much information enters a channel, causing confusion and reduced learning.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74130" y="2640217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58325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Overload: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 diagrams with too many elements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74130" y="3188853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306961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Auditory Overload: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Fast narration with complex vocabulary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010" y="4011817"/>
            <a:ext cx="5627370" cy="1874520"/>
          </a:xfrm>
          <a:custGeom>
            <a:avLst/>
            <a:gdLst/>
            <a:ahLst/>
            <a:cxnLst/>
            <a:rect l="l" t="t" r="r" b="b"/>
            <a:pathLst>
              <a:path w="5627370" h="1874520">
                <a:moveTo>
                  <a:pt x="152398" y="0"/>
                </a:moveTo>
                <a:lnTo>
                  <a:pt x="5474972" y="0"/>
                </a:lnTo>
                <a:cubicBezTo>
                  <a:pt x="5559139" y="0"/>
                  <a:pt x="5627370" y="68231"/>
                  <a:pt x="5627370" y="152398"/>
                </a:cubicBezTo>
                <a:lnTo>
                  <a:pt x="5627370" y="1722122"/>
                </a:lnTo>
                <a:cubicBezTo>
                  <a:pt x="5627370" y="1806289"/>
                  <a:pt x="5559139" y="1874520"/>
                  <a:pt x="5474972" y="1874520"/>
                </a:cubicBezTo>
                <a:lnTo>
                  <a:pt x="152398" y="1874520"/>
                </a:lnTo>
                <a:cubicBezTo>
                  <a:pt x="68231" y="1874520"/>
                  <a:pt x="0" y="1806289"/>
                  <a:pt x="0" y="17221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8420" y="4501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841807" y="4491996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0320" y="49109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PowerPoint Slides: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slide with 10 bullet points, 5 images, and a video overwhelms the visual channel. Better: one idea per slide.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6008374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Funnel showing limited capacity with "Overload" warning | Image: Smartphone with too many apps open, showing slow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73557" cy="441339"/>
          </a:xfrm>
          <a:custGeom>
            <a:avLst/>
            <a:gdLst/>
            <a:ahLst/>
            <a:cxnLst/>
            <a:rect l="l" t="t" r="r" b="b"/>
            <a:pathLst>
              <a:path w="73557" h="441339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404561"/>
                </a:lnTo>
                <a:cubicBezTo>
                  <a:pt x="73557" y="424873"/>
                  <a:pt x="57090" y="441339"/>
                  <a:pt x="36778" y="441339"/>
                </a:cubicBezTo>
                <a:lnTo>
                  <a:pt x="36778" y="441339"/>
                </a:lnTo>
                <a:cubicBezTo>
                  <a:pt x="16466" y="441339"/>
                  <a:pt x="0" y="424873"/>
                  <a:pt x="0" y="40456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51674" y="367783"/>
            <a:ext cx="9663493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Theory: Active Processing Assumption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1674" y="882679"/>
            <a:ext cx="11355294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requires mental effort and 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461" y="1290918"/>
            <a:ext cx="5652822" cy="3584043"/>
          </a:xfrm>
          <a:custGeom>
            <a:avLst/>
            <a:gdLst/>
            <a:ahLst/>
            <a:cxnLst/>
            <a:rect l="l" t="t" r="r" b="b"/>
            <a:pathLst>
              <a:path w="5652822" h="3584043">
                <a:moveTo>
                  <a:pt x="147125" y="0"/>
                </a:moveTo>
                <a:lnTo>
                  <a:pt x="5505697" y="0"/>
                </a:lnTo>
                <a:cubicBezTo>
                  <a:pt x="5586952" y="0"/>
                  <a:pt x="5652822" y="65870"/>
                  <a:pt x="5652822" y="147125"/>
                </a:cubicBezTo>
                <a:lnTo>
                  <a:pt x="5652822" y="3436918"/>
                </a:lnTo>
                <a:cubicBezTo>
                  <a:pt x="5652822" y="3518173"/>
                  <a:pt x="5586952" y="3584043"/>
                  <a:pt x="5505697" y="3584043"/>
                </a:cubicBezTo>
                <a:lnTo>
                  <a:pt x="147125" y="3584043"/>
                </a:lnTo>
                <a:cubicBezTo>
                  <a:pt x="65870" y="3584043"/>
                  <a:pt x="0" y="3518173"/>
                  <a:pt x="0" y="3436918"/>
                </a:cubicBezTo>
                <a:lnTo>
                  <a:pt x="0" y="147125"/>
                </a:lnTo>
                <a:cubicBezTo>
                  <a:pt x="0" y="65924"/>
                  <a:pt x="65924" y="0"/>
                  <a:pt x="14712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3048" y="1487572"/>
            <a:ext cx="241357" cy="275837"/>
          </a:xfrm>
          <a:custGeom>
            <a:avLst/>
            <a:gdLst/>
            <a:ahLst/>
            <a:cxnLst/>
            <a:rect l="l" t="t" r="r" b="b"/>
            <a:pathLst>
              <a:path w="241357" h="275837">
                <a:moveTo>
                  <a:pt x="138188" y="-17240"/>
                </a:moveTo>
                <a:cubicBezTo>
                  <a:pt x="154839" y="-17240"/>
                  <a:pt x="168358" y="-3721"/>
                  <a:pt x="168358" y="12930"/>
                </a:cubicBezTo>
                <a:cubicBezTo>
                  <a:pt x="168358" y="29581"/>
                  <a:pt x="154839" y="43100"/>
                  <a:pt x="138188" y="43100"/>
                </a:cubicBezTo>
                <a:cubicBezTo>
                  <a:pt x="121537" y="43100"/>
                  <a:pt x="108018" y="29581"/>
                  <a:pt x="108018" y="12930"/>
                </a:cubicBezTo>
                <a:cubicBezTo>
                  <a:pt x="108018" y="-3721"/>
                  <a:pt x="121537" y="-17240"/>
                  <a:pt x="138188" y="-17240"/>
                </a:cubicBezTo>
                <a:close/>
                <a:moveTo>
                  <a:pt x="66589" y="94819"/>
                </a:moveTo>
                <a:cubicBezTo>
                  <a:pt x="64811" y="94819"/>
                  <a:pt x="63249" y="95896"/>
                  <a:pt x="62602" y="97513"/>
                </a:cubicBezTo>
                <a:lnTo>
                  <a:pt x="50750" y="127090"/>
                </a:lnTo>
                <a:cubicBezTo>
                  <a:pt x="47194" y="135925"/>
                  <a:pt x="37173" y="140235"/>
                  <a:pt x="28338" y="136679"/>
                </a:cubicBezTo>
                <a:cubicBezTo>
                  <a:pt x="19503" y="133124"/>
                  <a:pt x="15193" y="123103"/>
                  <a:pt x="18748" y="114268"/>
                </a:cubicBezTo>
                <a:lnTo>
                  <a:pt x="30547" y="84691"/>
                </a:lnTo>
                <a:cubicBezTo>
                  <a:pt x="36473" y="69983"/>
                  <a:pt x="50696" y="60339"/>
                  <a:pt x="66589" y="60339"/>
                </a:cubicBezTo>
                <a:lnTo>
                  <a:pt x="119009" y="60339"/>
                </a:lnTo>
                <a:cubicBezTo>
                  <a:pt x="134363" y="60339"/>
                  <a:pt x="148532" y="68474"/>
                  <a:pt x="156236" y="81728"/>
                </a:cubicBezTo>
                <a:lnTo>
                  <a:pt x="173907" y="112059"/>
                </a:lnTo>
                <a:lnTo>
                  <a:pt x="207093" y="112059"/>
                </a:lnTo>
                <a:cubicBezTo>
                  <a:pt x="216629" y="112059"/>
                  <a:pt x="224333" y="119763"/>
                  <a:pt x="224333" y="129299"/>
                </a:cubicBezTo>
                <a:cubicBezTo>
                  <a:pt x="224333" y="138834"/>
                  <a:pt x="216629" y="146538"/>
                  <a:pt x="207093" y="146538"/>
                </a:cubicBezTo>
                <a:lnTo>
                  <a:pt x="173907" y="146538"/>
                </a:lnTo>
                <a:cubicBezTo>
                  <a:pt x="161623" y="146538"/>
                  <a:pt x="150310" y="140020"/>
                  <a:pt x="144114" y="129406"/>
                </a:cubicBezTo>
                <a:lnTo>
                  <a:pt x="138727" y="120194"/>
                </a:lnTo>
                <a:lnTo>
                  <a:pt x="127575" y="158121"/>
                </a:lnTo>
                <a:lnTo>
                  <a:pt x="168196" y="170297"/>
                </a:lnTo>
                <a:cubicBezTo>
                  <a:pt x="183119" y="174769"/>
                  <a:pt x="190715" y="191308"/>
                  <a:pt x="184412" y="205585"/>
                </a:cubicBezTo>
                <a:lnTo>
                  <a:pt x="153919" y="274221"/>
                </a:lnTo>
                <a:cubicBezTo>
                  <a:pt x="150040" y="282949"/>
                  <a:pt x="139858" y="286827"/>
                  <a:pt x="131184" y="282949"/>
                </a:cubicBezTo>
                <a:cubicBezTo>
                  <a:pt x="122510" y="279070"/>
                  <a:pt x="118578" y="268887"/>
                  <a:pt x="122457" y="260214"/>
                </a:cubicBezTo>
                <a:lnTo>
                  <a:pt x="148963" y="200521"/>
                </a:lnTo>
                <a:lnTo>
                  <a:pt x="97297" y="185005"/>
                </a:lnTo>
                <a:cubicBezTo>
                  <a:pt x="79680" y="179725"/>
                  <a:pt x="69283" y="161462"/>
                  <a:pt x="73754" y="143629"/>
                </a:cubicBezTo>
                <a:lnTo>
                  <a:pt x="85984" y="94819"/>
                </a:lnTo>
                <a:lnTo>
                  <a:pt x="66643" y="94819"/>
                </a:lnTo>
                <a:close/>
                <a:moveTo>
                  <a:pt x="62279" y="192332"/>
                </a:moveTo>
                <a:cubicBezTo>
                  <a:pt x="69444" y="200359"/>
                  <a:pt x="78818" y="206501"/>
                  <a:pt x="89863" y="209787"/>
                </a:cubicBezTo>
                <a:lnTo>
                  <a:pt x="92395" y="210541"/>
                </a:lnTo>
                <a:lnTo>
                  <a:pt x="88677" y="220939"/>
                </a:lnTo>
                <a:cubicBezTo>
                  <a:pt x="85553" y="229721"/>
                  <a:pt x="80057" y="237532"/>
                  <a:pt x="72892" y="243459"/>
                </a:cubicBezTo>
                <a:lnTo>
                  <a:pt x="28500" y="280039"/>
                </a:lnTo>
                <a:cubicBezTo>
                  <a:pt x="21173" y="286073"/>
                  <a:pt x="10290" y="285050"/>
                  <a:pt x="4256" y="277723"/>
                </a:cubicBezTo>
                <a:cubicBezTo>
                  <a:pt x="-1778" y="270396"/>
                  <a:pt x="-754" y="259513"/>
                  <a:pt x="6573" y="253479"/>
                </a:cubicBezTo>
                <a:lnTo>
                  <a:pt x="50965" y="216898"/>
                </a:lnTo>
                <a:cubicBezTo>
                  <a:pt x="53390" y="214905"/>
                  <a:pt x="55167" y="212319"/>
                  <a:pt x="56245" y="209410"/>
                </a:cubicBezTo>
                <a:lnTo>
                  <a:pt x="62279" y="19233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14161" y="1478485"/>
            <a:ext cx="3070986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is Active, Not Passive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9030" y="1919717"/>
            <a:ext cx="5351240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Meaningful learning happens when learners actively engage in three cognitive processes: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708" y="2548616"/>
            <a:ext cx="5266650" cy="632586"/>
          </a:xfrm>
          <a:custGeom>
            <a:avLst/>
            <a:gdLst/>
            <a:ahLst/>
            <a:cxnLst/>
            <a:rect l="l" t="t" r="r" b="b"/>
            <a:pathLst>
              <a:path w="5266650" h="632586">
                <a:moveTo>
                  <a:pt x="110336" y="0"/>
                </a:moveTo>
                <a:lnTo>
                  <a:pt x="5156314" y="0"/>
                </a:lnTo>
                <a:cubicBezTo>
                  <a:pt x="5217251" y="0"/>
                  <a:pt x="5266650" y="49399"/>
                  <a:pt x="5266650" y="110336"/>
                </a:cubicBezTo>
                <a:lnTo>
                  <a:pt x="5266650" y="522251"/>
                </a:lnTo>
                <a:cubicBezTo>
                  <a:pt x="5266650" y="583187"/>
                  <a:pt x="5217251" y="632586"/>
                  <a:pt x="5156314" y="632586"/>
                </a:cubicBezTo>
                <a:lnTo>
                  <a:pt x="110336" y="632586"/>
                </a:lnTo>
                <a:cubicBezTo>
                  <a:pt x="49399" y="632586"/>
                  <a:pt x="0" y="583187"/>
                  <a:pt x="0" y="522251"/>
                </a:cubicBezTo>
                <a:lnTo>
                  <a:pt x="0" y="110336"/>
                </a:lnTo>
                <a:cubicBezTo>
                  <a:pt x="0" y="49399"/>
                  <a:pt x="49399" y="0"/>
                  <a:pt x="1103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720" y="2717804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98089" y="2772971"/>
            <a:ext cx="11952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1281" y="2662636"/>
            <a:ext cx="222508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1281" y="2883306"/>
            <a:ext cx="221589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attention to important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708" y="3298908"/>
            <a:ext cx="5266650" cy="632586"/>
          </a:xfrm>
          <a:custGeom>
            <a:avLst/>
            <a:gdLst/>
            <a:ahLst/>
            <a:cxnLst/>
            <a:rect l="l" t="t" r="r" b="b"/>
            <a:pathLst>
              <a:path w="5266650" h="632586">
                <a:moveTo>
                  <a:pt x="110336" y="0"/>
                </a:moveTo>
                <a:lnTo>
                  <a:pt x="5156314" y="0"/>
                </a:lnTo>
                <a:cubicBezTo>
                  <a:pt x="5217251" y="0"/>
                  <a:pt x="5266650" y="49399"/>
                  <a:pt x="5266650" y="110336"/>
                </a:cubicBezTo>
                <a:lnTo>
                  <a:pt x="5266650" y="522251"/>
                </a:lnTo>
                <a:cubicBezTo>
                  <a:pt x="5266650" y="583187"/>
                  <a:pt x="5217251" y="632586"/>
                  <a:pt x="5156314" y="632586"/>
                </a:cubicBezTo>
                <a:lnTo>
                  <a:pt x="110336" y="632586"/>
                </a:lnTo>
                <a:cubicBezTo>
                  <a:pt x="49399" y="632586"/>
                  <a:pt x="0" y="583187"/>
                  <a:pt x="0" y="522251"/>
                </a:cubicBezTo>
                <a:lnTo>
                  <a:pt x="0" y="110336"/>
                </a:lnTo>
                <a:cubicBezTo>
                  <a:pt x="0" y="49399"/>
                  <a:pt x="49399" y="0"/>
                  <a:pt x="1103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720" y="3468077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66" y="3523244"/>
            <a:ext cx="13791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1281" y="3412910"/>
            <a:ext cx="239058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1281" y="3633579"/>
            <a:ext cx="238139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Arrange information into logical 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708" y="4049181"/>
            <a:ext cx="5266650" cy="632586"/>
          </a:xfrm>
          <a:custGeom>
            <a:avLst/>
            <a:gdLst/>
            <a:ahLst/>
            <a:cxnLst/>
            <a:rect l="l" t="t" r="r" b="b"/>
            <a:pathLst>
              <a:path w="5266650" h="632586">
                <a:moveTo>
                  <a:pt x="110336" y="0"/>
                </a:moveTo>
                <a:lnTo>
                  <a:pt x="5156314" y="0"/>
                </a:lnTo>
                <a:cubicBezTo>
                  <a:pt x="5217251" y="0"/>
                  <a:pt x="5266650" y="49399"/>
                  <a:pt x="5266650" y="110336"/>
                </a:cubicBezTo>
                <a:lnTo>
                  <a:pt x="5266650" y="522251"/>
                </a:lnTo>
                <a:cubicBezTo>
                  <a:pt x="5266650" y="583187"/>
                  <a:pt x="5217251" y="632586"/>
                  <a:pt x="5156314" y="632586"/>
                </a:cubicBezTo>
                <a:lnTo>
                  <a:pt x="110336" y="632586"/>
                </a:lnTo>
                <a:cubicBezTo>
                  <a:pt x="49399" y="632586"/>
                  <a:pt x="0" y="583187"/>
                  <a:pt x="0" y="522251"/>
                </a:cubicBezTo>
                <a:lnTo>
                  <a:pt x="0" y="110336"/>
                </a:lnTo>
                <a:cubicBezTo>
                  <a:pt x="0" y="49399"/>
                  <a:pt x="49399" y="0"/>
                  <a:pt x="11033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720" y="4218350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0"/>
                </a:moveTo>
                <a:lnTo>
                  <a:pt x="220670" y="0"/>
                </a:lnTo>
                <a:cubicBezTo>
                  <a:pt x="261267" y="0"/>
                  <a:pt x="294226" y="32960"/>
                  <a:pt x="294226" y="73557"/>
                </a:cubicBezTo>
                <a:lnTo>
                  <a:pt x="294226" y="220670"/>
                </a:lnTo>
                <a:cubicBezTo>
                  <a:pt x="294226" y="261294"/>
                  <a:pt x="261294" y="294226"/>
                  <a:pt x="220670" y="294226"/>
                </a:cubicBezTo>
                <a:lnTo>
                  <a:pt x="73557" y="294226"/>
                </a:lnTo>
                <a:cubicBezTo>
                  <a:pt x="32932" y="294226"/>
                  <a:pt x="0" y="261294"/>
                  <a:pt x="0" y="220670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785791" y="4273518"/>
            <a:ext cx="13791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1281" y="4163183"/>
            <a:ext cx="227105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1281" y="4383853"/>
            <a:ext cx="226186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new info with prior knowledge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1461" y="5027487"/>
            <a:ext cx="5652822" cy="1257817"/>
          </a:xfrm>
          <a:custGeom>
            <a:avLst/>
            <a:gdLst/>
            <a:ahLst/>
            <a:cxnLst/>
            <a:rect l="l" t="t" r="r" b="b"/>
            <a:pathLst>
              <a:path w="5652822" h="1257817">
                <a:moveTo>
                  <a:pt x="147114" y="0"/>
                </a:moveTo>
                <a:lnTo>
                  <a:pt x="5505707" y="0"/>
                </a:lnTo>
                <a:cubicBezTo>
                  <a:pt x="5586956" y="0"/>
                  <a:pt x="5652822" y="65865"/>
                  <a:pt x="5652822" y="147114"/>
                </a:cubicBezTo>
                <a:lnTo>
                  <a:pt x="5652822" y="1110703"/>
                </a:lnTo>
                <a:cubicBezTo>
                  <a:pt x="5652822" y="1191952"/>
                  <a:pt x="5586956" y="1257817"/>
                  <a:pt x="5505707" y="1257817"/>
                </a:cubicBezTo>
                <a:lnTo>
                  <a:pt x="147114" y="1257817"/>
                </a:lnTo>
                <a:cubicBezTo>
                  <a:pt x="65920" y="1257817"/>
                  <a:pt x="0" y="1191897"/>
                  <a:pt x="0" y="1110703"/>
                </a:cubicBezTo>
                <a:lnTo>
                  <a:pt x="0" y="147114"/>
                </a:lnTo>
                <a:cubicBezTo>
                  <a:pt x="0" y="65920"/>
                  <a:pt x="65920" y="0"/>
                  <a:pt x="1471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288" y="5224132"/>
            <a:ext cx="206878" cy="275837"/>
          </a:xfrm>
          <a:custGeom>
            <a:avLst/>
            <a:gdLst/>
            <a:ahLst/>
            <a:cxnLst/>
            <a:rect l="l" t="t" r="r" b="b"/>
            <a:pathLst>
              <a:path w="206878" h="275837">
                <a:moveTo>
                  <a:pt x="157798" y="206878"/>
                </a:moveTo>
                <a:cubicBezTo>
                  <a:pt x="161731" y="194864"/>
                  <a:pt x="169597" y="183981"/>
                  <a:pt x="178486" y="174607"/>
                </a:cubicBezTo>
                <a:cubicBezTo>
                  <a:pt x="196103" y="156074"/>
                  <a:pt x="206878" y="131023"/>
                  <a:pt x="206878" y="103439"/>
                </a:cubicBezTo>
                <a:cubicBezTo>
                  <a:pt x="206878" y="46332"/>
                  <a:pt x="160546" y="0"/>
                  <a:pt x="103439" y="0"/>
                </a:cubicBezTo>
                <a:cubicBezTo>
                  <a:pt x="46332" y="0"/>
                  <a:pt x="0" y="46332"/>
                  <a:pt x="0" y="103439"/>
                </a:cubicBezTo>
                <a:cubicBezTo>
                  <a:pt x="0" y="131023"/>
                  <a:pt x="10775" y="156074"/>
                  <a:pt x="28392" y="174607"/>
                </a:cubicBezTo>
                <a:cubicBezTo>
                  <a:pt x="37281" y="183981"/>
                  <a:pt x="45201" y="194864"/>
                  <a:pt x="49080" y="206878"/>
                </a:cubicBezTo>
                <a:lnTo>
                  <a:pt x="157744" y="206878"/>
                </a:lnTo>
                <a:close/>
                <a:moveTo>
                  <a:pt x="155158" y="232738"/>
                </a:moveTo>
                <a:lnTo>
                  <a:pt x="51719" y="232738"/>
                </a:lnTo>
                <a:lnTo>
                  <a:pt x="51719" y="241357"/>
                </a:lnTo>
                <a:cubicBezTo>
                  <a:pt x="51719" y="265170"/>
                  <a:pt x="71007" y="284457"/>
                  <a:pt x="94819" y="284457"/>
                </a:cubicBezTo>
                <a:lnTo>
                  <a:pt x="112059" y="284457"/>
                </a:lnTo>
                <a:cubicBezTo>
                  <a:pt x="135871" y="284457"/>
                  <a:pt x="155158" y="265170"/>
                  <a:pt x="155158" y="241357"/>
                </a:cubicBezTo>
                <a:lnTo>
                  <a:pt x="155158" y="232738"/>
                </a:lnTo>
                <a:close/>
                <a:moveTo>
                  <a:pt x="99129" y="60339"/>
                </a:moveTo>
                <a:cubicBezTo>
                  <a:pt x="77687" y="60339"/>
                  <a:pt x="60339" y="77687"/>
                  <a:pt x="60339" y="99129"/>
                </a:cubicBezTo>
                <a:cubicBezTo>
                  <a:pt x="60339" y="106294"/>
                  <a:pt x="54575" y="112059"/>
                  <a:pt x="47410" y="112059"/>
                </a:cubicBezTo>
                <a:cubicBezTo>
                  <a:pt x="40244" y="112059"/>
                  <a:pt x="34480" y="106294"/>
                  <a:pt x="34480" y="99129"/>
                </a:cubicBezTo>
                <a:cubicBezTo>
                  <a:pt x="34480" y="63410"/>
                  <a:pt x="63410" y="34480"/>
                  <a:pt x="99129" y="34480"/>
                </a:cubicBezTo>
                <a:cubicBezTo>
                  <a:pt x="106294" y="34480"/>
                  <a:pt x="112059" y="40244"/>
                  <a:pt x="112059" y="47410"/>
                </a:cubicBezTo>
                <a:cubicBezTo>
                  <a:pt x="112059" y="54575"/>
                  <a:pt x="106294" y="60339"/>
                  <a:pt x="99129" y="6033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161" y="5215045"/>
            <a:ext cx="125046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9030" y="5619499"/>
            <a:ext cx="5351240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Passive watching is not enough. Your brain must actively work with the material to truly learn it.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4154" y="1290918"/>
            <a:ext cx="5652822" cy="2177274"/>
          </a:xfrm>
          <a:custGeom>
            <a:avLst/>
            <a:gdLst/>
            <a:ahLst/>
            <a:cxnLst/>
            <a:rect l="l" t="t" r="r" b="b"/>
            <a:pathLst>
              <a:path w="5652822" h="2177274">
                <a:moveTo>
                  <a:pt x="147118" y="0"/>
                </a:moveTo>
                <a:lnTo>
                  <a:pt x="5505703" y="0"/>
                </a:lnTo>
                <a:cubicBezTo>
                  <a:pt x="5586955" y="0"/>
                  <a:pt x="5652822" y="65867"/>
                  <a:pt x="5652822" y="147118"/>
                </a:cubicBezTo>
                <a:lnTo>
                  <a:pt x="5652822" y="2030156"/>
                </a:lnTo>
                <a:cubicBezTo>
                  <a:pt x="5652822" y="2111407"/>
                  <a:pt x="5586955" y="2177274"/>
                  <a:pt x="5505703" y="2177274"/>
                </a:cubicBezTo>
                <a:lnTo>
                  <a:pt x="147118" y="2177274"/>
                </a:lnTo>
                <a:cubicBezTo>
                  <a:pt x="65867" y="2177274"/>
                  <a:pt x="0" y="2111407"/>
                  <a:pt x="0" y="2030156"/>
                </a:cubicBezTo>
                <a:lnTo>
                  <a:pt x="0" y="147118"/>
                </a:lnTo>
                <a:cubicBezTo>
                  <a:pt x="0" y="65922"/>
                  <a:pt x="65922" y="0"/>
                  <a:pt x="14711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98502" y="1487572"/>
            <a:ext cx="275837" cy="275837"/>
          </a:xfrm>
          <a:custGeom>
            <a:avLst/>
            <a:gdLst/>
            <a:ahLst/>
            <a:cxnLst/>
            <a:rect l="l" t="t" r="r" b="b"/>
            <a:pathLst>
              <a:path w="275837" h="275837">
                <a:moveTo>
                  <a:pt x="64649" y="30170"/>
                </a:moveTo>
                <a:cubicBezTo>
                  <a:pt x="64649" y="13522"/>
                  <a:pt x="78172" y="0"/>
                  <a:pt x="94819" y="0"/>
                </a:cubicBezTo>
                <a:lnTo>
                  <a:pt x="107749" y="0"/>
                </a:lnTo>
                <a:cubicBezTo>
                  <a:pt x="117285" y="0"/>
                  <a:pt x="124989" y="7704"/>
                  <a:pt x="124989" y="17240"/>
                </a:cubicBezTo>
                <a:lnTo>
                  <a:pt x="124989" y="258597"/>
                </a:lnTo>
                <a:cubicBezTo>
                  <a:pt x="124989" y="268133"/>
                  <a:pt x="117285" y="275837"/>
                  <a:pt x="107749" y="275837"/>
                </a:cubicBezTo>
                <a:lnTo>
                  <a:pt x="90509" y="275837"/>
                </a:lnTo>
                <a:cubicBezTo>
                  <a:pt x="74454" y="275837"/>
                  <a:pt x="60932" y="264847"/>
                  <a:pt x="57107" y="249977"/>
                </a:cubicBezTo>
                <a:cubicBezTo>
                  <a:pt x="56730" y="249977"/>
                  <a:pt x="56407" y="249977"/>
                  <a:pt x="56029" y="249977"/>
                </a:cubicBezTo>
                <a:cubicBezTo>
                  <a:pt x="32217" y="249977"/>
                  <a:pt x="12930" y="230690"/>
                  <a:pt x="12930" y="206878"/>
                </a:cubicBezTo>
                <a:cubicBezTo>
                  <a:pt x="12930" y="197180"/>
                  <a:pt x="16162" y="188237"/>
                  <a:pt x="21550" y="181018"/>
                </a:cubicBezTo>
                <a:cubicBezTo>
                  <a:pt x="11098" y="173152"/>
                  <a:pt x="4310" y="160654"/>
                  <a:pt x="4310" y="146538"/>
                </a:cubicBezTo>
                <a:cubicBezTo>
                  <a:pt x="4310" y="129891"/>
                  <a:pt x="13792" y="115399"/>
                  <a:pt x="27584" y="108234"/>
                </a:cubicBezTo>
                <a:cubicBezTo>
                  <a:pt x="23759" y="101769"/>
                  <a:pt x="21550" y="94226"/>
                  <a:pt x="21550" y="86199"/>
                </a:cubicBezTo>
                <a:cubicBezTo>
                  <a:pt x="21550" y="62387"/>
                  <a:pt x="40837" y="43100"/>
                  <a:pt x="64649" y="43100"/>
                </a:cubicBezTo>
                <a:lnTo>
                  <a:pt x="64649" y="30170"/>
                </a:lnTo>
                <a:close/>
                <a:moveTo>
                  <a:pt x="211188" y="30170"/>
                </a:moveTo>
                <a:lnTo>
                  <a:pt x="211188" y="43100"/>
                </a:lnTo>
                <a:cubicBezTo>
                  <a:pt x="235000" y="43100"/>
                  <a:pt x="254287" y="62387"/>
                  <a:pt x="254287" y="86199"/>
                </a:cubicBezTo>
                <a:cubicBezTo>
                  <a:pt x="254287" y="94280"/>
                  <a:pt x="252078" y="101823"/>
                  <a:pt x="248253" y="108234"/>
                </a:cubicBezTo>
                <a:cubicBezTo>
                  <a:pt x="262099" y="115399"/>
                  <a:pt x="271527" y="129837"/>
                  <a:pt x="271527" y="146538"/>
                </a:cubicBezTo>
                <a:cubicBezTo>
                  <a:pt x="271527" y="160654"/>
                  <a:pt x="264739" y="173152"/>
                  <a:pt x="254287" y="181018"/>
                </a:cubicBezTo>
                <a:cubicBezTo>
                  <a:pt x="259675" y="188237"/>
                  <a:pt x="262907" y="197180"/>
                  <a:pt x="262907" y="206878"/>
                </a:cubicBezTo>
                <a:cubicBezTo>
                  <a:pt x="262907" y="230690"/>
                  <a:pt x="243620" y="249977"/>
                  <a:pt x="219808" y="249977"/>
                </a:cubicBezTo>
                <a:cubicBezTo>
                  <a:pt x="219431" y="249977"/>
                  <a:pt x="219107" y="249977"/>
                  <a:pt x="218730" y="249977"/>
                </a:cubicBezTo>
                <a:cubicBezTo>
                  <a:pt x="214905" y="264847"/>
                  <a:pt x="201383" y="275837"/>
                  <a:pt x="185328" y="275837"/>
                </a:cubicBezTo>
                <a:lnTo>
                  <a:pt x="168088" y="275837"/>
                </a:lnTo>
                <a:cubicBezTo>
                  <a:pt x="158552" y="275837"/>
                  <a:pt x="150848" y="268133"/>
                  <a:pt x="150848" y="258597"/>
                </a:cubicBezTo>
                <a:lnTo>
                  <a:pt x="150848" y="17240"/>
                </a:lnTo>
                <a:cubicBezTo>
                  <a:pt x="150848" y="7704"/>
                  <a:pt x="158552" y="0"/>
                  <a:pt x="168088" y="0"/>
                </a:cubicBezTo>
                <a:lnTo>
                  <a:pt x="181018" y="0"/>
                </a:lnTo>
                <a:cubicBezTo>
                  <a:pt x="197665" y="0"/>
                  <a:pt x="211188" y="13522"/>
                  <a:pt x="211188" y="30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816855" y="1478485"/>
            <a:ext cx="316293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Active Processing Matters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1723" y="1956495"/>
            <a:ext cx="12872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0332" y="1919717"/>
            <a:ext cx="255609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stronger memory connections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1723" y="2324278"/>
            <a:ext cx="12872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0332" y="2287500"/>
            <a:ext cx="192166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deeper understanding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1723" y="2692052"/>
            <a:ext cx="12872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0332" y="2655273"/>
            <a:ext cx="22158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problem-solving transfer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1723" y="3059834"/>
            <a:ext cx="12872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0332" y="3023056"/>
            <a:ext cx="282273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passive information consumption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4154" y="3622549"/>
            <a:ext cx="5652822" cy="2664586"/>
          </a:xfrm>
          <a:custGeom>
            <a:avLst/>
            <a:gdLst/>
            <a:ahLst/>
            <a:cxnLst/>
            <a:rect l="l" t="t" r="r" b="b"/>
            <a:pathLst>
              <a:path w="5652822" h="2664586">
                <a:moveTo>
                  <a:pt x="147112" y="0"/>
                </a:moveTo>
                <a:lnTo>
                  <a:pt x="5505710" y="0"/>
                </a:lnTo>
                <a:cubicBezTo>
                  <a:pt x="5586958" y="0"/>
                  <a:pt x="5652822" y="65864"/>
                  <a:pt x="5652822" y="147112"/>
                </a:cubicBezTo>
                <a:lnTo>
                  <a:pt x="5652822" y="2517475"/>
                </a:lnTo>
                <a:cubicBezTo>
                  <a:pt x="5652822" y="2598722"/>
                  <a:pt x="5586958" y="2664586"/>
                  <a:pt x="5505710" y="2664586"/>
                </a:cubicBezTo>
                <a:lnTo>
                  <a:pt x="147112" y="2664586"/>
                </a:lnTo>
                <a:cubicBezTo>
                  <a:pt x="65864" y="2664586"/>
                  <a:pt x="0" y="2598722"/>
                  <a:pt x="0" y="2517475"/>
                </a:cubicBezTo>
                <a:lnTo>
                  <a:pt x="0" y="147112"/>
                </a:lnTo>
                <a:cubicBezTo>
                  <a:pt x="0" y="65919"/>
                  <a:pt x="65919" y="0"/>
                  <a:pt x="14711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8502" y="4521663"/>
            <a:ext cx="275837" cy="275837"/>
          </a:xfrm>
          <a:custGeom>
            <a:avLst/>
            <a:gdLst/>
            <a:ahLst/>
            <a:cxnLst/>
            <a:rect l="l" t="t" r="r" b="b"/>
            <a:pathLst>
              <a:path w="275837" h="275837">
                <a:moveTo>
                  <a:pt x="189584" y="150848"/>
                </a:moveTo>
                <a:lnTo>
                  <a:pt x="86738" y="150848"/>
                </a:lnTo>
                <a:cubicBezTo>
                  <a:pt x="88300" y="185597"/>
                  <a:pt x="96004" y="217599"/>
                  <a:pt x="106941" y="241034"/>
                </a:cubicBezTo>
                <a:cubicBezTo>
                  <a:pt x="113082" y="254233"/>
                  <a:pt x="119709" y="263554"/>
                  <a:pt x="125851" y="269264"/>
                </a:cubicBezTo>
                <a:cubicBezTo>
                  <a:pt x="131885" y="274921"/>
                  <a:pt x="136033" y="275837"/>
                  <a:pt x="138188" y="275837"/>
                </a:cubicBezTo>
                <a:cubicBezTo>
                  <a:pt x="140343" y="275837"/>
                  <a:pt x="144491" y="274921"/>
                  <a:pt x="150525" y="269264"/>
                </a:cubicBezTo>
                <a:cubicBezTo>
                  <a:pt x="156667" y="263554"/>
                  <a:pt x="163293" y="254180"/>
                  <a:pt x="169435" y="241034"/>
                </a:cubicBezTo>
                <a:cubicBezTo>
                  <a:pt x="180372" y="217599"/>
                  <a:pt x="188076" y="185597"/>
                  <a:pt x="189638" y="150848"/>
                </a:cubicBezTo>
                <a:close/>
                <a:moveTo>
                  <a:pt x="86684" y="124989"/>
                </a:moveTo>
                <a:lnTo>
                  <a:pt x="189530" y="124989"/>
                </a:lnTo>
                <a:cubicBezTo>
                  <a:pt x="188022" y="90240"/>
                  <a:pt x="180318" y="58238"/>
                  <a:pt x="169381" y="34803"/>
                </a:cubicBezTo>
                <a:cubicBezTo>
                  <a:pt x="163240" y="21658"/>
                  <a:pt x="156613" y="12283"/>
                  <a:pt x="150471" y="6573"/>
                </a:cubicBezTo>
                <a:cubicBezTo>
                  <a:pt x="144437" y="916"/>
                  <a:pt x="140289" y="0"/>
                  <a:pt x="138134" y="0"/>
                </a:cubicBezTo>
                <a:cubicBezTo>
                  <a:pt x="135979" y="0"/>
                  <a:pt x="131831" y="916"/>
                  <a:pt x="125797" y="6573"/>
                </a:cubicBezTo>
                <a:cubicBezTo>
                  <a:pt x="119655" y="12283"/>
                  <a:pt x="113029" y="21658"/>
                  <a:pt x="106887" y="34803"/>
                </a:cubicBezTo>
                <a:cubicBezTo>
                  <a:pt x="95950" y="58238"/>
                  <a:pt x="88246" y="90240"/>
                  <a:pt x="86684" y="124989"/>
                </a:cubicBezTo>
                <a:close/>
                <a:moveTo>
                  <a:pt x="60824" y="124989"/>
                </a:moveTo>
                <a:cubicBezTo>
                  <a:pt x="62710" y="78872"/>
                  <a:pt x="74616" y="36042"/>
                  <a:pt x="92018" y="7920"/>
                </a:cubicBezTo>
                <a:cubicBezTo>
                  <a:pt x="42399" y="25483"/>
                  <a:pt x="5872" y="70683"/>
                  <a:pt x="808" y="124989"/>
                </a:cubicBezTo>
                <a:lnTo>
                  <a:pt x="60824" y="124989"/>
                </a:lnTo>
                <a:close/>
                <a:moveTo>
                  <a:pt x="808" y="150848"/>
                </a:moveTo>
                <a:cubicBezTo>
                  <a:pt x="5872" y="205154"/>
                  <a:pt x="42399" y="250354"/>
                  <a:pt x="92018" y="267918"/>
                </a:cubicBezTo>
                <a:cubicBezTo>
                  <a:pt x="74616" y="239795"/>
                  <a:pt x="62710" y="196965"/>
                  <a:pt x="60824" y="150848"/>
                </a:cubicBezTo>
                <a:lnTo>
                  <a:pt x="808" y="150848"/>
                </a:lnTo>
                <a:close/>
                <a:moveTo>
                  <a:pt x="215444" y="150848"/>
                </a:moveTo>
                <a:cubicBezTo>
                  <a:pt x="213558" y="196965"/>
                  <a:pt x="201652" y="239795"/>
                  <a:pt x="184251" y="267918"/>
                </a:cubicBezTo>
                <a:cubicBezTo>
                  <a:pt x="233869" y="250301"/>
                  <a:pt x="270396" y="205154"/>
                  <a:pt x="275460" y="150848"/>
                </a:cubicBezTo>
                <a:lnTo>
                  <a:pt x="215444" y="150848"/>
                </a:lnTo>
                <a:close/>
                <a:moveTo>
                  <a:pt x="275460" y="124989"/>
                </a:moveTo>
                <a:cubicBezTo>
                  <a:pt x="270396" y="70683"/>
                  <a:pt x="233869" y="25483"/>
                  <a:pt x="184251" y="7920"/>
                </a:cubicBezTo>
                <a:cubicBezTo>
                  <a:pt x="201652" y="36042"/>
                  <a:pt x="213558" y="78872"/>
                  <a:pt x="215444" y="124989"/>
                </a:cubicBezTo>
                <a:lnTo>
                  <a:pt x="275460" y="1249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816855" y="4512576"/>
            <a:ext cx="209636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1723" y="4917030"/>
            <a:ext cx="5351240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Quizzes:</a:t>
            </a: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After watching a video, taking a quiz forces your brain to select, organize, and integrate information.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71461" y="6402865"/>
            <a:ext cx="11454595" cy="448695"/>
          </a:xfrm>
          <a:custGeom>
            <a:avLst/>
            <a:gdLst/>
            <a:ahLst/>
            <a:cxnLst/>
            <a:rect l="l" t="t" r="r" b="b"/>
            <a:pathLst>
              <a:path w="11454595" h="448695">
                <a:moveTo>
                  <a:pt x="110334" y="0"/>
                </a:moveTo>
                <a:lnTo>
                  <a:pt x="11344261" y="0"/>
                </a:lnTo>
                <a:cubicBezTo>
                  <a:pt x="11405197" y="0"/>
                  <a:pt x="11454595" y="49398"/>
                  <a:pt x="11454595" y="110334"/>
                </a:cubicBezTo>
                <a:lnTo>
                  <a:pt x="11454595" y="338361"/>
                </a:lnTo>
                <a:cubicBezTo>
                  <a:pt x="11454595" y="399297"/>
                  <a:pt x="11405197" y="448695"/>
                  <a:pt x="11344261" y="448695"/>
                </a:cubicBezTo>
                <a:lnTo>
                  <a:pt x="110334" y="448695"/>
                </a:lnTo>
                <a:cubicBezTo>
                  <a:pt x="49398" y="448695"/>
                  <a:pt x="0" y="399297"/>
                  <a:pt x="0" y="338361"/>
                </a:cubicBezTo>
                <a:lnTo>
                  <a:pt x="0" y="110334"/>
                </a:lnTo>
                <a:cubicBezTo>
                  <a:pt x="0" y="49398"/>
                  <a:pt x="49398" y="0"/>
                  <a:pt x="11033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473" y="6516885"/>
            <a:ext cx="1130012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58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Three-step flowchart showing Select → Organize → Integrate | Image: Student actively taking notes while watching a video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1016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Principles of Multimedia Learning (Part 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6 principles for designing effective multimedia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3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9140" y="1607827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4420" y="1588777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Principle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0269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better from words + pictures than words alone.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3317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Textbook with diagrams vs text-only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2914646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3108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25329" y="318516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4420" y="3166114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Coherence Principle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36042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unnecessary words, pictures, and sounds.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39090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Simple slides vs cluttered slides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4492001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" y="468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24614" y="47625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4420" y="47434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Signaling Principle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51816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visual cues to highlight important information.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54864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Arrows, bold text, highlights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1337310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0320" y="153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515934" y="1607827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5620" y="1588777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Principle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0320" y="20269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duplicating information across channels.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0320" y="23317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Narration + animation (not + captions)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010" y="2914646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0320" y="3108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6886" y="318516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5620" y="3166114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Contiguity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0320" y="36042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words near corresponding images.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0320" y="39090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Label diagram parts directly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6010" y="4492001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0320" y="468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515219" y="476250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65620" y="47434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Contiguity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0320" y="51816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 words and images simultaneously.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0320" y="54864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Narration synced with animation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6031237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149336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Six numbered cards showing each principle with icons | Image: Before/after examples of good vs poor multimedia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1024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Principles of Multimedia Learning (Part 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Remaining 6 principles for effective multimedia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3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0568" y="1607827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4420" y="1588777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0269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content into learner-controlled chunks.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3317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Short video modules vs one long video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2914646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3108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22828" y="3185164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4420" y="3166114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36042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 key concepts before the main lesson.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39090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Vocabulary list before reading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4492001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" y="468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24019" y="476250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4420" y="47434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51816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narration instead of on-screen text.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54864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Voiceover + animation (not text)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010" y="1337310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0320" y="153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1643" y="1607827"/>
            <a:ext cx="23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5620" y="1588777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 Principle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0320" y="20269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conversational style, not formal.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0320" y="2331727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"You will learn" vs "Students will learn"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010" y="2914646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0320" y="3108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9860" y="3185164"/>
            <a:ext cx="20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5620" y="3166114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Principle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0320" y="36042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friendly human voice, not machine voice.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0320" y="3909064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 person narration vs robot voice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6010" y="4492001"/>
            <a:ext cx="5627370" cy="1417320"/>
          </a:xfrm>
          <a:custGeom>
            <a:avLst/>
            <a:gdLst/>
            <a:ahLst/>
            <a:cxnLst/>
            <a:rect l="l" t="t" r="r" b="b"/>
            <a:pathLst>
              <a:path w="5627370" h="1417320">
                <a:moveTo>
                  <a:pt x="152404" y="0"/>
                </a:moveTo>
                <a:lnTo>
                  <a:pt x="5474966" y="0"/>
                </a:lnTo>
                <a:cubicBezTo>
                  <a:pt x="5559136" y="0"/>
                  <a:pt x="5627370" y="68234"/>
                  <a:pt x="5627370" y="152404"/>
                </a:cubicBezTo>
                <a:lnTo>
                  <a:pt x="5627370" y="1264916"/>
                </a:lnTo>
                <a:cubicBezTo>
                  <a:pt x="5627370" y="1349086"/>
                  <a:pt x="5559136" y="1417320"/>
                  <a:pt x="5474966" y="1417320"/>
                </a:cubicBezTo>
                <a:lnTo>
                  <a:pt x="152404" y="1417320"/>
                </a:lnTo>
                <a:cubicBezTo>
                  <a:pt x="68234" y="1417320"/>
                  <a:pt x="0" y="1349086"/>
                  <a:pt x="0" y="126491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0320" y="468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486049" y="4762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65620" y="474345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Principle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0320" y="51816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Speaker's face is not always necessary.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0320" y="54864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Animation + voiceover (no talking head)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6031237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149336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Six numbered cards showing each principle with icons | Image: Checklist format showing all 12 principles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629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Theory: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Allan Paivio's theory from 1986 about how we process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6789420" cy="2274570"/>
          </a:xfrm>
          <a:custGeom>
            <a:avLst/>
            <a:gdLst/>
            <a:ahLst/>
            <a:cxnLst/>
            <a:rect l="l" t="t" r="r" b="b"/>
            <a:pathLst>
              <a:path w="6789420" h="2274570">
                <a:moveTo>
                  <a:pt x="152396" y="0"/>
                </a:moveTo>
                <a:lnTo>
                  <a:pt x="6637024" y="0"/>
                </a:lnTo>
                <a:cubicBezTo>
                  <a:pt x="6721190" y="0"/>
                  <a:pt x="6789420" y="68230"/>
                  <a:pt x="6789420" y="152396"/>
                </a:cubicBezTo>
                <a:lnTo>
                  <a:pt x="6789420" y="2122174"/>
                </a:lnTo>
                <a:cubicBezTo>
                  <a:pt x="6789420" y="2206340"/>
                  <a:pt x="6721190" y="2274570"/>
                  <a:pt x="66370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79" y="154102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27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Allan Paivio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1988697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Psychologist who proposed that humans have two separate cognitive systems for processing information.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2640207"/>
            <a:ext cx="6389370" cy="769620"/>
          </a:xfrm>
          <a:custGeom>
            <a:avLst/>
            <a:gdLst/>
            <a:ahLst/>
            <a:cxnLst/>
            <a:rect l="l" t="t" r="r" b="b"/>
            <a:pathLst>
              <a:path w="6389370" h="769620">
                <a:moveTo>
                  <a:pt x="114296" y="0"/>
                </a:moveTo>
                <a:lnTo>
                  <a:pt x="6275074" y="0"/>
                </a:lnTo>
                <a:cubicBezTo>
                  <a:pt x="6338198" y="0"/>
                  <a:pt x="6389370" y="51172"/>
                  <a:pt x="6389370" y="114296"/>
                </a:cubicBezTo>
                <a:lnTo>
                  <a:pt x="6389370" y="655324"/>
                </a:lnTo>
                <a:cubicBezTo>
                  <a:pt x="6389370" y="718448"/>
                  <a:pt x="6338198" y="769620"/>
                  <a:pt x="62750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9140" y="2796425"/>
            <a:ext cx="615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Idea: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Learning improves when information is presented in both verbal and visual formats.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767971"/>
            <a:ext cx="6789420" cy="1969770"/>
          </a:xfrm>
          <a:custGeom>
            <a:avLst/>
            <a:gdLst/>
            <a:ahLst/>
            <a:cxnLst/>
            <a:rect l="l" t="t" r="r" b="b"/>
            <a:pathLst>
              <a:path w="6789420" h="1969770">
                <a:moveTo>
                  <a:pt x="152401" y="0"/>
                </a:moveTo>
                <a:lnTo>
                  <a:pt x="6637019" y="0"/>
                </a:lnTo>
                <a:cubicBezTo>
                  <a:pt x="6721188" y="0"/>
                  <a:pt x="6789420" y="68232"/>
                  <a:pt x="6789420" y="152401"/>
                </a:cubicBezTo>
                <a:lnTo>
                  <a:pt x="6789420" y="1817369"/>
                </a:lnTo>
                <a:cubicBezTo>
                  <a:pt x="6789420" y="1901538"/>
                  <a:pt x="6721188" y="1969770"/>
                  <a:pt x="6637019" y="1969770"/>
                </a:cubicBezTo>
                <a:lnTo>
                  <a:pt x="152401" y="1969770"/>
                </a:lnTo>
                <a:cubicBezTo>
                  <a:pt x="68232" y="1969770"/>
                  <a:pt x="0" y="1901538"/>
                  <a:pt x="0" y="181736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079" y="397168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08" y="3962288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Cognitive Systems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930" y="4423168"/>
            <a:ext cx="3131820" cy="1112520"/>
          </a:xfrm>
          <a:custGeom>
            <a:avLst/>
            <a:gdLst/>
            <a:ahLst/>
            <a:cxnLst/>
            <a:rect l="l" t="t" r="r" b="b"/>
            <a:pathLst>
              <a:path w="3131820" h="1112520">
                <a:moveTo>
                  <a:pt x="114300" y="0"/>
                </a:moveTo>
                <a:lnTo>
                  <a:pt x="3017520" y="0"/>
                </a:lnTo>
                <a:cubicBezTo>
                  <a:pt x="3080646" y="0"/>
                  <a:pt x="3131820" y="51174"/>
                  <a:pt x="3131820" y="114300"/>
                </a:cubicBezTo>
                <a:lnTo>
                  <a:pt x="3131820" y="998220"/>
                </a:lnTo>
                <a:cubicBezTo>
                  <a:pt x="3131820" y="1061346"/>
                  <a:pt x="3080646" y="1112520"/>
                  <a:pt x="301752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7715" y="45984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07156"/>
                </a:moveTo>
                <a:cubicBezTo>
                  <a:pt x="228600" y="166315"/>
                  <a:pt x="177433" y="214313"/>
                  <a:pt x="114300" y="214313"/>
                </a:cubicBezTo>
                <a:cubicBezTo>
                  <a:pt x="97735" y="214313"/>
                  <a:pt x="82019" y="211009"/>
                  <a:pt x="67821" y="205070"/>
                </a:cubicBezTo>
                <a:lnTo>
                  <a:pt x="14957" y="227752"/>
                </a:lnTo>
                <a:cubicBezTo>
                  <a:pt x="10760" y="229538"/>
                  <a:pt x="5938" y="228511"/>
                  <a:pt x="2857" y="225162"/>
                </a:cubicBezTo>
                <a:cubicBezTo>
                  <a:pt x="-223" y="221813"/>
                  <a:pt x="-893" y="216902"/>
                  <a:pt x="1250" y="212884"/>
                </a:cubicBezTo>
                <a:lnTo>
                  <a:pt x="23039" y="171718"/>
                </a:lnTo>
                <a:cubicBezTo>
                  <a:pt x="8573" y="153725"/>
                  <a:pt x="0" y="131400"/>
                  <a:pt x="0" y="107156"/>
                </a:cubicBezTo>
                <a:cubicBezTo>
                  <a:pt x="0" y="47997"/>
                  <a:pt x="51167" y="0"/>
                  <a:pt x="114300" y="0"/>
                </a:cubicBezTo>
                <a:cubicBezTo>
                  <a:pt x="177433" y="0"/>
                  <a:pt x="228600" y="47997"/>
                  <a:pt x="228600" y="1071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139190" y="4579386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Verbal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9140" y="4922286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language: words, text, speech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4423168"/>
            <a:ext cx="3131820" cy="1112520"/>
          </a:xfrm>
          <a:custGeom>
            <a:avLst/>
            <a:gdLst/>
            <a:ahLst/>
            <a:cxnLst/>
            <a:rect l="l" t="t" r="r" b="b"/>
            <a:pathLst>
              <a:path w="3131820" h="1112520">
                <a:moveTo>
                  <a:pt x="114300" y="0"/>
                </a:moveTo>
                <a:lnTo>
                  <a:pt x="3017520" y="0"/>
                </a:lnTo>
                <a:cubicBezTo>
                  <a:pt x="3080646" y="0"/>
                  <a:pt x="3131820" y="51174"/>
                  <a:pt x="3131820" y="114300"/>
                </a:cubicBezTo>
                <a:lnTo>
                  <a:pt x="3131820" y="998220"/>
                </a:lnTo>
                <a:cubicBezTo>
                  <a:pt x="3131820" y="1061346"/>
                  <a:pt x="3080646" y="1112520"/>
                  <a:pt x="301752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39553" y="459843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396740" y="4579386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Non-Verbal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96690" y="4922286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visuals: images, diagrams, video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34250" y="1337310"/>
            <a:ext cx="4474845" cy="2122170"/>
          </a:xfrm>
          <a:custGeom>
            <a:avLst/>
            <a:gdLst/>
            <a:ahLst/>
            <a:cxnLst/>
            <a:rect l="l" t="t" r="r" b="b"/>
            <a:pathLst>
              <a:path w="4474845" h="2122170">
                <a:moveTo>
                  <a:pt x="152393" y="0"/>
                </a:moveTo>
                <a:lnTo>
                  <a:pt x="4322452" y="0"/>
                </a:lnTo>
                <a:cubicBezTo>
                  <a:pt x="4406616" y="0"/>
                  <a:pt x="4474845" y="68229"/>
                  <a:pt x="4474845" y="152393"/>
                </a:cubicBezTo>
                <a:lnTo>
                  <a:pt x="4474845" y="1969777"/>
                </a:lnTo>
                <a:cubicBezTo>
                  <a:pt x="4474845" y="2053941"/>
                  <a:pt x="4406616" y="2122170"/>
                  <a:pt x="4322452" y="2122170"/>
                </a:cubicBezTo>
                <a:lnTo>
                  <a:pt x="152393" y="2122170"/>
                </a:lnTo>
                <a:cubicBezTo>
                  <a:pt x="68285" y="2122170"/>
                  <a:pt x="0" y="2053885"/>
                  <a:pt x="0" y="1969777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2379" y="18248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000048" y="181546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28560" y="2234450"/>
            <a:ext cx="4162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Imagine your brain has two filing cabinets. One stores words, the other stores images. When both cabinets have the same information, you remember it better.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34250" y="3615571"/>
            <a:ext cx="4474845" cy="2122170"/>
          </a:xfrm>
          <a:custGeom>
            <a:avLst/>
            <a:gdLst/>
            <a:ahLst/>
            <a:cxnLst/>
            <a:rect l="l" t="t" r="r" b="b"/>
            <a:pathLst>
              <a:path w="4474845" h="2122170">
                <a:moveTo>
                  <a:pt x="152393" y="0"/>
                </a:moveTo>
                <a:lnTo>
                  <a:pt x="4322452" y="0"/>
                </a:lnTo>
                <a:cubicBezTo>
                  <a:pt x="4406616" y="0"/>
                  <a:pt x="4474845" y="68229"/>
                  <a:pt x="4474845" y="152393"/>
                </a:cubicBezTo>
                <a:lnTo>
                  <a:pt x="4474845" y="1969777"/>
                </a:lnTo>
                <a:cubicBezTo>
                  <a:pt x="4474845" y="2053941"/>
                  <a:pt x="4406616" y="2122170"/>
                  <a:pt x="4322452" y="2122170"/>
                </a:cubicBezTo>
                <a:lnTo>
                  <a:pt x="152393" y="2122170"/>
                </a:lnTo>
                <a:cubicBezTo>
                  <a:pt x="68285" y="2122170"/>
                  <a:pt x="0" y="2053885"/>
                  <a:pt x="0" y="1969777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6660" y="42269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00048" y="4217547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28560" y="4636536"/>
            <a:ext cx="4162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Flashcards: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Writing a word on one side and drawing a picture on the other uses both systems for better memorization.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810" y="5855732"/>
            <a:ext cx="11418570" cy="693420"/>
          </a:xfrm>
          <a:custGeom>
            <a:avLst/>
            <a:gdLst/>
            <a:ahLst/>
            <a:cxnLst/>
            <a:rect l="l" t="t" r="r" b="b"/>
            <a:pathLst>
              <a:path w="11418570" h="6934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579117"/>
                </a:lnTo>
                <a:cubicBezTo>
                  <a:pt x="11418570" y="642245"/>
                  <a:pt x="11367395" y="693420"/>
                  <a:pt x="11304267" y="693420"/>
                </a:cubicBezTo>
                <a:lnTo>
                  <a:pt x="114303" y="693420"/>
                </a:lnTo>
                <a:cubicBezTo>
                  <a:pt x="51218" y="693420"/>
                  <a:pt x="0" y="642202"/>
                  <a:pt x="0" y="57911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973849"/>
            <a:ext cx="11258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Two separate boxes labeled "Verbal System" and "Non-Verbal System" with arrows | Image: Brain illustration showing two processing areas highlighted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73947" cy="443682"/>
          </a:xfrm>
          <a:custGeom>
            <a:avLst/>
            <a:gdLst/>
            <a:ahLst/>
            <a:cxnLst/>
            <a:rect l="l" t="t" r="r" b="b"/>
            <a:pathLst>
              <a:path w="73947" h="443682">
                <a:moveTo>
                  <a:pt x="36973" y="0"/>
                </a:moveTo>
                <a:lnTo>
                  <a:pt x="36973" y="0"/>
                </a:lnTo>
                <a:cubicBezTo>
                  <a:pt x="57380" y="0"/>
                  <a:pt x="73947" y="16567"/>
                  <a:pt x="73947" y="36973"/>
                </a:cubicBezTo>
                <a:lnTo>
                  <a:pt x="73947" y="406708"/>
                </a:lnTo>
                <a:cubicBezTo>
                  <a:pt x="73947" y="427128"/>
                  <a:pt x="57393" y="443682"/>
                  <a:pt x="36973" y="443682"/>
                </a:cubicBezTo>
                <a:lnTo>
                  <a:pt x="36973" y="443682"/>
                </a:lnTo>
                <a:cubicBezTo>
                  <a:pt x="16554" y="443682"/>
                  <a:pt x="0" y="427128"/>
                  <a:pt x="0" y="406708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54602" y="369735"/>
            <a:ext cx="7949295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Theory: The Verbal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4602" y="887363"/>
            <a:ext cx="1135085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your brain processes words and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432" y="1297769"/>
            <a:ext cx="5645848" cy="2909812"/>
          </a:xfrm>
          <a:custGeom>
            <a:avLst/>
            <a:gdLst/>
            <a:ahLst/>
            <a:cxnLst/>
            <a:rect l="l" t="t" r="r" b="b"/>
            <a:pathLst>
              <a:path w="5645848" h="2909812">
                <a:moveTo>
                  <a:pt x="147906" y="0"/>
                </a:moveTo>
                <a:lnTo>
                  <a:pt x="5497942" y="0"/>
                </a:lnTo>
                <a:cubicBezTo>
                  <a:pt x="5579628" y="0"/>
                  <a:pt x="5645848" y="66220"/>
                  <a:pt x="5645848" y="147906"/>
                </a:cubicBezTo>
                <a:lnTo>
                  <a:pt x="5645848" y="2761906"/>
                </a:lnTo>
                <a:cubicBezTo>
                  <a:pt x="5645848" y="2843592"/>
                  <a:pt x="5579628" y="2909812"/>
                  <a:pt x="5497942" y="2909812"/>
                </a:cubicBezTo>
                <a:lnTo>
                  <a:pt x="147906" y="2909812"/>
                </a:lnTo>
                <a:cubicBezTo>
                  <a:pt x="66220" y="2909812"/>
                  <a:pt x="0" y="2843592"/>
                  <a:pt x="0" y="2761906"/>
                </a:cubicBezTo>
                <a:lnTo>
                  <a:pt x="0" y="147906"/>
                </a:lnTo>
                <a:cubicBezTo>
                  <a:pt x="0" y="66220"/>
                  <a:pt x="66220" y="0"/>
                  <a:pt x="1479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70" y="1495457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277301" y="129985"/>
                </a:moveTo>
                <a:cubicBezTo>
                  <a:pt x="277301" y="201747"/>
                  <a:pt x="215233" y="259970"/>
                  <a:pt x="138650" y="259970"/>
                </a:cubicBezTo>
                <a:cubicBezTo>
                  <a:pt x="118557" y="259970"/>
                  <a:pt x="99493" y="255962"/>
                  <a:pt x="82270" y="248758"/>
                </a:cubicBezTo>
                <a:lnTo>
                  <a:pt x="18144" y="276272"/>
                </a:lnTo>
                <a:cubicBezTo>
                  <a:pt x="13053" y="278438"/>
                  <a:pt x="7203" y="277193"/>
                  <a:pt x="3466" y="273131"/>
                </a:cubicBezTo>
                <a:cubicBezTo>
                  <a:pt x="-271" y="269069"/>
                  <a:pt x="-1083" y="263111"/>
                  <a:pt x="1516" y="258237"/>
                </a:cubicBezTo>
                <a:lnTo>
                  <a:pt x="27947" y="208301"/>
                </a:lnTo>
                <a:cubicBezTo>
                  <a:pt x="10399" y="186474"/>
                  <a:pt x="0" y="159394"/>
                  <a:pt x="0" y="129985"/>
                </a:cubicBezTo>
                <a:cubicBezTo>
                  <a:pt x="0" y="58222"/>
                  <a:pt x="62068" y="0"/>
                  <a:pt x="138650" y="0"/>
                </a:cubicBezTo>
                <a:cubicBezTo>
                  <a:pt x="215233" y="0"/>
                  <a:pt x="277301" y="58222"/>
                  <a:pt x="277301" y="1299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19543" y="1486341"/>
            <a:ext cx="279149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Verbal System?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1997" y="1929896"/>
            <a:ext cx="534266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verbal system processes all language-based information and creates mental representations of words.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5694" y="2562142"/>
            <a:ext cx="5257627" cy="1449360"/>
          </a:xfrm>
          <a:custGeom>
            <a:avLst/>
            <a:gdLst/>
            <a:ahLst/>
            <a:cxnLst/>
            <a:rect l="l" t="t" r="r" b="b"/>
            <a:pathLst>
              <a:path w="5257627" h="1449360">
                <a:moveTo>
                  <a:pt x="110920" y="0"/>
                </a:moveTo>
                <a:lnTo>
                  <a:pt x="5146707" y="0"/>
                </a:lnTo>
                <a:cubicBezTo>
                  <a:pt x="5207966" y="0"/>
                  <a:pt x="5257627" y="49660"/>
                  <a:pt x="5257627" y="110920"/>
                </a:cubicBezTo>
                <a:lnTo>
                  <a:pt x="5257627" y="1338440"/>
                </a:lnTo>
                <a:cubicBezTo>
                  <a:pt x="5257627" y="1399699"/>
                  <a:pt x="5207966" y="1449360"/>
                  <a:pt x="5146707" y="1449360"/>
                </a:cubicBezTo>
                <a:lnTo>
                  <a:pt x="110920" y="1449360"/>
                </a:lnTo>
                <a:cubicBezTo>
                  <a:pt x="49660" y="1449360"/>
                  <a:pt x="0" y="1399699"/>
                  <a:pt x="0" y="1338440"/>
                </a:cubicBezTo>
                <a:lnTo>
                  <a:pt x="0" y="110920"/>
                </a:lnTo>
                <a:cubicBezTo>
                  <a:pt x="0" y="49701"/>
                  <a:pt x="49701" y="0"/>
                  <a:pt x="11092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285" y="2713740"/>
            <a:ext cx="644609" cy="214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285" y="3046502"/>
            <a:ext cx="502839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Spoken words (lectures, conversations)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285" y="3342289"/>
            <a:ext cx="502839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Written text (books, articles, signs)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285" y="3638077"/>
            <a:ext cx="5028391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Inner speech (thinking in words)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3432" y="4359056"/>
            <a:ext cx="5645848" cy="1930015"/>
          </a:xfrm>
          <a:custGeom>
            <a:avLst/>
            <a:gdLst/>
            <a:ahLst/>
            <a:cxnLst/>
            <a:rect l="l" t="t" r="r" b="b"/>
            <a:pathLst>
              <a:path w="5645848" h="1930015">
                <a:moveTo>
                  <a:pt x="147897" y="0"/>
                </a:moveTo>
                <a:lnTo>
                  <a:pt x="5497951" y="0"/>
                </a:lnTo>
                <a:cubicBezTo>
                  <a:pt x="5579632" y="0"/>
                  <a:pt x="5645848" y="66216"/>
                  <a:pt x="5645848" y="147897"/>
                </a:cubicBezTo>
                <a:lnTo>
                  <a:pt x="5645848" y="1782118"/>
                </a:lnTo>
                <a:cubicBezTo>
                  <a:pt x="5645848" y="1863799"/>
                  <a:pt x="5579632" y="1930015"/>
                  <a:pt x="5497951" y="1930015"/>
                </a:cubicBezTo>
                <a:lnTo>
                  <a:pt x="147897" y="1930015"/>
                </a:lnTo>
                <a:cubicBezTo>
                  <a:pt x="66216" y="1930015"/>
                  <a:pt x="0" y="1863799"/>
                  <a:pt x="0" y="1782118"/>
                </a:cubicBezTo>
                <a:lnTo>
                  <a:pt x="0" y="147897"/>
                </a:lnTo>
                <a:cubicBezTo>
                  <a:pt x="0" y="66270"/>
                  <a:pt x="66270" y="0"/>
                  <a:pt x="14789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70" y="4556745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64992" y="30330"/>
                </a:moveTo>
                <a:cubicBezTo>
                  <a:pt x="64992" y="13594"/>
                  <a:pt x="78587" y="0"/>
                  <a:pt x="95322" y="0"/>
                </a:cubicBezTo>
                <a:lnTo>
                  <a:pt x="108321" y="0"/>
                </a:lnTo>
                <a:cubicBezTo>
                  <a:pt x="117907" y="0"/>
                  <a:pt x="125652" y="7745"/>
                  <a:pt x="125652" y="17331"/>
                </a:cubicBezTo>
                <a:lnTo>
                  <a:pt x="125652" y="259970"/>
                </a:lnTo>
                <a:cubicBezTo>
                  <a:pt x="125652" y="269556"/>
                  <a:pt x="117907" y="277301"/>
                  <a:pt x="108321" y="277301"/>
                </a:cubicBezTo>
                <a:lnTo>
                  <a:pt x="90989" y="277301"/>
                </a:lnTo>
                <a:cubicBezTo>
                  <a:pt x="74850" y="277301"/>
                  <a:pt x="61255" y="266252"/>
                  <a:pt x="57410" y="251304"/>
                </a:cubicBezTo>
                <a:cubicBezTo>
                  <a:pt x="57031" y="251304"/>
                  <a:pt x="56706" y="251304"/>
                  <a:pt x="56327" y="251304"/>
                </a:cubicBezTo>
                <a:cubicBezTo>
                  <a:pt x="32388" y="251304"/>
                  <a:pt x="12998" y="231915"/>
                  <a:pt x="12998" y="207976"/>
                </a:cubicBezTo>
                <a:cubicBezTo>
                  <a:pt x="12998" y="198227"/>
                  <a:pt x="16248" y="189236"/>
                  <a:pt x="21664" y="181979"/>
                </a:cubicBezTo>
                <a:cubicBezTo>
                  <a:pt x="11157" y="174071"/>
                  <a:pt x="4333" y="161506"/>
                  <a:pt x="4333" y="147316"/>
                </a:cubicBezTo>
                <a:cubicBezTo>
                  <a:pt x="4333" y="130581"/>
                  <a:pt x="13865" y="116011"/>
                  <a:pt x="27730" y="108808"/>
                </a:cubicBezTo>
                <a:cubicBezTo>
                  <a:pt x="23885" y="102309"/>
                  <a:pt x="21664" y="94726"/>
                  <a:pt x="21664" y="86657"/>
                </a:cubicBezTo>
                <a:cubicBezTo>
                  <a:pt x="21664" y="62718"/>
                  <a:pt x="41054" y="43328"/>
                  <a:pt x="64992" y="43328"/>
                </a:cubicBezTo>
                <a:lnTo>
                  <a:pt x="64992" y="30330"/>
                </a:lnTo>
                <a:close/>
                <a:moveTo>
                  <a:pt x="212309" y="30330"/>
                </a:moveTo>
                <a:lnTo>
                  <a:pt x="212309" y="43328"/>
                </a:lnTo>
                <a:cubicBezTo>
                  <a:pt x="236247" y="43328"/>
                  <a:pt x="255637" y="62718"/>
                  <a:pt x="255637" y="86657"/>
                </a:cubicBezTo>
                <a:cubicBezTo>
                  <a:pt x="255637" y="94781"/>
                  <a:pt x="253416" y="102363"/>
                  <a:pt x="249571" y="108808"/>
                </a:cubicBezTo>
                <a:cubicBezTo>
                  <a:pt x="263490" y="116011"/>
                  <a:pt x="272968" y="130526"/>
                  <a:pt x="272968" y="147316"/>
                </a:cubicBezTo>
                <a:cubicBezTo>
                  <a:pt x="272968" y="161506"/>
                  <a:pt x="266144" y="174071"/>
                  <a:pt x="255637" y="181979"/>
                </a:cubicBezTo>
                <a:cubicBezTo>
                  <a:pt x="261053" y="189236"/>
                  <a:pt x="264303" y="198227"/>
                  <a:pt x="264303" y="207976"/>
                </a:cubicBezTo>
                <a:cubicBezTo>
                  <a:pt x="264303" y="231915"/>
                  <a:pt x="244913" y="251304"/>
                  <a:pt x="220974" y="251304"/>
                </a:cubicBezTo>
                <a:cubicBezTo>
                  <a:pt x="220595" y="251304"/>
                  <a:pt x="220270" y="251304"/>
                  <a:pt x="219891" y="251304"/>
                </a:cubicBezTo>
                <a:cubicBezTo>
                  <a:pt x="216046" y="266252"/>
                  <a:pt x="202451" y="277301"/>
                  <a:pt x="186312" y="277301"/>
                </a:cubicBezTo>
                <a:lnTo>
                  <a:pt x="168980" y="277301"/>
                </a:lnTo>
                <a:cubicBezTo>
                  <a:pt x="159394" y="277301"/>
                  <a:pt x="151649" y="269556"/>
                  <a:pt x="151649" y="259970"/>
                </a:cubicBezTo>
                <a:lnTo>
                  <a:pt x="151649" y="17331"/>
                </a:lnTo>
                <a:cubicBezTo>
                  <a:pt x="151649" y="7745"/>
                  <a:pt x="159394" y="0"/>
                  <a:pt x="168980" y="0"/>
                </a:cubicBezTo>
                <a:lnTo>
                  <a:pt x="181979" y="0"/>
                </a:lnTo>
                <a:cubicBezTo>
                  <a:pt x="198714" y="0"/>
                  <a:pt x="212309" y="13594"/>
                  <a:pt x="212309" y="3033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9543" y="4547628"/>
            <a:ext cx="1423478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1997" y="4991183"/>
            <a:ext cx="534266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You hear or read words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997" y="5286971"/>
            <a:ext cx="534266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Brain creates mental representation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1997" y="5582758"/>
            <a:ext cx="534266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Stores in verbal memory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1997" y="5878546"/>
            <a:ext cx="534266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Can be retrieved when needed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4106" y="1297769"/>
            <a:ext cx="5645848" cy="2207316"/>
          </a:xfrm>
          <a:custGeom>
            <a:avLst/>
            <a:gdLst/>
            <a:ahLst/>
            <a:cxnLst/>
            <a:rect l="l" t="t" r="r" b="b"/>
            <a:pathLst>
              <a:path w="5645848" h="2207316">
                <a:moveTo>
                  <a:pt x="147890" y="0"/>
                </a:moveTo>
                <a:lnTo>
                  <a:pt x="5497958" y="0"/>
                </a:lnTo>
                <a:cubicBezTo>
                  <a:pt x="5579635" y="0"/>
                  <a:pt x="5645848" y="66213"/>
                  <a:pt x="5645848" y="147890"/>
                </a:cubicBezTo>
                <a:lnTo>
                  <a:pt x="5645848" y="2059426"/>
                </a:lnTo>
                <a:cubicBezTo>
                  <a:pt x="5645848" y="2141103"/>
                  <a:pt x="5579635" y="2207316"/>
                  <a:pt x="5497958" y="2207316"/>
                </a:cubicBezTo>
                <a:lnTo>
                  <a:pt x="147890" y="2207316"/>
                </a:lnTo>
                <a:cubicBezTo>
                  <a:pt x="66213" y="2207316"/>
                  <a:pt x="0" y="2141103"/>
                  <a:pt x="0" y="2059426"/>
                </a:cubicBezTo>
                <a:lnTo>
                  <a:pt x="0" y="147890"/>
                </a:lnTo>
                <a:cubicBezTo>
                  <a:pt x="0" y="66267"/>
                  <a:pt x="66267" y="0"/>
                  <a:pt x="14789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314" y="1495457"/>
            <a:ext cx="311964" cy="277301"/>
          </a:xfrm>
          <a:custGeom>
            <a:avLst/>
            <a:gdLst/>
            <a:ahLst/>
            <a:cxnLst/>
            <a:rect l="l" t="t" r="r" b="b"/>
            <a:pathLst>
              <a:path w="311964" h="277301">
                <a:moveTo>
                  <a:pt x="227203" y="51994"/>
                </a:moveTo>
                <a:cubicBezTo>
                  <a:pt x="218212" y="51994"/>
                  <a:pt x="209492" y="54431"/>
                  <a:pt x="201856" y="58872"/>
                </a:cubicBezTo>
                <a:cubicBezTo>
                  <a:pt x="193298" y="50207"/>
                  <a:pt x="183333" y="42949"/>
                  <a:pt x="172338" y="37479"/>
                </a:cubicBezTo>
                <a:cubicBezTo>
                  <a:pt x="187611" y="24480"/>
                  <a:pt x="207055" y="17331"/>
                  <a:pt x="227203" y="17331"/>
                </a:cubicBezTo>
                <a:cubicBezTo>
                  <a:pt x="273997" y="17331"/>
                  <a:pt x="311964" y="55244"/>
                  <a:pt x="311964" y="102092"/>
                </a:cubicBezTo>
                <a:cubicBezTo>
                  <a:pt x="311964" y="124569"/>
                  <a:pt x="303027" y="146125"/>
                  <a:pt x="287158" y="161994"/>
                </a:cubicBezTo>
                <a:lnTo>
                  <a:pt x="248650" y="200502"/>
                </a:lnTo>
                <a:cubicBezTo>
                  <a:pt x="232781" y="216371"/>
                  <a:pt x="211225" y="225307"/>
                  <a:pt x="188749" y="225307"/>
                </a:cubicBezTo>
                <a:cubicBezTo>
                  <a:pt x="141954" y="225307"/>
                  <a:pt x="103988" y="187395"/>
                  <a:pt x="103988" y="140546"/>
                </a:cubicBezTo>
                <a:cubicBezTo>
                  <a:pt x="103988" y="139734"/>
                  <a:pt x="103988" y="138921"/>
                  <a:pt x="104042" y="138109"/>
                </a:cubicBezTo>
                <a:cubicBezTo>
                  <a:pt x="104313" y="128523"/>
                  <a:pt x="112274" y="120994"/>
                  <a:pt x="121861" y="121265"/>
                </a:cubicBezTo>
                <a:cubicBezTo>
                  <a:pt x="131447" y="121536"/>
                  <a:pt x="138975" y="129497"/>
                  <a:pt x="138705" y="139084"/>
                </a:cubicBezTo>
                <a:cubicBezTo>
                  <a:pt x="138705" y="139571"/>
                  <a:pt x="138705" y="140059"/>
                  <a:pt x="138705" y="140492"/>
                </a:cubicBezTo>
                <a:cubicBezTo>
                  <a:pt x="138705" y="168168"/>
                  <a:pt x="161127" y="190590"/>
                  <a:pt x="188803" y="190590"/>
                </a:cubicBezTo>
                <a:cubicBezTo>
                  <a:pt x="202072" y="190590"/>
                  <a:pt x="214800" y="185337"/>
                  <a:pt x="224224" y="175913"/>
                </a:cubicBezTo>
                <a:lnTo>
                  <a:pt x="262732" y="137405"/>
                </a:lnTo>
                <a:cubicBezTo>
                  <a:pt x="272102" y="128035"/>
                  <a:pt x="277409" y="115253"/>
                  <a:pt x="277409" y="101984"/>
                </a:cubicBezTo>
                <a:cubicBezTo>
                  <a:pt x="277409" y="74308"/>
                  <a:pt x="254987" y="51886"/>
                  <a:pt x="227311" y="51886"/>
                </a:cubicBezTo>
                <a:close/>
                <a:moveTo>
                  <a:pt x="149049" y="93860"/>
                </a:moveTo>
                <a:cubicBezTo>
                  <a:pt x="148020" y="93427"/>
                  <a:pt x="146991" y="92831"/>
                  <a:pt x="146070" y="92181"/>
                </a:cubicBezTo>
                <a:cubicBezTo>
                  <a:pt x="139246" y="88660"/>
                  <a:pt x="131447" y="86657"/>
                  <a:pt x="123269" y="86657"/>
                </a:cubicBezTo>
                <a:cubicBezTo>
                  <a:pt x="110000" y="86657"/>
                  <a:pt x="97272" y="91910"/>
                  <a:pt x="87848" y="101334"/>
                </a:cubicBezTo>
                <a:lnTo>
                  <a:pt x="49340" y="139842"/>
                </a:lnTo>
                <a:cubicBezTo>
                  <a:pt x="39970" y="149212"/>
                  <a:pt x="34663" y="161994"/>
                  <a:pt x="34663" y="175263"/>
                </a:cubicBezTo>
                <a:cubicBezTo>
                  <a:pt x="34663" y="202939"/>
                  <a:pt x="57085" y="225361"/>
                  <a:pt x="84761" y="225361"/>
                </a:cubicBezTo>
                <a:cubicBezTo>
                  <a:pt x="93697" y="225361"/>
                  <a:pt x="102417" y="222978"/>
                  <a:pt x="110054" y="218537"/>
                </a:cubicBezTo>
                <a:cubicBezTo>
                  <a:pt x="118611" y="227203"/>
                  <a:pt x="128577" y="234460"/>
                  <a:pt x="139625" y="239930"/>
                </a:cubicBezTo>
                <a:cubicBezTo>
                  <a:pt x="124352" y="252875"/>
                  <a:pt x="104963" y="260078"/>
                  <a:pt x="84761" y="260078"/>
                </a:cubicBezTo>
                <a:cubicBezTo>
                  <a:pt x="37966" y="260078"/>
                  <a:pt x="0" y="222166"/>
                  <a:pt x="0" y="175317"/>
                </a:cubicBezTo>
                <a:cubicBezTo>
                  <a:pt x="0" y="152841"/>
                  <a:pt x="8936" y="131285"/>
                  <a:pt x="24805" y="115416"/>
                </a:cubicBezTo>
                <a:lnTo>
                  <a:pt x="63313" y="76908"/>
                </a:lnTo>
                <a:cubicBezTo>
                  <a:pt x="79182" y="61039"/>
                  <a:pt x="100738" y="52102"/>
                  <a:pt x="123215" y="52102"/>
                </a:cubicBezTo>
                <a:cubicBezTo>
                  <a:pt x="170118" y="52102"/>
                  <a:pt x="207976" y="90339"/>
                  <a:pt x="207976" y="137080"/>
                </a:cubicBezTo>
                <a:cubicBezTo>
                  <a:pt x="207976" y="137784"/>
                  <a:pt x="207976" y="138488"/>
                  <a:pt x="207976" y="139192"/>
                </a:cubicBezTo>
                <a:cubicBezTo>
                  <a:pt x="207759" y="148778"/>
                  <a:pt x="199798" y="156307"/>
                  <a:pt x="190211" y="156090"/>
                </a:cubicBezTo>
                <a:cubicBezTo>
                  <a:pt x="180625" y="155873"/>
                  <a:pt x="173096" y="147912"/>
                  <a:pt x="173313" y="138326"/>
                </a:cubicBezTo>
                <a:cubicBezTo>
                  <a:pt x="173313" y="137892"/>
                  <a:pt x="173313" y="137513"/>
                  <a:pt x="173313" y="137080"/>
                </a:cubicBezTo>
                <a:cubicBezTo>
                  <a:pt x="173313" y="118828"/>
                  <a:pt x="163564" y="102796"/>
                  <a:pt x="149049" y="939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820218" y="1486341"/>
            <a:ext cx="305031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Representational Connections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2671" y="1929896"/>
            <a:ext cx="534266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you encounter a word, your brain creates a mental representation. Seeing the word again activates this connection.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6369" y="2562142"/>
            <a:ext cx="5257627" cy="746864"/>
          </a:xfrm>
          <a:custGeom>
            <a:avLst/>
            <a:gdLst/>
            <a:ahLst/>
            <a:cxnLst/>
            <a:rect l="l" t="t" r="r" b="b"/>
            <a:pathLst>
              <a:path w="5257627" h="746864">
                <a:moveTo>
                  <a:pt x="110917" y="0"/>
                </a:moveTo>
                <a:lnTo>
                  <a:pt x="5146710" y="0"/>
                </a:lnTo>
                <a:cubicBezTo>
                  <a:pt x="5207968" y="0"/>
                  <a:pt x="5257627" y="49659"/>
                  <a:pt x="5257627" y="110917"/>
                </a:cubicBezTo>
                <a:lnTo>
                  <a:pt x="5257627" y="635947"/>
                </a:lnTo>
                <a:cubicBezTo>
                  <a:pt x="5257627" y="697205"/>
                  <a:pt x="5207968" y="746864"/>
                  <a:pt x="5146710" y="746864"/>
                </a:cubicBezTo>
                <a:lnTo>
                  <a:pt x="110917" y="746864"/>
                </a:lnTo>
                <a:cubicBezTo>
                  <a:pt x="49659" y="746864"/>
                  <a:pt x="0" y="697205"/>
                  <a:pt x="0" y="635947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7960" y="2713740"/>
            <a:ext cx="502839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Hearing "apple" activates your mental representation of the word "apple."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4106" y="3656560"/>
            <a:ext cx="5645848" cy="2632511"/>
          </a:xfrm>
          <a:custGeom>
            <a:avLst/>
            <a:gdLst/>
            <a:ahLst/>
            <a:cxnLst/>
            <a:rect l="l" t="t" r="r" b="b"/>
            <a:pathLst>
              <a:path w="5645848" h="2632511">
                <a:moveTo>
                  <a:pt x="147894" y="0"/>
                </a:moveTo>
                <a:lnTo>
                  <a:pt x="5497954" y="0"/>
                </a:lnTo>
                <a:cubicBezTo>
                  <a:pt x="5579633" y="0"/>
                  <a:pt x="5645848" y="66215"/>
                  <a:pt x="5645848" y="147894"/>
                </a:cubicBezTo>
                <a:lnTo>
                  <a:pt x="5645848" y="2484616"/>
                </a:lnTo>
                <a:cubicBezTo>
                  <a:pt x="5645848" y="2566296"/>
                  <a:pt x="5579633" y="2632511"/>
                  <a:pt x="5497954" y="2632511"/>
                </a:cubicBezTo>
                <a:lnTo>
                  <a:pt x="147894" y="2632511"/>
                </a:lnTo>
                <a:cubicBezTo>
                  <a:pt x="66215" y="2632511"/>
                  <a:pt x="0" y="2566296"/>
                  <a:pt x="0" y="2484616"/>
                </a:cubicBezTo>
                <a:lnTo>
                  <a:pt x="0" y="147894"/>
                </a:lnTo>
                <a:cubicBezTo>
                  <a:pt x="0" y="66269"/>
                  <a:pt x="66269" y="0"/>
                  <a:pt x="1478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4308" y="4538258"/>
            <a:ext cx="207976" cy="277301"/>
          </a:xfrm>
          <a:custGeom>
            <a:avLst/>
            <a:gdLst/>
            <a:ahLst/>
            <a:cxnLst/>
            <a:rect l="l" t="t" r="r" b="b"/>
            <a:pathLst>
              <a:path w="207976" h="277301">
                <a:moveTo>
                  <a:pt x="158636" y="207976"/>
                </a:moveTo>
                <a:cubicBezTo>
                  <a:pt x="162589" y="195898"/>
                  <a:pt x="170497" y="184958"/>
                  <a:pt x="179433" y="175534"/>
                </a:cubicBezTo>
                <a:cubicBezTo>
                  <a:pt x="197144" y="156903"/>
                  <a:pt x="207976" y="131718"/>
                  <a:pt x="207976" y="103988"/>
                </a:cubicBezTo>
                <a:cubicBezTo>
                  <a:pt x="207976" y="46578"/>
                  <a:pt x="161398" y="0"/>
                  <a:pt x="103988" y="0"/>
                </a:cubicBezTo>
                <a:cubicBezTo>
                  <a:pt x="46578" y="0"/>
                  <a:pt x="0" y="46578"/>
                  <a:pt x="0" y="103988"/>
                </a:cubicBezTo>
                <a:cubicBezTo>
                  <a:pt x="0" y="131718"/>
                  <a:pt x="10832" y="156903"/>
                  <a:pt x="28543" y="175534"/>
                </a:cubicBezTo>
                <a:cubicBezTo>
                  <a:pt x="37479" y="184958"/>
                  <a:pt x="45441" y="195898"/>
                  <a:pt x="49340" y="207976"/>
                </a:cubicBezTo>
                <a:lnTo>
                  <a:pt x="158582" y="207976"/>
                </a:lnTo>
                <a:close/>
                <a:moveTo>
                  <a:pt x="155982" y="233973"/>
                </a:moveTo>
                <a:lnTo>
                  <a:pt x="51994" y="233973"/>
                </a:lnTo>
                <a:lnTo>
                  <a:pt x="51994" y="242638"/>
                </a:lnTo>
                <a:cubicBezTo>
                  <a:pt x="51994" y="266577"/>
                  <a:pt x="71383" y="285967"/>
                  <a:pt x="95322" y="285967"/>
                </a:cubicBezTo>
                <a:lnTo>
                  <a:pt x="112654" y="285967"/>
                </a:lnTo>
                <a:cubicBezTo>
                  <a:pt x="136592" y="285967"/>
                  <a:pt x="155982" y="266577"/>
                  <a:pt x="155982" y="242638"/>
                </a:cubicBezTo>
                <a:lnTo>
                  <a:pt x="155982" y="233973"/>
                </a:lnTo>
                <a:close/>
                <a:moveTo>
                  <a:pt x="99655" y="60660"/>
                </a:moveTo>
                <a:cubicBezTo>
                  <a:pt x="78099" y="60660"/>
                  <a:pt x="60660" y="78099"/>
                  <a:pt x="60660" y="99655"/>
                </a:cubicBezTo>
                <a:cubicBezTo>
                  <a:pt x="60660" y="106858"/>
                  <a:pt x="54864" y="112654"/>
                  <a:pt x="47661" y="112654"/>
                </a:cubicBezTo>
                <a:cubicBezTo>
                  <a:pt x="40458" y="112654"/>
                  <a:pt x="34663" y="106858"/>
                  <a:pt x="34663" y="99655"/>
                </a:cubicBezTo>
                <a:cubicBezTo>
                  <a:pt x="34663" y="63747"/>
                  <a:pt x="63747" y="34663"/>
                  <a:pt x="99655" y="34663"/>
                </a:cubicBezTo>
                <a:cubicBezTo>
                  <a:pt x="106858" y="34663"/>
                  <a:pt x="112654" y="40458"/>
                  <a:pt x="112654" y="47661"/>
                </a:cubicBezTo>
                <a:cubicBezTo>
                  <a:pt x="112654" y="54864"/>
                  <a:pt x="106858" y="60660"/>
                  <a:pt x="99655" y="6066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20218" y="4529141"/>
            <a:ext cx="1257098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2671" y="4935723"/>
            <a:ext cx="5342666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verbal system is like a dictionary in your brain. Every word you know has a mental entry that gets activated when you hear or see it.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3432" y="6407274"/>
            <a:ext cx="11450682" cy="451076"/>
          </a:xfrm>
          <a:custGeom>
            <a:avLst/>
            <a:gdLst/>
            <a:ahLst/>
            <a:cxnLst/>
            <a:rect l="l" t="t" r="r" b="b"/>
            <a:pathLst>
              <a:path w="11450682" h="451076">
                <a:moveTo>
                  <a:pt x="110920" y="0"/>
                </a:moveTo>
                <a:lnTo>
                  <a:pt x="11339762" y="0"/>
                </a:lnTo>
                <a:cubicBezTo>
                  <a:pt x="11401022" y="0"/>
                  <a:pt x="11450682" y="49660"/>
                  <a:pt x="11450682" y="110920"/>
                </a:cubicBezTo>
                <a:lnTo>
                  <a:pt x="11450682" y="340157"/>
                </a:lnTo>
                <a:cubicBezTo>
                  <a:pt x="11450682" y="401416"/>
                  <a:pt x="11401022" y="451076"/>
                  <a:pt x="11339762" y="451076"/>
                </a:cubicBezTo>
                <a:lnTo>
                  <a:pt x="110920" y="451076"/>
                </a:lnTo>
                <a:cubicBezTo>
                  <a:pt x="49701" y="451076"/>
                  <a:pt x="0" y="401375"/>
                  <a:pt x="0" y="340157"/>
                </a:cubicBezTo>
                <a:lnTo>
                  <a:pt x="0" y="110920"/>
                </a:lnTo>
                <a:cubicBezTo>
                  <a:pt x="0" y="49701"/>
                  <a:pt x="49701" y="0"/>
                  <a:pt x="11092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050" y="6521899"/>
            <a:ext cx="1129539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6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Flowchart showing word → mental representation → verbal memory | Image: Person reading a book with highlighted brain language areas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354419"/>
            <a:ext cx="70884" cy="425302"/>
          </a:xfrm>
          <a:custGeom>
            <a:avLst/>
            <a:gdLst/>
            <a:ahLst/>
            <a:cxnLst/>
            <a:rect l="l" t="t" r="r" b="b"/>
            <a:pathLst>
              <a:path w="70884" h="425302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89860"/>
                </a:lnTo>
                <a:cubicBezTo>
                  <a:pt x="70884" y="409434"/>
                  <a:pt x="55016" y="425302"/>
                  <a:pt x="35442" y="425302"/>
                </a:cubicBezTo>
                <a:lnTo>
                  <a:pt x="35442" y="425302"/>
                </a:lnTo>
                <a:cubicBezTo>
                  <a:pt x="15868" y="425302"/>
                  <a:pt x="0" y="409434"/>
                  <a:pt x="0" y="389860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1628" y="354419"/>
            <a:ext cx="8568070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Theory: The Non-Verbal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1628" y="850605"/>
            <a:ext cx="1138569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your brain processes images and visual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963" y="1244009"/>
            <a:ext cx="5660065" cy="2842437"/>
          </a:xfrm>
          <a:custGeom>
            <a:avLst/>
            <a:gdLst/>
            <a:ahLst/>
            <a:cxnLst/>
            <a:rect l="l" t="t" r="r" b="b"/>
            <a:pathLst>
              <a:path w="5660065" h="2842437">
                <a:moveTo>
                  <a:pt x="141781" y="0"/>
                </a:moveTo>
                <a:lnTo>
                  <a:pt x="5518284" y="0"/>
                </a:lnTo>
                <a:cubicBezTo>
                  <a:pt x="5596535" y="0"/>
                  <a:pt x="5660065" y="63530"/>
                  <a:pt x="5660065" y="141781"/>
                </a:cubicBezTo>
                <a:lnTo>
                  <a:pt x="5660065" y="2700656"/>
                </a:lnTo>
                <a:cubicBezTo>
                  <a:pt x="5660065" y="2778960"/>
                  <a:pt x="5596588" y="2842437"/>
                  <a:pt x="5518284" y="2842437"/>
                </a:cubicBezTo>
                <a:lnTo>
                  <a:pt x="141781" y="2842437"/>
                </a:lnTo>
                <a:cubicBezTo>
                  <a:pt x="63530" y="2842437"/>
                  <a:pt x="0" y="2778907"/>
                  <a:pt x="0" y="2700656"/>
                </a:cubicBezTo>
                <a:lnTo>
                  <a:pt x="0" y="141781"/>
                </a:lnTo>
                <a:cubicBezTo>
                  <a:pt x="0" y="63530"/>
                  <a:pt x="63530" y="0"/>
                  <a:pt x="14178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72" y="1433509"/>
            <a:ext cx="232587" cy="265814"/>
          </a:xfrm>
          <a:custGeom>
            <a:avLst/>
            <a:gdLst/>
            <a:ahLst/>
            <a:cxnLst/>
            <a:rect l="l" t="t" r="r" b="b"/>
            <a:pathLst>
              <a:path w="232587" h="265814">
                <a:moveTo>
                  <a:pt x="33227" y="16613"/>
                </a:moveTo>
                <a:cubicBezTo>
                  <a:pt x="14900" y="16613"/>
                  <a:pt x="0" y="31513"/>
                  <a:pt x="0" y="49840"/>
                </a:cubicBezTo>
                <a:lnTo>
                  <a:pt x="0" y="215974"/>
                </a:lnTo>
                <a:cubicBezTo>
                  <a:pt x="0" y="234300"/>
                  <a:pt x="14900" y="249201"/>
                  <a:pt x="33227" y="249201"/>
                </a:cubicBezTo>
                <a:lnTo>
                  <a:pt x="199360" y="249201"/>
                </a:lnTo>
                <a:cubicBezTo>
                  <a:pt x="217687" y="249201"/>
                  <a:pt x="232587" y="234300"/>
                  <a:pt x="232587" y="215974"/>
                </a:cubicBezTo>
                <a:lnTo>
                  <a:pt x="232587" y="49840"/>
                </a:lnTo>
                <a:cubicBezTo>
                  <a:pt x="232587" y="31513"/>
                  <a:pt x="217687" y="16613"/>
                  <a:pt x="199360" y="16613"/>
                </a:cubicBezTo>
                <a:lnTo>
                  <a:pt x="33227" y="16613"/>
                </a:lnTo>
                <a:close/>
                <a:moveTo>
                  <a:pt x="66453" y="58147"/>
                </a:moveTo>
                <a:cubicBezTo>
                  <a:pt x="80207" y="58147"/>
                  <a:pt x="91374" y="69313"/>
                  <a:pt x="91374" y="83067"/>
                </a:cubicBezTo>
                <a:cubicBezTo>
                  <a:pt x="91374" y="96821"/>
                  <a:pt x="80207" y="107987"/>
                  <a:pt x="66453" y="107987"/>
                </a:cubicBezTo>
                <a:cubicBezTo>
                  <a:pt x="52700" y="107987"/>
                  <a:pt x="41533" y="96821"/>
                  <a:pt x="41533" y="83067"/>
                </a:cubicBezTo>
                <a:cubicBezTo>
                  <a:pt x="41533" y="69313"/>
                  <a:pt x="52700" y="58147"/>
                  <a:pt x="66453" y="58147"/>
                </a:cubicBezTo>
                <a:close/>
                <a:moveTo>
                  <a:pt x="141214" y="116294"/>
                </a:moveTo>
                <a:cubicBezTo>
                  <a:pt x="145575" y="116294"/>
                  <a:pt x="149572" y="118578"/>
                  <a:pt x="151857" y="122264"/>
                </a:cubicBezTo>
                <a:lnTo>
                  <a:pt x="197543" y="197024"/>
                </a:lnTo>
                <a:cubicBezTo>
                  <a:pt x="199880" y="200866"/>
                  <a:pt x="199983" y="205694"/>
                  <a:pt x="197803" y="209640"/>
                </a:cubicBezTo>
                <a:cubicBezTo>
                  <a:pt x="195622" y="213586"/>
                  <a:pt x="191417" y="215974"/>
                  <a:pt x="186900" y="215974"/>
                </a:cubicBezTo>
                <a:lnTo>
                  <a:pt x="45687" y="215974"/>
                </a:lnTo>
                <a:cubicBezTo>
                  <a:pt x="41066" y="215974"/>
                  <a:pt x="36757" y="213378"/>
                  <a:pt x="34628" y="209277"/>
                </a:cubicBezTo>
                <a:cubicBezTo>
                  <a:pt x="32500" y="205175"/>
                  <a:pt x="32811" y="200191"/>
                  <a:pt x="35459" y="196401"/>
                </a:cubicBezTo>
                <a:lnTo>
                  <a:pt x="64533" y="154868"/>
                </a:lnTo>
                <a:cubicBezTo>
                  <a:pt x="66869" y="151545"/>
                  <a:pt x="70659" y="149572"/>
                  <a:pt x="74760" y="149572"/>
                </a:cubicBezTo>
                <a:cubicBezTo>
                  <a:pt x="78862" y="149572"/>
                  <a:pt x="82652" y="151545"/>
                  <a:pt x="84988" y="154868"/>
                </a:cubicBezTo>
                <a:lnTo>
                  <a:pt x="98694" y="174492"/>
                </a:lnTo>
                <a:lnTo>
                  <a:pt x="130571" y="122316"/>
                </a:lnTo>
                <a:cubicBezTo>
                  <a:pt x="132855" y="118630"/>
                  <a:pt x="136853" y="116346"/>
                  <a:pt x="141214" y="11634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77309" y="1424770"/>
            <a:ext cx="314546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Non-Verbal System?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716" y="1849951"/>
            <a:ext cx="5369442" cy="23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non-verbal system processes all visual information and creates mental images.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260" y="2225635"/>
            <a:ext cx="5296786" cy="1672856"/>
          </a:xfrm>
          <a:custGeom>
            <a:avLst/>
            <a:gdLst/>
            <a:ahLst/>
            <a:cxnLst/>
            <a:rect l="l" t="t" r="r" b="b"/>
            <a:pathLst>
              <a:path w="5296786" h="1672856">
                <a:moveTo>
                  <a:pt x="106327" y="0"/>
                </a:moveTo>
                <a:lnTo>
                  <a:pt x="5190459" y="0"/>
                </a:lnTo>
                <a:cubicBezTo>
                  <a:pt x="5249182" y="0"/>
                  <a:pt x="5296786" y="47604"/>
                  <a:pt x="5296786" y="106327"/>
                </a:cubicBezTo>
                <a:lnTo>
                  <a:pt x="5296786" y="1566529"/>
                </a:lnTo>
                <a:cubicBezTo>
                  <a:pt x="5296786" y="1625252"/>
                  <a:pt x="5249182" y="1672856"/>
                  <a:pt x="5190459" y="1672856"/>
                </a:cubicBezTo>
                <a:lnTo>
                  <a:pt x="106327" y="1672856"/>
                </a:lnTo>
                <a:cubicBezTo>
                  <a:pt x="47604" y="1672856"/>
                  <a:pt x="0" y="1625252"/>
                  <a:pt x="0" y="1566529"/>
                </a:cubicBezTo>
                <a:lnTo>
                  <a:pt x="0" y="106327"/>
                </a:lnTo>
                <a:cubicBezTo>
                  <a:pt x="0" y="47643"/>
                  <a:pt x="47643" y="0"/>
                  <a:pt x="10632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572" y="2370953"/>
            <a:ext cx="617907" cy="205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7572" y="2689930"/>
            <a:ext cx="5077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Photographs and illustrations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572" y="2973465"/>
            <a:ext cx="5077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Diagrams and charts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572" y="3257000"/>
            <a:ext cx="5077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Videos and animations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572" y="3540535"/>
            <a:ext cx="5077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Spatial relationships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7963" y="4231647"/>
            <a:ext cx="5660065" cy="1850065"/>
          </a:xfrm>
          <a:custGeom>
            <a:avLst/>
            <a:gdLst/>
            <a:ahLst/>
            <a:cxnLst/>
            <a:rect l="l" t="t" r="r" b="b"/>
            <a:pathLst>
              <a:path w="5660065" h="1850065">
                <a:moveTo>
                  <a:pt x="141770" y="0"/>
                </a:moveTo>
                <a:lnTo>
                  <a:pt x="5518295" y="0"/>
                </a:lnTo>
                <a:cubicBezTo>
                  <a:pt x="5596592" y="0"/>
                  <a:pt x="5660065" y="63473"/>
                  <a:pt x="5660065" y="141770"/>
                </a:cubicBezTo>
                <a:lnTo>
                  <a:pt x="5660065" y="1708295"/>
                </a:lnTo>
                <a:cubicBezTo>
                  <a:pt x="5660065" y="1786592"/>
                  <a:pt x="5596592" y="1850065"/>
                  <a:pt x="5518295" y="1850065"/>
                </a:cubicBezTo>
                <a:lnTo>
                  <a:pt x="141770" y="1850065"/>
                </a:lnTo>
                <a:cubicBezTo>
                  <a:pt x="63473" y="1850065"/>
                  <a:pt x="0" y="1786592"/>
                  <a:pt x="0" y="1708295"/>
                </a:cubicBezTo>
                <a:lnTo>
                  <a:pt x="0" y="141770"/>
                </a:lnTo>
                <a:cubicBezTo>
                  <a:pt x="0" y="63473"/>
                  <a:pt x="63473" y="0"/>
                  <a:pt x="14177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158" y="442114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62300" y="29073"/>
                </a:moveTo>
                <a:cubicBezTo>
                  <a:pt x="62300" y="13031"/>
                  <a:pt x="75331" y="0"/>
                  <a:pt x="91374" y="0"/>
                </a:cubicBezTo>
                <a:lnTo>
                  <a:pt x="103834" y="0"/>
                </a:lnTo>
                <a:cubicBezTo>
                  <a:pt x="113023" y="0"/>
                  <a:pt x="120447" y="7424"/>
                  <a:pt x="120447" y="16613"/>
                </a:cubicBezTo>
                <a:lnTo>
                  <a:pt x="120447" y="249201"/>
                </a:lnTo>
                <a:cubicBezTo>
                  <a:pt x="120447" y="258390"/>
                  <a:pt x="113023" y="265814"/>
                  <a:pt x="103834" y="265814"/>
                </a:cubicBezTo>
                <a:lnTo>
                  <a:pt x="87220" y="265814"/>
                </a:lnTo>
                <a:cubicBezTo>
                  <a:pt x="71749" y="265814"/>
                  <a:pt x="58718" y="255223"/>
                  <a:pt x="55032" y="240894"/>
                </a:cubicBezTo>
                <a:cubicBezTo>
                  <a:pt x="54668" y="240894"/>
                  <a:pt x="54357" y="240894"/>
                  <a:pt x="53993" y="240894"/>
                </a:cubicBezTo>
                <a:cubicBezTo>
                  <a:pt x="31046" y="240894"/>
                  <a:pt x="12460" y="222308"/>
                  <a:pt x="12460" y="199360"/>
                </a:cubicBezTo>
                <a:cubicBezTo>
                  <a:pt x="12460" y="190015"/>
                  <a:pt x="15575" y="181397"/>
                  <a:pt x="20767" y="174440"/>
                </a:cubicBezTo>
                <a:cubicBezTo>
                  <a:pt x="10695" y="166861"/>
                  <a:pt x="4153" y="154816"/>
                  <a:pt x="4153" y="141214"/>
                </a:cubicBezTo>
                <a:cubicBezTo>
                  <a:pt x="4153" y="125171"/>
                  <a:pt x="13291" y="111206"/>
                  <a:pt x="26581" y="104301"/>
                </a:cubicBezTo>
                <a:cubicBezTo>
                  <a:pt x="22895" y="98071"/>
                  <a:pt x="20767" y="90802"/>
                  <a:pt x="20767" y="83067"/>
                </a:cubicBezTo>
                <a:cubicBezTo>
                  <a:pt x="20767" y="60120"/>
                  <a:pt x="39353" y="41533"/>
                  <a:pt x="62300" y="41533"/>
                </a:cubicBezTo>
                <a:lnTo>
                  <a:pt x="62300" y="29073"/>
                </a:lnTo>
                <a:close/>
                <a:moveTo>
                  <a:pt x="203514" y="29073"/>
                </a:moveTo>
                <a:lnTo>
                  <a:pt x="203514" y="41533"/>
                </a:lnTo>
                <a:cubicBezTo>
                  <a:pt x="226461" y="41533"/>
                  <a:pt x="245047" y="60120"/>
                  <a:pt x="245047" y="83067"/>
                </a:cubicBezTo>
                <a:cubicBezTo>
                  <a:pt x="245047" y="90854"/>
                  <a:pt x="242919" y="98123"/>
                  <a:pt x="239233" y="104301"/>
                </a:cubicBezTo>
                <a:cubicBezTo>
                  <a:pt x="252575" y="111206"/>
                  <a:pt x="261661" y="125119"/>
                  <a:pt x="261661" y="141214"/>
                </a:cubicBezTo>
                <a:cubicBezTo>
                  <a:pt x="261661" y="154816"/>
                  <a:pt x="255119" y="166861"/>
                  <a:pt x="245047" y="174440"/>
                </a:cubicBezTo>
                <a:cubicBezTo>
                  <a:pt x="250239" y="181397"/>
                  <a:pt x="253354" y="190015"/>
                  <a:pt x="253354" y="199360"/>
                </a:cubicBezTo>
                <a:cubicBezTo>
                  <a:pt x="253354" y="222308"/>
                  <a:pt x="234768" y="240894"/>
                  <a:pt x="211820" y="240894"/>
                </a:cubicBezTo>
                <a:cubicBezTo>
                  <a:pt x="211457" y="240894"/>
                  <a:pt x="211146" y="240894"/>
                  <a:pt x="210782" y="240894"/>
                </a:cubicBezTo>
                <a:cubicBezTo>
                  <a:pt x="207096" y="255223"/>
                  <a:pt x="194065" y="265814"/>
                  <a:pt x="178594" y="265814"/>
                </a:cubicBezTo>
                <a:lnTo>
                  <a:pt x="161980" y="265814"/>
                </a:lnTo>
                <a:cubicBezTo>
                  <a:pt x="152791" y="265814"/>
                  <a:pt x="145367" y="258390"/>
                  <a:pt x="145367" y="249201"/>
                </a:cubicBezTo>
                <a:lnTo>
                  <a:pt x="145367" y="16613"/>
                </a:lnTo>
                <a:cubicBezTo>
                  <a:pt x="145367" y="7424"/>
                  <a:pt x="152791" y="0"/>
                  <a:pt x="161980" y="0"/>
                </a:cubicBezTo>
                <a:lnTo>
                  <a:pt x="174440" y="0"/>
                </a:lnTo>
                <a:cubicBezTo>
                  <a:pt x="190483" y="0"/>
                  <a:pt x="203514" y="13031"/>
                  <a:pt x="203514" y="290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977309" y="4412408"/>
            <a:ext cx="1364512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8716" y="4837589"/>
            <a:ext cx="5369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You see a visual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8716" y="5121124"/>
            <a:ext cx="5369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Brain creates mental image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8716" y="5404659"/>
            <a:ext cx="5369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Stores in visual memory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8716" y="5688194"/>
            <a:ext cx="5369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Can be retrieved when needed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0428" y="1244009"/>
            <a:ext cx="5660065" cy="2115879"/>
          </a:xfrm>
          <a:custGeom>
            <a:avLst/>
            <a:gdLst/>
            <a:ahLst/>
            <a:cxnLst/>
            <a:rect l="l" t="t" r="r" b="b"/>
            <a:pathLst>
              <a:path w="5660065" h="2115879">
                <a:moveTo>
                  <a:pt x="141764" y="0"/>
                </a:moveTo>
                <a:lnTo>
                  <a:pt x="5518301" y="0"/>
                </a:lnTo>
                <a:cubicBezTo>
                  <a:pt x="5596595" y="0"/>
                  <a:pt x="5660065" y="63470"/>
                  <a:pt x="5660065" y="141764"/>
                </a:cubicBezTo>
                <a:lnTo>
                  <a:pt x="5660065" y="1974115"/>
                </a:lnTo>
                <a:cubicBezTo>
                  <a:pt x="5660065" y="2052409"/>
                  <a:pt x="5596595" y="2115879"/>
                  <a:pt x="5518301" y="2115879"/>
                </a:cubicBezTo>
                <a:lnTo>
                  <a:pt x="141764" y="2115879"/>
                </a:lnTo>
                <a:cubicBezTo>
                  <a:pt x="63470" y="2115879"/>
                  <a:pt x="0" y="2052409"/>
                  <a:pt x="0" y="1974115"/>
                </a:cubicBezTo>
                <a:lnTo>
                  <a:pt x="0" y="141764"/>
                </a:lnTo>
                <a:cubicBezTo>
                  <a:pt x="0" y="63522"/>
                  <a:pt x="63522" y="0"/>
                  <a:pt x="14176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0010" y="1433509"/>
            <a:ext cx="299041" cy="265814"/>
          </a:xfrm>
          <a:custGeom>
            <a:avLst/>
            <a:gdLst/>
            <a:ahLst/>
            <a:cxnLst/>
            <a:rect l="l" t="t" r="r" b="b"/>
            <a:pathLst>
              <a:path w="299041" h="265814">
                <a:moveTo>
                  <a:pt x="149520" y="16613"/>
                </a:moveTo>
                <a:cubicBezTo>
                  <a:pt x="107572" y="16613"/>
                  <a:pt x="73981" y="35719"/>
                  <a:pt x="49529" y="58458"/>
                </a:cubicBezTo>
                <a:cubicBezTo>
                  <a:pt x="25232" y="81042"/>
                  <a:pt x="8982" y="107987"/>
                  <a:pt x="1246" y="126521"/>
                </a:cubicBezTo>
                <a:cubicBezTo>
                  <a:pt x="-467" y="130623"/>
                  <a:pt x="-467" y="135191"/>
                  <a:pt x="1246" y="139293"/>
                </a:cubicBezTo>
                <a:cubicBezTo>
                  <a:pt x="8982" y="157827"/>
                  <a:pt x="25232" y="184824"/>
                  <a:pt x="49529" y="207356"/>
                </a:cubicBezTo>
                <a:cubicBezTo>
                  <a:pt x="73981" y="230043"/>
                  <a:pt x="107572" y="249201"/>
                  <a:pt x="149520" y="249201"/>
                </a:cubicBezTo>
                <a:cubicBezTo>
                  <a:pt x="191469" y="249201"/>
                  <a:pt x="225059" y="230095"/>
                  <a:pt x="249512" y="207356"/>
                </a:cubicBezTo>
                <a:cubicBezTo>
                  <a:pt x="273809" y="184772"/>
                  <a:pt x="290059" y="157827"/>
                  <a:pt x="297795" y="139293"/>
                </a:cubicBezTo>
                <a:cubicBezTo>
                  <a:pt x="299508" y="135191"/>
                  <a:pt x="299508" y="130623"/>
                  <a:pt x="297795" y="126521"/>
                </a:cubicBezTo>
                <a:cubicBezTo>
                  <a:pt x="290059" y="107987"/>
                  <a:pt x="273809" y="80990"/>
                  <a:pt x="249512" y="58458"/>
                </a:cubicBezTo>
                <a:cubicBezTo>
                  <a:pt x="225059" y="35771"/>
                  <a:pt x="191469" y="16613"/>
                  <a:pt x="149520" y="16613"/>
                </a:cubicBezTo>
                <a:close/>
                <a:moveTo>
                  <a:pt x="74760" y="132907"/>
                </a:moveTo>
                <a:cubicBezTo>
                  <a:pt x="74760" y="91646"/>
                  <a:pt x="108259" y="58147"/>
                  <a:pt x="149520" y="58147"/>
                </a:cubicBezTo>
                <a:cubicBezTo>
                  <a:pt x="190782" y="58147"/>
                  <a:pt x="224281" y="91646"/>
                  <a:pt x="224281" y="132907"/>
                </a:cubicBezTo>
                <a:cubicBezTo>
                  <a:pt x="224281" y="174168"/>
                  <a:pt x="190782" y="207667"/>
                  <a:pt x="149520" y="207667"/>
                </a:cubicBezTo>
                <a:cubicBezTo>
                  <a:pt x="108259" y="207667"/>
                  <a:pt x="74760" y="174168"/>
                  <a:pt x="74760" y="132907"/>
                </a:cubicBezTo>
                <a:close/>
                <a:moveTo>
                  <a:pt x="149520" y="99680"/>
                </a:moveTo>
                <a:cubicBezTo>
                  <a:pt x="149520" y="118007"/>
                  <a:pt x="134620" y="132907"/>
                  <a:pt x="116294" y="132907"/>
                </a:cubicBezTo>
                <a:cubicBezTo>
                  <a:pt x="110323" y="132907"/>
                  <a:pt x="104716" y="131349"/>
                  <a:pt x="99836" y="128546"/>
                </a:cubicBezTo>
                <a:cubicBezTo>
                  <a:pt x="99317" y="134205"/>
                  <a:pt x="99784" y="140020"/>
                  <a:pt x="101342" y="145782"/>
                </a:cubicBezTo>
                <a:cubicBezTo>
                  <a:pt x="108454" y="172364"/>
                  <a:pt x="135814" y="188146"/>
                  <a:pt x="162396" y="181034"/>
                </a:cubicBezTo>
                <a:cubicBezTo>
                  <a:pt x="188977" y="173921"/>
                  <a:pt x="204760" y="146561"/>
                  <a:pt x="197647" y="119980"/>
                </a:cubicBezTo>
                <a:cubicBezTo>
                  <a:pt x="191313" y="96254"/>
                  <a:pt x="168833" y="81146"/>
                  <a:pt x="145159" y="83223"/>
                </a:cubicBezTo>
                <a:cubicBezTo>
                  <a:pt x="147911" y="88051"/>
                  <a:pt x="149520" y="93658"/>
                  <a:pt x="149520" y="996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789774" y="1424770"/>
            <a:ext cx="2144233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Memory Power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1181" y="1849951"/>
            <a:ext cx="5369442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non-verbal system creates powerful mental images that are easier to remember than words alone.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4725" y="2456007"/>
            <a:ext cx="5296786" cy="715926"/>
          </a:xfrm>
          <a:custGeom>
            <a:avLst/>
            <a:gdLst/>
            <a:ahLst/>
            <a:cxnLst/>
            <a:rect l="l" t="t" r="r" b="b"/>
            <a:pathLst>
              <a:path w="5296786" h="715926">
                <a:moveTo>
                  <a:pt x="106322" y="0"/>
                </a:moveTo>
                <a:lnTo>
                  <a:pt x="5190464" y="0"/>
                </a:lnTo>
                <a:cubicBezTo>
                  <a:pt x="5249184" y="0"/>
                  <a:pt x="5296786" y="47602"/>
                  <a:pt x="5296786" y="106322"/>
                </a:cubicBezTo>
                <a:lnTo>
                  <a:pt x="5296786" y="609603"/>
                </a:lnTo>
                <a:cubicBezTo>
                  <a:pt x="5296786" y="668324"/>
                  <a:pt x="5249184" y="715926"/>
                  <a:pt x="5190464" y="715926"/>
                </a:cubicBezTo>
                <a:lnTo>
                  <a:pt x="106322" y="715926"/>
                </a:lnTo>
                <a:cubicBezTo>
                  <a:pt x="47602" y="715926"/>
                  <a:pt x="0" y="668324"/>
                  <a:pt x="0" y="609603"/>
                </a:cubicBezTo>
                <a:lnTo>
                  <a:pt x="0" y="106322"/>
                </a:lnTo>
                <a:cubicBezTo>
                  <a:pt x="0" y="47641"/>
                  <a:pt x="47641" y="0"/>
                  <a:pt x="10632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0038" y="2601325"/>
            <a:ext cx="5077047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Finding:</a:t>
            </a: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People remember 80% of what they see, but only 20% of what they read.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0428" y="3505089"/>
            <a:ext cx="5660065" cy="2576623"/>
          </a:xfrm>
          <a:custGeom>
            <a:avLst/>
            <a:gdLst/>
            <a:ahLst/>
            <a:cxnLst/>
            <a:rect l="l" t="t" r="r" b="b"/>
            <a:pathLst>
              <a:path w="5660065" h="2576623">
                <a:moveTo>
                  <a:pt x="141766" y="0"/>
                </a:moveTo>
                <a:lnTo>
                  <a:pt x="5518299" y="0"/>
                </a:lnTo>
                <a:cubicBezTo>
                  <a:pt x="5596594" y="0"/>
                  <a:pt x="5660065" y="63471"/>
                  <a:pt x="5660065" y="141766"/>
                </a:cubicBezTo>
                <a:lnTo>
                  <a:pt x="5660065" y="2434857"/>
                </a:lnTo>
                <a:cubicBezTo>
                  <a:pt x="5660065" y="2513153"/>
                  <a:pt x="5596594" y="2576623"/>
                  <a:pt x="5518299" y="2576623"/>
                </a:cubicBezTo>
                <a:lnTo>
                  <a:pt x="141766" y="2576623"/>
                </a:lnTo>
                <a:cubicBezTo>
                  <a:pt x="63471" y="2576623"/>
                  <a:pt x="0" y="2513153"/>
                  <a:pt x="0" y="2434857"/>
                </a:cubicBezTo>
                <a:lnTo>
                  <a:pt x="0" y="141766"/>
                </a:lnTo>
                <a:cubicBezTo>
                  <a:pt x="0" y="63471"/>
                  <a:pt x="63471" y="0"/>
                  <a:pt x="14176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850" y="4376845"/>
            <a:ext cx="199360" cy="265814"/>
          </a:xfrm>
          <a:custGeom>
            <a:avLst/>
            <a:gdLst/>
            <a:ahLst/>
            <a:cxnLst/>
            <a:rect l="l" t="t" r="r" b="b"/>
            <a:pathLst>
              <a:path w="199360" h="265814">
                <a:moveTo>
                  <a:pt x="152064" y="199360"/>
                </a:moveTo>
                <a:cubicBezTo>
                  <a:pt x="155854" y="187783"/>
                  <a:pt x="163434" y="177296"/>
                  <a:pt x="172000" y="168262"/>
                </a:cubicBezTo>
                <a:cubicBezTo>
                  <a:pt x="188977" y="150403"/>
                  <a:pt x="199360" y="126262"/>
                  <a:pt x="199360" y="99680"/>
                </a:cubicBezTo>
                <a:cubicBezTo>
                  <a:pt x="199360" y="44648"/>
                  <a:pt x="154712" y="0"/>
                  <a:pt x="99680" y="0"/>
                </a:cubicBezTo>
                <a:cubicBezTo>
                  <a:pt x="44648" y="0"/>
                  <a:pt x="0" y="44648"/>
                  <a:pt x="0" y="99680"/>
                </a:cubicBezTo>
                <a:cubicBezTo>
                  <a:pt x="0" y="126262"/>
                  <a:pt x="10383" y="150403"/>
                  <a:pt x="27360" y="168262"/>
                </a:cubicBezTo>
                <a:cubicBezTo>
                  <a:pt x="35926" y="177296"/>
                  <a:pt x="43558" y="187783"/>
                  <a:pt x="47296" y="199360"/>
                </a:cubicBezTo>
                <a:lnTo>
                  <a:pt x="152012" y="199360"/>
                </a:lnTo>
                <a:close/>
                <a:moveTo>
                  <a:pt x="149520" y="224281"/>
                </a:moveTo>
                <a:lnTo>
                  <a:pt x="49840" y="224281"/>
                </a:lnTo>
                <a:lnTo>
                  <a:pt x="49840" y="232587"/>
                </a:lnTo>
                <a:cubicBezTo>
                  <a:pt x="49840" y="255534"/>
                  <a:pt x="68426" y="274121"/>
                  <a:pt x="91374" y="274121"/>
                </a:cubicBezTo>
                <a:lnTo>
                  <a:pt x="107987" y="274121"/>
                </a:lnTo>
                <a:cubicBezTo>
                  <a:pt x="130934" y="274121"/>
                  <a:pt x="149520" y="255534"/>
                  <a:pt x="149520" y="232587"/>
                </a:cubicBezTo>
                <a:lnTo>
                  <a:pt x="149520" y="224281"/>
                </a:lnTo>
                <a:close/>
                <a:moveTo>
                  <a:pt x="95527" y="58147"/>
                </a:moveTo>
                <a:cubicBezTo>
                  <a:pt x="74864" y="58147"/>
                  <a:pt x="58147" y="74864"/>
                  <a:pt x="58147" y="95527"/>
                </a:cubicBezTo>
                <a:cubicBezTo>
                  <a:pt x="58147" y="102432"/>
                  <a:pt x="52592" y="107987"/>
                  <a:pt x="45687" y="107987"/>
                </a:cubicBezTo>
                <a:cubicBezTo>
                  <a:pt x="38782" y="107987"/>
                  <a:pt x="33227" y="102432"/>
                  <a:pt x="33227" y="95527"/>
                </a:cubicBezTo>
                <a:cubicBezTo>
                  <a:pt x="33227" y="61106"/>
                  <a:pt x="61106" y="33227"/>
                  <a:pt x="95527" y="33227"/>
                </a:cubicBezTo>
                <a:cubicBezTo>
                  <a:pt x="102432" y="33227"/>
                  <a:pt x="107987" y="38782"/>
                  <a:pt x="107987" y="45687"/>
                </a:cubicBezTo>
                <a:cubicBezTo>
                  <a:pt x="107987" y="52592"/>
                  <a:pt x="102432" y="58147"/>
                  <a:pt x="95527" y="581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789774" y="4368105"/>
            <a:ext cx="1205023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1181" y="4757845"/>
            <a:ext cx="5369442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non-verbal system is like a photo album in your brain. Every image you see creates a mental picture that can be recalled later.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7963" y="6195019"/>
            <a:ext cx="11472530" cy="432391"/>
          </a:xfrm>
          <a:custGeom>
            <a:avLst/>
            <a:gdLst/>
            <a:ahLst/>
            <a:cxnLst/>
            <a:rect l="l" t="t" r="r" b="b"/>
            <a:pathLst>
              <a:path w="11472530" h="432391">
                <a:moveTo>
                  <a:pt x="106325" y="0"/>
                </a:moveTo>
                <a:lnTo>
                  <a:pt x="11366205" y="0"/>
                </a:lnTo>
                <a:cubicBezTo>
                  <a:pt x="11424927" y="0"/>
                  <a:pt x="11472530" y="47603"/>
                  <a:pt x="11472530" y="106325"/>
                </a:cubicBezTo>
                <a:lnTo>
                  <a:pt x="11472530" y="326066"/>
                </a:lnTo>
                <a:cubicBezTo>
                  <a:pt x="11472530" y="384787"/>
                  <a:pt x="11424927" y="432391"/>
                  <a:pt x="11366205" y="432391"/>
                </a:cubicBezTo>
                <a:lnTo>
                  <a:pt x="106325" y="432391"/>
                </a:lnTo>
                <a:cubicBezTo>
                  <a:pt x="47643" y="432391"/>
                  <a:pt x="0" y="384748"/>
                  <a:pt x="0" y="326066"/>
                </a:cubicBezTo>
                <a:lnTo>
                  <a:pt x="0" y="106325"/>
                </a:lnTo>
                <a:cubicBezTo>
                  <a:pt x="0" y="47643"/>
                  <a:pt x="47643" y="0"/>
                  <a:pt x="10632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833" y="6304896"/>
            <a:ext cx="1132367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Flowchart showing image → mental image → visual memory | Image: Person looking at a diagram with highlighted brain visual areas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754" y="377754"/>
            <a:ext cx="75551" cy="453304"/>
          </a:xfrm>
          <a:custGeom>
            <a:avLst/>
            <a:gdLst/>
            <a:ahLst/>
            <a:cxnLst/>
            <a:rect l="l" t="t" r="r" b="b"/>
            <a:pathLst>
              <a:path w="75551" h="453304">
                <a:moveTo>
                  <a:pt x="37775" y="0"/>
                </a:moveTo>
                <a:lnTo>
                  <a:pt x="37775" y="0"/>
                </a:lnTo>
                <a:cubicBezTo>
                  <a:pt x="58638" y="0"/>
                  <a:pt x="75551" y="16913"/>
                  <a:pt x="75551" y="37775"/>
                </a:cubicBezTo>
                <a:lnTo>
                  <a:pt x="75551" y="415529"/>
                </a:lnTo>
                <a:cubicBezTo>
                  <a:pt x="75551" y="436378"/>
                  <a:pt x="58624" y="453304"/>
                  <a:pt x="37775" y="453304"/>
                </a:cubicBezTo>
                <a:lnTo>
                  <a:pt x="37775" y="453304"/>
                </a:lnTo>
                <a:cubicBezTo>
                  <a:pt x="16927" y="453304"/>
                  <a:pt x="0" y="436378"/>
                  <a:pt x="0" y="415529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66631" y="377754"/>
            <a:ext cx="9151083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Theory: Referential Connections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631" y="906609"/>
            <a:ext cx="11332610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verbal and visual systems work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31" y="1325915"/>
            <a:ext cx="5636085" cy="3275124"/>
          </a:xfrm>
          <a:custGeom>
            <a:avLst/>
            <a:gdLst/>
            <a:ahLst/>
            <a:cxnLst/>
            <a:rect l="l" t="t" r="r" b="b"/>
            <a:pathLst>
              <a:path w="5636085" h="3275124">
                <a:moveTo>
                  <a:pt x="151114" y="0"/>
                </a:moveTo>
                <a:lnTo>
                  <a:pt x="5484971" y="0"/>
                </a:lnTo>
                <a:cubicBezTo>
                  <a:pt x="5568429" y="0"/>
                  <a:pt x="5636085" y="67656"/>
                  <a:pt x="5636085" y="151114"/>
                </a:cubicBezTo>
                <a:lnTo>
                  <a:pt x="5636085" y="3124010"/>
                </a:lnTo>
                <a:cubicBezTo>
                  <a:pt x="5636085" y="3207468"/>
                  <a:pt x="5568429" y="3275124"/>
                  <a:pt x="5484971" y="3275124"/>
                </a:cubicBezTo>
                <a:lnTo>
                  <a:pt x="151114" y="3275124"/>
                </a:lnTo>
                <a:cubicBezTo>
                  <a:pt x="67712" y="3275124"/>
                  <a:pt x="0" y="3207412"/>
                  <a:pt x="0" y="3124010"/>
                </a:cubicBezTo>
                <a:lnTo>
                  <a:pt x="0" y="151114"/>
                </a:lnTo>
                <a:cubicBezTo>
                  <a:pt x="0" y="67712"/>
                  <a:pt x="67712" y="0"/>
                  <a:pt x="1511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254" y="1527892"/>
            <a:ext cx="318730" cy="283315"/>
          </a:xfrm>
          <a:custGeom>
            <a:avLst/>
            <a:gdLst/>
            <a:ahLst/>
            <a:cxnLst/>
            <a:rect l="l" t="t" r="r" b="b"/>
            <a:pathLst>
              <a:path w="318730" h="283315">
                <a:moveTo>
                  <a:pt x="232130" y="53122"/>
                </a:moveTo>
                <a:cubicBezTo>
                  <a:pt x="222945" y="53122"/>
                  <a:pt x="214036" y="55612"/>
                  <a:pt x="206234" y="60149"/>
                </a:cubicBezTo>
                <a:cubicBezTo>
                  <a:pt x="197491" y="51296"/>
                  <a:pt x="187309" y="43881"/>
                  <a:pt x="176076" y="38292"/>
                </a:cubicBezTo>
                <a:cubicBezTo>
                  <a:pt x="191680" y="25011"/>
                  <a:pt x="211546" y="17707"/>
                  <a:pt x="232130" y="17707"/>
                </a:cubicBezTo>
                <a:cubicBezTo>
                  <a:pt x="279940" y="17707"/>
                  <a:pt x="318730" y="56442"/>
                  <a:pt x="318730" y="104306"/>
                </a:cubicBezTo>
                <a:cubicBezTo>
                  <a:pt x="318730" y="127271"/>
                  <a:pt x="309599" y="149294"/>
                  <a:pt x="293386" y="165507"/>
                </a:cubicBezTo>
                <a:lnTo>
                  <a:pt x="254043" y="204850"/>
                </a:lnTo>
                <a:cubicBezTo>
                  <a:pt x="237830" y="221063"/>
                  <a:pt x="215807" y="230194"/>
                  <a:pt x="192843" y="230194"/>
                </a:cubicBezTo>
                <a:cubicBezTo>
                  <a:pt x="145033" y="230194"/>
                  <a:pt x="106243" y="191459"/>
                  <a:pt x="106243" y="143594"/>
                </a:cubicBezTo>
                <a:cubicBezTo>
                  <a:pt x="106243" y="142764"/>
                  <a:pt x="106243" y="141934"/>
                  <a:pt x="106299" y="141104"/>
                </a:cubicBezTo>
                <a:cubicBezTo>
                  <a:pt x="106575" y="131310"/>
                  <a:pt x="114709" y="123618"/>
                  <a:pt x="124504" y="123895"/>
                </a:cubicBezTo>
                <a:cubicBezTo>
                  <a:pt x="134298" y="124172"/>
                  <a:pt x="141990" y="132306"/>
                  <a:pt x="141713" y="142100"/>
                </a:cubicBezTo>
                <a:cubicBezTo>
                  <a:pt x="141713" y="142598"/>
                  <a:pt x="141713" y="143096"/>
                  <a:pt x="141713" y="143539"/>
                </a:cubicBezTo>
                <a:cubicBezTo>
                  <a:pt x="141713" y="171815"/>
                  <a:pt x="164622" y="194724"/>
                  <a:pt x="192898" y="194724"/>
                </a:cubicBezTo>
                <a:cubicBezTo>
                  <a:pt x="206455" y="194724"/>
                  <a:pt x="219459" y="189356"/>
                  <a:pt x="229087" y="179728"/>
                </a:cubicBezTo>
                <a:lnTo>
                  <a:pt x="268430" y="140385"/>
                </a:lnTo>
                <a:cubicBezTo>
                  <a:pt x="278003" y="130812"/>
                  <a:pt x="283426" y="117753"/>
                  <a:pt x="283426" y="104196"/>
                </a:cubicBezTo>
                <a:cubicBezTo>
                  <a:pt x="283426" y="75920"/>
                  <a:pt x="260517" y="53011"/>
                  <a:pt x="232241" y="53011"/>
                </a:cubicBezTo>
                <a:close/>
                <a:moveTo>
                  <a:pt x="152282" y="95896"/>
                </a:moveTo>
                <a:cubicBezTo>
                  <a:pt x="151231" y="95453"/>
                  <a:pt x="150179" y="94844"/>
                  <a:pt x="149239" y="94180"/>
                </a:cubicBezTo>
                <a:cubicBezTo>
                  <a:pt x="142266" y="90583"/>
                  <a:pt x="134298" y="88536"/>
                  <a:pt x="125942" y="88536"/>
                </a:cubicBezTo>
                <a:cubicBezTo>
                  <a:pt x="112385" y="88536"/>
                  <a:pt x="99382" y="93904"/>
                  <a:pt x="89753" y="103532"/>
                </a:cubicBezTo>
                <a:lnTo>
                  <a:pt x="50410" y="142875"/>
                </a:lnTo>
                <a:cubicBezTo>
                  <a:pt x="40837" y="152448"/>
                  <a:pt x="35414" y="165507"/>
                  <a:pt x="35414" y="179064"/>
                </a:cubicBezTo>
                <a:cubicBezTo>
                  <a:pt x="35414" y="207340"/>
                  <a:pt x="58323" y="230249"/>
                  <a:pt x="86599" y="230249"/>
                </a:cubicBezTo>
                <a:cubicBezTo>
                  <a:pt x="95730" y="230249"/>
                  <a:pt x="104639" y="227814"/>
                  <a:pt x="112441" y="223277"/>
                </a:cubicBezTo>
                <a:cubicBezTo>
                  <a:pt x="121184" y="232130"/>
                  <a:pt x="131365" y="239545"/>
                  <a:pt x="142654" y="245134"/>
                </a:cubicBezTo>
                <a:cubicBezTo>
                  <a:pt x="127049" y="258359"/>
                  <a:pt x="107239" y="265719"/>
                  <a:pt x="86599" y="265719"/>
                </a:cubicBezTo>
                <a:cubicBezTo>
                  <a:pt x="38790" y="265719"/>
                  <a:pt x="0" y="226984"/>
                  <a:pt x="0" y="179119"/>
                </a:cubicBezTo>
                <a:cubicBezTo>
                  <a:pt x="0" y="156155"/>
                  <a:pt x="9130" y="134132"/>
                  <a:pt x="25343" y="117919"/>
                </a:cubicBezTo>
                <a:lnTo>
                  <a:pt x="64687" y="78576"/>
                </a:lnTo>
                <a:cubicBezTo>
                  <a:pt x="80900" y="62363"/>
                  <a:pt x="102923" y="53232"/>
                  <a:pt x="125887" y="53232"/>
                </a:cubicBezTo>
                <a:cubicBezTo>
                  <a:pt x="173807" y="53232"/>
                  <a:pt x="212486" y="92299"/>
                  <a:pt x="212486" y="140053"/>
                </a:cubicBezTo>
                <a:cubicBezTo>
                  <a:pt x="212486" y="140772"/>
                  <a:pt x="212486" y="141492"/>
                  <a:pt x="212486" y="142211"/>
                </a:cubicBezTo>
                <a:cubicBezTo>
                  <a:pt x="212265" y="152005"/>
                  <a:pt x="204131" y="159697"/>
                  <a:pt x="194337" y="159476"/>
                </a:cubicBezTo>
                <a:cubicBezTo>
                  <a:pt x="184542" y="159254"/>
                  <a:pt x="176851" y="151120"/>
                  <a:pt x="177072" y="141326"/>
                </a:cubicBezTo>
                <a:cubicBezTo>
                  <a:pt x="177072" y="140883"/>
                  <a:pt x="177072" y="140496"/>
                  <a:pt x="177072" y="140053"/>
                </a:cubicBezTo>
                <a:cubicBezTo>
                  <a:pt x="177072" y="121405"/>
                  <a:pt x="167112" y="105026"/>
                  <a:pt x="152282" y="96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41656" y="1518577"/>
            <a:ext cx="3579216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Referential Connections?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4186" y="1971752"/>
            <a:ext cx="5326327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Links between verbal and non-verbal systems. When you hear a word, you can form a mental image. When you see an image, you can name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963" y="2617711"/>
            <a:ext cx="5239444" cy="1782997"/>
          </a:xfrm>
          <a:custGeom>
            <a:avLst/>
            <a:gdLst/>
            <a:ahLst/>
            <a:cxnLst/>
            <a:rect l="l" t="t" r="r" b="b"/>
            <a:pathLst>
              <a:path w="5239444" h="1782997">
                <a:moveTo>
                  <a:pt x="113327" y="0"/>
                </a:moveTo>
                <a:lnTo>
                  <a:pt x="5126116" y="0"/>
                </a:lnTo>
                <a:cubicBezTo>
                  <a:pt x="5188705" y="0"/>
                  <a:pt x="5239444" y="50738"/>
                  <a:pt x="5239444" y="113327"/>
                </a:cubicBezTo>
                <a:lnTo>
                  <a:pt x="5239444" y="1669670"/>
                </a:lnTo>
                <a:cubicBezTo>
                  <a:pt x="5239444" y="1732259"/>
                  <a:pt x="5188705" y="1782997"/>
                  <a:pt x="5126116" y="1782997"/>
                </a:cubicBezTo>
                <a:lnTo>
                  <a:pt x="113327" y="1782997"/>
                </a:lnTo>
                <a:cubicBezTo>
                  <a:pt x="50738" y="1782997"/>
                  <a:pt x="0" y="1732259"/>
                  <a:pt x="0" y="1669670"/>
                </a:cubicBezTo>
                <a:lnTo>
                  <a:pt x="0" y="113327"/>
                </a:lnTo>
                <a:cubicBezTo>
                  <a:pt x="0" y="50780"/>
                  <a:pt x="50780" y="0"/>
                  <a:pt x="11332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2842" y="2772598"/>
            <a:ext cx="1174460" cy="219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They Work: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2842" y="3112576"/>
            <a:ext cx="500523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Hear word "dog" → verbal system activates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2842" y="3414779"/>
            <a:ext cx="500523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Brain creates mental image of dog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2842" y="3716982"/>
            <a:ext cx="500523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Non-verbal system stores the image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2842" y="4019185"/>
            <a:ext cx="500523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Now you have two memory traces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531" y="4755801"/>
            <a:ext cx="5636085" cy="1291918"/>
          </a:xfrm>
          <a:custGeom>
            <a:avLst/>
            <a:gdLst/>
            <a:ahLst/>
            <a:cxnLst/>
            <a:rect l="l" t="t" r="r" b="b"/>
            <a:pathLst>
              <a:path w="5636085" h="1291918">
                <a:moveTo>
                  <a:pt x="151103" y="0"/>
                </a:moveTo>
                <a:lnTo>
                  <a:pt x="5484982" y="0"/>
                </a:lnTo>
                <a:cubicBezTo>
                  <a:pt x="5568434" y="0"/>
                  <a:pt x="5636085" y="67651"/>
                  <a:pt x="5636085" y="151103"/>
                </a:cubicBezTo>
                <a:lnTo>
                  <a:pt x="5636085" y="1140815"/>
                </a:lnTo>
                <a:cubicBezTo>
                  <a:pt x="5636085" y="1224267"/>
                  <a:pt x="5568434" y="1291918"/>
                  <a:pt x="5484982" y="1291918"/>
                </a:cubicBezTo>
                <a:lnTo>
                  <a:pt x="151103" y="1291918"/>
                </a:lnTo>
                <a:cubicBezTo>
                  <a:pt x="67651" y="1291918"/>
                  <a:pt x="0" y="1224267"/>
                  <a:pt x="0" y="1140815"/>
                </a:cubicBezTo>
                <a:lnTo>
                  <a:pt x="0" y="151103"/>
                </a:lnTo>
                <a:cubicBezTo>
                  <a:pt x="0" y="67707"/>
                  <a:pt x="67707" y="0"/>
                  <a:pt x="15110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75" y="4957777"/>
            <a:ext cx="212486" cy="283315"/>
          </a:xfrm>
          <a:custGeom>
            <a:avLst/>
            <a:gdLst/>
            <a:ahLst/>
            <a:cxnLst/>
            <a:rect l="l" t="t" r="r" b="b"/>
            <a:pathLst>
              <a:path w="212486" h="283315">
                <a:moveTo>
                  <a:pt x="162076" y="212486"/>
                </a:moveTo>
                <a:cubicBezTo>
                  <a:pt x="166116" y="200147"/>
                  <a:pt x="174195" y="188969"/>
                  <a:pt x="183325" y="179341"/>
                </a:cubicBezTo>
                <a:cubicBezTo>
                  <a:pt x="201419" y="160306"/>
                  <a:pt x="212486" y="134575"/>
                  <a:pt x="212486" y="106243"/>
                </a:cubicBezTo>
                <a:cubicBezTo>
                  <a:pt x="212486" y="47588"/>
                  <a:pt x="164898" y="0"/>
                  <a:pt x="106243" y="0"/>
                </a:cubicBezTo>
                <a:cubicBezTo>
                  <a:pt x="47588" y="0"/>
                  <a:pt x="0" y="47588"/>
                  <a:pt x="0" y="106243"/>
                </a:cubicBezTo>
                <a:cubicBezTo>
                  <a:pt x="0" y="134575"/>
                  <a:pt x="11067" y="160306"/>
                  <a:pt x="29162" y="179341"/>
                </a:cubicBezTo>
                <a:cubicBezTo>
                  <a:pt x="38292" y="188969"/>
                  <a:pt x="46426" y="200147"/>
                  <a:pt x="50410" y="212486"/>
                </a:cubicBezTo>
                <a:lnTo>
                  <a:pt x="162021" y="212486"/>
                </a:lnTo>
                <a:close/>
                <a:moveTo>
                  <a:pt x="159365" y="239047"/>
                </a:moveTo>
                <a:lnTo>
                  <a:pt x="53122" y="239047"/>
                </a:lnTo>
                <a:lnTo>
                  <a:pt x="53122" y="247901"/>
                </a:lnTo>
                <a:cubicBezTo>
                  <a:pt x="53122" y="272359"/>
                  <a:pt x="72932" y="292169"/>
                  <a:pt x="97390" y="292169"/>
                </a:cubicBezTo>
                <a:lnTo>
                  <a:pt x="115097" y="292169"/>
                </a:lnTo>
                <a:cubicBezTo>
                  <a:pt x="139555" y="292169"/>
                  <a:pt x="159365" y="272359"/>
                  <a:pt x="159365" y="247901"/>
                </a:cubicBezTo>
                <a:lnTo>
                  <a:pt x="159365" y="239047"/>
                </a:lnTo>
                <a:close/>
                <a:moveTo>
                  <a:pt x="101816" y="61975"/>
                </a:moveTo>
                <a:cubicBezTo>
                  <a:pt x="79793" y="61975"/>
                  <a:pt x="61975" y="79793"/>
                  <a:pt x="61975" y="101816"/>
                </a:cubicBezTo>
                <a:cubicBezTo>
                  <a:pt x="61975" y="109176"/>
                  <a:pt x="56054" y="115097"/>
                  <a:pt x="48695" y="115097"/>
                </a:cubicBezTo>
                <a:cubicBezTo>
                  <a:pt x="41335" y="115097"/>
                  <a:pt x="35414" y="109176"/>
                  <a:pt x="35414" y="101816"/>
                </a:cubicBezTo>
                <a:cubicBezTo>
                  <a:pt x="35414" y="65129"/>
                  <a:pt x="65129" y="35414"/>
                  <a:pt x="101816" y="35414"/>
                </a:cubicBezTo>
                <a:cubicBezTo>
                  <a:pt x="109176" y="35414"/>
                  <a:pt x="115097" y="41335"/>
                  <a:pt x="115097" y="48695"/>
                </a:cubicBezTo>
                <a:cubicBezTo>
                  <a:pt x="115097" y="56054"/>
                  <a:pt x="109176" y="61975"/>
                  <a:pt x="101816" y="619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656" y="4948463"/>
            <a:ext cx="1284363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4186" y="5363862"/>
            <a:ext cx="5326327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Referential connections are like bridges between two cities. The more bridges you build, the easier it is to travel between them.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3676" y="1325915"/>
            <a:ext cx="5636085" cy="2236302"/>
          </a:xfrm>
          <a:custGeom>
            <a:avLst/>
            <a:gdLst/>
            <a:ahLst/>
            <a:cxnLst/>
            <a:rect l="l" t="t" r="r" b="b"/>
            <a:pathLst>
              <a:path w="5636085" h="2236302">
                <a:moveTo>
                  <a:pt x="151107" y="0"/>
                </a:moveTo>
                <a:lnTo>
                  <a:pt x="5484978" y="0"/>
                </a:lnTo>
                <a:cubicBezTo>
                  <a:pt x="5568432" y="0"/>
                  <a:pt x="5636085" y="67653"/>
                  <a:pt x="5636085" y="151107"/>
                </a:cubicBezTo>
                <a:lnTo>
                  <a:pt x="5636085" y="2085195"/>
                </a:lnTo>
                <a:cubicBezTo>
                  <a:pt x="5636085" y="2168649"/>
                  <a:pt x="5568432" y="2236302"/>
                  <a:pt x="5484978" y="2236302"/>
                </a:cubicBezTo>
                <a:lnTo>
                  <a:pt x="151107" y="2236302"/>
                </a:lnTo>
                <a:cubicBezTo>
                  <a:pt x="67653" y="2236302"/>
                  <a:pt x="0" y="2168649"/>
                  <a:pt x="0" y="2085195"/>
                </a:cubicBezTo>
                <a:lnTo>
                  <a:pt x="0" y="151107"/>
                </a:lnTo>
                <a:cubicBezTo>
                  <a:pt x="0" y="67709"/>
                  <a:pt x="67709" y="0"/>
                  <a:pt x="15110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4105" y="1527892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141658" y="283315"/>
                </a:moveTo>
                <a:cubicBezTo>
                  <a:pt x="219841" y="283315"/>
                  <a:pt x="283315" y="219841"/>
                  <a:pt x="283315" y="141658"/>
                </a:cubicBezTo>
                <a:cubicBezTo>
                  <a:pt x="283315" y="63475"/>
                  <a:pt x="219841" y="0"/>
                  <a:pt x="141658" y="0"/>
                </a:cubicBezTo>
                <a:cubicBezTo>
                  <a:pt x="63475" y="0"/>
                  <a:pt x="0" y="63475"/>
                  <a:pt x="0" y="141658"/>
                </a:cubicBezTo>
                <a:cubicBezTo>
                  <a:pt x="0" y="219841"/>
                  <a:pt x="63475" y="283315"/>
                  <a:pt x="141658" y="283315"/>
                </a:cubicBezTo>
                <a:close/>
                <a:moveTo>
                  <a:pt x="128377" y="190352"/>
                </a:moveTo>
                <a:lnTo>
                  <a:pt x="128377" y="154938"/>
                </a:lnTo>
                <a:lnTo>
                  <a:pt x="92963" y="154938"/>
                </a:lnTo>
                <a:cubicBezTo>
                  <a:pt x="85603" y="154938"/>
                  <a:pt x="79682" y="149017"/>
                  <a:pt x="79682" y="141658"/>
                </a:cubicBezTo>
                <a:cubicBezTo>
                  <a:pt x="79682" y="134298"/>
                  <a:pt x="85603" y="128377"/>
                  <a:pt x="92963" y="128377"/>
                </a:cubicBezTo>
                <a:lnTo>
                  <a:pt x="128377" y="128377"/>
                </a:lnTo>
                <a:lnTo>
                  <a:pt x="128377" y="92963"/>
                </a:lnTo>
                <a:cubicBezTo>
                  <a:pt x="128377" y="85603"/>
                  <a:pt x="134298" y="79682"/>
                  <a:pt x="141658" y="79682"/>
                </a:cubicBezTo>
                <a:cubicBezTo>
                  <a:pt x="149017" y="79682"/>
                  <a:pt x="154938" y="85603"/>
                  <a:pt x="154938" y="92963"/>
                </a:cubicBezTo>
                <a:lnTo>
                  <a:pt x="154938" y="128377"/>
                </a:lnTo>
                <a:lnTo>
                  <a:pt x="190352" y="128377"/>
                </a:lnTo>
                <a:cubicBezTo>
                  <a:pt x="197712" y="128377"/>
                  <a:pt x="203633" y="134298"/>
                  <a:pt x="203633" y="141658"/>
                </a:cubicBezTo>
                <a:cubicBezTo>
                  <a:pt x="203633" y="149017"/>
                  <a:pt x="197712" y="154938"/>
                  <a:pt x="190352" y="154938"/>
                </a:cubicBezTo>
                <a:lnTo>
                  <a:pt x="154938" y="154938"/>
                </a:lnTo>
                <a:lnTo>
                  <a:pt x="154938" y="190352"/>
                </a:lnTo>
                <a:cubicBezTo>
                  <a:pt x="154938" y="197712"/>
                  <a:pt x="149017" y="203633"/>
                  <a:pt x="141658" y="203633"/>
                </a:cubicBezTo>
                <a:cubicBezTo>
                  <a:pt x="134298" y="203633"/>
                  <a:pt x="128377" y="197712"/>
                  <a:pt x="128377" y="19035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833800" y="1518577"/>
            <a:ext cx="4211954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More Connections = Better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6330" y="2009528"/>
            <a:ext cx="13221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8426" y="1971752"/>
            <a:ext cx="236096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memory traces instead of 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6330" y="2387282"/>
            <a:ext cx="13221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8426" y="2349506"/>
            <a:ext cx="184154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to recall information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6330" y="2765035"/>
            <a:ext cx="13221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8426" y="2727260"/>
            <a:ext cx="208708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Stronger memory connections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6330" y="3142789"/>
            <a:ext cx="13221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8426" y="3105014"/>
            <a:ext cx="229485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understanding of concepts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3676" y="3720759"/>
            <a:ext cx="5636085" cy="2330740"/>
          </a:xfrm>
          <a:custGeom>
            <a:avLst/>
            <a:gdLst/>
            <a:ahLst/>
            <a:cxnLst/>
            <a:rect l="l" t="t" r="r" b="b"/>
            <a:pathLst>
              <a:path w="5636085" h="2330740">
                <a:moveTo>
                  <a:pt x="151102" y="0"/>
                </a:moveTo>
                <a:lnTo>
                  <a:pt x="5484983" y="0"/>
                </a:lnTo>
                <a:cubicBezTo>
                  <a:pt x="5568434" y="0"/>
                  <a:pt x="5636085" y="67651"/>
                  <a:pt x="5636085" y="151102"/>
                </a:cubicBezTo>
                <a:lnTo>
                  <a:pt x="5636085" y="2179638"/>
                </a:lnTo>
                <a:cubicBezTo>
                  <a:pt x="5636085" y="2263090"/>
                  <a:pt x="5568434" y="2330740"/>
                  <a:pt x="5484983" y="2330740"/>
                </a:cubicBezTo>
                <a:lnTo>
                  <a:pt x="151102" y="2330740"/>
                </a:lnTo>
                <a:cubicBezTo>
                  <a:pt x="67651" y="2330740"/>
                  <a:pt x="0" y="2263090"/>
                  <a:pt x="0" y="2179638"/>
                </a:cubicBezTo>
                <a:lnTo>
                  <a:pt x="0" y="151102"/>
                </a:lnTo>
                <a:cubicBezTo>
                  <a:pt x="0" y="67651"/>
                  <a:pt x="67651" y="0"/>
                  <a:pt x="15110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4105" y="4440266"/>
            <a:ext cx="283315" cy="283315"/>
          </a:xfrm>
          <a:custGeom>
            <a:avLst/>
            <a:gdLst/>
            <a:ahLst/>
            <a:cxnLst/>
            <a:rect l="l" t="t" r="r" b="b"/>
            <a:pathLst>
              <a:path w="283315" h="283315">
                <a:moveTo>
                  <a:pt x="194724" y="154938"/>
                </a:moveTo>
                <a:lnTo>
                  <a:pt x="89089" y="154938"/>
                </a:lnTo>
                <a:cubicBezTo>
                  <a:pt x="90694" y="190629"/>
                  <a:pt x="98607" y="223498"/>
                  <a:pt x="109840" y="247569"/>
                </a:cubicBezTo>
                <a:cubicBezTo>
                  <a:pt x="116148" y="261126"/>
                  <a:pt x="122954" y="270699"/>
                  <a:pt x="129263" y="276564"/>
                </a:cubicBezTo>
                <a:cubicBezTo>
                  <a:pt x="135460" y="282375"/>
                  <a:pt x="139721" y="283315"/>
                  <a:pt x="141934" y="283315"/>
                </a:cubicBezTo>
                <a:cubicBezTo>
                  <a:pt x="144148" y="283315"/>
                  <a:pt x="148409" y="282375"/>
                  <a:pt x="154606" y="276564"/>
                </a:cubicBezTo>
                <a:cubicBezTo>
                  <a:pt x="160914" y="270699"/>
                  <a:pt x="167720" y="261071"/>
                  <a:pt x="174029" y="247569"/>
                </a:cubicBezTo>
                <a:cubicBezTo>
                  <a:pt x="185262" y="223498"/>
                  <a:pt x="193175" y="190629"/>
                  <a:pt x="194779" y="154938"/>
                </a:cubicBezTo>
                <a:close/>
                <a:moveTo>
                  <a:pt x="89034" y="128377"/>
                </a:moveTo>
                <a:lnTo>
                  <a:pt x="194669" y="128377"/>
                </a:lnTo>
                <a:cubicBezTo>
                  <a:pt x="193119" y="92686"/>
                  <a:pt x="185206" y="59817"/>
                  <a:pt x="173973" y="35746"/>
                </a:cubicBezTo>
                <a:cubicBezTo>
                  <a:pt x="167665" y="22245"/>
                  <a:pt x="160859" y="12616"/>
                  <a:pt x="154551" y="6751"/>
                </a:cubicBezTo>
                <a:cubicBezTo>
                  <a:pt x="148353" y="941"/>
                  <a:pt x="144092" y="0"/>
                  <a:pt x="141879" y="0"/>
                </a:cubicBezTo>
                <a:cubicBezTo>
                  <a:pt x="139666" y="0"/>
                  <a:pt x="135405" y="941"/>
                  <a:pt x="129207" y="6751"/>
                </a:cubicBezTo>
                <a:cubicBezTo>
                  <a:pt x="122899" y="12616"/>
                  <a:pt x="116093" y="22245"/>
                  <a:pt x="109785" y="35746"/>
                </a:cubicBezTo>
                <a:cubicBezTo>
                  <a:pt x="98552" y="59817"/>
                  <a:pt x="90639" y="92686"/>
                  <a:pt x="89034" y="128377"/>
                </a:cubicBezTo>
                <a:close/>
                <a:moveTo>
                  <a:pt x="62473" y="128377"/>
                </a:moveTo>
                <a:cubicBezTo>
                  <a:pt x="64410" y="81010"/>
                  <a:pt x="76639" y="37019"/>
                  <a:pt x="94512" y="8134"/>
                </a:cubicBezTo>
                <a:cubicBezTo>
                  <a:pt x="43549" y="26173"/>
                  <a:pt x="6032" y="72600"/>
                  <a:pt x="830" y="128377"/>
                </a:cubicBezTo>
                <a:lnTo>
                  <a:pt x="62473" y="128377"/>
                </a:lnTo>
                <a:close/>
                <a:moveTo>
                  <a:pt x="830" y="154938"/>
                </a:moveTo>
                <a:cubicBezTo>
                  <a:pt x="6032" y="210716"/>
                  <a:pt x="43549" y="257142"/>
                  <a:pt x="94512" y="275181"/>
                </a:cubicBezTo>
                <a:cubicBezTo>
                  <a:pt x="76639" y="246296"/>
                  <a:pt x="64410" y="202305"/>
                  <a:pt x="62473" y="154938"/>
                </a:cubicBezTo>
                <a:lnTo>
                  <a:pt x="830" y="154938"/>
                </a:lnTo>
                <a:close/>
                <a:moveTo>
                  <a:pt x="221285" y="154938"/>
                </a:moveTo>
                <a:cubicBezTo>
                  <a:pt x="219348" y="202305"/>
                  <a:pt x="207119" y="246296"/>
                  <a:pt x="189246" y="275181"/>
                </a:cubicBezTo>
                <a:cubicBezTo>
                  <a:pt x="240209" y="257086"/>
                  <a:pt x="277726" y="210716"/>
                  <a:pt x="282928" y="154938"/>
                </a:cubicBezTo>
                <a:lnTo>
                  <a:pt x="221285" y="154938"/>
                </a:lnTo>
                <a:close/>
                <a:moveTo>
                  <a:pt x="282928" y="128377"/>
                </a:moveTo>
                <a:cubicBezTo>
                  <a:pt x="277726" y="72600"/>
                  <a:pt x="240209" y="26173"/>
                  <a:pt x="189246" y="8134"/>
                </a:cubicBezTo>
                <a:cubicBezTo>
                  <a:pt x="207119" y="37019"/>
                  <a:pt x="219348" y="81010"/>
                  <a:pt x="221285" y="128377"/>
                </a:cubicBezTo>
                <a:lnTo>
                  <a:pt x="282928" y="12837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833800" y="4430933"/>
            <a:ext cx="2153196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6330" y="4846351"/>
            <a:ext cx="5326327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Vocabulary:</a:t>
            </a: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Seeing a picture of a "giraffe" while hearing the word creates two memory traces. You're more likely to remember it later.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531" y="6168485"/>
            <a:ext cx="11425160" cy="687512"/>
          </a:xfrm>
          <a:custGeom>
            <a:avLst/>
            <a:gdLst/>
            <a:ahLst/>
            <a:cxnLst/>
            <a:rect l="l" t="t" r="r" b="b"/>
            <a:pathLst>
              <a:path w="11425160" h="687512">
                <a:moveTo>
                  <a:pt x="113329" y="0"/>
                </a:moveTo>
                <a:lnTo>
                  <a:pt x="11311831" y="0"/>
                </a:lnTo>
                <a:cubicBezTo>
                  <a:pt x="11374421" y="0"/>
                  <a:pt x="11425160" y="50739"/>
                  <a:pt x="11425160" y="113329"/>
                </a:cubicBezTo>
                <a:lnTo>
                  <a:pt x="11425160" y="574182"/>
                </a:lnTo>
                <a:cubicBezTo>
                  <a:pt x="11425160" y="636772"/>
                  <a:pt x="11374421" y="687512"/>
                  <a:pt x="11311831" y="687512"/>
                </a:cubicBezTo>
                <a:lnTo>
                  <a:pt x="113329" y="687512"/>
                </a:lnTo>
                <a:cubicBezTo>
                  <a:pt x="50781" y="687512"/>
                  <a:pt x="0" y="636730"/>
                  <a:pt x="0" y="574182"/>
                </a:cubicBezTo>
                <a:lnTo>
                  <a:pt x="0" y="113329"/>
                </a:lnTo>
                <a:cubicBezTo>
                  <a:pt x="0" y="50739"/>
                  <a:pt x="50739" y="0"/>
                  <a:pt x="11332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635" y="6285596"/>
            <a:ext cx="11266503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1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Two boxes (Verbal &amp; Visual) connected by bidirectional arrows labeled "Referential Connections" | Image: Flashcard with word on one side and picture on the other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656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Recap: Week 2 – Lectures 3 &amp;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of Cognitive Theory and Dual Coding Theory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37310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54102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50608" y="1531627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20" y="202679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7720" y="1988697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Assumptions: Dual Channel, Limited Capacity, Active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36969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7720" y="2331597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Principles for effective multimedia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" y="271259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7720" y="2674497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Words + Pictures &gt; Words alone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305549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7720" y="3017397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cognitive overload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3691901"/>
            <a:ext cx="5627370" cy="2198370"/>
          </a:xfrm>
          <a:custGeom>
            <a:avLst/>
            <a:gdLst/>
            <a:ahLst/>
            <a:cxnLst/>
            <a:rect l="l" t="t" r="r" b="b"/>
            <a:pathLst>
              <a:path w="5627370" h="2198370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045979"/>
                </a:lnTo>
                <a:cubicBezTo>
                  <a:pt x="5627370" y="2130142"/>
                  <a:pt x="5559142" y="2198370"/>
                  <a:pt x="5474979" y="2198370"/>
                </a:cubicBezTo>
                <a:lnTo>
                  <a:pt x="152391" y="2198370"/>
                </a:lnTo>
                <a:cubicBezTo>
                  <a:pt x="68284" y="2198370"/>
                  <a:pt x="0" y="2130086"/>
                  <a:pt x="0" y="204597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79" y="389561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0608" y="388620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 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120" y="43813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720" y="4343288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Verbal System: processes language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47242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7720" y="468618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Non-Verbal System: processes images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120" y="50671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720" y="5029088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Referential Connections link both systems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9120" y="5410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7720" y="537198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connections = better memory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1337310"/>
            <a:ext cx="5627370" cy="1931670"/>
          </a:xfrm>
          <a:custGeom>
            <a:avLst/>
            <a:gdLst/>
            <a:ahLst/>
            <a:cxnLst/>
            <a:rect l="l" t="t" r="r" b="b"/>
            <a:pathLst>
              <a:path w="5627370" h="1931670">
                <a:moveTo>
                  <a:pt x="152409" y="0"/>
                </a:moveTo>
                <a:lnTo>
                  <a:pt x="5474961" y="0"/>
                </a:lnTo>
                <a:cubicBezTo>
                  <a:pt x="5559134" y="0"/>
                  <a:pt x="5627370" y="68236"/>
                  <a:pt x="5627370" y="152409"/>
                </a:cubicBezTo>
                <a:lnTo>
                  <a:pt x="5627370" y="1779261"/>
                </a:lnTo>
                <a:cubicBezTo>
                  <a:pt x="5627370" y="1863434"/>
                  <a:pt x="5559134" y="1931670"/>
                  <a:pt x="5474961" y="1931670"/>
                </a:cubicBezTo>
                <a:lnTo>
                  <a:pt x="152409" y="1931670"/>
                </a:lnTo>
                <a:cubicBezTo>
                  <a:pt x="68236" y="1931670"/>
                  <a:pt x="0" y="1863434"/>
                  <a:pt x="0" y="177926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4139" y="18573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41807" y="1847980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7032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theories agree: combining words and pictures creates stronger learning than using either alone. This is the foundation of effective multimedia design.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3432940"/>
            <a:ext cx="5627370" cy="2455545"/>
          </a:xfrm>
          <a:custGeom>
            <a:avLst/>
            <a:gdLst/>
            <a:ahLst/>
            <a:cxnLst/>
            <a:rect l="l" t="t" r="r" b="b"/>
            <a:pathLst>
              <a:path w="5627370" h="2455545">
                <a:moveTo>
                  <a:pt x="152391" y="0"/>
                </a:moveTo>
                <a:lnTo>
                  <a:pt x="5474979" y="0"/>
                </a:lnTo>
                <a:cubicBezTo>
                  <a:pt x="5559142" y="0"/>
                  <a:pt x="5627370" y="68228"/>
                  <a:pt x="5627370" y="152391"/>
                </a:cubicBezTo>
                <a:lnTo>
                  <a:pt x="5627370" y="2303154"/>
                </a:lnTo>
                <a:cubicBezTo>
                  <a:pt x="5627370" y="2387317"/>
                  <a:pt x="5559142" y="2455545"/>
                  <a:pt x="5474979" y="2455545"/>
                </a:cubicBezTo>
                <a:lnTo>
                  <a:pt x="152391" y="2455545"/>
                </a:lnTo>
                <a:cubicBezTo>
                  <a:pt x="68228" y="2455545"/>
                  <a:pt x="0" y="2387317"/>
                  <a:pt x="0" y="230315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8420" y="36366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98227"/>
                </a:moveTo>
                <a:cubicBezTo>
                  <a:pt x="132997" y="98227"/>
                  <a:pt x="125016" y="106207"/>
                  <a:pt x="125016" y="116086"/>
                </a:cubicBezTo>
                <a:cubicBezTo>
                  <a:pt x="125016" y="123509"/>
                  <a:pt x="119044" y="129480"/>
                  <a:pt x="111621" y="129480"/>
                </a:cubicBezTo>
                <a:cubicBezTo>
                  <a:pt x="104198" y="129480"/>
                  <a:pt x="98227" y="123509"/>
                  <a:pt x="98227" y="116086"/>
                </a:cubicBezTo>
                <a:cubicBezTo>
                  <a:pt x="98227" y="91418"/>
                  <a:pt x="118207" y="71438"/>
                  <a:pt x="142875" y="71438"/>
                </a:cubicBezTo>
                <a:cubicBezTo>
                  <a:pt x="167543" y="71438"/>
                  <a:pt x="187523" y="91418"/>
                  <a:pt x="187523" y="116086"/>
                </a:cubicBezTo>
                <a:cubicBezTo>
                  <a:pt x="187523" y="142429"/>
                  <a:pt x="167432" y="153591"/>
                  <a:pt x="156270" y="157665"/>
                </a:cubicBezTo>
                <a:lnTo>
                  <a:pt x="156270" y="159786"/>
                </a:lnTo>
                <a:cubicBezTo>
                  <a:pt x="156270" y="167208"/>
                  <a:pt x="150298" y="173180"/>
                  <a:pt x="142875" y="173180"/>
                </a:cubicBezTo>
                <a:cubicBezTo>
                  <a:pt x="135452" y="173180"/>
                  <a:pt x="129480" y="167208"/>
                  <a:pt x="129480" y="159786"/>
                </a:cubicBezTo>
                <a:lnTo>
                  <a:pt x="129480" y="155265"/>
                </a:lnTo>
                <a:cubicBezTo>
                  <a:pt x="129480" y="143824"/>
                  <a:pt x="137740" y="135620"/>
                  <a:pt x="146279" y="132829"/>
                </a:cubicBezTo>
                <a:cubicBezTo>
                  <a:pt x="149851" y="131657"/>
                  <a:pt x="153646" y="129760"/>
                  <a:pt x="156437" y="127081"/>
                </a:cubicBezTo>
                <a:cubicBezTo>
                  <a:pt x="158837" y="124737"/>
                  <a:pt x="160734" y="121500"/>
                  <a:pt x="160734" y="116142"/>
                </a:cubicBezTo>
                <a:cubicBezTo>
                  <a:pt x="160734" y="106263"/>
                  <a:pt x="152753" y="98282"/>
                  <a:pt x="142875" y="98282"/>
                </a:cubicBezTo>
                <a:close/>
                <a:moveTo>
                  <a:pt x="125016" y="205383"/>
                </a:moveTo>
                <a:cubicBezTo>
                  <a:pt x="125016" y="195526"/>
                  <a:pt x="133018" y="187523"/>
                  <a:pt x="142875" y="187523"/>
                </a:cubicBezTo>
                <a:cubicBezTo>
                  <a:pt x="152732" y="187523"/>
                  <a:pt x="160734" y="195526"/>
                  <a:pt x="160734" y="205383"/>
                </a:cubicBezTo>
                <a:cubicBezTo>
                  <a:pt x="160734" y="215240"/>
                  <a:pt x="152732" y="223242"/>
                  <a:pt x="142875" y="223242"/>
                </a:cubicBezTo>
                <a:cubicBezTo>
                  <a:pt x="133018" y="223242"/>
                  <a:pt x="125016" y="215240"/>
                  <a:pt x="125016" y="2053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841807" y="3627239"/>
            <a:ext cx="2314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Self-Check Questions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4130" y="4050037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168136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Name the three assumptions of Cognitive Theory.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4130" y="4636774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754891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What are the two systems in Dual Coding Theory?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4130" y="5223510"/>
            <a:ext cx="5236845" cy="464820"/>
          </a:xfrm>
          <a:custGeom>
            <a:avLst/>
            <a:gdLst/>
            <a:ahLst/>
            <a:cxnLst/>
            <a:rect l="l" t="t" r="r" b="b"/>
            <a:pathLst>
              <a:path w="5236845" h="464820">
                <a:moveTo>
                  <a:pt x="114299" y="0"/>
                </a:moveTo>
                <a:lnTo>
                  <a:pt x="5122546" y="0"/>
                </a:lnTo>
                <a:cubicBezTo>
                  <a:pt x="5185671" y="0"/>
                  <a:pt x="5236845" y="51174"/>
                  <a:pt x="5236845" y="114299"/>
                </a:cubicBezTo>
                <a:lnTo>
                  <a:pt x="5236845" y="350521"/>
                </a:lnTo>
                <a:cubicBezTo>
                  <a:pt x="5236845" y="413646"/>
                  <a:pt x="5185671" y="464820"/>
                  <a:pt x="512254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341627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Why do both theories support using words + pictures?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810" y="6008374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126491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Suggestion: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Diagram: Side-by-side comparison of both theories with key points | Image: Students reviewing notes with multimedia examples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3-technologies.com/ae5f6f9a82405bb87f154a756bafb6268650b93e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2055495" cy="426720"/>
          </a:xfrm>
          <a:custGeom>
            <a:avLst/>
            <a:gdLst/>
            <a:ahLst/>
            <a:cxnLst/>
            <a:rect l="l" t="t" r="r" b="b"/>
            <a:pathLst>
              <a:path w="2055495" h="426720">
                <a:moveTo>
                  <a:pt x="76199" y="0"/>
                </a:moveTo>
                <a:lnTo>
                  <a:pt x="1979296" y="0"/>
                </a:lnTo>
                <a:cubicBezTo>
                  <a:pt x="2021379" y="0"/>
                  <a:pt x="2055495" y="34116"/>
                  <a:pt x="2055495" y="76199"/>
                </a:cubicBezTo>
                <a:lnTo>
                  <a:pt x="2055495" y="350521"/>
                </a:lnTo>
                <a:cubicBezTo>
                  <a:pt x="2055495" y="392604"/>
                  <a:pt x="2021379" y="426720"/>
                  <a:pt x="197929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472436"/>
            <a:ext cx="182939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67736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Have Learned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69163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5"/>
          <p:cNvSpPr/>
          <p:nvPr/>
        </p:nvSpPr>
        <p:spPr>
          <a:xfrm>
            <a:off x="384810" y="1885946"/>
            <a:ext cx="3703320" cy="2217420"/>
          </a:xfrm>
          <a:custGeom>
            <a:avLst/>
            <a:gdLst/>
            <a:ahLst/>
            <a:cxnLst/>
            <a:rect l="l" t="t" r="r" b="b"/>
            <a:pathLst>
              <a:path w="3703320" h="2217420">
                <a:moveTo>
                  <a:pt x="152403" y="0"/>
                </a:moveTo>
                <a:lnTo>
                  <a:pt x="3550917" y="0"/>
                </a:lnTo>
                <a:cubicBezTo>
                  <a:pt x="3635087" y="0"/>
                  <a:pt x="3703320" y="68233"/>
                  <a:pt x="3703320" y="152403"/>
                </a:cubicBezTo>
                <a:lnTo>
                  <a:pt x="3703320" y="2065017"/>
                </a:lnTo>
                <a:cubicBezTo>
                  <a:pt x="3703320" y="2149187"/>
                  <a:pt x="3635087" y="2217420"/>
                  <a:pt x="3550917" y="2217420"/>
                </a:cubicBezTo>
                <a:lnTo>
                  <a:pt x="152403" y="2217420"/>
                </a:lnTo>
                <a:cubicBezTo>
                  <a:pt x="68233" y="2217420"/>
                  <a:pt x="0" y="2149187"/>
                  <a:pt x="0" y="20650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3401" y="204216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7156" y="35719"/>
                </a:moveTo>
                <a:cubicBezTo>
                  <a:pt x="107156" y="16018"/>
                  <a:pt x="123174" y="0"/>
                  <a:pt x="142875" y="0"/>
                </a:cubicBezTo>
                <a:lnTo>
                  <a:pt x="321469" y="0"/>
                </a:lnTo>
                <a:cubicBezTo>
                  <a:pt x="341170" y="0"/>
                  <a:pt x="357188" y="16018"/>
                  <a:pt x="357188" y="35719"/>
                </a:cubicBezTo>
                <a:lnTo>
                  <a:pt x="357188" y="160734"/>
                </a:lnTo>
                <a:cubicBezTo>
                  <a:pt x="357188" y="180435"/>
                  <a:pt x="341170" y="196453"/>
                  <a:pt x="321469" y="196453"/>
                </a:cubicBezTo>
                <a:lnTo>
                  <a:pt x="142875" y="196453"/>
                </a:lnTo>
                <a:cubicBezTo>
                  <a:pt x="123174" y="196453"/>
                  <a:pt x="107156" y="180435"/>
                  <a:pt x="107156" y="160734"/>
                </a:cubicBezTo>
                <a:lnTo>
                  <a:pt x="107156" y="35719"/>
                </a:lnTo>
                <a:close/>
                <a:moveTo>
                  <a:pt x="178594" y="53578"/>
                </a:moveTo>
                <a:cubicBezTo>
                  <a:pt x="178594" y="43721"/>
                  <a:pt x="170591" y="35719"/>
                  <a:pt x="160734" y="35719"/>
                </a:cubicBezTo>
                <a:cubicBezTo>
                  <a:pt x="150878" y="35719"/>
                  <a:pt x="142875" y="43721"/>
                  <a:pt x="142875" y="53578"/>
                </a:cubicBezTo>
                <a:cubicBezTo>
                  <a:pt x="142875" y="63435"/>
                  <a:pt x="150878" y="71438"/>
                  <a:pt x="160734" y="71438"/>
                </a:cubicBezTo>
                <a:cubicBezTo>
                  <a:pt x="170591" y="71438"/>
                  <a:pt x="178594" y="63435"/>
                  <a:pt x="178594" y="53578"/>
                </a:cubicBezTo>
                <a:close/>
                <a:moveTo>
                  <a:pt x="265937" y="59996"/>
                </a:moveTo>
                <a:cubicBezTo>
                  <a:pt x="263482" y="56034"/>
                  <a:pt x="259184" y="53578"/>
                  <a:pt x="254496" y="53578"/>
                </a:cubicBezTo>
                <a:cubicBezTo>
                  <a:pt x="249808" y="53578"/>
                  <a:pt x="245511" y="56034"/>
                  <a:pt x="243055" y="59996"/>
                </a:cubicBezTo>
                <a:lnTo>
                  <a:pt x="212917" y="109277"/>
                </a:lnTo>
                <a:lnTo>
                  <a:pt x="202927" y="94990"/>
                </a:lnTo>
                <a:cubicBezTo>
                  <a:pt x="200416" y="91418"/>
                  <a:pt x="196342" y="89297"/>
                  <a:pt x="191932" y="89297"/>
                </a:cubicBezTo>
                <a:cubicBezTo>
                  <a:pt x="187523" y="89297"/>
                  <a:pt x="183449" y="91418"/>
                  <a:pt x="180938" y="94990"/>
                </a:cubicBezTo>
                <a:lnTo>
                  <a:pt x="149684" y="139638"/>
                </a:lnTo>
                <a:cubicBezTo>
                  <a:pt x="146838" y="143712"/>
                  <a:pt x="146447" y="149070"/>
                  <a:pt x="148791" y="153479"/>
                </a:cubicBezTo>
                <a:cubicBezTo>
                  <a:pt x="151135" y="157888"/>
                  <a:pt x="155767" y="160734"/>
                  <a:pt x="160734" y="160734"/>
                </a:cubicBezTo>
                <a:lnTo>
                  <a:pt x="303609" y="160734"/>
                </a:lnTo>
                <a:cubicBezTo>
                  <a:pt x="308465" y="160734"/>
                  <a:pt x="312930" y="158111"/>
                  <a:pt x="315274" y="153870"/>
                </a:cubicBezTo>
                <a:cubicBezTo>
                  <a:pt x="317618" y="149628"/>
                  <a:pt x="317562" y="144494"/>
                  <a:pt x="314995" y="140308"/>
                </a:cubicBezTo>
                <a:lnTo>
                  <a:pt x="265881" y="59941"/>
                </a:lnTo>
                <a:close/>
                <a:moveTo>
                  <a:pt x="80367" y="71438"/>
                </a:moveTo>
                <a:lnTo>
                  <a:pt x="80367" y="160734"/>
                </a:lnTo>
                <a:cubicBezTo>
                  <a:pt x="80367" y="195281"/>
                  <a:pt x="108328" y="223242"/>
                  <a:pt x="142875" y="223242"/>
                </a:cubicBezTo>
                <a:lnTo>
                  <a:pt x="250031" y="223242"/>
                </a:ln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107156"/>
                </a:lnTo>
                <a:cubicBezTo>
                  <a:pt x="0" y="87455"/>
                  <a:pt x="16018" y="71438"/>
                  <a:pt x="35719" y="71438"/>
                </a:cubicBezTo>
                <a:lnTo>
                  <a:pt x="80367" y="71438"/>
                </a:lnTo>
                <a:close/>
                <a:moveTo>
                  <a:pt x="29021" y="109389"/>
                </a:moveTo>
                <a:lnTo>
                  <a:pt x="29021" y="122783"/>
                </a:lnTo>
                <a:cubicBezTo>
                  <a:pt x="29021" y="127695"/>
                  <a:pt x="33040" y="131713"/>
                  <a:pt x="37951" y="131713"/>
                </a:cubicBezTo>
                <a:lnTo>
                  <a:pt x="51346" y="131713"/>
                </a:lnTo>
                <a:cubicBezTo>
                  <a:pt x="56257" y="131713"/>
                  <a:pt x="60275" y="127695"/>
                  <a:pt x="60275" y="122783"/>
                </a:cubicBezTo>
                <a:lnTo>
                  <a:pt x="60275" y="109389"/>
                </a:lnTo>
                <a:cubicBezTo>
                  <a:pt x="60275" y="104477"/>
                  <a:pt x="56257" y="100459"/>
                  <a:pt x="51346" y="100459"/>
                </a:cubicBezTo>
                <a:lnTo>
                  <a:pt x="37951" y="100459"/>
                </a:lnTo>
                <a:cubicBezTo>
                  <a:pt x="33040" y="100459"/>
                  <a:pt x="29021" y="104477"/>
                  <a:pt x="29021" y="109389"/>
                </a:cubicBezTo>
                <a:close/>
                <a:moveTo>
                  <a:pt x="37951" y="154037"/>
                </a:moveTo>
                <a:cubicBezTo>
                  <a:pt x="33040" y="154037"/>
                  <a:pt x="29021" y="158055"/>
                  <a:pt x="29021" y="162967"/>
                </a:cubicBezTo>
                <a:lnTo>
                  <a:pt x="29021" y="176361"/>
                </a:lnTo>
                <a:cubicBezTo>
                  <a:pt x="29021" y="181273"/>
                  <a:pt x="33040" y="185291"/>
                  <a:pt x="37951" y="185291"/>
                </a:cubicBezTo>
                <a:lnTo>
                  <a:pt x="51346" y="185291"/>
                </a:lnTo>
                <a:cubicBezTo>
                  <a:pt x="56257" y="185291"/>
                  <a:pt x="60275" y="181273"/>
                  <a:pt x="60275" y="176361"/>
                </a:cubicBezTo>
                <a:lnTo>
                  <a:pt x="60275" y="162967"/>
                </a:lnTo>
                <a:cubicBezTo>
                  <a:pt x="60275" y="158055"/>
                  <a:pt x="56257" y="154037"/>
                  <a:pt x="51346" y="154037"/>
                </a:cubicBezTo>
                <a:lnTo>
                  <a:pt x="37951" y="154037"/>
                </a:lnTo>
                <a:close/>
                <a:moveTo>
                  <a:pt x="37951" y="207615"/>
                </a:moveTo>
                <a:cubicBezTo>
                  <a:pt x="33040" y="207615"/>
                  <a:pt x="29021" y="211634"/>
                  <a:pt x="29021" y="216545"/>
                </a:cubicBezTo>
                <a:lnTo>
                  <a:pt x="29021" y="229939"/>
                </a:lnTo>
                <a:cubicBezTo>
                  <a:pt x="29021" y="234851"/>
                  <a:pt x="33040" y="238869"/>
                  <a:pt x="37951" y="238869"/>
                </a:cubicBezTo>
                <a:lnTo>
                  <a:pt x="51346" y="238869"/>
                </a:lnTo>
                <a:cubicBezTo>
                  <a:pt x="56257" y="238869"/>
                  <a:pt x="60275" y="234851"/>
                  <a:pt x="60275" y="229939"/>
                </a:cubicBezTo>
                <a:lnTo>
                  <a:pt x="60275" y="216545"/>
                </a:lnTo>
                <a:cubicBezTo>
                  <a:pt x="60275" y="211634"/>
                  <a:pt x="56257" y="207615"/>
                  <a:pt x="51346" y="207615"/>
                </a:cubicBezTo>
                <a:lnTo>
                  <a:pt x="37951" y="20761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12508" y="2051689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Basics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0" y="24803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9620" y="2442214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 and 5 building blocks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1020" y="28232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9620" y="2785114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from 1960s to today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1020" y="31661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9620" y="3128014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and real-world examples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1020" y="35090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9620" y="3470914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 vs Hypertext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45531" y="1885946"/>
            <a:ext cx="3703320" cy="2217420"/>
          </a:xfrm>
          <a:custGeom>
            <a:avLst/>
            <a:gdLst/>
            <a:ahLst/>
            <a:cxnLst/>
            <a:rect l="l" t="t" r="r" b="b"/>
            <a:pathLst>
              <a:path w="3703320" h="2217420">
                <a:moveTo>
                  <a:pt x="152403" y="0"/>
                </a:moveTo>
                <a:lnTo>
                  <a:pt x="3550917" y="0"/>
                </a:lnTo>
                <a:cubicBezTo>
                  <a:pt x="3635087" y="0"/>
                  <a:pt x="3703320" y="68233"/>
                  <a:pt x="3703320" y="152403"/>
                </a:cubicBezTo>
                <a:lnTo>
                  <a:pt x="3703320" y="2065017"/>
                </a:lnTo>
                <a:cubicBezTo>
                  <a:pt x="3703320" y="2149187"/>
                  <a:pt x="3635087" y="2217420"/>
                  <a:pt x="3550917" y="2217420"/>
                </a:cubicBezTo>
                <a:lnTo>
                  <a:pt x="152403" y="2217420"/>
                </a:lnTo>
                <a:cubicBezTo>
                  <a:pt x="68233" y="2217420"/>
                  <a:pt x="0" y="2149187"/>
                  <a:pt x="0" y="20650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39841" y="20421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4873228" y="2051689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Theory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01741" y="24803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30341" y="2442214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Channel Assumption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01741" y="28232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30341" y="2785114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 Assumption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401741" y="31661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630341" y="3128014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 Assumption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401741" y="35090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630341" y="3470914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Design Principles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06371" y="1885946"/>
            <a:ext cx="3703320" cy="2217420"/>
          </a:xfrm>
          <a:custGeom>
            <a:avLst/>
            <a:gdLst/>
            <a:ahLst/>
            <a:cxnLst/>
            <a:rect l="l" t="t" r="r" b="b"/>
            <a:pathLst>
              <a:path w="3703320" h="2217420">
                <a:moveTo>
                  <a:pt x="152403" y="0"/>
                </a:moveTo>
                <a:lnTo>
                  <a:pt x="3550917" y="0"/>
                </a:lnTo>
                <a:cubicBezTo>
                  <a:pt x="3635087" y="0"/>
                  <a:pt x="3703320" y="68233"/>
                  <a:pt x="3703320" y="152403"/>
                </a:cubicBezTo>
                <a:lnTo>
                  <a:pt x="3703320" y="2065017"/>
                </a:lnTo>
                <a:cubicBezTo>
                  <a:pt x="3703320" y="2149187"/>
                  <a:pt x="3635087" y="2217420"/>
                  <a:pt x="3550917" y="2217420"/>
                </a:cubicBezTo>
                <a:lnTo>
                  <a:pt x="152403" y="2217420"/>
                </a:lnTo>
                <a:cubicBezTo>
                  <a:pt x="68233" y="2217420"/>
                  <a:pt x="0" y="2149187"/>
                  <a:pt x="0" y="20650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18540" y="204216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29"/>
          <p:cNvSpPr/>
          <p:nvPr/>
        </p:nvSpPr>
        <p:spPr>
          <a:xfrm>
            <a:off x="8734068" y="2051689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Coding Theory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262581" y="24803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491181" y="2442214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Verbal System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62581" y="28232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491181" y="2785114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Non-Verbal System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262581" y="31661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91181" y="3128014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Referential Connections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62581" y="350901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91181" y="3470914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Words + Images = Better Learning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84810" y="4261615"/>
            <a:ext cx="11418570" cy="1436370"/>
          </a:xfrm>
          <a:custGeom>
            <a:avLst/>
            <a:gdLst/>
            <a:ahLst/>
            <a:cxnLst/>
            <a:rect l="l" t="t" r="r" b="b"/>
            <a:pathLst>
              <a:path w="11418570" h="1436370">
                <a:moveTo>
                  <a:pt x="152399" y="0"/>
                </a:moveTo>
                <a:lnTo>
                  <a:pt x="11266171" y="0"/>
                </a:lnTo>
                <a:cubicBezTo>
                  <a:pt x="11350339" y="0"/>
                  <a:pt x="11418570" y="68231"/>
                  <a:pt x="11418570" y="152399"/>
                </a:cubicBezTo>
                <a:lnTo>
                  <a:pt x="11418570" y="1283971"/>
                </a:lnTo>
                <a:cubicBezTo>
                  <a:pt x="11418570" y="1368139"/>
                  <a:pt x="11350339" y="1436370"/>
                  <a:pt x="11266171" y="1436370"/>
                </a:cubicBezTo>
                <a:lnTo>
                  <a:pt x="152399" y="1436370"/>
                </a:lnTo>
                <a:cubicBezTo>
                  <a:pt x="68231" y="1436370"/>
                  <a:pt x="0" y="1368139"/>
                  <a:pt x="0" y="128397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79120" y="442722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0"/>
          <p:cNvSpPr/>
          <p:nvPr/>
        </p:nvSpPr>
        <p:spPr>
          <a:xfrm>
            <a:off x="1012508" y="4417814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Next Steps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41020" y="4836802"/>
            <a:ext cx="11182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 you understand multimedia fundamentals and learning theories. Apply this knowledge to create effective educational content. Remember: combine words and pictures, avoid cognitive overload, and design for active learning!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4327</Words>
  <Application>Microsoft Office PowerPoint</Application>
  <PresentationFormat>Widescreen</PresentationFormat>
  <Paragraphs>578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Production – Overview and Learning Theories</dc:title>
  <dc:subject>Multimedia Production – Overview and Learning Theories</dc:subject>
  <dc:creator>Kimi</dc:creator>
  <cp:lastModifiedBy>Lenovo</cp:lastModifiedBy>
  <cp:revision>3</cp:revision>
  <dcterms:created xsi:type="dcterms:W3CDTF">2026-04-19T04:56:54Z</dcterms:created>
  <dcterms:modified xsi:type="dcterms:W3CDTF">2026-04-19T04:59:18Z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{"Label":"Multimedia Production – Overview and Learning Theories","ContentProducer":"001191110108MACG2KBH8F10000","ProduceID":"19da40df-3fa2-8166-8000-0000325e24e5","ReservedCode1":"","ContentPropagator":"001191110108MACG2KBH8F20000","PropagateID":"19da40</vt:lpwstr>
  </property>
</Properties>
</file>