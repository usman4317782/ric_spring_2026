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notesMasterIdLst>
    <p:notesMasterId r:id="rId35"/>
  </p:notesMasterIdLst>
  <p:sldSz cx="16256000" cy="9144000"/>
  <p:notesSz cx="9144000" cy="16256000"/>
  <p:embeddedFontLst>
    <p:embeddedFont>
      <p:font typeface="Liter" charset="-122" pitchFamily="34"/>
      <p:regular r:id="rId40"/>
    </p:embeddedFont>
    <p:embeddedFont>
      <p:font typeface="Quattrocento Sans" charset="-122" pitchFamily="34"/>
      <p:regular r:id="rId41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notesMaster" Target="notesMasters/notesMaster1.xml"/><Relationship Id="rId36" Type="http://schemas.openxmlformats.org/officeDocument/2006/relationships/presProps" Target="presProps.xml"/><Relationship Id="rId37" Type="http://schemas.openxmlformats.org/officeDocument/2006/relationships/viewProps" Target="viewProps.xml"/><Relationship Id="rId38" Type="http://schemas.openxmlformats.org/officeDocument/2006/relationships/theme" Target="theme/theme1.xml"/><Relationship Id="rId39" Type="http://schemas.openxmlformats.org/officeDocument/2006/relationships/tableStyles" Target="tableStyles.xml"/><Relationship Id="rId40" Type="http://schemas.openxmlformats.org/officeDocument/2006/relationships/font" Target="fonts/font1.fntdata"/><Relationship Id="rId41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9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irl5c2knzosr6/mnt/agents/output/multimedia-production-w6/images/10_Free_Deep_Study_Focus_Image_Studying.png">    </p:cNvPr>
          <p:cNvPicPr>
            <a:picLocks noChangeAspect="1"/>
          </p:cNvPicPr>
          <p:nvPr/>
        </p:nvPicPr>
        <p:blipFill>
          <a:blip r:embed="rId1"/>
          <a:srcRect l="0" r="0" t="21875" b="21875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1C1917">
                  <a:alpha val="0"/>
                </a:srgbClr>
              </a:gs>
              <a:gs pos="35000">
                <a:srgbClr val="1C1917">
                  <a:alpha val="50000"/>
                </a:srgbClr>
              </a:gs>
              <a:gs pos="100000">
                <a:srgbClr val="1C1917">
                  <a:alpha val="90000"/>
                </a:srgbClr>
              </a:gs>
            </a:gsLst>
            <a:lin ang="54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6858000" y="2794000"/>
            <a:ext cx="2540000" cy="2540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5" name="Text 2"/>
          <p:cNvSpPr/>
          <p:nvPr/>
        </p:nvSpPr>
        <p:spPr>
          <a:xfrm>
            <a:off x="3048000" y="3048000"/>
            <a:ext cx="1016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spc="200" kern="0" dirty="0">
                <a:solidFill>
                  <a:srgbClr val="B4530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MULTIMEDIA PRODUCTION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778000" y="3556000"/>
            <a:ext cx="12700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000" b="1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Principles &amp; Techniques for</a:t>
            </a:r>
            <a:endParaRPr lang="en-US" sz="4000" dirty="0"/>
          </a:p>
          <a:p>
            <a:pPr algn="ctr">
              <a:lnSpc>
                <a:spcPct val="120000"/>
              </a:lnSpc>
            </a:pPr>
            <a:r>
              <a:rPr lang="en-US" sz="4000" b="1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Reducing Extraneous Processing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4318000" y="5334000"/>
            <a:ext cx="762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FFFFFF">
                    <a:alpha val="70196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Week 6 — Lectures 11 &amp; 12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858000" y="6096000"/>
            <a:ext cx="2540000" cy="25400"/>
          </a:xfrm>
          <a:prstGeom prst="rect">
            <a:avLst/>
          </a:prstGeom>
          <a:solidFill>
            <a:srgbClr val="FFFFFF">
              <a:alpha val="25098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4318000" y="8128000"/>
            <a:ext cx="762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300" dirty="0">
                <a:solidFill>
                  <a:srgbClr val="FFFFFF">
                    <a:alpha val="50196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Based on the Cognitive Theory of Multimedia Learning by Richard E. Mayer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1270000"/>
            <a:ext cx="4318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200" kern="0" dirty="0">
                <a:solidFill>
                  <a:srgbClr val="B4530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LEARNING ROADMAP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62000" y="1651000"/>
            <a:ext cx="482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Contents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62000" y="2413000"/>
            <a:ext cx="4572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78716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Five evidence-based principles for designing multimedia that reduces cognitive overload and maximizes learning.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842000" y="1270000"/>
            <a:ext cx="12700" cy="6604000"/>
          </a:xfrm>
          <a:prstGeom prst="rect">
            <a:avLst/>
          </a:prstGeom>
          <a:solidFill>
            <a:srgbClr val="E7E5E4"/>
          </a:solidFill>
          <a:ln/>
        </p:spPr>
      </p:sp>
      <p:sp>
        <p:nvSpPr>
          <p:cNvPr id="7" name="Text 5"/>
          <p:cNvSpPr/>
          <p:nvPr/>
        </p:nvSpPr>
        <p:spPr>
          <a:xfrm>
            <a:off x="6350000" y="1270000"/>
            <a:ext cx="6985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B4530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175500" y="1270000"/>
            <a:ext cx="4699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Understanding Extraneous Processing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350000" y="1841500"/>
            <a:ext cx="8890000" cy="12700"/>
          </a:xfrm>
          <a:prstGeom prst="rect">
            <a:avLst/>
          </a:prstGeom>
          <a:solidFill>
            <a:srgbClr val="E7E5E4"/>
          </a:solidFill>
          <a:ln/>
        </p:spPr>
      </p:sp>
      <p:sp>
        <p:nvSpPr>
          <p:cNvPr id="10" name="Text 8"/>
          <p:cNvSpPr/>
          <p:nvPr/>
        </p:nvSpPr>
        <p:spPr>
          <a:xfrm>
            <a:off x="6350000" y="2095500"/>
            <a:ext cx="6985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B4530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175500" y="2095500"/>
            <a:ext cx="381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Coherence Principle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350000" y="2667000"/>
            <a:ext cx="8890000" cy="12700"/>
          </a:xfrm>
          <a:prstGeom prst="rect">
            <a:avLst/>
          </a:prstGeom>
          <a:solidFill>
            <a:srgbClr val="E7E5E4"/>
          </a:solidFill>
          <a:ln/>
        </p:spPr>
      </p:sp>
      <p:sp>
        <p:nvSpPr>
          <p:cNvPr id="13" name="Text 11"/>
          <p:cNvSpPr/>
          <p:nvPr/>
        </p:nvSpPr>
        <p:spPr>
          <a:xfrm>
            <a:off x="6350000" y="2921000"/>
            <a:ext cx="6985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B4530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175500" y="2921000"/>
            <a:ext cx="381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Signaling Principle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350000" y="3492500"/>
            <a:ext cx="8890000" cy="12700"/>
          </a:xfrm>
          <a:prstGeom prst="rect">
            <a:avLst/>
          </a:prstGeom>
          <a:solidFill>
            <a:srgbClr val="E7E5E4"/>
          </a:solidFill>
          <a:ln/>
        </p:spPr>
      </p:sp>
      <p:sp>
        <p:nvSpPr>
          <p:cNvPr id="16" name="Text 14"/>
          <p:cNvSpPr/>
          <p:nvPr/>
        </p:nvSpPr>
        <p:spPr>
          <a:xfrm>
            <a:off x="6350000" y="3746500"/>
            <a:ext cx="6985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B4530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175500" y="3746500"/>
            <a:ext cx="381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Redundancy Principle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350000" y="4318000"/>
            <a:ext cx="8890000" cy="12700"/>
          </a:xfrm>
          <a:prstGeom prst="rect">
            <a:avLst/>
          </a:prstGeom>
          <a:solidFill>
            <a:srgbClr val="E7E5E4"/>
          </a:solidFill>
          <a:ln/>
        </p:spPr>
      </p:sp>
      <p:sp>
        <p:nvSpPr>
          <p:cNvPr id="19" name="Text 17"/>
          <p:cNvSpPr/>
          <p:nvPr/>
        </p:nvSpPr>
        <p:spPr>
          <a:xfrm>
            <a:off x="6350000" y="4572000"/>
            <a:ext cx="6985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B4530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175500" y="4572000"/>
            <a:ext cx="4445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Spatial Contiguity Principle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350000" y="5143500"/>
            <a:ext cx="8890000" cy="12700"/>
          </a:xfrm>
          <a:prstGeom prst="rect">
            <a:avLst/>
          </a:prstGeom>
          <a:solidFill>
            <a:srgbClr val="E7E5E4"/>
          </a:solidFill>
          <a:ln/>
        </p:spPr>
      </p:sp>
      <p:sp>
        <p:nvSpPr>
          <p:cNvPr id="22" name="Text 20"/>
          <p:cNvSpPr/>
          <p:nvPr/>
        </p:nvSpPr>
        <p:spPr>
          <a:xfrm>
            <a:off x="6350000" y="5397500"/>
            <a:ext cx="6985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B4530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06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175500" y="5397500"/>
            <a:ext cx="4445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Temporal Contiguity Principle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350000" y="5969000"/>
            <a:ext cx="8890000" cy="12700"/>
          </a:xfrm>
          <a:prstGeom prst="rect">
            <a:avLst/>
          </a:prstGeom>
          <a:solidFill>
            <a:srgbClr val="E7E5E4"/>
          </a:solidFill>
          <a:ln/>
        </p:spPr>
      </p:sp>
      <p:sp>
        <p:nvSpPr>
          <p:cNvPr id="25" name="Text 23"/>
          <p:cNvSpPr/>
          <p:nvPr/>
        </p:nvSpPr>
        <p:spPr>
          <a:xfrm>
            <a:off x="6350000" y="6223000"/>
            <a:ext cx="6985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B4530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07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175500" y="6223000"/>
            <a:ext cx="381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Summary &amp; Integration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350000" y="6794500"/>
            <a:ext cx="8890000" cy="12700"/>
          </a:xfrm>
          <a:prstGeom prst="rect">
            <a:avLst/>
          </a:prstGeom>
          <a:solidFill>
            <a:srgbClr val="E7E5E4"/>
          </a:solidFill>
          <a:ln/>
        </p:spPr>
      </p:sp>
      <p:sp>
        <p:nvSpPr>
          <p:cNvPr id="28" name="Text 26"/>
          <p:cNvSpPr/>
          <p:nvPr/>
        </p:nvSpPr>
        <p:spPr>
          <a:xfrm>
            <a:off x="14986000" y="86360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78716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C19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irl5c2knzosr6/mnt/agents/output/multimedia-production-w6/images/5_Cognitive_Load_Theory_and_its_Applications.png">    </p:cNvPr>
          <p:cNvPicPr>
            <a:picLocks noChangeAspect="1"/>
          </p:cNvPicPr>
          <p:nvPr/>
        </p:nvPicPr>
        <p:blipFill>
          <a:blip r:embed="rId1"/>
          <a:srcRect l="5556" r="5556" t="0" b="0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1C1917">
                  <a:alpha val="90000"/>
                </a:srgbClr>
              </a:gs>
              <a:gs pos="60000">
                <a:srgbClr val="1C1917">
                  <a:alpha val="80000"/>
                </a:srgbClr>
              </a:gs>
              <a:gs pos="100000">
                <a:srgbClr val="1C1917">
                  <a:alpha val="50000"/>
                </a:srgbClr>
              </a:gs>
            </a:gsLst>
            <a:lin ang="0" scaled="1"/>
          </a:gradFill>
          <a:ln/>
        </p:spPr>
      </p:sp>
      <p:sp>
        <p:nvSpPr>
          <p:cNvPr id="4" name="Text 1"/>
          <p:cNvSpPr/>
          <p:nvPr/>
        </p:nvSpPr>
        <p:spPr>
          <a:xfrm>
            <a:off x="762000" y="2286000"/>
            <a:ext cx="3810000" cy="1193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dirty="0">
                <a:solidFill>
                  <a:srgbClr val="FFFFFF">
                    <a:alpha val="25098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01</a:t>
            </a:r>
            <a:endParaRPr lang="en-US" sz="7200" dirty="0"/>
          </a:p>
        </p:txBody>
      </p:sp>
      <p:sp>
        <p:nvSpPr>
          <p:cNvPr id="5" name="Shape 2"/>
          <p:cNvSpPr/>
          <p:nvPr/>
        </p:nvSpPr>
        <p:spPr>
          <a:xfrm>
            <a:off x="762000" y="3683000"/>
            <a:ext cx="1016000" cy="3810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6" name="Text 3"/>
          <p:cNvSpPr/>
          <p:nvPr/>
        </p:nvSpPr>
        <p:spPr>
          <a:xfrm>
            <a:off x="762000" y="3937000"/>
            <a:ext cx="889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Understanding Extraneous Processing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62000" y="4699000"/>
            <a:ext cx="762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FFFFFF">
                    <a:alpha val="70196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Foundation of Effective Multimedia Design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3175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200" kern="0" dirty="0">
                <a:solidFill>
                  <a:srgbClr val="B4530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CHAPTER 01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62000" y="6350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B4530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What Is Extraneous Processing?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1206500"/>
            <a:ext cx="14732000" cy="12700"/>
          </a:xfrm>
          <a:prstGeom prst="rect">
            <a:avLst/>
          </a:prstGeom>
          <a:solidFill>
            <a:srgbClr val="E7E5E4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1460500"/>
            <a:ext cx="14732000" cy="1016000"/>
          </a:xfrm>
          <a:prstGeom prst="rect">
            <a:avLst/>
          </a:prstGeom>
          <a:solidFill>
            <a:srgbClr val="F5F0E8"/>
          </a:solidFill>
          <a:ln/>
        </p:spPr>
      </p:sp>
      <p:sp>
        <p:nvSpPr>
          <p:cNvPr id="7" name="Shape 5"/>
          <p:cNvSpPr/>
          <p:nvPr/>
        </p:nvSpPr>
        <p:spPr>
          <a:xfrm>
            <a:off x="1016000" y="1651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07156" y="50006"/>
                </a:moveTo>
                <a:cubicBezTo>
                  <a:pt x="107156" y="22414"/>
                  <a:pt x="129570" y="0"/>
                  <a:pt x="157163" y="0"/>
                </a:cubicBezTo>
                <a:lnTo>
                  <a:pt x="178594" y="0"/>
                </a:lnTo>
                <a:cubicBezTo>
                  <a:pt x="194399" y="0"/>
                  <a:pt x="207169" y="12769"/>
                  <a:pt x="207169" y="28575"/>
                </a:cubicBezTo>
                <a:lnTo>
                  <a:pt x="207169" y="428625"/>
                </a:lnTo>
                <a:cubicBezTo>
                  <a:pt x="207169" y="444431"/>
                  <a:pt x="194399" y="457200"/>
                  <a:pt x="178594" y="457200"/>
                </a:cubicBezTo>
                <a:lnTo>
                  <a:pt x="150019" y="457200"/>
                </a:lnTo>
                <a:cubicBezTo>
                  <a:pt x="123408" y="457200"/>
                  <a:pt x="100995" y="438983"/>
                  <a:pt x="94655" y="414338"/>
                </a:cubicBezTo>
                <a:cubicBezTo>
                  <a:pt x="94030" y="414338"/>
                  <a:pt x="93494" y="414338"/>
                  <a:pt x="92869" y="414338"/>
                </a:cubicBezTo>
                <a:cubicBezTo>
                  <a:pt x="53400" y="414338"/>
                  <a:pt x="21431" y="382369"/>
                  <a:pt x="21431" y="342900"/>
                </a:cubicBezTo>
                <a:cubicBezTo>
                  <a:pt x="21431" y="326827"/>
                  <a:pt x="26789" y="312003"/>
                  <a:pt x="35719" y="300038"/>
                </a:cubicBezTo>
                <a:cubicBezTo>
                  <a:pt x="18395" y="287000"/>
                  <a:pt x="7144" y="266283"/>
                  <a:pt x="7144" y="242888"/>
                </a:cubicBezTo>
                <a:cubicBezTo>
                  <a:pt x="7144" y="215295"/>
                  <a:pt x="22860" y="191274"/>
                  <a:pt x="45720" y="179397"/>
                </a:cubicBezTo>
                <a:cubicBezTo>
                  <a:pt x="39380" y="168682"/>
                  <a:pt x="35719" y="156180"/>
                  <a:pt x="35719" y="142875"/>
                </a:cubicBezTo>
                <a:cubicBezTo>
                  <a:pt x="35719" y="103406"/>
                  <a:pt x="67687" y="71438"/>
                  <a:pt x="107156" y="71438"/>
                </a:cubicBezTo>
                <a:lnTo>
                  <a:pt x="107156" y="50006"/>
                </a:lnTo>
                <a:close/>
                <a:moveTo>
                  <a:pt x="350044" y="50006"/>
                </a:moveTo>
                <a:lnTo>
                  <a:pt x="350044" y="71438"/>
                </a:lnTo>
                <a:cubicBezTo>
                  <a:pt x="389513" y="71438"/>
                  <a:pt x="421481" y="103406"/>
                  <a:pt x="421481" y="142875"/>
                </a:cubicBezTo>
                <a:cubicBezTo>
                  <a:pt x="421481" y="156270"/>
                  <a:pt x="417820" y="168771"/>
                  <a:pt x="411480" y="179397"/>
                </a:cubicBezTo>
                <a:cubicBezTo>
                  <a:pt x="434429" y="191274"/>
                  <a:pt x="450056" y="215205"/>
                  <a:pt x="450056" y="242888"/>
                </a:cubicBezTo>
                <a:cubicBezTo>
                  <a:pt x="450056" y="266283"/>
                  <a:pt x="438805" y="287000"/>
                  <a:pt x="421481" y="300038"/>
                </a:cubicBezTo>
                <a:cubicBezTo>
                  <a:pt x="430411" y="312003"/>
                  <a:pt x="435769" y="326827"/>
                  <a:pt x="435769" y="342900"/>
                </a:cubicBezTo>
                <a:cubicBezTo>
                  <a:pt x="435769" y="382369"/>
                  <a:pt x="403800" y="414338"/>
                  <a:pt x="364331" y="414338"/>
                </a:cubicBezTo>
                <a:cubicBezTo>
                  <a:pt x="363706" y="414338"/>
                  <a:pt x="363170" y="414338"/>
                  <a:pt x="362545" y="414338"/>
                </a:cubicBezTo>
                <a:cubicBezTo>
                  <a:pt x="356205" y="438983"/>
                  <a:pt x="333792" y="457200"/>
                  <a:pt x="307181" y="457200"/>
                </a:cubicBezTo>
                <a:lnTo>
                  <a:pt x="278606" y="457200"/>
                </a:lnTo>
                <a:cubicBezTo>
                  <a:pt x="262801" y="457200"/>
                  <a:pt x="250031" y="444431"/>
                  <a:pt x="250031" y="428625"/>
                </a:cubicBezTo>
                <a:lnTo>
                  <a:pt x="250031" y="28575"/>
                </a:lnTo>
                <a:cubicBezTo>
                  <a:pt x="250031" y="12769"/>
                  <a:pt x="262801" y="0"/>
                  <a:pt x="278606" y="0"/>
                </a:cubicBezTo>
                <a:lnTo>
                  <a:pt x="300038" y="0"/>
                </a:lnTo>
                <a:cubicBezTo>
                  <a:pt x="327630" y="0"/>
                  <a:pt x="350044" y="22414"/>
                  <a:pt x="350044" y="50006"/>
                </a:cubicBezTo>
                <a:close/>
              </a:path>
            </a:pathLst>
          </a:custGeom>
          <a:solidFill>
            <a:srgbClr val="B45309"/>
          </a:solidFill>
          <a:ln/>
        </p:spPr>
      </p:sp>
      <p:sp>
        <p:nvSpPr>
          <p:cNvPr id="8" name="Text 6"/>
          <p:cNvSpPr/>
          <p:nvPr/>
        </p:nvSpPr>
        <p:spPr>
          <a:xfrm>
            <a:off x="1651000" y="1524000"/>
            <a:ext cx="13589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Extraneous processing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is cognitive processing that does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NOT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support the instructional goal. It wastes limited cognitive resources in working memory, diverting attention from essential learning material.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62000" y="2730500"/>
            <a:ext cx="508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200" b="1" dirty="0">
                <a:solidFill>
                  <a:srgbClr val="1C191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Three Types of Cognitive Load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762000" y="3302000"/>
            <a:ext cx="4699000" cy="3302000"/>
          </a:xfrm>
          <a:prstGeom prst="rect">
            <a:avLst/>
          </a:prstGeom>
          <a:solidFill>
            <a:srgbClr val="F5F0E8"/>
          </a:solidFill>
          <a:ln/>
        </p:spPr>
      </p:sp>
      <p:sp>
        <p:nvSpPr>
          <p:cNvPr id="11" name="Shape 9"/>
          <p:cNvSpPr/>
          <p:nvPr/>
        </p:nvSpPr>
        <p:spPr>
          <a:xfrm>
            <a:off x="1016000" y="3492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178038" y="-1984"/>
                </a:moveTo>
                <a:cubicBezTo>
                  <a:pt x="193754" y="-11033"/>
                  <a:pt x="213122" y="-11033"/>
                  <a:pt x="228838" y="-1984"/>
                </a:cubicBezTo>
                <a:lnTo>
                  <a:pt x="368459" y="78581"/>
                </a:lnTo>
                <a:cubicBezTo>
                  <a:pt x="384175" y="87630"/>
                  <a:pt x="393859" y="104458"/>
                  <a:pt x="393859" y="122555"/>
                </a:cubicBezTo>
                <a:lnTo>
                  <a:pt x="393859" y="283686"/>
                </a:lnTo>
                <a:cubicBezTo>
                  <a:pt x="393859" y="301863"/>
                  <a:pt x="384175" y="318611"/>
                  <a:pt x="368459" y="327660"/>
                </a:cubicBezTo>
                <a:lnTo>
                  <a:pt x="228838" y="408384"/>
                </a:lnTo>
                <a:cubicBezTo>
                  <a:pt x="213122" y="417433"/>
                  <a:pt x="193754" y="417433"/>
                  <a:pt x="178038" y="408384"/>
                </a:cubicBezTo>
                <a:lnTo>
                  <a:pt x="38497" y="327819"/>
                </a:lnTo>
                <a:cubicBezTo>
                  <a:pt x="22781" y="318770"/>
                  <a:pt x="13097" y="301943"/>
                  <a:pt x="13097" y="283845"/>
                </a:cubicBezTo>
                <a:lnTo>
                  <a:pt x="13097" y="122714"/>
                </a:lnTo>
                <a:cubicBezTo>
                  <a:pt x="13097" y="104537"/>
                  <a:pt x="22781" y="87789"/>
                  <a:pt x="38497" y="78740"/>
                </a:cubicBezTo>
                <a:lnTo>
                  <a:pt x="178038" y="-1984"/>
                </a:lnTo>
                <a:close/>
                <a:moveTo>
                  <a:pt x="342979" y="283766"/>
                </a:moveTo>
                <a:lnTo>
                  <a:pt x="342979" y="151924"/>
                </a:lnTo>
                <a:lnTo>
                  <a:pt x="228838" y="217805"/>
                </a:lnTo>
                <a:lnTo>
                  <a:pt x="228838" y="349647"/>
                </a:lnTo>
                <a:lnTo>
                  <a:pt x="342979" y="283766"/>
                </a:lnTo>
                <a:close/>
              </a:path>
            </a:pathLst>
          </a:custGeom>
          <a:solidFill>
            <a:srgbClr val="B45309"/>
          </a:solidFill>
          <a:ln/>
        </p:spPr>
      </p:sp>
      <p:sp>
        <p:nvSpPr>
          <p:cNvPr id="12" name="Text 10"/>
          <p:cNvSpPr/>
          <p:nvPr/>
        </p:nvSpPr>
        <p:spPr>
          <a:xfrm>
            <a:off x="1549400" y="3492500"/>
            <a:ext cx="3683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B4530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Intrinsic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16000" y="4064000"/>
            <a:ext cx="4191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Cognitive effort required by the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complexity of the material itself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 Dictated by content complexity and learner expertise. Cannot be eliminated, only managed.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778500" y="3302000"/>
            <a:ext cx="4699000" cy="3302000"/>
          </a:xfrm>
          <a:prstGeom prst="rect">
            <a:avLst/>
          </a:prstGeom>
          <a:solidFill>
            <a:srgbClr val="F5F0E8"/>
          </a:solidFill>
          <a:ln/>
        </p:spPr>
      </p:sp>
      <p:sp>
        <p:nvSpPr>
          <p:cNvPr id="15" name="Shape 13"/>
          <p:cNvSpPr/>
          <p:nvPr/>
        </p:nvSpPr>
        <p:spPr>
          <a:xfrm>
            <a:off x="6007100" y="3492500"/>
            <a:ext cx="457200" cy="406400"/>
          </a:xfrm>
          <a:custGeom>
            <a:avLst/>
            <a:gdLst/>
            <a:ahLst/>
            <a:cxnLst/>
            <a:rect l="l" t="t" r="r" b="b"/>
            <a:pathLst>
              <a:path w="457200" h="406400">
                <a:moveTo>
                  <a:pt x="245666" y="-15002"/>
                </a:moveTo>
                <a:cubicBezTo>
                  <a:pt x="242411" y="-21352"/>
                  <a:pt x="235823" y="-25400"/>
                  <a:pt x="228679" y="-25400"/>
                </a:cubicBezTo>
                <a:cubicBezTo>
                  <a:pt x="221536" y="-25400"/>
                  <a:pt x="214948" y="-21352"/>
                  <a:pt x="211693" y="-15002"/>
                </a:cubicBezTo>
                <a:lnTo>
                  <a:pt x="153273" y="99457"/>
                </a:lnTo>
                <a:lnTo>
                  <a:pt x="26353" y="119618"/>
                </a:lnTo>
                <a:cubicBezTo>
                  <a:pt x="19288" y="120729"/>
                  <a:pt x="13414" y="125730"/>
                  <a:pt x="11192" y="132556"/>
                </a:cubicBezTo>
                <a:cubicBezTo>
                  <a:pt x="8969" y="139383"/>
                  <a:pt x="10795" y="146844"/>
                  <a:pt x="15796" y="151924"/>
                </a:cubicBezTo>
                <a:lnTo>
                  <a:pt x="106601" y="242808"/>
                </a:lnTo>
                <a:lnTo>
                  <a:pt x="86598" y="369729"/>
                </a:lnTo>
                <a:cubicBezTo>
                  <a:pt x="85487" y="376793"/>
                  <a:pt x="88424" y="383937"/>
                  <a:pt x="94218" y="388144"/>
                </a:cubicBezTo>
                <a:cubicBezTo>
                  <a:pt x="100013" y="392351"/>
                  <a:pt x="107633" y="392986"/>
                  <a:pt x="114062" y="389731"/>
                </a:cubicBezTo>
                <a:lnTo>
                  <a:pt x="228679" y="331470"/>
                </a:lnTo>
                <a:lnTo>
                  <a:pt x="343218" y="389731"/>
                </a:lnTo>
                <a:cubicBezTo>
                  <a:pt x="349568" y="392986"/>
                  <a:pt x="357267" y="392351"/>
                  <a:pt x="363061" y="388144"/>
                </a:cubicBezTo>
                <a:cubicBezTo>
                  <a:pt x="368856" y="383937"/>
                  <a:pt x="371793" y="376873"/>
                  <a:pt x="370681" y="369729"/>
                </a:cubicBezTo>
                <a:lnTo>
                  <a:pt x="350599" y="242808"/>
                </a:lnTo>
                <a:lnTo>
                  <a:pt x="441404" y="151924"/>
                </a:lnTo>
                <a:cubicBezTo>
                  <a:pt x="446484" y="146844"/>
                  <a:pt x="448231" y="139383"/>
                  <a:pt x="446008" y="132556"/>
                </a:cubicBezTo>
                <a:cubicBezTo>
                  <a:pt x="443786" y="125730"/>
                  <a:pt x="437991" y="120729"/>
                  <a:pt x="430847" y="119618"/>
                </a:cubicBezTo>
                <a:lnTo>
                  <a:pt x="304006" y="99457"/>
                </a:lnTo>
                <a:lnTo>
                  <a:pt x="245666" y="-15002"/>
                </a:lnTo>
                <a:close/>
              </a:path>
            </a:pathLst>
          </a:custGeom>
          <a:solidFill>
            <a:srgbClr val="B45309"/>
          </a:solidFill>
          <a:ln/>
        </p:spPr>
      </p:sp>
      <p:sp>
        <p:nvSpPr>
          <p:cNvPr id="16" name="Text 14"/>
          <p:cNvSpPr/>
          <p:nvPr/>
        </p:nvSpPr>
        <p:spPr>
          <a:xfrm>
            <a:off x="6565900" y="3492500"/>
            <a:ext cx="3683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B4530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Essential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032500" y="4064000"/>
            <a:ext cx="4191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Processing required to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understand and represent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the material in working memory. Directed at selecting and organizing relevant information.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0795000" y="3302000"/>
            <a:ext cx="4699000" cy="3302000"/>
          </a:xfrm>
          <a:prstGeom prst="rect">
            <a:avLst/>
          </a:prstGeom>
          <a:solidFill>
            <a:srgbClr val="F5F0E8"/>
          </a:solidFill>
          <a:ln/>
        </p:spPr>
      </p:sp>
      <p:sp>
        <p:nvSpPr>
          <p:cNvPr id="19" name="Shape 17"/>
          <p:cNvSpPr/>
          <p:nvPr/>
        </p:nvSpPr>
        <p:spPr>
          <a:xfrm>
            <a:off x="11074400" y="3492500"/>
            <a:ext cx="355600" cy="406400"/>
          </a:xfrm>
          <a:custGeom>
            <a:avLst/>
            <a:gdLst/>
            <a:ahLst/>
            <a:cxnLst/>
            <a:rect l="l" t="t" r="r" b="b"/>
            <a:pathLst>
              <a:path w="355600" h="406400">
                <a:moveTo>
                  <a:pt x="108506" y="4683"/>
                </a:moveTo>
                <a:cubicBezTo>
                  <a:pt x="111998" y="-5715"/>
                  <a:pt x="121682" y="-12700"/>
                  <a:pt x="132636" y="-12700"/>
                </a:cubicBezTo>
                <a:lnTo>
                  <a:pt x="223044" y="-12700"/>
                </a:lnTo>
                <a:cubicBezTo>
                  <a:pt x="233998" y="-12700"/>
                  <a:pt x="243681" y="-5715"/>
                  <a:pt x="247174" y="4683"/>
                </a:cubicBezTo>
                <a:lnTo>
                  <a:pt x="254000" y="25400"/>
                </a:lnTo>
                <a:lnTo>
                  <a:pt x="330200" y="25400"/>
                </a:lnTo>
                <a:cubicBezTo>
                  <a:pt x="344249" y="25400"/>
                  <a:pt x="355600" y="36751"/>
                  <a:pt x="355600" y="50800"/>
                </a:cubicBezTo>
                <a:cubicBezTo>
                  <a:pt x="355600" y="64849"/>
                  <a:pt x="344249" y="76200"/>
                  <a:pt x="330200" y="76200"/>
                </a:cubicBezTo>
                <a:lnTo>
                  <a:pt x="25400" y="76200"/>
                </a:lnTo>
                <a:cubicBezTo>
                  <a:pt x="11351" y="76200"/>
                  <a:pt x="0" y="64849"/>
                  <a:pt x="0" y="50800"/>
                </a:cubicBezTo>
                <a:cubicBezTo>
                  <a:pt x="0" y="36751"/>
                  <a:pt x="11351" y="25400"/>
                  <a:pt x="25400" y="25400"/>
                </a:cubicBezTo>
                <a:lnTo>
                  <a:pt x="101600" y="25400"/>
                </a:lnTo>
                <a:lnTo>
                  <a:pt x="108506" y="4683"/>
                </a:lnTo>
                <a:close/>
                <a:moveTo>
                  <a:pt x="25400" y="114300"/>
                </a:moveTo>
                <a:lnTo>
                  <a:pt x="330200" y="114300"/>
                </a:lnTo>
                <a:lnTo>
                  <a:pt x="330200" y="355600"/>
                </a:lnTo>
                <a:cubicBezTo>
                  <a:pt x="330200" y="383619"/>
                  <a:pt x="307419" y="406400"/>
                  <a:pt x="279400" y="406400"/>
                </a:cubicBezTo>
                <a:lnTo>
                  <a:pt x="76200" y="406400"/>
                </a:lnTo>
                <a:cubicBezTo>
                  <a:pt x="48181" y="406400"/>
                  <a:pt x="25400" y="383619"/>
                  <a:pt x="25400" y="355600"/>
                </a:cubicBezTo>
                <a:lnTo>
                  <a:pt x="25400" y="114300"/>
                </a:lnTo>
                <a:close/>
                <a:moveTo>
                  <a:pt x="95250" y="165100"/>
                </a:moveTo>
                <a:cubicBezTo>
                  <a:pt x="84693" y="165100"/>
                  <a:pt x="76200" y="173593"/>
                  <a:pt x="76200" y="184150"/>
                </a:cubicBezTo>
                <a:lnTo>
                  <a:pt x="76200" y="336550"/>
                </a:lnTo>
                <a:cubicBezTo>
                  <a:pt x="76200" y="347107"/>
                  <a:pt x="84693" y="355600"/>
                  <a:pt x="95250" y="355600"/>
                </a:cubicBezTo>
                <a:cubicBezTo>
                  <a:pt x="105807" y="355600"/>
                  <a:pt x="114300" y="347107"/>
                  <a:pt x="114300" y="336550"/>
                </a:cubicBezTo>
                <a:lnTo>
                  <a:pt x="114300" y="184150"/>
                </a:lnTo>
                <a:cubicBezTo>
                  <a:pt x="114300" y="173593"/>
                  <a:pt x="105807" y="165100"/>
                  <a:pt x="95250" y="165100"/>
                </a:cubicBezTo>
                <a:close/>
                <a:moveTo>
                  <a:pt x="177800" y="165100"/>
                </a:moveTo>
                <a:cubicBezTo>
                  <a:pt x="167243" y="165100"/>
                  <a:pt x="158750" y="173593"/>
                  <a:pt x="158750" y="184150"/>
                </a:cubicBezTo>
                <a:lnTo>
                  <a:pt x="158750" y="336550"/>
                </a:lnTo>
                <a:cubicBezTo>
                  <a:pt x="158750" y="347107"/>
                  <a:pt x="167243" y="355600"/>
                  <a:pt x="177800" y="355600"/>
                </a:cubicBezTo>
                <a:cubicBezTo>
                  <a:pt x="188357" y="355600"/>
                  <a:pt x="196850" y="347107"/>
                  <a:pt x="196850" y="336550"/>
                </a:cubicBezTo>
                <a:lnTo>
                  <a:pt x="196850" y="184150"/>
                </a:lnTo>
                <a:cubicBezTo>
                  <a:pt x="196850" y="173593"/>
                  <a:pt x="188357" y="165100"/>
                  <a:pt x="177800" y="165100"/>
                </a:cubicBezTo>
                <a:close/>
                <a:moveTo>
                  <a:pt x="260350" y="165100"/>
                </a:moveTo>
                <a:cubicBezTo>
                  <a:pt x="249793" y="165100"/>
                  <a:pt x="241300" y="173593"/>
                  <a:pt x="241300" y="184150"/>
                </a:cubicBezTo>
                <a:lnTo>
                  <a:pt x="241300" y="336550"/>
                </a:lnTo>
                <a:cubicBezTo>
                  <a:pt x="241300" y="347107"/>
                  <a:pt x="249793" y="355600"/>
                  <a:pt x="260350" y="355600"/>
                </a:cubicBezTo>
                <a:cubicBezTo>
                  <a:pt x="270907" y="355600"/>
                  <a:pt x="279400" y="347107"/>
                  <a:pt x="279400" y="336550"/>
                </a:cubicBezTo>
                <a:lnTo>
                  <a:pt x="279400" y="184150"/>
                </a:lnTo>
                <a:cubicBezTo>
                  <a:pt x="279400" y="173593"/>
                  <a:pt x="270907" y="165100"/>
                  <a:pt x="260350" y="165100"/>
                </a:cubicBezTo>
                <a:close/>
              </a:path>
            </a:pathLst>
          </a:custGeom>
          <a:solidFill>
            <a:srgbClr val="C2410C"/>
          </a:solidFill>
          <a:ln/>
        </p:spPr>
      </p:sp>
      <p:sp>
        <p:nvSpPr>
          <p:cNvPr id="20" name="Text 18"/>
          <p:cNvSpPr/>
          <p:nvPr/>
        </p:nvSpPr>
        <p:spPr>
          <a:xfrm>
            <a:off x="11582400" y="3492500"/>
            <a:ext cx="3683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C2410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Extraneous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1049000" y="4064000"/>
            <a:ext cx="4191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Cognitive effort wasted on material that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does not support learning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 Caused by poor design.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This is what we aim to eliminate.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762000" y="6921500"/>
            <a:ext cx="14732000" cy="889000"/>
          </a:xfrm>
          <a:prstGeom prst="rect">
            <a:avLst/>
          </a:prstGeom>
          <a:solidFill>
            <a:srgbClr val="B45309">
              <a:alpha val="8235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060450" y="7137400"/>
            <a:ext cx="266700" cy="355600"/>
          </a:xfrm>
          <a:custGeom>
            <a:avLst/>
            <a:gdLst/>
            <a:ahLst/>
            <a:cxnLst/>
            <a:rect l="l" t="t" r="r" b="b"/>
            <a:pathLst>
              <a:path w="266700" h="355600">
                <a:moveTo>
                  <a:pt x="203428" y="266700"/>
                </a:moveTo>
                <a:cubicBezTo>
                  <a:pt x="208498" y="251212"/>
                  <a:pt x="218638" y="237182"/>
                  <a:pt x="230098" y="225098"/>
                </a:cubicBezTo>
                <a:cubicBezTo>
                  <a:pt x="252809" y="201206"/>
                  <a:pt x="266700" y="168910"/>
                  <a:pt x="266700" y="133350"/>
                </a:cubicBezTo>
                <a:cubicBezTo>
                  <a:pt x="266700" y="59730"/>
                  <a:pt x="206970" y="0"/>
                  <a:pt x="133350" y="0"/>
                </a:cubicBezTo>
                <a:cubicBezTo>
                  <a:pt x="59730" y="0"/>
                  <a:pt x="0" y="59730"/>
                  <a:pt x="0" y="133350"/>
                </a:cubicBezTo>
                <a:cubicBezTo>
                  <a:pt x="0" y="168910"/>
                  <a:pt x="13891" y="201206"/>
                  <a:pt x="36602" y="225098"/>
                </a:cubicBezTo>
                <a:cubicBezTo>
                  <a:pt x="48062" y="237182"/>
                  <a:pt x="58271" y="251212"/>
                  <a:pt x="63272" y="266700"/>
                </a:cubicBezTo>
                <a:lnTo>
                  <a:pt x="203359" y="266700"/>
                </a:lnTo>
                <a:close/>
                <a:moveTo>
                  <a:pt x="200025" y="300038"/>
                </a:moveTo>
                <a:lnTo>
                  <a:pt x="66675" y="300038"/>
                </a:lnTo>
                <a:lnTo>
                  <a:pt x="66675" y="311150"/>
                </a:lnTo>
                <a:cubicBezTo>
                  <a:pt x="66675" y="341848"/>
                  <a:pt x="91539" y="366712"/>
                  <a:pt x="122238" y="366712"/>
                </a:cubicBezTo>
                <a:lnTo>
                  <a:pt x="144463" y="366712"/>
                </a:lnTo>
                <a:cubicBezTo>
                  <a:pt x="175161" y="366712"/>
                  <a:pt x="200025" y="341848"/>
                  <a:pt x="200025" y="311150"/>
                </a:cubicBezTo>
                <a:lnTo>
                  <a:pt x="200025" y="300038"/>
                </a:lnTo>
                <a:close/>
                <a:moveTo>
                  <a:pt x="127794" y="77788"/>
                </a:moveTo>
                <a:cubicBezTo>
                  <a:pt x="100151" y="77788"/>
                  <a:pt x="77788" y="100151"/>
                  <a:pt x="77788" y="127794"/>
                </a:cubicBezTo>
                <a:cubicBezTo>
                  <a:pt x="77788" y="137031"/>
                  <a:pt x="70356" y="144463"/>
                  <a:pt x="61119" y="144463"/>
                </a:cubicBezTo>
                <a:cubicBezTo>
                  <a:pt x="51881" y="144463"/>
                  <a:pt x="44450" y="137031"/>
                  <a:pt x="44450" y="127794"/>
                </a:cubicBezTo>
                <a:cubicBezTo>
                  <a:pt x="44450" y="81746"/>
                  <a:pt x="81746" y="44450"/>
                  <a:pt x="127794" y="44450"/>
                </a:cubicBezTo>
                <a:cubicBezTo>
                  <a:pt x="137031" y="44450"/>
                  <a:pt x="144463" y="51881"/>
                  <a:pt x="144463" y="61119"/>
                </a:cubicBezTo>
                <a:cubicBezTo>
                  <a:pt x="144463" y="70356"/>
                  <a:pt x="137031" y="77788"/>
                  <a:pt x="127794" y="77788"/>
                </a:cubicBezTo>
                <a:close/>
              </a:path>
            </a:pathLst>
          </a:custGeom>
          <a:solidFill>
            <a:srgbClr val="B45309"/>
          </a:solidFill>
          <a:ln/>
        </p:spPr>
      </p:sp>
      <p:sp>
        <p:nvSpPr>
          <p:cNvPr id="24" name="Text 22"/>
          <p:cNvSpPr/>
          <p:nvPr/>
        </p:nvSpPr>
        <p:spPr>
          <a:xfrm>
            <a:off x="1524000" y="6985000"/>
            <a:ext cx="13716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Insight: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When extraneous + essential processing exceed cognitive capacity, learning fails. Reducing extraneous processing frees capacity for what matters.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762000" y="8255000"/>
            <a:ext cx="889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78716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Source: Mayer, R. E. (2021). The Cambridge Handbook of Multimedia Learning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4986000" y="86360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78716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3175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200" kern="0" dirty="0">
                <a:solidFill>
                  <a:srgbClr val="B4530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CHAPTER 01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62000" y="635000"/>
            <a:ext cx="1270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B4530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Three Instructional Goals in Multimedia Design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1206500"/>
            <a:ext cx="14732000" cy="12700"/>
          </a:xfrm>
          <a:prstGeom prst="rect">
            <a:avLst/>
          </a:prstGeom>
          <a:solidFill>
            <a:srgbClr val="E7E5E4"/>
          </a:solidFill>
          <a:ln/>
        </p:spPr>
      </p:sp>
      <p:sp>
        <p:nvSpPr>
          <p:cNvPr id="6" name="Text 4"/>
          <p:cNvSpPr/>
          <p:nvPr/>
        </p:nvSpPr>
        <p:spPr>
          <a:xfrm>
            <a:off x="762000" y="1524000"/>
            <a:ext cx="6985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200" b="1" dirty="0">
                <a:solidFill>
                  <a:srgbClr val="B4530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24000" y="1524000"/>
            <a:ext cx="508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200" b="1" dirty="0">
                <a:solidFill>
                  <a:srgbClr val="1C191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Reduce Extraneous Processing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524000" y="2006600"/>
            <a:ext cx="1397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Eliminate unneeded material and confusing layouts so learners can focus cognitive resources on what matters. This course focuses on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five principles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that address this goal.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524000" y="2857500"/>
            <a:ext cx="13970000" cy="12700"/>
          </a:xfrm>
          <a:prstGeom prst="rect">
            <a:avLst/>
          </a:prstGeom>
          <a:solidFill>
            <a:srgbClr val="E7E5E4"/>
          </a:solidFill>
          <a:ln/>
        </p:spPr>
      </p:sp>
      <p:sp>
        <p:nvSpPr>
          <p:cNvPr id="10" name="Text 8"/>
          <p:cNvSpPr/>
          <p:nvPr/>
        </p:nvSpPr>
        <p:spPr>
          <a:xfrm>
            <a:off x="762000" y="3111500"/>
            <a:ext cx="6985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200" b="1" dirty="0">
                <a:solidFill>
                  <a:srgbClr val="B4530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524000" y="3111500"/>
            <a:ext cx="508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200" b="1" dirty="0">
                <a:solidFill>
                  <a:srgbClr val="1C191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Manage Essential Processing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524000" y="3594100"/>
            <a:ext cx="1397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Break complex material into manageable chunks when essential processing threatens to exceed cognitive capacity. Addressed by segmenting, pre-training, and modality principles.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524000" y="4445000"/>
            <a:ext cx="13970000" cy="12700"/>
          </a:xfrm>
          <a:prstGeom prst="rect">
            <a:avLst/>
          </a:prstGeom>
          <a:solidFill>
            <a:srgbClr val="E7E5E4"/>
          </a:solidFill>
          <a:ln/>
        </p:spPr>
      </p:sp>
      <p:sp>
        <p:nvSpPr>
          <p:cNvPr id="14" name="Text 12"/>
          <p:cNvSpPr/>
          <p:nvPr/>
        </p:nvSpPr>
        <p:spPr>
          <a:xfrm>
            <a:off x="762000" y="4699000"/>
            <a:ext cx="6985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200" b="1" dirty="0">
                <a:solidFill>
                  <a:srgbClr val="B4530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524000" y="4699000"/>
            <a:ext cx="508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200" b="1" dirty="0">
                <a:solidFill>
                  <a:srgbClr val="1C191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Foster Generative Processing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524000" y="5181600"/>
            <a:ext cx="1397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Motivate learners to actively engage with material through summarizing, explaining, and self-testing. Addressed by personalization, voice, and image principles.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1524000" y="6032500"/>
            <a:ext cx="13970000" cy="12700"/>
          </a:xfrm>
          <a:prstGeom prst="rect">
            <a:avLst/>
          </a:prstGeom>
          <a:solidFill>
            <a:srgbClr val="E7E5E4"/>
          </a:solidFill>
          <a:ln/>
        </p:spPr>
      </p:sp>
      <p:sp>
        <p:nvSpPr>
          <p:cNvPr id="18" name="Shape 16"/>
          <p:cNvSpPr/>
          <p:nvPr/>
        </p:nvSpPr>
        <p:spPr>
          <a:xfrm>
            <a:off x="762000" y="6413500"/>
            <a:ext cx="14732000" cy="1397000"/>
          </a:xfrm>
          <a:prstGeom prst="rect">
            <a:avLst/>
          </a:prstGeom>
          <a:solidFill>
            <a:srgbClr val="B45309">
              <a:alpha val="8235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016000" y="6794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355600" y="203200"/>
                </a:moveTo>
                <a:cubicBezTo>
                  <a:pt x="355600" y="119088"/>
                  <a:pt x="287312" y="50800"/>
                  <a:pt x="203200" y="50800"/>
                </a:cubicBezTo>
                <a:cubicBezTo>
                  <a:pt x="119088" y="50800"/>
                  <a:pt x="50800" y="119088"/>
                  <a:pt x="50800" y="203200"/>
                </a:cubicBezTo>
                <a:cubicBezTo>
                  <a:pt x="50800" y="287312"/>
                  <a:pt x="119088" y="355600"/>
                  <a:pt x="203200" y="355600"/>
                </a:cubicBezTo>
                <a:cubicBezTo>
                  <a:pt x="287312" y="355600"/>
                  <a:pt x="355600" y="287312"/>
                  <a:pt x="355600" y="203200"/>
                </a:cubicBezTo>
                <a:close/>
                <a:moveTo>
                  <a:pt x="0" y="203200"/>
                </a:moveTo>
                <a:cubicBezTo>
                  <a:pt x="0" y="91051"/>
                  <a:pt x="91051" y="0"/>
                  <a:pt x="203200" y="0"/>
                </a:cubicBezTo>
                <a:cubicBezTo>
                  <a:pt x="315349" y="0"/>
                  <a:pt x="406400" y="91051"/>
                  <a:pt x="406400" y="203200"/>
                </a:cubicBezTo>
                <a:cubicBezTo>
                  <a:pt x="406400" y="315349"/>
                  <a:pt x="315349" y="406400"/>
                  <a:pt x="203200" y="406400"/>
                </a:cubicBezTo>
                <a:cubicBezTo>
                  <a:pt x="91051" y="406400"/>
                  <a:pt x="0" y="315349"/>
                  <a:pt x="0" y="203200"/>
                </a:cubicBezTo>
                <a:close/>
                <a:moveTo>
                  <a:pt x="203200" y="266700"/>
                </a:moveTo>
                <a:cubicBezTo>
                  <a:pt x="238247" y="266700"/>
                  <a:pt x="266700" y="238247"/>
                  <a:pt x="266700" y="203200"/>
                </a:cubicBezTo>
                <a:cubicBezTo>
                  <a:pt x="266700" y="168153"/>
                  <a:pt x="238247" y="139700"/>
                  <a:pt x="203200" y="139700"/>
                </a:cubicBezTo>
                <a:cubicBezTo>
                  <a:pt x="168153" y="139700"/>
                  <a:pt x="139700" y="168153"/>
                  <a:pt x="139700" y="203200"/>
                </a:cubicBezTo>
                <a:cubicBezTo>
                  <a:pt x="139700" y="238247"/>
                  <a:pt x="168153" y="266700"/>
                  <a:pt x="203200" y="266700"/>
                </a:cubicBezTo>
                <a:close/>
                <a:moveTo>
                  <a:pt x="203200" y="88900"/>
                </a:moveTo>
                <a:cubicBezTo>
                  <a:pt x="266284" y="88900"/>
                  <a:pt x="317500" y="140116"/>
                  <a:pt x="317500" y="203200"/>
                </a:cubicBezTo>
                <a:cubicBezTo>
                  <a:pt x="317500" y="266284"/>
                  <a:pt x="266284" y="317500"/>
                  <a:pt x="203200" y="317500"/>
                </a:cubicBezTo>
                <a:cubicBezTo>
                  <a:pt x="140116" y="317500"/>
                  <a:pt x="88900" y="266284"/>
                  <a:pt x="88900" y="203200"/>
                </a:cubicBezTo>
                <a:cubicBezTo>
                  <a:pt x="88900" y="140116"/>
                  <a:pt x="140116" y="88900"/>
                  <a:pt x="203200" y="88900"/>
                </a:cubicBezTo>
                <a:close/>
                <a:moveTo>
                  <a:pt x="177800" y="203200"/>
                </a:moveTo>
                <a:cubicBezTo>
                  <a:pt x="177800" y="189181"/>
                  <a:pt x="189181" y="177800"/>
                  <a:pt x="203200" y="177800"/>
                </a:cubicBezTo>
                <a:cubicBezTo>
                  <a:pt x="217219" y="177800"/>
                  <a:pt x="228600" y="189181"/>
                  <a:pt x="228600" y="203200"/>
                </a:cubicBezTo>
                <a:cubicBezTo>
                  <a:pt x="228600" y="217219"/>
                  <a:pt x="217219" y="228600"/>
                  <a:pt x="203200" y="228600"/>
                </a:cubicBezTo>
                <a:cubicBezTo>
                  <a:pt x="189181" y="228600"/>
                  <a:pt x="177800" y="217219"/>
                  <a:pt x="177800" y="203200"/>
                </a:cubicBezTo>
                <a:close/>
              </a:path>
            </a:pathLst>
          </a:custGeom>
          <a:solidFill>
            <a:srgbClr val="B45309"/>
          </a:solidFill>
          <a:ln/>
        </p:spPr>
      </p:sp>
      <p:sp>
        <p:nvSpPr>
          <p:cNvPr id="20" name="Text 18"/>
          <p:cNvSpPr/>
          <p:nvPr/>
        </p:nvSpPr>
        <p:spPr>
          <a:xfrm>
            <a:off x="1587500" y="65405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B4530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Course Focus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587500" y="6921500"/>
            <a:ext cx="1358900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This course covers the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five principles for reducing extraneous processing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grounded in the Cognitive Theory of Multimedia Learning (CTML) by Richard E. Mayer.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62000" y="8255000"/>
            <a:ext cx="889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78716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Source: Mayer, R. E. (2021). Multimedia Learning (3rd ed.)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4986000" y="86360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78716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C19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irl5c2knzosr6/mnt/agents/output/multimedia-production-w6/images/2_A_Minimalist_Desk_with_Plants_a_Clea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1C1917">
                  <a:alpha val="90000"/>
                </a:srgbClr>
              </a:gs>
              <a:gs pos="60000">
                <a:srgbClr val="1C1917">
                  <a:alpha val="80000"/>
                </a:srgbClr>
              </a:gs>
              <a:gs pos="100000">
                <a:srgbClr val="1C1917">
                  <a:alpha val="50000"/>
                </a:srgbClr>
              </a:gs>
            </a:gsLst>
            <a:lin ang="0" scaled="1"/>
          </a:gradFill>
          <a:ln/>
        </p:spPr>
      </p:sp>
      <p:sp>
        <p:nvSpPr>
          <p:cNvPr id="4" name="Text 1"/>
          <p:cNvSpPr/>
          <p:nvPr/>
        </p:nvSpPr>
        <p:spPr>
          <a:xfrm>
            <a:off x="762000" y="2286000"/>
            <a:ext cx="3810000" cy="1193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dirty="0">
                <a:solidFill>
                  <a:srgbClr val="FFFFFF">
                    <a:alpha val="25098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02</a:t>
            </a:r>
            <a:endParaRPr lang="en-US" sz="7200" dirty="0"/>
          </a:p>
        </p:txBody>
      </p:sp>
      <p:sp>
        <p:nvSpPr>
          <p:cNvPr id="5" name="Shape 2"/>
          <p:cNvSpPr/>
          <p:nvPr/>
        </p:nvSpPr>
        <p:spPr>
          <a:xfrm>
            <a:off x="762000" y="3683000"/>
            <a:ext cx="1016000" cy="3810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6" name="Text 3"/>
          <p:cNvSpPr/>
          <p:nvPr/>
        </p:nvSpPr>
        <p:spPr>
          <a:xfrm>
            <a:off x="762000" y="3937000"/>
            <a:ext cx="762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Coherence Principle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62000" y="4699000"/>
            <a:ext cx="635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FFFFFF">
                    <a:alpha val="70196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Eliminate the Unnecessary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3175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200" kern="0" dirty="0">
                <a:solidFill>
                  <a:srgbClr val="B4530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COHERENCE PRINCIPLE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62000" y="635000"/>
            <a:ext cx="1397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B4530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People Learn Better Without Extraneous Material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1206500"/>
            <a:ext cx="14732000" cy="12700"/>
          </a:xfrm>
          <a:prstGeom prst="rect">
            <a:avLst/>
          </a:prstGeom>
          <a:solidFill>
            <a:srgbClr val="E7E5E4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1460500"/>
            <a:ext cx="14732000" cy="1016000"/>
          </a:xfrm>
          <a:prstGeom prst="rect">
            <a:avLst/>
          </a:prstGeom>
          <a:solidFill>
            <a:srgbClr val="F5F0E8"/>
          </a:solidFill>
          <a:ln/>
        </p:spPr>
      </p:sp>
      <p:sp>
        <p:nvSpPr>
          <p:cNvPr id="7" name="Shape 5"/>
          <p:cNvSpPr/>
          <p:nvPr/>
        </p:nvSpPr>
        <p:spPr>
          <a:xfrm>
            <a:off x="1041400" y="1676400"/>
            <a:ext cx="355600" cy="406400"/>
          </a:xfrm>
          <a:custGeom>
            <a:avLst/>
            <a:gdLst/>
            <a:ahLst/>
            <a:cxnLst/>
            <a:rect l="l" t="t" r="r" b="b"/>
            <a:pathLst>
              <a:path w="355600" h="406400">
                <a:moveTo>
                  <a:pt x="0" y="171450"/>
                </a:moveTo>
                <a:cubicBezTo>
                  <a:pt x="0" y="118824"/>
                  <a:pt x="42624" y="76200"/>
                  <a:pt x="95250" y="76200"/>
                </a:cubicBezTo>
                <a:lnTo>
                  <a:pt x="101600" y="76200"/>
                </a:lnTo>
                <a:cubicBezTo>
                  <a:pt x="115649" y="76200"/>
                  <a:pt x="127000" y="87551"/>
                  <a:pt x="127000" y="101600"/>
                </a:cubicBezTo>
                <a:cubicBezTo>
                  <a:pt x="127000" y="115649"/>
                  <a:pt x="115649" y="127000"/>
                  <a:pt x="101600" y="127000"/>
                </a:cubicBezTo>
                <a:lnTo>
                  <a:pt x="95250" y="127000"/>
                </a:lnTo>
                <a:cubicBezTo>
                  <a:pt x="70723" y="127000"/>
                  <a:pt x="50800" y="146923"/>
                  <a:pt x="50800" y="171450"/>
                </a:cubicBezTo>
                <a:lnTo>
                  <a:pt x="50800" y="177800"/>
                </a:lnTo>
                <a:lnTo>
                  <a:pt x="101600" y="177800"/>
                </a:lnTo>
                <a:cubicBezTo>
                  <a:pt x="129619" y="177800"/>
                  <a:pt x="152400" y="200581"/>
                  <a:pt x="152400" y="228600"/>
                </a:cubicBezTo>
                <a:lnTo>
                  <a:pt x="152400" y="279400"/>
                </a:lnTo>
                <a:cubicBezTo>
                  <a:pt x="152400" y="307419"/>
                  <a:pt x="129619" y="330200"/>
                  <a:pt x="101600" y="330200"/>
                </a:cubicBezTo>
                <a:lnTo>
                  <a:pt x="50800" y="330200"/>
                </a:lnTo>
                <a:cubicBezTo>
                  <a:pt x="22781" y="330200"/>
                  <a:pt x="0" y="307419"/>
                  <a:pt x="0" y="279400"/>
                </a:cubicBezTo>
                <a:lnTo>
                  <a:pt x="0" y="171450"/>
                </a:lnTo>
                <a:close/>
                <a:moveTo>
                  <a:pt x="203200" y="171450"/>
                </a:moveTo>
                <a:cubicBezTo>
                  <a:pt x="203200" y="118824"/>
                  <a:pt x="245824" y="76200"/>
                  <a:pt x="298450" y="76200"/>
                </a:cubicBezTo>
                <a:lnTo>
                  <a:pt x="304800" y="76200"/>
                </a:lnTo>
                <a:cubicBezTo>
                  <a:pt x="318849" y="76200"/>
                  <a:pt x="330200" y="87551"/>
                  <a:pt x="330200" y="101600"/>
                </a:cubicBezTo>
                <a:cubicBezTo>
                  <a:pt x="330200" y="115649"/>
                  <a:pt x="318849" y="127000"/>
                  <a:pt x="304800" y="127000"/>
                </a:cubicBezTo>
                <a:lnTo>
                  <a:pt x="298450" y="127000"/>
                </a:lnTo>
                <a:cubicBezTo>
                  <a:pt x="273923" y="127000"/>
                  <a:pt x="254000" y="146923"/>
                  <a:pt x="254000" y="171450"/>
                </a:cubicBezTo>
                <a:lnTo>
                  <a:pt x="254000" y="177800"/>
                </a:lnTo>
                <a:lnTo>
                  <a:pt x="304800" y="177800"/>
                </a:lnTo>
                <a:cubicBezTo>
                  <a:pt x="332819" y="177800"/>
                  <a:pt x="355600" y="200581"/>
                  <a:pt x="355600" y="228600"/>
                </a:cubicBezTo>
                <a:lnTo>
                  <a:pt x="355600" y="279400"/>
                </a:lnTo>
                <a:cubicBezTo>
                  <a:pt x="355600" y="307419"/>
                  <a:pt x="332819" y="330200"/>
                  <a:pt x="304800" y="330200"/>
                </a:cubicBezTo>
                <a:lnTo>
                  <a:pt x="254000" y="330200"/>
                </a:lnTo>
                <a:cubicBezTo>
                  <a:pt x="225981" y="330200"/>
                  <a:pt x="203200" y="307419"/>
                  <a:pt x="203200" y="279400"/>
                </a:cubicBezTo>
                <a:lnTo>
                  <a:pt x="203200" y="171450"/>
                </a:lnTo>
                <a:close/>
              </a:path>
            </a:pathLst>
          </a:custGeom>
          <a:solidFill>
            <a:srgbClr val="B45309"/>
          </a:solidFill>
          <a:ln/>
        </p:spPr>
      </p:sp>
      <p:sp>
        <p:nvSpPr>
          <p:cNvPr id="8" name="Text 6"/>
          <p:cNvSpPr/>
          <p:nvPr/>
        </p:nvSpPr>
        <p:spPr>
          <a:xfrm>
            <a:off x="1587500" y="1524000"/>
            <a:ext cx="136525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7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People learn more deeply from a multimedia message when </a:t>
            </a:r>
            <a:pPr>
              <a:lnSpc>
                <a:spcPct val="150000"/>
              </a:lnSpc>
            </a:pPr>
            <a:r>
              <a:rPr lang="en-US" sz="1700" b="1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extraneous material is excluded</a:t>
            </a:r>
            <a:pPr>
              <a:lnSpc>
                <a:spcPct val="150000"/>
              </a:lnSpc>
            </a:pPr>
            <a:r>
              <a:rPr lang="en-US" sz="17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rather than included. Every element must serve the learning objective.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62000" y="2730500"/>
            <a:ext cx="635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b="1" dirty="0">
                <a:solidFill>
                  <a:srgbClr val="1C191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Three Types of Extraneous Material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762000" y="3365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98011" y="35213"/>
                </a:moveTo>
                <a:cubicBezTo>
                  <a:pt x="194399" y="27295"/>
                  <a:pt x="186482" y="22225"/>
                  <a:pt x="177800" y="22225"/>
                </a:cubicBezTo>
                <a:cubicBezTo>
                  <a:pt x="169118" y="22225"/>
                  <a:pt x="161201" y="27295"/>
                  <a:pt x="157589" y="35213"/>
                </a:cubicBezTo>
                <a:lnTo>
                  <a:pt x="41325" y="288925"/>
                </a:lnTo>
                <a:lnTo>
                  <a:pt x="33337" y="288925"/>
                </a:lnTo>
                <a:cubicBezTo>
                  <a:pt x="21044" y="288925"/>
                  <a:pt x="11112" y="298857"/>
                  <a:pt x="11112" y="311150"/>
                </a:cubicBezTo>
                <a:cubicBezTo>
                  <a:pt x="11112" y="323443"/>
                  <a:pt x="21044" y="333375"/>
                  <a:pt x="33337" y="333375"/>
                </a:cubicBezTo>
                <a:lnTo>
                  <a:pt x="94456" y="333375"/>
                </a:lnTo>
                <a:cubicBezTo>
                  <a:pt x="106749" y="333375"/>
                  <a:pt x="116681" y="323443"/>
                  <a:pt x="116681" y="311150"/>
                </a:cubicBezTo>
                <a:cubicBezTo>
                  <a:pt x="116681" y="298857"/>
                  <a:pt x="106749" y="288925"/>
                  <a:pt x="94456" y="288925"/>
                </a:cubicBezTo>
                <a:lnTo>
                  <a:pt x="90220" y="288925"/>
                </a:lnTo>
                <a:lnTo>
                  <a:pt x="105499" y="255587"/>
                </a:lnTo>
                <a:lnTo>
                  <a:pt x="250170" y="255587"/>
                </a:lnTo>
                <a:lnTo>
                  <a:pt x="265450" y="288925"/>
                </a:lnTo>
                <a:lnTo>
                  <a:pt x="261213" y="288925"/>
                </a:lnTo>
                <a:cubicBezTo>
                  <a:pt x="248920" y="288925"/>
                  <a:pt x="238988" y="298857"/>
                  <a:pt x="238988" y="311150"/>
                </a:cubicBezTo>
                <a:cubicBezTo>
                  <a:pt x="238988" y="323443"/>
                  <a:pt x="248920" y="333375"/>
                  <a:pt x="261213" y="333375"/>
                </a:cubicBezTo>
                <a:lnTo>
                  <a:pt x="322332" y="333375"/>
                </a:lnTo>
                <a:cubicBezTo>
                  <a:pt x="334625" y="333375"/>
                  <a:pt x="344557" y="323443"/>
                  <a:pt x="344557" y="311150"/>
                </a:cubicBezTo>
                <a:cubicBezTo>
                  <a:pt x="344557" y="298857"/>
                  <a:pt x="334625" y="288925"/>
                  <a:pt x="322332" y="288925"/>
                </a:cubicBezTo>
                <a:lnTo>
                  <a:pt x="314345" y="288925"/>
                </a:lnTo>
                <a:lnTo>
                  <a:pt x="198080" y="35213"/>
                </a:lnTo>
                <a:close/>
                <a:moveTo>
                  <a:pt x="229751" y="211138"/>
                </a:moveTo>
                <a:lnTo>
                  <a:pt x="125849" y="211138"/>
                </a:lnTo>
                <a:lnTo>
                  <a:pt x="177800" y="97790"/>
                </a:lnTo>
                <a:lnTo>
                  <a:pt x="229751" y="211138"/>
                </a:lnTo>
                <a:close/>
              </a:path>
            </a:pathLst>
          </a:custGeom>
          <a:solidFill>
            <a:srgbClr val="C2410C"/>
          </a:solidFill>
          <a:ln/>
        </p:spPr>
      </p:sp>
      <p:sp>
        <p:nvSpPr>
          <p:cNvPr id="11" name="Text 9"/>
          <p:cNvSpPr/>
          <p:nvPr/>
        </p:nvSpPr>
        <p:spPr>
          <a:xfrm>
            <a:off x="1270000" y="3340100"/>
            <a:ext cx="254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b="1" dirty="0">
                <a:solidFill>
                  <a:srgbClr val="C2410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Extraneous Words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70000" y="3746500"/>
            <a:ext cx="6096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Interesting but irrelevant facts, lengthy descriptions, entertaining anecdotes that do not support learning objectives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84225" y="4699000"/>
            <a:ext cx="311150" cy="355600"/>
          </a:xfrm>
          <a:custGeom>
            <a:avLst/>
            <a:gdLst/>
            <a:ahLst/>
            <a:cxnLst/>
            <a:rect l="l" t="t" r="r" b="b"/>
            <a:pathLst>
              <a:path w="311150" h="355600">
                <a:moveTo>
                  <a:pt x="44450" y="22225"/>
                </a:moveTo>
                <a:cubicBezTo>
                  <a:pt x="19933" y="22225"/>
                  <a:pt x="0" y="42158"/>
                  <a:pt x="0" y="66675"/>
                </a:cubicBezTo>
                <a:lnTo>
                  <a:pt x="0" y="288925"/>
                </a:lnTo>
                <a:cubicBezTo>
                  <a:pt x="0" y="313442"/>
                  <a:pt x="19933" y="333375"/>
                  <a:pt x="44450" y="333375"/>
                </a:cubicBezTo>
                <a:lnTo>
                  <a:pt x="266700" y="333375"/>
                </a:lnTo>
                <a:cubicBezTo>
                  <a:pt x="291217" y="333375"/>
                  <a:pt x="311150" y="313442"/>
                  <a:pt x="311150" y="288925"/>
                </a:cubicBezTo>
                <a:lnTo>
                  <a:pt x="311150" y="66675"/>
                </a:lnTo>
                <a:cubicBezTo>
                  <a:pt x="311150" y="42158"/>
                  <a:pt x="291217" y="22225"/>
                  <a:pt x="266700" y="22225"/>
                </a:cubicBezTo>
                <a:lnTo>
                  <a:pt x="44450" y="22225"/>
                </a:lnTo>
                <a:close/>
                <a:moveTo>
                  <a:pt x="88900" y="77788"/>
                </a:moveTo>
                <a:cubicBezTo>
                  <a:pt x="107299" y="77788"/>
                  <a:pt x="122238" y="92726"/>
                  <a:pt x="122238" y="111125"/>
                </a:cubicBezTo>
                <a:cubicBezTo>
                  <a:pt x="122238" y="129524"/>
                  <a:pt x="107299" y="144463"/>
                  <a:pt x="88900" y="144463"/>
                </a:cubicBezTo>
                <a:cubicBezTo>
                  <a:pt x="70501" y="144463"/>
                  <a:pt x="55563" y="129524"/>
                  <a:pt x="55563" y="111125"/>
                </a:cubicBezTo>
                <a:cubicBezTo>
                  <a:pt x="55563" y="92726"/>
                  <a:pt x="70501" y="77788"/>
                  <a:pt x="88900" y="77788"/>
                </a:cubicBezTo>
                <a:close/>
                <a:moveTo>
                  <a:pt x="188913" y="155575"/>
                </a:moveTo>
                <a:cubicBezTo>
                  <a:pt x="194747" y="155575"/>
                  <a:pt x="200094" y="158631"/>
                  <a:pt x="203150" y="163562"/>
                </a:cubicBezTo>
                <a:lnTo>
                  <a:pt x="264269" y="263575"/>
                </a:lnTo>
                <a:cubicBezTo>
                  <a:pt x="267395" y="268714"/>
                  <a:pt x="267533" y="275173"/>
                  <a:pt x="264616" y="280452"/>
                </a:cubicBezTo>
                <a:cubicBezTo>
                  <a:pt x="261699" y="285730"/>
                  <a:pt x="256074" y="288925"/>
                  <a:pt x="250031" y="288925"/>
                </a:cubicBezTo>
                <a:lnTo>
                  <a:pt x="61119" y="288925"/>
                </a:lnTo>
                <a:cubicBezTo>
                  <a:pt x="54937" y="288925"/>
                  <a:pt x="49173" y="285452"/>
                  <a:pt x="46325" y="279966"/>
                </a:cubicBezTo>
                <a:cubicBezTo>
                  <a:pt x="43478" y="274479"/>
                  <a:pt x="43894" y="267811"/>
                  <a:pt x="47436" y="262741"/>
                </a:cubicBezTo>
                <a:lnTo>
                  <a:pt x="86330" y="207179"/>
                </a:lnTo>
                <a:cubicBezTo>
                  <a:pt x="89456" y="202734"/>
                  <a:pt x="94526" y="200094"/>
                  <a:pt x="100013" y="200094"/>
                </a:cubicBezTo>
                <a:cubicBezTo>
                  <a:pt x="105499" y="200094"/>
                  <a:pt x="110569" y="202734"/>
                  <a:pt x="113695" y="207179"/>
                </a:cubicBezTo>
                <a:lnTo>
                  <a:pt x="132030" y="233432"/>
                </a:lnTo>
                <a:lnTo>
                  <a:pt x="174675" y="163632"/>
                </a:lnTo>
                <a:cubicBezTo>
                  <a:pt x="177731" y="158700"/>
                  <a:pt x="183078" y="155644"/>
                  <a:pt x="188913" y="155644"/>
                </a:cubicBezTo>
                <a:close/>
              </a:path>
            </a:pathLst>
          </a:custGeom>
          <a:solidFill>
            <a:srgbClr val="C2410C"/>
          </a:solidFill>
          <a:ln/>
        </p:spPr>
      </p:sp>
      <p:sp>
        <p:nvSpPr>
          <p:cNvPr id="14" name="Text 12"/>
          <p:cNvSpPr/>
          <p:nvPr/>
        </p:nvSpPr>
        <p:spPr>
          <a:xfrm>
            <a:off x="1270000" y="4673600"/>
            <a:ext cx="254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b="1" dirty="0">
                <a:solidFill>
                  <a:srgbClr val="C2410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Extraneous Graphics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70000" y="5080000"/>
            <a:ext cx="6096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Decorative images, entertaining photos or video clips, clip art that adds visual interest but no instructional value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762000" y="6032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325041" y="4862"/>
                </a:moveTo>
                <a:cubicBezTo>
                  <a:pt x="330319" y="9098"/>
                  <a:pt x="333375" y="15488"/>
                  <a:pt x="333375" y="22225"/>
                </a:cubicBezTo>
                <a:lnTo>
                  <a:pt x="333375" y="233363"/>
                </a:lnTo>
                <a:cubicBezTo>
                  <a:pt x="333375" y="264061"/>
                  <a:pt x="303510" y="288925"/>
                  <a:pt x="266700" y="288925"/>
                </a:cubicBezTo>
                <a:cubicBezTo>
                  <a:pt x="229890" y="288925"/>
                  <a:pt x="200025" y="264061"/>
                  <a:pt x="200025" y="233363"/>
                </a:cubicBezTo>
                <a:cubicBezTo>
                  <a:pt x="200025" y="202664"/>
                  <a:pt x="229890" y="177800"/>
                  <a:pt x="266700" y="177800"/>
                </a:cubicBezTo>
                <a:cubicBezTo>
                  <a:pt x="274479" y="177800"/>
                  <a:pt x="281980" y="178911"/>
                  <a:pt x="288925" y="180995"/>
                </a:cubicBezTo>
                <a:lnTo>
                  <a:pt x="288925" y="99943"/>
                </a:lnTo>
                <a:lnTo>
                  <a:pt x="133350" y="134531"/>
                </a:lnTo>
                <a:lnTo>
                  <a:pt x="133350" y="277813"/>
                </a:lnTo>
                <a:cubicBezTo>
                  <a:pt x="133350" y="308511"/>
                  <a:pt x="103485" y="333375"/>
                  <a:pt x="66675" y="333375"/>
                </a:cubicBezTo>
                <a:cubicBezTo>
                  <a:pt x="29865" y="333375"/>
                  <a:pt x="0" y="308511"/>
                  <a:pt x="0" y="277813"/>
                </a:cubicBezTo>
                <a:cubicBezTo>
                  <a:pt x="0" y="247114"/>
                  <a:pt x="29865" y="222250"/>
                  <a:pt x="66675" y="222250"/>
                </a:cubicBezTo>
                <a:cubicBezTo>
                  <a:pt x="74454" y="222250"/>
                  <a:pt x="81955" y="223361"/>
                  <a:pt x="88900" y="225445"/>
                </a:cubicBezTo>
                <a:lnTo>
                  <a:pt x="88900" y="66675"/>
                </a:lnTo>
                <a:cubicBezTo>
                  <a:pt x="88900" y="56257"/>
                  <a:pt x="96123" y="47228"/>
                  <a:pt x="106333" y="45006"/>
                </a:cubicBezTo>
                <a:lnTo>
                  <a:pt x="306358" y="556"/>
                </a:lnTo>
                <a:cubicBezTo>
                  <a:pt x="312956" y="-903"/>
                  <a:pt x="319832" y="695"/>
                  <a:pt x="325110" y="4931"/>
                </a:cubicBezTo>
                <a:close/>
              </a:path>
            </a:pathLst>
          </a:custGeom>
          <a:solidFill>
            <a:srgbClr val="C2410C"/>
          </a:solidFill>
          <a:ln/>
        </p:spPr>
      </p:sp>
      <p:sp>
        <p:nvSpPr>
          <p:cNvPr id="17" name="Text 15"/>
          <p:cNvSpPr/>
          <p:nvPr/>
        </p:nvSpPr>
        <p:spPr>
          <a:xfrm>
            <a:off x="1270000" y="6007100"/>
            <a:ext cx="254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b="1" dirty="0">
                <a:solidFill>
                  <a:srgbClr val="C2410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Extraneous Sounds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70000" y="6413500"/>
            <a:ext cx="6096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Background music, sound effects, ambient audio that diverts attention from the essential instructional message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8128000" y="3302000"/>
            <a:ext cx="7366000" cy="3937000"/>
          </a:xfrm>
          <a:prstGeom prst="rect">
            <a:avLst/>
          </a:prstGeom>
          <a:solidFill>
            <a:srgbClr val="B45309">
              <a:alpha val="8235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8509000" y="3492500"/>
            <a:ext cx="660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B4530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Why This Matters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509000" y="4000500"/>
            <a:ext cx="6604000" cy="304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Extraneous material primes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incidental processing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diverting learners' attention from essential content toward non-essential material.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6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These "</a:t>
            </a:r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600" b="1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seductive details</a:t>
            </a:r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6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 disrupt the structure-building process needed for deep learning.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6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result: learners build incomplete or incorrect mental models of the material.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4986000" y="86360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78716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07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3175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200" kern="0" dirty="0">
                <a:solidFill>
                  <a:srgbClr val="B4530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COHERENCE PRINCIPLE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62000" y="6350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B4530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Research Evidence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1206500"/>
            <a:ext cx="14732000" cy="12700"/>
          </a:xfrm>
          <a:prstGeom prst="rect">
            <a:avLst/>
          </a:prstGeom>
          <a:solidFill>
            <a:srgbClr val="E7E5E4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1460500"/>
            <a:ext cx="4699000" cy="1651000"/>
          </a:xfrm>
          <a:prstGeom prst="rect">
            <a:avLst/>
          </a:prstGeom>
          <a:solidFill>
            <a:srgbClr val="F5F0E8"/>
          </a:solidFill>
          <a:ln/>
        </p:spPr>
      </p:sp>
      <p:sp>
        <p:nvSpPr>
          <p:cNvPr id="7" name="Text 5"/>
          <p:cNvSpPr/>
          <p:nvPr/>
        </p:nvSpPr>
        <p:spPr>
          <a:xfrm>
            <a:off x="1016000" y="1524000"/>
            <a:ext cx="4191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200" b="1" dirty="0">
                <a:solidFill>
                  <a:srgbClr val="B4530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23/23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16000" y="2286000"/>
            <a:ext cx="4191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Experimental tests supported the coherence principle (100% consistency)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778500" y="1460500"/>
            <a:ext cx="4699000" cy="1651000"/>
          </a:xfrm>
          <a:prstGeom prst="rect">
            <a:avLst/>
          </a:prstGeom>
          <a:solidFill>
            <a:srgbClr val="F5F0E8"/>
          </a:solidFill>
          <a:ln/>
        </p:spPr>
      </p:sp>
      <p:sp>
        <p:nvSpPr>
          <p:cNvPr id="10" name="Text 8"/>
          <p:cNvSpPr/>
          <p:nvPr/>
        </p:nvSpPr>
        <p:spPr>
          <a:xfrm>
            <a:off x="6032500" y="1524000"/>
            <a:ext cx="4191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200" b="1" dirty="0">
                <a:solidFill>
                  <a:srgbClr val="B4530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0.86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032500" y="2286000"/>
            <a:ext cx="4191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Median effect size — a large, practically significant effect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0795000" y="1460500"/>
            <a:ext cx="4699000" cy="1651000"/>
          </a:xfrm>
          <a:prstGeom prst="rect">
            <a:avLst/>
          </a:prstGeom>
          <a:solidFill>
            <a:srgbClr val="F5F0E8"/>
          </a:solidFill>
          <a:ln/>
        </p:spPr>
      </p:sp>
      <p:sp>
        <p:nvSpPr>
          <p:cNvPr id="13" name="Shape 11"/>
          <p:cNvSpPr/>
          <p:nvPr/>
        </p:nvSpPr>
        <p:spPr>
          <a:xfrm>
            <a:off x="11049000" y="1651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28855" y="0"/>
                </a:moveTo>
                <a:lnTo>
                  <a:pt x="328880" y="0"/>
                </a:lnTo>
                <a:cubicBezTo>
                  <a:pt x="352544" y="0"/>
                  <a:pt x="371832" y="19467"/>
                  <a:pt x="370939" y="43041"/>
                </a:cubicBezTo>
                <a:cubicBezTo>
                  <a:pt x="370761" y="47774"/>
                  <a:pt x="370582" y="52507"/>
                  <a:pt x="370314" y="57150"/>
                </a:cubicBezTo>
                <a:lnTo>
                  <a:pt x="414605" y="57150"/>
                </a:lnTo>
                <a:cubicBezTo>
                  <a:pt x="437912" y="57150"/>
                  <a:pt x="458450" y="76438"/>
                  <a:pt x="456664" y="101620"/>
                </a:cubicBezTo>
                <a:cubicBezTo>
                  <a:pt x="449967" y="194221"/>
                  <a:pt x="402640" y="245120"/>
                  <a:pt x="351294" y="271730"/>
                </a:cubicBezTo>
                <a:cubicBezTo>
                  <a:pt x="337185" y="279053"/>
                  <a:pt x="322808" y="284500"/>
                  <a:pt x="309146" y="288518"/>
                </a:cubicBezTo>
                <a:cubicBezTo>
                  <a:pt x="291108" y="314057"/>
                  <a:pt x="272355" y="327541"/>
                  <a:pt x="257443" y="334774"/>
                </a:cubicBezTo>
                <a:lnTo>
                  <a:pt x="257443" y="400050"/>
                </a:lnTo>
                <a:lnTo>
                  <a:pt x="314593" y="400050"/>
                </a:lnTo>
                <a:cubicBezTo>
                  <a:pt x="330398" y="400050"/>
                  <a:pt x="343168" y="412819"/>
                  <a:pt x="343168" y="428625"/>
                </a:cubicBezTo>
                <a:cubicBezTo>
                  <a:pt x="343168" y="444431"/>
                  <a:pt x="330398" y="457200"/>
                  <a:pt x="314593" y="457200"/>
                </a:cubicBezTo>
                <a:lnTo>
                  <a:pt x="143143" y="457200"/>
                </a:lnTo>
                <a:cubicBezTo>
                  <a:pt x="127337" y="457200"/>
                  <a:pt x="114568" y="444431"/>
                  <a:pt x="114568" y="428625"/>
                </a:cubicBezTo>
                <a:cubicBezTo>
                  <a:pt x="114568" y="412819"/>
                  <a:pt x="127337" y="400050"/>
                  <a:pt x="143143" y="400050"/>
                </a:cubicBezTo>
                <a:lnTo>
                  <a:pt x="200293" y="400050"/>
                </a:lnTo>
                <a:lnTo>
                  <a:pt x="200293" y="334774"/>
                </a:lnTo>
                <a:cubicBezTo>
                  <a:pt x="186005" y="327898"/>
                  <a:pt x="168235" y="315129"/>
                  <a:pt x="150912" y="291644"/>
                </a:cubicBezTo>
                <a:cubicBezTo>
                  <a:pt x="134481" y="287357"/>
                  <a:pt x="116622" y="280839"/>
                  <a:pt x="99209" y="271016"/>
                </a:cubicBezTo>
                <a:cubicBezTo>
                  <a:pt x="50899" y="243959"/>
                  <a:pt x="7322" y="192971"/>
                  <a:pt x="1072" y="101441"/>
                </a:cubicBezTo>
                <a:cubicBezTo>
                  <a:pt x="-625" y="76349"/>
                  <a:pt x="19824" y="57061"/>
                  <a:pt x="43130" y="57061"/>
                </a:cubicBezTo>
                <a:lnTo>
                  <a:pt x="87422" y="57061"/>
                </a:lnTo>
                <a:cubicBezTo>
                  <a:pt x="87154" y="52417"/>
                  <a:pt x="86975" y="47774"/>
                  <a:pt x="86797" y="42952"/>
                </a:cubicBezTo>
                <a:cubicBezTo>
                  <a:pt x="85904" y="19288"/>
                  <a:pt x="105192" y="-89"/>
                  <a:pt x="128855" y="-89"/>
                </a:cubicBezTo>
                <a:close/>
                <a:moveTo>
                  <a:pt x="90636" y="100013"/>
                </a:moveTo>
                <a:lnTo>
                  <a:pt x="43845" y="100013"/>
                </a:lnTo>
                <a:cubicBezTo>
                  <a:pt x="49381" y="175647"/>
                  <a:pt x="84118" y="213509"/>
                  <a:pt x="119926" y="233601"/>
                </a:cubicBezTo>
                <a:cubicBezTo>
                  <a:pt x="107067" y="200293"/>
                  <a:pt x="96441" y="156805"/>
                  <a:pt x="90636" y="100013"/>
                </a:cubicBezTo>
                <a:close/>
                <a:moveTo>
                  <a:pt x="339328" y="229314"/>
                </a:moveTo>
                <a:cubicBezTo>
                  <a:pt x="375493" y="208062"/>
                  <a:pt x="408176" y="170289"/>
                  <a:pt x="413712" y="100013"/>
                </a:cubicBezTo>
                <a:lnTo>
                  <a:pt x="367010" y="100013"/>
                </a:lnTo>
                <a:cubicBezTo>
                  <a:pt x="361474" y="154394"/>
                  <a:pt x="351473" y="196632"/>
                  <a:pt x="339328" y="229314"/>
                </a:cubicBezTo>
                <a:close/>
              </a:path>
            </a:pathLst>
          </a:custGeom>
          <a:solidFill>
            <a:srgbClr val="B45309"/>
          </a:solidFill>
          <a:ln/>
        </p:spPr>
      </p:sp>
      <p:sp>
        <p:nvSpPr>
          <p:cNvPr id="14" name="Text 12"/>
          <p:cNvSpPr/>
          <p:nvPr/>
        </p:nvSpPr>
        <p:spPr>
          <a:xfrm>
            <a:off x="11049000" y="2222500"/>
            <a:ext cx="4191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One of the </a:t>
            </a:r>
            <a:pPr>
              <a:lnSpc>
                <a:spcPct val="140000"/>
              </a:lnSpc>
            </a:pPr>
            <a:r>
              <a:rPr lang="en-US" sz="1500" b="1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most robust findings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in multimedia learning research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62000" y="3429000"/>
            <a:ext cx="635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b="1" dirty="0">
                <a:solidFill>
                  <a:srgbClr val="1C191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Effect Sizes by Material Type</a:t>
            </a:r>
            <a:endParaRPr lang="en-US" sz="2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4000500"/>
          <a:ext cx="14732000" cy="2794000"/>
        </p:xfrm>
        <a:graphic>
          <a:graphicData uri="http://schemas.openxmlformats.org/drawingml/2006/table">
            <a:tbl>
              <a:tblPr/>
              <a:tblGrid>
                <a:gridCol w="5156200"/>
                <a:gridCol w="2946400"/>
                <a:gridCol w="2946400"/>
                <a:gridCol w="3683000"/>
              </a:tblGrid>
              <a:tr h="698500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Material Type Eliminated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530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Comparisons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530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Effect Size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530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Interpretation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5309"/>
                    </a:solidFill>
                  </a:tcPr>
                </a:tc>
              </a:tr>
              <a:tr h="6985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C1917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Irrelevant words from text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C1917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3 of 3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C2410C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1.47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C1917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Very large effect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2"/>
                    </a:solidFill>
                  </a:tcPr>
                </a:tc>
              </a:tr>
              <a:tr h="6985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C1917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Irrelevant graphics from lessons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C1917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6 of 6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C2410C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1.66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C1917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Very large effect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8"/>
                    </a:solidFill>
                  </a:tcPr>
                </a:tc>
              </a:tr>
              <a:tr h="6985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C1917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Background sounds and music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C1917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2 of 2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C2410C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1.11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C1917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Large effect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2"/>
                    </a:solidFill>
                  </a:tcPr>
                </a:tc>
              </a:tr>
            </a:tbl>
          </a:graphicData>
        </a:graphic>
      </p:graphicFrame>
      <p:sp>
        <p:nvSpPr>
          <p:cNvPr id="17" name="Shape 14"/>
          <p:cNvSpPr/>
          <p:nvPr/>
        </p:nvSpPr>
        <p:spPr>
          <a:xfrm>
            <a:off x="762000" y="7112000"/>
            <a:ext cx="14732000" cy="889000"/>
          </a:xfrm>
          <a:prstGeom prst="rect">
            <a:avLst/>
          </a:prstGeom>
          <a:solidFill>
            <a:srgbClr val="B45309">
              <a:alpha val="8235"/>
            </a:srgbClr>
          </a:solidFill>
          <a:ln/>
        </p:spPr>
      </p:sp>
      <p:sp>
        <p:nvSpPr>
          <p:cNvPr id="18" name="Shape 15"/>
          <p:cNvSpPr/>
          <p:nvPr/>
        </p:nvSpPr>
        <p:spPr>
          <a:xfrm>
            <a:off x="1060450" y="7327900"/>
            <a:ext cx="266700" cy="355600"/>
          </a:xfrm>
          <a:custGeom>
            <a:avLst/>
            <a:gdLst/>
            <a:ahLst/>
            <a:cxnLst/>
            <a:rect l="l" t="t" r="r" b="b"/>
            <a:pathLst>
              <a:path w="266700" h="355600">
                <a:moveTo>
                  <a:pt x="203428" y="266700"/>
                </a:moveTo>
                <a:cubicBezTo>
                  <a:pt x="208498" y="251212"/>
                  <a:pt x="218638" y="237182"/>
                  <a:pt x="230098" y="225098"/>
                </a:cubicBezTo>
                <a:cubicBezTo>
                  <a:pt x="252809" y="201206"/>
                  <a:pt x="266700" y="168910"/>
                  <a:pt x="266700" y="133350"/>
                </a:cubicBezTo>
                <a:cubicBezTo>
                  <a:pt x="266700" y="59730"/>
                  <a:pt x="206970" y="0"/>
                  <a:pt x="133350" y="0"/>
                </a:cubicBezTo>
                <a:cubicBezTo>
                  <a:pt x="59730" y="0"/>
                  <a:pt x="0" y="59730"/>
                  <a:pt x="0" y="133350"/>
                </a:cubicBezTo>
                <a:cubicBezTo>
                  <a:pt x="0" y="168910"/>
                  <a:pt x="13891" y="201206"/>
                  <a:pt x="36602" y="225098"/>
                </a:cubicBezTo>
                <a:cubicBezTo>
                  <a:pt x="48062" y="237182"/>
                  <a:pt x="58271" y="251212"/>
                  <a:pt x="63272" y="266700"/>
                </a:cubicBezTo>
                <a:lnTo>
                  <a:pt x="203359" y="266700"/>
                </a:lnTo>
                <a:close/>
                <a:moveTo>
                  <a:pt x="200025" y="300038"/>
                </a:moveTo>
                <a:lnTo>
                  <a:pt x="66675" y="300038"/>
                </a:lnTo>
                <a:lnTo>
                  <a:pt x="66675" y="311150"/>
                </a:lnTo>
                <a:cubicBezTo>
                  <a:pt x="66675" y="341848"/>
                  <a:pt x="91539" y="366712"/>
                  <a:pt x="122238" y="366712"/>
                </a:cubicBezTo>
                <a:lnTo>
                  <a:pt x="144463" y="366712"/>
                </a:lnTo>
                <a:cubicBezTo>
                  <a:pt x="175161" y="366712"/>
                  <a:pt x="200025" y="341848"/>
                  <a:pt x="200025" y="311150"/>
                </a:cubicBezTo>
                <a:lnTo>
                  <a:pt x="200025" y="300038"/>
                </a:lnTo>
                <a:close/>
                <a:moveTo>
                  <a:pt x="127794" y="77788"/>
                </a:moveTo>
                <a:cubicBezTo>
                  <a:pt x="100151" y="77788"/>
                  <a:pt x="77788" y="100151"/>
                  <a:pt x="77788" y="127794"/>
                </a:cubicBezTo>
                <a:cubicBezTo>
                  <a:pt x="77788" y="137031"/>
                  <a:pt x="70356" y="144463"/>
                  <a:pt x="61119" y="144463"/>
                </a:cubicBezTo>
                <a:cubicBezTo>
                  <a:pt x="51881" y="144463"/>
                  <a:pt x="44450" y="137031"/>
                  <a:pt x="44450" y="127794"/>
                </a:cubicBezTo>
                <a:cubicBezTo>
                  <a:pt x="44450" y="81746"/>
                  <a:pt x="81746" y="44450"/>
                  <a:pt x="127794" y="44450"/>
                </a:cubicBezTo>
                <a:cubicBezTo>
                  <a:pt x="137031" y="44450"/>
                  <a:pt x="144463" y="51881"/>
                  <a:pt x="144463" y="61119"/>
                </a:cubicBezTo>
                <a:cubicBezTo>
                  <a:pt x="144463" y="70356"/>
                  <a:pt x="137031" y="77788"/>
                  <a:pt x="127794" y="77788"/>
                </a:cubicBezTo>
                <a:close/>
              </a:path>
            </a:pathLst>
          </a:custGeom>
          <a:solidFill>
            <a:srgbClr val="B45309"/>
          </a:solidFill>
          <a:ln/>
        </p:spPr>
      </p:sp>
      <p:sp>
        <p:nvSpPr>
          <p:cNvPr id="19" name="Text 16"/>
          <p:cNvSpPr/>
          <p:nvPr/>
        </p:nvSpPr>
        <p:spPr>
          <a:xfrm>
            <a:off x="1524000" y="7175500"/>
            <a:ext cx="13716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Finding: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Students in concise groups consistently outperformed expanded groups on transfer tests across all 11 comparisons.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762000" y="8255000"/>
            <a:ext cx="1016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78716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Source: Mayer, R. E. &amp; Fiorella, L. (2014). Cambridge Handbook of Multimedia Learning, Ch. 12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14986000" y="86360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78716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08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3175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200" kern="0" dirty="0">
                <a:solidFill>
                  <a:srgbClr val="B4530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COHERENCE PRINCIPLE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62000" y="6350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B4530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Application Techniques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1206500"/>
            <a:ext cx="14732000" cy="12700"/>
          </a:xfrm>
          <a:prstGeom prst="rect">
            <a:avLst/>
          </a:prstGeom>
          <a:solidFill>
            <a:srgbClr val="E7E5E4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1498600"/>
            <a:ext cx="457200" cy="45720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7" name="Text 5"/>
          <p:cNvSpPr/>
          <p:nvPr/>
        </p:nvSpPr>
        <p:spPr>
          <a:xfrm>
            <a:off x="762000" y="14986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97000" y="14986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Weeding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97000" y="1905000"/>
            <a:ext cx="5842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Systematically remove all material not directly related to learning objectives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62000" y="2768600"/>
            <a:ext cx="457200" cy="45720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11" name="Text 9"/>
          <p:cNvSpPr/>
          <p:nvPr/>
        </p:nvSpPr>
        <p:spPr>
          <a:xfrm>
            <a:off x="762000" y="27686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97000" y="27686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Simplify Visuals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397000" y="3175000"/>
            <a:ext cx="5842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 simple diagrams and infographics instead of decorative images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62000" y="4038600"/>
            <a:ext cx="457200" cy="45720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15" name="Text 13"/>
          <p:cNvSpPr/>
          <p:nvPr/>
        </p:nvSpPr>
        <p:spPr>
          <a:xfrm>
            <a:off x="762000" y="40386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397000" y="40386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Streamline Text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97000" y="4445000"/>
            <a:ext cx="5842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Remove interesting but irrelevant facts and lengthy descriptions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8382000" y="1498600"/>
            <a:ext cx="457200" cy="45720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19" name="Text 17"/>
          <p:cNvSpPr/>
          <p:nvPr/>
        </p:nvSpPr>
        <p:spPr>
          <a:xfrm>
            <a:off x="8382000" y="14986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017000" y="14986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Eliminate Audio Distractions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017000" y="1905000"/>
            <a:ext cx="6223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Remove background music and unnecessary sound effects from instructional content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8382000" y="2768600"/>
            <a:ext cx="457200" cy="45720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23" name="Text 21"/>
          <p:cNvSpPr/>
          <p:nvPr/>
        </p:nvSpPr>
        <p:spPr>
          <a:xfrm>
            <a:off x="8382000" y="27686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017000" y="27686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Focus on Essentials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017000" y="3175000"/>
            <a:ext cx="6223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Every word, image, and sound must serve the learning objective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762000" y="5461000"/>
            <a:ext cx="14732000" cy="1270000"/>
          </a:xfrm>
          <a:prstGeom prst="rect">
            <a:avLst/>
          </a:prstGeom>
          <a:solidFill>
            <a:srgbClr val="F5F0E8"/>
          </a:solidFill>
          <a:ln/>
        </p:spPr>
      </p:sp>
      <p:sp>
        <p:nvSpPr>
          <p:cNvPr id="27" name="Shape 25"/>
          <p:cNvSpPr/>
          <p:nvPr/>
        </p:nvSpPr>
        <p:spPr>
          <a:xfrm>
            <a:off x="1054100" y="5778500"/>
            <a:ext cx="457200" cy="406400"/>
          </a:xfrm>
          <a:custGeom>
            <a:avLst/>
            <a:gdLst/>
            <a:ahLst/>
            <a:cxnLst/>
            <a:rect l="l" t="t" r="r" b="b"/>
            <a:pathLst>
              <a:path w="457200" h="406400">
                <a:moveTo>
                  <a:pt x="245666" y="-15002"/>
                </a:moveTo>
                <a:cubicBezTo>
                  <a:pt x="242411" y="-21352"/>
                  <a:pt x="235823" y="-25400"/>
                  <a:pt x="228679" y="-25400"/>
                </a:cubicBezTo>
                <a:cubicBezTo>
                  <a:pt x="221536" y="-25400"/>
                  <a:pt x="214948" y="-21352"/>
                  <a:pt x="211693" y="-15002"/>
                </a:cubicBezTo>
                <a:lnTo>
                  <a:pt x="153273" y="99457"/>
                </a:lnTo>
                <a:lnTo>
                  <a:pt x="26353" y="119618"/>
                </a:lnTo>
                <a:cubicBezTo>
                  <a:pt x="19288" y="120729"/>
                  <a:pt x="13414" y="125730"/>
                  <a:pt x="11192" y="132556"/>
                </a:cubicBezTo>
                <a:cubicBezTo>
                  <a:pt x="8969" y="139383"/>
                  <a:pt x="10795" y="146844"/>
                  <a:pt x="15796" y="151924"/>
                </a:cubicBezTo>
                <a:lnTo>
                  <a:pt x="106601" y="242808"/>
                </a:lnTo>
                <a:lnTo>
                  <a:pt x="86598" y="369729"/>
                </a:lnTo>
                <a:cubicBezTo>
                  <a:pt x="85487" y="376793"/>
                  <a:pt x="88424" y="383937"/>
                  <a:pt x="94218" y="388144"/>
                </a:cubicBezTo>
                <a:cubicBezTo>
                  <a:pt x="100013" y="392351"/>
                  <a:pt x="107633" y="392986"/>
                  <a:pt x="114062" y="389731"/>
                </a:cubicBezTo>
                <a:lnTo>
                  <a:pt x="228679" y="331470"/>
                </a:lnTo>
                <a:lnTo>
                  <a:pt x="343218" y="389731"/>
                </a:lnTo>
                <a:cubicBezTo>
                  <a:pt x="349568" y="392986"/>
                  <a:pt x="357267" y="392351"/>
                  <a:pt x="363061" y="388144"/>
                </a:cubicBezTo>
                <a:cubicBezTo>
                  <a:pt x="368856" y="383937"/>
                  <a:pt x="371793" y="376873"/>
                  <a:pt x="370681" y="369729"/>
                </a:cubicBezTo>
                <a:lnTo>
                  <a:pt x="350599" y="242808"/>
                </a:lnTo>
                <a:lnTo>
                  <a:pt x="441404" y="151924"/>
                </a:lnTo>
                <a:cubicBezTo>
                  <a:pt x="446484" y="146844"/>
                  <a:pt x="448231" y="139383"/>
                  <a:pt x="446008" y="132556"/>
                </a:cubicBezTo>
                <a:cubicBezTo>
                  <a:pt x="443786" y="125730"/>
                  <a:pt x="437991" y="120729"/>
                  <a:pt x="430847" y="119618"/>
                </a:cubicBezTo>
                <a:lnTo>
                  <a:pt x="304006" y="99457"/>
                </a:lnTo>
                <a:lnTo>
                  <a:pt x="245666" y="-15002"/>
                </a:lnTo>
                <a:close/>
              </a:path>
            </a:pathLst>
          </a:custGeom>
          <a:solidFill>
            <a:srgbClr val="B45309"/>
          </a:solidFill>
          <a:ln/>
        </p:spPr>
      </p:sp>
      <p:sp>
        <p:nvSpPr>
          <p:cNvPr id="28" name="Text 26"/>
          <p:cNvSpPr/>
          <p:nvPr/>
        </p:nvSpPr>
        <p:spPr>
          <a:xfrm>
            <a:off x="1651000" y="55880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B4530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Golden Rule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651000" y="5994400"/>
            <a:ext cx="13462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i="1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"If in doubt, leave it out."</a:t>
            </a:r>
            <a:pPr>
              <a:lnSpc>
                <a:spcPct val="140000"/>
              </a:lnSpc>
            </a:pPr>
            <a:r>
              <a:rPr lang="en-US" sz="18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When designing multimedia, less is often more. Every element should earn its place.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762000" y="70485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Quick Checklist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62000" y="7493000"/>
            <a:ext cx="14732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B4530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Does this word/image/sound support the learning objective? 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B4530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Would removing it harm understanding? 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B4530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Is it essential or merely decorative?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4986000" y="86360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78716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09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3175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200" kern="0" dirty="0">
                <a:solidFill>
                  <a:srgbClr val="B4530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COHERENCE PRINCIPLE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62000" y="6350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B4530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Before &amp; After Examples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1206500"/>
            <a:ext cx="14732000" cy="12700"/>
          </a:xfrm>
          <a:prstGeom prst="rect">
            <a:avLst/>
          </a:prstGeom>
          <a:solidFill>
            <a:srgbClr val="E7E5E4"/>
          </a:solidFill>
          <a:ln/>
        </p:spPr>
      </p:sp>
      <p:sp>
        <p:nvSpPr>
          <p:cNvPr id="6" name="Text 4"/>
          <p:cNvSpPr/>
          <p:nvPr/>
        </p:nvSpPr>
        <p:spPr>
          <a:xfrm>
            <a:off x="762000" y="14224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B4530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EXAMPLE 1: TEXT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62000" y="1803400"/>
            <a:ext cx="7048500" cy="1206500"/>
          </a:xfrm>
          <a:prstGeom prst="rect">
            <a:avLst/>
          </a:prstGeom>
          <a:solidFill>
            <a:srgbClr val="C2410C">
              <a:alpha val="8235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952500" y="1866900"/>
            <a:ext cx="1016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C2410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BEFORE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52500" y="2159000"/>
            <a:ext cx="6667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"Lightning has fascinated humans since ancient times. The Greeks believed it was Zeus's weapon..." 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78716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[irrelevant historical facts]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064500" y="1803400"/>
            <a:ext cx="7429500" cy="1206500"/>
          </a:xfrm>
          <a:prstGeom prst="rect">
            <a:avLst/>
          </a:prstGeom>
          <a:solidFill>
            <a:srgbClr val="16A34A">
              <a:alpha val="8235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8255000" y="1866900"/>
            <a:ext cx="1016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16A3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AFTER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255000" y="2159000"/>
            <a:ext cx="7048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"Lightning forms when negative charges at the bottom of a cloud are attracted to positive charges on the ground..." 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78716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[essential explanation only]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62000" y="3200400"/>
            <a:ext cx="3175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B4530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EXAMPLE 2: GRAPHICS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62000" y="3581400"/>
            <a:ext cx="7048500" cy="889000"/>
          </a:xfrm>
          <a:prstGeom prst="rect">
            <a:avLst/>
          </a:prstGeom>
          <a:solidFill>
            <a:srgbClr val="C2410C">
              <a:alpha val="8235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952500" y="3644900"/>
            <a:ext cx="1016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C2410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BEFORE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52500" y="3937000"/>
            <a:ext cx="66675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Decorative clip art of smiling students scattered around a statistics lesson slide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8064500" y="3581400"/>
            <a:ext cx="7429500" cy="889000"/>
          </a:xfrm>
          <a:prstGeom prst="rect">
            <a:avLst/>
          </a:prstGeom>
          <a:solidFill>
            <a:srgbClr val="16A34A">
              <a:alpha val="8235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8255000" y="3644900"/>
            <a:ext cx="1016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16A3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AFTER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255000" y="3937000"/>
            <a:ext cx="70485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Clean data visualizations directly relevant to the statistical concepts being taught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62000" y="4699000"/>
            <a:ext cx="3175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B4530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EXAMPLE 3: AUDIO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62000" y="5080000"/>
            <a:ext cx="7048500" cy="1041400"/>
          </a:xfrm>
          <a:prstGeom prst="rect">
            <a:avLst/>
          </a:prstGeom>
          <a:solidFill>
            <a:srgbClr val="C2410C">
              <a:alpha val="8235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952500" y="5118100"/>
            <a:ext cx="1016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C2410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BEFORE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52500" y="5435600"/>
            <a:ext cx="66675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Narrated animation about scientific processes with background music and sound effects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8064500" y="5080000"/>
            <a:ext cx="7429500" cy="889000"/>
          </a:xfrm>
          <a:prstGeom prst="rect">
            <a:avLst/>
          </a:prstGeom>
          <a:solidFill>
            <a:srgbClr val="16A34A">
              <a:alpha val="8235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8255000" y="5143500"/>
            <a:ext cx="1016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16A3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AFTER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255000" y="5435600"/>
            <a:ext cx="70485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Same narration and animation with all background music and sound effects removed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762000" y="6350000"/>
            <a:ext cx="14732000" cy="1397000"/>
          </a:xfrm>
          <a:prstGeom prst="rect">
            <a:avLst/>
          </a:prstGeom>
          <a:solidFill>
            <a:srgbClr val="B45309">
              <a:alpha val="8235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1016000" y="6667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44450" y="44450"/>
                </a:moveTo>
                <a:cubicBezTo>
                  <a:pt x="44450" y="32157"/>
                  <a:pt x="34518" y="22225"/>
                  <a:pt x="22225" y="22225"/>
                </a:cubicBezTo>
                <a:cubicBezTo>
                  <a:pt x="9932" y="22225"/>
                  <a:pt x="0" y="32157"/>
                  <a:pt x="0" y="44450"/>
                </a:cubicBezTo>
                <a:lnTo>
                  <a:pt x="0" y="277813"/>
                </a:lnTo>
                <a:cubicBezTo>
                  <a:pt x="0" y="308511"/>
                  <a:pt x="24864" y="333375"/>
                  <a:pt x="55563" y="333375"/>
                </a:cubicBezTo>
                <a:lnTo>
                  <a:pt x="333375" y="333375"/>
                </a:lnTo>
                <a:cubicBezTo>
                  <a:pt x="345668" y="333375"/>
                  <a:pt x="355600" y="323443"/>
                  <a:pt x="355600" y="311150"/>
                </a:cubicBezTo>
                <a:cubicBezTo>
                  <a:pt x="355600" y="298857"/>
                  <a:pt x="345668" y="288925"/>
                  <a:pt x="333375" y="288925"/>
                </a:cubicBezTo>
                <a:lnTo>
                  <a:pt x="55563" y="288925"/>
                </a:lnTo>
                <a:cubicBezTo>
                  <a:pt x="49451" y="288925"/>
                  <a:pt x="44450" y="283924"/>
                  <a:pt x="44450" y="277813"/>
                </a:cubicBezTo>
                <a:lnTo>
                  <a:pt x="44450" y="44450"/>
                </a:lnTo>
                <a:close/>
                <a:moveTo>
                  <a:pt x="326846" y="104596"/>
                </a:moveTo>
                <a:cubicBezTo>
                  <a:pt x="335528" y="95915"/>
                  <a:pt x="335528" y="81816"/>
                  <a:pt x="326846" y="73134"/>
                </a:cubicBezTo>
                <a:cubicBezTo>
                  <a:pt x="318165" y="64453"/>
                  <a:pt x="304066" y="64453"/>
                  <a:pt x="295384" y="73134"/>
                </a:cubicBezTo>
                <a:lnTo>
                  <a:pt x="222250" y="146338"/>
                </a:lnTo>
                <a:lnTo>
                  <a:pt x="182384" y="106541"/>
                </a:lnTo>
                <a:cubicBezTo>
                  <a:pt x="173702" y="97859"/>
                  <a:pt x="159603" y="97859"/>
                  <a:pt x="150922" y="106541"/>
                </a:cubicBezTo>
                <a:lnTo>
                  <a:pt x="84247" y="173216"/>
                </a:lnTo>
                <a:cubicBezTo>
                  <a:pt x="75565" y="181898"/>
                  <a:pt x="75565" y="195997"/>
                  <a:pt x="84247" y="204678"/>
                </a:cubicBezTo>
                <a:cubicBezTo>
                  <a:pt x="92928" y="213360"/>
                  <a:pt x="107027" y="213360"/>
                  <a:pt x="115709" y="204678"/>
                </a:cubicBezTo>
                <a:lnTo>
                  <a:pt x="166688" y="153700"/>
                </a:lnTo>
                <a:lnTo>
                  <a:pt x="206554" y="193566"/>
                </a:lnTo>
                <a:cubicBezTo>
                  <a:pt x="215235" y="202248"/>
                  <a:pt x="229334" y="202248"/>
                  <a:pt x="238016" y="193566"/>
                </a:cubicBezTo>
                <a:lnTo>
                  <a:pt x="326916" y="104666"/>
                </a:lnTo>
                <a:close/>
              </a:path>
            </a:pathLst>
          </a:custGeom>
          <a:solidFill>
            <a:srgbClr val="B45309"/>
          </a:solidFill>
          <a:ln/>
        </p:spPr>
      </p:sp>
      <p:sp>
        <p:nvSpPr>
          <p:cNvPr id="29" name="Text 27"/>
          <p:cNvSpPr/>
          <p:nvPr/>
        </p:nvSpPr>
        <p:spPr>
          <a:xfrm>
            <a:off x="1524000" y="64770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B4530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Consistent Result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524000" y="6921500"/>
            <a:ext cx="13716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 all tested cases,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concise versions consistently produced better learning outcomes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than embellished versions on transfer tests. Less truly is more.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4986000" y="86360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78716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C19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irl5c2knzosr6/mnt/agents/output/multimedia-production-w6/images/1_Spotlight_Background_Flyers_Template.png">    </p:cNvPr>
          <p:cNvPicPr>
            <a:picLocks noChangeAspect="1"/>
          </p:cNvPicPr>
          <p:nvPr/>
        </p:nvPicPr>
        <p:blipFill>
          <a:blip r:embed="rId1"/>
          <a:srcRect l="0" r="0" t="13569" b="13569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1C1917">
                  <a:alpha val="90000"/>
                </a:srgbClr>
              </a:gs>
              <a:gs pos="60000">
                <a:srgbClr val="1C1917">
                  <a:alpha val="80000"/>
                </a:srgbClr>
              </a:gs>
              <a:gs pos="100000">
                <a:srgbClr val="1C1917">
                  <a:alpha val="50000"/>
                </a:srgbClr>
              </a:gs>
            </a:gsLst>
            <a:lin ang="0" scaled="1"/>
          </a:gradFill>
          <a:ln/>
        </p:spPr>
      </p:sp>
      <p:sp>
        <p:nvSpPr>
          <p:cNvPr id="4" name="Text 1"/>
          <p:cNvSpPr/>
          <p:nvPr/>
        </p:nvSpPr>
        <p:spPr>
          <a:xfrm>
            <a:off x="762000" y="2286000"/>
            <a:ext cx="3810000" cy="1193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dirty="0">
                <a:solidFill>
                  <a:srgbClr val="FFFFFF">
                    <a:alpha val="25098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03</a:t>
            </a:r>
            <a:endParaRPr lang="en-US" sz="7200" dirty="0"/>
          </a:p>
        </p:txBody>
      </p:sp>
      <p:sp>
        <p:nvSpPr>
          <p:cNvPr id="5" name="Shape 2"/>
          <p:cNvSpPr/>
          <p:nvPr/>
        </p:nvSpPr>
        <p:spPr>
          <a:xfrm>
            <a:off x="762000" y="3683000"/>
            <a:ext cx="1016000" cy="3810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6" name="Text 3"/>
          <p:cNvSpPr/>
          <p:nvPr/>
        </p:nvSpPr>
        <p:spPr>
          <a:xfrm>
            <a:off x="762000" y="3937000"/>
            <a:ext cx="762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Signaling Principle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62000" y="4699000"/>
            <a:ext cx="635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FFFFFF">
                    <a:alpha val="70196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Guide Attention to What Matters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3175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200" kern="0" dirty="0">
                <a:solidFill>
                  <a:srgbClr val="B4530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SIGNALING PRINCIPLE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62000" y="635000"/>
            <a:ext cx="1397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B4530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Highlight the Organization of Essential Material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1206500"/>
            <a:ext cx="14732000" cy="12700"/>
          </a:xfrm>
          <a:prstGeom prst="rect">
            <a:avLst/>
          </a:prstGeom>
          <a:solidFill>
            <a:srgbClr val="E7E5E4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1460500"/>
            <a:ext cx="14732000" cy="1016000"/>
          </a:xfrm>
          <a:prstGeom prst="rect">
            <a:avLst/>
          </a:prstGeom>
          <a:solidFill>
            <a:srgbClr val="F5F0E8"/>
          </a:solidFill>
          <a:ln/>
        </p:spPr>
      </p:sp>
      <p:sp>
        <p:nvSpPr>
          <p:cNvPr id="7" name="Shape 5"/>
          <p:cNvSpPr/>
          <p:nvPr/>
        </p:nvSpPr>
        <p:spPr>
          <a:xfrm>
            <a:off x="1041400" y="1676400"/>
            <a:ext cx="355600" cy="406400"/>
          </a:xfrm>
          <a:custGeom>
            <a:avLst/>
            <a:gdLst/>
            <a:ahLst/>
            <a:cxnLst/>
            <a:rect l="l" t="t" r="r" b="b"/>
            <a:pathLst>
              <a:path w="355600" h="406400">
                <a:moveTo>
                  <a:pt x="0" y="171450"/>
                </a:moveTo>
                <a:cubicBezTo>
                  <a:pt x="0" y="118824"/>
                  <a:pt x="42624" y="76200"/>
                  <a:pt x="95250" y="76200"/>
                </a:cubicBezTo>
                <a:lnTo>
                  <a:pt x="101600" y="76200"/>
                </a:lnTo>
                <a:cubicBezTo>
                  <a:pt x="115649" y="76200"/>
                  <a:pt x="127000" y="87551"/>
                  <a:pt x="127000" y="101600"/>
                </a:cubicBezTo>
                <a:cubicBezTo>
                  <a:pt x="127000" y="115649"/>
                  <a:pt x="115649" y="127000"/>
                  <a:pt x="101600" y="127000"/>
                </a:cubicBezTo>
                <a:lnTo>
                  <a:pt x="95250" y="127000"/>
                </a:lnTo>
                <a:cubicBezTo>
                  <a:pt x="70723" y="127000"/>
                  <a:pt x="50800" y="146923"/>
                  <a:pt x="50800" y="171450"/>
                </a:cubicBezTo>
                <a:lnTo>
                  <a:pt x="50800" y="177800"/>
                </a:lnTo>
                <a:lnTo>
                  <a:pt x="101600" y="177800"/>
                </a:lnTo>
                <a:cubicBezTo>
                  <a:pt x="129619" y="177800"/>
                  <a:pt x="152400" y="200581"/>
                  <a:pt x="152400" y="228600"/>
                </a:cubicBezTo>
                <a:lnTo>
                  <a:pt x="152400" y="279400"/>
                </a:lnTo>
                <a:cubicBezTo>
                  <a:pt x="152400" y="307419"/>
                  <a:pt x="129619" y="330200"/>
                  <a:pt x="101600" y="330200"/>
                </a:cubicBezTo>
                <a:lnTo>
                  <a:pt x="50800" y="330200"/>
                </a:lnTo>
                <a:cubicBezTo>
                  <a:pt x="22781" y="330200"/>
                  <a:pt x="0" y="307419"/>
                  <a:pt x="0" y="279400"/>
                </a:cubicBezTo>
                <a:lnTo>
                  <a:pt x="0" y="171450"/>
                </a:lnTo>
                <a:close/>
                <a:moveTo>
                  <a:pt x="203200" y="171450"/>
                </a:moveTo>
                <a:cubicBezTo>
                  <a:pt x="203200" y="118824"/>
                  <a:pt x="245824" y="76200"/>
                  <a:pt x="298450" y="76200"/>
                </a:cubicBezTo>
                <a:lnTo>
                  <a:pt x="304800" y="76200"/>
                </a:lnTo>
                <a:cubicBezTo>
                  <a:pt x="318849" y="76200"/>
                  <a:pt x="330200" y="87551"/>
                  <a:pt x="330200" y="101600"/>
                </a:cubicBezTo>
                <a:cubicBezTo>
                  <a:pt x="330200" y="115649"/>
                  <a:pt x="318849" y="127000"/>
                  <a:pt x="304800" y="127000"/>
                </a:cubicBezTo>
                <a:lnTo>
                  <a:pt x="298450" y="127000"/>
                </a:lnTo>
                <a:cubicBezTo>
                  <a:pt x="273923" y="127000"/>
                  <a:pt x="254000" y="146923"/>
                  <a:pt x="254000" y="171450"/>
                </a:cubicBezTo>
                <a:lnTo>
                  <a:pt x="254000" y="177800"/>
                </a:lnTo>
                <a:lnTo>
                  <a:pt x="304800" y="177800"/>
                </a:lnTo>
                <a:cubicBezTo>
                  <a:pt x="332819" y="177800"/>
                  <a:pt x="355600" y="200581"/>
                  <a:pt x="355600" y="228600"/>
                </a:cubicBezTo>
                <a:lnTo>
                  <a:pt x="355600" y="279400"/>
                </a:lnTo>
                <a:cubicBezTo>
                  <a:pt x="355600" y="307419"/>
                  <a:pt x="332819" y="330200"/>
                  <a:pt x="304800" y="330200"/>
                </a:cubicBezTo>
                <a:lnTo>
                  <a:pt x="254000" y="330200"/>
                </a:lnTo>
                <a:cubicBezTo>
                  <a:pt x="225981" y="330200"/>
                  <a:pt x="203200" y="307419"/>
                  <a:pt x="203200" y="279400"/>
                </a:cubicBezTo>
                <a:lnTo>
                  <a:pt x="203200" y="171450"/>
                </a:lnTo>
                <a:close/>
              </a:path>
            </a:pathLst>
          </a:custGeom>
          <a:solidFill>
            <a:srgbClr val="B45309"/>
          </a:solidFill>
          <a:ln/>
        </p:spPr>
      </p:sp>
      <p:sp>
        <p:nvSpPr>
          <p:cNvPr id="8" name="Text 6"/>
          <p:cNvSpPr/>
          <p:nvPr/>
        </p:nvSpPr>
        <p:spPr>
          <a:xfrm>
            <a:off x="1587500" y="1524000"/>
            <a:ext cx="136525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7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People learn more deeply from a multimedia message when </a:t>
            </a:r>
            <a:pPr>
              <a:lnSpc>
                <a:spcPct val="150000"/>
              </a:lnSpc>
            </a:pPr>
            <a:r>
              <a:rPr lang="en-US" sz="1700" b="1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cues are added</a:t>
            </a:r>
            <a:pPr>
              <a:lnSpc>
                <a:spcPct val="150000"/>
              </a:lnSpc>
            </a:pPr>
            <a:r>
              <a:rPr lang="en-US" sz="17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that highlight the organization of the essential material.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62000" y="2730500"/>
            <a:ext cx="635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b="1" dirty="0">
                <a:solidFill>
                  <a:srgbClr val="1C191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Signaling Helps Two Cognitive Processes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762000" y="3302000"/>
            <a:ext cx="7048500" cy="1270000"/>
          </a:xfrm>
          <a:prstGeom prst="rect">
            <a:avLst/>
          </a:prstGeom>
          <a:solidFill>
            <a:srgbClr val="F5F0E8"/>
          </a:solidFill>
          <a:ln/>
        </p:spPr>
      </p:sp>
      <p:sp>
        <p:nvSpPr>
          <p:cNvPr id="11" name="Shape 9"/>
          <p:cNvSpPr/>
          <p:nvPr/>
        </p:nvSpPr>
        <p:spPr>
          <a:xfrm>
            <a:off x="990600" y="3619500"/>
            <a:ext cx="457200" cy="406400"/>
          </a:xfrm>
          <a:custGeom>
            <a:avLst/>
            <a:gdLst/>
            <a:ahLst/>
            <a:cxnLst/>
            <a:rect l="l" t="t" r="r" b="b"/>
            <a:pathLst>
              <a:path w="457200" h="406400">
                <a:moveTo>
                  <a:pt x="228600" y="-12700"/>
                </a:moveTo>
                <a:cubicBezTo>
                  <a:pt x="242649" y="-12700"/>
                  <a:pt x="254000" y="-1349"/>
                  <a:pt x="254000" y="12700"/>
                </a:cubicBezTo>
                <a:lnTo>
                  <a:pt x="254000" y="27226"/>
                </a:lnTo>
                <a:cubicBezTo>
                  <a:pt x="331867" y="38338"/>
                  <a:pt x="393462" y="99933"/>
                  <a:pt x="404574" y="177800"/>
                </a:cubicBezTo>
                <a:lnTo>
                  <a:pt x="419100" y="177800"/>
                </a:lnTo>
                <a:cubicBezTo>
                  <a:pt x="433149" y="177800"/>
                  <a:pt x="444500" y="189151"/>
                  <a:pt x="444500" y="203200"/>
                </a:cubicBezTo>
                <a:cubicBezTo>
                  <a:pt x="444500" y="217249"/>
                  <a:pt x="433149" y="228600"/>
                  <a:pt x="419100" y="228600"/>
                </a:cubicBezTo>
                <a:lnTo>
                  <a:pt x="404574" y="228600"/>
                </a:lnTo>
                <a:cubicBezTo>
                  <a:pt x="393462" y="306467"/>
                  <a:pt x="331867" y="368062"/>
                  <a:pt x="254000" y="379174"/>
                </a:cubicBezTo>
                <a:lnTo>
                  <a:pt x="254000" y="393700"/>
                </a:lnTo>
                <a:cubicBezTo>
                  <a:pt x="254000" y="407749"/>
                  <a:pt x="242649" y="419100"/>
                  <a:pt x="228600" y="419100"/>
                </a:cubicBezTo>
                <a:cubicBezTo>
                  <a:pt x="214551" y="419100"/>
                  <a:pt x="203200" y="407749"/>
                  <a:pt x="203200" y="393700"/>
                </a:cubicBezTo>
                <a:lnTo>
                  <a:pt x="203200" y="379174"/>
                </a:lnTo>
                <a:cubicBezTo>
                  <a:pt x="125333" y="368062"/>
                  <a:pt x="63738" y="306467"/>
                  <a:pt x="52626" y="228600"/>
                </a:cubicBezTo>
                <a:lnTo>
                  <a:pt x="38100" y="228600"/>
                </a:lnTo>
                <a:cubicBezTo>
                  <a:pt x="24051" y="228600"/>
                  <a:pt x="12700" y="217249"/>
                  <a:pt x="12700" y="203200"/>
                </a:cubicBezTo>
                <a:cubicBezTo>
                  <a:pt x="12700" y="189151"/>
                  <a:pt x="24051" y="177800"/>
                  <a:pt x="38100" y="177800"/>
                </a:cubicBezTo>
                <a:lnTo>
                  <a:pt x="52626" y="177800"/>
                </a:lnTo>
                <a:cubicBezTo>
                  <a:pt x="63738" y="99933"/>
                  <a:pt x="125333" y="38338"/>
                  <a:pt x="203200" y="27226"/>
                </a:cubicBezTo>
                <a:lnTo>
                  <a:pt x="203200" y="12700"/>
                </a:lnTo>
                <a:cubicBezTo>
                  <a:pt x="203200" y="-1349"/>
                  <a:pt x="214551" y="-12700"/>
                  <a:pt x="228600" y="-12700"/>
                </a:cubicBezTo>
                <a:close/>
                <a:moveTo>
                  <a:pt x="104140" y="228600"/>
                </a:moveTo>
                <a:cubicBezTo>
                  <a:pt x="114221" y="278368"/>
                  <a:pt x="153432" y="317579"/>
                  <a:pt x="203200" y="327660"/>
                </a:cubicBezTo>
                <a:lnTo>
                  <a:pt x="203200" y="317500"/>
                </a:lnTo>
                <a:cubicBezTo>
                  <a:pt x="203200" y="303451"/>
                  <a:pt x="214551" y="292100"/>
                  <a:pt x="228600" y="292100"/>
                </a:cubicBezTo>
                <a:cubicBezTo>
                  <a:pt x="242649" y="292100"/>
                  <a:pt x="254000" y="303451"/>
                  <a:pt x="254000" y="317500"/>
                </a:cubicBezTo>
                <a:lnTo>
                  <a:pt x="254000" y="327660"/>
                </a:lnTo>
                <a:cubicBezTo>
                  <a:pt x="303768" y="317579"/>
                  <a:pt x="342979" y="278368"/>
                  <a:pt x="353060" y="228600"/>
                </a:cubicBezTo>
                <a:lnTo>
                  <a:pt x="342900" y="228600"/>
                </a:lnTo>
                <a:cubicBezTo>
                  <a:pt x="328851" y="228600"/>
                  <a:pt x="317500" y="217249"/>
                  <a:pt x="317500" y="203200"/>
                </a:cubicBezTo>
                <a:cubicBezTo>
                  <a:pt x="317500" y="189151"/>
                  <a:pt x="328851" y="177800"/>
                  <a:pt x="342900" y="177800"/>
                </a:cubicBezTo>
                <a:lnTo>
                  <a:pt x="353060" y="177800"/>
                </a:lnTo>
                <a:cubicBezTo>
                  <a:pt x="342979" y="128032"/>
                  <a:pt x="303768" y="88821"/>
                  <a:pt x="254000" y="78740"/>
                </a:cubicBezTo>
                <a:lnTo>
                  <a:pt x="254000" y="88900"/>
                </a:lnTo>
                <a:cubicBezTo>
                  <a:pt x="254000" y="102949"/>
                  <a:pt x="242649" y="114300"/>
                  <a:pt x="228600" y="114300"/>
                </a:cubicBezTo>
                <a:cubicBezTo>
                  <a:pt x="214551" y="114300"/>
                  <a:pt x="203200" y="102949"/>
                  <a:pt x="203200" y="88900"/>
                </a:cubicBezTo>
                <a:lnTo>
                  <a:pt x="203200" y="78740"/>
                </a:lnTo>
                <a:cubicBezTo>
                  <a:pt x="153432" y="88821"/>
                  <a:pt x="114221" y="128032"/>
                  <a:pt x="104140" y="177800"/>
                </a:cubicBezTo>
                <a:lnTo>
                  <a:pt x="114300" y="177800"/>
                </a:lnTo>
                <a:cubicBezTo>
                  <a:pt x="128349" y="177800"/>
                  <a:pt x="139700" y="189151"/>
                  <a:pt x="139700" y="203200"/>
                </a:cubicBezTo>
                <a:cubicBezTo>
                  <a:pt x="139700" y="217249"/>
                  <a:pt x="128349" y="228600"/>
                  <a:pt x="114300" y="228600"/>
                </a:cubicBezTo>
                <a:lnTo>
                  <a:pt x="104140" y="228600"/>
                </a:lnTo>
                <a:close/>
                <a:moveTo>
                  <a:pt x="228600" y="165100"/>
                </a:moveTo>
                <a:cubicBezTo>
                  <a:pt x="249628" y="165100"/>
                  <a:pt x="266700" y="182172"/>
                  <a:pt x="266700" y="203200"/>
                </a:cubicBezTo>
                <a:cubicBezTo>
                  <a:pt x="266700" y="224228"/>
                  <a:pt x="249628" y="241300"/>
                  <a:pt x="228600" y="241300"/>
                </a:cubicBezTo>
                <a:cubicBezTo>
                  <a:pt x="207572" y="241300"/>
                  <a:pt x="190500" y="224228"/>
                  <a:pt x="190500" y="203200"/>
                </a:cubicBezTo>
                <a:cubicBezTo>
                  <a:pt x="190500" y="182172"/>
                  <a:pt x="207572" y="165100"/>
                  <a:pt x="228600" y="165100"/>
                </a:cubicBezTo>
                <a:close/>
              </a:path>
            </a:pathLst>
          </a:custGeom>
          <a:solidFill>
            <a:srgbClr val="B45309"/>
          </a:solidFill>
          <a:ln/>
        </p:spPr>
      </p:sp>
      <p:sp>
        <p:nvSpPr>
          <p:cNvPr id="12" name="Text 10"/>
          <p:cNvSpPr/>
          <p:nvPr/>
        </p:nvSpPr>
        <p:spPr>
          <a:xfrm>
            <a:off x="1587500" y="3429000"/>
            <a:ext cx="254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B4530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Selecting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587500" y="3810000"/>
            <a:ext cx="60325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Helps learners identify and focus on relevant information from the multimedia message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064500" y="3302000"/>
            <a:ext cx="7429500" cy="1270000"/>
          </a:xfrm>
          <a:prstGeom prst="rect">
            <a:avLst/>
          </a:prstGeom>
          <a:solidFill>
            <a:srgbClr val="F5F0E8"/>
          </a:solidFill>
          <a:ln/>
        </p:spPr>
      </p:sp>
      <p:sp>
        <p:nvSpPr>
          <p:cNvPr id="15" name="Shape 13"/>
          <p:cNvSpPr/>
          <p:nvPr/>
        </p:nvSpPr>
        <p:spPr>
          <a:xfrm>
            <a:off x="8318500" y="3619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152400" y="50800"/>
                </a:moveTo>
                <a:cubicBezTo>
                  <a:pt x="152400" y="36751"/>
                  <a:pt x="163751" y="25400"/>
                  <a:pt x="177800" y="25400"/>
                </a:cubicBezTo>
                <a:lnTo>
                  <a:pt x="228600" y="25400"/>
                </a:lnTo>
                <a:cubicBezTo>
                  <a:pt x="242649" y="25400"/>
                  <a:pt x="254000" y="36751"/>
                  <a:pt x="254000" y="50800"/>
                </a:cubicBezTo>
                <a:lnTo>
                  <a:pt x="254000" y="101600"/>
                </a:lnTo>
                <a:cubicBezTo>
                  <a:pt x="254000" y="115649"/>
                  <a:pt x="242649" y="127000"/>
                  <a:pt x="228600" y="127000"/>
                </a:cubicBezTo>
                <a:lnTo>
                  <a:pt x="222250" y="127000"/>
                </a:lnTo>
                <a:lnTo>
                  <a:pt x="222250" y="177800"/>
                </a:lnTo>
                <a:lnTo>
                  <a:pt x="317500" y="177800"/>
                </a:lnTo>
                <a:cubicBezTo>
                  <a:pt x="349091" y="177800"/>
                  <a:pt x="374650" y="203359"/>
                  <a:pt x="374650" y="234950"/>
                </a:cubicBezTo>
                <a:lnTo>
                  <a:pt x="374650" y="279400"/>
                </a:lnTo>
                <a:lnTo>
                  <a:pt x="381000" y="279400"/>
                </a:lnTo>
                <a:cubicBezTo>
                  <a:pt x="395049" y="279400"/>
                  <a:pt x="406400" y="290751"/>
                  <a:pt x="406400" y="304800"/>
                </a:cubicBezTo>
                <a:lnTo>
                  <a:pt x="406400" y="355600"/>
                </a:lnTo>
                <a:cubicBezTo>
                  <a:pt x="406400" y="369649"/>
                  <a:pt x="395049" y="381000"/>
                  <a:pt x="381000" y="381000"/>
                </a:cubicBezTo>
                <a:lnTo>
                  <a:pt x="330200" y="381000"/>
                </a:lnTo>
                <a:cubicBezTo>
                  <a:pt x="316151" y="381000"/>
                  <a:pt x="304800" y="369649"/>
                  <a:pt x="304800" y="355600"/>
                </a:cubicBezTo>
                <a:lnTo>
                  <a:pt x="304800" y="304800"/>
                </a:lnTo>
                <a:cubicBezTo>
                  <a:pt x="304800" y="290751"/>
                  <a:pt x="316151" y="279400"/>
                  <a:pt x="330200" y="279400"/>
                </a:cubicBezTo>
                <a:lnTo>
                  <a:pt x="336550" y="279400"/>
                </a:lnTo>
                <a:lnTo>
                  <a:pt x="336550" y="234950"/>
                </a:lnTo>
                <a:cubicBezTo>
                  <a:pt x="336550" y="224393"/>
                  <a:pt x="328057" y="215900"/>
                  <a:pt x="317500" y="215900"/>
                </a:cubicBezTo>
                <a:lnTo>
                  <a:pt x="222250" y="215900"/>
                </a:lnTo>
                <a:lnTo>
                  <a:pt x="222250" y="279400"/>
                </a:lnTo>
                <a:lnTo>
                  <a:pt x="228600" y="279400"/>
                </a:lnTo>
                <a:cubicBezTo>
                  <a:pt x="242649" y="279400"/>
                  <a:pt x="254000" y="290751"/>
                  <a:pt x="254000" y="304800"/>
                </a:cubicBezTo>
                <a:lnTo>
                  <a:pt x="254000" y="355600"/>
                </a:lnTo>
                <a:cubicBezTo>
                  <a:pt x="254000" y="369649"/>
                  <a:pt x="242649" y="381000"/>
                  <a:pt x="228600" y="381000"/>
                </a:cubicBezTo>
                <a:lnTo>
                  <a:pt x="177800" y="381000"/>
                </a:lnTo>
                <a:cubicBezTo>
                  <a:pt x="163751" y="381000"/>
                  <a:pt x="152400" y="369649"/>
                  <a:pt x="152400" y="355600"/>
                </a:cubicBezTo>
                <a:lnTo>
                  <a:pt x="152400" y="304800"/>
                </a:lnTo>
                <a:cubicBezTo>
                  <a:pt x="152400" y="290751"/>
                  <a:pt x="163751" y="279400"/>
                  <a:pt x="177800" y="279400"/>
                </a:cubicBezTo>
                <a:lnTo>
                  <a:pt x="184150" y="279400"/>
                </a:lnTo>
                <a:lnTo>
                  <a:pt x="184150" y="215900"/>
                </a:lnTo>
                <a:lnTo>
                  <a:pt x="88900" y="215900"/>
                </a:lnTo>
                <a:cubicBezTo>
                  <a:pt x="78343" y="215900"/>
                  <a:pt x="69850" y="224393"/>
                  <a:pt x="69850" y="234950"/>
                </a:cubicBezTo>
                <a:lnTo>
                  <a:pt x="69850" y="279400"/>
                </a:lnTo>
                <a:lnTo>
                  <a:pt x="76200" y="279400"/>
                </a:lnTo>
                <a:cubicBezTo>
                  <a:pt x="90249" y="279400"/>
                  <a:pt x="101600" y="290751"/>
                  <a:pt x="101600" y="304800"/>
                </a:cubicBezTo>
                <a:lnTo>
                  <a:pt x="101600" y="355600"/>
                </a:lnTo>
                <a:cubicBezTo>
                  <a:pt x="101600" y="369649"/>
                  <a:pt x="90249" y="381000"/>
                  <a:pt x="76200" y="381000"/>
                </a:cubicBezTo>
                <a:lnTo>
                  <a:pt x="25400" y="381000"/>
                </a:lnTo>
                <a:cubicBezTo>
                  <a:pt x="11351" y="381000"/>
                  <a:pt x="0" y="369649"/>
                  <a:pt x="0" y="355600"/>
                </a:cubicBezTo>
                <a:lnTo>
                  <a:pt x="0" y="304800"/>
                </a:lnTo>
                <a:cubicBezTo>
                  <a:pt x="0" y="290751"/>
                  <a:pt x="11351" y="279400"/>
                  <a:pt x="25400" y="279400"/>
                </a:cubicBezTo>
                <a:lnTo>
                  <a:pt x="31750" y="279400"/>
                </a:lnTo>
                <a:lnTo>
                  <a:pt x="31750" y="234950"/>
                </a:lnTo>
                <a:cubicBezTo>
                  <a:pt x="31750" y="203359"/>
                  <a:pt x="57309" y="177800"/>
                  <a:pt x="88900" y="177800"/>
                </a:cubicBezTo>
                <a:lnTo>
                  <a:pt x="184150" y="177800"/>
                </a:lnTo>
                <a:lnTo>
                  <a:pt x="184150" y="127000"/>
                </a:lnTo>
                <a:lnTo>
                  <a:pt x="177800" y="127000"/>
                </a:lnTo>
                <a:cubicBezTo>
                  <a:pt x="163751" y="127000"/>
                  <a:pt x="152400" y="115649"/>
                  <a:pt x="152400" y="101600"/>
                </a:cubicBezTo>
                <a:lnTo>
                  <a:pt x="152400" y="50800"/>
                </a:lnTo>
                <a:close/>
              </a:path>
            </a:pathLst>
          </a:custGeom>
          <a:solidFill>
            <a:srgbClr val="B45309"/>
          </a:solidFill>
          <a:ln/>
        </p:spPr>
      </p:sp>
      <p:sp>
        <p:nvSpPr>
          <p:cNvPr id="16" name="Text 14"/>
          <p:cNvSpPr/>
          <p:nvPr/>
        </p:nvSpPr>
        <p:spPr>
          <a:xfrm>
            <a:off x="8890000" y="3429000"/>
            <a:ext cx="254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B4530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Organizing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890000" y="3810000"/>
            <a:ext cx="63500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Helps learners structure selected information into a coherent mental model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62000" y="4889500"/>
            <a:ext cx="508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b="1" dirty="0">
                <a:solidFill>
                  <a:srgbClr val="1C191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Four Types of Signals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762000" y="5461000"/>
            <a:ext cx="101600" cy="10160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20" name="Text 18"/>
          <p:cNvSpPr/>
          <p:nvPr/>
        </p:nvSpPr>
        <p:spPr>
          <a:xfrm>
            <a:off x="1016000" y="5359400"/>
            <a:ext cx="6477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Verbal signals: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Outlines, headings, vocal emphasis on key words in narration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762000" y="6159500"/>
            <a:ext cx="101600" cy="10160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22" name="Text 20"/>
          <p:cNvSpPr/>
          <p:nvPr/>
        </p:nvSpPr>
        <p:spPr>
          <a:xfrm>
            <a:off x="1016000" y="6057900"/>
            <a:ext cx="6477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Visual signals: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Arrows, highlights, color coding on graphics and diagrams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8382000" y="5461000"/>
            <a:ext cx="101600" cy="10160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24" name="Text 22"/>
          <p:cNvSpPr/>
          <p:nvPr/>
        </p:nvSpPr>
        <p:spPr>
          <a:xfrm>
            <a:off x="8636000" y="5359400"/>
            <a:ext cx="6477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Organizational signals: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Maps showing lesson structure, progress indicators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8382000" y="6159500"/>
            <a:ext cx="101600" cy="10160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26" name="Text 24"/>
          <p:cNvSpPr/>
          <p:nvPr/>
        </p:nvSpPr>
        <p:spPr>
          <a:xfrm>
            <a:off x="8636000" y="6057900"/>
            <a:ext cx="6477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Social cues: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Instructor gestures, eye gaze directing attention to key elements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762000" y="6985000"/>
            <a:ext cx="14732000" cy="889000"/>
          </a:xfrm>
          <a:prstGeom prst="rect">
            <a:avLst/>
          </a:prstGeom>
          <a:solidFill>
            <a:srgbClr val="B45309">
              <a:alpha val="8235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1016000" y="72009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355600"/>
                </a:moveTo>
                <a:cubicBezTo>
                  <a:pt x="275930" y="355600"/>
                  <a:pt x="355600" y="275930"/>
                  <a:pt x="355600" y="177800"/>
                </a:cubicBezTo>
                <a:cubicBezTo>
                  <a:pt x="355600" y="79670"/>
                  <a:pt x="275930" y="0"/>
                  <a:pt x="177800" y="0"/>
                </a:cubicBezTo>
                <a:cubicBezTo>
                  <a:pt x="79670" y="0"/>
                  <a:pt x="0" y="79670"/>
                  <a:pt x="0" y="177800"/>
                </a:cubicBezTo>
                <a:cubicBezTo>
                  <a:pt x="0" y="275930"/>
                  <a:pt x="79670" y="355600"/>
                  <a:pt x="177800" y="355600"/>
                </a:cubicBezTo>
                <a:close/>
                <a:moveTo>
                  <a:pt x="155575" y="111125"/>
                </a:moveTo>
                <a:cubicBezTo>
                  <a:pt x="155575" y="98859"/>
                  <a:pt x="165534" y="88900"/>
                  <a:pt x="177800" y="88900"/>
                </a:cubicBezTo>
                <a:cubicBezTo>
                  <a:pt x="190066" y="88900"/>
                  <a:pt x="200025" y="98859"/>
                  <a:pt x="200025" y="111125"/>
                </a:cubicBezTo>
                <a:cubicBezTo>
                  <a:pt x="200025" y="123391"/>
                  <a:pt x="190066" y="133350"/>
                  <a:pt x="177800" y="133350"/>
                </a:cubicBezTo>
                <a:cubicBezTo>
                  <a:pt x="165534" y="133350"/>
                  <a:pt x="155575" y="123391"/>
                  <a:pt x="155575" y="111125"/>
                </a:cubicBezTo>
                <a:close/>
                <a:moveTo>
                  <a:pt x="150019" y="155575"/>
                </a:moveTo>
                <a:lnTo>
                  <a:pt x="183356" y="155575"/>
                </a:lnTo>
                <a:cubicBezTo>
                  <a:pt x="192594" y="155575"/>
                  <a:pt x="200025" y="163006"/>
                  <a:pt x="200025" y="172244"/>
                </a:cubicBezTo>
                <a:lnTo>
                  <a:pt x="200025" y="233363"/>
                </a:lnTo>
                <a:lnTo>
                  <a:pt x="205581" y="233363"/>
                </a:lnTo>
                <a:cubicBezTo>
                  <a:pt x="214819" y="233363"/>
                  <a:pt x="222250" y="240794"/>
                  <a:pt x="222250" y="250031"/>
                </a:cubicBezTo>
                <a:cubicBezTo>
                  <a:pt x="222250" y="259269"/>
                  <a:pt x="214819" y="266700"/>
                  <a:pt x="205581" y="266700"/>
                </a:cubicBezTo>
                <a:lnTo>
                  <a:pt x="150019" y="266700"/>
                </a:lnTo>
                <a:cubicBezTo>
                  <a:pt x="140781" y="266700"/>
                  <a:pt x="133350" y="259269"/>
                  <a:pt x="133350" y="250031"/>
                </a:cubicBezTo>
                <a:cubicBezTo>
                  <a:pt x="133350" y="240794"/>
                  <a:pt x="140781" y="233363"/>
                  <a:pt x="150019" y="233363"/>
                </a:cubicBezTo>
                <a:lnTo>
                  <a:pt x="166688" y="233363"/>
                </a:lnTo>
                <a:lnTo>
                  <a:pt x="166688" y="188913"/>
                </a:lnTo>
                <a:lnTo>
                  <a:pt x="150019" y="188913"/>
                </a:lnTo>
                <a:cubicBezTo>
                  <a:pt x="140781" y="188913"/>
                  <a:pt x="133350" y="181481"/>
                  <a:pt x="133350" y="172244"/>
                </a:cubicBezTo>
                <a:cubicBezTo>
                  <a:pt x="133350" y="163006"/>
                  <a:pt x="140781" y="155575"/>
                  <a:pt x="150019" y="155575"/>
                </a:cubicBezTo>
                <a:close/>
              </a:path>
            </a:pathLst>
          </a:custGeom>
          <a:solidFill>
            <a:srgbClr val="B45309"/>
          </a:solidFill>
          <a:ln/>
        </p:spPr>
      </p:sp>
      <p:sp>
        <p:nvSpPr>
          <p:cNvPr id="29" name="Text 27"/>
          <p:cNvSpPr/>
          <p:nvPr/>
        </p:nvSpPr>
        <p:spPr>
          <a:xfrm>
            <a:off x="1524000" y="7048500"/>
            <a:ext cx="13716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Note: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Signaling is particularly effective when material is complex or contains extraneous elements that cannot be removed.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4986000" y="86360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78716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12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3175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200" kern="0" dirty="0">
                <a:solidFill>
                  <a:srgbClr val="B4530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SIGNALING PRINCIPLE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62000" y="6350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B4530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Research Evidence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1206500"/>
            <a:ext cx="14732000" cy="12700"/>
          </a:xfrm>
          <a:prstGeom prst="rect">
            <a:avLst/>
          </a:prstGeom>
          <a:solidFill>
            <a:srgbClr val="E7E5E4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1460500"/>
            <a:ext cx="4699000" cy="1651000"/>
          </a:xfrm>
          <a:prstGeom prst="rect">
            <a:avLst/>
          </a:prstGeom>
          <a:solidFill>
            <a:srgbClr val="F5F0E8"/>
          </a:solidFill>
          <a:ln/>
        </p:spPr>
      </p:sp>
      <p:sp>
        <p:nvSpPr>
          <p:cNvPr id="7" name="Text 5"/>
          <p:cNvSpPr/>
          <p:nvPr/>
        </p:nvSpPr>
        <p:spPr>
          <a:xfrm>
            <a:off x="1016000" y="1524000"/>
            <a:ext cx="4191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200" b="1" dirty="0">
                <a:solidFill>
                  <a:srgbClr val="B4530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24/28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16000" y="2286000"/>
            <a:ext cx="4191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Experimental tests supported the signaling principle (86% consistency)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778500" y="1460500"/>
            <a:ext cx="4699000" cy="1651000"/>
          </a:xfrm>
          <a:prstGeom prst="rect">
            <a:avLst/>
          </a:prstGeom>
          <a:solidFill>
            <a:srgbClr val="F5F0E8"/>
          </a:solidFill>
          <a:ln/>
        </p:spPr>
      </p:sp>
      <p:sp>
        <p:nvSpPr>
          <p:cNvPr id="10" name="Text 8"/>
          <p:cNvSpPr/>
          <p:nvPr/>
        </p:nvSpPr>
        <p:spPr>
          <a:xfrm>
            <a:off x="6032500" y="1524000"/>
            <a:ext cx="4191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200" b="1" dirty="0">
                <a:solidFill>
                  <a:srgbClr val="B4530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0.41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032500" y="2286000"/>
            <a:ext cx="4191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Median effect size — a medium but meaningful effect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0795000" y="1460500"/>
            <a:ext cx="4699000" cy="1651000"/>
          </a:xfrm>
          <a:prstGeom prst="rect">
            <a:avLst/>
          </a:prstGeom>
          <a:solidFill>
            <a:srgbClr val="F5F0E8"/>
          </a:solidFill>
          <a:ln/>
        </p:spPr>
      </p:sp>
      <p:sp>
        <p:nvSpPr>
          <p:cNvPr id="13" name="Shape 11"/>
          <p:cNvSpPr/>
          <p:nvPr/>
        </p:nvSpPr>
        <p:spPr>
          <a:xfrm>
            <a:off x="11049000" y="1651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57163" y="0"/>
                </a:moveTo>
                <a:cubicBezTo>
                  <a:pt x="133499" y="0"/>
                  <a:pt x="114300" y="19199"/>
                  <a:pt x="114300" y="42863"/>
                </a:cubicBezTo>
                <a:lnTo>
                  <a:pt x="114300" y="228600"/>
                </a:lnTo>
                <a:cubicBezTo>
                  <a:pt x="114300" y="252264"/>
                  <a:pt x="133499" y="271463"/>
                  <a:pt x="157163" y="271463"/>
                </a:cubicBezTo>
                <a:lnTo>
                  <a:pt x="214313" y="271463"/>
                </a:lnTo>
                <a:cubicBezTo>
                  <a:pt x="237976" y="271463"/>
                  <a:pt x="257175" y="252264"/>
                  <a:pt x="257175" y="228600"/>
                </a:cubicBezTo>
                <a:lnTo>
                  <a:pt x="257175" y="171450"/>
                </a:lnTo>
                <a:lnTo>
                  <a:pt x="285750" y="171450"/>
                </a:lnTo>
                <a:cubicBezTo>
                  <a:pt x="348883" y="171450"/>
                  <a:pt x="400050" y="222617"/>
                  <a:pt x="400050" y="285750"/>
                </a:cubicBezTo>
                <a:cubicBezTo>
                  <a:pt x="400050" y="348883"/>
                  <a:pt x="348883" y="400050"/>
                  <a:pt x="285750" y="400050"/>
                </a:cubicBezTo>
                <a:lnTo>
                  <a:pt x="28575" y="400050"/>
                </a:lnTo>
                <a:cubicBezTo>
                  <a:pt x="12769" y="400050"/>
                  <a:pt x="0" y="412819"/>
                  <a:pt x="0" y="428625"/>
                </a:cubicBezTo>
                <a:cubicBezTo>
                  <a:pt x="0" y="444431"/>
                  <a:pt x="12769" y="457200"/>
                  <a:pt x="28575" y="457200"/>
                </a:cubicBezTo>
                <a:lnTo>
                  <a:pt x="428625" y="457200"/>
                </a:lnTo>
                <a:cubicBezTo>
                  <a:pt x="444431" y="457200"/>
                  <a:pt x="457200" y="444431"/>
                  <a:pt x="457200" y="428625"/>
                </a:cubicBezTo>
                <a:cubicBezTo>
                  <a:pt x="457200" y="412819"/>
                  <a:pt x="444431" y="400050"/>
                  <a:pt x="428625" y="400050"/>
                </a:cubicBezTo>
                <a:lnTo>
                  <a:pt x="413534" y="400050"/>
                </a:lnTo>
                <a:cubicBezTo>
                  <a:pt x="440680" y="369689"/>
                  <a:pt x="457200" y="329684"/>
                  <a:pt x="457200" y="285750"/>
                </a:cubicBezTo>
                <a:cubicBezTo>
                  <a:pt x="457200" y="191095"/>
                  <a:pt x="380405" y="114300"/>
                  <a:pt x="285750" y="114300"/>
                </a:cubicBezTo>
                <a:lnTo>
                  <a:pt x="257175" y="114300"/>
                </a:lnTo>
                <a:lnTo>
                  <a:pt x="257175" y="42863"/>
                </a:lnTo>
                <a:cubicBezTo>
                  <a:pt x="257175" y="19199"/>
                  <a:pt x="237976" y="0"/>
                  <a:pt x="214313" y="0"/>
                </a:cubicBezTo>
                <a:lnTo>
                  <a:pt x="157163" y="0"/>
                </a:lnTo>
                <a:close/>
                <a:moveTo>
                  <a:pt x="107156" y="314325"/>
                </a:moveTo>
                <a:cubicBezTo>
                  <a:pt x="95280" y="314325"/>
                  <a:pt x="85725" y="323880"/>
                  <a:pt x="85725" y="335756"/>
                </a:cubicBezTo>
                <a:cubicBezTo>
                  <a:pt x="85725" y="347633"/>
                  <a:pt x="95280" y="357188"/>
                  <a:pt x="107156" y="357188"/>
                </a:cubicBezTo>
                <a:lnTo>
                  <a:pt x="264319" y="357188"/>
                </a:lnTo>
                <a:cubicBezTo>
                  <a:pt x="276195" y="357188"/>
                  <a:pt x="285750" y="347633"/>
                  <a:pt x="285750" y="335756"/>
                </a:cubicBezTo>
                <a:cubicBezTo>
                  <a:pt x="285750" y="323880"/>
                  <a:pt x="276195" y="314325"/>
                  <a:pt x="264319" y="314325"/>
                </a:cubicBezTo>
                <a:lnTo>
                  <a:pt x="107156" y="314325"/>
                </a:lnTo>
                <a:close/>
              </a:path>
            </a:pathLst>
          </a:custGeom>
          <a:solidFill>
            <a:srgbClr val="B45309"/>
          </a:solidFill>
          <a:ln/>
        </p:spPr>
      </p:sp>
      <p:sp>
        <p:nvSpPr>
          <p:cNvPr id="14" name="Text 12"/>
          <p:cNvSpPr/>
          <p:nvPr/>
        </p:nvSpPr>
        <p:spPr>
          <a:xfrm>
            <a:off x="11049000" y="2222500"/>
            <a:ext cx="4191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study by </a:t>
            </a:r>
            <a:pPr>
              <a:lnSpc>
                <a:spcPct val="140000"/>
              </a:lnSpc>
            </a:pPr>
            <a:r>
              <a:rPr lang="en-US" sz="1500" b="1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Mautone &amp; Mayer (2001)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on airplane lift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62000" y="3429000"/>
            <a:ext cx="635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b="1" dirty="0">
                <a:solidFill>
                  <a:srgbClr val="1C191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Key Study: Mautone &amp; Mayer (2001)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762000" y="4000500"/>
            <a:ext cx="14732000" cy="1778000"/>
          </a:xfrm>
          <a:prstGeom prst="rect">
            <a:avLst/>
          </a:prstGeom>
          <a:solidFill>
            <a:srgbClr val="F5F0E8"/>
          </a:solidFill>
          <a:ln/>
        </p:spPr>
      </p:sp>
      <p:sp>
        <p:nvSpPr>
          <p:cNvPr id="17" name="Text 15"/>
          <p:cNvSpPr/>
          <p:nvPr/>
        </p:nvSpPr>
        <p:spPr>
          <a:xfrm>
            <a:off x="1016000" y="4089400"/>
            <a:ext cx="14224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 4-minute narrated animation explaining how airplanes achieve lift contained many extraneous facts and confusing graphics. The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signaled version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guided learners by: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B4530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■</a:t>
            </a:r>
            <a:pPr>
              <a:lnSpc>
                <a:spcPct val="16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Stressing key words in speech </a:t>
            </a:r>
            <a:pPr>
              <a:lnSpc>
                <a:spcPct val="16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B4530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■</a:t>
            </a:r>
            <a:pPr>
              <a:lnSpc>
                <a:spcPct val="16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Adding red and blue arrows to the animation </a:t>
            </a:r>
            <a:pPr>
              <a:lnSpc>
                <a:spcPct val="16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B4530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■</a:t>
            </a:r>
            <a:pPr>
              <a:lnSpc>
                <a:spcPct val="16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Adding an outline and headings </a:t>
            </a:r>
            <a:pPr>
              <a:lnSpc>
                <a:spcPct val="16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B4530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■</a:t>
            </a:r>
            <a:pPr>
              <a:lnSpc>
                <a:spcPct val="16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Adding a map showing lesson structure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62000" y="5867400"/>
            <a:ext cx="14732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700" b="1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Result:</a:t>
            </a:r>
            <a:pPr>
              <a:lnSpc>
                <a:spcPct val="160000"/>
              </a:lnSpc>
            </a:pPr>
            <a:r>
              <a:rPr lang="en-US" sz="17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Signaled group outperformed unsignaled group with an </a:t>
            </a:r>
            <a:pPr>
              <a:lnSpc>
                <a:spcPct val="160000"/>
              </a:lnSpc>
            </a:pPr>
            <a:r>
              <a:rPr lang="en-US" sz="1700" b="1" dirty="0">
                <a:solidFill>
                  <a:srgbClr val="C2410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effect size of 0.74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762000" y="6477000"/>
            <a:ext cx="14732000" cy="1270000"/>
          </a:xfrm>
          <a:prstGeom prst="rect">
            <a:avLst/>
          </a:prstGeom>
          <a:solidFill>
            <a:srgbClr val="B45309">
              <a:alpha val="8235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060450" y="6794500"/>
            <a:ext cx="266700" cy="355600"/>
          </a:xfrm>
          <a:custGeom>
            <a:avLst/>
            <a:gdLst/>
            <a:ahLst/>
            <a:cxnLst/>
            <a:rect l="l" t="t" r="r" b="b"/>
            <a:pathLst>
              <a:path w="266700" h="355600">
                <a:moveTo>
                  <a:pt x="203428" y="266700"/>
                </a:moveTo>
                <a:cubicBezTo>
                  <a:pt x="208498" y="251212"/>
                  <a:pt x="218638" y="237182"/>
                  <a:pt x="230098" y="225098"/>
                </a:cubicBezTo>
                <a:cubicBezTo>
                  <a:pt x="252809" y="201206"/>
                  <a:pt x="266700" y="168910"/>
                  <a:pt x="266700" y="133350"/>
                </a:cubicBezTo>
                <a:cubicBezTo>
                  <a:pt x="266700" y="59730"/>
                  <a:pt x="206970" y="0"/>
                  <a:pt x="133350" y="0"/>
                </a:cubicBezTo>
                <a:cubicBezTo>
                  <a:pt x="59730" y="0"/>
                  <a:pt x="0" y="59730"/>
                  <a:pt x="0" y="133350"/>
                </a:cubicBezTo>
                <a:cubicBezTo>
                  <a:pt x="0" y="168910"/>
                  <a:pt x="13891" y="201206"/>
                  <a:pt x="36602" y="225098"/>
                </a:cubicBezTo>
                <a:cubicBezTo>
                  <a:pt x="48062" y="237182"/>
                  <a:pt x="58271" y="251212"/>
                  <a:pt x="63272" y="266700"/>
                </a:cubicBezTo>
                <a:lnTo>
                  <a:pt x="203359" y="266700"/>
                </a:lnTo>
                <a:close/>
                <a:moveTo>
                  <a:pt x="200025" y="300038"/>
                </a:moveTo>
                <a:lnTo>
                  <a:pt x="66675" y="300038"/>
                </a:lnTo>
                <a:lnTo>
                  <a:pt x="66675" y="311150"/>
                </a:lnTo>
                <a:cubicBezTo>
                  <a:pt x="66675" y="341848"/>
                  <a:pt x="91539" y="366712"/>
                  <a:pt x="122238" y="366712"/>
                </a:cubicBezTo>
                <a:lnTo>
                  <a:pt x="144463" y="366712"/>
                </a:lnTo>
                <a:cubicBezTo>
                  <a:pt x="175161" y="366712"/>
                  <a:pt x="200025" y="341848"/>
                  <a:pt x="200025" y="311150"/>
                </a:cubicBezTo>
                <a:lnTo>
                  <a:pt x="200025" y="300038"/>
                </a:lnTo>
                <a:close/>
                <a:moveTo>
                  <a:pt x="127794" y="77788"/>
                </a:moveTo>
                <a:cubicBezTo>
                  <a:pt x="100151" y="77788"/>
                  <a:pt x="77788" y="100151"/>
                  <a:pt x="77788" y="127794"/>
                </a:cubicBezTo>
                <a:cubicBezTo>
                  <a:pt x="77788" y="137031"/>
                  <a:pt x="70356" y="144463"/>
                  <a:pt x="61119" y="144463"/>
                </a:cubicBezTo>
                <a:cubicBezTo>
                  <a:pt x="51881" y="144463"/>
                  <a:pt x="44450" y="137031"/>
                  <a:pt x="44450" y="127794"/>
                </a:cubicBezTo>
                <a:cubicBezTo>
                  <a:pt x="44450" y="81746"/>
                  <a:pt x="81746" y="44450"/>
                  <a:pt x="127794" y="44450"/>
                </a:cubicBezTo>
                <a:cubicBezTo>
                  <a:pt x="137031" y="44450"/>
                  <a:pt x="144463" y="51881"/>
                  <a:pt x="144463" y="61119"/>
                </a:cubicBezTo>
                <a:cubicBezTo>
                  <a:pt x="144463" y="70356"/>
                  <a:pt x="137031" y="77788"/>
                  <a:pt x="127794" y="77788"/>
                </a:cubicBezTo>
                <a:close/>
              </a:path>
            </a:pathLst>
          </a:custGeom>
          <a:solidFill>
            <a:srgbClr val="B45309"/>
          </a:solidFill>
          <a:ln/>
        </p:spPr>
      </p:sp>
      <p:sp>
        <p:nvSpPr>
          <p:cNvPr id="21" name="Text 19"/>
          <p:cNvSpPr/>
          <p:nvPr/>
        </p:nvSpPr>
        <p:spPr>
          <a:xfrm>
            <a:off x="1524000" y="6578600"/>
            <a:ext cx="508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b="1" dirty="0">
                <a:solidFill>
                  <a:srgbClr val="B4530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Insight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524000" y="6959600"/>
            <a:ext cx="13716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Signaling is especially valuable when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weeding is not feasible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it guides learners through complex material by highlighting what matters most.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62000" y="8255000"/>
            <a:ext cx="1016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78716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Source: Mayer, R. E. &amp; Fiorella, L. (2014). Cambridge Handbook of Multimedia Learning, Ch. 12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4986000" y="86360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78716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13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3175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200" kern="0" dirty="0">
                <a:solidFill>
                  <a:srgbClr val="B4530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SIGNALING PRINCIPLE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62000" y="6350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B4530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Application Techniques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1206500"/>
            <a:ext cx="14732000" cy="12700"/>
          </a:xfrm>
          <a:prstGeom prst="rect">
            <a:avLst/>
          </a:prstGeom>
          <a:solidFill>
            <a:srgbClr val="E7E5E4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1498600"/>
            <a:ext cx="457200" cy="45720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7" name="Text 5"/>
          <p:cNvSpPr/>
          <p:nvPr/>
        </p:nvSpPr>
        <p:spPr>
          <a:xfrm>
            <a:off x="762000" y="14986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97000" y="14986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Visual Cues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97000" y="1905000"/>
            <a:ext cx="5842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 arrows, highlights, circles, and color coding to direct attention to key elements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62000" y="2768600"/>
            <a:ext cx="457200" cy="45720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11" name="Text 9"/>
          <p:cNvSpPr/>
          <p:nvPr/>
        </p:nvSpPr>
        <p:spPr>
          <a:xfrm>
            <a:off x="762000" y="27686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97000" y="27686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Structural Outlines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397000" y="3175000"/>
            <a:ext cx="5842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Begin with an outline slide showing structure; revisit at section transitions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62000" y="4038600"/>
            <a:ext cx="457200" cy="45720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15" name="Text 13"/>
          <p:cNvSpPr/>
          <p:nvPr/>
        </p:nvSpPr>
        <p:spPr>
          <a:xfrm>
            <a:off x="762000" y="40386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397000" y="40386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Verbal Emphasis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97000" y="4445000"/>
            <a:ext cx="5842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Stress key words in narration; use vocal cues to tell students what to look at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8382000" y="1498600"/>
            <a:ext cx="457200" cy="45720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19" name="Text 17"/>
          <p:cNvSpPr/>
          <p:nvPr/>
        </p:nvSpPr>
        <p:spPr>
          <a:xfrm>
            <a:off x="8382000" y="14986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017000" y="14986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Progress Indicators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017000" y="1905000"/>
            <a:ext cx="6223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 maps or progress bars showing which part of the lesson is being presented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8382000" y="2768600"/>
            <a:ext cx="457200" cy="45720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23" name="Text 21"/>
          <p:cNvSpPr/>
          <p:nvPr/>
        </p:nvSpPr>
        <p:spPr>
          <a:xfrm>
            <a:off x="8382000" y="27686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017000" y="27686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Temporal Signaling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017000" y="3175000"/>
            <a:ext cx="6223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Make information appear only when mentioned; dim information already discussed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762000" y="5461000"/>
            <a:ext cx="14732000" cy="1270000"/>
          </a:xfrm>
          <a:prstGeom prst="rect">
            <a:avLst/>
          </a:prstGeom>
          <a:solidFill>
            <a:srgbClr val="F5F0E8"/>
          </a:solidFill>
          <a:ln/>
        </p:spPr>
      </p:sp>
      <p:sp>
        <p:nvSpPr>
          <p:cNvPr id="27" name="Shape 25"/>
          <p:cNvSpPr/>
          <p:nvPr/>
        </p:nvSpPr>
        <p:spPr>
          <a:xfrm>
            <a:off x="1054100" y="5778500"/>
            <a:ext cx="457200" cy="406400"/>
          </a:xfrm>
          <a:custGeom>
            <a:avLst/>
            <a:gdLst/>
            <a:ahLst/>
            <a:cxnLst/>
            <a:rect l="l" t="t" r="r" b="b"/>
            <a:pathLst>
              <a:path w="457200" h="406400">
                <a:moveTo>
                  <a:pt x="245666" y="-15002"/>
                </a:moveTo>
                <a:cubicBezTo>
                  <a:pt x="242411" y="-21352"/>
                  <a:pt x="235823" y="-25400"/>
                  <a:pt x="228679" y="-25400"/>
                </a:cubicBezTo>
                <a:cubicBezTo>
                  <a:pt x="221536" y="-25400"/>
                  <a:pt x="214948" y="-21352"/>
                  <a:pt x="211693" y="-15002"/>
                </a:cubicBezTo>
                <a:lnTo>
                  <a:pt x="153273" y="99457"/>
                </a:lnTo>
                <a:lnTo>
                  <a:pt x="26353" y="119618"/>
                </a:lnTo>
                <a:cubicBezTo>
                  <a:pt x="19288" y="120729"/>
                  <a:pt x="13414" y="125730"/>
                  <a:pt x="11192" y="132556"/>
                </a:cubicBezTo>
                <a:cubicBezTo>
                  <a:pt x="8969" y="139383"/>
                  <a:pt x="10795" y="146844"/>
                  <a:pt x="15796" y="151924"/>
                </a:cubicBezTo>
                <a:lnTo>
                  <a:pt x="106601" y="242808"/>
                </a:lnTo>
                <a:lnTo>
                  <a:pt x="86598" y="369729"/>
                </a:lnTo>
                <a:cubicBezTo>
                  <a:pt x="85487" y="376793"/>
                  <a:pt x="88424" y="383937"/>
                  <a:pt x="94218" y="388144"/>
                </a:cubicBezTo>
                <a:cubicBezTo>
                  <a:pt x="100013" y="392351"/>
                  <a:pt x="107633" y="392986"/>
                  <a:pt x="114062" y="389731"/>
                </a:cubicBezTo>
                <a:lnTo>
                  <a:pt x="228679" y="331470"/>
                </a:lnTo>
                <a:lnTo>
                  <a:pt x="343218" y="389731"/>
                </a:lnTo>
                <a:cubicBezTo>
                  <a:pt x="349568" y="392986"/>
                  <a:pt x="357267" y="392351"/>
                  <a:pt x="363061" y="388144"/>
                </a:cubicBezTo>
                <a:cubicBezTo>
                  <a:pt x="368856" y="383937"/>
                  <a:pt x="371793" y="376873"/>
                  <a:pt x="370681" y="369729"/>
                </a:cubicBezTo>
                <a:lnTo>
                  <a:pt x="350599" y="242808"/>
                </a:lnTo>
                <a:lnTo>
                  <a:pt x="441404" y="151924"/>
                </a:lnTo>
                <a:cubicBezTo>
                  <a:pt x="446484" y="146844"/>
                  <a:pt x="448231" y="139383"/>
                  <a:pt x="446008" y="132556"/>
                </a:cubicBezTo>
                <a:cubicBezTo>
                  <a:pt x="443786" y="125730"/>
                  <a:pt x="437991" y="120729"/>
                  <a:pt x="430847" y="119618"/>
                </a:cubicBezTo>
                <a:lnTo>
                  <a:pt x="304006" y="99457"/>
                </a:lnTo>
                <a:lnTo>
                  <a:pt x="245666" y="-15002"/>
                </a:lnTo>
                <a:close/>
              </a:path>
            </a:pathLst>
          </a:custGeom>
          <a:solidFill>
            <a:srgbClr val="B45309"/>
          </a:solidFill>
          <a:ln/>
        </p:spPr>
      </p:sp>
      <p:sp>
        <p:nvSpPr>
          <p:cNvPr id="28" name="Text 26"/>
          <p:cNvSpPr/>
          <p:nvPr/>
        </p:nvSpPr>
        <p:spPr>
          <a:xfrm>
            <a:off x="1651000" y="55880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B4530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Best Practice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651000" y="5994400"/>
            <a:ext cx="13462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Combine </a:t>
            </a:r>
            <a:pPr>
              <a:lnSpc>
                <a:spcPct val="140000"/>
              </a:lnSpc>
            </a:pPr>
            <a:r>
              <a:rPr lang="en-US" sz="1800" b="1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multiple signal types</a:t>
            </a:r>
            <a:pPr>
              <a:lnSpc>
                <a:spcPct val="140000"/>
              </a:lnSpc>
            </a:pPr>
            <a:r>
              <a:rPr lang="en-US" sz="18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(verbal + visual) for maximum effectiveness. Signals work best when they reinforce each other.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762000" y="70485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Quick Checklist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62000" y="7493000"/>
            <a:ext cx="14732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B4530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Are key points visually highlighted? 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B4530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Is the lesson structure visible to learners? 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B4530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Do signals match the narration timing?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4986000" y="86360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78716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14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3175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200" kern="0" dirty="0">
                <a:solidFill>
                  <a:srgbClr val="B4530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SIGNALING PRINCIPLE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62000" y="6350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B4530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Practical Examples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1206500"/>
            <a:ext cx="14732000" cy="12700"/>
          </a:xfrm>
          <a:prstGeom prst="rect">
            <a:avLst/>
          </a:prstGeom>
          <a:solidFill>
            <a:srgbClr val="E7E5E4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14986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0" y="55563"/>
                </a:moveTo>
                <a:cubicBezTo>
                  <a:pt x="0" y="37157"/>
                  <a:pt x="14932" y="22225"/>
                  <a:pt x="33337" y="22225"/>
                </a:cubicBezTo>
                <a:lnTo>
                  <a:pt x="100013" y="22225"/>
                </a:lnTo>
                <a:cubicBezTo>
                  <a:pt x="118418" y="22225"/>
                  <a:pt x="133350" y="37157"/>
                  <a:pt x="133350" y="55563"/>
                </a:cubicBezTo>
                <a:lnTo>
                  <a:pt x="133350" y="66675"/>
                </a:lnTo>
                <a:lnTo>
                  <a:pt x="222250" y="66675"/>
                </a:lnTo>
                <a:lnTo>
                  <a:pt x="222250" y="55563"/>
                </a:lnTo>
                <a:cubicBezTo>
                  <a:pt x="222250" y="37157"/>
                  <a:pt x="237182" y="22225"/>
                  <a:pt x="255587" y="22225"/>
                </a:cubicBezTo>
                <a:lnTo>
                  <a:pt x="322263" y="22225"/>
                </a:lnTo>
                <a:cubicBezTo>
                  <a:pt x="340668" y="22225"/>
                  <a:pt x="355600" y="37157"/>
                  <a:pt x="355600" y="55563"/>
                </a:cubicBezTo>
                <a:lnTo>
                  <a:pt x="355600" y="122238"/>
                </a:lnTo>
                <a:cubicBezTo>
                  <a:pt x="355600" y="140643"/>
                  <a:pt x="340668" y="155575"/>
                  <a:pt x="322263" y="155575"/>
                </a:cubicBezTo>
                <a:lnTo>
                  <a:pt x="255587" y="155575"/>
                </a:lnTo>
                <a:cubicBezTo>
                  <a:pt x="237182" y="155575"/>
                  <a:pt x="222250" y="140643"/>
                  <a:pt x="222250" y="122238"/>
                </a:cubicBezTo>
                <a:lnTo>
                  <a:pt x="222250" y="111125"/>
                </a:lnTo>
                <a:lnTo>
                  <a:pt x="133350" y="111125"/>
                </a:lnTo>
                <a:lnTo>
                  <a:pt x="133350" y="122238"/>
                </a:lnTo>
                <a:cubicBezTo>
                  <a:pt x="133350" y="127308"/>
                  <a:pt x="132169" y="132169"/>
                  <a:pt x="130155" y="136475"/>
                </a:cubicBezTo>
                <a:lnTo>
                  <a:pt x="177800" y="200025"/>
                </a:lnTo>
                <a:lnTo>
                  <a:pt x="233363" y="200025"/>
                </a:lnTo>
                <a:cubicBezTo>
                  <a:pt x="251768" y="200025"/>
                  <a:pt x="266700" y="214957"/>
                  <a:pt x="266700" y="233363"/>
                </a:cubicBezTo>
                <a:lnTo>
                  <a:pt x="266700" y="300038"/>
                </a:lnTo>
                <a:cubicBezTo>
                  <a:pt x="266700" y="318443"/>
                  <a:pt x="251768" y="333375"/>
                  <a:pt x="233363" y="333375"/>
                </a:cubicBezTo>
                <a:lnTo>
                  <a:pt x="166688" y="333375"/>
                </a:lnTo>
                <a:cubicBezTo>
                  <a:pt x="148282" y="333375"/>
                  <a:pt x="133350" y="318443"/>
                  <a:pt x="133350" y="300038"/>
                </a:cubicBezTo>
                <a:lnTo>
                  <a:pt x="133350" y="233363"/>
                </a:lnTo>
                <a:cubicBezTo>
                  <a:pt x="133350" y="228292"/>
                  <a:pt x="134531" y="223431"/>
                  <a:pt x="136545" y="219125"/>
                </a:cubicBezTo>
                <a:lnTo>
                  <a:pt x="88900" y="155575"/>
                </a:lnTo>
                <a:lnTo>
                  <a:pt x="33337" y="155575"/>
                </a:lnTo>
                <a:cubicBezTo>
                  <a:pt x="14932" y="155575"/>
                  <a:pt x="0" y="140643"/>
                  <a:pt x="0" y="122238"/>
                </a:cubicBezTo>
                <a:lnTo>
                  <a:pt x="0" y="55563"/>
                </a:lnTo>
                <a:close/>
              </a:path>
            </a:pathLst>
          </a:custGeom>
          <a:solidFill>
            <a:srgbClr val="B45309"/>
          </a:solidFill>
          <a:ln/>
        </p:spPr>
      </p:sp>
      <p:sp>
        <p:nvSpPr>
          <p:cNvPr id="7" name="Text 5"/>
          <p:cNvSpPr/>
          <p:nvPr/>
        </p:nvSpPr>
        <p:spPr>
          <a:xfrm>
            <a:off x="1270000" y="14605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b="1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 a Diagram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70000" y="1841500"/>
            <a:ext cx="1397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Add colored arrows pointing to parts being discussed; circle relevant sections of charts and graphs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62000" y="2476500"/>
            <a:ext cx="14732000" cy="12700"/>
          </a:xfrm>
          <a:prstGeom prst="rect">
            <a:avLst/>
          </a:prstGeom>
          <a:solidFill>
            <a:srgbClr val="E7E5E4"/>
          </a:solidFill>
          <a:ln/>
        </p:spPr>
      </p:sp>
      <p:sp>
        <p:nvSpPr>
          <p:cNvPr id="10" name="Shape 8"/>
          <p:cNvSpPr/>
          <p:nvPr/>
        </p:nvSpPr>
        <p:spPr>
          <a:xfrm>
            <a:off x="762000" y="2667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44450" y="22225"/>
                </a:moveTo>
                <a:cubicBezTo>
                  <a:pt x="19933" y="22225"/>
                  <a:pt x="0" y="42158"/>
                  <a:pt x="0" y="66675"/>
                </a:cubicBezTo>
                <a:lnTo>
                  <a:pt x="0" y="244475"/>
                </a:lnTo>
                <a:cubicBezTo>
                  <a:pt x="0" y="268992"/>
                  <a:pt x="19933" y="288925"/>
                  <a:pt x="44450" y="288925"/>
                </a:cubicBezTo>
                <a:lnTo>
                  <a:pt x="144463" y="288925"/>
                </a:lnTo>
                <a:lnTo>
                  <a:pt x="133350" y="322263"/>
                </a:lnTo>
                <a:lnTo>
                  <a:pt x="83344" y="322263"/>
                </a:lnTo>
                <a:cubicBezTo>
                  <a:pt x="74106" y="322263"/>
                  <a:pt x="66675" y="329694"/>
                  <a:pt x="66675" y="338931"/>
                </a:cubicBezTo>
                <a:cubicBezTo>
                  <a:pt x="66675" y="348169"/>
                  <a:pt x="74106" y="355600"/>
                  <a:pt x="83344" y="355600"/>
                </a:cubicBezTo>
                <a:lnTo>
                  <a:pt x="272256" y="355600"/>
                </a:lnTo>
                <a:cubicBezTo>
                  <a:pt x="281494" y="355600"/>
                  <a:pt x="288925" y="348169"/>
                  <a:pt x="288925" y="338931"/>
                </a:cubicBezTo>
                <a:cubicBezTo>
                  <a:pt x="288925" y="329694"/>
                  <a:pt x="281494" y="322263"/>
                  <a:pt x="272256" y="322263"/>
                </a:cubicBezTo>
                <a:lnTo>
                  <a:pt x="222250" y="322263"/>
                </a:lnTo>
                <a:lnTo>
                  <a:pt x="211138" y="288925"/>
                </a:lnTo>
                <a:lnTo>
                  <a:pt x="311150" y="288925"/>
                </a:lnTo>
                <a:cubicBezTo>
                  <a:pt x="335667" y="288925"/>
                  <a:pt x="355600" y="268992"/>
                  <a:pt x="355600" y="244475"/>
                </a:cubicBezTo>
                <a:lnTo>
                  <a:pt x="355600" y="66675"/>
                </a:lnTo>
                <a:cubicBezTo>
                  <a:pt x="355600" y="42158"/>
                  <a:pt x="335667" y="22225"/>
                  <a:pt x="311150" y="22225"/>
                </a:cubicBezTo>
                <a:lnTo>
                  <a:pt x="44450" y="22225"/>
                </a:lnTo>
                <a:close/>
                <a:moveTo>
                  <a:pt x="66675" y="66675"/>
                </a:moveTo>
                <a:lnTo>
                  <a:pt x="288925" y="66675"/>
                </a:lnTo>
                <a:cubicBezTo>
                  <a:pt x="301218" y="66675"/>
                  <a:pt x="311150" y="76607"/>
                  <a:pt x="311150" y="88900"/>
                </a:cubicBezTo>
                <a:lnTo>
                  <a:pt x="311150" y="200025"/>
                </a:lnTo>
                <a:cubicBezTo>
                  <a:pt x="311150" y="212318"/>
                  <a:pt x="301218" y="222250"/>
                  <a:pt x="288925" y="222250"/>
                </a:cubicBezTo>
                <a:lnTo>
                  <a:pt x="66675" y="222250"/>
                </a:lnTo>
                <a:cubicBezTo>
                  <a:pt x="54382" y="222250"/>
                  <a:pt x="44450" y="212318"/>
                  <a:pt x="44450" y="200025"/>
                </a:cubicBezTo>
                <a:lnTo>
                  <a:pt x="44450" y="88900"/>
                </a:lnTo>
                <a:cubicBezTo>
                  <a:pt x="44450" y="76607"/>
                  <a:pt x="54382" y="66675"/>
                  <a:pt x="66675" y="66675"/>
                </a:cubicBezTo>
                <a:close/>
              </a:path>
            </a:pathLst>
          </a:custGeom>
          <a:solidFill>
            <a:srgbClr val="B45309"/>
          </a:solidFill>
          <a:ln/>
        </p:spPr>
      </p:sp>
      <p:sp>
        <p:nvSpPr>
          <p:cNvPr id="11" name="Text 9"/>
          <p:cNvSpPr/>
          <p:nvPr/>
        </p:nvSpPr>
        <p:spPr>
          <a:xfrm>
            <a:off x="1270000" y="26289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b="1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 a Presentation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70000" y="3009900"/>
            <a:ext cx="1397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 outline slides at the beginning and revisit them when transitioning between major sections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62000" y="3644900"/>
            <a:ext cx="14732000" cy="12700"/>
          </a:xfrm>
          <a:prstGeom prst="rect">
            <a:avLst/>
          </a:prstGeom>
          <a:solidFill>
            <a:srgbClr val="E7E5E4"/>
          </a:solidFill>
          <a:ln/>
        </p:spPr>
      </p:sp>
      <p:sp>
        <p:nvSpPr>
          <p:cNvPr id="14" name="Shape 12"/>
          <p:cNvSpPr/>
          <p:nvPr/>
        </p:nvSpPr>
        <p:spPr>
          <a:xfrm>
            <a:off x="739775" y="3835400"/>
            <a:ext cx="400050" cy="355600"/>
          </a:xfrm>
          <a:custGeom>
            <a:avLst/>
            <a:gdLst/>
            <a:ahLst/>
            <a:cxnLst/>
            <a:rect l="l" t="t" r="r" b="b"/>
            <a:pathLst>
              <a:path w="400050" h="355600">
                <a:moveTo>
                  <a:pt x="66675" y="44450"/>
                </a:moveTo>
                <a:cubicBezTo>
                  <a:pt x="42158" y="44450"/>
                  <a:pt x="22225" y="64383"/>
                  <a:pt x="22225" y="88900"/>
                </a:cubicBezTo>
                <a:lnTo>
                  <a:pt x="22225" y="266700"/>
                </a:lnTo>
                <a:cubicBezTo>
                  <a:pt x="22225" y="291217"/>
                  <a:pt x="42158" y="311150"/>
                  <a:pt x="66675" y="311150"/>
                </a:cubicBezTo>
                <a:lnTo>
                  <a:pt x="244475" y="311150"/>
                </a:lnTo>
                <a:cubicBezTo>
                  <a:pt x="268992" y="311150"/>
                  <a:pt x="288925" y="291217"/>
                  <a:pt x="288925" y="266700"/>
                </a:cubicBezTo>
                <a:lnTo>
                  <a:pt x="288925" y="88900"/>
                </a:lnTo>
                <a:cubicBezTo>
                  <a:pt x="288925" y="64383"/>
                  <a:pt x="268992" y="44450"/>
                  <a:pt x="244475" y="44450"/>
                </a:cubicBezTo>
                <a:lnTo>
                  <a:pt x="66675" y="44450"/>
                </a:lnTo>
                <a:close/>
                <a:moveTo>
                  <a:pt x="322263" y="233363"/>
                </a:moveTo>
                <a:lnTo>
                  <a:pt x="373311" y="274201"/>
                </a:lnTo>
                <a:cubicBezTo>
                  <a:pt x="376228" y="276562"/>
                  <a:pt x="379839" y="277813"/>
                  <a:pt x="383590" y="277813"/>
                </a:cubicBezTo>
                <a:cubicBezTo>
                  <a:pt x="392688" y="277813"/>
                  <a:pt x="400050" y="270450"/>
                  <a:pt x="400050" y="261352"/>
                </a:cubicBezTo>
                <a:lnTo>
                  <a:pt x="400050" y="94248"/>
                </a:lnTo>
                <a:cubicBezTo>
                  <a:pt x="400050" y="85150"/>
                  <a:pt x="392688" y="77788"/>
                  <a:pt x="383590" y="77788"/>
                </a:cubicBezTo>
                <a:cubicBezTo>
                  <a:pt x="379839" y="77788"/>
                  <a:pt x="376228" y="79038"/>
                  <a:pt x="373311" y="81399"/>
                </a:cubicBezTo>
                <a:lnTo>
                  <a:pt x="322263" y="122238"/>
                </a:lnTo>
                <a:lnTo>
                  <a:pt x="322263" y="233363"/>
                </a:lnTo>
                <a:close/>
              </a:path>
            </a:pathLst>
          </a:custGeom>
          <a:solidFill>
            <a:srgbClr val="B45309"/>
          </a:solidFill>
          <a:ln/>
        </p:spPr>
      </p:sp>
      <p:sp>
        <p:nvSpPr>
          <p:cNvPr id="15" name="Text 13"/>
          <p:cNvSpPr/>
          <p:nvPr/>
        </p:nvSpPr>
        <p:spPr>
          <a:xfrm>
            <a:off x="1270000" y="37973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b="1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 Video Content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70000" y="4178300"/>
            <a:ext cx="1397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Synchronize highlighting with narration — highlight text or graphics as they are mentioned in the voiceover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762000" y="4813300"/>
            <a:ext cx="14732000" cy="12700"/>
          </a:xfrm>
          <a:prstGeom prst="rect">
            <a:avLst/>
          </a:prstGeom>
          <a:solidFill>
            <a:srgbClr val="E7E5E4"/>
          </a:solidFill>
          <a:ln/>
        </p:spPr>
      </p:sp>
      <p:sp>
        <p:nvSpPr>
          <p:cNvPr id="18" name="Shape 16"/>
          <p:cNvSpPr/>
          <p:nvPr/>
        </p:nvSpPr>
        <p:spPr>
          <a:xfrm>
            <a:off x="717550" y="5003800"/>
            <a:ext cx="444500" cy="355600"/>
          </a:xfrm>
          <a:custGeom>
            <a:avLst/>
            <a:gdLst/>
            <a:ahLst/>
            <a:cxnLst/>
            <a:rect l="l" t="t" r="r" b="b"/>
            <a:pathLst>
              <a:path w="444500" h="355600">
                <a:moveTo>
                  <a:pt x="44450" y="66675"/>
                </a:moveTo>
                <a:cubicBezTo>
                  <a:pt x="44450" y="42158"/>
                  <a:pt x="64383" y="22225"/>
                  <a:pt x="88900" y="22225"/>
                </a:cubicBezTo>
                <a:lnTo>
                  <a:pt x="355600" y="22225"/>
                </a:lnTo>
                <a:cubicBezTo>
                  <a:pt x="380117" y="22225"/>
                  <a:pt x="400050" y="42158"/>
                  <a:pt x="400050" y="66675"/>
                </a:cubicBezTo>
                <a:lnTo>
                  <a:pt x="400050" y="233363"/>
                </a:lnTo>
                <a:lnTo>
                  <a:pt x="355600" y="233363"/>
                </a:lnTo>
                <a:lnTo>
                  <a:pt x="355600" y="66675"/>
                </a:lnTo>
                <a:lnTo>
                  <a:pt x="88900" y="66675"/>
                </a:lnTo>
                <a:lnTo>
                  <a:pt x="88900" y="233363"/>
                </a:lnTo>
                <a:lnTo>
                  <a:pt x="44450" y="233363"/>
                </a:lnTo>
                <a:lnTo>
                  <a:pt x="44450" y="66675"/>
                </a:lnTo>
                <a:close/>
                <a:moveTo>
                  <a:pt x="0" y="280035"/>
                </a:moveTo>
                <a:cubicBezTo>
                  <a:pt x="0" y="272673"/>
                  <a:pt x="5973" y="266700"/>
                  <a:pt x="13335" y="266700"/>
                </a:cubicBezTo>
                <a:lnTo>
                  <a:pt x="431165" y="266700"/>
                </a:lnTo>
                <a:cubicBezTo>
                  <a:pt x="438527" y="266700"/>
                  <a:pt x="444500" y="272673"/>
                  <a:pt x="444500" y="280035"/>
                </a:cubicBezTo>
                <a:cubicBezTo>
                  <a:pt x="444500" y="309483"/>
                  <a:pt x="420608" y="333375"/>
                  <a:pt x="391160" y="333375"/>
                </a:cubicBezTo>
                <a:lnTo>
                  <a:pt x="53340" y="333375"/>
                </a:lnTo>
                <a:cubicBezTo>
                  <a:pt x="23892" y="333375"/>
                  <a:pt x="0" y="309483"/>
                  <a:pt x="0" y="280035"/>
                </a:cubicBezTo>
                <a:close/>
                <a:moveTo>
                  <a:pt x="195163" y="145157"/>
                </a:moveTo>
                <a:lnTo>
                  <a:pt x="173633" y="166688"/>
                </a:lnTo>
                <a:lnTo>
                  <a:pt x="195163" y="188218"/>
                </a:lnTo>
                <a:cubicBezTo>
                  <a:pt x="201692" y="194747"/>
                  <a:pt x="201692" y="205303"/>
                  <a:pt x="195163" y="211763"/>
                </a:cubicBezTo>
                <a:cubicBezTo>
                  <a:pt x="188635" y="218222"/>
                  <a:pt x="178078" y="218291"/>
                  <a:pt x="171619" y="211763"/>
                </a:cubicBezTo>
                <a:lnTo>
                  <a:pt x="138281" y="178425"/>
                </a:lnTo>
                <a:cubicBezTo>
                  <a:pt x="131753" y="171896"/>
                  <a:pt x="131753" y="161340"/>
                  <a:pt x="138281" y="154880"/>
                </a:cubicBezTo>
                <a:lnTo>
                  <a:pt x="171619" y="121543"/>
                </a:lnTo>
                <a:cubicBezTo>
                  <a:pt x="178147" y="115014"/>
                  <a:pt x="188704" y="115014"/>
                  <a:pt x="195163" y="121543"/>
                </a:cubicBezTo>
                <a:cubicBezTo>
                  <a:pt x="201622" y="128072"/>
                  <a:pt x="201692" y="138628"/>
                  <a:pt x="195163" y="145088"/>
                </a:cubicBezTo>
                <a:close/>
                <a:moveTo>
                  <a:pt x="272951" y="121543"/>
                </a:moveTo>
                <a:lnTo>
                  <a:pt x="306288" y="154880"/>
                </a:lnTo>
                <a:cubicBezTo>
                  <a:pt x="312817" y="161409"/>
                  <a:pt x="312817" y="171966"/>
                  <a:pt x="306288" y="178425"/>
                </a:cubicBezTo>
                <a:lnTo>
                  <a:pt x="272951" y="211763"/>
                </a:lnTo>
                <a:cubicBezTo>
                  <a:pt x="266422" y="218291"/>
                  <a:pt x="255865" y="218291"/>
                  <a:pt x="249406" y="211763"/>
                </a:cubicBezTo>
                <a:cubicBezTo>
                  <a:pt x="242947" y="205234"/>
                  <a:pt x="242878" y="194677"/>
                  <a:pt x="249406" y="188218"/>
                </a:cubicBezTo>
                <a:lnTo>
                  <a:pt x="270937" y="166688"/>
                </a:lnTo>
                <a:lnTo>
                  <a:pt x="249406" y="145157"/>
                </a:lnTo>
                <a:cubicBezTo>
                  <a:pt x="242878" y="138628"/>
                  <a:pt x="242878" y="128072"/>
                  <a:pt x="249406" y="121612"/>
                </a:cubicBezTo>
                <a:cubicBezTo>
                  <a:pt x="255935" y="115153"/>
                  <a:pt x="266492" y="115084"/>
                  <a:pt x="272951" y="121612"/>
                </a:cubicBezTo>
                <a:close/>
              </a:path>
            </a:pathLst>
          </a:custGeom>
          <a:solidFill>
            <a:srgbClr val="B45309"/>
          </a:solidFill>
          <a:ln/>
        </p:spPr>
      </p:sp>
      <p:sp>
        <p:nvSpPr>
          <p:cNvPr id="19" name="Text 17"/>
          <p:cNvSpPr/>
          <p:nvPr/>
        </p:nvSpPr>
        <p:spPr>
          <a:xfrm>
            <a:off x="1270000" y="49657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b="1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 E-Learning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270000" y="5346700"/>
            <a:ext cx="1397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 progress maps showing learners where they are in the lesson structure and what comes next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762000" y="5981700"/>
            <a:ext cx="14732000" cy="12700"/>
          </a:xfrm>
          <a:prstGeom prst="rect">
            <a:avLst/>
          </a:prstGeom>
          <a:solidFill>
            <a:srgbClr val="E7E5E4"/>
          </a:solidFill>
          <a:ln/>
        </p:spPr>
      </p:sp>
      <p:sp>
        <p:nvSpPr>
          <p:cNvPr id="22" name="Shape 20"/>
          <p:cNvSpPr/>
          <p:nvPr/>
        </p:nvSpPr>
        <p:spPr>
          <a:xfrm>
            <a:off x="784225" y="6172200"/>
            <a:ext cx="311150" cy="355600"/>
          </a:xfrm>
          <a:custGeom>
            <a:avLst/>
            <a:gdLst/>
            <a:ahLst/>
            <a:cxnLst/>
            <a:rect l="l" t="t" r="r" b="b"/>
            <a:pathLst>
              <a:path w="311150" h="355600">
                <a:moveTo>
                  <a:pt x="0" y="66675"/>
                </a:moveTo>
                <a:cubicBezTo>
                  <a:pt x="0" y="42158"/>
                  <a:pt x="19933" y="22225"/>
                  <a:pt x="44450" y="22225"/>
                </a:cubicBezTo>
                <a:lnTo>
                  <a:pt x="266700" y="22225"/>
                </a:lnTo>
                <a:cubicBezTo>
                  <a:pt x="291217" y="22225"/>
                  <a:pt x="311150" y="42158"/>
                  <a:pt x="311150" y="66675"/>
                </a:cubicBezTo>
                <a:lnTo>
                  <a:pt x="311150" y="288925"/>
                </a:lnTo>
                <a:cubicBezTo>
                  <a:pt x="311150" y="313442"/>
                  <a:pt x="291217" y="333375"/>
                  <a:pt x="266700" y="333375"/>
                </a:cubicBezTo>
                <a:lnTo>
                  <a:pt x="44450" y="333375"/>
                </a:lnTo>
                <a:cubicBezTo>
                  <a:pt x="19933" y="333375"/>
                  <a:pt x="0" y="313442"/>
                  <a:pt x="0" y="288925"/>
                </a:cubicBezTo>
                <a:lnTo>
                  <a:pt x="0" y="66675"/>
                </a:lnTo>
                <a:close/>
                <a:moveTo>
                  <a:pt x="33337" y="255587"/>
                </a:moveTo>
                <a:lnTo>
                  <a:pt x="33337" y="277813"/>
                </a:lnTo>
                <a:cubicBezTo>
                  <a:pt x="33337" y="283924"/>
                  <a:pt x="38338" y="288925"/>
                  <a:pt x="44450" y="288925"/>
                </a:cubicBezTo>
                <a:lnTo>
                  <a:pt x="66675" y="288925"/>
                </a:lnTo>
                <a:cubicBezTo>
                  <a:pt x="72787" y="288925"/>
                  <a:pt x="77788" y="283924"/>
                  <a:pt x="77788" y="277813"/>
                </a:cubicBezTo>
                <a:lnTo>
                  <a:pt x="77788" y="255587"/>
                </a:lnTo>
                <a:cubicBezTo>
                  <a:pt x="77788" y="249476"/>
                  <a:pt x="72787" y="244475"/>
                  <a:pt x="66675" y="244475"/>
                </a:cubicBezTo>
                <a:lnTo>
                  <a:pt x="44450" y="244475"/>
                </a:lnTo>
                <a:cubicBezTo>
                  <a:pt x="38338" y="244475"/>
                  <a:pt x="33337" y="249476"/>
                  <a:pt x="33337" y="255587"/>
                </a:cubicBezTo>
                <a:close/>
                <a:moveTo>
                  <a:pt x="244475" y="244475"/>
                </a:moveTo>
                <a:cubicBezTo>
                  <a:pt x="238363" y="244475"/>
                  <a:pt x="233363" y="249476"/>
                  <a:pt x="233363" y="255587"/>
                </a:cubicBezTo>
                <a:lnTo>
                  <a:pt x="233363" y="277813"/>
                </a:lnTo>
                <a:cubicBezTo>
                  <a:pt x="233363" y="283924"/>
                  <a:pt x="238363" y="288925"/>
                  <a:pt x="244475" y="288925"/>
                </a:cubicBezTo>
                <a:lnTo>
                  <a:pt x="266700" y="288925"/>
                </a:lnTo>
                <a:cubicBezTo>
                  <a:pt x="272812" y="288925"/>
                  <a:pt x="277813" y="283924"/>
                  <a:pt x="277813" y="277813"/>
                </a:cubicBezTo>
                <a:lnTo>
                  <a:pt x="277813" y="255587"/>
                </a:lnTo>
                <a:cubicBezTo>
                  <a:pt x="277813" y="249476"/>
                  <a:pt x="272812" y="244475"/>
                  <a:pt x="266700" y="244475"/>
                </a:cubicBezTo>
                <a:lnTo>
                  <a:pt x="244475" y="244475"/>
                </a:lnTo>
                <a:close/>
                <a:moveTo>
                  <a:pt x="33337" y="166688"/>
                </a:moveTo>
                <a:lnTo>
                  <a:pt x="33337" y="188913"/>
                </a:lnTo>
                <a:cubicBezTo>
                  <a:pt x="33337" y="195024"/>
                  <a:pt x="38338" y="200025"/>
                  <a:pt x="44450" y="200025"/>
                </a:cubicBezTo>
                <a:lnTo>
                  <a:pt x="66675" y="200025"/>
                </a:lnTo>
                <a:cubicBezTo>
                  <a:pt x="72787" y="200025"/>
                  <a:pt x="77788" y="195024"/>
                  <a:pt x="77788" y="188913"/>
                </a:cubicBezTo>
                <a:lnTo>
                  <a:pt x="77788" y="166688"/>
                </a:lnTo>
                <a:cubicBezTo>
                  <a:pt x="77788" y="160576"/>
                  <a:pt x="72787" y="155575"/>
                  <a:pt x="66675" y="155575"/>
                </a:cubicBezTo>
                <a:lnTo>
                  <a:pt x="44450" y="155575"/>
                </a:lnTo>
                <a:cubicBezTo>
                  <a:pt x="38338" y="155575"/>
                  <a:pt x="33337" y="160576"/>
                  <a:pt x="33337" y="166688"/>
                </a:cubicBezTo>
                <a:close/>
                <a:moveTo>
                  <a:pt x="244475" y="155575"/>
                </a:moveTo>
                <a:cubicBezTo>
                  <a:pt x="238363" y="155575"/>
                  <a:pt x="233363" y="160576"/>
                  <a:pt x="233363" y="166688"/>
                </a:cubicBezTo>
                <a:lnTo>
                  <a:pt x="233363" y="188913"/>
                </a:lnTo>
                <a:cubicBezTo>
                  <a:pt x="233363" y="195024"/>
                  <a:pt x="238363" y="200025"/>
                  <a:pt x="244475" y="200025"/>
                </a:cubicBezTo>
                <a:lnTo>
                  <a:pt x="266700" y="200025"/>
                </a:lnTo>
                <a:cubicBezTo>
                  <a:pt x="272812" y="200025"/>
                  <a:pt x="277813" y="195024"/>
                  <a:pt x="277813" y="188913"/>
                </a:cubicBezTo>
                <a:lnTo>
                  <a:pt x="277813" y="166688"/>
                </a:lnTo>
                <a:cubicBezTo>
                  <a:pt x="277813" y="160576"/>
                  <a:pt x="272812" y="155575"/>
                  <a:pt x="266700" y="155575"/>
                </a:cubicBezTo>
                <a:lnTo>
                  <a:pt x="244475" y="155575"/>
                </a:lnTo>
                <a:close/>
                <a:moveTo>
                  <a:pt x="33337" y="77788"/>
                </a:moveTo>
                <a:lnTo>
                  <a:pt x="33337" y="100013"/>
                </a:lnTo>
                <a:cubicBezTo>
                  <a:pt x="33337" y="106124"/>
                  <a:pt x="38338" y="111125"/>
                  <a:pt x="44450" y="111125"/>
                </a:cubicBezTo>
                <a:lnTo>
                  <a:pt x="66675" y="111125"/>
                </a:lnTo>
                <a:cubicBezTo>
                  <a:pt x="72787" y="111125"/>
                  <a:pt x="77788" y="106124"/>
                  <a:pt x="77788" y="100013"/>
                </a:cubicBezTo>
                <a:lnTo>
                  <a:pt x="77788" y="77788"/>
                </a:lnTo>
                <a:cubicBezTo>
                  <a:pt x="77788" y="71676"/>
                  <a:pt x="72787" y="66675"/>
                  <a:pt x="66675" y="66675"/>
                </a:cubicBezTo>
                <a:lnTo>
                  <a:pt x="44450" y="66675"/>
                </a:lnTo>
                <a:cubicBezTo>
                  <a:pt x="38338" y="66675"/>
                  <a:pt x="33337" y="71676"/>
                  <a:pt x="33337" y="77788"/>
                </a:cubicBezTo>
                <a:close/>
                <a:moveTo>
                  <a:pt x="244475" y="66675"/>
                </a:moveTo>
                <a:cubicBezTo>
                  <a:pt x="238363" y="66675"/>
                  <a:pt x="233363" y="71676"/>
                  <a:pt x="233363" y="77788"/>
                </a:cubicBezTo>
                <a:lnTo>
                  <a:pt x="233363" y="100013"/>
                </a:lnTo>
                <a:cubicBezTo>
                  <a:pt x="233363" y="106124"/>
                  <a:pt x="238363" y="111125"/>
                  <a:pt x="244475" y="111125"/>
                </a:cubicBezTo>
                <a:lnTo>
                  <a:pt x="266700" y="111125"/>
                </a:lnTo>
                <a:cubicBezTo>
                  <a:pt x="272812" y="111125"/>
                  <a:pt x="277813" y="106124"/>
                  <a:pt x="277813" y="100013"/>
                </a:cubicBezTo>
                <a:lnTo>
                  <a:pt x="277813" y="77788"/>
                </a:lnTo>
                <a:cubicBezTo>
                  <a:pt x="277813" y="71676"/>
                  <a:pt x="272812" y="66675"/>
                  <a:pt x="266700" y="66675"/>
                </a:cubicBezTo>
                <a:lnTo>
                  <a:pt x="244475" y="66675"/>
                </a:lnTo>
                <a:close/>
              </a:path>
            </a:pathLst>
          </a:custGeom>
          <a:solidFill>
            <a:srgbClr val="B45309"/>
          </a:solidFill>
          <a:ln/>
        </p:spPr>
      </p:sp>
      <p:sp>
        <p:nvSpPr>
          <p:cNvPr id="23" name="Text 21"/>
          <p:cNvSpPr/>
          <p:nvPr/>
        </p:nvSpPr>
        <p:spPr>
          <a:xfrm>
            <a:off x="1270000" y="61341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b="1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 Animation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270000" y="6515100"/>
            <a:ext cx="1397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Make labels appear only when the corresponding part is being explained, not all at once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762000" y="7302500"/>
            <a:ext cx="14732000" cy="1016000"/>
          </a:xfrm>
          <a:prstGeom prst="rect">
            <a:avLst/>
          </a:prstGeom>
          <a:solidFill>
            <a:srgbClr val="B45309">
              <a:alpha val="8235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1060450" y="7556500"/>
            <a:ext cx="266700" cy="355600"/>
          </a:xfrm>
          <a:custGeom>
            <a:avLst/>
            <a:gdLst/>
            <a:ahLst/>
            <a:cxnLst/>
            <a:rect l="l" t="t" r="r" b="b"/>
            <a:pathLst>
              <a:path w="266700" h="355600">
                <a:moveTo>
                  <a:pt x="203428" y="266700"/>
                </a:moveTo>
                <a:cubicBezTo>
                  <a:pt x="208498" y="251212"/>
                  <a:pt x="218638" y="237182"/>
                  <a:pt x="230098" y="225098"/>
                </a:cubicBezTo>
                <a:cubicBezTo>
                  <a:pt x="252809" y="201206"/>
                  <a:pt x="266700" y="168910"/>
                  <a:pt x="266700" y="133350"/>
                </a:cubicBezTo>
                <a:cubicBezTo>
                  <a:pt x="266700" y="59730"/>
                  <a:pt x="206970" y="0"/>
                  <a:pt x="133350" y="0"/>
                </a:cubicBezTo>
                <a:cubicBezTo>
                  <a:pt x="59730" y="0"/>
                  <a:pt x="0" y="59730"/>
                  <a:pt x="0" y="133350"/>
                </a:cubicBezTo>
                <a:cubicBezTo>
                  <a:pt x="0" y="168910"/>
                  <a:pt x="13891" y="201206"/>
                  <a:pt x="36602" y="225098"/>
                </a:cubicBezTo>
                <a:cubicBezTo>
                  <a:pt x="48062" y="237182"/>
                  <a:pt x="58271" y="251212"/>
                  <a:pt x="63272" y="266700"/>
                </a:cubicBezTo>
                <a:lnTo>
                  <a:pt x="203359" y="266700"/>
                </a:lnTo>
                <a:close/>
                <a:moveTo>
                  <a:pt x="200025" y="300038"/>
                </a:moveTo>
                <a:lnTo>
                  <a:pt x="66675" y="300038"/>
                </a:lnTo>
                <a:lnTo>
                  <a:pt x="66675" y="311150"/>
                </a:lnTo>
                <a:cubicBezTo>
                  <a:pt x="66675" y="341848"/>
                  <a:pt x="91539" y="366712"/>
                  <a:pt x="122238" y="366712"/>
                </a:cubicBezTo>
                <a:lnTo>
                  <a:pt x="144463" y="366712"/>
                </a:lnTo>
                <a:cubicBezTo>
                  <a:pt x="175161" y="366712"/>
                  <a:pt x="200025" y="341848"/>
                  <a:pt x="200025" y="311150"/>
                </a:cubicBezTo>
                <a:lnTo>
                  <a:pt x="200025" y="300038"/>
                </a:lnTo>
                <a:close/>
                <a:moveTo>
                  <a:pt x="127794" y="77788"/>
                </a:moveTo>
                <a:cubicBezTo>
                  <a:pt x="100151" y="77788"/>
                  <a:pt x="77788" y="100151"/>
                  <a:pt x="77788" y="127794"/>
                </a:cubicBezTo>
                <a:cubicBezTo>
                  <a:pt x="77788" y="137031"/>
                  <a:pt x="70356" y="144463"/>
                  <a:pt x="61119" y="144463"/>
                </a:cubicBezTo>
                <a:cubicBezTo>
                  <a:pt x="51881" y="144463"/>
                  <a:pt x="44450" y="137031"/>
                  <a:pt x="44450" y="127794"/>
                </a:cubicBezTo>
                <a:cubicBezTo>
                  <a:pt x="44450" y="81746"/>
                  <a:pt x="81746" y="44450"/>
                  <a:pt x="127794" y="44450"/>
                </a:cubicBezTo>
                <a:cubicBezTo>
                  <a:pt x="137031" y="44450"/>
                  <a:pt x="144463" y="51881"/>
                  <a:pt x="144463" y="61119"/>
                </a:cubicBezTo>
                <a:cubicBezTo>
                  <a:pt x="144463" y="70356"/>
                  <a:pt x="137031" y="77788"/>
                  <a:pt x="127794" y="77788"/>
                </a:cubicBezTo>
                <a:close/>
              </a:path>
            </a:pathLst>
          </a:custGeom>
          <a:solidFill>
            <a:srgbClr val="B45309"/>
          </a:solidFill>
          <a:ln/>
        </p:spPr>
      </p:sp>
      <p:sp>
        <p:nvSpPr>
          <p:cNvPr id="27" name="Text 25"/>
          <p:cNvSpPr/>
          <p:nvPr/>
        </p:nvSpPr>
        <p:spPr>
          <a:xfrm>
            <a:off x="1524000" y="7366000"/>
            <a:ext cx="13716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Insight: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Signaling reduces the effort needed to identify what is important, freeing cognitive resources for deeper learning and mental model building.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4986000" y="86360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78716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15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C19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irl5c2knzosr6/mnt/agents/output/multimedia-production-w6/images/4_E_Learning_SaaS_Website_UI_Design.png">    </p:cNvPr>
          <p:cNvPicPr>
            <a:picLocks noChangeAspect="1"/>
          </p:cNvPicPr>
          <p:nvPr/>
        </p:nvPicPr>
        <p:blipFill>
          <a:blip r:embed="rId1"/>
          <a:srcRect l="0" r="0" t="12500" b="12500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1C1917">
                  <a:alpha val="90000"/>
                </a:srgbClr>
              </a:gs>
              <a:gs pos="60000">
                <a:srgbClr val="1C1917">
                  <a:alpha val="80000"/>
                </a:srgbClr>
              </a:gs>
              <a:gs pos="100000">
                <a:srgbClr val="1C1917">
                  <a:alpha val="50000"/>
                </a:srgbClr>
              </a:gs>
            </a:gsLst>
            <a:lin ang="0" scaled="1"/>
          </a:gradFill>
          <a:ln/>
        </p:spPr>
      </p:sp>
      <p:sp>
        <p:nvSpPr>
          <p:cNvPr id="4" name="Text 1"/>
          <p:cNvSpPr/>
          <p:nvPr/>
        </p:nvSpPr>
        <p:spPr>
          <a:xfrm>
            <a:off x="762000" y="2286000"/>
            <a:ext cx="3810000" cy="1193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dirty="0">
                <a:solidFill>
                  <a:srgbClr val="FFFFFF">
                    <a:alpha val="25098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04</a:t>
            </a:r>
            <a:endParaRPr lang="en-US" sz="7200" dirty="0"/>
          </a:p>
        </p:txBody>
      </p:sp>
      <p:sp>
        <p:nvSpPr>
          <p:cNvPr id="5" name="Shape 2"/>
          <p:cNvSpPr/>
          <p:nvPr/>
        </p:nvSpPr>
        <p:spPr>
          <a:xfrm>
            <a:off x="762000" y="3683000"/>
            <a:ext cx="1016000" cy="3810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6" name="Text 3"/>
          <p:cNvSpPr/>
          <p:nvPr/>
        </p:nvSpPr>
        <p:spPr>
          <a:xfrm>
            <a:off x="762000" y="3937000"/>
            <a:ext cx="762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Redundancy Principle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62000" y="4699000"/>
            <a:ext cx="762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FFFFFF">
                    <a:alpha val="70196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Avoid Overloading with Duplicate Information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3175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200" kern="0" dirty="0">
                <a:solidFill>
                  <a:srgbClr val="B4530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REDUNDANCY PRINCIPLE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62000" y="635000"/>
            <a:ext cx="1397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B4530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Graphics + Narration Beat Graphics + Narration + Text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1206500"/>
            <a:ext cx="14732000" cy="12700"/>
          </a:xfrm>
          <a:prstGeom prst="rect">
            <a:avLst/>
          </a:prstGeom>
          <a:solidFill>
            <a:srgbClr val="E7E5E4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1460500"/>
            <a:ext cx="14732000" cy="1016000"/>
          </a:xfrm>
          <a:prstGeom prst="rect">
            <a:avLst/>
          </a:prstGeom>
          <a:solidFill>
            <a:srgbClr val="F5F0E8"/>
          </a:solidFill>
          <a:ln/>
        </p:spPr>
      </p:sp>
      <p:sp>
        <p:nvSpPr>
          <p:cNvPr id="7" name="Shape 5"/>
          <p:cNvSpPr/>
          <p:nvPr/>
        </p:nvSpPr>
        <p:spPr>
          <a:xfrm>
            <a:off x="1041400" y="1676400"/>
            <a:ext cx="355600" cy="406400"/>
          </a:xfrm>
          <a:custGeom>
            <a:avLst/>
            <a:gdLst/>
            <a:ahLst/>
            <a:cxnLst/>
            <a:rect l="l" t="t" r="r" b="b"/>
            <a:pathLst>
              <a:path w="355600" h="406400">
                <a:moveTo>
                  <a:pt x="0" y="171450"/>
                </a:moveTo>
                <a:cubicBezTo>
                  <a:pt x="0" y="118824"/>
                  <a:pt x="42624" y="76200"/>
                  <a:pt x="95250" y="76200"/>
                </a:cubicBezTo>
                <a:lnTo>
                  <a:pt x="101600" y="76200"/>
                </a:lnTo>
                <a:cubicBezTo>
                  <a:pt x="115649" y="76200"/>
                  <a:pt x="127000" y="87551"/>
                  <a:pt x="127000" y="101600"/>
                </a:cubicBezTo>
                <a:cubicBezTo>
                  <a:pt x="127000" y="115649"/>
                  <a:pt x="115649" y="127000"/>
                  <a:pt x="101600" y="127000"/>
                </a:cubicBezTo>
                <a:lnTo>
                  <a:pt x="95250" y="127000"/>
                </a:lnTo>
                <a:cubicBezTo>
                  <a:pt x="70723" y="127000"/>
                  <a:pt x="50800" y="146923"/>
                  <a:pt x="50800" y="171450"/>
                </a:cubicBezTo>
                <a:lnTo>
                  <a:pt x="50800" y="177800"/>
                </a:lnTo>
                <a:lnTo>
                  <a:pt x="101600" y="177800"/>
                </a:lnTo>
                <a:cubicBezTo>
                  <a:pt x="129619" y="177800"/>
                  <a:pt x="152400" y="200581"/>
                  <a:pt x="152400" y="228600"/>
                </a:cubicBezTo>
                <a:lnTo>
                  <a:pt x="152400" y="279400"/>
                </a:lnTo>
                <a:cubicBezTo>
                  <a:pt x="152400" y="307419"/>
                  <a:pt x="129619" y="330200"/>
                  <a:pt x="101600" y="330200"/>
                </a:cubicBezTo>
                <a:lnTo>
                  <a:pt x="50800" y="330200"/>
                </a:lnTo>
                <a:cubicBezTo>
                  <a:pt x="22781" y="330200"/>
                  <a:pt x="0" y="307419"/>
                  <a:pt x="0" y="279400"/>
                </a:cubicBezTo>
                <a:lnTo>
                  <a:pt x="0" y="171450"/>
                </a:lnTo>
                <a:close/>
                <a:moveTo>
                  <a:pt x="203200" y="171450"/>
                </a:moveTo>
                <a:cubicBezTo>
                  <a:pt x="203200" y="118824"/>
                  <a:pt x="245824" y="76200"/>
                  <a:pt x="298450" y="76200"/>
                </a:cubicBezTo>
                <a:lnTo>
                  <a:pt x="304800" y="76200"/>
                </a:lnTo>
                <a:cubicBezTo>
                  <a:pt x="318849" y="76200"/>
                  <a:pt x="330200" y="87551"/>
                  <a:pt x="330200" y="101600"/>
                </a:cubicBezTo>
                <a:cubicBezTo>
                  <a:pt x="330200" y="115649"/>
                  <a:pt x="318849" y="127000"/>
                  <a:pt x="304800" y="127000"/>
                </a:cubicBezTo>
                <a:lnTo>
                  <a:pt x="298450" y="127000"/>
                </a:lnTo>
                <a:cubicBezTo>
                  <a:pt x="273923" y="127000"/>
                  <a:pt x="254000" y="146923"/>
                  <a:pt x="254000" y="171450"/>
                </a:cubicBezTo>
                <a:lnTo>
                  <a:pt x="254000" y="177800"/>
                </a:lnTo>
                <a:lnTo>
                  <a:pt x="304800" y="177800"/>
                </a:lnTo>
                <a:cubicBezTo>
                  <a:pt x="332819" y="177800"/>
                  <a:pt x="355600" y="200581"/>
                  <a:pt x="355600" y="228600"/>
                </a:cubicBezTo>
                <a:lnTo>
                  <a:pt x="355600" y="279400"/>
                </a:lnTo>
                <a:cubicBezTo>
                  <a:pt x="355600" y="307419"/>
                  <a:pt x="332819" y="330200"/>
                  <a:pt x="304800" y="330200"/>
                </a:cubicBezTo>
                <a:lnTo>
                  <a:pt x="254000" y="330200"/>
                </a:lnTo>
                <a:cubicBezTo>
                  <a:pt x="225981" y="330200"/>
                  <a:pt x="203200" y="307419"/>
                  <a:pt x="203200" y="279400"/>
                </a:cubicBezTo>
                <a:lnTo>
                  <a:pt x="203200" y="171450"/>
                </a:lnTo>
                <a:close/>
              </a:path>
            </a:pathLst>
          </a:custGeom>
          <a:solidFill>
            <a:srgbClr val="B45309"/>
          </a:solidFill>
          <a:ln/>
        </p:spPr>
      </p:sp>
      <p:sp>
        <p:nvSpPr>
          <p:cNvPr id="8" name="Text 6"/>
          <p:cNvSpPr/>
          <p:nvPr/>
        </p:nvSpPr>
        <p:spPr>
          <a:xfrm>
            <a:off x="1587500" y="1524000"/>
            <a:ext cx="136525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7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People learn more deeply from </a:t>
            </a:r>
            <a:pPr>
              <a:lnSpc>
                <a:spcPct val="150000"/>
              </a:lnSpc>
            </a:pPr>
            <a:r>
              <a:rPr lang="en-US" sz="1700" b="1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graphics and narration</a:t>
            </a:r>
            <a:pPr>
              <a:lnSpc>
                <a:spcPct val="150000"/>
              </a:lnSpc>
            </a:pPr>
            <a:r>
              <a:rPr lang="en-US" sz="17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than from graphics, narration, </a:t>
            </a:r>
            <a:pPr>
              <a:lnSpc>
                <a:spcPct val="150000"/>
              </a:lnSpc>
            </a:pPr>
            <a:r>
              <a:rPr lang="en-US" sz="1700" b="1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and on-screen text</a:t>
            </a:r>
            <a:pPr>
              <a:lnSpc>
                <a:spcPct val="150000"/>
              </a:lnSpc>
            </a:pPr>
            <a:r>
              <a:rPr lang="en-US" sz="17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presented simultaneously.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62000" y="2730500"/>
            <a:ext cx="635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b="1" dirty="0">
                <a:solidFill>
                  <a:srgbClr val="1C191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Why Redundancy Hurts Learning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739775" y="3365500"/>
            <a:ext cx="400050" cy="355600"/>
          </a:xfrm>
          <a:custGeom>
            <a:avLst/>
            <a:gdLst/>
            <a:ahLst/>
            <a:cxnLst/>
            <a:rect l="l" t="t" r="r" b="b"/>
            <a:pathLst>
              <a:path w="400050" h="355600">
                <a:moveTo>
                  <a:pt x="200025" y="22225"/>
                </a:moveTo>
                <a:cubicBezTo>
                  <a:pt x="143907" y="22225"/>
                  <a:pt x="98971" y="47784"/>
                  <a:pt x="66258" y="78204"/>
                </a:cubicBezTo>
                <a:cubicBezTo>
                  <a:pt x="33754" y="108416"/>
                  <a:pt x="12015" y="144463"/>
                  <a:pt x="1667" y="169257"/>
                </a:cubicBezTo>
                <a:cubicBezTo>
                  <a:pt x="-625" y="174744"/>
                  <a:pt x="-625" y="180856"/>
                  <a:pt x="1667" y="186343"/>
                </a:cubicBezTo>
                <a:cubicBezTo>
                  <a:pt x="12015" y="211138"/>
                  <a:pt x="33754" y="247253"/>
                  <a:pt x="66258" y="277396"/>
                </a:cubicBezTo>
                <a:cubicBezTo>
                  <a:pt x="98971" y="307747"/>
                  <a:pt x="143907" y="333375"/>
                  <a:pt x="200025" y="333375"/>
                </a:cubicBezTo>
                <a:cubicBezTo>
                  <a:pt x="256143" y="333375"/>
                  <a:pt x="301079" y="307816"/>
                  <a:pt x="333792" y="277396"/>
                </a:cubicBezTo>
                <a:cubicBezTo>
                  <a:pt x="366296" y="247184"/>
                  <a:pt x="388035" y="211138"/>
                  <a:pt x="398383" y="186343"/>
                </a:cubicBezTo>
                <a:cubicBezTo>
                  <a:pt x="400675" y="180856"/>
                  <a:pt x="400675" y="174744"/>
                  <a:pt x="398383" y="169257"/>
                </a:cubicBezTo>
                <a:cubicBezTo>
                  <a:pt x="388035" y="144462"/>
                  <a:pt x="366296" y="108347"/>
                  <a:pt x="333792" y="78204"/>
                </a:cubicBezTo>
                <a:cubicBezTo>
                  <a:pt x="301079" y="47853"/>
                  <a:pt x="256143" y="22225"/>
                  <a:pt x="200025" y="22225"/>
                </a:cubicBezTo>
                <a:close/>
                <a:moveTo>
                  <a:pt x="100013" y="177800"/>
                </a:moveTo>
                <a:cubicBezTo>
                  <a:pt x="100013" y="122602"/>
                  <a:pt x="144827" y="77788"/>
                  <a:pt x="200025" y="77788"/>
                </a:cubicBezTo>
                <a:cubicBezTo>
                  <a:pt x="255223" y="77788"/>
                  <a:pt x="300038" y="122602"/>
                  <a:pt x="300038" y="177800"/>
                </a:cubicBezTo>
                <a:cubicBezTo>
                  <a:pt x="300038" y="232998"/>
                  <a:pt x="255223" y="277813"/>
                  <a:pt x="200025" y="277813"/>
                </a:cubicBezTo>
                <a:cubicBezTo>
                  <a:pt x="144827" y="277813"/>
                  <a:pt x="100013" y="232998"/>
                  <a:pt x="100013" y="177800"/>
                </a:cubicBezTo>
                <a:close/>
                <a:moveTo>
                  <a:pt x="200025" y="133350"/>
                </a:moveTo>
                <a:cubicBezTo>
                  <a:pt x="200025" y="157867"/>
                  <a:pt x="180092" y="177800"/>
                  <a:pt x="155575" y="177800"/>
                </a:cubicBezTo>
                <a:cubicBezTo>
                  <a:pt x="147588" y="177800"/>
                  <a:pt x="140087" y="175716"/>
                  <a:pt x="133558" y="171966"/>
                </a:cubicBezTo>
                <a:cubicBezTo>
                  <a:pt x="132864" y="179536"/>
                  <a:pt x="133489" y="187315"/>
                  <a:pt x="135573" y="195024"/>
                </a:cubicBezTo>
                <a:cubicBezTo>
                  <a:pt x="145088" y="230584"/>
                  <a:pt x="181689" y="251698"/>
                  <a:pt x="217249" y="242183"/>
                </a:cubicBezTo>
                <a:cubicBezTo>
                  <a:pt x="252809" y="232668"/>
                  <a:pt x="273923" y="196066"/>
                  <a:pt x="264408" y="160506"/>
                </a:cubicBezTo>
                <a:cubicBezTo>
                  <a:pt x="255935" y="128766"/>
                  <a:pt x="225862" y="108555"/>
                  <a:pt x="194191" y="111333"/>
                </a:cubicBezTo>
                <a:cubicBezTo>
                  <a:pt x="197872" y="117793"/>
                  <a:pt x="200025" y="125293"/>
                  <a:pt x="200025" y="133350"/>
                </a:cubicBezTo>
                <a:close/>
              </a:path>
            </a:pathLst>
          </a:custGeom>
          <a:solidFill>
            <a:srgbClr val="C2410C"/>
          </a:solidFill>
          <a:ln/>
        </p:spPr>
      </p:sp>
      <p:sp>
        <p:nvSpPr>
          <p:cNvPr id="11" name="Text 9"/>
          <p:cNvSpPr/>
          <p:nvPr/>
        </p:nvSpPr>
        <p:spPr>
          <a:xfrm>
            <a:off x="1270000" y="33274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b="1" dirty="0">
                <a:solidFill>
                  <a:srgbClr val="C2410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Visual Channel Overload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70000" y="3733800"/>
            <a:ext cx="6096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Learners must process both on-screen text AND graphics through the same visual channel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62000" y="4572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33350" y="177800"/>
                </a:moveTo>
                <a:lnTo>
                  <a:pt x="105916" y="205234"/>
                </a:lnTo>
                <a:cubicBezTo>
                  <a:pt x="97165" y="201831"/>
                  <a:pt x="87719" y="200025"/>
                  <a:pt x="77788" y="200025"/>
                </a:cubicBezTo>
                <a:cubicBezTo>
                  <a:pt x="34796" y="200025"/>
                  <a:pt x="0" y="234821"/>
                  <a:pt x="0" y="277813"/>
                </a:cubicBezTo>
                <a:cubicBezTo>
                  <a:pt x="0" y="320804"/>
                  <a:pt x="34796" y="355600"/>
                  <a:pt x="77788" y="355600"/>
                </a:cubicBezTo>
                <a:cubicBezTo>
                  <a:pt x="120779" y="355600"/>
                  <a:pt x="155575" y="320804"/>
                  <a:pt x="155575" y="277813"/>
                </a:cubicBezTo>
                <a:cubicBezTo>
                  <a:pt x="155575" y="267881"/>
                  <a:pt x="153700" y="258435"/>
                  <a:pt x="150366" y="249684"/>
                </a:cubicBezTo>
                <a:lnTo>
                  <a:pt x="346710" y="53340"/>
                </a:lnTo>
                <a:cubicBezTo>
                  <a:pt x="351641" y="48409"/>
                  <a:pt x="351641" y="40491"/>
                  <a:pt x="346710" y="35560"/>
                </a:cubicBezTo>
                <a:cubicBezTo>
                  <a:pt x="327055" y="15905"/>
                  <a:pt x="295245" y="15905"/>
                  <a:pt x="275590" y="35560"/>
                </a:cubicBezTo>
                <a:lnTo>
                  <a:pt x="177800" y="133350"/>
                </a:lnTo>
                <a:lnTo>
                  <a:pt x="150366" y="105916"/>
                </a:lnTo>
                <a:cubicBezTo>
                  <a:pt x="153769" y="97165"/>
                  <a:pt x="155575" y="87719"/>
                  <a:pt x="155575" y="77788"/>
                </a:cubicBezTo>
                <a:cubicBezTo>
                  <a:pt x="155575" y="34796"/>
                  <a:pt x="120779" y="0"/>
                  <a:pt x="77788" y="0"/>
                </a:cubicBezTo>
                <a:cubicBezTo>
                  <a:pt x="34796" y="0"/>
                  <a:pt x="0" y="34796"/>
                  <a:pt x="0" y="77788"/>
                </a:cubicBezTo>
                <a:cubicBezTo>
                  <a:pt x="0" y="120779"/>
                  <a:pt x="34796" y="155575"/>
                  <a:pt x="77788" y="155575"/>
                </a:cubicBezTo>
                <a:cubicBezTo>
                  <a:pt x="87719" y="155575"/>
                  <a:pt x="97165" y="153700"/>
                  <a:pt x="105916" y="150366"/>
                </a:cubicBezTo>
                <a:lnTo>
                  <a:pt x="133350" y="177800"/>
                </a:lnTo>
                <a:close/>
                <a:moveTo>
                  <a:pt x="201345" y="245795"/>
                </a:moveTo>
                <a:lnTo>
                  <a:pt x="275590" y="320040"/>
                </a:lnTo>
                <a:cubicBezTo>
                  <a:pt x="295245" y="339695"/>
                  <a:pt x="327055" y="339695"/>
                  <a:pt x="346710" y="320040"/>
                </a:cubicBezTo>
                <a:cubicBezTo>
                  <a:pt x="351641" y="315109"/>
                  <a:pt x="351641" y="307191"/>
                  <a:pt x="346710" y="302260"/>
                </a:cubicBezTo>
                <a:lnTo>
                  <a:pt x="245795" y="201345"/>
                </a:lnTo>
                <a:lnTo>
                  <a:pt x="201345" y="245795"/>
                </a:lnTo>
                <a:close/>
                <a:moveTo>
                  <a:pt x="44450" y="77788"/>
                </a:moveTo>
                <a:cubicBezTo>
                  <a:pt x="44450" y="59388"/>
                  <a:pt x="59388" y="44450"/>
                  <a:pt x="77787" y="44450"/>
                </a:cubicBezTo>
                <a:cubicBezTo>
                  <a:pt x="96187" y="44450"/>
                  <a:pt x="111125" y="59388"/>
                  <a:pt x="111125" y="77787"/>
                </a:cubicBezTo>
                <a:cubicBezTo>
                  <a:pt x="111125" y="96187"/>
                  <a:pt x="96187" y="111125"/>
                  <a:pt x="77788" y="111125"/>
                </a:cubicBezTo>
                <a:cubicBezTo>
                  <a:pt x="59388" y="111125"/>
                  <a:pt x="44450" y="96187"/>
                  <a:pt x="44450" y="77788"/>
                </a:cubicBezTo>
                <a:close/>
                <a:moveTo>
                  <a:pt x="77788" y="244475"/>
                </a:moveTo>
                <a:cubicBezTo>
                  <a:pt x="96187" y="244475"/>
                  <a:pt x="111125" y="259413"/>
                  <a:pt x="111125" y="277813"/>
                </a:cubicBezTo>
                <a:cubicBezTo>
                  <a:pt x="111125" y="296212"/>
                  <a:pt x="96187" y="311150"/>
                  <a:pt x="77788" y="311150"/>
                </a:cubicBezTo>
                <a:cubicBezTo>
                  <a:pt x="59388" y="311150"/>
                  <a:pt x="44450" y="296212"/>
                  <a:pt x="44450" y="277813"/>
                </a:cubicBezTo>
                <a:cubicBezTo>
                  <a:pt x="44450" y="259413"/>
                  <a:pt x="59388" y="244475"/>
                  <a:pt x="77787" y="244475"/>
                </a:cubicBezTo>
                <a:close/>
              </a:path>
            </a:pathLst>
          </a:custGeom>
          <a:solidFill>
            <a:srgbClr val="C2410C"/>
          </a:solidFill>
          <a:ln/>
        </p:spPr>
      </p:sp>
      <p:sp>
        <p:nvSpPr>
          <p:cNvPr id="14" name="Text 12"/>
          <p:cNvSpPr/>
          <p:nvPr/>
        </p:nvSpPr>
        <p:spPr>
          <a:xfrm>
            <a:off x="1270000" y="45339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b="1" dirty="0">
                <a:solidFill>
                  <a:srgbClr val="C2410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Split Attention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70000" y="4940300"/>
            <a:ext cx="6096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Learners try to read on-screen text while listening to narration, creating cognitive conflict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762000" y="5778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/>
            </a:pathLst>
          </a:custGeom>
          <a:solidFill>
            <a:srgbClr val="C2410C"/>
          </a:solidFill>
          <a:ln/>
        </p:spPr>
      </p:sp>
      <p:sp>
        <p:nvSpPr>
          <p:cNvPr id="17" name="Text 15"/>
          <p:cNvSpPr/>
          <p:nvPr/>
        </p:nvSpPr>
        <p:spPr>
          <a:xfrm>
            <a:off x="1270000" y="57404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b="1" dirty="0">
                <a:solidFill>
                  <a:srgbClr val="C2410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Cognitive Waste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70000" y="6146800"/>
            <a:ext cx="6096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Reading text and listening to identical narration is cognitively wasteful and redundant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8128000" y="3302000"/>
            <a:ext cx="7366000" cy="3556000"/>
          </a:xfrm>
          <a:prstGeom prst="rect">
            <a:avLst/>
          </a:prstGeom>
          <a:solidFill>
            <a:srgbClr val="B45309">
              <a:alpha val="8235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8509000" y="3492500"/>
            <a:ext cx="660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B4530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When Does This Apply?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509000" y="4000500"/>
            <a:ext cx="6604000" cy="266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redundancy principle applies when: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500" dirty="0">
                <a:solidFill>
                  <a:srgbClr val="B4530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■</a:t>
            </a:r>
            <a:pPr>
              <a:lnSpc>
                <a:spcPct val="160000"/>
              </a:lnSpc>
              <a:spcBef>
                <a:spcPts val="600"/>
              </a:spcBef>
            </a:pPr>
            <a:r>
              <a:rPr lang="en-US" sz="15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The same information is presented in spoken and printed form simultaneously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400"/>
              </a:spcBef>
            </a:pPr>
            <a:r>
              <a:rPr lang="en-US" sz="1500" dirty="0">
                <a:solidFill>
                  <a:srgbClr val="B4530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■</a:t>
            </a:r>
            <a:pPr>
              <a:lnSpc>
                <a:spcPct val="160000"/>
              </a:lnSpc>
              <a:spcBef>
                <a:spcPts val="400"/>
              </a:spcBef>
            </a:pPr>
            <a:r>
              <a:rPr lang="en-US" sz="15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The material is fast-paced or system-paced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400"/>
              </a:spcBef>
            </a:pPr>
            <a:r>
              <a:rPr lang="en-US" sz="1500" dirty="0">
                <a:solidFill>
                  <a:srgbClr val="B4530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■</a:t>
            </a:r>
            <a:pPr>
              <a:lnSpc>
                <a:spcPct val="160000"/>
              </a:lnSpc>
              <a:spcBef>
                <a:spcPts val="400"/>
              </a:spcBef>
            </a:pPr>
            <a:r>
              <a:rPr lang="en-US" sz="15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Learners are not experienced enough to process multiple streams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762000" y="7175500"/>
            <a:ext cx="14732000" cy="825500"/>
          </a:xfrm>
          <a:prstGeom prst="rect">
            <a:avLst/>
          </a:prstGeom>
          <a:solidFill>
            <a:srgbClr val="F5F0E8"/>
          </a:solidFill>
          <a:ln/>
        </p:spPr>
      </p:sp>
      <p:sp>
        <p:nvSpPr>
          <p:cNvPr id="23" name="Shape 21"/>
          <p:cNvSpPr/>
          <p:nvPr/>
        </p:nvSpPr>
        <p:spPr>
          <a:xfrm>
            <a:off x="1016000" y="7366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304800"/>
                </a:moveTo>
                <a:cubicBezTo>
                  <a:pt x="236512" y="304800"/>
                  <a:pt x="304800" y="236512"/>
                  <a:pt x="304800" y="152400"/>
                </a:cubicBezTo>
                <a:cubicBezTo>
                  <a:pt x="304800" y="68288"/>
                  <a:pt x="236512" y="0"/>
                  <a:pt x="152400" y="0"/>
                </a:cubicBezTo>
                <a:cubicBezTo>
                  <a:pt x="68288" y="0"/>
                  <a:pt x="0" y="68288"/>
                  <a:pt x="0" y="152400"/>
                </a:cubicBezTo>
                <a:cubicBezTo>
                  <a:pt x="0" y="236512"/>
                  <a:pt x="68288" y="304800"/>
                  <a:pt x="152400" y="304800"/>
                </a:cubicBezTo>
                <a:close/>
                <a:moveTo>
                  <a:pt x="133350" y="95250"/>
                </a:moveTo>
                <a:cubicBezTo>
                  <a:pt x="133350" y="84736"/>
                  <a:pt x="141886" y="76200"/>
                  <a:pt x="152400" y="76200"/>
                </a:cubicBezTo>
                <a:cubicBezTo>
                  <a:pt x="162914" y="76200"/>
                  <a:pt x="171450" y="84736"/>
                  <a:pt x="171450" y="95250"/>
                </a:cubicBezTo>
                <a:cubicBezTo>
                  <a:pt x="171450" y="105764"/>
                  <a:pt x="162914" y="114300"/>
                  <a:pt x="152400" y="114300"/>
                </a:cubicBezTo>
                <a:cubicBezTo>
                  <a:pt x="141886" y="114300"/>
                  <a:pt x="133350" y="105764"/>
                  <a:pt x="133350" y="95250"/>
                </a:cubicBezTo>
                <a:close/>
                <a:moveTo>
                  <a:pt x="128588" y="133350"/>
                </a:moveTo>
                <a:lnTo>
                  <a:pt x="157163" y="133350"/>
                </a:lnTo>
                <a:cubicBezTo>
                  <a:pt x="165080" y="133350"/>
                  <a:pt x="171450" y="139720"/>
                  <a:pt x="171450" y="147638"/>
                </a:cubicBezTo>
                <a:lnTo>
                  <a:pt x="171450" y="200025"/>
                </a:lnTo>
                <a:lnTo>
                  <a:pt x="176212" y="200025"/>
                </a:lnTo>
                <a:cubicBezTo>
                  <a:pt x="184130" y="200025"/>
                  <a:pt x="190500" y="206395"/>
                  <a:pt x="190500" y="214313"/>
                </a:cubicBezTo>
                <a:cubicBezTo>
                  <a:pt x="190500" y="222230"/>
                  <a:pt x="184130" y="228600"/>
                  <a:pt x="176212" y="228600"/>
                </a:cubicBezTo>
                <a:lnTo>
                  <a:pt x="128588" y="228600"/>
                </a:lnTo>
                <a:cubicBezTo>
                  <a:pt x="120670" y="228600"/>
                  <a:pt x="114300" y="222230"/>
                  <a:pt x="114300" y="214313"/>
                </a:cubicBezTo>
                <a:cubicBezTo>
                  <a:pt x="114300" y="206395"/>
                  <a:pt x="120670" y="200025"/>
                  <a:pt x="128588" y="200025"/>
                </a:cubicBezTo>
                <a:lnTo>
                  <a:pt x="142875" y="200025"/>
                </a:lnTo>
                <a:lnTo>
                  <a:pt x="142875" y="161925"/>
                </a:lnTo>
                <a:lnTo>
                  <a:pt x="128588" y="161925"/>
                </a:lnTo>
                <a:cubicBezTo>
                  <a:pt x="120670" y="161925"/>
                  <a:pt x="114300" y="155555"/>
                  <a:pt x="114300" y="147638"/>
                </a:cubicBezTo>
                <a:cubicBezTo>
                  <a:pt x="114300" y="139720"/>
                  <a:pt x="120670" y="133350"/>
                  <a:pt x="128588" y="133350"/>
                </a:cubicBezTo>
                <a:close/>
              </a:path>
            </a:pathLst>
          </a:custGeom>
          <a:solidFill>
            <a:srgbClr val="B45309"/>
          </a:solidFill>
          <a:ln/>
        </p:spPr>
      </p:sp>
      <p:sp>
        <p:nvSpPr>
          <p:cNvPr id="24" name="Text 22"/>
          <p:cNvSpPr/>
          <p:nvPr/>
        </p:nvSpPr>
        <p:spPr>
          <a:xfrm>
            <a:off x="1460500" y="7239000"/>
            <a:ext cx="13716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Exception: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On-screen text can help when it is short, highlights key actions, and is placed next to the described graphic element.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4986000" y="86360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78716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17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3175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200" kern="0" dirty="0">
                <a:solidFill>
                  <a:srgbClr val="B4530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REDUNDANCY PRINCIPLE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62000" y="6350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B4530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Research Evidence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1206500"/>
            <a:ext cx="14732000" cy="12700"/>
          </a:xfrm>
          <a:prstGeom prst="rect">
            <a:avLst/>
          </a:prstGeom>
          <a:solidFill>
            <a:srgbClr val="E7E5E4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1460500"/>
            <a:ext cx="4699000" cy="1651000"/>
          </a:xfrm>
          <a:prstGeom prst="rect">
            <a:avLst/>
          </a:prstGeom>
          <a:solidFill>
            <a:srgbClr val="F5F0E8"/>
          </a:solidFill>
          <a:ln/>
        </p:spPr>
      </p:sp>
      <p:sp>
        <p:nvSpPr>
          <p:cNvPr id="7" name="Text 5"/>
          <p:cNvSpPr/>
          <p:nvPr/>
        </p:nvSpPr>
        <p:spPr>
          <a:xfrm>
            <a:off x="1016000" y="1524000"/>
            <a:ext cx="4191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200" b="1" dirty="0">
                <a:solidFill>
                  <a:srgbClr val="B4530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16/16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16000" y="2286000"/>
            <a:ext cx="4191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Experimental tests supported the redundancy principle (100% consistency)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778500" y="1460500"/>
            <a:ext cx="4699000" cy="1651000"/>
          </a:xfrm>
          <a:prstGeom prst="rect">
            <a:avLst/>
          </a:prstGeom>
          <a:solidFill>
            <a:srgbClr val="F5F0E8"/>
          </a:solidFill>
          <a:ln/>
        </p:spPr>
      </p:sp>
      <p:sp>
        <p:nvSpPr>
          <p:cNvPr id="10" name="Text 8"/>
          <p:cNvSpPr/>
          <p:nvPr/>
        </p:nvSpPr>
        <p:spPr>
          <a:xfrm>
            <a:off x="6032500" y="1524000"/>
            <a:ext cx="4191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200" b="1" dirty="0">
                <a:solidFill>
                  <a:srgbClr val="B4530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0.86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032500" y="2286000"/>
            <a:ext cx="4191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Median effect size — a large, practically significant effect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0795000" y="1460500"/>
            <a:ext cx="4699000" cy="1651000"/>
          </a:xfrm>
          <a:prstGeom prst="rect">
            <a:avLst/>
          </a:prstGeom>
          <a:solidFill>
            <a:srgbClr val="F5F0E8"/>
          </a:solidFill>
          <a:ln/>
        </p:spPr>
      </p:sp>
      <p:sp>
        <p:nvSpPr>
          <p:cNvPr id="13" name="Shape 11"/>
          <p:cNvSpPr/>
          <p:nvPr/>
        </p:nvSpPr>
        <p:spPr>
          <a:xfrm>
            <a:off x="11049000" y="1651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cubicBezTo>
                  <a:pt x="241727" y="0"/>
                  <a:pt x="253782" y="7233"/>
                  <a:pt x="260033" y="18752"/>
                </a:cubicBezTo>
                <a:lnTo>
                  <a:pt x="452914" y="375940"/>
                </a:lnTo>
                <a:cubicBezTo>
                  <a:pt x="458897" y="387013"/>
                  <a:pt x="458629" y="400407"/>
                  <a:pt x="452199" y="411212"/>
                </a:cubicBezTo>
                <a:cubicBezTo>
                  <a:pt x="445770" y="422017"/>
                  <a:pt x="434072" y="428625"/>
                  <a:pt x="421481" y="428625"/>
                </a:cubicBezTo>
                <a:lnTo>
                  <a:pt x="35719" y="428625"/>
                </a:lnTo>
                <a:cubicBezTo>
                  <a:pt x="23128" y="428625"/>
                  <a:pt x="11519" y="422017"/>
                  <a:pt x="5001" y="411212"/>
                </a:cubicBezTo>
                <a:cubicBezTo>
                  <a:pt x="-1518" y="400407"/>
                  <a:pt x="-1697" y="387013"/>
                  <a:pt x="4286" y="375940"/>
                </a:cubicBezTo>
                <a:lnTo>
                  <a:pt x="197168" y="18752"/>
                </a:lnTo>
                <a:cubicBezTo>
                  <a:pt x="203418" y="7233"/>
                  <a:pt x="215473" y="0"/>
                  <a:pt x="228600" y="0"/>
                </a:cubicBezTo>
                <a:close/>
                <a:moveTo>
                  <a:pt x="228600" y="150019"/>
                </a:moveTo>
                <a:cubicBezTo>
                  <a:pt x="216724" y="150019"/>
                  <a:pt x="207169" y="159574"/>
                  <a:pt x="207169" y="171450"/>
                </a:cubicBezTo>
                <a:lnTo>
                  <a:pt x="207169" y="271463"/>
                </a:lnTo>
                <a:cubicBezTo>
                  <a:pt x="207169" y="283339"/>
                  <a:pt x="216724" y="292894"/>
                  <a:pt x="228600" y="292894"/>
                </a:cubicBezTo>
                <a:cubicBezTo>
                  <a:pt x="240476" y="292894"/>
                  <a:pt x="250031" y="283339"/>
                  <a:pt x="250031" y="271463"/>
                </a:cubicBezTo>
                <a:lnTo>
                  <a:pt x="250031" y="171450"/>
                </a:lnTo>
                <a:cubicBezTo>
                  <a:pt x="250031" y="159574"/>
                  <a:pt x="240476" y="150019"/>
                  <a:pt x="228600" y="150019"/>
                </a:cubicBezTo>
                <a:close/>
                <a:moveTo>
                  <a:pt x="252442" y="342900"/>
                </a:moveTo>
                <a:cubicBezTo>
                  <a:pt x="252985" y="334050"/>
                  <a:pt x="248571" y="325630"/>
                  <a:pt x="240985" y="321041"/>
                </a:cubicBezTo>
                <a:cubicBezTo>
                  <a:pt x="233398" y="316452"/>
                  <a:pt x="223891" y="316452"/>
                  <a:pt x="216305" y="321041"/>
                </a:cubicBezTo>
                <a:cubicBezTo>
                  <a:pt x="208718" y="325630"/>
                  <a:pt x="204305" y="334050"/>
                  <a:pt x="204847" y="342900"/>
                </a:cubicBezTo>
                <a:cubicBezTo>
                  <a:pt x="204305" y="351750"/>
                  <a:pt x="208718" y="360170"/>
                  <a:pt x="216305" y="364759"/>
                </a:cubicBezTo>
                <a:cubicBezTo>
                  <a:pt x="223891" y="369348"/>
                  <a:pt x="233398" y="369348"/>
                  <a:pt x="240985" y="364759"/>
                </a:cubicBezTo>
                <a:cubicBezTo>
                  <a:pt x="248571" y="360170"/>
                  <a:pt x="252985" y="351750"/>
                  <a:pt x="252442" y="342900"/>
                </a:cubicBezTo>
                <a:close/>
              </a:path>
            </a:pathLst>
          </a:custGeom>
          <a:solidFill>
            <a:srgbClr val="C2410C"/>
          </a:solidFill>
          <a:ln/>
        </p:spPr>
      </p:sp>
      <p:sp>
        <p:nvSpPr>
          <p:cNvPr id="14" name="Text 12"/>
          <p:cNvSpPr/>
          <p:nvPr/>
        </p:nvSpPr>
        <p:spPr>
          <a:xfrm>
            <a:off x="11049000" y="2222500"/>
            <a:ext cx="4191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Challenges the "more is better" misconception in multimedia design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62000" y="3429000"/>
            <a:ext cx="762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b="1" dirty="0">
                <a:solidFill>
                  <a:srgbClr val="1C191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Consistent Finding Across All Studies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762000" y="4000500"/>
            <a:ext cx="14732000" cy="1143000"/>
          </a:xfrm>
          <a:prstGeom prst="rect">
            <a:avLst/>
          </a:prstGeom>
          <a:solidFill>
            <a:srgbClr val="F5F0E8"/>
          </a:solidFill>
          <a:ln/>
        </p:spPr>
      </p:sp>
      <p:sp>
        <p:nvSpPr>
          <p:cNvPr id="17" name="Text 15"/>
          <p:cNvSpPr/>
          <p:nvPr/>
        </p:nvSpPr>
        <p:spPr>
          <a:xfrm>
            <a:off x="1016000" y="4127500"/>
            <a:ext cx="14224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7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Graphics + narration groups </a:t>
            </a:r>
            <a:pPr>
              <a:lnSpc>
                <a:spcPct val="160000"/>
              </a:lnSpc>
            </a:pPr>
            <a:r>
              <a:rPr lang="en-US" sz="1700" b="1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consistently outperformed</a:t>
            </a:r>
            <a:pPr>
              <a:lnSpc>
                <a:spcPct val="160000"/>
              </a:lnSpc>
            </a:pPr>
            <a:r>
              <a:rPr lang="en-US" sz="17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graphics + narration + on-screen text groups. Adding identical information in multiple formats can </a:t>
            </a:r>
            <a:pPr>
              <a:lnSpc>
                <a:spcPct val="160000"/>
              </a:lnSpc>
            </a:pPr>
            <a:r>
              <a:rPr lang="en-US" sz="1700" b="1" dirty="0">
                <a:solidFill>
                  <a:srgbClr val="C2410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HURT</a:t>
            </a:r>
            <a:pPr>
              <a:lnSpc>
                <a:spcPct val="160000"/>
              </a:lnSpc>
            </a:pPr>
            <a:r>
              <a:rPr lang="en-US" sz="17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learning rather than help it.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62000" y="5461000"/>
            <a:ext cx="508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b="1" dirty="0">
                <a:solidFill>
                  <a:srgbClr val="1C191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Boundary Conditions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762000" y="6070600"/>
            <a:ext cx="101600" cy="10160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20" name="Text 18"/>
          <p:cNvSpPr/>
          <p:nvPr/>
        </p:nvSpPr>
        <p:spPr>
          <a:xfrm>
            <a:off x="1016000" y="5969000"/>
            <a:ext cx="6477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Effect is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strongest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when material is fast-paced or system-paced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762000" y="6769100"/>
            <a:ext cx="101600" cy="10160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22" name="Text 20"/>
          <p:cNvSpPr/>
          <p:nvPr/>
        </p:nvSpPr>
        <p:spPr>
          <a:xfrm>
            <a:off x="1016000" y="6667500"/>
            <a:ext cx="6477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Effect may be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reduced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when learners can control their own pacing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8382000" y="6070600"/>
            <a:ext cx="101600" cy="10160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24" name="Text 22"/>
          <p:cNvSpPr/>
          <p:nvPr/>
        </p:nvSpPr>
        <p:spPr>
          <a:xfrm>
            <a:off x="8636000" y="5969000"/>
            <a:ext cx="6477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Effect may be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reduced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for experienced learners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8382000" y="6769100"/>
            <a:ext cx="101600" cy="10160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26" name="Text 24"/>
          <p:cNvSpPr/>
          <p:nvPr/>
        </p:nvSpPr>
        <p:spPr>
          <a:xfrm>
            <a:off x="8636000" y="6667500"/>
            <a:ext cx="6477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Effect may be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reduced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when on-screen text is minimal and selective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762000" y="8255000"/>
            <a:ext cx="1016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78716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Source: Mayer, R. E. &amp; Fiorella, L. (2014). Cambridge Handbook of Multimedia Learning, Ch. 12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4986000" y="86360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78716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18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3175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200" kern="0" dirty="0">
                <a:solidFill>
                  <a:srgbClr val="B4530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REDUNDANCY PRINCIPLE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62000" y="6350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B4530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Application Techniques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1206500"/>
            <a:ext cx="14732000" cy="12700"/>
          </a:xfrm>
          <a:prstGeom prst="rect">
            <a:avLst/>
          </a:prstGeom>
          <a:solidFill>
            <a:srgbClr val="E7E5E4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1498600"/>
            <a:ext cx="457200" cy="45720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7" name="Text 5"/>
          <p:cNvSpPr/>
          <p:nvPr/>
        </p:nvSpPr>
        <p:spPr>
          <a:xfrm>
            <a:off x="762000" y="14986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97000" y="1498600"/>
            <a:ext cx="444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Choose One Channel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97000" y="1905000"/>
            <a:ext cx="5842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 either narration OR on-screen text with graphics, not both simultaneously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62000" y="2768600"/>
            <a:ext cx="457200" cy="45720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11" name="Text 9"/>
          <p:cNvSpPr/>
          <p:nvPr/>
        </p:nvSpPr>
        <p:spPr>
          <a:xfrm>
            <a:off x="762000" y="27686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97000" y="2768600"/>
            <a:ext cx="444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Minimize On-Screen Text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397000" y="3175000"/>
            <a:ext cx="5842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 narrated presentations, keep text to keywords, labels, or brief summaries only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62000" y="4038600"/>
            <a:ext cx="457200" cy="45720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15" name="Text 13"/>
          <p:cNvSpPr/>
          <p:nvPr/>
        </p:nvSpPr>
        <p:spPr>
          <a:xfrm>
            <a:off x="762000" y="40386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397000" y="4038600"/>
            <a:ext cx="444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 Graphics as Anchor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97000" y="4445000"/>
            <a:ext cx="5842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Let graphics carry the visual information while narration provides explanation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8382000" y="1498600"/>
            <a:ext cx="457200" cy="45720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19" name="Text 17"/>
          <p:cNvSpPr/>
          <p:nvPr/>
        </p:nvSpPr>
        <p:spPr>
          <a:xfrm>
            <a:off x="8382000" y="14986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017000" y="1498600"/>
            <a:ext cx="444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Selective Keywords Only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017000" y="1905000"/>
            <a:ext cx="6223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If text is necessary, use short keywords highlighting key actions, placed next to relevant graphic elements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8382000" y="2768600"/>
            <a:ext cx="457200" cy="45720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23" name="Text 21"/>
          <p:cNvSpPr/>
          <p:nvPr/>
        </p:nvSpPr>
        <p:spPr>
          <a:xfrm>
            <a:off x="8382000" y="27686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017000" y="2768600"/>
            <a:ext cx="444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End-of-Section Recaps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017000" y="3175000"/>
            <a:ext cx="6223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 text summaries at the END of sections (not during) to reinforce key takeaways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762000" y="5461000"/>
            <a:ext cx="14732000" cy="1270000"/>
          </a:xfrm>
          <a:prstGeom prst="rect">
            <a:avLst/>
          </a:prstGeom>
          <a:solidFill>
            <a:srgbClr val="F5F0E8"/>
          </a:solidFill>
          <a:ln/>
        </p:spPr>
      </p:sp>
      <p:sp>
        <p:nvSpPr>
          <p:cNvPr id="27" name="Shape 25"/>
          <p:cNvSpPr/>
          <p:nvPr/>
        </p:nvSpPr>
        <p:spPr>
          <a:xfrm>
            <a:off x="1054100" y="5778500"/>
            <a:ext cx="457200" cy="406400"/>
          </a:xfrm>
          <a:custGeom>
            <a:avLst/>
            <a:gdLst/>
            <a:ahLst/>
            <a:cxnLst/>
            <a:rect l="l" t="t" r="r" b="b"/>
            <a:pathLst>
              <a:path w="457200" h="406400">
                <a:moveTo>
                  <a:pt x="245666" y="-15002"/>
                </a:moveTo>
                <a:cubicBezTo>
                  <a:pt x="242411" y="-21352"/>
                  <a:pt x="235823" y="-25400"/>
                  <a:pt x="228679" y="-25400"/>
                </a:cubicBezTo>
                <a:cubicBezTo>
                  <a:pt x="221536" y="-25400"/>
                  <a:pt x="214948" y="-21352"/>
                  <a:pt x="211693" y="-15002"/>
                </a:cubicBezTo>
                <a:lnTo>
                  <a:pt x="153273" y="99457"/>
                </a:lnTo>
                <a:lnTo>
                  <a:pt x="26353" y="119618"/>
                </a:lnTo>
                <a:cubicBezTo>
                  <a:pt x="19288" y="120729"/>
                  <a:pt x="13414" y="125730"/>
                  <a:pt x="11192" y="132556"/>
                </a:cubicBezTo>
                <a:cubicBezTo>
                  <a:pt x="8969" y="139383"/>
                  <a:pt x="10795" y="146844"/>
                  <a:pt x="15796" y="151924"/>
                </a:cubicBezTo>
                <a:lnTo>
                  <a:pt x="106601" y="242808"/>
                </a:lnTo>
                <a:lnTo>
                  <a:pt x="86598" y="369729"/>
                </a:lnTo>
                <a:cubicBezTo>
                  <a:pt x="85487" y="376793"/>
                  <a:pt x="88424" y="383937"/>
                  <a:pt x="94218" y="388144"/>
                </a:cubicBezTo>
                <a:cubicBezTo>
                  <a:pt x="100013" y="392351"/>
                  <a:pt x="107633" y="392986"/>
                  <a:pt x="114062" y="389731"/>
                </a:cubicBezTo>
                <a:lnTo>
                  <a:pt x="228679" y="331470"/>
                </a:lnTo>
                <a:lnTo>
                  <a:pt x="343218" y="389731"/>
                </a:lnTo>
                <a:cubicBezTo>
                  <a:pt x="349568" y="392986"/>
                  <a:pt x="357267" y="392351"/>
                  <a:pt x="363061" y="388144"/>
                </a:cubicBezTo>
                <a:cubicBezTo>
                  <a:pt x="368856" y="383937"/>
                  <a:pt x="371793" y="376873"/>
                  <a:pt x="370681" y="369729"/>
                </a:cubicBezTo>
                <a:lnTo>
                  <a:pt x="350599" y="242808"/>
                </a:lnTo>
                <a:lnTo>
                  <a:pt x="441404" y="151924"/>
                </a:lnTo>
                <a:cubicBezTo>
                  <a:pt x="446484" y="146844"/>
                  <a:pt x="448231" y="139383"/>
                  <a:pt x="446008" y="132556"/>
                </a:cubicBezTo>
                <a:cubicBezTo>
                  <a:pt x="443786" y="125730"/>
                  <a:pt x="437991" y="120729"/>
                  <a:pt x="430847" y="119618"/>
                </a:cubicBezTo>
                <a:lnTo>
                  <a:pt x="304006" y="99457"/>
                </a:lnTo>
                <a:lnTo>
                  <a:pt x="245666" y="-15002"/>
                </a:lnTo>
                <a:close/>
              </a:path>
            </a:pathLst>
          </a:custGeom>
          <a:solidFill>
            <a:srgbClr val="B45309"/>
          </a:solidFill>
          <a:ln/>
        </p:spPr>
      </p:sp>
      <p:sp>
        <p:nvSpPr>
          <p:cNvPr id="28" name="Text 26"/>
          <p:cNvSpPr/>
          <p:nvPr/>
        </p:nvSpPr>
        <p:spPr>
          <a:xfrm>
            <a:off x="1651000" y="55880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B4530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Golden Rule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651000" y="5994400"/>
            <a:ext cx="13462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i="1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"Narration + Graphics = Best; Narration + Graphics + Full Text = Worst"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762000" y="70485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Quick Checklist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62000" y="7493000"/>
            <a:ext cx="14732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B4530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Does on-screen text repeat the narration? 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B4530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Can text be replaced with keywords? 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B4530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Are graphics doing the visual heavy lifting?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4986000" y="86360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78716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19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3175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200" kern="0" dirty="0">
                <a:solidFill>
                  <a:srgbClr val="B4530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REDUNDANCY PRINCIPLE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62000" y="6350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B4530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Practical Examples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1206500"/>
            <a:ext cx="14732000" cy="12700"/>
          </a:xfrm>
          <a:prstGeom prst="rect">
            <a:avLst/>
          </a:prstGeom>
          <a:solidFill>
            <a:srgbClr val="E7E5E4"/>
          </a:solidFill>
          <a:ln/>
        </p:spPr>
      </p:sp>
      <p:sp>
        <p:nvSpPr>
          <p:cNvPr id="6" name="Shape 4"/>
          <p:cNvSpPr/>
          <p:nvPr/>
        </p:nvSpPr>
        <p:spPr>
          <a:xfrm>
            <a:off x="717550" y="1498600"/>
            <a:ext cx="444500" cy="355600"/>
          </a:xfrm>
          <a:custGeom>
            <a:avLst/>
            <a:gdLst/>
            <a:ahLst/>
            <a:cxnLst/>
            <a:rect l="l" t="t" r="r" b="b"/>
            <a:pathLst>
              <a:path w="444500" h="355600">
                <a:moveTo>
                  <a:pt x="88900" y="66675"/>
                </a:moveTo>
                <a:cubicBezTo>
                  <a:pt x="88900" y="42158"/>
                  <a:pt x="108833" y="22225"/>
                  <a:pt x="133350" y="22225"/>
                </a:cubicBezTo>
                <a:lnTo>
                  <a:pt x="377825" y="22225"/>
                </a:lnTo>
                <a:cubicBezTo>
                  <a:pt x="402342" y="22225"/>
                  <a:pt x="422275" y="42158"/>
                  <a:pt x="422275" y="66675"/>
                </a:cubicBezTo>
                <a:lnTo>
                  <a:pt x="422275" y="233363"/>
                </a:lnTo>
                <a:lnTo>
                  <a:pt x="355600" y="233363"/>
                </a:lnTo>
                <a:lnTo>
                  <a:pt x="355600" y="222250"/>
                </a:lnTo>
                <a:cubicBezTo>
                  <a:pt x="355600" y="209957"/>
                  <a:pt x="345668" y="200025"/>
                  <a:pt x="333375" y="200025"/>
                </a:cubicBezTo>
                <a:lnTo>
                  <a:pt x="288925" y="200025"/>
                </a:lnTo>
                <a:cubicBezTo>
                  <a:pt x="276632" y="200025"/>
                  <a:pt x="266700" y="209957"/>
                  <a:pt x="266700" y="222250"/>
                </a:cubicBezTo>
                <a:lnTo>
                  <a:pt x="266700" y="233363"/>
                </a:lnTo>
                <a:lnTo>
                  <a:pt x="177036" y="233363"/>
                </a:lnTo>
                <a:cubicBezTo>
                  <a:pt x="184606" y="220305"/>
                  <a:pt x="188913" y="205095"/>
                  <a:pt x="188913" y="188913"/>
                </a:cubicBezTo>
                <a:cubicBezTo>
                  <a:pt x="188913" y="139809"/>
                  <a:pt x="149116" y="100013"/>
                  <a:pt x="100013" y="100013"/>
                </a:cubicBezTo>
                <a:cubicBezTo>
                  <a:pt x="96262" y="100013"/>
                  <a:pt x="92512" y="100221"/>
                  <a:pt x="88900" y="100707"/>
                </a:cubicBezTo>
                <a:lnTo>
                  <a:pt x="88900" y="66675"/>
                </a:lnTo>
                <a:close/>
                <a:moveTo>
                  <a:pt x="231279" y="311150"/>
                </a:moveTo>
                <a:cubicBezTo>
                  <a:pt x="227737" y="294342"/>
                  <a:pt x="219958" y="279132"/>
                  <a:pt x="208984" y="266700"/>
                </a:cubicBezTo>
                <a:lnTo>
                  <a:pt x="422275" y="266700"/>
                </a:lnTo>
                <a:cubicBezTo>
                  <a:pt x="422275" y="291217"/>
                  <a:pt x="402342" y="311150"/>
                  <a:pt x="377825" y="311150"/>
                </a:cubicBezTo>
                <a:lnTo>
                  <a:pt x="231279" y="311150"/>
                </a:lnTo>
                <a:close/>
                <a:moveTo>
                  <a:pt x="44450" y="188913"/>
                </a:moveTo>
                <a:cubicBezTo>
                  <a:pt x="44450" y="158247"/>
                  <a:pt x="69347" y="133350"/>
                  <a:pt x="100012" y="133350"/>
                </a:cubicBezTo>
                <a:cubicBezTo>
                  <a:pt x="130678" y="133350"/>
                  <a:pt x="155575" y="158247"/>
                  <a:pt x="155575" y="188913"/>
                </a:cubicBezTo>
                <a:cubicBezTo>
                  <a:pt x="155575" y="219578"/>
                  <a:pt x="130678" y="244475"/>
                  <a:pt x="100013" y="244475"/>
                </a:cubicBezTo>
                <a:cubicBezTo>
                  <a:pt x="69347" y="244475"/>
                  <a:pt x="44450" y="219578"/>
                  <a:pt x="44450" y="188913"/>
                </a:cubicBezTo>
                <a:close/>
                <a:moveTo>
                  <a:pt x="0" y="333375"/>
                </a:moveTo>
                <a:cubicBezTo>
                  <a:pt x="0" y="296565"/>
                  <a:pt x="29865" y="266700"/>
                  <a:pt x="66675" y="266700"/>
                </a:cubicBezTo>
                <a:lnTo>
                  <a:pt x="133350" y="266700"/>
                </a:lnTo>
                <a:cubicBezTo>
                  <a:pt x="170160" y="266700"/>
                  <a:pt x="200025" y="296565"/>
                  <a:pt x="200025" y="333375"/>
                </a:cubicBezTo>
                <a:cubicBezTo>
                  <a:pt x="200025" y="345668"/>
                  <a:pt x="190093" y="355600"/>
                  <a:pt x="177800" y="355600"/>
                </a:cubicBezTo>
                <a:lnTo>
                  <a:pt x="22225" y="355600"/>
                </a:lnTo>
                <a:cubicBezTo>
                  <a:pt x="9932" y="355600"/>
                  <a:pt x="0" y="345668"/>
                  <a:pt x="0" y="333375"/>
                </a:cubicBezTo>
                <a:close/>
              </a:path>
            </a:pathLst>
          </a:custGeom>
          <a:solidFill>
            <a:srgbClr val="B45309"/>
          </a:solidFill>
          <a:ln/>
        </p:spPr>
      </p:sp>
      <p:sp>
        <p:nvSpPr>
          <p:cNvPr id="7" name="Text 5"/>
          <p:cNvSpPr/>
          <p:nvPr/>
        </p:nvSpPr>
        <p:spPr>
          <a:xfrm>
            <a:off x="1270000" y="14605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b="1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Presentation Design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70000" y="1841500"/>
            <a:ext cx="1397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 diagrams with narration instead of bullet points that repeat what the speaker says word-for-word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62000" y="2476500"/>
            <a:ext cx="14732000" cy="12700"/>
          </a:xfrm>
          <a:prstGeom prst="rect">
            <a:avLst/>
          </a:prstGeom>
          <a:solidFill>
            <a:srgbClr val="E7E5E4"/>
          </a:solidFill>
          <a:ln/>
        </p:spPr>
      </p:sp>
      <p:sp>
        <p:nvSpPr>
          <p:cNvPr id="10" name="Shape 8"/>
          <p:cNvSpPr/>
          <p:nvPr/>
        </p:nvSpPr>
        <p:spPr>
          <a:xfrm>
            <a:off x="739775" y="2667000"/>
            <a:ext cx="400050" cy="355600"/>
          </a:xfrm>
          <a:custGeom>
            <a:avLst/>
            <a:gdLst/>
            <a:ahLst/>
            <a:cxnLst/>
            <a:rect l="l" t="t" r="r" b="b"/>
            <a:pathLst>
              <a:path w="400050" h="355600">
                <a:moveTo>
                  <a:pt x="44450" y="44450"/>
                </a:moveTo>
                <a:cubicBezTo>
                  <a:pt x="44450" y="19933"/>
                  <a:pt x="64383" y="0"/>
                  <a:pt x="88900" y="0"/>
                </a:cubicBezTo>
                <a:lnTo>
                  <a:pt x="288925" y="0"/>
                </a:lnTo>
                <a:cubicBezTo>
                  <a:pt x="313442" y="0"/>
                  <a:pt x="333375" y="19933"/>
                  <a:pt x="333375" y="44450"/>
                </a:cubicBezTo>
                <a:lnTo>
                  <a:pt x="333375" y="77788"/>
                </a:lnTo>
                <a:lnTo>
                  <a:pt x="288925" y="77788"/>
                </a:lnTo>
                <a:lnTo>
                  <a:pt x="288925" y="44450"/>
                </a:lnTo>
                <a:lnTo>
                  <a:pt x="88900" y="44450"/>
                </a:lnTo>
                <a:lnTo>
                  <a:pt x="88900" y="177800"/>
                </a:lnTo>
                <a:lnTo>
                  <a:pt x="166688" y="177800"/>
                </a:lnTo>
                <a:lnTo>
                  <a:pt x="166688" y="244475"/>
                </a:lnTo>
                <a:lnTo>
                  <a:pt x="53340" y="244475"/>
                </a:lnTo>
                <a:cubicBezTo>
                  <a:pt x="23892" y="244475"/>
                  <a:pt x="0" y="220583"/>
                  <a:pt x="0" y="191135"/>
                </a:cubicBezTo>
                <a:cubicBezTo>
                  <a:pt x="0" y="183773"/>
                  <a:pt x="5973" y="177800"/>
                  <a:pt x="13335" y="177800"/>
                </a:cubicBezTo>
                <a:lnTo>
                  <a:pt x="44450" y="177800"/>
                </a:lnTo>
                <a:lnTo>
                  <a:pt x="44450" y="44450"/>
                </a:lnTo>
                <a:close/>
                <a:moveTo>
                  <a:pt x="368032" y="179120"/>
                </a:moveTo>
                <a:cubicBezTo>
                  <a:pt x="374283" y="185370"/>
                  <a:pt x="377825" y="193844"/>
                  <a:pt x="377825" y="202664"/>
                </a:cubicBezTo>
                <a:lnTo>
                  <a:pt x="377825" y="322263"/>
                </a:lnTo>
                <a:cubicBezTo>
                  <a:pt x="377825" y="340668"/>
                  <a:pt x="362893" y="355600"/>
                  <a:pt x="344488" y="355600"/>
                </a:cubicBezTo>
                <a:lnTo>
                  <a:pt x="233363" y="355600"/>
                </a:lnTo>
                <a:cubicBezTo>
                  <a:pt x="214957" y="355600"/>
                  <a:pt x="200025" y="340668"/>
                  <a:pt x="200025" y="322263"/>
                </a:cubicBezTo>
                <a:lnTo>
                  <a:pt x="200025" y="144463"/>
                </a:lnTo>
                <a:cubicBezTo>
                  <a:pt x="200025" y="126057"/>
                  <a:pt x="214957" y="111125"/>
                  <a:pt x="233363" y="111125"/>
                </a:cubicBezTo>
                <a:lnTo>
                  <a:pt x="286216" y="111125"/>
                </a:lnTo>
                <a:cubicBezTo>
                  <a:pt x="295037" y="111125"/>
                  <a:pt x="303510" y="114667"/>
                  <a:pt x="309761" y="120918"/>
                </a:cubicBezTo>
                <a:cubicBezTo>
                  <a:pt x="323652" y="134809"/>
                  <a:pt x="343029" y="154186"/>
                  <a:pt x="368032" y="179189"/>
                </a:cubicBezTo>
                <a:close/>
                <a:moveTo>
                  <a:pt x="288925" y="188913"/>
                </a:moveTo>
                <a:cubicBezTo>
                  <a:pt x="288925" y="195024"/>
                  <a:pt x="293926" y="200025"/>
                  <a:pt x="300038" y="200025"/>
                </a:cubicBezTo>
                <a:lnTo>
                  <a:pt x="341779" y="200025"/>
                </a:lnTo>
                <a:lnTo>
                  <a:pt x="288925" y="147171"/>
                </a:lnTo>
                <a:lnTo>
                  <a:pt x="288925" y="188913"/>
                </a:lnTo>
                <a:close/>
              </a:path>
            </a:pathLst>
          </a:custGeom>
          <a:solidFill>
            <a:srgbClr val="B45309"/>
          </a:solidFill>
          <a:ln/>
        </p:spPr>
      </p:sp>
      <p:sp>
        <p:nvSpPr>
          <p:cNvPr id="11" name="Text 9"/>
          <p:cNvSpPr/>
          <p:nvPr/>
        </p:nvSpPr>
        <p:spPr>
          <a:xfrm>
            <a:off x="1270000" y="26289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b="1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E-Learning Modules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70000" y="3009900"/>
            <a:ext cx="1397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Show animated graphics with voiceover; avoid displaying full sentences that match the narration word-for-word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62000" y="3644900"/>
            <a:ext cx="14732000" cy="12700"/>
          </a:xfrm>
          <a:prstGeom prst="rect">
            <a:avLst/>
          </a:prstGeom>
          <a:solidFill>
            <a:srgbClr val="E7E5E4"/>
          </a:solidFill>
          <a:ln/>
        </p:spPr>
      </p:sp>
      <p:sp>
        <p:nvSpPr>
          <p:cNvPr id="14" name="Shape 12"/>
          <p:cNvSpPr/>
          <p:nvPr/>
        </p:nvSpPr>
        <p:spPr>
          <a:xfrm>
            <a:off x="762000" y="38354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0" y="177800"/>
                </a:moveTo>
                <a:cubicBezTo>
                  <a:pt x="0" y="79670"/>
                  <a:pt x="79670" y="0"/>
                  <a:pt x="177800" y="0"/>
                </a:cubicBezTo>
                <a:cubicBezTo>
                  <a:pt x="275930" y="0"/>
                  <a:pt x="355600" y="79670"/>
                  <a:pt x="355600" y="177800"/>
                </a:cubicBezTo>
                <a:cubicBezTo>
                  <a:pt x="355600" y="275930"/>
                  <a:pt x="275930" y="355600"/>
                  <a:pt x="177800" y="355600"/>
                </a:cubicBezTo>
                <a:cubicBezTo>
                  <a:pt x="79670" y="355600"/>
                  <a:pt x="0" y="275930"/>
                  <a:pt x="0" y="177800"/>
                </a:cubicBezTo>
                <a:close/>
                <a:moveTo>
                  <a:pt x="130780" y="102166"/>
                </a:moveTo>
                <a:cubicBezTo>
                  <a:pt x="125502" y="105083"/>
                  <a:pt x="122238" y="110708"/>
                  <a:pt x="122238" y="116681"/>
                </a:cubicBezTo>
                <a:lnTo>
                  <a:pt x="122238" y="238919"/>
                </a:lnTo>
                <a:cubicBezTo>
                  <a:pt x="122238" y="244961"/>
                  <a:pt x="125502" y="250517"/>
                  <a:pt x="130780" y="253434"/>
                </a:cubicBezTo>
                <a:cubicBezTo>
                  <a:pt x="136059" y="256351"/>
                  <a:pt x="142448" y="256282"/>
                  <a:pt x="147657" y="253087"/>
                </a:cubicBezTo>
                <a:lnTo>
                  <a:pt x="247670" y="191968"/>
                </a:lnTo>
                <a:cubicBezTo>
                  <a:pt x="252601" y="188913"/>
                  <a:pt x="255657" y="183565"/>
                  <a:pt x="255657" y="177731"/>
                </a:cubicBezTo>
                <a:cubicBezTo>
                  <a:pt x="255657" y="171896"/>
                  <a:pt x="252601" y="166549"/>
                  <a:pt x="247670" y="163493"/>
                </a:cubicBezTo>
                <a:lnTo>
                  <a:pt x="147657" y="102374"/>
                </a:lnTo>
                <a:cubicBezTo>
                  <a:pt x="142518" y="99249"/>
                  <a:pt x="136059" y="99110"/>
                  <a:pt x="130780" y="102027"/>
                </a:cubicBezTo>
                <a:close/>
              </a:path>
            </a:pathLst>
          </a:custGeom>
          <a:solidFill>
            <a:srgbClr val="B45309"/>
          </a:solidFill>
          <a:ln/>
        </p:spPr>
      </p:sp>
      <p:sp>
        <p:nvSpPr>
          <p:cNvPr id="15" name="Text 13"/>
          <p:cNvSpPr/>
          <p:nvPr/>
        </p:nvSpPr>
        <p:spPr>
          <a:xfrm>
            <a:off x="1270000" y="37973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b="1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Video Tutorials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70000" y="4178300"/>
            <a:ext cx="1397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Demonstrate the process visually while narrating; use on-screen text only for labels or key terms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762000" y="4813300"/>
            <a:ext cx="14732000" cy="12700"/>
          </a:xfrm>
          <a:prstGeom prst="rect">
            <a:avLst/>
          </a:prstGeom>
          <a:solidFill>
            <a:srgbClr val="E7E5E4"/>
          </a:solidFill>
          <a:ln/>
        </p:spPr>
      </p:sp>
      <p:sp>
        <p:nvSpPr>
          <p:cNvPr id="18" name="Shape 16"/>
          <p:cNvSpPr/>
          <p:nvPr/>
        </p:nvSpPr>
        <p:spPr>
          <a:xfrm>
            <a:off x="762000" y="50038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98011" y="35213"/>
                </a:moveTo>
                <a:cubicBezTo>
                  <a:pt x="194399" y="27295"/>
                  <a:pt x="186482" y="22225"/>
                  <a:pt x="177800" y="22225"/>
                </a:cubicBezTo>
                <a:cubicBezTo>
                  <a:pt x="169118" y="22225"/>
                  <a:pt x="161201" y="27295"/>
                  <a:pt x="157589" y="35213"/>
                </a:cubicBezTo>
                <a:lnTo>
                  <a:pt x="41325" y="288925"/>
                </a:lnTo>
                <a:lnTo>
                  <a:pt x="33337" y="288925"/>
                </a:lnTo>
                <a:cubicBezTo>
                  <a:pt x="21044" y="288925"/>
                  <a:pt x="11112" y="298857"/>
                  <a:pt x="11112" y="311150"/>
                </a:cubicBezTo>
                <a:cubicBezTo>
                  <a:pt x="11112" y="323443"/>
                  <a:pt x="21044" y="333375"/>
                  <a:pt x="33337" y="333375"/>
                </a:cubicBezTo>
                <a:lnTo>
                  <a:pt x="94456" y="333375"/>
                </a:lnTo>
                <a:cubicBezTo>
                  <a:pt x="106749" y="333375"/>
                  <a:pt x="116681" y="323443"/>
                  <a:pt x="116681" y="311150"/>
                </a:cubicBezTo>
                <a:cubicBezTo>
                  <a:pt x="116681" y="298857"/>
                  <a:pt x="106749" y="288925"/>
                  <a:pt x="94456" y="288925"/>
                </a:cubicBezTo>
                <a:lnTo>
                  <a:pt x="90220" y="288925"/>
                </a:lnTo>
                <a:lnTo>
                  <a:pt x="105499" y="255587"/>
                </a:lnTo>
                <a:lnTo>
                  <a:pt x="250170" y="255587"/>
                </a:lnTo>
                <a:lnTo>
                  <a:pt x="265450" y="288925"/>
                </a:lnTo>
                <a:lnTo>
                  <a:pt x="261213" y="288925"/>
                </a:lnTo>
                <a:cubicBezTo>
                  <a:pt x="248920" y="288925"/>
                  <a:pt x="238988" y="298857"/>
                  <a:pt x="238988" y="311150"/>
                </a:cubicBezTo>
                <a:cubicBezTo>
                  <a:pt x="238988" y="323443"/>
                  <a:pt x="248920" y="333375"/>
                  <a:pt x="261213" y="333375"/>
                </a:cubicBezTo>
                <a:lnTo>
                  <a:pt x="322332" y="333375"/>
                </a:lnTo>
                <a:cubicBezTo>
                  <a:pt x="334625" y="333375"/>
                  <a:pt x="344557" y="323443"/>
                  <a:pt x="344557" y="311150"/>
                </a:cubicBezTo>
                <a:cubicBezTo>
                  <a:pt x="344557" y="298857"/>
                  <a:pt x="334625" y="288925"/>
                  <a:pt x="322332" y="288925"/>
                </a:cubicBezTo>
                <a:lnTo>
                  <a:pt x="314345" y="288925"/>
                </a:lnTo>
                <a:lnTo>
                  <a:pt x="198080" y="35213"/>
                </a:lnTo>
                <a:close/>
                <a:moveTo>
                  <a:pt x="229751" y="211138"/>
                </a:moveTo>
                <a:lnTo>
                  <a:pt x="125849" y="211138"/>
                </a:lnTo>
                <a:lnTo>
                  <a:pt x="177800" y="97790"/>
                </a:lnTo>
                <a:lnTo>
                  <a:pt x="229751" y="211138"/>
                </a:lnTo>
                <a:close/>
              </a:path>
            </a:pathLst>
          </a:custGeom>
          <a:solidFill>
            <a:srgbClr val="B45309"/>
          </a:solidFill>
          <a:ln/>
        </p:spPr>
      </p:sp>
      <p:sp>
        <p:nvSpPr>
          <p:cNvPr id="19" name="Text 17"/>
          <p:cNvSpPr/>
          <p:nvPr/>
        </p:nvSpPr>
        <p:spPr>
          <a:xfrm>
            <a:off x="1270000" y="49657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b="1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When Text IS Needed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270000" y="5346700"/>
            <a:ext cx="1397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 short labels next to the relevant part of the graphic, not full sentences at the bottom of the screen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762000" y="6223000"/>
            <a:ext cx="14732000" cy="1397000"/>
          </a:xfrm>
          <a:prstGeom prst="rect">
            <a:avLst/>
          </a:prstGeom>
          <a:solidFill>
            <a:srgbClr val="C2410C">
              <a:alpha val="8235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016000" y="6540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0"/>
                </a:moveTo>
                <a:cubicBezTo>
                  <a:pt x="188010" y="0"/>
                  <a:pt x="197386" y="5626"/>
                  <a:pt x="202248" y="14585"/>
                </a:cubicBezTo>
                <a:lnTo>
                  <a:pt x="352266" y="292398"/>
                </a:lnTo>
                <a:cubicBezTo>
                  <a:pt x="356920" y="301010"/>
                  <a:pt x="356711" y="311428"/>
                  <a:pt x="351711" y="319832"/>
                </a:cubicBezTo>
                <a:cubicBezTo>
                  <a:pt x="346710" y="328235"/>
                  <a:pt x="337612" y="333375"/>
                  <a:pt x="327819" y="333375"/>
                </a:cubicBezTo>
                <a:lnTo>
                  <a:pt x="27781" y="333375"/>
                </a:lnTo>
                <a:cubicBezTo>
                  <a:pt x="17988" y="333375"/>
                  <a:pt x="8959" y="328235"/>
                  <a:pt x="3889" y="319832"/>
                </a:cubicBezTo>
                <a:cubicBezTo>
                  <a:pt x="-1181" y="311428"/>
                  <a:pt x="-1320" y="301010"/>
                  <a:pt x="3334" y="292398"/>
                </a:cubicBezTo>
                <a:lnTo>
                  <a:pt x="153353" y="14585"/>
                </a:lnTo>
                <a:cubicBezTo>
                  <a:pt x="158214" y="5626"/>
                  <a:pt x="167590" y="0"/>
                  <a:pt x="177800" y="0"/>
                </a:cubicBezTo>
                <a:close/>
                <a:moveTo>
                  <a:pt x="177800" y="116681"/>
                </a:moveTo>
                <a:cubicBezTo>
                  <a:pt x="168563" y="116681"/>
                  <a:pt x="161131" y="124113"/>
                  <a:pt x="161131" y="133350"/>
                </a:cubicBezTo>
                <a:lnTo>
                  <a:pt x="161131" y="211138"/>
                </a:lnTo>
                <a:cubicBezTo>
                  <a:pt x="161131" y="220375"/>
                  <a:pt x="168563" y="227806"/>
                  <a:pt x="177800" y="227806"/>
                </a:cubicBezTo>
                <a:cubicBezTo>
                  <a:pt x="187037" y="227806"/>
                  <a:pt x="194469" y="220375"/>
                  <a:pt x="194469" y="211138"/>
                </a:cubicBezTo>
                <a:lnTo>
                  <a:pt x="194469" y="133350"/>
                </a:lnTo>
                <a:cubicBezTo>
                  <a:pt x="194469" y="124113"/>
                  <a:pt x="187037" y="116681"/>
                  <a:pt x="177800" y="116681"/>
                </a:cubicBezTo>
                <a:close/>
                <a:moveTo>
                  <a:pt x="196344" y="266700"/>
                </a:moveTo>
                <a:cubicBezTo>
                  <a:pt x="196766" y="259817"/>
                  <a:pt x="193333" y="253268"/>
                  <a:pt x="187432" y="249699"/>
                </a:cubicBezTo>
                <a:cubicBezTo>
                  <a:pt x="181532" y="246129"/>
                  <a:pt x="174138" y="246129"/>
                  <a:pt x="168237" y="249699"/>
                </a:cubicBezTo>
                <a:cubicBezTo>
                  <a:pt x="162336" y="253268"/>
                  <a:pt x="158904" y="259817"/>
                  <a:pt x="159325" y="266700"/>
                </a:cubicBezTo>
                <a:cubicBezTo>
                  <a:pt x="158904" y="273583"/>
                  <a:pt x="162336" y="280132"/>
                  <a:pt x="168237" y="283701"/>
                </a:cubicBezTo>
                <a:cubicBezTo>
                  <a:pt x="174138" y="287271"/>
                  <a:pt x="181532" y="287271"/>
                  <a:pt x="187432" y="283701"/>
                </a:cubicBezTo>
                <a:cubicBezTo>
                  <a:pt x="193333" y="280132"/>
                  <a:pt x="196766" y="273583"/>
                  <a:pt x="196344" y="266700"/>
                </a:cubicBezTo>
                <a:close/>
              </a:path>
            </a:pathLst>
          </a:custGeom>
          <a:solidFill>
            <a:srgbClr val="C2410C"/>
          </a:solidFill>
          <a:ln/>
        </p:spPr>
      </p:sp>
      <p:sp>
        <p:nvSpPr>
          <p:cNvPr id="23" name="Text 21"/>
          <p:cNvSpPr/>
          <p:nvPr/>
        </p:nvSpPr>
        <p:spPr>
          <a:xfrm>
            <a:off x="1524000" y="63500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C2410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Common Mistake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524000" y="6731000"/>
            <a:ext cx="1371600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Many instructors put their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entire script on slides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this creates redundancy overload. The audience reads faster than the speaker talks, creating split attention and cognitive waste.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4986000" y="86360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78716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C19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irl5c2knzosr6/mnt/agents/output/multimedia-production-w6/images/6_69_326_Clean_Desk_Top_View_Royalty.png">    </p:cNvPr>
          <p:cNvPicPr>
            <a:picLocks noChangeAspect="1"/>
          </p:cNvPicPr>
          <p:nvPr/>
        </p:nvPicPr>
        <p:blipFill>
          <a:blip r:embed="rId1"/>
          <a:srcRect l="0" r="0" t="10826" b="10826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1C1917">
                  <a:alpha val="90000"/>
                </a:srgbClr>
              </a:gs>
              <a:gs pos="60000">
                <a:srgbClr val="1C1917">
                  <a:alpha val="80000"/>
                </a:srgbClr>
              </a:gs>
              <a:gs pos="100000">
                <a:srgbClr val="1C1917">
                  <a:alpha val="50000"/>
                </a:srgbClr>
              </a:gs>
            </a:gsLst>
            <a:lin ang="0" scaled="1"/>
          </a:gradFill>
          <a:ln/>
        </p:spPr>
      </p:sp>
      <p:sp>
        <p:nvSpPr>
          <p:cNvPr id="4" name="Text 1"/>
          <p:cNvSpPr/>
          <p:nvPr/>
        </p:nvSpPr>
        <p:spPr>
          <a:xfrm>
            <a:off x="762000" y="2286000"/>
            <a:ext cx="3810000" cy="1193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dirty="0">
                <a:solidFill>
                  <a:srgbClr val="FFFFFF">
                    <a:alpha val="25098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05</a:t>
            </a:r>
            <a:endParaRPr lang="en-US" sz="7200" dirty="0"/>
          </a:p>
        </p:txBody>
      </p:sp>
      <p:sp>
        <p:nvSpPr>
          <p:cNvPr id="5" name="Shape 2"/>
          <p:cNvSpPr/>
          <p:nvPr/>
        </p:nvSpPr>
        <p:spPr>
          <a:xfrm>
            <a:off x="762000" y="3683000"/>
            <a:ext cx="1016000" cy="3810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6" name="Text 3"/>
          <p:cNvSpPr/>
          <p:nvPr/>
        </p:nvSpPr>
        <p:spPr>
          <a:xfrm>
            <a:off x="762000" y="3937000"/>
            <a:ext cx="889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Spatial Contiguity Principle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62000" y="4699000"/>
            <a:ext cx="635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FFFFFF">
                    <a:alpha val="70196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Keep Related Elements Close Together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3175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200" kern="0" dirty="0">
                <a:solidFill>
                  <a:srgbClr val="B4530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SPATIAL CONTIGUITY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62000" y="635000"/>
            <a:ext cx="1397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B4530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Words and Pictures Should Be Neighbors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1206500"/>
            <a:ext cx="14732000" cy="12700"/>
          </a:xfrm>
          <a:prstGeom prst="rect">
            <a:avLst/>
          </a:prstGeom>
          <a:solidFill>
            <a:srgbClr val="E7E5E4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1460500"/>
            <a:ext cx="14732000" cy="1016000"/>
          </a:xfrm>
          <a:prstGeom prst="rect">
            <a:avLst/>
          </a:prstGeom>
          <a:solidFill>
            <a:srgbClr val="F5F0E8"/>
          </a:solidFill>
          <a:ln/>
        </p:spPr>
      </p:sp>
      <p:sp>
        <p:nvSpPr>
          <p:cNvPr id="7" name="Shape 5"/>
          <p:cNvSpPr/>
          <p:nvPr/>
        </p:nvSpPr>
        <p:spPr>
          <a:xfrm>
            <a:off x="1041400" y="1676400"/>
            <a:ext cx="355600" cy="406400"/>
          </a:xfrm>
          <a:custGeom>
            <a:avLst/>
            <a:gdLst/>
            <a:ahLst/>
            <a:cxnLst/>
            <a:rect l="l" t="t" r="r" b="b"/>
            <a:pathLst>
              <a:path w="355600" h="406400">
                <a:moveTo>
                  <a:pt x="0" y="171450"/>
                </a:moveTo>
                <a:cubicBezTo>
                  <a:pt x="0" y="118824"/>
                  <a:pt x="42624" y="76200"/>
                  <a:pt x="95250" y="76200"/>
                </a:cubicBezTo>
                <a:lnTo>
                  <a:pt x="101600" y="76200"/>
                </a:lnTo>
                <a:cubicBezTo>
                  <a:pt x="115649" y="76200"/>
                  <a:pt x="127000" y="87551"/>
                  <a:pt x="127000" y="101600"/>
                </a:cubicBezTo>
                <a:cubicBezTo>
                  <a:pt x="127000" y="115649"/>
                  <a:pt x="115649" y="127000"/>
                  <a:pt x="101600" y="127000"/>
                </a:cubicBezTo>
                <a:lnTo>
                  <a:pt x="95250" y="127000"/>
                </a:lnTo>
                <a:cubicBezTo>
                  <a:pt x="70723" y="127000"/>
                  <a:pt x="50800" y="146923"/>
                  <a:pt x="50800" y="171450"/>
                </a:cubicBezTo>
                <a:lnTo>
                  <a:pt x="50800" y="177800"/>
                </a:lnTo>
                <a:lnTo>
                  <a:pt x="101600" y="177800"/>
                </a:lnTo>
                <a:cubicBezTo>
                  <a:pt x="129619" y="177800"/>
                  <a:pt x="152400" y="200581"/>
                  <a:pt x="152400" y="228600"/>
                </a:cubicBezTo>
                <a:lnTo>
                  <a:pt x="152400" y="279400"/>
                </a:lnTo>
                <a:cubicBezTo>
                  <a:pt x="152400" y="307419"/>
                  <a:pt x="129619" y="330200"/>
                  <a:pt x="101600" y="330200"/>
                </a:cubicBezTo>
                <a:lnTo>
                  <a:pt x="50800" y="330200"/>
                </a:lnTo>
                <a:cubicBezTo>
                  <a:pt x="22781" y="330200"/>
                  <a:pt x="0" y="307419"/>
                  <a:pt x="0" y="279400"/>
                </a:cubicBezTo>
                <a:lnTo>
                  <a:pt x="0" y="171450"/>
                </a:lnTo>
                <a:close/>
                <a:moveTo>
                  <a:pt x="203200" y="171450"/>
                </a:moveTo>
                <a:cubicBezTo>
                  <a:pt x="203200" y="118824"/>
                  <a:pt x="245824" y="76200"/>
                  <a:pt x="298450" y="76200"/>
                </a:cubicBezTo>
                <a:lnTo>
                  <a:pt x="304800" y="76200"/>
                </a:lnTo>
                <a:cubicBezTo>
                  <a:pt x="318849" y="76200"/>
                  <a:pt x="330200" y="87551"/>
                  <a:pt x="330200" y="101600"/>
                </a:cubicBezTo>
                <a:cubicBezTo>
                  <a:pt x="330200" y="115649"/>
                  <a:pt x="318849" y="127000"/>
                  <a:pt x="304800" y="127000"/>
                </a:cubicBezTo>
                <a:lnTo>
                  <a:pt x="298450" y="127000"/>
                </a:lnTo>
                <a:cubicBezTo>
                  <a:pt x="273923" y="127000"/>
                  <a:pt x="254000" y="146923"/>
                  <a:pt x="254000" y="171450"/>
                </a:cubicBezTo>
                <a:lnTo>
                  <a:pt x="254000" y="177800"/>
                </a:lnTo>
                <a:lnTo>
                  <a:pt x="304800" y="177800"/>
                </a:lnTo>
                <a:cubicBezTo>
                  <a:pt x="332819" y="177800"/>
                  <a:pt x="355600" y="200581"/>
                  <a:pt x="355600" y="228600"/>
                </a:cubicBezTo>
                <a:lnTo>
                  <a:pt x="355600" y="279400"/>
                </a:lnTo>
                <a:cubicBezTo>
                  <a:pt x="355600" y="307419"/>
                  <a:pt x="332819" y="330200"/>
                  <a:pt x="304800" y="330200"/>
                </a:cubicBezTo>
                <a:lnTo>
                  <a:pt x="254000" y="330200"/>
                </a:lnTo>
                <a:cubicBezTo>
                  <a:pt x="225981" y="330200"/>
                  <a:pt x="203200" y="307419"/>
                  <a:pt x="203200" y="279400"/>
                </a:cubicBezTo>
                <a:lnTo>
                  <a:pt x="203200" y="171450"/>
                </a:lnTo>
                <a:close/>
              </a:path>
            </a:pathLst>
          </a:custGeom>
          <a:solidFill>
            <a:srgbClr val="B45309"/>
          </a:solidFill>
          <a:ln/>
        </p:spPr>
      </p:sp>
      <p:sp>
        <p:nvSpPr>
          <p:cNvPr id="8" name="Text 6"/>
          <p:cNvSpPr/>
          <p:nvPr/>
        </p:nvSpPr>
        <p:spPr>
          <a:xfrm>
            <a:off x="1587500" y="1524000"/>
            <a:ext cx="136525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7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People learn more deeply when corresponding </a:t>
            </a:r>
            <a:pPr>
              <a:lnSpc>
                <a:spcPct val="150000"/>
              </a:lnSpc>
            </a:pPr>
            <a:r>
              <a:rPr lang="en-US" sz="1700" b="1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words and pictures are presented near</a:t>
            </a:r>
            <a:pPr>
              <a:lnSpc>
                <a:spcPct val="150000"/>
              </a:lnSpc>
            </a:pPr>
            <a:r>
              <a:rPr lang="en-US" sz="17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rather than far from each other on the page or screen.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62000" y="2730500"/>
            <a:ext cx="635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b="1" dirty="0">
                <a:solidFill>
                  <a:srgbClr val="1C191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Why Spatial Separation Hurts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762000" y="3365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83344" y="38894"/>
                </a:moveTo>
                <a:cubicBezTo>
                  <a:pt x="83344" y="17433"/>
                  <a:pt x="100776" y="0"/>
                  <a:pt x="122238" y="0"/>
                </a:cubicBezTo>
                <a:lnTo>
                  <a:pt x="138906" y="0"/>
                </a:lnTo>
                <a:cubicBezTo>
                  <a:pt x="151199" y="0"/>
                  <a:pt x="161131" y="9932"/>
                  <a:pt x="161131" y="22225"/>
                </a:cubicBezTo>
                <a:lnTo>
                  <a:pt x="161131" y="333375"/>
                </a:lnTo>
                <a:cubicBezTo>
                  <a:pt x="161131" y="345668"/>
                  <a:pt x="151199" y="355600"/>
                  <a:pt x="138906" y="355600"/>
                </a:cubicBezTo>
                <a:lnTo>
                  <a:pt x="116681" y="355600"/>
                </a:lnTo>
                <a:cubicBezTo>
                  <a:pt x="95984" y="355600"/>
                  <a:pt x="78551" y="341432"/>
                  <a:pt x="73620" y="322263"/>
                </a:cubicBezTo>
                <a:cubicBezTo>
                  <a:pt x="73134" y="322263"/>
                  <a:pt x="72717" y="322263"/>
                  <a:pt x="72231" y="322263"/>
                </a:cubicBezTo>
                <a:cubicBezTo>
                  <a:pt x="41533" y="322263"/>
                  <a:pt x="16669" y="297398"/>
                  <a:pt x="16669" y="266700"/>
                </a:cubicBezTo>
                <a:cubicBezTo>
                  <a:pt x="16669" y="254198"/>
                  <a:pt x="20836" y="242669"/>
                  <a:pt x="27781" y="233363"/>
                </a:cubicBezTo>
                <a:cubicBezTo>
                  <a:pt x="14307" y="223222"/>
                  <a:pt x="5556" y="207109"/>
                  <a:pt x="5556" y="188913"/>
                </a:cubicBezTo>
                <a:cubicBezTo>
                  <a:pt x="5556" y="167451"/>
                  <a:pt x="17780" y="148769"/>
                  <a:pt x="35560" y="139531"/>
                </a:cubicBezTo>
                <a:cubicBezTo>
                  <a:pt x="30629" y="131197"/>
                  <a:pt x="27781" y="121474"/>
                  <a:pt x="27781" y="111125"/>
                </a:cubicBezTo>
                <a:cubicBezTo>
                  <a:pt x="27781" y="80427"/>
                  <a:pt x="52645" y="55563"/>
                  <a:pt x="83344" y="55563"/>
                </a:cubicBezTo>
                <a:lnTo>
                  <a:pt x="83344" y="38894"/>
                </a:lnTo>
                <a:close/>
                <a:moveTo>
                  <a:pt x="272256" y="38894"/>
                </a:moveTo>
                <a:lnTo>
                  <a:pt x="272256" y="55563"/>
                </a:lnTo>
                <a:cubicBezTo>
                  <a:pt x="302955" y="55563"/>
                  <a:pt x="327819" y="80427"/>
                  <a:pt x="327819" y="111125"/>
                </a:cubicBezTo>
                <a:cubicBezTo>
                  <a:pt x="327819" y="121543"/>
                  <a:pt x="324971" y="131266"/>
                  <a:pt x="320040" y="139531"/>
                </a:cubicBezTo>
                <a:cubicBezTo>
                  <a:pt x="337889" y="148769"/>
                  <a:pt x="350044" y="167382"/>
                  <a:pt x="350044" y="188913"/>
                </a:cubicBezTo>
                <a:cubicBezTo>
                  <a:pt x="350044" y="207109"/>
                  <a:pt x="341293" y="223222"/>
                  <a:pt x="327819" y="233363"/>
                </a:cubicBezTo>
                <a:cubicBezTo>
                  <a:pt x="334764" y="242669"/>
                  <a:pt x="338931" y="254198"/>
                  <a:pt x="338931" y="266700"/>
                </a:cubicBezTo>
                <a:cubicBezTo>
                  <a:pt x="338931" y="297398"/>
                  <a:pt x="314067" y="322263"/>
                  <a:pt x="283369" y="322263"/>
                </a:cubicBezTo>
                <a:cubicBezTo>
                  <a:pt x="282883" y="322263"/>
                  <a:pt x="282466" y="322263"/>
                  <a:pt x="281980" y="322263"/>
                </a:cubicBezTo>
                <a:cubicBezTo>
                  <a:pt x="277049" y="341432"/>
                  <a:pt x="259616" y="355600"/>
                  <a:pt x="238919" y="355600"/>
                </a:cubicBezTo>
                <a:lnTo>
                  <a:pt x="216694" y="355600"/>
                </a:lnTo>
                <a:cubicBezTo>
                  <a:pt x="204401" y="355600"/>
                  <a:pt x="194469" y="345668"/>
                  <a:pt x="194469" y="333375"/>
                </a:cubicBezTo>
                <a:lnTo>
                  <a:pt x="194469" y="22225"/>
                </a:lnTo>
                <a:cubicBezTo>
                  <a:pt x="194469" y="9932"/>
                  <a:pt x="204401" y="0"/>
                  <a:pt x="216694" y="0"/>
                </a:cubicBezTo>
                <a:lnTo>
                  <a:pt x="233363" y="0"/>
                </a:lnTo>
                <a:cubicBezTo>
                  <a:pt x="254824" y="0"/>
                  <a:pt x="272256" y="17433"/>
                  <a:pt x="272256" y="38894"/>
                </a:cubicBezTo>
                <a:close/>
              </a:path>
            </a:pathLst>
          </a:custGeom>
          <a:solidFill>
            <a:srgbClr val="C2410C"/>
          </a:solidFill>
          <a:ln/>
        </p:spPr>
      </p:sp>
      <p:sp>
        <p:nvSpPr>
          <p:cNvPr id="11" name="Text 9"/>
          <p:cNvSpPr/>
          <p:nvPr/>
        </p:nvSpPr>
        <p:spPr>
          <a:xfrm>
            <a:off x="1270000" y="3327400"/>
            <a:ext cx="4445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b="1" dirty="0">
                <a:solidFill>
                  <a:srgbClr val="C2410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Mental Integration Burden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70000" y="3733800"/>
            <a:ext cx="6096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Learners must mentally integrate separated information, increasing cognitive load unnecessarily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39775" y="4572000"/>
            <a:ext cx="400050" cy="355600"/>
          </a:xfrm>
          <a:custGeom>
            <a:avLst/>
            <a:gdLst/>
            <a:ahLst/>
            <a:cxnLst/>
            <a:rect l="l" t="t" r="r" b="b"/>
            <a:pathLst>
              <a:path w="400050" h="355600">
                <a:moveTo>
                  <a:pt x="326846" y="260171"/>
                </a:moveTo>
                <a:lnTo>
                  <a:pt x="393521" y="193496"/>
                </a:lnTo>
                <a:cubicBezTo>
                  <a:pt x="402203" y="184815"/>
                  <a:pt x="402203" y="170716"/>
                  <a:pt x="393521" y="162034"/>
                </a:cubicBezTo>
                <a:lnTo>
                  <a:pt x="326846" y="95359"/>
                </a:lnTo>
                <a:cubicBezTo>
                  <a:pt x="318165" y="86678"/>
                  <a:pt x="304066" y="86678"/>
                  <a:pt x="295384" y="95359"/>
                </a:cubicBezTo>
                <a:cubicBezTo>
                  <a:pt x="286703" y="104041"/>
                  <a:pt x="286703" y="118140"/>
                  <a:pt x="295384" y="126821"/>
                </a:cubicBezTo>
                <a:lnTo>
                  <a:pt x="324138" y="155575"/>
                </a:lnTo>
                <a:lnTo>
                  <a:pt x="75843" y="155575"/>
                </a:lnTo>
                <a:lnTo>
                  <a:pt x="104596" y="126821"/>
                </a:lnTo>
                <a:cubicBezTo>
                  <a:pt x="113278" y="118140"/>
                  <a:pt x="113278" y="104041"/>
                  <a:pt x="104596" y="95359"/>
                </a:cubicBezTo>
                <a:cubicBezTo>
                  <a:pt x="95915" y="86678"/>
                  <a:pt x="81816" y="86678"/>
                  <a:pt x="73134" y="95359"/>
                </a:cubicBezTo>
                <a:lnTo>
                  <a:pt x="6459" y="162034"/>
                </a:lnTo>
                <a:cubicBezTo>
                  <a:pt x="2292" y="166201"/>
                  <a:pt x="-69" y="171827"/>
                  <a:pt x="-69" y="177731"/>
                </a:cubicBezTo>
                <a:cubicBezTo>
                  <a:pt x="-69" y="183634"/>
                  <a:pt x="2292" y="189260"/>
                  <a:pt x="6459" y="193427"/>
                </a:cubicBezTo>
                <a:lnTo>
                  <a:pt x="73134" y="260102"/>
                </a:lnTo>
                <a:cubicBezTo>
                  <a:pt x="81816" y="268784"/>
                  <a:pt x="95915" y="268784"/>
                  <a:pt x="104596" y="260102"/>
                </a:cubicBezTo>
                <a:cubicBezTo>
                  <a:pt x="113278" y="251420"/>
                  <a:pt x="113278" y="237321"/>
                  <a:pt x="104596" y="228640"/>
                </a:cubicBezTo>
                <a:lnTo>
                  <a:pt x="75843" y="199886"/>
                </a:lnTo>
                <a:lnTo>
                  <a:pt x="324138" y="199886"/>
                </a:lnTo>
                <a:lnTo>
                  <a:pt x="295384" y="228640"/>
                </a:lnTo>
                <a:cubicBezTo>
                  <a:pt x="286703" y="237321"/>
                  <a:pt x="286703" y="251420"/>
                  <a:pt x="295384" y="260102"/>
                </a:cubicBezTo>
                <a:cubicBezTo>
                  <a:pt x="304066" y="268784"/>
                  <a:pt x="318165" y="268784"/>
                  <a:pt x="326846" y="260102"/>
                </a:cubicBezTo>
                <a:close/>
              </a:path>
            </a:pathLst>
          </a:custGeom>
          <a:solidFill>
            <a:srgbClr val="C2410C"/>
          </a:solidFill>
          <a:ln/>
        </p:spPr>
      </p:sp>
      <p:sp>
        <p:nvSpPr>
          <p:cNvPr id="14" name="Text 12"/>
          <p:cNvSpPr/>
          <p:nvPr/>
        </p:nvSpPr>
        <p:spPr>
          <a:xfrm>
            <a:off x="1270000" y="4533900"/>
            <a:ext cx="4445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b="1" dirty="0">
                <a:solidFill>
                  <a:srgbClr val="C2410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Split Attention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70000" y="4940300"/>
            <a:ext cx="6096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Attention divided between distant text and graphics wastes cognitive resources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739775" y="5778500"/>
            <a:ext cx="400050" cy="355600"/>
          </a:xfrm>
          <a:custGeom>
            <a:avLst/>
            <a:gdLst/>
            <a:ahLst/>
            <a:cxnLst/>
            <a:rect l="l" t="t" r="r" b="b"/>
            <a:pathLst>
              <a:path w="400050" h="355600">
                <a:moveTo>
                  <a:pt x="200025" y="22225"/>
                </a:moveTo>
                <a:cubicBezTo>
                  <a:pt x="143907" y="22225"/>
                  <a:pt x="98971" y="47784"/>
                  <a:pt x="66258" y="78204"/>
                </a:cubicBezTo>
                <a:cubicBezTo>
                  <a:pt x="33754" y="108416"/>
                  <a:pt x="12015" y="144463"/>
                  <a:pt x="1667" y="169257"/>
                </a:cubicBezTo>
                <a:cubicBezTo>
                  <a:pt x="-625" y="174744"/>
                  <a:pt x="-625" y="180856"/>
                  <a:pt x="1667" y="186343"/>
                </a:cubicBezTo>
                <a:cubicBezTo>
                  <a:pt x="12015" y="211138"/>
                  <a:pt x="33754" y="247253"/>
                  <a:pt x="66258" y="277396"/>
                </a:cubicBezTo>
                <a:cubicBezTo>
                  <a:pt x="98971" y="307747"/>
                  <a:pt x="143907" y="333375"/>
                  <a:pt x="200025" y="333375"/>
                </a:cubicBezTo>
                <a:cubicBezTo>
                  <a:pt x="256143" y="333375"/>
                  <a:pt x="301079" y="307816"/>
                  <a:pt x="333792" y="277396"/>
                </a:cubicBezTo>
                <a:cubicBezTo>
                  <a:pt x="366296" y="247184"/>
                  <a:pt x="388035" y="211138"/>
                  <a:pt x="398383" y="186343"/>
                </a:cubicBezTo>
                <a:cubicBezTo>
                  <a:pt x="400675" y="180856"/>
                  <a:pt x="400675" y="174744"/>
                  <a:pt x="398383" y="169257"/>
                </a:cubicBezTo>
                <a:cubicBezTo>
                  <a:pt x="388035" y="144462"/>
                  <a:pt x="366296" y="108347"/>
                  <a:pt x="333792" y="78204"/>
                </a:cubicBezTo>
                <a:cubicBezTo>
                  <a:pt x="301079" y="47853"/>
                  <a:pt x="256143" y="22225"/>
                  <a:pt x="200025" y="22225"/>
                </a:cubicBezTo>
                <a:close/>
                <a:moveTo>
                  <a:pt x="100013" y="177800"/>
                </a:moveTo>
                <a:cubicBezTo>
                  <a:pt x="100013" y="122602"/>
                  <a:pt x="144827" y="77788"/>
                  <a:pt x="200025" y="77788"/>
                </a:cubicBezTo>
                <a:cubicBezTo>
                  <a:pt x="255223" y="77788"/>
                  <a:pt x="300038" y="122602"/>
                  <a:pt x="300038" y="177800"/>
                </a:cubicBezTo>
                <a:cubicBezTo>
                  <a:pt x="300038" y="232998"/>
                  <a:pt x="255223" y="277813"/>
                  <a:pt x="200025" y="277813"/>
                </a:cubicBezTo>
                <a:cubicBezTo>
                  <a:pt x="144827" y="277813"/>
                  <a:pt x="100013" y="232998"/>
                  <a:pt x="100013" y="177800"/>
                </a:cubicBezTo>
                <a:close/>
                <a:moveTo>
                  <a:pt x="200025" y="133350"/>
                </a:moveTo>
                <a:cubicBezTo>
                  <a:pt x="200025" y="157867"/>
                  <a:pt x="180092" y="177800"/>
                  <a:pt x="155575" y="177800"/>
                </a:cubicBezTo>
                <a:cubicBezTo>
                  <a:pt x="147588" y="177800"/>
                  <a:pt x="140087" y="175716"/>
                  <a:pt x="133558" y="171966"/>
                </a:cubicBezTo>
                <a:cubicBezTo>
                  <a:pt x="132864" y="179536"/>
                  <a:pt x="133489" y="187315"/>
                  <a:pt x="135573" y="195024"/>
                </a:cubicBezTo>
                <a:cubicBezTo>
                  <a:pt x="145088" y="230584"/>
                  <a:pt x="181689" y="251698"/>
                  <a:pt x="217249" y="242183"/>
                </a:cubicBezTo>
                <a:cubicBezTo>
                  <a:pt x="252809" y="232668"/>
                  <a:pt x="273923" y="196066"/>
                  <a:pt x="264408" y="160506"/>
                </a:cubicBezTo>
                <a:cubicBezTo>
                  <a:pt x="255935" y="128766"/>
                  <a:pt x="225862" y="108555"/>
                  <a:pt x="194191" y="111333"/>
                </a:cubicBezTo>
                <a:cubicBezTo>
                  <a:pt x="197872" y="117793"/>
                  <a:pt x="200025" y="125293"/>
                  <a:pt x="200025" y="133350"/>
                </a:cubicBezTo>
                <a:close/>
              </a:path>
            </a:pathLst>
          </a:custGeom>
          <a:solidFill>
            <a:srgbClr val="C2410C"/>
          </a:solidFill>
          <a:ln/>
        </p:spPr>
      </p:sp>
      <p:sp>
        <p:nvSpPr>
          <p:cNvPr id="17" name="Text 15"/>
          <p:cNvSpPr/>
          <p:nvPr/>
        </p:nvSpPr>
        <p:spPr>
          <a:xfrm>
            <a:off x="1270000" y="5740400"/>
            <a:ext cx="4445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b="1" dirty="0">
                <a:solidFill>
                  <a:srgbClr val="C2410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Eye Travel Disruption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70000" y="6146800"/>
            <a:ext cx="6096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eye must travel back and forth, disrupting the building of mental connections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8128000" y="3302000"/>
            <a:ext cx="7366000" cy="3556000"/>
          </a:xfrm>
          <a:prstGeom prst="rect">
            <a:avLst/>
          </a:prstGeom>
          <a:solidFill>
            <a:srgbClr val="B45309">
              <a:alpha val="8235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8509000" y="3492500"/>
            <a:ext cx="660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B4530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This Principle Applies To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509000" y="4000500"/>
            <a:ext cx="6604000" cy="266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B4530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Printed text placed near corresponding graphics (not on a separate page)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400"/>
              </a:spcBef>
            </a:pPr>
            <a:r>
              <a:rPr lang="en-US" sz="1500" dirty="0">
                <a:solidFill>
                  <a:srgbClr val="B4530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■</a:t>
            </a:r>
            <a:pPr>
              <a:lnSpc>
                <a:spcPct val="160000"/>
              </a:lnSpc>
              <a:spcBef>
                <a:spcPts val="400"/>
              </a:spcBef>
            </a:pPr>
            <a:r>
              <a:rPr lang="en-US" sz="15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Labels placed directly on or next to the described element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400"/>
              </a:spcBef>
            </a:pPr>
            <a:r>
              <a:rPr lang="en-US" sz="1500" dirty="0">
                <a:solidFill>
                  <a:srgbClr val="B4530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■</a:t>
            </a:r>
            <a:pPr>
              <a:lnSpc>
                <a:spcPct val="160000"/>
              </a:lnSpc>
              <a:spcBef>
                <a:spcPts val="400"/>
              </a:spcBef>
            </a:pPr>
            <a:r>
              <a:rPr lang="en-US" sz="15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Feedback placed next to relevant questions or answers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400"/>
              </a:spcBef>
            </a:pPr>
            <a:r>
              <a:rPr lang="en-US" sz="1500" dirty="0">
                <a:solidFill>
                  <a:srgbClr val="B4530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■</a:t>
            </a:r>
            <a:pPr>
              <a:lnSpc>
                <a:spcPct val="160000"/>
              </a:lnSpc>
              <a:spcBef>
                <a:spcPts val="400"/>
              </a:spcBef>
            </a:pPr>
            <a:r>
              <a:rPr lang="en-US" sz="15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Instructions presented on the same screen as the activity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762000" y="7175500"/>
            <a:ext cx="14732000" cy="825500"/>
          </a:xfrm>
          <a:prstGeom prst="rect">
            <a:avLst/>
          </a:prstGeom>
          <a:solidFill>
            <a:srgbClr val="F5F0E8"/>
          </a:solidFill>
          <a:ln/>
        </p:spPr>
      </p:sp>
      <p:sp>
        <p:nvSpPr>
          <p:cNvPr id="23" name="Shape 21"/>
          <p:cNvSpPr/>
          <p:nvPr/>
        </p:nvSpPr>
        <p:spPr>
          <a:xfrm>
            <a:off x="1016000" y="7366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66700" y="152400"/>
                </a:moveTo>
                <a:cubicBezTo>
                  <a:pt x="266700" y="89316"/>
                  <a:pt x="215484" y="38100"/>
                  <a:pt x="152400" y="38100"/>
                </a:cubicBezTo>
                <a:cubicBezTo>
                  <a:pt x="89316" y="38100"/>
                  <a:pt x="38100" y="89316"/>
                  <a:pt x="38100" y="152400"/>
                </a:cubicBezTo>
                <a:cubicBezTo>
                  <a:pt x="38100" y="215484"/>
                  <a:pt x="89316" y="266700"/>
                  <a:pt x="152400" y="266700"/>
                </a:cubicBezTo>
                <a:cubicBezTo>
                  <a:pt x="215484" y="266700"/>
                  <a:pt x="266700" y="215484"/>
                  <a:pt x="266700" y="152400"/>
                </a:cubicBezTo>
                <a:close/>
                <a:moveTo>
                  <a:pt x="0" y="152400"/>
                </a:moveTo>
                <a:cubicBezTo>
                  <a:pt x="0" y="68288"/>
                  <a:pt x="68288" y="0"/>
                  <a:pt x="152400" y="0"/>
                </a:cubicBezTo>
                <a:cubicBezTo>
                  <a:pt x="236512" y="0"/>
                  <a:pt x="304800" y="68288"/>
                  <a:pt x="304800" y="152400"/>
                </a:cubicBezTo>
                <a:cubicBezTo>
                  <a:pt x="304800" y="236512"/>
                  <a:pt x="236512" y="304800"/>
                  <a:pt x="152400" y="304800"/>
                </a:cubicBezTo>
                <a:cubicBezTo>
                  <a:pt x="68288" y="304800"/>
                  <a:pt x="0" y="236512"/>
                  <a:pt x="0" y="152400"/>
                </a:cubicBezTo>
                <a:close/>
                <a:moveTo>
                  <a:pt x="152400" y="200025"/>
                </a:moveTo>
                <a:cubicBezTo>
                  <a:pt x="178685" y="200025"/>
                  <a:pt x="200025" y="178685"/>
                  <a:pt x="200025" y="152400"/>
                </a:cubicBezTo>
                <a:cubicBezTo>
                  <a:pt x="200025" y="126115"/>
                  <a:pt x="178685" y="104775"/>
                  <a:pt x="152400" y="104775"/>
                </a:cubicBezTo>
                <a:cubicBezTo>
                  <a:pt x="126115" y="104775"/>
                  <a:pt x="104775" y="126115"/>
                  <a:pt x="104775" y="152400"/>
                </a:cubicBezTo>
                <a:cubicBezTo>
                  <a:pt x="104775" y="178685"/>
                  <a:pt x="126115" y="200025"/>
                  <a:pt x="152400" y="200025"/>
                </a:cubicBezTo>
                <a:close/>
                <a:moveTo>
                  <a:pt x="152400" y="66675"/>
                </a:moveTo>
                <a:cubicBezTo>
                  <a:pt x="199713" y="66675"/>
                  <a:pt x="238125" y="105087"/>
                  <a:pt x="238125" y="152400"/>
                </a:cubicBezTo>
                <a:cubicBezTo>
                  <a:pt x="238125" y="199713"/>
                  <a:pt x="199713" y="238125"/>
                  <a:pt x="152400" y="238125"/>
                </a:cubicBezTo>
                <a:cubicBezTo>
                  <a:pt x="105087" y="238125"/>
                  <a:pt x="66675" y="199713"/>
                  <a:pt x="66675" y="152400"/>
                </a:cubicBezTo>
                <a:cubicBezTo>
                  <a:pt x="66675" y="105087"/>
                  <a:pt x="105087" y="66675"/>
                  <a:pt x="152400" y="66675"/>
                </a:cubicBezTo>
                <a:close/>
                <a:moveTo>
                  <a:pt x="133350" y="152400"/>
                </a:moveTo>
                <a:cubicBezTo>
                  <a:pt x="133350" y="141886"/>
                  <a:pt x="141886" y="133350"/>
                  <a:pt x="152400" y="133350"/>
                </a:cubicBezTo>
                <a:cubicBezTo>
                  <a:pt x="162914" y="133350"/>
                  <a:pt x="171450" y="141886"/>
                  <a:pt x="171450" y="152400"/>
                </a:cubicBezTo>
                <a:cubicBezTo>
                  <a:pt x="171450" y="162914"/>
                  <a:pt x="162914" y="171450"/>
                  <a:pt x="152400" y="171450"/>
                </a:cubicBezTo>
                <a:cubicBezTo>
                  <a:pt x="141886" y="171450"/>
                  <a:pt x="133350" y="162914"/>
                  <a:pt x="133350" y="152400"/>
                </a:cubicBezTo>
                <a:close/>
              </a:path>
            </a:pathLst>
          </a:custGeom>
          <a:solidFill>
            <a:srgbClr val="B45309"/>
          </a:solidFill>
          <a:ln/>
        </p:spPr>
      </p:sp>
      <p:sp>
        <p:nvSpPr>
          <p:cNvPr id="24" name="Text 22"/>
          <p:cNvSpPr/>
          <p:nvPr/>
        </p:nvSpPr>
        <p:spPr>
          <a:xfrm>
            <a:off x="1460500" y="7239000"/>
            <a:ext cx="13716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Goal: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Minimize the mental bridging required between related information. If two elements are related, they should be visually connected.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4986000" y="86360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78716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22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3175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200" kern="0" dirty="0">
                <a:solidFill>
                  <a:srgbClr val="B4530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SPATIAL CONTIGUITY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62000" y="6350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B4530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Research Evidence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1206500"/>
            <a:ext cx="14732000" cy="12700"/>
          </a:xfrm>
          <a:prstGeom prst="rect">
            <a:avLst/>
          </a:prstGeom>
          <a:solidFill>
            <a:srgbClr val="E7E5E4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1460500"/>
            <a:ext cx="4699000" cy="1651000"/>
          </a:xfrm>
          <a:prstGeom prst="rect">
            <a:avLst/>
          </a:prstGeom>
          <a:solidFill>
            <a:srgbClr val="F5F0E8"/>
          </a:solidFill>
          <a:ln/>
        </p:spPr>
      </p:sp>
      <p:sp>
        <p:nvSpPr>
          <p:cNvPr id="7" name="Text 5"/>
          <p:cNvSpPr/>
          <p:nvPr/>
        </p:nvSpPr>
        <p:spPr>
          <a:xfrm>
            <a:off x="1016000" y="1524000"/>
            <a:ext cx="4191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200" b="1" dirty="0">
                <a:solidFill>
                  <a:srgbClr val="B4530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22/22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16000" y="2286000"/>
            <a:ext cx="4191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Experimental tests supported the principle (100% consistency)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778500" y="1460500"/>
            <a:ext cx="4699000" cy="1651000"/>
          </a:xfrm>
          <a:prstGeom prst="rect">
            <a:avLst/>
          </a:prstGeom>
          <a:solidFill>
            <a:srgbClr val="F5F0E8"/>
          </a:solidFill>
          <a:ln/>
        </p:spPr>
      </p:sp>
      <p:sp>
        <p:nvSpPr>
          <p:cNvPr id="10" name="Text 8"/>
          <p:cNvSpPr/>
          <p:nvPr/>
        </p:nvSpPr>
        <p:spPr>
          <a:xfrm>
            <a:off x="6032500" y="1524000"/>
            <a:ext cx="4191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200" b="1" dirty="0">
                <a:solidFill>
                  <a:srgbClr val="B4530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1.10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032500" y="2286000"/>
            <a:ext cx="4191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Median effect size — a very large, powerful effect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0795000" y="1460500"/>
            <a:ext cx="4699000" cy="1651000"/>
          </a:xfrm>
          <a:prstGeom prst="rect">
            <a:avLst/>
          </a:prstGeom>
          <a:solidFill>
            <a:srgbClr val="F5F0E8"/>
          </a:solidFill>
          <a:ln/>
        </p:spPr>
      </p:sp>
      <p:sp>
        <p:nvSpPr>
          <p:cNvPr id="13" name="Shape 11"/>
          <p:cNvSpPr/>
          <p:nvPr/>
        </p:nvSpPr>
        <p:spPr>
          <a:xfrm>
            <a:off x="11049000" y="1651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28855" y="0"/>
                </a:moveTo>
                <a:lnTo>
                  <a:pt x="328880" y="0"/>
                </a:lnTo>
                <a:cubicBezTo>
                  <a:pt x="352544" y="0"/>
                  <a:pt x="371832" y="19467"/>
                  <a:pt x="370939" y="43041"/>
                </a:cubicBezTo>
                <a:cubicBezTo>
                  <a:pt x="370761" y="47774"/>
                  <a:pt x="370582" y="52507"/>
                  <a:pt x="370314" y="57150"/>
                </a:cubicBezTo>
                <a:lnTo>
                  <a:pt x="414605" y="57150"/>
                </a:lnTo>
                <a:cubicBezTo>
                  <a:pt x="437912" y="57150"/>
                  <a:pt x="458450" y="76438"/>
                  <a:pt x="456664" y="101620"/>
                </a:cubicBezTo>
                <a:cubicBezTo>
                  <a:pt x="449967" y="194221"/>
                  <a:pt x="402640" y="245120"/>
                  <a:pt x="351294" y="271730"/>
                </a:cubicBezTo>
                <a:cubicBezTo>
                  <a:pt x="337185" y="279053"/>
                  <a:pt x="322808" y="284500"/>
                  <a:pt x="309146" y="288518"/>
                </a:cubicBezTo>
                <a:cubicBezTo>
                  <a:pt x="291108" y="314057"/>
                  <a:pt x="272355" y="327541"/>
                  <a:pt x="257443" y="334774"/>
                </a:cubicBezTo>
                <a:lnTo>
                  <a:pt x="257443" y="400050"/>
                </a:lnTo>
                <a:lnTo>
                  <a:pt x="314593" y="400050"/>
                </a:lnTo>
                <a:cubicBezTo>
                  <a:pt x="330398" y="400050"/>
                  <a:pt x="343168" y="412819"/>
                  <a:pt x="343168" y="428625"/>
                </a:cubicBezTo>
                <a:cubicBezTo>
                  <a:pt x="343168" y="444431"/>
                  <a:pt x="330398" y="457200"/>
                  <a:pt x="314593" y="457200"/>
                </a:cubicBezTo>
                <a:lnTo>
                  <a:pt x="143143" y="457200"/>
                </a:lnTo>
                <a:cubicBezTo>
                  <a:pt x="127337" y="457200"/>
                  <a:pt x="114568" y="444431"/>
                  <a:pt x="114568" y="428625"/>
                </a:cubicBezTo>
                <a:cubicBezTo>
                  <a:pt x="114568" y="412819"/>
                  <a:pt x="127337" y="400050"/>
                  <a:pt x="143143" y="400050"/>
                </a:cubicBezTo>
                <a:lnTo>
                  <a:pt x="200293" y="400050"/>
                </a:lnTo>
                <a:lnTo>
                  <a:pt x="200293" y="334774"/>
                </a:lnTo>
                <a:cubicBezTo>
                  <a:pt x="186005" y="327898"/>
                  <a:pt x="168235" y="315129"/>
                  <a:pt x="150912" y="291644"/>
                </a:cubicBezTo>
                <a:cubicBezTo>
                  <a:pt x="134481" y="287357"/>
                  <a:pt x="116622" y="280839"/>
                  <a:pt x="99209" y="271016"/>
                </a:cubicBezTo>
                <a:cubicBezTo>
                  <a:pt x="50899" y="243959"/>
                  <a:pt x="7322" y="192971"/>
                  <a:pt x="1072" y="101441"/>
                </a:cubicBezTo>
                <a:cubicBezTo>
                  <a:pt x="-625" y="76349"/>
                  <a:pt x="19824" y="57061"/>
                  <a:pt x="43130" y="57061"/>
                </a:cubicBezTo>
                <a:lnTo>
                  <a:pt x="87422" y="57061"/>
                </a:lnTo>
                <a:cubicBezTo>
                  <a:pt x="87154" y="52417"/>
                  <a:pt x="86975" y="47774"/>
                  <a:pt x="86797" y="42952"/>
                </a:cubicBezTo>
                <a:cubicBezTo>
                  <a:pt x="85904" y="19288"/>
                  <a:pt x="105192" y="-89"/>
                  <a:pt x="128855" y="-89"/>
                </a:cubicBezTo>
                <a:close/>
                <a:moveTo>
                  <a:pt x="90636" y="100013"/>
                </a:moveTo>
                <a:lnTo>
                  <a:pt x="43845" y="100013"/>
                </a:lnTo>
                <a:cubicBezTo>
                  <a:pt x="49381" y="175647"/>
                  <a:pt x="84118" y="213509"/>
                  <a:pt x="119926" y="233601"/>
                </a:cubicBezTo>
                <a:cubicBezTo>
                  <a:pt x="107067" y="200293"/>
                  <a:pt x="96441" y="156805"/>
                  <a:pt x="90636" y="100013"/>
                </a:cubicBezTo>
                <a:close/>
                <a:moveTo>
                  <a:pt x="339328" y="229314"/>
                </a:moveTo>
                <a:cubicBezTo>
                  <a:pt x="375493" y="208062"/>
                  <a:pt x="408176" y="170289"/>
                  <a:pt x="413712" y="100013"/>
                </a:cubicBezTo>
                <a:lnTo>
                  <a:pt x="367010" y="100013"/>
                </a:lnTo>
                <a:cubicBezTo>
                  <a:pt x="361474" y="154394"/>
                  <a:pt x="351473" y="196632"/>
                  <a:pt x="339328" y="229314"/>
                </a:cubicBezTo>
                <a:close/>
              </a:path>
            </a:pathLst>
          </a:custGeom>
          <a:solidFill>
            <a:srgbClr val="B45309"/>
          </a:solidFill>
          <a:ln/>
        </p:spPr>
      </p:sp>
      <p:sp>
        <p:nvSpPr>
          <p:cNvPr id="14" name="Text 12"/>
          <p:cNvSpPr/>
          <p:nvPr/>
        </p:nvSpPr>
        <p:spPr>
          <a:xfrm>
            <a:off x="11049000" y="2222500"/>
            <a:ext cx="4191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One of the </a:t>
            </a:r>
            <a:pPr>
              <a:lnSpc>
                <a:spcPct val="140000"/>
              </a:lnSpc>
            </a:pPr>
            <a:r>
              <a:rPr lang="en-US" sz="1500" b="1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strongest and most consistent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effects in multimedia learning research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62000" y="3429000"/>
            <a:ext cx="762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b="1" dirty="0">
                <a:solidFill>
                  <a:srgbClr val="1C191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Key Finding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762000" y="4000500"/>
            <a:ext cx="14732000" cy="1143000"/>
          </a:xfrm>
          <a:prstGeom prst="rect">
            <a:avLst/>
          </a:prstGeom>
          <a:solidFill>
            <a:srgbClr val="F5F0E8"/>
          </a:solidFill>
          <a:ln/>
        </p:spPr>
      </p:sp>
      <p:sp>
        <p:nvSpPr>
          <p:cNvPr id="17" name="Text 15"/>
          <p:cNvSpPr/>
          <p:nvPr/>
        </p:nvSpPr>
        <p:spPr>
          <a:xfrm>
            <a:off x="1016000" y="4127500"/>
            <a:ext cx="14224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7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When printed words are placed </a:t>
            </a:r>
            <a:pPr>
              <a:lnSpc>
                <a:spcPct val="160000"/>
              </a:lnSpc>
            </a:pPr>
            <a:r>
              <a:rPr lang="en-US" sz="1700" b="1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near rather than far</a:t>
            </a:r>
            <a:pPr>
              <a:lnSpc>
                <a:spcPct val="160000"/>
              </a:lnSpc>
            </a:pPr>
            <a:r>
              <a:rPr lang="en-US" sz="17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from corresponding pictures, transfer test performance improves significantly. Layout design </a:t>
            </a:r>
            <a:pPr>
              <a:lnSpc>
                <a:spcPct val="160000"/>
              </a:lnSpc>
            </a:pPr>
            <a:r>
              <a:rPr lang="en-US" sz="1700" b="1" dirty="0">
                <a:solidFill>
                  <a:srgbClr val="C2410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directly impacts learning outcomes</a:t>
            </a:r>
            <a:pPr>
              <a:lnSpc>
                <a:spcPct val="160000"/>
              </a:lnSpc>
            </a:pPr>
            <a:r>
              <a:rPr lang="en-US" sz="17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62000" y="5461000"/>
            <a:ext cx="635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b="1" dirty="0">
                <a:solidFill>
                  <a:srgbClr val="1C191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Practical Implication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762000" y="6032500"/>
            <a:ext cx="14732000" cy="1397000"/>
          </a:xfrm>
          <a:prstGeom prst="rect">
            <a:avLst/>
          </a:prstGeom>
          <a:solidFill>
            <a:srgbClr val="B45309">
              <a:alpha val="8235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990600" y="6350000"/>
            <a:ext cx="457200" cy="406400"/>
          </a:xfrm>
          <a:custGeom>
            <a:avLst/>
            <a:gdLst/>
            <a:ahLst/>
            <a:cxnLst/>
            <a:rect l="l" t="t" r="r" b="b"/>
            <a:pathLst>
              <a:path w="457200" h="406400">
                <a:moveTo>
                  <a:pt x="209074" y="-21431"/>
                </a:moveTo>
                <a:lnTo>
                  <a:pt x="220821" y="7779"/>
                </a:lnTo>
                <a:lnTo>
                  <a:pt x="250031" y="19526"/>
                </a:lnTo>
                <a:cubicBezTo>
                  <a:pt x="252413" y="20479"/>
                  <a:pt x="254000" y="22860"/>
                  <a:pt x="254000" y="25400"/>
                </a:cubicBezTo>
                <a:cubicBezTo>
                  <a:pt x="254000" y="27940"/>
                  <a:pt x="252413" y="30321"/>
                  <a:pt x="250031" y="31274"/>
                </a:cubicBezTo>
                <a:lnTo>
                  <a:pt x="220821" y="43021"/>
                </a:lnTo>
                <a:lnTo>
                  <a:pt x="209074" y="72231"/>
                </a:lnTo>
                <a:cubicBezTo>
                  <a:pt x="208121" y="74613"/>
                  <a:pt x="205740" y="76200"/>
                  <a:pt x="203200" y="76200"/>
                </a:cubicBezTo>
                <a:cubicBezTo>
                  <a:pt x="200660" y="76200"/>
                  <a:pt x="198279" y="74613"/>
                  <a:pt x="197326" y="72231"/>
                </a:cubicBezTo>
                <a:lnTo>
                  <a:pt x="185579" y="43021"/>
                </a:lnTo>
                <a:lnTo>
                  <a:pt x="156369" y="31274"/>
                </a:lnTo>
                <a:cubicBezTo>
                  <a:pt x="153988" y="30321"/>
                  <a:pt x="152400" y="27940"/>
                  <a:pt x="152400" y="25400"/>
                </a:cubicBezTo>
                <a:cubicBezTo>
                  <a:pt x="152400" y="22860"/>
                  <a:pt x="153988" y="20479"/>
                  <a:pt x="156369" y="19526"/>
                </a:cubicBezTo>
                <a:lnTo>
                  <a:pt x="185579" y="7779"/>
                </a:lnTo>
                <a:lnTo>
                  <a:pt x="197326" y="-21431"/>
                </a:lnTo>
                <a:cubicBezTo>
                  <a:pt x="198279" y="-23812"/>
                  <a:pt x="200660" y="-25400"/>
                  <a:pt x="203200" y="-25400"/>
                </a:cubicBezTo>
                <a:cubicBezTo>
                  <a:pt x="205740" y="-25400"/>
                  <a:pt x="208121" y="-23812"/>
                  <a:pt x="209074" y="-21431"/>
                </a:cubicBezTo>
                <a:close/>
                <a:moveTo>
                  <a:pt x="87868" y="33099"/>
                </a:moveTo>
                <a:lnTo>
                  <a:pt x="104934" y="72866"/>
                </a:lnTo>
                <a:lnTo>
                  <a:pt x="144701" y="89932"/>
                </a:lnTo>
                <a:cubicBezTo>
                  <a:pt x="149384" y="91916"/>
                  <a:pt x="152400" y="96520"/>
                  <a:pt x="152400" y="101600"/>
                </a:cubicBezTo>
                <a:cubicBezTo>
                  <a:pt x="152400" y="106680"/>
                  <a:pt x="149384" y="111284"/>
                  <a:pt x="144701" y="113268"/>
                </a:cubicBezTo>
                <a:lnTo>
                  <a:pt x="104934" y="130334"/>
                </a:lnTo>
                <a:lnTo>
                  <a:pt x="87868" y="170101"/>
                </a:lnTo>
                <a:cubicBezTo>
                  <a:pt x="85884" y="174784"/>
                  <a:pt x="81280" y="177800"/>
                  <a:pt x="76200" y="177800"/>
                </a:cubicBezTo>
                <a:cubicBezTo>
                  <a:pt x="71120" y="177800"/>
                  <a:pt x="66516" y="174784"/>
                  <a:pt x="64532" y="170101"/>
                </a:cubicBezTo>
                <a:lnTo>
                  <a:pt x="47466" y="130334"/>
                </a:lnTo>
                <a:lnTo>
                  <a:pt x="7699" y="113268"/>
                </a:lnTo>
                <a:cubicBezTo>
                  <a:pt x="3016" y="111284"/>
                  <a:pt x="0" y="106680"/>
                  <a:pt x="0" y="101600"/>
                </a:cubicBezTo>
                <a:cubicBezTo>
                  <a:pt x="0" y="96520"/>
                  <a:pt x="3016" y="91916"/>
                  <a:pt x="7699" y="89932"/>
                </a:cubicBezTo>
                <a:lnTo>
                  <a:pt x="47466" y="72866"/>
                </a:lnTo>
                <a:lnTo>
                  <a:pt x="64532" y="33099"/>
                </a:lnTo>
                <a:cubicBezTo>
                  <a:pt x="66516" y="28416"/>
                  <a:pt x="71120" y="25400"/>
                  <a:pt x="76200" y="25400"/>
                </a:cubicBezTo>
                <a:cubicBezTo>
                  <a:pt x="81280" y="25400"/>
                  <a:pt x="85884" y="28416"/>
                  <a:pt x="87868" y="33099"/>
                </a:cubicBezTo>
                <a:close/>
                <a:moveTo>
                  <a:pt x="368300" y="241300"/>
                </a:moveTo>
                <a:cubicBezTo>
                  <a:pt x="373380" y="241300"/>
                  <a:pt x="377984" y="244316"/>
                  <a:pt x="379968" y="248999"/>
                </a:cubicBezTo>
                <a:lnTo>
                  <a:pt x="397034" y="288766"/>
                </a:lnTo>
                <a:lnTo>
                  <a:pt x="436801" y="305832"/>
                </a:lnTo>
                <a:cubicBezTo>
                  <a:pt x="441484" y="307816"/>
                  <a:pt x="444500" y="312420"/>
                  <a:pt x="444500" y="317500"/>
                </a:cubicBezTo>
                <a:cubicBezTo>
                  <a:pt x="444500" y="322580"/>
                  <a:pt x="441484" y="327184"/>
                  <a:pt x="436801" y="329168"/>
                </a:cubicBezTo>
                <a:lnTo>
                  <a:pt x="397034" y="346234"/>
                </a:lnTo>
                <a:lnTo>
                  <a:pt x="379968" y="386001"/>
                </a:lnTo>
                <a:cubicBezTo>
                  <a:pt x="377984" y="390684"/>
                  <a:pt x="373380" y="393700"/>
                  <a:pt x="368300" y="393700"/>
                </a:cubicBezTo>
                <a:cubicBezTo>
                  <a:pt x="363220" y="393700"/>
                  <a:pt x="358616" y="390684"/>
                  <a:pt x="356632" y="386001"/>
                </a:cubicBezTo>
                <a:lnTo>
                  <a:pt x="339566" y="346234"/>
                </a:lnTo>
                <a:lnTo>
                  <a:pt x="299799" y="329168"/>
                </a:lnTo>
                <a:cubicBezTo>
                  <a:pt x="295116" y="327184"/>
                  <a:pt x="292100" y="322580"/>
                  <a:pt x="292100" y="317500"/>
                </a:cubicBezTo>
                <a:cubicBezTo>
                  <a:pt x="292100" y="312420"/>
                  <a:pt x="295116" y="307816"/>
                  <a:pt x="299799" y="305832"/>
                </a:cubicBezTo>
                <a:lnTo>
                  <a:pt x="339566" y="288766"/>
                </a:lnTo>
                <a:lnTo>
                  <a:pt x="356632" y="248999"/>
                </a:lnTo>
                <a:cubicBezTo>
                  <a:pt x="358616" y="244316"/>
                  <a:pt x="363220" y="241300"/>
                  <a:pt x="368300" y="241300"/>
                </a:cubicBezTo>
                <a:close/>
                <a:moveTo>
                  <a:pt x="365125" y="0"/>
                </a:moveTo>
                <a:cubicBezTo>
                  <a:pt x="373856" y="0"/>
                  <a:pt x="382270" y="3493"/>
                  <a:pt x="388541" y="9684"/>
                </a:cubicBezTo>
                <a:lnTo>
                  <a:pt x="422116" y="43259"/>
                </a:lnTo>
                <a:cubicBezTo>
                  <a:pt x="428308" y="49530"/>
                  <a:pt x="431800" y="57944"/>
                  <a:pt x="431800" y="66675"/>
                </a:cubicBezTo>
                <a:cubicBezTo>
                  <a:pt x="431800" y="75406"/>
                  <a:pt x="428308" y="83820"/>
                  <a:pt x="422116" y="90091"/>
                </a:cubicBezTo>
                <a:lnTo>
                  <a:pt x="352107" y="160099"/>
                </a:lnTo>
                <a:lnTo>
                  <a:pt x="271701" y="79693"/>
                </a:lnTo>
                <a:lnTo>
                  <a:pt x="341709" y="9684"/>
                </a:lnTo>
                <a:cubicBezTo>
                  <a:pt x="347980" y="3493"/>
                  <a:pt x="356394" y="0"/>
                  <a:pt x="365125" y="0"/>
                </a:cubicBezTo>
                <a:close/>
                <a:moveTo>
                  <a:pt x="35084" y="316309"/>
                </a:moveTo>
                <a:lnTo>
                  <a:pt x="244793" y="106601"/>
                </a:lnTo>
                <a:lnTo>
                  <a:pt x="325199" y="187008"/>
                </a:lnTo>
                <a:lnTo>
                  <a:pt x="115491" y="396716"/>
                </a:lnTo>
                <a:cubicBezTo>
                  <a:pt x="109220" y="402908"/>
                  <a:pt x="100806" y="406400"/>
                  <a:pt x="92075" y="406400"/>
                </a:cubicBezTo>
                <a:cubicBezTo>
                  <a:pt x="83344" y="406400"/>
                  <a:pt x="74930" y="402908"/>
                  <a:pt x="68659" y="396716"/>
                </a:cubicBezTo>
                <a:lnTo>
                  <a:pt x="35084" y="363141"/>
                </a:lnTo>
                <a:cubicBezTo>
                  <a:pt x="28893" y="356870"/>
                  <a:pt x="25400" y="348456"/>
                  <a:pt x="25400" y="339725"/>
                </a:cubicBezTo>
                <a:cubicBezTo>
                  <a:pt x="25400" y="330994"/>
                  <a:pt x="28893" y="322580"/>
                  <a:pt x="35084" y="316309"/>
                </a:cubicBezTo>
                <a:close/>
              </a:path>
            </a:pathLst>
          </a:custGeom>
          <a:solidFill>
            <a:srgbClr val="B45309"/>
          </a:solidFill>
          <a:ln/>
        </p:spPr>
      </p:sp>
      <p:sp>
        <p:nvSpPr>
          <p:cNvPr id="21" name="Text 19"/>
          <p:cNvSpPr/>
          <p:nvPr/>
        </p:nvSpPr>
        <p:spPr>
          <a:xfrm>
            <a:off x="1587500" y="6159500"/>
            <a:ext cx="13652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7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Even </a:t>
            </a:r>
            <a:pPr>
              <a:lnSpc>
                <a:spcPct val="160000"/>
              </a:lnSpc>
            </a:pPr>
            <a:r>
              <a:rPr lang="en-US" sz="1700" b="1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simple layout changes</a:t>
            </a:r>
            <a:pPr>
              <a:lnSpc>
                <a:spcPct val="160000"/>
              </a:lnSpc>
            </a:pPr>
            <a:r>
              <a:rPr lang="en-US" sz="17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moving text closer to relevant graphics — can dramatically improve learning. This is one of the easiest principles to implement with one of the biggest payoffs.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62000" y="8255000"/>
            <a:ext cx="1016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78716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Source: Mayer, R. E. &amp; Fiorella, L. (2014). Cambridge Handbook of Multimedia Learning, Ch. 12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4986000" y="86360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78716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23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3175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200" kern="0" dirty="0">
                <a:solidFill>
                  <a:srgbClr val="B4530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SPATIAL CONTIGUITY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62000" y="6350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B4530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Application Techniques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1206500"/>
            <a:ext cx="14732000" cy="12700"/>
          </a:xfrm>
          <a:prstGeom prst="rect">
            <a:avLst/>
          </a:prstGeom>
          <a:solidFill>
            <a:srgbClr val="E7E5E4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1498600"/>
            <a:ext cx="457200" cy="45720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7" name="Text 5"/>
          <p:cNvSpPr/>
          <p:nvPr/>
        </p:nvSpPr>
        <p:spPr>
          <a:xfrm>
            <a:off x="762000" y="14986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97000" y="1498600"/>
            <a:ext cx="444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Integrated Labels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97000" y="1905000"/>
            <a:ext cx="5842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Place labels directly on or immediately adjacent to the described graphic element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62000" y="2768600"/>
            <a:ext cx="457200" cy="45720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11" name="Text 9"/>
          <p:cNvSpPr/>
          <p:nvPr/>
        </p:nvSpPr>
        <p:spPr>
          <a:xfrm>
            <a:off x="762000" y="27686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97000" y="2768600"/>
            <a:ext cx="444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Avoid Separate Pages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397000" y="3175000"/>
            <a:ext cx="5842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 not place graphics on one page and explanatory text on another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62000" y="4038600"/>
            <a:ext cx="457200" cy="45720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15" name="Text 13"/>
          <p:cNvSpPr/>
          <p:nvPr/>
        </p:nvSpPr>
        <p:spPr>
          <a:xfrm>
            <a:off x="762000" y="40386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397000" y="4038600"/>
            <a:ext cx="444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Inline Annotations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97000" y="4445000"/>
            <a:ext cx="5842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 annotations, callouts, and captions placed within or next to the relevant image area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8382000" y="1498600"/>
            <a:ext cx="457200" cy="45720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19" name="Text 17"/>
          <p:cNvSpPr/>
          <p:nvPr/>
        </p:nvSpPr>
        <p:spPr>
          <a:xfrm>
            <a:off x="8382000" y="14986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017000" y="1498600"/>
            <a:ext cx="444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Adjacent Feedback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017000" y="1905000"/>
            <a:ext cx="6223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Place feedback, hints, and directions next to the relevant questions or activities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8382000" y="2768600"/>
            <a:ext cx="457200" cy="45720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23" name="Text 21"/>
          <p:cNvSpPr/>
          <p:nvPr/>
        </p:nvSpPr>
        <p:spPr>
          <a:xfrm>
            <a:off x="8382000" y="27686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017000" y="2768600"/>
            <a:ext cx="444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Same-Screen Instructions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017000" y="3175000"/>
            <a:ext cx="6223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Present instructions on the same screen as the activity they describe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762000" y="5461000"/>
            <a:ext cx="14732000" cy="1270000"/>
          </a:xfrm>
          <a:prstGeom prst="rect">
            <a:avLst/>
          </a:prstGeom>
          <a:solidFill>
            <a:srgbClr val="F5F0E8"/>
          </a:solidFill>
          <a:ln/>
        </p:spPr>
      </p:sp>
      <p:sp>
        <p:nvSpPr>
          <p:cNvPr id="27" name="Shape 25"/>
          <p:cNvSpPr/>
          <p:nvPr/>
        </p:nvSpPr>
        <p:spPr>
          <a:xfrm>
            <a:off x="1054100" y="5778500"/>
            <a:ext cx="457200" cy="406400"/>
          </a:xfrm>
          <a:custGeom>
            <a:avLst/>
            <a:gdLst/>
            <a:ahLst/>
            <a:cxnLst/>
            <a:rect l="l" t="t" r="r" b="b"/>
            <a:pathLst>
              <a:path w="457200" h="406400">
                <a:moveTo>
                  <a:pt x="245666" y="-15002"/>
                </a:moveTo>
                <a:cubicBezTo>
                  <a:pt x="242411" y="-21352"/>
                  <a:pt x="235823" y="-25400"/>
                  <a:pt x="228679" y="-25400"/>
                </a:cubicBezTo>
                <a:cubicBezTo>
                  <a:pt x="221536" y="-25400"/>
                  <a:pt x="214948" y="-21352"/>
                  <a:pt x="211693" y="-15002"/>
                </a:cubicBezTo>
                <a:lnTo>
                  <a:pt x="153273" y="99457"/>
                </a:lnTo>
                <a:lnTo>
                  <a:pt x="26353" y="119618"/>
                </a:lnTo>
                <a:cubicBezTo>
                  <a:pt x="19288" y="120729"/>
                  <a:pt x="13414" y="125730"/>
                  <a:pt x="11192" y="132556"/>
                </a:cubicBezTo>
                <a:cubicBezTo>
                  <a:pt x="8969" y="139383"/>
                  <a:pt x="10795" y="146844"/>
                  <a:pt x="15796" y="151924"/>
                </a:cubicBezTo>
                <a:lnTo>
                  <a:pt x="106601" y="242808"/>
                </a:lnTo>
                <a:lnTo>
                  <a:pt x="86598" y="369729"/>
                </a:lnTo>
                <a:cubicBezTo>
                  <a:pt x="85487" y="376793"/>
                  <a:pt x="88424" y="383937"/>
                  <a:pt x="94218" y="388144"/>
                </a:cubicBezTo>
                <a:cubicBezTo>
                  <a:pt x="100013" y="392351"/>
                  <a:pt x="107633" y="392986"/>
                  <a:pt x="114062" y="389731"/>
                </a:cubicBezTo>
                <a:lnTo>
                  <a:pt x="228679" y="331470"/>
                </a:lnTo>
                <a:lnTo>
                  <a:pt x="343218" y="389731"/>
                </a:lnTo>
                <a:cubicBezTo>
                  <a:pt x="349568" y="392986"/>
                  <a:pt x="357267" y="392351"/>
                  <a:pt x="363061" y="388144"/>
                </a:cubicBezTo>
                <a:cubicBezTo>
                  <a:pt x="368856" y="383937"/>
                  <a:pt x="371793" y="376873"/>
                  <a:pt x="370681" y="369729"/>
                </a:cubicBezTo>
                <a:lnTo>
                  <a:pt x="350599" y="242808"/>
                </a:lnTo>
                <a:lnTo>
                  <a:pt x="441404" y="151924"/>
                </a:lnTo>
                <a:cubicBezTo>
                  <a:pt x="446484" y="146844"/>
                  <a:pt x="448231" y="139383"/>
                  <a:pt x="446008" y="132556"/>
                </a:cubicBezTo>
                <a:cubicBezTo>
                  <a:pt x="443786" y="125730"/>
                  <a:pt x="437991" y="120729"/>
                  <a:pt x="430847" y="119618"/>
                </a:cubicBezTo>
                <a:lnTo>
                  <a:pt x="304006" y="99457"/>
                </a:lnTo>
                <a:lnTo>
                  <a:pt x="245666" y="-15002"/>
                </a:lnTo>
                <a:close/>
              </a:path>
            </a:pathLst>
          </a:custGeom>
          <a:solidFill>
            <a:srgbClr val="B45309"/>
          </a:solidFill>
          <a:ln/>
        </p:spPr>
      </p:sp>
      <p:sp>
        <p:nvSpPr>
          <p:cNvPr id="28" name="Text 26"/>
          <p:cNvSpPr/>
          <p:nvPr/>
        </p:nvSpPr>
        <p:spPr>
          <a:xfrm>
            <a:off x="1651000" y="55880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B4530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Layout Rule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651000" y="5994400"/>
            <a:ext cx="13462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i="1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"If two elements are related, they should be visually connected with minimal distance between them."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762000" y="70485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Quick Checklist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62000" y="7493000"/>
            <a:ext cx="14732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B4530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Are labels on or next to the described element? 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B4530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Is text on the same page as its graphic? 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B4530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Is feedback adjacent to the relevant item?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4986000" y="86360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78716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24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3175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200" kern="0" dirty="0">
                <a:solidFill>
                  <a:srgbClr val="B4530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SPATIAL CONTIGUITY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62000" y="6350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B4530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Practical Examples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1206500"/>
            <a:ext cx="14732000" cy="12700"/>
          </a:xfrm>
          <a:prstGeom prst="rect">
            <a:avLst/>
          </a:prstGeom>
          <a:solidFill>
            <a:srgbClr val="E7E5E4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14986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33350" y="44450"/>
                </a:moveTo>
                <a:cubicBezTo>
                  <a:pt x="133350" y="32157"/>
                  <a:pt x="143282" y="22225"/>
                  <a:pt x="155575" y="22225"/>
                </a:cubicBezTo>
                <a:lnTo>
                  <a:pt x="200025" y="22225"/>
                </a:lnTo>
                <a:cubicBezTo>
                  <a:pt x="212318" y="22225"/>
                  <a:pt x="222250" y="32157"/>
                  <a:pt x="222250" y="44450"/>
                </a:cubicBezTo>
                <a:lnTo>
                  <a:pt x="222250" y="88900"/>
                </a:lnTo>
                <a:cubicBezTo>
                  <a:pt x="222250" y="101193"/>
                  <a:pt x="212318" y="111125"/>
                  <a:pt x="200025" y="111125"/>
                </a:cubicBezTo>
                <a:lnTo>
                  <a:pt x="194469" y="111125"/>
                </a:lnTo>
                <a:lnTo>
                  <a:pt x="194469" y="155575"/>
                </a:lnTo>
                <a:lnTo>
                  <a:pt x="277813" y="155575"/>
                </a:lnTo>
                <a:cubicBezTo>
                  <a:pt x="305455" y="155575"/>
                  <a:pt x="327819" y="177939"/>
                  <a:pt x="327819" y="205581"/>
                </a:cubicBezTo>
                <a:lnTo>
                  <a:pt x="327819" y="244475"/>
                </a:lnTo>
                <a:lnTo>
                  <a:pt x="333375" y="244475"/>
                </a:lnTo>
                <a:cubicBezTo>
                  <a:pt x="345668" y="244475"/>
                  <a:pt x="355600" y="254407"/>
                  <a:pt x="355600" y="266700"/>
                </a:cubicBezTo>
                <a:lnTo>
                  <a:pt x="355600" y="311150"/>
                </a:lnTo>
                <a:cubicBezTo>
                  <a:pt x="355600" y="323443"/>
                  <a:pt x="345668" y="333375"/>
                  <a:pt x="333375" y="333375"/>
                </a:cubicBezTo>
                <a:lnTo>
                  <a:pt x="288925" y="333375"/>
                </a:lnTo>
                <a:cubicBezTo>
                  <a:pt x="276632" y="333375"/>
                  <a:pt x="266700" y="323443"/>
                  <a:pt x="266700" y="311150"/>
                </a:cubicBezTo>
                <a:lnTo>
                  <a:pt x="266700" y="266700"/>
                </a:lnTo>
                <a:cubicBezTo>
                  <a:pt x="266700" y="254407"/>
                  <a:pt x="276632" y="244475"/>
                  <a:pt x="288925" y="244475"/>
                </a:cubicBezTo>
                <a:lnTo>
                  <a:pt x="294481" y="244475"/>
                </a:lnTo>
                <a:lnTo>
                  <a:pt x="294481" y="205581"/>
                </a:lnTo>
                <a:cubicBezTo>
                  <a:pt x="294481" y="196344"/>
                  <a:pt x="287050" y="188913"/>
                  <a:pt x="277813" y="188913"/>
                </a:cubicBezTo>
                <a:lnTo>
                  <a:pt x="194469" y="188913"/>
                </a:lnTo>
                <a:lnTo>
                  <a:pt x="194469" y="244475"/>
                </a:lnTo>
                <a:lnTo>
                  <a:pt x="200025" y="244475"/>
                </a:lnTo>
                <a:cubicBezTo>
                  <a:pt x="212318" y="244475"/>
                  <a:pt x="222250" y="254407"/>
                  <a:pt x="222250" y="266700"/>
                </a:cubicBezTo>
                <a:lnTo>
                  <a:pt x="222250" y="311150"/>
                </a:lnTo>
                <a:cubicBezTo>
                  <a:pt x="222250" y="323443"/>
                  <a:pt x="212318" y="333375"/>
                  <a:pt x="200025" y="333375"/>
                </a:cubicBezTo>
                <a:lnTo>
                  <a:pt x="155575" y="333375"/>
                </a:lnTo>
                <a:cubicBezTo>
                  <a:pt x="143282" y="333375"/>
                  <a:pt x="133350" y="323443"/>
                  <a:pt x="133350" y="311150"/>
                </a:cubicBezTo>
                <a:lnTo>
                  <a:pt x="133350" y="266700"/>
                </a:lnTo>
                <a:cubicBezTo>
                  <a:pt x="133350" y="254407"/>
                  <a:pt x="143282" y="244475"/>
                  <a:pt x="155575" y="244475"/>
                </a:cubicBezTo>
                <a:lnTo>
                  <a:pt x="161131" y="244475"/>
                </a:lnTo>
                <a:lnTo>
                  <a:pt x="161131" y="188913"/>
                </a:lnTo>
                <a:lnTo>
                  <a:pt x="77788" y="188913"/>
                </a:lnTo>
                <a:cubicBezTo>
                  <a:pt x="68550" y="188913"/>
                  <a:pt x="61119" y="196344"/>
                  <a:pt x="61119" y="205581"/>
                </a:cubicBezTo>
                <a:lnTo>
                  <a:pt x="61119" y="244475"/>
                </a:lnTo>
                <a:lnTo>
                  <a:pt x="66675" y="244475"/>
                </a:lnTo>
                <a:cubicBezTo>
                  <a:pt x="78968" y="244475"/>
                  <a:pt x="88900" y="254407"/>
                  <a:pt x="88900" y="266700"/>
                </a:cubicBezTo>
                <a:lnTo>
                  <a:pt x="88900" y="311150"/>
                </a:lnTo>
                <a:cubicBezTo>
                  <a:pt x="88900" y="323443"/>
                  <a:pt x="78968" y="333375"/>
                  <a:pt x="66675" y="333375"/>
                </a:cubicBezTo>
                <a:lnTo>
                  <a:pt x="22225" y="333375"/>
                </a:lnTo>
                <a:cubicBezTo>
                  <a:pt x="9932" y="333375"/>
                  <a:pt x="0" y="323443"/>
                  <a:pt x="0" y="311150"/>
                </a:cubicBezTo>
                <a:lnTo>
                  <a:pt x="0" y="266700"/>
                </a:lnTo>
                <a:cubicBezTo>
                  <a:pt x="0" y="254407"/>
                  <a:pt x="9932" y="244475"/>
                  <a:pt x="22225" y="244475"/>
                </a:cubicBezTo>
                <a:lnTo>
                  <a:pt x="27781" y="244475"/>
                </a:lnTo>
                <a:lnTo>
                  <a:pt x="27781" y="205581"/>
                </a:lnTo>
                <a:cubicBezTo>
                  <a:pt x="27781" y="177939"/>
                  <a:pt x="50145" y="155575"/>
                  <a:pt x="77788" y="155575"/>
                </a:cubicBezTo>
                <a:lnTo>
                  <a:pt x="161131" y="155575"/>
                </a:lnTo>
                <a:lnTo>
                  <a:pt x="161131" y="111125"/>
                </a:lnTo>
                <a:lnTo>
                  <a:pt x="155575" y="111125"/>
                </a:lnTo>
                <a:cubicBezTo>
                  <a:pt x="143282" y="111125"/>
                  <a:pt x="133350" y="101193"/>
                  <a:pt x="133350" y="88900"/>
                </a:cubicBezTo>
                <a:lnTo>
                  <a:pt x="133350" y="44450"/>
                </a:lnTo>
                <a:close/>
              </a:path>
            </a:pathLst>
          </a:custGeom>
          <a:solidFill>
            <a:srgbClr val="B45309"/>
          </a:solidFill>
          <a:ln/>
        </p:spPr>
      </p:sp>
      <p:sp>
        <p:nvSpPr>
          <p:cNvPr id="7" name="Text 5"/>
          <p:cNvSpPr/>
          <p:nvPr/>
        </p:nvSpPr>
        <p:spPr>
          <a:xfrm>
            <a:off x="1270000" y="14605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b="1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Diagrams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70000" y="1841500"/>
            <a:ext cx="1397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Place labels directly on parts of a diagram rather than in a separate legend or key that requires cross-referencing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62000" y="2476500"/>
            <a:ext cx="14732000" cy="12700"/>
          </a:xfrm>
          <a:prstGeom prst="rect">
            <a:avLst/>
          </a:prstGeom>
          <a:solidFill>
            <a:srgbClr val="E7E5E4"/>
          </a:solidFill>
          <a:ln/>
        </p:spPr>
      </p:sp>
      <p:sp>
        <p:nvSpPr>
          <p:cNvPr id="10" name="Shape 8"/>
          <p:cNvSpPr/>
          <p:nvPr/>
        </p:nvSpPr>
        <p:spPr>
          <a:xfrm>
            <a:off x="717550" y="2667000"/>
            <a:ext cx="444500" cy="355600"/>
          </a:xfrm>
          <a:custGeom>
            <a:avLst/>
            <a:gdLst/>
            <a:ahLst/>
            <a:cxnLst/>
            <a:rect l="l" t="t" r="r" b="b"/>
            <a:pathLst>
              <a:path w="444500" h="355600">
                <a:moveTo>
                  <a:pt x="44450" y="66675"/>
                </a:moveTo>
                <a:cubicBezTo>
                  <a:pt x="44450" y="42158"/>
                  <a:pt x="64383" y="22225"/>
                  <a:pt x="88900" y="22225"/>
                </a:cubicBezTo>
                <a:lnTo>
                  <a:pt x="355600" y="22225"/>
                </a:lnTo>
                <a:cubicBezTo>
                  <a:pt x="380117" y="22225"/>
                  <a:pt x="400050" y="42158"/>
                  <a:pt x="400050" y="66675"/>
                </a:cubicBezTo>
                <a:lnTo>
                  <a:pt x="400050" y="233363"/>
                </a:lnTo>
                <a:lnTo>
                  <a:pt x="355600" y="233363"/>
                </a:lnTo>
                <a:lnTo>
                  <a:pt x="355600" y="66675"/>
                </a:lnTo>
                <a:lnTo>
                  <a:pt x="88900" y="66675"/>
                </a:lnTo>
                <a:lnTo>
                  <a:pt x="88900" y="233363"/>
                </a:lnTo>
                <a:lnTo>
                  <a:pt x="44450" y="233363"/>
                </a:lnTo>
                <a:lnTo>
                  <a:pt x="44450" y="66675"/>
                </a:lnTo>
                <a:close/>
                <a:moveTo>
                  <a:pt x="0" y="280035"/>
                </a:moveTo>
                <a:cubicBezTo>
                  <a:pt x="0" y="272673"/>
                  <a:pt x="5973" y="266700"/>
                  <a:pt x="13335" y="266700"/>
                </a:cubicBezTo>
                <a:lnTo>
                  <a:pt x="431165" y="266700"/>
                </a:lnTo>
                <a:cubicBezTo>
                  <a:pt x="438527" y="266700"/>
                  <a:pt x="444500" y="272673"/>
                  <a:pt x="444500" y="280035"/>
                </a:cubicBezTo>
                <a:cubicBezTo>
                  <a:pt x="444500" y="309483"/>
                  <a:pt x="420608" y="333375"/>
                  <a:pt x="391160" y="333375"/>
                </a:cubicBezTo>
                <a:lnTo>
                  <a:pt x="53340" y="333375"/>
                </a:lnTo>
                <a:cubicBezTo>
                  <a:pt x="23892" y="333375"/>
                  <a:pt x="0" y="309483"/>
                  <a:pt x="0" y="280035"/>
                </a:cubicBezTo>
                <a:close/>
                <a:moveTo>
                  <a:pt x="195163" y="145157"/>
                </a:moveTo>
                <a:lnTo>
                  <a:pt x="173633" y="166688"/>
                </a:lnTo>
                <a:lnTo>
                  <a:pt x="195163" y="188218"/>
                </a:lnTo>
                <a:cubicBezTo>
                  <a:pt x="201692" y="194747"/>
                  <a:pt x="201692" y="205303"/>
                  <a:pt x="195163" y="211763"/>
                </a:cubicBezTo>
                <a:cubicBezTo>
                  <a:pt x="188635" y="218222"/>
                  <a:pt x="178078" y="218291"/>
                  <a:pt x="171619" y="211763"/>
                </a:cubicBezTo>
                <a:lnTo>
                  <a:pt x="138281" y="178425"/>
                </a:lnTo>
                <a:cubicBezTo>
                  <a:pt x="131753" y="171896"/>
                  <a:pt x="131753" y="161340"/>
                  <a:pt x="138281" y="154880"/>
                </a:cubicBezTo>
                <a:lnTo>
                  <a:pt x="171619" y="121543"/>
                </a:lnTo>
                <a:cubicBezTo>
                  <a:pt x="178147" y="115014"/>
                  <a:pt x="188704" y="115014"/>
                  <a:pt x="195163" y="121543"/>
                </a:cubicBezTo>
                <a:cubicBezTo>
                  <a:pt x="201622" y="128072"/>
                  <a:pt x="201692" y="138628"/>
                  <a:pt x="195163" y="145088"/>
                </a:cubicBezTo>
                <a:close/>
                <a:moveTo>
                  <a:pt x="272951" y="121543"/>
                </a:moveTo>
                <a:lnTo>
                  <a:pt x="306288" y="154880"/>
                </a:lnTo>
                <a:cubicBezTo>
                  <a:pt x="312817" y="161409"/>
                  <a:pt x="312817" y="171966"/>
                  <a:pt x="306288" y="178425"/>
                </a:cubicBezTo>
                <a:lnTo>
                  <a:pt x="272951" y="211763"/>
                </a:lnTo>
                <a:cubicBezTo>
                  <a:pt x="266422" y="218291"/>
                  <a:pt x="255865" y="218291"/>
                  <a:pt x="249406" y="211763"/>
                </a:cubicBezTo>
                <a:cubicBezTo>
                  <a:pt x="242947" y="205234"/>
                  <a:pt x="242878" y="194677"/>
                  <a:pt x="249406" y="188218"/>
                </a:cubicBezTo>
                <a:lnTo>
                  <a:pt x="270937" y="166688"/>
                </a:lnTo>
                <a:lnTo>
                  <a:pt x="249406" y="145157"/>
                </a:lnTo>
                <a:cubicBezTo>
                  <a:pt x="242878" y="138628"/>
                  <a:pt x="242878" y="128072"/>
                  <a:pt x="249406" y="121612"/>
                </a:cubicBezTo>
                <a:cubicBezTo>
                  <a:pt x="255935" y="115153"/>
                  <a:pt x="266492" y="115084"/>
                  <a:pt x="272951" y="121612"/>
                </a:cubicBezTo>
                <a:close/>
              </a:path>
            </a:pathLst>
          </a:custGeom>
          <a:solidFill>
            <a:srgbClr val="B45309"/>
          </a:solidFill>
          <a:ln/>
        </p:spPr>
      </p:sp>
      <p:sp>
        <p:nvSpPr>
          <p:cNvPr id="11" name="Text 9"/>
          <p:cNvSpPr/>
          <p:nvPr/>
        </p:nvSpPr>
        <p:spPr>
          <a:xfrm>
            <a:off x="1270000" y="26289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b="1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E-Learning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70000" y="3009900"/>
            <a:ext cx="1397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Keep explanatory text adjacent to the relevant graphic, not in a sidebar far from the image it describes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62000" y="3644900"/>
            <a:ext cx="14732000" cy="12700"/>
          </a:xfrm>
          <a:prstGeom prst="rect">
            <a:avLst/>
          </a:prstGeom>
          <a:solidFill>
            <a:srgbClr val="E7E5E4"/>
          </a:solidFill>
          <a:ln/>
        </p:spPr>
      </p:sp>
      <p:sp>
        <p:nvSpPr>
          <p:cNvPr id="14" name="Shape 12"/>
          <p:cNvSpPr/>
          <p:nvPr/>
        </p:nvSpPr>
        <p:spPr>
          <a:xfrm>
            <a:off x="806450" y="3835400"/>
            <a:ext cx="266700" cy="355600"/>
          </a:xfrm>
          <a:custGeom>
            <a:avLst/>
            <a:gdLst/>
            <a:ahLst/>
            <a:cxnLst/>
            <a:rect l="l" t="t" r="r" b="b"/>
            <a:pathLst>
              <a:path w="266700" h="355600">
                <a:moveTo>
                  <a:pt x="216277" y="22225"/>
                </a:moveTo>
                <a:lnTo>
                  <a:pt x="222250" y="22225"/>
                </a:lnTo>
                <a:cubicBezTo>
                  <a:pt x="246767" y="22225"/>
                  <a:pt x="266700" y="42158"/>
                  <a:pt x="266700" y="66675"/>
                </a:cubicBezTo>
                <a:lnTo>
                  <a:pt x="266700" y="311150"/>
                </a:lnTo>
                <a:cubicBezTo>
                  <a:pt x="266700" y="335667"/>
                  <a:pt x="246767" y="355600"/>
                  <a:pt x="222250" y="355600"/>
                </a:cubicBezTo>
                <a:lnTo>
                  <a:pt x="44450" y="355600"/>
                </a:lnTo>
                <a:cubicBezTo>
                  <a:pt x="19933" y="355600"/>
                  <a:pt x="0" y="335667"/>
                  <a:pt x="0" y="311150"/>
                </a:cubicBezTo>
                <a:lnTo>
                  <a:pt x="0" y="66675"/>
                </a:lnTo>
                <a:cubicBezTo>
                  <a:pt x="0" y="42158"/>
                  <a:pt x="19933" y="22225"/>
                  <a:pt x="44450" y="22225"/>
                </a:cubicBezTo>
                <a:lnTo>
                  <a:pt x="50423" y="22225"/>
                </a:lnTo>
                <a:cubicBezTo>
                  <a:pt x="58063" y="8959"/>
                  <a:pt x="72440" y="0"/>
                  <a:pt x="88900" y="0"/>
                </a:cubicBezTo>
                <a:lnTo>
                  <a:pt x="177800" y="0"/>
                </a:lnTo>
                <a:cubicBezTo>
                  <a:pt x="194260" y="0"/>
                  <a:pt x="208637" y="8959"/>
                  <a:pt x="216277" y="22225"/>
                </a:cubicBezTo>
                <a:close/>
                <a:moveTo>
                  <a:pt x="172244" y="77788"/>
                </a:moveTo>
                <a:cubicBezTo>
                  <a:pt x="181481" y="77788"/>
                  <a:pt x="188913" y="70356"/>
                  <a:pt x="188913" y="61119"/>
                </a:cubicBezTo>
                <a:cubicBezTo>
                  <a:pt x="188913" y="51881"/>
                  <a:pt x="181481" y="44450"/>
                  <a:pt x="172244" y="44450"/>
                </a:cubicBezTo>
                <a:lnTo>
                  <a:pt x="94456" y="44450"/>
                </a:lnTo>
                <a:cubicBezTo>
                  <a:pt x="85219" y="44450"/>
                  <a:pt x="77788" y="51881"/>
                  <a:pt x="77788" y="61119"/>
                </a:cubicBezTo>
                <a:cubicBezTo>
                  <a:pt x="77788" y="70356"/>
                  <a:pt x="85219" y="77788"/>
                  <a:pt x="94456" y="77788"/>
                </a:cubicBezTo>
                <a:lnTo>
                  <a:pt x="172244" y="77788"/>
                </a:lnTo>
                <a:close/>
                <a:moveTo>
                  <a:pt x="191968" y="181064"/>
                </a:moveTo>
                <a:cubicBezTo>
                  <a:pt x="196830" y="173286"/>
                  <a:pt x="194469" y="163006"/>
                  <a:pt x="186690" y="158075"/>
                </a:cubicBezTo>
                <a:cubicBezTo>
                  <a:pt x="178911" y="153144"/>
                  <a:pt x="168632" y="155575"/>
                  <a:pt x="163701" y="163354"/>
                </a:cubicBezTo>
                <a:lnTo>
                  <a:pt x="121057" y="231626"/>
                </a:lnTo>
                <a:lnTo>
                  <a:pt x="102304" y="206623"/>
                </a:lnTo>
                <a:cubicBezTo>
                  <a:pt x="96748" y="199261"/>
                  <a:pt x="86330" y="197733"/>
                  <a:pt x="78968" y="203289"/>
                </a:cubicBezTo>
                <a:cubicBezTo>
                  <a:pt x="71606" y="208846"/>
                  <a:pt x="70078" y="219264"/>
                  <a:pt x="75634" y="226626"/>
                </a:cubicBezTo>
                <a:lnTo>
                  <a:pt x="108972" y="271076"/>
                </a:lnTo>
                <a:cubicBezTo>
                  <a:pt x="112236" y="275451"/>
                  <a:pt x="117515" y="277951"/>
                  <a:pt x="123001" y="277743"/>
                </a:cubicBezTo>
                <a:cubicBezTo>
                  <a:pt x="128488" y="277535"/>
                  <a:pt x="133489" y="274618"/>
                  <a:pt x="136406" y="269895"/>
                </a:cubicBezTo>
                <a:lnTo>
                  <a:pt x="191968" y="180995"/>
                </a:lnTo>
                <a:close/>
              </a:path>
            </a:pathLst>
          </a:custGeom>
          <a:solidFill>
            <a:srgbClr val="B45309"/>
          </a:solidFill>
          <a:ln/>
        </p:spPr>
      </p:sp>
      <p:sp>
        <p:nvSpPr>
          <p:cNvPr id="15" name="Text 13"/>
          <p:cNvSpPr/>
          <p:nvPr/>
        </p:nvSpPr>
        <p:spPr>
          <a:xfrm>
            <a:off x="1270000" y="37973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b="1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Assessments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70000" y="4178300"/>
            <a:ext cx="1397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Place feedback directly next to the relevant answer, not on a separate page or at the bottom of the screen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762000" y="4813300"/>
            <a:ext cx="14732000" cy="12700"/>
          </a:xfrm>
          <a:prstGeom prst="rect">
            <a:avLst/>
          </a:prstGeom>
          <a:solidFill>
            <a:srgbClr val="E7E5E4"/>
          </a:solidFill>
          <a:ln/>
        </p:spPr>
      </p:sp>
      <p:sp>
        <p:nvSpPr>
          <p:cNvPr id="18" name="Shape 16"/>
          <p:cNvSpPr/>
          <p:nvPr/>
        </p:nvSpPr>
        <p:spPr>
          <a:xfrm>
            <a:off x="762000" y="50038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92928" y="25211"/>
                </a:moveTo>
                <a:cubicBezTo>
                  <a:pt x="100499" y="30490"/>
                  <a:pt x="102304" y="40908"/>
                  <a:pt x="97026" y="48409"/>
                </a:cubicBezTo>
                <a:lnTo>
                  <a:pt x="58132" y="103971"/>
                </a:lnTo>
                <a:cubicBezTo>
                  <a:pt x="55285" y="108000"/>
                  <a:pt x="50840" y="110569"/>
                  <a:pt x="45909" y="110986"/>
                </a:cubicBezTo>
                <a:cubicBezTo>
                  <a:pt x="40977" y="111403"/>
                  <a:pt x="36116" y="109736"/>
                  <a:pt x="32643" y="106263"/>
                </a:cubicBezTo>
                <a:lnTo>
                  <a:pt x="4862" y="78482"/>
                </a:lnTo>
                <a:cubicBezTo>
                  <a:pt x="-1597" y="71953"/>
                  <a:pt x="-1597" y="61397"/>
                  <a:pt x="4862" y="54868"/>
                </a:cubicBezTo>
                <a:cubicBezTo>
                  <a:pt x="11321" y="48339"/>
                  <a:pt x="21947" y="48409"/>
                  <a:pt x="28476" y="54868"/>
                </a:cubicBezTo>
                <a:lnTo>
                  <a:pt x="42228" y="68620"/>
                </a:lnTo>
                <a:lnTo>
                  <a:pt x="69731" y="29309"/>
                </a:lnTo>
                <a:cubicBezTo>
                  <a:pt x="75009" y="21739"/>
                  <a:pt x="85427" y="19933"/>
                  <a:pt x="92928" y="25211"/>
                </a:cubicBezTo>
                <a:close/>
                <a:moveTo>
                  <a:pt x="92928" y="136336"/>
                </a:moveTo>
                <a:cubicBezTo>
                  <a:pt x="100499" y="141615"/>
                  <a:pt x="102304" y="152033"/>
                  <a:pt x="97026" y="159534"/>
                </a:cubicBezTo>
                <a:lnTo>
                  <a:pt x="58132" y="215096"/>
                </a:lnTo>
                <a:cubicBezTo>
                  <a:pt x="55285" y="219125"/>
                  <a:pt x="50840" y="221694"/>
                  <a:pt x="45909" y="222111"/>
                </a:cubicBezTo>
                <a:cubicBezTo>
                  <a:pt x="40977" y="222528"/>
                  <a:pt x="36116" y="220861"/>
                  <a:pt x="32643" y="217388"/>
                </a:cubicBezTo>
                <a:lnTo>
                  <a:pt x="4862" y="189607"/>
                </a:lnTo>
                <a:cubicBezTo>
                  <a:pt x="-1667" y="183078"/>
                  <a:pt x="-1667" y="172522"/>
                  <a:pt x="4862" y="166062"/>
                </a:cubicBezTo>
                <a:cubicBezTo>
                  <a:pt x="11390" y="159603"/>
                  <a:pt x="21947" y="159534"/>
                  <a:pt x="28406" y="166062"/>
                </a:cubicBezTo>
                <a:lnTo>
                  <a:pt x="42158" y="179814"/>
                </a:lnTo>
                <a:lnTo>
                  <a:pt x="69661" y="140504"/>
                </a:lnTo>
                <a:cubicBezTo>
                  <a:pt x="74940" y="132933"/>
                  <a:pt x="85358" y="131128"/>
                  <a:pt x="92859" y="136406"/>
                </a:cubicBezTo>
                <a:close/>
                <a:moveTo>
                  <a:pt x="155575" y="66675"/>
                </a:moveTo>
                <a:cubicBezTo>
                  <a:pt x="155575" y="54382"/>
                  <a:pt x="165507" y="44450"/>
                  <a:pt x="177800" y="44450"/>
                </a:cubicBezTo>
                <a:lnTo>
                  <a:pt x="333375" y="44450"/>
                </a:lnTo>
                <a:cubicBezTo>
                  <a:pt x="345668" y="44450"/>
                  <a:pt x="355600" y="54382"/>
                  <a:pt x="355600" y="66675"/>
                </a:cubicBezTo>
                <a:cubicBezTo>
                  <a:pt x="355600" y="78968"/>
                  <a:pt x="345668" y="88900"/>
                  <a:pt x="333375" y="88900"/>
                </a:cubicBezTo>
                <a:lnTo>
                  <a:pt x="177800" y="88900"/>
                </a:lnTo>
                <a:cubicBezTo>
                  <a:pt x="165507" y="88900"/>
                  <a:pt x="155575" y="78968"/>
                  <a:pt x="155575" y="66675"/>
                </a:cubicBezTo>
                <a:close/>
                <a:moveTo>
                  <a:pt x="155575" y="177800"/>
                </a:moveTo>
                <a:cubicBezTo>
                  <a:pt x="155575" y="165507"/>
                  <a:pt x="165507" y="155575"/>
                  <a:pt x="177800" y="155575"/>
                </a:cubicBezTo>
                <a:lnTo>
                  <a:pt x="333375" y="155575"/>
                </a:lnTo>
                <a:cubicBezTo>
                  <a:pt x="345668" y="155575"/>
                  <a:pt x="355600" y="165507"/>
                  <a:pt x="355600" y="177800"/>
                </a:cubicBezTo>
                <a:cubicBezTo>
                  <a:pt x="355600" y="190093"/>
                  <a:pt x="345668" y="200025"/>
                  <a:pt x="333375" y="200025"/>
                </a:cubicBezTo>
                <a:lnTo>
                  <a:pt x="177800" y="200025"/>
                </a:lnTo>
                <a:cubicBezTo>
                  <a:pt x="165507" y="200025"/>
                  <a:pt x="155575" y="190093"/>
                  <a:pt x="155575" y="177800"/>
                </a:cubicBezTo>
                <a:close/>
                <a:moveTo>
                  <a:pt x="111125" y="288925"/>
                </a:moveTo>
                <a:cubicBezTo>
                  <a:pt x="111125" y="276632"/>
                  <a:pt x="121057" y="266700"/>
                  <a:pt x="133350" y="266700"/>
                </a:cubicBezTo>
                <a:lnTo>
                  <a:pt x="333375" y="266700"/>
                </a:lnTo>
                <a:cubicBezTo>
                  <a:pt x="345668" y="266700"/>
                  <a:pt x="355600" y="276632"/>
                  <a:pt x="355600" y="288925"/>
                </a:cubicBezTo>
                <a:cubicBezTo>
                  <a:pt x="355600" y="301218"/>
                  <a:pt x="345668" y="311150"/>
                  <a:pt x="333375" y="311150"/>
                </a:cubicBezTo>
                <a:lnTo>
                  <a:pt x="133350" y="311150"/>
                </a:lnTo>
                <a:cubicBezTo>
                  <a:pt x="121057" y="311150"/>
                  <a:pt x="111125" y="301218"/>
                  <a:pt x="111125" y="288925"/>
                </a:cubicBezTo>
                <a:close/>
                <a:moveTo>
                  <a:pt x="44450" y="261144"/>
                </a:moveTo>
                <a:cubicBezTo>
                  <a:pt x="59783" y="261144"/>
                  <a:pt x="72231" y="273592"/>
                  <a:pt x="72231" y="288925"/>
                </a:cubicBezTo>
                <a:cubicBezTo>
                  <a:pt x="72231" y="304258"/>
                  <a:pt x="59783" y="316706"/>
                  <a:pt x="44450" y="316706"/>
                </a:cubicBezTo>
                <a:cubicBezTo>
                  <a:pt x="29117" y="316706"/>
                  <a:pt x="16669" y="304258"/>
                  <a:pt x="16669" y="288925"/>
                </a:cubicBezTo>
                <a:cubicBezTo>
                  <a:pt x="16669" y="273592"/>
                  <a:pt x="29117" y="261144"/>
                  <a:pt x="44450" y="261144"/>
                </a:cubicBezTo>
                <a:close/>
              </a:path>
            </a:pathLst>
          </a:custGeom>
          <a:solidFill>
            <a:srgbClr val="B45309"/>
          </a:solidFill>
          <a:ln/>
        </p:spPr>
      </p:sp>
      <p:sp>
        <p:nvSpPr>
          <p:cNvPr id="19" name="Text 17"/>
          <p:cNvSpPr/>
          <p:nvPr/>
        </p:nvSpPr>
        <p:spPr>
          <a:xfrm>
            <a:off x="1270000" y="49657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b="1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Instructions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270000" y="5346700"/>
            <a:ext cx="1397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Present step-by-step directions alongside the activity interface, not on a preceding screen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762000" y="5981700"/>
            <a:ext cx="14732000" cy="12700"/>
          </a:xfrm>
          <a:prstGeom prst="rect">
            <a:avLst/>
          </a:prstGeom>
          <a:solidFill>
            <a:srgbClr val="E7E5E4"/>
          </a:solidFill>
          <a:ln/>
        </p:spPr>
      </p:sp>
      <p:sp>
        <p:nvSpPr>
          <p:cNvPr id="22" name="Shape 20"/>
          <p:cNvSpPr/>
          <p:nvPr/>
        </p:nvSpPr>
        <p:spPr>
          <a:xfrm>
            <a:off x="762000" y="61722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22225" y="22225"/>
                </a:moveTo>
                <a:cubicBezTo>
                  <a:pt x="34518" y="22225"/>
                  <a:pt x="44450" y="32157"/>
                  <a:pt x="44450" y="44450"/>
                </a:cubicBezTo>
                <a:lnTo>
                  <a:pt x="44450" y="277813"/>
                </a:lnTo>
                <a:cubicBezTo>
                  <a:pt x="44450" y="283924"/>
                  <a:pt x="49451" y="288925"/>
                  <a:pt x="55563" y="288925"/>
                </a:cubicBezTo>
                <a:lnTo>
                  <a:pt x="333375" y="288925"/>
                </a:lnTo>
                <a:cubicBezTo>
                  <a:pt x="345668" y="288925"/>
                  <a:pt x="355600" y="298857"/>
                  <a:pt x="355600" y="311150"/>
                </a:cubicBezTo>
                <a:cubicBezTo>
                  <a:pt x="355600" y="323443"/>
                  <a:pt x="345668" y="333375"/>
                  <a:pt x="333375" y="333375"/>
                </a:cubicBezTo>
                <a:lnTo>
                  <a:pt x="55563" y="333375"/>
                </a:lnTo>
                <a:cubicBezTo>
                  <a:pt x="24864" y="333375"/>
                  <a:pt x="0" y="308511"/>
                  <a:pt x="0" y="277813"/>
                </a:cubicBezTo>
                <a:lnTo>
                  <a:pt x="0" y="44450"/>
                </a:lnTo>
                <a:cubicBezTo>
                  <a:pt x="0" y="32157"/>
                  <a:pt x="9932" y="22225"/>
                  <a:pt x="22225" y="22225"/>
                </a:cubicBezTo>
                <a:close/>
                <a:moveTo>
                  <a:pt x="100013" y="155575"/>
                </a:moveTo>
                <a:cubicBezTo>
                  <a:pt x="112306" y="155575"/>
                  <a:pt x="122238" y="165507"/>
                  <a:pt x="122238" y="177800"/>
                </a:cubicBezTo>
                <a:lnTo>
                  <a:pt x="122238" y="222250"/>
                </a:lnTo>
                <a:cubicBezTo>
                  <a:pt x="122238" y="234543"/>
                  <a:pt x="112306" y="244475"/>
                  <a:pt x="100013" y="244475"/>
                </a:cubicBezTo>
                <a:cubicBezTo>
                  <a:pt x="87719" y="244475"/>
                  <a:pt x="77788" y="234543"/>
                  <a:pt x="77788" y="222250"/>
                </a:cubicBezTo>
                <a:lnTo>
                  <a:pt x="77788" y="177800"/>
                </a:lnTo>
                <a:cubicBezTo>
                  <a:pt x="77788" y="165507"/>
                  <a:pt x="87719" y="155575"/>
                  <a:pt x="100013" y="155575"/>
                </a:cubicBezTo>
                <a:close/>
                <a:moveTo>
                  <a:pt x="200025" y="111125"/>
                </a:moveTo>
                <a:lnTo>
                  <a:pt x="200025" y="222250"/>
                </a:lnTo>
                <a:cubicBezTo>
                  <a:pt x="200025" y="234543"/>
                  <a:pt x="190093" y="244475"/>
                  <a:pt x="177800" y="244475"/>
                </a:cubicBezTo>
                <a:cubicBezTo>
                  <a:pt x="165507" y="244475"/>
                  <a:pt x="155575" y="234543"/>
                  <a:pt x="155575" y="222250"/>
                </a:cubicBezTo>
                <a:lnTo>
                  <a:pt x="155575" y="111125"/>
                </a:lnTo>
                <a:cubicBezTo>
                  <a:pt x="155575" y="98832"/>
                  <a:pt x="165507" y="88900"/>
                  <a:pt x="177800" y="88900"/>
                </a:cubicBezTo>
                <a:cubicBezTo>
                  <a:pt x="190093" y="88900"/>
                  <a:pt x="200025" y="98832"/>
                  <a:pt x="200025" y="111125"/>
                </a:cubicBezTo>
                <a:close/>
                <a:moveTo>
                  <a:pt x="255587" y="133350"/>
                </a:moveTo>
                <a:cubicBezTo>
                  <a:pt x="267881" y="133350"/>
                  <a:pt x="277813" y="143282"/>
                  <a:pt x="277813" y="155575"/>
                </a:cubicBezTo>
                <a:lnTo>
                  <a:pt x="277813" y="222250"/>
                </a:lnTo>
                <a:cubicBezTo>
                  <a:pt x="277813" y="234543"/>
                  <a:pt x="267881" y="244475"/>
                  <a:pt x="255587" y="244475"/>
                </a:cubicBezTo>
                <a:cubicBezTo>
                  <a:pt x="243294" y="244475"/>
                  <a:pt x="233363" y="234543"/>
                  <a:pt x="233363" y="222250"/>
                </a:cubicBezTo>
                <a:lnTo>
                  <a:pt x="233363" y="155575"/>
                </a:lnTo>
                <a:cubicBezTo>
                  <a:pt x="233363" y="143282"/>
                  <a:pt x="243294" y="133350"/>
                  <a:pt x="255587" y="133350"/>
                </a:cubicBezTo>
                <a:close/>
                <a:moveTo>
                  <a:pt x="355600" y="66675"/>
                </a:moveTo>
                <a:lnTo>
                  <a:pt x="355600" y="222250"/>
                </a:lnTo>
                <a:cubicBezTo>
                  <a:pt x="355600" y="234543"/>
                  <a:pt x="345668" y="244475"/>
                  <a:pt x="333375" y="244475"/>
                </a:cubicBezTo>
                <a:cubicBezTo>
                  <a:pt x="321082" y="244475"/>
                  <a:pt x="311150" y="234543"/>
                  <a:pt x="311150" y="222250"/>
                </a:cubicBezTo>
                <a:lnTo>
                  <a:pt x="311150" y="66675"/>
                </a:lnTo>
                <a:cubicBezTo>
                  <a:pt x="311150" y="54382"/>
                  <a:pt x="321082" y="44450"/>
                  <a:pt x="333375" y="44450"/>
                </a:cubicBezTo>
                <a:cubicBezTo>
                  <a:pt x="345668" y="44450"/>
                  <a:pt x="355600" y="54382"/>
                  <a:pt x="355600" y="66675"/>
                </a:cubicBezTo>
                <a:close/>
              </a:path>
            </a:pathLst>
          </a:custGeom>
          <a:solidFill>
            <a:srgbClr val="B45309"/>
          </a:solidFill>
          <a:ln/>
        </p:spPr>
      </p:sp>
      <p:sp>
        <p:nvSpPr>
          <p:cNvPr id="23" name="Text 21"/>
          <p:cNvSpPr/>
          <p:nvPr/>
        </p:nvSpPr>
        <p:spPr>
          <a:xfrm>
            <a:off x="1270000" y="61341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b="1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Visualizations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270000" y="6515100"/>
            <a:ext cx="1397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Place data labels directly on chart elements rather than in a distant legend requiring eye movement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762000" y="7302500"/>
            <a:ext cx="14732000" cy="1016000"/>
          </a:xfrm>
          <a:prstGeom prst="rect">
            <a:avLst/>
          </a:prstGeom>
          <a:solidFill>
            <a:srgbClr val="C2410C">
              <a:alpha val="8235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1016000" y="7556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0"/>
                </a:moveTo>
                <a:cubicBezTo>
                  <a:pt x="188010" y="0"/>
                  <a:pt x="197386" y="5626"/>
                  <a:pt x="202248" y="14585"/>
                </a:cubicBezTo>
                <a:lnTo>
                  <a:pt x="352266" y="292398"/>
                </a:lnTo>
                <a:cubicBezTo>
                  <a:pt x="356920" y="301010"/>
                  <a:pt x="356711" y="311428"/>
                  <a:pt x="351711" y="319832"/>
                </a:cubicBezTo>
                <a:cubicBezTo>
                  <a:pt x="346710" y="328235"/>
                  <a:pt x="337612" y="333375"/>
                  <a:pt x="327819" y="333375"/>
                </a:cubicBezTo>
                <a:lnTo>
                  <a:pt x="27781" y="333375"/>
                </a:lnTo>
                <a:cubicBezTo>
                  <a:pt x="17988" y="333375"/>
                  <a:pt x="8959" y="328235"/>
                  <a:pt x="3889" y="319832"/>
                </a:cubicBezTo>
                <a:cubicBezTo>
                  <a:pt x="-1181" y="311428"/>
                  <a:pt x="-1320" y="301010"/>
                  <a:pt x="3334" y="292398"/>
                </a:cubicBezTo>
                <a:lnTo>
                  <a:pt x="153353" y="14585"/>
                </a:lnTo>
                <a:cubicBezTo>
                  <a:pt x="158214" y="5626"/>
                  <a:pt x="167590" y="0"/>
                  <a:pt x="177800" y="0"/>
                </a:cubicBezTo>
                <a:close/>
                <a:moveTo>
                  <a:pt x="177800" y="116681"/>
                </a:moveTo>
                <a:cubicBezTo>
                  <a:pt x="168563" y="116681"/>
                  <a:pt x="161131" y="124113"/>
                  <a:pt x="161131" y="133350"/>
                </a:cubicBezTo>
                <a:lnTo>
                  <a:pt x="161131" y="211138"/>
                </a:lnTo>
                <a:cubicBezTo>
                  <a:pt x="161131" y="220375"/>
                  <a:pt x="168563" y="227806"/>
                  <a:pt x="177800" y="227806"/>
                </a:cubicBezTo>
                <a:cubicBezTo>
                  <a:pt x="187037" y="227806"/>
                  <a:pt x="194469" y="220375"/>
                  <a:pt x="194469" y="211138"/>
                </a:cubicBezTo>
                <a:lnTo>
                  <a:pt x="194469" y="133350"/>
                </a:lnTo>
                <a:cubicBezTo>
                  <a:pt x="194469" y="124113"/>
                  <a:pt x="187037" y="116681"/>
                  <a:pt x="177800" y="116681"/>
                </a:cubicBezTo>
                <a:close/>
                <a:moveTo>
                  <a:pt x="196344" y="266700"/>
                </a:moveTo>
                <a:cubicBezTo>
                  <a:pt x="196766" y="259817"/>
                  <a:pt x="193333" y="253268"/>
                  <a:pt x="187432" y="249699"/>
                </a:cubicBezTo>
                <a:cubicBezTo>
                  <a:pt x="181532" y="246129"/>
                  <a:pt x="174138" y="246129"/>
                  <a:pt x="168237" y="249699"/>
                </a:cubicBezTo>
                <a:cubicBezTo>
                  <a:pt x="162336" y="253268"/>
                  <a:pt x="158904" y="259817"/>
                  <a:pt x="159325" y="266700"/>
                </a:cubicBezTo>
                <a:cubicBezTo>
                  <a:pt x="158904" y="273583"/>
                  <a:pt x="162336" y="280132"/>
                  <a:pt x="168237" y="283701"/>
                </a:cubicBezTo>
                <a:cubicBezTo>
                  <a:pt x="174138" y="287271"/>
                  <a:pt x="181532" y="287271"/>
                  <a:pt x="187432" y="283701"/>
                </a:cubicBezTo>
                <a:cubicBezTo>
                  <a:pt x="193333" y="280132"/>
                  <a:pt x="196766" y="273583"/>
                  <a:pt x="196344" y="266700"/>
                </a:cubicBezTo>
                <a:close/>
              </a:path>
            </a:pathLst>
          </a:custGeom>
          <a:solidFill>
            <a:srgbClr val="C2410C"/>
          </a:solidFill>
          <a:ln/>
        </p:spPr>
      </p:sp>
      <p:sp>
        <p:nvSpPr>
          <p:cNvPr id="27" name="Text 25"/>
          <p:cNvSpPr/>
          <p:nvPr/>
        </p:nvSpPr>
        <p:spPr>
          <a:xfrm>
            <a:off x="1524000" y="7366000"/>
            <a:ext cx="13716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Common Mistake: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Text at the bottom of the screen with graphics at the top creates unnecessary cognitive load. The eye must travel the full screen repeatedly.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4986000" y="86360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78716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25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C19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irl5c2knzosr6/mnt/agents/output/multimedia-production-w6/images/10_Rusted_Clock_Time_Flies_Motion_Blur.png">    </p:cNvPr>
          <p:cNvPicPr>
            <a:picLocks noChangeAspect="1"/>
          </p:cNvPicPr>
          <p:nvPr/>
        </p:nvPicPr>
        <p:blipFill>
          <a:blip r:embed="rId1"/>
          <a:srcRect l="0" r="0" t="34219" b="34219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1C1917">
                  <a:alpha val="90000"/>
                </a:srgbClr>
              </a:gs>
              <a:gs pos="60000">
                <a:srgbClr val="1C1917">
                  <a:alpha val="80000"/>
                </a:srgbClr>
              </a:gs>
              <a:gs pos="100000">
                <a:srgbClr val="1C1917">
                  <a:alpha val="50000"/>
                </a:srgbClr>
              </a:gs>
            </a:gsLst>
            <a:lin ang="0" scaled="1"/>
          </a:gradFill>
          <a:ln/>
        </p:spPr>
      </p:sp>
      <p:sp>
        <p:nvSpPr>
          <p:cNvPr id="4" name="Text 1"/>
          <p:cNvSpPr/>
          <p:nvPr/>
        </p:nvSpPr>
        <p:spPr>
          <a:xfrm>
            <a:off x="762000" y="2286000"/>
            <a:ext cx="3810000" cy="1193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dirty="0">
                <a:solidFill>
                  <a:srgbClr val="FFFFFF">
                    <a:alpha val="25098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06</a:t>
            </a:r>
            <a:endParaRPr lang="en-US" sz="7200" dirty="0"/>
          </a:p>
        </p:txBody>
      </p:sp>
      <p:sp>
        <p:nvSpPr>
          <p:cNvPr id="5" name="Shape 2"/>
          <p:cNvSpPr/>
          <p:nvPr/>
        </p:nvSpPr>
        <p:spPr>
          <a:xfrm>
            <a:off x="762000" y="3683000"/>
            <a:ext cx="1016000" cy="3810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6" name="Text 3"/>
          <p:cNvSpPr/>
          <p:nvPr/>
        </p:nvSpPr>
        <p:spPr>
          <a:xfrm>
            <a:off x="762000" y="3937000"/>
            <a:ext cx="889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Temporal Contiguity Principle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62000" y="4699000"/>
            <a:ext cx="762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FFFFFF">
                    <a:alpha val="70196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Present Words and Visuals Simultaneously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3175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200" kern="0" dirty="0">
                <a:solidFill>
                  <a:srgbClr val="B4530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TEMPORAL CONTIGUITY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62000" y="635000"/>
            <a:ext cx="1397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B4530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Simultaneous Presentation Is Better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1206500"/>
            <a:ext cx="14732000" cy="12700"/>
          </a:xfrm>
          <a:prstGeom prst="rect">
            <a:avLst/>
          </a:prstGeom>
          <a:solidFill>
            <a:srgbClr val="E7E5E4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1460500"/>
            <a:ext cx="14732000" cy="1016000"/>
          </a:xfrm>
          <a:prstGeom prst="rect">
            <a:avLst/>
          </a:prstGeom>
          <a:solidFill>
            <a:srgbClr val="F5F0E8"/>
          </a:solidFill>
          <a:ln/>
        </p:spPr>
      </p:sp>
      <p:sp>
        <p:nvSpPr>
          <p:cNvPr id="7" name="Shape 5"/>
          <p:cNvSpPr/>
          <p:nvPr/>
        </p:nvSpPr>
        <p:spPr>
          <a:xfrm>
            <a:off x="1041400" y="1676400"/>
            <a:ext cx="355600" cy="406400"/>
          </a:xfrm>
          <a:custGeom>
            <a:avLst/>
            <a:gdLst/>
            <a:ahLst/>
            <a:cxnLst/>
            <a:rect l="l" t="t" r="r" b="b"/>
            <a:pathLst>
              <a:path w="355600" h="406400">
                <a:moveTo>
                  <a:pt x="0" y="171450"/>
                </a:moveTo>
                <a:cubicBezTo>
                  <a:pt x="0" y="118824"/>
                  <a:pt x="42624" y="76200"/>
                  <a:pt x="95250" y="76200"/>
                </a:cubicBezTo>
                <a:lnTo>
                  <a:pt x="101600" y="76200"/>
                </a:lnTo>
                <a:cubicBezTo>
                  <a:pt x="115649" y="76200"/>
                  <a:pt x="127000" y="87551"/>
                  <a:pt x="127000" y="101600"/>
                </a:cubicBezTo>
                <a:cubicBezTo>
                  <a:pt x="127000" y="115649"/>
                  <a:pt x="115649" y="127000"/>
                  <a:pt x="101600" y="127000"/>
                </a:cubicBezTo>
                <a:lnTo>
                  <a:pt x="95250" y="127000"/>
                </a:lnTo>
                <a:cubicBezTo>
                  <a:pt x="70723" y="127000"/>
                  <a:pt x="50800" y="146923"/>
                  <a:pt x="50800" y="171450"/>
                </a:cubicBezTo>
                <a:lnTo>
                  <a:pt x="50800" y="177800"/>
                </a:lnTo>
                <a:lnTo>
                  <a:pt x="101600" y="177800"/>
                </a:lnTo>
                <a:cubicBezTo>
                  <a:pt x="129619" y="177800"/>
                  <a:pt x="152400" y="200581"/>
                  <a:pt x="152400" y="228600"/>
                </a:cubicBezTo>
                <a:lnTo>
                  <a:pt x="152400" y="279400"/>
                </a:lnTo>
                <a:cubicBezTo>
                  <a:pt x="152400" y="307419"/>
                  <a:pt x="129619" y="330200"/>
                  <a:pt x="101600" y="330200"/>
                </a:cubicBezTo>
                <a:lnTo>
                  <a:pt x="50800" y="330200"/>
                </a:lnTo>
                <a:cubicBezTo>
                  <a:pt x="22781" y="330200"/>
                  <a:pt x="0" y="307419"/>
                  <a:pt x="0" y="279400"/>
                </a:cubicBezTo>
                <a:lnTo>
                  <a:pt x="0" y="171450"/>
                </a:lnTo>
                <a:close/>
                <a:moveTo>
                  <a:pt x="203200" y="171450"/>
                </a:moveTo>
                <a:cubicBezTo>
                  <a:pt x="203200" y="118824"/>
                  <a:pt x="245824" y="76200"/>
                  <a:pt x="298450" y="76200"/>
                </a:cubicBezTo>
                <a:lnTo>
                  <a:pt x="304800" y="76200"/>
                </a:lnTo>
                <a:cubicBezTo>
                  <a:pt x="318849" y="76200"/>
                  <a:pt x="330200" y="87551"/>
                  <a:pt x="330200" y="101600"/>
                </a:cubicBezTo>
                <a:cubicBezTo>
                  <a:pt x="330200" y="115649"/>
                  <a:pt x="318849" y="127000"/>
                  <a:pt x="304800" y="127000"/>
                </a:cubicBezTo>
                <a:lnTo>
                  <a:pt x="298450" y="127000"/>
                </a:lnTo>
                <a:cubicBezTo>
                  <a:pt x="273923" y="127000"/>
                  <a:pt x="254000" y="146923"/>
                  <a:pt x="254000" y="171450"/>
                </a:cubicBezTo>
                <a:lnTo>
                  <a:pt x="254000" y="177800"/>
                </a:lnTo>
                <a:lnTo>
                  <a:pt x="304800" y="177800"/>
                </a:lnTo>
                <a:cubicBezTo>
                  <a:pt x="332819" y="177800"/>
                  <a:pt x="355600" y="200581"/>
                  <a:pt x="355600" y="228600"/>
                </a:cubicBezTo>
                <a:lnTo>
                  <a:pt x="355600" y="279400"/>
                </a:lnTo>
                <a:cubicBezTo>
                  <a:pt x="355600" y="307419"/>
                  <a:pt x="332819" y="330200"/>
                  <a:pt x="304800" y="330200"/>
                </a:cubicBezTo>
                <a:lnTo>
                  <a:pt x="254000" y="330200"/>
                </a:lnTo>
                <a:cubicBezTo>
                  <a:pt x="225981" y="330200"/>
                  <a:pt x="203200" y="307419"/>
                  <a:pt x="203200" y="279400"/>
                </a:cubicBezTo>
                <a:lnTo>
                  <a:pt x="203200" y="171450"/>
                </a:lnTo>
                <a:close/>
              </a:path>
            </a:pathLst>
          </a:custGeom>
          <a:solidFill>
            <a:srgbClr val="B45309"/>
          </a:solidFill>
          <a:ln/>
        </p:spPr>
      </p:sp>
      <p:sp>
        <p:nvSpPr>
          <p:cNvPr id="8" name="Text 6"/>
          <p:cNvSpPr/>
          <p:nvPr/>
        </p:nvSpPr>
        <p:spPr>
          <a:xfrm>
            <a:off x="1587500" y="1524000"/>
            <a:ext cx="136525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7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People learn more deeply when corresponding </a:t>
            </a:r>
            <a:pPr>
              <a:lnSpc>
                <a:spcPct val="150000"/>
              </a:lnSpc>
            </a:pPr>
            <a:r>
              <a:rPr lang="en-US" sz="1700" b="1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animation and narration are presented simultaneously</a:t>
            </a:r>
            <a:pPr>
              <a:lnSpc>
                <a:spcPct val="150000"/>
              </a:lnSpc>
            </a:pPr>
            <a:r>
              <a:rPr lang="en-US" sz="17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rather than successively.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62000" y="2730500"/>
            <a:ext cx="635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b="1" dirty="0">
                <a:solidFill>
                  <a:srgbClr val="1C191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Why Successive Presentation Hurts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739775" y="3365500"/>
            <a:ext cx="400050" cy="355600"/>
          </a:xfrm>
          <a:custGeom>
            <a:avLst/>
            <a:gdLst/>
            <a:ahLst/>
            <a:cxnLst/>
            <a:rect l="l" t="t" r="r" b="b"/>
            <a:pathLst>
              <a:path w="400050" h="355600">
                <a:moveTo>
                  <a:pt x="28476" y="-17294"/>
                </a:moveTo>
                <a:cubicBezTo>
                  <a:pt x="21947" y="-23822"/>
                  <a:pt x="11390" y="-23822"/>
                  <a:pt x="4931" y="-17294"/>
                </a:cubicBezTo>
                <a:cubicBezTo>
                  <a:pt x="-1528" y="-10765"/>
                  <a:pt x="-1597" y="-208"/>
                  <a:pt x="4862" y="6320"/>
                </a:cubicBezTo>
                <a:lnTo>
                  <a:pt x="371574" y="373033"/>
                </a:lnTo>
                <a:cubicBezTo>
                  <a:pt x="378103" y="379561"/>
                  <a:pt x="388660" y="379561"/>
                  <a:pt x="395119" y="373033"/>
                </a:cubicBezTo>
                <a:cubicBezTo>
                  <a:pt x="401578" y="366504"/>
                  <a:pt x="401647" y="355947"/>
                  <a:pt x="395119" y="349488"/>
                </a:cubicBezTo>
                <a:lnTo>
                  <a:pt x="310386" y="264755"/>
                </a:lnTo>
                <a:cubicBezTo>
                  <a:pt x="313303" y="262394"/>
                  <a:pt x="316151" y="259824"/>
                  <a:pt x="318790" y="257185"/>
                </a:cubicBezTo>
                <a:lnTo>
                  <a:pt x="368171" y="207804"/>
                </a:lnTo>
                <a:cubicBezTo>
                  <a:pt x="388521" y="187454"/>
                  <a:pt x="399981" y="159812"/>
                  <a:pt x="399981" y="130989"/>
                </a:cubicBezTo>
                <a:cubicBezTo>
                  <a:pt x="399981" y="70981"/>
                  <a:pt x="351363" y="22294"/>
                  <a:pt x="291286" y="22294"/>
                </a:cubicBezTo>
                <a:cubicBezTo>
                  <a:pt x="265380" y="22294"/>
                  <a:pt x="240516" y="31532"/>
                  <a:pt x="220930" y="48131"/>
                </a:cubicBezTo>
                <a:cubicBezTo>
                  <a:pt x="235029" y="55146"/>
                  <a:pt x="247809" y="64453"/>
                  <a:pt x="258782" y="75565"/>
                </a:cubicBezTo>
                <a:cubicBezTo>
                  <a:pt x="268575" y="69800"/>
                  <a:pt x="279757" y="66744"/>
                  <a:pt x="291286" y="66744"/>
                </a:cubicBezTo>
                <a:cubicBezTo>
                  <a:pt x="326777" y="66744"/>
                  <a:pt x="355531" y="95498"/>
                  <a:pt x="355531" y="130989"/>
                </a:cubicBezTo>
                <a:cubicBezTo>
                  <a:pt x="355531" y="148005"/>
                  <a:pt x="348794" y="164326"/>
                  <a:pt x="336709" y="176411"/>
                </a:cubicBezTo>
                <a:lnTo>
                  <a:pt x="287328" y="225792"/>
                </a:lnTo>
                <a:cubicBezTo>
                  <a:pt x="284619" y="228501"/>
                  <a:pt x="281702" y="230932"/>
                  <a:pt x="278576" y="233085"/>
                </a:cubicBezTo>
                <a:lnTo>
                  <a:pt x="245586" y="200094"/>
                </a:lnTo>
                <a:cubicBezTo>
                  <a:pt x="257046" y="199469"/>
                  <a:pt x="266214" y="190093"/>
                  <a:pt x="266561" y="178495"/>
                </a:cubicBezTo>
                <a:cubicBezTo>
                  <a:pt x="266561" y="177592"/>
                  <a:pt x="266561" y="176689"/>
                  <a:pt x="266561" y="175786"/>
                </a:cubicBezTo>
                <a:cubicBezTo>
                  <a:pt x="266561" y="115848"/>
                  <a:pt x="218013" y="66814"/>
                  <a:pt x="157867" y="66814"/>
                </a:cubicBezTo>
                <a:cubicBezTo>
                  <a:pt x="144532" y="66814"/>
                  <a:pt x="131544" y="69245"/>
                  <a:pt x="119320" y="73898"/>
                </a:cubicBezTo>
                <a:lnTo>
                  <a:pt x="28476" y="-17294"/>
                </a:lnTo>
                <a:close/>
                <a:moveTo>
                  <a:pt x="156895" y="111125"/>
                </a:moveTo>
                <a:cubicBezTo>
                  <a:pt x="157311" y="111125"/>
                  <a:pt x="157659" y="111125"/>
                  <a:pt x="158075" y="111125"/>
                </a:cubicBezTo>
                <a:cubicBezTo>
                  <a:pt x="168563" y="111125"/>
                  <a:pt x="178564" y="113695"/>
                  <a:pt x="187315" y="118209"/>
                </a:cubicBezTo>
                <a:cubicBezTo>
                  <a:pt x="188565" y="119043"/>
                  <a:pt x="189815" y="119807"/>
                  <a:pt x="191135" y="120362"/>
                </a:cubicBezTo>
                <a:cubicBezTo>
                  <a:pt x="209748" y="131683"/>
                  <a:pt x="222250" y="152241"/>
                  <a:pt x="222250" y="175647"/>
                </a:cubicBezTo>
                <a:cubicBezTo>
                  <a:pt x="222250" y="175925"/>
                  <a:pt x="222250" y="176203"/>
                  <a:pt x="222250" y="176480"/>
                </a:cubicBezTo>
                <a:lnTo>
                  <a:pt x="156895" y="111125"/>
                </a:lnTo>
                <a:close/>
                <a:moveTo>
                  <a:pt x="240447" y="288925"/>
                </a:moveTo>
                <a:lnTo>
                  <a:pt x="133350" y="181828"/>
                </a:lnTo>
                <a:cubicBezTo>
                  <a:pt x="134183" y="240586"/>
                  <a:pt x="181689" y="288022"/>
                  <a:pt x="240377" y="288856"/>
                </a:cubicBezTo>
                <a:close/>
                <a:moveTo>
                  <a:pt x="97026" y="145504"/>
                </a:moveTo>
                <a:lnTo>
                  <a:pt x="65564" y="114042"/>
                </a:lnTo>
                <a:lnTo>
                  <a:pt x="31810" y="147796"/>
                </a:lnTo>
                <a:cubicBezTo>
                  <a:pt x="11460" y="168146"/>
                  <a:pt x="0" y="195788"/>
                  <a:pt x="0" y="224611"/>
                </a:cubicBezTo>
                <a:cubicBezTo>
                  <a:pt x="0" y="284619"/>
                  <a:pt x="48617" y="333306"/>
                  <a:pt x="108694" y="333306"/>
                </a:cubicBezTo>
                <a:cubicBezTo>
                  <a:pt x="134531" y="333306"/>
                  <a:pt x="159464" y="324068"/>
                  <a:pt x="179050" y="307469"/>
                </a:cubicBezTo>
                <a:cubicBezTo>
                  <a:pt x="164951" y="300454"/>
                  <a:pt x="152102" y="291148"/>
                  <a:pt x="141129" y="280035"/>
                </a:cubicBezTo>
                <a:cubicBezTo>
                  <a:pt x="131405" y="285730"/>
                  <a:pt x="120223" y="288786"/>
                  <a:pt x="108694" y="288786"/>
                </a:cubicBezTo>
                <a:cubicBezTo>
                  <a:pt x="73204" y="288786"/>
                  <a:pt x="44450" y="260033"/>
                  <a:pt x="44450" y="224542"/>
                </a:cubicBezTo>
                <a:cubicBezTo>
                  <a:pt x="44450" y="207526"/>
                  <a:pt x="51187" y="191204"/>
                  <a:pt x="63272" y="179120"/>
                </a:cubicBezTo>
                <a:lnTo>
                  <a:pt x="97026" y="145365"/>
                </a:lnTo>
                <a:close/>
              </a:path>
            </a:pathLst>
          </a:custGeom>
          <a:solidFill>
            <a:srgbClr val="C2410C"/>
          </a:solidFill>
          <a:ln/>
        </p:spPr>
      </p:sp>
      <p:sp>
        <p:nvSpPr>
          <p:cNvPr id="11" name="Text 9"/>
          <p:cNvSpPr/>
          <p:nvPr/>
        </p:nvSpPr>
        <p:spPr>
          <a:xfrm>
            <a:off x="1270000" y="3327400"/>
            <a:ext cx="4445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b="1" dirty="0">
                <a:solidFill>
                  <a:srgbClr val="C2410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Broken Connections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70000" y="3733800"/>
            <a:ext cx="6096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When words and pictures are at different times, learners cannot build connections between them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62000" y="4572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55575" y="0"/>
                </a:moveTo>
                <a:cubicBezTo>
                  <a:pt x="180092" y="0"/>
                  <a:pt x="200025" y="14932"/>
                  <a:pt x="200025" y="33337"/>
                </a:cubicBezTo>
                <a:cubicBezTo>
                  <a:pt x="200025" y="40561"/>
                  <a:pt x="196969" y="47228"/>
                  <a:pt x="191691" y="52715"/>
                </a:cubicBezTo>
                <a:cubicBezTo>
                  <a:pt x="187107" y="57507"/>
                  <a:pt x="183356" y="63341"/>
                  <a:pt x="183356" y="70009"/>
                </a:cubicBezTo>
                <a:cubicBezTo>
                  <a:pt x="183356" y="80427"/>
                  <a:pt x="191830" y="88900"/>
                  <a:pt x="202248" y="88900"/>
                </a:cubicBezTo>
                <a:lnTo>
                  <a:pt x="233363" y="88900"/>
                </a:lnTo>
                <a:cubicBezTo>
                  <a:pt x="251768" y="88900"/>
                  <a:pt x="266700" y="103832"/>
                  <a:pt x="266700" y="122238"/>
                </a:cubicBezTo>
                <a:lnTo>
                  <a:pt x="266700" y="153353"/>
                </a:lnTo>
                <a:cubicBezTo>
                  <a:pt x="266700" y="163770"/>
                  <a:pt x="275173" y="172244"/>
                  <a:pt x="285591" y="172244"/>
                </a:cubicBezTo>
                <a:cubicBezTo>
                  <a:pt x="292189" y="172244"/>
                  <a:pt x="298093" y="168493"/>
                  <a:pt x="302885" y="163909"/>
                </a:cubicBezTo>
                <a:cubicBezTo>
                  <a:pt x="308372" y="158700"/>
                  <a:pt x="315039" y="155575"/>
                  <a:pt x="322263" y="155575"/>
                </a:cubicBezTo>
                <a:cubicBezTo>
                  <a:pt x="340668" y="155575"/>
                  <a:pt x="355600" y="175508"/>
                  <a:pt x="355600" y="200025"/>
                </a:cubicBezTo>
                <a:cubicBezTo>
                  <a:pt x="355600" y="224542"/>
                  <a:pt x="340668" y="244475"/>
                  <a:pt x="322263" y="244475"/>
                </a:cubicBezTo>
                <a:cubicBezTo>
                  <a:pt x="315039" y="244475"/>
                  <a:pt x="308302" y="241419"/>
                  <a:pt x="302885" y="236141"/>
                </a:cubicBezTo>
                <a:cubicBezTo>
                  <a:pt x="298093" y="231557"/>
                  <a:pt x="292259" y="227806"/>
                  <a:pt x="285591" y="227806"/>
                </a:cubicBezTo>
                <a:cubicBezTo>
                  <a:pt x="275173" y="227806"/>
                  <a:pt x="266700" y="236280"/>
                  <a:pt x="266700" y="246698"/>
                </a:cubicBezTo>
                <a:lnTo>
                  <a:pt x="266700" y="322263"/>
                </a:lnTo>
                <a:cubicBezTo>
                  <a:pt x="266700" y="340668"/>
                  <a:pt x="251768" y="355600"/>
                  <a:pt x="233363" y="355600"/>
                </a:cubicBezTo>
                <a:lnTo>
                  <a:pt x="193913" y="355600"/>
                </a:lnTo>
                <a:cubicBezTo>
                  <a:pt x="185023" y="355600"/>
                  <a:pt x="177800" y="348377"/>
                  <a:pt x="177800" y="339487"/>
                </a:cubicBezTo>
                <a:cubicBezTo>
                  <a:pt x="177800" y="333097"/>
                  <a:pt x="181828" y="327471"/>
                  <a:pt x="186968" y="323652"/>
                </a:cubicBezTo>
                <a:cubicBezTo>
                  <a:pt x="195024" y="317609"/>
                  <a:pt x="200025" y="309275"/>
                  <a:pt x="200025" y="300038"/>
                </a:cubicBezTo>
                <a:cubicBezTo>
                  <a:pt x="200025" y="281632"/>
                  <a:pt x="180092" y="266700"/>
                  <a:pt x="155575" y="266700"/>
                </a:cubicBezTo>
                <a:cubicBezTo>
                  <a:pt x="131058" y="266700"/>
                  <a:pt x="111125" y="281632"/>
                  <a:pt x="111125" y="300038"/>
                </a:cubicBezTo>
                <a:cubicBezTo>
                  <a:pt x="111125" y="309275"/>
                  <a:pt x="116126" y="317609"/>
                  <a:pt x="124182" y="323652"/>
                </a:cubicBezTo>
                <a:cubicBezTo>
                  <a:pt x="129322" y="327471"/>
                  <a:pt x="133350" y="333028"/>
                  <a:pt x="133350" y="339487"/>
                </a:cubicBezTo>
                <a:cubicBezTo>
                  <a:pt x="133350" y="348377"/>
                  <a:pt x="126127" y="355600"/>
                  <a:pt x="117237" y="355600"/>
                </a:cubicBezTo>
                <a:lnTo>
                  <a:pt x="33337" y="355600"/>
                </a:lnTo>
                <a:cubicBezTo>
                  <a:pt x="14932" y="355600"/>
                  <a:pt x="0" y="340668"/>
                  <a:pt x="0" y="322263"/>
                </a:cubicBezTo>
                <a:lnTo>
                  <a:pt x="0" y="238363"/>
                </a:lnTo>
                <a:cubicBezTo>
                  <a:pt x="0" y="229473"/>
                  <a:pt x="7223" y="222250"/>
                  <a:pt x="16113" y="222250"/>
                </a:cubicBezTo>
                <a:cubicBezTo>
                  <a:pt x="22503" y="222250"/>
                  <a:pt x="28129" y="226278"/>
                  <a:pt x="31948" y="231418"/>
                </a:cubicBezTo>
                <a:cubicBezTo>
                  <a:pt x="37991" y="239474"/>
                  <a:pt x="46325" y="244475"/>
                  <a:pt x="55563" y="244475"/>
                </a:cubicBezTo>
                <a:cubicBezTo>
                  <a:pt x="73968" y="244475"/>
                  <a:pt x="88900" y="224542"/>
                  <a:pt x="88900" y="200025"/>
                </a:cubicBezTo>
                <a:cubicBezTo>
                  <a:pt x="88900" y="175508"/>
                  <a:pt x="73968" y="155575"/>
                  <a:pt x="55563" y="155575"/>
                </a:cubicBezTo>
                <a:cubicBezTo>
                  <a:pt x="46325" y="155575"/>
                  <a:pt x="37991" y="160576"/>
                  <a:pt x="31948" y="168632"/>
                </a:cubicBezTo>
                <a:cubicBezTo>
                  <a:pt x="28129" y="173772"/>
                  <a:pt x="22572" y="177800"/>
                  <a:pt x="16113" y="177800"/>
                </a:cubicBezTo>
                <a:cubicBezTo>
                  <a:pt x="7223" y="177800"/>
                  <a:pt x="0" y="170577"/>
                  <a:pt x="0" y="161687"/>
                </a:cubicBezTo>
                <a:lnTo>
                  <a:pt x="0" y="122238"/>
                </a:lnTo>
                <a:cubicBezTo>
                  <a:pt x="0" y="103832"/>
                  <a:pt x="14932" y="88900"/>
                  <a:pt x="33337" y="88900"/>
                </a:cubicBezTo>
                <a:lnTo>
                  <a:pt x="108903" y="88900"/>
                </a:lnTo>
                <a:cubicBezTo>
                  <a:pt x="119320" y="88900"/>
                  <a:pt x="127794" y="80427"/>
                  <a:pt x="127794" y="70009"/>
                </a:cubicBezTo>
                <a:cubicBezTo>
                  <a:pt x="127794" y="63411"/>
                  <a:pt x="124043" y="57507"/>
                  <a:pt x="119459" y="52715"/>
                </a:cubicBezTo>
                <a:cubicBezTo>
                  <a:pt x="114250" y="47228"/>
                  <a:pt x="111125" y="40561"/>
                  <a:pt x="111125" y="33338"/>
                </a:cubicBezTo>
                <a:cubicBezTo>
                  <a:pt x="111125" y="14932"/>
                  <a:pt x="131058" y="0"/>
                  <a:pt x="155575" y="0"/>
                </a:cubicBezTo>
                <a:close/>
              </a:path>
            </a:pathLst>
          </a:custGeom>
          <a:solidFill>
            <a:srgbClr val="C2410C"/>
          </a:solidFill>
          <a:ln/>
        </p:spPr>
      </p:sp>
      <p:sp>
        <p:nvSpPr>
          <p:cNvPr id="14" name="Text 12"/>
          <p:cNvSpPr/>
          <p:nvPr/>
        </p:nvSpPr>
        <p:spPr>
          <a:xfrm>
            <a:off x="1270000" y="4533900"/>
            <a:ext cx="4445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b="1" dirty="0">
                <a:solidFill>
                  <a:srgbClr val="C2410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Disrupted Model Building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70000" y="4940300"/>
            <a:ext cx="6096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Mental model-building requires simultaneous processing of verbal and visual information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762000" y="5778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44450" y="44450"/>
                </a:moveTo>
                <a:cubicBezTo>
                  <a:pt x="19933" y="44450"/>
                  <a:pt x="0" y="64383"/>
                  <a:pt x="0" y="88900"/>
                </a:cubicBezTo>
                <a:lnTo>
                  <a:pt x="0" y="94040"/>
                </a:lnTo>
                <a:cubicBezTo>
                  <a:pt x="0" y="98762"/>
                  <a:pt x="3056" y="102791"/>
                  <a:pt x="7015" y="105360"/>
                </a:cubicBezTo>
                <a:cubicBezTo>
                  <a:pt x="16183" y="111333"/>
                  <a:pt x="22225" y="121612"/>
                  <a:pt x="22225" y="133350"/>
                </a:cubicBezTo>
                <a:cubicBezTo>
                  <a:pt x="22225" y="145088"/>
                  <a:pt x="16183" y="155367"/>
                  <a:pt x="7015" y="161340"/>
                </a:cubicBezTo>
                <a:cubicBezTo>
                  <a:pt x="3056" y="163909"/>
                  <a:pt x="0" y="167938"/>
                  <a:pt x="0" y="172660"/>
                </a:cubicBezTo>
                <a:lnTo>
                  <a:pt x="0" y="211138"/>
                </a:lnTo>
                <a:lnTo>
                  <a:pt x="355600" y="211138"/>
                </a:lnTo>
                <a:lnTo>
                  <a:pt x="355600" y="172660"/>
                </a:lnTo>
                <a:cubicBezTo>
                  <a:pt x="355600" y="167938"/>
                  <a:pt x="352544" y="163909"/>
                  <a:pt x="348585" y="161340"/>
                </a:cubicBezTo>
                <a:cubicBezTo>
                  <a:pt x="339417" y="155367"/>
                  <a:pt x="333375" y="145088"/>
                  <a:pt x="333375" y="133350"/>
                </a:cubicBezTo>
                <a:cubicBezTo>
                  <a:pt x="333375" y="121612"/>
                  <a:pt x="339417" y="111333"/>
                  <a:pt x="348585" y="105360"/>
                </a:cubicBezTo>
                <a:cubicBezTo>
                  <a:pt x="352544" y="102791"/>
                  <a:pt x="355600" y="98762"/>
                  <a:pt x="355600" y="94040"/>
                </a:cubicBezTo>
                <a:lnTo>
                  <a:pt x="355600" y="88900"/>
                </a:lnTo>
                <a:cubicBezTo>
                  <a:pt x="355600" y="64383"/>
                  <a:pt x="335667" y="44450"/>
                  <a:pt x="311150" y="44450"/>
                </a:cubicBezTo>
                <a:lnTo>
                  <a:pt x="44450" y="44450"/>
                </a:lnTo>
                <a:close/>
                <a:moveTo>
                  <a:pt x="355600" y="288925"/>
                </a:moveTo>
                <a:lnTo>
                  <a:pt x="355600" y="244475"/>
                </a:lnTo>
                <a:lnTo>
                  <a:pt x="0" y="244475"/>
                </a:lnTo>
                <a:lnTo>
                  <a:pt x="0" y="288925"/>
                </a:lnTo>
                <a:cubicBezTo>
                  <a:pt x="0" y="301218"/>
                  <a:pt x="9932" y="311150"/>
                  <a:pt x="22225" y="311150"/>
                </a:cubicBezTo>
                <a:lnTo>
                  <a:pt x="66675" y="311150"/>
                </a:lnTo>
                <a:lnTo>
                  <a:pt x="66675" y="294481"/>
                </a:lnTo>
                <a:cubicBezTo>
                  <a:pt x="66675" y="285244"/>
                  <a:pt x="74106" y="277813"/>
                  <a:pt x="83344" y="277813"/>
                </a:cubicBezTo>
                <a:cubicBezTo>
                  <a:pt x="92581" y="277813"/>
                  <a:pt x="100013" y="285244"/>
                  <a:pt x="100013" y="294481"/>
                </a:cubicBezTo>
                <a:lnTo>
                  <a:pt x="100013" y="311150"/>
                </a:lnTo>
                <a:lnTo>
                  <a:pt x="161131" y="311150"/>
                </a:lnTo>
                <a:lnTo>
                  <a:pt x="161131" y="294481"/>
                </a:lnTo>
                <a:cubicBezTo>
                  <a:pt x="161131" y="285244"/>
                  <a:pt x="168563" y="277813"/>
                  <a:pt x="177800" y="277813"/>
                </a:cubicBezTo>
                <a:cubicBezTo>
                  <a:pt x="187037" y="277813"/>
                  <a:pt x="194469" y="285244"/>
                  <a:pt x="194469" y="294481"/>
                </a:cubicBezTo>
                <a:lnTo>
                  <a:pt x="194469" y="311150"/>
                </a:lnTo>
                <a:lnTo>
                  <a:pt x="255587" y="311150"/>
                </a:lnTo>
                <a:lnTo>
                  <a:pt x="255587" y="294481"/>
                </a:lnTo>
                <a:cubicBezTo>
                  <a:pt x="255587" y="285244"/>
                  <a:pt x="263019" y="277813"/>
                  <a:pt x="272256" y="277813"/>
                </a:cubicBezTo>
                <a:cubicBezTo>
                  <a:pt x="281494" y="277813"/>
                  <a:pt x="288925" y="285244"/>
                  <a:pt x="288925" y="294481"/>
                </a:cubicBezTo>
                <a:lnTo>
                  <a:pt x="288925" y="311150"/>
                </a:lnTo>
                <a:lnTo>
                  <a:pt x="333375" y="311150"/>
                </a:lnTo>
                <a:cubicBezTo>
                  <a:pt x="345668" y="311150"/>
                  <a:pt x="355600" y="301218"/>
                  <a:pt x="355600" y="288925"/>
                </a:cubicBezTo>
                <a:close/>
                <a:moveTo>
                  <a:pt x="111125" y="111125"/>
                </a:moveTo>
                <a:lnTo>
                  <a:pt x="111125" y="155575"/>
                </a:lnTo>
                <a:cubicBezTo>
                  <a:pt x="111125" y="167868"/>
                  <a:pt x="101193" y="177800"/>
                  <a:pt x="88900" y="177800"/>
                </a:cubicBezTo>
                <a:cubicBezTo>
                  <a:pt x="76607" y="177800"/>
                  <a:pt x="66675" y="167868"/>
                  <a:pt x="66675" y="155575"/>
                </a:cubicBezTo>
                <a:lnTo>
                  <a:pt x="66675" y="111125"/>
                </a:lnTo>
                <a:cubicBezTo>
                  <a:pt x="66675" y="98832"/>
                  <a:pt x="76607" y="88900"/>
                  <a:pt x="88900" y="88900"/>
                </a:cubicBezTo>
                <a:cubicBezTo>
                  <a:pt x="101193" y="88900"/>
                  <a:pt x="111125" y="98832"/>
                  <a:pt x="111125" y="111125"/>
                </a:cubicBezTo>
                <a:close/>
                <a:moveTo>
                  <a:pt x="200025" y="111125"/>
                </a:moveTo>
                <a:lnTo>
                  <a:pt x="200025" y="155575"/>
                </a:lnTo>
                <a:cubicBezTo>
                  <a:pt x="200025" y="167868"/>
                  <a:pt x="190093" y="177800"/>
                  <a:pt x="177800" y="177800"/>
                </a:cubicBezTo>
                <a:cubicBezTo>
                  <a:pt x="165507" y="177800"/>
                  <a:pt x="155575" y="167868"/>
                  <a:pt x="155575" y="155575"/>
                </a:cubicBezTo>
                <a:lnTo>
                  <a:pt x="155575" y="111125"/>
                </a:lnTo>
                <a:cubicBezTo>
                  <a:pt x="155575" y="98832"/>
                  <a:pt x="165507" y="88900"/>
                  <a:pt x="177800" y="88900"/>
                </a:cubicBezTo>
                <a:cubicBezTo>
                  <a:pt x="190093" y="88900"/>
                  <a:pt x="200025" y="98832"/>
                  <a:pt x="200025" y="111125"/>
                </a:cubicBezTo>
                <a:close/>
                <a:moveTo>
                  <a:pt x="288925" y="111125"/>
                </a:moveTo>
                <a:lnTo>
                  <a:pt x="288925" y="155575"/>
                </a:lnTo>
                <a:cubicBezTo>
                  <a:pt x="288925" y="167868"/>
                  <a:pt x="278993" y="177800"/>
                  <a:pt x="266700" y="177800"/>
                </a:cubicBezTo>
                <a:cubicBezTo>
                  <a:pt x="254407" y="177800"/>
                  <a:pt x="244475" y="167868"/>
                  <a:pt x="244475" y="155575"/>
                </a:cubicBezTo>
                <a:lnTo>
                  <a:pt x="244475" y="111125"/>
                </a:lnTo>
                <a:cubicBezTo>
                  <a:pt x="244475" y="98832"/>
                  <a:pt x="254407" y="88900"/>
                  <a:pt x="266700" y="88900"/>
                </a:cubicBezTo>
                <a:cubicBezTo>
                  <a:pt x="278993" y="88900"/>
                  <a:pt x="288925" y="98832"/>
                  <a:pt x="288925" y="111125"/>
                </a:cubicBezTo>
                <a:close/>
              </a:path>
            </a:pathLst>
          </a:custGeom>
          <a:solidFill>
            <a:srgbClr val="C2410C"/>
          </a:solidFill>
          <a:ln/>
        </p:spPr>
      </p:sp>
      <p:sp>
        <p:nvSpPr>
          <p:cNvPr id="17" name="Text 15"/>
          <p:cNvSpPr/>
          <p:nvPr/>
        </p:nvSpPr>
        <p:spPr>
          <a:xfrm>
            <a:off x="1270000" y="5740400"/>
            <a:ext cx="4445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b="1" dirty="0">
                <a:solidFill>
                  <a:srgbClr val="C2410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Working Memory Burden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70000" y="6146800"/>
            <a:ext cx="6096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Successive presentation forces learners to hold one representation in memory while processing the other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8128000" y="3302000"/>
            <a:ext cx="7366000" cy="3556000"/>
          </a:xfrm>
          <a:prstGeom prst="rect">
            <a:avLst/>
          </a:prstGeom>
          <a:solidFill>
            <a:srgbClr val="B45309">
              <a:alpha val="8235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8509000" y="3492500"/>
            <a:ext cx="660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B4530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This Principle Applies To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509000" y="4000500"/>
            <a:ext cx="6604000" cy="266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B4530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Narration synchronized with animation (not before or after)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400"/>
              </a:spcBef>
            </a:pPr>
            <a:r>
              <a:rPr lang="en-US" sz="1500" dirty="0">
                <a:solidFill>
                  <a:srgbClr val="B4530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■</a:t>
            </a:r>
            <a:pPr>
              <a:lnSpc>
                <a:spcPct val="160000"/>
              </a:lnSpc>
              <a:spcBef>
                <a:spcPts val="400"/>
              </a:spcBef>
            </a:pPr>
            <a:r>
              <a:rPr lang="en-US" sz="15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Voiceover timed with on-screen visuals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400"/>
              </a:spcBef>
            </a:pPr>
            <a:r>
              <a:rPr lang="en-US" sz="1500" dirty="0">
                <a:solidFill>
                  <a:srgbClr val="B4530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■</a:t>
            </a:r>
            <a:pPr>
              <a:lnSpc>
                <a:spcPct val="160000"/>
              </a:lnSpc>
              <a:spcBef>
                <a:spcPts val="400"/>
              </a:spcBef>
            </a:pPr>
            <a:r>
              <a:rPr lang="en-US" sz="15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Descriptive text appearing simultaneously with relevant graphics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762000" y="7175500"/>
            <a:ext cx="14732000" cy="825500"/>
          </a:xfrm>
          <a:prstGeom prst="rect">
            <a:avLst/>
          </a:prstGeom>
          <a:solidFill>
            <a:srgbClr val="F5F0E8"/>
          </a:solidFill>
          <a:ln/>
        </p:spPr>
      </p:sp>
      <p:sp>
        <p:nvSpPr>
          <p:cNvPr id="23" name="Shape 21"/>
          <p:cNvSpPr/>
          <p:nvPr/>
        </p:nvSpPr>
        <p:spPr>
          <a:xfrm>
            <a:off x="1016000" y="7366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1438" y="33338"/>
                </a:moveTo>
                <a:cubicBezTo>
                  <a:pt x="71438" y="14942"/>
                  <a:pt x="86380" y="0"/>
                  <a:pt x="104775" y="0"/>
                </a:cubicBezTo>
                <a:lnTo>
                  <a:pt x="119062" y="0"/>
                </a:lnTo>
                <a:cubicBezTo>
                  <a:pt x="129600" y="0"/>
                  <a:pt x="138113" y="8513"/>
                  <a:pt x="138113" y="19050"/>
                </a:cubicBezTo>
                <a:lnTo>
                  <a:pt x="138113" y="285750"/>
                </a:lnTo>
                <a:cubicBezTo>
                  <a:pt x="138113" y="296287"/>
                  <a:pt x="129600" y="304800"/>
                  <a:pt x="119062" y="304800"/>
                </a:cubicBezTo>
                <a:lnTo>
                  <a:pt x="100013" y="304800"/>
                </a:lnTo>
                <a:cubicBezTo>
                  <a:pt x="82272" y="304800"/>
                  <a:pt x="67330" y="292656"/>
                  <a:pt x="63103" y="276225"/>
                </a:cubicBezTo>
                <a:cubicBezTo>
                  <a:pt x="62686" y="276225"/>
                  <a:pt x="62329" y="276225"/>
                  <a:pt x="61912" y="276225"/>
                </a:cubicBezTo>
                <a:cubicBezTo>
                  <a:pt x="35600" y="276225"/>
                  <a:pt x="14288" y="254913"/>
                  <a:pt x="14288" y="228600"/>
                </a:cubicBezTo>
                <a:cubicBezTo>
                  <a:pt x="14288" y="217884"/>
                  <a:pt x="17859" y="208002"/>
                  <a:pt x="23813" y="200025"/>
                </a:cubicBezTo>
                <a:cubicBezTo>
                  <a:pt x="12263" y="191333"/>
                  <a:pt x="4763" y="177522"/>
                  <a:pt x="4763" y="161925"/>
                </a:cubicBezTo>
                <a:cubicBezTo>
                  <a:pt x="4763" y="143530"/>
                  <a:pt x="15240" y="127516"/>
                  <a:pt x="30480" y="119598"/>
                </a:cubicBezTo>
                <a:cubicBezTo>
                  <a:pt x="26253" y="112455"/>
                  <a:pt x="23813" y="104120"/>
                  <a:pt x="23813" y="95250"/>
                </a:cubicBezTo>
                <a:cubicBezTo>
                  <a:pt x="23813" y="68937"/>
                  <a:pt x="45125" y="47625"/>
                  <a:pt x="71438" y="47625"/>
                </a:cubicBezTo>
                <a:lnTo>
                  <a:pt x="71438" y="33338"/>
                </a:lnTo>
                <a:close/>
                <a:moveTo>
                  <a:pt x="233363" y="33338"/>
                </a:moveTo>
                <a:lnTo>
                  <a:pt x="233363" y="47625"/>
                </a:lnTo>
                <a:cubicBezTo>
                  <a:pt x="259675" y="47625"/>
                  <a:pt x="280987" y="68937"/>
                  <a:pt x="280987" y="95250"/>
                </a:cubicBezTo>
                <a:cubicBezTo>
                  <a:pt x="280987" y="104180"/>
                  <a:pt x="278547" y="112514"/>
                  <a:pt x="274320" y="119598"/>
                </a:cubicBezTo>
                <a:cubicBezTo>
                  <a:pt x="289620" y="127516"/>
                  <a:pt x="300038" y="143470"/>
                  <a:pt x="300038" y="161925"/>
                </a:cubicBezTo>
                <a:cubicBezTo>
                  <a:pt x="300038" y="177522"/>
                  <a:pt x="292537" y="191333"/>
                  <a:pt x="280987" y="200025"/>
                </a:cubicBezTo>
                <a:cubicBezTo>
                  <a:pt x="286941" y="208002"/>
                  <a:pt x="290513" y="217884"/>
                  <a:pt x="290513" y="228600"/>
                </a:cubicBezTo>
                <a:cubicBezTo>
                  <a:pt x="290513" y="254913"/>
                  <a:pt x="269200" y="276225"/>
                  <a:pt x="242888" y="276225"/>
                </a:cubicBezTo>
                <a:cubicBezTo>
                  <a:pt x="242471" y="276225"/>
                  <a:pt x="242114" y="276225"/>
                  <a:pt x="241697" y="276225"/>
                </a:cubicBezTo>
                <a:cubicBezTo>
                  <a:pt x="237470" y="292656"/>
                  <a:pt x="222528" y="304800"/>
                  <a:pt x="204787" y="304800"/>
                </a:cubicBezTo>
                <a:lnTo>
                  <a:pt x="185738" y="304800"/>
                </a:lnTo>
                <a:cubicBezTo>
                  <a:pt x="175200" y="304800"/>
                  <a:pt x="166688" y="296287"/>
                  <a:pt x="166688" y="285750"/>
                </a:cubicBezTo>
                <a:lnTo>
                  <a:pt x="166688" y="19050"/>
                </a:lnTo>
                <a:cubicBezTo>
                  <a:pt x="166688" y="8513"/>
                  <a:pt x="175200" y="0"/>
                  <a:pt x="185738" y="0"/>
                </a:cubicBezTo>
                <a:lnTo>
                  <a:pt x="200025" y="0"/>
                </a:lnTo>
                <a:cubicBezTo>
                  <a:pt x="218420" y="0"/>
                  <a:pt x="233363" y="14942"/>
                  <a:pt x="233363" y="33338"/>
                </a:cubicBezTo>
                <a:close/>
              </a:path>
            </a:pathLst>
          </a:custGeom>
          <a:solidFill>
            <a:srgbClr val="B45309"/>
          </a:solidFill>
          <a:ln/>
        </p:spPr>
      </p:sp>
      <p:sp>
        <p:nvSpPr>
          <p:cNvPr id="24" name="Text 22"/>
          <p:cNvSpPr/>
          <p:nvPr/>
        </p:nvSpPr>
        <p:spPr>
          <a:xfrm>
            <a:off x="1460500" y="7213600"/>
            <a:ext cx="1371600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Dual-Channel Theory: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This principle leverages the dual-channel structure of human cognition — verbal and visual channels work best when activated together.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4986000" y="86360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78716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27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3175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200" kern="0" dirty="0">
                <a:solidFill>
                  <a:srgbClr val="B4530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TEMPORAL CONTIGUITY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62000" y="6350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B4530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Research Evidence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1206500"/>
            <a:ext cx="14732000" cy="12700"/>
          </a:xfrm>
          <a:prstGeom prst="rect">
            <a:avLst/>
          </a:prstGeom>
          <a:solidFill>
            <a:srgbClr val="E7E5E4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1460500"/>
            <a:ext cx="4699000" cy="1651000"/>
          </a:xfrm>
          <a:prstGeom prst="rect">
            <a:avLst/>
          </a:prstGeom>
          <a:solidFill>
            <a:srgbClr val="F5F0E8"/>
          </a:solidFill>
          <a:ln/>
        </p:spPr>
      </p:sp>
      <p:sp>
        <p:nvSpPr>
          <p:cNvPr id="7" name="Text 5"/>
          <p:cNvSpPr/>
          <p:nvPr/>
        </p:nvSpPr>
        <p:spPr>
          <a:xfrm>
            <a:off x="1016000" y="1524000"/>
            <a:ext cx="4191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200" b="1" dirty="0">
                <a:solidFill>
                  <a:srgbClr val="B4530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9/9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16000" y="2286000"/>
            <a:ext cx="4191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Experimental tests supported the principle (100% consistency)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778500" y="1460500"/>
            <a:ext cx="4699000" cy="1651000"/>
          </a:xfrm>
          <a:prstGeom prst="rect">
            <a:avLst/>
          </a:prstGeom>
          <a:solidFill>
            <a:srgbClr val="F5F0E8"/>
          </a:solidFill>
          <a:ln/>
        </p:spPr>
      </p:sp>
      <p:sp>
        <p:nvSpPr>
          <p:cNvPr id="10" name="Text 8"/>
          <p:cNvSpPr/>
          <p:nvPr/>
        </p:nvSpPr>
        <p:spPr>
          <a:xfrm>
            <a:off x="6032500" y="1524000"/>
            <a:ext cx="4191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200" b="1" dirty="0">
                <a:solidFill>
                  <a:srgbClr val="C2410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1.22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032500" y="2286000"/>
            <a:ext cx="4191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Median effect size — </a:t>
            </a:r>
            <a:pPr>
              <a:lnSpc>
                <a:spcPct val="140000"/>
              </a:lnSpc>
            </a:pPr>
            <a:r>
              <a:rPr lang="en-US" sz="1500" b="1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strongest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among all five principles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0795000" y="1460500"/>
            <a:ext cx="4699000" cy="1651000"/>
          </a:xfrm>
          <a:prstGeom prst="rect">
            <a:avLst/>
          </a:prstGeom>
          <a:solidFill>
            <a:srgbClr val="F5F0E8"/>
          </a:solidFill>
          <a:ln/>
        </p:spPr>
      </p:sp>
      <p:sp>
        <p:nvSpPr>
          <p:cNvPr id="13" name="Shape 11"/>
          <p:cNvSpPr/>
          <p:nvPr/>
        </p:nvSpPr>
        <p:spPr>
          <a:xfrm>
            <a:off x="11020425" y="1651000"/>
            <a:ext cx="514350" cy="457200"/>
          </a:xfrm>
          <a:custGeom>
            <a:avLst/>
            <a:gdLst/>
            <a:ahLst/>
            <a:cxnLst/>
            <a:rect l="l" t="t" r="r" b="b"/>
            <a:pathLst>
              <a:path w="514350" h="457200">
                <a:moveTo>
                  <a:pt x="279499" y="77867"/>
                </a:moveTo>
                <a:cubicBezTo>
                  <a:pt x="287715" y="71348"/>
                  <a:pt x="292894" y="61258"/>
                  <a:pt x="292894" y="50006"/>
                </a:cubicBezTo>
                <a:cubicBezTo>
                  <a:pt x="292894" y="30272"/>
                  <a:pt x="276910" y="14288"/>
                  <a:pt x="257175" y="14288"/>
                </a:cubicBezTo>
                <a:cubicBezTo>
                  <a:pt x="237440" y="14288"/>
                  <a:pt x="221456" y="30272"/>
                  <a:pt x="221456" y="50006"/>
                </a:cubicBezTo>
                <a:cubicBezTo>
                  <a:pt x="221456" y="61258"/>
                  <a:pt x="226725" y="71348"/>
                  <a:pt x="234851" y="77867"/>
                </a:cubicBezTo>
                <a:lnTo>
                  <a:pt x="173772" y="173950"/>
                </a:lnTo>
                <a:cubicBezTo>
                  <a:pt x="164842" y="187970"/>
                  <a:pt x="145822" y="191453"/>
                  <a:pt x="132517" y="181451"/>
                </a:cubicBezTo>
                <a:lnTo>
                  <a:pt x="79385" y="141714"/>
                </a:lnTo>
                <a:cubicBezTo>
                  <a:pt x="83403" y="135999"/>
                  <a:pt x="85725" y="128945"/>
                  <a:pt x="85725" y="121444"/>
                </a:cubicBezTo>
                <a:cubicBezTo>
                  <a:pt x="85725" y="101709"/>
                  <a:pt x="69741" y="85725"/>
                  <a:pt x="50006" y="85725"/>
                </a:cubicBezTo>
                <a:cubicBezTo>
                  <a:pt x="30272" y="85725"/>
                  <a:pt x="14288" y="101709"/>
                  <a:pt x="14288" y="121444"/>
                </a:cubicBezTo>
                <a:cubicBezTo>
                  <a:pt x="14288" y="140910"/>
                  <a:pt x="29914" y="156805"/>
                  <a:pt x="49292" y="157163"/>
                </a:cubicBezTo>
                <a:lnTo>
                  <a:pt x="78403" y="351383"/>
                </a:lnTo>
                <a:cubicBezTo>
                  <a:pt x="82600" y="379333"/>
                  <a:pt x="106620" y="400050"/>
                  <a:pt x="134928" y="400050"/>
                </a:cubicBezTo>
                <a:lnTo>
                  <a:pt x="379422" y="400050"/>
                </a:lnTo>
                <a:cubicBezTo>
                  <a:pt x="407730" y="400050"/>
                  <a:pt x="431750" y="379333"/>
                  <a:pt x="435947" y="351383"/>
                </a:cubicBezTo>
                <a:lnTo>
                  <a:pt x="465058" y="157163"/>
                </a:lnTo>
                <a:cubicBezTo>
                  <a:pt x="484436" y="156805"/>
                  <a:pt x="500063" y="140910"/>
                  <a:pt x="500063" y="121444"/>
                </a:cubicBezTo>
                <a:cubicBezTo>
                  <a:pt x="500063" y="101709"/>
                  <a:pt x="484078" y="85725"/>
                  <a:pt x="464344" y="85725"/>
                </a:cubicBezTo>
                <a:cubicBezTo>
                  <a:pt x="444609" y="85725"/>
                  <a:pt x="428625" y="101709"/>
                  <a:pt x="428625" y="121444"/>
                </a:cubicBezTo>
                <a:cubicBezTo>
                  <a:pt x="428625" y="128945"/>
                  <a:pt x="430947" y="135999"/>
                  <a:pt x="434965" y="141714"/>
                </a:cubicBezTo>
                <a:lnTo>
                  <a:pt x="381923" y="181541"/>
                </a:lnTo>
                <a:cubicBezTo>
                  <a:pt x="368618" y="191542"/>
                  <a:pt x="349597" y="188059"/>
                  <a:pt x="340668" y="174040"/>
                </a:cubicBezTo>
                <a:lnTo>
                  <a:pt x="279499" y="77867"/>
                </a:lnTo>
                <a:close/>
              </a:path>
            </a:pathLst>
          </a:custGeom>
          <a:solidFill>
            <a:srgbClr val="C2410C"/>
          </a:solidFill>
          <a:ln/>
        </p:spPr>
      </p:sp>
      <p:sp>
        <p:nvSpPr>
          <p:cNvPr id="14" name="Text 12"/>
          <p:cNvSpPr/>
          <p:nvPr/>
        </p:nvSpPr>
        <p:spPr>
          <a:xfrm>
            <a:off x="11049000" y="2222500"/>
            <a:ext cx="4191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</a:t>
            </a:r>
            <a:pPr>
              <a:lnSpc>
                <a:spcPct val="140000"/>
              </a:lnSpc>
            </a:pPr>
            <a:r>
              <a:rPr lang="en-US" sz="1500" b="1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strongest effect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among the five extraneous processing principles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62000" y="3429000"/>
            <a:ext cx="762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b="1" dirty="0">
                <a:solidFill>
                  <a:srgbClr val="1C191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Key Finding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762000" y="4000500"/>
            <a:ext cx="14732000" cy="1143000"/>
          </a:xfrm>
          <a:prstGeom prst="rect">
            <a:avLst/>
          </a:prstGeom>
          <a:solidFill>
            <a:srgbClr val="F5F0E8"/>
          </a:solidFill>
          <a:ln/>
        </p:spPr>
      </p:sp>
      <p:sp>
        <p:nvSpPr>
          <p:cNvPr id="17" name="Text 15"/>
          <p:cNvSpPr/>
          <p:nvPr/>
        </p:nvSpPr>
        <p:spPr>
          <a:xfrm>
            <a:off x="1016000" y="4127500"/>
            <a:ext cx="14224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7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When corresponding narration and animation are presented </a:t>
            </a:r>
            <a:pPr>
              <a:lnSpc>
                <a:spcPct val="160000"/>
              </a:lnSpc>
            </a:pPr>
            <a:r>
              <a:rPr lang="en-US" sz="1700" b="1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simultaneously</a:t>
            </a:r>
            <a:pPr>
              <a:lnSpc>
                <a:spcPct val="160000"/>
              </a:lnSpc>
            </a:pPr>
            <a:r>
              <a:rPr lang="en-US" sz="17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transfer test performance is significantly better. Successive presentation consistently produces </a:t>
            </a:r>
            <a:pPr>
              <a:lnSpc>
                <a:spcPct val="160000"/>
              </a:lnSpc>
            </a:pPr>
            <a:r>
              <a:rPr lang="en-US" sz="1700" b="1" dirty="0">
                <a:solidFill>
                  <a:srgbClr val="C2410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poorer learning outcomes</a:t>
            </a:r>
            <a:pPr>
              <a:lnSpc>
                <a:spcPct val="160000"/>
              </a:lnSpc>
            </a:pPr>
            <a:r>
              <a:rPr lang="en-US" sz="17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62000" y="5461000"/>
            <a:ext cx="762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b="1" dirty="0">
                <a:solidFill>
                  <a:srgbClr val="1C191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Implications for Multimedia Design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762000" y="6032500"/>
            <a:ext cx="14732000" cy="1397000"/>
          </a:xfrm>
          <a:prstGeom prst="rect">
            <a:avLst/>
          </a:prstGeom>
          <a:solidFill>
            <a:srgbClr val="B45309">
              <a:alpha val="8235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016000" y="6350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0"/>
                </a:moveTo>
                <a:cubicBezTo>
                  <a:pt x="315349" y="0"/>
                  <a:pt x="406400" y="91051"/>
                  <a:pt x="406400" y="203200"/>
                </a:cubicBezTo>
                <a:cubicBezTo>
                  <a:pt x="406400" y="315349"/>
                  <a:pt x="315349" y="406400"/>
                  <a:pt x="203200" y="406400"/>
                </a:cubicBezTo>
                <a:cubicBezTo>
                  <a:pt x="91051" y="406400"/>
                  <a:pt x="0" y="315349"/>
                  <a:pt x="0" y="203200"/>
                </a:cubicBezTo>
                <a:cubicBezTo>
                  <a:pt x="0" y="91051"/>
                  <a:pt x="91051" y="0"/>
                  <a:pt x="203200" y="0"/>
                </a:cubicBezTo>
                <a:close/>
                <a:moveTo>
                  <a:pt x="184150" y="95250"/>
                </a:moveTo>
                <a:lnTo>
                  <a:pt x="184150" y="203200"/>
                </a:lnTo>
                <a:cubicBezTo>
                  <a:pt x="184150" y="209550"/>
                  <a:pt x="187325" y="215503"/>
                  <a:pt x="192643" y="219075"/>
                </a:cubicBezTo>
                <a:lnTo>
                  <a:pt x="268843" y="269875"/>
                </a:lnTo>
                <a:cubicBezTo>
                  <a:pt x="277574" y="275749"/>
                  <a:pt x="289401" y="273368"/>
                  <a:pt x="295275" y="264557"/>
                </a:cubicBezTo>
                <a:cubicBezTo>
                  <a:pt x="301149" y="255746"/>
                  <a:pt x="298768" y="243999"/>
                  <a:pt x="289957" y="238125"/>
                </a:cubicBezTo>
                <a:lnTo>
                  <a:pt x="222250" y="193040"/>
                </a:lnTo>
                <a:lnTo>
                  <a:pt x="222250" y="95250"/>
                </a:lnTo>
                <a:cubicBezTo>
                  <a:pt x="222250" y="84693"/>
                  <a:pt x="213757" y="76200"/>
                  <a:pt x="203200" y="76200"/>
                </a:cubicBezTo>
                <a:cubicBezTo>
                  <a:pt x="192643" y="76200"/>
                  <a:pt x="184150" y="84693"/>
                  <a:pt x="184150" y="95250"/>
                </a:cubicBezTo>
                <a:close/>
              </a:path>
            </a:pathLst>
          </a:custGeom>
          <a:solidFill>
            <a:srgbClr val="B45309"/>
          </a:solidFill>
          <a:ln/>
        </p:spPr>
      </p:sp>
      <p:sp>
        <p:nvSpPr>
          <p:cNvPr id="21" name="Text 19"/>
          <p:cNvSpPr/>
          <p:nvPr/>
        </p:nvSpPr>
        <p:spPr>
          <a:xfrm>
            <a:off x="1587500" y="6159500"/>
            <a:ext cx="13652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700" b="1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TIMING is as important as CONTENT</a:t>
            </a:r>
            <a:pPr>
              <a:lnSpc>
                <a:spcPct val="160000"/>
              </a:lnSpc>
            </a:pPr>
            <a:r>
              <a:rPr lang="en-US" sz="17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in multimedia design. This principle has strong implications for video production, animation design, and e-learning development. Synchronization is not optional — it is essential.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62000" y="8255000"/>
            <a:ext cx="1016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78716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Source: Mayer, R. E. &amp; Fiorella, L. (2014). Cambridge Handbook of Multimedia Learning, Ch. 12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4986000" y="86360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78716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28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3175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200" kern="0" dirty="0">
                <a:solidFill>
                  <a:srgbClr val="B4530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TEMPORAL CONTIGUITY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62000" y="6350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B4530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Application Techniques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1206500"/>
            <a:ext cx="14732000" cy="12700"/>
          </a:xfrm>
          <a:prstGeom prst="rect">
            <a:avLst/>
          </a:prstGeom>
          <a:solidFill>
            <a:srgbClr val="E7E5E4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1498600"/>
            <a:ext cx="457200" cy="45720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7" name="Text 5"/>
          <p:cNvSpPr/>
          <p:nvPr/>
        </p:nvSpPr>
        <p:spPr>
          <a:xfrm>
            <a:off x="762000" y="14986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97000" y="1498600"/>
            <a:ext cx="444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Synchronize Narration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97000" y="1905000"/>
            <a:ext cx="5842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Ensure voiceover plays simultaneously with the corresponding visuals or animation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62000" y="2768600"/>
            <a:ext cx="457200" cy="45720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11" name="Text 9"/>
          <p:cNvSpPr/>
          <p:nvPr/>
        </p:nvSpPr>
        <p:spPr>
          <a:xfrm>
            <a:off x="762000" y="27686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97000" y="2768600"/>
            <a:ext cx="444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Avoid Sequential Slides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397000" y="3175000"/>
            <a:ext cx="5842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 not present explanatory text on one slide and the graphic on the next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62000" y="4038600"/>
            <a:ext cx="457200" cy="45720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15" name="Text 13"/>
          <p:cNvSpPr/>
          <p:nvPr/>
        </p:nvSpPr>
        <p:spPr>
          <a:xfrm>
            <a:off x="762000" y="40386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397000" y="4038600"/>
            <a:ext cx="444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Timed Appearances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97000" y="4445000"/>
            <a:ext cx="5842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Make labels and annotations appear at the moment they are mentioned in narration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8382000" y="1498600"/>
            <a:ext cx="457200" cy="45720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19" name="Text 17"/>
          <p:cNvSpPr/>
          <p:nvPr/>
        </p:nvSpPr>
        <p:spPr>
          <a:xfrm>
            <a:off x="8382000" y="14986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017000" y="1498600"/>
            <a:ext cx="444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Simultaneous Captions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017000" y="1905000"/>
            <a:ext cx="6223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If captions are needed, display them in sync with the corresponding visual content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8382000" y="2768600"/>
            <a:ext cx="457200" cy="45720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23" name="Text 21"/>
          <p:cNvSpPr/>
          <p:nvPr/>
        </p:nvSpPr>
        <p:spPr>
          <a:xfrm>
            <a:off x="8382000" y="27686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017000" y="2768600"/>
            <a:ext cx="444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Integrated Video Design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017000" y="3175000"/>
            <a:ext cx="6223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Design video so narration and visuals are inseparable — each supports the other in real-time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762000" y="5461000"/>
            <a:ext cx="14732000" cy="1270000"/>
          </a:xfrm>
          <a:prstGeom prst="rect">
            <a:avLst/>
          </a:prstGeom>
          <a:solidFill>
            <a:srgbClr val="F5F0E8"/>
          </a:solidFill>
          <a:ln/>
        </p:spPr>
      </p:sp>
      <p:sp>
        <p:nvSpPr>
          <p:cNvPr id="27" name="Shape 25"/>
          <p:cNvSpPr/>
          <p:nvPr/>
        </p:nvSpPr>
        <p:spPr>
          <a:xfrm>
            <a:off x="1054100" y="5778500"/>
            <a:ext cx="457200" cy="406400"/>
          </a:xfrm>
          <a:custGeom>
            <a:avLst/>
            <a:gdLst/>
            <a:ahLst/>
            <a:cxnLst/>
            <a:rect l="l" t="t" r="r" b="b"/>
            <a:pathLst>
              <a:path w="457200" h="406400">
                <a:moveTo>
                  <a:pt x="245666" y="-15002"/>
                </a:moveTo>
                <a:cubicBezTo>
                  <a:pt x="242411" y="-21352"/>
                  <a:pt x="235823" y="-25400"/>
                  <a:pt x="228679" y="-25400"/>
                </a:cubicBezTo>
                <a:cubicBezTo>
                  <a:pt x="221536" y="-25400"/>
                  <a:pt x="214948" y="-21352"/>
                  <a:pt x="211693" y="-15002"/>
                </a:cubicBezTo>
                <a:lnTo>
                  <a:pt x="153273" y="99457"/>
                </a:lnTo>
                <a:lnTo>
                  <a:pt x="26353" y="119618"/>
                </a:lnTo>
                <a:cubicBezTo>
                  <a:pt x="19288" y="120729"/>
                  <a:pt x="13414" y="125730"/>
                  <a:pt x="11192" y="132556"/>
                </a:cubicBezTo>
                <a:cubicBezTo>
                  <a:pt x="8969" y="139383"/>
                  <a:pt x="10795" y="146844"/>
                  <a:pt x="15796" y="151924"/>
                </a:cubicBezTo>
                <a:lnTo>
                  <a:pt x="106601" y="242808"/>
                </a:lnTo>
                <a:lnTo>
                  <a:pt x="86598" y="369729"/>
                </a:lnTo>
                <a:cubicBezTo>
                  <a:pt x="85487" y="376793"/>
                  <a:pt x="88424" y="383937"/>
                  <a:pt x="94218" y="388144"/>
                </a:cubicBezTo>
                <a:cubicBezTo>
                  <a:pt x="100013" y="392351"/>
                  <a:pt x="107633" y="392986"/>
                  <a:pt x="114062" y="389731"/>
                </a:cubicBezTo>
                <a:lnTo>
                  <a:pt x="228679" y="331470"/>
                </a:lnTo>
                <a:lnTo>
                  <a:pt x="343218" y="389731"/>
                </a:lnTo>
                <a:cubicBezTo>
                  <a:pt x="349568" y="392986"/>
                  <a:pt x="357267" y="392351"/>
                  <a:pt x="363061" y="388144"/>
                </a:cubicBezTo>
                <a:cubicBezTo>
                  <a:pt x="368856" y="383937"/>
                  <a:pt x="371793" y="376873"/>
                  <a:pt x="370681" y="369729"/>
                </a:cubicBezTo>
                <a:lnTo>
                  <a:pt x="350599" y="242808"/>
                </a:lnTo>
                <a:lnTo>
                  <a:pt x="441404" y="151924"/>
                </a:lnTo>
                <a:cubicBezTo>
                  <a:pt x="446484" y="146844"/>
                  <a:pt x="448231" y="139383"/>
                  <a:pt x="446008" y="132556"/>
                </a:cubicBezTo>
                <a:cubicBezTo>
                  <a:pt x="443786" y="125730"/>
                  <a:pt x="437991" y="120729"/>
                  <a:pt x="430847" y="119618"/>
                </a:cubicBezTo>
                <a:lnTo>
                  <a:pt x="304006" y="99457"/>
                </a:lnTo>
                <a:lnTo>
                  <a:pt x="245666" y="-15002"/>
                </a:lnTo>
                <a:close/>
              </a:path>
            </a:pathLst>
          </a:custGeom>
          <a:solidFill>
            <a:srgbClr val="B45309"/>
          </a:solidFill>
          <a:ln/>
        </p:spPr>
      </p:sp>
      <p:sp>
        <p:nvSpPr>
          <p:cNvPr id="28" name="Text 26"/>
          <p:cNvSpPr/>
          <p:nvPr/>
        </p:nvSpPr>
        <p:spPr>
          <a:xfrm>
            <a:off x="1651000" y="55880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B4530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Timing Rule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651000" y="5994400"/>
            <a:ext cx="13462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i="1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"Words and visuals should be experienced together, not in sequence."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762000" y="70485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Quick Checklist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62000" y="7493000"/>
            <a:ext cx="14732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B4530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Does narration match the current visual? 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B4530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Do elements appear when mentioned? 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B4530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Are words and visuals synchronized?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4986000" y="86360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78716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29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3175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200" kern="0" dirty="0">
                <a:solidFill>
                  <a:srgbClr val="B4530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TEMPORAL CONTIGUITY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62000" y="6350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B4530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Practical Examples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1206500"/>
            <a:ext cx="14732000" cy="12700"/>
          </a:xfrm>
          <a:prstGeom prst="rect">
            <a:avLst/>
          </a:prstGeom>
          <a:solidFill>
            <a:srgbClr val="E7E5E4"/>
          </a:solidFill>
          <a:ln/>
        </p:spPr>
      </p:sp>
      <p:sp>
        <p:nvSpPr>
          <p:cNvPr id="6" name="Shape 4"/>
          <p:cNvSpPr/>
          <p:nvPr/>
        </p:nvSpPr>
        <p:spPr>
          <a:xfrm>
            <a:off x="784225" y="1498600"/>
            <a:ext cx="311150" cy="355600"/>
          </a:xfrm>
          <a:custGeom>
            <a:avLst/>
            <a:gdLst/>
            <a:ahLst/>
            <a:cxnLst/>
            <a:rect l="l" t="t" r="r" b="b"/>
            <a:pathLst>
              <a:path w="311150" h="355600">
                <a:moveTo>
                  <a:pt x="0" y="66675"/>
                </a:moveTo>
                <a:cubicBezTo>
                  <a:pt x="0" y="42158"/>
                  <a:pt x="19933" y="22225"/>
                  <a:pt x="44450" y="22225"/>
                </a:cubicBezTo>
                <a:lnTo>
                  <a:pt x="266700" y="22225"/>
                </a:lnTo>
                <a:cubicBezTo>
                  <a:pt x="291217" y="22225"/>
                  <a:pt x="311150" y="42158"/>
                  <a:pt x="311150" y="66675"/>
                </a:cubicBezTo>
                <a:lnTo>
                  <a:pt x="311150" y="288925"/>
                </a:lnTo>
                <a:cubicBezTo>
                  <a:pt x="311150" y="313442"/>
                  <a:pt x="291217" y="333375"/>
                  <a:pt x="266700" y="333375"/>
                </a:cubicBezTo>
                <a:lnTo>
                  <a:pt x="44450" y="333375"/>
                </a:lnTo>
                <a:cubicBezTo>
                  <a:pt x="19933" y="333375"/>
                  <a:pt x="0" y="313442"/>
                  <a:pt x="0" y="288925"/>
                </a:cubicBezTo>
                <a:lnTo>
                  <a:pt x="0" y="66675"/>
                </a:lnTo>
                <a:close/>
                <a:moveTo>
                  <a:pt x="33337" y="255587"/>
                </a:moveTo>
                <a:lnTo>
                  <a:pt x="33337" y="277813"/>
                </a:lnTo>
                <a:cubicBezTo>
                  <a:pt x="33337" y="283924"/>
                  <a:pt x="38338" y="288925"/>
                  <a:pt x="44450" y="288925"/>
                </a:cubicBezTo>
                <a:lnTo>
                  <a:pt x="66675" y="288925"/>
                </a:lnTo>
                <a:cubicBezTo>
                  <a:pt x="72787" y="288925"/>
                  <a:pt x="77788" y="283924"/>
                  <a:pt x="77788" y="277813"/>
                </a:cubicBezTo>
                <a:lnTo>
                  <a:pt x="77788" y="255587"/>
                </a:lnTo>
                <a:cubicBezTo>
                  <a:pt x="77788" y="249476"/>
                  <a:pt x="72787" y="244475"/>
                  <a:pt x="66675" y="244475"/>
                </a:cubicBezTo>
                <a:lnTo>
                  <a:pt x="44450" y="244475"/>
                </a:lnTo>
                <a:cubicBezTo>
                  <a:pt x="38338" y="244475"/>
                  <a:pt x="33337" y="249476"/>
                  <a:pt x="33337" y="255587"/>
                </a:cubicBezTo>
                <a:close/>
                <a:moveTo>
                  <a:pt x="244475" y="244475"/>
                </a:moveTo>
                <a:cubicBezTo>
                  <a:pt x="238363" y="244475"/>
                  <a:pt x="233363" y="249476"/>
                  <a:pt x="233363" y="255587"/>
                </a:cubicBezTo>
                <a:lnTo>
                  <a:pt x="233363" y="277813"/>
                </a:lnTo>
                <a:cubicBezTo>
                  <a:pt x="233363" y="283924"/>
                  <a:pt x="238363" y="288925"/>
                  <a:pt x="244475" y="288925"/>
                </a:cubicBezTo>
                <a:lnTo>
                  <a:pt x="266700" y="288925"/>
                </a:lnTo>
                <a:cubicBezTo>
                  <a:pt x="272812" y="288925"/>
                  <a:pt x="277813" y="283924"/>
                  <a:pt x="277813" y="277813"/>
                </a:cubicBezTo>
                <a:lnTo>
                  <a:pt x="277813" y="255587"/>
                </a:lnTo>
                <a:cubicBezTo>
                  <a:pt x="277813" y="249476"/>
                  <a:pt x="272812" y="244475"/>
                  <a:pt x="266700" y="244475"/>
                </a:cubicBezTo>
                <a:lnTo>
                  <a:pt x="244475" y="244475"/>
                </a:lnTo>
                <a:close/>
                <a:moveTo>
                  <a:pt x="33337" y="166688"/>
                </a:moveTo>
                <a:lnTo>
                  <a:pt x="33337" y="188913"/>
                </a:lnTo>
                <a:cubicBezTo>
                  <a:pt x="33337" y="195024"/>
                  <a:pt x="38338" y="200025"/>
                  <a:pt x="44450" y="200025"/>
                </a:cubicBezTo>
                <a:lnTo>
                  <a:pt x="66675" y="200025"/>
                </a:lnTo>
                <a:cubicBezTo>
                  <a:pt x="72787" y="200025"/>
                  <a:pt x="77788" y="195024"/>
                  <a:pt x="77788" y="188913"/>
                </a:cubicBezTo>
                <a:lnTo>
                  <a:pt x="77788" y="166688"/>
                </a:lnTo>
                <a:cubicBezTo>
                  <a:pt x="77788" y="160576"/>
                  <a:pt x="72787" y="155575"/>
                  <a:pt x="66675" y="155575"/>
                </a:cubicBezTo>
                <a:lnTo>
                  <a:pt x="44450" y="155575"/>
                </a:lnTo>
                <a:cubicBezTo>
                  <a:pt x="38338" y="155575"/>
                  <a:pt x="33337" y="160576"/>
                  <a:pt x="33337" y="166688"/>
                </a:cubicBezTo>
                <a:close/>
                <a:moveTo>
                  <a:pt x="244475" y="155575"/>
                </a:moveTo>
                <a:cubicBezTo>
                  <a:pt x="238363" y="155575"/>
                  <a:pt x="233363" y="160576"/>
                  <a:pt x="233363" y="166688"/>
                </a:cubicBezTo>
                <a:lnTo>
                  <a:pt x="233363" y="188913"/>
                </a:lnTo>
                <a:cubicBezTo>
                  <a:pt x="233363" y="195024"/>
                  <a:pt x="238363" y="200025"/>
                  <a:pt x="244475" y="200025"/>
                </a:cubicBezTo>
                <a:lnTo>
                  <a:pt x="266700" y="200025"/>
                </a:lnTo>
                <a:cubicBezTo>
                  <a:pt x="272812" y="200025"/>
                  <a:pt x="277813" y="195024"/>
                  <a:pt x="277813" y="188913"/>
                </a:cubicBezTo>
                <a:lnTo>
                  <a:pt x="277813" y="166688"/>
                </a:lnTo>
                <a:cubicBezTo>
                  <a:pt x="277813" y="160576"/>
                  <a:pt x="272812" y="155575"/>
                  <a:pt x="266700" y="155575"/>
                </a:cubicBezTo>
                <a:lnTo>
                  <a:pt x="244475" y="155575"/>
                </a:lnTo>
                <a:close/>
                <a:moveTo>
                  <a:pt x="33337" y="77788"/>
                </a:moveTo>
                <a:lnTo>
                  <a:pt x="33337" y="100013"/>
                </a:lnTo>
                <a:cubicBezTo>
                  <a:pt x="33337" y="106124"/>
                  <a:pt x="38338" y="111125"/>
                  <a:pt x="44450" y="111125"/>
                </a:cubicBezTo>
                <a:lnTo>
                  <a:pt x="66675" y="111125"/>
                </a:lnTo>
                <a:cubicBezTo>
                  <a:pt x="72787" y="111125"/>
                  <a:pt x="77788" y="106124"/>
                  <a:pt x="77788" y="100013"/>
                </a:cubicBezTo>
                <a:lnTo>
                  <a:pt x="77788" y="77788"/>
                </a:lnTo>
                <a:cubicBezTo>
                  <a:pt x="77788" y="71676"/>
                  <a:pt x="72787" y="66675"/>
                  <a:pt x="66675" y="66675"/>
                </a:cubicBezTo>
                <a:lnTo>
                  <a:pt x="44450" y="66675"/>
                </a:lnTo>
                <a:cubicBezTo>
                  <a:pt x="38338" y="66675"/>
                  <a:pt x="33337" y="71676"/>
                  <a:pt x="33337" y="77788"/>
                </a:cubicBezTo>
                <a:close/>
                <a:moveTo>
                  <a:pt x="244475" y="66675"/>
                </a:moveTo>
                <a:cubicBezTo>
                  <a:pt x="238363" y="66675"/>
                  <a:pt x="233363" y="71676"/>
                  <a:pt x="233363" y="77788"/>
                </a:cubicBezTo>
                <a:lnTo>
                  <a:pt x="233363" y="100013"/>
                </a:lnTo>
                <a:cubicBezTo>
                  <a:pt x="233363" y="106124"/>
                  <a:pt x="238363" y="111125"/>
                  <a:pt x="244475" y="111125"/>
                </a:cubicBezTo>
                <a:lnTo>
                  <a:pt x="266700" y="111125"/>
                </a:lnTo>
                <a:cubicBezTo>
                  <a:pt x="272812" y="111125"/>
                  <a:pt x="277813" y="106124"/>
                  <a:pt x="277813" y="100013"/>
                </a:cubicBezTo>
                <a:lnTo>
                  <a:pt x="277813" y="77788"/>
                </a:lnTo>
                <a:cubicBezTo>
                  <a:pt x="277813" y="71676"/>
                  <a:pt x="272812" y="66675"/>
                  <a:pt x="266700" y="66675"/>
                </a:cubicBezTo>
                <a:lnTo>
                  <a:pt x="244475" y="66675"/>
                </a:lnTo>
                <a:close/>
              </a:path>
            </a:pathLst>
          </a:custGeom>
          <a:solidFill>
            <a:srgbClr val="B45309"/>
          </a:solidFill>
          <a:ln/>
        </p:spPr>
      </p:sp>
      <p:sp>
        <p:nvSpPr>
          <p:cNvPr id="7" name="Text 5"/>
          <p:cNvSpPr/>
          <p:nvPr/>
        </p:nvSpPr>
        <p:spPr>
          <a:xfrm>
            <a:off x="1270000" y="14605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b="1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Animated Explanations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70000" y="1841500"/>
            <a:ext cx="1397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Narration describing a process should play while the animation shows the process, not before or after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62000" y="2476500"/>
            <a:ext cx="14732000" cy="12700"/>
          </a:xfrm>
          <a:prstGeom prst="rect">
            <a:avLst/>
          </a:prstGeom>
          <a:solidFill>
            <a:srgbClr val="E7E5E4"/>
          </a:solidFill>
          <a:ln/>
        </p:spPr>
      </p:sp>
      <p:sp>
        <p:nvSpPr>
          <p:cNvPr id="10" name="Shape 8"/>
          <p:cNvSpPr/>
          <p:nvPr/>
        </p:nvSpPr>
        <p:spPr>
          <a:xfrm>
            <a:off x="739775" y="2667000"/>
            <a:ext cx="400050" cy="355600"/>
          </a:xfrm>
          <a:custGeom>
            <a:avLst/>
            <a:gdLst/>
            <a:ahLst/>
            <a:cxnLst/>
            <a:rect l="l" t="t" r="r" b="b"/>
            <a:pathLst>
              <a:path w="400050" h="355600">
                <a:moveTo>
                  <a:pt x="66675" y="44450"/>
                </a:moveTo>
                <a:cubicBezTo>
                  <a:pt x="42158" y="44450"/>
                  <a:pt x="22225" y="64383"/>
                  <a:pt x="22225" y="88900"/>
                </a:cubicBezTo>
                <a:lnTo>
                  <a:pt x="22225" y="266700"/>
                </a:lnTo>
                <a:cubicBezTo>
                  <a:pt x="22225" y="291217"/>
                  <a:pt x="42158" y="311150"/>
                  <a:pt x="66675" y="311150"/>
                </a:cubicBezTo>
                <a:lnTo>
                  <a:pt x="244475" y="311150"/>
                </a:lnTo>
                <a:cubicBezTo>
                  <a:pt x="268992" y="311150"/>
                  <a:pt x="288925" y="291217"/>
                  <a:pt x="288925" y="266700"/>
                </a:cubicBezTo>
                <a:lnTo>
                  <a:pt x="288925" y="88900"/>
                </a:lnTo>
                <a:cubicBezTo>
                  <a:pt x="288925" y="64383"/>
                  <a:pt x="268992" y="44450"/>
                  <a:pt x="244475" y="44450"/>
                </a:cubicBezTo>
                <a:lnTo>
                  <a:pt x="66675" y="44450"/>
                </a:lnTo>
                <a:close/>
                <a:moveTo>
                  <a:pt x="322263" y="233363"/>
                </a:moveTo>
                <a:lnTo>
                  <a:pt x="373311" y="274201"/>
                </a:lnTo>
                <a:cubicBezTo>
                  <a:pt x="376228" y="276562"/>
                  <a:pt x="379839" y="277813"/>
                  <a:pt x="383590" y="277813"/>
                </a:cubicBezTo>
                <a:cubicBezTo>
                  <a:pt x="392688" y="277813"/>
                  <a:pt x="400050" y="270450"/>
                  <a:pt x="400050" y="261352"/>
                </a:cubicBezTo>
                <a:lnTo>
                  <a:pt x="400050" y="94248"/>
                </a:lnTo>
                <a:cubicBezTo>
                  <a:pt x="400050" y="85150"/>
                  <a:pt x="392688" y="77788"/>
                  <a:pt x="383590" y="77788"/>
                </a:cubicBezTo>
                <a:cubicBezTo>
                  <a:pt x="379839" y="77788"/>
                  <a:pt x="376228" y="79038"/>
                  <a:pt x="373311" y="81399"/>
                </a:cubicBezTo>
                <a:lnTo>
                  <a:pt x="322263" y="122238"/>
                </a:lnTo>
                <a:lnTo>
                  <a:pt x="322263" y="233363"/>
                </a:lnTo>
                <a:close/>
              </a:path>
            </a:pathLst>
          </a:custGeom>
          <a:solidFill>
            <a:srgbClr val="B45309"/>
          </a:solidFill>
          <a:ln/>
        </p:spPr>
      </p:sp>
      <p:sp>
        <p:nvSpPr>
          <p:cNvPr id="11" name="Text 9"/>
          <p:cNvSpPr/>
          <p:nvPr/>
        </p:nvSpPr>
        <p:spPr>
          <a:xfrm>
            <a:off x="1270000" y="26289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b="1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Video Tutorials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70000" y="3009900"/>
            <a:ext cx="1397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demonstrator should explain each step while performing it, not narrate the entire process over a silent demo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62000" y="3644900"/>
            <a:ext cx="14732000" cy="12700"/>
          </a:xfrm>
          <a:prstGeom prst="rect">
            <a:avLst/>
          </a:prstGeom>
          <a:solidFill>
            <a:srgbClr val="E7E5E4"/>
          </a:solidFill>
          <a:ln/>
        </p:spPr>
      </p:sp>
      <p:sp>
        <p:nvSpPr>
          <p:cNvPr id="14" name="Shape 12"/>
          <p:cNvSpPr/>
          <p:nvPr/>
        </p:nvSpPr>
        <p:spPr>
          <a:xfrm>
            <a:off x="717550" y="3835400"/>
            <a:ext cx="444500" cy="355600"/>
          </a:xfrm>
          <a:custGeom>
            <a:avLst/>
            <a:gdLst/>
            <a:ahLst/>
            <a:cxnLst/>
            <a:rect l="l" t="t" r="r" b="b"/>
            <a:pathLst>
              <a:path w="444500" h="355600">
                <a:moveTo>
                  <a:pt x="88900" y="66675"/>
                </a:moveTo>
                <a:cubicBezTo>
                  <a:pt x="88900" y="42158"/>
                  <a:pt x="108833" y="22225"/>
                  <a:pt x="133350" y="22225"/>
                </a:cubicBezTo>
                <a:lnTo>
                  <a:pt x="377825" y="22225"/>
                </a:lnTo>
                <a:cubicBezTo>
                  <a:pt x="402342" y="22225"/>
                  <a:pt x="422275" y="42158"/>
                  <a:pt x="422275" y="66675"/>
                </a:cubicBezTo>
                <a:lnTo>
                  <a:pt x="422275" y="233363"/>
                </a:lnTo>
                <a:lnTo>
                  <a:pt x="355600" y="233363"/>
                </a:lnTo>
                <a:lnTo>
                  <a:pt x="355600" y="222250"/>
                </a:lnTo>
                <a:cubicBezTo>
                  <a:pt x="355600" y="209957"/>
                  <a:pt x="345668" y="200025"/>
                  <a:pt x="333375" y="200025"/>
                </a:cubicBezTo>
                <a:lnTo>
                  <a:pt x="288925" y="200025"/>
                </a:lnTo>
                <a:cubicBezTo>
                  <a:pt x="276632" y="200025"/>
                  <a:pt x="266700" y="209957"/>
                  <a:pt x="266700" y="222250"/>
                </a:cubicBezTo>
                <a:lnTo>
                  <a:pt x="266700" y="233363"/>
                </a:lnTo>
                <a:lnTo>
                  <a:pt x="177036" y="233363"/>
                </a:lnTo>
                <a:cubicBezTo>
                  <a:pt x="184606" y="220305"/>
                  <a:pt x="188913" y="205095"/>
                  <a:pt x="188913" y="188913"/>
                </a:cubicBezTo>
                <a:cubicBezTo>
                  <a:pt x="188913" y="139809"/>
                  <a:pt x="149116" y="100013"/>
                  <a:pt x="100013" y="100013"/>
                </a:cubicBezTo>
                <a:cubicBezTo>
                  <a:pt x="96262" y="100013"/>
                  <a:pt x="92512" y="100221"/>
                  <a:pt x="88900" y="100707"/>
                </a:cubicBezTo>
                <a:lnTo>
                  <a:pt x="88900" y="66675"/>
                </a:lnTo>
                <a:close/>
                <a:moveTo>
                  <a:pt x="231279" y="311150"/>
                </a:moveTo>
                <a:cubicBezTo>
                  <a:pt x="227737" y="294342"/>
                  <a:pt x="219958" y="279132"/>
                  <a:pt x="208984" y="266700"/>
                </a:cubicBezTo>
                <a:lnTo>
                  <a:pt x="422275" y="266700"/>
                </a:lnTo>
                <a:cubicBezTo>
                  <a:pt x="422275" y="291217"/>
                  <a:pt x="402342" y="311150"/>
                  <a:pt x="377825" y="311150"/>
                </a:cubicBezTo>
                <a:lnTo>
                  <a:pt x="231279" y="311150"/>
                </a:lnTo>
                <a:close/>
                <a:moveTo>
                  <a:pt x="44450" y="188913"/>
                </a:moveTo>
                <a:cubicBezTo>
                  <a:pt x="44450" y="158247"/>
                  <a:pt x="69347" y="133350"/>
                  <a:pt x="100012" y="133350"/>
                </a:cubicBezTo>
                <a:cubicBezTo>
                  <a:pt x="130678" y="133350"/>
                  <a:pt x="155575" y="158247"/>
                  <a:pt x="155575" y="188913"/>
                </a:cubicBezTo>
                <a:cubicBezTo>
                  <a:pt x="155575" y="219578"/>
                  <a:pt x="130678" y="244475"/>
                  <a:pt x="100013" y="244475"/>
                </a:cubicBezTo>
                <a:cubicBezTo>
                  <a:pt x="69347" y="244475"/>
                  <a:pt x="44450" y="219578"/>
                  <a:pt x="44450" y="188913"/>
                </a:cubicBezTo>
                <a:close/>
                <a:moveTo>
                  <a:pt x="0" y="333375"/>
                </a:moveTo>
                <a:cubicBezTo>
                  <a:pt x="0" y="296565"/>
                  <a:pt x="29865" y="266700"/>
                  <a:pt x="66675" y="266700"/>
                </a:cubicBezTo>
                <a:lnTo>
                  <a:pt x="133350" y="266700"/>
                </a:lnTo>
                <a:cubicBezTo>
                  <a:pt x="170160" y="266700"/>
                  <a:pt x="200025" y="296565"/>
                  <a:pt x="200025" y="333375"/>
                </a:cubicBezTo>
                <a:cubicBezTo>
                  <a:pt x="200025" y="345668"/>
                  <a:pt x="190093" y="355600"/>
                  <a:pt x="177800" y="355600"/>
                </a:cubicBezTo>
                <a:lnTo>
                  <a:pt x="22225" y="355600"/>
                </a:lnTo>
                <a:cubicBezTo>
                  <a:pt x="9932" y="355600"/>
                  <a:pt x="0" y="345668"/>
                  <a:pt x="0" y="333375"/>
                </a:cubicBezTo>
                <a:close/>
              </a:path>
            </a:pathLst>
          </a:custGeom>
          <a:solidFill>
            <a:srgbClr val="B45309"/>
          </a:solidFill>
          <a:ln/>
        </p:spPr>
      </p:sp>
      <p:sp>
        <p:nvSpPr>
          <p:cNvPr id="15" name="Text 13"/>
          <p:cNvSpPr/>
          <p:nvPr/>
        </p:nvSpPr>
        <p:spPr>
          <a:xfrm>
            <a:off x="1270000" y="37973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b="1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Slide Presentations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70000" y="4178300"/>
            <a:ext cx="1397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Reveal bullet points one at a time as you discuss them, not all at once before you begin speaking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762000" y="4813300"/>
            <a:ext cx="14732000" cy="12700"/>
          </a:xfrm>
          <a:prstGeom prst="rect">
            <a:avLst/>
          </a:prstGeom>
          <a:solidFill>
            <a:srgbClr val="E7E5E4"/>
          </a:solidFill>
          <a:ln/>
        </p:spPr>
      </p:sp>
      <p:sp>
        <p:nvSpPr>
          <p:cNvPr id="18" name="Shape 16"/>
          <p:cNvSpPr/>
          <p:nvPr/>
        </p:nvSpPr>
        <p:spPr>
          <a:xfrm>
            <a:off x="739775" y="5003800"/>
            <a:ext cx="400050" cy="355600"/>
          </a:xfrm>
          <a:custGeom>
            <a:avLst/>
            <a:gdLst/>
            <a:ahLst/>
            <a:cxnLst/>
            <a:rect l="l" t="t" r="r" b="b"/>
            <a:pathLst>
              <a:path w="400050" h="355600">
                <a:moveTo>
                  <a:pt x="44450" y="44450"/>
                </a:moveTo>
                <a:cubicBezTo>
                  <a:pt x="44450" y="19933"/>
                  <a:pt x="64383" y="0"/>
                  <a:pt x="88900" y="0"/>
                </a:cubicBezTo>
                <a:lnTo>
                  <a:pt x="288925" y="0"/>
                </a:lnTo>
                <a:cubicBezTo>
                  <a:pt x="313442" y="0"/>
                  <a:pt x="333375" y="19933"/>
                  <a:pt x="333375" y="44450"/>
                </a:cubicBezTo>
                <a:lnTo>
                  <a:pt x="333375" y="77788"/>
                </a:lnTo>
                <a:lnTo>
                  <a:pt x="288925" y="77788"/>
                </a:lnTo>
                <a:lnTo>
                  <a:pt x="288925" y="44450"/>
                </a:lnTo>
                <a:lnTo>
                  <a:pt x="88900" y="44450"/>
                </a:lnTo>
                <a:lnTo>
                  <a:pt x="88900" y="177800"/>
                </a:lnTo>
                <a:lnTo>
                  <a:pt x="166688" y="177800"/>
                </a:lnTo>
                <a:lnTo>
                  <a:pt x="166688" y="244475"/>
                </a:lnTo>
                <a:lnTo>
                  <a:pt x="53340" y="244475"/>
                </a:lnTo>
                <a:cubicBezTo>
                  <a:pt x="23892" y="244475"/>
                  <a:pt x="0" y="220583"/>
                  <a:pt x="0" y="191135"/>
                </a:cubicBezTo>
                <a:cubicBezTo>
                  <a:pt x="0" y="183773"/>
                  <a:pt x="5973" y="177800"/>
                  <a:pt x="13335" y="177800"/>
                </a:cubicBezTo>
                <a:lnTo>
                  <a:pt x="44450" y="177800"/>
                </a:lnTo>
                <a:lnTo>
                  <a:pt x="44450" y="44450"/>
                </a:lnTo>
                <a:close/>
                <a:moveTo>
                  <a:pt x="368032" y="179120"/>
                </a:moveTo>
                <a:cubicBezTo>
                  <a:pt x="374283" y="185370"/>
                  <a:pt x="377825" y="193844"/>
                  <a:pt x="377825" y="202664"/>
                </a:cubicBezTo>
                <a:lnTo>
                  <a:pt x="377825" y="322263"/>
                </a:lnTo>
                <a:cubicBezTo>
                  <a:pt x="377825" y="340668"/>
                  <a:pt x="362893" y="355600"/>
                  <a:pt x="344488" y="355600"/>
                </a:cubicBezTo>
                <a:lnTo>
                  <a:pt x="233363" y="355600"/>
                </a:lnTo>
                <a:cubicBezTo>
                  <a:pt x="214957" y="355600"/>
                  <a:pt x="200025" y="340668"/>
                  <a:pt x="200025" y="322263"/>
                </a:cubicBezTo>
                <a:lnTo>
                  <a:pt x="200025" y="144463"/>
                </a:lnTo>
                <a:cubicBezTo>
                  <a:pt x="200025" y="126057"/>
                  <a:pt x="214957" y="111125"/>
                  <a:pt x="233363" y="111125"/>
                </a:cubicBezTo>
                <a:lnTo>
                  <a:pt x="286216" y="111125"/>
                </a:lnTo>
                <a:cubicBezTo>
                  <a:pt x="295037" y="111125"/>
                  <a:pt x="303510" y="114667"/>
                  <a:pt x="309761" y="120918"/>
                </a:cubicBezTo>
                <a:cubicBezTo>
                  <a:pt x="323652" y="134809"/>
                  <a:pt x="343029" y="154186"/>
                  <a:pt x="368032" y="179189"/>
                </a:cubicBezTo>
                <a:close/>
                <a:moveTo>
                  <a:pt x="288925" y="188913"/>
                </a:moveTo>
                <a:cubicBezTo>
                  <a:pt x="288925" y="195024"/>
                  <a:pt x="293926" y="200025"/>
                  <a:pt x="300038" y="200025"/>
                </a:cubicBezTo>
                <a:lnTo>
                  <a:pt x="341779" y="200025"/>
                </a:lnTo>
                <a:lnTo>
                  <a:pt x="288925" y="147171"/>
                </a:lnTo>
                <a:lnTo>
                  <a:pt x="288925" y="188913"/>
                </a:lnTo>
                <a:close/>
              </a:path>
            </a:pathLst>
          </a:custGeom>
          <a:solidFill>
            <a:srgbClr val="B45309"/>
          </a:solidFill>
          <a:ln/>
        </p:spPr>
      </p:sp>
      <p:sp>
        <p:nvSpPr>
          <p:cNvPr id="19" name="Text 17"/>
          <p:cNvSpPr/>
          <p:nvPr/>
        </p:nvSpPr>
        <p:spPr>
          <a:xfrm>
            <a:off x="1270000" y="49657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b="1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E-Learning Modules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270000" y="5346700"/>
            <a:ext cx="1397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Trigger text and graphic appearances to coincide with audio narration timing precisely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762000" y="5981700"/>
            <a:ext cx="14732000" cy="12700"/>
          </a:xfrm>
          <a:prstGeom prst="rect">
            <a:avLst/>
          </a:prstGeom>
          <a:solidFill>
            <a:srgbClr val="E7E5E4"/>
          </a:solidFill>
          <a:ln/>
        </p:spPr>
      </p:sp>
      <p:sp>
        <p:nvSpPr>
          <p:cNvPr id="22" name="Shape 20"/>
          <p:cNvSpPr/>
          <p:nvPr/>
        </p:nvSpPr>
        <p:spPr>
          <a:xfrm>
            <a:off x="762000" y="61722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44450" y="44450"/>
                </a:moveTo>
                <a:cubicBezTo>
                  <a:pt x="19933" y="44450"/>
                  <a:pt x="0" y="64383"/>
                  <a:pt x="0" y="88900"/>
                </a:cubicBezTo>
                <a:lnTo>
                  <a:pt x="0" y="266700"/>
                </a:lnTo>
                <a:cubicBezTo>
                  <a:pt x="0" y="291217"/>
                  <a:pt x="19933" y="311150"/>
                  <a:pt x="44450" y="311150"/>
                </a:cubicBezTo>
                <a:lnTo>
                  <a:pt x="311150" y="311150"/>
                </a:lnTo>
                <a:cubicBezTo>
                  <a:pt x="335667" y="311150"/>
                  <a:pt x="355600" y="291217"/>
                  <a:pt x="355600" y="266700"/>
                </a:cubicBezTo>
                <a:lnTo>
                  <a:pt x="355600" y="88900"/>
                </a:lnTo>
                <a:cubicBezTo>
                  <a:pt x="355600" y="64383"/>
                  <a:pt x="335667" y="44450"/>
                  <a:pt x="311150" y="44450"/>
                </a:cubicBezTo>
                <a:lnTo>
                  <a:pt x="44450" y="44450"/>
                </a:lnTo>
                <a:close/>
                <a:moveTo>
                  <a:pt x="61119" y="88900"/>
                </a:moveTo>
                <a:lnTo>
                  <a:pt x="294481" y="88900"/>
                </a:lnTo>
                <a:cubicBezTo>
                  <a:pt x="303719" y="88900"/>
                  <a:pt x="311150" y="96331"/>
                  <a:pt x="311150" y="105569"/>
                </a:cubicBezTo>
                <a:cubicBezTo>
                  <a:pt x="311150" y="114806"/>
                  <a:pt x="303719" y="122238"/>
                  <a:pt x="294481" y="122238"/>
                </a:cubicBezTo>
                <a:lnTo>
                  <a:pt x="61119" y="122238"/>
                </a:lnTo>
                <a:cubicBezTo>
                  <a:pt x="51881" y="122238"/>
                  <a:pt x="44450" y="114806"/>
                  <a:pt x="44450" y="105569"/>
                </a:cubicBezTo>
                <a:cubicBezTo>
                  <a:pt x="44450" y="96331"/>
                  <a:pt x="51881" y="88900"/>
                  <a:pt x="61119" y="88900"/>
                </a:cubicBezTo>
                <a:close/>
              </a:path>
            </a:pathLst>
          </a:custGeom>
          <a:solidFill>
            <a:srgbClr val="B45309"/>
          </a:solidFill>
          <a:ln/>
        </p:spPr>
      </p:sp>
      <p:sp>
        <p:nvSpPr>
          <p:cNvPr id="23" name="Text 21"/>
          <p:cNvSpPr/>
          <p:nvPr/>
        </p:nvSpPr>
        <p:spPr>
          <a:xfrm>
            <a:off x="1270000" y="61341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b="1" dirty="0">
                <a:solidFill>
                  <a:srgbClr val="1C19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Software Demos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270000" y="6515100"/>
            <a:ext cx="1397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Highlight interface elements at the exact moment they are mentioned in the narration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762000" y="7302500"/>
            <a:ext cx="14732000" cy="1016000"/>
          </a:xfrm>
          <a:prstGeom prst="rect">
            <a:avLst/>
          </a:prstGeom>
          <a:solidFill>
            <a:srgbClr val="C2410C">
              <a:alpha val="8235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1016000" y="7556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0"/>
                </a:moveTo>
                <a:cubicBezTo>
                  <a:pt x="188010" y="0"/>
                  <a:pt x="197386" y="5626"/>
                  <a:pt x="202248" y="14585"/>
                </a:cubicBezTo>
                <a:lnTo>
                  <a:pt x="352266" y="292398"/>
                </a:lnTo>
                <a:cubicBezTo>
                  <a:pt x="356920" y="301010"/>
                  <a:pt x="356711" y="311428"/>
                  <a:pt x="351711" y="319832"/>
                </a:cubicBezTo>
                <a:cubicBezTo>
                  <a:pt x="346710" y="328235"/>
                  <a:pt x="337612" y="333375"/>
                  <a:pt x="327819" y="333375"/>
                </a:cubicBezTo>
                <a:lnTo>
                  <a:pt x="27781" y="333375"/>
                </a:lnTo>
                <a:cubicBezTo>
                  <a:pt x="17988" y="333375"/>
                  <a:pt x="8959" y="328235"/>
                  <a:pt x="3889" y="319832"/>
                </a:cubicBezTo>
                <a:cubicBezTo>
                  <a:pt x="-1181" y="311428"/>
                  <a:pt x="-1320" y="301010"/>
                  <a:pt x="3334" y="292398"/>
                </a:cubicBezTo>
                <a:lnTo>
                  <a:pt x="153353" y="14585"/>
                </a:lnTo>
                <a:cubicBezTo>
                  <a:pt x="158214" y="5626"/>
                  <a:pt x="167590" y="0"/>
                  <a:pt x="177800" y="0"/>
                </a:cubicBezTo>
                <a:close/>
                <a:moveTo>
                  <a:pt x="177800" y="116681"/>
                </a:moveTo>
                <a:cubicBezTo>
                  <a:pt x="168563" y="116681"/>
                  <a:pt x="161131" y="124113"/>
                  <a:pt x="161131" y="133350"/>
                </a:cubicBezTo>
                <a:lnTo>
                  <a:pt x="161131" y="211138"/>
                </a:lnTo>
                <a:cubicBezTo>
                  <a:pt x="161131" y="220375"/>
                  <a:pt x="168563" y="227806"/>
                  <a:pt x="177800" y="227806"/>
                </a:cubicBezTo>
                <a:cubicBezTo>
                  <a:pt x="187037" y="227806"/>
                  <a:pt x="194469" y="220375"/>
                  <a:pt x="194469" y="211138"/>
                </a:cubicBezTo>
                <a:lnTo>
                  <a:pt x="194469" y="133350"/>
                </a:lnTo>
                <a:cubicBezTo>
                  <a:pt x="194469" y="124113"/>
                  <a:pt x="187037" y="116681"/>
                  <a:pt x="177800" y="116681"/>
                </a:cubicBezTo>
                <a:close/>
                <a:moveTo>
                  <a:pt x="196344" y="266700"/>
                </a:moveTo>
                <a:cubicBezTo>
                  <a:pt x="196766" y="259817"/>
                  <a:pt x="193333" y="253268"/>
                  <a:pt x="187432" y="249699"/>
                </a:cubicBezTo>
                <a:cubicBezTo>
                  <a:pt x="181532" y="246129"/>
                  <a:pt x="174138" y="246129"/>
                  <a:pt x="168237" y="249699"/>
                </a:cubicBezTo>
                <a:cubicBezTo>
                  <a:pt x="162336" y="253268"/>
                  <a:pt x="158904" y="259817"/>
                  <a:pt x="159325" y="266700"/>
                </a:cubicBezTo>
                <a:cubicBezTo>
                  <a:pt x="158904" y="273583"/>
                  <a:pt x="162336" y="280132"/>
                  <a:pt x="168237" y="283701"/>
                </a:cubicBezTo>
                <a:cubicBezTo>
                  <a:pt x="174138" y="287271"/>
                  <a:pt x="181532" y="287271"/>
                  <a:pt x="187432" y="283701"/>
                </a:cubicBezTo>
                <a:cubicBezTo>
                  <a:pt x="193333" y="280132"/>
                  <a:pt x="196766" y="273583"/>
                  <a:pt x="196344" y="266700"/>
                </a:cubicBezTo>
                <a:close/>
              </a:path>
            </a:pathLst>
          </a:custGeom>
          <a:solidFill>
            <a:srgbClr val="C2410C"/>
          </a:solidFill>
          <a:ln/>
        </p:spPr>
      </p:sp>
      <p:sp>
        <p:nvSpPr>
          <p:cNvPr id="27" name="Text 25"/>
          <p:cNvSpPr/>
          <p:nvPr/>
        </p:nvSpPr>
        <p:spPr>
          <a:xfrm>
            <a:off x="1524000" y="7366000"/>
            <a:ext cx="13716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Common Mistake: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Playing a silent animation first, then explaining it afterward. Learners cannot build connections between what they see and what they hear when separated in time.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4986000" y="86360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78716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30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3175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200" kern="0" dirty="0">
                <a:solidFill>
                  <a:srgbClr val="B4530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SUMMARY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62000" y="6350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B4530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Five Principles at a Glance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1206500"/>
            <a:ext cx="14732000" cy="12700"/>
          </a:xfrm>
          <a:prstGeom prst="rect">
            <a:avLst/>
          </a:prstGeom>
          <a:solidFill>
            <a:srgbClr val="E7E5E4"/>
          </a:solidFill>
          <a:ln/>
        </p:spPr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460500"/>
          <a:ext cx="14732000" cy="3937000"/>
        </p:xfrm>
        <a:graphic>
          <a:graphicData uri="http://schemas.openxmlformats.org/drawingml/2006/table">
            <a:tbl>
              <a:tblPr/>
              <a:tblGrid>
                <a:gridCol w="2651760"/>
                <a:gridCol w="4419600"/>
                <a:gridCol w="2062480"/>
                <a:gridCol w="2357120"/>
                <a:gridCol w="3241040"/>
              </a:tblGrid>
              <a:tr h="593074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Principle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530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Core Statement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530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Tests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530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Effect Size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530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Key Technique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5309"/>
                    </a:solidFill>
                  </a:tcPr>
                </a:tc>
              </a:tr>
              <a:tr h="668785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B45309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Coherence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C1917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Exclude extraneous material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C1917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23/23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C1917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0.86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C1917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Weeding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2"/>
                    </a:solidFill>
                  </a:tcPr>
                </a:tc>
              </a:tr>
              <a:tr h="668785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B45309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Signaling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C1917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Highlight organization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C1917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24/28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C1917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0.41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C1917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Visual/verbal cues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8"/>
                    </a:solidFill>
                  </a:tcPr>
                </a:tc>
              </a:tr>
              <a:tr h="668785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B45309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Redundancy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C1917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Avoid graphics+narration+text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C1917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16/16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C1917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0.86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C1917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Choose one channel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2"/>
                    </a:solidFill>
                  </a:tcPr>
                </a:tc>
              </a:tr>
              <a:tr h="668785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B45309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Spatial Contiguity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C1917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Keep words near pictures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C1917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22/22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C2410C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1.10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C1917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Integrated layout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8"/>
                    </a:solidFill>
                  </a:tcPr>
                </a:tc>
              </a:tr>
              <a:tr h="668785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B45309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Temporal Contiguity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C1917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Present simultaneously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C1917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9/9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C2410C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1.22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C1917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Synchronized timing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2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62000" y="5715000"/>
            <a:ext cx="14732000" cy="889000"/>
          </a:xfrm>
          <a:prstGeom prst="rect">
            <a:avLst/>
          </a:prstGeom>
          <a:solidFill>
            <a:srgbClr val="B45309">
              <a:alpha val="8235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1016000" y="5905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311150" y="177800"/>
                </a:moveTo>
                <a:cubicBezTo>
                  <a:pt x="311150" y="104202"/>
                  <a:pt x="251398" y="44450"/>
                  <a:pt x="177800" y="44450"/>
                </a:cubicBezTo>
                <a:cubicBezTo>
                  <a:pt x="104202" y="44450"/>
                  <a:pt x="44450" y="104202"/>
                  <a:pt x="44450" y="177800"/>
                </a:cubicBezTo>
                <a:cubicBezTo>
                  <a:pt x="44450" y="251398"/>
                  <a:pt x="104202" y="311150"/>
                  <a:pt x="177800" y="311150"/>
                </a:cubicBezTo>
                <a:cubicBezTo>
                  <a:pt x="251398" y="311150"/>
                  <a:pt x="311150" y="251398"/>
                  <a:pt x="311150" y="177800"/>
                </a:cubicBezTo>
                <a:close/>
                <a:moveTo>
                  <a:pt x="0" y="177800"/>
                </a:moveTo>
                <a:cubicBezTo>
                  <a:pt x="0" y="79670"/>
                  <a:pt x="79670" y="0"/>
                  <a:pt x="177800" y="0"/>
                </a:cubicBezTo>
                <a:cubicBezTo>
                  <a:pt x="275930" y="0"/>
                  <a:pt x="355600" y="79670"/>
                  <a:pt x="355600" y="177800"/>
                </a:cubicBezTo>
                <a:cubicBezTo>
                  <a:pt x="355600" y="275930"/>
                  <a:pt x="275930" y="355600"/>
                  <a:pt x="177800" y="355600"/>
                </a:cubicBezTo>
                <a:cubicBezTo>
                  <a:pt x="79670" y="355600"/>
                  <a:pt x="0" y="275930"/>
                  <a:pt x="0" y="177800"/>
                </a:cubicBezTo>
                <a:close/>
                <a:moveTo>
                  <a:pt x="177800" y="233363"/>
                </a:moveTo>
                <a:cubicBezTo>
                  <a:pt x="208466" y="233363"/>
                  <a:pt x="233363" y="208466"/>
                  <a:pt x="233363" y="177800"/>
                </a:cubicBezTo>
                <a:cubicBezTo>
                  <a:pt x="233363" y="147134"/>
                  <a:pt x="208466" y="122238"/>
                  <a:pt x="177800" y="122238"/>
                </a:cubicBezTo>
                <a:cubicBezTo>
                  <a:pt x="147134" y="122238"/>
                  <a:pt x="122238" y="147134"/>
                  <a:pt x="122238" y="177800"/>
                </a:cubicBezTo>
                <a:cubicBezTo>
                  <a:pt x="122238" y="208466"/>
                  <a:pt x="147134" y="233363"/>
                  <a:pt x="177800" y="233363"/>
                </a:cubicBezTo>
                <a:close/>
                <a:moveTo>
                  <a:pt x="177800" y="77788"/>
                </a:moveTo>
                <a:cubicBezTo>
                  <a:pt x="232998" y="77788"/>
                  <a:pt x="277813" y="122602"/>
                  <a:pt x="277813" y="177800"/>
                </a:cubicBezTo>
                <a:cubicBezTo>
                  <a:pt x="277813" y="232998"/>
                  <a:pt x="232998" y="277813"/>
                  <a:pt x="177800" y="277813"/>
                </a:cubicBezTo>
                <a:cubicBezTo>
                  <a:pt x="122602" y="277813"/>
                  <a:pt x="77788" y="232998"/>
                  <a:pt x="77788" y="177800"/>
                </a:cubicBezTo>
                <a:cubicBezTo>
                  <a:pt x="77788" y="122602"/>
                  <a:pt x="122602" y="77788"/>
                  <a:pt x="177800" y="77788"/>
                </a:cubicBezTo>
                <a:close/>
                <a:moveTo>
                  <a:pt x="155575" y="177800"/>
                </a:moveTo>
                <a:cubicBezTo>
                  <a:pt x="155575" y="165534"/>
                  <a:pt x="165534" y="155575"/>
                  <a:pt x="177800" y="155575"/>
                </a:cubicBezTo>
                <a:cubicBezTo>
                  <a:pt x="190066" y="155575"/>
                  <a:pt x="200025" y="165534"/>
                  <a:pt x="200025" y="177800"/>
                </a:cubicBezTo>
                <a:cubicBezTo>
                  <a:pt x="200025" y="190066"/>
                  <a:pt x="190066" y="200025"/>
                  <a:pt x="177800" y="200025"/>
                </a:cubicBezTo>
                <a:cubicBezTo>
                  <a:pt x="165534" y="200025"/>
                  <a:pt x="155575" y="190066"/>
                  <a:pt x="155575" y="177800"/>
                </a:cubicBezTo>
                <a:close/>
              </a:path>
            </a:pathLst>
          </a:custGeom>
          <a:solidFill>
            <a:srgbClr val="B45309"/>
          </a:solidFill>
          <a:ln/>
        </p:spPr>
      </p:sp>
      <p:sp>
        <p:nvSpPr>
          <p:cNvPr id="9" name="Text 6"/>
          <p:cNvSpPr/>
          <p:nvPr/>
        </p:nvSpPr>
        <p:spPr>
          <a:xfrm>
            <a:off x="1524000" y="5778500"/>
            <a:ext cx="13716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700" b="1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Shared Goal:</a:t>
            </a:r>
            <a:pPr>
              <a:lnSpc>
                <a:spcPct val="150000"/>
              </a:lnSpc>
            </a:pPr>
            <a:r>
              <a:rPr lang="en-US" sz="17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All five principles aim to reduce extraneous processing to free cognitive capacity for essential and generative learning.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762000" y="6858000"/>
            <a:ext cx="1473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B4530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■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All five principles are supported by strong, consistent experimental evidence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B4530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■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Together they form a powerful toolkit for effective multimedia design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B4530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■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They work best when applied together, not in isolation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762000" y="8255000"/>
            <a:ext cx="1016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78716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Source: Mayer, R. E. &amp; Fiorella, L. (2014). Cambridge Handbook of Multimedia Learning, Ch. 12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4986000" y="86360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78716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31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3175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200" kern="0" dirty="0">
                <a:solidFill>
                  <a:srgbClr val="B4530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SUMMARY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62000" y="6350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B4530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Key Takeaways &amp; Design Checklist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1206500"/>
            <a:ext cx="14732000" cy="12700"/>
          </a:xfrm>
          <a:prstGeom prst="rect">
            <a:avLst/>
          </a:prstGeom>
          <a:solidFill>
            <a:srgbClr val="E7E5E4"/>
          </a:solidFill>
          <a:ln/>
        </p:spPr>
      </p:sp>
      <p:sp>
        <p:nvSpPr>
          <p:cNvPr id="6" name="Text 4"/>
          <p:cNvSpPr/>
          <p:nvPr/>
        </p:nvSpPr>
        <p:spPr>
          <a:xfrm>
            <a:off x="762000" y="1397000"/>
            <a:ext cx="14732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7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five principles form a </a:t>
            </a:r>
            <a:pPr>
              <a:lnSpc>
                <a:spcPct val="160000"/>
              </a:lnSpc>
            </a:pPr>
            <a:r>
              <a:rPr lang="en-US" sz="1700" b="1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cohesive framework</a:t>
            </a:r>
            <a:pPr>
              <a:lnSpc>
                <a:spcPct val="160000"/>
              </a:lnSpc>
            </a:pPr>
            <a:r>
              <a:rPr lang="en-US" sz="17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for reducing extraneous processing in multimedia learning. Apply this checklist to every design: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62000" y="2032000"/>
            <a:ext cx="7048500" cy="1079500"/>
          </a:xfrm>
          <a:prstGeom prst="rect">
            <a:avLst/>
          </a:prstGeom>
          <a:solidFill>
            <a:srgbClr val="F5F0E8"/>
          </a:solidFill>
          <a:ln/>
        </p:spPr>
      </p:sp>
      <p:sp>
        <p:nvSpPr>
          <p:cNvPr id="8" name="Shape 6"/>
          <p:cNvSpPr/>
          <p:nvPr/>
        </p:nvSpPr>
        <p:spPr>
          <a:xfrm>
            <a:off x="990600" y="2286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33350" y="177800"/>
                </a:moveTo>
                <a:lnTo>
                  <a:pt x="105916" y="205234"/>
                </a:lnTo>
                <a:cubicBezTo>
                  <a:pt x="97165" y="201831"/>
                  <a:pt x="87719" y="200025"/>
                  <a:pt x="77788" y="200025"/>
                </a:cubicBezTo>
                <a:cubicBezTo>
                  <a:pt x="34796" y="200025"/>
                  <a:pt x="0" y="234821"/>
                  <a:pt x="0" y="277813"/>
                </a:cubicBezTo>
                <a:cubicBezTo>
                  <a:pt x="0" y="320804"/>
                  <a:pt x="34796" y="355600"/>
                  <a:pt x="77788" y="355600"/>
                </a:cubicBezTo>
                <a:cubicBezTo>
                  <a:pt x="120779" y="355600"/>
                  <a:pt x="155575" y="320804"/>
                  <a:pt x="155575" y="277813"/>
                </a:cubicBezTo>
                <a:cubicBezTo>
                  <a:pt x="155575" y="267881"/>
                  <a:pt x="153700" y="258435"/>
                  <a:pt x="150366" y="249684"/>
                </a:cubicBezTo>
                <a:lnTo>
                  <a:pt x="346710" y="53340"/>
                </a:lnTo>
                <a:cubicBezTo>
                  <a:pt x="351641" y="48409"/>
                  <a:pt x="351641" y="40491"/>
                  <a:pt x="346710" y="35560"/>
                </a:cubicBezTo>
                <a:cubicBezTo>
                  <a:pt x="327055" y="15905"/>
                  <a:pt x="295245" y="15905"/>
                  <a:pt x="275590" y="35560"/>
                </a:cubicBezTo>
                <a:lnTo>
                  <a:pt x="177800" y="133350"/>
                </a:lnTo>
                <a:lnTo>
                  <a:pt x="150366" y="105916"/>
                </a:lnTo>
                <a:cubicBezTo>
                  <a:pt x="153769" y="97165"/>
                  <a:pt x="155575" y="87719"/>
                  <a:pt x="155575" y="77788"/>
                </a:cubicBezTo>
                <a:cubicBezTo>
                  <a:pt x="155575" y="34796"/>
                  <a:pt x="120779" y="0"/>
                  <a:pt x="77788" y="0"/>
                </a:cubicBezTo>
                <a:cubicBezTo>
                  <a:pt x="34796" y="0"/>
                  <a:pt x="0" y="34796"/>
                  <a:pt x="0" y="77788"/>
                </a:cubicBezTo>
                <a:cubicBezTo>
                  <a:pt x="0" y="120779"/>
                  <a:pt x="34796" y="155575"/>
                  <a:pt x="77788" y="155575"/>
                </a:cubicBezTo>
                <a:cubicBezTo>
                  <a:pt x="87719" y="155575"/>
                  <a:pt x="97165" y="153700"/>
                  <a:pt x="105916" y="150366"/>
                </a:cubicBezTo>
                <a:lnTo>
                  <a:pt x="133350" y="177800"/>
                </a:lnTo>
                <a:close/>
                <a:moveTo>
                  <a:pt x="201345" y="245795"/>
                </a:moveTo>
                <a:lnTo>
                  <a:pt x="275590" y="320040"/>
                </a:lnTo>
                <a:cubicBezTo>
                  <a:pt x="295245" y="339695"/>
                  <a:pt x="327055" y="339695"/>
                  <a:pt x="346710" y="320040"/>
                </a:cubicBezTo>
                <a:cubicBezTo>
                  <a:pt x="351641" y="315109"/>
                  <a:pt x="351641" y="307191"/>
                  <a:pt x="346710" y="302260"/>
                </a:cubicBezTo>
                <a:lnTo>
                  <a:pt x="245795" y="201345"/>
                </a:lnTo>
                <a:lnTo>
                  <a:pt x="201345" y="245795"/>
                </a:lnTo>
                <a:close/>
                <a:moveTo>
                  <a:pt x="44450" y="77788"/>
                </a:moveTo>
                <a:cubicBezTo>
                  <a:pt x="44450" y="59388"/>
                  <a:pt x="59388" y="44450"/>
                  <a:pt x="77787" y="44450"/>
                </a:cubicBezTo>
                <a:cubicBezTo>
                  <a:pt x="96187" y="44450"/>
                  <a:pt x="111125" y="59388"/>
                  <a:pt x="111125" y="77787"/>
                </a:cubicBezTo>
                <a:cubicBezTo>
                  <a:pt x="111125" y="96187"/>
                  <a:pt x="96187" y="111125"/>
                  <a:pt x="77788" y="111125"/>
                </a:cubicBezTo>
                <a:cubicBezTo>
                  <a:pt x="59388" y="111125"/>
                  <a:pt x="44450" y="96187"/>
                  <a:pt x="44450" y="77788"/>
                </a:cubicBezTo>
                <a:close/>
                <a:moveTo>
                  <a:pt x="77788" y="244475"/>
                </a:moveTo>
                <a:cubicBezTo>
                  <a:pt x="96187" y="244475"/>
                  <a:pt x="111125" y="259413"/>
                  <a:pt x="111125" y="277813"/>
                </a:cubicBezTo>
                <a:cubicBezTo>
                  <a:pt x="111125" y="296212"/>
                  <a:pt x="96187" y="311150"/>
                  <a:pt x="77788" y="311150"/>
                </a:cubicBezTo>
                <a:cubicBezTo>
                  <a:pt x="59388" y="311150"/>
                  <a:pt x="44450" y="296212"/>
                  <a:pt x="44450" y="277813"/>
                </a:cubicBezTo>
                <a:cubicBezTo>
                  <a:pt x="44450" y="259413"/>
                  <a:pt x="59388" y="244475"/>
                  <a:pt x="77787" y="244475"/>
                </a:cubicBezTo>
                <a:close/>
              </a:path>
            </a:pathLst>
          </a:custGeom>
          <a:solidFill>
            <a:srgbClr val="B45309"/>
          </a:solidFill>
          <a:ln/>
        </p:spPr>
      </p:sp>
      <p:sp>
        <p:nvSpPr>
          <p:cNvPr id="9" name="Text 7"/>
          <p:cNvSpPr/>
          <p:nvPr/>
        </p:nvSpPr>
        <p:spPr>
          <a:xfrm>
            <a:off x="1473200" y="20955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b="1" dirty="0">
                <a:solidFill>
                  <a:srgbClr val="B4530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Coherence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73200" y="2438400"/>
            <a:ext cx="6096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Have you removed all extraneous words, images, and sounds?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064500" y="2032000"/>
            <a:ext cx="7429500" cy="1079500"/>
          </a:xfrm>
          <a:prstGeom prst="rect">
            <a:avLst/>
          </a:prstGeom>
          <a:solidFill>
            <a:srgbClr val="F5F0E8"/>
          </a:solidFill>
          <a:ln/>
        </p:spPr>
      </p:sp>
      <p:sp>
        <p:nvSpPr>
          <p:cNvPr id="12" name="Shape 10"/>
          <p:cNvSpPr/>
          <p:nvPr/>
        </p:nvSpPr>
        <p:spPr>
          <a:xfrm>
            <a:off x="8293100" y="2286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8078" y="0"/>
                </a:moveTo>
                <a:cubicBezTo>
                  <a:pt x="165785" y="0"/>
                  <a:pt x="155853" y="9932"/>
                  <a:pt x="155853" y="22225"/>
                </a:cubicBezTo>
                <a:lnTo>
                  <a:pt x="155853" y="44450"/>
                </a:lnTo>
                <a:lnTo>
                  <a:pt x="44728" y="44450"/>
                </a:lnTo>
                <a:cubicBezTo>
                  <a:pt x="32435" y="44450"/>
                  <a:pt x="22503" y="54382"/>
                  <a:pt x="22503" y="66675"/>
                </a:cubicBezTo>
                <a:lnTo>
                  <a:pt x="22503" y="111125"/>
                </a:lnTo>
                <a:cubicBezTo>
                  <a:pt x="22503" y="123418"/>
                  <a:pt x="32435" y="133350"/>
                  <a:pt x="44728" y="133350"/>
                </a:cubicBezTo>
                <a:lnTo>
                  <a:pt x="155853" y="133350"/>
                </a:lnTo>
                <a:lnTo>
                  <a:pt x="155853" y="177800"/>
                </a:lnTo>
                <a:lnTo>
                  <a:pt x="49312" y="177800"/>
                </a:lnTo>
                <a:cubicBezTo>
                  <a:pt x="46395" y="177800"/>
                  <a:pt x="43547" y="178981"/>
                  <a:pt x="41464" y="181064"/>
                </a:cubicBezTo>
                <a:lnTo>
                  <a:pt x="8126" y="214402"/>
                </a:lnTo>
                <a:cubicBezTo>
                  <a:pt x="3820" y="218708"/>
                  <a:pt x="3820" y="225792"/>
                  <a:pt x="8126" y="230098"/>
                </a:cubicBezTo>
                <a:lnTo>
                  <a:pt x="41464" y="263436"/>
                </a:lnTo>
                <a:cubicBezTo>
                  <a:pt x="43547" y="265519"/>
                  <a:pt x="46395" y="266700"/>
                  <a:pt x="49312" y="266700"/>
                </a:cubicBezTo>
                <a:lnTo>
                  <a:pt x="155853" y="266700"/>
                </a:lnTo>
                <a:lnTo>
                  <a:pt x="155853" y="333375"/>
                </a:lnTo>
                <a:cubicBezTo>
                  <a:pt x="155853" y="345668"/>
                  <a:pt x="165785" y="355600"/>
                  <a:pt x="178078" y="355600"/>
                </a:cubicBezTo>
                <a:cubicBezTo>
                  <a:pt x="190371" y="355600"/>
                  <a:pt x="200303" y="345668"/>
                  <a:pt x="200303" y="333375"/>
                </a:cubicBezTo>
                <a:lnTo>
                  <a:pt x="200303" y="266700"/>
                </a:lnTo>
                <a:lnTo>
                  <a:pt x="311428" y="266700"/>
                </a:lnTo>
                <a:cubicBezTo>
                  <a:pt x="323721" y="266700"/>
                  <a:pt x="333653" y="256768"/>
                  <a:pt x="333653" y="244475"/>
                </a:cubicBezTo>
                <a:lnTo>
                  <a:pt x="333653" y="200025"/>
                </a:lnTo>
                <a:cubicBezTo>
                  <a:pt x="333653" y="187732"/>
                  <a:pt x="323721" y="177800"/>
                  <a:pt x="311428" y="177800"/>
                </a:cubicBezTo>
                <a:lnTo>
                  <a:pt x="200303" y="177800"/>
                </a:lnTo>
                <a:lnTo>
                  <a:pt x="200303" y="133350"/>
                </a:lnTo>
                <a:lnTo>
                  <a:pt x="306844" y="133350"/>
                </a:lnTo>
                <a:cubicBezTo>
                  <a:pt x="309761" y="133350"/>
                  <a:pt x="312609" y="132169"/>
                  <a:pt x="314692" y="130086"/>
                </a:cubicBezTo>
                <a:lnTo>
                  <a:pt x="348030" y="96748"/>
                </a:lnTo>
                <a:cubicBezTo>
                  <a:pt x="352336" y="92442"/>
                  <a:pt x="352336" y="85358"/>
                  <a:pt x="348030" y="81052"/>
                </a:cubicBezTo>
                <a:lnTo>
                  <a:pt x="314692" y="47714"/>
                </a:lnTo>
                <a:cubicBezTo>
                  <a:pt x="312609" y="45631"/>
                  <a:pt x="309761" y="44450"/>
                  <a:pt x="306844" y="44450"/>
                </a:cubicBezTo>
                <a:lnTo>
                  <a:pt x="200303" y="44450"/>
                </a:lnTo>
                <a:lnTo>
                  <a:pt x="200303" y="22225"/>
                </a:lnTo>
                <a:cubicBezTo>
                  <a:pt x="200303" y="9932"/>
                  <a:pt x="190371" y="0"/>
                  <a:pt x="178078" y="0"/>
                </a:cubicBezTo>
                <a:close/>
              </a:path>
            </a:pathLst>
          </a:custGeom>
          <a:solidFill>
            <a:srgbClr val="B45309"/>
          </a:solidFill>
          <a:ln/>
        </p:spPr>
      </p:sp>
      <p:sp>
        <p:nvSpPr>
          <p:cNvPr id="13" name="Text 11"/>
          <p:cNvSpPr/>
          <p:nvPr/>
        </p:nvSpPr>
        <p:spPr>
          <a:xfrm>
            <a:off x="8775700" y="20955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b="1" dirty="0">
                <a:solidFill>
                  <a:srgbClr val="B4530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Signaling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775700" y="2438400"/>
            <a:ext cx="6477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Have you added cues to highlight important information and structure?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762000" y="3302000"/>
            <a:ext cx="7048500" cy="1079500"/>
          </a:xfrm>
          <a:prstGeom prst="rect">
            <a:avLst/>
          </a:prstGeom>
          <a:solidFill>
            <a:srgbClr val="F5F0E8"/>
          </a:solidFill>
          <a:ln/>
        </p:spPr>
      </p:sp>
      <p:sp>
        <p:nvSpPr>
          <p:cNvPr id="16" name="Shape 14"/>
          <p:cNvSpPr/>
          <p:nvPr/>
        </p:nvSpPr>
        <p:spPr>
          <a:xfrm>
            <a:off x="990600" y="3556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263644" y="208"/>
                </a:moveTo>
                <a:cubicBezTo>
                  <a:pt x="257463" y="1042"/>
                  <a:pt x="251698" y="4514"/>
                  <a:pt x="248087" y="10001"/>
                </a:cubicBezTo>
                <a:cubicBezTo>
                  <a:pt x="243364" y="17224"/>
                  <a:pt x="243225" y="26739"/>
                  <a:pt x="247809" y="34032"/>
                </a:cubicBezTo>
                <a:cubicBezTo>
                  <a:pt x="251698" y="40213"/>
                  <a:pt x="258574" y="42853"/>
                  <a:pt x="264339" y="46881"/>
                </a:cubicBezTo>
                <a:cubicBezTo>
                  <a:pt x="269548" y="50492"/>
                  <a:pt x="276562" y="56049"/>
                  <a:pt x="283577" y="63689"/>
                </a:cubicBezTo>
                <a:cubicBezTo>
                  <a:pt x="297468" y="78760"/>
                  <a:pt x="311011" y="101402"/>
                  <a:pt x="311011" y="133350"/>
                </a:cubicBezTo>
                <a:cubicBezTo>
                  <a:pt x="311011" y="145643"/>
                  <a:pt x="320943" y="155575"/>
                  <a:pt x="333236" y="155575"/>
                </a:cubicBezTo>
                <a:cubicBezTo>
                  <a:pt x="345529" y="155575"/>
                  <a:pt x="355461" y="145643"/>
                  <a:pt x="355461" y="133350"/>
                </a:cubicBezTo>
                <a:cubicBezTo>
                  <a:pt x="355461" y="87511"/>
                  <a:pt x="335667" y="54590"/>
                  <a:pt x="316220" y="33546"/>
                </a:cubicBezTo>
                <a:cubicBezTo>
                  <a:pt x="306566" y="23058"/>
                  <a:pt x="296912" y="15419"/>
                  <a:pt x="289620" y="10418"/>
                </a:cubicBezTo>
                <a:cubicBezTo>
                  <a:pt x="281980" y="5140"/>
                  <a:pt x="273298" y="-1111"/>
                  <a:pt x="263505" y="208"/>
                </a:cubicBezTo>
                <a:close/>
                <a:moveTo>
                  <a:pt x="166688" y="88900"/>
                </a:moveTo>
                <a:cubicBezTo>
                  <a:pt x="126683" y="88900"/>
                  <a:pt x="93692" y="119182"/>
                  <a:pt x="89386" y="158006"/>
                </a:cubicBezTo>
                <a:cubicBezTo>
                  <a:pt x="88067" y="170230"/>
                  <a:pt x="77024" y="178981"/>
                  <a:pt x="64869" y="177661"/>
                </a:cubicBezTo>
                <a:cubicBezTo>
                  <a:pt x="52715" y="176341"/>
                  <a:pt x="43894" y="165298"/>
                  <a:pt x="45214" y="153144"/>
                </a:cubicBezTo>
                <a:cubicBezTo>
                  <a:pt x="51951" y="92025"/>
                  <a:pt x="103763" y="44450"/>
                  <a:pt x="166688" y="44450"/>
                </a:cubicBezTo>
                <a:cubicBezTo>
                  <a:pt x="234196" y="44450"/>
                  <a:pt x="288925" y="99179"/>
                  <a:pt x="288925" y="166688"/>
                </a:cubicBezTo>
                <a:cubicBezTo>
                  <a:pt x="288925" y="198636"/>
                  <a:pt x="276632" y="227737"/>
                  <a:pt x="256560" y="249545"/>
                </a:cubicBezTo>
                <a:cubicBezTo>
                  <a:pt x="248225" y="258574"/>
                  <a:pt x="244475" y="266769"/>
                  <a:pt x="244475" y="273645"/>
                </a:cubicBezTo>
                <a:lnTo>
                  <a:pt x="244475" y="277882"/>
                </a:lnTo>
                <a:cubicBezTo>
                  <a:pt x="244475" y="320873"/>
                  <a:pt x="209679" y="355669"/>
                  <a:pt x="166688" y="355669"/>
                </a:cubicBezTo>
                <a:cubicBezTo>
                  <a:pt x="154394" y="355669"/>
                  <a:pt x="144463" y="345738"/>
                  <a:pt x="144463" y="333444"/>
                </a:cubicBezTo>
                <a:cubicBezTo>
                  <a:pt x="144463" y="321151"/>
                  <a:pt x="154394" y="311219"/>
                  <a:pt x="166688" y="311219"/>
                </a:cubicBezTo>
                <a:cubicBezTo>
                  <a:pt x="185093" y="311219"/>
                  <a:pt x="200025" y="296287"/>
                  <a:pt x="200025" y="277882"/>
                </a:cubicBezTo>
                <a:lnTo>
                  <a:pt x="200025" y="273645"/>
                </a:lnTo>
                <a:cubicBezTo>
                  <a:pt x="200025" y="250795"/>
                  <a:pt x="212110" y="232251"/>
                  <a:pt x="223917" y="219472"/>
                </a:cubicBezTo>
                <a:cubicBezTo>
                  <a:pt x="236696" y="205581"/>
                  <a:pt x="244475" y="187107"/>
                  <a:pt x="244475" y="166757"/>
                </a:cubicBezTo>
                <a:cubicBezTo>
                  <a:pt x="244475" y="123765"/>
                  <a:pt x="209679" y="88969"/>
                  <a:pt x="166688" y="88969"/>
                </a:cubicBezTo>
                <a:close/>
                <a:moveTo>
                  <a:pt x="0" y="333375"/>
                </a:moveTo>
                <a:cubicBezTo>
                  <a:pt x="0" y="321109"/>
                  <a:pt x="9959" y="311150"/>
                  <a:pt x="22225" y="311150"/>
                </a:cubicBezTo>
                <a:cubicBezTo>
                  <a:pt x="34491" y="311150"/>
                  <a:pt x="44450" y="321109"/>
                  <a:pt x="44450" y="333375"/>
                </a:cubicBezTo>
                <a:cubicBezTo>
                  <a:pt x="44450" y="345641"/>
                  <a:pt x="34491" y="355600"/>
                  <a:pt x="22225" y="355600"/>
                </a:cubicBezTo>
                <a:cubicBezTo>
                  <a:pt x="9959" y="355600"/>
                  <a:pt x="0" y="345641"/>
                  <a:pt x="0" y="333375"/>
                </a:cubicBezTo>
                <a:close/>
                <a:moveTo>
                  <a:pt x="111125" y="266700"/>
                </a:moveTo>
                <a:cubicBezTo>
                  <a:pt x="123391" y="266700"/>
                  <a:pt x="133350" y="256741"/>
                  <a:pt x="133350" y="244475"/>
                </a:cubicBezTo>
                <a:cubicBezTo>
                  <a:pt x="133350" y="232209"/>
                  <a:pt x="123391" y="222250"/>
                  <a:pt x="111125" y="222250"/>
                </a:cubicBezTo>
                <a:cubicBezTo>
                  <a:pt x="98859" y="222250"/>
                  <a:pt x="88900" y="232209"/>
                  <a:pt x="88900" y="244475"/>
                </a:cubicBezTo>
                <a:cubicBezTo>
                  <a:pt x="88900" y="256741"/>
                  <a:pt x="98859" y="266700"/>
                  <a:pt x="111125" y="266700"/>
                </a:cubicBezTo>
                <a:close/>
                <a:moveTo>
                  <a:pt x="60146" y="251004"/>
                </a:moveTo>
                <a:cubicBezTo>
                  <a:pt x="51465" y="242322"/>
                  <a:pt x="37366" y="242322"/>
                  <a:pt x="28684" y="251004"/>
                </a:cubicBezTo>
                <a:cubicBezTo>
                  <a:pt x="20003" y="259685"/>
                  <a:pt x="20003" y="273784"/>
                  <a:pt x="28684" y="282466"/>
                </a:cubicBezTo>
                <a:lnTo>
                  <a:pt x="73134" y="326916"/>
                </a:lnTo>
                <a:cubicBezTo>
                  <a:pt x="81816" y="335598"/>
                  <a:pt x="95915" y="335598"/>
                  <a:pt x="104596" y="326916"/>
                </a:cubicBezTo>
                <a:cubicBezTo>
                  <a:pt x="113278" y="318234"/>
                  <a:pt x="113278" y="304135"/>
                  <a:pt x="104596" y="295454"/>
                </a:cubicBezTo>
                <a:lnTo>
                  <a:pt x="60146" y="251004"/>
                </a:lnTo>
                <a:close/>
                <a:moveTo>
                  <a:pt x="166688" y="144463"/>
                </a:moveTo>
                <a:cubicBezTo>
                  <a:pt x="154394" y="144463"/>
                  <a:pt x="144463" y="154394"/>
                  <a:pt x="144463" y="166688"/>
                </a:cubicBezTo>
                <a:cubicBezTo>
                  <a:pt x="144463" y="175925"/>
                  <a:pt x="137031" y="183356"/>
                  <a:pt x="127794" y="183356"/>
                </a:cubicBezTo>
                <a:cubicBezTo>
                  <a:pt x="118556" y="183356"/>
                  <a:pt x="111125" y="175925"/>
                  <a:pt x="111125" y="166688"/>
                </a:cubicBezTo>
                <a:cubicBezTo>
                  <a:pt x="111125" y="135989"/>
                  <a:pt x="135989" y="111125"/>
                  <a:pt x="166688" y="111125"/>
                </a:cubicBezTo>
                <a:cubicBezTo>
                  <a:pt x="197386" y="111125"/>
                  <a:pt x="222250" y="135989"/>
                  <a:pt x="222250" y="166688"/>
                </a:cubicBezTo>
                <a:cubicBezTo>
                  <a:pt x="222250" y="175925"/>
                  <a:pt x="214819" y="183356"/>
                  <a:pt x="205581" y="183356"/>
                </a:cubicBezTo>
                <a:cubicBezTo>
                  <a:pt x="196344" y="183356"/>
                  <a:pt x="188913" y="175925"/>
                  <a:pt x="188913" y="166688"/>
                </a:cubicBezTo>
                <a:cubicBezTo>
                  <a:pt x="188913" y="154394"/>
                  <a:pt x="178981" y="144463"/>
                  <a:pt x="166688" y="144463"/>
                </a:cubicBezTo>
                <a:close/>
              </a:path>
            </a:pathLst>
          </a:custGeom>
          <a:solidFill>
            <a:srgbClr val="B45309"/>
          </a:solidFill>
          <a:ln/>
        </p:spPr>
      </p:sp>
      <p:sp>
        <p:nvSpPr>
          <p:cNvPr id="17" name="Text 15"/>
          <p:cNvSpPr/>
          <p:nvPr/>
        </p:nvSpPr>
        <p:spPr>
          <a:xfrm>
            <a:off x="1473200" y="33655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b="1" dirty="0">
                <a:solidFill>
                  <a:srgbClr val="B4530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Redundancy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73200" y="3708400"/>
            <a:ext cx="6096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Are you using narration + graphics without redundant on-screen text?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8064500" y="3302000"/>
            <a:ext cx="7429500" cy="1079500"/>
          </a:xfrm>
          <a:prstGeom prst="rect">
            <a:avLst/>
          </a:prstGeom>
          <a:solidFill>
            <a:srgbClr val="F5F0E8"/>
          </a:solidFill>
          <a:ln/>
        </p:spPr>
      </p:sp>
      <p:sp>
        <p:nvSpPr>
          <p:cNvPr id="20" name="Shape 18"/>
          <p:cNvSpPr/>
          <p:nvPr/>
        </p:nvSpPr>
        <p:spPr>
          <a:xfrm>
            <a:off x="8270875" y="3556000"/>
            <a:ext cx="400050" cy="355600"/>
          </a:xfrm>
          <a:custGeom>
            <a:avLst/>
            <a:gdLst/>
            <a:ahLst/>
            <a:cxnLst/>
            <a:rect l="l" t="t" r="r" b="b"/>
            <a:pathLst>
              <a:path w="400050" h="355600">
                <a:moveTo>
                  <a:pt x="22225" y="82927"/>
                </a:moveTo>
                <a:cubicBezTo>
                  <a:pt x="8959" y="75287"/>
                  <a:pt x="0" y="60910"/>
                  <a:pt x="0" y="44450"/>
                </a:cubicBezTo>
                <a:cubicBezTo>
                  <a:pt x="0" y="19933"/>
                  <a:pt x="19933" y="0"/>
                  <a:pt x="44450" y="0"/>
                </a:cubicBezTo>
                <a:cubicBezTo>
                  <a:pt x="60910" y="0"/>
                  <a:pt x="75287" y="8959"/>
                  <a:pt x="82927" y="22225"/>
                </a:cubicBezTo>
                <a:lnTo>
                  <a:pt x="317054" y="22225"/>
                </a:lnTo>
                <a:cubicBezTo>
                  <a:pt x="324763" y="8959"/>
                  <a:pt x="339070" y="0"/>
                  <a:pt x="355531" y="0"/>
                </a:cubicBezTo>
                <a:cubicBezTo>
                  <a:pt x="380047" y="0"/>
                  <a:pt x="399981" y="19933"/>
                  <a:pt x="399981" y="44450"/>
                </a:cubicBezTo>
                <a:cubicBezTo>
                  <a:pt x="399981" y="60910"/>
                  <a:pt x="391021" y="75287"/>
                  <a:pt x="377756" y="82927"/>
                </a:cubicBezTo>
                <a:lnTo>
                  <a:pt x="377756" y="272604"/>
                </a:lnTo>
                <a:cubicBezTo>
                  <a:pt x="391021" y="280313"/>
                  <a:pt x="399981" y="294620"/>
                  <a:pt x="399981" y="311081"/>
                </a:cubicBezTo>
                <a:cubicBezTo>
                  <a:pt x="399981" y="335598"/>
                  <a:pt x="380047" y="355531"/>
                  <a:pt x="355531" y="355531"/>
                </a:cubicBezTo>
                <a:cubicBezTo>
                  <a:pt x="339070" y="355531"/>
                  <a:pt x="324693" y="346571"/>
                  <a:pt x="317054" y="333306"/>
                </a:cubicBezTo>
                <a:lnTo>
                  <a:pt x="82927" y="333306"/>
                </a:lnTo>
                <a:cubicBezTo>
                  <a:pt x="75218" y="346571"/>
                  <a:pt x="60910" y="355531"/>
                  <a:pt x="44450" y="355531"/>
                </a:cubicBezTo>
                <a:cubicBezTo>
                  <a:pt x="19933" y="355531"/>
                  <a:pt x="0" y="335598"/>
                  <a:pt x="0" y="311081"/>
                </a:cubicBezTo>
                <a:cubicBezTo>
                  <a:pt x="0" y="294620"/>
                  <a:pt x="8959" y="280243"/>
                  <a:pt x="22225" y="272604"/>
                </a:cubicBezTo>
                <a:lnTo>
                  <a:pt x="22225" y="82927"/>
                </a:lnTo>
                <a:close/>
                <a:moveTo>
                  <a:pt x="333375" y="82927"/>
                </a:moveTo>
                <a:cubicBezTo>
                  <a:pt x="326638" y="79038"/>
                  <a:pt x="321012" y="73412"/>
                  <a:pt x="317123" y="66675"/>
                </a:cubicBezTo>
                <a:lnTo>
                  <a:pt x="82927" y="66675"/>
                </a:lnTo>
                <a:cubicBezTo>
                  <a:pt x="79038" y="73412"/>
                  <a:pt x="73412" y="79038"/>
                  <a:pt x="66675" y="82927"/>
                </a:cubicBezTo>
                <a:lnTo>
                  <a:pt x="66675" y="272604"/>
                </a:lnTo>
                <a:cubicBezTo>
                  <a:pt x="73412" y="276493"/>
                  <a:pt x="79038" y="282119"/>
                  <a:pt x="82927" y="288856"/>
                </a:cubicBezTo>
                <a:lnTo>
                  <a:pt x="317054" y="288856"/>
                </a:lnTo>
                <a:cubicBezTo>
                  <a:pt x="320943" y="282119"/>
                  <a:pt x="326569" y="276493"/>
                  <a:pt x="333306" y="272604"/>
                </a:cubicBezTo>
                <a:lnTo>
                  <a:pt x="333306" y="82927"/>
                </a:lnTo>
                <a:close/>
                <a:moveTo>
                  <a:pt x="100013" y="122238"/>
                </a:moveTo>
                <a:cubicBezTo>
                  <a:pt x="100013" y="109944"/>
                  <a:pt x="109944" y="100013"/>
                  <a:pt x="122238" y="100013"/>
                </a:cubicBezTo>
                <a:lnTo>
                  <a:pt x="200025" y="100013"/>
                </a:lnTo>
                <a:cubicBezTo>
                  <a:pt x="212318" y="100013"/>
                  <a:pt x="222250" y="109944"/>
                  <a:pt x="222250" y="122238"/>
                </a:cubicBezTo>
                <a:lnTo>
                  <a:pt x="222250" y="166688"/>
                </a:lnTo>
                <a:cubicBezTo>
                  <a:pt x="222250" y="178981"/>
                  <a:pt x="212318" y="188913"/>
                  <a:pt x="200025" y="188913"/>
                </a:cubicBezTo>
                <a:lnTo>
                  <a:pt x="122238" y="188913"/>
                </a:lnTo>
                <a:cubicBezTo>
                  <a:pt x="109944" y="188913"/>
                  <a:pt x="100013" y="178981"/>
                  <a:pt x="100013" y="166688"/>
                </a:cubicBezTo>
                <a:lnTo>
                  <a:pt x="100013" y="122238"/>
                </a:lnTo>
                <a:close/>
                <a:moveTo>
                  <a:pt x="177800" y="222250"/>
                </a:moveTo>
                <a:lnTo>
                  <a:pt x="200025" y="222250"/>
                </a:lnTo>
                <a:cubicBezTo>
                  <a:pt x="230723" y="222250"/>
                  <a:pt x="255587" y="197386"/>
                  <a:pt x="255587" y="166688"/>
                </a:cubicBezTo>
                <a:lnTo>
                  <a:pt x="277813" y="166688"/>
                </a:lnTo>
                <a:cubicBezTo>
                  <a:pt x="290106" y="166688"/>
                  <a:pt x="300038" y="176619"/>
                  <a:pt x="300038" y="188913"/>
                </a:cubicBezTo>
                <a:lnTo>
                  <a:pt x="300038" y="233363"/>
                </a:lnTo>
                <a:cubicBezTo>
                  <a:pt x="300038" y="245656"/>
                  <a:pt x="290106" y="255587"/>
                  <a:pt x="277813" y="255587"/>
                </a:cubicBezTo>
                <a:lnTo>
                  <a:pt x="200025" y="255587"/>
                </a:lnTo>
                <a:cubicBezTo>
                  <a:pt x="187732" y="255587"/>
                  <a:pt x="177800" y="245656"/>
                  <a:pt x="177800" y="233363"/>
                </a:cubicBezTo>
                <a:lnTo>
                  <a:pt x="177800" y="222250"/>
                </a:lnTo>
                <a:close/>
              </a:path>
            </a:pathLst>
          </a:custGeom>
          <a:solidFill>
            <a:srgbClr val="B45309"/>
          </a:solidFill>
          <a:ln/>
        </p:spPr>
      </p:sp>
      <p:sp>
        <p:nvSpPr>
          <p:cNvPr id="21" name="Text 19"/>
          <p:cNvSpPr/>
          <p:nvPr/>
        </p:nvSpPr>
        <p:spPr>
          <a:xfrm>
            <a:off x="8775700" y="3365500"/>
            <a:ext cx="3175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b="1" dirty="0">
                <a:solidFill>
                  <a:srgbClr val="B4530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Spatial Contiguity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775700" y="3708400"/>
            <a:ext cx="6477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Are related words and pictures placed close together?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762000" y="4572000"/>
            <a:ext cx="7048500" cy="1079500"/>
          </a:xfrm>
          <a:prstGeom prst="rect">
            <a:avLst/>
          </a:prstGeom>
          <a:solidFill>
            <a:srgbClr val="F5F0E8"/>
          </a:solidFill>
          <a:ln/>
        </p:spPr>
      </p:sp>
      <p:sp>
        <p:nvSpPr>
          <p:cNvPr id="24" name="Shape 22"/>
          <p:cNvSpPr/>
          <p:nvPr/>
        </p:nvSpPr>
        <p:spPr>
          <a:xfrm>
            <a:off x="990600" y="4826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0"/>
                </a:moveTo>
                <a:cubicBezTo>
                  <a:pt x="275930" y="0"/>
                  <a:pt x="355600" y="79670"/>
                  <a:pt x="355600" y="177800"/>
                </a:cubicBezTo>
                <a:cubicBezTo>
                  <a:pt x="355600" y="275930"/>
                  <a:pt x="275930" y="355600"/>
                  <a:pt x="177800" y="355600"/>
                </a:cubicBezTo>
                <a:cubicBezTo>
                  <a:pt x="79670" y="355600"/>
                  <a:pt x="0" y="275930"/>
                  <a:pt x="0" y="177800"/>
                </a:cubicBezTo>
                <a:cubicBezTo>
                  <a:pt x="0" y="79670"/>
                  <a:pt x="79670" y="0"/>
                  <a:pt x="177800" y="0"/>
                </a:cubicBezTo>
                <a:close/>
                <a:moveTo>
                  <a:pt x="161131" y="83344"/>
                </a:moveTo>
                <a:lnTo>
                  <a:pt x="161131" y="177800"/>
                </a:lnTo>
                <a:cubicBezTo>
                  <a:pt x="161131" y="183356"/>
                  <a:pt x="163909" y="188565"/>
                  <a:pt x="168563" y="191691"/>
                </a:cubicBezTo>
                <a:lnTo>
                  <a:pt x="235238" y="236141"/>
                </a:lnTo>
                <a:cubicBezTo>
                  <a:pt x="242878" y="241280"/>
                  <a:pt x="253226" y="239197"/>
                  <a:pt x="258366" y="231487"/>
                </a:cubicBezTo>
                <a:cubicBezTo>
                  <a:pt x="263505" y="223778"/>
                  <a:pt x="261422" y="213499"/>
                  <a:pt x="253712" y="208359"/>
                </a:cubicBezTo>
                <a:lnTo>
                  <a:pt x="194469" y="168910"/>
                </a:lnTo>
                <a:lnTo>
                  <a:pt x="194469" y="83344"/>
                </a:lnTo>
                <a:cubicBezTo>
                  <a:pt x="194469" y="74106"/>
                  <a:pt x="187037" y="66675"/>
                  <a:pt x="177800" y="66675"/>
                </a:cubicBezTo>
                <a:cubicBezTo>
                  <a:pt x="168563" y="66675"/>
                  <a:pt x="161131" y="74106"/>
                  <a:pt x="161131" y="83344"/>
                </a:cubicBezTo>
                <a:close/>
              </a:path>
            </a:pathLst>
          </a:custGeom>
          <a:solidFill>
            <a:srgbClr val="B45309"/>
          </a:solidFill>
          <a:ln/>
        </p:spPr>
      </p:sp>
      <p:sp>
        <p:nvSpPr>
          <p:cNvPr id="25" name="Text 23"/>
          <p:cNvSpPr/>
          <p:nvPr/>
        </p:nvSpPr>
        <p:spPr>
          <a:xfrm>
            <a:off x="1473200" y="4635500"/>
            <a:ext cx="3175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b="1" dirty="0">
                <a:solidFill>
                  <a:srgbClr val="B4530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Temporal Contiguity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473200" y="4978400"/>
            <a:ext cx="6096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Are narration and visuals presented simultaneously?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762000" y="6032500"/>
            <a:ext cx="14732000" cy="1397000"/>
          </a:xfrm>
          <a:prstGeom prst="rect">
            <a:avLst/>
          </a:prstGeom>
          <a:solidFill>
            <a:srgbClr val="B45309">
              <a:alpha val="8235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1066800" y="6350000"/>
            <a:ext cx="304800" cy="406400"/>
          </a:xfrm>
          <a:custGeom>
            <a:avLst/>
            <a:gdLst/>
            <a:ahLst/>
            <a:cxnLst/>
            <a:rect l="l" t="t" r="r" b="b"/>
            <a:pathLst>
              <a:path w="304800" h="406400">
                <a:moveTo>
                  <a:pt x="232489" y="304800"/>
                </a:moveTo>
                <a:cubicBezTo>
                  <a:pt x="238284" y="287099"/>
                  <a:pt x="249872" y="271066"/>
                  <a:pt x="262969" y="257254"/>
                </a:cubicBezTo>
                <a:cubicBezTo>
                  <a:pt x="288925" y="229949"/>
                  <a:pt x="304800" y="193040"/>
                  <a:pt x="304800" y="152400"/>
                </a:cubicBezTo>
                <a:cubicBezTo>
                  <a:pt x="304800" y="68263"/>
                  <a:pt x="236537" y="0"/>
                  <a:pt x="152400" y="0"/>
                </a:cubicBezTo>
                <a:cubicBezTo>
                  <a:pt x="68262" y="0"/>
                  <a:pt x="0" y="68263"/>
                  <a:pt x="0" y="152400"/>
                </a:cubicBezTo>
                <a:cubicBezTo>
                  <a:pt x="0" y="193040"/>
                  <a:pt x="15875" y="229949"/>
                  <a:pt x="41831" y="257254"/>
                </a:cubicBezTo>
                <a:cubicBezTo>
                  <a:pt x="54928" y="271066"/>
                  <a:pt x="66596" y="287099"/>
                  <a:pt x="72311" y="304800"/>
                </a:cubicBezTo>
                <a:lnTo>
                  <a:pt x="232410" y="304800"/>
                </a:lnTo>
                <a:close/>
                <a:moveTo>
                  <a:pt x="228600" y="342900"/>
                </a:moveTo>
                <a:lnTo>
                  <a:pt x="76200" y="342900"/>
                </a:lnTo>
                <a:lnTo>
                  <a:pt x="76200" y="355600"/>
                </a:lnTo>
                <a:cubicBezTo>
                  <a:pt x="76200" y="390684"/>
                  <a:pt x="104616" y="419100"/>
                  <a:pt x="139700" y="419100"/>
                </a:cubicBezTo>
                <a:lnTo>
                  <a:pt x="165100" y="419100"/>
                </a:lnTo>
                <a:cubicBezTo>
                  <a:pt x="200184" y="419100"/>
                  <a:pt x="228600" y="390684"/>
                  <a:pt x="228600" y="355600"/>
                </a:cubicBezTo>
                <a:lnTo>
                  <a:pt x="228600" y="342900"/>
                </a:lnTo>
                <a:close/>
                <a:moveTo>
                  <a:pt x="146050" y="88900"/>
                </a:moveTo>
                <a:cubicBezTo>
                  <a:pt x="114459" y="88900"/>
                  <a:pt x="88900" y="114459"/>
                  <a:pt x="88900" y="146050"/>
                </a:cubicBezTo>
                <a:cubicBezTo>
                  <a:pt x="88900" y="156607"/>
                  <a:pt x="80407" y="165100"/>
                  <a:pt x="69850" y="165100"/>
                </a:cubicBezTo>
                <a:cubicBezTo>
                  <a:pt x="59293" y="165100"/>
                  <a:pt x="50800" y="156607"/>
                  <a:pt x="50800" y="146050"/>
                </a:cubicBezTo>
                <a:cubicBezTo>
                  <a:pt x="50800" y="93424"/>
                  <a:pt x="93424" y="50800"/>
                  <a:pt x="146050" y="50800"/>
                </a:cubicBezTo>
                <a:cubicBezTo>
                  <a:pt x="156607" y="50800"/>
                  <a:pt x="165100" y="59293"/>
                  <a:pt x="165100" y="69850"/>
                </a:cubicBezTo>
                <a:cubicBezTo>
                  <a:pt x="165100" y="80407"/>
                  <a:pt x="156607" y="88900"/>
                  <a:pt x="146050" y="88900"/>
                </a:cubicBezTo>
                <a:close/>
              </a:path>
            </a:pathLst>
          </a:custGeom>
          <a:solidFill>
            <a:srgbClr val="B45309"/>
          </a:solidFill>
          <a:ln/>
        </p:spPr>
      </p:sp>
      <p:sp>
        <p:nvSpPr>
          <p:cNvPr id="29" name="Text 27"/>
          <p:cNvSpPr/>
          <p:nvPr/>
        </p:nvSpPr>
        <p:spPr>
          <a:xfrm>
            <a:off x="1587500" y="61595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B4530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Remember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587500" y="6553200"/>
            <a:ext cx="1358900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These principles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work together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applying one without the others limits effectiveness. The ultimate goal: design multimedia that aligns with how the human mind works.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4986000" y="86360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78716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32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C19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irl5c2knzosr6/mnt/agents/output/multimedia-production-w6/images/9_Illuminating_Knowledge_a_Books_Bright.png">    </p:cNvPr>
          <p:cNvPicPr>
            <a:picLocks noChangeAspect="1"/>
          </p:cNvPicPr>
          <p:nvPr/>
        </p:nvPicPr>
        <p:blipFill>
          <a:blip r:embed="rId1"/>
          <a:srcRect l="111" r="111" t="0" b="0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1C1917">
                  <a:alpha val="25000"/>
                </a:srgbClr>
              </a:gs>
              <a:gs pos="40000">
                <a:srgbClr val="1C1917">
                  <a:alpha val="70000"/>
                </a:srgbClr>
              </a:gs>
              <a:gs pos="100000">
                <a:srgbClr val="1C1917">
                  <a:alpha val="90000"/>
                </a:srgbClr>
              </a:gs>
            </a:gsLst>
            <a:lin ang="54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6858000" y="2540000"/>
            <a:ext cx="2540000" cy="2540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5" name="Text 2"/>
          <p:cNvSpPr/>
          <p:nvPr/>
        </p:nvSpPr>
        <p:spPr>
          <a:xfrm>
            <a:off x="5588000" y="2794000"/>
            <a:ext cx="508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800" dirty="0">
                <a:solidFill>
                  <a:srgbClr val="FFFFFF">
                    <a:alpha val="18824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2413000" y="3556000"/>
            <a:ext cx="11430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60000"/>
              </a:lnSpc>
            </a:pPr>
            <a:r>
              <a:rPr lang="en-US" sz="2200" i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People learn better from multimedia messages</a:t>
            </a:r>
            <a:endParaRPr lang="en-US" sz="1600" dirty="0"/>
          </a:p>
          <a:p>
            <a:pPr algn="ctr">
              <a:lnSpc>
                <a:spcPct val="160000"/>
              </a:lnSpc>
            </a:pPr>
            <a:r>
              <a:rPr lang="en-US" sz="2200" i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when they are designed in ways that are</a:t>
            </a:r>
            <a:endParaRPr lang="en-US" sz="1600" dirty="0"/>
          </a:p>
          <a:p>
            <a:pPr algn="ctr">
              <a:lnSpc>
                <a:spcPct val="160000"/>
              </a:lnSpc>
            </a:pPr>
            <a:r>
              <a:rPr lang="en-US" sz="2200" i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consistent with how the human mind works.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318000" y="5334000"/>
            <a:ext cx="762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B4530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— Richard E. Mayer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858000" y="6096000"/>
            <a:ext cx="2540000" cy="25400"/>
          </a:xfrm>
          <a:prstGeom prst="rect">
            <a:avLst/>
          </a:prstGeom>
          <a:solidFill>
            <a:srgbClr val="FFFFFF">
              <a:alpha val="25098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4318000" y="6604000"/>
            <a:ext cx="762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50196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Multimedia Production | Week 6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3048000" y="8128000"/>
            <a:ext cx="1016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FFFFF">
                    <a:alpha val="37647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Principles &amp; Techniques for Reducing Extraneous Processing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Principles &amp; Techniques for Reducing Extraneous Processing</dc:title>
  <dc:subject>Principles &amp; Techniques for Reducing Extraneous Processing</dc:subject>
  <dc:creator>Kimi</dc:creator>
  <cp:lastModifiedBy>Kimi</cp:lastModifiedBy>
  <cp:revision>1</cp:revision>
  <dcterms:created xsi:type="dcterms:W3CDTF">2026-05-26T11:32:20Z</dcterms:created>
  <dcterms:modified xsi:type="dcterms:W3CDTF">2026-05-26T11:32:20Z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{"Label":"Principles &amp; Techniques for Reducing Extraneous Processing","ContentProducer":"001191110108MACG2KBH8F10000","ProduceID":"19e63fd1-4bb2-82bb-8000-0000f17130ac","ReservedCode1":"","ContentPropagator":"001191110108MACG2KBH8F20000","PropagateID":"19e63fd1-4bb2-82bb-8000-0000f17130ac","ReservedCode2":""}</vt:lpwstr>
  </property>
</Properties>
</file>