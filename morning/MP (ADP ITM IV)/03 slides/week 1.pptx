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eky6lt2ntf4w/mnt/agents/output/multimedia-week1/images/6_23_554_Video_Production_Technology.png">    </p:cNvPr>
          <p:cNvPicPr>
            <a:picLocks noChangeAspect="1"/>
          </p:cNvPicPr>
          <p:nvPr/>
        </p:nvPicPr>
        <p:blipFill>
          <a:blip r:embed="rId1"/>
          <a:srcRect l="10778" r="10778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4000"/>
                </a:srgbClr>
              </a:gs>
              <a:gs pos="55000">
                <a:srgbClr val="1A1A2E">
                  <a:alpha val="75000"/>
                </a:srgbClr>
              </a:gs>
              <a:gs pos="100000">
                <a:srgbClr val="1A1A2E">
                  <a:alpha val="25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2476500"/>
            <a:ext cx="1016000" cy="508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1905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400" kern="0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6000" y="2730500"/>
            <a:ext cx="889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6400" b="1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</a:t>
            </a:r>
            <a:endParaRPr lang="en-US" sz="1600" dirty="0"/>
          </a:p>
          <a:p>
            <a:pPr>
              <a:lnSpc>
                <a:spcPct val="115000"/>
              </a:lnSpc>
            </a:pPr>
            <a:r>
              <a:rPr lang="en-US" sz="6400" b="1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5016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 and Introduction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5715000"/>
            <a:ext cx="254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596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Year 2025–2026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01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600" kern="0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381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762000" cy="508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7940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1 introduces the fundamental concepts of multimedia production.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0" y="177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12000" y="1778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Overview &amp; Introduction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12000" y="2286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objectives, study scheme, multimedia concepts, hypertext, hypermedia, and related key terminology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0" y="3302000"/>
            <a:ext cx="9144000" cy="12700"/>
          </a:xfrm>
          <a:prstGeom prst="rect">
            <a:avLst/>
          </a:prstGeom>
          <a:solidFill>
            <a:srgbClr val="1A1A2E">
              <a:alpha val="8235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381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12000" y="3810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 &amp; Applications of Multimedia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12000" y="4318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evolution, benefits across industries, real-world examples, and future trends in multimedia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5334000"/>
            <a:ext cx="9144000" cy="12700"/>
          </a:xfrm>
          <a:prstGeom prst="rect">
            <a:avLst/>
          </a:prstGeom>
          <a:solidFill>
            <a:srgbClr val="1A1A2E">
              <a:alpha val="8235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0" y="7620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 slides · 2 chapters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eky6lt2ntf4w/mnt/agents/output/multimedia-week1/images/5_Understanding_the_Role_of_a_Creative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13000"/>
                </a:srgbClr>
              </a:gs>
              <a:gs pos="40000">
                <a:srgbClr val="1A1A2E">
                  <a:alpha val="63000"/>
                </a:srgbClr>
              </a:gs>
              <a:gs pos="100000">
                <a:srgbClr val="1A1A2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794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4064000"/>
            <a:ext cx="1016000" cy="508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318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OVERVIEW &amp; INTRODUCTION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5143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multimedia, hypermedia, hypertext, and related key terms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Objectives &amp; Learning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By the end of this course, students will be able to: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0955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 fundamentals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Grasp the core concepts of multimedia, hypermedia, and hypertext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317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1115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Identify components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Describe the key elements of multimedia systems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9775" y="4191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44450"/>
                </a:moveTo>
                <a:cubicBezTo>
                  <a:pt x="273645" y="44450"/>
                  <a:pt x="333375" y="104180"/>
                  <a:pt x="333375" y="177800"/>
                </a:cubicBezTo>
                <a:cubicBezTo>
                  <a:pt x="333375" y="251420"/>
                  <a:pt x="273645" y="311150"/>
                  <a:pt x="200025" y="311150"/>
                </a:cubicBezTo>
                <a:cubicBezTo>
                  <a:pt x="154742" y="311150"/>
                  <a:pt x="114667" y="288578"/>
                  <a:pt x="90567" y="253990"/>
                </a:cubicBezTo>
                <a:cubicBezTo>
                  <a:pt x="83552" y="243919"/>
                  <a:pt x="69661" y="241489"/>
                  <a:pt x="59591" y="248503"/>
                </a:cubicBezTo>
                <a:cubicBezTo>
                  <a:pt x="49520" y="255518"/>
                  <a:pt x="47089" y="269409"/>
                  <a:pt x="54104" y="279479"/>
                </a:cubicBezTo>
                <a:cubicBezTo>
                  <a:pt x="86191" y="325457"/>
                  <a:pt x="139601" y="355600"/>
                  <a:pt x="200025" y="355600"/>
                </a:cubicBezTo>
                <a:cubicBezTo>
                  <a:pt x="298232" y="355600"/>
                  <a:pt x="377825" y="276007"/>
                  <a:pt x="377825" y="177800"/>
                </a:cubicBezTo>
                <a:cubicBezTo>
                  <a:pt x="377825" y="79593"/>
                  <a:pt x="298232" y="0"/>
                  <a:pt x="200025" y="0"/>
                </a:cubicBezTo>
                <a:cubicBezTo>
                  <a:pt x="140504" y="0"/>
                  <a:pt x="87858" y="29240"/>
                  <a:pt x="55563" y="74106"/>
                </a:cubicBezTo>
                <a:lnTo>
                  <a:pt x="55563" y="55563"/>
                </a:lnTo>
                <a:cubicBezTo>
                  <a:pt x="55563" y="43269"/>
                  <a:pt x="45631" y="33337"/>
                  <a:pt x="33337" y="33337"/>
                </a:cubicBezTo>
                <a:cubicBezTo>
                  <a:pt x="21044" y="33337"/>
                  <a:pt x="11112" y="43269"/>
                  <a:pt x="11112" y="55563"/>
                </a:cubicBezTo>
                <a:lnTo>
                  <a:pt x="11112" y="133350"/>
                </a:lnTo>
                <a:cubicBezTo>
                  <a:pt x="11112" y="145643"/>
                  <a:pt x="21044" y="155575"/>
                  <a:pt x="33337" y="155575"/>
                </a:cubicBezTo>
                <a:lnTo>
                  <a:pt x="50423" y="155575"/>
                </a:lnTo>
                <a:cubicBezTo>
                  <a:pt x="50770" y="155575"/>
                  <a:pt x="51117" y="155575"/>
                  <a:pt x="51465" y="155575"/>
                </a:cubicBezTo>
                <a:lnTo>
                  <a:pt x="111194" y="155575"/>
                </a:lnTo>
                <a:cubicBezTo>
                  <a:pt x="123488" y="155575"/>
                  <a:pt x="133419" y="145643"/>
                  <a:pt x="133419" y="133350"/>
                </a:cubicBezTo>
                <a:cubicBezTo>
                  <a:pt x="133419" y="121057"/>
                  <a:pt x="123488" y="111125"/>
                  <a:pt x="111194" y="111125"/>
                </a:cubicBezTo>
                <a:lnTo>
                  <a:pt x="84594" y="111125"/>
                </a:lnTo>
                <a:cubicBezTo>
                  <a:pt x="107583" y="71259"/>
                  <a:pt x="150713" y="44450"/>
                  <a:pt x="200025" y="44450"/>
                </a:cubicBezTo>
                <a:close/>
                <a:moveTo>
                  <a:pt x="216694" y="105569"/>
                </a:moveTo>
                <a:cubicBezTo>
                  <a:pt x="216694" y="96331"/>
                  <a:pt x="209262" y="88900"/>
                  <a:pt x="200025" y="88900"/>
                </a:cubicBezTo>
                <a:cubicBezTo>
                  <a:pt x="190788" y="88900"/>
                  <a:pt x="183356" y="96331"/>
                  <a:pt x="183356" y="105569"/>
                </a:cubicBezTo>
                <a:lnTo>
                  <a:pt x="183356" y="177800"/>
                </a:lnTo>
                <a:cubicBezTo>
                  <a:pt x="183356" y="182245"/>
                  <a:pt x="185093" y="186482"/>
                  <a:pt x="188218" y="189607"/>
                </a:cubicBezTo>
                <a:lnTo>
                  <a:pt x="238224" y="239613"/>
                </a:lnTo>
                <a:cubicBezTo>
                  <a:pt x="244753" y="246142"/>
                  <a:pt x="255310" y="246142"/>
                  <a:pt x="261769" y="239613"/>
                </a:cubicBezTo>
                <a:cubicBezTo>
                  <a:pt x="268228" y="233085"/>
                  <a:pt x="268297" y="222528"/>
                  <a:pt x="261769" y="216069"/>
                </a:cubicBezTo>
                <a:lnTo>
                  <a:pt x="216624" y="170924"/>
                </a:lnTo>
                <a:lnTo>
                  <a:pt x="216624" y="105569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0" name="Text 8"/>
          <p:cNvSpPr/>
          <p:nvPr/>
        </p:nvSpPr>
        <p:spPr>
          <a:xfrm>
            <a:off x="1270000" y="41275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Explain evolution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Trace the historical development of multimedia technology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520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51435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Analyze applications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Evaluate benefits across education, business, and entertainment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9775" y="6223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82940" y="-18752"/>
                </a:moveTo>
                <a:lnTo>
                  <a:pt x="193219" y="6806"/>
                </a:lnTo>
                <a:lnTo>
                  <a:pt x="218777" y="17085"/>
                </a:lnTo>
                <a:cubicBezTo>
                  <a:pt x="220861" y="17919"/>
                  <a:pt x="222250" y="20003"/>
                  <a:pt x="222250" y="22225"/>
                </a:cubicBezTo>
                <a:cubicBezTo>
                  <a:pt x="222250" y="24448"/>
                  <a:pt x="220861" y="26531"/>
                  <a:pt x="218777" y="27365"/>
                </a:cubicBezTo>
                <a:lnTo>
                  <a:pt x="193219" y="37644"/>
                </a:lnTo>
                <a:lnTo>
                  <a:pt x="182940" y="63202"/>
                </a:lnTo>
                <a:cubicBezTo>
                  <a:pt x="182106" y="65286"/>
                  <a:pt x="180022" y="66675"/>
                  <a:pt x="177800" y="66675"/>
                </a:cubicBezTo>
                <a:cubicBezTo>
                  <a:pt x="175577" y="66675"/>
                  <a:pt x="173494" y="65286"/>
                  <a:pt x="172660" y="63202"/>
                </a:cubicBezTo>
                <a:lnTo>
                  <a:pt x="162381" y="37644"/>
                </a:lnTo>
                <a:lnTo>
                  <a:pt x="136823" y="27365"/>
                </a:lnTo>
                <a:cubicBezTo>
                  <a:pt x="134739" y="26531"/>
                  <a:pt x="133350" y="24447"/>
                  <a:pt x="133350" y="22225"/>
                </a:cubicBezTo>
                <a:cubicBezTo>
                  <a:pt x="133350" y="20003"/>
                  <a:pt x="134739" y="17919"/>
                  <a:pt x="136823" y="17085"/>
                </a:cubicBezTo>
                <a:lnTo>
                  <a:pt x="162381" y="6806"/>
                </a:lnTo>
                <a:lnTo>
                  <a:pt x="172660" y="-18752"/>
                </a:lnTo>
                <a:cubicBezTo>
                  <a:pt x="173494" y="-20836"/>
                  <a:pt x="175577" y="-22225"/>
                  <a:pt x="177800" y="-22225"/>
                </a:cubicBezTo>
                <a:cubicBezTo>
                  <a:pt x="180023" y="-22225"/>
                  <a:pt x="182106" y="-20836"/>
                  <a:pt x="182940" y="-18752"/>
                </a:cubicBezTo>
                <a:close/>
                <a:moveTo>
                  <a:pt x="76885" y="28962"/>
                </a:moveTo>
                <a:lnTo>
                  <a:pt x="91817" y="63758"/>
                </a:lnTo>
                <a:lnTo>
                  <a:pt x="126613" y="78690"/>
                </a:lnTo>
                <a:cubicBezTo>
                  <a:pt x="130711" y="80427"/>
                  <a:pt x="133350" y="84455"/>
                  <a:pt x="133350" y="88900"/>
                </a:cubicBezTo>
                <a:cubicBezTo>
                  <a:pt x="133350" y="93345"/>
                  <a:pt x="130711" y="97373"/>
                  <a:pt x="126613" y="99110"/>
                </a:cubicBezTo>
                <a:lnTo>
                  <a:pt x="91817" y="114042"/>
                </a:lnTo>
                <a:lnTo>
                  <a:pt x="76885" y="148838"/>
                </a:lnTo>
                <a:cubicBezTo>
                  <a:pt x="75148" y="152936"/>
                  <a:pt x="71120" y="155575"/>
                  <a:pt x="66675" y="155575"/>
                </a:cubicBezTo>
                <a:cubicBezTo>
                  <a:pt x="62230" y="155575"/>
                  <a:pt x="58202" y="152936"/>
                  <a:pt x="56465" y="148838"/>
                </a:cubicBezTo>
                <a:lnTo>
                  <a:pt x="41533" y="114042"/>
                </a:lnTo>
                <a:lnTo>
                  <a:pt x="6737" y="99110"/>
                </a:lnTo>
                <a:cubicBezTo>
                  <a:pt x="2639" y="97373"/>
                  <a:pt x="0" y="93345"/>
                  <a:pt x="0" y="88900"/>
                </a:cubicBezTo>
                <a:cubicBezTo>
                  <a:pt x="0" y="84455"/>
                  <a:pt x="2639" y="80427"/>
                  <a:pt x="6737" y="78690"/>
                </a:cubicBezTo>
                <a:lnTo>
                  <a:pt x="41533" y="63758"/>
                </a:lnTo>
                <a:lnTo>
                  <a:pt x="56465" y="28962"/>
                </a:lnTo>
                <a:cubicBezTo>
                  <a:pt x="58202" y="24864"/>
                  <a:pt x="62230" y="22225"/>
                  <a:pt x="66675" y="22225"/>
                </a:cubicBezTo>
                <a:cubicBezTo>
                  <a:pt x="71120" y="22225"/>
                  <a:pt x="75148" y="24864"/>
                  <a:pt x="76885" y="28962"/>
                </a:cubicBezTo>
                <a:close/>
                <a:moveTo>
                  <a:pt x="322263" y="211138"/>
                </a:moveTo>
                <a:cubicBezTo>
                  <a:pt x="326708" y="211138"/>
                  <a:pt x="330736" y="213777"/>
                  <a:pt x="332472" y="217874"/>
                </a:cubicBezTo>
                <a:lnTo>
                  <a:pt x="347405" y="252670"/>
                </a:lnTo>
                <a:lnTo>
                  <a:pt x="382201" y="267603"/>
                </a:lnTo>
                <a:cubicBezTo>
                  <a:pt x="386298" y="269339"/>
                  <a:pt x="388938" y="273368"/>
                  <a:pt x="388938" y="277813"/>
                </a:cubicBezTo>
                <a:cubicBezTo>
                  <a:pt x="388938" y="282257"/>
                  <a:pt x="386298" y="286286"/>
                  <a:pt x="382201" y="288022"/>
                </a:cubicBezTo>
                <a:lnTo>
                  <a:pt x="347405" y="302955"/>
                </a:lnTo>
                <a:lnTo>
                  <a:pt x="332472" y="337751"/>
                </a:lnTo>
                <a:cubicBezTo>
                  <a:pt x="330736" y="341848"/>
                  <a:pt x="326707" y="344488"/>
                  <a:pt x="322263" y="344488"/>
                </a:cubicBezTo>
                <a:cubicBezTo>
                  <a:pt x="317818" y="344488"/>
                  <a:pt x="313789" y="341848"/>
                  <a:pt x="312053" y="337751"/>
                </a:cubicBezTo>
                <a:lnTo>
                  <a:pt x="297120" y="302955"/>
                </a:lnTo>
                <a:lnTo>
                  <a:pt x="262324" y="288022"/>
                </a:lnTo>
                <a:cubicBezTo>
                  <a:pt x="258227" y="286286"/>
                  <a:pt x="255587" y="282257"/>
                  <a:pt x="255587" y="277813"/>
                </a:cubicBezTo>
                <a:cubicBezTo>
                  <a:pt x="255587" y="273368"/>
                  <a:pt x="258227" y="269339"/>
                  <a:pt x="262324" y="267603"/>
                </a:cubicBezTo>
                <a:lnTo>
                  <a:pt x="297120" y="252670"/>
                </a:lnTo>
                <a:lnTo>
                  <a:pt x="312053" y="217874"/>
                </a:lnTo>
                <a:cubicBezTo>
                  <a:pt x="313789" y="213777"/>
                  <a:pt x="317818" y="211138"/>
                  <a:pt x="322263" y="211138"/>
                </a:cubicBezTo>
                <a:close/>
                <a:moveTo>
                  <a:pt x="319484" y="0"/>
                </a:moveTo>
                <a:cubicBezTo>
                  <a:pt x="327124" y="0"/>
                  <a:pt x="334486" y="3056"/>
                  <a:pt x="339973" y="8473"/>
                </a:cubicBezTo>
                <a:lnTo>
                  <a:pt x="369352" y="37852"/>
                </a:lnTo>
                <a:cubicBezTo>
                  <a:pt x="374769" y="43339"/>
                  <a:pt x="377825" y="50701"/>
                  <a:pt x="377825" y="58341"/>
                </a:cubicBezTo>
                <a:cubicBezTo>
                  <a:pt x="377825" y="65980"/>
                  <a:pt x="374769" y="73343"/>
                  <a:pt x="369352" y="78829"/>
                </a:cubicBezTo>
                <a:lnTo>
                  <a:pt x="308094" y="140087"/>
                </a:lnTo>
                <a:lnTo>
                  <a:pt x="237738" y="69731"/>
                </a:lnTo>
                <a:lnTo>
                  <a:pt x="298996" y="8473"/>
                </a:lnTo>
                <a:cubicBezTo>
                  <a:pt x="304483" y="3056"/>
                  <a:pt x="311845" y="0"/>
                  <a:pt x="319484" y="0"/>
                </a:cubicBezTo>
                <a:close/>
                <a:moveTo>
                  <a:pt x="30698" y="276771"/>
                </a:moveTo>
                <a:lnTo>
                  <a:pt x="214193" y="93276"/>
                </a:lnTo>
                <a:lnTo>
                  <a:pt x="284549" y="163632"/>
                </a:lnTo>
                <a:lnTo>
                  <a:pt x="101054" y="347127"/>
                </a:lnTo>
                <a:cubicBezTo>
                  <a:pt x="95567" y="352544"/>
                  <a:pt x="88205" y="355600"/>
                  <a:pt x="80566" y="355600"/>
                </a:cubicBezTo>
                <a:cubicBezTo>
                  <a:pt x="72926" y="355600"/>
                  <a:pt x="65564" y="352544"/>
                  <a:pt x="60077" y="347127"/>
                </a:cubicBezTo>
                <a:lnTo>
                  <a:pt x="30698" y="317748"/>
                </a:lnTo>
                <a:cubicBezTo>
                  <a:pt x="25281" y="312261"/>
                  <a:pt x="22225" y="304899"/>
                  <a:pt x="22225" y="297259"/>
                </a:cubicBezTo>
                <a:cubicBezTo>
                  <a:pt x="22225" y="289620"/>
                  <a:pt x="25281" y="282257"/>
                  <a:pt x="30698" y="276771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61595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Develop skills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Build foundational multimedia production and design capabilities</a:t>
            </a:r>
            <a:endParaRPr lang="en-US" sz="1800" dirty="0"/>
          </a:p>
        </p:txBody>
      </p:sp>
      <p:pic>
        <p:nvPicPr>
          <p:cNvPr id="15" name="Image 0" descr="https://kimi-img.moonshot.cn/pub/slides/okc/reky6lt2ntf4w/mnt/agents/output/multimedia-week1/images/5_Understanding_the_Role_of_a_Creative.png">    </p:cNvPr>
          <p:cNvPicPr>
            <a:picLocks noChangeAspect="1"/>
          </p:cNvPicPr>
          <p:nvPr/>
        </p:nvPicPr>
        <p:blipFill>
          <a:blip r:embed="rId1"/>
          <a:srcRect l="20130" r="20130" t="0" b="0"/>
          <a:stretch/>
        </p:blipFill>
        <p:spPr>
          <a:xfrm>
            <a:off x="9652000" y="1397000"/>
            <a:ext cx="5842000" cy="55880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652000" y="1397000"/>
            <a:ext cx="5842000" cy="5588000"/>
          </a:xfrm>
          <a:prstGeom prst="rect">
            <a:avLst/>
          </a:prstGeom>
          <a:gradFill rotWithShape="1" flip="none">
            <a:gsLst>
              <a:gs pos="0">
                <a:srgbClr val="F5F1EB">
                  <a:alpha val="88000"/>
                </a:srgbClr>
              </a:gs>
              <a:gs pos="20000">
                <a:srgbClr val="F5F1EB">
                  <a:alpha val="0"/>
                </a:srgbClr>
              </a:gs>
              <a:gs pos="100000">
                <a:srgbClr val="F5F1EB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7" name="Shape 1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8" name="Text 15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Scheme &amp; Course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Weekly Modules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4572000" cy="762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032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W1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Overview &amp; Introduction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857500"/>
            <a:ext cx="4572000" cy="76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2921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W2–W4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Multimedia Elements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Text, Graphics, Audio, Video, Animation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746500"/>
            <a:ext cx="4572000" cy="76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3810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W5–W8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Multimedia Tools &amp; Software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Editing, authoring, and production tools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635500"/>
            <a:ext cx="4572000" cy="76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4699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W9–W12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 Principles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design, UX, and storytelling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524500"/>
            <a:ext cx="4572000" cy="76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5588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W13–W14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Project &amp; Presentation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multimedia project development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0" y="1460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Assessment Breakdown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96000" y="1968500"/>
            <a:ext cx="4572000" cy="2476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13500" y="2159000"/>
            <a:ext cx="393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Assignments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3500" y="3302000"/>
            <a:ext cx="393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20%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Mid-term Exam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3500" y="4445000"/>
            <a:ext cx="393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Project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0" y="5588000"/>
            <a:ext cx="4572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Active participation in class discussions and lab sessions is expected throughout the course.</a:t>
            </a:r>
            <a:endParaRPr lang="en-US" sz="1600" dirty="0"/>
          </a:p>
        </p:txBody>
      </p:sp>
      <p:pic>
        <p:nvPicPr>
          <p:cNvPr id="21" name="Image 0" descr="https://kimi-img.moonshot.cn/pub/slides/okc/reky6lt2ntf4w/mnt/agents/output/multimedia-week1/images/9_What_the_Workplace_Can_Learn_From.png">    </p:cNvPr>
          <p:cNvPicPr>
            <a:picLocks noChangeAspect="1"/>
          </p:cNvPicPr>
          <p:nvPr/>
        </p:nvPicPr>
        <p:blipFill>
          <a:blip r:embed="rId1"/>
          <a:srcRect l="16447" r="16447" t="0" b="0"/>
          <a:stretch/>
        </p:blipFill>
        <p:spPr>
          <a:xfrm>
            <a:off x="11176000" y="1460500"/>
            <a:ext cx="4318000" cy="48260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3" name="Text 20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Multimedia?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8382000" cy="177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494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879600"/>
            <a:ext cx="787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refers to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computer-controlled integration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multiple forms of information content — text, graphics, audio, video, and animation — where every type can be represented, stored, transmitted and processed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digitally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492500"/>
            <a:ext cx="838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term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85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"multimedia"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literally means </a:t>
            </a:r>
            <a:pPr>
              <a:lnSpc>
                <a:spcPct val="160000"/>
              </a:lnSpc>
            </a:pPr>
            <a:r>
              <a:rPr lang="en-US" sz="1800" i="1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"multiple mediums"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using text, images, audio, video, graphics and animation, all or in combination, to communicate information effectively.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0100" y="5207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9" name="Text 7"/>
          <p:cNvSpPr/>
          <p:nvPr/>
        </p:nvSpPr>
        <p:spPr>
          <a:xfrm>
            <a:off x="1206500" y="5080000"/>
            <a:ext cx="7937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medium refers to different types of data representation. Reading a newspaper (text + images) and watching TV (video + audio) are both multimedia experiences.</a:t>
            </a:r>
            <a:endParaRPr lang="en-US" sz="1800" dirty="0"/>
          </a:p>
        </p:txBody>
      </p:sp>
      <p:pic>
        <p:nvPicPr>
          <p:cNvPr id="10" name="Image 0" descr="https://kimi-img.moonshot.cn/pub/slides/okc/reky6lt2ntf4w/mnt/agents/output/multimedia-week1/images/1_1_166_117_Multimedia_Icons_Royalty.png">    </p:cNvPr>
          <p:cNvPicPr>
            <a:picLocks noChangeAspect="1"/>
          </p:cNvPicPr>
          <p:nvPr/>
        </p:nvPicPr>
        <p:blipFill>
          <a:blip r:embed="rId1"/>
          <a:srcRect l="22747" r="22747" t="0" b="0"/>
          <a:stretch/>
        </p:blipFill>
        <p:spPr>
          <a:xfrm>
            <a:off x="9652000" y="1460500"/>
            <a:ext cx="5842000" cy="431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652000" y="1460500"/>
            <a:ext cx="5842000" cy="4318000"/>
          </a:xfrm>
          <a:prstGeom prst="rect">
            <a:avLst/>
          </a:prstGeom>
          <a:gradFill rotWithShape="1" flip="none">
            <a:gsLst>
              <a:gs pos="0">
                <a:srgbClr val="F5F1EB">
                  <a:alpha val="80000"/>
                </a:srgbClr>
              </a:gs>
              <a:gs pos="15000">
                <a:srgbClr val="F5F1EB">
                  <a:alpha val="0"/>
                </a:srgbClr>
              </a:gs>
              <a:gs pos="100000">
                <a:srgbClr val="F5F1EB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2" name="Text 9"/>
          <p:cNvSpPr/>
          <p:nvPr/>
        </p:nvSpPr>
        <p:spPr>
          <a:xfrm>
            <a:off x="762000" y="6604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Perspectives on Multimedia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62000" y="7112000"/>
            <a:ext cx="3429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952500" y="7213600"/>
            <a:ext cx="304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 Student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Presentation, reporting, image editing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445000" y="7112000"/>
            <a:ext cx="3429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635500" y="7213600"/>
            <a:ext cx="304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Student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presentation, simulation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128000" y="7112000"/>
            <a:ext cx="3429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8318500" y="7213600"/>
            <a:ext cx="304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User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MMS, WhatsApp, social media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1811000" y="7112000"/>
            <a:ext cx="3683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2001500" y="7213600"/>
            <a:ext cx="330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 Vendor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Graphics adapter, sound card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2" name="Text 19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 of Multimedia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5720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752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606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6416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multiple media types into a unified, cohesive presentation experience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8000" y="1524000"/>
            <a:ext cx="45720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867400" y="17526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31750"/>
                </a:moveTo>
                <a:cubicBezTo>
                  <a:pt x="101600" y="14208"/>
                  <a:pt x="115808" y="0"/>
                  <a:pt x="133350" y="0"/>
                </a:cubicBezTo>
                <a:cubicBezTo>
                  <a:pt x="150892" y="0"/>
                  <a:pt x="165100" y="14208"/>
                  <a:pt x="165100" y="31750"/>
                </a:cubicBezTo>
                <a:lnTo>
                  <a:pt x="165100" y="149384"/>
                </a:lnTo>
                <a:cubicBezTo>
                  <a:pt x="171847" y="143351"/>
                  <a:pt x="180737" y="139700"/>
                  <a:pt x="190500" y="139700"/>
                </a:cubicBezTo>
                <a:cubicBezTo>
                  <a:pt x="206851" y="139700"/>
                  <a:pt x="220821" y="150019"/>
                  <a:pt x="226219" y="164465"/>
                </a:cubicBezTo>
                <a:cubicBezTo>
                  <a:pt x="233204" y="157083"/>
                  <a:pt x="243046" y="152400"/>
                  <a:pt x="254000" y="152400"/>
                </a:cubicBezTo>
                <a:cubicBezTo>
                  <a:pt x="274082" y="152400"/>
                  <a:pt x="290513" y="167878"/>
                  <a:pt x="292021" y="187563"/>
                </a:cubicBezTo>
                <a:cubicBezTo>
                  <a:pt x="298768" y="181451"/>
                  <a:pt x="307737" y="177800"/>
                  <a:pt x="317500" y="177800"/>
                </a:cubicBezTo>
                <a:cubicBezTo>
                  <a:pt x="338534" y="177800"/>
                  <a:pt x="355600" y="194866"/>
                  <a:pt x="355600" y="215900"/>
                </a:cubicBezTo>
                <a:lnTo>
                  <a:pt x="355600" y="304800"/>
                </a:lnTo>
                <a:cubicBezTo>
                  <a:pt x="355600" y="360918"/>
                  <a:pt x="310118" y="406400"/>
                  <a:pt x="254000" y="406400"/>
                </a:cubicBezTo>
                <a:lnTo>
                  <a:pt x="186293" y="406400"/>
                </a:lnTo>
                <a:cubicBezTo>
                  <a:pt x="182324" y="406400"/>
                  <a:pt x="178435" y="406162"/>
                  <a:pt x="174625" y="405606"/>
                </a:cubicBezTo>
                <a:cubicBezTo>
                  <a:pt x="130731" y="401161"/>
                  <a:pt x="90329" y="378619"/>
                  <a:pt x="63500" y="342900"/>
                </a:cubicBezTo>
                <a:lnTo>
                  <a:pt x="6350" y="266700"/>
                </a:lnTo>
                <a:cubicBezTo>
                  <a:pt x="-4207" y="252651"/>
                  <a:pt x="-1349" y="232807"/>
                  <a:pt x="12700" y="222250"/>
                </a:cubicBezTo>
                <a:cubicBezTo>
                  <a:pt x="26749" y="211693"/>
                  <a:pt x="46593" y="214551"/>
                  <a:pt x="57150" y="228600"/>
                </a:cubicBezTo>
                <a:lnTo>
                  <a:pt x="101600" y="287893"/>
                </a:lnTo>
                <a:lnTo>
                  <a:pt x="101600" y="31750"/>
                </a:lnTo>
                <a:close/>
                <a:moveTo>
                  <a:pt x="190500" y="241300"/>
                </a:moveTo>
                <a:cubicBezTo>
                  <a:pt x="190500" y="234315"/>
                  <a:pt x="184785" y="228600"/>
                  <a:pt x="177800" y="228600"/>
                </a:cubicBezTo>
                <a:cubicBezTo>
                  <a:pt x="170815" y="228600"/>
                  <a:pt x="165100" y="234315"/>
                  <a:pt x="165100" y="241300"/>
                </a:cubicBezTo>
                <a:lnTo>
                  <a:pt x="165100" y="317500"/>
                </a:lnTo>
                <a:cubicBezTo>
                  <a:pt x="165100" y="324485"/>
                  <a:pt x="170815" y="330200"/>
                  <a:pt x="177800" y="330200"/>
                </a:cubicBezTo>
                <a:cubicBezTo>
                  <a:pt x="184785" y="330200"/>
                  <a:pt x="190500" y="324485"/>
                  <a:pt x="190500" y="317500"/>
                </a:cubicBezTo>
                <a:lnTo>
                  <a:pt x="190500" y="241300"/>
                </a:lnTo>
                <a:close/>
                <a:moveTo>
                  <a:pt x="228600" y="228600"/>
                </a:moveTo>
                <a:cubicBezTo>
                  <a:pt x="221615" y="228600"/>
                  <a:pt x="215900" y="234315"/>
                  <a:pt x="215900" y="241300"/>
                </a:cubicBezTo>
                <a:lnTo>
                  <a:pt x="215900" y="317500"/>
                </a:lnTo>
                <a:cubicBezTo>
                  <a:pt x="215900" y="324485"/>
                  <a:pt x="221615" y="330200"/>
                  <a:pt x="228600" y="330200"/>
                </a:cubicBezTo>
                <a:cubicBezTo>
                  <a:pt x="235585" y="330200"/>
                  <a:pt x="241300" y="324485"/>
                  <a:pt x="241300" y="317500"/>
                </a:cubicBezTo>
                <a:lnTo>
                  <a:pt x="241300" y="241300"/>
                </a:lnTo>
                <a:cubicBezTo>
                  <a:pt x="241300" y="234315"/>
                  <a:pt x="235585" y="228600"/>
                  <a:pt x="228600" y="228600"/>
                </a:cubicBezTo>
                <a:close/>
                <a:moveTo>
                  <a:pt x="292100" y="241300"/>
                </a:moveTo>
                <a:cubicBezTo>
                  <a:pt x="292100" y="234315"/>
                  <a:pt x="286385" y="228600"/>
                  <a:pt x="279400" y="228600"/>
                </a:cubicBezTo>
                <a:cubicBezTo>
                  <a:pt x="272415" y="228600"/>
                  <a:pt x="266700" y="234315"/>
                  <a:pt x="266700" y="241300"/>
                </a:cubicBezTo>
                <a:lnTo>
                  <a:pt x="266700" y="317500"/>
                </a:lnTo>
                <a:cubicBezTo>
                  <a:pt x="266700" y="324485"/>
                  <a:pt x="272415" y="330200"/>
                  <a:pt x="279400" y="330200"/>
                </a:cubicBezTo>
                <a:cubicBezTo>
                  <a:pt x="286385" y="330200"/>
                  <a:pt x="292100" y="324485"/>
                  <a:pt x="292100" y="317500"/>
                </a:cubicBezTo>
                <a:lnTo>
                  <a:pt x="292100" y="241300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0" name="Text 8"/>
          <p:cNvSpPr/>
          <p:nvPr/>
        </p:nvSpPr>
        <p:spPr>
          <a:xfrm>
            <a:off x="5842000" y="22606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42000" y="26416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control what information is viewed and when it is viewed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14000" y="1524000"/>
            <a:ext cx="50800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68000" y="1752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0" y="22606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Format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0" y="2641600"/>
            <a:ext cx="457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content is stored, processed, and transmitted in digital form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937000"/>
            <a:ext cx="45720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416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0516" y="27305"/>
                </a:moveTo>
                <a:cubicBezTo>
                  <a:pt x="330041" y="23336"/>
                  <a:pt x="340916" y="25559"/>
                  <a:pt x="348218" y="32782"/>
                </a:cubicBezTo>
                <a:lnTo>
                  <a:pt x="399018" y="83582"/>
                </a:lnTo>
                <a:cubicBezTo>
                  <a:pt x="403781" y="88344"/>
                  <a:pt x="406479" y="94774"/>
                  <a:pt x="406479" y="101521"/>
                </a:cubicBezTo>
                <a:cubicBezTo>
                  <a:pt x="406479" y="108268"/>
                  <a:pt x="403781" y="114697"/>
                  <a:pt x="399018" y="119459"/>
                </a:cubicBezTo>
                <a:lnTo>
                  <a:pt x="348218" y="170259"/>
                </a:lnTo>
                <a:cubicBezTo>
                  <a:pt x="340916" y="177562"/>
                  <a:pt x="330041" y="179705"/>
                  <a:pt x="320516" y="175736"/>
                </a:cubicBezTo>
                <a:cubicBezTo>
                  <a:pt x="310991" y="171768"/>
                  <a:pt x="304800" y="162639"/>
                  <a:pt x="304800" y="152400"/>
                </a:cubicBezTo>
                <a:lnTo>
                  <a:pt x="304800" y="127000"/>
                </a:lnTo>
                <a:lnTo>
                  <a:pt x="279400" y="127000"/>
                </a:lnTo>
                <a:cubicBezTo>
                  <a:pt x="271383" y="127000"/>
                  <a:pt x="263843" y="130731"/>
                  <a:pt x="259080" y="137160"/>
                </a:cubicBezTo>
                <a:lnTo>
                  <a:pt x="233362" y="171450"/>
                </a:lnTo>
                <a:lnTo>
                  <a:pt x="201613" y="129143"/>
                </a:lnTo>
                <a:lnTo>
                  <a:pt x="218440" y="106680"/>
                </a:lnTo>
                <a:cubicBezTo>
                  <a:pt x="232807" y="87471"/>
                  <a:pt x="255429" y="76200"/>
                  <a:pt x="279400" y="76200"/>
                </a:cubicBezTo>
                <a:lnTo>
                  <a:pt x="304800" y="76200"/>
                </a:lnTo>
                <a:lnTo>
                  <a:pt x="304800" y="50800"/>
                </a:lnTo>
                <a:cubicBezTo>
                  <a:pt x="304800" y="40561"/>
                  <a:pt x="310991" y="31274"/>
                  <a:pt x="320516" y="27305"/>
                </a:cubicBezTo>
                <a:close/>
                <a:moveTo>
                  <a:pt x="122238" y="234950"/>
                </a:moveTo>
                <a:lnTo>
                  <a:pt x="153988" y="277257"/>
                </a:lnTo>
                <a:lnTo>
                  <a:pt x="137160" y="299720"/>
                </a:lnTo>
                <a:cubicBezTo>
                  <a:pt x="122793" y="318929"/>
                  <a:pt x="100171" y="330200"/>
                  <a:pt x="76200" y="330200"/>
                </a:cubicBezTo>
                <a:lnTo>
                  <a:pt x="25400" y="330200"/>
                </a:lnTo>
                <a:cubicBezTo>
                  <a:pt x="11351" y="330200"/>
                  <a:pt x="0" y="318849"/>
                  <a:pt x="0" y="304800"/>
                </a:cubicBezTo>
                <a:cubicBezTo>
                  <a:pt x="0" y="290751"/>
                  <a:pt x="11351" y="279400"/>
                  <a:pt x="25400" y="279400"/>
                </a:cubicBezTo>
                <a:lnTo>
                  <a:pt x="76200" y="279400"/>
                </a:lnTo>
                <a:cubicBezTo>
                  <a:pt x="84217" y="279400"/>
                  <a:pt x="91757" y="275669"/>
                  <a:pt x="96520" y="269240"/>
                </a:cubicBezTo>
                <a:lnTo>
                  <a:pt x="122238" y="234950"/>
                </a:lnTo>
                <a:close/>
                <a:moveTo>
                  <a:pt x="348139" y="373539"/>
                </a:moveTo>
                <a:cubicBezTo>
                  <a:pt x="340836" y="380841"/>
                  <a:pt x="329962" y="382984"/>
                  <a:pt x="320437" y="379016"/>
                </a:cubicBezTo>
                <a:cubicBezTo>
                  <a:pt x="310912" y="375047"/>
                  <a:pt x="304800" y="365839"/>
                  <a:pt x="304800" y="355600"/>
                </a:cubicBezTo>
                <a:lnTo>
                  <a:pt x="304800" y="330200"/>
                </a:lnTo>
                <a:lnTo>
                  <a:pt x="279400" y="330200"/>
                </a:lnTo>
                <a:cubicBezTo>
                  <a:pt x="255429" y="330200"/>
                  <a:pt x="232807" y="318929"/>
                  <a:pt x="218440" y="299720"/>
                </a:cubicBezTo>
                <a:lnTo>
                  <a:pt x="96520" y="137160"/>
                </a:lnTo>
                <a:cubicBezTo>
                  <a:pt x="91757" y="130731"/>
                  <a:pt x="84217" y="127000"/>
                  <a:pt x="76200" y="127000"/>
                </a:cubicBez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76200" y="76200"/>
                </a:lnTo>
                <a:cubicBezTo>
                  <a:pt x="100171" y="76200"/>
                  <a:pt x="122793" y="87471"/>
                  <a:pt x="137160" y="106680"/>
                </a:cubicBezTo>
                <a:lnTo>
                  <a:pt x="259080" y="269240"/>
                </a:lnTo>
                <a:cubicBezTo>
                  <a:pt x="263843" y="275669"/>
                  <a:pt x="271383" y="279400"/>
                  <a:pt x="279400" y="279400"/>
                </a:cubicBezTo>
                <a:lnTo>
                  <a:pt x="304800" y="279400"/>
                </a:lnTo>
                <a:lnTo>
                  <a:pt x="304800" y="254000"/>
                </a:lnTo>
                <a:cubicBezTo>
                  <a:pt x="304800" y="243761"/>
                  <a:pt x="310991" y="234474"/>
                  <a:pt x="320516" y="230505"/>
                </a:cubicBezTo>
                <a:cubicBezTo>
                  <a:pt x="330041" y="226536"/>
                  <a:pt x="340916" y="228759"/>
                  <a:pt x="348218" y="235982"/>
                </a:cubicBezTo>
                <a:lnTo>
                  <a:pt x="399018" y="286782"/>
                </a:lnTo>
                <a:cubicBezTo>
                  <a:pt x="403781" y="291544"/>
                  <a:pt x="406479" y="297974"/>
                  <a:pt x="406479" y="304721"/>
                </a:cubicBezTo>
                <a:cubicBezTo>
                  <a:pt x="406479" y="311467"/>
                  <a:pt x="403781" y="317897"/>
                  <a:pt x="399018" y="322659"/>
                </a:cubicBezTo>
                <a:lnTo>
                  <a:pt x="348218" y="373459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6736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Non-Linearity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0546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can be accessed in any order, not just sequentially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88000" y="3937000"/>
            <a:ext cx="45720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867400" y="41656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2" name="Text 20"/>
          <p:cNvSpPr/>
          <p:nvPr/>
        </p:nvSpPr>
        <p:spPr>
          <a:xfrm>
            <a:off x="5842000" y="46736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42000" y="50546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Capable of handling continuous media streams like audio and video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477000"/>
            <a:ext cx="14732000" cy="1016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6604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five characteristics distinguish multimedia from traditional single-media formats and enable rich, engaging digital experiences.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7" name="Text 25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 of Multimedia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27432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879600" y="177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2873" y="50304"/>
                </a:moveTo>
                <a:cubicBezTo>
                  <a:pt x="277713" y="38993"/>
                  <a:pt x="266402" y="31750"/>
                  <a:pt x="254000" y="31750"/>
                </a:cubicBezTo>
                <a:cubicBezTo>
                  <a:pt x="241598" y="31750"/>
                  <a:pt x="230287" y="38993"/>
                  <a:pt x="225127" y="50304"/>
                </a:cubicBezTo>
                <a:lnTo>
                  <a:pt x="59035" y="412750"/>
                </a:lnTo>
                <a:lnTo>
                  <a:pt x="47625" y="412750"/>
                </a:lnTo>
                <a:cubicBezTo>
                  <a:pt x="30063" y="412750"/>
                  <a:pt x="15875" y="426938"/>
                  <a:pt x="15875" y="444500"/>
                </a:cubicBezTo>
                <a:cubicBezTo>
                  <a:pt x="15875" y="462062"/>
                  <a:pt x="30063" y="476250"/>
                  <a:pt x="47625" y="476250"/>
                </a:cubicBezTo>
                <a:lnTo>
                  <a:pt x="134938" y="476250"/>
                </a:lnTo>
                <a:cubicBezTo>
                  <a:pt x="152499" y="476250"/>
                  <a:pt x="166688" y="462062"/>
                  <a:pt x="166688" y="444500"/>
                </a:cubicBezTo>
                <a:cubicBezTo>
                  <a:pt x="166688" y="426938"/>
                  <a:pt x="152499" y="412750"/>
                  <a:pt x="134938" y="412750"/>
                </a:cubicBezTo>
                <a:lnTo>
                  <a:pt x="128885" y="412750"/>
                </a:lnTo>
                <a:lnTo>
                  <a:pt x="150713" y="365125"/>
                </a:lnTo>
                <a:lnTo>
                  <a:pt x="357386" y="365125"/>
                </a:lnTo>
                <a:lnTo>
                  <a:pt x="379214" y="412750"/>
                </a:lnTo>
                <a:lnTo>
                  <a:pt x="373162" y="412750"/>
                </a:lnTo>
                <a:cubicBezTo>
                  <a:pt x="355600" y="412750"/>
                  <a:pt x="341412" y="426938"/>
                  <a:pt x="341412" y="444500"/>
                </a:cubicBezTo>
                <a:cubicBezTo>
                  <a:pt x="341412" y="462062"/>
                  <a:pt x="355600" y="476250"/>
                  <a:pt x="373162" y="476250"/>
                </a:cubicBezTo>
                <a:lnTo>
                  <a:pt x="460474" y="476250"/>
                </a:lnTo>
                <a:cubicBezTo>
                  <a:pt x="478036" y="476250"/>
                  <a:pt x="492224" y="462062"/>
                  <a:pt x="492224" y="444500"/>
                </a:cubicBezTo>
                <a:cubicBezTo>
                  <a:pt x="492224" y="426938"/>
                  <a:pt x="478036" y="412750"/>
                  <a:pt x="460474" y="412750"/>
                </a:cubicBezTo>
                <a:lnTo>
                  <a:pt x="449064" y="412750"/>
                </a:lnTo>
                <a:lnTo>
                  <a:pt x="282972" y="50304"/>
                </a:lnTo>
                <a:close/>
                <a:moveTo>
                  <a:pt x="328216" y="301625"/>
                </a:moveTo>
                <a:lnTo>
                  <a:pt x="179784" y="301625"/>
                </a:lnTo>
                <a:lnTo>
                  <a:pt x="254000" y="139700"/>
                </a:lnTo>
                <a:lnTo>
                  <a:pt x="328216" y="301625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2476500"/>
            <a:ext cx="2362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2857500"/>
            <a:ext cx="2362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fundamental element used for labels, menus, buttons, and content delivery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59200" y="1524000"/>
            <a:ext cx="27432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908550" y="1778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381000" y="476250"/>
                </a:lnTo>
                <a:cubicBezTo>
                  <a:pt x="416024" y="476250"/>
                  <a:pt x="444500" y="447774"/>
                  <a:pt x="444500" y="412750"/>
                </a:cubicBezTo>
                <a:lnTo>
                  <a:pt x="444500" y="95250"/>
                </a:lnTo>
                <a:cubicBezTo>
                  <a:pt x="444500" y="60226"/>
                  <a:pt x="416024" y="31750"/>
                  <a:pt x="381000" y="31750"/>
                </a:cubicBezTo>
                <a:lnTo>
                  <a:pt x="63500" y="31750"/>
                </a:lnTo>
                <a:close/>
                <a:moveTo>
                  <a:pt x="127000" y="111125"/>
                </a:moveTo>
                <a:cubicBezTo>
                  <a:pt x="153285" y="111125"/>
                  <a:pt x="174625" y="132465"/>
                  <a:pt x="174625" y="158750"/>
                </a:cubicBezTo>
                <a:cubicBezTo>
                  <a:pt x="174625" y="185035"/>
                  <a:pt x="153285" y="206375"/>
                  <a:pt x="127000" y="206375"/>
                </a:cubicBezTo>
                <a:cubicBezTo>
                  <a:pt x="100715" y="206375"/>
                  <a:pt x="79375" y="185035"/>
                  <a:pt x="79375" y="158750"/>
                </a:cubicBezTo>
                <a:cubicBezTo>
                  <a:pt x="79375" y="132465"/>
                  <a:pt x="100715" y="111125"/>
                  <a:pt x="127000" y="111125"/>
                </a:cubicBezTo>
                <a:close/>
                <a:moveTo>
                  <a:pt x="269875" y="222250"/>
                </a:moveTo>
                <a:cubicBezTo>
                  <a:pt x="278209" y="222250"/>
                  <a:pt x="285849" y="226616"/>
                  <a:pt x="290215" y="233660"/>
                </a:cubicBezTo>
                <a:lnTo>
                  <a:pt x="377527" y="376535"/>
                </a:lnTo>
                <a:cubicBezTo>
                  <a:pt x="381992" y="383877"/>
                  <a:pt x="382191" y="393105"/>
                  <a:pt x="378023" y="400645"/>
                </a:cubicBezTo>
                <a:cubicBezTo>
                  <a:pt x="373856" y="408186"/>
                  <a:pt x="365820" y="412750"/>
                  <a:pt x="357188" y="412750"/>
                </a:cubicBezTo>
                <a:lnTo>
                  <a:pt x="87313" y="412750"/>
                </a:lnTo>
                <a:cubicBezTo>
                  <a:pt x="78482" y="412750"/>
                  <a:pt x="70247" y="407789"/>
                  <a:pt x="66179" y="399951"/>
                </a:cubicBezTo>
                <a:cubicBezTo>
                  <a:pt x="62111" y="392113"/>
                  <a:pt x="62706" y="382588"/>
                  <a:pt x="67766" y="375345"/>
                </a:cubicBezTo>
                <a:lnTo>
                  <a:pt x="123329" y="295970"/>
                </a:lnTo>
                <a:cubicBezTo>
                  <a:pt x="127794" y="289620"/>
                  <a:pt x="135037" y="285849"/>
                  <a:pt x="142875" y="285849"/>
                </a:cubicBezTo>
                <a:cubicBezTo>
                  <a:pt x="150713" y="285849"/>
                  <a:pt x="157956" y="289620"/>
                  <a:pt x="162421" y="295970"/>
                </a:cubicBezTo>
                <a:lnTo>
                  <a:pt x="188615" y="333474"/>
                </a:lnTo>
                <a:lnTo>
                  <a:pt x="249535" y="233759"/>
                </a:lnTo>
                <a:cubicBezTo>
                  <a:pt x="253901" y="226715"/>
                  <a:pt x="261541" y="222349"/>
                  <a:pt x="269875" y="222349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0" name="Text 8"/>
          <p:cNvSpPr/>
          <p:nvPr/>
        </p:nvSpPr>
        <p:spPr>
          <a:xfrm>
            <a:off x="3949700" y="2476500"/>
            <a:ext cx="2362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49700" y="2857500"/>
            <a:ext cx="2362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Still images, drawings, diagrams, illustrations, and visual artwork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56400" y="1524000"/>
            <a:ext cx="27432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874000" y="177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64344" y="6945"/>
                </a:moveTo>
                <a:cubicBezTo>
                  <a:pt x="471884" y="12998"/>
                  <a:pt x="476250" y="22126"/>
                  <a:pt x="476250" y="31750"/>
                </a:cubicBezTo>
                <a:lnTo>
                  <a:pt x="476250" y="333375"/>
                </a:lnTo>
                <a:cubicBezTo>
                  <a:pt x="476250" y="377230"/>
                  <a:pt x="433586" y="412750"/>
                  <a:pt x="381000" y="412750"/>
                </a:cubicBezTo>
                <a:cubicBezTo>
                  <a:pt x="328414" y="412750"/>
                  <a:pt x="285750" y="377230"/>
                  <a:pt x="285750" y="333375"/>
                </a:cubicBezTo>
                <a:cubicBezTo>
                  <a:pt x="285750" y="289520"/>
                  <a:pt x="328414" y="254000"/>
                  <a:pt x="381000" y="254000"/>
                </a:cubicBezTo>
                <a:cubicBezTo>
                  <a:pt x="392113" y="254000"/>
                  <a:pt x="402828" y="255588"/>
                  <a:pt x="412750" y="258564"/>
                </a:cubicBezTo>
                <a:lnTo>
                  <a:pt x="412750" y="142776"/>
                </a:lnTo>
                <a:lnTo>
                  <a:pt x="190500" y="192187"/>
                </a:lnTo>
                <a:lnTo>
                  <a:pt x="190500" y="396875"/>
                </a:lnTo>
                <a:cubicBezTo>
                  <a:pt x="190500" y="440730"/>
                  <a:pt x="147836" y="476250"/>
                  <a:pt x="95250" y="476250"/>
                </a:cubicBezTo>
                <a:cubicBezTo>
                  <a:pt x="42664" y="476250"/>
                  <a:pt x="0" y="440730"/>
                  <a:pt x="0" y="396875"/>
                </a:cubicBezTo>
                <a:cubicBezTo>
                  <a:pt x="0" y="353020"/>
                  <a:pt x="42664" y="317500"/>
                  <a:pt x="95250" y="317500"/>
                </a:cubicBezTo>
                <a:cubicBezTo>
                  <a:pt x="106363" y="317500"/>
                  <a:pt x="117078" y="319088"/>
                  <a:pt x="127000" y="322064"/>
                </a:cubicBezTo>
                <a:lnTo>
                  <a:pt x="127000" y="95250"/>
                </a:lnTo>
                <a:cubicBezTo>
                  <a:pt x="127000" y="80367"/>
                  <a:pt x="137319" y="67469"/>
                  <a:pt x="151904" y="64294"/>
                </a:cubicBezTo>
                <a:lnTo>
                  <a:pt x="437654" y="794"/>
                </a:lnTo>
                <a:cubicBezTo>
                  <a:pt x="447080" y="-1290"/>
                  <a:pt x="456902" y="992"/>
                  <a:pt x="464443" y="7045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4" name="Text 12"/>
          <p:cNvSpPr/>
          <p:nvPr/>
        </p:nvSpPr>
        <p:spPr>
          <a:xfrm>
            <a:off x="6946900" y="2476500"/>
            <a:ext cx="2362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6900" y="2857500"/>
            <a:ext cx="2362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Sound, music, voice narration, and sound effects for immersion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53600" y="1524000"/>
            <a:ext cx="27432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39450" y="1778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95250" y="63500"/>
                </a:moveTo>
                <a:cubicBezTo>
                  <a:pt x="60226" y="63500"/>
                  <a:pt x="31750" y="91976"/>
                  <a:pt x="31750" y="127000"/>
                </a:cubicBezTo>
                <a:lnTo>
                  <a:pt x="31750" y="381000"/>
                </a:lnTo>
                <a:cubicBezTo>
                  <a:pt x="31750" y="416024"/>
                  <a:pt x="60226" y="444500"/>
                  <a:pt x="95250" y="444500"/>
                </a:cubicBezTo>
                <a:lnTo>
                  <a:pt x="349250" y="444500"/>
                </a:lnTo>
                <a:cubicBezTo>
                  <a:pt x="384274" y="444500"/>
                  <a:pt x="412750" y="416024"/>
                  <a:pt x="412750" y="381000"/>
                </a:cubicBezTo>
                <a:lnTo>
                  <a:pt x="412750" y="127000"/>
                </a:lnTo>
                <a:cubicBezTo>
                  <a:pt x="412750" y="91976"/>
                  <a:pt x="384274" y="63500"/>
                  <a:pt x="349250" y="63500"/>
                </a:cubicBezTo>
                <a:lnTo>
                  <a:pt x="95250" y="63500"/>
                </a:lnTo>
                <a:close/>
                <a:moveTo>
                  <a:pt x="460375" y="333375"/>
                </a:moveTo>
                <a:lnTo>
                  <a:pt x="533301" y="391716"/>
                </a:lnTo>
                <a:cubicBezTo>
                  <a:pt x="537468" y="395089"/>
                  <a:pt x="542627" y="396875"/>
                  <a:pt x="547985" y="396875"/>
                </a:cubicBezTo>
                <a:cubicBezTo>
                  <a:pt x="560983" y="396875"/>
                  <a:pt x="571500" y="386358"/>
                  <a:pt x="571500" y="373360"/>
                </a:cubicBezTo>
                <a:lnTo>
                  <a:pt x="571500" y="134640"/>
                </a:lnTo>
                <a:cubicBezTo>
                  <a:pt x="571500" y="121642"/>
                  <a:pt x="560983" y="111125"/>
                  <a:pt x="547985" y="111125"/>
                </a:cubicBezTo>
                <a:cubicBezTo>
                  <a:pt x="542627" y="111125"/>
                  <a:pt x="537468" y="112911"/>
                  <a:pt x="533301" y="116284"/>
                </a:cubicBezTo>
                <a:lnTo>
                  <a:pt x="460375" y="174625"/>
                </a:lnTo>
                <a:lnTo>
                  <a:pt x="460375" y="333375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8" name="Text 16"/>
          <p:cNvSpPr/>
          <p:nvPr/>
        </p:nvSpPr>
        <p:spPr>
          <a:xfrm>
            <a:off x="9944100" y="2476500"/>
            <a:ext cx="2362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44100" y="2857500"/>
            <a:ext cx="2362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Moving images, film, live streaming, and motion picture content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50800" y="1524000"/>
            <a:ext cx="2743200" cy="330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3900150" y="1778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0" y="95250"/>
                </a:moveTo>
                <a:cubicBezTo>
                  <a:pt x="0" y="60226"/>
                  <a:pt x="28476" y="31750"/>
                  <a:pt x="63500" y="31750"/>
                </a:cubicBezTo>
                <a:lnTo>
                  <a:pt x="381000" y="31750"/>
                </a:lnTo>
                <a:cubicBezTo>
                  <a:pt x="416024" y="31750"/>
                  <a:pt x="444500" y="60226"/>
                  <a:pt x="444500" y="95250"/>
                </a:cubicBezTo>
                <a:lnTo>
                  <a:pt x="444500" y="412750"/>
                </a:lnTo>
                <a:cubicBezTo>
                  <a:pt x="444500" y="447774"/>
                  <a:pt x="416024" y="476250"/>
                  <a:pt x="381000" y="476250"/>
                </a:cubicBezTo>
                <a:lnTo>
                  <a:pt x="63500" y="476250"/>
                </a:lnTo>
                <a:cubicBezTo>
                  <a:pt x="28476" y="476250"/>
                  <a:pt x="0" y="447774"/>
                  <a:pt x="0" y="412750"/>
                </a:cubicBezTo>
                <a:lnTo>
                  <a:pt x="0" y="95250"/>
                </a:lnTo>
                <a:close/>
                <a:moveTo>
                  <a:pt x="47625" y="365125"/>
                </a:moveTo>
                <a:lnTo>
                  <a:pt x="47625" y="396875"/>
                </a:lnTo>
                <a:cubicBezTo>
                  <a:pt x="47625" y="405606"/>
                  <a:pt x="54769" y="412750"/>
                  <a:pt x="63500" y="412750"/>
                </a:cubicBezTo>
                <a:lnTo>
                  <a:pt x="95250" y="412750"/>
                </a:lnTo>
                <a:cubicBezTo>
                  <a:pt x="103981" y="412750"/>
                  <a:pt x="111125" y="405606"/>
                  <a:pt x="111125" y="396875"/>
                </a:cubicBezTo>
                <a:lnTo>
                  <a:pt x="111125" y="365125"/>
                </a:lnTo>
                <a:cubicBezTo>
                  <a:pt x="111125" y="356394"/>
                  <a:pt x="103981" y="349250"/>
                  <a:pt x="95250" y="349250"/>
                </a:cubicBezTo>
                <a:lnTo>
                  <a:pt x="63500" y="349250"/>
                </a:lnTo>
                <a:cubicBezTo>
                  <a:pt x="54769" y="349250"/>
                  <a:pt x="47625" y="356394"/>
                  <a:pt x="47625" y="365125"/>
                </a:cubicBezTo>
                <a:close/>
                <a:moveTo>
                  <a:pt x="349250" y="349250"/>
                </a:moveTo>
                <a:cubicBezTo>
                  <a:pt x="340519" y="349250"/>
                  <a:pt x="333375" y="356394"/>
                  <a:pt x="333375" y="365125"/>
                </a:cubicBezTo>
                <a:lnTo>
                  <a:pt x="333375" y="396875"/>
                </a:lnTo>
                <a:cubicBezTo>
                  <a:pt x="333375" y="405606"/>
                  <a:pt x="340519" y="412750"/>
                  <a:pt x="349250" y="412750"/>
                </a:cubicBezTo>
                <a:lnTo>
                  <a:pt x="381000" y="412750"/>
                </a:lnTo>
                <a:cubicBezTo>
                  <a:pt x="389731" y="412750"/>
                  <a:pt x="396875" y="405606"/>
                  <a:pt x="396875" y="396875"/>
                </a:cubicBezTo>
                <a:lnTo>
                  <a:pt x="396875" y="365125"/>
                </a:lnTo>
                <a:cubicBezTo>
                  <a:pt x="396875" y="356394"/>
                  <a:pt x="389731" y="349250"/>
                  <a:pt x="381000" y="349250"/>
                </a:cubicBezTo>
                <a:lnTo>
                  <a:pt x="349250" y="349250"/>
                </a:lnTo>
                <a:close/>
                <a:moveTo>
                  <a:pt x="47625" y="238125"/>
                </a:moveTo>
                <a:lnTo>
                  <a:pt x="47625" y="269875"/>
                </a:lnTo>
                <a:cubicBezTo>
                  <a:pt x="47625" y="278606"/>
                  <a:pt x="54769" y="285750"/>
                  <a:pt x="63500" y="285750"/>
                </a:cubicBezTo>
                <a:lnTo>
                  <a:pt x="95250" y="285750"/>
                </a:lnTo>
                <a:cubicBezTo>
                  <a:pt x="103981" y="285750"/>
                  <a:pt x="111125" y="278606"/>
                  <a:pt x="111125" y="269875"/>
                </a:cubicBezTo>
                <a:lnTo>
                  <a:pt x="111125" y="238125"/>
                </a:lnTo>
                <a:cubicBezTo>
                  <a:pt x="111125" y="229394"/>
                  <a:pt x="103981" y="222250"/>
                  <a:pt x="95250" y="222250"/>
                </a:cubicBezTo>
                <a:lnTo>
                  <a:pt x="63500" y="222250"/>
                </a:lnTo>
                <a:cubicBezTo>
                  <a:pt x="54769" y="222250"/>
                  <a:pt x="47625" y="229394"/>
                  <a:pt x="47625" y="238125"/>
                </a:cubicBezTo>
                <a:close/>
                <a:moveTo>
                  <a:pt x="349250" y="222250"/>
                </a:moveTo>
                <a:cubicBezTo>
                  <a:pt x="340519" y="222250"/>
                  <a:pt x="333375" y="229394"/>
                  <a:pt x="333375" y="238125"/>
                </a:cubicBezTo>
                <a:lnTo>
                  <a:pt x="333375" y="269875"/>
                </a:lnTo>
                <a:cubicBezTo>
                  <a:pt x="333375" y="278606"/>
                  <a:pt x="340519" y="285750"/>
                  <a:pt x="349250" y="285750"/>
                </a:cubicBezTo>
                <a:lnTo>
                  <a:pt x="381000" y="285750"/>
                </a:lnTo>
                <a:cubicBezTo>
                  <a:pt x="389731" y="285750"/>
                  <a:pt x="396875" y="278606"/>
                  <a:pt x="396875" y="269875"/>
                </a:cubicBezTo>
                <a:lnTo>
                  <a:pt x="396875" y="238125"/>
                </a:lnTo>
                <a:cubicBezTo>
                  <a:pt x="396875" y="229394"/>
                  <a:pt x="389731" y="222250"/>
                  <a:pt x="381000" y="222250"/>
                </a:cubicBezTo>
                <a:lnTo>
                  <a:pt x="349250" y="222250"/>
                </a:lnTo>
                <a:close/>
                <a:moveTo>
                  <a:pt x="47625" y="111125"/>
                </a:moveTo>
                <a:lnTo>
                  <a:pt x="47625" y="142875"/>
                </a:lnTo>
                <a:cubicBezTo>
                  <a:pt x="47625" y="151606"/>
                  <a:pt x="54769" y="158750"/>
                  <a:pt x="63500" y="158750"/>
                </a:cubicBezTo>
                <a:lnTo>
                  <a:pt x="95250" y="158750"/>
                </a:lnTo>
                <a:cubicBezTo>
                  <a:pt x="103981" y="158750"/>
                  <a:pt x="111125" y="151606"/>
                  <a:pt x="111125" y="142875"/>
                </a:cubicBezTo>
                <a:lnTo>
                  <a:pt x="111125" y="111125"/>
                </a:lnTo>
                <a:cubicBezTo>
                  <a:pt x="111125" y="102394"/>
                  <a:pt x="103981" y="95250"/>
                  <a:pt x="95250" y="95250"/>
                </a:cubicBezTo>
                <a:lnTo>
                  <a:pt x="63500" y="95250"/>
                </a:lnTo>
                <a:cubicBezTo>
                  <a:pt x="54769" y="95250"/>
                  <a:pt x="47625" y="102394"/>
                  <a:pt x="47625" y="111125"/>
                </a:cubicBezTo>
                <a:close/>
                <a:moveTo>
                  <a:pt x="349250" y="95250"/>
                </a:moveTo>
                <a:cubicBezTo>
                  <a:pt x="340519" y="95250"/>
                  <a:pt x="333375" y="102394"/>
                  <a:pt x="333375" y="111125"/>
                </a:cubicBezTo>
                <a:lnTo>
                  <a:pt x="333375" y="142875"/>
                </a:lnTo>
                <a:cubicBezTo>
                  <a:pt x="333375" y="151606"/>
                  <a:pt x="340519" y="158750"/>
                  <a:pt x="349250" y="158750"/>
                </a:cubicBezTo>
                <a:lnTo>
                  <a:pt x="381000" y="158750"/>
                </a:lnTo>
                <a:cubicBezTo>
                  <a:pt x="389731" y="158750"/>
                  <a:pt x="396875" y="151606"/>
                  <a:pt x="396875" y="142875"/>
                </a:cubicBezTo>
                <a:lnTo>
                  <a:pt x="396875" y="111125"/>
                </a:lnTo>
                <a:cubicBezTo>
                  <a:pt x="396875" y="102394"/>
                  <a:pt x="389731" y="95250"/>
                  <a:pt x="381000" y="95250"/>
                </a:cubicBezTo>
                <a:lnTo>
                  <a:pt x="349250" y="95250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2" name="Text 20"/>
          <p:cNvSpPr/>
          <p:nvPr/>
        </p:nvSpPr>
        <p:spPr>
          <a:xfrm>
            <a:off x="12941300" y="2476500"/>
            <a:ext cx="2362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41300" y="2857500"/>
            <a:ext cx="2362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Simulated motion through sequential display of still images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5207000"/>
            <a:ext cx="14732000" cy="1016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5334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component plays a distinct role in creating engaging multimedia experiences. Effective multimedia production requires understanding how to combine them harmoniously.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6604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Media Classification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62000" y="7112000"/>
            <a:ext cx="7112000" cy="76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7213600"/>
            <a:ext cx="660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Discrete Media: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Text, data, images, graphics — have distinct, separate units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28000" y="7112000"/>
            <a:ext cx="7366000" cy="76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382000" y="721360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Media: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Audio and video — flow as a stream over time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32" name="Text 30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Hypertext?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7366000" cy="177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49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8796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Hypertext is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that contains links to other texts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enabling non-linear navigation through information. The term was coined by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Ted Nelson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around 1965.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302000"/>
            <a:ext cx="736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Unlike traditional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linear text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read from beginning to end, hypertext allows users to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85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jump between related pieces of information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through embedded links called </a:t>
            </a:r>
            <a:pPr>
              <a:lnSpc>
                <a:spcPct val="160000"/>
              </a:lnSpc>
            </a:pPr>
            <a:r>
              <a:rPr lang="en-US" sz="1800" i="1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hyperlinks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4826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2000" y="5334000"/>
            <a:ext cx="2286000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5461000"/>
            <a:ext cx="190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Read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reads content on a page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11500" y="5778500"/>
            <a:ext cx="381000" cy="0"/>
          </a:xfrm>
          <a:prstGeom prst="straightConnector1">
            <a:avLst/>
          </a:prstGeom>
          <a:noFill/>
          <a:ln w="25400">
            <a:solidFill>
              <a:srgbClr val="E85D4A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556000" y="5334000"/>
            <a:ext cx="2286000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746500" y="5461000"/>
            <a:ext cx="190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Click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Clicks a highlighted link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05500" y="5778500"/>
            <a:ext cx="381000" cy="0"/>
          </a:xfrm>
          <a:prstGeom prst="straightConnector1">
            <a:avLst/>
          </a:prstGeom>
          <a:noFill/>
          <a:ln w="25400">
            <a:solidFill>
              <a:srgbClr val="E85D4A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6350000" y="5334000"/>
            <a:ext cx="2286000" cy="127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40500" y="5461000"/>
            <a:ext cx="190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Navigate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Jumps to related content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36000" y="1460500"/>
            <a:ext cx="6858000" cy="558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9017000" y="1714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NON-LINEAR STRUCTURE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271000" y="2540000"/>
            <a:ext cx="1524000" cy="635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0" name="Text 18"/>
          <p:cNvSpPr/>
          <p:nvPr/>
        </p:nvSpPr>
        <p:spPr>
          <a:xfrm>
            <a:off x="9271000" y="2540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Homepage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33000" y="3238500"/>
            <a:ext cx="0" cy="508000"/>
          </a:xfrm>
          <a:prstGeom prst="straightConnector1">
            <a:avLst/>
          </a:prstGeom>
          <a:noFill/>
          <a:ln w="25400">
            <a:solidFill>
              <a:srgbClr val="E85D4A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176000" y="2540000"/>
            <a:ext cx="1524000" cy="63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176000" y="2540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About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938000" y="3238500"/>
            <a:ext cx="0" cy="508000"/>
          </a:xfrm>
          <a:prstGeom prst="straightConnector1">
            <a:avLst/>
          </a:prstGeom>
          <a:noFill/>
          <a:ln w="25400">
            <a:solidFill>
              <a:srgbClr val="FFFFFF">
                <a:alpha val="37647"/>
              </a:srgbClr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3081000" y="2540000"/>
            <a:ext cx="1524000" cy="63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3081000" y="2540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95000" y="3175000"/>
            <a:ext cx="381000" cy="0"/>
          </a:xfrm>
          <a:prstGeom prst="straightConnector1">
            <a:avLst/>
          </a:prstGeom>
          <a:noFill/>
          <a:ln w="25400">
            <a:solidFill>
              <a:srgbClr val="FFFFFF">
                <a:alpha val="37647"/>
              </a:srgbClr>
            </a:solidFill>
            <a:prstDash val="solid"/>
            <a:headEnd type="arrow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271000" y="3937000"/>
            <a:ext cx="1524000" cy="63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271000" y="3937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Article 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33000" y="4635500"/>
            <a:ext cx="0" cy="508000"/>
          </a:xfrm>
          <a:prstGeom prst="straightConnector1">
            <a:avLst/>
          </a:prstGeom>
          <a:noFill/>
          <a:ln w="25400">
            <a:solidFill>
              <a:srgbClr val="FFFFFF">
                <a:alpha val="37647"/>
              </a:srgbClr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1176000" y="3937000"/>
            <a:ext cx="1524000" cy="63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1176000" y="3937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Article B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938000" y="4635500"/>
            <a:ext cx="0" cy="508000"/>
          </a:xfrm>
          <a:prstGeom prst="straightConnector1">
            <a:avLst/>
          </a:prstGeom>
          <a:noFill/>
          <a:ln w="25400">
            <a:solidFill>
              <a:srgbClr val="FFFFFF">
                <a:alpha val="37647"/>
              </a:srgbClr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13081000" y="3937000"/>
            <a:ext cx="1524000" cy="63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3081000" y="3937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Article 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700000" y="3175000"/>
            <a:ext cx="381000" cy="0"/>
          </a:xfrm>
          <a:prstGeom prst="straightConnector1">
            <a:avLst/>
          </a:prstGeom>
          <a:noFill/>
          <a:ln w="25400">
            <a:solidFill>
              <a:srgbClr val="FFFFFF">
                <a:alpha val="25098"/>
              </a:srgbClr>
            </a:solidFill>
            <a:prstDash val="sysDot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10795000" y="4572000"/>
            <a:ext cx="381000" cy="0"/>
          </a:xfrm>
          <a:prstGeom prst="straightConnector1">
            <a:avLst/>
          </a:prstGeom>
          <a:noFill/>
          <a:ln w="25400">
            <a:solidFill>
              <a:srgbClr val="FFFFFF">
                <a:alpha val="25098"/>
              </a:srgbClr>
            </a:solidFill>
            <a:prstDash val="sysDot"/>
            <a:headEnd type="arrow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39" name="Text 37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Hypermedia?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460500"/>
            <a:ext cx="8890000" cy="152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494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1879600"/>
            <a:ext cx="838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Hypermedia is an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extension of hypertext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includes graphics, images, audio, video, and animations — not just text-based links.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302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Hypertext vs. Hypermedia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2000" y="3810000"/>
            <a:ext cx="4318000" cy="177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93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3434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→ Text links only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text with clickable words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Wikipedia article links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07000" y="43815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0" y="3810000"/>
            <a:ext cx="4318000" cy="1778000"/>
          </a:xfrm>
          <a:prstGeom prst="rect">
            <a:avLst/>
          </a:prstGeom>
          <a:solidFill>
            <a:srgbClr val="E85D4A">
              <a:alpha val="8235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50000" y="393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Hypermedia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0000" y="43434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media → Any media links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Image, video, audio all linked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The entire World Wide Web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969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Example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2000" y="6477000"/>
            <a:ext cx="889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 an e-commerce site like Amazon, clicking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85D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product image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takes you to the product page, which contains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videos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reviews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related items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all interconnected through hypermedia links.</a:t>
            </a:r>
            <a:endParaRPr lang="en-US" sz="1800" dirty="0"/>
          </a:p>
        </p:txBody>
      </p:sp>
      <p:pic>
        <p:nvPicPr>
          <p:cNvPr id="17" name="Image 0" descr="https://kimi-img.moonshot.cn/pub/slides/okc/reky6lt2ntf4w/mnt/agents/output/multimedia-week1/images/7_Insight_Hypertext_a_nonlinear_way.png">    </p:cNvPr>
          <p:cNvPicPr>
            <a:picLocks noChangeAspect="1"/>
          </p:cNvPicPr>
          <p:nvPr/>
        </p:nvPicPr>
        <p:blipFill>
          <a:blip r:embed="rId1"/>
          <a:srcRect l="18121" r="18121" t="0" b="0"/>
          <a:stretch/>
        </p:blipFill>
        <p:spPr>
          <a:xfrm>
            <a:off x="10922000" y="3302000"/>
            <a:ext cx="4572000" cy="4191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0922000" y="3302000"/>
            <a:ext cx="4572000" cy="4191000"/>
          </a:xfrm>
          <a:prstGeom prst="rect">
            <a:avLst/>
          </a:prstGeom>
          <a:gradFill rotWithShape="1" flip="none">
            <a:gsLst>
              <a:gs pos="0">
                <a:srgbClr val="F5F1EB">
                  <a:alpha val="80000"/>
                </a:srgbClr>
              </a:gs>
              <a:gs pos="15000">
                <a:srgbClr val="F5F1EB">
                  <a:alpha val="0"/>
                </a:srgbClr>
              </a:gs>
              <a:gs pos="100000">
                <a:srgbClr val="F5F1EB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9" name="Shape 1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0" name="Text 17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Related Key Terms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699000" cy="184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50800" cy="18415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32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degree to which users can influence and control the multimedia experience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524000"/>
            <a:ext cx="4699000" cy="184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0" y="1524000"/>
            <a:ext cx="50800" cy="18415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0" name="Text 8"/>
          <p:cNvSpPr/>
          <p:nvPr/>
        </p:nvSpPr>
        <p:spPr>
          <a:xfrm>
            <a:off x="5969000" y="1651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vs. Non-linear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9000" y="2032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Sequential playback (like a movie) vs. user-controlled navigation (like a website)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524000"/>
            <a:ext cx="4826000" cy="184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68000" y="1524000"/>
            <a:ext cx="50800" cy="18415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16510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Synchronous vs. Async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22000" y="20320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communication (live video) vs. delayed exchange (email, forums)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619500"/>
            <a:ext cx="4699000" cy="184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3619500"/>
            <a:ext cx="50800" cy="18415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37465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127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process of creating, editing, and assembling multimedia content using specialized tools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0" y="3619500"/>
            <a:ext cx="4699000" cy="184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3619500"/>
            <a:ext cx="50800" cy="18415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2" name="Text 20"/>
          <p:cNvSpPr/>
          <p:nvPr/>
        </p:nvSpPr>
        <p:spPr>
          <a:xfrm>
            <a:off x="5969000" y="37465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69000" y="4127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Converting digital data into visible images and audible sound for presentation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3619500"/>
            <a:ext cx="4826000" cy="184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68000" y="3619500"/>
            <a:ext cx="50800" cy="18415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922000" y="37465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22000" y="41275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delivery of audio and video media over a network without downloading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5842000"/>
            <a:ext cx="14732000" cy="1143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" y="5969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Mastering these terms is essential for understanding multimedia literature, tools, and production workflows throughout this course.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31" name="Text 29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eky6lt2ntf4w/mnt/agents/output/multimedia-week1/images/7_Insight_Hypertext_a_nonlinear_way.png">    </p:cNvPr>
          <p:cNvPicPr>
            <a:picLocks noChangeAspect="1"/>
          </p:cNvPicPr>
          <p:nvPr/>
        </p:nvPicPr>
        <p:blipFill>
          <a:blip r:embed="rId1"/>
          <a:srcRect l="0" r="0" t="1877" b="187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13000"/>
                </a:srgbClr>
              </a:gs>
              <a:gs pos="40000">
                <a:srgbClr val="1A1A2E">
                  <a:alpha val="63000"/>
                </a:srgbClr>
              </a:gs>
              <a:gs pos="100000">
                <a:srgbClr val="1A1A2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794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4064000"/>
            <a:ext cx="1016000" cy="508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318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 &amp; APPLICATIONS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5143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the printing press to the digital revolution — the evolution of multimedia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Foundations of Multimedia (Pre-1960s)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Milestones that laid the groundwork for modern multimedia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095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1440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0" y="2095500"/>
            <a:ext cx="558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Gutenberg's Printing Press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revolutionized information distribution and mass literacy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84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1839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2984500"/>
            <a:ext cx="558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Daguerreotype Process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first practical photography, enabling visual documentation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873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1877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32000" y="3873500"/>
            <a:ext cx="558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Edison's Phonograph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first device to record and playback sound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762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1887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32000" y="4762500"/>
            <a:ext cx="558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Gramophone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enabled mass distribution of audio recordings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651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1927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32000" y="5651500"/>
            <a:ext cx="558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Television Demo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Philo Farnsworth's electronic television transmission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6540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1937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32000" y="6540500"/>
            <a:ext cx="558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Snow White Film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Disney's first full-length animated feature</a:t>
            </a:r>
            <a:endParaRPr lang="en-US" sz="1600" dirty="0"/>
          </a:p>
        </p:txBody>
      </p:sp>
      <p:pic>
        <p:nvPicPr>
          <p:cNvPr id="17" name="Image 0" descr="https://kimi-img.moonshot.cn/pub/slides/okc/reky6lt2ntf4w/mnt/agents/output/multimedia-week1/images/4_250_Letterpress_Printing_Press_Printing.png">    </p:cNvPr>
          <p:cNvPicPr>
            <a:picLocks noChangeAspect="1"/>
          </p:cNvPicPr>
          <p:nvPr/>
        </p:nvPicPr>
        <p:blipFill>
          <a:blip r:embed="rId1"/>
          <a:srcRect l="19695" r="19695" t="0" b="0"/>
          <a:stretch/>
        </p:blipFill>
        <p:spPr>
          <a:xfrm>
            <a:off x="9652000" y="1397000"/>
            <a:ext cx="5842000" cy="5969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652000" y="1397000"/>
            <a:ext cx="5842000" cy="5969000"/>
          </a:xfrm>
          <a:prstGeom prst="rect">
            <a:avLst/>
          </a:prstGeom>
          <a:gradFill rotWithShape="1" flip="none">
            <a:gsLst>
              <a:gs pos="0">
                <a:srgbClr val="F5F1EB">
                  <a:alpha val="88000"/>
                </a:srgbClr>
              </a:gs>
              <a:gs pos="20000">
                <a:srgbClr val="F5F1EB">
                  <a:alpha val="0"/>
                </a:srgbClr>
              </a:gs>
              <a:gs pos="100000">
                <a:srgbClr val="F5F1EB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9" name="Shape 1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0" name="Text 17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Birth of Hypertext (1960s–1970s)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conceptual foundation of modern linked information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159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1945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0" y="2159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Vannevar Bush — "Memex" Concept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25146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theoretical machine for storing and linking information, precursor to hypertext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302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1965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32000" y="3302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Ted Nelson Coins "Hypertext"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32000" y="36576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Invented the term and began the ambitious Xanadu project for a global docuverse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445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1969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32000" y="4445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ARPANET Launched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32000" y="48006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first wide-area packet-switched network, direct precursor to the Internet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588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1972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5588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Ray Tomlinson Invents Email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32000" y="59436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person to send an email message, transforming electronic communication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731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1974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32000" y="6731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Personal Computer (Altair 8800)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32000" y="7086600"/>
            <a:ext cx="635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Made computing accessible to individuals, setting the stage for multimedia PCs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0" y="1841500"/>
            <a:ext cx="6350000" cy="5651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0" y="1905000"/>
            <a:ext cx="558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FIGURES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25000" y="2349500"/>
            <a:ext cx="558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Vannevar Bush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25000" y="2705100"/>
            <a:ext cx="558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American engineer who conceptualized the Memex, a proto-hypertext system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25000" y="3556000"/>
            <a:ext cx="558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Ted Nelson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25000" y="3911600"/>
            <a:ext cx="558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Pioneer of information technology who coined "hypertext" and "hypermedia"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25000" y="4826000"/>
            <a:ext cx="558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Ray Tomlinson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25000" y="5181600"/>
            <a:ext cx="558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programmer who implemented the first email system on ARPANET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25000" y="62230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i="1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"These decades established the theoretical and technological framework for linked digital information."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30" name="Text 28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Digital Revolution (1980s–1990s)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era when multimedia became practical and widespread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095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1981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0" y="2095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IBM PC Introduced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began the personal computing era for homes and offices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84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1985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2984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 Windows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graphical OS made computers user-friendly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873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1987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32000" y="3873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Apple HyperCard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brought hypermedia to mainstream Macintosh users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762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32000" y="4762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Wide Web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Tim Berners-Lee created the modern Internet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651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32000" y="5651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Mosaic Browser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first graphical web browser, made the web accessible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6540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32000" y="6540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DVD Technology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replaced VCRs with superior digital video quality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90000" y="1841500"/>
            <a:ext cx="6604000" cy="5651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9271000" y="1905000"/>
            <a:ext cx="584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CONVERGENCE FACTORS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71000" y="2349500"/>
            <a:ext cx="584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Computing Power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CPUs became fast enough to process multiple media types simultaneously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71000" y="3302000"/>
            <a:ext cx="584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Capacity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CDs and DVDs enabled distribution of large multimedia files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71000" y="4318000"/>
            <a:ext cx="584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Internet connected computers globally for media sharing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71000" y="5334000"/>
            <a:ext cx="584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Tools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Authoring applications made multimedia creation accessible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71000" y="6350000"/>
            <a:ext cx="584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Revolution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Graphical interfaces made digital media intuitive to use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Internet Era (2000s–Present)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Modern multimedia in the connected world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2095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0" y="2095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Facebook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launched social media multimedia sharing globally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984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2984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YouTube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revolutionized video sharing and user-generated content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873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32000" y="3873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Netflix Streaming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transformed entertainment delivery worldwide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762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32000" y="4762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Instagram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made visual multimedia communication ubiquitous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651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32000" y="5651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TikTok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popularized short-form video content globally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6540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32000" y="6540500"/>
            <a:ext cx="609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AI, VR/AR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AI-generated content and immersive experiences</a:t>
            </a:r>
            <a:endParaRPr lang="en-US" sz="1600" dirty="0"/>
          </a:p>
        </p:txBody>
      </p:sp>
      <p:pic>
        <p:nvPicPr>
          <p:cNvPr id="17" name="Image 0" descr="https://kimi-img.moonshot.cn/pub/slides/okc/reky6lt2ntf4w/mnt/agents/output/multimedia-week1/images/3_Top_5_Best_Practices_For_Social_Media.png">    </p:cNvPr>
          <p:cNvPicPr>
            <a:picLocks noChangeAspect="1"/>
          </p:cNvPicPr>
          <p:nvPr/>
        </p:nvPicPr>
        <p:blipFill>
          <a:blip r:embed="rId1"/>
          <a:srcRect l="19740" r="19740" t="0" b="0"/>
          <a:stretch/>
        </p:blipFill>
        <p:spPr>
          <a:xfrm>
            <a:off x="9652000" y="1397000"/>
            <a:ext cx="5842000" cy="6096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652000" y="1397000"/>
            <a:ext cx="5842000" cy="6096000"/>
          </a:xfrm>
          <a:prstGeom prst="rect">
            <a:avLst/>
          </a:prstGeom>
          <a:gradFill rotWithShape="1" flip="none">
            <a:gsLst>
              <a:gs pos="0">
                <a:srgbClr val="F5F1EB">
                  <a:alpha val="88000"/>
                </a:srgbClr>
              </a:gs>
              <a:gs pos="20000">
                <a:srgbClr val="F5F1EB">
                  <a:alpha val="0"/>
                </a:srgbClr>
              </a:gs>
              <a:gs pos="100000">
                <a:srgbClr val="F5F1EB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9" name="Shape 1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0" name="Text 17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 Timeline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 distinct eras of multimedia evolution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7112000" cy="1397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60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PRE-1960s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6162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Individual Media Inventions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9718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Print, photography, audio recording, television, animation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746500"/>
            <a:ext cx="7112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848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1960s–1970s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2037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Conceptual Framework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5593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Hypertext, networking (ARPANET), personal computing, email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334000"/>
            <a:ext cx="7112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5435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1980s–1990s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57912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Convergence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1468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PC, World Wide Web, HyperCard, CD-ROM, DVD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921500"/>
            <a:ext cx="7112000" cy="1397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7023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2000s–PRESENT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73787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Connected Multimedia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77343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Streaming, social media, mobile, AI-generated content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2159000"/>
            <a:ext cx="7112000" cy="5969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8890000" y="2667000"/>
            <a:ext cx="0" cy="5143500"/>
          </a:xfrm>
          <a:prstGeom prst="straightConnector1">
            <a:avLst/>
          </a:prstGeom>
          <a:noFill/>
          <a:ln w="254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788400" y="2616200"/>
            <a:ext cx="203200" cy="203200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24" name="Text 22"/>
          <p:cNvSpPr/>
          <p:nvPr/>
        </p:nvSpPr>
        <p:spPr>
          <a:xfrm>
            <a:off x="9271000" y="25908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Printing Press (1440)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88400" y="3886200"/>
            <a:ext cx="203200" cy="203200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26" name="Text 24"/>
          <p:cNvSpPr/>
          <p:nvPr/>
        </p:nvSpPr>
        <p:spPr>
          <a:xfrm>
            <a:off x="9271000" y="38608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Hypertext (1965)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788400" y="5156200"/>
            <a:ext cx="203200" cy="203200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28" name="Text 26"/>
          <p:cNvSpPr/>
          <p:nvPr/>
        </p:nvSpPr>
        <p:spPr>
          <a:xfrm>
            <a:off x="9271000" y="51308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Wide Web (1991)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788400" y="6426200"/>
            <a:ext cx="203200" cy="203200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30" name="Text 28"/>
          <p:cNvSpPr/>
          <p:nvPr/>
        </p:nvSpPr>
        <p:spPr>
          <a:xfrm>
            <a:off x="9271000" y="64008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YouTube (2005)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788400" y="7493000"/>
            <a:ext cx="203200" cy="203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271000" y="7467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&amp; VR Era (Now)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34" name="Text 32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Multimedia — Education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pic>
        <p:nvPicPr>
          <p:cNvPr id="4" name="Image 0" descr="https://kimi-img.moonshot.cn/pub/slides/okc/reky6lt2ntf4w/mnt/agents/output/multimedia-week1/images/8_The_Future_of_Education_is_Digital.png">    </p:cNvPr>
          <p:cNvPicPr>
            <a:picLocks noChangeAspect="1"/>
          </p:cNvPicPr>
          <p:nvPr/>
        </p:nvPicPr>
        <p:blipFill>
          <a:blip r:embed="rId1"/>
          <a:srcRect l="25347" r="25347" t="0" b="0"/>
          <a:stretch/>
        </p:blipFill>
        <p:spPr>
          <a:xfrm>
            <a:off x="762000" y="1524000"/>
            <a:ext cx="5334000" cy="596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1524000"/>
            <a:ext cx="5334000" cy="5969000"/>
          </a:xfrm>
          <a:prstGeom prst="rect">
            <a:avLst/>
          </a:prstGeom>
          <a:gradFill rotWithShape="1" flip="none">
            <a:gsLst>
              <a:gs pos="0">
                <a:srgbClr val="F5F1EB">
                  <a:alpha val="0"/>
                </a:srgbClr>
              </a:gs>
              <a:gs pos="70000">
                <a:srgbClr val="F5F1EB">
                  <a:alpha val="0"/>
                </a:srgbClr>
              </a:gs>
              <a:gs pos="100000">
                <a:srgbClr val="F5F1EB">
                  <a:alpha val="88000"/>
                </a:srgbClr>
              </a:gs>
            </a:gsLst>
            <a:lin ang="5400000" scaled="1"/>
          </a:gradFill>
          <a:ln/>
        </p:spPr>
      </p:sp>
      <p:sp>
        <p:nvSpPr>
          <p:cNvPr id="6" name="Shape 3"/>
          <p:cNvSpPr/>
          <p:nvPr/>
        </p:nvSpPr>
        <p:spPr>
          <a:xfrm>
            <a:off x="6477000" y="158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7382" y="60494"/>
                </a:moveTo>
                <a:lnTo>
                  <a:pt x="177800" y="74870"/>
                </a:lnTo>
                <a:lnTo>
                  <a:pt x="188218" y="60494"/>
                </a:lnTo>
                <a:cubicBezTo>
                  <a:pt x="205581" y="36463"/>
                  <a:pt x="233501" y="22225"/>
                  <a:pt x="263158" y="22225"/>
                </a:cubicBezTo>
                <a:cubicBezTo>
                  <a:pt x="314206" y="22225"/>
                  <a:pt x="355600" y="63619"/>
                  <a:pt x="355600" y="114667"/>
                </a:cubicBezTo>
                <a:lnTo>
                  <a:pt x="355600" y="116473"/>
                </a:lnTo>
                <a:cubicBezTo>
                  <a:pt x="355600" y="194399"/>
                  <a:pt x="258435" y="284897"/>
                  <a:pt x="207734" y="323582"/>
                </a:cubicBezTo>
                <a:cubicBezTo>
                  <a:pt x="199122" y="330111"/>
                  <a:pt x="188565" y="333375"/>
                  <a:pt x="177800" y="333375"/>
                </a:cubicBezTo>
                <a:cubicBezTo>
                  <a:pt x="167035" y="333375"/>
                  <a:pt x="156408" y="330180"/>
                  <a:pt x="147866" y="323582"/>
                </a:cubicBezTo>
                <a:cubicBezTo>
                  <a:pt x="97165" y="284897"/>
                  <a:pt x="0" y="194399"/>
                  <a:pt x="0" y="116473"/>
                </a:cubicBezTo>
                <a:lnTo>
                  <a:pt x="0" y="114667"/>
                </a:lnTo>
                <a:cubicBezTo>
                  <a:pt x="0" y="63619"/>
                  <a:pt x="41394" y="22225"/>
                  <a:pt x="92442" y="22225"/>
                </a:cubicBezTo>
                <a:cubicBezTo>
                  <a:pt x="122099" y="22225"/>
                  <a:pt x="150019" y="36463"/>
                  <a:pt x="167382" y="60494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7" name="Text 4"/>
          <p:cNvSpPr/>
          <p:nvPr/>
        </p:nvSpPr>
        <p:spPr>
          <a:xfrm>
            <a:off x="6985000" y="1562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Engagement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85000" y="1917700"/>
            <a:ext cx="812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content captures and maintains student attention longer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77000" y="266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0" name="Text 7"/>
          <p:cNvSpPr/>
          <p:nvPr/>
        </p:nvSpPr>
        <p:spPr>
          <a:xfrm>
            <a:off x="6985000" y="2641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Retention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85000" y="2997200"/>
            <a:ext cx="812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Multi-sensory learning leads to significantly better knowledge retention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770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3" name="Text 10"/>
          <p:cNvSpPr/>
          <p:nvPr/>
        </p:nvSpPr>
        <p:spPr>
          <a:xfrm>
            <a:off x="6985000" y="3721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Flexible Learning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85000" y="4076700"/>
            <a:ext cx="812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learn at their own pace with non-linear, self-directed content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77000" y="482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12167" y="118001"/>
                </a:moveTo>
                <a:cubicBezTo>
                  <a:pt x="103694" y="114389"/>
                  <a:pt x="93901" y="118279"/>
                  <a:pt x="90289" y="126752"/>
                </a:cubicBezTo>
                <a:cubicBezTo>
                  <a:pt x="86678" y="135225"/>
                  <a:pt x="90567" y="145018"/>
                  <a:pt x="99040" y="148630"/>
                </a:cubicBezTo>
                <a:lnTo>
                  <a:pt x="107305" y="152172"/>
                </a:lnTo>
                <a:cubicBezTo>
                  <a:pt x="119320" y="157311"/>
                  <a:pt x="131753" y="161131"/>
                  <a:pt x="144532" y="163493"/>
                </a:cubicBezTo>
                <a:lnTo>
                  <a:pt x="144532" y="198289"/>
                </a:lnTo>
                <a:cubicBezTo>
                  <a:pt x="144532" y="201275"/>
                  <a:pt x="144046" y="204262"/>
                  <a:pt x="143073" y="207040"/>
                </a:cubicBezTo>
                <a:lnTo>
                  <a:pt x="123140" y="266839"/>
                </a:lnTo>
                <a:cubicBezTo>
                  <a:pt x="120223" y="275590"/>
                  <a:pt x="124946" y="285036"/>
                  <a:pt x="133697" y="287953"/>
                </a:cubicBezTo>
                <a:cubicBezTo>
                  <a:pt x="142448" y="290870"/>
                  <a:pt x="151894" y="286147"/>
                  <a:pt x="154811" y="277396"/>
                </a:cubicBezTo>
                <a:lnTo>
                  <a:pt x="171758" y="226556"/>
                </a:lnTo>
                <a:cubicBezTo>
                  <a:pt x="172660" y="223917"/>
                  <a:pt x="175091" y="222111"/>
                  <a:pt x="177869" y="222111"/>
                </a:cubicBezTo>
                <a:cubicBezTo>
                  <a:pt x="180648" y="222111"/>
                  <a:pt x="183148" y="223917"/>
                  <a:pt x="183981" y="226556"/>
                </a:cubicBezTo>
                <a:lnTo>
                  <a:pt x="200928" y="277396"/>
                </a:lnTo>
                <a:cubicBezTo>
                  <a:pt x="203845" y="286147"/>
                  <a:pt x="213291" y="290870"/>
                  <a:pt x="222042" y="287953"/>
                </a:cubicBezTo>
                <a:cubicBezTo>
                  <a:pt x="230793" y="285036"/>
                  <a:pt x="235446" y="275729"/>
                  <a:pt x="232529" y="266978"/>
                </a:cubicBezTo>
                <a:lnTo>
                  <a:pt x="212596" y="207179"/>
                </a:lnTo>
                <a:cubicBezTo>
                  <a:pt x="211624" y="204331"/>
                  <a:pt x="211138" y="201414"/>
                  <a:pt x="211138" y="198428"/>
                </a:cubicBezTo>
                <a:lnTo>
                  <a:pt x="211138" y="163632"/>
                </a:lnTo>
                <a:cubicBezTo>
                  <a:pt x="223917" y="161201"/>
                  <a:pt x="236349" y="157450"/>
                  <a:pt x="248364" y="152311"/>
                </a:cubicBezTo>
                <a:lnTo>
                  <a:pt x="256629" y="148769"/>
                </a:lnTo>
                <a:cubicBezTo>
                  <a:pt x="265103" y="145157"/>
                  <a:pt x="268992" y="135364"/>
                  <a:pt x="265380" y="126891"/>
                </a:cubicBezTo>
                <a:cubicBezTo>
                  <a:pt x="261769" y="118418"/>
                  <a:pt x="251976" y="114528"/>
                  <a:pt x="243503" y="118140"/>
                </a:cubicBezTo>
                <a:lnTo>
                  <a:pt x="235238" y="121543"/>
                </a:lnTo>
                <a:cubicBezTo>
                  <a:pt x="217110" y="129322"/>
                  <a:pt x="197594" y="133350"/>
                  <a:pt x="177800" y="133350"/>
                </a:cubicBezTo>
                <a:cubicBezTo>
                  <a:pt x="158006" y="133350"/>
                  <a:pt x="138559" y="129322"/>
                  <a:pt x="120362" y="121543"/>
                </a:cubicBezTo>
                <a:lnTo>
                  <a:pt x="112097" y="118001"/>
                </a:lnTo>
                <a:close/>
                <a:moveTo>
                  <a:pt x="177800" y="111125"/>
                </a:moveTo>
                <a:cubicBezTo>
                  <a:pt x="193133" y="111125"/>
                  <a:pt x="205581" y="98677"/>
                  <a:pt x="205581" y="83344"/>
                </a:cubicBezTo>
                <a:cubicBezTo>
                  <a:pt x="205581" y="68011"/>
                  <a:pt x="193133" y="55563"/>
                  <a:pt x="177800" y="55563"/>
                </a:cubicBezTo>
                <a:cubicBezTo>
                  <a:pt x="162467" y="55563"/>
                  <a:pt x="150019" y="68011"/>
                  <a:pt x="150019" y="83344"/>
                </a:cubicBezTo>
                <a:cubicBezTo>
                  <a:pt x="150019" y="98677"/>
                  <a:pt x="162467" y="111125"/>
                  <a:pt x="177800" y="111125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6" name="Text 13"/>
          <p:cNvSpPr/>
          <p:nvPr/>
        </p:nvSpPr>
        <p:spPr>
          <a:xfrm>
            <a:off x="6985000" y="4800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85000" y="5156200"/>
            <a:ext cx="812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adapted for diverse learning needs and disabilities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499225" y="5905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9" name="Text 16"/>
          <p:cNvSpPr/>
          <p:nvPr/>
        </p:nvSpPr>
        <p:spPr>
          <a:xfrm>
            <a:off x="6985000" y="58801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Simulation &amp; Practice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85000" y="6235700"/>
            <a:ext cx="812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labs provide safe, repeatable learning environments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77000" y="698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2" name="Text 19"/>
          <p:cNvSpPr/>
          <p:nvPr/>
        </p:nvSpPr>
        <p:spPr>
          <a:xfrm>
            <a:off x="6985000" y="6959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Reach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85000" y="7315200"/>
            <a:ext cx="812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courses make quality education accessible worldwide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5" name="Text 22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Multimedia — Business &amp; Industry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699000" cy="203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752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66077" y="15002"/>
                </a:moveTo>
                <a:cubicBezTo>
                  <a:pt x="375206" y="19050"/>
                  <a:pt x="381000" y="28099"/>
                  <a:pt x="381000" y="38100"/>
                </a:cubicBezTo>
                <a:lnTo>
                  <a:pt x="381000" y="368300"/>
                </a:lnTo>
                <a:cubicBezTo>
                  <a:pt x="381000" y="378301"/>
                  <a:pt x="375206" y="387350"/>
                  <a:pt x="366077" y="391398"/>
                </a:cubicBezTo>
                <a:cubicBezTo>
                  <a:pt x="356949" y="395446"/>
                  <a:pt x="346393" y="393938"/>
                  <a:pt x="338852" y="387350"/>
                </a:cubicBezTo>
                <a:lnTo>
                  <a:pt x="301863" y="355044"/>
                </a:lnTo>
                <a:cubicBezTo>
                  <a:pt x="267256" y="324803"/>
                  <a:pt x="223520" y="307181"/>
                  <a:pt x="177721" y="305038"/>
                </a:cubicBezTo>
                <a:lnTo>
                  <a:pt x="177721" y="381000"/>
                </a:lnTo>
                <a:cubicBezTo>
                  <a:pt x="177721" y="395049"/>
                  <a:pt x="166370" y="406400"/>
                  <a:pt x="152321" y="406400"/>
                </a:cubicBezTo>
                <a:lnTo>
                  <a:pt x="126921" y="406400"/>
                </a:lnTo>
                <a:cubicBezTo>
                  <a:pt x="112871" y="406400"/>
                  <a:pt x="101521" y="395049"/>
                  <a:pt x="101521" y="381000"/>
                </a:cubicBezTo>
                <a:lnTo>
                  <a:pt x="101521" y="304800"/>
                </a:lnTo>
                <a:cubicBezTo>
                  <a:pt x="45482" y="304800"/>
                  <a:pt x="0" y="259318"/>
                  <a:pt x="0" y="203200"/>
                </a:cubicBezTo>
                <a:cubicBezTo>
                  <a:pt x="0" y="147082"/>
                  <a:pt x="45482" y="101600"/>
                  <a:pt x="101600" y="101600"/>
                </a:cubicBezTo>
                <a:lnTo>
                  <a:pt x="168672" y="101600"/>
                </a:lnTo>
                <a:cubicBezTo>
                  <a:pt x="217726" y="101441"/>
                  <a:pt x="265033" y="83582"/>
                  <a:pt x="301943" y="51356"/>
                </a:cubicBezTo>
                <a:lnTo>
                  <a:pt x="338931" y="19050"/>
                </a:lnTo>
                <a:cubicBezTo>
                  <a:pt x="346393" y="12462"/>
                  <a:pt x="357108" y="10954"/>
                  <a:pt x="366157" y="15002"/>
                </a:cubicBezTo>
                <a:close/>
                <a:moveTo>
                  <a:pt x="177800" y="254000"/>
                </a:moveTo>
                <a:lnTo>
                  <a:pt x="177800" y="254159"/>
                </a:lnTo>
                <a:cubicBezTo>
                  <a:pt x="233601" y="256302"/>
                  <a:pt x="287179" y="276781"/>
                  <a:pt x="330200" y="312420"/>
                </a:cubicBezTo>
                <a:lnTo>
                  <a:pt x="330200" y="93901"/>
                </a:lnTo>
                <a:cubicBezTo>
                  <a:pt x="287179" y="129540"/>
                  <a:pt x="233601" y="150019"/>
                  <a:pt x="177800" y="152162"/>
                </a:cubicBezTo>
                <a:lnTo>
                  <a:pt x="177800" y="254000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86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&amp; Branding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667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Engaging content builds stronger customer connections and brand recognition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524000"/>
            <a:ext cx="4699000" cy="203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918200" y="17526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01600" y="76200"/>
                </a:moveTo>
                <a:cubicBezTo>
                  <a:pt x="101600" y="48181"/>
                  <a:pt x="124381" y="25400"/>
                  <a:pt x="152400" y="25400"/>
                </a:cubicBezTo>
                <a:lnTo>
                  <a:pt x="431800" y="25400"/>
                </a:lnTo>
                <a:cubicBezTo>
                  <a:pt x="459819" y="25400"/>
                  <a:pt x="482600" y="48181"/>
                  <a:pt x="482600" y="76200"/>
                </a:cubicBezTo>
                <a:lnTo>
                  <a:pt x="482600" y="266700"/>
                </a:lnTo>
                <a:lnTo>
                  <a:pt x="406400" y="266700"/>
                </a:lnTo>
                <a:lnTo>
                  <a:pt x="406400" y="254000"/>
                </a:lnTo>
                <a:cubicBezTo>
                  <a:pt x="406400" y="239951"/>
                  <a:pt x="395049" y="228600"/>
                  <a:pt x="381000" y="228600"/>
                </a:cubicBezTo>
                <a:lnTo>
                  <a:pt x="330200" y="228600"/>
                </a:lnTo>
                <a:cubicBezTo>
                  <a:pt x="316151" y="228600"/>
                  <a:pt x="304800" y="239951"/>
                  <a:pt x="304800" y="254000"/>
                </a:cubicBezTo>
                <a:lnTo>
                  <a:pt x="304800" y="266700"/>
                </a:lnTo>
                <a:lnTo>
                  <a:pt x="202327" y="266700"/>
                </a:lnTo>
                <a:cubicBezTo>
                  <a:pt x="210979" y="251777"/>
                  <a:pt x="215900" y="234394"/>
                  <a:pt x="215900" y="215900"/>
                </a:cubicBezTo>
                <a:cubicBezTo>
                  <a:pt x="215900" y="159782"/>
                  <a:pt x="170418" y="114300"/>
                  <a:pt x="114300" y="114300"/>
                </a:cubicBezTo>
                <a:cubicBezTo>
                  <a:pt x="110014" y="114300"/>
                  <a:pt x="105727" y="114538"/>
                  <a:pt x="101600" y="115094"/>
                </a:cubicBezTo>
                <a:lnTo>
                  <a:pt x="101600" y="76200"/>
                </a:lnTo>
                <a:close/>
                <a:moveTo>
                  <a:pt x="264319" y="355600"/>
                </a:moveTo>
                <a:cubicBezTo>
                  <a:pt x="260271" y="336391"/>
                  <a:pt x="251381" y="319008"/>
                  <a:pt x="238839" y="304800"/>
                </a:cubicBezTo>
                <a:lnTo>
                  <a:pt x="482600" y="304800"/>
                </a:lnTo>
                <a:cubicBezTo>
                  <a:pt x="482600" y="332819"/>
                  <a:pt x="459819" y="355600"/>
                  <a:pt x="431800" y="355600"/>
                </a:cubicBezTo>
                <a:lnTo>
                  <a:pt x="264319" y="355600"/>
                </a:lnTo>
                <a:close/>
                <a:moveTo>
                  <a:pt x="50800" y="215900"/>
                </a:moveTo>
                <a:cubicBezTo>
                  <a:pt x="50800" y="180853"/>
                  <a:pt x="79253" y="152400"/>
                  <a:pt x="114300" y="152400"/>
                </a:cubicBezTo>
                <a:cubicBezTo>
                  <a:pt x="149347" y="152400"/>
                  <a:pt x="177800" y="180853"/>
                  <a:pt x="177800" y="215900"/>
                </a:cubicBezTo>
                <a:cubicBezTo>
                  <a:pt x="177800" y="250947"/>
                  <a:pt x="149347" y="279400"/>
                  <a:pt x="114300" y="279400"/>
                </a:cubicBezTo>
                <a:cubicBezTo>
                  <a:pt x="79253" y="279400"/>
                  <a:pt x="50800" y="250947"/>
                  <a:pt x="50800" y="215900"/>
                </a:cubicBezTo>
                <a:close/>
                <a:moveTo>
                  <a:pt x="0" y="381000"/>
                </a:moveTo>
                <a:cubicBezTo>
                  <a:pt x="0" y="338931"/>
                  <a:pt x="34131" y="304800"/>
                  <a:pt x="76200" y="304800"/>
                </a:cubicBezTo>
                <a:lnTo>
                  <a:pt x="152400" y="304800"/>
                </a:lnTo>
                <a:cubicBezTo>
                  <a:pt x="194469" y="304800"/>
                  <a:pt x="228600" y="338931"/>
                  <a:pt x="228600" y="381000"/>
                </a:cubicBezTo>
                <a:cubicBezTo>
                  <a:pt x="228600" y="395049"/>
                  <a:pt x="217249" y="406400"/>
                  <a:pt x="203200" y="406400"/>
                </a:cubicBezTo>
                <a:lnTo>
                  <a:pt x="25400" y="406400"/>
                </a:lnTo>
                <a:cubicBezTo>
                  <a:pt x="11351" y="406400"/>
                  <a:pt x="0" y="395049"/>
                  <a:pt x="0" y="38100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0" name="Text 8"/>
          <p:cNvSpPr/>
          <p:nvPr/>
        </p:nvSpPr>
        <p:spPr>
          <a:xfrm>
            <a:off x="5969000" y="2286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&amp; Development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9000" y="2667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modules improve employee skills efficiently and cost-effectively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524000"/>
            <a:ext cx="4826000" cy="203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96600" y="1752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04800" y="114300"/>
                </a:moveTo>
                <a:cubicBezTo>
                  <a:pt x="304800" y="191452"/>
                  <a:pt x="236538" y="254000"/>
                  <a:pt x="152400" y="254000"/>
                </a:cubicBezTo>
                <a:cubicBezTo>
                  <a:pt x="131207" y="254000"/>
                  <a:pt x="111046" y="250031"/>
                  <a:pt x="92710" y="242888"/>
                </a:cubicBezTo>
                <a:lnTo>
                  <a:pt x="27940" y="277178"/>
                </a:lnTo>
                <a:cubicBezTo>
                  <a:pt x="20558" y="281067"/>
                  <a:pt x="11509" y="279717"/>
                  <a:pt x="5556" y="273844"/>
                </a:cubicBezTo>
                <a:cubicBezTo>
                  <a:pt x="-397" y="267970"/>
                  <a:pt x="-1746" y="258842"/>
                  <a:pt x="2223" y="251460"/>
                </a:cubicBezTo>
                <a:lnTo>
                  <a:pt x="30480" y="198120"/>
                </a:lnTo>
                <a:cubicBezTo>
                  <a:pt x="11351" y="174784"/>
                  <a:pt x="0" y="145733"/>
                  <a:pt x="0" y="114300"/>
                </a:cubicBezTo>
                <a:cubicBezTo>
                  <a:pt x="0" y="37147"/>
                  <a:pt x="68263" y="-25400"/>
                  <a:pt x="152400" y="-25400"/>
                </a:cubicBezTo>
                <a:cubicBezTo>
                  <a:pt x="236538" y="-25400"/>
                  <a:pt x="304800" y="37147"/>
                  <a:pt x="304800" y="114300"/>
                </a:cubicBezTo>
                <a:close/>
                <a:moveTo>
                  <a:pt x="304800" y="406400"/>
                </a:moveTo>
                <a:cubicBezTo>
                  <a:pt x="230108" y="406400"/>
                  <a:pt x="167958" y="357108"/>
                  <a:pt x="154940" y="292100"/>
                </a:cubicBezTo>
                <a:cubicBezTo>
                  <a:pt x="250190" y="290909"/>
                  <a:pt x="332978" y="223123"/>
                  <a:pt x="342106" y="131207"/>
                </a:cubicBezTo>
                <a:cubicBezTo>
                  <a:pt x="408226" y="146447"/>
                  <a:pt x="457200" y="201295"/>
                  <a:pt x="457200" y="266700"/>
                </a:cubicBezTo>
                <a:cubicBezTo>
                  <a:pt x="457200" y="298133"/>
                  <a:pt x="445849" y="327184"/>
                  <a:pt x="426720" y="350520"/>
                </a:cubicBezTo>
                <a:lnTo>
                  <a:pt x="454978" y="403860"/>
                </a:lnTo>
                <a:cubicBezTo>
                  <a:pt x="458867" y="411242"/>
                  <a:pt x="457518" y="420291"/>
                  <a:pt x="451644" y="426244"/>
                </a:cubicBezTo>
                <a:cubicBezTo>
                  <a:pt x="445770" y="432197"/>
                  <a:pt x="436642" y="433546"/>
                  <a:pt x="429260" y="429578"/>
                </a:cubicBezTo>
                <a:lnTo>
                  <a:pt x="364490" y="395288"/>
                </a:lnTo>
                <a:cubicBezTo>
                  <a:pt x="346154" y="402431"/>
                  <a:pt x="325993" y="406400"/>
                  <a:pt x="304800" y="40640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2860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22000" y="26670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conferencing and presentations streamline team collaboration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810000"/>
            <a:ext cx="4699000" cy="203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403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8038" y="-1984"/>
                </a:moveTo>
                <a:cubicBezTo>
                  <a:pt x="193754" y="-11033"/>
                  <a:pt x="213122" y="-11033"/>
                  <a:pt x="228838" y="-1984"/>
                </a:cubicBezTo>
                <a:lnTo>
                  <a:pt x="368459" y="78581"/>
                </a:lnTo>
                <a:cubicBezTo>
                  <a:pt x="384175" y="87630"/>
                  <a:pt x="393859" y="104458"/>
                  <a:pt x="393859" y="122555"/>
                </a:cubicBezTo>
                <a:lnTo>
                  <a:pt x="393859" y="283686"/>
                </a:lnTo>
                <a:cubicBezTo>
                  <a:pt x="393859" y="301863"/>
                  <a:pt x="384175" y="318611"/>
                  <a:pt x="368459" y="327660"/>
                </a:cubicBezTo>
                <a:lnTo>
                  <a:pt x="228838" y="408384"/>
                </a:lnTo>
                <a:cubicBezTo>
                  <a:pt x="213122" y="417433"/>
                  <a:pt x="193754" y="417433"/>
                  <a:pt x="178038" y="408384"/>
                </a:cubicBezTo>
                <a:lnTo>
                  <a:pt x="38497" y="327819"/>
                </a:lnTo>
                <a:cubicBezTo>
                  <a:pt x="22781" y="318770"/>
                  <a:pt x="13097" y="301943"/>
                  <a:pt x="13097" y="283845"/>
                </a:cubicBezTo>
                <a:lnTo>
                  <a:pt x="13097" y="122714"/>
                </a:lnTo>
                <a:cubicBezTo>
                  <a:pt x="13097" y="104537"/>
                  <a:pt x="22781" y="87789"/>
                  <a:pt x="38497" y="78740"/>
                </a:cubicBezTo>
                <a:lnTo>
                  <a:pt x="178038" y="-1984"/>
                </a:lnTo>
                <a:close/>
                <a:moveTo>
                  <a:pt x="342979" y="283766"/>
                </a:moveTo>
                <a:lnTo>
                  <a:pt x="342979" y="151924"/>
                </a:lnTo>
                <a:lnTo>
                  <a:pt x="228838" y="217805"/>
                </a:lnTo>
                <a:lnTo>
                  <a:pt x="228838" y="349647"/>
                </a:lnTo>
                <a:lnTo>
                  <a:pt x="342979" y="283766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572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Demos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953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showcases products more effectively than text descriptions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0" y="3810000"/>
            <a:ext cx="4699000" cy="203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4038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06718" y="190500"/>
                </a:moveTo>
                <a:lnTo>
                  <a:pt x="267017" y="190500"/>
                </a:lnTo>
                <a:cubicBezTo>
                  <a:pt x="252968" y="190500"/>
                  <a:pt x="241618" y="179149"/>
                  <a:pt x="241618" y="165100"/>
                </a:cubicBezTo>
                <a:lnTo>
                  <a:pt x="241618" y="25400"/>
                </a:lnTo>
                <a:cubicBezTo>
                  <a:pt x="241618" y="11351"/>
                  <a:pt x="253047" y="-159"/>
                  <a:pt x="266938" y="1667"/>
                </a:cubicBezTo>
                <a:cubicBezTo>
                  <a:pt x="351869" y="12938"/>
                  <a:pt x="419179" y="80248"/>
                  <a:pt x="430451" y="165179"/>
                </a:cubicBezTo>
                <a:cubicBezTo>
                  <a:pt x="432276" y="179070"/>
                  <a:pt x="420767" y="190500"/>
                  <a:pt x="406718" y="190500"/>
                </a:cubicBezTo>
                <a:close/>
                <a:moveTo>
                  <a:pt x="176689" y="29528"/>
                </a:moveTo>
                <a:cubicBezTo>
                  <a:pt x="191056" y="26511"/>
                  <a:pt x="203518" y="38259"/>
                  <a:pt x="203518" y="52943"/>
                </a:cubicBezTo>
                <a:lnTo>
                  <a:pt x="203518" y="209550"/>
                </a:lnTo>
                <a:cubicBezTo>
                  <a:pt x="203518" y="213995"/>
                  <a:pt x="205105" y="218281"/>
                  <a:pt x="207883" y="221694"/>
                </a:cubicBezTo>
                <a:lnTo>
                  <a:pt x="312738" y="348218"/>
                </a:lnTo>
                <a:cubicBezTo>
                  <a:pt x="322024" y="359410"/>
                  <a:pt x="320040" y="376317"/>
                  <a:pt x="307261" y="383223"/>
                </a:cubicBezTo>
                <a:cubicBezTo>
                  <a:pt x="280194" y="397986"/>
                  <a:pt x="249158" y="406400"/>
                  <a:pt x="216218" y="406400"/>
                </a:cubicBezTo>
                <a:cubicBezTo>
                  <a:pt x="111046" y="406400"/>
                  <a:pt x="25718" y="321072"/>
                  <a:pt x="25718" y="215900"/>
                </a:cubicBezTo>
                <a:cubicBezTo>
                  <a:pt x="25718" y="124222"/>
                  <a:pt x="90408" y="47704"/>
                  <a:pt x="176689" y="29527"/>
                </a:cubicBezTo>
                <a:close/>
                <a:moveTo>
                  <a:pt x="379254" y="228600"/>
                </a:moveTo>
                <a:lnTo>
                  <a:pt x="430054" y="228600"/>
                </a:lnTo>
                <a:cubicBezTo>
                  <a:pt x="444738" y="228600"/>
                  <a:pt x="456486" y="241062"/>
                  <a:pt x="453469" y="255429"/>
                </a:cubicBezTo>
                <a:cubicBezTo>
                  <a:pt x="445373" y="293846"/>
                  <a:pt x="425688" y="327978"/>
                  <a:pt x="398224" y="354013"/>
                </a:cubicBezTo>
                <a:cubicBezTo>
                  <a:pt x="388461" y="363299"/>
                  <a:pt x="373142" y="361315"/>
                  <a:pt x="364569" y="350917"/>
                </a:cubicBezTo>
                <a:lnTo>
                  <a:pt x="297577" y="270193"/>
                </a:lnTo>
                <a:cubicBezTo>
                  <a:pt x="283845" y="253603"/>
                  <a:pt x="295672" y="228600"/>
                  <a:pt x="317103" y="228600"/>
                </a:cubicBezTo>
                <a:lnTo>
                  <a:pt x="379174" y="228600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2" name="Text 20"/>
          <p:cNvSpPr/>
          <p:nvPr/>
        </p:nvSpPr>
        <p:spPr>
          <a:xfrm>
            <a:off x="5969000" y="4572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69000" y="4953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data becomes understandable through charts and infographics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3810000"/>
            <a:ext cx="4826000" cy="203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22000" y="403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4212" y="158512"/>
                </a:moveTo>
                <a:lnTo>
                  <a:pt x="68739" y="183039"/>
                </a:lnTo>
                <a:cubicBezTo>
                  <a:pt x="73501" y="187801"/>
                  <a:pt x="79931" y="190500"/>
                  <a:pt x="86678" y="190500"/>
                </a:cubicBezTo>
                <a:lnTo>
                  <a:pt x="103743" y="190500"/>
                </a:lnTo>
                <a:cubicBezTo>
                  <a:pt x="110490" y="190500"/>
                  <a:pt x="116919" y="193199"/>
                  <a:pt x="121682" y="197961"/>
                </a:cubicBezTo>
                <a:lnTo>
                  <a:pt x="144939" y="221218"/>
                </a:lnTo>
                <a:cubicBezTo>
                  <a:pt x="149701" y="225981"/>
                  <a:pt x="152400" y="232410"/>
                  <a:pt x="152400" y="239157"/>
                </a:cubicBezTo>
                <a:lnTo>
                  <a:pt x="152400" y="268923"/>
                </a:lnTo>
                <a:cubicBezTo>
                  <a:pt x="152400" y="275669"/>
                  <a:pt x="155099" y="282099"/>
                  <a:pt x="159861" y="286861"/>
                </a:cubicBezTo>
                <a:lnTo>
                  <a:pt x="170418" y="297418"/>
                </a:lnTo>
                <a:cubicBezTo>
                  <a:pt x="175181" y="302181"/>
                  <a:pt x="177879" y="308610"/>
                  <a:pt x="177879" y="315357"/>
                </a:cubicBezTo>
                <a:lnTo>
                  <a:pt x="177879" y="330200"/>
                </a:lnTo>
                <a:cubicBezTo>
                  <a:pt x="177879" y="344249"/>
                  <a:pt x="189230" y="355600"/>
                  <a:pt x="203279" y="355600"/>
                </a:cubicBezTo>
                <a:cubicBezTo>
                  <a:pt x="217329" y="355600"/>
                  <a:pt x="228679" y="344249"/>
                  <a:pt x="228679" y="330200"/>
                </a:cubicBezTo>
                <a:lnTo>
                  <a:pt x="228679" y="328057"/>
                </a:lnTo>
                <a:cubicBezTo>
                  <a:pt x="228679" y="321310"/>
                  <a:pt x="231378" y="314881"/>
                  <a:pt x="236141" y="310118"/>
                </a:cubicBezTo>
                <a:lnTo>
                  <a:pt x="272098" y="274161"/>
                </a:lnTo>
                <a:cubicBezTo>
                  <a:pt x="276860" y="269399"/>
                  <a:pt x="279559" y="262969"/>
                  <a:pt x="279559" y="256223"/>
                </a:cubicBezTo>
                <a:lnTo>
                  <a:pt x="279559" y="228679"/>
                </a:lnTo>
                <a:cubicBezTo>
                  <a:pt x="279559" y="214630"/>
                  <a:pt x="268208" y="203279"/>
                  <a:pt x="254159" y="203279"/>
                </a:cubicBezTo>
                <a:lnTo>
                  <a:pt x="188516" y="203279"/>
                </a:lnTo>
                <a:cubicBezTo>
                  <a:pt x="181769" y="203279"/>
                  <a:pt x="175339" y="200581"/>
                  <a:pt x="170577" y="195818"/>
                </a:cubicBezTo>
                <a:lnTo>
                  <a:pt x="157877" y="183118"/>
                </a:lnTo>
                <a:cubicBezTo>
                  <a:pt x="154543" y="179784"/>
                  <a:pt x="152638" y="175181"/>
                  <a:pt x="152638" y="170418"/>
                </a:cubicBezTo>
                <a:cubicBezTo>
                  <a:pt x="152638" y="160496"/>
                  <a:pt x="160655" y="152479"/>
                  <a:pt x="170577" y="152479"/>
                </a:cubicBezTo>
                <a:lnTo>
                  <a:pt x="198120" y="152479"/>
                </a:lnTo>
                <a:cubicBezTo>
                  <a:pt x="208042" y="152479"/>
                  <a:pt x="216059" y="144463"/>
                  <a:pt x="216059" y="134541"/>
                </a:cubicBezTo>
                <a:cubicBezTo>
                  <a:pt x="216059" y="129778"/>
                  <a:pt x="214154" y="125174"/>
                  <a:pt x="210820" y="121841"/>
                </a:cubicBezTo>
                <a:lnTo>
                  <a:pt x="195183" y="106204"/>
                </a:lnTo>
                <a:cubicBezTo>
                  <a:pt x="192088" y="103188"/>
                  <a:pt x="190500" y="99298"/>
                  <a:pt x="190500" y="95250"/>
                </a:cubicBezTo>
                <a:cubicBezTo>
                  <a:pt x="190500" y="91202"/>
                  <a:pt x="192088" y="87313"/>
                  <a:pt x="195024" y="84376"/>
                </a:cubicBezTo>
                <a:lnTo>
                  <a:pt x="208756" y="70644"/>
                </a:lnTo>
                <a:cubicBezTo>
                  <a:pt x="213360" y="66040"/>
                  <a:pt x="215979" y="59769"/>
                  <a:pt x="215979" y="53261"/>
                </a:cubicBezTo>
                <a:cubicBezTo>
                  <a:pt x="215979" y="47546"/>
                  <a:pt x="214074" y="42386"/>
                  <a:pt x="210899" y="38259"/>
                </a:cubicBezTo>
                <a:cubicBezTo>
                  <a:pt x="208359" y="38179"/>
                  <a:pt x="205819" y="38100"/>
                  <a:pt x="203279" y="38100"/>
                </a:cubicBezTo>
                <a:cubicBezTo>
                  <a:pt x="127556" y="38100"/>
                  <a:pt x="63818" y="89059"/>
                  <a:pt x="44291" y="158512"/>
                </a:cubicBezTo>
                <a:close/>
                <a:moveTo>
                  <a:pt x="368300" y="203200"/>
                </a:moveTo>
                <a:cubicBezTo>
                  <a:pt x="368300" y="175736"/>
                  <a:pt x="361633" y="149860"/>
                  <a:pt x="349726" y="127159"/>
                </a:cubicBezTo>
                <a:cubicBezTo>
                  <a:pt x="344646" y="127873"/>
                  <a:pt x="339646" y="130254"/>
                  <a:pt x="335518" y="134382"/>
                </a:cubicBezTo>
                <a:lnTo>
                  <a:pt x="324882" y="145018"/>
                </a:lnTo>
                <a:cubicBezTo>
                  <a:pt x="320119" y="149781"/>
                  <a:pt x="317421" y="156210"/>
                  <a:pt x="317421" y="162957"/>
                </a:cubicBezTo>
                <a:lnTo>
                  <a:pt x="317421" y="190500"/>
                </a:lnTo>
                <a:cubicBezTo>
                  <a:pt x="317421" y="204549"/>
                  <a:pt x="328771" y="215900"/>
                  <a:pt x="342821" y="215900"/>
                </a:cubicBezTo>
                <a:lnTo>
                  <a:pt x="361950" y="215900"/>
                </a:lnTo>
                <a:cubicBezTo>
                  <a:pt x="363934" y="215900"/>
                  <a:pt x="365919" y="215662"/>
                  <a:pt x="367744" y="215265"/>
                </a:cubicBezTo>
                <a:cubicBezTo>
                  <a:pt x="368062" y="211296"/>
                  <a:pt x="368141" y="207248"/>
                  <a:pt x="368141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922000" y="45720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Operations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22000" y="49530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transcends language barriers for international business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223000"/>
            <a:ext cx="14732000" cy="127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" y="65405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has become an indispensable tool for businesses, enhancing communication, marketing, and overall operations across all industries.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31" name="Text 29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Multimedia — Entertainment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pic>
        <p:nvPicPr>
          <p:cNvPr id="4" name="Image 0" descr="https://kimi-img.moonshot.cn/pub/slides/okc/reky6lt2ntf4w/mnt/agents/output/multimedia-week1/images/10_Immersive_Virtual_Reality_Experience.png">    </p:cNvPr>
          <p:cNvPicPr>
            <a:picLocks noChangeAspect="1"/>
          </p:cNvPicPr>
          <p:nvPr/>
        </p:nvPicPr>
        <p:blipFill>
          <a:blip r:embed="rId1"/>
          <a:srcRect l="24016" r="24016" t="0" b="0"/>
          <a:stretch/>
        </p:blipFill>
        <p:spPr>
          <a:xfrm>
            <a:off x="9144000" y="1270000"/>
            <a:ext cx="635000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0" y="1270000"/>
            <a:ext cx="6350000" cy="6858000"/>
          </a:xfrm>
          <a:prstGeom prst="rect">
            <a:avLst/>
          </a:prstGeom>
          <a:gradFill rotWithShape="1" flip="none">
            <a:gsLst>
              <a:gs pos="0">
                <a:srgbClr val="F5F1EB">
                  <a:alpha val="94000"/>
                </a:srgbClr>
              </a:gs>
              <a:gs pos="25000">
                <a:srgbClr val="F5F1EB">
                  <a:alpha val="0"/>
                </a:srgbClr>
              </a:gs>
              <a:gs pos="100000">
                <a:srgbClr val="F5F1EB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3"/>
          <p:cNvSpPr/>
          <p:nvPr/>
        </p:nvSpPr>
        <p:spPr>
          <a:xfrm>
            <a:off x="717550" y="1524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11150" y="44450"/>
                </a:moveTo>
                <a:cubicBezTo>
                  <a:pt x="384770" y="44450"/>
                  <a:pt x="444500" y="104180"/>
                  <a:pt x="444500" y="177800"/>
                </a:cubicBezTo>
                <a:cubicBezTo>
                  <a:pt x="444500" y="251420"/>
                  <a:pt x="384770" y="311150"/>
                  <a:pt x="311150" y="311150"/>
                </a:cubicBezTo>
                <a:lnTo>
                  <a:pt x="133350" y="311150"/>
                </a:lnTo>
                <a:cubicBezTo>
                  <a:pt x="59730" y="311150"/>
                  <a:pt x="0" y="251420"/>
                  <a:pt x="0" y="177800"/>
                </a:cubicBezTo>
                <a:cubicBezTo>
                  <a:pt x="0" y="104180"/>
                  <a:pt x="59730" y="44450"/>
                  <a:pt x="133350" y="44450"/>
                </a:cubicBezTo>
                <a:lnTo>
                  <a:pt x="311150" y="44450"/>
                </a:lnTo>
                <a:close/>
                <a:moveTo>
                  <a:pt x="133350" y="122238"/>
                </a:moveTo>
                <a:cubicBezTo>
                  <a:pt x="124113" y="122238"/>
                  <a:pt x="116681" y="129669"/>
                  <a:pt x="116681" y="138906"/>
                </a:cubicBezTo>
                <a:lnTo>
                  <a:pt x="116681" y="161131"/>
                </a:lnTo>
                <a:lnTo>
                  <a:pt x="94456" y="161131"/>
                </a:lnTo>
                <a:cubicBezTo>
                  <a:pt x="85219" y="161131"/>
                  <a:pt x="77788" y="168563"/>
                  <a:pt x="77788" y="177800"/>
                </a:cubicBezTo>
                <a:cubicBezTo>
                  <a:pt x="77788" y="187037"/>
                  <a:pt x="85219" y="194469"/>
                  <a:pt x="94456" y="194469"/>
                </a:cubicBezTo>
                <a:lnTo>
                  <a:pt x="116681" y="194469"/>
                </a:lnTo>
                <a:lnTo>
                  <a:pt x="116681" y="216694"/>
                </a:lnTo>
                <a:cubicBezTo>
                  <a:pt x="116681" y="225931"/>
                  <a:pt x="124113" y="233363"/>
                  <a:pt x="133350" y="233363"/>
                </a:cubicBezTo>
                <a:cubicBezTo>
                  <a:pt x="142587" y="233363"/>
                  <a:pt x="150019" y="225931"/>
                  <a:pt x="150019" y="216694"/>
                </a:cubicBezTo>
                <a:lnTo>
                  <a:pt x="150019" y="194469"/>
                </a:lnTo>
                <a:lnTo>
                  <a:pt x="172244" y="194469"/>
                </a:lnTo>
                <a:cubicBezTo>
                  <a:pt x="181481" y="194469"/>
                  <a:pt x="188913" y="187037"/>
                  <a:pt x="188913" y="177800"/>
                </a:cubicBezTo>
                <a:cubicBezTo>
                  <a:pt x="188913" y="168563"/>
                  <a:pt x="181481" y="161131"/>
                  <a:pt x="172244" y="161131"/>
                </a:cubicBezTo>
                <a:lnTo>
                  <a:pt x="150019" y="161131"/>
                </a:lnTo>
                <a:lnTo>
                  <a:pt x="150019" y="138906"/>
                </a:lnTo>
                <a:cubicBezTo>
                  <a:pt x="150019" y="129669"/>
                  <a:pt x="142587" y="122238"/>
                  <a:pt x="133350" y="122238"/>
                </a:cubicBezTo>
                <a:close/>
                <a:moveTo>
                  <a:pt x="300038" y="188913"/>
                </a:moveTo>
                <a:cubicBezTo>
                  <a:pt x="287771" y="188913"/>
                  <a:pt x="277813" y="198871"/>
                  <a:pt x="277813" y="211138"/>
                </a:cubicBezTo>
                <a:cubicBezTo>
                  <a:pt x="277813" y="223404"/>
                  <a:pt x="287771" y="233363"/>
                  <a:pt x="300038" y="233363"/>
                </a:cubicBezTo>
                <a:cubicBezTo>
                  <a:pt x="312304" y="233363"/>
                  <a:pt x="322263" y="223404"/>
                  <a:pt x="322263" y="211138"/>
                </a:cubicBezTo>
                <a:cubicBezTo>
                  <a:pt x="322263" y="198871"/>
                  <a:pt x="312304" y="188913"/>
                  <a:pt x="300038" y="188913"/>
                </a:cubicBezTo>
                <a:close/>
                <a:moveTo>
                  <a:pt x="344488" y="122238"/>
                </a:moveTo>
                <a:cubicBezTo>
                  <a:pt x="332221" y="122238"/>
                  <a:pt x="322263" y="132196"/>
                  <a:pt x="322263" y="144463"/>
                </a:cubicBezTo>
                <a:cubicBezTo>
                  <a:pt x="322263" y="156729"/>
                  <a:pt x="332221" y="166688"/>
                  <a:pt x="344488" y="166688"/>
                </a:cubicBezTo>
                <a:cubicBezTo>
                  <a:pt x="356754" y="166688"/>
                  <a:pt x="366712" y="156729"/>
                  <a:pt x="366712" y="144463"/>
                </a:cubicBezTo>
                <a:cubicBezTo>
                  <a:pt x="366712" y="132196"/>
                  <a:pt x="356754" y="122238"/>
                  <a:pt x="344488" y="122238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7" name="Text 4"/>
          <p:cNvSpPr/>
          <p:nvPr/>
        </p:nvSpPr>
        <p:spPr>
          <a:xfrm>
            <a:off x="1270000" y="1498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70000" y="1854200"/>
            <a:ext cx="736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Immersive experiences combining graphics, audio, and interactivity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266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30780" y="102166"/>
                </a:moveTo>
                <a:cubicBezTo>
                  <a:pt x="125502" y="105083"/>
                  <a:pt x="122238" y="110708"/>
                  <a:pt x="122238" y="116681"/>
                </a:cubicBezTo>
                <a:lnTo>
                  <a:pt x="122238" y="238919"/>
                </a:lnTo>
                <a:cubicBezTo>
                  <a:pt x="122238" y="244961"/>
                  <a:pt x="125502" y="250517"/>
                  <a:pt x="130780" y="253434"/>
                </a:cubicBezTo>
                <a:cubicBezTo>
                  <a:pt x="136059" y="256351"/>
                  <a:pt x="142448" y="256282"/>
                  <a:pt x="147657" y="253087"/>
                </a:cubicBezTo>
                <a:lnTo>
                  <a:pt x="247670" y="191968"/>
                </a:lnTo>
                <a:cubicBezTo>
                  <a:pt x="252601" y="188913"/>
                  <a:pt x="255657" y="183565"/>
                  <a:pt x="255657" y="177731"/>
                </a:cubicBezTo>
                <a:cubicBezTo>
                  <a:pt x="255657" y="171896"/>
                  <a:pt x="252601" y="166549"/>
                  <a:pt x="247670" y="163493"/>
                </a:cubicBezTo>
                <a:lnTo>
                  <a:pt x="147657" y="102374"/>
                </a:lnTo>
                <a:cubicBezTo>
                  <a:pt x="142518" y="99249"/>
                  <a:pt x="136059" y="99110"/>
                  <a:pt x="130780" y="102027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0" name="Text 7"/>
          <p:cNvSpPr/>
          <p:nvPr/>
        </p:nvSpPr>
        <p:spPr>
          <a:xfrm>
            <a:off x="1270000" y="2641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Services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70000" y="2997200"/>
            <a:ext cx="736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On-demand access to movies, music, and shows anytime, anywhere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9775" y="3810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5600" y="66675"/>
                </a:moveTo>
                <a:lnTo>
                  <a:pt x="44450" y="66675"/>
                </a:lnTo>
                <a:cubicBezTo>
                  <a:pt x="19933" y="66675"/>
                  <a:pt x="0" y="86608"/>
                  <a:pt x="0" y="11112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26057" y="288925"/>
                </a:lnTo>
                <a:cubicBezTo>
                  <a:pt x="137864" y="288925"/>
                  <a:pt x="149185" y="284272"/>
                  <a:pt x="157520" y="275937"/>
                </a:cubicBezTo>
                <a:lnTo>
                  <a:pt x="181064" y="252393"/>
                </a:lnTo>
                <a:cubicBezTo>
                  <a:pt x="186065" y="247392"/>
                  <a:pt x="192941" y="244544"/>
                  <a:pt x="200025" y="244544"/>
                </a:cubicBezTo>
                <a:cubicBezTo>
                  <a:pt x="207109" y="244544"/>
                  <a:pt x="213985" y="247392"/>
                  <a:pt x="218986" y="252393"/>
                </a:cubicBezTo>
                <a:lnTo>
                  <a:pt x="242530" y="275937"/>
                </a:lnTo>
                <a:cubicBezTo>
                  <a:pt x="250865" y="284272"/>
                  <a:pt x="262186" y="288925"/>
                  <a:pt x="273993" y="288925"/>
                </a:cubicBezTo>
                <a:lnTo>
                  <a:pt x="355600" y="288925"/>
                </a:lnTo>
                <a:cubicBezTo>
                  <a:pt x="380117" y="288925"/>
                  <a:pt x="400050" y="268992"/>
                  <a:pt x="400050" y="244475"/>
                </a:cubicBezTo>
                <a:lnTo>
                  <a:pt x="400050" y="111125"/>
                </a:lnTo>
                <a:cubicBezTo>
                  <a:pt x="400050" y="86608"/>
                  <a:pt x="380117" y="66675"/>
                  <a:pt x="355600" y="66675"/>
                </a:cubicBezTo>
                <a:close/>
                <a:moveTo>
                  <a:pt x="55563" y="166688"/>
                </a:moveTo>
                <a:cubicBezTo>
                  <a:pt x="55563" y="142155"/>
                  <a:pt x="75480" y="122238"/>
                  <a:pt x="100013" y="122238"/>
                </a:cubicBezTo>
                <a:cubicBezTo>
                  <a:pt x="124545" y="122238"/>
                  <a:pt x="144463" y="142155"/>
                  <a:pt x="144463" y="166688"/>
                </a:cubicBezTo>
                <a:cubicBezTo>
                  <a:pt x="144463" y="191220"/>
                  <a:pt x="124545" y="211138"/>
                  <a:pt x="100013" y="211138"/>
                </a:cubicBezTo>
                <a:cubicBezTo>
                  <a:pt x="75480" y="211138"/>
                  <a:pt x="55563" y="191220"/>
                  <a:pt x="55563" y="166688"/>
                </a:cubicBezTo>
                <a:close/>
                <a:moveTo>
                  <a:pt x="300038" y="122238"/>
                </a:moveTo>
                <a:cubicBezTo>
                  <a:pt x="324570" y="122238"/>
                  <a:pt x="344488" y="142155"/>
                  <a:pt x="344488" y="166688"/>
                </a:cubicBezTo>
                <a:cubicBezTo>
                  <a:pt x="344488" y="191220"/>
                  <a:pt x="324570" y="211138"/>
                  <a:pt x="300038" y="211138"/>
                </a:cubicBezTo>
                <a:cubicBezTo>
                  <a:pt x="275505" y="211138"/>
                  <a:pt x="255587" y="191220"/>
                  <a:pt x="255587" y="166688"/>
                </a:cubicBezTo>
                <a:cubicBezTo>
                  <a:pt x="255587" y="142155"/>
                  <a:pt x="275505" y="122238"/>
                  <a:pt x="300038" y="122238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3" name="Text 10"/>
          <p:cNvSpPr/>
          <p:nvPr/>
        </p:nvSpPr>
        <p:spPr>
          <a:xfrm>
            <a:off x="1270000" y="3784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Reality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70000" y="4140200"/>
            <a:ext cx="736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immersive digital environments for gaming and experiences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495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6700" y="133350"/>
                </a:moveTo>
                <a:cubicBezTo>
                  <a:pt x="303510" y="133350"/>
                  <a:pt x="333375" y="103485"/>
                  <a:pt x="333375" y="66675"/>
                </a:cubicBezTo>
                <a:cubicBezTo>
                  <a:pt x="333375" y="29865"/>
                  <a:pt x="303510" y="0"/>
                  <a:pt x="266700" y="0"/>
                </a:cubicBezTo>
                <a:cubicBezTo>
                  <a:pt x="229890" y="0"/>
                  <a:pt x="200025" y="29865"/>
                  <a:pt x="200025" y="66675"/>
                </a:cubicBezTo>
                <a:cubicBezTo>
                  <a:pt x="200025" y="70425"/>
                  <a:pt x="200372" y="74176"/>
                  <a:pt x="200928" y="77788"/>
                </a:cubicBezTo>
                <a:lnTo>
                  <a:pt x="110847" y="127863"/>
                </a:lnTo>
                <a:cubicBezTo>
                  <a:pt x="99110" y="117445"/>
                  <a:pt x="83622" y="111125"/>
                  <a:pt x="66675" y="111125"/>
                </a:cubicBezTo>
                <a:cubicBezTo>
                  <a:pt x="29865" y="111125"/>
                  <a:pt x="0" y="140990"/>
                  <a:pt x="0" y="177800"/>
                </a:cubicBezTo>
                <a:cubicBezTo>
                  <a:pt x="0" y="214610"/>
                  <a:pt x="29865" y="244475"/>
                  <a:pt x="66675" y="244475"/>
                </a:cubicBezTo>
                <a:cubicBezTo>
                  <a:pt x="83622" y="244475"/>
                  <a:pt x="99040" y="238155"/>
                  <a:pt x="110847" y="227737"/>
                </a:cubicBezTo>
                <a:lnTo>
                  <a:pt x="200928" y="277813"/>
                </a:lnTo>
                <a:cubicBezTo>
                  <a:pt x="200303" y="281424"/>
                  <a:pt x="200025" y="285105"/>
                  <a:pt x="200025" y="288925"/>
                </a:cubicBezTo>
                <a:cubicBezTo>
                  <a:pt x="200025" y="325735"/>
                  <a:pt x="229890" y="355600"/>
                  <a:pt x="266700" y="355600"/>
                </a:cubicBezTo>
                <a:cubicBezTo>
                  <a:pt x="303510" y="355600"/>
                  <a:pt x="333375" y="325735"/>
                  <a:pt x="333375" y="288925"/>
                </a:cubicBezTo>
                <a:cubicBezTo>
                  <a:pt x="333375" y="252115"/>
                  <a:pt x="303510" y="222250"/>
                  <a:pt x="266700" y="222250"/>
                </a:cubicBezTo>
                <a:cubicBezTo>
                  <a:pt x="249753" y="222250"/>
                  <a:pt x="234335" y="228570"/>
                  <a:pt x="222528" y="238988"/>
                </a:cubicBezTo>
                <a:lnTo>
                  <a:pt x="132447" y="188913"/>
                </a:lnTo>
                <a:cubicBezTo>
                  <a:pt x="133072" y="185301"/>
                  <a:pt x="133350" y="181620"/>
                  <a:pt x="133350" y="177800"/>
                </a:cubicBezTo>
                <a:cubicBezTo>
                  <a:pt x="133350" y="173980"/>
                  <a:pt x="133003" y="170299"/>
                  <a:pt x="132447" y="166688"/>
                </a:cubicBezTo>
                <a:lnTo>
                  <a:pt x="222528" y="116612"/>
                </a:lnTo>
                <a:cubicBezTo>
                  <a:pt x="234265" y="127030"/>
                  <a:pt x="249753" y="133350"/>
                  <a:pt x="266700" y="13335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6" name="Text 13"/>
          <p:cNvSpPr/>
          <p:nvPr/>
        </p:nvSpPr>
        <p:spPr>
          <a:xfrm>
            <a:off x="1270000" y="4927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70000" y="5283200"/>
            <a:ext cx="736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Platforms built on sharing and consuming multimedia content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2000" y="609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77800"/>
                </a:moveTo>
                <a:cubicBezTo>
                  <a:pt x="355600" y="178425"/>
                  <a:pt x="355600" y="179050"/>
                  <a:pt x="355600" y="179675"/>
                </a:cubicBezTo>
                <a:cubicBezTo>
                  <a:pt x="355322" y="205026"/>
                  <a:pt x="332264" y="222250"/>
                  <a:pt x="306913" y="222250"/>
                </a:cubicBezTo>
                <a:lnTo>
                  <a:pt x="238919" y="222250"/>
                </a:lnTo>
                <a:cubicBezTo>
                  <a:pt x="220514" y="222250"/>
                  <a:pt x="205581" y="237182"/>
                  <a:pt x="205581" y="255587"/>
                </a:cubicBezTo>
                <a:cubicBezTo>
                  <a:pt x="205581" y="257949"/>
                  <a:pt x="205859" y="260241"/>
                  <a:pt x="206276" y="262463"/>
                </a:cubicBezTo>
                <a:cubicBezTo>
                  <a:pt x="207734" y="269548"/>
                  <a:pt x="210790" y="276354"/>
                  <a:pt x="213777" y="283230"/>
                </a:cubicBezTo>
                <a:cubicBezTo>
                  <a:pt x="218013" y="292814"/>
                  <a:pt x="222181" y="302329"/>
                  <a:pt x="222181" y="312400"/>
                </a:cubicBezTo>
                <a:cubicBezTo>
                  <a:pt x="222181" y="334486"/>
                  <a:pt x="207179" y="354558"/>
                  <a:pt x="185093" y="355461"/>
                </a:cubicBezTo>
                <a:cubicBezTo>
                  <a:pt x="182662" y="355531"/>
                  <a:pt x="180231" y="355600"/>
                  <a:pt x="177731" y="355600"/>
                </a:cubicBezTo>
                <a:cubicBezTo>
                  <a:pt x="79524" y="355600"/>
                  <a:pt x="-69" y="276007"/>
                  <a:pt x="-69" y="177800"/>
                </a:cubicBezTo>
                <a:cubicBezTo>
                  <a:pt x="-69" y="79593"/>
                  <a:pt x="79593" y="0"/>
                  <a:pt x="177800" y="0"/>
                </a:cubicBezTo>
                <a:cubicBezTo>
                  <a:pt x="276007" y="0"/>
                  <a:pt x="355600" y="79593"/>
                  <a:pt x="355600" y="177800"/>
                </a:cubicBezTo>
                <a:close/>
                <a:moveTo>
                  <a:pt x="88900" y="200025"/>
                </a:moveTo>
                <a:cubicBezTo>
                  <a:pt x="88900" y="187759"/>
                  <a:pt x="78941" y="177800"/>
                  <a:pt x="66675" y="177800"/>
                </a:cubicBezTo>
                <a:cubicBezTo>
                  <a:pt x="54409" y="177800"/>
                  <a:pt x="44450" y="187759"/>
                  <a:pt x="44450" y="200025"/>
                </a:cubicBezTo>
                <a:cubicBezTo>
                  <a:pt x="44450" y="212291"/>
                  <a:pt x="54409" y="222250"/>
                  <a:pt x="66675" y="222250"/>
                </a:cubicBezTo>
                <a:cubicBezTo>
                  <a:pt x="78941" y="222250"/>
                  <a:pt x="88900" y="212291"/>
                  <a:pt x="88900" y="200025"/>
                </a:cubicBezTo>
                <a:close/>
                <a:moveTo>
                  <a:pt x="88900" y="133350"/>
                </a:moveTo>
                <a:cubicBezTo>
                  <a:pt x="101166" y="133350"/>
                  <a:pt x="111125" y="123391"/>
                  <a:pt x="111125" y="111125"/>
                </a:cubicBezTo>
                <a:cubicBezTo>
                  <a:pt x="111125" y="98859"/>
                  <a:pt x="101166" y="88900"/>
                  <a:pt x="88900" y="88900"/>
                </a:cubicBezTo>
                <a:cubicBezTo>
                  <a:pt x="76634" y="88900"/>
                  <a:pt x="66675" y="98859"/>
                  <a:pt x="66675" y="111125"/>
                </a:cubicBezTo>
                <a:cubicBezTo>
                  <a:pt x="66675" y="123391"/>
                  <a:pt x="76634" y="133350"/>
                  <a:pt x="88900" y="13335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266700" y="133350"/>
                </a:moveTo>
                <a:cubicBezTo>
                  <a:pt x="278966" y="133350"/>
                  <a:pt x="288925" y="123391"/>
                  <a:pt x="288925" y="111125"/>
                </a:cubicBezTo>
                <a:cubicBezTo>
                  <a:pt x="288925" y="98859"/>
                  <a:pt x="278966" y="88900"/>
                  <a:pt x="266700" y="88900"/>
                </a:cubicBezTo>
                <a:cubicBezTo>
                  <a:pt x="254434" y="88900"/>
                  <a:pt x="244475" y="98859"/>
                  <a:pt x="244475" y="111125"/>
                </a:cubicBezTo>
                <a:cubicBezTo>
                  <a:pt x="244475" y="123391"/>
                  <a:pt x="254434" y="133350"/>
                  <a:pt x="266700" y="13335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9" name="Text 16"/>
          <p:cNvSpPr/>
          <p:nvPr/>
        </p:nvSpPr>
        <p:spPr>
          <a:xfrm>
            <a:off x="1270000" y="6070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Art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70000" y="6426200"/>
            <a:ext cx="736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forms of creative expression through digital tools and platforms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9775" y="723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133350"/>
                </a:lnTo>
                <a:cubicBezTo>
                  <a:pt x="0" y="139462"/>
                  <a:pt x="5140" y="144254"/>
                  <a:pt x="10904" y="146268"/>
                </a:cubicBezTo>
                <a:cubicBezTo>
                  <a:pt x="23961" y="150783"/>
                  <a:pt x="33337" y="163215"/>
                  <a:pt x="33337" y="177800"/>
                </a:cubicBezTo>
                <a:cubicBezTo>
                  <a:pt x="33337" y="192385"/>
                  <a:pt x="23961" y="204817"/>
                  <a:pt x="10904" y="209332"/>
                </a:cubicBezTo>
                <a:cubicBezTo>
                  <a:pt x="5140" y="211346"/>
                  <a:pt x="0" y="216138"/>
                  <a:pt x="0" y="22225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55600" y="311150"/>
                </a:lnTo>
                <a:cubicBezTo>
                  <a:pt x="380117" y="311150"/>
                  <a:pt x="400050" y="291217"/>
                  <a:pt x="400050" y="266700"/>
                </a:cubicBezTo>
                <a:lnTo>
                  <a:pt x="400050" y="222250"/>
                </a:lnTo>
                <a:cubicBezTo>
                  <a:pt x="400050" y="216138"/>
                  <a:pt x="394910" y="211346"/>
                  <a:pt x="389146" y="209332"/>
                </a:cubicBezTo>
                <a:cubicBezTo>
                  <a:pt x="376089" y="204817"/>
                  <a:pt x="366712" y="192385"/>
                  <a:pt x="366712" y="177800"/>
                </a:cubicBezTo>
                <a:cubicBezTo>
                  <a:pt x="366712" y="163215"/>
                  <a:pt x="376089" y="150783"/>
                  <a:pt x="389146" y="146268"/>
                </a:cubicBezTo>
                <a:cubicBezTo>
                  <a:pt x="394910" y="144254"/>
                  <a:pt x="400050" y="139462"/>
                  <a:pt x="400050" y="133350"/>
                </a:cubicBezTo>
                <a:lnTo>
                  <a:pt x="400050" y="88900"/>
                </a:lnTo>
                <a:cubicBezTo>
                  <a:pt x="400050" y="64383"/>
                  <a:pt x="380117" y="44450"/>
                  <a:pt x="355600" y="44450"/>
                </a:cubicBezTo>
                <a:lnTo>
                  <a:pt x="44450" y="44450"/>
                </a:lnTo>
                <a:close/>
                <a:moveTo>
                  <a:pt x="288925" y="233363"/>
                </a:moveTo>
                <a:lnTo>
                  <a:pt x="288925" y="122238"/>
                </a:lnTo>
                <a:lnTo>
                  <a:pt x="111125" y="122238"/>
                </a:lnTo>
                <a:lnTo>
                  <a:pt x="111125" y="233363"/>
                </a:lnTo>
                <a:lnTo>
                  <a:pt x="288925" y="233363"/>
                </a:lnTo>
                <a:close/>
                <a:moveTo>
                  <a:pt x="77788" y="111125"/>
                </a:moveTo>
                <a:cubicBezTo>
                  <a:pt x="77788" y="98832"/>
                  <a:pt x="87719" y="88900"/>
                  <a:pt x="100013" y="88900"/>
                </a:cubicBezTo>
                <a:lnTo>
                  <a:pt x="300038" y="88900"/>
                </a:lnTo>
                <a:cubicBezTo>
                  <a:pt x="312331" y="88900"/>
                  <a:pt x="322263" y="98832"/>
                  <a:pt x="322263" y="111125"/>
                </a:cubicBezTo>
                <a:lnTo>
                  <a:pt x="322263" y="244475"/>
                </a:lnTo>
                <a:cubicBezTo>
                  <a:pt x="322263" y="256768"/>
                  <a:pt x="312331" y="266700"/>
                  <a:pt x="300038" y="266700"/>
                </a:cubicBezTo>
                <a:lnTo>
                  <a:pt x="100013" y="266700"/>
                </a:lnTo>
                <a:cubicBezTo>
                  <a:pt x="87719" y="266700"/>
                  <a:pt x="77788" y="256768"/>
                  <a:pt x="77788" y="244475"/>
                </a:cubicBezTo>
                <a:lnTo>
                  <a:pt x="77788" y="111125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2" name="Text 19"/>
          <p:cNvSpPr/>
          <p:nvPr/>
        </p:nvSpPr>
        <p:spPr>
          <a:xfrm>
            <a:off x="1270000" y="7213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Events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70000" y="7569200"/>
            <a:ext cx="736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Concerts and sports enhanced with multimedia effects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5" name="Text 22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Multimedia — Communication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699000" cy="184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65200" y="17526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86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Networking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667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Platforms enable rich multimedia sharing globally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524000"/>
            <a:ext cx="4699000" cy="184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0" y="1752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50800"/>
                </a:moveTo>
                <a:cubicBezTo>
                  <a:pt x="48181" y="50800"/>
                  <a:pt x="25400" y="73581"/>
                  <a:pt x="25400" y="101600"/>
                </a:cubicBezTo>
                <a:lnTo>
                  <a:pt x="25400" y="304800"/>
                </a:lnTo>
                <a:cubicBezTo>
                  <a:pt x="25400" y="332819"/>
                  <a:pt x="48181" y="355600"/>
                  <a:pt x="76200" y="355600"/>
                </a:cubicBezTo>
                <a:lnTo>
                  <a:pt x="279400" y="355600"/>
                </a:lnTo>
                <a:cubicBezTo>
                  <a:pt x="307419" y="355600"/>
                  <a:pt x="330200" y="332819"/>
                  <a:pt x="330200" y="304800"/>
                </a:cubicBezTo>
                <a:lnTo>
                  <a:pt x="330200" y="101600"/>
                </a:lnTo>
                <a:cubicBezTo>
                  <a:pt x="330200" y="73581"/>
                  <a:pt x="307419" y="50800"/>
                  <a:pt x="279400" y="50800"/>
                </a:cubicBezTo>
                <a:lnTo>
                  <a:pt x="76200" y="50800"/>
                </a:lnTo>
                <a:close/>
                <a:moveTo>
                  <a:pt x="368300" y="266700"/>
                </a:moveTo>
                <a:lnTo>
                  <a:pt x="426641" y="313373"/>
                </a:lnTo>
                <a:cubicBezTo>
                  <a:pt x="429974" y="316071"/>
                  <a:pt x="434102" y="317500"/>
                  <a:pt x="438388" y="317500"/>
                </a:cubicBezTo>
                <a:cubicBezTo>
                  <a:pt x="448786" y="317500"/>
                  <a:pt x="457200" y="309086"/>
                  <a:pt x="457200" y="298688"/>
                </a:cubicBezTo>
                <a:lnTo>
                  <a:pt x="457200" y="107712"/>
                </a:lnTo>
                <a:cubicBezTo>
                  <a:pt x="457200" y="97314"/>
                  <a:pt x="448786" y="88900"/>
                  <a:pt x="438388" y="88900"/>
                </a:cubicBezTo>
                <a:cubicBezTo>
                  <a:pt x="434102" y="88900"/>
                  <a:pt x="429974" y="90329"/>
                  <a:pt x="426641" y="93028"/>
                </a:cubicBezTo>
                <a:lnTo>
                  <a:pt x="368300" y="139700"/>
                </a:lnTo>
                <a:lnTo>
                  <a:pt x="368300" y="266700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0" name="Text 8"/>
          <p:cNvSpPr/>
          <p:nvPr/>
        </p:nvSpPr>
        <p:spPr>
          <a:xfrm>
            <a:off x="5969000" y="2286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Conferencing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9000" y="2667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Face-to-face communication across any distance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524000"/>
            <a:ext cx="4826000" cy="184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22000" y="1752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79400"/>
                </a:moveTo>
                <a:lnTo>
                  <a:pt x="0" y="101600"/>
                </a:lnTo>
                <a:cubicBezTo>
                  <a:pt x="0" y="59531"/>
                  <a:pt x="34131" y="25400"/>
                  <a:pt x="76200" y="25400"/>
                </a:cubicBezTo>
                <a:lnTo>
                  <a:pt x="330200" y="25400"/>
                </a:lnTo>
                <a:cubicBezTo>
                  <a:pt x="372269" y="25400"/>
                  <a:pt x="406400" y="59531"/>
                  <a:pt x="406400" y="101600"/>
                </a:cubicBezTo>
                <a:lnTo>
                  <a:pt x="406400" y="279400"/>
                </a:lnTo>
                <a:cubicBezTo>
                  <a:pt x="406400" y="321469"/>
                  <a:pt x="372269" y="355600"/>
                  <a:pt x="330200" y="355600"/>
                </a:cubicBezTo>
                <a:lnTo>
                  <a:pt x="234950" y="355600"/>
                </a:lnTo>
                <a:cubicBezTo>
                  <a:pt x="230823" y="355600"/>
                  <a:pt x="226854" y="356949"/>
                  <a:pt x="223520" y="359410"/>
                </a:cubicBezTo>
                <a:lnTo>
                  <a:pt x="132080" y="427990"/>
                </a:lnTo>
                <a:cubicBezTo>
                  <a:pt x="128746" y="430451"/>
                  <a:pt x="124778" y="431800"/>
                  <a:pt x="120650" y="431800"/>
                </a:cubicBezTo>
                <a:cubicBezTo>
                  <a:pt x="110093" y="431800"/>
                  <a:pt x="101600" y="423307"/>
                  <a:pt x="101600" y="412750"/>
                </a:cubicBezTo>
                <a:lnTo>
                  <a:pt x="101600" y="355600"/>
                </a:lnTo>
                <a:lnTo>
                  <a:pt x="76200" y="355600"/>
                </a:lnTo>
                <a:cubicBezTo>
                  <a:pt x="34131" y="355600"/>
                  <a:pt x="0" y="321469"/>
                  <a:pt x="0" y="27940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0" y="22860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Messaging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22000" y="2667000"/>
            <a:ext cx="431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Text, images, audio, and video in real-time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619500"/>
            <a:ext cx="4699000" cy="184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3848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2497" y="14526"/>
                </a:moveTo>
                <a:lnTo>
                  <a:pt x="252730" y="54293"/>
                </a:lnTo>
                <a:lnTo>
                  <a:pt x="352187" y="153749"/>
                </a:lnTo>
                <a:lnTo>
                  <a:pt x="391954" y="113983"/>
                </a:lnTo>
                <a:cubicBezTo>
                  <a:pt x="409337" y="96599"/>
                  <a:pt x="409337" y="68501"/>
                  <a:pt x="391954" y="51117"/>
                </a:cubicBezTo>
                <a:lnTo>
                  <a:pt x="355362" y="14526"/>
                </a:lnTo>
                <a:cubicBezTo>
                  <a:pt x="337979" y="-2857"/>
                  <a:pt x="309880" y="-2857"/>
                  <a:pt x="292497" y="14526"/>
                </a:cubicBezTo>
                <a:close/>
                <a:moveTo>
                  <a:pt x="221694" y="77153"/>
                </a:moveTo>
                <a:lnTo>
                  <a:pt x="221298" y="77232"/>
                </a:lnTo>
                <a:lnTo>
                  <a:pt x="106918" y="111522"/>
                </a:lnTo>
                <a:cubicBezTo>
                  <a:pt x="91123" y="116284"/>
                  <a:pt x="78581" y="128349"/>
                  <a:pt x="73343" y="144066"/>
                </a:cubicBezTo>
                <a:lnTo>
                  <a:pt x="3016" y="353854"/>
                </a:lnTo>
                <a:cubicBezTo>
                  <a:pt x="714" y="360759"/>
                  <a:pt x="1508" y="368300"/>
                  <a:pt x="5001" y="374491"/>
                </a:cubicBezTo>
                <a:lnTo>
                  <a:pt x="128349" y="251142"/>
                </a:lnTo>
                <a:cubicBezTo>
                  <a:pt x="127476" y="247967"/>
                  <a:pt x="127079" y="244713"/>
                  <a:pt x="127079" y="241300"/>
                </a:cubicBezTo>
                <a:cubicBezTo>
                  <a:pt x="127079" y="220266"/>
                  <a:pt x="144145" y="203200"/>
                  <a:pt x="165179" y="203200"/>
                </a:cubicBezTo>
                <a:cubicBezTo>
                  <a:pt x="186214" y="203200"/>
                  <a:pt x="203279" y="220266"/>
                  <a:pt x="203279" y="241300"/>
                </a:cubicBezTo>
                <a:cubicBezTo>
                  <a:pt x="203279" y="262334"/>
                  <a:pt x="186214" y="279400"/>
                  <a:pt x="165179" y="279400"/>
                </a:cubicBezTo>
                <a:cubicBezTo>
                  <a:pt x="161766" y="279400"/>
                  <a:pt x="158433" y="278924"/>
                  <a:pt x="155337" y="278130"/>
                </a:cubicBezTo>
                <a:lnTo>
                  <a:pt x="31988" y="401399"/>
                </a:lnTo>
                <a:cubicBezTo>
                  <a:pt x="38179" y="404892"/>
                  <a:pt x="45641" y="405686"/>
                  <a:pt x="52626" y="403384"/>
                </a:cubicBezTo>
                <a:lnTo>
                  <a:pt x="262414" y="333058"/>
                </a:lnTo>
                <a:cubicBezTo>
                  <a:pt x="278051" y="327819"/>
                  <a:pt x="290195" y="315278"/>
                  <a:pt x="294958" y="299482"/>
                </a:cubicBezTo>
                <a:lnTo>
                  <a:pt x="329248" y="185103"/>
                </a:lnTo>
                <a:lnTo>
                  <a:pt x="329327" y="184706"/>
                </a:lnTo>
                <a:lnTo>
                  <a:pt x="221774" y="77153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3815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Creation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7625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Anyone can create and share multimedia content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15000" y="3619500"/>
            <a:ext cx="4699000" cy="184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38481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27000" y="0"/>
                </a:moveTo>
                <a:cubicBezTo>
                  <a:pt x="141049" y="0"/>
                  <a:pt x="152400" y="11351"/>
                  <a:pt x="152400" y="25400"/>
                </a:cubicBezTo>
                <a:lnTo>
                  <a:pt x="152400" y="50800"/>
                </a:lnTo>
                <a:lnTo>
                  <a:pt x="254000" y="50800"/>
                </a:lnTo>
                <a:cubicBezTo>
                  <a:pt x="268049" y="50800"/>
                  <a:pt x="279400" y="62151"/>
                  <a:pt x="279400" y="76200"/>
                </a:cubicBezTo>
                <a:cubicBezTo>
                  <a:pt x="279400" y="90249"/>
                  <a:pt x="268049" y="101600"/>
                  <a:pt x="254000" y="101600"/>
                </a:cubicBezTo>
                <a:lnTo>
                  <a:pt x="246380" y="101600"/>
                </a:lnTo>
                <a:lnTo>
                  <a:pt x="239713" y="119936"/>
                </a:lnTo>
                <a:cubicBezTo>
                  <a:pt x="226695" y="155813"/>
                  <a:pt x="207089" y="188595"/>
                  <a:pt x="182404" y="216773"/>
                </a:cubicBezTo>
                <a:cubicBezTo>
                  <a:pt x="193675" y="223758"/>
                  <a:pt x="205423" y="229949"/>
                  <a:pt x="217646" y="235426"/>
                </a:cubicBezTo>
                <a:lnTo>
                  <a:pt x="257651" y="253206"/>
                </a:lnTo>
                <a:lnTo>
                  <a:pt x="307023" y="142081"/>
                </a:lnTo>
                <a:cubicBezTo>
                  <a:pt x="311071" y="132874"/>
                  <a:pt x="320199" y="127000"/>
                  <a:pt x="330200" y="127000"/>
                </a:cubicBezTo>
                <a:cubicBezTo>
                  <a:pt x="340201" y="127000"/>
                  <a:pt x="349329" y="132874"/>
                  <a:pt x="353377" y="142081"/>
                </a:cubicBezTo>
                <a:lnTo>
                  <a:pt x="454977" y="370681"/>
                </a:lnTo>
                <a:cubicBezTo>
                  <a:pt x="460692" y="383540"/>
                  <a:pt x="454898" y="398542"/>
                  <a:pt x="442119" y="404178"/>
                </a:cubicBezTo>
                <a:cubicBezTo>
                  <a:pt x="429339" y="409813"/>
                  <a:pt x="414258" y="404098"/>
                  <a:pt x="408622" y="391319"/>
                </a:cubicBezTo>
                <a:lnTo>
                  <a:pt x="392747" y="355600"/>
                </a:lnTo>
                <a:lnTo>
                  <a:pt x="267732" y="355600"/>
                </a:lnTo>
                <a:lnTo>
                  <a:pt x="251857" y="391319"/>
                </a:lnTo>
                <a:cubicBezTo>
                  <a:pt x="246142" y="404178"/>
                  <a:pt x="231140" y="409892"/>
                  <a:pt x="218361" y="404178"/>
                </a:cubicBezTo>
                <a:cubicBezTo>
                  <a:pt x="205581" y="398463"/>
                  <a:pt x="199787" y="383461"/>
                  <a:pt x="205502" y="370681"/>
                </a:cubicBezTo>
                <a:lnTo>
                  <a:pt x="237093" y="299641"/>
                </a:lnTo>
                <a:lnTo>
                  <a:pt x="197088" y="281861"/>
                </a:lnTo>
                <a:cubicBezTo>
                  <a:pt x="178832" y="273764"/>
                  <a:pt x="161369" y="264081"/>
                  <a:pt x="144859" y="252968"/>
                </a:cubicBezTo>
                <a:cubicBezTo>
                  <a:pt x="127952" y="266621"/>
                  <a:pt x="109458" y="278527"/>
                  <a:pt x="89694" y="288449"/>
                </a:cubicBezTo>
                <a:lnTo>
                  <a:pt x="62151" y="302101"/>
                </a:lnTo>
                <a:cubicBezTo>
                  <a:pt x="49609" y="308372"/>
                  <a:pt x="34369" y="303292"/>
                  <a:pt x="28099" y="290751"/>
                </a:cubicBezTo>
                <a:cubicBezTo>
                  <a:pt x="21828" y="278209"/>
                  <a:pt x="26908" y="262969"/>
                  <a:pt x="39449" y="256699"/>
                </a:cubicBezTo>
                <a:lnTo>
                  <a:pt x="66834" y="242967"/>
                </a:lnTo>
                <a:cubicBezTo>
                  <a:pt x="79772" y="236458"/>
                  <a:pt x="92075" y="228918"/>
                  <a:pt x="103664" y="220504"/>
                </a:cubicBezTo>
                <a:cubicBezTo>
                  <a:pt x="92710" y="210423"/>
                  <a:pt x="82391" y="199549"/>
                  <a:pt x="72787" y="188039"/>
                </a:cubicBezTo>
                <a:lnTo>
                  <a:pt x="64770" y="178356"/>
                </a:lnTo>
                <a:cubicBezTo>
                  <a:pt x="55801" y="167561"/>
                  <a:pt x="57229" y="151527"/>
                  <a:pt x="68024" y="142558"/>
                </a:cubicBezTo>
                <a:cubicBezTo>
                  <a:pt x="78819" y="133588"/>
                  <a:pt x="94853" y="135017"/>
                  <a:pt x="103822" y="145812"/>
                </a:cubicBezTo>
                <a:lnTo>
                  <a:pt x="111919" y="155496"/>
                </a:lnTo>
                <a:cubicBezTo>
                  <a:pt x="121047" y="166529"/>
                  <a:pt x="131048" y="176768"/>
                  <a:pt x="141605" y="186214"/>
                </a:cubicBezTo>
                <a:cubicBezTo>
                  <a:pt x="163433" y="162084"/>
                  <a:pt x="180657" y="133747"/>
                  <a:pt x="192008" y="102552"/>
                </a:cubicBezTo>
                <a:lnTo>
                  <a:pt x="192405" y="101600"/>
                </a:lnTo>
                <a:lnTo>
                  <a:pt x="25479" y="101600"/>
                </a:lnTo>
                <a:cubicBezTo>
                  <a:pt x="11351" y="101600"/>
                  <a:pt x="0" y="90249"/>
                  <a:pt x="0" y="76200"/>
                </a:cubicBezTo>
                <a:cubicBezTo>
                  <a:pt x="0" y="62151"/>
                  <a:pt x="11351" y="50800"/>
                  <a:pt x="25400" y="50800"/>
                </a:cubicBezTo>
                <a:lnTo>
                  <a:pt x="101600" y="50800"/>
                </a:lnTo>
                <a:lnTo>
                  <a:pt x="101600" y="25400"/>
                </a:lnTo>
                <a:cubicBezTo>
                  <a:pt x="101600" y="11351"/>
                  <a:pt x="112951" y="0"/>
                  <a:pt x="127000" y="0"/>
                </a:cubicBezTo>
                <a:close/>
                <a:moveTo>
                  <a:pt x="330200" y="214948"/>
                </a:moveTo>
                <a:lnTo>
                  <a:pt x="290274" y="304800"/>
                </a:lnTo>
                <a:lnTo>
                  <a:pt x="370126" y="304800"/>
                </a:lnTo>
                <a:lnTo>
                  <a:pt x="330200" y="214948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2" name="Text 20"/>
          <p:cNvSpPr/>
          <p:nvPr/>
        </p:nvSpPr>
        <p:spPr>
          <a:xfrm>
            <a:off x="5969000" y="43815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Cross-Cultural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69000" y="47625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media transcends language barriers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3619500"/>
            <a:ext cx="4826000" cy="184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22000" y="3848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922000" y="43815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Emergency Alerts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22000" y="47625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alerts reach people through multiple channels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5842000"/>
            <a:ext cx="14732000" cy="1143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" y="5969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has fundamentally transformed human communication — making it richer, faster, more visual, and accessible to billions worldwide.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31" name="Text 29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 of Multimedia Applications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multimedia applications across domains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46990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32000"/>
            <a:ext cx="50800" cy="1524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59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Video Editing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540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Adobe Premiere, Final Cut Pro for professional film and video production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2032000"/>
            <a:ext cx="46990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0" y="2032000"/>
            <a:ext cx="50800" cy="1524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1" name="Text 9"/>
          <p:cNvSpPr/>
          <p:nvPr/>
        </p:nvSpPr>
        <p:spPr>
          <a:xfrm>
            <a:off x="5969000" y="2159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E-Learning Platforms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2540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Coursera, Khan Academy with video lectures, quizzes, and interactive content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2032000"/>
            <a:ext cx="48260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68000" y="2032000"/>
            <a:ext cx="50800" cy="1524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0" y="21590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Games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25400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AAA titles with cinematic graphics, immersive audio, and real-time gameplay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810000"/>
            <a:ext cx="46990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3810000"/>
            <a:ext cx="50800" cy="1524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3937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Signage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318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displays in retail, airports, and public spaces for information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0" y="3810000"/>
            <a:ext cx="46990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715000" y="3810000"/>
            <a:ext cx="50800" cy="1524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3" name="Text 21"/>
          <p:cNvSpPr/>
          <p:nvPr/>
        </p:nvSpPr>
        <p:spPr>
          <a:xfrm>
            <a:off x="5969000" y="39370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Tours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69000" y="4318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360-degree immersive experiences of real estate, museums, and landmarks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3810000"/>
            <a:ext cx="4826000" cy="152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68000" y="3810000"/>
            <a:ext cx="50800" cy="15240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7" name="Text 25"/>
          <p:cNvSpPr/>
          <p:nvPr/>
        </p:nvSpPr>
        <p:spPr>
          <a:xfrm>
            <a:off x="10922000" y="39370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Imaging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22000" y="43180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MRI, CT scans with 3D visualization for diagnosis and surgical planning</a:t>
            </a:r>
            <a:endParaRPr lang="en-US" sz="1600" dirty="0"/>
          </a:p>
        </p:txBody>
      </p:sp>
      <p:pic>
        <p:nvPicPr>
          <p:cNvPr id="29" name="Image 0" descr="https://kimi-img.moonshot.cn/pub/slides/okc/reky6lt2ntf4w/mnt/agents/output/multimedia-week1/images/9_The_do_s_and_don_ts_of_creating_engaging.png">    </p:cNvPr>
          <p:cNvPicPr>
            <a:picLocks noChangeAspect="1"/>
          </p:cNvPicPr>
          <p:nvPr/>
        </p:nvPicPr>
        <p:blipFill>
          <a:blip r:embed="rId1"/>
          <a:srcRect l="0" r="0" t="34750" b="34750"/>
          <a:stretch/>
        </p:blipFill>
        <p:spPr>
          <a:xfrm>
            <a:off x="762000" y="5715000"/>
            <a:ext cx="14732000" cy="254000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762000" y="5715000"/>
            <a:ext cx="14732000" cy="2540000"/>
          </a:xfrm>
          <a:prstGeom prst="rect">
            <a:avLst/>
          </a:prstGeom>
          <a:gradFill rotWithShape="1" flip="none">
            <a:gsLst>
              <a:gs pos="0">
                <a:srgbClr val="F5F1EB">
                  <a:alpha val="88000"/>
                </a:srgbClr>
              </a:gs>
              <a:gs pos="30000">
                <a:srgbClr val="F5F1EB">
                  <a:alpha val="0"/>
                </a:srgbClr>
              </a:gs>
              <a:gs pos="100000">
                <a:srgbClr val="F5F1EB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1" name="Shape 2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32" name="Text 29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 of Hypermedia Applications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Applications leveraging linked multimedia content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7112000" cy="1143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22606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 Wide Web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2616200"/>
            <a:ext cx="609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largest hypermedia system connecting billions of pages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429000"/>
            <a:ext cx="711200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71550" y="3746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6669" y="-11112"/>
                </a:moveTo>
                <a:cubicBezTo>
                  <a:pt x="7431" y="-11112"/>
                  <a:pt x="0" y="-3681"/>
                  <a:pt x="0" y="5556"/>
                </a:cubicBezTo>
                <a:cubicBezTo>
                  <a:pt x="0" y="14794"/>
                  <a:pt x="7431" y="22225"/>
                  <a:pt x="16669" y="22225"/>
                </a:cubicBezTo>
                <a:lnTo>
                  <a:pt x="48131" y="22225"/>
                </a:lnTo>
                <a:cubicBezTo>
                  <a:pt x="50840" y="22225"/>
                  <a:pt x="53132" y="24170"/>
                  <a:pt x="53618" y="26809"/>
                </a:cubicBezTo>
                <a:lnTo>
                  <a:pt x="89803" y="225653"/>
                </a:lnTo>
                <a:cubicBezTo>
                  <a:pt x="94109" y="249406"/>
                  <a:pt x="114806" y="266700"/>
                  <a:pt x="138976" y="266700"/>
                </a:cubicBezTo>
                <a:lnTo>
                  <a:pt x="316706" y="266700"/>
                </a:lnTo>
                <a:cubicBezTo>
                  <a:pt x="325944" y="266700"/>
                  <a:pt x="333375" y="259269"/>
                  <a:pt x="333375" y="250031"/>
                </a:cubicBezTo>
                <a:cubicBezTo>
                  <a:pt x="333375" y="240794"/>
                  <a:pt x="325944" y="233363"/>
                  <a:pt x="316706" y="233363"/>
                </a:cubicBezTo>
                <a:lnTo>
                  <a:pt x="138976" y="233363"/>
                </a:lnTo>
                <a:cubicBezTo>
                  <a:pt x="130919" y="233363"/>
                  <a:pt x="124043" y="227598"/>
                  <a:pt x="122585" y="219680"/>
                </a:cubicBezTo>
                <a:lnTo>
                  <a:pt x="119043" y="200025"/>
                </a:lnTo>
                <a:lnTo>
                  <a:pt x="329902" y="200025"/>
                </a:lnTo>
                <a:cubicBezTo>
                  <a:pt x="351294" y="200025"/>
                  <a:pt x="369630" y="184815"/>
                  <a:pt x="373588" y="163770"/>
                </a:cubicBezTo>
                <a:lnTo>
                  <a:pt x="395119" y="48548"/>
                </a:lnTo>
                <a:cubicBezTo>
                  <a:pt x="397689" y="34865"/>
                  <a:pt x="387201" y="22225"/>
                  <a:pt x="373241" y="22225"/>
                </a:cubicBezTo>
                <a:lnTo>
                  <a:pt x="86608" y="22225"/>
                </a:lnTo>
                <a:lnTo>
                  <a:pt x="86330" y="20836"/>
                </a:lnTo>
                <a:cubicBezTo>
                  <a:pt x="82996" y="2361"/>
                  <a:pt x="66883" y="-11112"/>
                  <a:pt x="48062" y="-11112"/>
                </a:cubicBezTo>
                <a:lnTo>
                  <a:pt x="16669" y="-11112"/>
                </a:lnTo>
                <a:close/>
                <a:moveTo>
                  <a:pt x="144463" y="355600"/>
                </a:moveTo>
                <a:cubicBezTo>
                  <a:pt x="162862" y="355600"/>
                  <a:pt x="177800" y="340662"/>
                  <a:pt x="177800" y="322263"/>
                </a:cubicBezTo>
                <a:cubicBezTo>
                  <a:pt x="177800" y="303863"/>
                  <a:pt x="162862" y="288925"/>
                  <a:pt x="144463" y="288925"/>
                </a:cubicBezTo>
                <a:cubicBezTo>
                  <a:pt x="126063" y="288925"/>
                  <a:pt x="111125" y="303863"/>
                  <a:pt x="111125" y="322263"/>
                </a:cubicBezTo>
                <a:cubicBezTo>
                  <a:pt x="111125" y="340662"/>
                  <a:pt x="126063" y="355600"/>
                  <a:pt x="144463" y="355600"/>
                </a:cubicBezTo>
                <a:close/>
                <a:moveTo>
                  <a:pt x="300038" y="355600"/>
                </a:moveTo>
                <a:cubicBezTo>
                  <a:pt x="318437" y="355600"/>
                  <a:pt x="333375" y="340662"/>
                  <a:pt x="333375" y="322263"/>
                </a:cubicBezTo>
                <a:cubicBezTo>
                  <a:pt x="333375" y="303863"/>
                  <a:pt x="318437" y="288925"/>
                  <a:pt x="300038" y="288925"/>
                </a:cubicBezTo>
                <a:cubicBezTo>
                  <a:pt x="281638" y="288925"/>
                  <a:pt x="266700" y="303863"/>
                  <a:pt x="266700" y="322263"/>
                </a:cubicBezTo>
                <a:cubicBezTo>
                  <a:pt x="266700" y="340662"/>
                  <a:pt x="281638" y="355600"/>
                  <a:pt x="300038" y="35560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35941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 Platforms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3949700"/>
            <a:ext cx="609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images linking to reviews, videos, and related items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762500"/>
            <a:ext cx="711200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508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98137"/>
                </a:moveTo>
                <a:lnTo>
                  <a:pt x="177800" y="312956"/>
                </a:lnTo>
                <a:lnTo>
                  <a:pt x="178147" y="312817"/>
                </a:lnTo>
                <a:cubicBezTo>
                  <a:pt x="216069" y="297051"/>
                  <a:pt x="256768" y="288925"/>
                  <a:pt x="297815" y="288925"/>
                </a:cubicBezTo>
                <a:lnTo>
                  <a:pt x="311150" y="288925"/>
                </a:lnTo>
                <a:lnTo>
                  <a:pt x="311150" y="66675"/>
                </a:lnTo>
                <a:lnTo>
                  <a:pt x="297815" y="66675"/>
                </a:lnTo>
                <a:cubicBezTo>
                  <a:pt x="268506" y="66675"/>
                  <a:pt x="239405" y="72509"/>
                  <a:pt x="212318" y="83760"/>
                </a:cubicBezTo>
                <a:cubicBezTo>
                  <a:pt x="200650" y="88622"/>
                  <a:pt x="189121" y="93414"/>
                  <a:pt x="177800" y="98137"/>
                </a:cubicBezTo>
                <a:close/>
                <a:moveTo>
                  <a:pt x="160367" y="42714"/>
                </a:moveTo>
                <a:lnTo>
                  <a:pt x="177800" y="50006"/>
                </a:lnTo>
                <a:lnTo>
                  <a:pt x="195233" y="42714"/>
                </a:lnTo>
                <a:cubicBezTo>
                  <a:pt x="227737" y="29170"/>
                  <a:pt x="262602" y="22225"/>
                  <a:pt x="297815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300038"/>
                </a:lnTo>
                <a:cubicBezTo>
                  <a:pt x="355600" y="318443"/>
                  <a:pt x="340668" y="333375"/>
                  <a:pt x="322263" y="333375"/>
                </a:cubicBezTo>
                <a:lnTo>
                  <a:pt x="297815" y="333375"/>
                </a:lnTo>
                <a:cubicBezTo>
                  <a:pt x="262602" y="333375"/>
                  <a:pt x="227737" y="340320"/>
                  <a:pt x="195233" y="353864"/>
                </a:cubicBezTo>
                <a:lnTo>
                  <a:pt x="186343" y="357545"/>
                </a:lnTo>
                <a:cubicBezTo>
                  <a:pt x="180856" y="359837"/>
                  <a:pt x="174744" y="359837"/>
                  <a:pt x="169257" y="357545"/>
                </a:cubicBezTo>
                <a:lnTo>
                  <a:pt x="160367" y="353864"/>
                </a:lnTo>
                <a:cubicBezTo>
                  <a:pt x="127863" y="340320"/>
                  <a:pt x="92998" y="333375"/>
                  <a:pt x="57785" y="333375"/>
                </a:cubicBezTo>
                <a:lnTo>
                  <a:pt x="33337" y="333375"/>
                </a:lnTo>
                <a:cubicBezTo>
                  <a:pt x="14932" y="333375"/>
                  <a:pt x="0" y="318443"/>
                  <a:pt x="0" y="300038"/>
                </a:cubicBezTo>
                <a:lnTo>
                  <a:pt x="0" y="55563"/>
                </a:lnTo>
                <a:cubicBezTo>
                  <a:pt x="0" y="37157"/>
                  <a:pt x="14932" y="22225"/>
                  <a:pt x="33337" y="22225"/>
                </a:cubicBezTo>
                <a:lnTo>
                  <a:pt x="57785" y="22225"/>
                </a:lnTo>
                <a:cubicBezTo>
                  <a:pt x="92998" y="22225"/>
                  <a:pt x="127863" y="29170"/>
                  <a:pt x="160367" y="42714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49276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Encyclopedias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5283200"/>
            <a:ext cx="609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Wikipedia with cross-linked articles, images, and media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096000"/>
            <a:ext cx="711200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93775" y="6413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9" name="Text 17"/>
          <p:cNvSpPr/>
          <p:nvPr/>
        </p:nvSpPr>
        <p:spPr>
          <a:xfrm>
            <a:off x="1524000" y="62611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Management Systems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24000" y="6616700"/>
            <a:ext cx="609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Connected lessons, quizzes, and resources in one platform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2095500"/>
            <a:ext cx="7112000" cy="5143500"/>
          </a:xfrm>
          <a:prstGeom prst="rect">
            <a:avLst/>
          </a:prstGeom>
          <a:solidFill>
            <a:srgbClr val="E85D4A">
              <a:alpha val="8235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763000" y="2349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EXAMPLES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63000" y="29210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Museums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Artifacts linked to historical context and multimedia content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63000" y="3873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Documents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PDFs and presentations with embedded links and media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63000" y="48260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Maps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Geographic data linked to photos, videos, and information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63000" y="57785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 Platforms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Netflix, Spotify with recommendation algorithms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8" name="Text 26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 of Hypertext Applications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Text-based linking systems in everyday use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4699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28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288925"/>
                </a:moveTo>
                <a:lnTo>
                  <a:pt x="0" y="83344"/>
                </a:lnTo>
                <a:cubicBezTo>
                  <a:pt x="0" y="74106"/>
                  <a:pt x="7431" y="66675"/>
                  <a:pt x="16669" y="66675"/>
                </a:cubicBezTo>
                <a:cubicBezTo>
                  <a:pt x="25906" y="66675"/>
                  <a:pt x="33337" y="74106"/>
                  <a:pt x="33337" y="83344"/>
                </a:cubicBezTo>
                <a:lnTo>
                  <a:pt x="33337" y="283369"/>
                </a:lnTo>
                <a:cubicBezTo>
                  <a:pt x="33337" y="292606"/>
                  <a:pt x="40769" y="300038"/>
                  <a:pt x="50006" y="300038"/>
                </a:cubicBezTo>
                <a:cubicBezTo>
                  <a:pt x="59244" y="300038"/>
                  <a:pt x="66675" y="292606"/>
                  <a:pt x="66675" y="283369"/>
                </a:cubicBezTo>
                <a:lnTo>
                  <a:pt x="66675" y="66675"/>
                </a:lnTo>
                <a:cubicBezTo>
                  <a:pt x="66675" y="42158"/>
                  <a:pt x="86608" y="22225"/>
                  <a:pt x="111125" y="22225"/>
                </a:cubicBezTo>
                <a:lnTo>
                  <a:pt x="311150" y="22225"/>
                </a:lnTo>
                <a:cubicBezTo>
                  <a:pt x="335667" y="22225"/>
                  <a:pt x="355600" y="42158"/>
                  <a:pt x="355600" y="66675"/>
                </a:cubicBezTo>
                <a:lnTo>
                  <a:pt x="355600" y="288925"/>
                </a:lnTo>
                <a:cubicBezTo>
                  <a:pt x="355600" y="313442"/>
                  <a:pt x="335667" y="333375"/>
                  <a:pt x="31115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close/>
                <a:moveTo>
                  <a:pt x="111125" y="88900"/>
                </a:moveTo>
                <a:lnTo>
                  <a:pt x="111125" y="133350"/>
                </a:lnTo>
                <a:cubicBezTo>
                  <a:pt x="111125" y="145643"/>
                  <a:pt x="121057" y="155575"/>
                  <a:pt x="133350" y="155575"/>
                </a:cubicBezTo>
                <a:lnTo>
                  <a:pt x="177800" y="155575"/>
                </a:lnTo>
                <a:cubicBezTo>
                  <a:pt x="190093" y="155575"/>
                  <a:pt x="200025" y="145643"/>
                  <a:pt x="200025" y="133350"/>
                </a:cubicBezTo>
                <a:lnTo>
                  <a:pt x="200025" y="88900"/>
                </a:lnTo>
                <a:cubicBezTo>
                  <a:pt x="200025" y="76607"/>
                  <a:pt x="190093" y="66675"/>
                  <a:pt x="177800" y="66675"/>
                </a:cubicBezTo>
                <a:lnTo>
                  <a:pt x="133350" y="66675"/>
                </a:lnTo>
                <a:cubicBezTo>
                  <a:pt x="121057" y="66675"/>
                  <a:pt x="111125" y="76607"/>
                  <a:pt x="111125" y="88900"/>
                </a:cubicBezTo>
                <a:close/>
                <a:moveTo>
                  <a:pt x="127794" y="255587"/>
                </a:moveTo>
                <a:cubicBezTo>
                  <a:pt x="118556" y="255587"/>
                  <a:pt x="111125" y="263019"/>
                  <a:pt x="111125" y="272256"/>
                </a:cubicBezTo>
                <a:cubicBezTo>
                  <a:pt x="111125" y="281494"/>
                  <a:pt x="118556" y="288925"/>
                  <a:pt x="127794" y="288925"/>
                </a:cubicBezTo>
                <a:lnTo>
                  <a:pt x="294481" y="288925"/>
                </a:lnTo>
                <a:cubicBezTo>
                  <a:pt x="303719" y="288925"/>
                  <a:pt x="311150" y="281494"/>
                  <a:pt x="311150" y="272256"/>
                </a:cubicBezTo>
                <a:cubicBezTo>
                  <a:pt x="311150" y="263019"/>
                  <a:pt x="303719" y="255587"/>
                  <a:pt x="294481" y="255587"/>
                </a:cubicBezTo>
                <a:lnTo>
                  <a:pt x="127794" y="255587"/>
                </a:lnTo>
                <a:close/>
                <a:moveTo>
                  <a:pt x="111125" y="205581"/>
                </a:moveTo>
                <a:cubicBezTo>
                  <a:pt x="111125" y="214819"/>
                  <a:pt x="118556" y="222250"/>
                  <a:pt x="127794" y="222250"/>
                </a:cubicBezTo>
                <a:lnTo>
                  <a:pt x="294481" y="222250"/>
                </a:lnTo>
                <a:cubicBezTo>
                  <a:pt x="303719" y="222250"/>
                  <a:pt x="311150" y="214819"/>
                  <a:pt x="311150" y="205581"/>
                </a:cubicBezTo>
                <a:cubicBezTo>
                  <a:pt x="311150" y="196344"/>
                  <a:pt x="303719" y="188913"/>
                  <a:pt x="294481" y="188913"/>
                </a:cubicBezTo>
                <a:lnTo>
                  <a:pt x="127794" y="188913"/>
                </a:lnTo>
                <a:cubicBezTo>
                  <a:pt x="118556" y="188913"/>
                  <a:pt x="111125" y="196344"/>
                  <a:pt x="111125" y="205581"/>
                </a:cubicBezTo>
                <a:close/>
                <a:moveTo>
                  <a:pt x="250031" y="122238"/>
                </a:moveTo>
                <a:cubicBezTo>
                  <a:pt x="240794" y="122238"/>
                  <a:pt x="233363" y="129669"/>
                  <a:pt x="233363" y="138906"/>
                </a:cubicBezTo>
                <a:cubicBezTo>
                  <a:pt x="233363" y="148144"/>
                  <a:pt x="240794" y="155575"/>
                  <a:pt x="250031" y="155575"/>
                </a:cubicBezTo>
                <a:lnTo>
                  <a:pt x="294481" y="155575"/>
                </a:lnTo>
                <a:cubicBezTo>
                  <a:pt x="303719" y="155575"/>
                  <a:pt x="311150" y="148144"/>
                  <a:pt x="311150" y="138906"/>
                </a:cubicBezTo>
                <a:cubicBezTo>
                  <a:pt x="311150" y="129669"/>
                  <a:pt x="303719" y="122238"/>
                  <a:pt x="294481" y="122238"/>
                </a:cubicBezTo>
                <a:lnTo>
                  <a:pt x="250031" y="122238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768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Websites &amp; Blogs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1496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Articles linked through clickable references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2095500"/>
            <a:ext cx="4699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13450" y="2286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83344" y="177800"/>
                </a:moveTo>
                <a:cubicBezTo>
                  <a:pt x="74106" y="177800"/>
                  <a:pt x="66675" y="185231"/>
                  <a:pt x="66675" y="194469"/>
                </a:cubicBezTo>
                <a:cubicBezTo>
                  <a:pt x="66675" y="203706"/>
                  <a:pt x="74106" y="211138"/>
                  <a:pt x="83344" y="211138"/>
                </a:cubicBezTo>
                <a:lnTo>
                  <a:pt x="183356" y="211138"/>
                </a:lnTo>
                <a:cubicBezTo>
                  <a:pt x="192594" y="211138"/>
                  <a:pt x="200025" y="203706"/>
                  <a:pt x="200025" y="194469"/>
                </a:cubicBezTo>
                <a:cubicBezTo>
                  <a:pt x="200025" y="185231"/>
                  <a:pt x="192594" y="177800"/>
                  <a:pt x="183356" y="177800"/>
                </a:cubicBezTo>
                <a:lnTo>
                  <a:pt x="83344" y="177800"/>
                </a:lnTo>
                <a:close/>
                <a:moveTo>
                  <a:pt x="83344" y="244475"/>
                </a:moveTo>
                <a:cubicBezTo>
                  <a:pt x="74106" y="244475"/>
                  <a:pt x="66675" y="251906"/>
                  <a:pt x="66675" y="261144"/>
                </a:cubicBezTo>
                <a:cubicBezTo>
                  <a:pt x="66675" y="270381"/>
                  <a:pt x="74106" y="277813"/>
                  <a:pt x="83344" y="277813"/>
                </a:cubicBezTo>
                <a:lnTo>
                  <a:pt x="183356" y="277813"/>
                </a:lnTo>
                <a:cubicBezTo>
                  <a:pt x="192594" y="277813"/>
                  <a:pt x="200025" y="270381"/>
                  <a:pt x="200025" y="261144"/>
                </a:cubicBezTo>
                <a:cubicBezTo>
                  <a:pt x="200025" y="251906"/>
                  <a:pt x="192594" y="244475"/>
                  <a:pt x="183356" y="244475"/>
                </a:cubicBezTo>
                <a:lnTo>
                  <a:pt x="83344" y="244475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1" name="Text 9"/>
          <p:cNvSpPr/>
          <p:nvPr/>
        </p:nvSpPr>
        <p:spPr>
          <a:xfrm>
            <a:off x="5969000" y="2768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Documentation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31496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Manuals with cross-references and links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2095500"/>
            <a:ext cx="4826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44225" y="2286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0" y="27686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E-Books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31496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books with TOC and index links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000500"/>
            <a:ext cx="4699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93775" y="4191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17793" y="106541"/>
                </a:moveTo>
                <a:lnTo>
                  <a:pt x="104805" y="93553"/>
                </a:lnTo>
                <a:cubicBezTo>
                  <a:pt x="96123" y="84872"/>
                  <a:pt x="96123" y="70773"/>
                  <a:pt x="104805" y="62091"/>
                </a:cubicBezTo>
                <a:lnTo>
                  <a:pt x="184468" y="-17641"/>
                </a:lnTo>
                <a:cubicBezTo>
                  <a:pt x="193149" y="-26323"/>
                  <a:pt x="207248" y="-26323"/>
                  <a:pt x="215930" y="-17641"/>
                </a:cubicBezTo>
                <a:lnTo>
                  <a:pt x="228918" y="-4584"/>
                </a:lnTo>
                <a:cubicBezTo>
                  <a:pt x="237599" y="4098"/>
                  <a:pt x="237599" y="18197"/>
                  <a:pt x="228918" y="26878"/>
                </a:cubicBezTo>
                <a:lnTo>
                  <a:pt x="149255" y="106541"/>
                </a:lnTo>
                <a:cubicBezTo>
                  <a:pt x="140573" y="115223"/>
                  <a:pt x="126474" y="115223"/>
                  <a:pt x="117793" y="106541"/>
                </a:cubicBezTo>
                <a:close/>
                <a:moveTo>
                  <a:pt x="191691" y="147032"/>
                </a:moveTo>
                <a:lnTo>
                  <a:pt x="169882" y="125224"/>
                </a:lnTo>
                <a:lnTo>
                  <a:pt x="247670" y="47436"/>
                </a:lnTo>
                <a:lnTo>
                  <a:pt x="330597" y="130364"/>
                </a:lnTo>
                <a:lnTo>
                  <a:pt x="252809" y="208151"/>
                </a:lnTo>
                <a:lnTo>
                  <a:pt x="231001" y="186343"/>
                </a:lnTo>
                <a:lnTo>
                  <a:pt x="69870" y="347474"/>
                </a:lnTo>
                <a:cubicBezTo>
                  <a:pt x="59035" y="358309"/>
                  <a:pt x="41464" y="358309"/>
                  <a:pt x="30559" y="347474"/>
                </a:cubicBezTo>
                <a:cubicBezTo>
                  <a:pt x="19655" y="336639"/>
                  <a:pt x="19725" y="319068"/>
                  <a:pt x="30559" y="308164"/>
                </a:cubicBezTo>
                <a:lnTo>
                  <a:pt x="191691" y="147032"/>
                </a:lnTo>
                <a:close/>
                <a:moveTo>
                  <a:pt x="271492" y="260171"/>
                </a:moveTo>
                <a:cubicBezTo>
                  <a:pt x="262811" y="251490"/>
                  <a:pt x="262811" y="237391"/>
                  <a:pt x="271492" y="228709"/>
                </a:cubicBezTo>
                <a:lnTo>
                  <a:pt x="351155" y="149046"/>
                </a:lnTo>
                <a:cubicBezTo>
                  <a:pt x="359837" y="140365"/>
                  <a:pt x="373936" y="140365"/>
                  <a:pt x="382617" y="149046"/>
                </a:cubicBezTo>
                <a:lnTo>
                  <a:pt x="395605" y="162034"/>
                </a:lnTo>
                <a:cubicBezTo>
                  <a:pt x="404287" y="170716"/>
                  <a:pt x="404287" y="184815"/>
                  <a:pt x="395605" y="193496"/>
                </a:cubicBezTo>
                <a:lnTo>
                  <a:pt x="315942" y="273229"/>
                </a:lnTo>
                <a:cubicBezTo>
                  <a:pt x="307261" y="281910"/>
                  <a:pt x="293162" y="281910"/>
                  <a:pt x="284480" y="273229"/>
                </a:cubicBezTo>
                <a:lnTo>
                  <a:pt x="271492" y="260241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673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Databases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0546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Cases cross-referenced with statutes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0" y="4000500"/>
            <a:ext cx="4699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924550" y="4191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28210" y="285800"/>
                </a:moveTo>
                <a:cubicBezTo>
                  <a:pt x="126057" y="290870"/>
                  <a:pt x="124460" y="296148"/>
                  <a:pt x="123488" y="301496"/>
                </a:cubicBezTo>
                <a:cubicBezTo>
                  <a:pt x="113417" y="307608"/>
                  <a:pt x="101610" y="311150"/>
                  <a:pt x="88900" y="311150"/>
                </a:cubicBezTo>
                <a:cubicBezTo>
                  <a:pt x="52090" y="311150"/>
                  <a:pt x="22225" y="281285"/>
                  <a:pt x="22225" y="244475"/>
                </a:cubicBezTo>
                <a:lnTo>
                  <a:pt x="22225" y="44450"/>
                </a:lnTo>
                <a:cubicBezTo>
                  <a:pt x="9932" y="44450"/>
                  <a:pt x="0" y="34518"/>
                  <a:pt x="0" y="22225"/>
                </a:cubicBezTo>
                <a:cubicBezTo>
                  <a:pt x="0" y="9932"/>
                  <a:pt x="9932" y="0"/>
                  <a:pt x="22225" y="0"/>
                </a:cubicBezTo>
                <a:lnTo>
                  <a:pt x="155575" y="0"/>
                </a:lnTo>
                <a:cubicBezTo>
                  <a:pt x="167868" y="0"/>
                  <a:pt x="177800" y="9932"/>
                  <a:pt x="177800" y="22225"/>
                </a:cubicBezTo>
                <a:cubicBezTo>
                  <a:pt x="177800" y="34518"/>
                  <a:pt x="167868" y="44450"/>
                  <a:pt x="155575" y="44450"/>
                </a:cubicBezTo>
                <a:lnTo>
                  <a:pt x="155575" y="221972"/>
                </a:lnTo>
                <a:lnTo>
                  <a:pt x="128210" y="285800"/>
                </a:lnTo>
                <a:close/>
                <a:moveTo>
                  <a:pt x="66675" y="44450"/>
                </a:moveTo>
                <a:lnTo>
                  <a:pt x="66675" y="133350"/>
                </a:lnTo>
                <a:lnTo>
                  <a:pt x="111125" y="133350"/>
                </a:lnTo>
                <a:lnTo>
                  <a:pt x="111125" y="44450"/>
                </a:lnTo>
                <a:lnTo>
                  <a:pt x="66675" y="44450"/>
                </a:lnTo>
                <a:close/>
                <a:moveTo>
                  <a:pt x="244475" y="0"/>
                </a:moveTo>
                <a:lnTo>
                  <a:pt x="355600" y="0"/>
                </a:lnTo>
                <a:cubicBezTo>
                  <a:pt x="367893" y="0"/>
                  <a:pt x="377825" y="9932"/>
                  <a:pt x="377825" y="22225"/>
                </a:cubicBezTo>
                <a:cubicBezTo>
                  <a:pt x="377825" y="34518"/>
                  <a:pt x="367893" y="44450"/>
                  <a:pt x="355600" y="44450"/>
                </a:cubicBezTo>
                <a:lnTo>
                  <a:pt x="355600" y="150991"/>
                </a:lnTo>
                <a:lnTo>
                  <a:pt x="419011" y="298926"/>
                </a:lnTo>
                <a:cubicBezTo>
                  <a:pt x="420608" y="302677"/>
                  <a:pt x="421650" y="306636"/>
                  <a:pt x="422067" y="310733"/>
                </a:cubicBezTo>
                <a:lnTo>
                  <a:pt x="422275" y="311150"/>
                </a:lnTo>
                <a:lnTo>
                  <a:pt x="422067" y="311150"/>
                </a:lnTo>
                <a:cubicBezTo>
                  <a:pt x="422206" y="312400"/>
                  <a:pt x="422275" y="313650"/>
                  <a:pt x="422275" y="314900"/>
                </a:cubicBezTo>
                <a:cubicBezTo>
                  <a:pt x="422275" y="337334"/>
                  <a:pt x="404078" y="355600"/>
                  <a:pt x="381575" y="355600"/>
                </a:cubicBezTo>
                <a:lnTo>
                  <a:pt x="196205" y="355600"/>
                </a:lnTo>
                <a:cubicBezTo>
                  <a:pt x="173772" y="355600"/>
                  <a:pt x="155506" y="337403"/>
                  <a:pt x="155506" y="314900"/>
                </a:cubicBezTo>
                <a:cubicBezTo>
                  <a:pt x="155506" y="313650"/>
                  <a:pt x="155575" y="312400"/>
                  <a:pt x="155714" y="311150"/>
                </a:cubicBezTo>
                <a:lnTo>
                  <a:pt x="155506" y="311150"/>
                </a:lnTo>
                <a:lnTo>
                  <a:pt x="155714" y="310733"/>
                </a:lnTo>
                <a:cubicBezTo>
                  <a:pt x="156131" y="306705"/>
                  <a:pt x="157172" y="302677"/>
                  <a:pt x="158770" y="298926"/>
                </a:cubicBezTo>
                <a:lnTo>
                  <a:pt x="222250" y="150991"/>
                </a:lnTo>
                <a:lnTo>
                  <a:pt x="222250" y="44450"/>
                </a:lnTo>
                <a:cubicBezTo>
                  <a:pt x="209957" y="44450"/>
                  <a:pt x="200025" y="34518"/>
                  <a:pt x="200025" y="22225"/>
                </a:cubicBezTo>
                <a:cubicBezTo>
                  <a:pt x="200025" y="9932"/>
                  <a:pt x="209957" y="0"/>
                  <a:pt x="222250" y="0"/>
                </a:cubicBezTo>
                <a:lnTo>
                  <a:pt x="244475" y="0"/>
                </a:lnTo>
                <a:close/>
                <a:moveTo>
                  <a:pt x="314762" y="168493"/>
                </a:moveTo>
                <a:cubicBezTo>
                  <a:pt x="312400" y="162937"/>
                  <a:pt x="311150" y="157034"/>
                  <a:pt x="311150" y="150991"/>
                </a:cubicBezTo>
                <a:lnTo>
                  <a:pt x="311150" y="44450"/>
                </a:lnTo>
                <a:lnTo>
                  <a:pt x="266700" y="44450"/>
                </a:lnTo>
                <a:lnTo>
                  <a:pt x="266700" y="150991"/>
                </a:lnTo>
                <a:cubicBezTo>
                  <a:pt x="266700" y="157034"/>
                  <a:pt x="265450" y="162937"/>
                  <a:pt x="263088" y="168493"/>
                </a:cubicBezTo>
                <a:lnTo>
                  <a:pt x="240030" y="222250"/>
                </a:lnTo>
                <a:lnTo>
                  <a:pt x="337751" y="222250"/>
                </a:lnTo>
                <a:lnTo>
                  <a:pt x="314692" y="168493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3" name="Text 21"/>
          <p:cNvSpPr/>
          <p:nvPr/>
        </p:nvSpPr>
        <p:spPr>
          <a:xfrm>
            <a:off x="5969000" y="46736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Journals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69000" y="50546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Papers citing and linking to research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4000500"/>
            <a:ext cx="4826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22000" y="419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122238"/>
                </a:moveTo>
                <a:cubicBezTo>
                  <a:pt x="165507" y="122238"/>
                  <a:pt x="155575" y="132169"/>
                  <a:pt x="155575" y="144463"/>
                </a:cubicBezTo>
                <a:cubicBezTo>
                  <a:pt x="155575" y="153700"/>
                  <a:pt x="148144" y="161131"/>
                  <a:pt x="138906" y="161131"/>
                </a:cubicBezTo>
                <a:cubicBezTo>
                  <a:pt x="129669" y="161131"/>
                  <a:pt x="122238" y="153700"/>
                  <a:pt x="122238" y="144463"/>
                </a:cubicBezTo>
                <a:cubicBezTo>
                  <a:pt x="122238" y="113764"/>
                  <a:pt x="147102" y="88900"/>
                  <a:pt x="177800" y="88900"/>
                </a:cubicBezTo>
                <a:cubicBezTo>
                  <a:pt x="208498" y="88900"/>
                  <a:pt x="233363" y="113764"/>
                  <a:pt x="233363" y="144463"/>
                </a:cubicBezTo>
                <a:cubicBezTo>
                  <a:pt x="233363" y="177244"/>
                  <a:pt x="208359" y="191135"/>
                  <a:pt x="194469" y="196205"/>
                </a:cubicBezTo>
                <a:lnTo>
                  <a:pt x="194469" y="198844"/>
                </a:lnTo>
                <a:cubicBezTo>
                  <a:pt x="194469" y="208082"/>
                  <a:pt x="187037" y="215513"/>
                  <a:pt x="177800" y="215513"/>
                </a:cubicBezTo>
                <a:cubicBezTo>
                  <a:pt x="168563" y="215513"/>
                  <a:pt x="161131" y="208082"/>
                  <a:pt x="161131" y="198844"/>
                </a:cubicBezTo>
                <a:lnTo>
                  <a:pt x="161131" y="193219"/>
                </a:lnTo>
                <a:cubicBezTo>
                  <a:pt x="161131" y="178981"/>
                  <a:pt x="171410" y="168771"/>
                  <a:pt x="182037" y="165298"/>
                </a:cubicBezTo>
                <a:cubicBezTo>
                  <a:pt x="186482" y="163840"/>
                  <a:pt x="191204" y="161479"/>
                  <a:pt x="194677" y="158145"/>
                </a:cubicBezTo>
                <a:cubicBezTo>
                  <a:pt x="197664" y="155228"/>
                  <a:pt x="200025" y="151199"/>
                  <a:pt x="200025" y="144532"/>
                </a:cubicBezTo>
                <a:cubicBezTo>
                  <a:pt x="200025" y="132239"/>
                  <a:pt x="190093" y="122307"/>
                  <a:pt x="177800" y="122307"/>
                </a:cubicBezTo>
                <a:close/>
                <a:moveTo>
                  <a:pt x="155575" y="255587"/>
                </a:moveTo>
                <a:cubicBezTo>
                  <a:pt x="155575" y="243321"/>
                  <a:pt x="165534" y="233363"/>
                  <a:pt x="177800" y="233363"/>
                </a:cubicBezTo>
                <a:cubicBezTo>
                  <a:pt x="190066" y="233363"/>
                  <a:pt x="200025" y="243321"/>
                  <a:pt x="200025" y="255587"/>
                </a:cubicBezTo>
                <a:cubicBezTo>
                  <a:pt x="200025" y="267854"/>
                  <a:pt x="190066" y="277813"/>
                  <a:pt x="177800" y="277813"/>
                </a:cubicBezTo>
                <a:cubicBezTo>
                  <a:pt x="165534" y="277813"/>
                  <a:pt x="155575" y="267854"/>
                  <a:pt x="155575" y="255587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7" name="Text 25"/>
          <p:cNvSpPr/>
          <p:nvPr/>
        </p:nvSpPr>
        <p:spPr>
          <a:xfrm>
            <a:off x="10922000" y="46736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Help Systems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22000" y="50546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help menus linking to topics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032500"/>
            <a:ext cx="14732000" cy="1143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6159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Hypertext is the foundation of modern information navigation. Every click on a website, every cross-reference in a document — that's hypertext at work.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32" name="Text 30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vs. Hypermedia vs. Hypertext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relationship between these three concepts</a:t>
            </a:r>
            <a:endParaRPr lang="en-US" sz="2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95500"/>
          <a:ext cx="14732000" cy="3937000"/>
        </p:xfrm>
        <a:graphic>
          <a:graphicData uri="http://schemas.openxmlformats.org/drawingml/2006/table">
            <a:tbl>
              <a:tblPr/>
              <a:tblGrid>
                <a:gridCol w="3241040"/>
                <a:gridCol w="3830320"/>
                <a:gridCol w="3830320"/>
                <a:gridCol w="3830320"/>
              </a:tblGrid>
              <a:tr h="70891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Multimedia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Hypertext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Hypermedia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106337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Definition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Multiple media types combined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Text with links to other text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Any media linked to any other media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337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Feature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Integration of text, graphics, audio, video, animation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Non-linear text navigation via hyperlinks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Non-linear multimedia navigation via hyperlinks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B"/>
                    </a:solidFill>
                  </a:tcPr>
                </a:tc>
              </a:tr>
              <a:tr h="110134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PowerPoint presentation with slides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Wikipedia article with text links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D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 website with linked images, videos, and audio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413500"/>
            <a:ext cx="14732000" cy="1397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6540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RELATIONSHIP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69215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Hypertext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subset of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Hypermedia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which is an application of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All hypermedia is multimedia, but not all multimedia is hypermedia.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0" name="Text 7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Trends in Multimedia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Emerging directions shaping the future of multimedia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2000" y="2095500"/>
            <a:ext cx="3429000" cy="254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965200" y="23114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8448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225800"/>
            <a:ext cx="292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images, video, and audio content creation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0" y="2095500"/>
            <a:ext cx="3429000" cy="254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73600" y="23114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13744" y="76200"/>
                </a:moveTo>
                <a:cubicBezTo>
                  <a:pt x="102632" y="76200"/>
                  <a:pt x="92710" y="83503"/>
                  <a:pt x="89456" y="94139"/>
                </a:cubicBezTo>
                <a:lnTo>
                  <a:pt x="55880" y="203200"/>
                </a:lnTo>
                <a:lnTo>
                  <a:pt x="177800" y="203200"/>
                </a:lnTo>
                <a:cubicBezTo>
                  <a:pt x="191849" y="203200"/>
                  <a:pt x="203200" y="214551"/>
                  <a:pt x="203200" y="228600"/>
                </a:cubicBezTo>
                <a:lnTo>
                  <a:pt x="254000" y="228600"/>
                </a:lnTo>
                <a:cubicBezTo>
                  <a:pt x="254000" y="214551"/>
                  <a:pt x="265351" y="203200"/>
                  <a:pt x="279400" y="203200"/>
                </a:cubicBezTo>
                <a:lnTo>
                  <a:pt x="401320" y="203200"/>
                </a:lnTo>
                <a:lnTo>
                  <a:pt x="367744" y="94139"/>
                </a:lnTo>
                <a:cubicBezTo>
                  <a:pt x="364490" y="83503"/>
                  <a:pt x="354648" y="76200"/>
                  <a:pt x="343456" y="76200"/>
                </a:cubicBezTo>
                <a:lnTo>
                  <a:pt x="317500" y="76200"/>
                </a:lnTo>
                <a:cubicBezTo>
                  <a:pt x="303451" y="76200"/>
                  <a:pt x="292100" y="64849"/>
                  <a:pt x="292100" y="50800"/>
                </a:cubicBezTo>
                <a:cubicBezTo>
                  <a:pt x="292100" y="36751"/>
                  <a:pt x="303451" y="25400"/>
                  <a:pt x="317500" y="25400"/>
                </a:cubicBezTo>
                <a:lnTo>
                  <a:pt x="343456" y="25400"/>
                </a:lnTo>
                <a:cubicBezTo>
                  <a:pt x="376873" y="25400"/>
                  <a:pt x="406479" y="47228"/>
                  <a:pt x="416322" y="79216"/>
                </a:cubicBezTo>
                <a:lnTo>
                  <a:pt x="452358" y="196294"/>
                </a:lnTo>
                <a:cubicBezTo>
                  <a:pt x="455613" y="206772"/>
                  <a:pt x="457200" y="217646"/>
                  <a:pt x="457200" y="228600"/>
                </a:cubicBezTo>
                <a:lnTo>
                  <a:pt x="457200" y="304800"/>
                </a:lnTo>
                <a:cubicBezTo>
                  <a:pt x="457200" y="346869"/>
                  <a:pt x="423069" y="381000"/>
                  <a:pt x="381000" y="381000"/>
                </a:cubicBezTo>
                <a:lnTo>
                  <a:pt x="330200" y="381000"/>
                </a:lnTo>
                <a:cubicBezTo>
                  <a:pt x="288131" y="381000"/>
                  <a:pt x="254000" y="346869"/>
                  <a:pt x="254000" y="304800"/>
                </a:cubicBezTo>
                <a:lnTo>
                  <a:pt x="254000" y="279400"/>
                </a:lnTo>
                <a:lnTo>
                  <a:pt x="203200" y="279400"/>
                </a:lnTo>
                <a:lnTo>
                  <a:pt x="203200" y="304800"/>
                </a:lnTo>
                <a:cubicBezTo>
                  <a:pt x="203200" y="346869"/>
                  <a:pt x="169069" y="381000"/>
                  <a:pt x="127000" y="381000"/>
                </a:cubicBezTo>
                <a:lnTo>
                  <a:pt x="76200" y="381000"/>
                </a:lnTo>
                <a:cubicBezTo>
                  <a:pt x="34131" y="381000"/>
                  <a:pt x="0" y="346869"/>
                  <a:pt x="0" y="304800"/>
                </a:cubicBezTo>
                <a:lnTo>
                  <a:pt x="0" y="228600"/>
                </a:lnTo>
                <a:cubicBezTo>
                  <a:pt x="0" y="217646"/>
                  <a:pt x="1667" y="206772"/>
                  <a:pt x="4842" y="196294"/>
                </a:cubicBezTo>
                <a:lnTo>
                  <a:pt x="40878" y="79216"/>
                </a:lnTo>
                <a:cubicBezTo>
                  <a:pt x="50721" y="47228"/>
                  <a:pt x="80248" y="25400"/>
                  <a:pt x="113744" y="25400"/>
                </a:cubicBezTo>
                <a:lnTo>
                  <a:pt x="139700" y="25400"/>
                </a:lnTo>
                <a:cubicBezTo>
                  <a:pt x="153749" y="25400"/>
                  <a:pt x="165100" y="36751"/>
                  <a:pt x="165100" y="50800"/>
                </a:cubicBezTo>
                <a:cubicBezTo>
                  <a:pt x="165100" y="64849"/>
                  <a:pt x="153749" y="76200"/>
                  <a:pt x="139700" y="76200"/>
                </a:cubicBezTo>
                <a:lnTo>
                  <a:pt x="113744" y="76200"/>
                </a:lnTo>
                <a:close/>
                <a:moveTo>
                  <a:pt x="50800" y="254000"/>
                </a:moveTo>
                <a:lnTo>
                  <a:pt x="50800" y="304800"/>
                </a:lnTo>
                <a:cubicBezTo>
                  <a:pt x="50800" y="318849"/>
                  <a:pt x="62151" y="330200"/>
                  <a:pt x="76200" y="330200"/>
                </a:cubicBezTo>
                <a:lnTo>
                  <a:pt x="127000" y="330200"/>
                </a:lnTo>
                <a:cubicBezTo>
                  <a:pt x="141049" y="330200"/>
                  <a:pt x="152400" y="318849"/>
                  <a:pt x="152400" y="304800"/>
                </a:cubicBezTo>
                <a:lnTo>
                  <a:pt x="152400" y="254000"/>
                </a:lnTo>
                <a:lnTo>
                  <a:pt x="50800" y="254000"/>
                </a:lnTo>
                <a:close/>
                <a:moveTo>
                  <a:pt x="381000" y="330200"/>
                </a:moveTo>
                <a:cubicBezTo>
                  <a:pt x="395049" y="330200"/>
                  <a:pt x="406400" y="318849"/>
                  <a:pt x="406400" y="304800"/>
                </a:cubicBezTo>
                <a:lnTo>
                  <a:pt x="406400" y="254000"/>
                </a:lnTo>
                <a:lnTo>
                  <a:pt x="304800" y="254000"/>
                </a:lnTo>
                <a:lnTo>
                  <a:pt x="304800" y="304800"/>
                </a:lnTo>
                <a:cubicBezTo>
                  <a:pt x="304800" y="318849"/>
                  <a:pt x="316151" y="330200"/>
                  <a:pt x="330200" y="330200"/>
                </a:cubicBezTo>
                <a:lnTo>
                  <a:pt x="381000" y="330200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1" name="Text 9"/>
          <p:cNvSpPr/>
          <p:nvPr/>
        </p:nvSpPr>
        <p:spPr>
          <a:xfrm>
            <a:off x="4699000" y="28448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Augmented Reality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9000" y="3225800"/>
            <a:ext cx="292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Overlaying digital content onto the real world through devices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0" y="2095500"/>
            <a:ext cx="3429000" cy="254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356600" y="23114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06400" y="76200"/>
                </a:move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44066" y="330200"/>
                </a:lnTo>
                <a:cubicBezTo>
                  <a:pt x="157559" y="330200"/>
                  <a:pt x="170498" y="324882"/>
                  <a:pt x="180023" y="315357"/>
                </a:cubicBezTo>
                <a:lnTo>
                  <a:pt x="206931" y="288449"/>
                </a:lnTo>
                <a:cubicBezTo>
                  <a:pt x="212646" y="282734"/>
                  <a:pt x="220504" y="279479"/>
                  <a:pt x="228600" y="279479"/>
                </a:cubicBezTo>
                <a:cubicBezTo>
                  <a:pt x="236696" y="279479"/>
                  <a:pt x="244554" y="282734"/>
                  <a:pt x="250269" y="288449"/>
                </a:cubicBezTo>
                <a:lnTo>
                  <a:pt x="277178" y="315357"/>
                </a:lnTo>
                <a:cubicBezTo>
                  <a:pt x="286703" y="324882"/>
                  <a:pt x="299641" y="330200"/>
                  <a:pt x="313134" y="330200"/>
                </a:cubicBezTo>
                <a:lnTo>
                  <a:pt x="406400" y="330200"/>
                </a:lnTo>
                <a:cubicBezTo>
                  <a:pt x="434419" y="330200"/>
                  <a:pt x="457200" y="307419"/>
                  <a:pt x="457200" y="279400"/>
                </a:cubicBezTo>
                <a:lnTo>
                  <a:pt x="457200" y="127000"/>
                </a:lnTo>
                <a:cubicBezTo>
                  <a:pt x="457200" y="98981"/>
                  <a:pt x="434419" y="76200"/>
                  <a:pt x="406400" y="76200"/>
                </a:cubicBezTo>
                <a:close/>
                <a:moveTo>
                  <a:pt x="63500" y="190500"/>
                </a:moveTo>
                <a:cubicBezTo>
                  <a:pt x="63500" y="162463"/>
                  <a:pt x="86263" y="139700"/>
                  <a:pt x="114300" y="139700"/>
                </a:cubicBezTo>
                <a:cubicBezTo>
                  <a:pt x="142337" y="139700"/>
                  <a:pt x="165100" y="162463"/>
                  <a:pt x="165100" y="190500"/>
                </a:cubicBezTo>
                <a:cubicBezTo>
                  <a:pt x="165100" y="218537"/>
                  <a:pt x="142337" y="241300"/>
                  <a:pt x="114300" y="241300"/>
                </a:cubicBezTo>
                <a:cubicBezTo>
                  <a:pt x="86263" y="241300"/>
                  <a:pt x="63500" y="218537"/>
                  <a:pt x="63500" y="190500"/>
                </a:cubicBezTo>
                <a:close/>
                <a:moveTo>
                  <a:pt x="342900" y="139700"/>
                </a:moveTo>
                <a:cubicBezTo>
                  <a:pt x="370937" y="139700"/>
                  <a:pt x="393700" y="162463"/>
                  <a:pt x="393700" y="190500"/>
                </a:cubicBezTo>
                <a:cubicBezTo>
                  <a:pt x="393700" y="218537"/>
                  <a:pt x="370937" y="241300"/>
                  <a:pt x="342900" y="241300"/>
                </a:cubicBezTo>
                <a:cubicBezTo>
                  <a:pt x="314863" y="241300"/>
                  <a:pt x="292100" y="218537"/>
                  <a:pt x="292100" y="190500"/>
                </a:cubicBezTo>
                <a:cubicBezTo>
                  <a:pt x="292100" y="162463"/>
                  <a:pt x="314863" y="139700"/>
                  <a:pt x="342900" y="13970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28448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Reality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3225800"/>
            <a:ext cx="292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immersive digital environments for entertainment and training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11000" y="2095500"/>
            <a:ext cx="3683000" cy="254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39600" y="23114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50800"/>
                </a:moveTo>
                <a:cubicBezTo>
                  <a:pt x="48181" y="50800"/>
                  <a:pt x="25400" y="73581"/>
                  <a:pt x="25400" y="101600"/>
                </a:cubicBezTo>
                <a:lnTo>
                  <a:pt x="25400" y="304800"/>
                </a:lnTo>
                <a:cubicBezTo>
                  <a:pt x="25400" y="332819"/>
                  <a:pt x="48181" y="355600"/>
                  <a:pt x="76200" y="355600"/>
                </a:cubicBezTo>
                <a:lnTo>
                  <a:pt x="279400" y="355600"/>
                </a:lnTo>
                <a:cubicBezTo>
                  <a:pt x="307419" y="355600"/>
                  <a:pt x="330200" y="332819"/>
                  <a:pt x="330200" y="304800"/>
                </a:cubicBezTo>
                <a:lnTo>
                  <a:pt x="330200" y="101600"/>
                </a:lnTo>
                <a:cubicBezTo>
                  <a:pt x="330200" y="73581"/>
                  <a:pt x="307419" y="50800"/>
                  <a:pt x="279400" y="50800"/>
                </a:cubicBezTo>
                <a:lnTo>
                  <a:pt x="76200" y="50800"/>
                </a:lnTo>
                <a:close/>
                <a:moveTo>
                  <a:pt x="368300" y="266700"/>
                </a:moveTo>
                <a:lnTo>
                  <a:pt x="426641" y="313373"/>
                </a:lnTo>
                <a:cubicBezTo>
                  <a:pt x="429974" y="316071"/>
                  <a:pt x="434102" y="317500"/>
                  <a:pt x="438388" y="317500"/>
                </a:cubicBezTo>
                <a:cubicBezTo>
                  <a:pt x="448786" y="317500"/>
                  <a:pt x="457200" y="309086"/>
                  <a:pt x="457200" y="298688"/>
                </a:cubicBezTo>
                <a:lnTo>
                  <a:pt x="457200" y="107712"/>
                </a:lnTo>
                <a:cubicBezTo>
                  <a:pt x="457200" y="97314"/>
                  <a:pt x="448786" y="88900"/>
                  <a:pt x="438388" y="88900"/>
                </a:cubicBezTo>
                <a:cubicBezTo>
                  <a:pt x="434102" y="88900"/>
                  <a:pt x="429974" y="90329"/>
                  <a:pt x="426641" y="93028"/>
                </a:cubicBezTo>
                <a:lnTo>
                  <a:pt x="368300" y="139700"/>
                </a:lnTo>
                <a:lnTo>
                  <a:pt x="368300" y="266700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19" name="Text 17"/>
          <p:cNvSpPr/>
          <p:nvPr/>
        </p:nvSpPr>
        <p:spPr>
          <a:xfrm>
            <a:off x="12065000" y="28448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360° Video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65000" y="3225800"/>
            <a:ext cx="317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Spherical video for immersive storytelling and experiences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889500"/>
            <a:ext cx="46990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90600" y="51054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0" y="266700"/>
                </a:moveTo>
                <a:cubicBezTo>
                  <a:pt x="0" y="329803"/>
                  <a:pt x="51197" y="381000"/>
                  <a:pt x="114300" y="381000"/>
                </a:cubicBezTo>
                <a:lnTo>
                  <a:pt x="355600" y="381000"/>
                </a:lnTo>
                <a:cubicBezTo>
                  <a:pt x="411718" y="381000"/>
                  <a:pt x="457200" y="335518"/>
                  <a:pt x="457200" y="279400"/>
                </a:cubicBezTo>
                <a:cubicBezTo>
                  <a:pt x="457200" y="238442"/>
                  <a:pt x="432991" y="203121"/>
                  <a:pt x="398066" y="187087"/>
                </a:cubicBezTo>
                <a:cubicBezTo>
                  <a:pt x="403384" y="176689"/>
                  <a:pt x="406400" y="164862"/>
                  <a:pt x="406400" y="152400"/>
                </a:cubicBezTo>
                <a:cubicBezTo>
                  <a:pt x="406400" y="110331"/>
                  <a:pt x="372269" y="76200"/>
                  <a:pt x="330200" y="76200"/>
                </a:cubicBezTo>
                <a:cubicBezTo>
                  <a:pt x="316151" y="76200"/>
                  <a:pt x="303054" y="80010"/>
                  <a:pt x="291783" y="86598"/>
                </a:cubicBezTo>
                <a:cubicBezTo>
                  <a:pt x="272653" y="50244"/>
                  <a:pt x="234474" y="25400"/>
                  <a:pt x="190500" y="25400"/>
                </a:cubicBezTo>
                <a:cubicBezTo>
                  <a:pt x="127397" y="25400"/>
                  <a:pt x="76200" y="76597"/>
                  <a:pt x="76200" y="139700"/>
                </a:cubicBezTo>
                <a:cubicBezTo>
                  <a:pt x="76200" y="146050"/>
                  <a:pt x="76756" y="152321"/>
                  <a:pt x="77708" y="158353"/>
                </a:cubicBezTo>
                <a:cubicBezTo>
                  <a:pt x="32544" y="173593"/>
                  <a:pt x="0" y="216376"/>
                  <a:pt x="0" y="266700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6388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Collaboration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60198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Cloud-based multimedia creation and editing by teams worldwide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4889500"/>
            <a:ext cx="4699000" cy="2159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51054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27" name="Text 25"/>
          <p:cNvSpPr/>
          <p:nvPr/>
        </p:nvSpPr>
        <p:spPr>
          <a:xfrm>
            <a:off x="5969000" y="56388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Content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69000" y="60198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customization of multimedia experiences per user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668000" y="4889500"/>
            <a:ext cx="4826000" cy="215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22000" y="5105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8038" y="-1984"/>
                </a:moveTo>
                <a:cubicBezTo>
                  <a:pt x="193754" y="-11033"/>
                  <a:pt x="213122" y="-11033"/>
                  <a:pt x="228838" y="-1984"/>
                </a:cubicBezTo>
                <a:lnTo>
                  <a:pt x="368459" y="78581"/>
                </a:lnTo>
                <a:cubicBezTo>
                  <a:pt x="384175" y="87630"/>
                  <a:pt x="393859" y="104458"/>
                  <a:pt x="393859" y="122555"/>
                </a:cubicBezTo>
                <a:lnTo>
                  <a:pt x="393859" y="283686"/>
                </a:lnTo>
                <a:cubicBezTo>
                  <a:pt x="393859" y="301863"/>
                  <a:pt x="384175" y="318611"/>
                  <a:pt x="368459" y="327660"/>
                </a:cubicBezTo>
                <a:lnTo>
                  <a:pt x="228838" y="408384"/>
                </a:lnTo>
                <a:cubicBezTo>
                  <a:pt x="213122" y="417433"/>
                  <a:pt x="193754" y="417433"/>
                  <a:pt x="178038" y="408384"/>
                </a:cubicBezTo>
                <a:lnTo>
                  <a:pt x="38497" y="327819"/>
                </a:lnTo>
                <a:cubicBezTo>
                  <a:pt x="22781" y="318770"/>
                  <a:pt x="13097" y="301943"/>
                  <a:pt x="13097" y="283845"/>
                </a:cubicBezTo>
                <a:lnTo>
                  <a:pt x="13097" y="122714"/>
                </a:lnTo>
                <a:cubicBezTo>
                  <a:pt x="13097" y="104537"/>
                  <a:pt x="22781" y="87789"/>
                  <a:pt x="38497" y="78740"/>
                </a:cubicBezTo>
                <a:lnTo>
                  <a:pt x="178038" y="-1984"/>
                </a:lnTo>
                <a:close/>
                <a:moveTo>
                  <a:pt x="342979" y="283766"/>
                </a:moveTo>
                <a:lnTo>
                  <a:pt x="342979" y="151924"/>
                </a:lnTo>
                <a:lnTo>
                  <a:pt x="228838" y="217805"/>
                </a:lnTo>
                <a:lnTo>
                  <a:pt x="228838" y="349647"/>
                </a:lnTo>
                <a:lnTo>
                  <a:pt x="342979" y="283766"/>
                </a:lnTo>
                <a:close/>
              </a:path>
            </a:pathLst>
          </a:custGeom>
          <a:solidFill>
            <a:srgbClr val="E85D4A"/>
          </a:solidFill>
          <a:ln/>
        </p:spPr>
      </p:sp>
      <p:sp>
        <p:nvSpPr>
          <p:cNvPr id="31" name="Text 29"/>
          <p:cNvSpPr/>
          <p:nvPr/>
        </p:nvSpPr>
        <p:spPr>
          <a:xfrm>
            <a:off x="10922000" y="56388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Holographic Displays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22000" y="60198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D2D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 images projected into physical space without headsets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34" name="Text 32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— Week 1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524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97000" y="1524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integrates text, graphics, audio, video, and animation into digital experiences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603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7000" y="26035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Hypertext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enables non-linear navigation through linked text content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3683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7000" y="3683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Hypermedia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extends hypertext to include all media types with clickable links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762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97000" y="47625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history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spans from the printing press (1440) to AI-generated content (today)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842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7000" y="5842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Multimedia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benefits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education, business, entertainment, and communication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6921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97000" y="69215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fundamentals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D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essential for multimedia production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1524000"/>
            <a:ext cx="7112000" cy="635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177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REMEMBER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763000" y="2260600"/>
            <a:ext cx="762000" cy="381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0" y="2540000"/>
            <a:ext cx="635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medium is the message."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Marshall McLuhan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63000" y="5334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85D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Week: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Elements — Text, Graphics, and Audio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will dive deeper into each component.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22" name="Text 20"/>
          <p:cNvSpPr/>
          <p:nvPr/>
        </p:nvSpPr>
        <p:spPr>
          <a:xfrm>
            <a:off x="14732000" y="8255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eky6lt2ntf4w/mnt/agents/output/multimedia-week1/images/2_Immersive_Virtual_Reality_Experience.png">    </p:cNvPr>
          <p:cNvPicPr>
            <a:picLocks noChangeAspect="1"/>
          </p:cNvPicPr>
          <p:nvPr/>
        </p:nvPicPr>
        <p:blipFill>
          <a:blip r:embed="rId1"/>
          <a:srcRect l="0" r="0" t="12687" b="1268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25000"/>
                </a:srgbClr>
              </a:gs>
              <a:gs pos="50000">
                <a:srgbClr val="1A1A2E">
                  <a:alpha val="75000"/>
                </a:srgbClr>
              </a:gs>
              <a:gs pos="100000">
                <a:srgbClr val="1A1A2E">
                  <a:alpha val="96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762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016000" cy="50800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Production — Week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699000"/>
            <a:ext cx="698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i="1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medium is the message."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Marshall McLuhan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6096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E85D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WEEK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64516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Multimedia Elements — Text, Graphics, and Audio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Production - Week 1</dc:title>
  <dc:subject>Multimedia Production - Week 1</dc:subject>
  <dc:creator>Kimi</dc:creator>
  <cp:lastModifiedBy>Kimi</cp:lastModifiedBy>
  <cp:revision>1</cp:revision>
  <dcterms:created xsi:type="dcterms:W3CDTF">2026-05-26T11:32:44Z</dcterms:created>
  <dcterms:modified xsi:type="dcterms:W3CDTF">2026-05-26T11:32:44Z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{"Label":"Multimedia Production - Week 1","ContentProducer":"001191110108MACG2KBH8F10000","ProduceID":"19e63fe2-1ed2-8a90-8000-0000c0f01c76","ReservedCode1":"","ContentPropagator":"001191110108MACG2KBH8F20000","PropagateID":"19e63fe2-1ed2-8a90-8000-0000c0f01c76","ReservedCode2":""}</vt:lpwstr>
  </property>
</Properties>
</file>