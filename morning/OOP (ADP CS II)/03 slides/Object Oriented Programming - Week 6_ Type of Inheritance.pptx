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/>
              </a:gs>
              <a:gs pos="60000">
                <a:srgbClr val="0F4C5C"/>
              </a:gs>
              <a:gs pos="100000">
                <a:srgbClr val="1A6B7D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 rot="900000">
            <a:off x="11430000" y="0"/>
            <a:ext cx="4826000" cy="4826000"/>
          </a:xfrm>
          <a:prstGeom prst="rect">
            <a:avLst/>
          </a:prstGeom>
          <a:solidFill>
            <a:srgbClr val="D4850D">
              <a:alpha val="8235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600000">
            <a:off x="13335000" y="5715000"/>
            <a:ext cx="2921000" cy="3429000"/>
          </a:xfrm>
          <a:prstGeom prst="rect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762000"/>
            <a:ext cx="1016000" cy="381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01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400" kern="0" dirty="0">
                <a:solidFill>
                  <a:srgbClr val="F5F2ED">
                    <a:alpha val="56471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 ORIENTED PROGRAMMING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1143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2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OF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5200" b="1" spc="400" kern="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62000" y="5270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5F2ED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 — Constructors in Inheritance &amp; Access Control</a:t>
            </a:r>
            <a:endParaRPr lang="en-US" sz="22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2ED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 Class Constructors | Base Class Constructors | Public | Protected | Private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78740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812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5F2ED">
                    <a:alpha val="43922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Lessons 11 — 12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970000" y="812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F5F2ED">
                    <a:alpha val="43922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6985000" cy="6096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  <a:effectLst>
            <a:outerShdw sx="100000" sy="100000" kx="0" ky="0" algn="bl" rotWithShape="0" blurRad="190500" dist="50800" dir="540000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59000"/>
            <a:ext cx="889000" cy="4572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590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15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 in Inheritance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2857500"/>
            <a:ext cx="6223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175000"/>
            <a:ext cx="6223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Inheritance recap and constructor basics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 constructors overview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class constructors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Constructor invocation order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Default vs. parameterized constructors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Initialization lists in derived classes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Code walkthrough and common mistakes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509000" y="1778000"/>
            <a:ext cx="6985000" cy="6096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  <a:effectLst>
            <a:outerShdw sx="100000" sy="100000" kx="0" ky="0" algn="bl" rotWithShape="0" blurRad="190500" dist="50800" dir="540000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890000" y="2159000"/>
            <a:ext cx="889000" cy="457200"/>
          </a:xfrm>
          <a:prstGeom prst="roundRect">
            <a:avLst>
              <a:gd name="adj" fmla="val 8000"/>
            </a:avLst>
          </a:prstGeom>
          <a:solidFill>
            <a:srgbClr val="D4850D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21590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33000" y="215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Inheritance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90000" y="2857500"/>
            <a:ext cx="6223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0" y="3175000"/>
            <a:ext cx="6223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 specifiers in inheritance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inheritance and examples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Protected inheritance and examples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Private inheritance and examples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Comparing all three types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 accessibility matrix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Practical design guidelines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/>
              </a:gs>
              <a:gs pos="70000">
                <a:srgbClr val="0F4C5C"/>
              </a:gs>
              <a:gs pos="100000">
                <a:srgbClr val="147A8C"/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6604000"/>
            <a:ext cx="16256000" cy="2540000"/>
          </a:xfrm>
          <a:prstGeom prst="rect">
            <a:avLst/>
          </a:prstGeom>
          <a:solidFill>
            <a:srgbClr val="D4850D">
              <a:alpha val="705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937000"/>
            <a:ext cx="1270000" cy="457200"/>
          </a:xfrm>
          <a:prstGeom prst="roundRect">
            <a:avLst>
              <a:gd name="adj" fmla="val 8000"/>
            </a:avLst>
          </a:prstGeom>
          <a:solidFill>
            <a:srgbClr val="D4850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937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 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699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 in Inheritance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62000" y="5588000"/>
            <a:ext cx="889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2ED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base and derived class constructors work together to properly initialize object hierarchies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6858000"/>
            <a:ext cx="1524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10" name="Text 8"/>
          <p:cNvSpPr/>
          <p:nvPr/>
        </p:nvSpPr>
        <p:spPr>
          <a:xfrm>
            <a:off x="13970000" y="8382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F5F2ED">
                    <a:alpha val="31373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Inheritance: A Quick Recap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7366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allows a derived class to acquire properties and behaviors from a base class.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Syntax: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Derived : access_specifier Base { ... };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derived class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IS-A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 of the base class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special member functions called automatically when objects are created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inheritance, proper initialization requires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both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and derived parts to be constructed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6477000"/>
            <a:ext cx="7366000" cy="1524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1127125" y="6921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D4850D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6667500"/>
            <a:ext cx="622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a derived object is created, memory is allocated for the entire object — both the base portion and the derived portion must be properly initialized.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36000" y="1524000"/>
            <a:ext cx="6858000" cy="6477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0" y="1714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 Hierarchy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41000" y="2540000"/>
            <a:ext cx="3048000" cy="889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10541000" y="2540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065000" y="3429000"/>
            <a:ext cx="0" cy="635000"/>
          </a:xfrm>
          <a:prstGeom prst="straightConnector1">
            <a:avLst/>
          </a:prstGeom>
          <a:noFill/>
          <a:ln w="25400">
            <a:solidFill>
              <a:srgbClr val="D4850D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9144000" y="431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5A7D8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431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065000" y="3429000"/>
            <a:ext cx="0" cy="1524000"/>
          </a:xfrm>
          <a:prstGeom prst="straightConnector1">
            <a:avLst/>
          </a:prstGeom>
          <a:noFill/>
          <a:ln w="25400">
            <a:solidFill>
              <a:srgbClr val="D4850D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2446000" y="431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5A7D8C"/>
          </a:solidFill>
          <a:ln/>
        </p:spPr>
      </p:sp>
      <p:sp>
        <p:nvSpPr>
          <p:cNvPr id="17" name="Text 15"/>
          <p:cNvSpPr/>
          <p:nvPr/>
        </p:nvSpPr>
        <p:spPr>
          <a:xfrm>
            <a:off x="12446000" y="431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90000" y="546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IS-A 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0" y="62230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Inheritance syntax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 :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Dog-specific members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Constructors Matter in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50800" cy="8890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Allocation</a:t>
            </a:r>
            <a:endParaRPr lang="en-US" sz="20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allocated for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both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and derived parts.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50800" cy="8890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035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Proper Initialization</a:t>
            </a:r>
            <a:endParaRPr lang="en-US" sz="2000" dirty="0"/>
          </a:p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part first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then the derived part.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3746500"/>
            <a:ext cx="50800" cy="8890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6830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Constructors</a:t>
            </a:r>
            <a:endParaRPr lang="en-US" sz="20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Compiler provides defaults, but explicit control is better.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2000" y="4826000"/>
            <a:ext cx="50800" cy="8890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7625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 Chaining</a:t>
            </a:r>
            <a:endParaRPr lang="en-US" sz="20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Ensures each hierarchy level is properly set up.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82000" y="1397000"/>
            <a:ext cx="7112000" cy="6731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587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Memory Layout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2095500"/>
            <a:ext cx="660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Class Object in Memory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98000" y="2667000"/>
            <a:ext cx="5080000" cy="4826000"/>
          </a:xfrm>
          <a:prstGeom prst="roundRect">
            <a:avLst>
              <a:gd name="adj" fmla="val 3000"/>
            </a:avLst>
          </a:prstGeom>
          <a:solidFill>
            <a:srgbClr val="F5F2ED"/>
          </a:solidFill>
          <a:ln w="25400">
            <a:solidFill>
              <a:srgbClr val="0F4C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52000" y="2921000"/>
            <a:ext cx="4572000" cy="1778000"/>
          </a:xfrm>
          <a:prstGeom prst="roundRect">
            <a:avLst>
              <a:gd name="adj" fmla="val 5000"/>
            </a:avLst>
          </a:prstGeom>
          <a:solidFill>
            <a:srgbClr val="0F4C5C">
              <a:alpha val="9412"/>
            </a:srgbClr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2000" y="29845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 Portion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79000" y="34290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name: string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age: int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base members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52000" y="4889500"/>
            <a:ext cx="4572000" cy="0"/>
          </a:xfrm>
          <a:prstGeom prst="straightConnector1">
            <a:avLst/>
          </a:prstGeom>
          <a:noFill/>
          <a:ln w="12700">
            <a:solidFill>
              <a:srgbClr val="5A7D8C"/>
            </a:solidFill>
            <a:prstDash val="sysDot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652000" y="5080000"/>
            <a:ext cx="4572000" cy="2032000"/>
          </a:xfrm>
          <a:prstGeom prst="roundRect">
            <a:avLst>
              <a:gd name="adj" fmla="val 5000"/>
            </a:avLst>
          </a:prstGeom>
          <a:solidFill>
            <a:srgbClr val="D4850D">
              <a:alpha val="7059"/>
            </a:srgbClr>
          </a:solidFill>
          <a:ln w="12700">
            <a:solidFill>
              <a:srgbClr val="D485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2000" y="51435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Class Portion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79000" y="55880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studentID: int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gpa: float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major: string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derived members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10625" y="3683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D4850D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4127500"/>
            <a:ext cx="8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 Constructors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base class constructor initializes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class members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executes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derived constructor.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4572000" cy="254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4861" y="7541"/>
                </a:moveTo>
                <a:cubicBezTo>
                  <a:pt x="157242" y="-4207"/>
                  <a:pt x="167640" y="-12700"/>
                  <a:pt x="179705" y="-12700"/>
                </a:cubicBezTo>
                <a:lnTo>
                  <a:pt x="227171" y="-12700"/>
                </a:lnTo>
                <a:cubicBezTo>
                  <a:pt x="239236" y="-12700"/>
                  <a:pt x="249634" y="-4207"/>
                  <a:pt x="252016" y="7541"/>
                </a:cubicBezTo>
                <a:lnTo>
                  <a:pt x="263525" y="63103"/>
                </a:lnTo>
                <a:cubicBezTo>
                  <a:pt x="274717" y="67866"/>
                  <a:pt x="285194" y="73978"/>
                  <a:pt x="294719" y="81201"/>
                </a:cubicBezTo>
                <a:lnTo>
                  <a:pt x="348536" y="63341"/>
                </a:lnTo>
                <a:cubicBezTo>
                  <a:pt x="359966" y="59531"/>
                  <a:pt x="372507" y="64294"/>
                  <a:pt x="378539" y="74771"/>
                </a:cubicBezTo>
                <a:lnTo>
                  <a:pt x="402273" y="115888"/>
                </a:lnTo>
                <a:cubicBezTo>
                  <a:pt x="408305" y="126365"/>
                  <a:pt x="406162" y="139541"/>
                  <a:pt x="397113" y="147558"/>
                </a:cubicBezTo>
                <a:lnTo>
                  <a:pt x="354806" y="185182"/>
                </a:lnTo>
                <a:cubicBezTo>
                  <a:pt x="355521" y="191056"/>
                  <a:pt x="355838" y="197088"/>
                  <a:pt x="355838" y="203200"/>
                </a:cubicBezTo>
                <a:cubicBezTo>
                  <a:pt x="355838" y="209312"/>
                  <a:pt x="355441" y="215344"/>
                  <a:pt x="354806" y="221218"/>
                </a:cubicBezTo>
                <a:lnTo>
                  <a:pt x="397192" y="258921"/>
                </a:lnTo>
                <a:cubicBezTo>
                  <a:pt x="406241" y="266938"/>
                  <a:pt x="408305" y="280194"/>
                  <a:pt x="402352" y="290592"/>
                </a:cubicBezTo>
                <a:lnTo>
                  <a:pt x="378619" y="331708"/>
                </a:lnTo>
                <a:cubicBezTo>
                  <a:pt x="372586" y="342106"/>
                  <a:pt x="360045" y="346948"/>
                  <a:pt x="348615" y="343138"/>
                </a:cubicBezTo>
                <a:lnTo>
                  <a:pt x="294799" y="325279"/>
                </a:lnTo>
                <a:cubicBezTo>
                  <a:pt x="285194" y="332502"/>
                  <a:pt x="274717" y="338534"/>
                  <a:pt x="263604" y="343376"/>
                </a:cubicBezTo>
                <a:lnTo>
                  <a:pt x="252174" y="398859"/>
                </a:lnTo>
                <a:cubicBezTo>
                  <a:pt x="249714" y="410686"/>
                  <a:pt x="239316" y="419100"/>
                  <a:pt x="227330" y="419100"/>
                </a:cubicBezTo>
                <a:lnTo>
                  <a:pt x="179864" y="419100"/>
                </a:lnTo>
                <a:cubicBezTo>
                  <a:pt x="167799" y="419100"/>
                  <a:pt x="157401" y="410607"/>
                  <a:pt x="155019" y="398859"/>
                </a:cubicBezTo>
                <a:lnTo>
                  <a:pt x="143589" y="343376"/>
                </a:lnTo>
                <a:cubicBezTo>
                  <a:pt x="132397" y="338614"/>
                  <a:pt x="121999" y="332502"/>
                  <a:pt x="112395" y="325279"/>
                </a:cubicBezTo>
                <a:lnTo>
                  <a:pt x="58341" y="343138"/>
                </a:lnTo>
                <a:cubicBezTo>
                  <a:pt x="46911" y="346948"/>
                  <a:pt x="34369" y="342186"/>
                  <a:pt x="28337" y="331708"/>
                </a:cubicBezTo>
                <a:lnTo>
                  <a:pt x="4604" y="290592"/>
                </a:lnTo>
                <a:cubicBezTo>
                  <a:pt x="-1429" y="280114"/>
                  <a:pt x="714" y="266938"/>
                  <a:pt x="9763" y="258921"/>
                </a:cubicBezTo>
                <a:lnTo>
                  <a:pt x="52149" y="221218"/>
                </a:lnTo>
                <a:cubicBezTo>
                  <a:pt x="51435" y="215344"/>
                  <a:pt x="51118" y="209312"/>
                  <a:pt x="51118" y="203200"/>
                </a:cubicBezTo>
                <a:cubicBezTo>
                  <a:pt x="51118" y="197088"/>
                  <a:pt x="51514" y="191056"/>
                  <a:pt x="52149" y="185182"/>
                </a:cubicBezTo>
                <a:lnTo>
                  <a:pt x="9763" y="147479"/>
                </a:lnTo>
                <a:cubicBezTo>
                  <a:pt x="714" y="139462"/>
                  <a:pt x="-1349" y="126206"/>
                  <a:pt x="4604" y="115808"/>
                </a:cubicBezTo>
                <a:lnTo>
                  <a:pt x="28337" y="74692"/>
                </a:lnTo>
                <a:cubicBezTo>
                  <a:pt x="34369" y="64214"/>
                  <a:pt x="46911" y="59452"/>
                  <a:pt x="58341" y="63262"/>
                </a:cubicBezTo>
                <a:lnTo>
                  <a:pt x="112157" y="81121"/>
                </a:lnTo>
                <a:cubicBezTo>
                  <a:pt x="121761" y="73898"/>
                  <a:pt x="132239" y="67866"/>
                  <a:pt x="143351" y="63024"/>
                </a:cubicBezTo>
                <a:lnTo>
                  <a:pt x="154861" y="7541"/>
                </a:lnTo>
                <a:close/>
                <a:moveTo>
                  <a:pt x="203438" y="266700"/>
                </a:moveTo>
                <a:cubicBezTo>
                  <a:pt x="226124" y="266615"/>
                  <a:pt x="247042" y="254433"/>
                  <a:pt x="258312" y="234744"/>
                </a:cubicBezTo>
                <a:cubicBezTo>
                  <a:pt x="269581" y="215054"/>
                  <a:pt x="269490" y="190848"/>
                  <a:pt x="258074" y="171244"/>
                </a:cubicBezTo>
                <a:cubicBezTo>
                  <a:pt x="246657" y="151639"/>
                  <a:pt x="225648" y="139615"/>
                  <a:pt x="202962" y="139700"/>
                </a:cubicBezTo>
                <a:cubicBezTo>
                  <a:pt x="180276" y="139785"/>
                  <a:pt x="159358" y="151967"/>
                  <a:pt x="148088" y="171656"/>
                </a:cubicBezTo>
                <a:cubicBezTo>
                  <a:pt x="136819" y="191346"/>
                  <a:pt x="136910" y="215552"/>
                  <a:pt x="148326" y="235156"/>
                </a:cubicBezTo>
                <a:cubicBezTo>
                  <a:pt x="159743" y="254761"/>
                  <a:pt x="180752" y="266785"/>
                  <a:pt x="203438" y="2667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6035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Constructor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1750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parameters. Generated by compiler if no other constructors are defined.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Base() { 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2349500"/>
            <a:ext cx="4572000" cy="254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60325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1351" y="50800"/>
                  <a:pt x="0" y="62151"/>
                  <a:pt x="0" y="76200"/>
                </a:cubicBezTo>
                <a:cubicBezTo>
                  <a:pt x="0" y="90249"/>
                  <a:pt x="11351" y="101600"/>
                  <a:pt x="25400" y="101600"/>
                </a:cubicBezTo>
                <a:lnTo>
                  <a:pt x="94218" y="101600"/>
                </a:lnTo>
                <a:cubicBezTo>
                  <a:pt x="103981" y="124063"/>
                  <a:pt x="126365" y="139700"/>
                  <a:pt x="152400" y="139700"/>
                </a:cubicBezTo>
                <a:cubicBezTo>
                  <a:pt x="178435" y="139700"/>
                  <a:pt x="200819" y="124063"/>
                  <a:pt x="210582" y="101600"/>
                </a:cubicBezTo>
                <a:lnTo>
                  <a:pt x="381000" y="101600"/>
                </a:lnTo>
                <a:cubicBezTo>
                  <a:pt x="395049" y="101600"/>
                  <a:pt x="406400" y="90249"/>
                  <a:pt x="406400" y="76200"/>
                </a:cubicBezTo>
                <a:cubicBezTo>
                  <a:pt x="406400" y="62151"/>
                  <a:pt x="395049" y="50800"/>
                  <a:pt x="381000" y="50800"/>
                </a:cubicBezTo>
                <a:lnTo>
                  <a:pt x="210582" y="50800"/>
                </a:lnTo>
                <a:cubicBezTo>
                  <a:pt x="200819" y="28337"/>
                  <a:pt x="178435" y="12700"/>
                  <a:pt x="152400" y="12700"/>
                </a:cubicBezTo>
                <a:cubicBezTo>
                  <a:pt x="126365" y="12700"/>
                  <a:pt x="103981" y="28337"/>
                  <a:pt x="94218" y="50800"/>
                </a:cubicBezTo>
                <a:lnTo>
                  <a:pt x="25400" y="50800"/>
                </a:lnTo>
                <a:close/>
                <a:moveTo>
                  <a:pt x="25400" y="177800"/>
                </a:move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221218" y="228600"/>
                </a:lnTo>
                <a:cubicBezTo>
                  <a:pt x="230981" y="251063"/>
                  <a:pt x="253365" y="266700"/>
                  <a:pt x="279400" y="266700"/>
                </a:cubicBezTo>
                <a:cubicBezTo>
                  <a:pt x="305435" y="266700"/>
                  <a:pt x="327819" y="251063"/>
                  <a:pt x="337582" y="228600"/>
                </a:cubicBezTo>
                <a:lnTo>
                  <a:pt x="381000" y="228600"/>
                </a:lnTo>
                <a:cubicBezTo>
                  <a:pt x="395049" y="228600"/>
                  <a:pt x="406400" y="217249"/>
                  <a:pt x="406400" y="203200"/>
                </a:cubicBezTo>
                <a:cubicBezTo>
                  <a:pt x="406400" y="189151"/>
                  <a:pt x="395049" y="177800"/>
                  <a:pt x="381000" y="177800"/>
                </a:cubicBezTo>
                <a:lnTo>
                  <a:pt x="337582" y="177800"/>
                </a:lnTo>
                <a:cubicBezTo>
                  <a:pt x="327819" y="155337"/>
                  <a:pt x="305435" y="139700"/>
                  <a:pt x="279400" y="139700"/>
                </a:cubicBezTo>
                <a:cubicBezTo>
                  <a:pt x="253365" y="139700"/>
                  <a:pt x="230981" y="155337"/>
                  <a:pt x="221218" y="177800"/>
                </a:cubicBezTo>
                <a:lnTo>
                  <a:pt x="25400" y="177800"/>
                </a:lnTo>
                <a:close/>
                <a:moveTo>
                  <a:pt x="25400" y="304800"/>
                </a:moveTo>
                <a:cubicBezTo>
                  <a:pt x="11351" y="304800"/>
                  <a:pt x="0" y="316151"/>
                  <a:pt x="0" y="330200"/>
                </a:cubicBezTo>
                <a:cubicBezTo>
                  <a:pt x="0" y="344249"/>
                  <a:pt x="11351" y="355600"/>
                  <a:pt x="25400" y="355600"/>
                </a:cubicBezTo>
                <a:lnTo>
                  <a:pt x="68818" y="355600"/>
                </a:lnTo>
                <a:cubicBezTo>
                  <a:pt x="78581" y="378063"/>
                  <a:pt x="100965" y="393700"/>
                  <a:pt x="127000" y="393700"/>
                </a:cubicBezTo>
                <a:cubicBezTo>
                  <a:pt x="153035" y="393700"/>
                  <a:pt x="175419" y="378063"/>
                  <a:pt x="185182" y="355600"/>
                </a:cubicBez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ubicBezTo>
                  <a:pt x="406400" y="316151"/>
                  <a:pt x="395049" y="304800"/>
                  <a:pt x="381000" y="304800"/>
                </a:cubicBezTo>
                <a:lnTo>
                  <a:pt x="185182" y="304800"/>
                </a:lnTo>
                <a:cubicBezTo>
                  <a:pt x="175419" y="282337"/>
                  <a:pt x="153035" y="266700"/>
                  <a:pt x="127000" y="266700"/>
                </a:cubicBezTo>
                <a:cubicBezTo>
                  <a:pt x="100965" y="266700"/>
                  <a:pt x="78581" y="282337"/>
                  <a:pt x="68818" y="304800"/>
                </a:cubicBezTo>
                <a:lnTo>
                  <a:pt x="25400" y="304800"/>
                </a:lnTo>
                <a:close/>
              </a:path>
            </a:pathLst>
          </a:custGeom>
          <a:solidFill>
            <a:srgbClr val="D4850D"/>
          </a:solidFill>
          <a:ln/>
        </p:spPr>
      </p:sp>
      <p:sp>
        <p:nvSpPr>
          <p:cNvPr id="11" name="Text 9"/>
          <p:cNvSpPr/>
          <p:nvPr/>
        </p:nvSpPr>
        <p:spPr>
          <a:xfrm>
            <a:off x="6604000" y="26035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Parameterized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31750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Takes arguments to initialize base members with specific values.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Base(int x) { 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2349500"/>
            <a:ext cx="4826000" cy="254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10900" y="2603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52400" y="0"/>
                </a:moveTo>
                <a:cubicBezTo>
                  <a:pt x="124381" y="0"/>
                  <a:pt x="101600" y="22781"/>
                  <a:pt x="101600" y="50800"/>
                </a:cubicBezTo>
                <a:lnTo>
                  <a:pt x="101600" y="254000"/>
                </a:lnTo>
                <a:cubicBezTo>
                  <a:pt x="101600" y="282019"/>
                  <a:pt x="124381" y="304800"/>
                  <a:pt x="152400" y="304800"/>
                </a:cubicBezTo>
                <a:lnTo>
                  <a:pt x="304800" y="304800"/>
                </a:lnTo>
                <a:cubicBezTo>
                  <a:pt x="332819" y="304800"/>
                  <a:pt x="355600" y="282019"/>
                  <a:pt x="355600" y="254000"/>
                </a:cubicBezTo>
                <a:lnTo>
                  <a:pt x="355600" y="94774"/>
                </a:lnTo>
                <a:cubicBezTo>
                  <a:pt x="355600" y="80963"/>
                  <a:pt x="349964" y="67707"/>
                  <a:pt x="339963" y="58103"/>
                </a:cubicBezTo>
                <a:lnTo>
                  <a:pt x="294164" y="14129"/>
                </a:lnTo>
                <a:cubicBezTo>
                  <a:pt x="284718" y="5080"/>
                  <a:pt x="272098" y="0"/>
                  <a:pt x="259001" y="0"/>
                </a:cubicBezTo>
                <a:lnTo>
                  <a:pt x="152400" y="0"/>
                </a:lnTo>
                <a:close/>
                <a:moveTo>
                  <a:pt x="50800" y="101600"/>
                </a:moveTo>
                <a:cubicBezTo>
                  <a:pt x="22781" y="101600"/>
                  <a:pt x="0" y="124381"/>
                  <a:pt x="0" y="1524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03200" y="406400"/>
                </a:lnTo>
                <a:cubicBezTo>
                  <a:pt x="231219" y="406400"/>
                  <a:pt x="254000" y="383619"/>
                  <a:pt x="254000" y="355600"/>
                </a:cubicBezTo>
                <a:lnTo>
                  <a:pt x="254000" y="342900"/>
                </a:lnTo>
                <a:lnTo>
                  <a:pt x="203200" y="342900"/>
                </a:lnTo>
                <a:lnTo>
                  <a:pt x="203200" y="355600"/>
                </a:lnTo>
                <a:lnTo>
                  <a:pt x="50800" y="355600"/>
                </a:lnTo>
                <a:lnTo>
                  <a:pt x="50800" y="152400"/>
                </a:lnTo>
                <a:lnTo>
                  <a:pt x="63500" y="152400"/>
                </a:lnTo>
                <a:lnTo>
                  <a:pt x="63500" y="101600"/>
                </a:lnTo>
                <a:lnTo>
                  <a:pt x="50800" y="101600"/>
                </a:lnTo>
                <a:close/>
              </a:path>
            </a:pathLst>
          </a:custGeom>
          <a:solidFill>
            <a:srgbClr val="5A7D8C"/>
          </a:solidFill>
          <a:ln/>
        </p:spPr>
      </p:sp>
      <p:sp>
        <p:nvSpPr>
          <p:cNvPr id="15" name="Text 13"/>
          <p:cNvSpPr/>
          <p:nvPr/>
        </p:nvSpPr>
        <p:spPr>
          <a:xfrm>
            <a:off x="11557000" y="2603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 Constructor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85500" y="3175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a copy from an existing object of the same class.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Base(const Base&amp;)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27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59055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constructor is called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derived constructor executes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If no explicit constructor is defined, the compiler generates a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constructor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constructor only initializes members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declared in the base class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base constructor has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access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derived class members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 Constructor — Syntax &amp;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6858000" cy="1841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30400"/>
            <a:ext cx="6350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Base() {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init */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Base(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x) { m = x;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8735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base constructor only initializes members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declared in the base class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Default constructor has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parameters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Parameterized constructor accepts values to initialize members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constructors can be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overloaded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8000" y="1460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1841500"/>
            <a:ext cx="7366000" cy="4699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930400"/>
            <a:ext cx="6858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Default constructor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"Unknown"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=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Parameterized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Person(string n,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n; age = a;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985000"/>
            <a:ext cx="14732000" cy="1143000"/>
          </a:xfrm>
          <a:prstGeom prst="roundRect">
            <a:avLst>
              <a:gd name="adj" fmla="val 4000"/>
            </a:avLst>
          </a:prstGeom>
          <a:solidFill>
            <a:srgbClr val="0F4C5C">
              <a:alpha val="6275"/>
            </a:srgbClr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7112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 p1;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Calls default constructor: name="Unknown", age=0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 p2(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Calls parameterized: name="Alice", age=20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Class Constructors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derived class constructor initializes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derived-specific members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must ensure the base portion is properly initialized.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4572000" cy="12700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476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2540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constructor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executes first, initializing base members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0" y="2984500"/>
            <a:ext cx="508000" cy="0"/>
          </a:xfrm>
          <a:prstGeom prst="straightConnector1">
            <a:avLst/>
          </a:prstGeom>
          <a:noFill/>
          <a:ln w="25400">
            <a:solidFill>
              <a:srgbClr val="D4850D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842000" y="2413000"/>
            <a:ext cx="4572000" cy="1270000"/>
          </a:xfrm>
          <a:prstGeom prst="roundRect">
            <a:avLst>
              <a:gd name="adj" fmla="val 6000"/>
            </a:avLst>
          </a:prstGeom>
          <a:solidFill>
            <a:srgbClr val="5A7D8C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2476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4000" y="2540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 objects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(composition) are constructed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14000" y="2984500"/>
            <a:ext cx="508000" cy="0"/>
          </a:xfrm>
          <a:prstGeom prst="straightConnector1">
            <a:avLst/>
          </a:prstGeom>
          <a:noFill/>
          <a:ln w="25400">
            <a:solidFill>
              <a:srgbClr val="D4850D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922000" y="2413000"/>
            <a:ext cx="4572000" cy="1270000"/>
          </a:xfrm>
          <a:prstGeom prst="roundRect">
            <a:avLst>
              <a:gd name="adj" fmla="val 6000"/>
            </a:avLst>
          </a:prstGeom>
          <a:solidFill>
            <a:srgbClr val="D4850D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476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84000" y="2540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constructor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executes last, initializing derived members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06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508500"/>
            <a:ext cx="14732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4826000"/>
            <a:ext cx="50800" cy="6985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762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Explicit Base Call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via initialization list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28000" y="4826000"/>
            <a:ext cx="50800" cy="6985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47625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Implicit Default Call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compiler automatically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2000" y="5778500"/>
            <a:ext cx="14732000" cy="24765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905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248400"/>
            <a:ext cx="14224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Explicit base constructor call via initialization list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Derived() 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initialize derived members */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Without explicit call — base default ctor called implicitly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Derived() {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base default ctor called automatically */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Class Constructor — Syntax &amp;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 LIST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30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Explicit base constructor call with arguments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Student(string n,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id) :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(n, a) { studentID = id;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619500"/>
            <a:ext cx="14732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810000"/>
            <a:ext cx="685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Init list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Person(n, a)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passes args to base constructor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members initialized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body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members initialized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ctor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Without explicit call, default ctor invoked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Example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3810000"/>
            <a:ext cx="7366000" cy="3048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3835400"/>
            <a:ext cx="6858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string name;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Person(string n,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a) : name(n), age(a) {}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Person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studentID;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Student(string n,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(n, a), studentID(id) {}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985000"/>
            <a:ext cx="14732000" cy="1143000"/>
          </a:xfrm>
          <a:prstGeom prst="roundRect">
            <a:avLst>
              <a:gd name="adj" fmla="val 3000"/>
            </a:avLst>
          </a:prstGeom>
          <a:solidFill>
            <a:srgbClr val="0F4C5C">
              <a:alpha val="6275"/>
            </a:srgbClr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9500" y="730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70604"/>
                </a:moveTo>
                <a:cubicBezTo>
                  <a:pt x="-1845" y="63163"/>
                  <a:pt x="-1845" y="51078"/>
                  <a:pt x="5596" y="43636"/>
                </a:cubicBezTo>
                <a:cubicBezTo>
                  <a:pt x="13037" y="36195"/>
                  <a:pt x="25122" y="36195"/>
                  <a:pt x="32564" y="43636"/>
                </a:cubicBezTo>
                <a:lnTo>
                  <a:pt x="127814" y="138886"/>
                </a:lnTo>
                <a:cubicBezTo>
                  <a:pt x="135255" y="146328"/>
                  <a:pt x="135255" y="158413"/>
                  <a:pt x="127814" y="165854"/>
                </a:cubicBezTo>
                <a:lnTo>
                  <a:pt x="32564" y="261104"/>
                </a:lnTo>
                <a:cubicBezTo>
                  <a:pt x="25122" y="268545"/>
                  <a:pt x="13037" y="268545"/>
                  <a:pt x="5596" y="261104"/>
                </a:cubicBezTo>
                <a:cubicBezTo>
                  <a:pt x="-1845" y="253663"/>
                  <a:pt x="-1845" y="241578"/>
                  <a:pt x="5596" y="234136"/>
                </a:cubicBezTo>
                <a:lnTo>
                  <a:pt x="87332" y="152400"/>
                </a:lnTo>
                <a:lnTo>
                  <a:pt x="5596" y="70604"/>
                </a:ln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7175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12345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Person("Alice", 20) called first, then studentID = 12345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Invocation Order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creating a derived class object, constructors execute in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strictly defined order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Destruction happens in exactly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reverse order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9525000" cy="6096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22500"/>
            <a:ext cx="901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Construction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24000" y="2921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9210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Base Constructor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3873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Initializes base members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75000" y="4318000"/>
            <a:ext cx="0" cy="508000"/>
          </a:xfrm>
          <a:prstGeom prst="straightConnector1">
            <a:avLst/>
          </a:prstGeom>
          <a:noFill/>
          <a:ln w="25400">
            <a:solidFill>
              <a:srgbClr val="D4850D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524000" y="4953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5A7D8C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49530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Member Constructors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5905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Composition objects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75000" y="6350000"/>
            <a:ext cx="0" cy="508000"/>
          </a:xfrm>
          <a:prstGeom prst="straightConnector1">
            <a:avLst/>
          </a:prstGeom>
          <a:noFill/>
          <a:ln w="25400">
            <a:solidFill>
              <a:srgbClr val="D4850D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524000" y="6985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D4850D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6985000"/>
            <a:ext cx="330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Derived Constructor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42000" y="292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DESTRUCTION ORDER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42000" y="3365500"/>
            <a:ext cx="4064000" cy="127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19" name="Text 17"/>
          <p:cNvSpPr/>
          <p:nvPr/>
        </p:nvSpPr>
        <p:spPr>
          <a:xfrm>
            <a:off x="5842000" y="3619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◀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1. Derived destructor first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42000" y="4381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◀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2. Member destructors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42000" y="5143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◀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3. Base destructor last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42000" y="6096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i="1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 reverse of construction — like peeling an onion from the outside 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22000" y="2095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TRACE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22000" y="2540000"/>
            <a:ext cx="4572000" cy="5651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25" name="Text 23"/>
          <p:cNvSpPr/>
          <p:nvPr/>
        </p:nvSpPr>
        <p:spPr>
          <a:xfrm>
            <a:off x="11176000" y="2730500"/>
            <a:ext cx="4064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 trace: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constructor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"Alice"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= 20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constructor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courses initialized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constructor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 = 12345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gpa = 0.0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--- Object ready ---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Constructors in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6764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76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16256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Has Default Constructor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2032000"/>
            <a:ext cx="5969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base has a default constructor, derived need not explicitly call it. Compiler inserts the call automatically.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524000"/>
            <a:ext cx="7112000" cy="1651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0" y="1714500"/>
            <a:ext cx="457200" cy="457200"/>
          </a:xfrm>
          <a:prstGeom prst="ellipse">
            <a:avLst/>
          </a:prstGeom>
          <a:solidFill>
            <a:srgbClr val="D4850D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71000" y="16764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Has Only Parameterized Ctors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71000" y="2095500"/>
            <a:ext cx="596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the base class has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parameterized constructors, the derived class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explicitly call one via the initialization list.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556000"/>
            <a:ext cx="14732000" cy="2540000"/>
          </a:xfrm>
          <a:prstGeom prst="roundRect">
            <a:avLst>
              <a:gd name="adj" fmla="val 4000"/>
            </a:avLst>
          </a:prstGeom>
          <a:solidFill>
            <a:srgbClr val="D4850D">
              <a:alpha val="6275"/>
            </a:srgbClr>
          </a:solidFill>
          <a:ln w="25400">
            <a:solidFill>
              <a:srgbClr val="D485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95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4850D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3708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Error Scenario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4254500"/>
            <a:ext cx="1409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x) { 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Only parameterized — NO default!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Derived :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 };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no default constructor in Base!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647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921500"/>
            <a:ext cx="14732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7112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7239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provide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constructor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base class,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Explicitly call the parameterized base constructor from every derived class constructor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Parameterized Base Constructor Calls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112000" cy="3302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651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INHERITANCE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006600"/>
            <a:ext cx="6604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x,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y) {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Derived :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(a, b) { }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Pass args to base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524000"/>
            <a:ext cx="7112000" cy="3302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651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INHERITANCE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0" y="20066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Base1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Base1(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a) { } 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Base2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Base2(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 } 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Derived 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Base1,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Base2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Base1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(a),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Base2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(b) {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080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0F4C5C">
              <a:alpha val="6275"/>
            </a:srgbClr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95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527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 on Order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87500" y="5651500"/>
            <a:ext cx="1358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 list order does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determine execution —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declaration order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does. Bases construct in declaration order.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73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Chaining Example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71755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Employee(string n,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s) 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(n), salary(s) { cout &lt;&lt;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"Employee created"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Manager(string n,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s, string d) :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(n, s), dept(d) { cout &lt;&lt;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"Manager created"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Creating Manager("Alice", 80000, "Engineering") calls: Person → Employee → Manager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 Lists in Derived Classes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initialization list appears after the parameter list, before the body. Preferred for initializing bases and members.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Key Uses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603500"/>
            <a:ext cx="4572000" cy="1397000"/>
          </a:xfrm>
          <a:prstGeom prst="roundRect">
            <a:avLst>
              <a:gd name="adj" fmla="val 5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6924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2730500"/>
            <a:ext cx="36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 Base Class Constructors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Explicitly invoke the base constructor with arguments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2603500"/>
            <a:ext cx="4572000" cy="1397000"/>
          </a:xfrm>
          <a:prstGeom prst="roundRect">
            <a:avLst>
              <a:gd name="adj" fmla="val 5000"/>
            </a:avLst>
          </a:prstGeom>
          <a:solidFill>
            <a:srgbClr val="5A7D8C"/>
          </a:solidFill>
          <a:ln/>
        </p:spPr>
      </p:sp>
      <p:sp>
        <p:nvSpPr>
          <p:cNvPr id="10" name="Text 8"/>
          <p:cNvSpPr/>
          <p:nvPr/>
        </p:nvSpPr>
        <p:spPr>
          <a:xfrm>
            <a:off x="5867400" y="26924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000" y="2730500"/>
            <a:ext cx="36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 Member Variables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initial values for data members directly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603500"/>
            <a:ext cx="4826000" cy="1397000"/>
          </a:xfrm>
          <a:prstGeom prst="roundRect">
            <a:avLst>
              <a:gd name="adj" fmla="val 5000"/>
            </a:avLst>
          </a:prstGeom>
          <a:solidFill>
            <a:srgbClr val="D4850D"/>
          </a:solidFill>
          <a:ln/>
        </p:spPr>
      </p:sp>
      <p:sp>
        <p:nvSpPr>
          <p:cNvPr id="13" name="Text 11"/>
          <p:cNvSpPr/>
          <p:nvPr/>
        </p:nvSpPr>
        <p:spPr>
          <a:xfrm>
            <a:off x="10820400" y="26924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03000" y="2730500"/>
            <a:ext cx="393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 Member Object Ctors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 composition objects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381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 List vs. Assignment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826000"/>
            <a:ext cx="14732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5080000"/>
            <a:ext cx="7112000" cy="1905000"/>
          </a:xfrm>
          <a:prstGeom prst="roundRect">
            <a:avLst>
              <a:gd name="adj" fmla="val 4000"/>
            </a:avLst>
          </a:prstGeom>
          <a:solidFill>
            <a:srgbClr val="0F4C5C">
              <a:alpha val="8235"/>
            </a:srgbClr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500" y="5207000"/>
            <a:ext cx="1270000" cy="355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52070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PREFERRED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5651500"/>
            <a:ext cx="666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Initialization list — direct initialization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Student(string n,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(n, a), studentID(id) {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Efficient: members initialized once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5080000"/>
            <a:ext cx="7112000" cy="1905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 w="12700">
            <a:solidFill>
              <a:srgbClr val="D1CC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2500" y="5207000"/>
            <a:ext cx="1524000" cy="355600"/>
          </a:xfrm>
          <a:prstGeom prst="roundRect">
            <a:avLst>
              <a:gd name="adj" fmla="val 8000"/>
            </a:avLst>
          </a:prstGeom>
          <a:solidFill>
            <a:srgbClr val="5A7D8C"/>
          </a:solidFill>
          <a:ln/>
        </p:spPr>
      </p:sp>
      <p:sp>
        <p:nvSpPr>
          <p:cNvPr id="23" name="Text 21"/>
          <p:cNvSpPr/>
          <p:nvPr/>
        </p:nvSpPr>
        <p:spPr>
          <a:xfrm>
            <a:off x="8572500" y="5207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 EFFICIENT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5651500"/>
            <a:ext cx="666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Assignment in body — two-step process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Student(string n,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n; age = a; studentID = id;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First default-init, then assign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7302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D4850D">
              <a:alpha val="6275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17600" y="7556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850D"/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" y="7429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use initialization lists for base class constructors and const/reference members. The order in the list should match the declaration order to avoid confusion.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Walkthrough — Constructor Chain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8890000" cy="6731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49400"/>
            <a:ext cx="83820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salary;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Employee(string n,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name(n), salary(s)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"Employee: 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name &lt;&lt; endl;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department;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teamSize;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Manager(string n,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s, string d,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(n, s), department(d), teamSize(t)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"Manager: 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department &lt;&lt; endl;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name &lt;&lt;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| $"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salary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| 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department &lt;&lt;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| 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teamSize;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0" y="1460500"/>
            <a:ext cx="533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TRACE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0" y="1905000"/>
            <a:ext cx="5334000" cy="3175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0" y="2095500"/>
            <a:ext cx="482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Creating the object: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Manager m(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95000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"Engineering"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Employee: Alice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base first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Manager: Engineering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derived last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0" y="5334000"/>
            <a:ext cx="533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0" y="5842000"/>
            <a:ext cx="4318000" cy="6350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0" y="5842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Employee(name, salary)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27000" y="6477000"/>
            <a:ext cx="0" cy="381000"/>
          </a:xfrm>
          <a:prstGeom prst="straightConnector1">
            <a:avLst/>
          </a:prstGeom>
          <a:noFill/>
          <a:ln w="25400">
            <a:solidFill>
              <a:srgbClr val="D4850D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668000" y="6858000"/>
            <a:ext cx="4318000" cy="635000"/>
          </a:xfrm>
          <a:prstGeom prst="roundRect">
            <a:avLst>
              <a:gd name="adj" fmla="val 6000"/>
            </a:avLst>
          </a:prstGeom>
          <a:solidFill>
            <a:srgbClr val="D4850D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0" y="6858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Manager(dept, teamSize)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0" y="7683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always constructs before derived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Mistakes with Constructors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366000" cy="1651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587500"/>
            <a:ext cx="1016000" cy="3556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587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MISTAKE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59000" y="15494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Forgetting Parameterized Base Call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0066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Base(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x){} 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 :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 D(){} };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Fix: D() : Base(0) {}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4605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8572500" y="1587500"/>
            <a:ext cx="1016000" cy="3556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0" y="1587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MISTAKE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79000" y="15494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Initializing Base Members in Derived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2500" y="20066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 :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D() { baseMember =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Wrong!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Fix: Use Base(5) in init list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365500"/>
            <a:ext cx="7366000" cy="1651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3492500"/>
            <a:ext cx="1016000" cy="3556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3492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MISTAKE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59000" y="34544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Wrong Init List Order Assumptions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2500" y="39116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D() :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Base2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Base1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}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Misleading!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Execution order follows declaration: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class D : public Base1, public Base2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33655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20" name="Shape 18"/>
          <p:cNvSpPr/>
          <p:nvPr/>
        </p:nvSpPr>
        <p:spPr>
          <a:xfrm>
            <a:off x="8572500" y="3492500"/>
            <a:ext cx="1016000" cy="3556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3492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MISTAKE 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79000" y="34544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Ignoring Constructor Exceptions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72500" y="39116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If base ctor throws, derived is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never constructed. Handle exceptions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 base class or use try-catch.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5397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Solutions &amp; Best Practices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842000"/>
            <a:ext cx="14732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60960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0F4C5C">
              <a:alpha val="6275"/>
            </a:srgbClr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6000" y="6223000"/>
            <a:ext cx="1422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provide a default constructor OR explicitly call parameterized base constructor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Never directly initialize base class members from derived — use the base constructor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Match initialization list order with class declaration order for clarity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function-try-block for exception handling in constructors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/>
              </a:gs>
              <a:gs pos="70000">
                <a:srgbClr val="0F4C5C"/>
              </a:gs>
              <a:gs pos="100000">
                <a:srgbClr val="147A8C"/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6604000"/>
            <a:ext cx="16256000" cy="2540000"/>
          </a:xfrm>
          <a:prstGeom prst="rect">
            <a:avLst/>
          </a:prstGeom>
          <a:solidFill>
            <a:srgbClr val="D4850D">
              <a:alpha val="705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635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937000"/>
            <a:ext cx="1270000" cy="457200"/>
          </a:xfrm>
          <a:prstGeom prst="roundRect">
            <a:avLst>
              <a:gd name="adj" fmla="val 8000"/>
            </a:avLst>
          </a:prstGeom>
          <a:solidFill>
            <a:srgbClr val="D4850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937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 12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699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Inheritance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62000" y="5588000"/>
            <a:ext cx="889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2ED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Public, Protected, and Private inheritance control how base class members are accessed in derived classes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6858000"/>
            <a:ext cx="1524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10" name="Text 8"/>
          <p:cNvSpPr/>
          <p:nvPr/>
        </p:nvSpPr>
        <p:spPr>
          <a:xfrm>
            <a:off x="13970000" y="8382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F5F2ED">
                    <a:alpha val="31373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Specifiers in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provides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types of inheritance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defined by the access specifier. This specifier determines how base class members appear in the derived class — controlling visibility and encapsulation.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476500"/>
            <a:ext cx="4572000" cy="3556000"/>
          </a:xfrm>
          <a:prstGeom prst="roundRect">
            <a:avLst>
              <a:gd name="adj" fmla="val 5000"/>
            </a:avLst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667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238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 : public B {};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3746500"/>
            <a:ext cx="3556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9370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IS-A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 form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polymorphism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access levels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476500"/>
            <a:ext cx="4572000" cy="3556000"/>
          </a:xfrm>
          <a:prstGeom prst="roundRect">
            <a:avLst>
              <a:gd name="adj" fmla="val 5000"/>
            </a:avLst>
          </a:prstGeom>
          <a:solidFill>
            <a:srgbClr val="5A7D8C"/>
          </a:solidFill>
          <a:ln/>
        </p:spPr>
      </p:sp>
      <p:sp>
        <p:nvSpPr>
          <p:cNvPr id="11" name="Text 9"/>
          <p:cNvSpPr/>
          <p:nvPr/>
        </p:nvSpPr>
        <p:spPr>
          <a:xfrm>
            <a:off x="5969000" y="2667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3238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 : protected B {};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23000" y="3746500"/>
            <a:ext cx="3556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39370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becomes protected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external exposure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Allows further derivation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2476500"/>
            <a:ext cx="4826000" cy="3556000"/>
          </a:xfrm>
          <a:prstGeom prst="roundRect">
            <a:avLst>
              <a:gd name="adj" fmla="val 5000"/>
            </a:avLst>
          </a:prstGeom>
          <a:solidFill>
            <a:srgbClr val="D4850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0" y="2667000"/>
            <a:ext cx="431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22000" y="3238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 : private B {};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176000" y="3746500"/>
            <a:ext cx="4064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922000" y="3937000"/>
            <a:ext cx="431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encapsulation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become private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from external code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from grandchildren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477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" y="673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2" name="Text 20"/>
          <p:cNvSpPr/>
          <p:nvPr/>
        </p:nvSpPr>
        <p:spPr>
          <a:xfrm>
            <a:off x="1587500" y="666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7175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inheritance access specifier controls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base class members appear in the derived class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does not change the base class itself — it only affects the inherited view of the base class members.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778000" cy="4064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COMMON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14732000" cy="762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22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Derived : 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 ... 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30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IS-A Relationship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746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inheritance models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IS-A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relationship. The derived class IS-A type of the base class. A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IS-A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501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Level Preservation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461000"/>
            <a:ext cx="6858000" cy="12700"/>
          </a:xfrm>
          <a:prstGeom prst="rect">
            <a:avLst/>
          </a:prstGeom>
          <a:solidFill>
            <a:srgbClr val="D1CCC3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651500"/>
          <a:ext cx="6858000" cy="19685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Member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 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7747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i="1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members remain inaccessible in derived class.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8000" y="3302000"/>
            <a:ext cx="7366000" cy="4826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5" name="Text 12"/>
          <p:cNvSpPr/>
          <p:nvPr/>
        </p:nvSpPr>
        <p:spPr>
          <a:xfrm>
            <a:off x="8382000" y="3492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82000" y="3937000"/>
            <a:ext cx="6858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17" name="Text 14"/>
          <p:cNvSpPr/>
          <p:nvPr/>
        </p:nvSpPr>
        <p:spPr>
          <a:xfrm>
            <a:off x="8382000" y="412750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members of Base remain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Derived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Protected members of Base remain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Derived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Supports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polymorphism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derived object can substitute for base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 interface is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fully exposed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Derived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Most common and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recommended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form of inheritance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Inheritance — Code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8636000" cy="6731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87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968500"/>
            <a:ext cx="8128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public in Base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ssn;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protected in Base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bankAccount;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private in Base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Person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name;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OK: public→public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ssn;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OK: protected access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bankAccount;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private!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14605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DEMONSTRATION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0" y="1905000"/>
            <a:ext cx="5588000" cy="2667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0" y="2032000"/>
            <a:ext cx="508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s.name =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s.ssn = 123;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s.bankAccount;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 can be used as Person: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Person* p = &amp;s;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0" y="47625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VISIBILITY DIAGRAM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06000" y="5207000"/>
            <a:ext cx="5588000" cy="2984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76000" y="5397500"/>
            <a:ext cx="3048000" cy="6350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6000" y="53975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 (Base)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0" y="6032500"/>
            <a:ext cx="0" cy="317500"/>
          </a:xfrm>
          <a:prstGeom prst="straightConnector1">
            <a:avLst/>
          </a:prstGeom>
          <a:noFill/>
          <a:ln w="25400">
            <a:solidFill>
              <a:srgbClr val="D4850D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12827000" y="6070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176000" y="6350000"/>
            <a:ext cx="3048000" cy="635000"/>
          </a:xfrm>
          <a:prstGeom prst="roundRect">
            <a:avLst>
              <a:gd name="adj" fmla="val 6000"/>
            </a:avLst>
          </a:prstGeom>
          <a:solidFill>
            <a:srgbClr val="5A7D8C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6000" y="6350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(Derived)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0" y="7175500"/>
            <a:ext cx="508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 → public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protected → protected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private → inaccessible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2286000" cy="406400"/>
          </a:xfrm>
          <a:prstGeom prst="roundRect">
            <a:avLst>
              <a:gd name="adj" fmla="val 8000"/>
            </a:avLst>
          </a:prstGeom>
          <a:solidFill>
            <a:srgbClr val="5A7D8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14732000" cy="762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22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Derived : 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 ... 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30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IS-IMPLEMENTED-IN-TERMS-OF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7465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 inheritance models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relationship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Derived uses base for implementation but is NOT a subtype.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501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Level Changes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461000"/>
            <a:ext cx="6858000" cy="12700"/>
          </a:xfrm>
          <a:prstGeom prst="rect">
            <a:avLst/>
          </a:prstGeom>
          <a:solidFill>
            <a:srgbClr val="D1CCC3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651500"/>
          <a:ext cx="6858000" cy="19685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Member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 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A7D8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7747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i="1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becomes protected. Further derived classes can still access.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8000" y="3302000"/>
            <a:ext cx="7366000" cy="4826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5" name="Text 12"/>
          <p:cNvSpPr/>
          <p:nvPr/>
        </p:nvSpPr>
        <p:spPr>
          <a:xfrm>
            <a:off x="8382000" y="3492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82000" y="3937000"/>
            <a:ext cx="6858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17" name="Text 14"/>
          <p:cNvSpPr/>
          <p:nvPr/>
        </p:nvSpPr>
        <p:spPr>
          <a:xfrm>
            <a:off x="8382000" y="412750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members of Base become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Derived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Protected members remain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Derived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 interface is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exposed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external code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Further derived classes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still access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public/protected base members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Does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support polymorphic substitution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Inheritance — Code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8636000" cy="6731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87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968500"/>
            <a:ext cx="8128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i,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v) { data[i] = v;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i) {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data[i];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size() {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capacity;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data[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capacity =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Array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top = -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push(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v) { set(++top, v);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pop() {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get(top--);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peek() {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get(top);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isEmpty() {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top == -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14605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DEMONSTRATION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0" y="1905000"/>
            <a:ext cx="5588000" cy="2540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0" y="2095500"/>
            <a:ext cx="508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s;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s.push(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OK: Stack 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s.pop();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OK: Stack 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s.set(0, 5);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set() is protected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s.get(0);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get() is protected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Array* a = &amp;s;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not IS-A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0" y="47625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06000" y="5207000"/>
            <a:ext cx="5588000" cy="2984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7950" y="546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850D"/>
          </a:solidFill>
          <a:ln/>
        </p:spPr>
      </p:sp>
      <p:sp>
        <p:nvSpPr>
          <p:cNvPr id="13" name="Text 11"/>
          <p:cNvSpPr/>
          <p:nvPr/>
        </p:nvSpPr>
        <p:spPr>
          <a:xfrm>
            <a:off x="10731500" y="5435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IS-NOT Array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23500" y="5969000"/>
            <a:ext cx="5016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uses Array internally but hides its interface.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exposes only: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push()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pop()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peek()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isEmpty()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D4850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ENCAPSULATION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14732000" cy="762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22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Derived : 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 { ... 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30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IS-IMPLEMENTED-IN-TERMS-OF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7465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inheritance models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relationship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maximum encapsulation — base interface is completely hidden.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501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Level Changes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461000"/>
            <a:ext cx="6858000" cy="12700"/>
          </a:xfrm>
          <a:prstGeom prst="rect">
            <a:avLst/>
          </a:prstGeom>
          <a:solidFill>
            <a:srgbClr val="D1CCC3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651500"/>
          <a:ext cx="6858000" cy="19685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Member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 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7747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i="1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public and protected become private. Hidden from everyone outside.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8000" y="3302000"/>
            <a:ext cx="7366000" cy="4826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5" name="Text 12"/>
          <p:cNvSpPr/>
          <p:nvPr/>
        </p:nvSpPr>
        <p:spPr>
          <a:xfrm>
            <a:off x="8382000" y="3492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82000" y="3937000"/>
            <a:ext cx="6858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17" name="Text 14"/>
          <p:cNvSpPr/>
          <p:nvPr/>
        </p:nvSpPr>
        <p:spPr>
          <a:xfrm>
            <a:off x="8382000" y="412750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members of Base become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Derived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Protected members become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Derived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 interface is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completely hidden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external code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Even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further derived classes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access base members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Most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restrictive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form of inheritance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Inheritance — Code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8636000" cy="6731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87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930400"/>
            <a:ext cx="8128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Clock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setTime(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hours = h; minutes = m;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getTime()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to_string(hours) +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":"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to_string(minutes);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hours, minutes;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Clock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duration;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Timer(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d) : duration(d)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setTime(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OK: private access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remaining()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getTime();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OK: private access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14605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DEMONSTRATION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0" y="1905000"/>
            <a:ext cx="5588000" cy="25400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0" y="2095500"/>
            <a:ext cx="508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Timer t(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t.remaining();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OK: Timer 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t.setTime(1, 0);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set() is private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t.getTime();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get() is private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Clock* c = &amp;t;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1D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not IS-A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0" y="47625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06000" y="5207000"/>
            <a:ext cx="5588000" cy="2984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7950" y="546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D4850D"/>
          </a:solidFill>
          <a:ln/>
        </p:spPr>
      </p:sp>
      <p:sp>
        <p:nvSpPr>
          <p:cNvPr id="13" name="Text 11"/>
          <p:cNvSpPr/>
          <p:nvPr/>
        </p:nvSpPr>
        <p:spPr>
          <a:xfrm>
            <a:off x="10731500" y="5435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Encapsulation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23500" y="5969000"/>
            <a:ext cx="5016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Timer uses Clock internally but hides it completely.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code sees only Timer's interface: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Timer(int)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remaining()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500" i="1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to composition when overriding base virtual functions is needed.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the Three Inheritance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39370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Member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A7D8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A7D8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9999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inaccessible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9999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inaccessible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9999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inaccessible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IS-A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implemented-with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implemented-with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84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Summary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6286500"/>
            <a:ext cx="14732000" cy="12700"/>
          </a:xfrm>
          <a:prstGeom prst="rect">
            <a:avLst/>
          </a:prstGeom>
          <a:solidFill>
            <a:srgbClr val="D1CCC3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540500"/>
            <a:ext cx="4572000" cy="1651000"/>
          </a:xfrm>
          <a:prstGeom prst="roundRect">
            <a:avLst>
              <a:gd name="adj" fmla="val 5000"/>
            </a:avLst>
          </a:prstGeom>
          <a:solidFill>
            <a:srgbClr val="0F4C5C">
              <a:alpha val="7059"/>
            </a:srgbClr>
          </a:solidFill>
          <a:ln w="25400">
            <a:solidFill>
              <a:srgbClr val="0F4C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6000" y="673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9" name="Text 6"/>
          <p:cNvSpPr/>
          <p:nvPr/>
        </p:nvSpPr>
        <p:spPr>
          <a:xfrm>
            <a:off x="1460500" y="66929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" y="71755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access levels. Most common. Supports polymorphism.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6540500"/>
            <a:ext cx="4572000" cy="1651000"/>
          </a:xfrm>
          <a:prstGeom prst="roundRect">
            <a:avLst>
              <a:gd name="adj" fmla="val 5000"/>
            </a:avLst>
          </a:prstGeom>
          <a:solidFill>
            <a:srgbClr val="5A7D8C">
              <a:alpha val="7059"/>
            </a:srgbClr>
          </a:solidFill>
          <a:ln w="25400">
            <a:solidFill>
              <a:srgbClr val="5A7D8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69000" y="673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5A7D8C"/>
          </a:solidFill>
          <a:ln/>
        </p:spPr>
      </p:sp>
      <p:sp>
        <p:nvSpPr>
          <p:cNvPr id="13" name="Text 10"/>
          <p:cNvSpPr/>
          <p:nvPr/>
        </p:nvSpPr>
        <p:spPr>
          <a:xfrm>
            <a:off x="6413500" y="66929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69000" y="71755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Restricts external access. Allows further derivation.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668000" y="6540500"/>
            <a:ext cx="4826000" cy="1651000"/>
          </a:xfrm>
          <a:prstGeom prst="roundRect">
            <a:avLst>
              <a:gd name="adj" fmla="val 5000"/>
            </a:avLst>
          </a:prstGeom>
          <a:solidFill>
            <a:srgbClr val="D4850D">
              <a:alpha val="7059"/>
            </a:srgbClr>
          </a:solidFill>
          <a:ln w="25400">
            <a:solidFill>
              <a:srgbClr val="D4850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960100" y="6731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D4850D"/>
          </a:solidFill>
          <a:ln/>
        </p:spPr>
      </p:sp>
      <p:sp>
        <p:nvSpPr>
          <p:cNvPr id="17" name="Text 14"/>
          <p:cNvSpPr/>
          <p:nvPr/>
        </p:nvSpPr>
        <p:spPr>
          <a:xfrm>
            <a:off x="11366500" y="66929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22000" y="71755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encapsulation. Implementation-only reuse.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Accessibility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matrix shows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who can access what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depending on the member's access level in the base class and the type of inheritance used.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95500"/>
          <a:ext cx="14732000" cy="3556000"/>
        </p:xfrm>
        <a:graphic>
          <a:graphicData uri="http://schemas.openxmlformats.org/drawingml/2006/table">
            <a:tbl>
              <a:tblPr/>
              <a:tblGrid>
                <a:gridCol w="4124960"/>
                <a:gridCol w="2651760"/>
                <a:gridCol w="2651760"/>
                <a:gridCol w="2651760"/>
                <a:gridCol w="2651760"/>
              </a:tblGrid>
              <a:tr h="60743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Access From: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Class Itself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Derived (Public)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Derived (Protected)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70866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D2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Derived (Private)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0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778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 Access is within the derived class only. For Protected inheritance, public members become protected. For Private inheritance, they become private.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6477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8" name="Shape 5"/>
          <p:cNvSpPr/>
          <p:nvPr/>
        </p:nvSpPr>
        <p:spPr>
          <a:xfrm>
            <a:off x="1123950" y="673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850D"/>
          </a:solidFill>
          <a:ln/>
        </p:spPr>
      </p:sp>
      <p:sp>
        <p:nvSpPr>
          <p:cNvPr id="9" name="Text 6"/>
          <p:cNvSpPr/>
          <p:nvPr/>
        </p:nvSpPr>
        <p:spPr>
          <a:xfrm>
            <a:off x="1587500" y="66929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79500" y="7239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inheritance type only affects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inherited members appear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derived class — it never changes the base class itself. Private base members are always inaccessible to derived classes, regardless of inheritance type.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Each Inheritance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0F4C5C">
              <a:alpha val="6275"/>
            </a:srgbClr>
          </a:solidFill>
          <a:ln w="25400">
            <a:solidFill>
              <a:srgbClr val="0F4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1625600"/>
            <a:ext cx="1524000" cy="38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6256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PUBLIC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67000" y="1587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These Apply: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133600"/>
            <a:ext cx="142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clear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IS-A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 exists (e.g., Dog IS-A Animal)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Polymorphism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needed — derived objects must substitute for base objects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Liskov Substitution Principle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applies — a derived class can be used anywhere a base class is expected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38735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5A7D8C">
              <a:alpha val="6275"/>
            </a:srgbClr>
          </a:solidFill>
          <a:ln w="25400">
            <a:solidFill>
              <a:srgbClr val="5A7D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500" y="4038600"/>
            <a:ext cx="1778000" cy="381000"/>
          </a:xfrm>
          <a:prstGeom prst="roundRect">
            <a:avLst>
              <a:gd name="adj" fmla="val 8000"/>
            </a:avLst>
          </a:prstGeom>
          <a:solidFill>
            <a:srgbClr val="5A7D8C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038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PROTECTED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1000" y="4000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These Apply: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2500" y="45466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You need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reuse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limited external exposure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Further derivation is expected — grandchildren need access to base members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2000" y="59055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D4850D">
              <a:alpha val="6275"/>
            </a:srgbClr>
          </a:solidFill>
          <a:ln w="25400">
            <a:solidFill>
              <a:srgbClr val="D485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2500" y="6070600"/>
            <a:ext cx="1524000" cy="381000"/>
          </a:xfrm>
          <a:prstGeom prst="roundRect">
            <a:avLst>
              <a:gd name="adj" fmla="val 8000"/>
            </a:avLst>
          </a:prstGeom>
          <a:solidFill>
            <a:srgbClr val="D4850D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60706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PRIVATE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67000" y="6032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These Apply: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2500" y="6578600"/>
            <a:ext cx="142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reuse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needed — the derived class is not a subtype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encapsulation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required — hide the base class completely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0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You need 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override base virtual functions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D2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(composition cannot do this)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Design Guidelines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508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87500" y="1460500"/>
            <a:ext cx="13906500" cy="1206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in Doubt, Use Public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19304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inheritance is the safest and most common choice. Only consider protected or private when you have a specific design reason.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921000"/>
            <a:ext cx="635000" cy="635000"/>
          </a:xfrm>
          <a:prstGeom prst="ellipse">
            <a:avLst/>
          </a:prstGeom>
          <a:solidFill>
            <a:srgbClr val="D4850D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921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87500" y="2857500"/>
            <a:ext cx="13906500" cy="1206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2" name="Text 10"/>
          <p:cNvSpPr/>
          <p:nvPr/>
        </p:nvSpPr>
        <p:spPr>
          <a:xfrm>
            <a:off x="1841500" y="2921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Prefer Composition Over Private Inheritance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41500" y="33020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 composition (has-a) over private inheritance. Use inheritance only when overriding virtual functions is needed.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18000"/>
            <a:ext cx="635000" cy="635000"/>
          </a:xfrm>
          <a:prstGeom prst="ellipse">
            <a:avLst/>
          </a:prstGeom>
          <a:solidFill>
            <a:srgbClr val="5A7D8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318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587500" y="4254500"/>
            <a:ext cx="13906500" cy="1206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17" name="Text 15"/>
          <p:cNvSpPr/>
          <p:nvPr/>
        </p:nvSpPr>
        <p:spPr>
          <a:xfrm>
            <a:off x="1841500" y="431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A7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Protected Inheritance Sparingly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41500" y="47244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 inheritance is rare. Consider if protected base members truly need to be exposed to grandchildren classes in your hierarchy.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715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571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87500" y="5651500"/>
            <a:ext cx="13906500" cy="1206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22" name="Text 20"/>
          <p:cNvSpPr/>
          <p:nvPr/>
        </p:nvSpPr>
        <p:spPr>
          <a:xfrm>
            <a:off x="1841500" y="5715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Base Destructor Virtual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41500" y="60960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base destructor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public inheritance for proper cleanup via base pointers.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7112000"/>
            <a:ext cx="635000" cy="635000"/>
          </a:xfrm>
          <a:prstGeom prst="ellipse">
            <a:avLst/>
          </a:prstGeom>
          <a:solidFill>
            <a:srgbClr val="D4850D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7112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87500" y="7048500"/>
            <a:ext cx="13906500" cy="1206500"/>
          </a:xfrm>
          <a:prstGeom prst="roundRect">
            <a:avLst>
              <a:gd name="adj" fmla="val 4000"/>
            </a:avLst>
          </a:prstGeom>
          <a:solidFill>
            <a:srgbClr val="E8E4DD"/>
          </a:solidFill>
          <a:ln/>
        </p:spPr>
      </p:sp>
      <p:sp>
        <p:nvSpPr>
          <p:cNvPr id="27" name="Text 25"/>
          <p:cNvSpPr/>
          <p:nvPr/>
        </p:nvSpPr>
        <p:spPr>
          <a:xfrm>
            <a:off x="1841500" y="7112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850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Non-Public Inheritance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41500" y="74930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D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the intended relationship when using non-public inheritance so others understand your design choice.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859000" y="571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113000" y="8636000"/>
            <a:ext cx="63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A7D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/>
              </a:gs>
              <a:gs pos="60000">
                <a:srgbClr val="0F4C5C"/>
              </a:gs>
              <a:gs pos="100000">
                <a:srgbClr val="1A6B7D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 rot="-900000">
            <a:off x="0" y="0"/>
            <a:ext cx="3810000" cy="3810000"/>
          </a:xfrm>
          <a:prstGeom prst="rect">
            <a:avLst/>
          </a:prstGeom>
          <a:solidFill>
            <a:srgbClr val="D4850D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600000">
            <a:off x="12446000" y="5334000"/>
            <a:ext cx="3810000" cy="3810000"/>
          </a:xfrm>
          <a:prstGeom prst="rect">
            <a:avLst/>
          </a:prstGeom>
          <a:solidFill>
            <a:srgbClr val="FFFFFF">
              <a:alpha val="2353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1016000"/>
            <a:ext cx="2540000" cy="381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0" y="2222500"/>
            <a:ext cx="254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667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 class constructors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execute before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derived class constructors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3556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initialization lists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explicitly call parameterized base constructors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4445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IS-A (most common, supports polymorphism)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2667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 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implementation reuse with limited exposure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3556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maximum encapsulation, implementation-only reuse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4445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850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Choose inheritance type based on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2ED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want to model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40000" y="5334000"/>
            <a:ext cx="11176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715000"/>
            <a:ext cx="147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spc="400" kern="0" dirty="0">
                <a:solidFill>
                  <a:srgbClr val="F5F2ED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 PROGRAMMING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2865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6 — Type of Inheritance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7112000"/>
            <a:ext cx="2540000" cy="25400"/>
          </a:xfrm>
          <a:prstGeom prst="rect">
            <a:avLst/>
          </a:prstGeom>
          <a:solidFill>
            <a:srgbClr val="D4850D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7429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2ED">
                    <a:alpha val="4392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 11: Constructors in Inheritance | Lesson 12: Public, Protected, Private Inheritance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70000" y="8382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F5F2ED">
                    <a:alpha val="31373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 Week 6: Type of Inheritance</dc:title>
  <dc:subject>Object Oriented Programming - Week 6: Type of Inheritance</dc:subject>
  <dc:creator>Kimi</dc:creator>
  <cp:lastModifiedBy>Kimi</cp:lastModifiedBy>
  <cp:revision>1</cp:revision>
  <dcterms:created xsi:type="dcterms:W3CDTF">2026-05-26T11:38:49Z</dcterms:created>
  <dcterms:modified xsi:type="dcterms:W3CDTF">2026-05-26T11:38:49Z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{"Label":"Object Oriented Programming - Week 6: Type of Inheritance","ContentProducer":"001191110108MACG2KBH8F10000","ProduceID":"19e64043-6512-8ba1-8000-0000da33ca99","ReservedCode1":"","ContentPropagator":"001191110108MACG2KBH8F20000","PropagateID":"19e64043-6512-8ba1-8000-0000da33ca99","ReservedCode2":""}</vt:lpwstr>
  </property>
</Properties>
</file>