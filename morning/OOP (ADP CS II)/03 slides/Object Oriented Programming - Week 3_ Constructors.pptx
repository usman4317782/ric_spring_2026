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Liter" charset="-122" pitchFamily="34"/>
      <p:regular r:id="rId35"/>
    </p:embeddedFont>
    <p:embeddedFont>
      <p:font typeface="Quattrocento Sans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pc2sxsucaenw/mnt/agents/output/oop-constructors/images/2_Minimal_abstract_geometric_background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A1A2E">
              <a:alpha val="90196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794000"/>
            <a:ext cx="2540000" cy="381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3175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400" kern="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ORIENTED PROGRAMMING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13000" y="3683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588000" y="4826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3 — Lecture 5 &amp; 6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0" y="5588000"/>
            <a:ext cx="2540000" cy="381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6"/>
          <p:cNvSpPr/>
          <p:nvPr/>
        </p:nvSpPr>
        <p:spPr>
          <a:xfrm>
            <a:off x="4318000" y="7874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64748B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Objects as Arguments · Defining Constructors · Copy Constructors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300" kern="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1841500"/>
            <a:ext cx="14732000" cy="127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222500"/>
            <a:ext cx="7048500" cy="27940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4765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302000"/>
            <a:ext cx="6286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Objects as Function Arguments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3810000"/>
            <a:ext cx="6286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 by value, pass by reference, returning objects from functions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45500" y="2222500"/>
            <a:ext cx="7048500" cy="27940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26500" y="24765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26500" y="3302000"/>
            <a:ext cx="6286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Defining Constructors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26500" y="3810000"/>
            <a:ext cx="6286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Constructor characteristics, default and parameterized constructors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397500"/>
            <a:ext cx="7048500" cy="27940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56515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6477000"/>
            <a:ext cx="6286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Overloaded Constructors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6985000"/>
            <a:ext cx="6286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constructors with different parameter signatures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00" y="5397500"/>
            <a:ext cx="7048500" cy="27940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6500" y="56515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26500" y="6477000"/>
            <a:ext cx="6286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Default Copy Constructor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26500" y="6985000"/>
            <a:ext cx="6286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Shallow copy vs deep copy, custom copy constructors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pc2sxsucaenw/mnt/agents/output/oop-constructors/images/6_A_Dark_Teal_blue_Abstract_Netwo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A1A2E">
              <a:alpha val="9098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016000"/>
            <a:ext cx="5080000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dirty="0">
                <a:solidFill>
                  <a:srgbClr val="FFFFFF">
                    <a:alpha val="6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OBJECTS AS FUNCTION ARGUMENTS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7625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how objects interact with functions — passing by value, by reference, and returning objects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970000" y="3937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997347" y="298847"/>
                </a:moveTo>
                <a:lnTo>
                  <a:pt x="806847" y="489347"/>
                </a:lnTo>
                <a:cubicBezTo>
                  <a:pt x="788591" y="507603"/>
                  <a:pt x="761405" y="512961"/>
                  <a:pt x="737592" y="503039"/>
                </a:cubicBezTo>
                <a:cubicBezTo>
                  <a:pt x="713780" y="493117"/>
                  <a:pt x="698500" y="470098"/>
                  <a:pt x="698500" y="444500"/>
                </a:cubicBezTo>
                <a:lnTo>
                  <a:pt x="698500" y="317500"/>
                </a:lnTo>
                <a:lnTo>
                  <a:pt x="63500" y="317500"/>
                </a:lnTo>
                <a:cubicBezTo>
                  <a:pt x="28377" y="317500"/>
                  <a:pt x="0" y="289123"/>
                  <a:pt x="0" y="254000"/>
                </a:cubicBezTo>
                <a:cubicBezTo>
                  <a:pt x="0" y="218877"/>
                  <a:pt x="28377" y="190500"/>
                  <a:pt x="63500" y="190500"/>
                </a:cubicBezTo>
                <a:lnTo>
                  <a:pt x="698500" y="190500"/>
                </a:lnTo>
                <a:lnTo>
                  <a:pt x="698500" y="63500"/>
                </a:lnTo>
                <a:cubicBezTo>
                  <a:pt x="698500" y="37902"/>
                  <a:pt x="713978" y="14684"/>
                  <a:pt x="737791" y="4762"/>
                </a:cubicBezTo>
                <a:cubicBezTo>
                  <a:pt x="761603" y="-5159"/>
                  <a:pt x="788789" y="397"/>
                  <a:pt x="807045" y="18455"/>
                </a:cubicBezTo>
                <a:lnTo>
                  <a:pt x="997545" y="208955"/>
                </a:lnTo>
                <a:cubicBezTo>
                  <a:pt x="1022350" y="233759"/>
                  <a:pt x="1022350" y="274042"/>
                  <a:pt x="997545" y="298847"/>
                </a:cubicBezTo>
                <a:close/>
                <a:moveTo>
                  <a:pt x="208955" y="997347"/>
                </a:moveTo>
                <a:lnTo>
                  <a:pt x="18455" y="806847"/>
                </a:lnTo>
                <a:cubicBezTo>
                  <a:pt x="-6350" y="782042"/>
                  <a:pt x="-6350" y="741759"/>
                  <a:pt x="18455" y="716955"/>
                </a:cubicBezTo>
                <a:lnTo>
                  <a:pt x="208955" y="526455"/>
                </a:lnTo>
                <a:cubicBezTo>
                  <a:pt x="227211" y="508198"/>
                  <a:pt x="254397" y="502841"/>
                  <a:pt x="278209" y="512763"/>
                </a:cubicBezTo>
                <a:cubicBezTo>
                  <a:pt x="302022" y="522684"/>
                  <a:pt x="317500" y="545902"/>
                  <a:pt x="317500" y="571500"/>
                </a:cubicBezTo>
                <a:lnTo>
                  <a:pt x="317500" y="698500"/>
                </a:lnTo>
                <a:lnTo>
                  <a:pt x="952500" y="698500"/>
                </a:lnTo>
                <a:cubicBezTo>
                  <a:pt x="987623" y="698500"/>
                  <a:pt x="1016000" y="726877"/>
                  <a:pt x="1016000" y="762000"/>
                </a:cubicBezTo>
                <a:cubicBezTo>
                  <a:pt x="1016000" y="797123"/>
                  <a:pt x="987623" y="825500"/>
                  <a:pt x="952500" y="825500"/>
                </a:cubicBezTo>
                <a:lnTo>
                  <a:pt x="317500" y="825500"/>
                </a:lnTo>
                <a:lnTo>
                  <a:pt x="317500" y="952500"/>
                </a:lnTo>
                <a:cubicBezTo>
                  <a:pt x="317500" y="978098"/>
                  <a:pt x="302022" y="1001316"/>
                  <a:pt x="278209" y="1011238"/>
                </a:cubicBezTo>
                <a:cubicBezTo>
                  <a:pt x="254397" y="1021159"/>
                  <a:pt x="227211" y="1015603"/>
                  <a:pt x="208955" y="997545"/>
                </a:cubicBezTo>
                <a:close/>
              </a:path>
            </a:pathLst>
          </a:custGeom>
          <a:solidFill>
            <a:srgbClr val="0D7377">
              <a:alpha val="18824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Objects as Function Arguments —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Objects can be passed to functions just like any other data type. Three primary mechanisms exist, each with different implications for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memory usage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performance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safety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540000"/>
            <a:ext cx="45720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08075" y="2794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71450" y="0"/>
                </a:moveTo>
                <a:cubicBezTo>
                  <a:pt x="139928" y="0"/>
                  <a:pt x="114300" y="25628"/>
                  <a:pt x="114300" y="57150"/>
                </a:cubicBezTo>
                <a:lnTo>
                  <a:pt x="114300" y="285750"/>
                </a:lnTo>
                <a:cubicBezTo>
                  <a:pt x="114300" y="317272"/>
                  <a:pt x="139928" y="342900"/>
                  <a:pt x="171450" y="342900"/>
                </a:cubicBezTo>
                <a:lnTo>
                  <a:pt x="342900" y="342900"/>
                </a:lnTo>
                <a:cubicBezTo>
                  <a:pt x="374422" y="342900"/>
                  <a:pt x="400050" y="317272"/>
                  <a:pt x="400050" y="285750"/>
                </a:cubicBezTo>
                <a:lnTo>
                  <a:pt x="400050" y="106620"/>
                </a:lnTo>
                <a:cubicBezTo>
                  <a:pt x="400050" y="91083"/>
                  <a:pt x="393710" y="76170"/>
                  <a:pt x="382459" y="65365"/>
                </a:cubicBezTo>
                <a:lnTo>
                  <a:pt x="330934" y="15895"/>
                </a:lnTo>
                <a:cubicBezTo>
                  <a:pt x="320308" y="5715"/>
                  <a:pt x="306110" y="0"/>
                  <a:pt x="291376" y="0"/>
                </a:cubicBezTo>
                <a:lnTo>
                  <a:pt x="171450" y="0"/>
                </a:lnTo>
                <a:close/>
                <a:moveTo>
                  <a:pt x="57150" y="114300"/>
                </a:moveTo>
                <a:cubicBezTo>
                  <a:pt x="25628" y="114300"/>
                  <a:pt x="0" y="139928"/>
                  <a:pt x="0" y="171450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228600" y="457200"/>
                </a:lnTo>
                <a:cubicBezTo>
                  <a:pt x="260122" y="457200"/>
                  <a:pt x="285750" y="431572"/>
                  <a:pt x="285750" y="400050"/>
                </a:cubicBezTo>
                <a:lnTo>
                  <a:pt x="285750" y="385763"/>
                </a:lnTo>
                <a:lnTo>
                  <a:pt x="228600" y="385763"/>
                </a:lnTo>
                <a:lnTo>
                  <a:pt x="228600" y="400050"/>
                </a:lnTo>
                <a:lnTo>
                  <a:pt x="57150" y="400050"/>
                </a:lnTo>
                <a:lnTo>
                  <a:pt x="57150" y="171450"/>
                </a:lnTo>
                <a:lnTo>
                  <a:pt x="71438" y="171450"/>
                </a:lnTo>
                <a:lnTo>
                  <a:pt x="71438" y="114300"/>
                </a:lnTo>
                <a:lnTo>
                  <a:pt x="57150" y="11430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3403600"/>
            <a:ext cx="393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 by Value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3873500"/>
            <a:ext cx="3937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copy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the object is passed to the function.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copy constructor creates the duplicate. Changes inside the function do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affect the original.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Small objects where protection from modification is needed.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2000" y="2540000"/>
            <a:ext cx="45720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30925" y="2794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74600" y="85725"/>
                </a:moveTo>
                <a:cubicBezTo>
                  <a:pt x="359777" y="85725"/>
                  <a:pt x="345400" y="89743"/>
                  <a:pt x="332809" y="97066"/>
                </a:cubicBezTo>
                <a:cubicBezTo>
                  <a:pt x="318701" y="82778"/>
                  <a:pt x="302270" y="70812"/>
                  <a:pt x="284143" y="61793"/>
                </a:cubicBezTo>
                <a:cubicBezTo>
                  <a:pt x="309324" y="40362"/>
                  <a:pt x="341382" y="28575"/>
                  <a:pt x="374600" y="28575"/>
                </a:cubicBezTo>
                <a:cubicBezTo>
                  <a:pt x="451753" y="28575"/>
                  <a:pt x="514350" y="91083"/>
                  <a:pt x="514350" y="168325"/>
                </a:cubicBezTo>
                <a:cubicBezTo>
                  <a:pt x="514350" y="205383"/>
                  <a:pt x="499616" y="240923"/>
                  <a:pt x="473452" y="267087"/>
                </a:cubicBezTo>
                <a:lnTo>
                  <a:pt x="409962" y="330577"/>
                </a:lnTo>
                <a:cubicBezTo>
                  <a:pt x="383798" y="356741"/>
                  <a:pt x="348258" y="371475"/>
                  <a:pt x="311200" y="371475"/>
                </a:cubicBezTo>
                <a:cubicBezTo>
                  <a:pt x="234047" y="371475"/>
                  <a:pt x="171450" y="308967"/>
                  <a:pt x="171450" y="231725"/>
                </a:cubicBezTo>
                <a:cubicBezTo>
                  <a:pt x="171450" y="230386"/>
                  <a:pt x="171450" y="229046"/>
                  <a:pt x="171539" y="227707"/>
                </a:cubicBezTo>
                <a:cubicBezTo>
                  <a:pt x="171986" y="211901"/>
                  <a:pt x="185112" y="199489"/>
                  <a:pt x="200918" y="199936"/>
                </a:cubicBezTo>
                <a:cubicBezTo>
                  <a:pt x="216724" y="200382"/>
                  <a:pt x="229136" y="213509"/>
                  <a:pt x="228689" y="229314"/>
                </a:cubicBezTo>
                <a:cubicBezTo>
                  <a:pt x="228689" y="230118"/>
                  <a:pt x="228689" y="230922"/>
                  <a:pt x="228689" y="231636"/>
                </a:cubicBezTo>
                <a:cubicBezTo>
                  <a:pt x="228689" y="277267"/>
                  <a:pt x="265658" y="314236"/>
                  <a:pt x="311289" y="314236"/>
                </a:cubicBezTo>
                <a:cubicBezTo>
                  <a:pt x="333167" y="314236"/>
                  <a:pt x="354151" y="305574"/>
                  <a:pt x="369689" y="290036"/>
                </a:cubicBezTo>
                <a:lnTo>
                  <a:pt x="433179" y="226546"/>
                </a:lnTo>
                <a:cubicBezTo>
                  <a:pt x="448628" y="211098"/>
                  <a:pt x="457379" y="190024"/>
                  <a:pt x="457379" y="168146"/>
                </a:cubicBezTo>
                <a:cubicBezTo>
                  <a:pt x="457379" y="122515"/>
                  <a:pt x="420410" y="85546"/>
                  <a:pt x="374779" y="85546"/>
                </a:cubicBezTo>
                <a:close/>
                <a:moveTo>
                  <a:pt x="245745" y="154751"/>
                </a:moveTo>
                <a:cubicBezTo>
                  <a:pt x="244048" y="154037"/>
                  <a:pt x="242352" y="153055"/>
                  <a:pt x="240834" y="151983"/>
                </a:cubicBezTo>
                <a:cubicBezTo>
                  <a:pt x="229582" y="146179"/>
                  <a:pt x="216724" y="142875"/>
                  <a:pt x="203240" y="142875"/>
                </a:cubicBezTo>
                <a:cubicBezTo>
                  <a:pt x="181362" y="142875"/>
                  <a:pt x="160377" y="151537"/>
                  <a:pt x="144840" y="167074"/>
                </a:cubicBezTo>
                <a:lnTo>
                  <a:pt x="81349" y="230565"/>
                </a:lnTo>
                <a:cubicBezTo>
                  <a:pt x="65901" y="246013"/>
                  <a:pt x="57150" y="267087"/>
                  <a:pt x="57150" y="288965"/>
                </a:cubicBezTo>
                <a:cubicBezTo>
                  <a:pt x="57150" y="334595"/>
                  <a:pt x="94119" y="371564"/>
                  <a:pt x="139750" y="371564"/>
                </a:cubicBezTo>
                <a:cubicBezTo>
                  <a:pt x="154484" y="371564"/>
                  <a:pt x="168860" y="367635"/>
                  <a:pt x="181451" y="360313"/>
                </a:cubicBezTo>
                <a:cubicBezTo>
                  <a:pt x="195560" y="374600"/>
                  <a:pt x="211991" y="386566"/>
                  <a:pt x="230207" y="395585"/>
                </a:cubicBezTo>
                <a:cubicBezTo>
                  <a:pt x="205026" y="416927"/>
                  <a:pt x="173057" y="428804"/>
                  <a:pt x="139750" y="428804"/>
                </a:cubicBezTo>
                <a:cubicBezTo>
                  <a:pt x="62597" y="428804"/>
                  <a:pt x="0" y="366296"/>
                  <a:pt x="0" y="289054"/>
                </a:cubicBezTo>
                <a:cubicBezTo>
                  <a:pt x="0" y="251996"/>
                  <a:pt x="14734" y="216456"/>
                  <a:pt x="40898" y="190292"/>
                </a:cubicBezTo>
                <a:lnTo>
                  <a:pt x="104388" y="126802"/>
                </a:lnTo>
                <a:cubicBezTo>
                  <a:pt x="130552" y="100638"/>
                  <a:pt x="166092" y="85904"/>
                  <a:pt x="203150" y="85904"/>
                </a:cubicBezTo>
                <a:cubicBezTo>
                  <a:pt x="280481" y="85904"/>
                  <a:pt x="342900" y="148947"/>
                  <a:pt x="342900" y="226010"/>
                </a:cubicBezTo>
                <a:cubicBezTo>
                  <a:pt x="342900" y="227171"/>
                  <a:pt x="342900" y="228332"/>
                  <a:pt x="342900" y="229493"/>
                </a:cubicBezTo>
                <a:cubicBezTo>
                  <a:pt x="342543" y="245299"/>
                  <a:pt x="329416" y="257711"/>
                  <a:pt x="313611" y="257354"/>
                </a:cubicBezTo>
                <a:cubicBezTo>
                  <a:pt x="297805" y="256996"/>
                  <a:pt x="285393" y="243870"/>
                  <a:pt x="285750" y="228064"/>
                </a:cubicBezTo>
                <a:cubicBezTo>
                  <a:pt x="285750" y="227350"/>
                  <a:pt x="285750" y="226725"/>
                  <a:pt x="285750" y="226010"/>
                </a:cubicBezTo>
                <a:cubicBezTo>
                  <a:pt x="285750" y="195917"/>
                  <a:pt x="269677" y="169485"/>
                  <a:pt x="245745" y="15493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6159500" y="3403600"/>
            <a:ext cx="393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 by Reference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59500" y="3873500"/>
            <a:ext cx="3937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alias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the original object is passed. No copy is made.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Changes inside the function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 modify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original. Use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read-only access.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Large objects — most efficient method.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22000" y="2540000"/>
            <a:ext cx="45720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239500" y="279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6750" y="67419"/>
                </a:moveTo>
                <a:cubicBezTo>
                  <a:pt x="430768" y="56882"/>
                  <a:pt x="428268" y="44916"/>
                  <a:pt x="420320" y="36969"/>
                </a:cubicBezTo>
                <a:cubicBezTo>
                  <a:pt x="412373" y="29021"/>
                  <a:pt x="400407" y="26432"/>
                  <a:pt x="389870" y="30540"/>
                </a:cubicBezTo>
                <a:lnTo>
                  <a:pt x="18395" y="173415"/>
                </a:lnTo>
                <a:cubicBezTo>
                  <a:pt x="7054" y="177701"/>
                  <a:pt x="-268" y="188595"/>
                  <a:pt x="0" y="200650"/>
                </a:cubicBezTo>
                <a:cubicBezTo>
                  <a:pt x="268" y="212705"/>
                  <a:pt x="8126" y="223331"/>
                  <a:pt x="19556" y="227082"/>
                </a:cubicBezTo>
                <a:lnTo>
                  <a:pt x="177433" y="279678"/>
                </a:lnTo>
                <a:lnTo>
                  <a:pt x="230029" y="437555"/>
                </a:lnTo>
                <a:cubicBezTo>
                  <a:pt x="233869" y="448985"/>
                  <a:pt x="244406" y="456843"/>
                  <a:pt x="256461" y="457111"/>
                </a:cubicBezTo>
                <a:cubicBezTo>
                  <a:pt x="268516" y="457379"/>
                  <a:pt x="279410" y="450056"/>
                  <a:pt x="283785" y="438805"/>
                </a:cubicBezTo>
                <a:lnTo>
                  <a:pt x="426660" y="6733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11239500" y="3403600"/>
            <a:ext cx="393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 by Pointer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239500" y="3873500"/>
            <a:ext cx="3937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the object is passed to the function.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dereferencing inside the function. Allows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nullptr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be passed.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null values need to be supported.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9" name="Text 17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Passing Objects by Value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7112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an object is passed by value, the compiler creates 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copy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the entire object. The function works on this copy, leaving the original unchanged.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implications: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500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copy constructor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invoked to create the duplicate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Changes inside the function do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affect the original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 be expensive for large objects due to copying overhead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Safe from unintended modifications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E85D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Best used when: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object is small, and you want to protect the original data from changes.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382000" y="1524000"/>
            <a:ext cx="7112000" cy="35560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0" y="1651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36000" y="2006600"/>
            <a:ext cx="6604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Rectangle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length, width;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Rectangle(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l,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length(l), width(w) {}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Pass by value — copy made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display(Rectangle r)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 is a copy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5397500"/>
            <a:ext cx="14732000" cy="2921000"/>
          </a:xfrm>
          <a:prstGeom prst="roundRect">
            <a:avLst>
              <a:gd name="adj" fmla="val 5000"/>
            </a:avLst>
          </a:prstGeom>
          <a:solidFill>
            <a:srgbClr val="E6F3F3"/>
          </a:solidFill>
          <a:ln/>
        </p:spPr>
      </p:sp>
      <p:sp>
        <p:nvSpPr>
          <p:cNvPr id="10" name="Text 8"/>
          <p:cNvSpPr/>
          <p:nvPr/>
        </p:nvSpPr>
        <p:spPr>
          <a:xfrm>
            <a:off x="1079500" y="558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DIAGRAM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24000" y="6223000"/>
            <a:ext cx="2540000" cy="1016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6223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Original Object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length=10, width=5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99000" y="6604000"/>
            <a:ext cx="1524000" cy="0"/>
          </a:xfrm>
          <a:prstGeom prst="straightConnector1">
            <a:avLst/>
          </a:prstGeom>
          <a:noFill/>
          <a:ln w="25400">
            <a:solidFill>
              <a:srgbClr val="E85D4A"/>
            </a:solidFill>
            <a:prstDash val="solid"/>
            <a:headEnd type="none"/>
            <a:tailEnd type="arrow"/>
          </a:ln>
        </p:spPr>
      </p:sp>
      <p:sp>
        <p:nvSpPr>
          <p:cNvPr id="14" name="Text 12"/>
          <p:cNvSpPr/>
          <p:nvPr/>
        </p:nvSpPr>
        <p:spPr>
          <a:xfrm>
            <a:off x="4699000" y="6223000"/>
            <a:ext cx="15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Copy made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0" y="6223000"/>
            <a:ext cx="2540000" cy="10160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6223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Copy in Function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length=10, width=5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0" y="6223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Modifications to the copy do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affect the original object. Both exist in separate memory locations.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9" name="Text 17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Passing Objects by Reference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7112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passed by reference, the function receives an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alias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the original object —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copy is made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implications: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copying overhead — efficient for large objects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Changes inside the function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 modify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original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reference for read-only access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Syntax: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void func(ClassName&amp; obj)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modifiable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void func(const ClassName&amp; obj)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read-only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E85D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is the preferred method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professional C++ code.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382000" y="1524000"/>
            <a:ext cx="7112000" cy="38100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0" y="1651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36000" y="2006600"/>
            <a:ext cx="6604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Modifiable reference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scale(Rectangle&amp; r,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factor)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r.length *= factor;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modifies original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r.width *= factor;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Const reference (read-only)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print(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Rectangle&amp; r)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r.length;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cannot modify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5715000"/>
            <a:ext cx="14732000" cy="2476500"/>
          </a:xfrm>
          <a:prstGeom prst="roundRect">
            <a:avLst>
              <a:gd name="adj" fmla="val 5000"/>
            </a:avLst>
          </a:prstGeom>
          <a:solidFill>
            <a:srgbClr val="E6F3F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5715000"/>
            <a:ext cx="63500" cy="2476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Shape 9"/>
          <p:cNvSpPr/>
          <p:nvPr/>
        </p:nvSpPr>
        <p:spPr>
          <a:xfrm>
            <a:off x="1079500" y="5943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1587500" y="5943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 Guideline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9500" y="6413500"/>
            <a:ext cx="1409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use const references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the function does not need to modify the object. This provides both efficiency (no copy) and safety (compiler enforces read-only access).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output parameters or functions that must modify the object, use a non-const reference. Avoid pass-by-value for large objects to prevent performance overhead from copying.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" name="Text 13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Returning Objects from Functions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 by Value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96850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local object is created inside the function. A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copy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returned to the caller — the copy constructor is invoked.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compilers use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Value Optimization (RVO)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eliminate unnecessary copies when possible.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01000" y="1524000"/>
            <a:ext cx="7493000" cy="27305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8255000" y="1714500"/>
            <a:ext cx="6985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Returns a copy of the local object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Rectangle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createSquare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side)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Rectangle r(side, side);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copy constructor called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Usage: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Rectangle sq = createSquare(5);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57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 by Reference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01650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Returns an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alias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an existing object.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return a reference to a local variable — it becomes a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dangling reference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after the function exits.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 to return references to objects passed as parameters or to class member variables.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01000" y="4572000"/>
            <a:ext cx="7493000" cy="27305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8255000" y="4762500"/>
            <a:ext cx="6985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DANGEROUS — dangling reference!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Rectangle&amp; 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badFunc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Rectangle r(5, 5);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r; 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 destroyed on exit!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SAFE — parameter persists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Rectangle&amp; 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getLarger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(Rectangle&amp; a, Rectangle&amp; b) {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(a.area() &gt; b.area()) ? a : b;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7620000"/>
            <a:ext cx="63500" cy="6985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14" name="Shape 12"/>
          <p:cNvSpPr/>
          <p:nvPr/>
        </p:nvSpPr>
        <p:spPr>
          <a:xfrm>
            <a:off x="825500" y="7620000"/>
            <a:ext cx="14668500" cy="698500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7772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6" name="Text 14"/>
          <p:cNvSpPr/>
          <p:nvPr/>
        </p:nvSpPr>
        <p:spPr>
          <a:xfrm>
            <a:off x="1460500" y="76200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Warning: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Returning references to local variables is a common source of undefined behavior bugs. Always ensure the referenced object outlives the function call.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Text 16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Example — Objects in Functions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98600"/>
            <a:ext cx="14732000" cy="4572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25600"/>
            <a:ext cx="14224000" cy="441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Rectangle {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length, width;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Rectangle(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l, 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w) : length(l), width(w) {}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getArea() 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length * width; }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scale(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f) { length *= f; width *= f; }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Example 1: Pass by value (display only)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display(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Rectangle&amp; r) { cout &lt;&lt; r.getArea() &lt;&lt; endl; }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Example 2: Pass by reference (modify original)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enlarge(Rectangle&amp; r, 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factor) { r.scale(factor); }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Example 3: Return object by value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Rectangle makeSquare(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side) { 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Rectangle(side, side); 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6096000"/>
            <a:ext cx="14732000" cy="2349500"/>
          </a:xfrm>
          <a:prstGeom prst="roundRect">
            <a:avLst>
              <a:gd name="adj" fmla="val 5000"/>
            </a:avLst>
          </a:prstGeom>
          <a:solidFill>
            <a:srgbClr val="E6F3F3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6096000"/>
            <a:ext cx="63500" cy="2349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Shape 7"/>
          <p:cNvSpPr/>
          <p:nvPr/>
        </p:nvSpPr>
        <p:spPr>
          <a:xfrm>
            <a:off x="1120775" y="6286500"/>
            <a:ext cx="247650" cy="330200"/>
          </a:xfrm>
          <a:custGeom>
            <a:avLst/>
            <a:gdLst/>
            <a:ahLst/>
            <a:cxnLst/>
            <a:rect l="l" t="t" r="r" b="b"/>
            <a:pathLst>
              <a:path w="247650" h="330200">
                <a:moveTo>
                  <a:pt x="188898" y="247650"/>
                </a:moveTo>
                <a:cubicBezTo>
                  <a:pt x="193606" y="233268"/>
                  <a:pt x="203021" y="220241"/>
                  <a:pt x="213663" y="209019"/>
                </a:cubicBezTo>
                <a:cubicBezTo>
                  <a:pt x="234752" y="186834"/>
                  <a:pt x="247650" y="156845"/>
                  <a:pt x="247650" y="123825"/>
                </a:cubicBezTo>
                <a:cubicBezTo>
                  <a:pt x="247650" y="55463"/>
                  <a:pt x="192187" y="0"/>
                  <a:pt x="123825" y="0"/>
                </a:cubicBezTo>
                <a:cubicBezTo>
                  <a:pt x="55463" y="0"/>
                  <a:pt x="0" y="55463"/>
                  <a:pt x="0" y="123825"/>
                </a:cubicBezTo>
                <a:cubicBezTo>
                  <a:pt x="0" y="156845"/>
                  <a:pt x="12898" y="186834"/>
                  <a:pt x="33987" y="209019"/>
                </a:cubicBezTo>
                <a:cubicBezTo>
                  <a:pt x="44629" y="220241"/>
                  <a:pt x="54109" y="233268"/>
                  <a:pt x="58752" y="247650"/>
                </a:cubicBezTo>
                <a:lnTo>
                  <a:pt x="188833" y="247650"/>
                </a:lnTo>
                <a:close/>
                <a:moveTo>
                  <a:pt x="185738" y="278606"/>
                </a:moveTo>
                <a:lnTo>
                  <a:pt x="61912" y="278606"/>
                </a:lnTo>
                <a:lnTo>
                  <a:pt x="61912" y="288925"/>
                </a:lnTo>
                <a:cubicBezTo>
                  <a:pt x="61912" y="317431"/>
                  <a:pt x="85001" y="340519"/>
                  <a:pt x="113506" y="340519"/>
                </a:cubicBezTo>
                <a:lnTo>
                  <a:pt x="134144" y="340519"/>
                </a:lnTo>
                <a:cubicBezTo>
                  <a:pt x="162649" y="340519"/>
                  <a:pt x="185738" y="317431"/>
                  <a:pt x="185738" y="288925"/>
                </a:cubicBezTo>
                <a:lnTo>
                  <a:pt x="185738" y="278606"/>
                </a:lnTo>
                <a:close/>
                <a:moveTo>
                  <a:pt x="118666" y="72231"/>
                </a:moveTo>
                <a:cubicBezTo>
                  <a:pt x="92998" y="72231"/>
                  <a:pt x="72231" y="92998"/>
                  <a:pt x="72231" y="118666"/>
                </a:cubicBezTo>
                <a:cubicBezTo>
                  <a:pt x="72231" y="127243"/>
                  <a:pt x="65331" y="134144"/>
                  <a:pt x="56753" y="134144"/>
                </a:cubicBezTo>
                <a:cubicBezTo>
                  <a:pt x="48176" y="134144"/>
                  <a:pt x="41275" y="127243"/>
                  <a:pt x="41275" y="118666"/>
                </a:cubicBezTo>
                <a:cubicBezTo>
                  <a:pt x="41275" y="75907"/>
                  <a:pt x="75907" y="41275"/>
                  <a:pt x="118666" y="41275"/>
                </a:cubicBezTo>
                <a:cubicBezTo>
                  <a:pt x="127243" y="41275"/>
                  <a:pt x="134144" y="48176"/>
                  <a:pt x="134144" y="56753"/>
                </a:cubicBezTo>
                <a:cubicBezTo>
                  <a:pt x="134144" y="65331"/>
                  <a:pt x="127243" y="72231"/>
                  <a:pt x="118666" y="72231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1524000" y="6286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9500" y="6731000"/>
            <a:ext cx="14097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the passing mechanism based on your needs: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 reference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read-only operations on large objects (most common case)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non-const reference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the function must modify the original object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 by value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only for small objects where copying is cheap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Text 11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pc2sxsucaenw/mnt/agents/output/oop-constructors/images/3_Dark_coding_aesthetic_Images_Free.png">    </p:cNvPr>
          <p:cNvPicPr>
            <a:picLocks noChangeAspect="1"/>
          </p:cNvPicPr>
          <p:nvPr/>
        </p:nvPicPr>
        <p:blipFill>
          <a:blip r:embed="rId1"/>
          <a:srcRect l="30" r="3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A1A2E">
              <a:alpha val="9098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016000"/>
            <a:ext cx="5080000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dirty="0">
                <a:solidFill>
                  <a:srgbClr val="FFFFFF">
                    <a:alpha val="6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DEFINING CONSTRUCTORS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7625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 member functions that initialize objects — the foundation of object creation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843000" y="3937000"/>
            <a:ext cx="1270000" cy="1016000"/>
          </a:xfrm>
          <a:custGeom>
            <a:avLst/>
            <a:gdLst/>
            <a:ahLst/>
            <a:cxnLst/>
            <a:rect l="l" t="t" r="r" b="b"/>
            <a:pathLst>
              <a:path w="1270000" h="1016000">
                <a:moveTo>
                  <a:pt x="825302" y="417711"/>
                </a:moveTo>
                <a:cubicBezTo>
                  <a:pt x="849511" y="411163"/>
                  <a:pt x="874911" y="422672"/>
                  <a:pt x="885825" y="445095"/>
                </a:cubicBezTo>
                <a:lnTo>
                  <a:pt x="922734" y="519708"/>
                </a:lnTo>
                <a:cubicBezTo>
                  <a:pt x="943173" y="522486"/>
                  <a:pt x="963216" y="528042"/>
                  <a:pt x="982067" y="535781"/>
                </a:cubicBezTo>
                <a:lnTo>
                  <a:pt x="1051520" y="489545"/>
                </a:lnTo>
                <a:cubicBezTo>
                  <a:pt x="1072356" y="475655"/>
                  <a:pt x="1099939" y="478433"/>
                  <a:pt x="1117600" y="496094"/>
                </a:cubicBezTo>
                <a:lnTo>
                  <a:pt x="1155700" y="534194"/>
                </a:lnTo>
                <a:cubicBezTo>
                  <a:pt x="1173361" y="551855"/>
                  <a:pt x="1176139" y="579636"/>
                  <a:pt x="1162248" y="600273"/>
                </a:cubicBezTo>
                <a:lnTo>
                  <a:pt x="1116013" y="669528"/>
                </a:lnTo>
                <a:cubicBezTo>
                  <a:pt x="1119783" y="678855"/>
                  <a:pt x="1123156" y="688578"/>
                  <a:pt x="1125934" y="698698"/>
                </a:cubicBezTo>
                <a:cubicBezTo>
                  <a:pt x="1128713" y="708819"/>
                  <a:pt x="1130498" y="718741"/>
                  <a:pt x="1131888" y="728861"/>
                </a:cubicBezTo>
                <a:lnTo>
                  <a:pt x="1206698" y="765770"/>
                </a:lnTo>
                <a:cubicBezTo>
                  <a:pt x="1229122" y="776883"/>
                  <a:pt x="1240631" y="802283"/>
                  <a:pt x="1234083" y="826294"/>
                </a:cubicBezTo>
                <a:lnTo>
                  <a:pt x="1220192" y="878284"/>
                </a:lnTo>
                <a:cubicBezTo>
                  <a:pt x="1213644" y="902295"/>
                  <a:pt x="1191220" y="918567"/>
                  <a:pt x="1166217" y="916980"/>
                </a:cubicBezTo>
                <a:lnTo>
                  <a:pt x="1082873" y="911622"/>
                </a:lnTo>
                <a:cubicBezTo>
                  <a:pt x="1070372" y="927695"/>
                  <a:pt x="1055886" y="942578"/>
                  <a:pt x="1039416" y="955278"/>
                </a:cubicBezTo>
                <a:lnTo>
                  <a:pt x="1044773" y="1038423"/>
                </a:lnTo>
                <a:cubicBezTo>
                  <a:pt x="1046361" y="1063427"/>
                  <a:pt x="1030089" y="1086048"/>
                  <a:pt x="1006078" y="1092398"/>
                </a:cubicBezTo>
                <a:lnTo>
                  <a:pt x="954088" y="1106289"/>
                </a:lnTo>
                <a:cubicBezTo>
                  <a:pt x="929878" y="1112838"/>
                  <a:pt x="904677" y="1101328"/>
                  <a:pt x="893564" y="1078905"/>
                </a:cubicBezTo>
                <a:lnTo>
                  <a:pt x="856655" y="1004292"/>
                </a:lnTo>
                <a:cubicBezTo>
                  <a:pt x="836216" y="1001514"/>
                  <a:pt x="816173" y="995958"/>
                  <a:pt x="797322" y="988219"/>
                </a:cubicBezTo>
                <a:lnTo>
                  <a:pt x="727869" y="1034455"/>
                </a:lnTo>
                <a:cubicBezTo>
                  <a:pt x="707033" y="1048345"/>
                  <a:pt x="679450" y="1045567"/>
                  <a:pt x="661789" y="1027906"/>
                </a:cubicBezTo>
                <a:lnTo>
                  <a:pt x="623689" y="989806"/>
                </a:lnTo>
                <a:cubicBezTo>
                  <a:pt x="606028" y="972145"/>
                  <a:pt x="603250" y="944563"/>
                  <a:pt x="617141" y="923727"/>
                </a:cubicBezTo>
                <a:lnTo>
                  <a:pt x="663377" y="854273"/>
                </a:lnTo>
                <a:cubicBezTo>
                  <a:pt x="659606" y="844947"/>
                  <a:pt x="656233" y="835223"/>
                  <a:pt x="653455" y="825103"/>
                </a:cubicBezTo>
                <a:cubicBezTo>
                  <a:pt x="650677" y="814983"/>
                  <a:pt x="648891" y="804863"/>
                  <a:pt x="647502" y="794941"/>
                </a:cubicBezTo>
                <a:lnTo>
                  <a:pt x="572691" y="758031"/>
                </a:lnTo>
                <a:cubicBezTo>
                  <a:pt x="550267" y="746919"/>
                  <a:pt x="538956" y="721519"/>
                  <a:pt x="545306" y="697508"/>
                </a:cubicBezTo>
                <a:lnTo>
                  <a:pt x="559197" y="645517"/>
                </a:lnTo>
                <a:cubicBezTo>
                  <a:pt x="565745" y="621506"/>
                  <a:pt x="588169" y="605234"/>
                  <a:pt x="613172" y="606822"/>
                </a:cubicBezTo>
                <a:lnTo>
                  <a:pt x="696317" y="612180"/>
                </a:lnTo>
                <a:cubicBezTo>
                  <a:pt x="708819" y="596106"/>
                  <a:pt x="723305" y="581223"/>
                  <a:pt x="739775" y="568523"/>
                </a:cubicBezTo>
                <a:lnTo>
                  <a:pt x="734417" y="485577"/>
                </a:lnTo>
                <a:cubicBezTo>
                  <a:pt x="732830" y="460573"/>
                  <a:pt x="749102" y="437952"/>
                  <a:pt x="773113" y="431602"/>
                </a:cubicBezTo>
                <a:lnTo>
                  <a:pt x="825103" y="417711"/>
                </a:lnTo>
                <a:close/>
                <a:moveTo>
                  <a:pt x="889794" y="674688"/>
                </a:moveTo>
                <a:cubicBezTo>
                  <a:pt x="841605" y="674742"/>
                  <a:pt x="802526" y="713910"/>
                  <a:pt x="802580" y="762099"/>
                </a:cubicBezTo>
                <a:cubicBezTo>
                  <a:pt x="802635" y="810288"/>
                  <a:pt x="841803" y="849367"/>
                  <a:pt x="889992" y="849313"/>
                </a:cubicBezTo>
                <a:cubicBezTo>
                  <a:pt x="938181" y="849258"/>
                  <a:pt x="977260" y="810090"/>
                  <a:pt x="977205" y="761901"/>
                </a:cubicBezTo>
                <a:cubicBezTo>
                  <a:pt x="977151" y="713712"/>
                  <a:pt x="937983" y="674633"/>
                  <a:pt x="889794" y="674688"/>
                </a:cubicBezTo>
                <a:close/>
                <a:moveTo>
                  <a:pt x="446286" y="-90289"/>
                </a:moveTo>
                <a:lnTo>
                  <a:pt x="498277" y="-76398"/>
                </a:lnTo>
                <a:cubicBezTo>
                  <a:pt x="522288" y="-69850"/>
                  <a:pt x="538559" y="-47228"/>
                  <a:pt x="536972" y="-22423"/>
                </a:cubicBezTo>
                <a:lnTo>
                  <a:pt x="531614" y="60523"/>
                </a:lnTo>
                <a:cubicBezTo>
                  <a:pt x="548084" y="73223"/>
                  <a:pt x="562570" y="87908"/>
                  <a:pt x="575072" y="104180"/>
                </a:cubicBezTo>
                <a:lnTo>
                  <a:pt x="658416" y="98822"/>
                </a:lnTo>
                <a:cubicBezTo>
                  <a:pt x="683220" y="97234"/>
                  <a:pt x="705842" y="113506"/>
                  <a:pt x="712391" y="137517"/>
                </a:cubicBezTo>
                <a:lnTo>
                  <a:pt x="726281" y="189508"/>
                </a:lnTo>
                <a:cubicBezTo>
                  <a:pt x="732631" y="213519"/>
                  <a:pt x="721320" y="238919"/>
                  <a:pt x="698897" y="250031"/>
                </a:cubicBezTo>
                <a:lnTo>
                  <a:pt x="624086" y="286941"/>
                </a:lnTo>
                <a:cubicBezTo>
                  <a:pt x="622697" y="297061"/>
                  <a:pt x="620713" y="307181"/>
                  <a:pt x="618133" y="317103"/>
                </a:cubicBezTo>
                <a:cubicBezTo>
                  <a:pt x="615553" y="327025"/>
                  <a:pt x="611981" y="336947"/>
                  <a:pt x="608211" y="346273"/>
                </a:cubicBezTo>
                <a:lnTo>
                  <a:pt x="654447" y="415727"/>
                </a:lnTo>
                <a:cubicBezTo>
                  <a:pt x="668338" y="436563"/>
                  <a:pt x="665559" y="464145"/>
                  <a:pt x="647898" y="481806"/>
                </a:cubicBezTo>
                <a:lnTo>
                  <a:pt x="609798" y="519906"/>
                </a:lnTo>
                <a:cubicBezTo>
                  <a:pt x="592138" y="537567"/>
                  <a:pt x="564555" y="540345"/>
                  <a:pt x="543719" y="526455"/>
                </a:cubicBezTo>
                <a:lnTo>
                  <a:pt x="474266" y="480219"/>
                </a:lnTo>
                <a:cubicBezTo>
                  <a:pt x="455414" y="487958"/>
                  <a:pt x="435372" y="493514"/>
                  <a:pt x="414933" y="496292"/>
                </a:cubicBezTo>
                <a:lnTo>
                  <a:pt x="378023" y="570905"/>
                </a:lnTo>
                <a:cubicBezTo>
                  <a:pt x="366911" y="593328"/>
                  <a:pt x="341511" y="604639"/>
                  <a:pt x="317500" y="598289"/>
                </a:cubicBezTo>
                <a:lnTo>
                  <a:pt x="265509" y="584398"/>
                </a:lnTo>
                <a:cubicBezTo>
                  <a:pt x="241300" y="577850"/>
                  <a:pt x="225227" y="555228"/>
                  <a:pt x="226814" y="530423"/>
                </a:cubicBezTo>
                <a:lnTo>
                  <a:pt x="232172" y="447278"/>
                </a:lnTo>
                <a:cubicBezTo>
                  <a:pt x="215702" y="434578"/>
                  <a:pt x="201216" y="419894"/>
                  <a:pt x="188714" y="403622"/>
                </a:cubicBezTo>
                <a:lnTo>
                  <a:pt x="105370" y="408980"/>
                </a:lnTo>
                <a:cubicBezTo>
                  <a:pt x="80566" y="410567"/>
                  <a:pt x="57944" y="394295"/>
                  <a:pt x="51395" y="370284"/>
                </a:cubicBezTo>
                <a:lnTo>
                  <a:pt x="37505" y="318294"/>
                </a:lnTo>
                <a:cubicBezTo>
                  <a:pt x="31155" y="294283"/>
                  <a:pt x="42466" y="268883"/>
                  <a:pt x="64889" y="257770"/>
                </a:cubicBezTo>
                <a:lnTo>
                  <a:pt x="139700" y="220861"/>
                </a:lnTo>
                <a:cubicBezTo>
                  <a:pt x="141089" y="210741"/>
                  <a:pt x="143073" y="200819"/>
                  <a:pt x="145653" y="190698"/>
                </a:cubicBezTo>
                <a:cubicBezTo>
                  <a:pt x="148431" y="180578"/>
                  <a:pt x="151606" y="170855"/>
                  <a:pt x="155575" y="161528"/>
                </a:cubicBezTo>
                <a:lnTo>
                  <a:pt x="109339" y="92273"/>
                </a:lnTo>
                <a:cubicBezTo>
                  <a:pt x="95448" y="71438"/>
                  <a:pt x="98227" y="43855"/>
                  <a:pt x="115888" y="26194"/>
                </a:cubicBezTo>
                <a:lnTo>
                  <a:pt x="153988" y="-11906"/>
                </a:lnTo>
                <a:cubicBezTo>
                  <a:pt x="171648" y="-29567"/>
                  <a:pt x="199231" y="-32345"/>
                  <a:pt x="220067" y="-18455"/>
                </a:cubicBezTo>
                <a:lnTo>
                  <a:pt x="289520" y="27781"/>
                </a:lnTo>
                <a:cubicBezTo>
                  <a:pt x="308372" y="20042"/>
                  <a:pt x="328414" y="14486"/>
                  <a:pt x="348853" y="11708"/>
                </a:cubicBezTo>
                <a:lnTo>
                  <a:pt x="385762" y="-62905"/>
                </a:lnTo>
                <a:cubicBezTo>
                  <a:pt x="396875" y="-85328"/>
                  <a:pt x="422077" y="-96639"/>
                  <a:pt x="446286" y="-90289"/>
                </a:cubicBezTo>
                <a:close/>
                <a:moveTo>
                  <a:pt x="381794" y="166688"/>
                </a:moveTo>
                <a:cubicBezTo>
                  <a:pt x="333605" y="166688"/>
                  <a:pt x="294481" y="205811"/>
                  <a:pt x="294481" y="254000"/>
                </a:cubicBezTo>
                <a:cubicBezTo>
                  <a:pt x="294481" y="302189"/>
                  <a:pt x="333605" y="341313"/>
                  <a:pt x="381794" y="341313"/>
                </a:cubicBezTo>
                <a:cubicBezTo>
                  <a:pt x="429983" y="341313"/>
                  <a:pt x="469106" y="302189"/>
                  <a:pt x="469106" y="254000"/>
                </a:cubicBezTo>
                <a:cubicBezTo>
                  <a:pt x="469106" y="205811"/>
                  <a:pt x="429983" y="166688"/>
                  <a:pt x="381794" y="166688"/>
                </a:cubicBezTo>
                <a:close/>
              </a:path>
            </a:pathLst>
          </a:custGeom>
          <a:solidFill>
            <a:srgbClr val="0D7377">
              <a:alpha val="18824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 Constructor?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98600"/>
            <a:ext cx="14732000" cy="1397000"/>
          </a:xfrm>
          <a:prstGeom prst="roundRect">
            <a:avLst>
              <a:gd name="adj" fmla="val 5000"/>
            </a:avLst>
          </a:prstGeom>
          <a:solidFill>
            <a:srgbClr val="E6F3F3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98600"/>
            <a:ext cx="63500" cy="1397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1625600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constructor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special member function that is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automatically invoked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an object is created. Its primary purpose is to initialize the object's data members to valid initial states.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175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683000"/>
            <a:ext cx="3429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71550" y="38735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133350" y="88900"/>
                </a:moveTo>
                <a:cubicBezTo>
                  <a:pt x="133350" y="76607"/>
                  <a:pt x="143282" y="66675"/>
                  <a:pt x="155575" y="66675"/>
                </a:cubicBezTo>
                <a:cubicBezTo>
                  <a:pt x="167868" y="66675"/>
                  <a:pt x="177800" y="76607"/>
                  <a:pt x="177800" y="88900"/>
                </a:cubicBezTo>
                <a:lnTo>
                  <a:pt x="177800" y="94317"/>
                </a:lnTo>
                <a:cubicBezTo>
                  <a:pt x="177800" y="113556"/>
                  <a:pt x="176133" y="132725"/>
                  <a:pt x="172869" y="151616"/>
                </a:cubicBezTo>
                <a:lnTo>
                  <a:pt x="114250" y="169188"/>
                </a:lnTo>
                <a:cubicBezTo>
                  <a:pt x="86052" y="177661"/>
                  <a:pt x="66744" y="203637"/>
                  <a:pt x="66744" y="233085"/>
                </a:cubicBezTo>
                <a:lnTo>
                  <a:pt x="66744" y="255587"/>
                </a:lnTo>
                <a:lnTo>
                  <a:pt x="16738" y="255587"/>
                </a:lnTo>
                <a:cubicBezTo>
                  <a:pt x="7501" y="255587"/>
                  <a:pt x="69" y="263019"/>
                  <a:pt x="69" y="272256"/>
                </a:cubicBezTo>
                <a:cubicBezTo>
                  <a:pt x="69" y="281494"/>
                  <a:pt x="7501" y="288925"/>
                  <a:pt x="16738" y="288925"/>
                </a:cubicBezTo>
                <a:lnTo>
                  <a:pt x="67092" y="288925"/>
                </a:lnTo>
                <a:cubicBezTo>
                  <a:pt x="70009" y="313928"/>
                  <a:pt x="91261" y="333375"/>
                  <a:pt x="117098" y="333375"/>
                </a:cubicBezTo>
                <a:cubicBezTo>
                  <a:pt x="135156" y="333375"/>
                  <a:pt x="151825" y="323721"/>
                  <a:pt x="160784" y="308025"/>
                </a:cubicBezTo>
                <a:lnTo>
                  <a:pt x="170438" y="291148"/>
                </a:lnTo>
                <a:cubicBezTo>
                  <a:pt x="189051" y="258505"/>
                  <a:pt x="202734" y="223292"/>
                  <a:pt x="210999" y="186621"/>
                </a:cubicBezTo>
                <a:lnTo>
                  <a:pt x="276562" y="166965"/>
                </a:lnTo>
                <a:lnTo>
                  <a:pt x="267881" y="193010"/>
                </a:lnTo>
                <a:cubicBezTo>
                  <a:pt x="265589" y="199817"/>
                  <a:pt x="266769" y="207248"/>
                  <a:pt x="270937" y="213013"/>
                </a:cubicBezTo>
                <a:cubicBezTo>
                  <a:pt x="275104" y="218777"/>
                  <a:pt x="281771" y="222250"/>
                  <a:pt x="288925" y="222250"/>
                </a:cubicBezTo>
                <a:lnTo>
                  <a:pt x="377825" y="222250"/>
                </a:lnTo>
                <a:cubicBezTo>
                  <a:pt x="390118" y="222250"/>
                  <a:pt x="400050" y="212318"/>
                  <a:pt x="400050" y="200025"/>
                </a:cubicBezTo>
                <a:cubicBezTo>
                  <a:pt x="400050" y="187732"/>
                  <a:pt x="390118" y="177800"/>
                  <a:pt x="377825" y="177800"/>
                </a:cubicBezTo>
                <a:lnTo>
                  <a:pt x="319762" y="177800"/>
                </a:lnTo>
                <a:lnTo>
                  <a:pt x="332264" y="140365"/>
                </a:lnTo>
                <a:cubicBezTo>
                  <a:pt x="334903" y="132517"/>
                  <a:pt x="332889" y="123835"/>
                  <a:pt x="327124" y="117862"/>
                </a:cubicBezTo>
                <a:cubicBezTo>
                  <a:pt x="321360" y="111889"/>
                  <a:pt x="312747" y="109666"/>
                  <a:pt x="304760" y="112028"/>
                </a:cubicBezTo>
                <a:lnTo>
                  <a:pt x="219750" y="137587"/>
                </a:lnTo>
                <a:cubicBezTo>
                  <a:pt x="221417" y="123210"/>
                  <a:pt x="222250" y="108833"/>
                  <a:pt x="222250" y="94317"/>
                </a:cubicBezTo>
                <a:lnTo>
                  <a:pt x="222250" y="88900"/>
                </a:lnTo>
                <a:cubicBezTo>
                  <a:pt x="222250" y="52090"/>
                  <a:pt x="192385" y="22225"/>
                  <a:pt x="155575" y="22225"/>
                </a:cubicBezTo>
                <a:cubicBezTo>
                  <a:pt x="118765" y="22225"/>
                  <a:pt x="88900" y="52090"/>
                  <a:pt x="88900" y="88900"/>
                </a:cubicBezTo>
                <a:lnTo>
                  <a:pt x="88900" y="111125"/>
                </a:lnTo>
                <a:cubicBezTo>
                  <a:pt x="88900" y="123418"/>
                  <a:pt x="98832" y="133350"/>
                  <a:pt x="111125" y="133350"/>
                </a:cubicBezTo>
                <a:cubicBezTo>
                  <a:pt x="123418" y="133350"/>
                  <a:pt x="133350" y="123418"/>
                  <a:pt x="133350" y="111125"/>
                </a:cubicBezTo>
                <a:lnTo>
                  <a:pt x="133350" y="88900"/>
                </a:lnTo>
                <a:close/>
                <a:moveTo>
                  <a:pt x="126960" y="211832"/>
                </a:moveTo>
                <a:lnTo>
                  <a:pt x="160992" y="201622"/>
                </a:lnTo>
                <a:cubicBezTo>
                  <a:pt x="153769" y="225098"/>
                  <a:pt x="143976" y="247739"/>
                  <a:pt x="131753" y="269131"/>
                </a:cubicBezTo>
                <a:lnTo>
                  <a:pt x="122099" y="286008"/>
                </a:lnTo>
                <a:cubicBezTo>
                  <a:pt x="121057" y="287814"/>
                  <a:pt x="119112" y="288994"/>
                  <a:pt x="116959" y="288994"/>
                </a:cubicBezTo>
                <a:cubicBezTo>
                  <a:pt x="113695" y="288994"/>
                  <a:pt x="111056" y="286355"/>
                  <a:pt x="111056" y="283091"/>
                </a:cubicBezTo>
                <a:lnTo>
                  <a:pt x="111056" y="233154"/>
                </a:lnTo>
                <a:cubicBezTo>
                  <a:pt x="111056" y="223361"/>
                  <a:pt x="117515" y="214680"/>
                  <a:pt x="126891" y="211832"/>
                </a:cubicBezTo>
                <a:close/>
                <a:moveTo>
                  <a:pt x="427831" y="288925"/>
                </a:moveTo>
                <a:cubicBezTo>
                  <a:pt x="437069" y="288925"/>
                  <a:pt x="444500" y="281494"/>
                  <a:pt x="444500" y="272256"/>
                </a:cubicBezTo>
                <a:cubicBezTo>
                  <a:pt x="444500" y="263019"/>
                  <a:pt x="437069" y="255587"/>
                  <a:pt x="427831" y="255587"/>
                </a:cubicBezTo>
                <a:lnTo>
                  <a:pt x="224403" y="255587"/>
                </a:lnTo>
                <a:cubicBezTo>
                  <a:pt x="219889" y="266908"/>
                  <a:pt x="214888" y="278021"/>
                  <a:pt x="209401" y="288925"/>
                </a:cubicBezTo>
                <a:lnTo>
                  <a:pt x="427831" y="288925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1460500" y="3873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Same Name as Class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4318000"/>
            <a:ext cx="292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constructor's name must exactly match the class name.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08500" y="3683000"/>
            <a:ext cx="3429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62500" y="3873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55032" y="286494"/>
                </a:moveTo>
                <a:lnTo>
                  <a:pt x="69106" y="100568"/>
                </a:lnTo>
                <a:cubicBezTo>
                  <a:pt x="53548" y="122376"/>
                  <a:pt x="44450" y="149046"/>
                  <a:pt x="44450" y="177800"/>
                </a:cubicBezTo>
                <a:cubicBezTo>
                  <a:pt x="44450" y="251420"/>
                  <a:pt x="104180" y="311150"/>
                  <a:pt x="177800" y="311150"/>
                </a:cubicBezTo>
                <a:cubicBezTo>
                  <a:pt x="206623" y="311150"/>
                  <a:pt x="233293" y="302052"/>
                  <a:pt x="255032" y="286494"/>
                </a:cubicBezTo>
                <a:close/>
                <a:moveTo>
                  <a:pt x="286494" y="255032"/>
                </a:moveTo>
                <a:cubicBezTo>
                  <a:pt x="302052" y="233224"/>
                  <a:pt x="311150" y="206554"/>
                  <a:pt x="311150" y="177800"/>
                </a:cubicBezTo>
                <a:cubicBezTo>
                  <a:pt x="311150" y="104180"/>
                  <a:pt x="251420" y="44450"/>
                  <a:pt x="177800" y="44450"/>
                </a:cubicBezTo>
                <a:cubicBezTo>
                  <a:pt x="148977" y="44450"/>
                  <a:pt x="122307" y="53548"/>
                  <a:pt x="100568" y="69106"/>
                </a:cubicBezTo>
                <a:lnTo>
                  <a:pt x="286494" y="255032"/>
                </a:ln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5207000" y="3873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Return Type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62500" y="4318000"/>
            <a:ext cx="292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even void. The constructor returns the object itself implicitly.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55000" y="3683000"/>
            <a:ext cx="3429000" cy="1841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31225" y="3873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8953500" y="3873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Auto-Called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9000" y="4318000"/>
            <a:ext cx="292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Automatically invoked when an object is instantiated. Cannot be called explicitly.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001500" y="3683000"/>
            <a:ext cx="3492500" cy="1841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2255500" y="3873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9932" y="44450"/>
                  <a:pt x="0" y="54382"/>
                  <a:pt x="0" y="66675"/>
                </a:cubicBezTo>
                <a:cubicBezTo>
                  <a:pt x="0" y="78968"/>
                  <a:pt x="9932" y="88900"/>
                  <a:pt x="22225" y="88900"/>
                </a:cubicBezTo>
                <a:lnTo>
                  <a:pt x="82441" y="88900"/>
                </a:lnTo>
                <a:cubicBezTo>
                  <a:pt x="90984" y="108555"/>
                  <a:pt x="110569" y="122238"/>
                  <a:pt x="133350" y="122238"/>
                </a:cubicBezTo>
                <a:cubicBezTo>
                  <a:pt x="156131" y="122238"/>
                  <a:pt x="175716" y="108555"/>
                  <a:pt x="184259" y="88900"/>
                </a:cubicBezTo>
                <a:lnTo>
                  <a:pt x="333375" y="88900"/>
                </a:lnTo>
                <a:cubicBezTo>
                  <a:pt x="345668" y="88900"/>
                  <a:pt x="355600" y="78968"/>
                  <a:pt x="355600" y="66675"/>
                </a:cubicBezTo>
                <a:cubicBezTo>
                  <a:pt x="355600" y="54382"/>
                  <a:pt x="345668" y="44450"/>
                  <a:pt x="333375" y="44450"/>
                </a:cubicBezTo>
                <a:lnTo>
                  <a:pt x="184259" y="44450"/>
                </a:lnTo>
                <a:cubicBezTo>
                  <a:pt x="175716" y="24795"/>
                  <a:pt x="156131" y="11112"/>
                  <a:pt x="133350" y="11112"/>
                </a:cubicBezTo>
                <a:cubicBezTo>
                  <a:pt x="110569" y="11112"/>
                  <a:pt x="90984" y="24795"/>
                  <a:pt x="82441" y="44450"/>
                </a:cubicBezTo>
                <a:lnTo>
                  <a:pt x="22225" y="44450"/>
                </a:lnTo>
                <a:close/>
                <a:moveTo>
                  <a:pt x="22225" y="155575"/>
                </a:move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193566" y="200025"/>
                </a:lnTo>
                <a:cubicBezTo>
                  <a:pt x="202109" y="219680"/>
                  <a:pt x="221694" y="233363"/>
                  <a:pt x="244475" y="233363"/>
                </a:cubicBezTo>
                <a:cubicBezTo>
                  <a:pt x="267256" y="233363"/>
                  <a:pt x="286841" y="219680"/>
                  <a:pt x="295384" y="200025"/>
                </a:cubicBezTo>
                <a:lnTo>
                  <a:pt x="333375" y="200025"/>
                </a:lnTo>
                <a:cubicBezTo>
                  <a:pt x="345668" y="200025"/>
                  <a:pt x="355600" y="190093"/>
                  <a:pt x="355600" y="177800"/>
                </a:cubicBezTo>
                <a:cubicBezTo>
                  <a:pt x="355600" y="165507"/>
                  <a:pt x="345668" y="155575"/>
                  <a:pt x="333375" y="155575"/>
                </a:cubicBezTo>
                <a:lnTo>
                  <a:pt x="295384" y="155575"/>
                </a:lnTo>
                <a:cubicBezTo>
                  <a:pt x="286841" y="135920"/>
                  <a:pt x="267256" y="122238"/>
                  <a:pt x="244475" y="122238"/>
                </a:cubicBezTo>
                <a:cubicBezTo>
                  <a:pt x="221694" y="122238"/>
                  <a:pt x="202109" y="135920"/>
                  <a:pt x="193566" y="155575"/>
                </a:cubicBezTo>
                <a:lnTo>
                  <a:pt x="22225" y="155575"/>
                </a:lnTo>
                <a:close/>
                <a:moveTo>
                  <a:pt x="22225" y="266700"/>
                </a:moveTo>
                <a:cubicBezTo>
                  <a:pt x="9932" y="266700"/>
                  <a:pt x="0" y="276632"/>
                  <a:pt x="0" y="288925"/>
                </a:cubicBezTo>
                <a:cubicBezTo>
                  <a:pt x="0" y="301218"/>
                  <a:pt x="9932" y="311150"/>
                  <a:pt x="22225" y="311150"/>
                </a:cubicBezTo>
                <a:lnTo>
                  <a:pt x="60216" y="311150"/>
                </a:lnTo>
                <a:cubicBezTo>
                  <a:pt x="68759" y="330805"/>
                  <a:pt x="88344" y="344488"/>
                  <a:pt x="111125" y="344488"/>
                </a:cubicBezTo>
                <a:cubicBezTo>
                  <a:pt x="133906" y="344488"/>
                  <a:pt x="153491" y="330805"/>
                  <a:pt x="162034" y="311150"/>
                </a:cubicBez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ubicBezTo>
                  <a:pt x="355600" y="276632"/>
                  <a:pt x="345668" y="266700"/>
                  <a:pt x="333375" y="266700"/>
                </a:cubicBezTo>
                <a:lnTo>
                  <a:pt x="162034" y="266700"/>
                </a:lnTo>
                <a:cubicBezTo>
                  <a:pt x="153491" y="247045"/>
                  <a:pt x="133906" y="233363"/>
                  <a:pt x="111125" y="233363"/>
                </a:cubicBezTo>
                <a:cubicBezTo>
                  <a:pt x="88344" y="233363"/>
                  <a:pt x="68759" y="247045"/>
                  <a:pt x="60216" y="266700"/>
                </a:cubicBezTo>
                <a:lnTo>
                  <a:pt x="22225" y="26670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12700000" y="3873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 Have Parameters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255500" y="4318000"/>
            <a:ext cx="2984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Accepts zero or more parameters to customize initialization.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5778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Constructors Matter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6286500"/>
            <a:ext cx="1473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constructors, objects would contain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garbage values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leading to unpredictable behavior. Constructors ensure every object starts in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well-defined, usable state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are the foundation of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encapsulation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object controls its own initialization, preventing invalid states from the moment of creation. This is a core principle of Object Oriented Programming.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8" name="Text 26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 Characteristics &amp; Rules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7874000" cy="673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Name must exactly match the class name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Cannot specify a return type (not even void)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Cannot be called explicitly like regular functions — only during object creation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be declared inline, outside the class, or with default arguments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class can have multiple constructors (overloading)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no constructor is defined, the compiler provides a default constructor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be private (singleton pattern) or protected (inheritance)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Cannot be virtual, const, or static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0" y="1524000"/>
            <a:ext cx="6350000" cy="317500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0" y="1524000"/>
            <a:ext cx="63500" cy="31750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8" name="Shape 6"/>
          <p:cNvSpPr/>
          <p:nvPr/>
        </p:nvSpPr>
        <p:spPr>
          <a:xfrm>
            <a:off x="94615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0" y="171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 Restrictions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461500" y="2222500"/>
            <a:ext cx="5778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Unlike regular member functions, constructors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cannot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polymorphic construction is not supported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object is being initialized, not yet const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constructors belong to instances, not the class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0" y="5016500"/>
            <a:ext cx="6350000" cy="3556000"/>
          </a:xfrm>
          <a:prstGeom prst="roundRect">
            <a:avLst>
              <a:gd name="adj" fmla="val 6000"/>
            </a:avLst>
          </a:prstGeom>
          <a:solidFill>
            <a:srgbClr val="E6F3F3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0" y="5016500"/>
            <a:ext cx="63500" cy="3556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Shape 11"/>
          <p:cNvSpPr/>
          <p:nvPr/>
        </p:nvSpPr>
        <p:spPr>
          <a:xfrm>
            <a:off x="9461500" y="520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55575" y="111125"/>
                </a:moveTo>
                <a:cubicBezTo>
                  <a:pt x="155575" y="98859"/>
                  <a:pt x="165534" y="88900"/>
                  <a:pt x="177800" y="88900"/>
                </a:cubicBezTo>
                <a:cubicBezTo>
                  <a:pt x="190066" y="88900"/>
                  <a:pt x="200025" y="98859"/>
                  <a:pt x="200025" y="111125"/>
                </a:cubicBezTo>
                <a:cubicBezTo>
                  <a:pt x="200025" y="123391"/>
                  <a:pt x="190066" y="133350"/>
                  <a:pt x="177800" y="133350"/>
                </a:cubicBezTo>
                <a:cubicBezTo>
                  <a:pt x="165534" y="133350"/>
                  <a:pt x="155575" y="123391"/>
                  <a:pt x="155575" y="111125"/>
                </a:cubicBezTo>
                <a:close/>
                <a:moveTo>
                  <a:pt x="150019" y="155575"/>
                </a:moveTo>
                <a:lnTo>
                  <a:pt x="183356" y="155575"/>
                </a:lnTo>
                <a:cubicBezTo>
                  <a:pt x="192594" y="155575"/>
                  <a:pt x="200025" y="163006"/>
                  <a:pt x="200025" y="172244"/>
                </a:cubicBezTo>
                <a:lnTo>
                  <a:pt x="200025" y="233363"/>
                </a:ln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50019" y="266700"/>
                </a:lnTo>
                <a:cubicBezTo>
                  <a:pt x="140781" y="266700"/>
                  <a:pt x="133350" y="259269"/>
                  <a:pt x="133350" y="250031"/>
                </a:cubicBezTo>
                <a:cubicBezTo>
                  <a:pt x="133350" y="240794"/>
                  <a:pt x="140781" y="233363"/>
                  <a:pt x="150019" y="233363"/>
                </a:cubicBezTo>
                <a:lnTo>
                  <a:pt x="166688" y="233363"/>
                </a:lnTo>
                <a:lnTo>
                  <a:pt x="166688" y="188913"/>
                </a:lnTo>
                <a:lnTo>
                  <a:pt x="150019" y="188913"/>
                </a:lnTo>
                <a:cubicBezTo>
                  <a:pt x="140781" y="188913"/>
                  <a:pt x="133350" y="181481"/>
                  <a:pt x="133350" y="172244"/>
                </a:cubicBezTo>
                <a:cubicBezTo>
                  <a:pt x="133350" y="163006"/>
                  <a:pt x="140781" y="155575"/>
                  <a:pt x="150019" y="155575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0" y="520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Compiler-Generated Defaults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61500" y="5715000"/>
            <a:ext cx="57785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you define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constructors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all, the compiler automatically generates: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 constructor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(parameterless)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copy constructor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copy assignment operator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destructor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Defining any constructor suppresses the default constructor generation.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5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Constructor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 constructor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takes no arguments (or all arguments have default values). Two types exist: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349500"/>
            <a:ext cx="7048500" cy="393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16000" y="2540000"/>
            <a:ext cx="2921000" cy="355600"/>
          </a:xfrm>
          <a:prstGeom prst="roundRect">
            <a:avLst>
              <a:gd name="adj" fmla="val 14000"/>
            </a:avLst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5400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COMPILER-PROVIDED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073400"/>
            <a:ext cx="6540500" cy="298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Automatically generated if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constructors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defined by the programmer.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Performs member-wise default initialization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Leaves primitive types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500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uninitialized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(garbage values!)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Calls default constructors for member objects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Risk: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Unpredictable initial values for primitive data members.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45500" y="2349500"/>
            <a:ext cx="7048500" cy="393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99500" y="2540000"/>
            <a:ext cx="2540000" cy="355600"/>
          </a:xfrm>
          <a:prstGeom prst="roundRect">
            <a:avLst>
              <a:gd name="adj" fmla="val 14000"/>
            </a:avLst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8699500" y="2540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USER-DEFINED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99500" y="3073400"/>
            <a:ext cx="6540500" cy="298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Explicitly defined by the programmer to set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meaningful initial values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Benefits: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Ensures predictable initialization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Sets sensible defaults for all members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Documents the intended initial state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Practice: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 define your own default constructor.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6604000"/>
            <a:ext cx="14732000" cy="19685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6756400"/>
            <a:ext cx="1422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 {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name;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Student() : name(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"Unknown"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), age(0) {}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User-defined default constructor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s1;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Calls default constructor: name="Unknown", age=0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5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Parameterized Constructor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constructor that accepts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or more arguments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customize object initialization.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Benefits: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objects with specific initial values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Eliminates separate setter calls after creation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Enforces valid state at construction time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be defined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inline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(inside class) or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outside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the scope resolution operator.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82000" y="1524000"/>
            <a:ext cx="7112000" cy="31750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0" y="1676400"/>
            <a:ext cx="6604000" cy="302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Inside class (inline)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 {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name; 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Student(string n, 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a)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name(n), age(a) {}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Outside class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Student::Student(string n, 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a) {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 = n; age = a;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5016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Usage &amp; Default Parameters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5461000"/>
            <a:ext cx="14732000" cy="279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16000" y="5651500"/>
            <a:ext cx="6858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Creating objects with parameters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s1(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"Alice"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20);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s2(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"Bob"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22);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With default parameter values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Student(string n=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"Unknown"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a=0);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s3;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"Unknown", 0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s4(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"Carol"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"Carol", 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2000" y="5651500"/>
            <a:ext cx="6858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initialization: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Arguments are passed directly during object creation, ensuring the object is fully initialized from the start.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 parameters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allow a single constructor to act as both default and parameterized: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all parameters have defaults, the constructor can be called with zero arguments — effectively serving as a default constructor too.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Text 11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 Example — Student Class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98600"/>
            <a:ext cx="8890000" cy="4318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51000"/>
            <a:ext cx="8382000" cy="416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 {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name;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GPA;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Default constructor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Student()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name(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"Unknown"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), age(0), GPA(0.0) {}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Parameterized constructor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Student(string n, 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a, 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g)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name(n), age(a), GPA(g) {}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display() 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name &lt;&lt; 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"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age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"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GPA;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33000" y="1498600"/>
            <a:ext cx="5461000" cy="431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287000" y="171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Usage Examples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87000" y="2184400"/>
            <a:ext cx="4953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Default constructor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s1;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s1.display();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Output: Unknown 0 0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Parameterized constructor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s2(</a:t>
            </a:r>
            <a:pPr>
              <a:lnSpc>
                <a:spcPct val="145000"/>
              </a:lnSpc>
            </a:pPr>
            <a:r>
              <a:rPr lang="en-US" sz="120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"Alice"</a:t>
            </a:r>
            <a:pPr>
              <a:lnSpc>
                <a:spcPct val="145000"/>
              </a:lnSpc>
            </a:pPr>
            <a:r>
              <a:rPr lang="en-US" sz="12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20, 3.8);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s2.display();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Output: Alice 20 3.8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Another student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2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s3(</a:t>
            </a:r>
            <a:pPr>
              <a:lnSpc>
                <a:spcPct val="145000"/>
              </a:lnSpc>
            </a:pPr>
            <a:r>
              <a:rPr lang="en-US" sz="120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"Bob"</a:t>
            </a:r>
            <a:pPr>
              <a:lnSpc>
                <a:spcPct val="145000"/>
              </a:lnSpc>
            </a:pPr>
            <a:r>
              <a:rPr lang="en-US" sz="12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22, 3.5);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6159500"/>
            <a:ext cx="14732000" cy="2095500"/>
          </a:xfrm>
          <a:prstGeom prst="roundRect">
            <a:avLst>
              <a:gd name="adj" fmla="val 5000"/>
            </a:avLst>
          </a:prstGeom>
          <a:solidFill>
            <a:srgbClr val="E6F3F3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6159500"/>
            <a:ext cx="63500" cy="2095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Shape 10"/>
          <p:cNvSpPr/>
          <p:nvPr/>
        </p:nvSpPr>
        <p:spPr>
          <a:xfrm>
            <a:off x="1120775" y="6350000"/>
            <a:ext cx="247650" cy="330200"/>
          </a:xfrm>
          <a:custGeom>
            <a:avLst/>
            <a:gdLst/>
            <a:ahLst/>
            <a:cxnLst/>
            <a:rect l="l" t="t" r="r" b="b"/>
            <a:pathLst>
              <a:path w="247650" h="330200">
                <a:moveTo>
                  <a:pt x="188898" y="247650"/>
                </a:moveTo>
                <a:cubicBezTo>
                  <a:pt x="193606" y="233268"/>
                  <a:pt x="203021" y="220241"/>
                  <a:pt x="213663" y="209019"/>
                </a:cubicBezTo>
                <a:cubicBezTo>
                  <a:pt x="234752" y="186834"/>
                  <a:pt x="247650" y="156845"/>
                  <a:pt x="247650" y="123825"/>
                </a:cubicBezTo>
                <a:cubicBezTo>
                  <a:pt x="247650" y="55463"/>
                  <a:pt x="192187" y="0"/>
                  <a:pt x="123825" y="0"/>
                </a:cubicBezTo>
                <a:cubicBezTo>
                  <a:pt x="55463" y="0"/>
                  <a:pt x="0" y="55463"/>
                  <a:pt x="0" y="123825"/>
                </a:cubicBezTo>
                <a:cubicBezTo>
                  <a:pt x="0" y="156845"/>
                  <a:pt x="12898" y="186834"/>
                  <a:pt x="33987" y="209019"/>
                </a:cubicBezTo>
                <a:cubicBezTo>
                  <a:pt x="44629" y="220241"/>
                  <a:pt x="54109" y="233268"/>
                  <a:pt x="58752" y="247650"/>
                </a:cubicBezTo>
                <a:lnTo>
                  <a:pt x="188833" y="247650"/>
                </a:lnTo>
                <a:close/>
                <a:moveTo>
                  <a:pt x="185738" y="278606"/>
                </a:moveTo>
                <a:lnTo>
                  <a:pt x="61912" y="278606"/>
                </a:lnTo>
                <a:lnTo>
                  <a:pt x="61912" y="288925"/>
                </a:lnTo>
                <a:cubicBezTo>
                  <a:pt x="61912" y="317431"/>
                  <a:pt x="85001" y="340519"/>
                  <a:pt x="113506" y="340519"/>
                </a:cubicBezTo>
                <a:lnTo>
                  <a:pt x="134144" y="340519"/>
                </a:lnTo>
                <a:cubicBezTo>
                  <a:pt x="162649" y="340519"/>
                  <a:pt x="185738" y="317431"/>
                  <a:pt x="185738" y="288925"/>
                </a:cubicBezTo>
                <a:lnTo>
                  <a:pt x="185738" y="278606"/>
                </a:lnTo>
                <a:close/>
                <a:moveTo>
                  <a:pt x="118666" y="72231"/>
                </a:moveTo>
                <a:cubicBezTo>
                  <a:pt x="92998" y="72231"/>
                  <a:pt x="72231" y="92998"/>
                  <a:pt x="72231" y="118666"/>
                </a:cubicBezTo>
                <a:cubicBezTo>
                  <a:pt x="72231" y="127243"/>
                  <a:pt x="65331" y="134144"/>
                  <a:pt x="56753" y="134144"/>
                </a:cubicBezTo>
                <a:cubicBezTo>
                  <a:pt x="48176" y="134144"/>
                  <a:pt x="41275" y="127243"/>
                  <a:pt x="41275" y="118666"/>
                </a:cubicBezTo>
                <a:cubicBezTo>
                  <a:pt x="41275" y="75907"/>
                  <a:pt x="75907" y="41275"/>
                  <a:pt x="118666" y="41275"/>
                </a:cubicBezTo>
                <a:cubicBezTo>
                  <a:pt x="127243" y="41275"/>
                  <a:pt x="134144" y="48176"/>
                  <a:pt x="134144" y="56753"/>
                </a:cubicBezTo>
                <a:cubicBezTo>
                  <a:pt x="134144" y="65331"/>
                  <a:pt x="127243" y="72231"/>
                  <a:pt x="118666" y="72231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1524000" y="6350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Member Initializer Lists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9500" y="6794500"/>
            <a:ext cx="1409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Notice the colon (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followed by member initializations before the constructor body. This is a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member initializer list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preferred way to initialize members in C++.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Initializer lists are more efficient than assignment in the body and are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required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const members, reference members, and member objects without default constructors.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Text 14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Member Initializer Lists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986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E6F3F3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98600"/>
            <a:ext cx="63500" cy="1016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15621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1879600"/>
            <a:ext cx="140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ConstructorName(params) : member1(value1), member2(value2), ... { /* body */ 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7686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 Over Body Assignment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276600"/>
            <a:ext cx="4699000" cy="215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16000" y="3467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200025" y="66675"/>
                </a:moveTo>
                <a:cubicBezTo>
                  <a:pt x="200025" y="54409"/>
                  <a:pt x="190066" y="44450"/>
                  <a:pt x="177800" y="44450"/>
                </a:cubicBezTo>
                <a:cubicBezTo>
                  <a:pt x="165534" y="44450"/>
                  <a:pt x="155575" y="54409"/>
                  <a:pt x="155575" y="66675"/>
                </a:cubicBezTo>
                <a:cubicBezTo>
                  <a:pt x="155575" y="78941"/>
                  <a:pt x="165534" y="88900"/>
                  <a:pt x="177800" y="88900"/>
                </a:cubicBezTo>
                <a:cubicBezTo>
                  <a:pt x="190066" y="88900"/>
                  <a:pt x="200025" y="78941"/>
                  <a:pt x="200025" y="66675"/>
                </a:cubicBezTo>
                <a:close/>
                <a:moveTo>
                  <a:pt x="177800" y="288925"/>
                </a:moveTo>
                <a:cubicBezTo>
                  <a:pt x="202317" y="288925"/>
                  <a:pt x="222250" y="268992"/>
                  <a:pt x="222250" y="244475"/>
                </a:cubicBezTo>
                <a:cubicBezTo>
                  <a:pt x="222250" y="233224"/>
                  <a:pt x="218083" y="222875"/>
                  <a:pt x="211138" y="215096"/>
                </a:cubicBezTo>
                <a:lnTo>
                  <a:pt x="259407" y="118626"/>
                </a:lnTo>
                <a:cubicBezTo>
                  <a:pt x="263505" y="110361"/>
                  <a:pt x="260171" y="100360"/>
                  <a:pt x="251976" y="96262"/>
                </a:cubicBezTo>
                <a:cubicBezTo>
                  <a:pt x="243780" y="92164"/>
                  <a:pt x="233710" y="95498"/>
                  <a:pt x="229612" y="103694"/>
                </a:cubicBezTo>
                <a:lnTo>
                  <a:pt x="181342" y="200164"/>
                </a:lnTo>
                <a:cubicBezTo>
                  <a:pt x="180161" y="200094"/>
                  <a:pt x="178981" y="200025"/>
                  <a:pt x="177800" y="200025"/>
                </a:cubicBezTo>
                <a:cubicBezTo>
                  <a:pt x="153283" y="200025"/>
                  <a:pt x="133350" y="219958"/>
                  <a:pt x="133350" y="244475"/>
                </a:cubicBezTo>
                <a:cubicBezTo>
                  <a:pt x="133350" y="268992"/>
                  <a:pt x="153283" y="288925"/>
                  <a:pt x="177800" y="288925"/>
                </a:cubicBezTo>
                <a:close/>
                <a:moveTo>
                  <a:pt x="122238" y="100013"/>
                </a:moveTo>
                <a:cubicBezTo>
                  <a:pt x="122238" y="87746"/>
                  <a:pt x="112279" y="77788"/>
                  <a:pt x="100013" y="77788"/>
                </a:cubicBezTo>
                <a:cubicBezTo>
                  <a:pt x="87746" y="77788"/>
                  <a:pt x="77788" y="87746"/>
                  <a:pt x="77788" y="100013"/>
                </a:cubicBezTo>
                <a:cubicBezTo>
                  <a:pt x="77788" y="112279"/>
                  <a:pt x="87746" y="122238"/>
                  <a:pt x="100013" y="122238"/>
                </a:cubicBezTo>
                <a:cubicBezTo>
                  <a:pt x="112279" y="122238"/>
                  <a:pt x="122238" y="112279"/>
                  <a:pt x="122238" y="100013"/>
                </a:cubicBezTo>
                <a:close/>
                <a:moveTo>
                  <a:pt x="66675" y="200025"/>
                </a:moveTo>
                <a:cubicBezTo>
                  <a:pt x="78941" y="200025"/>
                  <a:pt x="88900" y="190066"/>
                  <a:pt x="88900" y="177800"/>
                </a:cubicBezTo>
                <a:cubicBezTo>
                  <a:pt x="88900" y="165534"/>
                  <a:pt x="78941" y="155575"/>
                  <a:pt x="66675" y="155575"/>
                </a:cubicBezTo>
                <a:cubicBezTo>
                  <a:pt x="54409" y="155575"/>
                  <a:pt x="44450" y="165534"/>
                  <a:pt x="44450" y="177800"/>
                </a:cubicBezTo>
                <a:cubicBezTo>
                  <a:pt x="44450" y="190066"/>
                  <a:pt x="54409" y="200025"/>
                  <a:pt x="66675" y="200025"/>
                </a:cubicBezTo>
                <a:close/>
                <a:moveTo>
                  <a:pt x="311150" y="177800"/>
                </a:moveTo>
                <a:cubicBezTo>
                  <a:pt x="311150" y="165534"/>
                  <a:pt x="301191" y="155575"/>
                  <a:pt x="288925" y="155575"/>
                </a:cubicBezTo>
                <a:cubicBezTo>
                  <a:pt x="276659" y="155575"/>
                  <a:pt x="266700" y="165534"/>
                  <a:pt x="266700" y="177800"/>
                </a:cubicBezTo>
                <a:cubicBezTo>
                  <a:pt x="266700" y="190066"/>
                  <a:pt x="276659" y="200025"/>
                  <a:pt x="288925" y="200025"/>
                </a:cubicBezTo>
                <a:cubicBezTo>
                  <a:pt x="301191" y="200025"/>
                  <a:pt x="311150" y="190066"/>
                  <a:pt x="311150" y="1778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1460500" y="34671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Efficient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39116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initialization instead of default construction followed by assignment. Eliminates one extra step per member.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78500" y="3276600"/>
            <a:ext cx="4699000" cy="215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6950" y="34671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88900" y="66675"/>
                </a:moveTo>
                <a:lnTo>
                  <a:pt x="88900" y="111125"/>
                </a:lnTo>
                <a:lnTo>
                  <a:pt x="177800" y="111125"/>
                </a:lnTo>
                <a:lnTo>
                  <a:pt x="177800" y="66675"/>
                </a:lnTo>
                <a:cubicBezTo>
                  <a:pt x="177800" y="42158"/>
                  <a:pt x="157867" y="22225"/>
                  <a:pt x="133350" y="22225"/>
                </a:cubicBezTo>
                <a:cubicBezTo>
                  <a:pt x="108833" y="22225"/>
                  <a:pt x="88900" y="42158"/>
                  <a:pt x="88900" y="66675"/>
                </a:cubicBezTo>
                <a:close/>
                <a:moveTo>
                  <a:pt x="44450" y="111125"/>
                </a:moveTo>
                <a:lnTo>
                  <a:pt x="44450" y="66675"/>
                </a:lnTo>
                <a:cubicBezTo>
                  <a:pt x="44450" y="17572"/>
                  <a:pt x="84247" y="-22225"/>
                  <a:pt x="133350" y="-22225"/>
                </a:cubicBezTo>
                <a:cubicBezTo>
                  <a:pt x="182453" y="-22225"/>
                  <a:pt x="222250" y="17572"/>
                  <a:pt x="222250" y="66675"/>
                </a:cubicBezTo>
                <a:lnTo>
                  <a:pt x="222250" y="111125"/>
                </a:lnTo>
                <a:cubicBezTo>
                  <a:pt x="246767" y="111125"/>
                  <a:pt x="266700" y="131058"/>
                  <a:pt x="266700" y="1555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155575"/>
                </a:lnTo>
                <a:cubicBezTo>
                  <a:pt x="0" y="131058"/>
                  <a:pt x="19933" y="111125"/>
                  <a:pt x="44450" y="111125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6477000" y="34671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Required for Const &amp; Refs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2500" y="39116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 data members and reference members MUST be initialized in the initializer list — they cannot be assigned later.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795000" y="3276600"/>
            <a:ext cx="4699000" cy="215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1049000" y="3467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7247" y="-903"/>
                </a:moveTo>
                <a:cubicBezTo>
                  <a:pt x="185231" y="-7848"/>
                  <a:pt x="170369" y="-7848"/>
                  <a:pt x="158353" y="-903"/>
                </a:cubicBezTo>
                <a:lnTo>
                  <a:pt x="99874" y="32851"/>
                </a:lnTo>
                <a:cubicBezTo>
                  <a:pt x="87858" y="39797"/>
                  <a:pt x="80427" y="52645"/>
                  <a:pt x="80427" y="66536"/>
                </a:cubicBezTo>
                <a:lnTo>
                  <a:pt x="80427" y="137309"/>
                </a:lnTo>
                <a:lnTo>
                  <a:pt x="19100" y="172730"/>
                </a:lnTo>
                <a:cubicBezTo>
                  <a:pt x="7084" y="179675"/>
                  <a:pt x="-347" y="192524"/>
                  <a:pt x="-347" y="206415"/>
                </a:cubicBezTo>
                <a:lnTo>
                  <a:pt x="-347" y="273993"/>
                </a:lnTo>
                <a:cubicBezTo>
                  <a:pt x="-347" y="287883"/>
                  <a:pt x="7084" y="300732"/>
                  <a:pt x="19100" y="307677"/>
                </a:cubicBezTo>
                <a:lnTo>
                  <a:pt x="77649" y="341432"/>
                </a:lnTo>
                <a:cubicBezTo>
                  <a:pt x="89664" y="348377"/>
                  <a:pt x="104527" y="348377"/>
                  <a:pt x="116542" y="341432"/>
                </a:cubicBezTo>
                <a:lnTo>
                  <a:pt x="177869" y="306010"/>
                </a:lnTo>
                <a:lnTo>
                  <a:pt x="239197" y="341432"/>
                </a:lnTo>
                <a:cubicBezTo>
                  <a:pt x="251212" y="348377"/>
                  <a:pt x="266075" y="348377"/>
                  <a:pt x="278090" y="341432"/>
                </a:cubicBezTo>
                <a:lnTo>
                  <a:pt x="336500" y="307677"/>
                </a:lnTo>
                <a:cubicBezTo>
                  <a:pt x="348516" y="300732"/>
                  <a:pt x="355947" y="287883"/>
                  <a:pt x="355947" y="273993"/>
                </a:cubicBezTo>
                <a:lnTo>
                  <a:pt x="355947" y="206415"/>
                </a:lnTo>
                <a:cubicBezTo>
                  <a:pt x="355947" y="192524"/>
                  <a:pt x="348516" y="179675"/>
                  <a:pt x="336500" y="172730"/>
                </a:cubicBezTo>
                <a:lnTo>
                  <a:pt x="275173" y="137309"/>
                </a:lnTo>
                <a:lnTo>
                  <a:pt x="275173" y="66536"/>
                </a:lnTo>
                <a:cubicBezTo>
                  <a:pt x="275173" y="52645"/>
                  <a:pt x="267742" y="39797"/>
                  <a:pt x="255726" y="32851"/>
                </a:cubicBezTo>
                <a:lnTo>
                  <a:pt x="197247" y="-903"/>
                </a:lnTo>
                <a:close/>
                <a:moveTo>
                  <a:pt x="161131" y="203220"/>
                </a:moveTo>
                <a:lnTo>
                  <a:pt x="161131" y="277187"/>
                </a:lnTo>
                <a:lnTo>
                  <a:pt x="99804" y="312609"/>
                </a:lnTo>
                <a:cubicBezTo>
                  <a:pt x="98971" y="313095"/>
                  <a:pt x="97998" y="313373"/>
                  <a:pt x="97026" y="313373"/>
                </a:cubicBezTo>
                <a:lnTo>
                  <a:pt x="97026" y="240238"/>
                </a:lnTo>
                <a:lnTo>
                  <a:pt x="161131" y="203220"/>
                </a:lnTo>
                <a:close/>
                <a:moveTo>
                  <a:pt x="321846" y="203637"/>
                </a:moveTo>
                <a:cubicBezTo>
                  <a:pt x="322332" y="204470"/>
                  <a:pt x="322610" y="205442"/>
                  <a:pt x="322610" y="206415"/>
                </a:cubicBezTo>
                <a:lnTo>
                  <a:pt x="322610" y="273993"/>
                </a:lnTo>
                <a:cubicBezTo>
                  <a:pt x="322610" y="276007"/>
                  <a:pt x="321568" y="277813"/>
                  <a:pt x="319832" y="278785"/>
                </a:cubicBezTo>
                <a:lnTo>
                  <a:pt x="261283" y="312539"/>
                </a:lnTo>
                <a:cubicBezTo>
                  <a:pt x="260449" y="313025"/>
                  <a:pt x="259477" y="313303"/>
                  <a:pt x="258505" y="313303"/>
                </a:cubicBezTo>
                <a:lnTo>
                  <a:pt x="258505" y="240169"/>
                </a:lnTo>
                <a:lnTo>
                  <a:pt x="321846" y="203637"/>
                </a:lnTo>
                <a:close/>
                <a:moveTo>
                  <a:pt x="241905" y="66536"/>
                </a:moveTo>
                <a:lnTo>
                  <a:pt x="241905" y="137309"/>
                </a:lnTo>
                <a:lnTo>
                  <a:pt x="177800" y="174327"/>
                </a:lnTo>
                <a:lnTo>
                  <a:pt x="177800" y="100360"/>
                </a:lnTo>
                <a:lnTo>
                  <a:pt x="241141" y="63827"/>
                </a:lnTo>
                <a:cubicBezTo>
                  <a:pt x="241627" y="64661"/>
                  <a:pt x="241905" y="65633"/>
                  <a:pt x="241905" y="66606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11493500" y="34671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Member Objects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49000" y="39116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Required when a class contains member objects that lack a default constructor.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5715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&amp; Important Note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159500"/>
            <a:ext cx="7112000" cy="22860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6311900"/>
            <a:ext cx="660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Rectangle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length, width;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Rectangle(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l,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length(l), width(w) {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Direct initialization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55000" y="6159500"/>
            <a:ext cx="7239000" cy="2286000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/>
        </p:spPr>
      </p:sp>
      <p:sp>
        <p:nvSpPr>
          <p:cNvPr id="26" name="Shape 24"/>
          <p:cNvSpPr/>
          <p:nvPr/>
        </p:nvSpPr>
        <p:spPr>
          <a:xfrm>
            <a:off x="8255000" y="6159500"/>
            <a:ext cx="63500" cy="22860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27" name="Shape 25"/>
          <p:cNvSpPr/>
          <p:nvPr/>
        </p:nvSpPr>
        <p:spPr>
          <a:xfrm>
            <a:off x="8572500" y="635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28" name="Text 26"/>
          <p:cNvSpPr/>
          <p:nvPr/>
        </p:nvSpPr>
        <p:spPr>
          <a:xfrm>
            <a:off x="8991600" y="6350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Initialization Order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72500" y="6794500"/>
            <a:ext cx="6667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order of initialization follows the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declaration order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the class, NOT the order in the initializer list.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write the initializer list in the same order as member declarations to avoid confusion and potential bugs.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Text 29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pc2sxsucaenw/mnt/agents/output/oop-constructors/images/7_49_202_Teal_Technology_Background.png">    </p:cNvPr>
          <p:cNvPicPr>
            <a:picLocks noChangeAspect="1"/>
          </p:cNvPicPr>
          <p:nvPr/>
        </p:nvPicPr>
        <p:blipFill>
          <a:blip r:embed="rId1"/>
          <a:srcRect l="7309" r="7309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A1A2E">
              <a:alpha val="9098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016000"/>
            <a:ext cx="5080000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dirty="0">
                <a:solidFill>
                  <a:srgbClr val="FFFFFF">
                    <a:alpha val="6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OVERLOADED CONSTRUCTORS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7625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constructors with the same name but different parameters — flexibility in object creation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970000" y="3937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461367" y="10319"/>
                </a:moveTo>
                <a:cubicBezTo>
                  <a:pt x="490934" y="-3373"/>
                  <a:pt x="525066" y="-3373"/>
                  <a:pt x="554633" y="10319"/>
                </a:cubicBezTo>
                <a:lnTo>
                  <a:pt x="988417" y="210741"/>
                </a:lnTo>
                <a:cubicBezTo>
                  <a:pt x="1005284" y="218480"/>
                  <a:pt x="1016000" y="235347"/>
                  <a:pt x="1016000" y="254000"/>
                </a:cubicBezTo>
                <a:cubicBezTo>
                  <a:pt x="1016000" y="272653"/>
                  <a:pt x="1005284" y="289520"/>
                  <a:pt x="988417" y="297259"/>
                </a:cubicBezTo>
                <a:lnTo>
                  <a:pt x="554633" y="497681"/>
                </a:lnTo>
                <a:cubicBezTo>
                  <a:pt x="525066" y="511373"/>
                  <a:pt x="490934" y="511373"/>
                  <a:pt x="461367" y="497681"/>
                </a:cubicBezTo>
                <a:lnTo>
                  <a:pt x="27583" y="297259"/>
                </a:lnTo>
                <a:cubicBezTo>
                  <a:pt x="10716" y="289322"/>
                  <a:pt x="0" y="272455"/>
                  <a:pt x="0" y="254000"/>
                </a:cubicBezTo>
                <a:cubicBezTo>
                  <a:pt x="0" y="235545"/>
                  <a:pt x="10716" y="218480"/>
                  <a:pt x="27583" y="210741"/>
                </a:cubicBezTo>
                <a:lnTo>
                  <a:pt x="461367" y="10319"/>
                </a:lnTo>
                <a:close/>
                <a:moveTo>
                  <a:pt x="95448" y="433388"/>
                </a:moveTo>
                <a:lnTo>
                  <a:pt x="421481" y="584002"/>
                </a:lnTo>
                <a:cubicBezTo>
                  <a:pt x="476448" y="609402"/>
                  <a:pt x="539750" y="609402"/>
                  <a:pt x="594717" y="584002"/>
                </a:cubicBezTo>
                <a:lnTo>
                  <a:pt x="920750" y="433388"/>
                </a:lnTo>
                <a:lnTo>
                  <a:pt x="988417" y="464741"/>
                </a:lnTo>
                <a:cubicBezTo>
                  <a:pt x="1005284" y="472480"/>
                  <a:pt x="1016000" y="489347"/>
                  <a:pt x="1016000" y="508000"/>
                </a:cubicBezTo>
                <a:cubicBezTo>
                  <a:pt x="1016000" y="526653"/>
                  <a:pt x="1005284" y="543520"/>
                  <a:pt x="988417" y="551259"/>
                </a:cubicBezTo>
                <a:lnTo>
                  <a:pt x="554633" y="751681"/>
                </a:lnTo>
                <a:cubicBezTo>
                  <a:pt x="525066" y="765373"/>
                  <a:pt x="490934" y="765373"/>
                  <a:pt x="461367" y="751681"/>
                </a:cubicBezTo>
                <a:lnTo>
                  <a:pt x="27583" y="551259"/>
                </a:lnTo>
                <a:cubicBezTo>
                  <a:pt x="10716" y="543322"/>
                  <a:pt x="0" y="526455"/>
                  <a:pt x="0" y="508000"/>
                </a:cubicBezTo>
                <a:cubicBezTo>
                  <a:pt x="0" y="489545"/>
                  <a:pt x="10716" y="472480"/>
                  <a:pt x="27583" y="464741"/>
                </a:cubicBezTo>
                <a:lnTo>
                  <a:pt x="95250" y="433388"/>
                </a:lnTo>
                <a:close/>
                <a:moveTo>
                  <a:pt x="27583" y="718741"/>
                </a:moveTo>
                <a:lnTo>
                  <a:pt x="95250" y="687388"/>
                </a:lnTo>
                <a:lnTo>
                  <a:pt x="421283" y="838002"/>
                </a:lnTo>
                <a:cubicBezTo>
                  <a:pt x="476250" y="863402"/>
                  <a:pt x="539552" y="863402"/>
                  <a:pt x="594519" y="838002"/>
                </a:cubicBezTo>
                <a:lnTo>
                  <a:pt x="920552" y="687388"/>
                </a:lnTo>
                <a:lnTo>
                  <a:pt x="988219" y="718741"/>
                </a:lnTo>
                <a:cubicBezTo>
                  <a:pt x="1005086" y="726480"/>
                  <a:pt x="1015802" y="743347"/>
                  <a:pt x="1015802" y="762000"/>
                </a:cubicBezTo>
                <a:cubicBezTo>
                  <a:pt x="1015802" y="780653"/>
                  <a:pt x="1005086" y="797520"/>
                  <a:pt x="988219" y="805259"/>
                </a:cubicBezTo>
                <a:lnTo>
                  <a:pt x="554434" y="1005681"/>
                </a:lnTo>
                <a:cubicBezTo>
                  <a:pt x="524867" y="1019373"/>
                  <a:pt x="490736" y="1019373"/>
                  <a:pt x="461169" y="1005681"/>
                </a:cubicBezTo>
                <a:lnTo>
                  <a:pt x="27583" y="805259"/>
                </a:lnTo>
                <a:cubicBezTo>
                  <a:pt x="10716" y="797322"/>
                  <a:pt x="0" y="780455"/>
                  <a:pt x="0" y="762000"/>
                </a:cubicBezTo>
                <a:cubicBezTo>
                  <a:pt x="0" y="743545"/>
                  <a:pt x="10716" y="726480"/>
                  <a:pt x="27583" y="718741"/>
                </a:cubicBezTo>
                <a:close/>
              </a:path>
            </a:pathLst>
          </a:custGeom>
          <a:solidFill>
            <a:srgbClr val="0D7377">
              <a:alpha val="18824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 Overloading Concept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Constructor overloading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allows a class to have multiple constructors with different parameter lists. Just like function overloading, the compiler distinguishes them by their signatures.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54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 Compiler Distinguishes Them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111500"/>
            <a:ext cx="4572000" cy="1270000"/>
          </a:xfrm>
          <a:prstGeom prst="roundRect">
            <a:avLst>
              <a:gd name="adj" fmla="val 6000"/>
            </a:avLst>
          </a:prstGeom>
          <a:solidFill>
            <a:srgbClr val="E6F3F3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3238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4000" y="3302000"/>
            <a:ext cx="355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Number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parameters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3111500"/>
            <a:ext cx="4572000" cy="1270000"/>
          </a:xfrm>
          <a:prstGeom prst="roundRect">
            <a:avLst>
              <a:gd name="adj" fmla="val 6000"/>
            </a:avLst>
          </a:prstGeom>
          <a:solidFill>
            <a:srgbClr val="E6F3F3"/>
          </a:solidFill>
          <a:ln/>
        </p:spPr>
      </p:sp>
      <p:sp>
        <p:nvSpPr>
          <p:cNvPr id="11" name="Text 9"/>
          <p:cNvSpPr/>
          <p:nvPr/>
        </p:nvSpPr>
        <p:spPr>
          <a:xfrm>
            <a:off x="5905500" y="3238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77000" y="3302000"/>
            <a:ext cx="355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parameters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3111500"/>
            <a:ext cx="4826000" cy="1270000"/>
          </a:xfrm>
          <a:prstGeom prst="roundRect">
            <a:avLst>
              <a:gd name="adj" fmla="val 6000"/>
            </a:avLst>
          </a:prstGeom>
          <a:solidFill>
            <a:srgbClr val="E6F3F3"/>
          </a:solidFill>
          <a:ln/>
        </p:spPr>
      </p:sp>
      <p:sp>
        <p:nvSpPr>
          <p:cNvPr id="14" name="Text 12"/>
          <p:cNvSpPr/>
          <p:nvPr/>
        </p:nvSpPr>
        <p:spPr>
          <a:xfrm>
            <a:off x="10858500" y="3238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0" y="3302000"/>
            <a:ext cx="381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parameters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4762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Rules for Valid Overloading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5270500"/>
            <a:ext cx="7112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constructor must have a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parameter signature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type differences do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constitute overloading (constructors have no return type)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 arguments can cause ambiguity — be careful!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Ambiguity example: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Student(string n, int a=0);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Student(string n);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s("Alice");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Error: ambiguous!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4762500"/>
            <a:ext cx="7112000" cy="34290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/>
        </p:spPr>
      </p:sp>
      <p:sp>
        <p:nvSpPr>
          <p:cNvPr id="19" name="Text 17"/>
          <p:cNvSpPr/>
          <p:nvPr/>
        </p:nvSpPr>
        <p:spPr>
          <a:xfrm>
            <a:off x="8636000" y="4889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CONCEPT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90000" y="53340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8890000" y="5334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ClassName()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890000" y="61595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8890000" y="6159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ClassName(int)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890000" y="69850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0D7377"/>
          </a:solidFill>
          <a:ln/>
        </p:spPr>
      </p:sp>
      <p:sp>
        <p:nvSpPr>
          <p:cNvPr id="25" name="Text 23"/>
          <p:cNvSpPr/>
          <p:nvPr/>
        </p:nvSpPr>
        <p:spPr>
          <a:xfrm>
            <a:off x="8890000" y="6985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ClassName(int, int)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684000" y="5651500"/>
            <a:ext cx="0" cy="1651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7" name="Text 25"/>
          <p:cNvSpPr/>
          <p:nvPr/>
        </p:nvSpPr>
        <p:spPr>
          <a:xfrm>
            <a:off x="11938000" y="5842000"/>
            <a:ext cx="330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constructors share the same class name but are distinguished by their parameter lists.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9" name="Text 27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Overloaded Constructor Examples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 class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demonstrating four overloaded constructors with different parameter counts: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133600"/>
            <a:ext cx="14732000" cy="4064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260600"/>
            <a:ext cx="14224000" cy="387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Date {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year, month, day;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Constructor 1: No parameters (default)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Date() : year(2000), month(1), day(1) {}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Constructor 2: Year only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Date(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y) : year(y), month(1), day(1) {}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Constructor 3: Year and month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Date(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y, 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m) : year(y), month(m), day(1) {}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Constructor 4: Full date specified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Date(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y, 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m, 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d) : year(y), month(m), day(d) {}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635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Usage Examples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6794500"/>
            <a:ext cx="3429000" cy="1524000"/>
          </a:xfrm>
          <a:prstGeom prst="roundRect">
            <a:avLst>
              <a:gd name="adj" fmla="val 6000"/>
            </a:avLst>
          </a:prstGeom>
          <a:solidFill>
            <a:srgbClr val="E6F3F3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6921500"/>
            <a:ext cx="304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 d1;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Jan 1, 2000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Default constructor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08500" y="6794500"/>
            <a:ext cx="3429000" cy="1524000"/>
          </a:xfrm>
          <a:prstGeom prst="roundRect">
            <a:avLst>
              <a:gd name="adj" fmla="val 6000"/>
            </a:avLst>
          </a:prstGeom>
          <a:solidFill>
            <a:srgbClr val="E6F3F3"/>
          </a:solidFill>
          <a:ln/>
        </p:spPr>
      </p:sp>
      <p:sp>
        <p:nvSpPr>
          <p:cNvPr id="12" name="Text 10"/>
          <p:cNvSpPr/>
          <p:nvPr/>
        </p:nvSpPr>
        <p:spPr>
          <a:xfrm>
            <a:off x="4699000" y="6921500"/>
            <a:ext cx="304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 d2(2024);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Jan 1, 2024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Year only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55000" y="6794500"/>
            <a:ext cx="3429000" cy="1524000"/>
          </a:xfrm>
          <a:prstGeom prst="roundRect">
            <a:avLst>
              <a:gd name="adj" fmla="val 6000"/>
            </a:avLst>
          </a:prstGeom>
          <a:solidFill>
            <a:srgbClr val="E6F3F3"/>
          </a:solidFill>
          <a:ln/>
        </p:spPr>
      </p:sp>
      <p:sp>
        <p:nvSpPr>
          <p:cNvPr id="14" name="Text 12"/>
          <p:cNvSpPr/>
          <p:nvPr/>
        </p:nvSpPr>
        <p:spPr>
          <a:xfrm>
            <a:off x="8445500" y="6921500"/>
            <a:ext cx="304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 d3(2024, 7);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Jul 1, 2024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Year + month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001500" y="6794500"/>
            <a:ext cx="3492500" cy="1524000"/>
          </a:xfrm>
          <a:prstGeom prst="roundRect">
            <a:avLst>
              <a:gd name="adj" fmla="val 6000"/>
            </a:avLst>
          </a:prstGeom>
          <a:solidFill>
            <a:srgbClr val="E6F3F3"/>
          </a:solidFill>
          <a:ln/>
        </p:spPr>
      </p:sp>
      <p:sp>
        <p:nvSpPr>
          <p:cNvPr id="16" name="Text 14"/>
          <p:cNvSpPr/>
          <p:nvPr/>
        </p:nvSpPr>
        <p:spPr>
          <a:xfrm>
            <a:off x="12192000" y="6921500"/>
            <a:ext cx="3111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 d4(2024,7,15);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Jul 15, 2024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Full specification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Text 16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of Constructor Overloading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7048500" cy="146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0600" y="1778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73539" y="297339"/>
                </a:moveTo>
                <a:lnTo>
                  <a:pt x="449739" y="221139"/>
                </a:lnTo>
                <a:cubicBezTo>
                  <a:pt x="459661" y="211217"/>
                  <a:pt x="459661" y="195104"/>
                  <a:pt x="449739" y="185182"/>
                </a:cubicBezTo>
                <a:lnTo>
                  <a:pt x="373539" y="108982"/>
                </a:lnTo>
                <a:cubicBezTo>
                  <a:pt x="363617" y="99060"/>
                  <a:pt x="347504" y="99060"/>
                  <a:pt x="337582" y="108982"/>
                </a:cubicBezTo>
                <a:cubicBezTo>
                  <a:pt x="327660" y="118904"/>
                  <a:pt x="327660" y="135017"/>
                  <a:pt x="337582" y="144939"/>
                </a:cubicBezTo>
                <a:lnTo>
                  <a:pt x="370443" y="177800"/>
                </a:lnTo>
                <a:lnTo>
                  <a:pt x="86678" y="177800"/>
                </a:lnTo>
                <a:lnTo>
                  <a:pt x="119539" y="144939"/>
                </a:lnTo>
                <a:cubicBezTo>
                  <a:pt x="129461" y="135017"/>
                  <a:pt x="129461" y="118904"/>
                  <a:pt x="119539" y="108982"/>
                </a:cubicBezTo>
                <a:cubicBezTo>
                  <a:pt x="109617" y="99060"/>
                  <a:pt x="93504" y="99060"/>
                  <a:pt x="83582" y="108982"/>
                </a:cubicBezTo>
                <a:lnTo>
                  <a:pt x="7382" y="185182"/>
                </a:lnTo>
                <a:cubicBezTo>
                  <a:pt x="2619" y="189944"/>
                  <a:pt x="-79" y="196374"/>
                  <a:pt x="-79" y="203121"/>
                </a:cubicBezTo>
                <a:cubicBezTo>
                  <a:pt x="-79" y="209868"/>
                  <a:pt x="2619" y="216297"/>
                  <a:pt x="7382" y="221059"/>
                </a:cubicBezTo>
                <a:lnTo>
                  <a:pt x="83582" y="297259"/>
                </a:lnTo>
                <a:cubicBezTo>
                  <a:pt x="93504" y="307181"/>
                  <a:pt x="109617" y="307181"/>
                  <a:pt x="119539" y="297259"/>
                </a:cubicBezTo>
                <a:cubicBezTo>
                  <a:pt x="129461" y="287338"/>
                  <a:pt x="129461" y="271224"/>
                  <a:pt x="119539" y="261302"/>
                </a:cubicBezTo>
                <a:lnTo>
                  <a:pt x="86678" y="228441"/>
                </a:lnTo>
                <a:lnTo>
                  <a:pt x="370443" y="228441"/>
                </a:lnTo>
                <a:lnTo>
                  <a:pt x="337582" y="261302"/>
                </a:lnTo>
                <a:cubicBezTo>
                  <a:pt x="327660" y="271224"/>
                  <a:pt x="327660" y="287338"/>
                  <a:pt x="337582" y="297259"/>
                </a:cubicBezTo>
                <a:cubicBezTo>
                  <a:pt x="347504" y="307181"/>
                  <a:pt x="363617" y="307181"/>
                  <a:pt x="373539" y="297259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549400" y="177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Flexibility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222500"/>
            <a:ext cx="654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objects with different initial states based on available information at creation time.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45500" y="1587500"/>
            <a:ext cx="7048500" cy="146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74100" y="1778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09074" y="-21431"/>
                </a:moveTo>
                <a:lnTo>
                  <a:pt x="220821" y="7779"/>
                </a:lnTo>
                <a:lnTo>
                  <a:pt x="250031" y="19526"/>
                </a:lnTo>
                <a:cubicBezTo>
                  <a:pt x="252413" y="20479"/>
                  <a:pt x="254000" y="22860"/>
                  <a:pt x="254000" y="25400"/>
                </a:cubicBezTo>
                <a:cubicBezTo>
                  <a:pt x="254000" y="27940"/>
                  <a:pt x="252413" y="30321"/>
                  <a:pt x="250031" y="31274"/>
                </a:cubicBezTo>
                <a:lnTo>
                  <a:pt x="220821" y="43021"/>
                </a:lnTo>
                <a:lnTo>
                  <a:pt x="209074" y="72231"/>
                </a:lnTo>
                <a:cubicBezTo>
                  <a:pt x="208121" y="74613"/>
                  <a:pt x="205740" y="76200"/>
                  <a:pt x="203200" y="76200"/>
                </a:cubicBezTo>
                <a:cubicBezTo>
                  <a:pt x="200660" y="76200"/>
                  <a:pt x="198279" y="74613"/>
                  <a:pt x="197326" y="72231"/>
                </a:cubicBezTo>
                <a:lnTo>
                  <a:pt x="185579" y="43021"/>
                </a:lnTo>
                <a:lnTo>
                  <a:pt x="156369" y="31274"/>
                </a:lnTo>
                <a:cubicBezTo>
                  <a:pt x="153988" y="30321"/>
                  <a:pt x="152400" y="27940"/>
                  <a:pt x="152400" y="25400"/>
                </a:cubicBezTo>
                <a:cubicBezTo>
                  <a:pt x="152400" y="22860"/>
                  <a:pt x="153988" y="20479"/>
                  <a:pt x="156369" y="19526"/>
                </a:cubicBezTo>
                <a:lnTo>
                  <a:pt x="185579" y="7779"/>
                </a:lnTo>
                <a:lnTo>
                  <a:pt x="197326" y="-21431"/>
                </a:lnTo>
                <a:cubicBezTo>
                  <a:pt x="198279" y="-23812"/>
                  <a:pt x="200660" y="-25400"/>
                  <a:pt x="203200" y="-25400"/>
                </a:cubicBezTo>
                <a:cubicBezTo>
                  <a:pt x="205740" y="-25400"/>
                  <a:pt x="208121" y="-23812"/>
                  <a:pt x="209074" y="-21431"/>
                </a:cubicBezTo>
                <a:close/>
                <a:moveTo>
                  <a:pt x="87868" y="33099"/>
                </a:moveTo>
                <a:lnTo>
                  <a:pt x="104934" y="72866"/>
                </a:lnTo>
                <a:lnTo>
                  <a:pt x="144701" y="89932"/>
                </a:lnTo>
                <a:cubicBezTo>
                  <a:pt x="149384" y="91916"/>
                  <a:pt x="152400" y="96520"/>
                  <a:pt x="152400" y="101600"/>
                </a:cubicBezTo>
                <a:cubicBezTo>
                  <a:pt x="152400" y="106680"/>
                  <a:pt x="149384" y="111284"/>
                  <a:pt x="144701" y="113268"/>
                </a:cubicBezTo>
                <a:lnTo>
                  <a:pt x="104934" y="130334"/>
                </a:lnTo>
                <a:lnTo>
                  <a:pt x="87868" y="170101"/>
                </a:lnTo>
                <a:cubicBezTo>
                  <a:pt x="85884" y="174784"/>
                  <a:pt x="81280" y="177800"/>
                  <a:pt x="76200" y="177800"/>
                </a:cubicBezTo>
                <a:cubicBezTo>
                  <a:pt x="71120" y="177800"/>
                  <a:pt x="66516" y="174784"/>
                  <a:pt x="64532" y="170101"/>
                </a:cubicBezTo>
                <a:lnTo>
                  <a:pt x="47466" y="130334"/>
                </a:lnTo>
                <a:lnTo>
                  <a:pt x="7699" y="113268"/>
                </a:lnTo>
                <a:cubicBezTo>
                  <a:pt x="3016" y="111284"/>
                  <a:pt x="0" y="106680"/>
                  <a:pt x="0" y="101600"/>
                </a:cubicBezTo>
                <a:cubicBezTo>
                  <a:pt x="0" y="96520"/>
                  <a:pt x="3016" y="91916"/>
                  <a:pt x="7699" y="89932"/>
                </a:cubicBezTo>
                <a:lnTo>
                  <a:pt x="47466" y="72866"/>
                </a:lnTo>
                <a:lnTo>
                  <a:pt x="64532" y="33099"/>
                </a:lnTo>
                <a:cubicBezTo>
                  <a:pt x="66516" y="28416"/>
                  <a:pt x="71120" y="25400"/>
                  <a:pt x="76200" y="25400"/>
                </a:cubicBezTo>
                <a:cubicBezTo>
                  <a:pt x="81280" y="25400"/>
                  <a:pt x="85884" y="28416"/>
                  <a:pt x="87868" y="33099"/>
                </a:cubicBezTo>
                <a:close/>
                <a:moveTo>
                  <a:pt x="368300" y="241300"/>
                </a:moveTo>
                <a:cubicBezTo>
                  <a:pt x="373380" y="241300"/>
                  <a:pt x="377984" y="244316"/>
                  <a:pt x="379968" y="248999"/>
                </a:cubicBezTo>
                <a:lnTo>
                  <a:pt x="397034" y="288766"/>
                </a:lnTo>
                <a:lnTo>
                  <a:pt x="436801" y="305832"/>
                </a:lnTo>
                <a:cubicBezTo>
                  <a:pt x="441484" y="307816"/>
                  <a:pt x="444500" y="312420"/>
                  <a:pt x="444500" y="317500"/>
                </a:cubicBezTo>
                <a:cubicBezTo>
                  <a:pt x="444500" y="322580"/>
                  <a:pt x="441484" y="327184"/>
                  <a:pt x="436801" y="329168"/>
                </a:cubicBezTo>
                <a:lnTo>
                  <a:pt x="397034" y="346234"/>
                </a:lnTo>
                <a:lnTo>
                  <a:pt x="379968" y="386001"/>
                </a:lnTo>
                <a:cubicBezTo>
                  <a:pt x="377984" y="390684"/>
                  <a:pt x="373380" y="393700"/>
                  <a:pt x="368300" y="393700"/>
                </a:cubicBezTo>
                <a:cubicBezTo>
                  <a:pt x="363220" y="393700"/>
                  <a:pt x="358616" y="390684"/>
                  <a:pt x="356632" y="386001"/>
                </a:cubicBezTo>
                <a:lnTo>
                  <a:pt x="339566" y="346234"/>
                </a:lnTo>
                <a:lnTo>
                  <a:pt x="299799" y="329168"/>
                </a:lnTo>
                <a:cubicBezTo>
                  <a:pt x="295116" y="327184"/>
                  <a:pt x="292100" y="322580"/>
                  <a:pt x="292100" y="317500"/>
                </a:cubicBezTo>
                <a:cubicBezTo>
                  <a:pt x="292100" y="312420"/>
                  <a:pt x="295116" y="307816"/>
                  <a:pt x="299799" y="305832"/>
                </a:cubicBezTo>
                <a:lnTo>
                  <a:pt x="339566" y="288766"/>
                </a:lnTo>
                <a:lnTo>
                  <a:pt x="356632" y="248999"/>
                </a:lnTo>
                <a:cubicBezTo>
                  <a:pt x="358616" y="244316"/>
                  <a:pt x="363220" y="241300"/>
                  <a:pt x="368300" y="241300"/>
                </a:cubicBezTo>
                <a:close/>
                <a:moveTo>
                  <a:pt x="365125" y="0"/>
                </a:moveTo>
                <a:cubicBezTo>
                  <a:pt x="373856" y="0"/>
                  <a:pt x="382270" y="3493"/>
                  <a:pt x="388541" y="9684"/>
                </a:cubicBezTo>
                <a:lnTo>
                  <a:pt x="422116" y="43259"/>
                </a:lnTo>
                <a:cubicBezTo>
                  <a:pt x="428308" y="49530"/>
                  <a:pt x="431800" y="57944"/>
                  <a:pt x="431800" y="66675"/>
                </a:cubicBezTo>
                <a:cubicBezTo>
                  <a:pt x="431800" y="75406"/>
                  <a:pt x="428308" y="83820"/>
                  <a:pt x="422116" y="90091"/>
                </a:cubicBezTo>
                <a:lnTo>
                  <a:pt x="352107" y="160099"/>
                </a:lnTo>
                <a:lnTo>
                  <a:pt x="271701" y="79693"/>
                </a:lnTo>
                <a:lnTo>
                  <a:pt x="341709" y="9684"/>
                </a:lnTo>
                <a:cubicBezTo>
                  <a:pt x="347980" y="3493"/>
                  <a:pt x="356394" y="0"/>
                  <a:pt x="365125" y="0"/>
                </a:cubicBezTo>
                <a:close/>
                <a:moveTo>
                  <a:pt x="35084" y="316309"/>
                </a:moveTo>
                <a:lnTo>
                  <a:pt x="244793" y="106601"/>
                </a:lnTo>
                <a:lnTo>
                  <a:pt x="325199" y="187008"/>
                </a:lnTo>
                <a:lnTo>
                  <a:pt x="115491" y="396716"/>
                </a:lnTo>
                <a:cubicBezTo>
                  <a:pt x="109220" y="402908"/>
                  <a:pt x="100806" y="406400"/>
                  <a:pt x="92075" y="406400"/>
                </a:cubicBezTo>
                <a:cubicBezTo>
                  <a:pt x="83344" y="406400"/>
                  <a:pt x="74930" y="402908"/>
                  <a:pt x="68659" y="396716"/>
                </a:cubicBezTo>
                <a:lnTo>
                  <a:pt x="35084" y="363141"/>
                </a:lnTo>
                <a:cubicBezTo>
                  <a:pt x="28893" y="356870"/>
                  <a:pt x="25400" y="348456"/>
                  <a:pt x="25400" y="339725"/>
                </a:cubicBezTo>
                <a:cubicBezTo>
                  <a:pt x="25400" y="330994"/>
                  <a:pt x="28893" y="322580"/>
                  <a:pt x="35084" y="316309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9232900" y="177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Convenience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99500" y="2222500"/>
            <a:ext cx="654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sensible defaults when not all data is available — no need to always specify every value.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302000"/>
            <a:ext cx="7048500" cy="146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16000" y="349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1549400" y="3492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Encapsulation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3937000"/>
            <a:ext cx="654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 objects are always in a valid state regardless of which constructor is used.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00" y="3302000"/>
            <a:ext cx="7048500" cy="146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724900" y="3492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63500" y="82550"/>
                </a:moveTo>
                <a:cubicBezTo>
                  <a:pt x="74014" y="82550"/>
                  <a:pt x="82550" y="74014"/>
                  <a:pt x="82550" y="63500"/>
                </a:cubicBezTo>
                <a:cubicBezTo>
                  <a:pt x="82550" y="52986"/>
                  <a:pt x="74014" y="44450"/>
                  <a:pt x="63500" y="44450"/>
                </a:cubicBezTo>
                <a:cubicBezTo>
                  <a:pt x="52986" y="44450"/>
                  <a:pt x="44450" y="52986"/>
                  <a:pt x="44450" y="63500"/>
                </a:cubicBezTo>
                <a:cubicBezTo>
                  <a:pt x="44450" y="74014"/>
                  <a:pt x="52986" y="82550"/>
                  <a:pt x="63500" y="82550"/>
                </a:cubicBezTo>
                <a:close/>
                <a:moveTo>
                  <a:pt x="127000" y="63500"/>
                </a:moveTo>
                <a:cubicBezTo>
                  <a:pt x="127000" y="89535"/>
                  <a:pt x="111363" y="111919"/>
                  <a:pt x="88900" y="121682"/>
                </a:cubicBezTo>
                <a:lnTo>
                  <a:pt x="88900" y="177800"/>
                </a:lnTo>
                <a:lnTo>
                  <a:pt x="228600" y="177800"/>
                </a:lnTo>
                <a:cubicBezTo>
                  <a:pt x="249634" y="177800"/>
                  <a:pt x="266700" y="160734"/>
                  <a:pt x="266700" y="139700"/>
                </a:cubicBezTo>
                <a:lnTo>
                  <a:pt x="266700" y="121682"/>
                </a:lnTo>
                <a:cubicBezTo>
                  <a:pt x="244237" y="111919"/>
                  <a:pt x="228600" y="89535"/>
                  <a:pt x="228600" y="63500"/>
                </a:cubicBezTo>
                <a:cubicBezTo>
                  <a:pt x="228600" y="28416"/>
                  <a:pt x="257016" y="0"/>
                  <a:pt x="292100" y="0"/>
                </a:cubicBezTo>
                <a:cubicBezTo>
                  <a:pt x="327184" y="0"/>
                  <a:pt x="355600" y="28416"/>
                  <a:pt x="355600" y="63500"/>
                </a:cubicBezTo>
                <a:cubicBezTo>
                  <a:pt x="355600" y="89535"/>
                  <a:pt x="339963" y="111919"/>
                  <a:pt x="317500" y="121682"/>
                </a:cubicBezTo>
                <a:lnTo>
                  <a:pt x="317500" y="139700"/>
                </a:lnTo>
                <a:cubicBezTo>
                  <a:pt x="317500" y="188833"/>
                  <a:pt x="277733" y="228600"/>
                  <a:pt x="228600" y="228600"/>
                </a:cubicBezTo>
                <a:lnTo>
                  <a:pt x="88900" y="228600"/>
                </a:lnTo>
                <a:lnTo>
                  <a:pt x="88900" y="284718"/>
                </a:lnTo>
                <a:cubicBezTo>
                  <a:pt x="111363" y="294481"/>
                  <a:pt x="127000" y="316865"/>
                  <a:pt x="127000" y="342900"/>
                </a:cubicBezTo>
                <a:cubicBezTo>
                  <a:pt x="127000" y="377984"/>
                  <a:pt x="98584" y="406400"/>
                  <a:pt x="63500" y="406400"/>
                </a:cubicBezTo>
                <a:cubicBezTo>
                  <a:pt x="28416" y="406400"/>
                  <a:pt x="0" y="377984"/>
                  <a:pt x="0" y="342900"/>
                </a:cubicBezTo>
                <a:cubicBezTo>
                  <a:pt x="0" y="316865"/>
                  <a:pt x="15637" y="294481"/>
                  <a:pt x="38100" y="284718"/>
                </a:cubicBezTo>
                <a:lnTo>
                  <a:pt x="38100" y="121761"/>
                </a:lnTo>
                <a:cubicBezTo>
                  <a:pt x="15637" y="111919"/>
                  <a:pt x="0" y="89535"/>
                  <a:pt x="0" y="63500"/>
                </a:cubicBezTo>
                <a:cubicBezTo>
                  <a:pt x="0" y="28416"/>
                  <a:pt x="28416" y="0"/>
                  <a:pt x="63500" y="0"/>
                </a:cubicBezTo>
                <a:cubicBezTo>
                  <a:pt x="98584" y="0"/>
                  <a:pt x="127000" y="28416"/>
                  <a:pt x="127000" y="63500"/>
                </a:cubicBezTo>
                <a:close/>
                <a:moveTo>
                  <a:pt x="311150" y="63500"/>
                </a:moveTo>
                <a:cubicBezTo>
                  <a:pt x="311150" y="52986"/>
                  <a:pt x="302614" y="44450"/>
                  <a:pt x="292100" y="44450"/>
                </a:cubicBezTo>
                <a:cubicBezTo>
                  <a:pt x="281586" y="44450"/>
                  <a:pt x="273050" y="52986"/>
                  <a:pt x="273050" y="63500"/>
                </a:cubicBezTo>
                <a:cubicBezTo>
                  <a:pt x="273050" y="74014"/>
                  <a:pt x="281586" y="82550"/>
                  <a:pt x="292100" y="82550"/>
                </a:cubicBezTo>
                <a:cubicBezTo>
                  <a:pt x="302614" y="82550"/>
                  <a:pt x="311150" y="74014"/>
                  <a:pt x="311150" y="63500"/>
                </a:cubicBezTo>
                <a:close/>
                <a:moveTo>
                  <a:pt x="63500" y="361950"/>
                </a:moveTo>
                <a:cubicBezTo>
                  <a:pt x="74014" y="361950"/>
                  <a:pt x="82550" y="353414"/>
                  <a:pt x="82550" y="342900"/>
                </a:cubicBezTo>
                <a:cubicBezTo>
                  <a:pt x="82550" y="332386"/>
                  <a:pt x="74014" y="323850"/>
                  <a:pt x="63500" y="323850"/>
                </a:cubicBezTo>
                <a:cubicBezTo>
                  <a:pt x="52986" y="323850"/>
                  <a:pt x="44450" y="332386"/>
                  <a:pt x="44450" y="342900"/>
                </a:cubicBezTo>
                <a:cubicBezTo>
                  <a:pt x="44450" y="353414"/>
                  <a:pt x="52986" y="361950"/>
                  <a:pt x="63500" y="36195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9232900" y="3492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Backward Compatibility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99500" y="3937000"/>
            <a:ext cx="654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new initialization options without breaking existing code that uses older constructors.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080000"/>
            <a:ext cx="14732000" cy="3175000"/>
          </a:xfrm>
          <a:prstGeom prst="roundRect">
            <a:avLst>
              <a:gd name="adj" fmla="val 5000"/>
            </a:avLst>
          </a:prstGeom>
          <a:solidFill>
            <a:srgbClr val="E6F3F3"/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5080000"/>
            <a:ext cx="63500" cy="3175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3" name="Shape 21"/>
          <p:cNvSpPr/>
          <p:nvPr/>
        </p:nvSpPr>
        <p:spPr>
          <a:xfrm>
            <a:off x="1123950" y="5270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1549400" y="527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Analogy: Bank Account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79500" y="5778500"/>
            <a:ext cx="14097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 of opening a bank account — different levels of information yield different constructor calls: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Account()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Open with just an ID, default zero balance, basic account type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Account(ID, deposit)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Open with ID and initial deposit amount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Account(ID, deposit, type, branch)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Full profile with account type and branch selection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constructor serves a different use case while ensuring the account is always in a valid state.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Text 25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pc2sxsucaenw/mnt/agents/output/oop-constructors/images/5_Code_In_Dark_Aesthetic_Wallpaper.png">    </p:cNvPr>
          <p:cNvPicPr>
            <a:picLocks noChangeAspect="1"/>
          </p:cNvPicPr>
          <p:nvPr/>
        </p:nvPicPr>
        <p:blipFill>
          <a:blip r:embed="rId1"/>
          <a:srcRect l="0" r="0" t="5000" b="500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A1A2E">
              <a:alpha val="9098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016000"/>
            <a:ext cx="5080000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dirty="0">
                <a:solidFill>
                  <a:srgbClr val="FFFFFF">
                    <a:alpha val="6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DEFAULT COPY CONSTRUCTOR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7625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 constructor for creating copies — understanding shallow vs. deep copy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970000" y="3937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71500" y="889000"/>
                </a:moveTo>
                <a:lnTo>
                  <a:pt x="127000" y="889000"/>
                </a:lnTo>
                <a:lnTo>
                  <a:pt x="127000" y="444500"/>
                </a:lnTo>
                <a:lnTo>
                  <a:pt x="222250" y="444500"/>
                </a:lnTo>
                <a:lnTo>
                  <a:pt x="222250" y="317500"/>
                </a:lnTo>
                <a:lnTo>
                  <a:pt x="127000" y="317500"/>
                </a:lnTo>
                <a:cubicBezTo>
                  <a:pt x="56952" y="317500"/>
                  <a:pt x="0" y="374452"/>
                  <a:pt x="0" y="444500"/>
                </a:cubicBezTo>
                <a:lnTo>
                  <a:pt x="0" y="889000"/>
                </a:lnTo>
                <a:cubicBezTo>
                  <a:pt x="0" y="959048"/>
                  <a:pt x="56952" y="1016000"/>
                  <a:pt x="127000" y="1016000"/>
                </a:cubicBezTo>
                <a:lnTo>
                  <a:pt x="571500" y="1016000"/>
                </a:lnTo>
                <a:cubicBezTo>
                  <a:pt x="641548" y="1016000"/>
                  <a:pt x="698500" y="959048"/>
                  <a:pt x="698500" y="889000"/>
                </a:cubicBezTo>
                <a:lnTo>
                  <a:pt x="698500" y="793750"/>
                </a:lnTo>
                <a:lnTo>
                  <a:pt x="571500" y="793750"/>
                </a:lnTo>
                <a:lnTo>
                  <a:pt x="571500" y="889000"/>
                </a:lnTo>
                <a:close/>
                <a:moveTo>
                  <a:pt x="444500" y="698500"/>
                </a:moveTo>
                <a:lnTo>
                  <a:pt x="889000" y="698500"/>
                </a:lnTo>
                <a:cubicBezTo>
                  <a:pt x="959048" y="698500"/>
                  <a:pt x="1016000" y="641548"/>
                  <a:pt x="1016000" y="571500"/>
                </a:cubicBezTo>
                <a:lnTo>
                  <a:pt x="1016000" y="127000"/>
                </a:lnTo>
                <a:cubicBezTo>
                  <a:pt x="1016000" y="56952"/>
                  <a:pt x="959048" y="0"/>
                  <a:pt x="889000" y="0"/>
                </a:cubicBezTo>
                <a:lnTo>
                  <a:pt x="444500" y="0"/>
                </a:lnTo>
                <a:cubicBezTo>
                  <a:pt x="374452" y="0"/>
                  <a:pt x="317500" y="56952"/>
                  <a:pt x="317500" y="127000"/>
                </a:cubicBezTo>
                <a:lnTo>
                  <a:pt x="317500" y="571500"/>
                </a:lnTo>
                <a:cubicBezTo>
                  <a:pt x="317500" y="641548"/>
                  <a:pt x="374452" y="698500"/>
                  <a:pt x="444500" y="698500"/>
                </a:cubicBezTo>
                <a:close/>
              </a:path>
            </a:pathLst>
          </a:custGeom>
          <a:solidFill>
            <a:srgbClr val="0D7377">
              <a:alpha val="18824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Copy Constructor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98600"/>
            <a:ext cx="14732000" cy="1079500"/>
          </a:xfrm>
          <a:prstGeom prst="roundRect">
            <a:avLst>
              <a:gd name="adj" fmla="val 5000"/>
            </a:avLst>
          </a:prstGeom>
          <a:solidFill>
            <a:srgbClr val="E6F3F3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98600"/>
            <a:ext cx="63500" cy="1079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15875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copy constructor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creates a new object as a copy of an existing object. It is automatically provided by the compiler if not explicitly defined.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Signature: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ClassName(const ClassName&amp; other)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85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365500"/>
            <a:ext cx="7112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Takes a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 reference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an object of the same class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 a new object with the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values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the source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Automatically provided by the compiler if not defined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compiler-generated version performs a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shallow (member-wise) copy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778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is it Called?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6286500"/>
            <a:ext cx="3429000" cy="196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38225" y="6477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2225" y="88900"/>
                </a:moveTo>
                <a:cubicBezTo>
                  <a:pt x="9932" y="88900"/>
                  <a:pt x="0" y="98832"/>
                  <a:pt x="0" y="111125"/>
                </a:cubicBezTo>
                <a:cubicBezTo>
                  <a:pt x="0" y="123418"/>
                  <a:pt x="9932" y="133350"/>
                  <a:pt x="22225" y="133350"/>
                </a:cubicBezTo>
                <a:lnTo>
                  <a:pt x="288925" y="133350"/>
                </a:lnTo>
                <a:cubicBezTo>
                  <a:pt x="301218" y="133350"/>
                  <a:pt x="311150" y="123418"/>
                  <a:pt x="311150" y="111125"/>
                </a:cubicBezTo>
                <a:cubicBezTo>
                  <a:pt x="311150" y="98832"/>
                  <a:pt x="301218" y="88900"/>
                  <a:pt x="288925" y="88900"/>
                </a:cubicBezTo>
                <a:lnTo>
                  <a:pt x="22225" y="88900"/>
                </a:lnTo>
                <a:close/>
                <a:moveTo>
                  <a:pt x="22225" y="222250"/>
                </a:moveTo>
                <a:cubicBezTo>
                  <a:pt x="9932" y="222250"/>
                  <a:pt x="0" y="232182"/>
                  <a:pt x="0" y="244475"/>
                </a:cubicBezTo>
                <a:cubicBezTo>
                  <a:pt x="0" y="256768"/>
                  <a:pt x="9932" y="266700"/>
                  <a:pt x="22225" y="266700"/>
                </a:cubicBezTo>
                <a:lnTo>
                  <a:pt x="288925" y="266700"/>
                </a:lnTo>
                <a:cubicBezTo>
                  <a:pt x="301218" y="266700"/>
                  <a:pt x="311150" y="256768"/>
                  <a:pt x="311150" y="244475"/>
                </a:cubicBezTo>
                <a:cubicBezTo>
                  <a:pt x="311150" y="232182"/>
                  <a:pt x="301218" y="222250"/>
                  <a:pt x="288925" y="222250"/>
                </a:cubicBezTo>
                <a:lnTo>
                  <a:pt x="22225" y="22225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1460500" y="6477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Initialization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69215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ClassName obj2 = obj1;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obj2 is created as a copy of obj1 during declaration.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08500" y="6286500"/>
            <a:ext cx="3429000" cy="196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62500" y="647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75" y="66675"/>
                </a:move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lnTo>
                  <a:pt x="311150" y="266700"/>
                </a:lnTo>
                <a:cubicBezTo>
                  <a:pt x="311150" y="278993"/>
                  <a:pt x="301218" y="288925"/>
                  <a:pt x="288925" y="288925"/>
                </a:cubicBezTo>
                <a:lnTo>
                  <a:pt x="244475" y="288925"/>
                </a:lnTo>
                <a:cubicBezTo>
                  <a:pt x="232182" y="288925"/>
                  <a:pt x="222250" y="298857"/>
                  <a:pt x="222250" y="311150"/>
                </a:cubicBezTo>
                <a:cubicBezTo>
                  <a:pt x="222250" y="323443"/>
                  <a:pt x="232182" y="333375"/>
                  <a:pt x="244475" y="333375"/>
                </a:cubicBezTo>
                <a:lnTo>
                  <a:pt x="288925" y="333375"/>
                </a:lnTo>
                <a:cubicBezTo>
                  <a:pt x="325735" y="333375"/>
                  <a:pt x="355600" y="303510"/>
                  <a:pt x="355600" y="266700"/>
                </a:cubicBezTo>
                <a:lnTo>
                  <a:pt x="355600" y="88900"/>
                </a:lnTo>
                <a:cubicBezTo>
                  <a:pt x="355600" y="52090"/>
                  <a:pt x="325735" y="22225"/>
                  <a:pt x="288925" y="22225"/>
                </a:cubicBezTo>
                <a:lnTo>
                  <a:pt x="244475" y="22225"/>
                </a:lnTo>
                <a:cubicBezTo>
                  <a:pt x="232182" y="22225"/>
                  <a:pt x="222250" y="32157"/>
                  <a:pt x="222250" y="44450"/>
                </a:cubicBezTo>
                <a:cubicBezTo>
                  <a:pt x="222250" y="56743"/>
                  <a:pt x="232182" y="66675"/>
                  <a:pt x="244475" y="66675"/>
                </a:cubicBezTo>
                <a:close/>
                <a:moveTo>
                  <a:pt x="237946" y="193496"/>
                </a:moveTo>
                <a:cubicBezTo>
                  <a:pt x="246628" y="184815"/>
                  <a:pt x="246628" y="170716"/>
                  <a:pt x="237946" y="162034"/>
                </a:cubicBezTo>
                <a:lnTo>
                  <a:pt x="149046" y="73134"/>
                </a:lnTo>
                <a:cubicBezTo>
                  <a:pt x="140365" y="64453"/>
                  <a:pt x="126266" y="64453"/>
                  <a:pt x="117584" y="73134"/>
                </a:cubicBezTo>
                <a:cubicBezTo>
                  <a:pt x="108903" y="81816"/>
                  <a:pt x="108903" y="95915"/>
                  <a:pt x="117584" y="104596"/>
                </a:cubicBezTo>
                <a:lnTo>
                  <a:pt x="168563" y="155575"/>
                </a:lnTo>
                <a:lnTo>
                  <a:pt x="22225" y="155575"/>
                </a:ln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168563" y="200025"/>
                </a:lnTo>
                <a:lnTo>
                  <a:pt x="117584" y="251004"/>
                </a:lnTo>
                <a:cubicBezTo>
                  <a:pt x="108903" y="259685"/>
                  <a:pt x="108903" y="273784"/>
                  <a:pt x="117584" y="282466"/>
                </a:cubicBezTo>
                <a:cubicBezTo>
                  <a:pt x="126266" y="291148"/>
                  <a:pt x="140365" y="291148"/>
                  <a:pt x="149046" y="282466"/>
                </a:cubicBezTo>
                <a:lnTo>
                  <a:pt x="237946" y="193566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5207000" y="6477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 by Value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62500" y="69215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void func(ClassName obj)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Parameter obj is a copy of the argument passed.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55000" y="6286500"/>
            <a:ext cx="3429000" cy="196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09000" y="647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11125" y="66675"/>
                </a:moveTo>
                <a:cubicBezTo>
                  <a:pt x="123418" y="66675"/>
                  <a:pt x="133350" y="56743"/>
                  <a:pt x="133350" y="44450"/>
                </a:cubicBezTo>
                <a:cubicBezTo>
                  <a:pt x="133350" y="32157"/>
                  <a:pt x="123418" y="22225"/>
                  <a:pt x="111125" y="22225"/>
                </a:cubicBezTo>
                <a:lnTo>
                  <a:pt x="66675" y="22225"/>
                </a:lnTo>
                <a:cubicBezTo>
                  <a:pt x="29865" y="22225"/>
                  <a:pt x="0" y="52090"/>
                  <a:pt x="0" y="88900"/>
                </a:cubicBezTo>
                <a:lnTo>
                  <a:pt x="0" y="266700"/>
                </a:lnTo>
                <a:cubicBezTo>
                  <a:pt x="0" y="303510"/>
                  <a:pt x="29865" y="333375"/>
                  <a:pt x="66675" y="333375"/>
                </a:cubicBezTo>
                <a:lnTo>
                  <a:pt x="111125" y="333375"/>
                </a:lnTo>
                <a:cubicBezTo>
                  <a:pt x="123418" y="333375"/>
                  <a:pt x="133350" y="323443"/>
                  <a:pt x="133350" y="311150"/>
                </a:cubicBezTo>
                <a:cubicBezTo>
                  <a:pt x="133350" y="298857"/>
                  <a:pt x="123418" y="288925"/>
                  <a:pt x="111125" y="288925"/>
                </a:cubicBezTo>
                <a:lnTo>
                  <a:pt x="66675" y="288925"/>
                </a:lnTo>
                <a:cubicBezTo>
                  <a:pt x="54382" y="288925"/>
                  <a:pt x="44450" y="278993"/>
                  <a:pt x="44450" y="266700"/>
                </a:cubicBezTo>
                <a:lnTo>
                  <a:pt x="44450" y="88900"/>
                </a:lnTo>
                <a:cubicBezTo>
                  <a:pt x="44450" y="76607"/>
                  <a:pt x="54382" y="66675"/>
                  <a:pt x="66675" y="66675"/>
                </a:cubicBezTo>
                <a:lnTo>
                  <a:pt x="111125" y="66675"/>
                </a:lnTo>
                <a:close/>
                <a:moveTo>
                  <a:pt x="349071" y="193496"/>
                </a:moveTo>
                <a:cubicBezTo>
                  <a:pt x="357753" y="184815"/>
                  <a:pt x="357753" y="170716"/>
                  <a:pt x="349071" y="162034"/>
                </a:cubicBezTo>
                <a:lnTo>
                  <a:pt x="260171" y="73134"/>
                </a:lnTo>
                <a:cubicBezTo>
                  <a:pt x="251490" y="64453"/>
                  <a:pt x="237391" y="64453"/>
                  <a:pt x="228709" y="73134"/>
                </a:cubicBezTo>
                <a:cubicBezTo>
                  <a:pt x="220028" y="81816"/>
                  <a:pt x="220028" y="95915"/>
                  <a:pt x="228709" y="104596"/>
                </a:cubicBezTo>
                <a:lnTo>
                  <a:pt x="279688" y="155575"/>
                </a:lnTo>
                <a:lnTo>
                  <a:pt x="133350" y="155575"/>
                </a:lnTo>
                <a:cubicBezTo>
                  <a:pt x="121057" y="155575"/>
                  <a:pt x="111125" y="165507"/>
                  <a:pt x="111125" y="177800"/>
                </a:cubicBezTo>
                <a:cubicBezTo>
                  <a:pt x="111125" y="190093"/>
                  <a:pt x="121057" y="200025"/>
                  <a:pt x="133350" y="200025"/>
                </a:cubicBezTo>
                <a:lnTo>
                  <a:pt x="279688" y="200025"/>
                </a:lnTo>
                <a:lnTo>
                  <a:pt x="228709" y="251004"/>
                </a:lnTo>
                <a:cubicBezTo>
                  <a:pt x="220027" y="259685"/>
                  <a:pt x="220027" y="273784"/>
                  <a:pt x="228709" y="282466"/>
                </a:cubicBezTo>
                <a:cubicBezTo>
                  <a:pt x="237391" y="291148"/>
                  <a:pt x="251490" y="291148"/>
                  <a:pt x="260171" y="282466"/>
                </a:cubicBezTo>
                <a:lnTo>
                  <a:pt x="349071" y="193566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8953500" y="6477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 by Value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09000" y="69215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localObj;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Returned object is a copy of the local variable.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001500" y="6286500"/>
            <a:ext cx="3492500" cy="196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2233275" y="6477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33350" y="66675"/>
                </a:moveTo>
                <a:cubicBezTo>
                  <a:pt x="133350" y="29865"/>
                  <a:pt x="163215" y="0"/>
                  <a:pt x="200025" y="0"/>
                </a:cubicBezTo>
                <a:cubicBezTo>
                  <a:pt x="236835" y="0"/>
                  <a:pt x="266700" y="29865"/>
                  <a:pt x="266700" y="66675"/>
                </a:cubicBezTo>
                <a:lnTo>
                  <a:pt x="266700" y="69175"/>
                </a:lnTo>
                <a:cubicBezTo>
                  <a:pt x="266700" y="80079"/>
                  <a:pt x="257879" y="88900"/>
                  <a:pt x="246975" y="88900"/>
                </a:cubicBezTo>
                <a:lnTo>
                  <a:pt x="153144" y="88900"/>
                </a:lnTo>
                <a:cubicBezTo>
                  <a:pt x="142240" y="88900"/>
                  <a:pt x="133419" y="80079"/>
                  <a:pt x="133419" y="69175"/>
                </a:cubicBezTo>
                <a:lnTo>
                  <a:pt x="133419" y="66675"/>
                </a:lnTo>
                <a:close/>
                <a:moveTo>
                  <a:pt x="373380" y="75565"/>
                </a:moveTo>
                <a:cubicBezTo>
                  <a:pt x="380742" y="85358"/>
                  <a:pt x="378728" y="99318"/>
                  <a:pt x="368935" y="106680"/>
                </a:cubicBezTo>
                <a:lnTo>
                  <a:pt x="301010" y="157589"/>
                </a:lnTo>
                <a:cubicBezTo>
                  <a:pt x="304691" y="163770"/>
                  <a:pt x="307469" y="170577"/>
                  <a:pt x="309205" y="177800"/>
                </a:cubicBezTo>
                <a:lnTo>
                  <a:pt x="377825" y="177800"/>
                </a:lnTo>
                <a:cubicBezTo>
                  <a:pt x="390118" y="177800"/>
                  <a:pt x="400050" y="187732"/>
                  <a:pt x="400050" y="200025"/>
                </a:cubicBezTo>
                <a:cubicBezTo>
                  <a:pt x="400050" y="212318"/>
                  <a:pt x="390118" y="222250"/>
                  <a:pt x="377825" y="222250"/>
                </a:cubicBezTo>
                <a:lnTo>
                  <a:pt x="311150" y="222250"/>
                </a:lnTo>
                <a:lnTo>
                  <a:pt x="311150" y="244475"/>
                </a:lnTo>
                <a:cubicBezTo>
                  <a:pt x="311150" y="246281"/>
                  <a:pt x="311081" y="248156"/>
                  <a:pt x="311011" y="249962"/>
                </a:cubicBezTo>
                <a:lnTo>
                  <a:pt x="368935" y="293370"/>
                </a:lnTo>
                <a:cubicBezTo>
                  <a:pt x="378728" y="300732"/>
                  <a:pt x="380742" y="314692"/>
                  <a:pt x="373380" y="324485"/>
                </a:cubicBezTo>
                <a:cubicBezTo>
                  <a:pt x="366018" y="334278"/>
                  <a:pt x="352058" y="336292"/>
                  <a:pt x="342265" y="328930"/>
                </a:cubicBezTo>
                <a:lnTo>
                  <a:pt x="298440" y="296079"/>
                </a:lnTo>
                <a:cubicBezTo>
                  <a:pt x="282327" y="326777"/>
                  <a:pt x="252254" y="349002"/>
                  <a:pt x="216694" y="354350"/>
                </a:cubicBezTo>
                <a:lnTo>
                  <a:pt x="216694" y="194469"/>
                </a:lnTo>
                <a:cubicBezTo>
                  <a:pt x="216694" y="185231"/>
                  <a:pt x="209262" y="177800"/>
                  <a:pt x="200025" y="177800"/>
                </a:cubicBezTo>
                <a:cubicBezTo>
                  <a:pt x="190788" y="177800"/>
                  <a:pt x="183356" y="185231"/>
                  <a:pt x="183356" y="194469"/>
                </a:cubicBezTo>
                <a:lnTo>
                  <a:pt x="183356" y="354350"/>
                </a:lnTo>
                <a:cubicBezTo>
                  <a:pt x="147796" y="349002"/>
                  <a:pt x="117723" y="326777"/>
                  <a:pt x="101610" y="296079"/>
                </a:cubicBezTo>
                <a:lnTo>
                  <a:pt x="57785" y="328930"/>
                </a:lnTo>
                <a:cubicBezTo>
                  <a:pt x="47992" y="336292"/>
                  <a:pt x="34032" y="334278"/>
                  <a:pt x="26670" y="324485"/>
                </a:cubicBezTo>
                <a:cubicBezTo>
                  <a:pt x="19308" y="314692"/>
                  <a:pt x="21322" y="300732"/>
                  <a:pt x="31115" y="293370"/>
                </a:cubicBezTo>
                <a:lnTo>
                  <a:pt x="89039" y="249962"/>
                </a:lnTo>
                <a:cubicBezTo>
                  <a:pt x="88969" y="248156"/>
                  <a:pt x="88900" y="246350"/>
                  <a:pt x="88900" y="244475"/>
                </a:cubicBezTo>
                <a:lnTo>
                  <a:pt x="88900" y="222250"/>
                </a:lnTo>
                <a:lnTo>
                  <a:pt x="22225" y="222250"/>
                </a:lnTo>
                <a:cubicBezTo>
                  <a:pt x="9932" y="222250"/>
                  <a:pt x="0" y="212318"/>
                  <a:pt x="0" y="200025"/>
                </a:cubicBezTo>
                <a:cubicBezTo>
                  <a:pt x="0" y="187732"/>
                  <a:pt x="9932" y="177800"/>
                  <a:pt x="22225" y="177800"/>
                </a:cubicBezTo>
                <a:lnTo>
                  <a:pt x="90845" y="177800"/>
                </a:lnTo>
                <a:cubicBezTo>
                  <a:pt x="92581" y="170577"/>
                  <a:pt x="95359" y="163770"/>
                  <a:pt x="99040" y="157589"/>
                </a:cubicBezTo>
                <a:lnTo>
                  <a:pt x="31115" y="106680"/>
                </a:lnTo>
                <a:cubicBezTo>
                  <a:pt x="21322" y="99318"/>
                  <a:pt x="19308" y="85358"/>
                  <a:pt x="26670" y="75565"/>
                </a:cubicBezTo>
                <a:cubicBezTo>
                  <a:pt x="34032" y="65772"/>
                  <a:pt x="47992" y="63758"/>
                  <a:pt x="57785" y="71120"/>
                </a:cubicBezTo>
                <a:lnTo>
                  <a:pt x="133350" y="127794"/>
                </a:lnTo>
                <a:cubicBezTo>
                  <a:pt x="141893" y="124252"/>
                  <a:pt x="151269" y="122238"/>
                  <a:pt x="161131" y="122238"/>
                </a:cubicBezTo>
                <a:lnTo>
                  <a:pt x="238919" y="122238"/>
                </a:lnTo>
                <a:cubicBezTo>
                  <a:pt x="248781" y="122238"/>
                  <a:pt x="258157" y="124182"/>
                  <a:pt x="266700" y="127794"/>
                </a:cubicBezTo>
                <a:lnTo>
                  <a:pt x="342265" y="71120"/>
                </a:lnTo>
                <a:cubicBezTo>
                  <a:pt x="352058" y="63758"/>
                  <a:pt x="366018" y="65772"/>
                  <a:pt x="373380" y="75565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5" name="Text 23"/>
          <p:cNvSpPr/>
          <p:nvPr/>
        </p:nvSpPr>
        <p:spPr>
          <a:xfrm>
            <a:off x="12700000" y="6477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255500" y="6921500"/>
            <a:ext cx="2984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throw obj;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Exception object is copied when thrown and caught.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82000" y="2857500"/>
            <a:ext cx="7112000" cy="2222500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/>
        </p:spPr>
      </p:sp>
      <p:sp>
        <p:nvSpPr>
          <p:cNvPr id="28" name="Shape 26"/>
          <p:cNvSpPr/>
          <p:nvPr/>
        </p:nvSpPr>
        <p:spPr>
          <a:xfrm>
            <a:off x="8382000" y="2857500"/>
            <a:ext cx="63500" cy="22225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29" name="Shape 27"/>
          <p:cNvSpPr/>
          <p:nvPr/>
        </p:nvSpPr>
        <p:spPr>
          <a:xfrm>
            <a:off x="8699500" y="304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30" name="Text 28"/>
          <p:cNvSpPr/>
          <p:nvPr/>
        </p:nvSpPr>
        <p:spPr>
          <a:xfrm>
            <a:off x="9118600" y="3048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Assignment!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99500" y="3492500"/>
            <a:ext cx="6540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ClassName obj2; obj2 = obj1;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does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call the copy constructor — it calls the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assignment operator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Copy constructor is only called during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creation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assignment to an existing object.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Text 31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is the Copy Constructor Invoked?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common scenarios that trigger copy constructor invocation. Understanding these helps optimize code and avoid unnecessary copying.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159000"/>
            <a:ext cx="7048500" cy="27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52500" y="2286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14500" y="2286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Direct Initialization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794000"/>
            <a:ext cx="647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ClassName obj2 = obj1;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403600"/>
            <a:ext cx="647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obj2 is created as a copy of obj1. This is the most explicit form of copy construction. Both objects are independent after creation.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45500" y="2159000"/>
            <a:ext cx="7048500" cy="27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36000" y="2286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98000" y="2286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 by Value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99500" y="2794000"/>
            <a:ext cx="647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 func(ClassName obj)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99500" y="3403600"/>
            <a:ext cx="647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an object is passed by value, the parameter is a copy of the argument. The copy constructor creates this duplicate before entering the function body.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270500"/>
            <a:ext cx="7048500" cy="27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2500" y="5397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14500" y="5397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 by Value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5905500"/>
            <a:ext cx="647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 localObj;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6515100"/>
            <a:ext cx="647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returning a local object by value, a copy is made for the caller. Modern compilers apply RVO (Return Value Optimization) to skip unnecessary copies.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445500" y="5270500"/>
            <a:ext cx="7048500" cy="27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36000" y="5397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98000" y="5397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 Handling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99500" y="5905500"/>
            <a:ext cx="647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 obj;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99500" y="6515100"/>
            <a:ext cx="647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an exception object is thrown, it is copied to the exception handling mechanism. The copy ensures the exception survives stack unwinding.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Text 25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Shallow Copy vs. Deep Copy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7048500" cy="673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6000" y="1714500"/>
            <a:ext cx="1905000" cy="355600"/>
          </a:xfrm>
          <a:prstGeom prst="roundRect">
            <a:avLst>
              <a:gd name="adj" fmla="val 14000"/>
            </a:avLst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7145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SHALLOW COPY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222500"/>
            <a:ext cx="6540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behavior of the compiler-generated copy constructor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667000"/>
            <a:ext cx="6540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Copies the values of all data members as-is. For pointer members,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the pointer address is copied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both objects point to the same memory location.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Problem: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one object is destroyed, the other has a dangling pointer. Double-free occurs when both are destroyed.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4572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LAYOUT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70000" y="5016500"/>
            <a:ext cx="2032000" cy="889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1270000" y="5016500"/>
            <a:ext cx="20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Original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ptr = 0x1000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83000" y="5334000"/>
            <a:ext cx="762000" cy="0"/>
          </a:xfrm>
          <a:prstGeom prst="straightConnector1">
            <a:avLst/>
          </a:prstGeom>
          <a:noFill/>
          <a:ln w="25400">
            <a:solidFill>
              <a:srgbClr val="E85D4A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4826000" y="5016500"/>
            <a:ext cx="2032000" cy="889000"/>
          </a:xfrm>
          <a:prstGeom prst="roundRect">
            <a:avLst>
              <a:gd name="adj" fmla="val 8000"/>
            </a:avLst>
          </a:prstGeom>
          <a:solidFill>
            <a:srgbClr val="E85D4A"/>
          </a:solidFill>
          <a:ln/>
        </p:spPr>
      </p:sp>
      <p:sp>
        <p:nvSpPr>
          <p:cNvPr id="15" name="Text 13"/>
          <p:cNvSpPr/>
          <p:nvPr/>
        </p:nvSpPr>
        <p:spPr>
          <a:xfrm>
            <a:off x="4826000" y="5016500"/>
            <a:ext cx="20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Copy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ptr = 0x1000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667000" y="6223000"/>
            <a:ext cx="2794000" cy="762000"/>
          </a:xfrm>
          <a:prstGeom prst="roundRect">
            <a:avLst>
              <a:gd name="adj" fmla="val 8000"/>
            </a:avLst>
          </a:prstGeom>
          <a:solidFill>
            <a:srgbClr val="64748B">
              <a:alpha val="18824"/>
            </a:srgbClr>
          </a:solidFill>
          <a:ln w="25400">
            <a:solidFill>
              <a:srgbClr val="64748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2667000" y="62230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Heap Memory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0x1000 (shared!)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286000" y="5905500"/>
            <a:ext cx="1016000" cy="317500"/>
          </a:xfrm>
          <a:prstGeom prst="straightConnector1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4826000" y="5905500"/>
            <a:ext cx="0" cy="317500"/>
          </a:xfrm>
          <a:prstGeom prst="straightConnector1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1016000" y="7175500"/>
            <a:ext cx="6540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objects share the same heap memory. Modifying data through one affects the other. When destroyed, both try to delete the same memory.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445500" y="1524000"/>
            <a:ext cx="7048500" cy="6731000"/>
          </a:xfrm>
          <a:prstGeom prst="roundRect">
            <a:avLst>
              <a:gd name="adj" fmla="val 5000"/>
            </a:avLst>
          </a:prstGeom>
          <a:solidFill>
            <a:srgbClr val="E6F3F3"/>
          </a:solidFill>
          <a:ln/>
        </p:spPr>
      </p:sp>
      <p:sp>
        <p:nvSpPr>
          <p:cNvPr id="22" name="Shape 20"/>
          <p:cNvSpPr/>
          <p:nvPr/>
        </p:nvSpPr>
        <p:spPr>
          <a:xfrm>
            <a:off x="8699500" y="1714500"/>
            <a:ext cx="1651000" cy="355600"/>
          </a:xfrm>
          <a:prstGeom prst="roundRect">
            <a:avLst>
              <a:gd name="adj" fmla="val 14000"/>
            </a:avLst>
          </a:pr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8699500" y="1714500"/>
            <a:ext cx="165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COPY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99500" y="2222500"/>
            <a:ext cx="6540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implementation for classes with pointer members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99500" y="2667000"/>
            <a:ext cx="6540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Allocates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memory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copies the actual data pointed to. Each object has its own independent copy of dynamic data.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Benefit: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Objects are fully independent. Destroying one does not affect the other. Safe and predictable behavior.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99500" y="4572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LAYOUT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953500" y="5016500"/>
            <a:ext cx="2032000" cy="889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28" name="Text 26"/>
          <p:cNvSpPr/>
          <p:nvPr/>
        </p:nvSpPr>
        <p:spPr>
          <a:xfrm>
            <a:off x="8953500" y="5016500"/>
            <a:ext cx="20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Original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ptr = 0x1000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366500" y="5334000"/>
            <a:ext cx="762000" cy="0"/>
          </a:xfrm>
          <a:prstGeom prst="straightConnector1">
            <a:avLst/>
          </a:prstGeom>
          <a:noFill/>
          <a:ln w="25400">
            <a:solidFill>
              <a:srgbClr val="0D7377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12509500" y="5016500"/>
            <a:ext cx="2032000" cy="889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31" name="Text 29"/>
          <p:cNvSpPr/>
          <p:nvPr/>
        </p:nvSpPr>
        <p:spPr>
          <a:xfrm>
            <a:off x="12509500" y="5016500"/>
            <a:ext cx="20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Copy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ptr = 0x2000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17000" y="6223000"/>
            <a:ext cx="1905000" cy="762000"/>
          </a:xfrm>
          <a:prstGeom prst="roundRect">
            <a:avLst>
              <a:gd name="adj" fmla="val 8000"/>
            </a:avLst>
          </a:prstGeom>
          <a:solidFill>
            <a:srgbClr val="0D7377">
              <a:alpha val="12549"/>
            </a:srgbClr>
          </a:solidFill>
          <a:ln w="25400">
            <a:solidFill>
              <a:srgbClr val="0D7377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9017000" y="622300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Heap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0x1000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573000" y="6223000"/>
            <a:ext cx="1905000" cy="762000"/>
          </a:xfrm>
          <a:prstGeom prst="roundRect">
            <a:avLst>
              <a:gd name="adj" fmla="val 8000"/>
            </a:avLst>
          </a:prstGeom>
          <a:solidFill>
            <a:srgbClr val="0D7377">
              <a:alpha val="12549"/>
            </a:srgbClr>
          </a:solidFill>
          <a:ln w="25400">
            <a:solidFill>
              <a:srgbClr val="0D7377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2573000" y="622300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Heap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0x2000 (copy)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969500" y="5905500"/>
            <a:ext cx="0" cy="317500"/>
          </a:xfrm>
          <a:prstGeom prst="straightConnector1">
            <a:avLst/>
          </a:prstGeom>
          <a:noFill/>
          <a:ln w="12700">
            <a:solidFill>
              <a:srgbClr val="0D7377"/>
            </a:solidFill>
            <a:prstDash val="solid"/>
            <a:headEnd type="none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13525500" y="5905500"/>
            <a:ext cx="0" cy="317500"/>
          </a:xfrm>
          <a:prstGeom prst="straightConnector1">
            <a:avLst/>
          </a:prstGeom>
          <a:noFill/>
          <a:ln w="12700">
            <a:solidFill>
              <a:srgbClr val="0D7377"/>
            </a:solidFill>
            <a:prstDash val="solid"/>
            <a:headEnd type="none"/>
            <a:tailEnd type="arrow"/>
          </a:ln>
        </p:spPr>
      </p:sp>
      <p:sp>
        <p:nvSpPr>
          <p:cNvPr id="38" name="Text 36"/>
          <p:cNvSpPr/>
          <p:nvPr/>
        </p:nvSpPr>
        <p:spPr>
          <a:xfrm>
            <a:off x="8699500" y="7175500"/>
            <a:ext cx="6540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object has its own independent heap memory. Data is duplicated. Objects can be safely modified and destroyed independently.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0" name="Text 38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Implementing a Custom Copy Constructor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Problem: Shallow Copy with Pointers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9304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String class with a dynamic character array. The default shallow copy makes both objects share the same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char*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buffer: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Modifying one affects the other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Double-free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occurs on destruction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82000" y="1498600"/>
            <a:ext cx="7112000" cy="177800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0" y="1625600"/>
            <a:ext cx="660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Default shallow copy (PROBLEMATIC)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s1(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"Hello"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s2 = s1;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Both point to same memory!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s1[0] =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'J'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s2 also sees 'J'!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Destructor called twice → crash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556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Solution: Deep Copy Implementation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4000500"/>
            <a:ext cx="8890000" cy="2921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4127500"/>
            <a:ext cx="838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String {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data;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size;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Custom copy constructor — DEEP COPY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String(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String&amp; other) {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size = other.size;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= 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[size + 1]; 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New memory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strcpy(data, other.data); 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Copy actual data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 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Each object has its own buffer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160000" y="4000500"/>
            <a:ext cx="5334000" cy="2921000"/>
          </a:xfrm>
          <a:prstGeom prst="roundRect">
            <a:avLst>
              <a:gd name="adj" fmla="val 5000"/>
            </a:avLst>
          </a:prstGeom>
          <a:solidFill>
            <a:srgbClr val="E6F3F3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0" y="4000500"/>
            <a:ext cx="63500" cy="2921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0" y="412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Steps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477500" y="4572000"/>
            <a:ext cx="476250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Copy non-pointer members directly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Allocate new memory for pointer members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Copy the actual data, not just the pointer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Follow the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 of Three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if you need a custom copy constructor, you likely also need a custom destructor and copy assignment operator.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72390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16000" y="73406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Rule of Three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7683500"/>
            <a:ext cx="1422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a class defines any of: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copy constructor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copy assignment operator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or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destructor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it should probably define all three.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Text 18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Pitfalls &amp; Best Practices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Pitfalls to Avoid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968500"/>
            <a:ext cx="7048500" cy="114300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968500"/>
            <a:ext cx="63500" cy="11430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8" name="Shape 6"/>
          <p:cNvSpPr/>
          <p:nvPr/>
        </p:nvSpPr>
        <p:spPr>
          <a:xfrm>
            <a:off x="1025525" y="21336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30068" y="40055"/>
                </a:moveTo>
                <a:cubicBezTo>
                  <a:pt x="23247" y="33233"/>
                  <a:pt x="12169" y="33233"/>
                  <a:pt x="5348" y="40055"/>
                </a:cubicBezTo>
                <a:cubicBezTo>
                  <a:pt x="-1473" y="46876"/>
                  <a:pt x="-1473" y="57954"/>
                  <a:pt x="5348" y="64775"/>
                </a:cubicBezTo>
                <a:lnTo>
                  <a:pt x="80328" y="139700"/>
                </a:lnTo>
                <a:lnTo>
                  <a:pt x="5402" y="214680"/>
                </a:lnTo>
                <a:cubicBezTo>
                  <a:pt x="-1419" y="221501"/>
                  <a:pt x="-1419" y="232579"/>
                  <a:pt x="5402" y="239400"/>
                </a:cubicBezTo>
                <a:cubicBezTo>
                  <a:pt x="12224" y="246221"/>
                  <a:pt x="23302" y="246221"/>
                  <a:pt x="30123" y="239400"/>
                </a:cubicBezTo>
                <a:lnTo>
                  <a:pt x="105048" y="164420"/>
                </a:lnTo>
                <a:lnTo>
                  <a:pt x="180027" y="239345"/>
                </a:lnTo>
                <a:cubicBezTo>
                  <a:pt x="186849" y="246167"/>
                  <a:pt x="197927" y="246167"/>
                  <a:pt x="204748" y="239345"/>
                </a:cubicBezTo>
                <a:cubicBezTo>
                  <a:pt x="211569" y="232524"/>
                  <a:pt x="211569" y="221446"/>
                  <a:pt x="204748" y="214625"/>
                </a:cubicBezTo>
                <a:lnTo>
                  <a:pt x="129768" y="139700"/>
                </a:lnTo>
                <a:lnTo>
                  <a:pt x="204693" y="64720"/>
                </a:lnTo>
                <a:cubicBezTo>
                  <a:pt x="211515" y="57899"/>
                  <a:pt x="211515" y="46821"/>
                  <a:pt x="204693" y="40000"/>
                </a:cubicBezTo>
                <a:cubicBezTo>
                  <a:pt x="197872" y="33179"/>
                  <a:pt x="186794" y="33179"/>
                  <a:pt x="179973" y="40000"/>
                </a:cubicBezTo>
                <a:lnTo>
                  <a:pt x="105048" y="114980"/>
                </a:lnTo>
                <a:lnTo>
                  <a:pt x="30068" y="40055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057400"/>
            <a:ext cx="622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Relying on default copy constructor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classes with pointers — always implement deep copy when managing dynamic memory.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45500" y="1968500"/>
            <a:ext cx="7048500" cy="114300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/>
        </p:spPr>
      </p:sp>
      <p:sp>
        <p:nvSpPr>
          <p:cNvPr id="11" name="Shape 9"/>
          <p:cNvSpPr/>
          <p:nvPr/>
        </p:nvSpPr>
        <p:spPr>
          <a:xfrm>
            <a:off x="8445500" y="1968500"/>
            <a:ext cx="63500" cy="11430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12" name="Shape 10"/>
          <p:cNvSpPr/>
          <p:nvPr/>
        </p:nvSpPr>
        <p:spPr>
          <a:xfrm>
            <a:off x="8709025" y="21336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30068" y="40055"/>
                </a:moveTo>
                <a:cubicBezTo>
                  <a:pt x="23247" y="33233"/>
                  <a:pt x="12169" y="33233"/>
                  <a:pt x="5348" y="40055"/>
                </a:cubicBezTo>
                <a:cubicBezTo>
                  <a:pt x="-1473" y="46876"/>
                  <a:pt x="-1473" y="57954"/>
                  <a:pt x="5348" y="64775"/>
                </a:cubicBezTo>
                <a:lnTo>
                  <a:pt x="80328" y="139700"/>
                </a:lnTo>
                <a:lnTo>
                  <a:pt x="5402" y="214680"/>
                </a:lnTo>
                <a:cubicBezTo>
                  <a:pt x="-1419" y="221501"/>
                  <a:pt x="-1419" y="232579"/>
                  <a:pt x="5402" y="239400"/>
                </a:cubicBezTo>
                <a:cubicBezTo>
                  <a:pt x="12224" y="246221"/>
                  <a:pt x="23302" y="246221"/>
                  <a:pt x="30123" y="239400"/>
                </a:cubicBezTo>
                <a:lnTo>
                  <a:pt x="105048" y="164420"/>
                </a:lnTo>
                <a:lnTo>
                  <a:pt x="180027" y="239345"/>
                </a:lnTo>
                <a:cubicBezTo>
                  <a:pt x="186849" y="246167"/>
                  <a:pt x="197927" y="246167"/>
                  <a:pt x="204748" y="239345"/>
                </a:cubicBezTo>
                <a:cubicBezTo>
                  <a:pt x="211569" y="232524"/>
                  <a:pt x="211569" y="221446"/>
                  <a:pt x="204748" y="214625"/>
                </a:cubicBezTo>
                <a:lnTo>
                  <a:pt x="129768" y="139700"/>
                </a:lnTo>
                <a:lnTo>
                  <a:pt x="204693" y="64720"/>
                </a:lnTo>
                <a:cubicBezTo>
                  <a:pt x="211515" y="57899"/>
                  <a:pt x="211515" y="46821"/>
                  <a:pt x="204693" y="40000"/>
                </a:cubicBezTo>
                <a:cubicBezTo>
                  <a:pt x="197872" y="33179"/>
                  <a:pt x="186794" y="33179"/>
                  <a:pt x="179973" y="40000"/>
                </a:cubicBezTo>
                <a:lnTo>
                  <a:pt x="105048" y="114980"/>
                </a:lnTo>
                <a:lnTo>
                  <a:pt x="30068" y="40055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3" name="Text 11"/>
          <p:cNvSpPr/>
          <p:nvPr/>
        </p:nvSpPr>
        <p:spPr>
          <a:xfrm>
            <a:off x="9055100" y="2057400"/>
            <a:ext cx="622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Forgetting to copy all members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 custom copy constructor — every data member must be properly initialized.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302000"/>
            <a:ext cx="7048500" cy="114300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3302000"/>
            <a:ext cx="63500" cy="11430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5525" y="34671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30068" y="40055"/>
                </a:moveTo>
                <a:cubicBezTo>
                  <a:pt x="23247" y="33233"/>
                  <a:pt x="12169" y="33233"/>
                  <a:pt x="5348" y="40055"/>
                </a:cubicBezTo>
                <a:cubicBezTo>
                  <a:pt x="-1473" y="46876"/>
                  <a:pt x="-1473" y="57954"/>
                  <a:pt x="5348" y="64775"/>
                </a:cubicBezTo>
                <a:lnTo>
                  <a:pt x="80328" y="139700"/>
                </a:lnTo>
                <a:lnTo>
                  <a:pt x="5402" y="214680"/>
                </a:lnTo>
                <a:cubicBezTo>
                  <a:pt x="-1419" y="221501"/>
                  <a:pt x="-1419" y="232579"/>
                  <a:pt x="5402" y="239400"/>
                </a:cubicBezTo>
                <a:cubicBezTo>
                  <a:pt x="12224" y="246221"/>
                  <a:pt x="23302" y="246221"/>
                  <a:pt x="30123" y="239400"/>
                </a:cubicBezTo>
                <a:lnTo>
                  <a:pt x="105048" y="164420"/>
                </a:lnTo>
                <a:lnTo>
                  <a:pt x="180027" y="239345"/>
                </a:lnTo>
                <a:cubicBezTo>
                  <a:pt x="186849" y="246167"/>
                  <a:pt x="197927" y="246167"/>
                  <a:pt x="204748" y="239345"/>
                </a:cubicBezTo>
                <a:cubicBezTo>
                  <a:pt x="211569" y="232524"/>
                  <a:pt x="211569" y="221446"/>
                  <a:pt x="204748" y="214625"/>
                </a:cubicBezTo>
                <a:lnTo>
                  <a:pt x="129768" y="139700"/>
                </a:lnTo>
                <a:lnTo>
                  <a:pt x="204693" y="64720"/>
                </a:lnTo>
                <a:cubicBezTo>
                  <a:pt x="211515" y="57899"/>
                  <a:pt x="211515" y="46821"/>
                  <a:pt x="204693" y="40000"/>
                </a:cubicBezTo>
                <a:cubicBezTo>
                  <a:pt x="197872" y="33179"/>
                  <a:pt x="186794" y="33179"/>
                  <a:pt x="179973" y="40000"/>
                </a:cubicBezTo>
                <a:lnTo>
                  <a:pt x="105048" y="114980"/>
                </a:lnTo>
                <a:lnTo>
                  <a:pt x="30068" y="40055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3390900"/>
            <a:ext cx="622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handling self-assignment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check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!= &amp;other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before copying to prevent corrupting your own data.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445500" y="3302000"/>
            <a:ext cx="7048500" cy="114300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45500" y="3302000"/>
            <a:ext cx="63500" cy="11430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20" name="Shape 18"/>
          <p:cNvSpPr/>
          <p:nvPr/>
        </p:nvSpPr>
        <p:spPr>
          <a:xfrm>
            <a:off x="8709025" y="34671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30068" y="40055"/>
                </a:moveTo>
                <a:cubicBezTo>
                  <a:pt x="23247" y="33233"/>
                  <a:pt x="12169" y="33233"/>
                  <a:pt x="5348" y="40055"/>
                </a:cubicBezTo>
                <a:cubicBezTo>
                  <a:pt x="-1473" y="46876"/>
                  <a:pt x="-1473" y="57954"/>
                  <a:pt x="5348" y="64775"/>
                </a:cubicBezTo>
                <a:lnTo>
                  <a:pt x="80328" y="139700"/>
                </a:lnTo>
                <a:lnTo>
                  <a:pt x="5402" y="214680"/>
                </a:lnTo>
                <a:cubicBezTo>
                  <a:pt x="-1419" y="221501"/>
                  <a:pt x="-1419" y="232579"/>
                  <a:pt x="5402" y="239400"/>
                </a:cubicBezTo>
                <a:cubicBezTo>
                  <a:pt x="12224" y="246221"/>
                  <a:pt x="23302" y="246221"/>
                  <a:pt x="30123" y="239400"/>
                </a:cubicBezTo>
                <a:lnTo>
                  <a:pt x="105048" y="164420"/>
                </a:lnTo>
                <a:lnTo>
                  <a:pt x="180027" y="239345"/>
                </a:lnTo>
                <a:cubicBezTo>
                  <a:pt x="186849" y="246167"/>
                  <a:pt x="197927" y="246167"/>
                  <a:pt x="204748" y="239345"/>
                </a:cubicBezTo>
                <a:cubicBezTo>
                  <a:pt x="211569" y="232524"/>
                  <a:pt x="211569" y="221446"/>
                  <a:pt x="204748" y="214625"/>
                </a:cubicBezTo>
                <a:lnTo>
                  <a:pt x="129768" y="139700"/>
                </a:lnTo>
                <a:lnTo>
                  <a:pt x="204693" y="64720"/>
                </a:lnTo>
                <a:cubicBezTo>
                  <a:pt x="211515" y="57899"/>
                  <a:pt x="211515" y="46821"/>
                  <a:pt x="204693" y="40000"/>
                </a:cubicBezTo>
                <a:cubicBezTo>
                  <a:pt x="197872" y="33179"/>
                  <a:pt x="186794" y="33179"/>
                  <a:pt x="179973" y="40000"/>
                </a:cubicBezTo>
                <a:lnTo>
                  <a:pt x="105048" y="114980"/>
                </a:lnTo>
                <a:lnTo>
                  <a:pt x="30068" y="40055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21" name="Text 19"/>
          <p:cNvSpPr/>
          <p:nvPr/>
        </p:nvSpPr>
        <p:spPr>
          <a:xfrm>
            <a:off x="9055100" y="3390900"/>
            <a:ext cx="622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Copying without allocating new memory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assigning the pointer directly creates a shallow copy, not a deep copy.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4762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5232400"/>
            <a:ext cx="4699000" cy="1397000"/>
          </a:xfrm>
          <a:prstGeom prst="roundRect">
            <a:avLst>
              <a:gd name="adj" fmla="val 6000"/>
            </a:avLst>
          </a:prstGeom>
          <a:solidFill>
            <a:srgbClr val="E6F3F3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9650" y="5397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58842" y="41731"/>
                </a:moveTo>
                <a:cubicBezTo>
                  <a:pt x="267355" y="47923"/>
                  <a:pt x="269260" y="59829"/>
                  <a:pt x="263069" y="68342"/>
                </a:cubicBezTo>
                <a:lnTo>
                  <a:pt x="110669" y="277892"/>
                </a:lnTo>
                <a:cubicBezTo>
                  <a:pt x="107394" y="282416"/>
                  <a:pt x="102334" y="285214"/>
                  <a:pt x="96738" y="285690"/>
                </a:cubicBezTo>
                <a:cubicBezTo>
                  <a:pt x="91142" y="286167"/>
                  <a:pt x="85725" y="284083"/>
                  <a:pt x="81796" y="280154"/>
                </a:cubicBezTo>
                <a:lnTo>
                  <a:pt x="5596" y="203954"/>
                </a:lnTo>
                <a:cubicBezTo>
                  <a:pt x="-1845" y="196513"/>
                  <a:pt x="-1845" y="184428"/>
                  <a:pt x="5596" y="176986"/>
                </a:cubicBezTo>
                <a:cubicBezTo>
                  <a:pt x="13037" y="169545"/>
                  <a:pt x="25122" y="169545"/>
                  <a:pt x="32564" y="176986"/>
                </a:cubicBezTo>
                <a:lnTo>
                  <a:pt x="92988" y="237411"/>
                </a:lnTo>
                <a:lnTo>
                  <a:pt x="232291" y="45899"/>
                </a:lnTo>
                <a:cubicBezTo>
                  <a:pt x="238482" y="37386"/>
                  <a:pt x="250388" y="35481"/>
                  <a:pt x="258901" y="41672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5" name="Text 23"/>
          <p:cNvSpPr/>
          <p:nvPr/>
        </p:nvSpPr>
        <p:spPr>
          <a:xfrm>
            <a:off x="1397000" y="5397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Initializer Lists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0600" y="5778500"/>
            <a:ext cx="425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use member initializer lists in copy constructors for efficiency and correctness.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78500" y="5232400"/>
            <a:ext cx="4699000" cy="1397000"/>
          </a:xfrm>
          <a:prstGeom prst="roundRect">
            <a:avLst>
              <a:gd name="adj" fmla="val 6000"/>
            </a:avLst>
          </a:prstGeom>
          <a:solidFill>
            <a:srgbClr val="E6F3F3"/>
          </a:solidFill>
          <a:ln/>
        </p:spPr>
      </p:sp>
      <p:sp>
        <p:nvSpPr>
          <p:cNvPr id="28" name="Shape 26"/>
          <p:cNvSpPr/>
          <p:nvPr/>
        </p:nvSpPr>
        <p:spPr>
          <a:xfrm>
            <a:off x="6026150" y="5397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58842" y="41731"/>
                </a:moveTo>
                <a:cubicBezTo>
                  <a:pt x="267355" y="47923"/>
                  <a:pt x="269260" y="59829"/>
                  <a:pt x="263069" y="68342"/>
                </a:cubicBezTo>
                <a:lnTo>
                  <a:pt x="110669" y="277892"/>
                </a:lnTo>
                <a:cubicBezTo>
                  <a:pt x="107394" y="282416"/>
                  <a:pt x="102334" y="285214"/>
                  <a:pt x="96738" y="285690"/>
                </a:cubicBezTo>
                <a:cubicBezTo>
                  <a:pt x="91142" y="286167"/>
                  <a:pt x="85725" y="284083"/>
                  <a:pt x="81796" y="280154"/>
                </a:cubicBezTo>
                <a:lnTo>
                  <a:pt x="5596" y="203954"/>
                </a:lnTo>
                <a:cubicBezTo>
                  <a:pt x="-1845" y="196513"/>
                  <a:pt x="-1845" y="184428"/>
                  <a:pt x="5596" y="176986"/>
                </a:cubicBezTo>
                <a:cubicBezTo>
                  <a:pt x="13037" y="169545"/>
                  <a:pt x="25122" y="169545"/>
                  <a:pt x="32564" y="176986"/>
                </a:cubicBezTo>
                <a:lnTo>
                  <a:pt x="92988" y="237411"/>
                </a:lnTo>
                <a:lnTo>
                  <a:pt x="232291" y="45899"/>
                </a:lnTo>
                <a:cubicBezTo>
                  <a:pt x="238482" y="37386"/>
                  <a:pt x="250388" y="35481"/>
                  <a:pt x="258901" y="41672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9" name="Text 27"/>
          <p:cNvSpPr/>
          <p:nvPr/>
        </p:nvSpPr>
        <p:spPr>
          <a:xfrm>
            <a:off x="6413500" y="5397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Follow Rule of Three / Five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07100" y="5778500"/>
            <a:ext cx="425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you need a custom copy constructor, also implement destructor and assignment operator.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795000" y="5232400"/>
            <a:ext cx="4699000" cy="1397000"/>
          </a:xfrm>
          <a:prstGeom prst="roundRect">
            <a:avLst>
              <a:gd name="adj" fmla="val 6000"/>
            </a:avLst>
          </a:prstGeom>
          <a:solidFill>
            <a:srgbClr val="E6F3F3"/>
          </a:solidFill>
          <a:ln/>
        </p:spPr>
      </p:sp>
      <p:sp>
        <p:nvSpPr>
          <p:cNvPr id="32" name="Shape 30"/>
          <p:cNvSpPr/>
          <p:nvPr/>
        </p:nvSpPr>
        <p:spPr>
          <a:xfrm>
            <a:off x="11042650" y="5397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58842" y="41731"/>
                </a:moveTo>
                <a:cubicBezTo>
                  <a:pt x="267355" y="47923"/>
                  <a:pt x="269260" y="59829"/>
                  <a:pt x="263069" y="68342"/>
                </a:cubicBezTo>
                <a:lnTo>
                  <a:pt x="110669" y="277892"/>
                </a:lnTo>
                <a:cubicBezTo>
                  <a:pt x="107394" y="282416"/>
                  <a:pt x="102334" y="285214"/>
                  <a:pt x="96738" y="285690"/>
                </a:cubicBezTo>
                <a:cubicBezTo>
                  <a:pt x="91142" y="286167"/>
                  <a:pt x="85725" y="284083"/>
                  <a:pt x="81796" y="280154"/>
                </a:cubicBezTo>
                <a:lnTo>
                  <a:pt x="5596" y="203954"/>
                </a:lnTo>
                <a:cubicBezTo>
                  <a:pt x="-1845" y="196513"/>
                  <a:pt x="-1845" y="184428"/>
                  <a:pt x="5596" y="176986"/>
                </a:cubicBezTo>
                <a:cubicBezTo>
                  <a:pt x="13037" y="169545"/>
                  <a:pt x="25122" y="169545"/>
                  <a:pt x="32564" y="176986"/>
                </a:cubicBezTo>
                <a:lnTo>
                  <a:pt x="92988" y="237411"/>
                </a:lnTo>
                <a:lnTo>
                  <a:pt x="232291" y="45899"/>
                </a:lnTo>
                <a:cubicBezTo>
                  <a:pt x="238482" y="37386"/>
                  <a:pt x="250388" y="35481"/>
                  <a:pt x="258901" y="41672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33" name="Text 31"/>
          <p:cNvSpPr/>
          <p:nvPr/>
        </p:nvSpPr>
        <p:spPr>
          <a:xfrm>
            <a:off x="11430000" y="5397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Prefer Smart Pointers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023600" y="5778500"/>
            <a:ext cx="425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unique_ptr and shared_ptr instead of raw pointers to avoid manual memory management.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2000" y="6858000"/>
            <a:ext cx="7048500" cy="1397000"/>
          </a:xfrm>
          <a:prstGeom prst="roundRect">
            <a:avLst>
              <a:gd name="adj" fmla="val 6000"/>
            </a:avLst>
          </a:prstGeom>
          <a:solidFill>
            <a:srgbClr val="E6F3F3"/>
          </a:solidFill>
          <a:ln/>
        </p:spPr>
      </p:sp>
      <p:sp>
        <p:nvSpPr>
          <p:cNvPr id="36" name="Shape 34"/>
          <p:cNvSpPr/>
          <p:nvPr/>
        </p:nvSpPr>
        <p:spPr>
          <a:xfrm>
            <a:off x="1009650" y="70231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58842" y="41731"/>
                </a:moveTo>
                <a:cubicBezTo>
                  <a:pt x="267355" y="47923"/>
                  <a:pt x="269260" y="59829"/>
                  <a:pt x="263069" y="68342"/>
                </a:cubicBezTo>
                <a:lnTo>
                  <a:pt x="110669" y="277892"/>
                </a:lnTo>
                <a:cubicBezTo>
                  <a:pt x="107394" y="282416"/>
                  <a:pt x="102334" y="285214"/>
                  <a:pt x="96738" y="285690"/>
                </a:cubicBezTo>
                <a:cubicBezTo>
                  <a:pt x="91142" y="286167"/>
                  <a:pt x="85725" y="284083"/>
                  <a:pt x="81796" y="280154"/>
                </a:cubicBezTo>
                <a:lnTo>
                  <a:pt x="5596" y="203954"/>
                </a:lnTo>
                <a:cubicBezTo>
                  <a:pt x="-1845" y="196513"/>
                  <a:pt x="-1845" y="184428"/>
                  <a:pt x="5596" y="176986"/>
                </a:cubicBezTo>
                <a:cubicBezTo>
                  <a:pt x="13037" y="169545"/>
                  <a:pt x="25122" y="169545"/>
                  <a:pt x="32564" y="176986"/>
                </a:cubicBezTo>
                <a:lnTo>
                  <a:pt x="92988" y="237411"/>
                </a:lnTo>
                <a:lnTo>
                  <a:pt x="232291" y="45899"/>
                </a:lnTo>
                <a:cubicBezTo>
                  <a:pt x="238482" y="37386"/>
                  <a:pt x="250388" y="35481"/>
                  <a:pt x="258901" y="41672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37" name="Text 35"/>
          <p:cNvSpPr/>
          <p:nvPr/>
        </p:nvSpPr>
        <p:spPr>
          <a:xfrm>
            <a:off x="1397000" y="70231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Const References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90600" y="7404100"/>
            <a:ext cx="654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const reference parameters to avoid unnecessary copies when passing objects to functions.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445500" y="6858000"/>
            <a:ext cx="7048500" cy="1397000"/>
          </a:xfrm>
          <a:prstGeom prst="roundRect">
            <a:avLst>
              <a:gd name="adj" fmla="val 6000"/>
            </a:avLst>
          </a:prstGeom>
          <a:solidFill>
            <a:srgbClr val="E6F3F3"/>
          </a:solidFill>
          <a:ln/>
        </p:spPr>
      </p:sp>
      <p:sp>
        <p:nvSpPr>
          <p:cNvPr id="40" name="Shape 38"/>
          <p:cNvSpPr/>
          <p:nvPr/>
        </p:nvSpPr>
        <p:spPr>
          <a:xfrm>
            <a:off x="8693150" y="70231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58842" y="41731"/>
                </a:moveTo>
                <a:cubicBezTo>
                  <a:pt x="267355" y="47923"/>
                  <a:pt x="269260" y="59829"/>
                  <a:pt x="263069" y="68342"/>
                </a:cubicBezTo>
                <a:lnTo>
                  <a:pt x="110669" y="277892"/>
                </a:lnTo>
                <a:cubicBezTo>
                  <a:pt x="107394" y="282416"/>
                  <a:pt x="102334" y="285214"/>
                  <a:pt x="96738" y="285690"/>
                </a:cubicBezTo>
                <a:cubicBezTo>
                  <a:pt x="91142" y="286167"/>
                  <a:pt x="85725" y="284083"/>
                  <a:pt x="81796" y="280154"/>
                </a:cubicBezTo>
                <a:lnTo>
                  <a:pt x="5596" y="203954"/>
                </a:lnTo>
                <a:cubicBezTo>
                  <a:pt x="-1845" y="196513"/>
                  <a:pt x="-1845" y="184428"/>
                  <a:pt x="5596" y="176986"/>
                </a:cubicBezTo>
                <a:cubicBezTo>
                  <a:pt x="13037" y="169545"/>
                  <a:pt x="25122" y="169545"/>
                  <a:pt x="32564" y="176986"/>
                </a:cubicBezTo>
                <a:lnTo>
                  <a:pt x="92988" y="237411"/>
                </a:lnTo>
                <a:lnTo>
                  <a:pt x="232291" y="45899"/>
                </a:lnTo>
                <a:cubicBezTo>
                  <a:pt x="238482" y="37386"/>
                  <a:pt x="250388" y="35481"/>
                  <a:pt x="258901" y="41672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41" name="Text 39"/>
          <p:cNvSpPr/>
          <p:nvPr/>
        </p:nvSpPr>
        <p:spPr>
          <a:xfrm>
            <a:off x="9080500" y="70231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Consider Move Semantics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74100" y="7404100"/>
            <a:ext cx="654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C++11 move semantics for better performance when transferring ownership from temporary objects.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4" name="Text 42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Concepts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587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97000" y="1524000"/>
            <a:ext cx="1384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Constructors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special member functions that initialize objects automatically upon creation. They have the same name as the class and no return type.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47650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476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97000" y="2413000"/>
            <a:ext cx="1384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 constructors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take no arguments;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parameterized constructors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accept values for custom initialization. Always define your own for predictable behavior.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336550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365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97000" y="3302000"/>
            <a:ext cx="1384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Constructor overloading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provides multiple ways to create objects with different initial states. Each constructor must have a unique parameter signature.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25450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4254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97000" y="4191000"/>
            <a:ext cx="1384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 copy constructor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performs shallow copy — implement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deep copy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classes with pointer members to avoid dangling pointers and double-free errors.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14350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5143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97000" y="5080000"/>
            <a:ext cx="1384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Objects can be passed to and returned from functions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value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reference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or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pointer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Use const references for efficiency and safety.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603250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762000" y="6032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97000" y="5969000"/>
            <a:ext cx="1384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follow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 of Three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managing dynamic resources — custom copy constructor, destructor, and copy assignment operator go together.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985000"/>
            <a:ext cx="14732000" cy="1270000"/>
          </a:xfrm>
          <a:prstGeom prst="roundRect">
            <a:avLst>
              <a:gd name="adj" fmla="val 5000"/>
            </a:avLst>
          </a:prstGeom>
          <a:solidFill>
            <a:srgbClr val="E6F3F3"/>
          </a:solidFill>
          <a:ln/>
        </p:spPr>
      </p:sp>
      <p:sp>
        <p:nvSpPr>
          <p:cNvPr id="24" name="Shape 22"/>
          <p:cNvSpPr/>
          <p:nvPr/>
        </p:nvSpPr>
        <p:spPr>
          <a:xfrm>
            <a:off x="762000" y="6985000"/>
            <a:ext cx="63500" cy="1270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5688" y="73025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30312" y="-14064"/>
                </a:moveTo>
                <a:cubicBezTo>
                  <a:pt x="227261" y="-20017"/>
                  <a:pt x="221084" y="-23812"/>
                  <a:pt x="214387" y="-23812"/>
                </a:cubicBezTo>
                <a:cubicBezTo>
                  <a:pt x="207690" y="-23812"/>
                  <a:pt x="201513" y="-20017"/>
                  <a:pt x="198462" y="-14064"/>
                </a:cubicBezTo>
                <a:lnTo>
                  <a:pt x="143694" y="93241"/>
                </a:lnTo>
                <a:lnTo>
                  <a:pt x="24705" y="112142"/>
                </a:lnTo>
                <a:cubicBezTo>
                  <a:pt x="18083" y="113184"/>
                  <a:pt x="12576" y="117872"/>
                  <a:pt x="10492" y="124271"/>
                </a:cubicBezTo>
                <a:cubicBezTo>
                  <a:pt x="8409" y="130671"/>
                  <a:pt x="10120" y="137666"/>
                  <a:pt x="14808" y="142429"/>
                </a:cubicBezTo>
                <a:lnTo>
                  <a:pt x="99938" y="227633"/>
                </a:lnTo>
                <a:lnTo>
                  <a:pt x="81186" y="346621"/>
                </a:lnTo>
                <a:cubicBezTo>
                  <a:pt x="80144" y="353244"/>
                  <a:pt x="82897" y="359941"/>
                  <a:pt x="88329" y="363885"/>
                </a:cubicBezTo>
                <a:cubicBezTo>
                  <a:pt x="93762" y="367829"/>
                  <a:pt x="100905" y="368424"/>
                  <a:pt x="106933" y="365373"/>
                </a:cubicBezTo>
                <a:lnTo>
                  <a:pt x="214387" y="310753"/>
                </a:lnTo>
                <a:lnTo>
                  <a:pt x="321766" y="365373"/>
                </a:lnTo>
                <a:cubicBezTo>
                  <a:pt x="327720" y="368424"/>
                  <a:pt x="334938" y="367829"/>
                  <a:pt x="340370" y="363885"/>
                </a:cubicBezTo>
                <a:cubicBezTo>
                  <a:pt x="345802" y="359941"/>
                  <a:pt x="348555" y="353318"/>
                  <a:pt x="347514" y="346621"/>
                </a:cubicBezTo>
                <a:lnTo>
                  <a:pt x="328687" y="227633"/>
                </a:lnTo>
                <a:lnTo>
                  <a:pt x="413817" y="142429"/>
                </a:lnTo>
                <a:cubicBezTo>
                  <a:pt x="418579" y="137666"/>
                  <a:pt x="420216" y="130671"/>
                  <a:pt x="418133" y="124271"/>
                </a:cubicBezTo>
                <a:cubicBezTo>
                  <a:pt x="416049" y="117872"/>
                  <a:pt x="410617" y="113184"/>
                  <a:pt x="403920" y="112142"/>
                </a:cubicBezTo>
                <a:lnTo>
                  <a:pt x="285006" y="93241"/>
                </a:lnTo>
                <a:lnTo>
                  <a:pt x="230312" y="-14064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6" name="Text 24"/>
          <p:cNvSpPr/>
          <p:nvPr/>
        </p:nvSpPr>
        <p:spPr>
          <a:xfrm>
            <a:off x="1651000" y="7175500"/>
            <a:ext cx="135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Constructors are the foundation of object initialization in OOP. Proper constructor design ensures your objects are always in a valid, predictable state from the moment they are created.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8" name="Text 26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— Week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 Types — Quick Reference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25400"/>
          </a:xfrm>
          <a:prstGeom prst="rect">
            <a:avLst/>
          </a:prstGeom>
          <a:solidFill>
            <a:srgbClr val="0D7377"/>
          </a:solidFill>
          <a:ln/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14732000" cy="5080000"/>
        </p:xfrm>
        <a:graphic>
          <a:graphicData uri="http://schemas.openxmlformats.org/drawingml/2006/table">
            <a:tbl>
              <a:tblPr/>
              <a:tblGrid>
                <a:gridCol w="3241040"/>
                <a:gridCol w="3241040"/>
                <a:gridCol w="4124960"/>
                <a:gridCol w="4124960"/>
              </a:tblGrid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Constructor 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Parameters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Source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1092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Default Constructor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parameters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Compiler-provided or user-defined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Initializes to default values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</a:tr>
              <a:tr h="1092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Parameterized Constructor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One or more parameters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User-defined only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Custom initialization with provided values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2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Copy Constructor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const ClassName&amp;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Compiler (shallow) or user (deep)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Creates a copy of existing object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</a:tr>
              <a:tr h="1092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Overloaded Constructors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Multiple different signatures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User-defined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Flexible object creation options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7048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Passing Mechanisms Reference</a:t>
            </a:r>
            <a:endParaRPr lang="en-US" sz="160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7493000"/>
          <a:ext cx="14732000" cy="825500"/>
        </p:xfrm>
        <a:graphic>
          <a:graphicData uri="http://schemas.openxmlformats.org/drawingml/2006/table">
            <a:tbl>
              <a:tblPr/>
              <a:tblGrid>
                <a:gridCol w="2946400"/>
                <a:gridCol w="3683000"/>
                <a:gridCol w="3683000"/>
                <a:gridCol w="4419600"/>
              </a:tblGrid>
              <a:tr h="325197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Mechanism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Syntax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Modifies Original?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 Case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50030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By Value / By Ref / By Pointer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ClassName obj / ClassName&amp; obj / ClassName* obj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/ Yes (non-const) / 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Small objects / Large objects / Optional null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5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pc2sxsucaenw/mnt/agents/output/oop-constructors/images/2_Minimal_abstract_geometric_background.png">    </p:cNvPr>
          <p:cNvPicPr>
            <a:picLocks noChangeAspect="1"/>
          </p:cNvPicPr>
          <p:nvPr/>
        </p:nvPicPr>
        <p:blipFill>
          <a:blip r:embed="rId1"/>
          <a:srcRect l="0" r="0" t="6" b="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A1A2E">
              <a:alpha val="9098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286000"/>
            <a:ext cx="2540000" cy="381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2"/>
          <p:cNvSpPr/>
          <p:nvPr/>
        </p:nvSpPr>
        <p:spPr>
          <a:xfrm>
            <a:off x="2413000" y="2667000"/>
            <a:ext cx="1143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4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only way to learn a new programming language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4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by writing programs in it."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588000" y="4064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Dennis Ritchie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4699000"/>
            <a:ext cx="2540000" cy="381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5"/>
          <p:cNvSpPr/>
          <p:nvPr/>
        </p:nvSpPr>
        <p:spPr>
          <a:xfrm>
            <a:off x="4953000" y="5080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spc="300" kern="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83000" y="5651500"/>
            <a:ext cx="889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B0B8C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a Book class with multiple constructors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B0B8C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Practice passing objects using different mechanisms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B0B8C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Experiment with custom copy constructors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18000" y="7620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spc="300" kern="0" dirty="0">
                <a:solidFill>
                  <a:srgbClr val="64748B">
                    <a:alpha val="37647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ORIENTED PROGRAMMING · WEEK 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 - Week 3: Constructors</dc:title>
  <dc:subject>Object Oriented Programming - Week 3: Constructors</dc:subject>
  <dc:creator>Kimi</dc:creator>
  <cp:lastModifiedBy>Kimi</cp:lastModifiedBy>
  <cp:revision>1</cp:revision>
  <dcterms:created xsi:type="dcterms:W3CDTF">2026-05-26T11:39:08Z</dcterms:created>
  <dcterms:modified xsi:type="dcterms:W3CDTF">2026-05-26T11:39:08Z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{"Label":"Object Oriented Programming - Week 3: Constructors","ContentProducer":"001191110108MACG2KBH8F10000","ProduceID":"19e64061-75d2-8557-8000-00005010eecb","ReservedCode1":"","ContentPropagator":"001191110108MACG2KBH8F20000","PropagateID":"19e64061-75d2-8557-8000-00005010eecb","ReservedCode2":""}</vt:lpwstr>
  </property>
</Properties>
</file>