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  <p:embeddedFontLst>
    <p:embeddedFont>
      <p:font typeface="Quattrocento Sans" charset="-122" pitchFamily="34"/>
      <p:regular r:id="rId35"/>
    </p:embeddedFont>
    <p:embeddedFont>
      <p:font typeface="Liter" charset="-122" pitchFamily="34"/>
      <p:regular r:id="rId3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font" Target="fonts/font1.fntdata"/><Relationship Id="rId3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-1270000"/>
            <a:ext cx="5080000" cy="5080000"/>
          </a:xfrm>
          <a:prstGeom prst="ellipse">
            <a:avLst/>
          </a:prstGeom>
          <a:solidFill>
            <a:srgbClr val="C67B3C">
              <a:alpha val="8235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335000" y="5715000"/>
            <a:ext cx="4445000" cy="4445000"/>
          </a:xfrm>
          <a:prstGeom prst="ellipse">
            <a:avLst/>
          </a:prstGeom>
          <a:solidFill>
            <a:srgbClr val="7C8C6E">
              <a:alpha val="7059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88000" y="4318000"/>
            <a:ext cx="5080000" cy="0"/>
          </a:xfrm>
          <a:prstGeom prst="straightConnector1">
            <a:avLst/>
          </a:prstGeom>
          <a:noFill/>
          <a:ln w="38100">
            <a:solidFill>
              <a:srgbClr val="C67B3C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4318000" y="3302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 ORIENTED PROGRAMMING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13000" y="3810000"/>
            <a:ext cx="1143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8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83000" y="4826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Polymorphism &amp; Pointers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8128000"/>
            <a:ext cx="14732000" cy="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762000" y="8318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37647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Course Material 2025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62000"/>
            <a:ext cx="14732000" cy="0"/>
          </a:xfrm>
          <a:prstGeom prst="straightConnector1">
            <a:avLst/>
          </a:prstGeom>
          <a:noFill/>
          <a:ln w="12700">
            <a:solidFill>
              <a:srgbClr val="2D3142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OOP | WEEK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Roadmap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50800" cy="5842000"/>
          </a:xfrm>
          <a:prstGeom prst="rect">
            <a:avLst/>
          </a:prstGeom>
          <a:solidFill>
            <a:srgbClr val="C67B3C"/>
          </a:solidFill>
          <a:ln/>
        </p:spPr>
      </p:sp>
      <p:sp>
        <p:nvSpPr>
          <p:cNvPr id="6" name="Shape 4"/>
          <p:cNvSpPr/>
          <p:nvPr/>
        </p:nvSpPr>
        <p:spPr>
          <a:xfrm>
            <a:off x="1066800" y="2159000"/>
            <a:ext cx="6731000" cy="5842000"/>
          </a:xfrm>
          <a:prstGeom prst="roundRect">
            <a:avLst>
              <a:gd name="adj" fmla="val 5000"/>
            </a:avLst>
          </a:prstGeom>
          <a:solidFill>
            <a:srgbClr val="EEF0EB"/>
          </a:solidFill>
          <a:ln/>
        </p:spPr>
      </p:sp>
      <p:sp>
        <p:nvSpPr>
          <p:cNvPr id="7" name="Text 5"/>
          <p:cNvSpPr/>
          <p:nvPr/>
        </p:nvSpPr>
        <p:spPr>
          <a:xfrm>
            <a:off x="1447800" y="2540000"/>
            <a:ext cx="127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b="1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47800" y="3556000"/>
            <a:ext cx="596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Polymorphism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447800" y="4191000"/>
            <a:ext cx="1270000" cy="0"/>
          </a:xfrm>
          <a:prstGeom prst="straightConnector1">
            <a:avLst/>
          </a:prstGeom>
          <a:noFill/>
          <a:ln w="25400">
            <a:solidFill>
              <a:srgbClr val="C67B3C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447800" y="4445000"/>
            <a:ext cx="5969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What is Polymorphism?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Types of Polymorphism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Function Overloading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Operator Overloading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Virtual Functions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Function Overriding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Pure Virtual &amp; Abstract Classes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Advantages of Polymorphism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305800" y="2159000"/>
            <a:ext cx="6731000" cy="5842000"/>
          </a:xfrm>
          <a:prstGeom prst="roundRect">
            <a:avLst>
              <a:gd name="adj" fmla="val 5000"/>
            </a:avLst>
          </a:prstGeom>
          <a:solidFill>
            <a:srgbClr val="EEF0E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0" y="2540000"/>
            <a:ext cx="127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b="1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0" y="3556000"/>
            <a:ext cx="596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Pointers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686800" y="4191000"/>
            <a:ext cx="1270000" cy="0"/>
          </a:xfrm>
          <a:prstGeom prst="straightConnector1">
            <a:avLst/>
          </a:prstGeom>
          <a:noFill/>
          <a:ln w="25400">
            <a:solidFill>
              <a:srgbClr val="C67B3C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8686800" y="4445000"/>
            <a:ext cx="5969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What are Pointers?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Declaration &amp; Initialization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Pointer Operators (*, &amp;, -&gt;)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Pointer Arithmetic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Pointers and Arrays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Pointer to Objects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this Pointer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Pointer to Derived Classes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351000" y="8636000"/>
            <a:ext cx="114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3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02400" cy="9144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3" name="Shape 1"/>
          <p:cNvSpPr/>
          <p:nvPr/>
        </p:nvSpPr>
        <p:spPr>
          <a:xfrm>
            <a:off x="6502400" y="0"/>
            <a:ext cx="9753600" cy="91440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4" name="Shape 2"/>
          <p:cNvSpPr/>
          <p:nvPr/>
        </p:nvSpPr>
        <p:spPr>
          <a:xfrm>
            <a:off x="6248400" y="0"/>
            <a:ext cx="508000" cy="9144000"/>
          </a:xfrm>
          <a:prstGeom prst="rect">
            <a:avLst/>
          </a:prstGeom>
          <a:solidFill>
            <a:srgbClr val="C67B3C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2540000"/>
            <a:ext cx="49784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000" b="1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4191000"/>
            <a:ext cx="4978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ONE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4699000"/>
            <a:ext cx="49784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Polymorphism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5715000"/>
            <a:ext cx="1524000" cy="0"/>
          </a:xfrm>
          <a:prstGeom prst="straightConnector1">
            <a:avLst/>
          </a:prstGeom>
          <a:noFill/>
          <a:ln w="38100">
            <a:solidFill>
              <a:srgbClr val="C67B3C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7366000" y="3556000"/>
            <a:ext cx="812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Many Forms, One Interface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how objects take multiple forms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66000" y="5080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cubicBezTo>
                  <a:pt x="318135" y="0"/>
                  <a:pt x="330637" y="7025"/>
                  <a:pt x="337423" y="18455"/>
                </a:cubicBezTo>
                <a:lnTo>
                  <a:pt x="451723" y="208955"/>
                </a:lnTo>
                <a:cubicBezTo>
                  <a:pt x="458748" y="220742"/>
                  <a:pt x="458986" y="235387"/>
                  <a:pt x="452199" y="247293"/>
                </a:cubicBezTo>
                <a:cubicBezTo>
                  <a:pt x="445413" y="259199"/>
                  <a:pt x="432792" y="266700"/>
                  <a:pt x="419100" y="266700"/>
                </a:cubicBezTo>
                <a:lnTo>
                  <a:pt x="190500" y="266700"/>
                </a:lnTo>
                <a:cubicBezTo>
                  <a:pt x="176808" y="266700"/>
                  <a:pt x="164068" y="259318"/>
                  <a:pt x="157401" y="247412"/>
                </a:cubicBezTo>
                <a:cubicBezTo>
                  <a:pt x="150733" y="235506"/>
                  <a:pt x="150852" y="220861"/>
                  <a:pt x="157877" y="209074"/>
                </a:cubicBezTo>
                <a:lnTo>
                  <a:pt x="272177" y="18574"/>
                </a:lnTo>
                <a:cubicBezTo>
                  <a:pt x="278963" y="7025"/>
                  <a:pt x="291465" y="0"/>
                  <a:pt x="304800" y="0"/>
                </a:cubicBezTo>
                <a:close/>
                <a:moveTo>
                  <a:pt x="152400" y="323850"/>
                </a:moveTo>
                <a:cubicBezTo>
                  <a:pt x="225998" y="323850"/>
                  <a:pt x="285750" y="383602"/>
                  <a:pt x="285750" y="457200"/>
                </a:cubicBezTo>
                <a:cubicBezTo>
                  <a:pt x="285750" y="530798"/>
                  <a:pt x="225998" y="590550"/>
                  <a:pt x="152400" y="590550"/>
                </a:cubicBezTo>
                <a:cubicBezTo>
                  <a:pt x="78802" y="590550"/>
                  <a:pt x="19050" y="530798"/>
                  <a:pt x="19050" y="457200"/>
                </a:cubicBezTo>
                <a:cubicBezTo>
                  <a:pt x="19050" y="383602"/>
                  <a:pt x="78802" y="323850"/>
                  <a:pt x="152400" y="323850"/>
                </a:cubicBezTo>
                <a:close/>
                <a:moveTo>
                  <a:pt x="390525" y="342900"/>
                </a:moveTo>
                <a:lnTo>
                  <a:pt x="523875" y="342900"/>
                </a:lnTo>
                <a:cubicBezTo>
                  <a:pt x="550188" y="342900"/>
                  <a:pt x="571500" y="364212"/>
                  <a:pt x="571500" y="390525"/>
                </a:cubicBezTo>
                <a:lnTo>
                  <a:pt x="571500" y="523875"/>
                </a:lnTo>
                <a:cubicBezTo>
                  <a:pt x="571500" y="550188"/>
                  <a:pt x="550188" y="571500"/>
                  <a:pt x="523875" y="571500"/>
                </a:cubicBezTo>
                <a:lnTo>
                  <a:pt x="390525" y="571500"/>
                </a:lnTo>
                <a:cubicBezTo>
                  <a:pt x="364212" y="571500"/>
                  <a:pt x="342900" y="550188"/>
                  <a:pt x="342900" y="523875"/>
                </a:cubicBezTo>
                <a:lnTo>
                  <a:pt x="342900" y="390525"/>
                </a:lnTo>
                <a:cubicBezTo>
                  <a:pt x="342900" y="364212"/>
                  <a:pt x="364212" y="342900"/>
                  <a:pt x="390525" y="342900"/>
                </a:cubicBezTo>
                <a:close/>
              </a:path>
            </a:pathLst>
          </a:custGeom>
          <a:solidFill>
            <a:srgbClr val="7C8C6E"/>
          </a:solidFill>
          <a:ln/>
        </p:spPr>
      </p:sp>
      <p:sp>
        <p:nvSpPr>
          <p:cNvPr id="11" name="Text 9"/>
          <p:cNvSpPr/>
          <p:nvPr/>
        </p:nvSpPr>
        <p:spPr>
          <a:xfrm>
            <a:off x="7366000" y="5969000"/>
            <a:ext cx="8128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7C8C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Virtual Functions · Function Overriding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7C8C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Pure Virtual Functions · Abstract Classes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7C8C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Compile-time &amp; Runtime Polymorphism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7C8C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Advantages &amp; Best Practices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62000"/>
            <a:ext cx="14732000" cy="0"/>
          </a:xfrm>
          <a:prstGeom prst="straightConnector1">
            <a:avLst/>
          </a:prstGeom>
          <a:noFill/>
          <a:ln w="12700">
            <a:solidFill>
              <a:srgbClr val="2D3142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OOP | WEEK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Polymorphism?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752600"/>
            <a:ext cx="1016000" cy="50800"/>
          </a:xfrm>
          <a:prstGeom prst="rect">
            <a:avLst/>
          </a:prstGeom>
          <a:solidFill>
            <a:srgbClr val="C67B3C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159000"/>
            <a:ext cx="7112000" cy="1524000"/>
          </a:xfrm>
          <a:prstGeom prst="roundRect">
            <a:avLst>
              <a:gd name="adj" fmla="val 5000"/>
            </a:avLst>
          </a:prstGeom>
          <a:solidFill>
            <a:srgbClr val="EEF0EB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286000"/>
            <a:ext cx="660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Polymorphism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(Greek: "poly" = many, "morph" = form) — the ability of different objects to respond to the same message in different ways.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62000" y="406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Concept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2000" y="4572000"/>
            <a:ext cx="711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One interface, multiple implementations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Same function call, different behaviors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Objects of different classes treated uniformly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 core pillar of Object Oriented Programming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62000" y="7112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Analogy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2000" y="7620000"/>
            <a:ext cx="711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"Draw" button in different apps — same action, different behavior. A "+" operator adding numbers vs. concatenating strings.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382000" y="2159000"/>
            <a:ext cx="7112000" cy="6350000"/>
          </a:xfrm>
          <a:prstGeom prst="roundRect">
            <a:avLst>
              <a:gd name="adj" fmla="val 5000"/>
            </a:avLst>
          </a:prstGeom>
          <a:solidFill>
            <a:srgbClr val="E8E4DB"/>
          </a:solidFill>
          <a:ln/>
        </p:spPr>
      </p:sp>
      <p:sp>
        <p:nvSpPr>
          <p:cNvPr id="13" name="Text 11"/>
          <p:cNvSpPr/>
          <p:nvPr/>
        </p:nvSpPr>
        <p:spPr>
          <a:xfrm>
            <a:off x="8763000" y="2349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Polymorphism in Action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0668000" y="3048000"/>
            <a:ext cx="2540000" cy="635000"/>
          </a:xfrm>
          <a:prstGeom prst="roundRect">
            <a:avLst>
              <a:gd name="adj" fmla="val 8000"/>
            </a:avLst>
          </a:prstGeom>
          <a:solidFill>
            <a:srgbClr val="2D3142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8000" y="3048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Shape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176000" y="3683000"/>
            <a:ext cx="0" cy="508000"/>
          </a:xfrm>
          <a:prstGeom prst="straightConnector1">
            <a:avLst/>
          </a:prstGeom>
          <a:noFill/>
          <a:ln w="25400">
            <a:solidFill>
              <a:srgbClr val="7C8C6E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2700000" y="3683000"/>
            <a:ext cx="0" cy="508000"/>
          </a:xfrm>
          <a:prstGeom prst="straightConnector1">
            <a:avLst/>
          </a:prstGeom>
          <a:noFill/>
          <a:ln w="25400">
            <a:solidFill>
              <a:srgbClr val="7C8C6E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10287000" y="4318000"/>
            <a:ext cx="1778000" cy="571500"/>
          </a:xfrm>
          <a:prstGeom prst="roundRect">
            <a:avLst>
              <a:gd name="adj" fmla="val 8000"/>
            </a:avLst>
          </a:prstGeom>
          <a:solidFill>
            <a:srgbClr val="C67B3C"/>
          </a:solidFill>
          <a:ln/>
        </p:spPr>
      </p:sp>
      <p:sp>
        <p:nvSpPr>
          <p:cNvPr id="19" name="Text 17"/>
          <p:cNvSpPr/>
          <p:nvPr/>
        </p:nvSpPr>
        <p:spPr>
          <a:xfrm>
            <a:off x="10287000" y="4318000"/>
            <a:ext cx="177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Circle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319000" y="4318000"/>
            <a:ext cx="1778000" cy="571500"/>
          </a:xfrm>
          <a:prstGeom prst="roundRect">
            <a:avLst>
              <a:gd name="adj" fmla="val 8000"/>
            </a:avLst>
          </a:prstGeom>
          <a:solidFill>
            <a:srgbClr val="C67B3C"/>
          </a:solidFill>
          <a:ln/>
        </p:spPr>
      </p:sp>
      <p:sp>
        <p:nvSpPr>
          <p:cNvPr id="21" name="Text 19"/>
          <p:cNvSpPr/>
          <p:nvPr/>
        </p:nvSpPr>
        <p:spPr>
          <a:xfrm>
            <a:off x="12319000" y="4318000"/>
            <a:ext cx="177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Rectangle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763000" y="5334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shape-&gt;draw();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287000" y="5969000"/>
            <a:ext cx="1778000" cy="571500"/>
          </a:xfrm>
          <a:prstGeom prst="roundRect">
            <a:avLst>
              <a:gd name="adj" fmla="val 8000"/>
            </a:avLst>
          </a:prstGeom>
          <a:solidFill>
            <a:srgbClr val="7C8C6E">
              <a:alpha val="18824"/>
            </a:srgbClr>
          </a:solidFill>
          <a:ln w="12700">
            <a:solidFill>
              <a:srgbClr val="7C8C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87000" y="5969000"/>
            <a:ext cx="177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Draw Circle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319000" y="5969000"/>
            <a:ext cx="1778000" cy="571500"/>
          </a:xfrm>
          <a:prstGeom prst="roundRect">
            <a:avLst>
              <a:gd name="adj" fmla="val 8000"/>
            </a:avLst>
          </a:prstGeom>
          <a:solidFill>
            <a:srgbClr val="7C8C6E">
              <a:alpha val="18824"/>
            </a:srgbClr>
          </a:solidFill>
          <a:ln w="12700">
            <a:solidFill>
              <a:srgbClr val="7C8C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319000" y="5969000"/>
            <a:ext cx="177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Draw Rectangle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176000" y="5778500"/>
            <a:ext cx="0" cy="190500"/>
          </a:xfrm>
          <a:prstGeom prst="straightConnector1">
            <a:avLst/>
          </a:prstGeom>
          <a:noFill/>
          <a:ln w="12700">
            <a:solidFill>
              <a:srgbClr val="7C8C6E"/>
            </a:solidFill>
            <a:prstDash val="sysDot"/>
            <a:headEnd type="arrow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12700000" y="5778500"/>
            <a:ext cx="0" cy="190500"/>
          </a:xfrm>
          <a:prstGeom prst="straightConnector1">
            <a:avLst/>
          </a:prstGeom>
          <a:noFill/>
          <a:ln w="12700">
            <a:solidFill>
              <a:srgbClr val="7C8C6E"/>
            </a:solidFill>
            <a:prstDash val="sysDot"/>
            <a:headEnd type="arrow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8763000" y="68580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7C8C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Same call, different results based on actual object type — this is runtime polymorphism.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351000" y="8636000"/>
            <a:ext cx="114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62000"/>
            <a:ext cx="14732000" cy="0"/>
          </a:xfrm>
          <a:prstGeom prst="straightConnector1">
            <a:avLst/>
          </a:prstGeom>
          <a:noFill/>
          <a:ln w="12700">
            <a:solidFill>
              <a:srgbClr val="2D3142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OOP | WEEK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Polymorphism in C++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752600"/>
            <a:ext cx="1016000" cy="50800"/>
          </a:xfrm>
          <a:prstGeom prst="rect">
            <a:avLst/>
          </a:prstGeom>
          <a:solidFill>
            <a:srgbClr val="C67B3C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159000"/>
            <a:ext cx="7048500" cy="6096000"/>
          </a:xfrm>
          <a:prstGeom prst="roundRect">
            <a:avLst>
              <a:gd name="adj" fmla="val 5000"/>
            </a:avLst>
          </a:prstGeom>
          <a:solidFill>
            <a:srgbClr val="EEF0EB"/>
          </a:solidFill>
          <a:ln/>
        </p:spPr>
      </p:sp>
      <p:sp>
        <p:nvSpPr>
          <p:cNvPr id="7" name="Shape 5"/>
          <p:cNvSpPr/>
          <p:nvPr/>
        </p:nvSpPr>
        <p:spPr>
          <a:xfrm>
            <a:off x="1114425" y="2476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22183" y="1072"/>
                </a:moveTo>
                <a:cubicBezTo>
                  <a:pt x="307003" y="-3304"/>
                  <a:pt x="291197" y="5536"/>
                  <a:pt x="286822" y="20717"/>
                </a:cubicBezTo>
                <a:lnTo>
                  <a:pt x="172522" y="420767"/>
                </a:lnTo>
                <a:cubicBezTo>
                  <a:pt x="168146" y="435947"/>
                  <a:pt x="176986" y="451753"/>
                  <a:pt x="192167" y="456128"/>
                </a:cubicBezTo>
                <a:cubicBezTo>
                  <a:pt x="207347" y="460504"/>
                  <a:pt x="223153" y="451664"/>
                  <a:pt x="227528" y="436483"/>
                </a:cubicBezTo>
                <a:lnTo>
                  <a:pt x="341828" y="36433"/>
                </a:lnTo>
                <a:cubicBezTo>
                  <a:pt x="346204" y="21253"/>
                  <a:pt x="337364" y="5447"/>
                  <a:pt x="322183" y="1072"/>
                </a:cubicBezTo>
                <a:close/>
                <a:moveTo>
                  <a:pt x="379869" y="122605"/>
                </a:moveTo>
                <a:cubicBezTo>
                  <a:pt x="368707" y="133767"/>
                  <a:pt x="368707" y="151894"/>
                  <a:pt x="379869" y="163056"/>
                </a:cubicBezTo>
                <a:lnTo>
                  <a:pt x="445413" y="228600"/>
                </a:lnTo>
                <a:lnTo>
                  <a:pt x="379869" y="294144"/>
                </a:lnTo>
                <a:cubicBezTo>
                  <a:pt x="368707" y="305306"/>
                  <a:pt x="368707" y="323433"/>
                  <a:pt x="379869" y="334595"/>
                </a:cubicBezTo>
                <a:cubicBezTo>
                  <a:pt x="391031" y="345758"/>
                  <a:pt x="409158" y="345758"/>
                  <a:pt x="420320" y="334595"/>
                </a:cubicBezTo>
                <a:lnTo>
                  <a:pt x="506045" y="248870"/>
                </a:lnTo>
                <a:cubicBezTo>
                  <a:pt x="517208" y="237708"/>
                  <a:pt x="517208" y="219581"/>
                  <a:pt x="506045" y="208419"/>
                </a:cubicBezTo>
                <a:lnTo>
                  <a:pt x="420320" y="122694"/>
                </a:lnTo>
                <a:cubicBezTo>
                  <a:pt x="409158" y="111532"/>
                  <a:pt x="391031" y="111532"/>
                  <a:pt x="379869" y="122694"/>
                </a:cubicBezTo>
                <a:close/>
                <a:moveTo>
                  <a:pt x="134570" y="122605"/>
                </a:moveTo>
                <a:cubicBezTo>
                  <a:pt x="123408" y="111442"/>
                  <a:pt x="105281" y="111442"/>
                  <a:pt x="94119" y="122605"/>
                </a:cubicBezTo>
                <a:lnTo>
                  <a:pt x="8394" y="208330"/>
                </a:lnTo>
                <a:cubicBezTo>
                  <a:pt x="-2768" y="219492"/>
                  <a:pt x="-2768" y="237619"/>
                  <a:pt x="8394" y="248781"/>
                </a:cubicBezTo>
                <a:lnTo>
                  <a:pt x="94119" y="334506"/>
                </a:lnTo>
                <a:cubicBezTo>
                  <a:pt x="105281" y="345668"/>
                  <a:pt x="123408" y="345668"/>
                  <a:pt x="134570" y="334506"/>
                </a:cubicBezTo>
                <a:cubicBezTo>
                  <a:pt x="145733" y="323344"/>
                  <a:pt x="145733" y="305217"/>
                  <a:pt x="134570" y="294055"/>
                </a:cubicBezTo>
                <a:lnTo>
                  <a:pt x="69026" y="228600"/>
                </a:lnTo>
                <a:lnTo>
                  <a:pt x="134481" y="163056"/>
                </a:lnTo>
                <a:cubicBezTo>
                  <a:pt x="145643" y="151894"/>
                  <a:pt x="145643" y="133767"/>
                  <a:pt x="134481" y="122605"/>
                </a:cubicBezTo>
                <a:close/>
              </a:path>
            </a:pathLst>
          </a:custGeom>
          <a:solidFill>
            <a:srgbClr val="C67B3C"/>
          </a:solidFill>
          <a:ln/>
        </p:spPr>
      </p:sp>
      <p:sp>
        <p:nvSpPr>
          <p:cNvPr id="8" name="Text 6"/>
          <p:cNvSpPr/>
          <p:nvPr/>
        </p:nvSpPr>
        <p:spPr>
          <a:xfrm>
            <a:off x="1778000" y="24765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Compile-time Polymorphism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43000" y="3111500"/>
            <a:ext cx="622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C8C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Static / Early Binding — resolved during compilation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3619500"/>
            <a:ext cx="6223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Function Overloading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Same function name, different parameters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7C8C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 add(int, int);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7C8C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double add(double, double);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2000"/>
              </a:spcBef>
            </a:pPr>
            <a:r>
              <a:rPr lang="en-US" sz="1800" b="1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Operator Overloading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Redefine operators for custom types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7C8C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Complex c3 = c1 + c2;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191500" y="2159000"/>
            <a:ext cx="7048500" cy="6096000"/>
          </a:xfrm>
          <a:prstGeom prst="roundRect">
            <a:avLst>
              <a:gd name="adj" fmla="val 5000"/>
            </a:avLst>
          </a:prstGeom>
          <a:solidFill>
            <a:srgbClr val="E8E4DB"/>
          </a:solidFill>
          <a:ln/>
        </p:spPr>
      </p:sp>
      <p:sp>
        <p:nvSpPr>
          <p:cNvPr id="12" name="Shape 10"/>
          <p:cNvSpPr/>
          <p:nvPr/>
        </p:nvSpPr>
        <p:spPr>
          <a:xfrm>
            <a:off x="8572500" y="2476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168146" y="131356"/>
                </a:moveTo>
                <a:cubicBezTo>
                  <a:pt x="161359" y="135106"/>
                  <a:pt x="157163" y="142339"/>
                  <a:pt x="157163" y="150019"/>
                </a:cubicBezTo>
                <a:lnTo>
                  <a:pt x="157163" y="307181"/>
                </a:lnTo>
                <a:cubicBezTo>
                  <a:pt x="157163" y="314950"/>
                  <a:pt x="161359" y="322094"/>
                  <a:pt x="168146" y="325844"/>
                </a:cubicBezTo>
                <a:cubicBezTo>
                  <a:pt x="174933" y="329595"/>
                  <a:pt x="183148" y="329505"/>
                  <a:pt x="189845" y="325398"/>
                </a:cubicBezTo>
                <a:lnTo>
                  <a:pt x="318433" y="246817"/>
                </a:lnTo>
                <a:cubicBezTo>
                  <a:pt x="324773" y="242888"/>
                  <a:pt x="328702" y="236012"/>
                  <a:pt x="328702" y="228511"/>
                </a:cubicBezTo>
                <a:cubicBezTo>
                  <a:pt x="328702" y="221010"/>
                  <a:pt x="324773" y="214134"/>
                  <a:pt x="318433" y="210205"/>
                </a:cubicBezTo>
                <a:lnTo>
                  <a:pt x="189845" y="131624"/>
                </a:lnTo>
                <a:cubicBezTo>
                  <a:pt x="183237" y="127605"/>
                  <a:pt x="174933" y="127427"/>
                  <a:pt x="168146" y="131177"/>
                </a:cubicBezTo>
                <a:close/>
              </a:path>
            </a:pathLst>
          </a:custGeom>
          <a:solidFill>
            <a:srgbClr val="2D3142"/>
          </a:solidFill>
          <a:ln/>
        </p:spPr>
      </p:sp>
      <p:sp>
        <p:nvSpPr>
          <p:cNvPr id="13" name="Text 11"/>
          <p:cNvSpPr/>
          <p:nvPr/>
        </p:nvSpPr>
        <p:spPr>
          <a:xfrm>
            <a:off x="9207500" y="24765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Runtime Polymorphism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572500" y="3111500"/>
            <a:ext cx="622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C8C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Dynamic / Late Binding — resolved at execution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72500" y="3619500"/>
            <a:ext cx="6223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Virtual Functions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 class declares, derived class overrides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7C8C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virtual void draw();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2000"/>
              </a:spcBef>
            </a:pP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Function Overriding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Derived class provides its own implementation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7C8C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void draw() override;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351000" y="8636000"/>
            <a:ext cx="114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62000"/>
            <a:ext cx="14732000" cy="0"/>
          </a:xfrm>
          <a:prstGeom prst="straightConnector1">
            <a:avLst/>
          </a:prstGeom>
          <a:noFill/>
          <a:ln w="12700">
            <a:solidFill>
              <a:srgbClr val="2D3142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OOP | WEEK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Compile-time: Function Overloading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752600"/>
            <a:ext cx="1016000" cy="50800"/>
          </a:xfrm>
          <a:prstGeom prst="rect">
            <a:avLst/>
          </a:prstGeom>
          <a:solidFill>
            <a:srgbClr val="C67B3C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0955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Multiple functions with 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same name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but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different parameter lists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The compiler selects the right function based on arguments.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62000" y="3302000"/>
            <a:ext cx="7112000" cy="3937000"/>
          </a:xfrm>
          <a:prstGeom prst="roundRect">
            <a:avLst>
              <a:gd name="adj" fmla="val 5000"/>
            </a:avLst>
          </a:prstGeom>
          <a:solidFill>
            <a:srgbClr val="E8E4DB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3302000"/>
            <a:ext cx="50800" cy="3937000"/>
          </a:xfrm>
          <a:prstGeom prst="rect">
            <a:avLst/>
          </a:prstGeom>
          <a:solidFill>
            <a:srgbClr val="C67B3C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492500"/>
            <a:ext cx="66040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Same name, different parameters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add(</a:t>
            </a:r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a, </a:t>
            </a:r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b) {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 + b;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add(</a:t>
            </a:r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a, </a:t>
            </a:r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b) {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 + b;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add(</a:t>
            </a:r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a, </a:t>
            </a:r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b, </a:t>
            </a:r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c) {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 + b + c;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2000" y="7429500"/>
            <a:ext cx="7112000" cy="1079500"/>
          </a:xfrm>
          <a:prstGeom prst="roundRect">
            <a:avLst>
              <a:gd name="adj" fmla="val 5000"/>
            </a:avLst>
          </a:prstGeom>
          <a:solidFill>
            <a:srgbClr val="EEF0EB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74930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Rules: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Different parameter types, number, or order. Return type alone is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sufficient.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382000" y="2095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382000" y="26670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Resolved at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compile time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Improves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code readability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Reduces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naming complexity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Provides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intuitive interfaces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382000" y="5461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Usage Example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382000" y="6032500"/>
            <a:ext cx="7112000" cy="1524000"/>
          </a:xfrm>
          <a:prstGeom prst="roundRect">
            <a:avLst>
              <a:gd name="adj" fmla="val 5000"/>
            </a:avLst>
          </a:prstGeom>
          <a:solidFill>
            <a:srgbClr val="E8E4DB"/>
          </a:solidFill>
          <a:ln/>
        </p:spPr>
      </p:sp>
      <p:sp>
        <p:nvSpPr>
          <p:cNvPr id="16" name="Shape 14"/>
          <p:cNvSpPr/>
          <p:nvPr/>
        </p:nvSpPr>
        <p:spPr>
          <a:xfrm>
            <a:off x="8382000" y="6032500"/>
            <a:ext cx="50800" cy="1524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17" name="Text 15"/>
          <p:cNvSpPr/>
          <p:nvPr/>
        </p:nvSpPr>
        <p:spPr>
          <a:xfrm>
            <a:off x="8636000" y="62230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add(3, 5);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8 (int)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add(2.5, 3.5);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6.0 (double)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add(1, 2, 3);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6 (3 params)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351000" y="8636000"/>
            <a:ext cx="114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62000"/>
            <a:ext cx="14732000" cy="0"/>
          </a:xfrm>
          <a:prstGeom prst="straightConnector1">
            <a:avLst/>
          </a:prstGeom>
          <a:noFill/>
          <a:ln w="12700">
            <a:solidFill>
              <a:srgbClr val="2D3142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OOP | WEEK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Compile-time: Operator Overloading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752600"/>
            <a:ext cx="1016000" cy="50800"/>
          </a:xfrm>
          <a:prstGeom prst="rect">
            <a:avLst/>
          </a:prstGeom>
          <a:solidFill>
            <a:srgbClr val="C67B3C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0955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Redefine how operators work with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user-defined types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(classes).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62000" y="3048000"/>
            <a:ext cx="7112000" cy="4000500"/>
          </a:xfrm>
          <a:prstGeom prst="roundRect">
            <a:avLst>
              <a:gd name="adj" fmla="val 5000"/>
            </a:avLst>
          </a:prstGeom>
          <a:solidFill>
            <a:srgbClr val="E8E4DB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3048000"/>
            <a:ext cx="50800" cy="4000500"/>
          </a:xfrm>
          <a:prstGeom prst="rect">
            <a:avLst/>
          </a:prstGeom>
          <a:solidFill>
            <a:srgbClr val="C67B3C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238500"/>
            <a:ext cx="66040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6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5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Complex {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6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45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real, imag;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6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5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Complex(</a:t>
            </a:r>
            <a:pPr>
              <a:lnSpc>
                <a:spcPct val="145000"/>
              </a:lnSpc>
            </a:pPr>
            <a:r>
              <a:rPr lang="en-US" sz="16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45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r, </a:t>
            </a:r>
            <a:pPr>
              <a:lnSpc>
                <a:spcPct val="145000"/>
              </a:lnSpc>
            </a:pPr>
            <a:r>
              <a:rPr lang="en-US" sz="16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45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i)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real(r), imag(i) {}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Complex </a:t>
            </a:r>
            <a:pPr>
              <a:lnSpc>
                <a:spcPct val="145000"/>
              </a:lnSpc>
            </a:pPr>
            <a:r>
              <a:rPr lang="en-US" sz="1600" b="1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operator+</a:t>
            </a:r>
            <a:pPr>
              <a:lnSpc>
                <a:spcPct val="145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pPr>
              <a:lnSpc>
                <a:spcPct val="145000"/>
              </a:lnSpc>
            </a:pPr>
            <a:r>
              <a:rPr lang="en-US" sz="16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</a:t>
            </a:r>
            <a:pPr>
              <a:lnSpc>
                <a:spcPct val="145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Complex&amp; c) {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6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45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Complex(real+c.real,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imag+c.imag);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2000" y="7112000"/>
            <a:ext cx="7112000" cy="1016000"/>
          </a:xfrm>
          <a:prstGeom prst="roundRect">
            <a:avLst>
              <a:gd name="adj" fmla="val 5000"/>
            </a:avLst>
          </a:prstGeom>
          <a:solidFill>
            <a:srgbClr val="EEF0EB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72390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Complex c1(2, 3), c2(1, 4);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Complex c3 =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c1 + c2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(3, 7)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82000" y="2095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Operators to Overload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2667000"/>
          <a:ext cx="7112000" cy="3556000"/>
        </p:xfrm>
        <a:graphic>
          <a:graphicData uri="http://schemas.openxmlformats.org/drawingml/2006/table">
            <a:tbl>
              <a:tblPr/>
              <a:tblGrid>
                <a:gridCol w="2844800"/>
                <a:gridCol w="4267200"/>
              </a:tblGrid>
              <a:tr h="573548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Category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Operators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</a:tr>
              <a:tr h="49707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Arithmetic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+, -, *, /, 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707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Comparison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==, !=, &lt;, &gt;, &lt;=, &gt;=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49707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Assignment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=, +=, -=, *=, /=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707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Increment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++, -- (prefix &amp; postfix)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49707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Stream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&lt;&lt;, &gt;&gt;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707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Subscript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[]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8382000" y="64770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Syntax: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returnType operator+(const ClassName&amp; obj)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4351000" y="8636000"/>
            <a:ext cx="114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62000"/>
            <a:ext cx="14732000" cy="0"/>
          </a:xfrm>
          <a:prstGeom prst="straightConnector1">
            <a:avLst/>
          </a:prstGeom>
          <a:noFill/>
          <a:ln w="12700">
            <a:solidFill>
              <a:srgbClr val="2D3142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OOP | WEEK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Runtime Polymorphism: Virtual Functions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752600"/>
            <a:ext cx="1016000" cy="50800"/>
          </a:xfrm>
          <a:prstGeom prst="rect">
            <a:avLst/>
          </a:prstGeom>
          <a:solidFill>
            <a:srgbClr val="C67B3C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0955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virtual function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declared in the base class with 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virtual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keyword and can be overridden in derived classes. Enables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dynamic dispatch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62000" y="3111500"/>
            <a:ext cx="7048500" cy="2794000"/>
          </a:xfrm>
          <a:prstGeom prst="roundRect">
            <a:avLst>
              <a:gd name="adj" fmla="val 5000"/>
            </a:avLst>
          </a:prstGeom>
          <a:solidFill>
            <a:srgbClr val="F0E8E0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3111500"/>
            <a:ext cx="7048500" cy="50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302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WITHOUT virtual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746500"/>
            <a:ext cx="6540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Animal {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sound() { cout &lt;&lt; 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"Animal"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}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Animal* a = </a:t>
            </a:r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Dog();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a-&gt;sound(); 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"Animal" (wrong!)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91500" y="3111500"/>
            <a:ext cx="7048500" cy="2794000"/>
          </a:xfrm>
          <a:prstGeom prst="roundRect">
            <a:avLst>
              <a:gd name="adj" fmla="val 5000"/>
            </a:avLst>
          </a:prstGeom>
          <a:solidFill>
            <a:srgbClr val="E0ECE0"/>
          </a:solidFill>
          <a:ln/>
        </p:spPr>
      </p:sp>
      <p:sp>
        <p:nvSpPr>
          <p:cNvPr id="12" name="Shape 10"/>
          <p:cNvSpPr/>
          <p:nvPr/>
        </p:nvSpPr>
        <p:spPr>
          <a:xfrm>
            <a:off x="8191500" y="3111500"/>
            <a:ext cx="7048500" cy="508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8445500" y="3302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27AE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 virtual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45500" y="3746500"/>
            <a:ext cx="6540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Animal {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sound() { ... }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Animal* a = </a:t>
            </a:r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Dog();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a-&gt;sound(); 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27AE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"Dog barks" (correct!)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000" y="6223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Points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62000" y="6731000"/>
            <a:ext cx="1473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virtual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only in the base class declaration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override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derived classes (catches errors at compile-time)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correct function is determined at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runtime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based on the actual object type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351000" y="8636000"/>
            <a:ext cx="114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62000"/>
            <a:ext cx="14732000" cy="0"/>
          </a:xfrm>
          <a:prstGeom prst="straightConnector1">
            <a:avLst/>
          </a:prstGeom>
          <a:noFill/>
          <a:ln w="12700">
            <a:solidFill>
              <a:srgbClr val="2D3142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OOP | WEEK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 Overriding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752600"/>
            <a:ext cx="1016000" cy="50800"/>
          </a:xfrm>
          <a:prstGeom prst="rect">
            <a:avLst/>
          </a:prstGeom>
          <a:solidFill>
            <a:srgbClr val="C67B3C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095500"/>
            <a:ext cx="711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derived class provides its own implementation of a base class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virtual function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2000" y="3111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Rules for Overriding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2000" y="3619500"/>
            <a:ext cx="7112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Function name must be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identical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Parameter list must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match exactly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Return type must be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compatible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Base function must be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virtual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2000" y="6350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Special Keywords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2000" y="6858000"/>
            <a:ext cx="711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override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explicitly indicates intent, compiler verifies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final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prevents further overriding in subclasses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382000" y="2095500"/>
            <a:ext cx="7112000" cy="6223000"/>
          </a:xfrm>
          <a:prstGeom prst="roundRect">
            <a:avLst>
              <a:gd name="adj" fmla="val 5000"/>
            </a:avLst>
          </a:prstGeom>
          <a:solidFill>
            <a:srgbClr val="E8E4DB"/>
          </a:solidFill>
          <a:ln/>
        </p:spPr>
      </p:sp>
      <p:sp>
        <p:nvSpPr>
          <p:cNvPr id="12" name="Shape 10"/>
          <p:cNvSpPr/>
          <p:nvPr/>
        </p:nvSpPr>
        <p:spPr>
          <a:xfrm>
            <a:off x="8382000" y="2095500"/>
            <a:ext cx="50800" cy="6223000"/>
          </a:xfrm>
          <a:prstGeom prst="rect">
            <a:avLst/>
          </a:prstGeom>
          <a:solidFill>
            <a:srgbClr val="C67B3C"/>
          </a:solidFill>
          <a:ln/>
        </p:spPr>
      </p:sp>
      <p:sp>
        <p:nvSpPr>
          <p:cNvPr id="13" name="Text 11"/>
          <p:cNvSpPr/>
          <p:nvPr/>
        </p:nvSpPr>
        <p:spPr>
          <a:xfrm>
            <a:off x="8636000" y="2286000"/>
            <a:ext cx="6604000" cy="584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Animal {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sound() {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"Animal"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~Animal() = </a:t>
            </a:r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Dog : </a:t>
            </a:r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Animal {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sound() </a:t>
            </a:r>
            <a:pPr>
              <a:lnSpc>
                <a:spcPct val="145000"/>
              </a:lnSpc>
            </a:pPr>
            <a:r>
              <a:rPr lang="en-US" sz="1500" b="1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override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5000"/>
              </a:lnSpc>
            </a:pPr>
            <a:r>
              <a:rPr lang="en-US" sz="1500" b="1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"Dog barks"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351000" y="8636000"/>
            <a:ext cx="114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62000"/>
            <a:ext cx="14732000" cy="0"/>
          </a:xfrm>
          <a:prstGeom prst="straightConnector1">
            <a:avLst/>
          </a:prstGeom>
          <a:noFill/>
          <a:ln w="12700">
            <a:solidFill>
              <a:srgbClr val="2D3142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OOP | WEEK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Virtual Functions Work: The vtable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752600"/>
            <a:ext cx="1016000" cy="50800"/>
          </a:xfrm>
          <a:prstGeom prst="rect">
            <a:avLst/>
          </a:prstGeom>
          <a:solidFill>
            <a:srgbClr val="C67B3C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159000"/>
            <a:ext cx="8890000" cy="4318000"/>
          </a:xfrm>
          <a:prstGeom prst="roundRect">
            <a:avLst>
              <a:gd name="adj" fmla="val 5000"/>
            </a:avLst>
          </a:prstGeom>
          <a:solidFill>
            <a:srgbClr val="E8E4DB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349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TABLE (vtable)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16000" y="2794000"/>
            <a:ext cx="2540000" cy="1016000"/>
          </a:xfrm>
          <a:prstGeom prst="roundRect">
            <a:avLst>
              <a:gd name="adj" fmla="val 5000"/>
            </a:avLst>
          </a:prstGeom>
          <a:solidFill>
            <a:srgbClr val="2D3142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2794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[0] → Animal::sound()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[1] → Animal::move()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937000" y="2349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 (vptr)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937000" y="2794000"/>
            <a:ext cx="1778000" cy="635000"/>
          </a:xfrm>
          <a:prstGeom prst="roundRect">
            <a:avLst>
              <a:gd name="adj" fmla="val 5000"/>
            </a:avLst>
          </a:prstGeom>
          <a:solidFill>
            <a:srgbClr val="C67B3C"/>
          </a:solidFill>
          <a:ln/>
        </p:spPr>
      </p:sp>
      <p:sp>
        <p:nvSpPr>
          <p:cNvPr id="12" name="Text 10"/>
          <p:cNvSpPr/>
          <p:nvPr/>
        </p:nvSpPr>
        <p:spPr>
          <a:xfrm>
            <a:off x="3937000" y="27940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vptr → vtable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0" y="3073400"/>
            <a:ext cx="635000" cy="0"/>
          </a:xfrm>
          <a:prstGeom prst="straightConnector1">
            <a:avLst/>
          </a:prstGeom>
          <a:noFill/>
          <a:ln w="25400">
            <a:solidFill>
              <a:srgbClr val="7C8C6E"/>
            </a:solidFill>
            <a:prstDash val="solid"/>
            <a:headEnd type="none"/>
            <a:tailEnd type="arrow"/>
          </a:ln>
        </p:spPr>
      </p:sp>
      <p:sp>
        <p:nvSpPr>
          <p:cNvPr id="14" name="Text 12"/>
          <p:cNvSpPr/>
          <p:nvPr/>
        </p:nvSpPr>
        <p:spPr>
          <a:xfrm>
            <a:off x="6604000" y="23495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CALL FLOW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04000" y="2794000"/>
            <a:ext cx="279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ptr-&gt;sound()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Follow vptr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04000" y="3683000"/>
            <a:ext cx="279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Index into vtable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Execute function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6000" y="406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DERIVED CLASS vtable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16000" y="4508500"/>
            <a:ext cx="2540000" cy="1016000"/>
          </a:xfrm>
          <a:prstGeom prst="roundRect">
            <a:avLst>
              <a:gd name="adj" fmla="val 5000"/>
            </a:avLst>
          </a:prstGeom>
          <a:solidFill>
            <a:srgbClr val="7C8C6E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45085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[0] → Dog::sound()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[1] → Animal::move()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5500" y="3810000"/>
            <a:ext cx="0" cy="698500"/>
          </a:xfrm>
          <a:prstGeom prst="straightConnector1">
            <a:avLst/>
          </a:prstGeom>
          <a:noFill/>
          <a:ln w="12700">
            <a:solidFill>
              <a:srgbClr val="C67B3C"/>
            </a:solidFill>
            <a:prstDash val="sysDot"/>
            <a:headEnd type="none"/>
            <a:tailEnd type="arrow"/>
          </a:ln>
        </p:spPr>
      </p:sp>
      <p:sp>
        <p:nvSpPr>
          <p:cNvPr id="21" name="Text 19"/>
          <p:cNvSpPr/>
          <p:nvPr/>
        </p:nvSpPr>
        <p:spPr>
          <a:xfrm>
            <a:off x="762000" y="6731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Mechanism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62000" y="7239000"/>
            <a:ext cx="889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Each class with virtual functions has a static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vtable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Each object contains a hidden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vptr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pointing to its class's vtable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0160000" y="2159000"/>
            <a:ext cx="5334000" cy="6223000"/>
          </a:xfrm>
          <a:prstGeom prst="roundRect">
            <a:avLst>
              <a:gd name="adj" fmla="val 5000"/>
            </a:avLst>
          </a:prstGeom>
          <a:solidFill>
            <a:srgbClr val="EEF0EB"/>
          </a:solidFill>
          <a:ln/>
        </p:spPr>
      </p:sp>
      <p:sp>
        <p:nvSpPr>
          <p:cNvPr id="24" name="Text 22"/>
          <p:cNvSpPr/>
          <p:nvPr/>
        </p:nvSpPr>
        <p:spPr>
          <a:xfrm>
            <a:off x="10477500" y="2413000"/>
            <a:ext cx="469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Notes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477500" y="2984500"/>
            <a:ext cx="4699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Indirect calls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through vtable add slight overhead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Small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memory overhead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per object (vptr)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Virtual functions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cannot be inlined</a:t>
            </a:r>
            <a:endParaRPr lang="en-US" sz="2000" dirty="0"/>
          </a:p>
          <a:p>
            <a:pPr>
              <a:lnSpc>
                <a:spcPct val="180000"/>
              </a:lnSpc>
              <a:spcBef>
                <a:spcPts val="2000"/>
              </a:spcBef>
            </a:pPr>
            <a:r>
              <a:rPr lang="en-US" sz="1600" dirty="0">
                <a:solidFill>
                  <a:srgbClr val="7C8C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Despite these costs, the benefits of flexibility and maintainability far outweigh the performance impact in most applications.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4351000" y="8636000"/>
            <a:ext cx="114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62000"/>
            <a:ext cx="14732000" cy="0"/>
          </a:xfrm>
          <a:prstGeom prst="straightConnector1">
            <a:avLst/>
          </a:prstGeom>
          <a:noFill/>
          <a:ln w="12700">
            <a:solidFill>
              <a:srgbClr val="2D3142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OOP | WEEK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Pure Virtual Functions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752600"/>
            <a:ext cx="1016000" cy="50800"/>
          </a:xfrm>
          <a:prstGeom prst="rect">
            <a:avLst/>
          </a:prstGeom>
          <a:solidFill>
            <a:srgbClr val="C67B3C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159000"/>
            <a:ext cx="14732000" cy="1143000"/>
          </a:xfrm>
          <a:prstGeom prst="roundRect">
            <a:avLst>
              <a:gd name="adj" fmla="val 3000"/>
            </a:avLst>
          </a:prstGeom>
          <a:solidFill>
            <a:srgbClr val="EEF0EB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2860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pure virtual function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has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implementation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the base class. Declared with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= 0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Forces derived classes to provide their own implementation.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62000" y="3619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62000" y="4127500"/>
            <a:ext cx="7112000" cy="762000"/>
          </a:xfrm>
          <a:prstGeom prst="roundRect">
            <a:avLst>
              <a:gd name="adj" fmla="val 5000"/>
            </a:avLst>
          </a:prstGeom>
          <a:solidFill>
            <a:srgbClr val="E8E4DB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4127500"/>
            <a:ext cx="50800" cy="762000"/>
          </a:xfrm>
          <a:prstGeom prst="rect">
            <a:avLst/>
          </a:prstGeom>
          <a:solidFill>
            <a:srgbClr val="C67B3C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4254500"/>
            <a:ext cx="660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draw()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 0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pure virtual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520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2000" y="57150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No function body in base class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= 0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indicates pure virtual (not assignment)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Forces all derived classes to implement it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Defines an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interface contract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382000" y="3619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382000" y="4127500"/>
            <a:ext cx="7112000" cy="4127500"/>
          </a:xfrm>
          <a:prstGeom prst="roundRect">
            <a:avLst>
              <a:gd name="adj" fmla="val 5000"/>
            </a:avLst>
          </a:prstGeom>
          <a:solidFill>
            <a:srgbClr val="E8E4DB"/>
          </a:solidFill>
          <a:ln/>
        </p:spPr>
      </p:sp>
      <p:sp>
        <p:nvSpPr>
          <p:cNvPr id="16" name="Shape 14"/>
          <p:cNvSpPr/>
          <p:nvPr/>
        </p:nvSpPr>
        <p:spPr>
          <a:xfrm>
            <a:off x="8382000" y="4127500"/>
            <a:ext cx="50800" cy="4127500"/>
          </a:xfrm>
          <a:prstGeom prst="rect">
            <a:avLst/>
          </a:prstGeom>
          <a:solidFill>
            <a:srgbClr val="C67B3C"/>
          </a:solidFill>
          <a:ln/>
        </p:spPr>
      </p:sp>
      <p:sp>
        <p:nvSpPr>
          <p:cNvPr id="17" name="Text 15"/>
          <p:cNvSpPr/>
          <p:nvPr/>
        </p:nvSpPr>
        <p:spPr>
          <a:xfrm>
            <a:off x="8636000" y="4318000"/>
            <a:ext cx="6604000" cy="374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Shape {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draw() </a:t>
            </a:r>
            <a:pPr>
              <a:lnSpc>
                <a:spcPct val="145000"/>
              </a:lnSpc>
            </a:pPr>
            <a:r>
              <a:rPr lang="en-US" sz="1500" b="1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 0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area() </a:t>
            </a:r>
            <a:pPr>
              <a:lnSpc>
                <a:spcPct val="145000"/>
              </a:lnSpc>
            </a:pPr>
            <a:r>
              <a:rPr lang="en-US" sz="1500" b="1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 0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Circle : </a:t>
            </a:r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Shape {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draw() </a:t>
            </a:r>
            <a:pPr>
              <a:lnSpc>
                <a:spcPct val="145000"/>
              </a:lnSpc>
            </a:pPr>
            <a:r>
              <a:rPr lang="en-US" sz="1500" b="1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override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... }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area() </a:t>
            </a:r>
            <a:pPr>
              <a:lnSpc>
                <a:spcPct val="145000"/>
              </a:lnSpc>
            </a:pPr>
            <a:r>
              <a:rPr lang="en-US" sz="1500" b="1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override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... }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351000" y="8636000"/>
            <a:ext cx="114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62000"/>
            <a:ext cx="14732000" cy="0"/>
          </a:xfrm>
          <a:prstGeom prst="straightConnector1">
            <a:avLst/>
          </a:prstGeom>
          <a:noFill/>
          <a:ln w="12700">
            <a:solidFill>
              <a:srgbClr val="2D3142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OOP | WEEK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Abstract Classes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752600"/>
            <a:ext cx="1016000" cy="50800"/>
          </a:xfrm>
          <a:prstGeom prst="rect">
            <a:avLst/>
          </a:prstGeom>
          <a:solidFill>
            <a:srgbClr val="C67B3C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159000"/>
            <a:ext cx="14732000" cy="889000"/>
          </a:xfrm>
          <a:prstGeom prst="roundRect">
            <a:avLst>
              <a:gd name="adj" fmla="val 3000"/>
            </a:avLst>
          </a:prstGeom>
          <a:solidFill>
            <a:srgbClr val="EEF0EB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2225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class with at least one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pure virtual function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It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cannot be instantiated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serves as a blueprint for derived classes.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62000" y="3365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Rules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873500"/>
          <a:ext cx="7112000" cy="3175000"/>
        </p:xfrm>
        <a:graphic>
          <a:graphicData uri="http://schemas.openxmlformats.org/drawingml/2006/table">
            <a:tbl>
              <a:tblPr/>
              <a:tblGrid>
                <a:gridCol w="355600"/>
                <a:gridCol w="6756400"/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 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Rule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 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Cannot create objects of abstract class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 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Can have pointers and references of abstract type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 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Derived classes must override all pure virtual functions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 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Can contain data members and non-virtual functions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62000" y="7302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Uses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62000" y="7747000"/>
            <a:ext cx="711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Shape, Animal, Vehicle — general concepts requiring specific implementations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382000" y="3365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Hierarchy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8382000" y="3873500"/>
            <a:ext cx="7112000" cy="4572000"/>
          </a:xfrm>
          <a:prstGeom prst="roundRect">
            <a:avLst>
              <a:gd name="adj" fmla="val 5000"/>
            </a:avLst>
          </a:prstGeom>
          <a:solidFill>
            <a:srgbClr val="E8E4DB"/>
          </a:solidFill>
          <a:ln/>
        </p:spPr>
      </p:sp>
      <p:sp>
        <p:nvSpPr>
          <p:cNvPr id="14" name="Shape 11"/>
          <p:cNvSpPr/>
          <p:nvPr/>
        </p:nvSpPr>
        <p:spPr>
          <a:xfrm>
            <a:off x="10922000" y="4064000"/>
            <a:ext cx="2032000" cy="635000"/>
          </a:xfrm>
          <a:prstGeom prst="roundRect">
            <a:avLst>
              <a:gd name="adj" fmla="val 8000"/>
            </a:avLst>
          </a:prstGeom>
          <a:solidFill>
            <a:srgbClr val="C67B3C"/>
          </a:solidFill>
          <a:ln/>
        </p:spPr>
      </p:sp>
      <p:sp>
        <p:nvSpPr>
          <p:cNvPr id="15" name="Text 12"/>
          <p:cNvSpPr/>
          <p:nvPr/>
        </p:nvSpPr>
        <p:spPr>
          <a:xfrm>
            <a:off x="10922000" y="40640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Shape (Abstract)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3081000" y="41910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C8C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draw()=0, area()=0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1303000" y="4699000"/>
            <a:ext cx="0" cy="381000"/>
          </a:xfrm>
          <a:prstGeom prst="straightConnector1">
            <a:avLst/>
          </a:prstGeom>
          <a:noFill/>
          <a:ln w="25400">
            <a:solidFill>
              <a:srgbClr val="7C8C6E"/>
            </a:solidFill>
            <a:prstDash val="solid"/>
            <a:headEnd type="none"/>
            <a:tailEnd type="arrow"/>
          </a:ln>
        </p:spPr>
      </p:sp>
      <p:sp>
        <p:nvSpPr>
          <p:cNvPr id="18" name="Shape 15"/>
          <p:cNvSpPr/>
          <p:nvPr/>
        </p:nvSpPr>
        <p:spPr>
          <a:xfrm>
            <a:off x="12573000" y="4699000"/>
            <a:ext cx="0" cy="381000"/>
          </a:xfrm>
          <a:prstGeom prst="straightConnector1">
            <a:avLst/>
          </a:prstGeom>
          <a:noFill/>
          <a:ln w="25400">
            <a:solidFill>
              <a:srgbClr val="7C8C6E"/>
            </a:solidFill>
            <a:prstDash val="solid"/>
            <a:headEnd type="none"/>
            <a:tailEnd type="arrow"/>
          </a:ln>
        </p:spPr>
      </p:sp>
      <p:sp>
        <p:nvSpPr>
          <p:cNvPr id="19" name="Shape 16"/>
          <p:cNvSpPr/>
          <p:nvPr/>
        </p:nvSpPr>
        <p:spPr>
          <a:xfrm>
            <a:off x="10287000" y="5143500"/>
            <a:ext cx="1778000" cy="571500"/>
          </a:xfrm>
          <a:prstGeom prst="roundRect">
            <a:avLst>
              <a:gd name="adj" fmla="val 8000"/>
            </a:avLst>
          </a:prstGeom>
          <a:solidFill>
            <a:srgbClr val="2D3142"/>
          </a:solidFill>
          <a:ln/>
        </p:spPr>
      </p:sp>
      <p:sp>
        <p:nvSpPr>
          <p:cNvPr id="20" name="Text 17"/>
          <p:cNvSpPr/>
          <p:nvPr/>
        </p:nvSpPr>
        <p:spPr>
          <a:xfrm>
            <a:off x="10287000" y="5143500"/>
            <a:ext cx="177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Circle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2319000" y="5143500"/>
            <a:ext cx="1778000" cy="571500"/>
          </a:xfrm>
          <a:prstGeom prst="roundRect">
            <a:avLst>
              <a:gd name="adj" fmla="val 8000"/>
            </a:avLst>
          </a:prstGeom>
          <a:solidFill>
            <a:srgbClr val="2D3142"/>
          </a:solidFill>
          <a:ln/>
        </p:spPr>
      </p:sp>
      <p:sp>
        <p:nvSpPr>
          <p:cNvPr id="22" name="Text 19"/>
          <p:cNvSpPr/>
          <p:nvPr/>
        </p:nvSpPr>
        <p:spPr>
          <a:xfrm>
            <a:off x="12319000" y="5143500"/>
            <a:ext cx="177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Rectangle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1176000" y="5715000"/>
            <a:ext cx="0" cy="381000"/>
          </a:xfrm>
          <a:prstGeom prst="straightConnector1">
            <a:avLst/>
          </a:prstGeom>
          <a:noFill/>
          <a:ln w="25400">
            <a:solidFill>
              <a:srgbClr val="7C8C6E"/>
            </a:solidFill>
            <a:prstDash val="solid"/>
            <a:headEnd type="none"/>
            <a:tailEnd type="arrow"/>
          </a:ln>
        </p:spPr>
      </p:sp>
      <p:sp>
        <p:nvSpPr>
          <p:cNvPr id="24" name="Shape 21"/>
          <p:cNvSpPr/>
          <p:nvPr/>
        </p:nvSpPr>
        <p:spPr>
          <a:xfrm>
            <a:off x="13208000" y="5715000"/>
            <a:ext cx="0" cy="381000"/>
          </a:xfrm>
          <a:prstGeom prst="straightConnector1">
            <a:avLst/>
          </a:prstGeom>
          <a:noFill/>
          <a:ln w="25400">
            <a:solidFill>
              <a:srgbClr val="7C8C6E"/>
            </a:solidFill>
            <a:prstDash val="solid"/>
            <a:headEnd type="none"/>
            <a:tailEnd type="arrow"/>
          </a:ln>
        </p:spPr>
      </p:sp>
      <p:sp>
        <p:nvSpPr>
          <p:cNvPr id="25" name="Shape 22"/>
          <p:cNvSpPr/>
          <p:nvPr/>
        </p:nvSpPr>
        <p:spPr>
          <a:xfrm>
            <a:off x="10287000" y="6159500"/>
            <a:ext cx="1778000" cy="508000"/>
          </a:xfrm>
          <a:prstGeom prst="roundRect">
            <a:avLst>
              <a:gd name="adj" fmla="val 8000"/>
            </a:avLst>
          </a:prstGeom>
          <a:solidFill>
            <a:srgbClr val="7C8C6E">
              <a:alpha val="25098"/>
            </a:srgbClr>
          </a:solidFill>
          <a:ln w="12700">
            <a:solidFill>
              <a:srgbClr val="7C8C6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287000" y="6159500"/>
            <a:ext cx="177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Instantiable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12319000" y="6159500"/>
            <a:ext cx="1778000" cy="508000"/>
          </a:xfrm>
          <a:prstGeom prst="roundRect">
            <a:avLst>
              <a:gd name="adj" fmla="val 8000"/>
            </a:avLst>
          </a:prstGeom>
          <a:solidFill>
            <a:srgbClr val="7C8C6E">
              <a:alpha val="25098"/>
            </a:srgbClr>
          </a:solidFill>
          <a:ln w="12700">
            <a:solidFill>
              <a:srgbClr val="7C8C6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2319000" y="6159500"/>
            <a:ext cx="177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Instantiable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890000" y="7048500"/>
            <a:ext cx="4318000" cy="508000"/>
          </a:xfrm>
          <a:prstGeom prst="roundRect">
            <a:avLst>
              <a:gd name="adj" fmla="val 8000"/>
            </a:avLst>
          </a:prstGeom>
          <a:solidFill>
            <a:srgbClr val="C0392B">
              <a:alpha val="8235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890000" y="7048500"/>
            <a:ext cx="431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Shape s; // ERROR: cannot instantiate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13335000" y="7048500"/>
            <a:ext cx="1905000" cy="508000"/>
          </a:xfrm>
          <a:prstGeom prst="roundRect">
            <a:avLst>
              <a:gd name="adj" fmla="val 8000"/>
            </a:avLst>
          </a:prstGeom>
          <a:solidFill>
            <a:srgbClr val="27AE60">
              <a:alpha val="8235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3335000" y="7048500"/>
            <a:ext cx="190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27AE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Shape* ptr; // OK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4351000" y="8636000"/>
            <a:ext cx="114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62000"/>
            <a:ext cx="14732000" cy="0"/>
          </a:xfrm>
          <a:prstGeom prst="straightConnector1">
            <a:avLst/>
          </a:prstGeom>
          <a:noFill/>
          <a:ln w="12700">
            <a:solidFill>
              <a:srgbClr val="2D3142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OOP | WEEK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Polymorphism in Action: Shape Example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752600"/>
            <a:ext cx="1016000" cy="50800"/>
          </a:xfrm>
          <a:prstGeom prst="rect">
            <a:avLst/>
          </a:prstGeom>
          <a:solidFill>
            <a:srgbClr val="C67B3C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159000"/>
            <a:ext cx="8636000" cy="4826000"/>
          </a:xfrm>
          <a:prstGeom prst="roundRect">
            <a:avLst>
              <a:gd name="adj" fmla="val 5000"/>
            </a:avLst>
          </a:prstGeom>
          <a:solidFill>
            <a:srgbClr val="E8E4DB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2159000"/>
            <a:ext cx="50800" cy="4826000"/>
          </a:xfrm>
          <a:prstGeom prst="rect">
            <a:avLst/>
          </a:prstGeom>
          <a:solidFill>
            <a:srgbClr val="C67B3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349500"/>
            <a:ext cx="8128000" cy="444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Shape {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draw() = 0;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area() = 0;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~Shape() {}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Circle :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Shape {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r;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draw()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override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cout&lt;&lt;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"Circle"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}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area()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override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3.14*r*r; }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Rectangle class similarly...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7239000"/>
            <a:ext cx="8636000" cy="1016000"/>
          </a:xfrm>
          <a:prstGeom prst="roundRect">
            <a:avLst>
              <a:gd name="adj" fmla="val 5000"/>
            </a:avLst>
          </a:prstGeom>
          <a:solidFill>
            <a:srgbClr val="EEF0EB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7366000"/>
            <a:ext cx="812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Shape* shapes[] = {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Circle(5),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Rectangle(4, 6)};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(Shape* s : shapes) { s-&gt;draw(); cout &lt;&lt; s-&gt;area(); }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Polymorphic!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906000" y="21590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Happens?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9906000" y="2794000"/>
            <a:ext cx="5588000" cy="889000"/>
          </a:xfrm>
          <a:prstGeom prst="roundRect">
            <a:avLst>
              <a:gd name="adj" fmla="val 5000"/>
            </a:avLst>
          </a:prstGeom>
          <a:solidFill>
            <a:srgbClr val="EEF0EB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0" y="29210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Array of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Shape*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stores different derived objects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906000" y="3873500"/>
            <a:ext cx="5588000" cy="889000"/>
          </a:xfrm>
          <a:prstGeom prst="roundRect">
            <a:avLst>
              <a:gd name="adj" fmla="val 5000"/>
            </a:avLst>
          </a:prstGeom>
          <a:solidFill>
            <a:srgbClr val="EEF0EB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0" y="40005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Loop calls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draw()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on each pointer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906000" y="4953000"/>
            <a:ext cx="5588000" cy="889000"/>
          </a:xfrm>
          <a:prstGeom prst="roundRect">
            <a:avLst>
              <a:gd name="adj" fmla="val 5000"/>
            </a:avLst>
          </a:prstGeom>
          <a:solidFill>
            <a:srgbClr val="EEF0EB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0" y="50800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vtable resolves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correct function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906000" y="6032500"/>
            <a:ext cx="5588000" cy="889000"/>
          </a:xfrm>
          <a:prstGeom prst="roundRect">
            <a:avLst>
              <a:gd name="adj" fmla="val 5000"/>
            </a:avLst>
          </a:prstGeom>
          <a:solidFill>
            <a:srgbClr val="EEF0EB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0" y="61595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Clean, extensible, polymorphic code!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906000" y="7175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OUTPUT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906000" y="7556500"/>
            <a:ext cx="558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Circle 78.5 Rectangle 24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351000" y="8636000"/>
            <a:ext cx="114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62000"/>
            <a:ext cx="14732000" cy="0"/>
          </a:xfrm>
          <a:prstGeom prst="straightConnector1">
            <a:avLst/>
          </a:prstGeom>
          <a:noFill/>
          <a:ln w="12700">
            <a:solidFill>
              <a:srgbClr val="2D3142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OOP | WEEK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 of Using Polymorphism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752600"/>
            <a:ext cx="1016000" cy="50800"/>
          </a:xfrm>
          <a:prstGeom prst="rect">
            <a:avLst/>
          </a:prstGeom>
          <a:solidFill>
            <a:srgbClr val="C67B3C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222500"/>
            <a:ext cx="4572000" cy="2540000"/>
          </a:xfrm>
          <a:prstGeom prst="roundRect">
            <a:avLst>
              <a:gd name="adj" fmla="val 5000"/>
            </a:avLst>
          </a:prstGeom>
          <a:solidFill>
            <a:srgbClr val="EEF0EB"/>
          </a:solidFill>
          <a:ln/>
        </p:spPr>
      </p:sp>
      <p:sp>
        <p:nvSpPr>
          <p:cNvPr id="7" name="Shape 5"/>
          <p:cNvSpPr/>
          <p:nvPr/>
        </p:nvSpPr>
        <p:spPr>
          <a:xfrm>
            <a:off x="1079500" y="2476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20888" y="47625"/>
                </a:moveTo>
                <a:cubicBezTo>
                  <a:pt x="157559" y="-15875"/>
                  <a:pt x="249237" y="-15875"/>
                  <a:pt x="285909" y="47625"/>
                </a:cubicBezTo>
                <a:lnTo>
                  <a:pt x="315516" y="98901"/>
                </a:lnTo>
                <a:lnTo>
                  <a:pt x="337502" y="86201"/>
                </a:lnTo>
                <a:cubicBezTo>
                  <a:pt x="344170" y="82312"/>
                  <a:pt x="352504" y="82868"/>
                  <a:pt x="358616" y="87551"/>
                </a:cubicBezTo>
                <a:cubicBezTo>
                  <a:pt x="364728" y="92234"/>
                  <a:pt x="367427" y="100171"/>
                  <a:pt x="365443" y="107633"/>
                </a:cubicBezTo>
                <a:lnTo>
                  <a:pt x="346789" y="177006"/>
                </a:lnTo>
                <a:cubicBezTo>
                  <a:pt x="344091" y="187166"/>
                  <a:pt x="333613" y="193199"/>
                  <a:pt x="323453" y="190500"/>
                </a:cubicBezTo>
                <a:lnTo>
                  <a:pt x="254079" y="171926"/>
                </a:lnTo>
                <a:cubicBezTo>
                  <a:pt x="246618" y="169942"/>
                  <a:pt x="241141" y="163671"/>
                  <a:pt x="240109" y="156051"/>
                </a:cubicBezTo>
                <a:cubicBezTo>
                  <a:pt x="239078" y="148431"/>
                  <a:pt x="242808" y="140891"/>
                  <a:pt x="249476" y="137081"/>
                </a:cubicBezTo>
                <a:lnTo>
                  <a:pt x="271463" y="124381"/>
                </a:lnTo>
                <a:lnTo>
                  <a:pt x="241856" y="73104"/>
                </a:lnTo>
                <a:cubicBezTo>
                  <a:pt x="224711" y="43498"/>
                  <a:pt x="182007" y="43498"/>
                  <a:pt x="164862" y="73104"/>
                </a:cubicBezTo>
                <a:lnTo>
                  <a:pt x="160655" y="80328"/>
                </a:lnTo>
                <a:cubicBezTo>
                  <a:pt x="153670" y="92472"/>
                  <a:pt x="138112" y="96599"/>
                  <a:pt x="125968" y="89614"/>
                </a:cubicBezTo>
                <a:cubicBezTo>
                  <a:pt x="113824" y="82629"/>
                  <a:pt x="109696" y="67072"/>
                  <a:pt x="116681" y="54848"/>
                </a:cubicBezTo>
                <a:lnTo>
                  <a:pt x="120888" y="47625"/>
                </a:lnTo>
                <a:close/>
                <a:moveTo>
                  <a:pt x="356949" y="221536"/>
                </a:moveTo>
                <a:cubicBezTo>
                  <a:pt x="369094" y="214551"/>
                  <a:pt x="384651" y="218678"/>
                  <a:pt x="391636" y="230823"/>
                </a:cubicBezTo>
                <a:lnTo>
                  <a:pt x="395843" y="238046"/>
                </a:lnTo>
                <a:cubicBezTo>
                  <a:pt x="432514" y="301546"/>
                  <a:pt x="386715" y="380921"/>
                  <a:pt x="313372" y="380921"/>
                </a:cubicBezTo>
                <a:lnTo>
                  <a:pt x="254159" y="380921"/>
                </a:lnTo>
                <a:lnTo>
                  <a:pt x="254159" y="406321"/>
                </a:lnTo>
                <a:cubicBezTo>
                  <a:pt x="254159" y="414020"/>
                  <a:pt x="249555" y="421005"/>
                  <a:pt x="242411" y="423942"/>
                </a:cubicBezTo>
                <a:cubicBezTo>
                  <a:pt x="235267" y="426879"/>
                  <a:pt x="227092" y="425291"/>
                  <a:pt x="221615" y="419814"/>
                </a:cubicBezTo>
                <a:lnTo>
                  <a:pt x="170815" y="369014"/>
                </a:lnTo>
                <a:cubicBezTo>
                  <a:pt x="163354" y="361553"/>
                  <a:pt x="163354" y="349488"/>
                  <a:pt x="170815" y="342106"/>
                </a:cubicBezTo>
                <a:lnTo>
                  <a:pt x="221615" y="291306"/>
                </a:lnTo>
                <a:cubicBezTo>
                  <a:pt x="227092" y="285829"/>
                  <a:pt x="235267" y="284242"/>
                  <a:pt x="242411" y="287179"/>
                </a:cubicBezTo>
                <a:cubicBezTo>
                  <a:pt x="249555" y="290116"/>
                  <a:pt x="254159" y="297101"/>
                  <a:pt x="254159" y="304800"/>
                </a:cubicBezTo>
                <a:lnTo>
                  <a:pt x="254159" y="330200"/>
                </a:lnTo>
                <a:lnTo>
                  <a:pt x="313372" y="330200"/>
                </a:lnTo>
                <a:cubicBezTo>
                  <a:pt x="347583" y="330200"/>
                  <a:pt x="369014" y="293132"/>
                  <a:pt x="351869" y="263525"/>
                </a:cubicBezTo>
                <a:lnTo>
                  <a:pt x="347662" y="256302"/>
                </a:lnTo>
                <a:cubicBezTo>
                  <a:pt x="340677" y="244158"/>
                  <a:pt x="344805" y="228600"/>
                  <a:pt x="356949" y="221615"/>
                </a:cubicBezTo>
                <a:close/>
                <a:moveTo>
                  <a:pt x="40481" y="186849"/>
                </a:moveTo>
                <a:lnTo>
                  <a:pt x="18494" y="174149"/>
                </a:lnTo>
                <a:cubicBezTo>
                  <a:pt x="11827" y="170259"/>
                  <a:pt x="8096" y="162798"/>
                  <a:pt x="9128" y="155178"/>
                </a:cubicBezTo>
                <a:cubicBezTo>
                  <a:pt x="10160" y="147558"/>
                  <a:pt x="15637" y="141288"/>
                  <a:pt x="23098" y="139303"/>
                </a:cubicBezTo>
                <a:lnTo>
                  <a:pt x="92472" y="120650"/>
                </a:lnTo>
                <a:cubicBezTo>
                  <a:pt x="102632" y="117951"/>
                  <a:pt x="113109" y="123984"/>
                  <a:pt x="115808" y="134144"/>
                </a:cubicBezTo>
                <a:lnTo>
                  <a:pt x="134382" y="203518"/>
                </a:lnTo>
                <a:cubicBezTo>
                  <a:pt x="136366" y="210979"/>
                  <a:pt x="133668" y="218837"/>
                  <a:pt x="127556" y="223599"/>
                </a:cubicBezTo>
                <a:cubicBezTo>
                  <a:pt x="121444" y="228362"/>
                  <a:pt x="113109" y="228838"/>
                  <a:pt x="106442" y="224949"/>
                </a:cubicBezTo>
                <a:lnTo>
                  <a:pt x="84455" y="212249"/>
                </a:lnTo>
                <a:lnTo>
                  <a:pt x="54848" y="263525"/>
                </a:lnTo>
                <a:cubicBezTo>
                  <a:pt x="37703" y="293132"/>
                  <a:pt x="59134" y="330200"/>
                  <a:pt x="93345" y="330200"/>
                </a:cubicBezTo>
                <a:lnTo>
                  <a:pt x="101759" y="330200"/>
                </a:lnTo>
                <a:cubicBezTo>
                  <a:pt x="115808" y="330200"/>
                  <a:pt x="127159" y="341551"/>
                  <a:pt x="127159" y="355600"/>
                </a:cubicBezTo>
                <a:cubicBezTo>
                  <a:pt x="127159" y="369649"/>
                  <a:pt x="115808" y="381000"/>
                  <a:pt x="101759" y="381000"/>
                </a:cubicBezTo>
                <a:lnTo>
                  <a:pt x="93345" y="381000"/>
                </a:lnTo>
                <a:cubicBezTo>
                  <a:pt x="20082" y="381000"/>
                  <a:pt x="-25717" y="301625"/>
                  <a:pt x="10954" y="238125"/>
                </a:cubicBezTo>
                <a:lnTo>
                  <a:pt x="40481" y="186849"/>
                </a:lnTo>
                <a:close/>
              </a:path>
            </a:pathLst>
          </a:custGeom>
          <a:solidFill>
            <a:srgbClr val="C67B3C"/>
          </a:solidFill>
          <a:ln/>
        </p:spPr>
      </p:sp>
      <p:sp>
        <p:nvSpPr>
          <p:cNvPr id="8" name="Text 6"/>
          <p:cNvSpPr/>
          <p:nvPr/>
        </p:nvSpPr>
        <p:spPr>
          <a:xfrm>
            <a:off x="1651000" y="2476500"/>
            <a:ext cx="342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Reusability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79500" y="3048000"/>
            <a:ext cx="393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Write generic code once and reuse it with different types. A single function handles all derived classes.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715000" y="2222500"/>
            <a:ext cx="4572000" cy="2540000"/>
          </a:xfrm>
          <a:prstGeom prst="roundRect">
            <a:avLst>
              <a:gd name="adj" fmla="val 5000"/>
            </a:avLst>
          </a:prstGeom>
          <a:solidFill>
            <a:srgbClr val="EEF0EB"/>
          </a:solidFill>
          <a:ln/>
        </p:spPr>
      </p:sp>
      <p:sp>
        <p:nvSpPr>
          <p:cNvPr id="11" name="Shape 9"/>
          <p:cNvSpPr/>
          <p:nvPr/>
        </p:nvSpPr>
        <p:spPr>
          <a:xfrm>
            <a:off x="6032500" y="2476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20516" y="27305"/>
                </a:moveTo>
                <a:cubicBezTo>
                  <a:pt x="330041" y="23336"/>
                  <a:pt x="340916" y="25559"/>
                  <a:pt x="348218" y="32782"/>
                </a:cubicBezTo>
                <a:lnTo>
                  <a:pt x="399018" y="83582"/>
                </a:lnTo>
                <a:cubicBezTo>
                  <a:pt x="403781" y="88344"/>
                  <a:pt x="406479" y="94774"/>
                  <a:pt x="406479" y="101521"/>
                </a:cubicBezTo>
                <a:cubicBezTo>
                  <a:pt x="406479" y="108268"/>
                  <a:pt x="403781" y="114697"/>
                  <a:pt x="399018" y="119459"/>
                </a:cubicBezTo>
                <a:lnTo>
                  <a:pt x="348218" y="170259"/>
                </a:lnTo>
                <a:cubicBezTo>
                  <a:pt x="340916" y="177562"/>
                  <a:pt x="330041" y="179705"/>
                  <a:pt x="320516" y="175736"/>
                </a:cubicBezTo>
                <a:cubicBezTo>
                  <a:pt x="310991" y="171768"/>
                  <a:pt x="304800" y="162639"/>
                  <a:pt x="304800" y="152400"/>
                </a:cubicBezTo>
                <a:lnTo>
                  <a:pt x="304800" y="127000"/>
                </a:lnTo>
                <a:lnTo>
                  <a:pt x="279400" y="127000"/>
                </a:lnTo>
                <a:cubicBezTo>
                  <a:pt x="271383" y="127000"/>
                  <a:pt x="263843" y="130731"/>
                  <a:pt x="259080" y="137160"/>
                </a:cubicBezTo>
                <a:lnTo>
                  <a:pt x="233362" y="171450"/>
                </a:lnTo>
                <a:lnTo>
                  <a:pt x="201613" y="129143"/>
                </a:lnTo>
                <a:lnTo>
                  <a:pt x="218440" y="106680"/>
                </a:lnTo>
                <a:cubicBezTo>
                  <a:pt x="232807" y="87471"/>
                  <a:pt x="255429" y="76200"/>
                  <a:pt x="279400" y="76200"/>
                </a:cubicBezTo>
                <a:lnTo>
                  <a:pt x="304800" y="76200"/>
                </a:lnTo>
                <a:lnTo>
                  <a:pt x="304800" y="50800"/>
                </a:lnTo>
                <a:cubicBezTo>
                  <a:pt x="304800" y="40561"/>
                  <a:pt x="310991" y="31274"/>
                  <a:pt x="320516" y="27305"/>
                </a:cubicBezTo>
                <a:close/>
                <a:moveTo>
                  <a:pt x="122238" y="234950"/>
                </a:moveTo>
                <a:lnTo>
                  <a:pt x="153988" y="277257"/>
                </a:lnTo>
                <a:lnTo>
                  <a:pt x="137160" y="299720"/>
                </a:lnTo>
                <a:cubicBezTo>
                  <a:pt x="122793" y="318929"/>
                  <a:pt x="100171" y="330200"/>
                  <a:pt x="76200" y="330200"/>
                </a:cubicBezTo>
                <a:lnTo>
                  <a:pt x="25400" y="330200"/>
                </a:lnTo>
                <a:cubicBezTo>
                  <a:pt x="11351" y="330200"/>
                  <a:pt x="0" y="318849"/>
                  <a:pt x="0" y="304800"/>
                </a:cubicBezTo>
                <a:cubicBezTo>
                  <a:pt x="0" y="290751"/>
                  <a:pt x="11351" y="279400"/>
                  <a:pt x="25400" y="279400"/>
                </a:cubicBezTo>
                <a:lnTo>
                  <a:pt x="76200" y="279400"/>
                </a:lnTo>
                <a:cubicBezTo>
                  <a:pt x="84217" y="279400"/>
                  <a:pt x="91757" y="275669"/>
                  <a:pt x="96520" y="269240"/>
                </a:cubicBezTo>
                <a:lnTo>
                  <a:pt x="122238" y="234950"/>
                </a:lnTo>
                <a:close/>
                <a:moveTo>
                  <a:pt x="348139" y="373539"/>
                </a:moveTo>
                <a:cubicBezTo>
                  <a:pt x="340836" y="380841"/>
                  <a:pt x="329962" y="382984"/>
                  <a:pt x="320437" y="379016"/>
                </a:cubicBezTo>
                <a:cubicBezTo>
                  <a:pt x="310912" y="375047"/>
                  <a:pt x="304800" y="365839"/>
                  <a:pt x="304800" y="355600"/>
                </a:cubicBezTo>
                <a:lnTo>
                  <a:pt x="304800" y="330200"/>
                </a:lnTo>
                <a:lnTo>
                  <a:pt x="279400" y="330200"/>
                </a:lnTo>
                <a:cubicBezTo>
                  <a:pt x="255429" y="330200"/>
                  <a:pt x="232807" y="318929"/>
                  <a:pt x="218440" y="299720"/>
                </a:cubicBezTo>
                <a:lnTo>
                  <a:pt x="96520" y="137160"/>
                </a:lnTo>
                <a:cubicBezTo>
                  <a:pt x="91757" y="130731"/>
                  <a:pt x="84217" y="127000"/>
                  <a:pt x="76200" y="127000"/>
                </a:cubicBezTo>
                <a:lnTo>
                  <a:pt x="25400" y="127000"/>
                </a:lnTo>
                <a:cubicBezTo>
                  <a:pt x="11351" y="127000"/>
                  <a:pt x="0" y="115649"/>
                  <a:pt x="0" y="101600"/>
                </a:cubicBezTo>
                <a:cubicBezTo>
                  <a:pt x="0" y="87551"/>
                  <a:pt x="11351" y="76200"/>
                  <a:pt x="25400" y="76200"/>
                </a:cubicBezTo>
                <a:lnTo>
                  <a:pt x="76200" y="76200"/>
                </a:lnTo>
                <a:cubicBezTo>
                  <a:pt x="100171" y="76200"/>
                  <a:pt x="122793" y="87471"/>
                  <a:pt x="137160" y="106680"/>
                </a:cubicBezTo>
                <a:lnTo>
                  <a:pt x="259080" y="269240"/>
                </a:lnTo>
                <a:cubicBezTo>
                  <a:pt x="263843" y="275669"/>
                  <a:pt x="271383" y="279400"/>
                  <a:pt x="279400" y="279400"/>
                </a:cubicBezTo>
                <a:lnTo>
                  <a:pt x="304800" y="279400"/>
                </a:lnTo>
                <a:lnTo>
                  <a:pt x="304800" y="254000"/>
                </a:lnTo>
                <a:cubicBezTo>
                  <a:pt x="304800" y="243761"/>
                  <a:pt x="310991" y="234474"/>
                  <a:pt x="320516" y="230505"/>
                </a:cubicBezTo>
                <a:cubicBezTo>
                  <a:pt x="330041" y="226536"/>
                  <a:pt x="340916" y="228759"/>
                  <a:pt x="348218" y="235982"/>
                </a:cubicBezTo>
                <a:lnTo>
                  <a:pt x="399018" y="286782"/>
                </a:lnTo>
                <a:cubicBezTo>
                  <a:pt x="403781" y="291544"/>
                  <a:pt x="406479" y="297974"/>
                  <a:pt x="406479" y="304721"/>
                </a:cubicBezTo>
                <a:cubicBezTo>
                  <a:pt x="406479" y="311467"/>
                  <a:pt x="403781" y="317897"/>
                  <a:pt x="399018" y="322659"/>
                </a:cubicBezTo>
                <a:lnTo>
                  <a:pt x="348218" y="373459"/>
                </a:lnTo>
                <a:close/>
              </a:path>
            </a:pathLst>
          </a:custGeom>
          <a:solidFill>
            <a:srgbClr val="C67B3C"/>
          </a:solidFill>
          <a:ln/>
        </p:spPr>
      </p:sp>
      <p:sp>
        <p:nvSpPr>
          <p:cNvPr id="12" name="Text 10"/>
          <p:cNvSpPr/>
          <p:nvPr/>
        </p:nvSpPr>
        <p:spPr>
          <a:xfrm>
            <a:off x="6604000" y="2476500"/>
            <a:ext cx="342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Flexibility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032500" y="3048000"/>
            <a:ext cx="393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Same interface works with existing and future classes. New types plug in seamlessly without changes.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668000" y="2222500"/>
            <a:ext cx="4826000" cy="2540000"/>
          </a:xfrm>
          <a:prstGeom prst="roundRect">
            <a:avLst>
              <a:gd name="adj" fmla="val 5000"/>
            </a:avLst>
          </a:prstGeom>
          <a:solidFill>
            <a:srgbClr val="EEF0E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85500" y="2476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77800" y="0"/>
                </a:moveTo>
                <a:cubicBezTo>
                  <a:pt x="205819" y="0"/>
                  <a:pt x="228600" y="17066"/>
                  <a:pt x="228600" y="38100"/>
                </a:cubicBezTo>
                <a:cubicBezTo>
                  <a:pt x="228600" y="46355"/>
                  <a:pt x="225108" y="53975"/>
                  <a:pt x="219075" y="60246"/>
                </a:cubicBezTo>
                <a:cubicBezTo>
                  <a:pt x="213836" y="65723"/>
                  <a:pt x="209550" y="72390"/>
                  <a:pt x="209550" y="80010"/>
                </a:cubicBezTo>
                <a:cubicBezTo>
                  <a:pt x="209550" y="91916"/>
                  <a:pt x="219234" y="101600"/>
                  <a:pt x="231140" y="101600"/>
                </a:cubicBezTo>
                <a:lnTo>
                  <a:pt x="266700" y="101600"/>
                </a:lnTo>
                <a:cubicBezTo>
                  <a:pt x="287734" y="101600"/>
                  <a:pt x="304800" y="118666"/>
                  <a:pt x="304800" y="139700"/>
                </a:cubicBezTo>
                <a:lnTo>
                  <a:pt x="304800" y="175260"/>
                </a:lnTo>
                <a:cubicBezTo>
                  <a:pt x="304800" y="187166"/>
                  <a:pt x="314484" y="196850"/>
                  <a:pt x="326390" y="196850"/>
                </a:cubicBezTo>
                <a:cubicBezTo>
                  <a:pt x="333931" y="196850"/>
                  <a:pt x="340678" y="192564"/>
                  <a:pt x="346154" y="187325"/>
                </a:cubicBezTo>
                <a:cubicBezTo>
                  <a:pt x="352425" y="181372"/>
                  <a:pt x="360045" y="177800"/>
                  <a:pt x="368300" y="177800"/>
                </a:cubicBezTo>
                <a:cubicBezTo>
                  <a:pt x="389334" y="177800"/>
                  <a:pt x="406400" y="200581"/>
                  <a:pt x="406400" y="228600"/>
                </a:cubicBezTo>
                <a:cubicBezTo>
                  <a:pt x="406400" y="256619"/>
                  <a:pt x="389334" y="279400"/>
                  <a:pt x="368300" y="279400"/>
                </a:cubicBezTo>
                <a:cubicBezTo>
                  <a:pt x="360045" y="279400"/>
                  <a:pt x="352346" y="275908"/>
                  <a:pt x="346154" y="269875"/>
                </a:cubicBezTo>
                <a:cubicBezTo>
                  <a:pt x="340678" y="264636"/>
                  <a:pt x="334010" y="260350"/>
                  <a:pt x="326390" y="260350"/>
                </a:cubicBezTo>
                <a:cubicBezTo>
                  <a:pt x="314484" y="260350"/>
                  <a:pt x="304800" y="270034"/>
                  <a:pt x="304800" y="281940"/>
                </a:cubicBezTo>
                <a:lnTo>
                  <a:pt x="304800" y="368300"/>
                </a:lnTo>
                <a:cubicBezTo>
                  <a:pt x="304800" y="389334"/>
                  <a:pt x="287734" y="406400"/>
                  <a:pt x="266700" y="406400"/>
                </a:cubicBezTo>
                <a:lnTo>
                  <a:pt x="221615" y="406400"/>
                </a:lnTo>
                <a:cubicBezTo>
                  <a:pt x="211455" y="406400"/>
                  <a:pt x="203200" y="398145"/>
                  <a:pt x="203200" y="387985"/>
                </a:cubicBezTo>
                <a:cubicBezTo>
                  <a:pt x="203200" y="380683"/>
                  <a:pt x="207804" y="374253"/>
                  <a:pt x="213678" y="369888"/>
                </a:cubicBezTo>
                <a:cubicBezTo>
                  <a:pt x="222885" y="362982"/>
                  <a:pt x="228600" y="353457"/>
                  <a:pt x="228600" y="342900"/>
                </a:cubicBezTo>
                <a:cubicBezTo>
                  <a:pt x="228600" y="321866"/>
                  <a:pt x="205819" y="304800"/>
                  <a:pt x="177800" y="304800"/>
                </a:cubicBezTo>
                <a:cubicBezTo>
                  <a:pt x="149781" y="304800"/>
                  <a:pt x="127000" y="321866"/>
                  <a:pt x="127000" y="342900"/>
                </a:cubicBezTo>
                <a:cubicBezTo>
                  <a:pt x="127000" y="353457"/>
                  <a:pt x="132715" y="362982"/>
                  <a:pt x="141923" y="369888"/>
                </a:cubicBezTo>
                <a:cubicBezTo>
                  <a:pt x="147796" y="374253"/>
                  <a:pt x="152400" y="380603"/>
                  <a:pt x="152400" y="387985"/>
                </a:cubicBezTo>
                <a:cubicBezTo>
                  <a:pt x="152400" y="398145"/>
                  <a:pt x="144145" y="406400"/>
                  <a:pt x="133985" y="406400"/>
                </a:cubicBezTo>
                <a:lnTo>
                  <a:pt x="38100" y="406400"/>
                </a:lnTo>
                <a:cubicBezTo>
                  <a:pt x="17066" y="406400"/>
                  <a:pt x="0" y="389334"/>
                  <a:pt x="0" y="368300"/>
                </a:cubicBezTo>
                <a:lnTo>
                  <a:pt x="0" y="272415"/>
                </a:lnTo>
                <a:cubicBezTo>
                  <a:pt x="0" y="262255"/>
                  <a:pt x="8255" y="254000"/>
                  <a:pt x="18415" y="254000"/>
                </a:cubicBezTo>
                <a:cubicBezTo>
                  <a:pt x="25717" y="254000"/>
                  <a:pt x="32147" y="258604"/>
                  <a:pt x="36513" y="264478"/>
                </a:cubicBezTo>
                <a:cubicBezTo>
                  <a:pt x="43418" y="273685"/>
                  <a:pt x="52943" y="279400"/>
                  <a:pt x="63500" y="279400"/>
                </a:cubicBezTo>
                <a:cubicBezTo>
                  <a:pt x="84534" y="279400"/>
                  <a:pt x="101600" y="256619"/>
                  <a:pt x="101600" y="228600"/>
                </a:cubicBezTo>
                <a:cubicBezTo>
                  <a:pt x="101600" y="200581"/>
                  <a:pt x="84534" y="177800"/>
                  <a:pt x="63500" y="177800"/>
                </a:cubicBezTo>
                <a:cubicBezTo>
                  <a:pt x="52943" y="177800"/>
                  <a:pt x="43418" y="183515"/>
                  <a:pt x="36513" y="192723"/>
                </a:cubicBezTo>
                <a:cubicBezTo>
                  <a:pt x="32147" y="198596"/>
                  <a:pt x="25797" y="203200"/>
                  <a:pt x="18415" y="203200"/>
                </a:cubicBezTo>
                <a:cubicBezTo>
                  <a:pt x="8255" y="203200"/>
                  <a:pt x="0" y="194945"/>
                  <a:pt x="0" y="184785"/>
                </a:cubicBezTo>
                <a:lnTo>
                  <a:pt x="0" y="139700"/>
                </a:lnTo>
                <a:cubicBezTo>
                  <a:pt x="0" y="118666"/>
                  <a:pt x="17066" y="101600"/>
                  <a:pt x="38100" y="101600"/>
                </a:cubicBezTo>
                <a:lnTo>
                  <a:pt x="124460" y="101600"/>
                </a:lnTo>
                <a:cubicBezTo>
                  <a:pt x="136366" y="101600"/>
                  <a:pt x="146050" y="91916"/>
                  <a:pt x="146050" y="80010"/>
                </a:cubicBezTo>
                <a:cubicBezTo>
                  <a:pt x="146050" y="72469"/>
                  <a:pt x="141764" y="65723"/>
                  <a:pt x="136525" y="60246"/>
                </a:cubicBezTo>
                <a:cubicBezTo>
                  <a:pt x="130572" y="53975"/>
                  <a:pt x="127000" y="46355"/>
                  <a:pt x="127000" y="38100"/>
                </a:cubicBezTo>
                <a:cubicBezTo>
                  <a:pt x="127000" y="17066"/>
                  <a:pt x="149781" y="0"/>
                  <a:pt x="177800" y="0"/>
                </a:cubicBezTo>
                <a:close/>
              </a:path>
            </a:pathLst>
          </a:custGeom>
          <a:solidFill>
            <a:srgbClr val="C67B3C"/>
          </a:solidFill>
          <a:ln/>
        </p:spPr>
      </p:sp>
      <p:sp>
        <p:nvSpPr>
          <p:cNvPr id="16" name="Text 14"/>
          <p:cNvSpPr/>
          <p:nvPr/>
        </p:nvSpPr>
        <p:spPr>
          <a:xfrm>
            <a:off x="11557000" y="24765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Extensibility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85500" y="30480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Add new classes without modifying existing code. Follows the Open/Closed Principle.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62000" y="5080000"/>
            <a:ext cx="4572000" cy="2540000"/>
          </a:xfrm>
          <a:prstGeom prst="roundRect">
            <a:avLst>
              <a:gd name="adj" fmla="val 5000"/>
            </a:avLst>
          </a:prstGeom>
          <a:solidFill>
            <a:srgbClr val="EEF0E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4100" y="5334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404336" y="78264"/>
                </a:moveTo>
                <a:cubicBezTo>
                  <a:pt x="410369" y="72231"/>
                  <a:pt x="420449" y="73739"/>
                  <a:pt x="423466" y="81677"/>
                </a:cubicBezTo>
                <a:cubicBezTo>
                  <a:pt x="428863" y="95726"/>
                  <a:pt x="431800" y="111046"/>
                  <a:pt x="431800" y="127000"/>
                </a:cubicBezTo>
                <a:cubicBezTo>
                  <a:pt x="431800" y="197168"/>
                  <a:pt x="374968" y="254000"/>
                  <a:pt x="304800" y="254000"/>
                </a:cubicBezTo>
                <a:cubicBezTo>
                  <a:pt x="290909" y="254000"/>
                  <a:pt x="277495" y="251777"/>
                  <a:pt x="264954" y="247650"/>
                </a:cubicBezTo>
                <a:lnTo>
                  <a:pt x="116602" y="396002"/>
                </a:lnTo>
                <a:cubicBezTo>
                  <a:pt x="94298" y="418306"/>
                  <a:pt x="58103" y="418306"/>
                  <a:pt x="35798" y="396002"/>
                </a:cubicBezTo>
                <a:cubicBezTo>
                  <a:pt x="13494" y="373697"/>
                  <a:pt x="13494" y="337502"/>
                  <a:pt x="35798" y="315198"/>
                </a:cubicBezTo>
                <a:lnTo>
                  <a:pt x="184150" y="166846"/>
                </a:lnTo>
                <a:cubicBezTo>
                  <a:pt x="180023" y="154305"/>
                  <a:pt x="177800" y="140970"/>
                  <a:pt x="177800" y="127000"/>
                </a:cubicBezTo>
                <a:cubicBezTo>
                  <a:pt x="177800" y="56832"/>
                  <a:pt x="234633" y="0"/>
                  <a:pt x="304800" y="0"/>
                </a:cubicBezTo>
                <a:cubicBezTo>
                  <a:pt x="320754" y="0"/>
                  <a:pt x="336074" y="2937"/>
                  <a:pt x="350123" y="8334"/>
                </a:cubicBezTo>
                <a:cubicBezTo>
                  <a:pt x="358061" y="11351"/>
                  <a:pt x="359489" y="21431"/>
                  <a:pt x="353536" y="27464"/>
                </a:cubicBezTo>
                <a:lnTo>
                  <a:pt x="283131" y="97869"/>
                </a:lnTo>
                <a:cubicBezTo>
                  <a:pt x="280749" y="100251"/>
                  <a:pt x="279400" y="103505"/>
                  <a:pt x="279400" y="106839"/>
                </a:cubicBezTo>
                <a:lnTo>
                  <a:pt x="279400" y="139700"/>
                </a:lnTo>
                <a:cubicBezTo>
                  <a:pt x="279400" y="146685"/>
                  <a:pt x="285115" y="152400"/>
                  <a:pt x="292100" y="152400"/>
                </a:cubicBezTo>
                <a:lnTo>
                  <a:pt x="324961" y="152400"/>
                </a:lnTo>
                <a:cubicBezTo>
                  <a:pt x="328295" y="152400"/>
                  <a:pt x="331549" y="151051"/>
                  <a:pt x="333931" y="148669"/>
                </a:cubicBezTo>
                <a:lnTo>
                  <a:pt x="404336" y="78264"/>
                </a:lnTo>
                <a:close/>
              </a:path>
            </a:pathLst>
          </a:custGeom>
          <a:solidFill>
            <a:srgbClr val="C67B3C"/>
          </a:solidFill>
          <a:ln/>
        </p:spPr>
      </p:sp>
      <p:sp>
        <p:nvSpPr>
          <p:cNvPr id="20" name="Text 18"/>
          <p:cNvSpPr/>
          <p:nvPr/>
        </p:nvSpPr>
        <p:spPr>
          <a:xfrm>
            <a:off x="1651000" y="5334000"/>
            <a:ext cx="342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Maintainability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79500" y="5905500"/>
            <a:ext cx="393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Changes are localized. Fix bugs in one place, and improvements propagate to all derived classes.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715000" y="5080000"/>
            <a:ext cx="4572000" cy="2540000"/>
          </a:xfrm>
          <a:prstGeom prst="roundRect">
            <a:avLst>
              <a:gd name="adj" fmla="val 5000"/>
            </a:avLst>
          </a:prstGeom>
          <a:solidFill>
            <a:srgbClr val="EEF0EB"/>
          </a:solidFill>
          <a:ln/>
        </p:spPr>
      </p:sp>
      <p:sp>
        <p:nvSpPr>
          <p:cNvPr id="23" name="Shape 21"/>
          <p:cNvSpPr/>
          <p:nvPr/>
        </p:nvSpPr>
        <p:spPr>
          <a:xfrm>
            <a:off x="6083300" y="53340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0" y="50800"/>
                </a:moveTo>
                <a:cubicBezTo>
                  <a:pt x="0" y="22781"/>
                  <a:pt x="22781" y="0"/>
                  <a:pt x="50800" y="0"/>
                </a:cubicBezTo>
                <a:lnTo>
                  <a:pt x="169466" y="0"/>
                </a:lnTo>
                <a:cubicBezTo>
                  <a:pt x="182959" y="0"/>
                  <a:pt x="195898" y="5318"/>
                  <a:pt x="205423" y="14843"/>
                </a:cubicBezTo>
                <a:lnTo>
                  <a:pt x="289957" y="99457"/>
                </a:lnTo>
                <a:cubicBezTo>
                  <a:pt x="299482" y="108982"/>
                  <a:pt x="304800" y="121920"/>
                  <a:pt x="304800" y="135414"/>
                </a:cubicBezTo>
                <a:lnTo>
                  <a:pt x="304800" y="355600"/>
                </a:lnTo>
                <a:cubicBezTo>
                  <a:pt x="304800" y="383619"/>
                  <a:pt x="282019" y="406400"/>
                  <a:pt x="2540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50800"/>
                </a:lnTo>
                <a:close/>
                <a:moveTo>
                  <a:pt x="165100" y="46434"/>
                </a:moveTo>
                <a:lnTo>
                  <a:pt x="165100" y="120650"/>
                </a:lnTo>
                <a:cubicBezTo>
                  <a:pt x="165100" y="131207"/>
                  <a:pt x="173593" y="139700"/>
                  <a:pt x="184150" y="139700"/>
                </a:cubicBezTo>
                <a:lnTo>
                  <a:pt x="258366" y="139700"/>
                </a:lnTo>
                <a:lnTo>
                  <a:pt x="165100" y="46434"/>
                </a:lnTo>
                <a:close/>
                <a:moveTo>
                  <a:pt x="69850" y="50800"/>
                </a:moveTo>
                <a:cubicBezTo>
                  <a:pt x="59293" y="50800"/>
                  <a:pt x="50800" y="59293"/>
                  <a:pt x="50800" y="69850"/>
                </a:cubicBezTo>
                <a:cubicBezTo>
                  <a:pt x="50800" y="80407"/>
                  <a:pt x="59293" y="88900"/>
                  <a:pt x="69850" y="88900"/>
                </a:cubicBezTo>
                <a:lnTo>
                  <a:pt x="107950" y="88900"/>
                </a:lnTo>
                <a:cubicBezTo>
                  <a:pt x="118507" y="88900"/>
                  <a:pt x="127000" y="80407"/>
                  <a:pt x="127000" y="69850"/>
                </a:cubicBezTo>
                <a:cubicBezTo>
                  <a:pt x="127000" y="59293"/>
                  <a:pt x="118507" y="50800"/>
                  <a:pt x="107950" y="50800"/>
                </a:cubicBezTo>
                <a:lnTo>
                  <a:pt x="69850" y="50800"/>
                </a:lnTo>
                <a:close/>
                <a:moveTo>
                  <a:pt x="69850" y="127000"/>
                </a:moveTo>
                <a:cubicBezTo>
                  <a:pt x="59293" y="127000"/>
                  <a:pt x="50800" y="135493"/>
                  <a:pt x="50800" y="146050"/>
                </a:cubicBezTo>
                <a:cubicBezTo>
                  <a:pt x="50800" y="156607"/>
                  <a:pt x="59293" y="165100"/>
                  <a:pt x="69850" y="165100"/>
                </a:cubicBezTo>
                <a:lnTo>
                  <a:pt x="107950" y="165100"/>
                </a:lnTo>
                <a:cubicBezTo>
                  <a:pt x="118507" y="165100"/>
                  <a:pt x="127000" y="156607"/>
                  <a:pt x="127000" y="146050"/>
                </a:cubicBezTo>
                <a:cubicBezTo>
                  <a:pt x="127000" y="135493"/>
                  <a:pt x="118507" y="127000"/>
                  <a:pt x="107950" y="127000"/>
                </a:cubicBezTo>
                <a:lnTo>
                  <a:pt x="69850" y="127000"/>
                </a:lnTo>
                <a:close/>
                <a:moveTo>
                  <a:pt x="125651" y="254000"/>
                </a:moveTo>
                <a:cubicBezTo>
                  <a:pt x="116681" y="254000"/>
                  <a:pt x="108268" y="258048"/>
                  <a:pt x="102711" y="265033"/>
                </a:cubicBezTo>
                <a:lnTo>
                  <a:pt x="55007" y="324644"/>
                </a:lnTo>
                <a:cubicBezTo>
                  <a:pt x="48419" y="332819"/>
                  <a:pt x="49768" y="344884"/>
                  <a:pt x="57944" y="351393"/>
                </a:cubicBezTo>
                <a:cubicBezTo>
                  <a:pt x="66119" y="357902"/>
                  <a:pt x="78184" y="356632"/>
                  <a:pt x="84693" y="348377"/>
                </a:cubicBezTo>
                <a:lnTo>
                  <a:pt x="122079" y="301704"/>
                </a:lnTo>
                <a:lnTo>
                  <a:pt x="134144" y="341947"/>
                </a:lnTo>
                <a:cubicBezTo>
                  <a:pt x="136525" y="350044"/>
                  <a:pt x="143986" y="355521"/>
                  <a:pt x="152400" y="355521"/>
                </a:cubicBezTo>
                <a:lnTo>
                  <a:pt x="234950" y="355521"/>
                </a:lnTo>
                <a:cubicBezTo>
                  <a:pt x="245507" y="355521"/>
                  <a:pt x="254000" y="347028"/>
                  <a:pt x="254000" y="336471"/>
                </a:cubicBezTo>
                <a:cubicBezTo>
                  <a:pt x="254000" y="325914"/>
                  <a:pt x="245507" y="317421"/>
                  <a:pt x="234950" y="317421"/>
                </a:cubicBezTo>
                <a:lnTo>
                  <a:pt x="166608" y="317421"/>
                </a:lnTo>
                <a:lnTo>
                  <a:pt x="153829" y="274876"/>
                </a:lnTo>
                <a:cubicBezTo>
                  <a:pt x="150098" y="262414"/>
                  <a:pt x="138668" y="253921"/>
                  <a:pt x="125651" y="253921"/>
                </a:cubicBezTo>
                <a:close/>
              </a:path>
            </a:pathLst>
          </a:custGeom>
          <a:solidFill>
            <a:srgbClr val="C67B3C"/>
          </a:solidFill>
          <a:ln/>
        </p:spPr>
      </p:sp>
      <p:sp>
        <p:nvSpPr>
          <p:cNvPr id="24" name="Text 22"/>
          <p:cNvSpPr/>
          <p:nvPr/>
        </p:nvSpPr>
        <p:spPr>
          <a:xfrm>
            <a:off x="6604000" y="5334000"/>
            <a:ext cx="342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by Contract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032500" y="5905500"/>
            <a:ext cx="393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Pure virtual functions enforce design decisions through code, not just documentation.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0668000" y="5080000"/>
            <a:ext cx="4826000" cy="2540000"/>
          </a:xfrm>
          <a:prstGeom prst="roundRect">
            <a:avLst>
              <a:gd name="adj" fmla="val 5000"/>
            </a:avLst>
          </a:prstGeom>
          <a:solidFill>
            <a:srgbClr val="2D3142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85500" y="533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52400" y="50800"/>
                </a:moveTo>
                <a:cubicBezTo>
                  <a:pt x="152400" y="36751"/>
                  <a:pt x="163751" y="25400"/>
                  <a:pt x="177800" y="25400"/>
                </a:cubicBezTo>
                <a:lnTo>
                  <a:pt x="228600" y="25400"/>
                </a:lnTo>
                <a:cubicBezTo>
                  <a:pt x="242649" y="25400"/>
                  <a:pt x="254000" y="36751"/>
                  <a:pt x="254000" y="50800"/>
                </a:cubicBezTo>
                <a:lnTo>
                  <a:pt x="254000" y="101600"/>
                </a:lnTo>
                <a:cubicBezTo>
                  <a:pt x="254000" y="115649"/>
                  <a:pt x="242649" y="127000"/>
                  <a:pt x="228600" y="127000"/>
                </a:cubicBezTo>
                <a:lnTo>
                  <a:pt x="222250" y="127000"/>
                </a:lnTo>
                <a:lnTo>
                  <a:pt x="222250" y="177800"/>
                </a:lnTo>
                <a:lnTo>
                  <a:pt x="317500" y="177800"/>
                </a:lnTo>
                <a:cubicBezTo>
                  <a:pt x="349091" y="177800"/>
                  <a:pt x="374650" y="203359"/>
                  <a:pt x="374650" y="234950"/>
                </a:cubicBezTo>
                <a:lnTo>
                  <a:pt x="374650" y="279400"/>
                </a:lnTo>
                <a:lnTo>
                  <a:pt x="381000" y="279400"/>
                </a:lnTo>
                <a:cubicBezTo>
                  <a:pt x="395049" y="279400"/>
                  <a:pt x="406400" y="290751"/>
                  <a:pt x="406400" y="304800"/>
                </a:cubicBezTo>
                <a:lnTo>
                  <a:pt x="406400" y="355600"/>
                </a:lnTo>
                <a:cubicBezTo>
                  <a:pt x="406400" y="369649"/>
                  <a:pt x="395049" y="381000"/>
                  <a:pt x="381000" y="381000"/>
                </a:cubicBezTo>
                <a:lnTo>
                  <a:pt x="330200" y="381000"/>
                </a:lnTo>
                <a:cubicBezTo>
                  <a:pt x="316151" y="381000"/>
                  <a:pt x="304800" y="369649"/>
                  <a:pt x="304800" y="355600"/>
                </a:cubicBezTo>
                <a:lnTo>
                  <a:pt x="304800" y="304800"/>
                </a:lnTo>
                <a:cubicBezTo>
                  <a:pt x="304800" y="290751"/>
                  <a:pt x="316151" y="279400"/>
                  <a:pt x="330200" y="279400"/>
                </a:cubicBezTo>
                <a:lnTo>
                  <a:pt x="336550" y="279400"/>
                </a:lnTo>
                <a:lnTo>
                  <a:pt x="336550" y="234950"/>
                </a:lnTo>
                <a:cubicBezTo>
                  <a:pt x="336550" y="224393"/>
                  <a:pt x="328057" y="215900"/>
                  <a:pt x="317500" y="215900"/>
                </a:cubicBezTo>
                <a:lnTo>
                  <a:pt x="222250" y="215900"/>
                </a:lnTo>
                <a:lnTo>
                  <a:pt x="222250" y="279400"/>
                </a:lnTo>
                <a:lnTo>
                  <a:pt x="228600" y="279400"/>
                </a:lnTo>
                <a:cubicBezTo>
                  <a:pt x="242649" y="279400"/>
                  <a:pt x="254000" y="290751"/>
                  <a:pt x="254000" y="304800"/>
                </a:cubicBezTo>
                <a:lnTo>
                  <a:pt x="254000" y="355600"/>
                </a:lnTo>
                <a:cubicBezTo>
                  <a:pt x="254000" y="369649"/>
                  <a:pt x="242649" y="381000"/>
                  <a:pt x="228600" y="381000"/>
                </a:cubicBezTo>
                <a:lnTo>
                  <a:pt x="177800" y="381000"/>
                </a:lnTo>
                <a:cubicBezTo>
                  <a:pt x="163751" y="381000"/>
                  <a:pt x="152400" y="369649"/>
                  <a:pt x="152400" y="355600"/>
                </a:cubicBezTo>
                <a:lnTo>
                  <a:pt x="152400" y="304800"/>
                </a:lnTo>
                <a:cubicBezTo>
                  <a:pt x="152400" y="290751"/>
                  <a:pt x="163751" y="279400"/>
                  <a:pt x="177800" y="279400"/>
                </a:cubicBezTo>
                <a:lnTo>
                  <a:pt x="184150" y="279400"/>
                </a:lnTo>
                <a:lnTo>
                  <a:pt x="184150" y="215900"/>
                </a:lnTo>
                <a:lnTo>
                  <a:pt x="88900" y="215900"/>
                </a:lnTo>
                <a:cubicBezTo>
                  <a:pt x="78343" y="215900"/>
                  <a:pt x="69850" y="224393"/>
                  <a:pt x="69850" y="234950"/>
                </a:cubicBezTo>
                <a:lnTo>
                  <a:pt x="69850" y="279400"/>
                </a:lnTo>
                <a:lnTo>
                  <a:pt x="76200" y="279400"/>
                </a:lnTo>
                <a:cubicBezTo>
                  <a:pt x="90249" y="279400"/>
                  <a:pt x="101600" y="290751"/>
                  <a:pt x="101600" y="304800"/>
                </a:cubicBezTo>
                <a:lnTo>
                  <a:pt x="101600" y="355600"/>
                </a:lnTo>
                <a:cubicBezTo>
                  <a:pt x="101600" y="369649"/>
                  <a:pt x="90249" y="381000"/>
                  <a:pt x="76200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304800"/>
                </a:lnTo>
                <a:cubicBezTo>
                  <a:pt x="0" y="290751"/>
                  <a:pt x="11351" y="279400"/>
                  <a:pt x="25400" y="279400"/>
                </a:cubicBezTo>
                <a:lnTo>
                  <a:pt x="31750" y="279400"/>
                </a:lnTo>
                <a:lnTo>
                  <a:pt x="31750" y="234950"/>
                </a:lnTo>
                <a:cubicBezTo>
                  <a:pt x="31750" y="203359"/>
                  <a:pt x="57309" y="177800"/>
                  <a:pt x="88900" y="177800"/>
                </a:cubicBezTo>
                <a:lnTo>
                  <a:pt x="184150" y="177800"/>
                </a:lnTo>
                <a:lnTo>
                  <a:pt x="184150" y="127000"/>
                </a:lnTo>
                <a:lnTo>
                  <a:pt x="177800" y="127000"/>
                </a:lnTo>
                <a:cubicBezTo>
                  <a:pt x="163751" y="127000"/>
                  <a:pt x="152400" y="115649"/>
                  <a:pt x="152400" y="101600"/>
                </a:cubicBezTo>
                <a:lnTo>
                  <a:pt x="152400" y="50800"/>
                </a:lnTo>
                <a:close/>
              </a:path>
            </a:pathLst>
          </a:custGeom>
          <a:solidFill>
            <a:srgbClr val="C67B3C"/>
          </a:solidFill>
          <a:ln/>
        </p:spPr>
      </p:sp>
      <p:sp>
        <p:nvSpPr>
          <p:cNvPr id="28" name="Text 26"/>
          <p:cNvSpPr/>
          <p:nvPr/>
        </p:nvSpPr>
        <p:spPr>
          <a:xfrm>
            <a:off x="11557000" y="53340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Patterns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0985500" y="59055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Foundation of Strategy, Factory, Observer, and many other design patterns in software engineering.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4351000" y="8636000"/>
            <a:ext cx="114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62000"/>
            <a:ext cx="14732000" cy="0"/>
          </a:xfrm>
          <a:prstGeom prst="straightConnector1">
            <a:avLst/>
          </a:prstGeom>
          <a:noFill/>
          <a:ln w="12700">
            <a:solidFill>
              <a:srgbClr val="2D3142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OOP | WEEK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Reusability &amp; Flexibility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752600"/>
            <a:ext cx="1016000" cy="50800"/>
          </a:xfrm>
          <a:prstGeom prst="rect">
            <a:avLst/>
          </a:prstGeom>
          <a:solidFill>
            <a:srgbClr val="C67B3C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0955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Write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generic code once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reuse with any type that follows the base class contract.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62000" y="3111500"/>
            <a:ext cx="7112000" cy="3175000"/>
          </a:xfrm>
          <a:prstGeom prst="roundRect">
            <a:avLst>
              <a:gd name="adj" fmla="val 5000"/>
            </a:avLst>
          </a:prstGeom>
          <a:solidFill>
            <a:srgbClr val="E8E4DB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3111500"/>
            <a:ext cx="50800" cy="3175000"/>
          </a:xfrm>
          <a:prstGeom prst="rect">
            <a:avLst/>
          </a:prstGeom>
          <a:solidFill>
            <a:srgbClr val="C67B3C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238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 FUNCTION, MANY TYPES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683000"/>
            <a:ext cx="6604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makeSound(Animal* animal) {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animal-&gt;speak(); 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Works for ANY Animal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makeSound(</a:t>
            </a:r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Dog()); 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"Woof!"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makeSound(</a:t>
            </a:r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Cat()); 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"Meow!"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makeSound(</a:t>
            </a:r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Bird()); 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"Tweet!"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2000" y="660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Applications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2000" y="7112000"/>
            <a:ext cx="711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UI Frameworks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Button handlers work with any Widget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Game Engines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render(Entity*) handles all entities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382000" y="2095500"/>
            <a:ext cx="7112000" cy="6223000"/>
          </a:xfrm>
          <a:prstGeom prst="roundRect">
            <a:avLst>
              <a:gd name="adj" fmla="val 5000"/>
            </a:avLst>
          </a:prstGeom>
          <a:solidFill>
            <a:srgbClr val="EEF0EB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0" y="2413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763000" y="2984500"/>
            <a:ext cx="6350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Base class defines the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contract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Derived classes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fulfill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it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Generic algorithms work with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any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derived type</a:t>
            </a:r>
            <a:endParaRPr lang="en-US" sz="2000" dirty="0"/>
          </a:p>
          <a:p>
            <a:pPr>
              <a:lnSpc>
                <a:spcPct val="180000"/>
              </a:lnSpc>
              <a:spcBef>
                <a:spcPts val="2400"/>
              </a:spcBef>
            </a:pPr>
            <a:r>
              <a:rPr lang="en-US" sz="1600" dirty="0">
                <a:solidFill>
                  <a:srgbClr val="7C8C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base class provides the interface. The derived classes provide the implementations. Client code uses only the interface — never needing to know the concrete type.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351000" y="8636000"/>
            <a:ext cx="114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62000"/>
            <a:ext cx="14732000" cy="0"/>
          </a:xfrm>
          <a:prstGeom prst="straightConnector1">
            <a:avLst/>
          </a:prstGeom>
          <a:noFill/>
          <a:ln w="12700">
            <a:solidFill>
              <a:srgbClr val="2D3142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OOP | WEEK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Extensibility &amp; Maintainability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752600"/>
            <a:ext cx="1016000" cy="50800"/>
          </a:xfrm>
          <a:prstGeom prst="rect">
            <a:avLst/>
          </a:prstGeom>
          <a:solidFill>
            <a:srgbClr val="C67B3C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159000"/>
            <a:ext cx="14732000" cy="1016000"/>
          </a:xfrm>
          <a:prstGeom prst="roundRect">
            <a:avLst>
              <a:gd name="adj" fmla="val 3000"/>
            </a:avLst>
          </a:prstGeom>
          <a:solidFill>
            <a:srgbClr val="2D3142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286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Open/Closed Principle:</a:t>
            </a:r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Open for extension, closed for modification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556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Extensibility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2000" y="4064000"/>
            <a:ext cx="711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Add a new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Hexagon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class to Shape hierarchy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Zero changes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existing Circle/Rectangle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Existing code works with the new type automatically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62000" y="6350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Maintainability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2000" y="6858000"/>
            <a:ext cx="711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Bugs fixed in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one place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Base class changes propagate to all derived classes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382000" y="3556000"/>
            <a:ext cx="7112000" cy="4699000"/>
          </a:xfrm>
          <a:prstGeom prst="roundRect">
            <a:avLst>
              <a:gd name="adj" fmla="val 5000"/>
            </a:avLst>
          </a:prstGeom>
          <a:solidFill>
            <a:srgbClr val="E8E4DB"/>
          </a:solidFill>
          <a:ln/>
        </p:spPr>
      </p:sp>
      <p:sp>
        <p:nvSpPr>
          <p:cNvPr id="13" name="Text 11"/>
          <p:cNvSpPr/>
          <p:nvPr/>
        </p:nvSpPr>
        <p:spPr>
          <a:xfrm>
            <a:off x="8763000" y="3746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 AND AFTER ADDING HEXAGON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763000" y="4254500"/>
            <a:ext cx="2921000" cy="1778000"/>
          </a:xfrm>
          <a:prstGeom prst="roundRect">
            <a:avLst>
              <a:gd name="adj" fmla="val 5000"/>
            </a:avLst>
          </a:prstGeom>
          <a:solidFill>
            <a:srgbClr val="EEF0EB"/>
          </a:solidFill>
          <a:ln/>
        </p:spPr>
      </p:sp>
      <p:sp>
        <p:nvSpPr>
          <p:cNvPr id="15" name="Text 13"/>
          <p:cNvSpPr/>
          <p:nvPr/>
        </p:nvSpPr>
        <p:spPr>
          <a:xfrm>
            <a:off x="8890000" y="4381500"/>
            <a:ext cx="266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90000" y="4724400"/>
            <a:ext cx="266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Shape (abstract)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Circle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Rectangle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811000" y="5080000"/>
            <a:ext cx="508000" cy="0"/>
          </a:xfrm>
          <a:prstGeom prst="straightConnector1">
            <a:avLst/>
          </a:prstGeom>
          <a:noFill/>
          <a:ln w="25400">
            <a:solidFill>
              <a:srgbClr val="C67B3C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12446000" y="4254500"/>
            <a:ext cx="2921000" cy="1778000"/>
          </a:xfrm>
          <a:prstGeom prst="roundRect">
            <a:avLst>
              <a:gd name="adj" fmla="val 5000"/>
            </a:avLst>
          </a:prstGeom>
          <a:solidFill>
            <a:srgbClr val="C67B3C">
              <a:alpha val="8235"/>
            </a:srgbClr>
          </a:solidFill>
          <a:ln w="25400">
            <a:solidFill>
              <a:srgbClr val="C67B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573000" y="4381500"/>
            <a:ext cx="266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AFTER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573000" y="4673600"/>
            <a:ext cx="266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Shape (abstract)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Circle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Rectangle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b="1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Hexagon (NEW)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63000" y="63500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C8C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existing files were modified. The new Hexagon class simply inherits from Shape and implements the required methods.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351000" y="8636000"/>
            <a:ext cx="114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62000"/>
            <a:ext cx="14732000" cy="0"/>
          </a:xfrm>
          <a:prstGeom prst="straightConnector1">
            <a:avLst/>
          </a:prstGeom>
          <a:noFill/>
          <a:ln w="12700">
            <a:solidFill>
              <a:srgbClr val="2D3142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OOP | WEEK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Polymorphism Recap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752600"/>
            <a:ext cx="1016000" cy="50800"/>
          </a:xfrm>
          <a:prstGeom prst="rect">
            <a:avLst/>
          </a:prstGeom>
          <a:solidFill>
            <a:srgbClr val="C67B3C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159000"/>
            <a:ext cx="4699000" cy="6096000"/>
          </a:xfrm>
          <a:prstGeom prst="roundRect">
            <a:avLst>
              <a:gd name="adj" fmla="val 5000"/>
            </a:avLst>
          </a:prstGeom>
          <a:solidFill>
            <a:srgbClr val="EEF0EB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2413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Concepts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79500" y="2857500"/>
            <a:ext cx="1016000" cy="0"/>
          </a:xfrm>
          <a:prstGeom prst="straightConnector1">
            <a:avLst/>
          </a:prstGeom>
          <a:noFill/>
          <a:ln w="25400">
            <a:solidFill>
              <a:srgbClr val="C67B3C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1079500" y="3048000"/>
            <a:ext cx="40640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Polymorphism = "many forms"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Same interface, different implementations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Compile-time: overloading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Runtime: virtual functions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vtable enables dynamic dispatch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Pure virtual = 0, no body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Abstract classes = interfaces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778500" y="2159000"/>
            <a:ext cx="4699000" cy="6096000"/>
          </a:xfrm>
          <a:prstGeom prst="roundRect">
            <a:avLst>
              <a:gd name="adj" fmla="val 5000"/>
            </a:avLst>
          </a:prstGeom>
          <a:solidFill>
            <a:srgbClr val="E8E4DB"/>
          </a:solidFill>
          <a:ln/>
        </p:spPr>
      </p:sp>
      <p:sp>
        <p:nvSpPr>
          <p:cNvPr id="11" name="Text 9"/>
          <p:cNvSpPr/>
          <p:nvPr/>
        </p:nvSpPr>
        <p:spPr>
          <a:xfrm>
            <a:off x="6096000" y="2413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Syntax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096000" y="2857500"/>
            <a:ext cx="1016000" cy="0"/>
          </a:xfrm>
          <a:prstGeom prst="straightConnector1">
            <a:avLst/>
          </a:prstGeom>
          <a:noFill/>
          <a:ln w="25400">
            <a:solidFill>
              <a:srgbClr val="C67B3C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6096000" y="3048000"/>
            <a:ext cx="40640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f();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f()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override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void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f()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 0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f()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5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Abstract class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Base {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~Base() {}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795000" y="2159000"/>
            <a:ext cx="4699000" cy="6096000"/>
          </a:xfrm>
          <a:prstGeom prst="roundRect">
            <a:avLst>
              <a:gd name="adj" fmla="val 5000"/>
            </a:avLst>
          </a:prstGeom>
          <a:solidFill>
            <a:srgbClr val="EEF0EB"/>
          </a:solidFill>
          <a:ln/>
        </p:spPr>
      </p:sp>
      <p:sp>
        <p:nvSpPr>
          <p:cNvPr id="15" name="Text 13"/>
          <p:cNvSpPr/>
          <p:nvPr/>
        </p:nvSpPr>
        <p:spPr>
          <a:xfrm>
            <a:off x="11112500" y="2413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1112500" y="2857500"/>
            <a:ext cx="1016000" cy="0"/>
          </a:xfrm>
          <a:prstGeom prst="straightConnector1">
            <a:avLst/>
          </a:prstGeom>
          <a:noFill/>
          <a:ln w="25400">
            <a:solidFill>
              <a:srgbClr val="C67B3C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1112500" y="3048000"/>
            <a:ext cx="40640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Always use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override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Virtual destructors in base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Abstract classes for interfaces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final when appropriate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Prefer refs over raw pointers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Don't overuse virtual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351000" y="8636000"/>
            <a:ext cx="114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D3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02400" cy="9144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3" name="Shape 1"/>
          <p:cNvSpPr/>
          <p:nvPr/>
        </p:nvSpPr>
        <p:spPr>
          <a:xfrm>
            <a:off x="6502400" y="0"/>
            <a:ext cx="9753600" cy="91440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4" name="Shape 2"/>
          <p:cNvSpPr/>
          <p:nvPr/>
        </p:nvSpPr>
        <p:spPr>
          <a:xfrm>
            <a:off x="6248400" y="0"/>
            <a:ext cx="508000" cy="9144000"/>
          </a:xfrm>
          <a:prstGeom prst="rect">
            <a:avLst/>
          </a:prstGeom>
          <a:solidFill>
            <a:srgbClr val="C67B3C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2540000"/>
            <a:ext cx="49784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000" b="1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4191000"/>
            <a:ext cx="4978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TWO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4699000"/>
            <a:ext cx="49784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Pointers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5715000"/>
            <a:ext cx="1524000" cy="0"/>
          </a:xfrm>
          <a:prstGeom prst="straightConnector1">
            <a:avLst/>
          </a:prstGeom>
          <a:noFill/>
          <a:ln w="38100">
            <a:solidFill>
              <a:srgbClr val="C67B3C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7366000" y="3556000"/>
            <a:ext cx="812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Memory Access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Mastering one of C++'s most powerful features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66000" y="5080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76200"/>
                </a:moveTo>
                <a:cubicBezTo>
                  <a:pt x="34171" y="76200"/>
                  <a:pt x="0" y="110371"/>
                  <a:pt x="0" y="152400"/>
                </a:cubicBezTo>
                <a:lnTo>
                  <a:pt x="0" y="161211"/>
                </a:lnTo>
                <a:cubicBezTo>
                  <a:pt x="0" y="169307"/>
                  <a:pt x="5239" y="176212"/>
                  <a:pt x="12025" y="180618"/>
                </a:cubicBezTo>
                <a:cubicBezTo>
                  <a:pt x="27742" y="190857"/>
                  <a:pt x="38100" y="208478"/>
                  <a:pt x="38100" y="228600"/>
                </a:cubicBezTo>
                <a:cubicBezTo>
                  <a:pt x="38100" y="248722"/>
                  <a:pt x="27742" y="266343"/>
                  <a:pt x="12025" y="276582"/>
                </a:cubicBezTo>
                <a:cubicBezTo>
                  <a:pt x="5239" y="280987"/>
                  <a:pt x="0" y="287893"/>
                  <a:pt x="0" y="295989"/>
                </a:cubicBezTo>
                <a:lnTo>
                  <a:pt x="0" y="361950"/>
                </a:lnTo>
                <a:lnTo>
                  <a:pt x="609600" y="361950"/>
                </a:lnTo>
                <a:lnTo>
                  <a:pt x="609600" y="295989"/>
                </a:lnTo>
                <a:cubicBezTo>
                  <a:pt x="609600" y="287893"/>
                  <a:pt x="604361" y="280987"/>
                  <a:pt x="597575" y="276582"/>
                </a:cubicBezTo>
                <a:cubicBezTo>
                  <a:pt x="581858" y="266343"/>
                  <a:pt x="571500" y="248722"/>
                  <a:pt x="571500" y="228600"/>
                </a:cubicBezTo>
                <a:cubicBezTo>
                  <a:pt x="571500" y="208478"/>
                  <a:pt x="581858" y="190857"/>
                  <a:pt x="597575" y="180618"/>
                </a:cubicBezTo>
                <a:cubicBezTo>
                  <a:pt x="604361" y="176212"/>
                  <a:pt x="609600" y="169307"/>
                  <a:pt x="609600" y="161211"/>
                </a:cubicBezTo>
                <a:lnTo>
                  <a:pt x="609600" y="152400"/>
                </a:lnTo>
                <a:cubicBezTo>
                  <a:pt x="609600" y="110371"/>
                  <a:pt x="575429" y="76200"/>
                  <a:pt x="533400" y="76200"/>
                </a:cubicBezTo>
                <a:lnTo>
                  <a:pt x="76200" y="76200"/>
                </a:lnTo>
                <a:close/>
                <a:moveTo>
                  <a:pt x="609600" y="495300"/>
                </a:moveTo>
                <a:lnTo>
                  <a:pt x="609600" y="419100"/>
                </a:lnTo>
                <a:lnTo>
                  <a:pt x="0" y="419100"/>
                </a:lnTo>
                <a:lnTo>
                  <a:pt x="0" y="495300"/>
                </a:lnTo>
                <a:cubicBezTo>
                  <a:pt x="0" y="516374"/>
                  <a:pt x="17026" y="533400"/>
                  <a:pt x="38100" y="533400"/>
                </a:cubicBezTo>
                <a:lnTo>
                  <a:pt x="114300" y="533400"/>
                </a:lnTo>
                <a:lnTo>
                  <a:pt x="114300" y="504825"/>
                </a:lnTo>
                <a:cubicBezTo>
                  <a:pt x="114300" y="488990"/>
                  <a:pt x="127040" y="476250"/>
                  <a:pt x="142875" y="476250"/>
                </a:cubicBezTo>
                <a:cubicBezTo>
                  <a:pt x="158710" y="476250"/>
                  <a:pt x="171450" y="488990"/>
                  <a:pt x="171450" y="504825"/>
                </a:cubicBezTo>
                <a:lnTo>
                  <a:pt x="171450" y="533400"/>
                </a:lnTo>
                <a:lnTo>
                  <a:pt x="276225" y="533400"/>
                </a:lnTo>
                <a:lnTo>
                  <a:pt x="276225" y="504825"/>
                </a:lnTo>
                <a:cubicBezTo>
                  <a:pt x="276225" y="488990"/>
                  <a:pt x="288965" y="476250"/>
                  <a:pt x="304800" y="476250"/>
                </a:cubicBezTo>
                <a:cubicBezTo>
                  <a:pt x="320635" y="476250"/>
                  <a:pt x="333375" y="488990"/>
                  <a:pt x="333375" y="504825"/>
                </a:cubicBezTo>
                <a:lnTo>
                  <a:pt x="333375" y="533400"/>
                </a:lnTo>
                <a:lnTo>
                  <a:pt x="438150" y="533400"/>
                </a:lnTo>
                <a:lnTo>
                  <a:pt x="438150" y="504825"/>
                </a:lnTo>
                <a:cubicBezTo>
                  <a:pt x="438150" y="488990"/>
                  <a:pt x="450890" y="476250"/>
                  <a:pt x="466725" y="476250"/>
                </a:cubicBezTo>
                <a:cubicBezTo>
                  <a:pt x="482560" y="476250"/>
                  <a:pt x="495300" y="488990"/>
                  <a:pt x="495300" y="504825"/>
                </a:cubicBezTo>
                <a:lnTo>
                  <a:pt x="495300" y="533400"/>
                </a:lnTo>
                <a:lnTo>
                  <a:pt x="571500" y="533400"/>
                </a:lnTo>
                <a:cubicBezTo>
                  <a:pt x="592574" y="533400"/>
                  <a:pt x="609600" y="516374"/>
                  <a:pt x="609600" y="495300"/>
                </a:cubicBezTo>
                <a:close/>
                <a:moveTo>
                  <a:pt x="190500" y="190500"/>
                </a:moveTo>
                <a:lnTo>
                  <a:pt x="190500" y="266700"/>
                </a:lnTo>
                <a:cubicBezTo>
                  <a:pt x="190500" y="287774"/>
                  <a:pt x="173474" y="304800"/>
                  <a:pt x="152400" y="304800"/>
                </a:cubicBezTo>
                <a:cubicBezTo>
                  <a:pt x="131326" y="304800"/>
                  <a:pt x="114300" y="287774"/>
                  <a:pt x="114300" y="266700"/>
                </a:cubicBezTo>
                <a:lnTo>
                  <a:pt x="114300" y="190500"/>
                </a:lnTo>
                <a:cubicBezTo>
                  <a:pt x="114300" y="169426"/>
                  <a:pt x="131326" y="152400"/>
                  <a:pt x="152400" y="152400"/>
                </a:cubicBezTo>
                <a:cubicBezTo>
                  <a:pt x="173474" y="152400"/>
                  <a:pt x="190500" y="169426"/>
                  <a:pt x="190500" y="190500"/>
                </a:cubicBezTo>
                <a:close/>
                <a:moveTo>
                  <a:pt x="342900" y="190500"/>
                </a:moveTo>
                <a:lnTo>
                  <a:pt x="342900" y="266700"/>
                </a:lnTo>
                <a:cubicBezTo>
                  <a:pt x="342900" y="287774"/>
                  <a:pt x="325874" y="304800"/>
                  <a:pt x="304800" y="304800"/>
                </a:cubicBezTo>
                <a:cubicBezTo>
                  <a:pt x="283726" y="304800"/>
                  <a:pt x="266700" y="287774"/>
                  <a:pt x="266700" y="266700"/>
                </a:cubicBezTo>
                <a:lnTo>
                  <a:pt x="266700" y="190500"/>
                </a:lnTo>
                <a:cubicBezTo>
                  <a:pt x="266700" y="169426"/>
                  <a:pt x="283726" y="152400"/>
                  <a:pt x="304800" y="152400"/>
                </a:cubicBezTo>
                <a:cubicBezTo>
                  <a:pt x="325874" y="152400"/>
                  <a:pt x="342900" y="169426"/>
                  <a:pt x="342900" y="190500"/>
                </a:cubicBezTo>
                <a:close/>
                <a:moveTo>
                  <a:pt x="495300" y="190500"/>
                </a:moveTo>
                <a:lnTo>
                  <a:pt x="495300" y="266700"/>
                </a:lnTo>
                <a:cubicBezTo>
                  <a:pt x="495300" y="287774"/>
                  <a:pt x="478274" y="304800"/>
                  <a:pt x="457200" y="304800"/>
                </a:cubicBezTo>
                <a:cubicBezTo>
                  <a:pt x="436126" y="304800"/>
                  <a:pt x="419100" y="287774"/>
                  <a:pt x="419100" y="266700"/>
                </a:cubicBezTo>
                <a:lnTo>
                  <a:pt x="419100" y="190500"/>
                </a:lnTo>
                <a:cubicBezTo>
                  <a:pt x="419100" y="169426"/>
                  <a:pt x="436126" y="152400"/>
                  <a:pt x="457200" y="152400"/>
                </a:cubicBezTo>
                <a:cubicBezTo>
                  <a:pt x="478274" y="152400"/>
                  <a:pt x="495300" y="169426"/>
                  <a:pt x="495300" y="190500"/>
                </a:cubicBezTo>
                <a:close/>
              </a:path>
            </a:pathLst>
          </a:custGeom>
          <a:solidFill>
            <a:srgbClr val="7C8C6E"/>
          </a:solidFill>
          <a:ln/>
        </p:spPr>
      </p:sp>
      <p:sp>
        <p:nvSpPr>
          <p:cNvPr id="11" name="Text 9"/>
          <p:cNvSpPr/>
          <p:nvPr/>
        </p:nvSpPr>
        <p:spPr>
          <a:xfrm>
            <a:off x="7366000" y="5969000"/>
            <a:ext cx="8128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7C8C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Pointer Basics · Operators (*, &amp;, -&gt;)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7C8C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Pointer Arithmetic · Pointers &amp; Arrays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7C8C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Pointer to Objects · The this Pointer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7C8C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Pointer to Derived Classes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62000"/>
            <a:ext cx="14732000" cy="0"/>
          </a:xfrm>
          <a:prstGeom prst="straightConnector1">
            <a:avLst/>
          </a:prstGeom>
          <a:noFill/>
          <a:ln w="12700">
            <a:solidFill>
              <a:srgbClr val="2D3142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OOP | WEEK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are Pointers?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752600"/>
            <a:ext cx="1016000" cy="50800"/>
          </a:xfrm>
          <a:prstGeom prst="rect">
            <a:avLst/>
          </a:prstGeom>
          <a:solidFill>
            <a:srgbClr val="C67B3C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159000"/>
            <a:ext cx="7112000" cy="1270000"/>
          </a:xfrm>
          <a:prstGeom prst="roundRect">
            <a:avLst>
              <a:gd name="adj" fmla="val 5000"/>
            </a:avLst>
          </a:prstGeom>
          <a:solidFill>
            <a:srgbClr val="EEF0EB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286000"/>
            <a:ext cx="660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pointer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variable that stores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memory address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the location of another variable in memory.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62000" y="3746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2000" y="42545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pointer is like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house address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it tells you where to find something, not what the something is.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62000" y="5588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Pointers Enable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2000" y="6096000"/>
            <a:ext cx="711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Direct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memory manipulation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Dynamic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memory allocation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Efficient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array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handling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Complex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structures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382000" y="2159000"/>
            <a:ext cx="7112000" cy="6096000"/>
          </a:xfrm>
          <a:prstGeom prst="roundRect">
            <a:avLst>
              <a:gd name="adj" fmla="val 5000"/>
            </a:avLst>
          </a:prstGeom>
          <a:solidFill>
            <a:srgbClr val="E8E4DB"/>
          </a:solidFill>
          <a:ln/>
        </p:spPr>
      </p:sp>
      <p:sp>
        <p:nvSpPr>
          <p:cNvPr id="13" name="Text 11"/>
          <p:cNvSpPr/>
          <p:nvPr/>
        </p:nvSpPr>
        <p:spPr>
          <a:xfrm>
            <a:off x="8763000" y="2349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spc="100" kern="0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 MODEL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0" y="3048000"/>
            <a:ext cx="2286000" cy="889000"/>
          </a:xfrm>
          <a:prstGeom prst="roundRect">
            <a:avLst>
              <a:gd name="adj" fmla="val 5000"/>
            </a:avLst>
          </a:prstGeom>
          <a:solidFill>
            <a:srgbClr val="2D3142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0" y="31115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Address: 0x1000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0" y="34544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 = 10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446000" y="3048000"/>
            <a:ext cx="2286000" cy="889000"/>
          </a:xfrm>
          <a:prstGeom prst="roundRect">
            <a:avLst>
              <a:gd name="adj" fmla="val 5000"/>
            </a:avLst>
          </a:prstGeom>
          <a:solidFill>
            <a:srgbClr val="C67B3C"/>
          </a:solidFill>
          <a:ln/>
        </p:spPr>
      </p:sp>
      <p:sp>
        <p:nvSpPr>
          <p:cNvPr id="18" name="Text 16"/>
          <p:cNvSpPr/>
          <p:nvPr/>
        </p:nvSpPr>
        <p:spPr>
          <a:xfrm>
            <a:off x="12446000" y="31115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Address: 0x2000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446000" y="34544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ptr = 0x1000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430000" y="3429000"/>
            <a:ext cx="1016000" cy="0"/>
          </a:xfrm>
          <a:prstGeom prst="straightConnector1">
            <a:avLst/>
          </a:prstGeom>
          <a:noFill/>
          <a:ln w="25400">
            <a:solidFill>
              <a:srgbClr val="7C8C6E"/>
            </a:solidFill>
            <a:prstDash val="solid"/>
            <a:headEnd type="none"/>
            <a:tailEnd type="arrow"/>
          </a:ln>
        </p:spPr>
      </p:sp>
      <p:sp>
        <p:nvSpPr>
          <p:cNvPr id="21" name="Text 19"/>
          <p:cNvSpPr/>
          <p:nvPr/>
        </p:nvSpPr>
        <p:spPr>
          <a:xfrm>
            <a:off x="11430000" y="3175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points to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763000" y="4445000"/>
            <a:ext cx="6350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Variable x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Stored at address 0x1000, holds value 10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Pointer ptr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Stored at address 0x2000, holds address 0x1000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Every variable has: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Value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(the data)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Address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(location in memory)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351000" y="8636000"/>
            <a:ext cx="114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62000"/>
            <a:ext cx="14732000" cy="0"/>
          </a:xfrm>
          <a:prstGeom prst="straightConnector1">
            <a:avLst/>
          </a:prstGeom>
          <a:noFill/>
          <a:ln w="12700">
            <a:solidFill>
              <a:srgbClr val="2D3142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OOP | WEEK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Pointer Declaration &amp; Initialization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752600"/>
            <a:ext cx="1016000" cy="50800"/>
          </a:xfrm>
          <a:prstGeom prst="rect">
            <a:avLst/>
          </a:prstGeom>
          <a:solidFill>
            <a:srgbClr val="C67B3C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159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Declaration Syntax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62000" y="2667000"/>
            <a:ext cx="7112000" cy="762000"/>
          </a:xfrm>
          <a:prstGeom prst="roundRect">
            <a:avLst>
              <a:gd name="adj" fmla="val 5000"/>
            </a:avLst>
          </a:prstGeom>
          <a:solidFill>
            <a:srgbClr val="E8E4DB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794000"/>
            <a:ext cx="660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dataType* pointerName; </a:t>
            </a:r>
            <a:pPr>
              <a:lnSpc>
                <a:spcPct val="140000"/>
              </a:lnSpc>
            </a:pPr>
            <a:r>
              <a:rPr lang="en-US" sz="20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* indicates pointer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3746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4254500"/>
            <a:ext cx="7112000" cy="1905000"/>
          </a:xfrm>
          <a:prstGeom prst="roundRect">
            <a:avLst>
              <a:gd name="adj" fmla="val 5000"/>
            </a:avLst>
          </a:prstGeom>
          <a:solidFill>
            <a:srgbClr val="E8E4DB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4419600"/>
            <a:ext cx="6604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 ptr;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pointer to int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 dptr;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pointer to double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 cptr;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pointer to char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Student* sptr;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pointer to object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647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Initialization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62000" y="6985000"/>
            <a:ext cx="7112000" cy="1270000"/>
          </a:xfrm>
          <a:prstGeom prst="roundRect">
            <a:avLst>
              <a:gd name="adj" fmla="val 5000"/>
            </a:avLst>
          </a:prstGeom>
          <a:solidFill>
            <a:srgbClr val="E8E4DB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7112000"/>
            <a:ext cx="660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x = 10;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 ptr =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&amp;x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&amp; = address-of operator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382000" y="2159000"/>
            <a:ext cx="7112000" cy="6223000"/>
          </a:xfrm>
          <a:prstGeom prst="roundRect">
            <a:avLst>
              <a:gd name="adj" fmla="val 5000"/>
            </a:avLst>
          </a:prstGeom>
          <a:solidFill>
            <a:srgbClr val="EEF0EB"/>
          </a:solidFill>
          <a:ln/>
        </p:spPr>
      </p:sp>
      <p:sp>
        <p:nvSpPr>
          <p:cNvPr id="16" name="Text 14"/>
          <p:cNvSpPr/>
          <p:nvPr/>
        </p:nvSpPr>
        <p:spPr>
          <a:xfrm>
            <a:off x="8763000" y="2476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763000" y="2921000"/>
            <a:ext cx="1016000" cy="0"/>
          </a:xfrm>
          <a:prstGeom prst="straightConnector1">
            <a:avLst/>
          </a:prstGeom>
          <a:noFill/>
          <a:ln w="25400">
            <a:solidFill>
              <a:srgbClr val="C67B3C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8763000" y="3175000"/>
            <a:ext cx="6350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Always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initialize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pointers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nullptr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empty pointers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Uninitialized pointers contain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garbage</a:t>
            </a:r>
            <a:endParaRPr lang="en-US" sz="2000" dirty="0"/>
          </a:p>
          <a:p>
            <a:pPr>
              <a:lnSpc>
                <a:spcPct val="180000"/>
              </a:lnSpc>
              <a:spcBef>
                <a:spcPts val="2000"/>
              </a:spcBef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Null Pointer: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7C8C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int* ptr = nullptr;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7C8C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if (ptr != nullptr) { ... }</a:t>
            </a:r>
            <a:endParaRPr lang="en-US" sz="2000" dirty="0"/>
          </a:p>
          <a:p>
            <a:pPr>
              <a:lnSpc>
                <a:spcPct val="180000"/>
              </a:lnSpc>
              <a:spcBef>
                <a:spcPts val="2000"/>
              </a:spcBef>
            </a:pPr>
            <a:r>
              <a:rPr lang="en-US" sz="1600" dirty="0">
                <a:solidFill>
                  <a:srgbClr val="7C8C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Always check before dereferencing to avoid undefined behavior and crashes.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351000" y="8636000"/>
            <a:ext cx="114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62000"/>
            <a:ext cx="14732000" cy="0"/>
          </a:xfrm>
          <a:prstGeom prst="straightConnector1">
            <a:avLst/>
          </a:prstGeom>
          <a:noFill/>
          <a:ln w="12700">
            <a:solidFill>
              <a:srgbClr val="2D3142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OOP | WEEK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Pointer Operators — *, &amp;, and -&gt;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752600"/>
            <a:ext cx="1016000" cy="50800"/>
          </a:xfrm>
          <a:prstGeom prst="rect">
            <a:avLst/>
          </a:prstGeom>
          <a:solidFill>
            <a:srgbClr val="C67B3C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222500"/>
            <a:ext cx="4699000" cy="2921000"/>
          </a:xfrm>
          <a:prstGeom prst="roundRect">
            <a:avLst>
              <a:gd name="adj" fmla="val 5000"/>
            </a:avLst>
          </a:prstGeom>
          <a:solidFill>
            <a:srgbClr val="EEF0EB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24765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78000" y="2476500"/>
            <a:ext cx="3365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Address-of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79500" y="3111500"/>
            <a:ext cx="406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Returns the memory address of a variable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7C8C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 x = 10;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7C8C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int* p =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&amp;x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7C8C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778500" y="2222500"/>
            <a:ext cx="4699000" cy="2921000"/>
          </a:xfrm>
          <a:prstGeom prst="roundRect">
            <a:avLst>
              <a:gd name="adj" fmla="val 5000"/>
            </a:avLst>
          </a:prstGeom>
          <a:solidFill>
            <a:srgbClr val="EEF0EB"/>
          </a:solidFill>
          <a:ln/>
        </p:spPr>
      </p:sp>
      <p:sp>
        <p:nvSpPr>
          <p:cNvPr id="11" name="Text 9"/>
          <p:cNvSpPr/>
          <p:nvPr/>
        </p:nvSpPr>
        <p:spPr>
          <a:xfrm>
            <a:off x="6096000" y="24765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94500" y="2476500"/>
            <a:ext cx="3365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Dereference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096000" y="3111500"/>
            <a:ext cx="406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Accesses the value at the stored address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7C8C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int* p = &amp;x;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7C8C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 v =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*p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7C8C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 // v = 10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795000" y="2222500"/>
            <a:ext cx="4699000" cy="2921000"/>
          </a:xfrm>
          <a:prstGeom prst="roundRect">
            <a:avLst>
              <a:gd name="adj" fmla="val 5000"/>
            </a:avLst>
          </a:prstGeom>
          <a:solidFill>
            <a:srgbClr val="EEF0EB"/>
          </a:solidFill>
          <a:ln/>
        </p:spPr>
      </p:sp>
      <p:sp>
        <p:nvSpPr>
          <p:cNvPr id="15" name="Text 13"/>
          <p:cNvSpPr/>
          <p:nvPr/>
        </p:nvSpPr>
        <p:spPr>
          <a:xfrm>
            <a:off x="11112500" y="24765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-&gt;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11000" y="2476500"/>
            <a:ext cx="3365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Arrow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112500" y="3111500"/>
            <a:ext cx="406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Access object members through a pointer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7C8C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Student* s = ...;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s-&gt;name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7C8C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same as (*s).name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62000" y="5524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Memory Model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62000" y="6096000"/>
            <a:ext cx="14732000" cy="2159000"/>
          </a:xfrm>
          <a:prstGeom prst="roundRect">
            <a:avLst>
              <a:gd name="adj" fmla="val 3000"/>
            </a:avLst>
          </a:prstGeom>
          <a:solidFill>
            <a:srgbClr val="E8E4DB"/>
          </a:solidFill>
          <a:ln/>
        </p:spPr>
      </p:sp>
      <p:sp>
        <p:nvSpPr>
          <p:cNvPr id="20" name="Shape 18"/>
          <p:cNvSpPr/>
          <p:nvPr/>
        </p:nvSpPr>
        <p:spPr>
          <a:xfrm>
            <a:off x="1270000" y="6477000"/>
            <a:ext cx="2032000" cy="698500"/>
          </a:xfrm>
          <a:prstGeom prst="roundRect">
            <a:avLst>
              <a:gd name="adj" fmla="val 5000"/>
            </a:avLst>
          </a:prstGeom>
          <a:solidFill>
            <a:srgbClr val="2D3142"/>
          </a:solidFill>
          <a:ln/>
        </p:spPr>
      </p:sp>
      <p:sp>
        <p:nvSpPr>
          <p:cNvPr id="21" name="Text 19"/>
          <p:cNvSpPr/>
          <p:nvPr/>
        </p:nvSpPr>
        <p:spPr>
          <a:xfrm>
            <a:off x="1270000" y="6477000"/>
            <a:ext cx="20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 = 10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@ 0x1000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26000" y="6477000"/>
            <a:ext cx="2032000" cy="698500"/>
          </a:xfrm>
          <a:prstGeom prst="roundRect">
            <a:avLst>
              <a:gd name="adj" fmla="val 5000"/>
            </a:avLst>
          </a:prstGeom>
          <a:solidFill>
            <a:srgbClr val="C67B3C"/>
          </a:solidFill>
          <a:ln/>
        </p:spPr>
      </p:sp>
      <p:sp>
        <p:nvSpPr>
          <p:cNvPr id="23" name="Text 21"/>
          <p:cNvSpPr/>
          <p:nvPr/>
        </p:nvSpPr>
        <p:spPr>
          <a:xfrm>
            <a:off x="4826000" y="6477000"/>
            <a:ext cx="20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ptr = 0x1000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@ 0x2000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302000" y="6794500"/>
            <a:ext cx="1524000" cy="0"/>
          </a:xfrm>
          <a:prstGeom prst="straightConnector1">
            <a:avLst/>
          </a:prstGeom>
          <a:noFill/>
          <a:ln w="25400">
            <a:solidFill>
              <a:srgbClr val="7C8C6E"/>
            </a:solidFill>
            <a:prstDash val="solid"/>
            <a:headEnd type="arrow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7620000" y="6413500"/>
            <a:ext cx="736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&amp;x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0x1000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(address of x)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*ptr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10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(value at 0x1000)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&amp;ptr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0x2000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(address of ptr)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351000" y="8636000"/>
            <a:ext cx="114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62000"/>
            <a:ext cx="14732000" cy="0"/>
          </a:xfrm>
          <a:prstGeom prst="straightConnector1">
            <a:avLst/>
          </a:prstGeom>
          <a:noFill/>
          <a:ln w="12700">
            <a:solidFill>
              <a:srgbClr val="2D3142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OOP | WEEK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Pointer Arithmetic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752600"/>
            <a:ext cx="1016000" cy="50800"/>
          </a:xfrm>
          <a:prstGeom prst="rect">
            <a:avLst/>
          </a:prstGeom>
          <a:solidFill>
            <a:srgbClr val="C67B3C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095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Navigate through memory using math operations. Automatically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scaled by sizeof(type)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not raw bytes.</a:t>
            </a:r>
            <a:endParaRPr lang="en-US" sz="2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984500"/>
          <a:ext cx="7112000" cy="3302000"/>
        </p:xfrm>
        <a:graphic>
          <a:graphicData uri="http://schemas.openxmlformats.org/drawingml/2006/table">
            <a:tbl>
              <a:tblPr/>
              <a:tblGrid>
                <a:gridCol w="2133600"/>
                <a:gridCol w="2489200"/>
                <a:gridCol w="2489200"/>
              </a:tblGrid>
              <a:tr h="537535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Operation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Expression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Effect (int=4B)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</a:tr>
              <a:tr h="46074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Increment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ptr++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+ 4 bytes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074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Decrement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ptr--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- 4 bytes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46074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Add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ptr + 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+ n x 4 bytes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074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Subtract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ptr - 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- n x 4 bytes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46074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Difference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ptr2 - ptr1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# of elements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074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Compare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ptr1 &lt; ptr2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address compare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62000" y="660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762000" y="7048500"/>
            <a:ext cx="7112000" cy="1270000"/>
          </a:xfrm>
          <a:prstGeom prst="roundRect">
            <a:avLst>
              <a:gd name="adj" fmla="val 5000"/>
            </a:avLst>
          </a:prstGeom>
          <a:solidFill>
            <a:srgbClr val="E8E4DB"/>
          </a:solidFill>
          <a:ln/>
        </p:spPr>
      </p:sp>
      <p:sp>
        <p:nvSpPr>
          <p:cNvPr id="10" name="Text 7"/>
          <p:cNvSpPr/>
          <p:nvPr/>
        </p:nvSpPr>
        <p:spPr>
          <a:xfrm>
            <a:off x="1016000" y="7175500"/>
            <a:ext cx="660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arr[5] = {10, 20, 30, 40, 50};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 p = arr;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 points to arr[0]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*(p + 2);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30 (arr[2])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382000" y="2984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 Visualization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382000" y="3556000"/>
            <a:ext cx="7112000" cy="4572000"/>
          </a:xfrm>
          <a:prstGeom prst="roundRect">
            <a:avLst>
              <a:gd name="adj" fmla="val 5000"/>
            </a:avLst>
          </a:prstGeom>
          <a:solidFill>
            <a:srgbClr val="E8E4DB"/>
          </a:solidFill>
          <a:ln/>
        </p:spPr>
      </p:sp>
      <p:sp>
        <p:nvSpPr>
          <p:cNvPr id="13" name="Shape 10"/>
          <p:cNvSpPr/>
          <p:nvPr/>
        </p:nvSpPr>
        <p:spPr>
          <a:xfrm>
            <a:off x="8763000" y="3937000"/>
            <a:ext cx="1143000" cy="698500"/>
          </a:xfrm>
          <a:prstGeom prst="roundRect">
            <a:avLst>
              <a:gd name="adj" fmla="val 5000"/>
            </a:avLst>
          </a:prstGeom>
          <a:solidFill>
            <a:srgbClr val="C67B3C"/>
          </a:solidFill>
          <a:ln/>
        </p:spPr>
      </p:sp>
      <p:sp>
        <p:nvSpPr>
          <p:cNvPr id="14" name="Text 11"/>
          <p:cNvSpPr/>
          <p:nvPr/>
        </p:nvSpPr>
        <p:spPr>
          <a:xfrm>
            <a:off x="8763000" y="3937000"/>
            <a:ext cx="114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arr[0]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0033000" y="3937000"/>
            <a:ext cx="1143000" cy="698500"/>
          </a:xfrm>
          <a:prstGeom prst="roundRect">
            <a:avLst>
              <a:gd name="adj" fmla="val 5000"/>
            </a:avLst>
          </a:prstGeom>
          <a:solidFill>
            <a:srgbClr val="2D3142"/>
          </a:solidFill>
          <a:ln/>
        </p:spPr>
      </p:sp>
      <p:sp>
        <p:nvSpPr>
          <p:cNvPr id="16" name="Text 13"/>
          <p:cNvSpPr/>
          <p:nvPr/>
        </p:nvSpPr>
        <p:spPr>
          <a:xfrm>
            <a:off x="10033000" y="3937000"/>
            <a:ext cx="114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arr[1]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1303000" y="3937000"/>
            <a:ext cx="1143000" cy="698500"/>
          </a:xfrm>
          <a:prstGeom prst="roundRect">
            <a:avLst>
              <a:gd name="adj" fmla="val 5000"/>
            </a:avLst>
          </a:prstGeom>
          <a:solidFill>
            <a:srgbClr val="2D3142"/>
          </a:solidFill>
          <a:ln/>
        </p:spPr>
      </p:sp>
      <p:sp>
        <p:nvSpPr>
          <p:cNvPr id="18" name="Text 15"/>
          <p:cNvSpPr/>
          <p:nvPr/>
        </p:nvSpPr>
        <p:spPr>
          <a:xfrm>
            <a:off x="11303000" y="3937000"/>
            <a:ext cx="114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arr[2]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2573000" y="3937000"/>
            <a:ext cx="1143000" cy="698500"/>
          </a:xfrm>
          <a:prstGeom prst="roundRect">
            <a:avLst>
              <a:gd name="adj" fmla="val 5000"/>
            </a:avLst>
          </a:prstGeom>
          <a:solidFill>
            <a:srgbClr val="2D3142"/>
          </a:solidFill>
          <a:ln/>
        </p:spPr>
      </p:sp>
      <p:sp>
        <p:nvSpPr>
          <p:cNvPr id="20" name="Text 17"/>
          <p:cNvSpPr/>
          <p:nvPr/>
        </p:nvSpPr>
        <p:spPr>
          <a:xfrm>
            <a:off x="12573000" y="3937000"/>
            <a:ext cx="114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arr[3]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3843000" y="3937000"/>
            <a:ext cx="1143000" cy="698500"/>
          </a:xfrm>
          <a:prstGeom prst="roundRect">
            <a:avLst>
              <a:gd name="adj" fmla="val 5000"/>
            </a:avLst>
          </a:prstGeom>
          <a:solidFill>
            <a:srgbClr val="2D3142"/>
          </a:solidFill>
          <a:ln/>
        </p:spPr>
      </p:sp>
      <p:sp>
        <p:nvSpPr>
          <p:cNvPr id="22" name="Text 19"/>
          <p:cNvSpPr/>
          <p:nvPr/>
        </p:nvSpPr>
        <p:spPr>
          <a:xfrm>
            <a:off x="13843000" y="3937000"/>
            <a:ext cx="114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arr[4]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9334500" y="4635500"/>
            <a:ext cx="0" cy="381000"/>
          </a:xfrm>
          <a:prstGeom prst="straightConnector1">
            <a:avLst/>
          </a:prstGeom>
          <a:noFill/>
          <a:ln w="25400">
            <a:solidFill>
              <a:srgbClr val="C67B3C"/>
            </a:solidFill>
            <a:prstDash val="solid"/>
            <a:headEnd type="none"/>
            <a:tailEnd type="arrow"/>
          </a:ln>
        </p:spPr>
      </p:sp>
      <p:sp>
        <p:nvSpPr>
          <p:cNvPr id="24" name="Text 21"/>
          <p:cNvSpPr/>
          <p:nvPr/>
        </p:nvSpPr>
        <p:spPr>
          <a:xfrm>
            <a:off x="8763000" y="50800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ptr → arr[0]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11874500" y="4635500"/>
            <a:ext cx="0" cy="381000"/>
          </a:xfrm>
          <a:prstGeom prst="straightConnector1">
            <a:avLst/>
          </a:prstGeom>
          <a:noFill/>
          <a:ln w="25400">
            <a:solidFill>
              <a:srgbClr val="7C8C6E"/>
            </a:solidFill>
            <a:prstDash val="sysDot"/>
            <a:headEnd type="none"/>
            <a:tailEnd type="arrow"/>
          </a:ln>
        </p:spPr>
      </p:sp>
      <p:sp>
        <p:nvSpPr>
          <p:cNvPr id="26" name="Text 23"/>
          <p:cNvSpPr/>
          <p:nvPr/>
        </p:nvSpPr>
        <p:spPr>
          <a:xfrm>
            <a:off x="11176000" y="5080000"/>
            <a:ext cx="177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ptr+2 → arr[2]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763000" y="5715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8C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ptr + 2 adds 2 x sizeof(int) = 8 bytes, not 2 bytes. The compiler handles the scaling automatically based on the pointer's type.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14351000" y="8636000"/>
            <a:ext cx="114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62000"/>
            <a:ext cx="14732000" cy="0"/>
          </a:xfrm>
          <a:prstGeom prst="straightConnector1">
            <a:avLst/>
          </a:prstGeom>
          <a:noFill/>
          <a:ln w="12700">
            <a:solidFill>
              <a:srgbClr val="2D3142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OOP | WEEK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Pointers and Arrays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752600"/>
            <a:ext cx="1016000" cy="50800"/>
          </a:xfrm>
          <a:prstGeom prst="rect">
            <a:avLst/>
          </a:prstGeom>
          <a:solidFill>
            <a:srgbClr val="C67B3C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095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Arrays and pointers are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closely related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C++. An array name acts as a pointer to its first element.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62000" y="2984500"/>
            <a:ext cx="7112000" cy="2540000"/>
          </a:xfrm>
          <a:prstGeom prst="roundRect">
            <a:avLst>
              <a:gd name="adj" fmla="val 5000"/>
            </a:avLst>
          </a:prstGeom>
          <a:solidFill>
            <a:srgbClr val="2D3142"/>
          </a:solidFill>
          <a:ln/>
        </p:spPr>
      </p:sp>
      <p:sp>
        <p:nvSpPr>
          <p:cNvPr id="8" name="Text 6"/>
          <p:cNvSpPr/>
          <p:nvPr/>
        </p:nvSpPr>
        <p:spPr>
          <a:xfrm>
            <a:off x="1079500" y="31750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FUNDAMENTAL EQUIVALENCE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3619500"/>
            <a:ext cx="6477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arr[i] == *(arr + i)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arr[i] == *(ptr + i)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arr[i] == ptr[i]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5842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Array Traversal with Pointers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62000" y="6350000"/>
            <a:ext cx="7112000" cy="1778000"/>
          </a:xfrm>
          <a:prstGeom prst="roundRect">
            <a:avLst>
              <a:gd name="adj" fmla="val 5000"/>
            </a:avLst>
          </a:prstGeom>
          <a:solidFill>
            <a:srgbClr val="E8E4DB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6502400"/>
            <a:ext cx="660400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arr[5] = {10, 20, 30, 40, 50};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 p = arr; p &lt; arr+5; p++) {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*p &lt;&lt; 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"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10 20 30 40 50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82000" y="2984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Relationships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82000" y="35560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int* p = arr;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 points to arr[0]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*p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gives the first element (10)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p[i]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valid pointer indexing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*(p+i)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same as p[i]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382000" y="6350000"/>
            <a:ext cx="7112000" cy="1778000"/>
          </a:xfrm>
          <a:prstGeom prst="roundRect">
            <a:avLst>
              <a:gd name="adj" fmla="val 5000"/>
            </a:avLst>
          </a:prstGeom>
          <a:solidFill>
            <a:srgbClr val="EEF0EB"/>
          </a:solidFill>
          <a:ln/>
        </p:spPr>
      </p:sp>
      <p:sp>
        <p:nvSpPr>
          <p:cNvPr id="16" name="Text 14"/>
          <p:cNvSpPr/>
          <p:nvPr/>
        </p:nvSpPr>
        <p:spPr>
          <a:xfrm>
            <a:off x="8699500" y="6540500"/>
            <a:ext cx="647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Important: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Array names are constant pointers — you cannot do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arr++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But pointer variables can be incremented: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p++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valid.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351000" y="8636000"/>
            <a:ext cx="114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62000"/>
            <a:ext cx="14732000" cy="0"/>
          </a:xfrm>
          <a:prstGeom prst="straightConnector1">
            <a:avLst/>
          </a:prstGeom>
          <a:noFill/>
          <a:ln w="12700">
            <a:solidFill>
              <a:srgbClr val="2D3142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OOP | WEEK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Pointer to Objects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752600"/>
            <a:ext cx="1016000" cy="50800"/>
          </a:xfrm>
          <a:prstGeom prst="rect">
            <a:avLst/>
          </a:prstGeom>
          <a:solidFill>
            <a:srgbClr val="C67B3C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0955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Pointers can point to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objects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user-defined classes.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62000" y="2921000"/>
            <a:ext cx="7112000" cy="3810000"/>
          </a:xfrm>
          <a:prstGeom prst="roundRect">
            <a:avLst>
              <a:gd name="adj" fmla="val 5000"/>
            </a:avLst>
          </a:prstGeom>
          <a:solidFill>
            <a:srgbClr val="E8E4DB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921000"/>
            <a:ext cx="50800" cy="3810000"/>
          </a:xfrm>
          <a:prstGeom prst="rect">
            <a:avLst/>
          </a:prstGeom>
          <a:solidFill>
            <a:srgbClr val="C67B3C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086100"/>
            <a:ext cx="66040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 {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display() { ... }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s;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stack object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Student* ptr =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ptr-&gt;display();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arrow operator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(*ptr).display();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equivalent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7048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Allocation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62000" y="7556500"/>
            <a:ext cx="7112000" cy="762000"/>
          </a:xfrm>
          <a:prstGeom prst="roundRect">
            <a:avLst>
              <a:gd name="adj" fmla="val 5000"/>
            </a:avLst>
          </a:prstGeom>
          <a:solidFill>
            <a:srgbClr val="E8E4DB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7683500"/>
            <a:ext cx="660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Student* p =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Student();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heap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p;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free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382000" y="2095500"/>
            <a:ext cx="7112000" cy="6223000"/>
          </a:xfrm>
          <a:prstGeom prst="roundRect">
            <a:avLst>
              <a:gd name="adj" fmla="val 5000"/>
            </a:avLst>
          </a:prstGeom>
          <a:solidFill>
            <a:srgbClr val="EEF0EB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0" y="2413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Points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763000" y="2857500"/>
            <a:ext cx="1016000" cy="0"/>
          </a:xfrm>
          <a:prstGeom prst="straightConnector1">
            <a:avLst/>
          </a:prstGeom>
          <a:noFill/>
          <a:ln w="25400">
            <a:solidFill>
              <a:srgbClr val="C67B3C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8763000" y="3111500"/>
            <a:ext cx="63500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-&gt;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access members via pointer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(*ptr).member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equivalent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allocates on the heap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Always pair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delete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delete[]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arrays</a:t>
            </a:r>
            <a:endParaRPr lang="en-US" sz="2000" dirty="0"/>
          </a:p>
          <a:p>
            <a:pPr>
              <a:lnSpc>
                <a:spcPct val="180000"/>
              </a:lnSpc>
              <a:spcBef>
                <a:spcPts val="1600"/>
              </a:spcBef>
            </a:pPr>
            <a:r>
              <a:rPr lang="en-US" sz="1600" dirty="0">
                <a:solidFill>
                  <a:srgbClr val="7C8C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Memory leak if you forget delete!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351000" y="8636000"/>
            <a:ext cx="114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62000"/>
            <a:ext cx="14732000" cy="0"/>
          </a:xfrm>
          <a:prstGeom prst="straightConnector1">
            <a:avLst/>
          </a:prstGeom>
          <a:noFill/>
          <a:ln w="12700">
            <a:solidFill>
              <a:srgbClr val="2D3142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OOP | WEEK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this Pointer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752600"/>
            <a:ext cx="1016000" cy="50800"/>
          </a:xfrm>
          <a:prstGeom prst="rect">
            <a:avLst/>
          </a:prstGeom>
          <a:solidFill>
            <a:srgbClr val="C67B3C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159000"/>
            <a:ext cx="14732000" cy="889000"/>
          </a:xfrm>
          <a:prstGeom prst="roundRect">
            <a:avLst>
              <a:gd name="adj" fmla="val 3000"/>
            </a:avLst>
          </a:prstGeom>
          <a:solidFill>
            <a:srgbClr val="EEF0EB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260600"/>
            <a:ext cx="1422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pointer is an implicit pointer in all non-static member functions. It points to the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current object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62000" y="3403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Facts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2000" y="39116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Automatically passed as hidden argument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Type: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ClassName* const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(constant pointer)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Resolves member/parameter name conflicts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Enables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 chaining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62000" y="6731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 Conflict Resolution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62000" y="7239000"/>
            <a:ext cx="7112000" cy="1016000"/>
          </a:xfrm>
          <a:prstGeom prst="roundRect">
            <a:avLst>
              <a:gd name="adj" fmla="val 5000"/>
            </a:avLst>
          </a:prstGeom>
          <a:solidFill>
            <a:srgbClr val="E8E4DB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73660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setX(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x) {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this-&gt;x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x; }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this-&gt;x = member, x = parameter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82000" y="34036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 Chaining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382000" y="3911600"/>
            <a:ext cx="7112000" cy="2540000"/>
          </a:xfrm>
          <a:prstGeom prst="roundRect">
            <a:avLst>
              <a:gd name="adj" fmla="val 5000"/>
            </a:avLst>
          </a:prstGeom>
          <a:solidFill>
            <a:srgbClr val="E8E4DB"/>
          </a:solidFill>
          <a:ln/>
        </p:spPr>
      </p:sp>
      <p:sp>
        <p:nvSpPr>
          <p:cNvPr id="15" name="Shape 13"/>
          <p:cNvSpPr/>
          <p:nvPr/>
        </p:nvSpPr>
        <p:spPr>
          <a:xfrm>
            <a:off x="8382000" y="3911600"/>
            <a:ext cx="50800" cy="2540000"/>
          </a:xfrm>
          <a:prstGeom prst="rect">
            <a:avLst/>
          </a:prstGeom>
          <a:solidFill>
            <a:srgbClr val="C67B3C"/>
          </a:solidFill>
          <a:ln/>
        </p:spPr>
      </p:sp>
      <p:sp>
        <p:nvSpPr>
          <p:cNvPr id="16" name="Text 14"/>
          <p:cNvSpPr/>
          <p:nvPr/>
        </p:nvSpPr>
        <p:spPr>
          <a:xfrm>
            <a:off x="8636000" y="4064000"/>
            <a:ext cx="6604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Return *this for chaining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Student&amp; setName(string n) {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 = n;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5000"/>
              </a:lnSpc>
            </a:pPr>
            <a:r>
              <a:rPr lang="en-US" sz="1500" b="1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*this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s.setName(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"Ali"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).setAge(20); 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chain!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382000" y="6731000"/>
            <a:ext cx="7112000" cy="1524000"/>
          </a:xfrm>
          <a:prstGeom prst="roundRect">
            <a:avLst>
              <a:gd name="adj" fmla="val 5000"/>
            </a:avLst>
          </a:prstGeom>
          <a:solidFill>
            <a:srgbClr val="EEF0EB"/>
          </a:solidFill>
          <a:ln/>
        </p:spPr>
      </p:sp>
      <p:sp>
        <p:nvSpPr>
          <p:cNvPr id="18" name="Text 16"/>
          <p:cNvSpPr/>
          <p:nvPr/>
        </p:nvSpPr>
        <p:spPr>
          <a:xfrm>
            <a:off x="8699500" y="6921500"/>
            <a:ext cx="647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Common use: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Fluent interfaces in builder patterns, stream operations, and chained configuration methods.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351000" y="8636000"/>
            <a:ext cx="114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62000"/>
            <a:ext cx="14732000" cy="0"/>
          </a:xfrm>
          <a:prstGeom prst="straightConnector1">
            <a:avLst/>
          </a:prstGeom>
          <a:noFill/>
          <a:ln w="12700">
            <a:solidFill>
              <a:srgbClr val="2D3142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OOP | WEEK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Pointer to Derived Class Objects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752600"/>
            <a:ext cx="1016000" cy="50800"/>
          </a:xfrm>
          <a:prstGeom prst="rect">
            <a:avLst/>
          </a:prstGeom>
          <a:solidFill>
            <a:srgbClr val="C67B3C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159000"/>
            <a:ext cx="14732000" cy="889000"/>
          </a:xfrm>
          <a:prstGeom prst="roundRect">
            <a:avLst>
              <a:gd name="adj" fmla="val 3000"/>
            </a:avLst>
          </a:prstGeom>
          <a:solidFill>
            <a:srgbClr val="2D3142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2860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 class pointer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can point to a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derived class object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foundation of runtime polymorphism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429000"/>
            <a:ext cx="7112000" cy="3175000"/>
          </a:xfrm>
          <a:prstGeom prst="roundRect">
            <a:avLst>
              <a:gd name="adj" fmla="val 5000"/>
            </a:avLst>
          </a:prstGeom>
          <a:solidFill>
            <a:srgbClr val="E8E4DB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3429000"/>
            <a:ext cx="50800" cy="3175000"/>
          </a:xfrm>
          <a:prstGeom prst="rect">
            <a:avLst/>
          </a:prstGeom>
          <a:solidFill>
            <a:srgbClr val="C67B3C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3594100"/>
            <a:ext cx="6604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Base pointer → Derived object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Base* ptr =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Derived();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ptr-&gt;baseMethod();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OK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ptr-&gt;virtualMethod();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Calls Derived's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ptr-&gt;derivedOnly(); // ERROR!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2000" y="6921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Accessing Derived Members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62000" y="7429500"/>
            <a:ext cx="7112000" cy="889000"/>
          </a:xfrm>
          <a:prstGeom prst="roundRect">
            <a:avLst>
              <a:gd name="adj" fmla="val 5000"/>
            </a:avLst>
          </a:prstGeom>
          <a:solidFill>
            <a:srgbClr val="E8E4DB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75565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Derived* d =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C67B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dynamic_cast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&lt;Derived*&gt;(ptr);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(d) d-&gt;derivedOnlyMethod();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382000" y="3429000"/>
            <a:ext cx="7112000" cy="4889500"/>
          </a:xfrm>
          <a:prstGeom prst="roundRect">
            <a:avLst>
              <a:gd name="adj" fmla="val 5000"/>
            </a:avLst>
          </a:prstGeom>
          <a:solidFill>
            <a:srgbClr val="EEF0EB"/>
          </a:solidFill>
          <a:ln/>
        </p:spPr>
      </p:sp>
      <p:sp>
        <p:nvSpPr>
          <p:cNvPr id="15" name="Text 13"/>
          <p:cNvSpPr/>
          <p:nvPr/>
        </p:nvSpPr>
        <p:spPr>
          <a:xfrm>
            <a:off x="8763000" y="3683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Through Base Pointer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763000" y="4254500"/>
            <a:ext cx="6350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 access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 class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members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Virtual calls use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derived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version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Cannot access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derived-only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members</a:t>
            </a:r>
            <a:endParaRPr lang="en-US" sz="2000" dirty="0"/>
          </a:p>
          <a:p>
            <a:pPr>
              <a:lnSpc>
                <a:spcPct val="180000"/>
              </a:lnSpc>
              <a:spcBef>
                <a:spcPts val="1600"/>
              </a:spcBef>
            </a:pPr>
            <a:r>
              <a:rPr lang="en-US" sz="1600" dirty="0">
                <a:solidFill>
                  <a:srgbClr val="7C8C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dynamic_cast for safe downcasting. Returns nullptr if cast fails.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351000" y="8636000"/>
            <a:ext cx="114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26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62000"/>
            <a:ext cx="14732000" cy="0"/>
          </a:xfrm>
          <a:prstGeom prst="straightConnector1">
            <a:avLst/>
          </a:prstGeom>
          <a:noFill/>
          <a:ln w="12700">
            <a:solidFill>
              <a:srgbClr val="2D3142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OOP | WEEK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752600"/>
            <a:ext cx="1016000" cy="50800"/>
          </a:xfrm>
          <a:prstGeom prst="rect">
            <a:avLst/>
          </a:prstGeom>
          <a:solidFill>
            <a:srgbClr val="C67B3C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159000"/>
            <a:ext cx="7239000" cy="6096000"/>
          </a:xfrm>
          <a:prstGeom prst="roundRect">
            <a:avLst>
              <a:gd name="adj" fmla="val 5000"/>
            </a:avLst>
          </a:prstGeom>
          <a:solidFill>
            <a:srgbClr val="EEF0EB"/>
          </a:solidFill>
          <a:ln/>
        </p:spPr>
      </p:sp>
      <p:sp>
        <p:nvSpPr>
          <p:cNvPr id="7" name="Shape 5"/>
          <p:cNvSpPr/>
          <p:nvPr/>
        </p:nvSpPr>
        <p:spPr>
          <a:xfrm>
            <a:off x="1079500" y="2476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5579" y="0"/>
                  <a:pt x="192871" y="4098"/>
                  <a:pt x="196830" y="10765"/>
                </a:cubicBezTo>
                <a:lnTo>
                  <a:pt x="263505" y="121890"/>
                </a:lnTo>
                <a:cubicBezTo>
                  <a:pt x="267603" y="128766"/>
                  <a:pt x="267742" y="137309"/>
                  <a:pt x="263783" y="144254"/>
                </a:cubicBezTo>
                <a:cubicBezTo>
                  <a:pt x="259824" y="151199"/>
                  <a:pt x="252462" y="155575"/>
                  <a:pt x="244475" y="155575"/>
                </a:cubicBezTo>
                <a:lnTo>
                  <a:pt x="111125" y="155575"/>
                </a:lnTo>
                <a:cubicBezTo>
                  <a:pt x="103138" y="155575"/>
                  <a:pt x="95706" y="151269"/>
                  <a:pt x="91817" y="144324"/>
                </a:cubicBezTo>
                <a:cubicBezTo>
                  <a:pt x="87928" y="137378"/>
                  <a:pt x="87997" y="128836"/>
                  <a:pt x="92095" y="121960"/>
                </a:cubicBezTo>
                <a:lnTo>
                  <a:pt x="158770" y="10835"/>
                </a:lnTo>
                <a:cubicBezTo>
                  <a:pt x="162729" y="4098"/>
                  <a:pt x="170021" y="0"/>
                  <a:pt x="177800" y="0"/>
                </a:cubicBezTo>
                <a:close/>
                <a:moveTo>
                  <a:pt x="88900" y="188913"/>
                </a:moveTo>
                <a:cubicBezTo>
                  <a:pt x="131832" y="188913"/>
                  <a:pt x="166688" y="223768"/>
                  <a:pt x="166688" y="266700"/>
                </a:cubicBezTo>
                <a:cubicBezTo>
                  <a:pt x="166688" y="309632"/>
                  <a:pt x="131832" y="344488"/>
                  <a:pt x="88900" y="344488"/>
                </a:cubicBezTo>
                <a:cubicBezTo>
                  <a:pt x="45968" y="344488"/>
                  <a:pt x="11113" y="309632"/>
                  <a:pt x="11112" y="266700"/>
                </a:cubicBezTo>
                <a:cubicBezTo>
                  <a:pt x="11112" y="223768"/>
                  <a:pt x="45968" y="188913"/>
                  <a:pt x="88900" y="188913"/>
                </a:cubicBezTo>
                <a:close/>
                <a:moveTo>
                  <a:pt x="227806" y="200025"/>
                </a:moveTo>
                <a:lnTo>
                  <a:pt x="305594" y="200025"/>
                </a:lnTo>
                <a:cubicBezTo>
                  <a:pt x="320943" y="200025"/>
                  <a:pt x="333375" y="212457"/>
                  <a:pt x="333375" y="227806"/>
                </a:cubicBezTo>
                <a:lnTo>
                  <a:pt x="333375" y="305594"/>
                </a:lnTo>
                <a:cubicBezTo>
                  <a:pt x="333375" y="320943"/>
                  <a:pt x="320943" y="333375"/>
                  <a:pt x="305594" y="333375"/>
                </a:cubicBezTo>
                <a:lnTo>
                  <a:pt x="227806" y="333375"/>
                </a:lnTo>
                <a:cubicBezTo>
                  <a:pt x="212457" y="333375"/>
                  <a:pt x="200025" y="320943"/>
                  <a:pt x="200025" y="305594"/>
                </a:cubicBezTo>
                <a:lnTo>
                  <a:pt x="200025" y="227806"/>
                </a:lnTo>
                <a:cubicBezTo>
                  <a:pt x="200025" y="212457"/>
                  <a:pt x="212457" y="200025"/>
                  <a:pt x="227806" y="200025"/>
                </a:cubicBezTo>
                <a:close/>
              </a:path>
            </a:pathLst>
          </a:custGeom>
          <a:solidFill>
            <a:srgbClr val="C67B3C"/>
          </a:solidFill>
          <a:ln/>
        </p:spPr>
      </p:sp>
      <p:sp>
        <p:nvSpPr>
          <p:cNvPr id="8" name="Text 6"/>
          <p:cNvSpPr/>
          <p:nvPr/>
        </p:nvSpPr>
        <p:spPr>
          <a:xfrm>
            <a:off x="1587500" y="2476500"/>
            <a:ext cx="596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Polymorphism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79500" y="2984500"/>
            <a:ext cx="1016000" cy="0"/>
          </a:xfrm>
          <a:prstGeom prst="straightConnector1">
            <a:avLst/>
          </a:prstGeom>
          <a:noFill/>
          <a:ln w="25400">
            <a:solidFill>
              <a:srgbClr val="C67B3C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079500" y="3175000"/>
            <a:ext cx="6604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"Many forms" — compile-time &amp; runtime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Virtual functions enable dynamic dispatch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Pure virtual (= 0) creates abstract classes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Abstract classes define interfaces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Advantages: reusability, flexibility, extensibility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Best Practices: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override and virtual keywords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67B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Virtual destructors in base classes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382000" y="2159000"/>
            <a:ext cx="7112000" cy="6096000"/>
          </a:xfrm>
          <a:prstGeom prst="roundRect">
            <a:avLst>
              <a:gd name="adj" fmla="val 5000"/>
            </a:avLst>
          </a:prstGeom>
          <a:solidFill>
            <a:srgbClr val="E8E4DB"/>
          </a:solidFill>
          <a:ln/>
        </p:spPr>
      </p:sp>
      <p:sp>
        <p:nvSpPr>
          <p:cNvPr id="12" name="Shape 10"/>
          <p:cNvSpPr/>
          <p:nvPr/>
        </p:nvSpPr>
        <p:spPr>
          <a:xfrm>
            <a:off x="8699500" y="2476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19933" y="44450"/>
                  <a:pt x="0" y="64383"/>
                  <a:pt x="0" y="88900"/>
                </a:cubicBezTo>
                <a:lnTo>
                  <a:pt x="0" y="94040"/>
                </a:lnTo>
                <a:cubicBezTo>
                  <a:pt x="0" y="98762"/>
                  <a:pt x="3056" y="102791"/>
                  <a:pt x="7015" y="105360"/>
                </a:cubicBezTo>
                <a:cubicBezTo>
                  <a:pt x="16183" y="111333"/>
                  <a:pt x="22225" y="121612"/>
                  <a:pt x="22225" y="133350"/>
                </a:cubicBezTo>
                <a:cubicBezTo>
                  <a:pt x="22225" y="145088"/>
                  <a:pt x="16183" y="155367"/>
                  <a:pt x="7015" y="161340"/>
                </a:cubicBezTo>
                <a:cubicBezTo>
                  <a:pt x="3056" y="163909"/>
                  <a:pt x="0" y="167938"/>
                  <a:pt x="0" y="172660"/>
                </a:cubicBezTo>
                <a:lnTo>
                  <a:pt x="0" y="211138"/>
                </a:lnTo>
                <a:lnTo>
                  <a:pt x="355600" y="211138"/>
                </a:lnTo>
                <a:lnTo>
                  <a:pt x="355600" y="172660"/>
                </a:lnTo>
                <a:cubicBezTo>
                  <a:pt x="355600" y="167938"/>
                  <a:pt x="352544" y="163909"/>
                  <a:pt x="348585" y="161340"/>
                </a:cubicBezTo>
                <a:cubicBezTo>
                  <a:pt x="339417" y="155367"/>
                  <a:pt x="333375" y="145088"/>
                  <a:pt x="333375" y="133350"/>
                </a:cubicBezTo>
                <a:cubicBezTo>
                  <a:pt x="333375" y="121612"/>
                  <a:pt x="339417" y="111333"/>
                  <a:pt x="348585" y="105360"/>
                </a:cubicBezTo>
                <a:cubicBezTo>
                  <a:pt x="352544" y="102791"/>
                  <a:pt x="355600" y="98762"/>
                  <a:pt x="355600" y="94040"/>
                </a:cubicBezTo>
                <a:lnTo>
                  <a:pt x="355600" y="88900"/>
                </a:lnTo>
                <a:cubicBezTo>
                  <a:pt x="355600" y="64383"/>
                  <a:pt x="335667" y="44450"/>
                  <a:pt x="311150" y="44450"/>
                </a:cubicBezTo>
                <a:lnTo>
                  <a:pt x="44450" y="44450"/>
                </a:lnTo>
                <a:close/>
                <a:moveTo>
                  <a:pt x="355600" y="288925"/>
                </a:moveTo>
                <a:lnTo>
                  <a:pt x="355600" y="244475"/>
                </a:lnTo>
                <a:lnTo>
                  <a:pt x="0" y="244475"/>
                </a:lnTo>
                <a:lnTo>
                  <a:pt x="0" y="288925"/>
                </a:lnTo>
                <a:cubicBezTo>
                  <a:pt x="0" y="301218"/>
                  <a:pt x="9932" y="311150"/>
                  <a:pt x="22225" y="311150"/>
                </a:cubicBezTo>
                <a:lnTo>
                  <a:pt x="66675" y="311150"/>
                </a:lnTo>
                <a:lnTo>
                  <a:pt x="66675" y="294481"/>
                </a:lnTo>
                <a:cubicBezTo>
                  <a:pt x="66675" y="285244"/>
                  <a:pt x="74106" y="277813"/>
                  <a:pt x="83344" y="277813"/>
                </a:cubicBezTo>
                <a:cubicBezTo>
                  <a:pt x="92581" y="277813"/>
                  <a:pt x="100013" y="285244"/>
                  <a:pt x="100013" y="294481"/>
                </a:cubicBezTo>
                <a:lnTo>
                  <a:pt x="100013" y="311150"/>
                </a:lnTo>
                <a:lnTo>
                  <a:pt x="161131" y="311150"/>
                </a:lnTo>
                <a:lnTo>
                  <a:pt x="161131" y="294481"/>
                </a:lnTo>
                <a:cubicBezTo>
                  <a:pt x="161131" y="285244"/>
                  <a:pt x="168563" y="277813"/>
                  <a:pt x="177800" y="277813"/>
                </a:cubicBezTo>
                <a:cubicBezTo>
                  <a:pt x="187037" y="277813"/>
                  <a:pt x="194469" y="285244"/>
                  <a:pt x="194469" y="294481"/>
                </a:cubicBezTo>
                <a:lnTo>
                  <a:pt x="194469" y="311150"/>
                </a:lnTo>
                <a:lnTo>
                  <a:pt x="255587" y="311150"/>
                </a:lnTo>
                <a:lnTo>
                  <a:pt x="255587" y="294481"/>
                </a:lnTo>
                <a:cubicBezTo>
                  <a:pt x="255587" y="285244"/>
                  <a:pt x="263019" y="277813"/>
                  <a:pt x="272256" y="277813"/>
                </a:cubicBezTo>
                <a:cubicBezTo>
                  <a:pt x="281494" y="277813"/>
                  <a:pt x="288925" y="285244"/>
                  <a:pt x="288925" y="294481"/>
                </a:cubicBezTo>
                <a:lnTo>
                  <a:pt x="288925" y="311150"/>
                </a:lnTo>
                <a:lnTo>
                  <a:pt x="333375" y="311150"/>
                </a:lnTo>
                <a:cubicBezTo>
                  <a:pt x="345668" y="311150"/>
                  <a:pt x="355600" y="301218"/>
                  <a:pt x="355600" y="288925"/>
                </a:cubicBezTo>
                <a:close/>
                <a:moveTo>
                  <a:pt x="111125" y="111125"/>
                </a:moveTo>
                <a:lnTo>
                  <a:pt x="111125" y="155575"/>
                </a:lnTo>
                <a:cubicBezTo>
                  <a:pt x="111125" y="167868"/>
                  <a:pt x="101193" y="177800"/>
                  <a:pt x="88900" y="177800"/>
                </a:cubicBezTo>
                <a:cubicBezTo>
                  <a:pt x="76607" y="177800"/>
                  <a:pt x="66675" y="167868"/>
                  <a:pt x="66675" y="155575"/>
                </a:cubicBezTo>
                <a:lnTo>
                  <a:pt x="66675" y="111125"/>
                </a:lnTo>
                <a:cubicBezTo>
                  <a:pt x="66675" y="98832"/>
                  <a:pt x="76607" y="88900"/>
                  <a:pt x="88900" y="88900"/>
                </a:cubicBezTo>
                <a:cubicBezTo>
                  <a:pt x="101193" y="88900"/>
                  <a:pt x="111125" y="98832"/>
                  <a:pt x="111125" y="111125"/>
                </a:cubicBezTo>
                <a:close/>
                <a:moveTo>
                  <a:pt x="200025" y="111125"/>
                </a:moveTo>
                <a:lnTo>
                  <a:pt x="200025" y="155575"/>
                </a:lnTo>
                <a:cubicBezTo>
                  <a:pt x="200025" y="167868"/>
                  <a:pt x="190093" y="177800"/>
                  <a:pt x="177800" y="177800"/>
                </a:cubicBezTo>
                <a:cubicBezTo>
                  <a:pt x="165507" y="177800"/>
                  <a:pt x="155575" y="167868"/>
                  <a:pt x="155575" y="155575"/>
                </a:cubicBezTo>
                <a:lnTo>
                  <a:pt x="155575" y="111125"/>
                </a:lnTo>
                <a:cubicBezTo>
                  <a:pt x="155575" y="98832"/>
                  <a:pt x="165507" y="88900"/>
                  <a:pt x="177800" y="88900"/>
                </a:cubicBezTo>
                <a:cubicBezTo>
                  <a:pt x="190093" y="88900"/>
                  <a:pt x="200025" y="98832"/>
                  <a:pt x="200025" y="111125"/>
                </a:cubicBezTo>
                <a:close/>
                <a:moveTo>
                  <a:pt x="288925" y="111125"/>
                </a:moveTo>
                <a:lnTo>
                  <a:pt x="288925" y="155575"/>
                </a:lnTo>
                <a:cubicBezTo>
                  <a:pt x="288925" y="167868"/>
                  <a:pt x="278993" y="177800"/>
                  <a:pt x="266700" y="177800"/>
                </a:cubicBezTo>
                <a:cubicBezTo>
                  <a:pt x="254407" y="177800"/>
                  <a:pt x="244475" y="167868"/>
                  <a:pt x="244475" y="155575"/>
                </a:cubicBezTo>
                <a:lnTo>
                  <a:pt x="244475" y="111125"/>
                </a:lnTo>
                <a:cubicBezTo>
                  <a:pt x="244475" y="98832"/>
                  <a:pt x="254407" y="88900"/>
                  <a:pt x="266700" y="88900"/>
                </a:cubicBezTo>
                <a:cubicBezTo>
                  <a:pt x="278993" y="88900"/>
                  <a:pt x="288925" y="98832"/>
                  <a:pt x="288925" y="111125"/>
                </a:cubicBezTo>
                <a:close/>
              </a:path>
            </a:pathLst>
          </a:custGeom>
          <a:solidFill>
            <a:srgbClr val="2D3142"/>
          </a:solidFill>
          <a:ln/>
        </p:spPr>
      </p:sp>
      <p:sp>
        <p:nvSpPr>
          <p:cNvPr id="13" name="Text 11"/>
          <p:cNvSpPr/>
          <p:nvPr/>
        </p:nvSpPr>
        <p:spPr>
          <a:xfrm>
            <a:off x="9207500" y="2476500"/>
            <a:ext cx="596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Pointers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699500" y="2984500"/>
            <a:ext cx="1016000" cy="0"/>
          </a:xfrm>
          <a:prstGeom prst="straightConnector1">
            <a:avLst/>
          </a:prstGeom>
          <a:noFill/>
          <a:ln w="25400">
            <a:solidFill>
              <a:srgbClr val="2D3142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8699500" y="3175000"/>
            <a:ext cx="6477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Variables that store memory addresses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* = declare/dereference, &amp; = address-of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Pointer arithmetic scaled by type size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Arrays and pointers: arr[i] == *(arr+i)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-&gt; for object member access via pointer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this pointer refers to current object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Connection: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Base pointers to derived objects = polymorphism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351000" y="8636000"/>
            <a:ext cx="114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27 / 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D3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-1270000"/>
            <a:ext cx="5080000" cy="5080000"/>
          </a:xfrm>
          <a:prstGeom prst="ellipse">
            <a:avLst/>
          </a:prstGeom>
          <a:solidFill>
            <a:srgbClr val="C67B3C">
              <a:alpha val="8235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335000" y="5715000"/>
            <a:ext cx="4445000" cy="4445000"/>
          </a:xfrm>
          <a:prstGeom prst="ellipse">
            <a:avLst/>
          </a:prstGeom>
          <a:solidFill>
            <a:srgbClr val="7C8C6E">
              <a:alpha val="7059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2794000"/>
            <a:ext cx="2540000" cy="0"/>
          </a:xfrm>
          <a:prstGeom prst="straightConnector1">
            <a:avLst/>
          </a:prstGeom>
          <a:noFill/>
          <a:ln w="38100">
            <a:solidFill>
              <a:srgbClr val="C67B3C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3048000" y="31750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 Coding!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413000" y="4445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only way to learn a new programming language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by writing programs in it." — Dennis Ritchie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6350000"/>
            <a:ext cx="14732000" cy="0"/>
          </a:xfrm>
          <a:prstGeom prst="straightConnector1">
            <a:avLst/>
          </a:prstGeom>
          <a:noFill/>
          <a:ln w="12700">
            <a:solidFill>
              <a:srgbClr val="FFFFFF">
                <a:alpha val="8235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4318000" y="6731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200" kern="0" dirty="0">
                <a:solidFill>
                  <a:srgbClr val="7C8C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 ORIENTED PROGRAMMING | WEEK 8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18000" y="7239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3764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Polymorphism &amp; Pointers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 - Week 8</dc:title>
  <dc:subject>Object Oriented Programming - Week 8</dc:subject>
  <dc:creator>Kimi</dc:creator>
  <cp:lastModifiedBy>Kimi</cp:lastModifiedBy>
  <cp:revision>1</cp:revision>
  <dcterms:created xsi:type="dcterms:W3CDTF">2026-05-26T11:38:49Z</dcterms:created>
  <dcterms:modified xsi:type="dcterms:W3CDTF">2026-05-26T11:38:49Z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{"Label":"Object Oriented Programming - Week 8","ContentProducer":"001191110108MACG2KBH8F10000","ProduceID":"19e64075-5e72-84c3-8000-0000ba0208c8","ReservedCode1":"","ContentPropagator":"001191110108MACG2KBH8F20000","PropagateID":"19e64075-5e72-84c3-8000-0000ba0208c8","ReservedCode2":""}</vt:lpwstr>
  </property>
</Properties>
</file>