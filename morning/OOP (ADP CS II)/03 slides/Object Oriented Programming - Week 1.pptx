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Liter" charset="-122" pitchFamily="34"/>
      <p:regular r:id="rId35"/>
    </p:embeddedFont>
    <p:embeddedFont>
      <p:font typeface="Quattrocento Sans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84000" y="508000"/>
            <a:ext cx="4064000" cy="4064000"/>
          </a:xfrm>
          <a:prstGeom prst="ellipse">
            <a:avLst/>
          </a:prstGeom>
          <a:solidFill>
            <a:srgbClr val="D4943A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335000" y="5715000"/>
            <a:ext cx="2921000" cy="2921000"/>
          </a:xfrm>
          <a:prstGeom prst="ellipse">
            <a:avLst/>
          </a:prstGeom>
          <a:solidFill>
            <a:srgbClr val="D4943A">
              <a:alpha val="2353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8000" y="6604000"/>
            <a:ext cx="1778000" cy="1778000"/>
          </a:xfrm>
          <a:prstGeom prst="roundRect">
            <a:avLst>
              <a:gd name="adj" fmla="val 12000"/>
            </a:avLst>
          </a:prstGeom>
          <a:solidFill>
            <a:srgbClr val="D4943A">
              <a:alpha val="3137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318000" y="266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spc="300" kern="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CS — OBJECT ORIENTED PROGRAMMING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13000" y="3302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Oriented Programming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0" y="4318000"/>
            <a:ext cx="254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3683000" y="4699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B0BEC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1 — Introduction to OOP, Structures &amp; Enumerations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53000" y="81280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Course Material — Academic Year 2025-26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70000"/>
            <a:ext cx="444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2032000"/>
            <a:ext cx="444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3048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35560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week covers the foundational concepts of OOP, from basic principles to structures and enumerations in C++.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6000" y="177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239000" y="177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OOP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39000" y="2222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OOP paradigm, data types, structures declaration &amp; usage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0" y="3175000"/>
            <a:ext cx="9398000" cy="12700"/>
          </a:xfrm>
          <a:prstGeom prst="rect">
            <a:avLst/>
          </a:prstGeom>
          <a:solidFill>
            <a:srgbClr val="7A8B9E">
              <a:alpha val="25098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3683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239000" y="368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Structures in C++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9000" y="4127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Declaring, defining, accessing &amp; initializing structures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0" y="5080000"/>
            <a:ext cx="9398000" cy="12700"/>
          </a:xfrm>
          <a:prstGeom prst="rect">
            <a:avLst/>
          </a:prstGeom>
          <a:solidFill>
            <a:srgbClr val="7A8B9E">
              <a:alpha val="25098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0" y="558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239000" y="558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Nested Structures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39000" y="6032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data modeling with nested structure types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0" y="6985000"/>
            <a:ext cx="9398000" cy="12700"/>
          </a:xfrm>
          <a:prstGeom prst="rect">
            <a:avLst/>
          </a:prstGeom>
          <a:solidFill>
            <a:srgbClr val="7A8B9E">
              <a:alpha val="25098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0" y="7493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239000" y="749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Enumerations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39000" y="7937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Named constant sets for readable, type-safe code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5000" y="1016000"/>
            <a:ext cx="3556000" cy="3556000"/>
          </a:xfrm>
          <a:prstGeom prst="ellipse">
            <a:avLst/>
          </a:prstGeom>
          <a:solidFill>
            <a:srgbClr val="D4943A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6096000"/>
            <a:ext cx="1524000" cy="1524000"/>
          </a:xfrm>
          <a:prstGeom prst="roundRect">
            <a:avLst>
              <a:gd name="adj" fmla="val 12000"/>
            </a:avLst>
          </a:prstGeom>
          <a:solidFill>
            <a:srgbClr val="D4943A">
              <a:alpha val="3137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spc="3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016000" y="3683000"/>
            <a:ext cx="101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064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OOP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5016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paradigm shift from procedural to object-oriented programming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81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TO 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Object Oriented Programming?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1016000"/>
          </a:xfrm>
          <a:prstGeom prst="roundRect">
            <a:avLst>
              <a:gd name="adj" fmla="val 8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24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OOP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programming paradigm that organizes software design around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(objects)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rather than functions and logic.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794000"/>
            <a:ext cx="685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2D3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Characteristics: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Objects combine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behavior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together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Programs are built from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interacting objects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Emphasis on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reusability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modularity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Models real-world entities as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software objects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128000" y="1460500"/>
            <a:ext cx="7366000" cy="48895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9" name="Text 7"/>
          <p:cNvSpPr/>
          <p:nvPr/>
        </p:nvSpPr>
        <p:spPr>
          <a:xfrm>
            <a:off x="8509000" y="1651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Procedural vs Object Oriented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9000" y="2222500"/>
            <a:ext cx="2921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A8B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6000" y="22860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2692400"/>
            <a:ext cx="266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and functions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</a:t>
            </a:r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Top-down approach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938000" y="2222500"/>
            <a:ext cx="2921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65000" y="22860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Oriented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65000" y="2692400"/>
            <a:ext cx="266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+ functions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</a:t>
            </a:r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bundled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Bottom-up approach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0" y="29210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arrow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8509000" y="4191000"/>
            <a:ext cx="660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STUDENT OBJECT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09000" y="4635500"/>
            <a:ext cx="6604000" cy="1397000"/>
          </a:xfrm>
          <a:prstGeom prst="roundRect">
            <a:avLst>
              <a:gd name="adj" fmla="val 8000"/>
            </a:avLst>
          </a:prstGeom>
          <a:solidFill>
            <a:srgbClr val="2D3A4A"/>
          </a:solidFill>
          <a:ln/>
        </p:spPr>
      </p:sp>
      <p:sp>
        <p:nvSpPr>
          <p:cNvPr id="19" name="Text 17"/>
          <p:cNvSpPr/>
          <p:nvPr/>
        </p:nvSpPr>
        <p:spPr>
          <a:xfrm>
            <a:off x="8763000" y="47625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name, rollNo, marks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calculateGrade(), display()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bundled in one object!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81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TO 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Principles of 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Four Pillars of Object Oriented Programming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968500"/>
            <a:ext cx="3429000" cy="3403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3150" y="2222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14300" y="85725"/>
                </a:moveTo>
                <a:lnTo>
                  <a:pt x="114300" y="142875"/>
                </a:lnTo>
                <a:lnTo>
                  <a:pt x="228600" y="142875"/>
                </a:lnTo>
                <a:lnTo>
                  <a:pt x="228600" y="85725"/>
                </a:lnTo>
                <a:cubicBezTo>
                  <a:pt x="228600" y="54203"/>
                  <a:pt x="202972" y="28575"/>
                  <a:pt x="171450" y="28575"/>
                </a:cubicBezTo>
                <a:cubicBezTo>
                  <a:pt x="139928" y="28575"/>
                  <a:pt x="114300" y="54203"/>
                  <a:pt x="114300" y="85725"/>
                </a:cubicBezTo>
                <a:close/>
                <a:moveTo>
                  <a:pt x="57150" y="142875"/>
                </a:moveTo>
                <a:lnTo>
                  <a:pt x="57150" y="85725"/>
                </a:lnTo>
                <a:cubicBezTo>
                  <a:pt x="57150" y="22592"/>
                  <a:pt x="108317" y="-28575"/>
                  <a:pt x="171450" y="-28575"/>
                </a:cubicBezTo>
                <a:cubicBezTo>
                  <a:pt x="234583" y="-28575"/>
                  <a:pt x="285750" y="22592"/>
                  <a:pt x="285750" y="85725"/>
                </a:cubicBezTo>
                <a:lnTo>
                  <a:pt x="285750" y="142875"/>
                </a:lnTo>
                <a:cubicBezTo>
                  <a:pt x="317272" y="142875"/>
                  <a:pt x="342900" y="168503"/>
                  <a:pt x="342900" y="2000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25628" y="142875"/>
                  <a:pt x="57150" y="1428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8194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276600"/>
            <a:ext cx="292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Bundling data and methods together into a single unit called an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Hides internal details from the outside world.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8500" y="1968500"/>
            <a:ext cx="3429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3925" y="2222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6612" y="-22235"/>
                </a:moveTo>
                <a:cubicBezTo>
                  <a:pt x="28218" y="-30629"/>
                  <a:pt x="14645" y="-30629"/>
                  <a:pt x="6340" y="-22235"/>
                </a:cubicBezTo>
                <a:cubicBezTo>
                  <a:pt x="-1965" y="-13841"/>
                  <a:pt x="-2054" y="-268"/>
                  <a:pt x="6251" y="8126"/>
                </a:cubicBezTo>
                <a:lnTo>
                  <a:pt x="477738" y="479614"/>
                </a:lnTo>
                <a:cubicBezTo>
                  <a:pt x="486132" y="488007"/>
                  <a:pt x="499705" y="488007"/>
                  <a:pt x="508010" y="479614"/>
                </a:cubicBezTo>
                <a:cubicBezTo>
                  <a:pt x="516315" y="471220"/>
                  <a:pt x="516404" y="457646"/>
                  <a:pt x="508010" y="449342"/>
                </a:cubicBezTo>
                <a:lnTo>
                  <a:pt x="421928" y="363260"/>
                </a:lnTo>
                <a:cubicBezTo>
                  <a:pt x="424339" y="361117"/>
                  <a:pt x="426750" y="358973"/>
                  <a:pt x="429071" y="356830"/>
                </a:cubicBezTo>
                <a:cubicBezTo>
                  <a:pt x="470862" y="317986"/>
                  <a:pt x="498812" y="271641"/>
                  <a:pt x="512118" y="239762"/>
                </a:cubicBezTo>
                <a:cubicBezTo>
                  <a:pt x="515064" y="232708"/>
                  <a:pt x="515064" y="224850"/>
                  <a:pt x="512118" y="217795"/>
                </a:cubicBezTo>
                <a:cubicBezTo>
                  <a:pt x="498812" y="185916"/>
                  <a:pt x="470862" y="139482"/>
                  <a:pt x="429071" y="100727"/>
                </a:cubicBezTo>
                <a:cubicBezTo>
                  <a:pt x="387013" y="61704"/>
                  <a:pt x="329238" y="28754"/>
                  <a:pt x="257086" y="28754"/>
                </a:cubicBezTo>
                <a:cubicBezTo>
                  <a:pt x="206365" y="28754"/>
                  <a:pt x="162788" y="45006"/>
                  <a:pt x="126712" y="68223"/>
                </a:cubicBezTo>
                <a:lnTo>
                  <a:pt x="36612" y="-22235"/>
                </a:lnTo>
                <a:close/>
                <a:moveTo>
                  <a:pt x="182612" y="123855"/>
                </a:moveTo>
                <a:cubicBezTo>
                  <a:pt x="203597" y="108853"/>
                  <a:pt x="229404" y="100012"/>
                  <a:pt x="257175" y="100012"/>
                </a:cubicBezTo>
                <a:cubicBezTo>
                  <a:pt x="328166" y="100012"/>
                  <a:pt x="385763" y="157609"/>
                  <a:pt x="385763" y="228600"/>
                </a:cubicBezTo>
                <a:cubicBezTo>
                  <a:pt x="385763" y="256371"/>
                  <a:pt x="376922" y="282089"/>
                  <a:pt x="361920" y="303163"/>
                </a:cubicBezTo>
                <a:lnTo>
                  <a:pt x="330934" y="272177"/>
                </a:lnTo>
                <a:cubicBezTo>
                  <a:pt x="342275" y="253067"/>
                  <a:pt x="346115" y="229582"/>
                  <a:pt x="339953" y="206365"/>
                </a:cubicBezTo>
                <a:cubicBezTo>
                  <a:pt x="327720" y="160645"/>
                  <a:pt x="280660" y="133499"/>
                  <a:pt x="234940" y="145733"/>
                </a:cubicBezTo>
                <a:cubicBezTo>
                  <a:pt x="227261" y="147786"/>
                  <a:pt x="220028" y="150822"/>
                  <a:pt x="213509" y="154662"/>
                </a:cubicBezTo>
                <a:lnTo>
                  <a:pt x="182523" y="123676"/>
                </a:lnTo>
                <a:close/>
                <a:moveTo>
                  <a:pt x="290483" y="352812"/>
                </a:moveTo>
                <a:cubicBezTo>
                  <a:pt x="279856" y="355669"/>
                  <a:pt x="268694" y="357188"/>
                  <a:pt x="257175" y="357188"/>
                </a:cubicBezTo>
                <a:cubicBezTo>
                  <a:pt x="186184" y="357188"/>
                  <a:pt x="128588" y="299591"/>
                  <a:pt x="128588" y="228600"/>
                </a:cubicBezTo>
                <a:cubicBezTo>
                  <a:pt x="128588" y="217081"/>
                  <a:pt x="130106" y="205919"/>
                  <a:pt x="132963" y="195292"/>
                </a:cubicBezTo>
                <a:lnTo>
                  <a:pt x="61972" y="124301"/>
                </a:lnTo>
                <a:cubicBezTo>
                  <a:pt x="32861" y="157163"/>
                  <a:pt x="12859" y="191988"/>
                  <a:pt x="2232" y="217616"/>
                </a:cubicBezTo>
                <a:cubicBezTo>
                  <a:pt x="-714" y="224671"/>
                  <a:pt x="-714" y="232529"/>
                  <a:pt x="2232" y="239584"/>
                </a:cubicBezTo>
                <a:cubicBezTo>
                  <a:pt x="15538" y="271463"/>
                  <a:pt x="43488" y="317897"/>
                  <a:pt x="85279" y="356652"/>
                </a:cubicBezTo>
                <a:cubicBezTo>
                  <a:pt x="127337" y="395674"/>
                  <a:pt x="185112" y="428625"/>
                  <a:pt x="257264" y="428625"/>
                </a:cubicBezTo>
                <a:cubicBezTo>
                  <a:pt x="290572" y="428625"/>
                  <a:pt x="320844" y="421571"/>
                  <a:pt x="347901" y="410230"/>
                </a:cubicBezTo>
                <a:lnTo>
                  <a:pt x="290572" y="352901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4762500" y="28194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2500" y="3276600"/>
            <a:ext cx="292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Hiding complex implementation details and showing only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features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Simplifies the interface.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5000" y="1968500"/>
            <a:ext cx="3429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9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57150"/>
                </a:moveTo>
                <a:cubicBezTo>
                  <a:pt x="171450" y="41344"/>
                  <a:pt x="184219" y="28575"/>
                  <a:pt x="200025" y="28575"/>
                </a:cubicBezTo>
                <a:lnTo>
                  <a:pt x="257175" y="28575"/>
                </a:lnTo>
                <a:cubicBezTo>
                  <a:pt x="272981" y="28575"/>
                  <a:pt x="285750" y="41344"/>
                  <a:pt x="285750" y="57150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250031" y="142875"/>
                </a:lnTo>
                <a:lnTo>
                  <a:pt x="250031" y="200025"/>
                </a:lnTo>
                <a:lnTo>
                  <a:pt x="357188" y="200025"/>
                </a:lnTo>
                <a:cubicBezTo>
                  <a:pt x="392728" y="200025"/>
                  <a:pt x="421481" y="228779"/>
                  <a:pt x="421481" y="264319"/>
                </a:cubicBezTo>
                <a:lnTo>
                  <a:pt x="421481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371475" y="428625"/>
                </a:lnTo>
                <a:cubicBezTo>
                  <a:pt x="355669" y="428625"/>
                  <a:pt x="342900" y="415856"/>
                  <a:pt x="342900" y="400050"/>
                </a:cubicBezTo>
                <a:lnTo>
                  <a:pt x="342900" y="342900"/>
                </a:lnTo>
                <a:cubicBezTo>
                  <a:pt x="342900" y="327094"/>
                  <a:pt x="355669" y="314325"/>
                  <a:pt x="371475" y="314325"/>
                </a:cubicBezTo>
                <a:lnTo>
                  <a:pt x="378619" y="314325"/>
                </a:lnTo>
                <a:lnTo>
                  <a:pt x="378619" y="264319"/>
                </a:lnTo>
                <a:cubicBezTo>
                  <a:pt x="378619" y="252442"/>
                  <a:pt x="369064" y="242888"/>
                  <a:pt x="357188" y="242888"/>
                </a:cubicBezTo>
                <a:lnTo>
                  <a:pt x="250031" y="242888"/>
                </a:lnTo>
                <a:lnTo>
                  <a:pt x="250031" y="314325"/>
                </a:lnTo>
                <a:lnTo>
                  <a:pt x="257175" y="314325"/>
                </a:lnTo>
                <a:cubicBezTo>
                  <a:pt x="272981" y="314325"/>
                  <a:pt x="285750" y="327094"/>
                  <a:pt x="285750" y="342900"/>
                </a:cubicBezTo>
                <a:lnTo>
                  <a:pt x="285750" y="400050"/>
                </a:lnTo>
                <a:cubicBezTo>
                  <a:pt x="285750" y="415856"/>
                  <a:pt x="272981" y="428625"/>
                  <a:pt x="257175" y="428625"/>
                </a:cubicBezTo>
                <a:lnTo>
                  <a:pt x="200025" y="428625"/>
                </a:lnTo>
                <a:cubicBezTo>
                  <a:pt x="184219" y="428625"/>
                  <a:pt x="171450" y="415856"/>
                  <a:pt x="171450" y="400050"/>
                </a:cubicBezTo>
                <a:lnTo>
                  <a:pt x="171450" y="342900"/>
                </a:lnTo>
                <a:cubicBezTo>
                  <a:pt x="171450" y="327094"/>
                  <a:pt x="184219" y="314325"/>
                  <a:pt x="200025" y="314325"/>
                </a:cubicBezTo>
                <a:lnTo>
                  <a:pt x="207169" y="314325"/>
                </a:lnTo>
                <a:lnTo>
                  <a:pt x="207169" y="242888"/>
                </a:lnTo>
                <a:lnTo>
                  <a:pt x="100013" y="242888"/>
                </a:lnTo>
                <a:cubicBezTo>
                  <a:pt x="88136" y="242888"/>
                  <a:pt x="78581" y="252442"/>
                  <a:pt x="78581" y="264319"/>
                </a:cubicBezTo>
                <a:lnTo>
                  <a:pt x="78581" y="314325"/>
                </a:lnTo>
                <a:lnTo>
                  <a:pt x="85725" y="314325"/>
                </a:lnTo>
                <a:cubicBezTo>
                  <a:pt x="101531" y="314325"/>
                  <a:pt x="114300" y="327094"/>
                  <a:pt x="114300" y="342900"/>
                </a:cubicBezTo>
                <a:lnTo>
                  <a:pt x="114300" y="400050"/>
                </a:lnTo>
                <a:cubicBezTo>
                  <a:pt x="114300" y="415856"/>
                  <a:pt x="101531" y="428625"/>
                  <a:pt x="8572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42900"/>
                </a:lnTo>
                <a:cubicBezTo>
                  <a:pt x="0" y="327094"/>
                  <a:pt x="12769" y="314325"/>
                  <a:pt x="28575" y="314325"/>
                </a:cubicBezTo>
                <a:lnTo>
                  <a:pt x="35719" y="314325"/>
                </a:lnTo>
                <a:lnTo>
                  <a:pt x="35719" y="264319"/>
                </a:lnTo>
                <a:cubicBezTo>
                  <a:pt x="35719" y="228779"/>
                  <a:pt x="64472" y="200025"/>
                  <a:pt x="100013" y="200025"/>
                </a:cubicBezTo>
                <a:lnTo>
                  <a:pt x="207169" y="200025"/>
                </a:lnTo>
                <a:lnTo>
                  <a:pt x="207169" y="142875"/>
                </a:lnTo>
                <a:lnTo>
                  <a:pt x="200025" y="142875"/>
                </a:lnTo>
                <a:cubicBezTo>
                  <a:pt x="184219" y="142875"/>
                  <a:pt x="171450" y="130106"/>
                  <a:pt x="171450" y="114300"/>
                </a:cubicBezTo>
                <a:lnTo>
                  <a:pt x="171450" y="5715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8509000" y="28194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9000" y="3276600"/>
            <a:ext cx="292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new classes from existing ones,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extending functionality.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Establishes "is-a" relationships.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001500" y="1968500"/>
            <a:ext cx="3429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555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2255500" y="28194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255500" y="3276600"/>
            <a:ext cx="292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interface,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implementations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One name, multiple forms.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flexible code.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6515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689600"/>
            <a:ext cx="1422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four principles provide the foundation for building scalable and maintainable software systems. We will explore each in detail throughout this course.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81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TO 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Discussion &amp; Course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Module Covers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006600"/>
            <a:ext cx="685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Foundational concepts of OOP using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Understanding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types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primitive &amp; user-defined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 building blocks for complex data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Nested structures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hierarchical data modeling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Enumerations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named constant values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0" y="1460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968500"/>
            <a:ext cx="7112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99500" y="2159000"/>
            <a:ext cx="6477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Define and use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C++ programs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Understand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nested data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organization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Apply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enumerations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type-safe constants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Differentiate primitive and user-defined types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Build foundation for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 &amp; Objects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96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 ROADMAP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6477000"/>
            <a:ext cx="14732000" cy="381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2" name="Shape 10"/>
          <p:cNvSpPr/>
          <p:nvPr/>
        </p:nvSpPr>
        <p:spPr>
          <a:xfrm>
            <a:off x="1397000" y="6324600"/>
            <a:ext cx="355600" cy="355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1397000" y="6324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6858000"/>
            <a:ext cx="165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OOP Basics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26000" y="6324600"/>
            <a:ext cx="355600" cy="355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4826000" y="6324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91000" y="6858000"/>
            <a:ext cx="165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Declaration &amp; Usage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55000" y="6324600"/>
            <a:ext cx="355600" cy="355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8255000" y="6324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0" y="6858000"/>
            <a:ext cx="165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Nested Structs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Data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684000" y="6324600"/>
            <a:ext cx="355600" cy="355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2" name="Text 20"/>
          <p:cNvSpPr/>
          <p:nvPr/>
        </p:nvSpPr>
        <p:spPr>
          <a:xfrm>
            <a:off x="11684000" y="6324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0" y="6858000"/>
            <a:ext cx="165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Enumerations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Named Constants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81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TO 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Primitive Data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data types provided by C++ — the foundation of all complex types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8890000" cy="4318000"/>
        </p:xfrm>
        <a:graphic>
          <a:graphicData uri="http://schemas.openxmlformats.org/drawingml/2006/table">
            <a:tbl>
              <a:tblPr/>
              <a:tblGrid>
                <a:gridCol w="1600200"/>
                <a:gridCol w="2667000"/>
                <a:gridCol w="2400300"/>
                <a:gridCol w="2222500"/>
              </a:tblGrid>
              <a:tr h="606035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Size (typical)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Integer values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bytes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42, -7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precision decimal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bytes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3.14f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 precision decimal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bytes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3.14159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character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byte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'A', '9'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Boolean true/false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byte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true, 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void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value / empty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 returns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160000" y="1968500"/>
            <a:ext cx="5334000" cy="4318000"/>
          </a:xfrm>
          <a:prstGeom prst="roundRect">
            <a:avLst>
              <a:gd name="adj" fmla="val 8000"/>
            </a:avLst>
          </a:prstGeom>
          <a:solidFill>
            <a:srgbClr val="2D3A4A"/>
          </a:solidFill>
          <a:ln/>
        </p:spPr>
      </p:sp>
      <p:sp>
        <p:nvSpPr>
          <p:cNvPr id="8" name="Text 5"/>
          <p:cNvSpPr/>
          <p:nvPr/>
        </p:nvSpPr>
        <p:spPr>
          <a:xfrm>
            <a:off x="10477500" y="22225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477500" y="2768600"/>
            <a:ext cx="4699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Primitive types are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the language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has a fixed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size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They form the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user-defined types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sizeof()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check actual size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Sizes may vary by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81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TO 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Defined Data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Programmers can create custom data types to model real-world entities in 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968500"/>
            <a:ext cx="46990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2184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783" y="-1736"/>
                </a:moveTo>
                <a:cubicBezTo>
                  <a:pt x="169535" y="-9654"/>
                  <a:pt x="186482" y="-9654"/>
                  <a:pt x="200233" y="-1736"/>
                </a:cubicBezTo>
                <a:lnTo>
                  <a:pt x="322401" y="68759"/>
                </a:lnTo>
                <a:cubicBezTo>
                  <a:pt x="336153" y="76676"/>
                  <a:pt x="344626" y="91400"/>
                  <a:pt x="344626" y="107236"/>
                </a:cubicBezTo>
                <a:lnTo>
                  <a:pt x="344626" y="248225"/>
                </a:lnTo>
                <a:cubicBezTo>
                  <a:pt x="344626" y="264130"/>
                  <a:pt x="336153" y="278785"/>
                  <a:pt x="322401" y="286702"/>
                </a:cubicBezTo>
                <a:lnTo>
                  <a:pt x="200233" y="357336"/>
                </a:lnTo>
                <a:cubicBezTo>
                  <a:pt x="186482" y="365254"/>
                  <a:pt x="169535" y="365254"/>
                  <a:pt x="155783" y="357336"/>
                </a:cubicBezTo>
                <a:lnTo>
                  <a:pt x="33685" y="286841"/>
                </a:lnTo>
                <a:cubicBezTo>
                  <a:pt x="19933" y="278924"/>
                  <a:pt x="11460" y="264200"/>
                  <a:pt x="11460" y="248364"/>
                </a:cubicBezTo>
                <a:lnTo>
                  <a:pt x="11460" y="107375"/>
                </a:lnTo>
                <a:cubicBezTo>
                  <a:pt x="11460" y="91470"/>
                  <a:pt x="19933" y="76815"/>
                  <a:pt x="33685" y="68898"/>
                </a:cubicBezTo>
                <a:lnTo>
                  <a:pt x="155783" y="-1736"/>
                </a:lnTo>
                <a:close/>
                <a:moveTo>
                  <a:pt x="300107" y="248295"/>
                </a:moveTo>
                <a:lnTo>
                  <a:pt x="300107" y="132933"/>
                </a:lnTo>
                <a:lnTo>
                  <a:pt x="200233" y="190579"/>
                </a:lnTo>
                <a:lnTo>
                  <a:pt x="200233" y="305941"/>
                </a:lnTo>
                <a:lnTo>
                  <a:pt x="300107" y="248295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2159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(struct)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6670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Groups related variables of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types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 a single name.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of this module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968500"/>
            <a:ext cx="46990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10275" y="2184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15100" y="2159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6670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OOP construct with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and methods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together. The core of OOP.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Covered in later weeks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968500"/>
            <a:ext cx="46990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9000" y="2184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50006"/>
                </a:moveTo>
                <a:cubicBezTo>
                  <a:pt x="0" y="40838"/>
                  <a:pt x="7431" y="33337"/>
                  <a:pt x="16669" y="33337"/>
                </a:cubicBezTo>
                <a:lnTo>
                  <a:pt x="50006" y="33337"/>
                </a:lnTo>
                <a:cubicBezTo>
                  <a:pt x="59244" y="33337"/>
                  <a:pt x="66675" y="40769"/>
                  <a:pt x="66675" y="50006"/>
                </a:cubicBezTo>
                <a:lnTo>
                  <a:pt x="66675" y="122238"/>
                </a:lnTo>
                <a:lnTo>
                  <a:pt x="83344" y="122238"/>
                </a:lnTo>
                <a:cubicBezTo>
                  <a:pt x="92581" y="122238"/>
                  <a:pt x="100013" y="129669"/>
                  <a:pt x="100013" y="138906"/>
                </a:cubicBezTo>
                <a:cubicBezTo>
                  <a:pt x="100013" y="148144"/>
                  <a:pt x="92581" y="155575"/>
                  <a:pt x="83344" y="155575"/>
                </a:cubicBezTo>
                <a:lnTo>
                  <a:pt x="16669" y="155575"/>
                </a:lnTo>
                <a:cubicBezTo>
                  <a:pt x="7431" y="155575"/>
                  <a:pt x="0" y="148144"/>
                  <a:pt x="0" y="138906"/>
                </a:cubicBezTo>
                <a:cubicBezTo>
                  <a:pt x="0" y="129669"/>
                  <a:pt x="7431" y="122238"/>
                  <a:pt x="16669" y="122238"/>
                </a:cubicBezTo>
                <a:lnTo>
                  <a:pt x="33337" y="122238"/>
                </a:lnTo>
                <a:lnTo>
                  <a:pt x="33337" y="66675"/>
                </a:lnTo>
                <a:lnTo>
                  <a:pt x="16669" y="66675"/>
                </a:lnTo>
                <a:cubicBezTo>
                  <a:pt x="7431" y="66675"/>
                  <a:pt x="0" y="59244"/>
                  <a:pt x="0" y="50006"/>
                </a:cubicBezTo>
                <a:close/>
                <a:moveTo>
                  <a:pt x="21114" y="209193"/>
                </a:moveTo>
                <a:cubicBezTo>
                  <a:pt x="29031" y="203220"/>
                  <a:pt x="38685" y="200025"/>
                  <a:pt x="48617" y="200025"/>
                </a:cubicBezTo>
                <a:lnTo>
                  <a:pt x="52020" y="200025"/>
                </a:lnTo>
                <a:cubicBezTo>
                  <a:pt x="75426" y="200025"/>
                  <a:pt x="94456" y="219055"/>
                  <a:pt x="94456" y="242461"/>
                </a:cubicBezTo>
                <a:cubicBezTo>
                  <a:pt x="94456" y="256074"/>
                  <a:pt x="87928" y="268784"/>
                  <a:pt x="76954" y="276771"/>
                </a:cubicBezTo>
                <a:lnTo>
                  <a:pt x="60285" y="288925"/>
                </a:lnTo>
                <a:lnTo>
                  <a:pt x="83344" y="288925"/>
                </a:lnTo>
                <a:cubicBezTo>
                  <a:pt x="92581" y="288925"/>
                  <a:pt x="100013" y="296356"/>
                  <a:pt x="100013" y="305594"/>
                </a:cubicBezTo>
                <a:cubicBezTo>
                  <a:pt x="100013" y="314831"/>
                  <a:pt x="92581" y="322263"/>
                  <a:pt x="83344" y="322263"/>
                </a:cubicBezTo>
                <a:lnTo>
                  <a:pt x="20350" y="322263"/>
                </a:lnTo>
                <a:cubicBezTo>
                  <a:pt x="9098" y="322263"/>
                  <a:pt x="0" y="313164"/>
                  <a:pt x="0" y="301913"/>
                </a:cubicBezTo>
                <a:cubicBezTo>
                  <a:pt x="0" y="295384"/>
                  <a:pt x="3125" y="289272"/>
                  <a:pt x="8404" y="285452"/>
                </a:cubicBezTo>
                <a:lnTo>
                  <a:pt x="57368" y="249823"/>
                </a:lnTo>
                <a:cubicBezTo>
                  <a:pt x="59730" y="248087"/>
                  <a:pt x="61119" y="245378"/>
                  <a:pt x="61119" y="242461"/>
                </a:cubicBezTo>
                <a:cubicBezTo>
                  <a:pt x="61119" y="237460"/>
                  <a:pt x="57021" y="233362"/>
                  <a:pt x="52020" y="233362"/>
                </a:cubicBezTo>
                <a:lnTo>
                  <a:pt x="48617" y="233363"/>
                </a:lnTo>
                <a:cubicBezTo>
                  <a:pt x="45909" y="233363"/>
                  <a:pt x="43269" y="234265"/>
                  <a:pt x="41116" y="235863"/>
                </a:cubicBezTo>
                <a:lnTo>
                  <a:pt x="26670" y="246698"/>
                </a:lnTo>
                <a:cubicBezTo>
                  <a:pt x="19308" y="252254"/>
                  <a:pt x="8890" y="250726"/>
                  <a:pt x="3334" y="243364"/>
                </a:cubicBezTo>
                <a:cubicBezTo>
                  <a:pt x="-2223" y="236002"/>
                  <a:pt x="-695" y="225584"/>
                  <a:pt x="6668" y="220028"/>
                </a:cubicBezTo>
                <a:lnTo>
                  <a:pt x="21114" y="209193"/>
                </a:lnTo>
                <a:close/>
                <a:moveTo>
                  <a:pt x="155575" y="44450"/>
                </a:move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55575" y="88900"/>
                </a:lnTo>
                <a:cubicBezTo>
                  <a:pt x="143282" y="88900"/>
                  <a:pt x="133350" y="78968"/>
                  <a:pt x="133350" y="66675"/>
                </a:cubicBezTo>
                <a:cubicBezTo>
                  <a:pt x="133350" y="54382"/>
                  <a:pt x="143282" y="44450"/>
                  <a:pt x="155575" y="44450"/>
                </a:cubicBezTo>
                <a:close/>
                <a:moveTo>
                  <a:pt x="155575" y="155575"/>
                </a:move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55575" y="200025"/>
                </a:lnTo>
                <a:cubicBezTo>
                  <a:pt x="143282" y="200025"/>
                  <a:pt x="133350" y="190093"/>
                  <a:pt x="133350" y="177800"/>
                </a:cubicBezTo>
                <a:cubicBezTo>
                  <a:pt x="133350" y="165507"/>
                  <a:pt x="143282" y="155575"/>
                  <a:pt x="155575" y="155575"/>
                </a:cubicBez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1531600" y="2159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Enumeration (enum)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26670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named constant values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readable, self-documenting code.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of this module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76600" y="4508500"/>
            <a:ext cx="46990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08375" y="4724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2225" y="82927"/>
                </a:moveTo>
                <a:cubicBezTo>
                  <a:pt x="8959" y="75287"/>
                  <a:pt x="0" y="60910"/>
                  <a:pt x="0" y="44450"/>
                </a:cubicBezTo>
                <a:cubicBezTo>
                  <a:pt x="0" y="19933"/>
                  <a:pt x="19933" y="0"/>
                  <a:pt x="44450" y="0"/>
                </a:cubicBezTo>
                <a:cubicBezTo>
                  <a:pt x="60910" y="0"/>
                  <a:pt x="75287" y="8959"/>
                  <a:pt x="82927" y="22225"/>
                </a:cubicBezTo>
                <a:lnTo>
                  <a:pt x="317054" y="22225"/>
                </a:lnTo>
                <a:cubicBezTo>
                  <a:pt x="324763" y="8959"/>
                  <a:pt x="339070" y="0"/>
                  <a:pt x="355531" y="0"/>
                </a:cubicBezTo>
                <a:cubicBezTo>
                  <a:pt x="380047" y="0"/>
                  <a:pt x="399981" y="19933"/>
                  <a:pt x="399981" y="44450"/>
                </a:cubicBezTo>
                <a:cubicBezTo>
                  <a:pt x="399981" y="60910"/>
                  <a:pt x="391021" y="75287"/>
                  <a:pt x="377756" y="82927"/>
                </a:cubicBezTo>
                <a:lnTo>
                  <a:pt x="377756" y="272604"/>
                </a:lnTo>
                <a:cubicBezTo>
                  <a:pt x="391021" y="280313"/>
                  <a:pt x="399981" y="294620"/>
                  <a:pt x="399981" y="311081"/>
                </a:cubicBezTo>
                <a:cubicBezTo>
                  <a:pt x="399981" y="335598"/>
                  <a:pt x="380047" y="355531"/>
                  <a:pt x="355531" y="355531"/>
                </a:cubicBezTo>
                <a:cubicBezTo>
                  <a:pt x="339070" y="355531"/>
                  <a:pt x="324693" y="346571"/>
                  <a:pt x="317054" y="333306"/>
                </a:cubicBezTo>
                <a:lnTo>
                  <a:pt x="82927" y="333306"/>
                </a:lnTo>
                <a:cubicBezTo>
                  <a:pt x="75218" y="346571"/>
                  <a:pt x="60910" y="355531"/>
                  <a:pt x="44450" y="355531"/>
                </a:cubicBezTo>
                <a:cubicBezTo>
                  <a:pt x="19933" y="355531"/>
                  <a:pt x="0" y="335598"/>
                  <a:pt x="0" y="311081"/>
                </a:cubicBezTo>
                <a:cubicBezTo>
                  <a:pt x="0" y="294620"/>
                  <a:pt x="8959" y="280243"/>
                  <a:pt x="22225" y="272604"/>
                </a:cubicBezTo>
                <a:lnTo>
                  <a:pt x="22225" y="82927"/>
                </a:lnTo>
                <a:close/>
                <a:moveTo>
                  <a:pt x="333375" y="82927"/>
                </a:moveTo>
                <a:cubicBezTo>
                  <a:pt x="326638" y="79038"/>
                  <a:pt x="321012" y="73412"/>
                  <a:pt x="317123" y="66675"/>
                </a:cubicBezTo>
                <a:lnTo>
                  <a:pt x="82927" y="66675"/>
                </a:lnTo>
                <a:cubicBezTo>
                  <a:pt x="79038" y="73412"/>
                  <a:pt x="73412" y="79038"/>
                  <a:pt x="66675" y="82927"/>
                </a:cubicBezTo>
                <a:lnTo>
                  <a:pt x="66675" y="272604"/>
                </a:lnTo>
                <a:cubicBezTo>
                  <a:pt x="73412" y="276493"/>
                  <a:pt x="79038" y="282119"/>
                  <a:pt x="82927" y="288856"/>
                </a:cubicBezTo>
                <a:lnTo>
                  <a:pt x="317054" y="288856"/>
                </a:lnTo>
                <a:cubicBezTo>
                  <a:pt x="320943" y="282119"/>
                  <a:pt x="326569" y="276493"/>
                  <a:pt x="333306" y="272604"/>
                </a:cubicBezTo>
                <a:lnTo>
                  <a:pt x="333306" y="82927"/>
                </a:lnTo>
                <a:close/>
                <a:moveTo>
                  <a:pt x="100013" y="122238"/>
                </a:moveTo>
                <a:cubicBezTo>
                  <a:pt x="100013" y="109944"/>
                  <a:pt x="109944" y="100013"/>
                  <a:pt x="122238" y="100013"/>
                </a:cubicBezTo>
                <a:lnTo>
                  <a:pt x="200025" y="100013"/>
                </a:lnTo>
                <a:cubicBezTo>
                  <a:pt x="212318" y="100013"/>
                  <a:pt x="222250" y="109944"/>
                  <a:pt x="222250" y="122238"/>
                </a:cubicBezTo>
                <a:lnTo>
                  <a:pt x="222250" y="166688"/>
                </a:lnTo>
                <a:cubicBezTo>
                  <a:pt x="222250" y="178981"/>
                  <a:pt x="212318" y="188913"/>
                  <a:pt x="200025" y="188913"/>
                </a:cubicBezTo>
                <a:lnTo>
                  <a:pt x="122238" y="188913"/>
                </a:lnTo>
                <a:cubicBezTo>
                  <a:pt x="109944" y="188913"/>
                  <a:pt x="100013" y="178981"/>
                  <a:pt x="100013" y="166688"/>
                </a:cubicBezTo>
                <a:lnTo>
                  <a:pt x="100013" y="122238"/>
                </a:lnTo>
                <a:close/>
                <a:moveTo>
                  <a:pt x="177800" y="222250"/>
                </a:moveTo>
                <a:lnTo>
                  <a:pt x="200025" y="222250"/>
                </a:lnTo>
                <a:cubicBezTo>
                  <a:pt x="230723" y="222250"/>
                  <a:pt x="255587" y="197386"/>
                  <a:pt x="255587" y="166688"/>
                </a:cubicBezTo>
                <a:lnTo>
                  <a:pt x="277813" y="166688"/>
                </a:lnTo>
                <a:cubicBezTo>
                  <a:pt x="290106" y="166688"/>
                  <a:pt x="300038" y="176619"/>
                  <a:pt x="300038" y="188913"/>
                </a:cubicBezTo>
                <a:lnTo>
                  <a:pt x="300038" y="233363"/>
                </a:lnTo>
                <a:cubicBezTo>
                  <a:pt x="300038" y="245656"/>
                  <a:pt x="290106" y="255587"/>
                  <a:pt x="277813" y="255587"/>
                </a:cubicBezTo>
                <a:lnTo>
                  <a:pt x="200025" y="255587"/>
                </a:lnTo>
                <a:cubicBezTo>
                  <a:pt x="187732" y="255587"/>
                  <a:pt x="177800" y="245656"/>
                  <a:pt x="177800" y="233363"/>
                </a:cubicBezTo>
                <a:lnTo>
                  <a:pt x="177800" y="22225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4013200" y="4699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30600" y="52070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memory for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types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Only one member active at a time.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topic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93100" y="4508500"/>
            <a:ext cx="46990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7100" y="4724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572" y="66675"/>
                </a:moveTo>
                <a:lnTo>
                  <a:pt x="22572" y="170507"/>
                </a:lnTo>
                <a:cubicBezTo>
                  <a:pt x="22572" y="182314"/>
                  <a:pt x="27226" y="193635"/>
                  <a:pt x="35560" y="201970"/>
                </a:cubicBezTo>
                <a:lnTo>
                  <a:pt x="168910" y="335320"/>
                </a:lnTo>
                <a:cubicBezTo>
                  <a:pt x="186273" y="352683"/>
                  <a:pt x="214402" y="352683"/>
                  <a:pt x="231765" y="335320"/>
                </a:cubicBezTo>
                <a:lnTo>
                  <a:pt x="335598" y="231487"/>
                </a:lnTo>
                <a:cubicBezTo>
                  <a:pt x="352961" y="214124"/>
                  <a:pt x="352961" y="185995"/>
                  <a:pt x="335598" y="168632"/>
                </a:cubicBezTo>
                <a:lnTo>
                  <a:pt x="202248" y="35282"/>
                </a:lnTo>
                <a:cubicBezTo>
                  <a:pt x="193913" y="26878"/>
                  <a:pt x="182662" y="22225"/>
                  <a:pt x="170855" y="22225"/>
                </a:cubicBezTo>
                <a:lnTo>
                  <a:pt x="67022" y="22225"/>
                </a:lnTo>
                <a:cubicBezTo>
                  <a:pt x="42505" y="22225"/>
                  <a:pt x="22572" y="42158"/>
                  <a:pt x="22572" y="66675"/>
                </a:cubicBezTo>
                <a:close/>
                <a:moveTo>
                  <a:pt x="100360" y="77788"/>
                </a:moveTo>
                <a:cubicBezTo>
                  <a:pt x="112626" y="77788"/>
                  <a:pt x="122585" y="87746"/>
                  <a:pt x="122585" y="100013"/>
                </a:cubicBezTo>
                <a:cubicBezTo>
                  <a:pt x="122585" y="112279"/>
                  <a:pt x="112626" y="122238"/>
                  <a:pt x="100360" y="122238"/>
                </a:cubicBezTo>
                <a:cubicBezTo>
                  <a:pt x="88093" y="122238"/>
                  <a:pt x="78135" y="112279"/>
                  <a:pt x="78135" y="100013"/>
                </a:cubicBezTo>
                <a:cubicBezTo>
                  <a:pt x="78135" y="87746"/>
                  <a:pt x="88093" y="77788"/>
                  <a:pt x="100360" y="7778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9029700" y="4699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Typedef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47100" y="52070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aliases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existing types. Improves code readability.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Also: using keyword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6985000"/>
            <a:ext cx="14732000" cy="6985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7048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User-defined types extend the language to match problem domains. Structures and enums are the stepping stones to Classes in OOP.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81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Structures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24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 (struct)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user-defined data type that groups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variables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data types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 a single name. It allows modeling of real-world entities.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794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Use Structures?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327400"/>
            <a:ext cx="685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Group related data into a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unit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entities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(Student, Employee)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Pass multiple values as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parameter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Improve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organization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Foundation for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OOP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2794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Syntax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3302000"/>
            <a:ext cx="7112000" cy="2667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1" name="Text 9"/>
          <p:cNvSpPr/>
          <p:nvPr/>
        </p:nvSpPr>
        <p:spPr>
          <a:xfrm>
            <a:off x="8699500" y="3492500"/>
            <a:ext cx="647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Student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rollNo;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name;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marks;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Semicolon is mandatory!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350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0300" y="6604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64770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Think of a structure as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template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it defines what fields exist, but doesn't contain any actual data until you fill it out (create a variable).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81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Declaring a Simple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224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GENERAL SYNTAX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6858000" cy="24765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1968500"/>
            <a:ext cx="6223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StructureName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dataType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member1;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dataType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member2;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dataType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member3;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... more members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572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991100"/>
            <a:ext cx="6858000" cy="23495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0" name="Text 8"/>
          <p:cNvSpPr/>
          <p:nvPr/>
        </p:nvSpPr>
        <p:spPr>
          <a:xfrm>
            <a:off x="1079500" y="5080000"/>
            <a:ext cx="6223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rollNo;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integer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name;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text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marks;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decimal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No memory allocated yet!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0" y="1422400"/>
            <a:ext cx="7366000" cy="5664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9000" y="1651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Rules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9000" y="2095500"/>
            <a:ext cx="6604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4" name="Text 12"/>
          <p:cNvSpPr/>
          <p:nvPr/>
        </p:nvSpPr>
        <p:spPr>
          <a:xfrm>
            <a:off x="8509000" y="2286000"/>
            <a:ext cx="6604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the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 to start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a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name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(PascalCase)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List members inside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curly braces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{}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member needs a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type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End with a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semicolon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mandatory!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Declaration is just a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template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memory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allocated at declaration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81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Defining a Structure Variable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 declaration creates a data type — variables must be defined to allocate memory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9685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1: WITH DECLARATION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6858000" cy="14605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2476500"/>
            <a:ext cx="622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rollNo;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variable defined 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0894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2: AFTER DECLARATION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508500"/>
            <a:ext cx="6858000" cy="20955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597400"/>
            <a:ext cx="6223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 style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Student s1;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C++ style (preferred)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s1;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68580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3: MULTIPLE VARIABLES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7277100"/>
            <a:ext cx="6858000" cy="13335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7366000"/>
            <a:ext cx="622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Multiple variables at once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s1, s2, s3;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Each gets independent copy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0" y="1968500"/>
            <a:ext cx="7366000" cy="5664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9000" y="2222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Points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9000" y="2667000"/>
            <a:ext cx="6604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2857500"/>
            <a:ext cx="6604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Declaration = creating a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blueprint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Definition = creating an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instance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Memory is allocated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definition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C++,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 is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optional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variable has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members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names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clarity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81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Accessing Members of a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24000"/>
            <a:ext cx="142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Syntax: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structureVariable.memberName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using the </a:t>
            </a:r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dot (.) operator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5146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933700"/>
            <a:ext cx="7620000" cy="3556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086100"/>
            <a:ext cx="6985000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s1;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define variable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Assign values using dot operator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rollNo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101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"Alice"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marks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85.5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Access and display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cout &lt;&lt; s1.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rollNo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Output: 101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90000" y="2514600"/>
            <a:ext cx="6604000" cy="3975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71000" y="27686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71000" y="3213100"/>
            <a:ext cx="584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9271000" y="3403600"/>
            <a:ext cx="5842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the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dot (.) operator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connect variable and member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variable has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member values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Members can be used like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 variables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be used in expressions, assignments, I/O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90000" y="6794500"/>
            <a:ext cx="660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REPRESENTATION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90000" y="7239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2D3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0" y="7239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s1 (Student)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430000" y="74295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1938000" y="7175500"/>
            <a:ext cx="35560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65000" y="72390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rollNo=101, name="Alice", marks=85.5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81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Initialization of Structure Variables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methods to initialize structure variables in C++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9685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1: ORDERED LIST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5146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Values in declaration order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s1 =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101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"Alice"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85.5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78500" y="19685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2: MEMBER BY MEMBER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3876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25146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s1;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s1.rollNo =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101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s1.name =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"Alice"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s1.marks =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85.5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95000" y="19685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3: DESIGNATED (C++20)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387600"/>
            <a:ext cx="4699000" cy="19685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24765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C++20 designated init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s1 =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.rollNo =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101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.name =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"Alice"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381500"/>
            <a:ext cx="14732000" cy="8255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" y="454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587500" y="4445000"/>
            <a:ext cx="1358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Warning: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Uninitialized members contain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garbage values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Always initialize structure variables before use to avoid unexpected behavior.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552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032500"/>
          <a:ext cx="14732000" cy="2032000"/>
        </p:xfrm>
        <a:graphic>
          <a:graphicData uri="http://schemas.openxmlformats.org/drawingml/2006/table">
            <a:tbl>
              <a:tblPr/>
              <a:tblGrid>
                <a:gridCol w="3241040"/>
                <a:gridCol w="3830320"/>
                <a:gridCol w="3830320"/>
                <a:gridCol w="383032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Ordered List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Member-by-Member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Designated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Quick, concise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Flexible, readable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Self-documenting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Order matters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 verbose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C++20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81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— Complete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224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WORKING PROGRAM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8890000" cy="55245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7" name="Text 5"/>
          <p:cNvSpPr/>
          <p:nvPr/>
        </p:nvSpPr>
        <p:spPr>
          <a:xfrm>
            <a:off x="1041400" y="1968500"/>
            <a:ext cx="83312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#include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&lt;iostream&gt;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#include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&lt;string&gt;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using namespace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rollNo;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name;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marks;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() {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s1 = {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101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"Alice"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85.5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cout &lt;&lt;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"Roll: "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&lt;&lt; s1.rollNo &lt;&lt; endl;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cout &lt;&lt;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"Name: "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&lt;&lt; s1.name &lt;&lt; endl;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return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74041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7747000"/>
            <a:ext cx="8890000" cy="8255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/>
        </p:spPr>
      </p:sp>
      <p:sp>
        <p:nvSpPr>
          <p:cNvPr id="10" name="Text 8"/>
          <p:cNvSpPr/>
          <p:nvPr/>
        </p:nvSpPr>
        <p:spPr>
          <a:xfrm>
            <a:off x="1041400" y="7785100"/>
            <a:ext cx="8331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Roll: 101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Name: Alice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0" y="1422400"/>
            <a:ext cx="5334000" cy="632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1000" y="16764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41000" y="2120900"/>
            <a:ext cx="457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4" name="Text 12"/>
          <p:cNvSpPr/>
          <p:nvPr/>
        </p:nvSpPr>
        <p:spPr>
          <a:xfrm>
            <a:off x="10541000" y="2311400"/>
            <a:ext cx="4572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initialize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members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names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 structures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focused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Group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data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Document with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comments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PascalCase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names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81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Memory Layout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structures are stored in memory — contiguous allocation with possible padding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968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DEFINITION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5080000" cy="1905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2476500"/>
            <a:ext cx="452120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rollNo;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4 bytes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grade;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1 byte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marks;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4 bytes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Total: ~12 bytes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31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VISUALIZATION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826000"/>
            <a:ext cx="2540000" cy="762000"/>
          </a:xfrm>
          <a:prstGeom prst="roundRect">
            <a:avLst>
              <a:gd name="adj" fmla="val 6000"/>
            </a:avLst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4826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rollNo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bytes (int)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02000" y="5207000"/>
            <a:ext cx="381000" cy="0"/>
          </a:xfrm>
          <a:prstGeom prst="straightConnector1">
            <a:avLst/>
          </a:prstGeom>
          <a:noFill/>
          <a:ln w="25400">
            <a:solidFill>
              <a:srgbClr val="7A8B9E"/>
            </a:solidFill>
            <a:prstDash val="solid"/>
            <a:headEnd type="arrow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3683000" y="4826000"/>
            <a:ext cx="1270000" cy="762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683000" y="4826000"/>
            <a:ext cx="12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byte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53000" y="5207000"/>
            <a:ext cx="381000" cy="0"/>
          </a:xfrm>
          <a:prstGeom prst="straightConnector1">
            <a:avLst/>
          </a:prstGeom>
          <a:noFill/>
          <a:ln w="25400">
            <a:solidFill>
              <a:srgbClr val="7A8B9E"/>
            </a:solidFill>
            <a:prstDash val="solid"/>
            <a:headEnd type="arrow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5334000" y="4826000"/>
            <a:ext cx="1143000" cy="762000"/>
          </a:xfrm>
          <a:prstGeom prst="roundRect">
            <a:avLst>
              <a:gd name="adj" fmla="val 6000"/>
            </a:avLst>
          </a:prstGeom>
          <a:solidFill>
            <a:srgbClr val="7A8B9E">
              <a:alpha val="25098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334000" y="4826000"/>
            <a:ext cx="114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padding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bytes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77000" y="5207000"/>
            <a:ext cx="381000" cy="0"/>
          </a:xfrm>
          <a:prstGeom prst="straightConnector1">
            <a:avLst/>
          </a:prstGeom>
          <a:noFill/>
          <a:ln w="25400">
            <a:solidFill>
              <a:srgbClr val="7A8B9E"/>
            </a:solidFill>
            <a:prstDash val="solid"/>
            <a:headEnd type="arrow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6858000" y="4826000"/>
            <a:ext cx="2540000" cy="762000"/>
          </a:xfrm>
          <a:prstGeom prst="roundRect">
            <a:avLst>
              <a:gd name="adj" fmla="val 6000"/>
            </a:avLst>
          </a:pr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4826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bytes (float)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905500"/>
            <a:ext cx="863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size: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+ 1 + 3(padding) + 4 = 12 bytes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9!)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60000" y="1968500"/>
            <a:ext cx="5334000" cy="5664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41000" y="22225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541000" y="2667000"/>
            <a:ext cx="457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5" name="Text 23"/>
          <p:cNvSpPr/>
          <p:nvPr/>
        </p:nvSpPr>
        <p:spPr>
          <a:xfrm>
            <a:off x="10541000" y="2857500"/>
            <a:ext cx="4572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Members stored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contiguously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Padding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added for alignment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sizeof()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check size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Order affects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size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Important for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5000" y="1016000"/>
            <a:ext cx="3556000" cy="3556000"/>
          </a:xfrm>
          <a:prstGeom prst="ellipse">
            <a:avLst/>
          </a:prstGeom>
          <a:solidFill>
            <a:srgbClr val="D4943A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6096000"/>
            <a:ext cx="1524000" cy="1524000"/>
          </a:xfrm>
          <a:prstGeom prst="roundRect">
            <a:avLst>
              <a:gd name="adj" fmla="val 12000"/>
            </a:avLst>
          </a:prstGeom>
          <a:solidFill>
            <a:srgbClr val="D4943A">
              <a:alpha val="3137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spc="3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016000" y="3683000"/>
            <a:ext cx="101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064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Nested Structures &amp; Enumerations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5016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hierarchical data models and defining named constant sets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81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NESTED 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Nested Structures — 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24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nested structure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structure that contains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another structure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one of its members. It is used to model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relationships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data.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794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29000"/>
            <a:ext cx="6858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D3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3556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(Outer)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962400"/>
            <a:ext cx="203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rollNo (int)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name (string)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marks (float)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64000" y="4064000"/>
            <a:ext cx="3302000" cy="22860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8000" y="4191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(Inner)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18000" y="4597400"/>
            <a:ext cx="279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day (int)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month (int)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year (int)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75000" y="5080000"/>
            <a:ext cx="889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3175000" y="51435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2794000"/>
            <a:ext cx="7112000" cy="393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63000" y="304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Use Nested Structures?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763000" y="3492500"/>
            <a:ext cx="6350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9" name="Text 17"/>
          <p:cNvSpPr/>
          <p:nvPr/>
        </p:nvSpPr>
        <p:spPr>
          <a:xfrm>
            <a:off x="8763000" y="3683000"/>
            <a:ext cx="635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data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naturally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 contains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of Birth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Employee contains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Inner struct declared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nesting levels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possible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81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NESTED 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Declaring a Nested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224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TWO-STEP PROCESS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930400"/>
            <a:ext cx="1270000" cy="381000"/>
          </a:xfrm>
          <a:prstGeom prst="roundRect">
            <a:avLst>
              <a:gd name="adj" fmla="val 12000"/>
            </a:avLst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930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22500" y="19304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Declare the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structure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first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476500"/>
            <a:ext cx="7112000" cy="1397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0" name="Text 8"/>
          <p:cNvSpPr/>
          <p:nvPr/>
        </p:nvSpPr>
        <p:spPr>
          <a:xfrm>
            <a:off x="1041400" y="2603500"/>
            <a:ext cx="655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day, month, year;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Inner structure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127500"/>
            <a:ext cx="1270000" cy="381000"/>
          </a:xfrm>
          <a:prstGeom prst="roundRect">
            <a:avLst>
              <a:gd name="adj" fmla="val 12000"/>
            </a:avLst>
          </a:pr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127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22500" y="412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it as member in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outer structure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673600"/>
            <a:ext cx="7112000" cy="23495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41400" y="4800600"/>
            <a:ext cx="6553200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rollNo;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name;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Date dob;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Nested member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marks;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1422400"/>
            <a:ext cx="7112000" cy="490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63000" y="1676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763000" y="2120900"/>
            <a:ext cx="6350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9" name="Text 17"/>
          <p:cNvSpPr/>
          <p:nvPr/>
        </p:nvSpPr>
        <p:spPr>
          <a:xfrm>
            <a:off x="8763000" y="2311400"/>
            <a:ext cx="6350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Inner struct must be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declared first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inner struct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name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member type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nest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levels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Inner struct can be used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independently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outer variable gets full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struct copy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81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NESTED 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Defining Nested Structure Variables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defined similarly to simple structures — memory allocated recursively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968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OUTER STRUCTURE VARIABLE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7112000" cy="1016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2514600"/>
            <a:ext cx="655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s1;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Creates s1 with all nested members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s2, s3;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Multiple variables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683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STRUCTURE VARIABLE (INDEPENDENT)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102100"/>
            <a:ext cx="7112000" cy="1016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41400" y="4229100"/>
            <a:ext cx="655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Date today;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Inner struct used independently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Date deadline = {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31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2025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With init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39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ALLOCATION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905500"/>
            <a:ext cx="2286000" cy="1651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6032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s1 (Student)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9000" y="64770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rollNo, name,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dob (Date),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048000" y="6604000"/>
            <a:ext cx="508000" cy="0"/>
          </a:xfrm>
          <a:prstGeom prst="straightConnector1">
            <a:avLst/>
          </a:prstGeom>
          <a:noFill/>
          <a:ln w="25400">
            <a:solidFill>
              <a:srgbClr val="7A8B9E"/>
            </a:solidFill>
            <a:prstDash val="solid"/>
            <a:headEnd type="arrow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3556000" y="5905500"/>
            <a:ext cx="2286000" cy="1651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8" name="Text 16"/>
          <p:cNvSpPr/>
          <p:nvPr/>
        </p:nvSpPr>
        <p:spPr>
          <a:xfrm>
            <a:off x="3683000" y="6032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s2 (Student)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83000" y="64770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copy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all members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including nested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36000" y="1968500"/>
            <a:ext cx="6858000" cy="55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17000" y="2222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Notes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17000" y="2667000"/>
            <a:ext cx="6096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3" name="Text 21"/>
          <p:cNvSpPr/>
          <p:nvPr/>
        </p:nvSpPr>
        <p:spPr>
          <a:xfrm>
            <a:off x="9017000" y="2857500"/>
            <a:ext cx="6096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Memory allocated for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nested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members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variable gets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independent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copy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Inner struct can be used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its own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Changes to s1 don't affect s2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sizeof()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verify total size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81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NESTED 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Accessing Nested Structure Members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14732000" cy="6985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986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Syntax:</a:t>
            </a:r>
            <a:pPr algn="ctr">
              <a:lnSpc>
                <a:spcPct val="100000"/>
              </a:lnSpc>
            </a:pPr>
            <a:r>
              <a:rPr lang="en-US" sz="19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19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outerVariable.innerMember.nestedMember</a:t>
            </a:r>
            <a:pPr algn="ctr">
              <a:lnSpc>
                <a:spcPct val="100000"/>
              </a:lnSpc>
            </a:pPr>
            <a:r>
              <a:rPr lang="en-US" sz="19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</a:t>
            </a:r>
            <a:pPr algn="ctr">
              <a:lnSpc>
                <a:spcPct val="100000"/>
              </a:lnSpc>
            </a:pPr>
            <a:r>
              <a:rPr lang="en-US" sz="19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dot operators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476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895600"/>
            <a:ext cx="7874000" cy="4318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3048000"/>
            <a:ext cx="73152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s1;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Access nested members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s1.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dob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day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s1.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dob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month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s1.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dob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year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2000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Display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cout &lt;&lt; s1.dob.day &lt;&lt;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"/"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&lt;&lt; s1.dob.month &lt;&lt;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"/"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&lt;&lt; s1.dob.year;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Output: 15/8/2000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271000" y="247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DRILLING DOWN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779000" y="3111500"/>
            <a:ext cx="2032000" cy="635000"/>
          </a:xfrm>
          <a:prstGeom prst="roundRect">
            <a:avLst>
              <a:gd name="adj" fmla="val 8000"/>
            </a:avLst>
          </a:prstGeom>
          <a:solidFill>
            <a:srgbClr val="2D3A4A"/>
          </a:solidFill>
          <a:ln/>
        </p:spPr>
      </p:sp>
      <p:sp>
        <p:nvSpPr>
          <p:cNvPr id="12" name="Text 10"/>
          <p:cNvSpPr/>
          <p:nvPr/>
        </p:nvSpPr>
        <p:spPr>
          <a:xfrm>
            <a:off x="9779000" y="31115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3746500"/>
            <a:ext cx="0" cy="4445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9779000" y="4191000"/>
            <a:ext cx="2032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9779000" y="4191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.dob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4826000"/>
            <a:ext cx="0" cy="4445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9779000" y="5270500"/>
            <a:ext cx="2032000" cy="635000"/>
          </a:xfrm>
          <a:prstGeom prst="roundRect">
            <a:avLst>
              <a:gd name="adj" fmla="val 8000"/>
            </a:avLst>
          </a:prstGeom>
          <a:solidFill>
            <a:srgbClr val="7A8B9E"/>
          </a:solidFill>
          <a:ln/>
        </p:spPr>
      </p:sp>
      <p:sp>
        <p:nvSpPr>
          <p:cNvPr id="18" name="Text 16"/>
          <p:cNvSpPr/>
          <p:nvPr/>
        </p:nvSpPr>
        <p:spPr>
          <a:xfrm>
            <a:off x="9779000" y="52705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.day = 15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192000" y="43180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s1.dob.day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71000" y="6350000"/>
            <a:ext cx="6223000" cy="8255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0" y="6413500"/>
            <a:ext cx="571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meaningful member names for readability. Each dot drills one level deeper.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81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NESTED 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Initializing Nested Structures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1: NESTED BRACES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79600"/>
            <a:ext cx="7112000" cy="22225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7" name="Text 5"/>
          <p:cNvSpPr/>
          <p:nvPr/>
        </p:nvSpPr>
        <p:spPr>
          <a:xfrm>
            <a:off x="1041400" y="2006600"/>
            <a:ext cx="65532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Inner braces for nested struct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s1 = {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101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"Alice"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{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2000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},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Date init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85.5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3180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2: MEMBER BY MEMBER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737100"/>
            <a:ext cx="7112000" cy="22225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0" name="Text 8"/>
          <p:cNvSpPr/>
          <p:nvPr/>
        </p:nvSpPr>
        <p:spPr>
          <a:xfrm>
            <a:off x="1041400" y="4864100"/>
            <a:ext cx="65532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s1;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s1.rollNo =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101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s1.name =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"Alice"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s1.dob.day =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Nested access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s1.dob.month =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s1.dob.year =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2000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7086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3: DESIGNATED (C++20)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7493000"/>
            <a:ext cx="7112000" cy="15875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41400" y="7569200"/>
            <a:ext cx="65532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C++20 designated init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s1 = { .rollNo =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101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.name =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"Alice"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.dob = {.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day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.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month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 };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36000" y="1460500"/>
            <a:ext cx="6858000" cy="614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17000" y="1714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Initialization Rules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17000" y="2159000"/>
            <a:ext cx="6096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7" name="Text 15"/>
          <p:cNvSpPr/>
          <p:nvPr/>
        </p:nvSpPr>
        <p:spPr>
          <a:xfrm>
            <a:off x="9017000" y="2349500"/>
            <a:ext cx="6096000" cy="501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nested braces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inner struct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Values must match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declaration order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Unspecified members =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zero/garbage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Designated init requires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C++20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initialize all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nested members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Partial init leaves rest as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81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NESTED 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Nested Structure — Complete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9144000" cy="6223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1587500"/>
            <a:ext cx="8585200" cy="607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&lt;string&gt;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using namespace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day, month, year;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Employee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id;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name;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Date joinDate;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Nested Date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salary;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Employee e = {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"Bob"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{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2023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},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50000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cout &lt;&lt; e.name &lt;&lt;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 joined on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&lt;&lt; e.joinDate.day &lt;&lt;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"/"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&lt;&lt; e.joinDate.month;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774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8077200"/>
            <a:ext cx="9144000" cy="5334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8128000"/>
            <a:ext cx="8585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Bob joined on 1/6/2023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14000" y="1460500"/>
            <a:ext cx="5080000" cy="603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95000" y="1714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 Cases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2159000"/>
            <a:ext cx="4318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77550" y="2476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43649" y="-7739"/>
                </a:moveTo>
                <a:cubicBezTo>
                  <a:pt x="136862" y="-9108"/>
                  <a:pt x="129897" y="-9108"/>
                  <a:pt x="123111" y="-7739"/>
                </a:cubicBezTo>
                <a:lnTo>
                  <a:pt x="11490" y="14585"/>
                </a:lnTo>
                <a:cubicBezTo>
                  <a:pt x="4822" y="15895"/>
                  <a:pt x="0" y="21788"/>
                  <a:pt x="0" y="28575"/>
                </a:cubicBezTo>
                <a:cubicBezTo>
                  <a:pt x="0" y="34707"/>
                  <a:pt x="3870" y="40065"/>
                  <a:pt x="9525" y="42029"/>
                </a:cubicBezTo>
                <a:lnTo>
                  <a:pt x="9525" y="85725"/>
                </a:lnTo>
                <a:lnTo>
                  <a:pt x="179" y="132517"/>
                </a:lnTo>
                <a:cubicBezTo>
                  <a:pt x="60" y="133052"/>
                  <a:pt x="0" y="133648"/>
                  <a:pt x="0" y="134243"/>
                </a:cubicBezTo>
                <a:cubicBezTo>
                  <a:pt x="0" y="139005"/>
                  <a:pt x="3870" y="142935"/>
                  <a:pt x="8692" y="142935"/>
                </a:cubicBezTo>
                <a:lnTo>
                  <a:pt x="29468" y="142935"/>
                </a:lnTo>
                <a:cubicBezTo>
                  <a:pt x="34230" y="142935"/>
                  <a:pt x="38160" y="139065"/>
                  <a:pt x="38160" y="134243"/>
                </a:cubicBezTo>
                <a:cubicBezTo>
                  <a:pt x="38160" y="133648"/>
                  <a:pt x="38100" y="133112"/>
                  <a:pt x="37981" y="132517"/>
                </a:cubicBezTo>
                <a:lnTo>
                  <a:pt x="28575" y="85725"/>
                </a:lnTo>
                <a:lnTo>
                  <a:pt x="28575" y="46018"/>
                </a:lnTo>
                <a:lnTo>
                  <a:pt x="57150" y="51733"/>
                </a:lnTo>
                <a:lnTo>
                  <a:pt x="57150" y="85725"/>
                </a:lnTo>
                <a:cubicBezTo>
                  <a:pt x="57150" y="127814"/>
                  <a:pt x="91261" y="161925"/>
                  <a:pt x="133350" y="161925"/>
                </a:cubicBezTo>
                <a:cubicBezTo>
                  <a:pt x="175439" y="161925"/>
                  <a:pt x="209550" y="127814"/>
                  <a:pt x="209550" y="85725"/>
                </a:cubicBezTo>
                <a:lnTo>
                  <a:pt x="209550" y="51733"/>
                </a:lnTo>
                <a:lnTo>
                  <a:pt x="255210" y="42624"/>
                </a:lnTo>
                <a:cubicBezTo>
                  <a:pt x="261878" y="41255"/>
                  <a:pt x="266700" y="35362"/>
                  <a:pt x="266700" y="28575"/>
                </a:cubicBezTo>
                <a:cubicBezTo>
                  <a:pt x="266700" y="21788"/>
                  <a:pt x="261878" y="15895"/>
                  <a:pt x="255210" y="14585"/>
                </a:cubicBezTo>
                <a:lnTo>
                  <a:pt x="143649" y="-7739"/>
                </a:lnTo>
                <a:close/>
                <a:moveTo>
                  <a:pt x="133350" y="133350"/>
                </a:moveTo>
                <a:cubicBezTo>
                  <a:pt x="107037" y="133350"/>
                  <a:pt x="85725" y="112038"/>
                  <a:pt x="85725" y="85725"/>
                </a:cubicBezTo>
                <a:lnTo>
                  <a:pt x="180975" y="85725"/>
                </a:lnTo>
                <a:cubicBezTo>
                  <a:pt x="180975" y="112038"/>
                  <a:pt x="159663" y="133350"/>
                  <a:pt x="133350" y="133350"/>
                </a:cubicBezTo>
                <a:close/>
                <a:moveTo>
                  <a:pt x="71497" y="190560"/>
                </a:moveTo>
                <a:cubicBezTo>
                  <a:pt x="34945" y="207347"/>
                  <a:pt x="9525" y="244257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119062" y="304800"/>
                </a:lnTo>
                <a:lnTo>
                  <a:pt x="119062" y="217884"/>
                </a:lnTo>
                <a:lnTo>
                  <a:pt x="84892" y="192286"/>
                </a:lnTo>
                <a:cubicBezTo>
                  <a:pt x="81022" y="189369"/>
                  <a:pt x="75843" y="188595"/>
                  <a:pt x="71438" y="190619"/>
                </a:cubicBezTo>
                <a:close/>
                <a:moveTo>
                  <a:pt x="147638" y="304800"/>
                </a:moveTo>
                <a:lnTo>
                  <a:pt x="239494" y="304800"/>
                </a:lnTo>
                <a:cubicBezTo>
                  <a:pt x="249257" y="304800"/>
                  <a:pt x="257175" y="296882"/>
                  <a:pt x="257175" y="287119"/>
                </a:cubicBezTo>
                <a:cubicBezTo>
                  <a:pt x="257175" y="244257"/>
                  <a:pt x="231755" y="207347"/>
                  <a:pt x="195203" y="190619"/>
                </a:cubicBezTo>
                <a:cubicBezTo>
                  <a:pt x="190798" y="188595"/>
                  <a:pt x="185618" y="189369"/>
                  <a:pt x="181749" y="192286"/>
                </a:cubicBezTo>
                <a:lnTo>
                  <a:pt x="147578" y="217884"/>
                </a:lnTo>
                <a:lnTo>
                  <a:pt x="147578" y="30480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303000" y="2413000"/>
            <a:ext cx="393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Records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info + Date of Birth + Address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858500" y="349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9062" y="28575"/>
                </a:moveTo>
                <a:lnTo>
                  <a:pt x="185738" y="28575"/>
                </a:lnTo>
                <a:cubicBezTo>
                  <a:pt x="188357" y="28575"/>
                  <a:pt x="190500" y="30718"/>
                  <a:pt x="190500" y="33338"/>
                </a:cubicBezTo>
                <a:lnTo>
                  <a:pt x="190500" y="57150"/>
                </a:lnTo>
                <a:lnTo>
                  <a:pt x="114300" y="57150"/>
                </a:lnTo>
                <a:lnTo>
                  <a:pt x="114300" y="33338"/>
                </a:lnTo>
                <a:cubicBezTo>
                  <a:pt x="114300" y="30718"/>
                  <a:pt x="116443" y="28575"/>
                  <a:pt x="119062" y="28575"/>
                </a:cubicBezTo>
                <a:close/>
                <a:moveTo>
                  <a:pt x="85725" y="33338"/>
                </a:moveTo>
                <a:lnTo>
                  <a:pt x="85725" y="57150"/>
                </a:lnTo>
                <a:lnTo>
                  <a:pt x="38100" y="57150"/>
                </a:lnTo>
                <a:cubicBezTo>
                  <a:pt x="17085" y="57150"/>
                  <a:pt x="0" y="74235"/>
                  <a:pt x="0" y="95250"/>
                </a:cubicBezTo>
                <a:lnTo>
                  <a:pt x="0" y="152400"/>
                </a:lnTo>
                <a:lnTo>
                  <a:pt x="304800" y="152400"/>
                </a:lnTo>
                <a:lnTo>
                  <a:pt x="304800" y="95250"/>
                </a:lnTo>
                <a:cubicBezTo>
                  <a:pt x="304800" y="74235"/>
                  <a:pt x="287715" y="57150"/>
                  <a:pt x="266700" y="57150"/>
                </a:cubicBezTo>
                <a:lnTo>
                  <a:pt x="219075" y="57150"/>
                </a:lnTo>
                <a:lnTo>
                  <a:pt x="219075" y="33338"/>
                </a:lnTo>
                <a:cubicBezTo>
                  <a:pt x="219075" y="14942"/>
                  <a:pt x="204133" y="0"/>
                  <a:pt x="185738" y="0"/>
                </a:cubicBezTo>
                <a:lnTo>
                  <a:pt x="119062" y="0"/>
                </a:lnTo>
                <a:cubicBezTo>
                  <a:pt x="100667" y="0"/>
                  <a:pt x="85725" y="14942"/>
                  <a:pt x="85725" y="33338"/>
                </a:cubicBezTo>
                <a:close/>
                <a:moveTo>
                  <a:pt x="304800" y="180975"/>
                </a:moveTo>
                <a:lnTo>
                  <a:pt x="190500" y="180975"/>
                </a:lnTo>
                <a:lnTo>
                  <a:pt x="190500" y="190500"/>
                </a:lnTo>
                <a:cubicBezTo>
                  <a:pt x="190500" y="201037"/>
                  <a:pt x="181987" y="209550"/>
                  <a:pt x="171450" y="209550"/>
                </a:cubicBezTo>
                <a:lnTo>
                  <a:pt x="133350" y="209550"/>
                </a:lnTo>
                <a:cubicBezTo>
                  <a:pt x="122813" y="209550"/>
                  <a:pt x="114300" y="201037"/>
                  <a:pt x="114300" y="190500"/>
                </a:cubicBezTo>
                <a:lnTo>
                  <a:pt x="114300" y="180975"/>
                </a:lnTo>
                <a:lnTo>
                  <a:pt x="0" y="180975"/>
                </a:ln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66700" y="285750"/>
                </a:lnTo>
                <a:cubicBezTo>
                  <a:pt x="287715" y="285750"/>
                  <a:pt x="304800" y="268665"/>
                  <a:pt x="304800" y="247650"/>
                </a:cubicBezTo>
                <a:lnTo>
                  <a:pt x="304800" y="180975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1303000" y="3429000"/>
            <a:ext cx="393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Databases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+ Join Date + Department details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877550" y="4508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19908" y="76200"/>
                </a:moveTo>
                <a:lnTo>
                  <a:pt x="199489" y="47625"/>
                </a:lnTo>
                <a:lnTo>
                  <a:pt x="67270" y="47625"/>
                </a:lnTo>
                <a:lnTo>
                  <a:pt x="46851" y="76200"/>
                </a:lnTo>
                <a:lnTo>
                  <a:pt x="219908" y="76200"/>
                </a:lnTo>
                <a:close/>
                <a:moveTo>
                  <a:pt x="0" y="88404"/>
                </a:moveTo>
                <a:cubicBezTo>
                  <a:pt x="0" y="80486"/>
                  <a:pt x="2500" y="72747"/>
                  <a:pt x="7084" y="66258"/>
                </a:cubicBezTo>
                <a:lnTo>
                  <a:pt x="36255" y="25479"/>
                </a:lnTo>
                <a:cubicBezTo>
                  <a:pt x="43398" y="15478"/>
                  <a:pt x="54947" y="9525"/>
                  <a:pt x="67211" y="9525"/>
                </a:cubicBezTo>
                <a:lnTo>
                  <a:pt x="199430" y="9525"/>
                </a:lnTo>
                <a:cubicBezTo>
                  <a:pt x="211753" y="9525"/>
                  <a:pt x="223302" y="15478"/>
                  <a:pt x="230445" y="25479"/>
                </a:cubicBezTo>
                <a:lnTo>
                  <a:pt x="259556" y="66258"/>
                </a:lnTo>
                <a:cubicBezTo>
                  <a:pt x="264200" y="72747"/>
                  <a:pt x="266640" y="80486"/>
                  <a:pt x="266640" y="88404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88404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11303000" y="4445000"/>
            <a:ext cx="393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Catalogs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+ Category + Manufacturer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839450" y="5651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76200" y="38100"/>
                </a:moveTo>
                <a:cubicBezTo>
                  <a:pt x="76200" y="17085"/>
                  <a:pt x="93285" y="0"/>
                  <a:pt x="114300" y="0"/>
                </a:cubicBezTo>
                <a:lnTo>
                  <a:pt x="228600" y="0"/>
                </a:lnTo>
                <a:cubicBezTo>
                  <a:pt x="249615" y="0"/>
                  <a:pt x="266700" y="17085"/>
                  <a:pt x="266700" y="38100"/>
                </a:cubicBezTo>
                <a:lnTo>
                  <a:pt x="266700" y="76200"/>
                </a:lnTo>
                <a:lnTo>
                  <a:pt x="304800" y="76200"/>
                </a:lnTo>
                <a:cubicBezTo>
                  <a:pt x="325815" y="76200"/>
                  <a:pt x="342900" y="93285"/>
                  <a:pt x="342900" y="114300"/>
                </a:cubicBezTo>
                <a:lnTo>
                  <a:pt x="342900" y="266700"/>
                </a:lnTo>
                <a:cubicBezTo>
                  <a:pt x="342900" y="287715"/>
                  <a:pt x="325815" y="304800"/>
                  <a:pt x="3048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14300"/>
                </a:lnTo>
                <a:cubicBezTo>
                  <a:pt x="0" y="93285"/>
                  <a:pt x="17085" y="76200"/>
                  <a:pt x="38100" y="76200"/>
                </a:cubicBezTo>
                <a:lnTo>
                  <a:pt x="76200" y="76200"/>
                </a:lnTo>
                <a:lnTo>
                  <a:pt x="76200" y="38100"/>
                </a:lnTo>
                <a:close/>
                <a:moveTo>
                  <a:pt x="161925" y="209550"/>
                </a:moveTo>
                <a:cubicBezTo>
                  <a:pt x="151388" y="209550"/>
                  <a:pt x="142875" y="218063"/>
                  <a:pt x="142875" y="228600"/>
                </a:cubicBezTo>
                <a:lnTo>
                  <a:pt x="142875" y="276225"/>
                </a:lnTo>
                <a:lnTo>
                  <a:pt x="200025" y="276225"/>
                </a:lnTo>
                <a:lnTo>
                  <a:pt x="200025" y="228600"/>
                </a:lnTo>
                <a:cubicBezTo>
                  <a:pt x="200025" y="218063"/>
                  <a:pt x="191512" y="209550"/>
                  <a:pt x="180975" y="209550"/>
                </a:cubicBezTo>
                <a:lnTo>
                  <a:pt x="161925" y="209550"/>
                </a:lnTo>
                <a:close/>
                <a:moveTo>
                  <a:pt x="76200" y="219075"/>
                </a:moveTo>
                <a:lnTo>
                  <a:pt x="76200" y="200025"/>
                </a:lnTo>
                <a:cubicBezTo>
                  <a:pt x="76200" y="194786"/>
                  <a:pt x="71914" y="190500"/>
                  <a:pt x="66675" y="190500"/>
                </a:cubicBezTo>
                <a:lnTo>
                  <a:pt x="47625" y="190500"/>
                </a:lnTo>
                <a:cubicBezTo>
                  <a:pt x="42386" y="190500"/>
                  <a:pt x="38100" y="194786"/>
                  <a:pt x="38100" y="200025"/>
                </a:cubicBezTo>
                <a:lnTo>
                  <a:pt x="38100" y="219075"/>
                </a:lnTo>
                <a:cubicBezTo>
                  <a:pt x="38100" y="224314"/>
                  <a:pt x="42386" y="228600"/>
                  <a:pt x="47625" y="228600"/>
                </a:cubicBezTo>
                <a:lnTo>
                  <a:pt x="66675" y="228600"/>
                </a:lnTo>
                <a:cubicBezTo>
                  <a:pt x="71914" y="228600"/>
                  <a:pt x="76200" y="224314"/>
                  <a:pt x="76200" y="219075"/>
                </a:cubicBezTo>
                <a:close/>
                <a:moveTo>
                  <a:pt x="66675" y="152400"/>
                </a:moveTo>
                <a:cubicBezTo>
                  <a:pt x="71914" y="152400"/>
                  <a:pt x="76200" y="148114"/>
                  <a:pt x="76200" y="142875"/>
                </a:cubicBezTo>
                <a:lnTo>
                  <a:pt x="76200" y="123825"/>
                </a:lnTo>
                <a:cubicBezTo>
                  <a:pt x="76200" y="118586"/>
                  <a:pt x="71914" y="114300"/>
                  <a:pt x="66675" y="114300"/>
                </a:cubicBezTo>
                <a:lnTo>
                  <a:pt x="47625" y="114300"/>
                </a:lnTo>
                <a:cubicBezTo>
                  <a:pt x="42386" y="114300"/>
                  <a:pt x="38100" y="118586"/>
                  <a:pt x="38100" y="123825"/>
                </a:cubicBezTo>
                <a:lnTo>
                  <a:pt x="38100" y="142875"/>
                </a:lnTo>
                <a:cubicBezTo>
                  <a:pt x="38100" y="148114"/>
                  <a:pt x="42386" y="152400"/>
                  <a:pt x="47625" y="152400"/>
                </a:cubicBezTo>
                <a:lnTo>
                  <a:pt x="66675" y="152400"/>
                </a:lnTo>
                <a:close/>
                <a:moveTo>
                  <a:pt x="304800" y="219075"/>
                </a:moveTo>
                <a:lnTo>
                  <a:pt x="304800" y="200025"/>
                </a:lnTo>
                <a:cubicBezTo>
                  <a:pt x="304800" y="194786"/>
                  <a:pt x="300514" y="190500"/>
                  <a:pt x="295275" y="190500"/>
                </a:cubicBezTo>
                <a:lnTo>
                  <a:pt x="276225" y="190500"/>
                </a:lnTo>
                <a:cubicBezTo>
                  <a:pt x="270986" y="190500"/>
                  <a:pt x="266700" y="194786"/>
                  <a:pt x="266700" y="200025"/>
                </a:cubicBezTo>
                <a:lnTo>
                  <a:pt x="266700" y="219075"/>
                </a:lnTo>
                <a:cubicBezTo>
                  <a:pt x="266700" y="224314"/>
                  <a:pt x="270986" y="228600"/>
                  <a:pt x="276225" y="228600"/>
                </a:cubicBezTo>
                <a:lnTo>
                  <a:pt x="295275" y="228600"/>
                </a:lnTo>
                <a:cubicBezTo>
                  <a:pt x="300514" y="228600"/>
                  <a:pt x="304800" y="224314"/>
                  <a:pt x="304800" y="219075"/>
                </a:cubicBezTo>
                <a:close/>
                <a:moveTo>
                  <a:pt x="295275" y="152400"/>
                </a:moveTo>
                <a:cubicBezTo>
                  <a:pt x="300514" y="152400"/>
                  <a:pt x="304800" y="148114"/>
                  <a:pt x="304800" y="142875"/>
                </a:cubicBezTo>
                <a:lnTo>
                  <a:pt x="304800" y="123825"/>
                </a:lnTo>
                <a:cubicBezTo>
                  <a:pt x="304800" y="118586"/>
                  <a:pt x="300514" y="114300"/>
                  <a:pt x="295275" y="114300"/>
                </a:cubicBezTo>
                <a:lnTo>
                  <a:pt x="276225" y="114300"/>
                </a:lnTo>
                <a:cubicBezTo>
                  <a:pt x="270986" y="114300"/>
                  <a:pt x="266700" y="118586"/>
                  <a:pt x="266700" y="123825"/>
                </a:cubicBezTo>
                <a:lnTo>
                  <a:pt x="266700" y="142875"/>
                </a:lnTo>
                <a:cubicBezTo>
                  <a:pt x="266700" y="148114"/>
                  <a:pt x="270986" y="152400"/>
                  <a:pt x="276225" y="152400"/>
                </a:cubicBezTo>
                <a:lnTo>
                  <a:pt x="295275" y="152400"/>
                </a:lnTo>
                <a:close/>
                <a:moveTo>
                  <a:pt x="157163" y="61912"/>
                </a:moveTo>
                <a:lnTo>
                  <a:pt x="157163" y="80962"/>
                </a:lnTo>
                <a:lnTo>
                  <a:pt x="138113" y="80962"/>
                </a:lnTo>
                <a:cubicBezTo>
                  <a:pt x="132874" y="80962"/>
                  <a:pt x="128588" y="85249"/>
                  <a:pt x="128588" y="90488"/>
                </a:cubicBezTo>
                <a:lnTo>
                  <a:pt x="128588" y="100013"/>
                </a:lnTo>
                <a:cubicBezTo>
                  <a:pt x="128588" y="105251"/>
                  <a:pt x="132874" y="109537"/>
                  <a:pt x="138113" y="109537"/>
                </a:cubicBezTo>
                <a:lnTo>
                  <a:pt x="157163" y="109537"/>
                </a:lnTo>
                <a:lnTo>
                  <a:pt x="157163" y="128588"/>
                </a:lnTo>
                <a:cubicBezTo>
                  <a:pt x="157163" y="133826"/>
                  <a:pt x="161449" y="138113"/>
                  <a:pt x="166688" y="138113"/>
                </a:cubicBezTo>
                <a:lnTo>
                  <a:pt x="176212" y="138113"/>
                </a:lnTo>
                <a:cubicBezTo>
                  <a:pt x="181451" y="138113"/>
                  <a:pt x="185738" y="133826"/>
                  <a:pt x="185738" y="128588"/>
                </a:cubicBezTo>
                <a:lnTo>
                  <a:pt x="185738" y="109537"/>
                </a:lnTo>
                <a:lnTo>
                  <a:pt x="204787" y="109537"/>
                </a:lnTo>
                <a:cubicBezTo>
                  <a:pt x="210026" y="109537"/>
                  <a:pt x="214313" y="105251"/>
                  <a:pt x="214313" y="100013"/>
                </a:cubicBezTo>
                <a:lnTo>
                  <a:pt x="214313" y="90488"/>
                </a:lnTo>
                <a:cubicBezTo>
                  <a:pt x="214313" y="85249"/>
                  <a:pt x="210026" y="80962"/>
                  <a:pt x="204787" y="80962"/>
                </a:cubicBezTo>
                <a:lnTo>
                  <a:pt x="185738" y="80962"/>
                </a:lnTo>
                <a:lnTo>
                  <a:pt x="185738" y="61912"/>
                </a:lnTo>
                <a:cubicBezTo>
                  <a:pt x="185738" y="56674"/>
                  <a:pt x="181451" y="52388"/>
                  <a:pt x="176212" y="52388"/>
                </a:cubicBezTo>
                <a:lnTo>
                  <a:pt x="166688" y="52388"/>
                </a:lnTo>
                <a:cubicBezTo>
                  <a:pt x="161449" y="52388"/>
                  <a:pt x="157163" y="56674"/>
                  <a:pt x="157163" y="61912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1303000" y="5588000"/>
            <a:ext cx="393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Records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+ Diagnosis + Dates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89000" y="381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ENUMERATIONS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Enumerations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24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enumeration (enum)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user-defined data type consisting of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named constant values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 provides meaningful names to numeric constants, making code more readable and self-documenting.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794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Syntax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327400"/>
            <a:ext cx="6858000" cy="2032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3429000"/>
            <a:ext cx="6299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enum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Color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= 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GREEN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= 1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BLUE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= 2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435600"/>
            <a:ext cx="6858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Values start at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increment by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default. Each constant gets a unique integer value.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2794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Use Enumerations?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3327400"/>
            <a:ext cx="7112000" cy="266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63000" y="3530600"/>
            <a:ext cx="6350000" cy="238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Replace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magic numbers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names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 code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self-documenting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compiler type-checking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Improve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debugger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readability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Group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constants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together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62992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vs AFTER ENUMS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6756400"/>
            <a:ext cx="6858000" cy="9652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/>
        </p:spPr>
      </p:sp>
      <p:sp>
        <p:nvSpPr>
          <p:cNvPr id="16" name="Text 14"/>
          <p:cNvSpPr/>
          <p:nvPr/>
        </p:nvSpPr>
        <p:spPr>
          <a:xfrm>
            <a:off x="1041400" y="6807200"/>
            <a:ext cx="62992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(status == 2)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What does 2 mean?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(status == ACTIVE)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Crystal clear!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89000" y="381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ENUMERATIONS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Declaring Enumerations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ENUM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796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7" name="Text 5"/>
          <p:cNvSpPr/>
          <p:nvPr/>
        </p:nvSpPr>
        <p:spPr>
          <a:xfrm>
            <a:off x="1041400" y="2006600"/>
            <a:ext cx="4140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enum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Color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 RED, GREEN, BLUE };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RED=0, GREEN=1, BLUE=2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403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VALUES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8227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0" name="Text 8"/>
          <p:cNvSpPr/>
          <p:nvPr/>
        </p:nvSpPr>
        <p:spPr>
          <a:xfrm>
            <a:off x="1041400" y="3949700"/>
            <a:ext cx="4140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enum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Priority { LOW=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MED=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HIGH=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};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Explicit value assignment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3467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ENUM CLASS (C++11)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7658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41400" y="5892800"/>
            <a:ext cx="4140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enum class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Status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 OK, ERROR, WARN };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Strongly typed, scoped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72898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UNDERLYING TYPE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7708900"/>
            <a:ext cx="4699000" cy="762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41400" y="7810500"/>
            <a:ext cx="4140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enum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Color :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unsigned char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 ... };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0" y="1460500"/>
            <a:ext cx="9398000" cy="704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7000" y="1714500"/>
            <a:ext cx="863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of Enum Types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77000" y="2159000"/>
            <a:ext cx="8636000" cy="12700"/>
          </a:xfrm>
          <a:prstGeom prst="rect">
            <a:avLst/>
          </a:prstGeom>
          <a:solidFill>
            <a:srgbClr val="D5D0C8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7000" y="2349500"/>
          <a:ext cx="8636000" cy="3810000"/>
        </p:xfrm>
        <a:graphic>
          <a:graphicData uri="http://schemas.openxmlformats.org/drawingml/2006/table">
            <a:tbl>
              <a:tblPr/>
              <a:tblGrid>
                <a:gridCol w="2418080"/>
                <a:gridCol w="2072640"/>
                <a:gridCol w="2072640"/>
                <a:gridCol w="2072640"/>
              </a:tblGrid>
              <a:tr h="64986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Basic enum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 Values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enum class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</a:tr>
              <a:tr h="7900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 Safety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Weak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Weak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Strong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00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Scope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Global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Global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Scoped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7900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Implicit Cast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Allowed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Allowed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Explicit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00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Underlying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Configurable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477000" y="6477000"/>
            <a:ext cx="8636000" cy="8636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731000" y="6540500"/>
            <a:ext cx="812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enum 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all new C++ code. It provides type safety and prevents naming conflicts.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89000" y="381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ENUMERATIONS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Enumerations in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 DECLARATION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79600"/>
            <a:ext cx="7112000" cy="1016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7" name="Text 5"/>
          <p:cNvSpPr/>
          <p:nvPr/>
        </p:nvSpPr>
        <p:spPr>
          <a:xfrm>
            <a:off x="1041400" y="2006600"/>
            <a:ext cx="655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Color c = RED;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Basic enum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Status s = Status::OK;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enum class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49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 STATEMENT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568700"/>
            <a:ext cx="7112000" cy="2286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0" name="Text 8"/>
          <p:cNvSpPr/>
          <p:nvPr/>
        </p:nvSpPr>
        <p:spPr>
          <a:xfrm>
            <a:off x="1041400" y="3695700"/>
            <a:ext cx="65532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switch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(c)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RED: cout &lt;&lt;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"Red"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GREEN: cout &lt;&lt;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"Green"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BLUE: cout &lt;&lt;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"Blue"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cout &lt;&lt;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"Unknown"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9817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/ OUTPUT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400800"/>
            <a:ext cx="7112000" cy="15875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41400" y="6527800"/>
            <a:ext cx="65532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Output underlying value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cout &lt;&lt; 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)c;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C-style cast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static_cast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4D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&gt;(c);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C++ cast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Input requires conversion logic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36000" y="1460500"/>
            <a:ext cx="6858000" cy="6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17000" y="1714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Usage Rules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17000" y="2159000"/>
            <a:ext cx="6096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7" name="Text 15"/>
          <p:cNvSpPr/>
          <p:nvPr/>
        </p:nvSpPr>
        <p:spPr>
          <a:xfrm>
            <a:off x="9017000" y="2349500"/>
            <a:ext cx="6096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Declare with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enum type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enum class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Status::OK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ideal for enums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direct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 &gt;&gt;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enums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Cast to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output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Compare with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==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operator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in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parameters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be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types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89000" y="381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ENUMERATIONS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Enumerations vs Constants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Comparing different approaches to defining named constants in C++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3556000"/>
        </p:xfrm>
        <a:graphic>
          <a:graphicData uri="http://schemas.openxmlformats.org/drawingml/2006/table">
            <a:tbl>
              <a:tblPr/>
              <a:tblGrid>
                <a:gridCol w="2946400"/>
                <a:gridCol w="3977640"/>
                <a:gridCol w="3977640"/>
                <a:gridCol w="3830320"/>
              </a:tblGrid>
              <a:tr h="56946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#define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enum / enum class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 Safety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 (text replacement)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Typed + Scoped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Memory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 (preprocessor)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 variable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Efficient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Grouping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grouping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grouping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Related constants grouped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Debugger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visible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Visible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Friendly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59055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60325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#define (Preprocessor)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6413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#define PI 3.14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#define MAX 100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78500" y="59055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/>
        </p:spPr>
      </p:sp>
      <p:sp>
        <p:nvSpPr>
          <p:cNvPr id="11" name="Text 8"/>
          <p:cNvSpPr/>
          <p:nvPr/>
        </p:nvSpPr>
        <p:spPr>
          <a:xfrm>
            <a:off x="6032500" y="60325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7A8B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 (Variables)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32500" y="6413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 int MAX = 100;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 float PI = 3.14;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795000" y="59055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049000" y="60325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enum class (Recommended)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049000" y="6413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enum class Status {OK, ERROR};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s = Status::OK;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7620000"/>
            <a:ext cx="14732000" cy="6350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016000" y="76835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enum 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new code. Prefer enums over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#define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related constants. Use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single independent values.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81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1200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16764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16764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Paradigm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 software around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(data + behavior). Four pillars: Encapsulation, Abstraction, Inheritance, Polymorphism.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524000"/>
            <a:ext cx="711200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36000" y="16764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98000" y="16764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22225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User-defined type grouping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variables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Declare with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define variables, access with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dot operator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initialize with braces.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937000"/>
            <a:ext cx="711200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000" y="40894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78000" y="40894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Nested Structures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46355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Structures containing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 structures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hierarchical data. Use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dot operators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access nested members. Initialize with nested braces.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937000"/>
            <a:ext cx="711200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36000" y="40894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98000" y="40894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Enumerations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46355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Named constant sets for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readable code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Prefer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enum class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type safety. Use with switch statements. Cast to int for output.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413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666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721" y="25400"/>
                </a:moveTo>
                <a:lnTo>
                  <a:pt x="117237" y="25400"/>
                </a:lnTo>
                <a:cubicBezTo>
                  <a:pt x="93901" y="25400"/>
                  <a:pt x="73501" y="41354"/>
                  <a:pt x="67945" y="63976"/>
                </a:cubicBezTo>
                <a:lnTo>
                  <a:pt x="1111" y="333772"/>
                </a:lnTo>
                <a:cubicBezTo>
                  <a:pt x="-4842" y="357743"/>
                  <a:pt x="13335" y="381000"/>
                  <a:pt x="38100" y="381000"/>
                </a:cubicBezTo>
                <a:lnTo>
                  <a:pt x="177721" y="381000"/>
                </a:lnTo>
                <a:lnTo>
                  <a:pt x="177721" y="330200"/>
                </a:lnTo>
                <a:cubicBezTo>
                  <a:pt x="177721" y="316151"/>
                  <a:pt x="189071" y="304800"/>
                  <a:pt x="203121" y="304800"/>
                </a:cubicBezTo>
                <a:cubicBezTo>
                  <a:pt x="217170" y="304800"/>
                  <a:pt x="228521" y="316151"/>
                  <a:pt x="228521" y="330200"/>
                </a:cubicBezTo>
                <a:lnTo>
                  <a:pt x="228521" y="381000"/>
                </a:lnTo>
                <a:lnTo>
                  <a:pt x="368300" y="381000"/>
                </a:lnTo>
                <a:cubicBezTo>
                  <a:pt x="393065" y="381000"/>
                  <a:pt x="411242" y="357743"/>
                  <a:pt x="405289" y="333772"/>
                </a:cubicBezTo>
                <a:lnTo>
                  <a:pt x="338534" y="63976"/>
                </a:lnTo>
                <a:cubicBezTo>
                  <a:pt x="332899" y="41354"/>
                  <a:pt x="312579" y="25400"/>
                  <a:pt x="289163" y="25400"/>
                </a:cubicBezTo>
                <a:lnTo>
                  <a:pt x="228521" y="25400"/>
                </a:lnTo>
                <a:lnTo>
                  <a:pt x="228521" y="76200"/>
                </a:lnTo>
                <a:cubicBezTo>
                  <a:pt x="228521" y="90249"/>
                  <a:pt x="217170" y="101600"/>
                  <a:pt x="203121" y="101600"/>
                </a:cubicBezTo>
                <a:cubicBezTo>
                  <a:pt x="189071" y="101600"/>
                  <a:pt x="177721" y="90249"/>
                  <a:pt x="177721" y="76200"/>
                </a:cubicBezTo>
                <a:lnTo>
                  <a:pt x="177721" y="25400"/>
                </a:lnTo>
                <a:close/>
                <a:moveTo>
                  <a:pt x="228521" y="177800"/>
                </a:moveTo>
                <a:lnTo>
                  <a:pt x="228521" y="228600"/>
                </a:lnTo>
                <a:cubicBezTo>
                  <a:pt x="228521" y="242649"/>
                  <a:pt x="217170" y="254000"/>
                  <a:pt x="203121" y="254000"/>
                </a:cubicBezTo>
                <a:cubicBezTo>
                  <a:pt x="189071" y="254000"/>
                  <a:pt x="177721" y="242649"/>
                  <a:pt x="177721" y="228600"/>
                </a:cubicBezTo>
                <a:lnTo>
                  <a:pt x="177721" y="177800"/>
                </a:lnTo>
                <a:cubicBezTo>
                  <a:pt x="177721" y="163751"/>
                  <a:pt x="189071" y="152400"/>
                  <a:pt x="203121" y="152400"/>
                </a:cubicBezTo>
                <a:cubicBezTo>
                  <a:pt x="217170" y="152400"/>
                  <a:pt x="228521" y="163751"/>
                  <a:pt x="228521" y="1778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1714500" y="65405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 to Next Week: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Structures and enums are the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foundational building blocks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Classes and Objects — the core of Object Oriented Programming. Master these concepts to excel in advanced OOP topics.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D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84000" y="508000"/>
            <a:ext cx="4064000" cy="4064000"/>
          </a:xfrm>
          <a:prstGeom prst="ellipse">
            <a:avLst/>
          </a:prstGeom>
          <a:solidFill>
            <a:srgbClr val="D4943A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335000" y="5715000"/>
            <a:ext cx="2921000" cy="2921000"/>
          </a:xfrm>
          <a:prstGeom prst="ellipse">
            <a:avLst/>
          </a:prstGeom>
          <a:solidFill>
            <a:srgbClr val="D4943A">
              <a:alpha val="2353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8000" y="6604000"/>
            <a:ext cx="1778000" cy="1778000"/>
          </a:xfrm>
          <a:prstGeom prst="roundRect">
            <a:avLst>
              <a:gd name="adj" fmla="val 12000"/>
            </a:avLst>
          </a:prstGeom>
          <a:solidFill>
            <a:srgbClr val="D4943A">
              <a:alpha val="3137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83000" y="2540000"/>
            <a:ext cx="889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3619500"/>
            <a:ext cx="254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3683000" y="3937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1 — Introduction to OOP, Structures &amp; Enumerations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18000" y="5080000"/>
            <a:ext cx="7620000" cy="1270000"/>
          </a:xfrm>
          <a:prstGeom prst="roundRect">
            <a:avLst>
              <a:gd name="adj" fmla="val 8000"/>
            </a:avLst>
          </a:prstGeom>
          <a:solidFill>
            <a:srgbClr val="D4943A">
              <a:alpha val="8235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99000" y="54229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8939" y="221139"/>
                </a:moveTo>
                <a:cubicBezTo>
                  <a:pt x="408861" y="211217"/>
                  <a:pt x="408861" y="195104"/>
                  <a:pt x="398939" y="185182"/>
                </a:cubicBezTo>
                <a:lnTo>
                  <a:pt x="271939" y="58182"/>
                </a:lnTo>
                <a:cubicBezTo>
                  <a:pt x="262017" y="48260"/>
                  <a:pt x="245904" y="48260"/>
                  <a:pt x="235982" y="58182"/>
                </a:cubicBezTo>
                <a:cubicBezTo>
                  <a:pt x="226060" y="68104"/>
                  <a:pt x="226060" y="84217"/>
                  <a:pt x="235982" y="94139"/>
                </a:cubicBezTo>
                <a:lnTo>
                  <a:pt x="319643" y="177800"/>
                </a:lnTo>
                <a:lnTo>
                  <a:pt x="25400" y="177800"/>
                </a:ln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319643" y="228600"/>
                </a:lnTo>
                <a:lnTo>
                  <a:pt x="235982" y="312261"/>
                </a:lnTo>
                <a:cubicBezTo>
                  <a:pt x="226060" y="322183"/>
                  <a:pt x="226060" y="338296"/>
                  <a:pt x="235982" y="348218"/>
                </a:cubicBezTo>
                <a:cubicBezTo>
                  <a:pt x="245904" y="358140"/>
                  <a:pt x="262017" y="358140"/>
                  <a:pt x="271939" y="348218"/>
                </a:cubicBezTo>
                <a:lnTo>
                  <a:pt x="398939" y="22121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5270500" y="5270500"/>
            <a:ext cx="635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Week: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Classes and Objects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core of Object Oriented Programming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18000" y="6858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Practice exercises available on the course portal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- Week 1</dc:title>
  <dc:subject>Object Oriented Programming - Week 1</dc:subject>
  <dc:creator>Kimi</dc:creator>
  <cp:lastModifiedBy>Kimi</cp:lastModifiedBy>
  <cp:revision>1</cp:revision>
  <dcterms:created xsi:type="dcterms:W3CDTF">2026-05-26T11:38:17Z</dcterms:created>
  <dcterms:modified xsi:type="dcterms:W3CDTF">2026-05-26T11:38:17Z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{"Label":"Object Oriented Programming - Week 1","ContentProducer":"001191110108MACG2KBH8F10000","ProduceID":"19e64046-63a2-86ea-8000-0000c189583b","ReservedCode1":"","ContentPropagator":"001191110108MACG2KBH8F20000","PropagateID":"19e64046-63a2-86ea-8000-0000c189583b","ReservedCode2":""}</vt:lpwstr>
  </property>
</Properties>
</file>