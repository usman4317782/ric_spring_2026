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Functions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C++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0467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529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L21: Virtual Functions &amp; Abstract Base Classes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80467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5584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L22: Normal vs Virtual Functions with Pointers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0467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5876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CLO 3 — Inheritance, Aggregation &amp; Composition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109728" cy="1371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L21 — Virtual Functions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· Pure Virtual · Abstract Base Class · Concrete Derived Class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L21 — Virtual Function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Virtual Function?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Definition:  A member function declared with the virtual keyword in a base class that is overridden in derived classes. It enables Runtime Polymorphism — the correct function is called based on the actual object type, not the pointer type.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3931920" cy="1188720"/>
          </a:xfrm>
          <a:prstGeom prst="rect">
            <a:avLst/>
          </a:prstGeom>
          <a:solidFill>
            <a:srgbClr val="1C1C2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21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Real-World 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Remote control has a button pressButton(). Each device (TV, AC, Fan) responds differently when the button is pressed — same call, different behaviour.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2103120"/>
            <a:ext cx="4297680" cy="1188720"/>
          </a:xfrm>
          <a:prstGeom prst="rect">
            <a:avLst/>
          </a:prstGeom>
          <a:solidFill>
            <a:srgbClr val="1C1C2E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121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Points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Declared with virtual keyword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6243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Overridden in derived class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82549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Called via base class pointer/reference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30266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Resolved at runtime (dynamic binding)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841248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456432"/>
            <a:ext cx="826617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void speak() {        // virtual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"Animal speaks";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: public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speak() override {       // overridden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"Dog barks";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Animal* a = new Dog();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a-&gt;speak();  // Output: Dog barks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L21 — Abstract Base Class (ABC)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Class &amp; Pure Virtual Function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A Pure Virtual Function is a virtual function with = 0. A class containing at least one pure virtual function becomes an Abstract Base Class (ABC). ABC cannot be instantiated — it serves as a blueprint for derived classes.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3931920" cy="1143000"/>
          </a:xfrm>
          <a:prstGeom prst="rect">
            <a:avLst/>
          </a:prstGeom>
          <a:solidFill>
            <a:srgbClr val="1C1C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Real-World 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is abstract — you can't draw just a 'Shape'. But Circle, Rectangle, Triangle are concrete shapes that each know how to draw() themselves.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2029968"/>
            <a:ext cx="4297680" cy="1143000"/>
          </a:xfrm>
          <a:prstGeom prst="rect">
            <a:avLst/>
          </a:prstGeom>
          <a:solidFill>
            <a:srgbClr val="1C1C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57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Rules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virtual void fn() = 0;  → pure virtual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17720" y="25328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ABC cannot be instantiated directly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273405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Derived class MUST override all pure virtuals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17720" y="29352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If not overridden → derived is also abstract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64408"/>
            <a:ext cx="841248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337560"/>
            <a:ext cx="8266176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Shape {                        // Abstract Base Class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void draw() = 0;           // pure virtual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double area()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Circle : public Shape {        // Concrete Derived Class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Circle(double r) : r(r) {}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draw() override { cout &lt;&lt; "Drawing Circle";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area() override { return 3.14 * r * r;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Shape s;   ← ERROR! Cannot instantiate ABC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Shape* s = new Circle(5);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s-&gt;draw();    // Output: Drawing Circle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L21 — Concrete Derived Class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vs Concrete Class — Comparison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468880" cy="34747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0700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188720"/>
            <a:ext cx="3017520" cy="34747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120700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Class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971800" cy="34747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0" name="Text 8"/>
          <p:cNvSpPr/>
          <p:nvPr/>
        </p:nvSpPr>
        <p:spPr>
          <a:xfrm>
            <a:off x="6080760" y="120700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Derived Class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24688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15910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1572768"/>
            <a:ext cx="3017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2990088" y="159105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 create object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572768"/>
            <a:ext cx="29718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48" y="1591056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Can create object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956816"/>
            <a:ext cx="246888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19751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Virtual Fn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0" y="1956816"/>
            <a:ext cx="3017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0" name="Text 18"/>
          <p:cNvSpPr/>
          <p:nvPr/>
        </p:nvSpPr>
        <p:spPr>
          <a:xfrm>
            <a:off x="2990088" y="197510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Has = 0 functions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956816"/>
            <a:ext cx="297180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2" name="Text 20"/>
          <p:cNvSpPr/>
          <p:nvPr/>
        </p:nvSpPr>
        <p:spPr>
          <a:xfrm>
            <a:off x="6099048" y="1975104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override all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340864"/>
            <a:ext cx="24688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23591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6080" y="2340864"/>
            <a:ext cx="3017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2990088" y="235915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/ Interface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2340864"/>
            <a:ext cx="29718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2359152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Implementation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724912"/>
            <a:ext cx="246888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" y="27432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926080" y="2724912"/>
            <a:ext cx="3017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2" name="Text 30"/>
          <p:cNvSpPr/>
          <p:nvPr/>
        </p:nvSpPr>
        <p:spPr>
          <a:xfrm>
            <a:off x="2990088" y="274320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Animal, Vehicle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2724912"/>
            <a:ext cx="297180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4" name="Text 32"/>
          <p:cNvSpPr/>
          <p:nvPr/>
        </p:nvSpPr>
        <p:spPr>
          <a:xfrm>
            <a:off x="6099048" y="274320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Dog, Car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246120"/>
            <a:ext cx="841248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319272"/>
            <a:ext cx="8266176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Full Example: ABC + Multiple Concrete Classes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Vehicle {                       // ABC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void fuel() = 0;           // pure virtual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void move()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 : public Vehicle {          // Concrete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fuel() override { cout &lt;&lt; "Petrol";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move() override { cout &lt;&lt; "Car drives";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Bicycle : public Vehicle {      // Concrete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fuel() override { cout &lt;&lt; "No fuel";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move() override { cout &lt;&lt; "Bicycle pedals";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109728" cy="1371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L22 — Functions with Pointers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Member Functions · Virtual Member Functions · Static vs Dynamic Binding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L22 — Normal Member Functions with Pointers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Binding (Compile-Time)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When a function is NOT virtual, C++ resolves the call at compile time based on the pointer type — NOT the actual object type. This is called Static Binding or Early Binding. The pointer type determines which function runs.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3931920" cy="914400"/>
          </a:xfrm>
          <a:prstGeom prst="rect">
            <a:avLst/>
          </a:prstGeom>
          <a:solidFill>
            <a:srgbClr val="1C1C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Real-World Analogy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 TV remote always runs its own default 'Volume Up' — regardless of what device it's pointed at. It ignores the device's own method.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2029968"/>
            <a:ext cx="4297680" cy="914400"/>
          </a:xfrm>
          <a:prstGeom prst="rect">
            <a:avLst/>
          </a:prstGeom>
          <a:solidFill>
            <a:srgbClr val="1C1C2E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57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 with Static Binding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class pointer calls BASE function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7720" y="25328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 if object is Derived type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273405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Derived class override is IGNORED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17720" y="29352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is always the Base class version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841248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108960"/>
            <a:ext cx="826617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speak() {              // NOT virtual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"Animal speaks";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: public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speak() {              // Override (not virtual)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"Dog barks";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Animal* a = new Dog();      // pointer type = Animal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a-&gt;speak();  // Output: Animal speaks  ← static binding!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L22 — Virtual Member Functions with Pointers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Binding (Runtime)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When a function IS virtual, C++ resolves the call at runtime based on the actual object type — NOT the pointer type. This is called Dynamic Binding or Late Binding. A vtable (virtual table) is used internally to find the correct function.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3931920" cy="914400"/>
          </a:xfrm>
          <a:prstGeom prst="rect">
            <a:avLst/>
          </a:prstGeom>
          <a:solidFill>
            <a:srgbClr val="1C1C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Real-World Analogy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remote dynamically detects the device it's controlling. When pointed at a TV it runs TV's Volume Up; at AC it runs AC's method. The device decides!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2029968"/>
            <a:ext cx="4297680" cy="914400"/>
          </a:xfrm>
          <a:prstGeom prst="rect">
            <a:avLst/>
          </a:prstGeom>
          <a:solidFill>
            <a:srgbClr val="1C1C2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57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Benefit of Dynamic Binding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pointer calls DERIVED function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7720" y="25328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function runs at runtime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273405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Enables true polymorphism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17720" y="29352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interface → many implementations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841248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108960"/>
            <a:ext cx="826617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void speak() {      // virtual keyword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"Animal speaks";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: public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speak() override {     // overridden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"Dog barks";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Animal* a = new Dog();      // pointer type = Animal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a-&gt;speak();  // Output: Dog barks  ← dynamic binding!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Dynamic Binding — Side by Side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 explained with code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468880" cy="32918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" y="10698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051560"/>
            <a:ext cx="3017520" cy="32918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2980944" y="10698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(Static)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971800" cy="32918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0" name="Text 8"/>
          <p:cNvSpPr/>
          <p:nvPr/>
        </p:nvSpPr>
        <p:spPr>
          <a:xfrm>
            <a:off x="6089904" y="106984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(Dynamic)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417320"/>
            <a:ext cx="24688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1435608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1417320"/>
            <a:ext cx="301752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2990088" y="1435608"/>
            <a:ext cx="29260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(none)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9718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48" y="1435608"/>
            <a:ext cx="2880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755648"/>
            <a:ext cx="2468880" cy="3200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1773936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0" y="1755648"/>
            <a:ext cx="3017520" cy="3200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0" name="Text 18"/>
          <p:cNvSpPr/>
          <p:nvPr/>
        </p:nvSpPr>
        <p:spPr>
          <a:xfrm>
            <a:off x="2990088" y="1773936"/>
            <a:ext cx="29260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 Time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755648"/>
            <a:ext cx="2971800" cy="3200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2" name="Text 20"/>
          <p:cNvSpPr/>
          <p:nvPr/>
        </p:nvSpPr>
        <p:spPr>
          <a:xfrm>
            <a:off x="6099048" y="1773936"/>
            <a:ext cx="2880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093976"/>
            <a:ext cx="24688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2112264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6080" y="2093976"/>
            <a:ext cx="301752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2990088" y="2112264"/>
            <a:ext cx="29260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 Type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2093976"/>
            <a:ext cx="29718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2112264"/>
            <a:ext cx="2880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Object Type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432304"/>
            <a:ext cx="2468880" cy="3200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" y="2450592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926080" y="2432304"/>
            <a:ext cx="3017520" cy="3200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2" name="Text 30"/>
          <p:cNvSpPr/>
          <p:nvPr/>
        </p:nvSpPr>
        <p:spPr>
          <a:xfrm>
            <a:off x="2990088" y="2450592"/>
            <a:ext cx="29260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version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2432304"/>
            <a:ext cx="2971800" cy="3200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4" name="Text 32"/>
          <p:cNvSpPr/>
          <p:nvPr/>
        </p:nvSpPr>
        <p:spPr>
          <a:xfrm>
            <a:off x="6099048" y="2450592"/>
            <a:ext cx="2880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Derived version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2770632"/>
            <a:ext cx="24688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429768" y="2788920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26080" y="2770632"/>
            <a:ext cx="301752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2990088" y="2788920"/>
            <a:ext cx="29260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Not polymorphic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35040" y="2770632"/>
            <a:ext cx="29718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099048" y="2788920"/>
            <a:ext cx="2880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True polymorphism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3108960"/>
            <a:ext cx="2468880" cy="3200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2" name="Text 40"/>
          <p:cNvSpPr/>
          <p:nvPr/>
        </p:nvSpPr>
        <p:spPr>
          <a:xfrm>
            <a:off x="429768" y="3127248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926080" y="3108960"/>
            <a:ext cx="3017520" cy="3200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4" name="Text 42"/>
          <p:cNvSpPr/>
          <p:nvPr/>
        </p:nvSpPr>
        <p:spPr>
          <a:xfrm>
            <a:off x="2990088" y="3127248"/>
            <a:ext cx="29260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Slightly faster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35040" y="3108960"/>
            <a:ext cx="2971800" cy="3200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6" name="Text 44"/>
          <p:cNvSpPr/>
          <p:nvPr/>
        </p:nvSpPr>
        <p:spPr>
          <a:xfrm>
            <a:off x="6099048" y="3127248"/>
            <a:ext cx="2880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 overhead (vtable)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3566160"/>
            <a:ext cx="8412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3639312"/>
            <a:ext cx="826617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Animal* a = new Dog();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virtual:  a-&gt;speak() → "Animal speaks"  (static)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   virtual:  a-&gt;speak() → "Dog barks"       (dynamic)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4315968"/>
            <a:ext cx="841248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352544"/>
            <a:ext cx="8138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Rule of Thumb: If you ever use a BASE CLASS POINTER to point to DERIVED objects, make functions virtual to get the correct behavior.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109728" cy="1371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3 — Assignment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Inheritance · Aggregation · Composition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 3 — Assignment Concepts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· Aggregation · Composition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170432"/>
          </a:xfrm>
          <a:prstGeom prst="rect">
            <a:avLst/>
          </a:prstGeom>
          <a:solidFill>
            <a:srgbClr val="1C1C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435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Inheritance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acquires properties of another class (IS-A relationship).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Dog IS-A Animal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1353312"/>
            <a:ext cx="33375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389888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: public Animal { };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1170432"/>
          </a:xfrm>
          <a:prstGeom prst="rect">
            <a:avLst/>
          </a:prstGeom>
          <a:solidFill>
            <a:srgbClr val="1C1C2E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237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Aggregation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52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weak relationship. Objects exist independently.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1821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University HAS-A Student (student exists without university)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2633472"/>
            <a:ext cx="33375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670048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Uni { Student* s; };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8412480" cy="1170432"/>
          </a:xfrm>
          <a:prstGeom prst="rect">
            <a:avLst/>
          </a:prstGeom>
          <a:solidFill>
            <a:srgbClr val="1C1C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039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Composition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1330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strong relationship. Child cannot exist without parent.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4622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House HAS-A Room (room can't exist without house)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3913632"/>
            <a:ext cx="333756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3950208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House { Room r; };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457200"/>
            <a:ext cx="3200400" cy="320040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— Quick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remember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2529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Virtual Function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4904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virtual; resolved at runtime via dynamic binding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3852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 Pure Virtual (= 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2037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class Abstract (ABC); cannot instantiate ABC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65176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Concrete Derived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9169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all pure virtual functions; can be instantiated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10128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36499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Normal + Pointer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630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binding → Base class function always called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078224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Virtual + Pointer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343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binding → Derived class function called (polymorphism)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170432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22529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CLO 3: Inheritance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14904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IS-A: class Dog : public Animal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883664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93852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CLO 3: Aggregation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22037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(weak): University has Students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596896"/>
            <a:ext cx="41605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65176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CLO 3: Composition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29169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 (strong): House has Rooms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2026-07-10T03:06:32Z</dcterms:created>
  <dcterms:modified xsi:type="dcterms:W3CDTF">2026-07-10T03:06:32Z</dcterms:modified>
</cp:coreProperties>
</file>