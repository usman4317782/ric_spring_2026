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6256000" cy="9144000"/>
  <p:notesSz cx="9144000" cy="16256000"/>
  <p:embeddedFontLst>
    <p:embeddedFont>
      <p:font typeface="Liter" charset="-122" pitchFamily="34"/>
      <p:regular r:id="rId34"/>
    </p:embeddedFont>
    <p:embeddedFont>
      <p:font typeface="Quattrocento Sans" charset="-122" pitchFamily="34"/>
      <p:regular r:id="rId3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openxmlformats.org/officeDocument/2006/relationships/font" Target="fonts/font1.fntdata"/><Relationship Id="rId35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302000"/>
            <a:ext cx="2540000" cy="50800"/>
          </a:xfrm>
          <a:prstGeom prst="rect">
            <a:avLst/>
          </a:prstGeom>
          <a:solidFill>
            <a:srgbClr val="C4863A"/>
          </a:solidFill>
          <a:ln/>
        </p:spPr>
      </p:sp>
      <p:sp>
        <p:nvSpPr>
          <p:cNvPr id="3" name="Text 1"/>
          <p:cNvSpPr/>
          <p:nvPr/>
        </p:nvSpPr>
        <p:spPr>
          <a:xfrm>
            <a:off x="1778000" y="35560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200" b="1" spc="100" kern="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Object Oriented Programming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318000" y="4572000"/>
            <a:ext cx="762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4 — Destructors &amp; Static Class Data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953000" y="53340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spc="200" kern="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7 &amp; 8 | STATIC CLASS DATA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8A9B8C">
              <a:alpha val="20000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8A9B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OOP — WEEK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1016000"/>
            <a:ext cx="50800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1803400"/>
            <a:ext cx="762000" cy="50800"/>
          </a:xfrm>
          <a:prstGeom prst="rect">
            <a:avLst/>
          </a:prstGeom>
          <a:solidFill>
            <a:srgbClr val="C486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2540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C48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905000" y="2540000"/>
            <a:ext cx="635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Lecture 7 — Understanding Destructors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905000" y="3022600"/>
            <a:ext cx="889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Defining destructors, examples, the Rule of Three, and virtual destructors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3683000"/>
            <a:ext cx="14732000" cy="12700"/>
          </a:xfrm>
          <a:prstGeom prst="rect">
            <a:avLst/>
          </a:prstGeom>
          <a:solidFill>
            <a:srgbClr val="8A9B8C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4191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C48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905000" y="4191000"/>
            <a:ext cx="635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Lecture 8 — Static Class Data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905000" y="4673600"/>
            <a:ext cx="889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Uses of static data, static member functions, and practical examples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5334000"/>
            <a:ext cx="14732000" cy="12700"/>
          </a:xfrm>
          <a:prstGeom prst="rect">
            <a:avLst/>
          </a:prstGeom>
          <a:solidFill>
            <a:srgbClr val="8A9B8C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4986000" y="87376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8A9B8C">
              <a:alpha val="30196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0"/>
            <a:ext cx="381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C48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3810000"/>
            <a:ext cx="1016000" cy="50800"/>
          </a:xfrm>
          <a:prstGeom prst="rect">
            <a:avLst/>
          </a:prstGeom>
          <a:solidFill>
            <a:srgbClr val="C4863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4064000"/>
            <a:ext cx="1016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Lecture 7 — Understanding Destructors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4826000"/>
            <a:ext cx="889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Automatic cleanup when objects go out of scope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8A9B8C">
              <a:alpha val="20000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8A9B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OOP — WEEK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5E5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What is a Destructor?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46200"/>
            <a:ext cx="635000" cy="50800"/>
          </a:xfrm>
          <a:prstGeom prst="rect">
            <a:avLst/>
          </a:prstGeom>
          <a:solidFill>
            <a:srgbClr val="C486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651000"/>
            <a:ext cx="7874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destructor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 a special member function automatically invoked when an object goes out of scope or is deleted. Its purpose is to release resources acquired during the object's lifetime.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62000" y="3937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Characteristics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62000" y="4381500"/>
            <a:ext cx="7874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▶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Same name as class prefixed with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tilde (~)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▶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No return type — not even void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▶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Takes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parameters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▶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 class has exactly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destructor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▶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Cannot be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overloaded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▶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Automatically called — no explicit invocation needed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0" y="1651000"/>
            <a:ext cx="6350000" cy="3175000"/>
          </a:xfrm>
          <a:prstGeom prst="rect">
            <a:avLst/>
          </a:prstGeom>
          <a:solidFill>
            <a:srgbClr val="E8E3DA"/>
          </a:solidFill>
          <a:ln/>
        </p:spPr>
      </p:sp>
      <p:sp>
        <p:nvSpPr>
          <p:cNvPr id="9" name="Text 7"/>
          <p:cNvSpPr/>
          <p:nvPr/>
        </p:nvSpPr>
        <p:spPr>
          <a:xfrm>
            <a:off x="9398000" y="17526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100" kern="0" dirty="0">
                <a:solidFill>
                  <a:srgbClr val="8A9B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BASIC SYNTAX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398000" y="2095500"/>
            <a:ext cx="584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MyClass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B5E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Constructor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MyClass();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B5E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Destructor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MyClass();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144000" y="4826000"/>
            <a:ext cx="6350000" cy="3302000"/>
          </a:xfrm>
          <a:prstGeom prst="rect">
            <a:avLst/>
          </a:prstGeom>
          <a:solidFill>
            <a:srgbClr val="E8E3DA"/>
          </a:solidFill>
          <a:ln/>
        </p:spPr>
      </p:sp>
      <p:sp>
        <p:nvSpPr>
          <p:cNvPr id="12" name="Text 10"/>
          <p:cNvSpPr/>
          <p:nvPr/>
        </p:nvSpPr>
        <p:spPr>
          <a:xfrm>
            <a:off x="9398000" y="49276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100" kern="0" dirty="0">
                <a:solidFill>
                  <a:srgbClr val="8A9B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 LIFECYCLE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652000" y="5461000"/>
            <a:ext cx="2032000" cy="508000"/>
          </a:xfrm>
          <a:prstGeom prst="roundRect">
            <a:avLst>
              <a:gd name="adj" fmla="val 8000"/>
            </a:avLst>
          </a:prstGeom>
          <a:solidFill>
            <a:srgbClr val="1B5E5E"/>
          </a:solidFill>
          <a:ln/>
        </p:spPr>
      </p:sp>
      <p:sp>
        <p:nvSpPr>
          <p:cNvPr id="14" name="Text 12"/>
          <p:cNvSpPr/>
          <p:nvPr/>
        </p:nvSpPr>
        <p:spPr>
          <a:xfrm>
            <a:off x="9652000" y="546100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 Created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1684000" y="5689600"/>
            <a:ext cx="762000" cy="0"/>
          </a:xfrm>
          <a:prstGeom prst="straightConnector1">
            <a:avLst/>
          </a:prstGeom>
          <a:noFill/>
          <a:ln w="25400">
            <a:solidFill>
              <a:srgbClr val="8A9B8C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12446000" y="5461000"/>
            <a:ext cx="2032000" cy="508000"/>
          </a:xfrm>
          <a:prstGeom prst="roundRect">
            <a:avLst>
              <a:gd name="adj" fmla="val 8000"/>
            </a:avLst>
          </a:prstGeom>
          <a:solidFill>
            <a:srgbClr val="C4863A"/>
          </a:solidFill>
          <a:ln/>
        </p:spPr>
      </p:sp>
      <p:sp>
        <p:nvSpPr>
          <p:cNvPr id="17" name="Text 15"/>
          <p:cNvSpPr/>
          <p:nvPr/>
        </p:nvSpPr>
        <p:spPr>
          <a:xfrm>
            <a:off x="12446000" y="546100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 in Use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3462000" y="6070600"/>
            <a:ext cx="0" cy="508000"/>
          </a:xfrm>
          <a:prstGeom prst="straightConnector1">
            <a:avLst/>
          </a:prstGeom>
          <a:noFill/>
          <a:ln w="25400">
            <a:solidFill>
              <a:srgbClr val="8A9B8C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12446000" y="6705600"/>
            <a:ext cx="2032000" cy="508000"/>
          </a:xfrm>
          <a:prstGeom prst="roundRect">
            <a:avLst>
              <a:gd name="adj" fmla="val 8000"/>
            </a:avLst>
          </a:prstGeom>
          <a:solidFill>
            <a:srgbClr val="8A4B4B"/>
          </a:solidFill>
          <a:ln/>
        </p:spPr>
      </p:sp>
      <p:sp>
        <p:nvSpPr>
          <p:cNvPr id="20" name="Text 18"/>
          <p:cNvSpPr/>
          <p:nvPr/>
        </p:nvSpPr>
        <p:spPr>
          <a:xfrm>
            <a:off x="12446000" y="670560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Destructor Runs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 flipH="1">
            <a:off x="11684000" y="6959600"/>
            <a:ext cx="762000" cy="0"/>
          </a:xfrm>
          <a:prstGeom prst="straightConnector1">
            <a:avLst/>
          </a:prstGeom>
          <a:noFill/>
          <a:ln w="25400">
            <a:solidFill>
              <a:srgbClr val="8A9B8C"/>
            </a:solidFill>
            <a:prstDash val="solid"/>
            <a:headEnd type="none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9652000" y="6705600"/>
            <a:ext cx="2032000" cy="508000"/>
          </a:xfrm>
          <a:prstGeom prst="roundRect">
            <a:avLst>
              <a:gd name="adj" fmla="val 8000"/>
            </a:avLst>
          </a:prstGeom>
          <a:solidFill>
            <a:srgbClr val="1B2B2B"/>
          </a:solidFill>
          <a:ln/>
        </p:spPr>
      </p:sp>
      <p:sp>
        <p:nvSpPr>
          <p:cNvPr id="23" name="Text 21"/>
          <p:cNvSpPr/>
          <p:nvPr/>
        </p:nvSpPr>
        <p:spPr>
          <a:xfrm>
            <a:off x="9652000" y="670560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Resources Freed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652000" y="6032500"/>
            <a:ext cx="203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1B5E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constructor()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652000" y="7302500"/>
            <a:ext cx="203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8A4B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~destructor()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986000" y="87376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8A9B8C">
              <a:alpha val="30196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8A9B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OOP — WEEK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762000"/>
            <a:ext cx="1270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5E5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Defining Destructors — Syntax &amp; Declaration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46200"/>
            <a:ext cx="635000" cy="50800"/>
          </a:xfrm>
          <a:prstGeom prst="rect">
            <a:avLst/>
          </a:prstGeom>
          <a:solidFill>
            <a:srgbClr val="C486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651000"/>
            <a:ext cx="685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Step 1: Declare Inside Class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62000" y="2082800"/>
            <a:ext cx="6858000" cy="2032000"/>
          </a:xfrm>
          <a:prstGeom prst="rect">
            <a:avLst/>
          </a:prstGeom>
          <a:solidFill>
            <a:srgbClr val="E8E3DA"/>
          </a:solidFill>
          <a:ln/>
        </p:spPr>
      </p:sp>
      <p:sp>
        <p:nvSpPr>
          <p:cNvPr id="7" name="Text 5"/>
          <p:cNvSpPr/>
          <p:nvPr/>
        </p:nvSpPr>
        <p:spPr>
          <a:xfrm>
            <a:off x="965200" y="2184400"/>
            <a:ext cx="645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MyClass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B5E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MyClass(); 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Constructor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MyClass(); 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Destructor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4241800"/>
            <a:ext cx="685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Step 2: Define Outside Class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62000" y="4673600"/>
            <a:ext cx="6858000" cy="1968500"/>
          </a:xfrm>
          <a:prstGeom prst="rect">
            <a:avLst/>
          </a:prstGeom>
          <a:solidFill>
            <a:srgbClr val="E8E3DA"/>
          </a:solidFill>
          <a:ln/>
        </p:spPr>
      </p:sp>
      <p:sp>
        <p:nvSpPr>
          <p:cNvPr id="10" name="Text 8"/>
          <p:cNvSpPr/>
          <p:nvPr/>
        </p:nvSpPr>
        <p:spPr>
          <a:xfrm>
            <a:off x="965200" y="4775200"/>
            <a:ext cx="64516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B5E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Scope resolution operator ::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MyClass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::~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MyClass()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Cleanup code here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delete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[] data;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28000" y="1651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What Destructors Typically Do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128000" y="2133600"/>
            <a:ext cx="7366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Release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dynamically allocated memory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Close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open files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streams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Release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locks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synchronization primitives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Disconnect from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Release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 connections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Log destruction events for debugging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28000" y="6096000"/>
            <a:ext cx="7366000" cy="1016000"/>
          </a:xfrm>
          <a:prstGeom prst="rect">
            <a:avLst/>
          </a:prstGeom>
          <a:solidFill>
            <a:srgbClr val="E8E3DA"/>
          </a:solidFill>
          <a:ln/>
        </p:spPr>
      </p:sp>
      <p:sp>
        <p:nvSpPr>
          <p:cNvPr id="14" name="Shape 12"/>
          <p:cNvSpPr/>
          <p:nvPr/>
        </p:nvSpPr>
        <p:spPr>
          <a:xfrm>
            <a:off x="8128000" y="6096000"/>
            <a:ext cx="50800" cy="1016000"/>
          </a:xfrm>
          <a:prstGeom prst="rect">
            <a:avLst/>
          </a:prstGeom>
          <a:solidFill>
            <a:srgbClr val="C4863A"/>
          </a:solidFill>
          <a:ln/>
        </p:spPr>
      </p:sp>
      <p:sp>
        <p:nvSpPr>
          <p:cNvPr id="15" name="Text 13"/>
          <p:cNvSpPr/>
          <p:nvPr/>
        </p:nvSpPr>
        <p:spPr>
          <a:xfrm>
            <a:off x="8382000" y="6223000"/>
            <a:ext cx="685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RAII Principle: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Constructors initialize, destructors finalize. Resources are tied to object lifetime.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986000" y="87376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8A9B8C">
              <a:alpha val="30196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8A9B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OOP — WEEK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5E5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Constructor vs Destructor — The Lifecycle Pair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46200"/>
            <a:ext cx="635000" cy="50800"/>
          </a:xfrm>
          <a:prstGeom prst="rect">
            <a:avLst/>
          </a:prstGeom>
          <a:solidFill>
            <a:srgbClr val="C4863A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651000"/>
          <a:ext cx="14732000" cy="5080000"/>
        </p:xfrm>
        <a:graphic>
          <a:graphicData uri="http://schemas.openxmlformats.org/drawingml/2006/table">
            <a:tbl>
              <a:tblPr/>
              <a:tblGrid>
                <a:gridCol w="4419600"/>
                <a:gridCol w="5156200"/>
                <a:gridCol w="5156200"/>
              </a:tblGrid>
              <a:tr h="714774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Aspect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Constructor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Destructor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E"/>
                    </a:solidFill>
                  </a:tcPr>
                </a:tc>
              </a:tr>
              <a:tr h="727538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When Called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When object is created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When object is destroyed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  <a:tr h="727538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Primary Role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3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Allocates resources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3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Releases resources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3DA"/>
                    </a:solidFill>
                  </a:tcPr>
                </a:tc>
              </a:tr>
              <a:tr h="727538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Parameters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Can take parameters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Takes no parameters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  <a:tr h="727538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Overloading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3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Can be overloaded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3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Cannot be overloaded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3DA"/>
                    </a:solidFill>
                  </a:tcPr>
                </a:tc>
              </a:tr>
              <a:tr h="727538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Return Type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No return type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No return type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  <a:tr h="727538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Count Per Class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3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Multiple constructors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3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Exactly one destructor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3D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2000" y="7048500"/>
            <a:ext cx="14732000" cy="1270000"/>
          </a:xfrm>
          <a:prstGeom prst="rect">
            <a:avLst/>
          </a:prstGeom>
          <a:solidFill>
            <a:srgbClr val="E8E3DA"/>
          </a:solidFill>
          <a:ln/>
        </p:spPr>
      </p:sp>
      <p:sp>
        <p:nvSpPr>
          <p:cNvPr id="7" name="Shape 4"/>
          <p:cNvSpPr/>
          <p:nvPr/>
        </p:nvSpPr>
        <p:spPr>
          <a:xfrm>
            <a:off x="762000" y="7048500"/>
            <a:ext cx="50800" cy="10160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8" name="Text 5"/>
          <p:cNvSpPr/>
          <p:nvPr/>
        </p:nvSpPr>
        <p:spPr>
          <a:xfrm>
            <a:off x="1066800" y="7175500"/>
            <a:ext cx="141732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RAII (Resource Acquisition Is Initialization):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One of the most important C++ idioms — resources are acquired in constructors and released in destructors, ensuring cleanup even when exceptions occur.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4986000" y="87376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8A9B8C">
              <a:alpha val="30196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8A9B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OOP — WEEK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5E5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When Are Destructors Called?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46200"/>
            <a:ext cx="635000" cy="50800"/>
          </a:xfrm>
          <a:prstGeom prst="rect">
            <a:avLst/>
          </a:prstGeom>
          <a:solidFill>
            <a:srgbClr val="C486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651000"/>
            <a:ext cx="7048500" cy="3175000"/>
          </a:xfrm>
          <a:prstGeom prst="rect">
            <a:avLst/>
          </a:prstGeom>
          <a:solidFill>
            <a:srgbClr val="E8E3DA"/>
          </a:solidFill>
          <a:ln/>
        </p:spPr>
      </p:sp>
      <p:sp>
        <p:nvSpPr>
          <p:cNvPr id="6" name="Text 4"/>
          <p:cNvSpPr/>
          <p:nvPr/>
        </p:nvSpPr>
        <p:spPr>
          <a:xfrm>
            <a:off x="965200" y="1803400"/>
            <a:ext cx="50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C48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24000" y="1803400"/>
            <a:ext cx="609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 Object Goes Out of Scope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5200" y="2286000"/>
            <a:ext cx="6654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a function returns, local objects are destroyed in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reverse order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of creation. Each object's destructor runs automatically before stack frame is cleaned up.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5200" y="3492500"/>
            <a:ext cx="6654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B5E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foo()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B5E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MyClass obj;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ctor runs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B5E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dtor runs as foo() returns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45500" y="1651000"/>
            <a:ext cx="7048500" cy="3175000"/>
          </a:xfrm>
          <a:prstGeom prst="rect">
            <a:avLst/>
          </a:prstGeom>
          <a:solidFill>
            <a:srgbClr val="E8E3DA"/>
          </a:solidFill>
          <a:ln/>
        </p:spPr>
      </p:sp>
      <p:sp>
        <p:nvSpPr>
          <p:cNvPr id="11" name="Text 9"/>
          <p:cNvSpPr/>
          <p:nvPr/>
        </p:nvSpPr>
        <p:spPr>
          <a:xfrm>
            <a:off x="8648700" y="1803400"/>
            <a:ext cx="50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C48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207500" y="1803400"/>
            <a:ext cx="609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Dynamic Object is Deleted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48700" y="2286000"/>
            <a:ext cx="6654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delete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 called on a pointer, the pointed-to object's destructor runs before memory is freed. Use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delete[]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arrays.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48700" y="3492500"/>
            <a:ext cx="6654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B5E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MyClass* p =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B5E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MyClass();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delete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B5E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p;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dtor runs, then memory freed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5143500"/>
            <a:ext cx="7048500" cy="3175000"/>
          </a:xfrm>
          <a:prstGeom prst="rect">
            <a:avLst/>
          </a:prstGeom>
          <a:solidFill>
            <a:srgbClr val="E8E3DA"/>
          </a:solidFill>
          <a:ln/>
        </p:spPr>
      </p:sp>
      <p:sp>
        <p:nvSpPr>
          <p:cNvPr id="16" name="Text 14"/>
          <p:cNvSpPr/>
          <p:nvPr/>
        </p:nvSpPr>
        <p:spPr>
          <a:xfrm>
            <a:off x="965200" y="5295900"/>
            <a:ext cx="50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C48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24000" y="5295900"/>
            <a:ext cx="609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Static/Global Object at Program Exit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5200" y="5778500"/>
            <a:ext cx="6654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 and global objects are destroyed when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main() exits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Destruction order is reverse of construction order across translation units.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5200" y="6985000"/>
            <a:ext cx="6654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B5E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MyClass globalObj;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B5E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main() { ... }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dtor runs after main() returns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445500" y="5143500"/>
            <a:ext cx="7048500" cy="3175000"/>
          </a:xfrm>
          <a:prstGeom prst="rect">
            <a:avLst/>
          </a:prstGeom>
          <a:solidFill>
            <a:srgbClr val="E8E3DA"/>
          </a:solidFill>
          <a:ln/>
        </p:spPr>
      </p:sp>
      <p:sp>
        <p:nvSpPr>
          <p:cNvPr id="21" name="Text 19"/>
          <p:cNvSpPr/>
          <p:nvPr/>
        </p:nvSpPr>
        <p:spPr>
          <a:xfrm>
            <a:off x="8648700" y="5295900"/>
            <a:ext cx="50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C48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07500" y="5295900"/>
            <a:ext cx="609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Array Elements Destroyed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648700" y="5778500"/>
            <a:ext cx="6654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an array of objects is destroyed, each element's destructor is called in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reverse order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Must use delete[] to trigger this.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648700" y="6985000"/>
            <a:ext cx="6654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B5E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MyClass arr[3];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3 ctors run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3 dtors run (reverse order)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delete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B5E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[] arr;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must use []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986000" y="87376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8A9B8C">
              <a:alpha val="30196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8A9B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OOP — WEEK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762000"/>
            <a:ext cx="1270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5E5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Example — Simple Class with Destructor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46200"/>
            <a:ext cx="635000" cy="50800"/>
          </a:xfrm>
          <a:prstGeom prst="rect">
            <a:avLst/>
          </a:prstGeom>
          <a:solidFill>
            <a:srgbClr val="C486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651000"/>
            <a:ext cx="8890000" cy="6731000"/>
          </a:xfrm>
          <a:prstGeom prst="rect">
            <a:avLst/>
          </a:prstGeom>
          <a:solidFill>
            <a:srgbClr val="E8E3DA"/>
          </a:solidFill>
          <a:ln/>
        </p:spPr>
      </p:sp>
      <p:sp>
        <p:nvSpPr>
          <p:cNvPr id="6" name="Text 4"/>
          <p:cNvSpPr/>
          <p:nvPr/>
        </p:nvSpPr>
        <p:spPr>
          <a:xfrm>
            <a:off x="965200" y="1752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100" kern="0" dirty="0">
                <a:solidFill>
                  <a:srgbClr val="8A9B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COUNTER CLASS EXAMPLE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5200" y="2082800"/>
            <a:ext cx="8483600" cy="609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#include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&lt;iostream&gt;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using namespace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std;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40000"/>
              </a:lnSpc>
            </a:pPr>
            <a:r>
              <a:rPr lang="en-US" sz="14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Counter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private: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count;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public: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Counter(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c) : count(c)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B5E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"Counter created: "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&lt;&lt; count &lt;&lt; endl;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increment() { count++; }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getCount()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const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count;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Counter()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B5E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"Counter destroyed: "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&lt;&lt; count &lt;&lt; endl;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33000" y="1651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Program Output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0033000" y="2082800"/>
            <a:ext cx="5461000" cy="2540000"/>
          </a:xfrm>
          <a:prstGeom prst="rect">
            <a:avLst/>
          </a:prstGeom>
          <a:solidFill>
            <a:srgbClr val="1B2B2B"/>
          </a:solidFill>
          <a:ln/>
        </p:spPr>
      </p:sp>
      <p:sp>
        <p:nvSpPr>
          <p:cNvPr id="10" name="Text 8"/>
          <p:cNvSpPr/>
          <p:nvPr/>
        </p:nvSpPr>
        <p:spPr>
          <a:xfrm>
            <a:off x="10287000" y="2235200"/>
            <a:ext cx="4953000" cy="223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A8C4A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 ./program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A8C4A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Counter created: 0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A8C4A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Count: 3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E8A8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Counter destroyed: 3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A8C4A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33000" y="4953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Observation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033000" y="5410200"/>
            <a:ext cx="54610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▶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Destructor runs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automatically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when object goes out of scope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▶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 final count value (3) is preserved and printed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▶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No explicit call to ~Counter() needed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986000" y="87376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8A9B8C">
              <a:alpha val="30196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8A9B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OOP — WEEK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762000"/>
            <a:ext cx="1270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5E5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Example — Destructor with Dynamic Memory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46200"/>
            <a:ext cx="635000" cy="50800"/>
          </a:xfrm>
          <a:prstGeom prst="rect">
            <a:avLst/>
          </a:prstGeom>
          <a:solidFill>
            <a:srgbClr val="C486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651000"/>
            <a:ext cx="8636000" cy="6731000"/>
          </a:xfrm>
          <a:prstGeom prst="rect">
            <a:avLst/>
          </a:prstGeom>
          <a:solidFill>
            <a:srgbClr val="E8E3DA"/>
          </a:solidFill>
          <a:ln/>
        </p:spPr>
      </p:sp>
      <p:sp>
        <p:nvSpPr>
          <p:cNvPr id="6" name="Text 4"/>
          <p:cNvSpPr/>
          <p:nvPr/>
        </p:nvSpPr>
        <p:spPr>
          <a:xfrm>
            <a:off x="965200" y="1752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100" kern="0" dirty="0">
                <a:solidFill>
                  <a:srgbClr val="8A9B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STRING CLASS WITH DYNAMIC MEMORY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5200" y="2082800"/>
            <a:ext cx="8229600" cy="609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45000"/>
              </a:lnSpc>
            </a:pPr>
            <a:r>
              <a:rPr lang="en-US" sz="14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private: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char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* data; 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dynamic array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length;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public: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String(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const char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* str) {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length = strlen(str);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= 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char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[length + 1];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strcpy(data, str);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String() {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delete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[] data; 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CRITICAL!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display() 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const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data &lt;&lt; endl;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779000" y="1651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Memory Layout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779000" y="2159000"/>
            <a:ext cx="127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8A9B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Heap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779000" y="2489200"/>
            <a:ext cx="2540000" cy="7620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11" name="Text 9"/>
          <p:cNvSpPr/>
          <p:nvPr/>
        </p:nvSpPr>
        <p:spPr>
          <a:xfrm>
            <a:off x="9779000" y="24892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"Hello" (char[])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303000" y="3251200"/>
            <a:ext cx="0" cy="508000"/>
          </a:xfrm>
          <a:prstGeom prst="straightConnector1">
            <a:avLst/>
          </a:prstGeom>
          <a:noFill/>
          <a:ln w="25400">
            <a:solidFill>
              <a:srgbClr val="C4863A"/>
            </a:solidFill>
            <a:prstDash val="solid"/>
            <a:headEnd type="none"/>
            <a:tailEnd type="arrow"/>
          </a:ln>
        </p:spPr>
      </p:sp>
      <p:sp>
        <p:nvSpPr>
          <p:cNvPr id="13" name="Text 11"/>
          <p:cNvSpPr/>
          <p:nvPr/>
        </p:nvSpPr>
        <p:spPr>
          <a:xfrm>
            <a:off x="9779000" y="3835400"/>
            <a:ext cx="127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8A9B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Stack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779000" y="4165600"/>
            <a:ext cx="2540000" cy="1016000"/>
          </a:xfrm>
          <a:prstGeom prst="rect">
            <a:avLst/>
          </a:prstGeom>
          <a:solidFill>
            <a:srgbClr val="C4863A"/>
          </a:solidFill>
          <a:ln/>
        </p:spPr>
      </p:sp>
      <p:sp>
        <p:nvSpPr>
          <p:cNvPr id="15" name="Text 13"/>
          <p:cNvSpPr/>
          <p:nvPr/>
        </p:nvSpPr>
        <p:spPr>
          <a:xfrm>
            <a:off x="9779000" y="41656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 object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→ 0x7ffe...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length = 5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779000" y="5461000"/>
            <a:ext cx="5715000" cy="1524000"/>
          </a:xfrm>
          <a:prstGeom prst="rect">
            <a:avLst/>
          </a:prstGeom>
          <a:solidFill>
            <a:srgbClr val="E8E3DA"/>
          </a:solidFill>
          <a:ln/>
        </p:spPr>
      </p:sp>
      <p:sp>
        <p:nvSpPr>
          <p:cNvPr id="17" name="Shape 15"/>
          <p:cNvSpPr/>
          <p:nvPr/>
        </p:nvSpPr>
        <p:spPr>
          <a:xfrm>
            <a:off x="9779000" y="5461000"/>
            <a:ext cx="50800" cy="1270000"/>
          </a:xfrm>
          <a:prstGeom prst="rect">
            <a:avLst/>
          </a:prstGeom>
          <a:solidFill>
            <a:srgbClr val="8A4B4B"/>
          </a:solidFill>
          <a:ln/>
        </p:spPr>
      </p:sp>
      <p:sp>
        <p:nvSpPr>
          <p:cNvPr id="18" name="Text 16"/>
          <p:cNvSpPr/>
          <p:nvPr/>
        </p:nvSpPr>
        <p:spPr>
          <a:xfrm>
            <a:off x="10033000" y="5588000"/>
            <a:ext cx="52578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8A4B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Without the destructor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each String object would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leak memory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The char array on the heap would never be freed.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779000" y="7112000"/>
            <a:ext cx="5715000" cy="1397000"/>
          </a:xfrm>
          <a:prstGeom prst="rect">
            <a:avLst/>
          </a:prstGeom>
          <a:solidFill>
            <a:srgbClr val="E8E3DA"/>
          </a:solidFill>
          <a:ln/>
        </p:spPr>
      </p:sp>
      <p:sp>
        <p:nvSpPr>
          <p:cNvPr id="20" name="Shape 18"/>
          <p:cNvSpPr/>
          <p:nvPr/>
        </p:nvSpPr>
        <p:spPr>
          <a:xfrm>
            <a:off x="9779000" y="6985000"/>
            <a:ext cx="50800" cy="12700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21" name="Text 19"/>
          <p:cNvSpPr/>
          <p:nvPr/>
        </p:nvSpPr>
        <p:spPr>
          <a:xfrm>
            <a:off x="10033000" y="7239000"/>
            <a:ext cx="5257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Preview: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This class needs a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copy constructor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too — otherwise copying causes a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shallow copy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bug (double-free).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986000" y="87376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8A9B8C">
              <a:alpha val="30196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8A9B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OOP — WEEK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5E5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Rule of Three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46200"/>
            <a:ext cx="635000" cy="50800"/>
          </a:xfrm>
          <a:prstGeom prst="rect">
            <a:avLst/>
          </a:prstGeom>
          <a:solidFill>
            <a:srgbClr val="C486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6002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a class manages dynamic memory (uses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 constructor), it likely needs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special member functions. If you define one, you probably need all three.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717800"/>
            <a:ext cx="4572000" cy="3378200"/>
          </a:xfrm>
          <a:prstGeom prst="rect">
            <a:avLst/>
          </a:prstGeom>
          <a:solidFill>
            <a:srgbClr val="E8E3DA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2717800"/>
            <a:ext cx="4572000" cy="63500"/>
          </a:xfrm>
          <a:prstGeom prst="rect">
            <a:avLst/>
          </a:prstGeom>
          <a:solidFill>
            <a:srgbClr val="8A4B4B"/>
          </a:solidFill>
          <a:ln/>
        </p:spPr>
      </p:sp>
      <p:sp>
        <p:nvSpPr>
          <p:cNvPr id="8" name="Shape 6"/>
          <p:cNvSpPr/>
          <p:nvPr/>
        </p:nvSpPr>
        <p:spPr>
          <a:xfrm>
            <a:off x="2781300" y="29718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162758" y="7025"/>
                </a:moveTo>
                <a:cubicBezTo>
                  <a:pt x="167997" y="-8573"/>
                  <a:pt x="182523" y="-19050"/>
                  <a:pt x="198953" y="-19050"/>
                </a:cubicBezTo>
                <a:lnTo>
                  <a:pt x="334566" y="-19050"/>
                </a:lnTo>
                <a:cubicBezTo>
                  <a:pt x="350996" y="-19050"/>
                  <a:pt x="365522" y="-8572"/>
                  <a:pt x="370761" y="7025"/>
                </a:cubicBezTo>
                <a:lnTo>
                  <a:pt x="381000" y="38100"/>
                </a:lnTo>
                <a:lnTo>
                  <a:pt x="495300" y="38100"/>
                </a:lnTo>
                <a:cubicBezTo>
                  <a:pt x="516374" y="38100"/>
                  <a:pt x="533400" y="55126"/>
                  <a:pt x="533400" y="76200"/>
                </a:cubicBezTo>
                <a:cubicBezTo>
                  <a:pt x="533400" y="97274"/>
                  <a:pt x="516374" y="114300"/>
                  <a:pt x="495300" y="114300"/>
                </a:cubicBezTo>
                <a:lnTo>
                  <a:pt x="38100" y="114300"/>
                </a:lnTo>
                <a:cubicBezTo>
                  <a:pt x="17026" y="114300"/>
                  <a:pt x="0" y="97274"/>
                  <a:pt x="0" y="76200"/>
                </a:cubicBezTo>
                <a:cubicBezTo>
                  <a:pt x="0" y="55126"/>
                  <a:pt x="17026" y="38100"/>
                  <a:pt x="38100" y="38100"/>
                </a:cubicBezTo>
                <a:lnTo>
                  <a:pt x="152400" y="38100"/>
                </a:lnTo>
                <a:lnTo>
                  <a:pt x="162758" y="7025"/>
                </a:lnTo>
                <a:close/>
                <a:moveTo>
                  <a:pt x="38100" y="171450"/>
                </a:moveTo>
                <a:lnTo>
                  <a:pt x="495300" y="171450"/>
                </a:lnTo>
                <a:lnTo>
                  <a:pt x="495300" y="533400"/>
                </a:lnTo>
                <a:cubicBezTo>
                  <a:pt x="495300" y="575429"/>
                  <a:pt x="461129" y="609600"/>
                  <a:pt x="419100" y="609600"/>
                </a:cubicBezTo>
                <a:lnTo>
                  <a:pt x="114300" y="609600"/>
                </a:lnTo>
                <a:cubicBezTo>
                  <a:pt x="72271" y="609600"/>
                  <a:pt x="38100" y="575429"/>
                  <a:pt x="38100" y="533400"/>
                </a:cubicBezTo>
                <a:lnTo>
                  <a:pt x="38100" y="171450"/>
                </a:lnTo>
                <a:close/>
                <a:moveTo>
                  <a:pt x="142875" y="247650"/>
                </a:moveTo>
                <a:cubicBezTo>
                  <a:pt x="127040" y="247650"/>
                  <a:pt x="114300" y="260390"/>
                  <a:pt x="114300" y="276225"/>
                </a:cubicBezTo>
                <a:lnTo>
                  <a:pt x="114300" y="504825"/>
                </a:lnTo>
                <a:cubicBezTo>
                  <a:pt x="114300" y="520660"/>
                  <a:pt x="127040" y="533400"/>
                  <a:pt x="142875" y="533400"/>
                </a:cubicBezTo>
                <a:cubicBezTo>
                  <a:pt x="158710" y="533400"/>
                  <a:pt x="171450" y="520660"/>
                  <a:pt x="171450" y="504825"/>
                </a:cubicBezTo>
                <a:lnTo>
                  <a:pt x="171450" y="276225"/>
                </a:lnTo>
                <a:cubicBezTo>
                  <a:pt x="171450" y="260390"/>
                  <a:pt x="158710" y="247650"/>
                  <a:pt x="142875" y="247650"/>
                </a:cubicBezTo>
                <a:close/>
                <a:moveTo>
                  <a:pt x="266700" y="247650"/>
                </a:moveTo>
                <a:cubicBezTo>
                  <a:pt x="250865" y="247650"/>
                  <a:pt x="238125" y="260390"/>
                  <a:pt x="238125" y="276225"/>
                </a:cubicBezTo>
                <a:lnTo>
                  <a:pt x="238125" y="504825"/>
                </a:lnTo>
                <a:cubicBezTo>
                  <a:pt x="238125" y="520660"/>
                  <a:pt x="250865" y="533400"/>
                  <a:pt x="266700" y="533400"/>
                </a:cubicBezTo>
                <a:cubicBezTo>
                  <a:pt x="282535" y="533400"/>
                  <a:pt x="295275" y="520660"/>
                  <a:pt x="295275" y="504825"/>
                </a:cubicBezTo>
                <a:lnTo>
                  <a:pt x="295275" y="276225"/>
                </a:lnTo>
                <a:cubicBezTo>
                  <a:pt x="295275" y="260390"/>
                  <a:pt x="282535" y="247650"/>
                  <a:pt x="266700" y="247650"/>
                </a:cubicBezTo>
                <a:close/>
                <a:moveTo>
                  <a:pt x="390525" y="247650"/>
                </a:moveTo>
                <a:cubicBezTo>
                  <a:pt x="374690" y="247650"/>
                  <a:pt x="361950" y="260390"/>
                  <a:pt x="361950" y="276225"/>
                </a:cubicBezTo>
                <a:lnTo>
                  <a:pt x="361950" y="504825"/>
                </a:lnTo>
                <a:cubicBezTo>
                  <a:pt x="361950" y="520660"/>
                  <a:pt x="374690" y="533400"/>
                  <a:pt x="390525" y="533400"/>
                </a:cubicBezTo>
                <a:cubicBezTo>
                  <a:pt x="406360" y="533400"/>
                  <a:pt x="419100" y="520660"/>
                  <a:pt x="419100" y="504825"/>
                </a:cubicBezTo>
                <a:lnTo>
                  <a:pt x="419100" y="276225"/>
                </a:lnTo>
                <a:cubicBezTo>
                  <a:pt x="419100" y="260390"/>
                  <a:pt x="406360" y="247650"/>
                  <a:pt x="390525" y="247650"/>
                </a:cubicBezTo>
                <a:close/>
              </a:path>
            </a:pathLst>
          </a:custGeom>
          <a:solidFill>
            <a:srgbClr val="8A4B4B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37338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Destructor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4191000"/>
            <a:ext cx="406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Free allocated memory and release resources when object is destroyed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" y="5080000"/>
            <a:ext cx="406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</a:t>
            </a:r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1B5E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ClassName();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1B5E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delete[] data;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42000" y="2717800"/>
            <a:ext cx="4572000" cy="3378200"/>
          </a:xfrm>
          <a:prstGeom prst="rect">
            <a:avLst/>
          </a:prstGeom>
          <a:solidFill>
            <a:srgbClr val="E8E3DA"/>
          </a:solidFill>
          <a:ln/>
        </p:spPr>
      </p:sp>
      <p:sp>
        <p:nvSpPr>
          <p:cNvPr id="13" name="Shape 11"/>
          <p:cNvSpPr/>
          <p:nvPr/>
        </p:nvSpPr>
        <p:spPr>
          <a:xfrm>
            <a:off x="5842000" y="2717800"/>
            <a:ext cx="4572000" cy="635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14" name="Shape 12"/>
          <p:cNvSpPr/>
          <p:nvPr/>
        </p:nvSpPr>
        <p:spPr>
          <a:xfrm>
            <a:off x="7861300" y="29718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228600" y="0"/>
                </a:moveTo>
                <a:cubicBezTo>
                  <a:pt x="186571" y="0"/>
                  <a:pt x="152400" y="34171"/>
                  <a:pt x="152400" y="76200"/>
                </a:cubicBezTo>
                <a:lnTo>
                  <a:pt x="152400" y="381000"/>
                </a:lnTo>
                <a:cubicBezTo>
                  <a:pt x="152400" y="423029"/>
                  <a:pt x="186571" y="457200"/>
                  <a:pt x="228600" y="457200"/>
                </a:cubicBezTo>
                <a:lnTo>
                  <a:pt x="457200" y="457200"/>
                </a:lnTo>
                <a:cubicBezTo>
                  <a:pt x="499229" y="457200"/>
                  <a:pt x="533400" y="423029"/>
                  <a:pt x="533400" y="381000"/>
                </a:cubicBezTo>
                <a:lnTo>
                  <a:pt x="533400" y="142161"/>
                </a:lnTo>
                <a:cubicBezTo>
                  <a:pt x="533400" y="121444"/>
                  <a:pt x="524947" y="101560"/>
                  <a:pt x="509945" y="87154"/>
                </a:cubicBezTo>
                <a:lnTo>
                  <a:pt x="441246" y="21193"/>
                </a:lnTo>
                <a:cubicBezTo>
                  <a:pt x="427077" y="7620"/>
                  <a:pt x="408146" y="0"/>
                  <a:pt x="388501" y="0"/>
                </a:cubicBezTo>
                <a:lnTo>
                  <a:pt x="228600" y="0"/>
                </a:lnTo>
                <a:close/>
                <a:moveTo>
                  <a:pt x="76200" y="152400"/>
                </a:moveTo>
                <a:cubicBezTo>
                  <a:pt x="34171" y="152400"/>
                  <a:pt x="0" y="186571"/>
                  <a:pt x="0" y="228600"/>
                </a:cubicBezTo>
                <a:lnTo>
                  <a:pt x="0" y="533400"/>
                </a:lnTo>
                <a:cubicBezTo>
                  <a:pt x="0" y="575429"/>
                  <a:pt x="34171" y="609600"/>
                  <a:pt x="76200" y="609600"/>
                </a:cubicBezTo>
                <a:lnTo>
                  <a:pt x="304800" y="609600"/>
                </a:lnTo>
                <a:cubicBezTo>
                  <a:pt x="346829" y="609600"/>
                  <a:pt x="381000" y="575429"/>
                  <a:pt x="381000" y="533400"/>
                </a:cubicBezTo>
                <a:lnTo>
                  <a:pt x="381000" y="514350"/>
                </a:lnTo>
                <a:lnTo>
                  <a:pt x="304800" y="514350"/>
                </a:lnTo>
                <a:lnTo>
                  <a:pt x="304800" y="533400"/>
                </a:lnTo>
                <a:lnTo>
                  <a:pt x="76200" y="533400"/>
                </a:lnTo>
                <a:lnTo>
                  <a:pt x="76200" y="228600"/>
                </a:lnTo>
                <a:lnTo>
                  <a:pt x="95250" y="228600"/>
                </a:lnTo>
                <a:lnTo>
                  <a:pt x="95250" y="152400"/>
                </a:lnTo>
                <a:lnTo>
                  <a:pt x="76200" y="152400"/>
                </a:lnTo>
                <a:close/>
              </a:path>
            </a:pathLst>
          </a:custGeom>
          <a:solidFill>
            <a:srgbClr val="1B5E5E"/>
          </a:solidFill>
          <a:ln/>
        </p:spPr>
      </p:sp>
      <p:sp>
        <p:nvSpPr>
          <p:cNvPr id="15" name="Text 13"/>
          <p:cNvSpPr/>
          <p:nvPr/>
        </p:nvSpPr>
        <p:spPr>
          <a:xfrm>
            <a:off x="6096000" y="37338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Copy Constructor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96000" y="4191000"/>
            <a:ext cx="406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Properly copy resources (deep copy) when creating an object from another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96000" y="5080000"/>
            <a:ext cx="406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1B5E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ClassName(</a:t>
            </a:r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const</a:t>
            </a:r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1B5E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ClassName&amp;);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1B5E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= </a:t>
            </a:r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1B5E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char[...];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922000" y="2717800"/>
            <a:ext cx="4572000" cy="3378200"/>
          </a:xfrm>
          <a:prstGeom prst="rect">
            <a:avLst/>
          </a:prstGeom>
          <a:solidFill>
            <a:srgbClr val="E8E3DA"/>
          </a:solidFill>
          <a:ln/>
        </p:spPr>
      </p:sp>
      <p:sp>
        <p:nvSpPr>
          <p:cNvPr id="19" name="Shape 17"/>
          <p:cNvSpPr/>
          <p:nvPr/>
        </p:nvSpPr>
        <p:spPr>
          <a:xfrm>
            <a:off x="10922000" y="2717800"/>
            <a:ext cx="4572000" cy="63500"/>
          </a:xfrm>
          <a:prstGeom prst="rect">
            <a:avLst/>
          </a:prstGeom>
          <a:solidFill>
            <a:srgbClr val="C4863A"/>
          </a:solidFill>
          <a:ln/>
        </p:spPr>
      </p:sp>
      <p:sp>
        <p:nvSpPr>
          <p:cNvPr id="20" name="Shape 18"/>
          <p:cNvSpPr/>
          <p:nvPr/>
        </p:nvSpPr>
        <p:spPr>
          <a:xfrm>
            <a:off x="12941300" y="29718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38100" y="152400"/>
                </a:moveTo>
                <a:cubicBezTo>
                  <a:pt x="17026" y="152400"/>
                  <a:pt x="0" y="169426"/>
                  <a:pt x="0" y="190500"/>
                </a:cubicBezTo>
                <a:cubicBezTo>
                  <a:pt x="0" y="211574"/>
                  <a:pt x="17026" y="228600"/>
                  <a:pt x="38100" y="228600"/>
                </a:cubicBezTo>
                <a:lnTo>
                  <a:pt x="495300" y="228600"/>
                </a:lnTo>
                <a:cubicBezTo>
                  <a:pt x="516374" y="228600"/>
                  <a:pt x="533400" y="211574"/>
                  <a:pt x="533400" y="190500"/>
                </a:cubicBezTo>
                <a:cubicBezTo>
                  <a:pt x="533400" y="169426"/>
                  <a:pt x="516374" y="152400"/>
                  <a:pt x="495300" y="152400"/>
                </a:cubicBezTo>
                <a:lnTo>
                  <a:pt x="38100" y="152400"/>
                </a:lnTo>
                <a:close/>
                <a:moveTo>
                  <a:pt x="38100" y="381000"/>
                </a:moveTo>
                <a:cubicBezTo>
                  <a:pt x="17026" y="381000"/>
                  <a:pt x="0" y="398026"/>
                  <a:pt x="0" y="419100"/>
                </a:cubicBezTo>
                <a:cubicBezTo>
                  <a:pt x="0" y="440174"/>
                  <a:pt x="17026" y="457200"/>
                  <a:pt x="38100" y="457200"/>
                </a:cubicBezTo>
                <a:lnTo>
                  <a:pt x="495300" y="457200"/>
                </a:lnTo>
                <a:cubicBezTo>
                  <a:pt x="516374" y="457200"/>
                  <a:pt x="533400" y="440174"/>
                  <a:pt x="533400" y="419100"/>
                </a:cubicBezTo>
                <a:cubicBezTo>
                  <a:pt x="533400" y="398026"/>
                  <a:pt x="516374" y="381000"/>
                  <a:pt x="495300" y="381000"/>
                </a:cubicBezTo>
                <a:lnTo>
                  <a:pt x="38100" y="381000"/>
                </a:lnTo>
                <a:close/>
              </a:path>
            </a:pathLst>
          </a:custGeom>
          <a:solidFill>
            <a:srgbClr val="C4863A"/>
          </a:solidFill>
          <a:ln/>
        </p:spPr>
      </p:sp>
      <p:sp>
        <p:nvSpPr>
          <p:cNvPr id="21" name="Text 19"/>
          <p:cNvSpPr/>
          <p:nvPr/>
        </p:nvSpPr>
        <p:spPr>
          <a:xfrm>
            <a:off x="11176000" y="37338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Copy Assignment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176000" y="4191000"/>
            <a:ext cx="406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Properly assign resources when one object is assigned to another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176000" y="5080000"/>
            <a:ext cx="406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1B5E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ClassName&amp; </a:t>
            </a:r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operator</a:t>
            </a:r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1B5E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=(...);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1B5E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</a:t>
            </a:r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</a:t>
            </a:r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1B5E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!= &amp;other)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2000" y="6477000"/>
            <a:ext cx="14732000" cy="1524000"/>
          </a:xfrm>
          <a:prstGeom prst="rect">
            <a:avLst/>
          </a:prstGeom>
          <a:solidFill>
            <a:srgbClr val="E8E3DA"/>
          </a:solidFill>
          <a:ln/>
        </p:spPr>
      </p:sp>
      <p:sp>
        <p:nvSpPr>
          <p:cNvPr id="25" name="Shape 23"/>
          <p:cNvSpPr/>
          <p:nvPr/>
        </p:nvSpPr>
        <p:spPr>
          <a:xfrm>
            <a:off x="762000" y="6477000"/>
            <a:ext cx="50800" cy="15240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26" name="Text 24"/>
          <p:cNvSpPr/>
          <p:nvPr/>
        </p:nvSpPr>
        <p:spPr>
          <a:xfrm>
            <a:off x="1066800" y="6604000"/>
            <a:ext cx="141732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Rule of Five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(Modern C++11+): Add two more special members for move semantics —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Move Constructor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Move Assignment Operator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These enable efficient transfer of resources without copying.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986000" y="87376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8A9B8C">
              <a:alpha val="30196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8A9B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OOP — WEEK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5E5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Virtual Destructors — Polymorphic Cleanup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46200"/>
            <a:ext cx="635000" cy="50800"/>
          </a:xfrm>
          <a:prstGeom prst="rect">
            <a:avLst/>
          </a:prstGeom>
          <a:solidFill>
            <a:srgbClr val="C486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651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62000" y="2082800"/>
            <a:ext cx="685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deleting 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derived class object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through 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 class pointer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without a virtual destructor, only the base destructor runs.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Derived resources are never cleaned up.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3759200"/>
            <a:ext cx="6858000" cy="1524000"/>
          </a:xfrm>
          <a:prstGeom prst="rect">
            <a:avLst/>
          </a:prstGeom>
          <a:solidFill>
            <a:srgbClr val="E8E3DA"/>
          </a:solidFill>
          <a:ln/>
        </p:spPr>
      </p:sp>
      <p:sp>
        <p:nvSpPr>
          <p:cNvPr id="8" name="Text 6"/>
          <p:cNvSpPr/>
          <p:nvPr/>
        </p:nvSpPr>
        <p:spPr>
          <a:xfrm>
            <a:off x="965200" y="3860800"/>
            <a:ext cx="64516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Base* ptr = 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Derived();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delete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ptr; 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BUG: only ~Base() runs!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~Derived() never called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55372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Solution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62000" y="5969000"/>
            <a:ext cx="685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Always declare the base class destructor as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virtual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This ensures the entire destructor chain runs correctly.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6985000"/>
            <a:ext cx="6858000" cy="1587500"/>
          </a:xfrm>
          <a:prstGeom prst="rect">
            <a:avLst/>
          </a:prstGeom>
          <a:solidFill>
            <a:srgbClr val="E8E3DA"/>
          </a:solidFill>
          <a:ln/>
        </p:spPr>
      </p:sp>
      <p:sp>
        <p:nvSpPr>
          <p:cNvPr id="12" name="Text 10"/>
          <p:cNvSpPr/>
          <p:nvPr/>
        </p:nvSpPr>
        <p:spPr>
          <a:xfrm>
            <a:off x="965200" y="7086600"/>
            <a:ext cx="64516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Base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virtual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Base() {} 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virtual!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28000" y="1651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How It Works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382000" y="2286000"/>
            <a:ext cx="3048000" cy="7620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15" name="Text 13"/>
          <p:cNvSpPr/>
          <p:nvPr/>
        </p:nvSpPr>
        <p:spPr>
          <a:xfrm>
            <a:off x="8382000" y="2286000"/>
            <a:ext cx="3048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~Base() runs first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430000" y="2667000"/>
            <a:ext cx="762000" cy="0"/>
          </a:xfrm>
          <a:prstGeom prst="straightConnector1">
            <a:avLst/>
          </a:prstGeom>
          <a:noFill/>
          <a:ln w="25400">
            <a:solidFill>
              <a:srgbClr val="C4863A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12192000" y="2286000"/>
            <a:ext cx="3048000" cy="762000"/>
          </a:xfrm>
          <a:prstGeom prst="rect">
            <a:avLst/>
          </a:prstGeom>
          <a:solidFill>
            <a:srgbClr val="C4863A"/>
          </a:solidFill>
          <a:ln/>
        </p:spPr>
      </p:sp>
      <p:sp>
        <p:nvSpPr>
          <p:cNvPr id="18" name="Text 16"/>
          <p:cNvSpPr/>
          <p:nvPr/>
        </p:nvSpPr>
        <p:spPr>
          <a:xfrm>
            <a:off x="12192000" y="2286000"/>
            <a:ext cx="3048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~Derived() runs next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82000" y="3302000"/>
            <a:ext cx="685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Reverse order: most-derived destructor runs first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128000" y="4064000"/>
            <a:ext cx="7366000" cy="4191000"/>
          </a:xfrm>
          <a:prstGeom prst="rect">
            <a:avLst/>
          </a:prstGeom>
          <a:solidFill>
            <a:srgbClr val="E8E3DA"/>
          </a:solidFill>
          <a:ln/>
        </p:spPr>
      </p:sp>
      <p:sp>
        <p:nvSpPr>
          <p:cNvPr id="21" name="Shape 19"/>
          <p:cNvSpPr/>
          <p:nvPr/>
        </p:nvSpPr>
        <p:spPr>
          <a:xfrm>
            <a:off x="8128000" y="4064000"/>
            <a:ext cx="7366000" cy="635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22" name="Text 20"/>
          <p:cNvSpPr/>
          <p:nvPr/>
        </p:nvSpPr>
        <p:spPr>
          <a:xfrm>
            <a:off x="8382000" y="4318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Practice Checklist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82000" y="4775200"/>
            <a:ext cx="6858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Any class intended as a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 class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should have a virtual destructor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Even if the destructor body is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empty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declare it virtual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 virtual declaration adds a small overhead (vtable pointer) but prevents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resource leaks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If a class has any virtual function, its destructor should be virtual too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986000" y="87376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8A9B8C">
              <a:alpha val="30196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8A9B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OOP — WEEK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5E5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Common Mistakes with Destructors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46200"/>
            <a:ext cx="635000" cy="50800"/>
          </a:xfrm>
          <a:prstGeom prst="rect">
            <a:avLst/>
          </a:prstGeom>
          <a:solidFill>
            <a:srgbClr val="C486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651000"/>
            <a:ext cx="4699000" cy="3175000"/>
          </a:xfrm>
          <a:prstGeom prst="rect">
            <a:avLst/>
          </a:prstGeom>
          <a:solidFill>
            <a:srgbClr val="E8E3DA"/>
          </a:solidFill>
          <a:ln/>
        </p:spPr>
      </p:sp>
      <p:sp>
        <p:nvSpPr>
          <p:cNvPr id="6" name="Text 4"/>
          <p:cNvSpPr/>
          <p:nvPr/>
        </p:nvSpPr>
        <p:spPr>
          <a:xfrm>
            <a:off x="965200" y="1778000"/>
            <a:ext cx="457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8A4B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73200" y="1778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Non-Virtual Base Destructor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5200" y="2260600"/>
            <a:ext cx="4292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Deleting derived through base pointer causes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incomplete cleanup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Always use virtual destructors in base classes.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5200" y="3492500"/>
            <a:ext cx="4292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WRONG: missing virtual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B5E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Base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8A4B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~Base()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B5E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should be virtual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B5E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78500" y="1651000"/>
            <a:ext cx="4699000" cy="3175000"/>
          </a:xfrm>
          <a:prstGeom prst="rect">
            <a:avLst/>
          </a:prstGeom>
          <a:solidFill>
            <a:srgbClr val="E8E3DA"/>
          </a:solidFill>
          <a:ln/>
        </p:spPr>
      </p:sp>
      <p:sp>
        <p:nvSpPr>
          <p:cNvPr id="11" name="Text 9"/>
          <p:cNvSpPr/>
          <p:nvPr/>
        </p:nvSpPr>
        <p:spPr>
          <a:xfrm>
            <a:off x="5981700" y="1778000"/>
            <a:ext cx="457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8A4B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89700" y="1778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Throwing from Destructors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81700" y="2260600"/>
            <a:ext cx="4292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Exceptions in destructors cause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std::terminate()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Never throw — use noexcept or handle errors silently.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81700" y="3492500"/>
            <a:ext cx="4292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WRONG: throws exception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B5E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MyClass()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8A4B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throw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B5E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Error(); 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NEVER!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B5E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795000" y="1651000"/>
            <a:ext cx="4699000" cy="3175000"/>
          </a:xfrm>
          <a:prstGeom prst="rect">
            <a:avLst/>
          </a:prstGeom>
          <a:solidFill>
            <a:srgbClr val="E8E3DA"/>
          </a:solidFill>
          <a:ln/>
        </p:spPr>
      </p:sp>
      <p:sp>
        <p:nvSpPr>
          <p:cNvPr id="16" name="Text 14"/>
          <p:cNvSpPr/>
          <p:nvPr/>
        </p:nvSpPr>
        <p:spPr>
          <a:xfrm>
            <a:off x="10998200" y="1778000"/>
            <a:ext cx="457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8A4B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506200" y="1778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Accessing Destroyed Members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98200" y="2260600"/>
            <a:ext cx="4292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Members are destroyed in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reverse declaration order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Accessing already-destroyed members is undefined behavior.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98200" y="3492500"/>
            <a:ext cx="4292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WRONG: b already destroyed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B5E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MyClass()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B5E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a.use(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8A4B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B5E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 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b is gone!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B5E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5143500"/>
            <a:ext cx="7175500" cy="3175000"/>
          </a:xfrm>
          <a:prstGeom prst="rect">
            <a:avLst/>
          </a:prstGeom>
          <a:solidFill>
            <a:srgbClr val="E8E3DA"/>
          </a:solidFill>
          <a:ln/>
        </p:spPr>
      </p:sp>
      <p:sp>
        <p:nvSpPr>
          <p:cNvPr id="21" name="Text 19"/>
          <p:cNvSpPr/>
          <p:nvPr/>
        </p:nvSpPr>
        <p:spPr>
          <a:xfrm>
            <a:off x="965200" y="5270500"/>
            <a:ext cx="457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8A4B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73200" y="5270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Double Deletion (Shallow Copy)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5200" y="5753100"/>
            <a:ext cx="678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Default copy does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shallow copy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both objects point to same memory. Both destructors try to delete it. Implement deep copy or use smart pointers.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65200" y="6985000"/>
            <a:ext cx="678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B5E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 a(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B5E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"hello"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B5E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B5E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 b = a; 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shallow copy!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~a deletes, ~b deletes AGAIN = CRASH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318500" y="5143500"/>
            <a:ext cx="7175500" cy="3175000"/>
          </a:xfrm>
          <a:prstGeom prst="rect">
            <a:avLst/>
          </a:prstGeom>
          <a:solidFill>
            <a:srgbClr val="E8E3DA"/>
          </a:solidFill>
          <a:ln/>
        </p:spPr>
      </p:sp>
      <p:sp>
        <p:nvSpPr>
          <p:cNvPr id="26" name="Text 24"/>
          <p:cNvSpPr/>
          <p:nvPr/>
        </p:nvSpPr>
        <p:spPr>
          <a:xfrm>
            <a:off x="8521700" y="5270500"/>
            <a:ext cx="457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8A4B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029700" y="5270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Mismatched new/delete Pairs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521700" y="5753100"/>
            <a:ext cx="678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delete[]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arrays allocated with new[]. Using plain delete on arrays causes undefined behavior — only the first element's destructor runs.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521700" y="6985000"/>
            <a:ext cx="678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B5E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* arr = 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 int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B5E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[10];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8A4B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delete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B5E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arr; 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WRONG: use delete[]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delete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B5E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[] arr; 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CORRECT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4986000" y="87376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8A9B8C">
              <a:alpha val="30196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8A9B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OOP — WEEK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5E5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Takeaways — Destructors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46200"/>
            <a:ext cx="635000" cy="50800"/>
          </a:xfrm>
          <a:prstGeom prst="rect">
            <a:avLst/>
          </a:prstGeom>
          <a:solidFill>
            <a:srgbClr val="C486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714500"/>
            <a:ext cx="7048500" cy="762000"/>
          </a:xfrm>
          <a:prstGeom prst="rect">
            <a:avLst/>
          </a:prstGeom>
          <a:solidFill>
            <a:srgbClr val="E8E3D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14500"/>
            <a:ext cx="5588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C48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24000" y="1714500"/>
            <a:ext cx="609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Destructors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automatically clean up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when objects are destroyed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45500" y="1714500"/>
            <a:ext cx="7048500" cy="762000"/>
          </a:xfrm>
          <a:prstGeom prst="rect">
            <a:avLst/>
          </a:prstGeom>
          <a:solidFill>
            <a:srgbClr val="E8E3DA"/>
          </a:solidFill>
          <a:ln/>
        </p:spPr>
      </p:sp>
      <p:sp>
        <p:nvSpPr>
          <p:cNvPr id="9" name="Text 7"/>
          <p:cNvSpPr/>
          <p:nvPr/>
        </p:nvSpPr>
        <p:spPr>
          <a:xfrm>
            <a:off x="8597900" y="1714500"/>
            <a:ext cx="5588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C48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207500" y="1714500"/>
            <a:ext cx="609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~ClassName()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syntax — no parameters, no return type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2730500"/>
            <a:ext cx="7048500" cy="762000"/>
          </a:xfrm>
          <a:prstGeom prst="rect">
            <a:avLst/>
          </a:prstGeom>
          <a:solidFill>
            <a:srgbClr val="E8E3DA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730500"/>
            <a:ext cx="5588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C48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24000" y="2730500"/>
            <a:ext cx="609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Essential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releasing dynamic memory and other resources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445500" y="2730500"/>
            <a:ext cx="7048500" cy="762000"/>
          </a:xfrm>
          <a:prstGeom prst="rect">
            <a:avLst/>
          </a:prstGeom>
          <a:solidFill>
            <a:srgbClr val="E8E3DA"/>
          </a:solidFill>
          <a:ln/>
        </p:spPr>
      </p:sp>
      <p:sp>
        <p:nvSpPr>
          <p:cNvPr id="15" name="Text 13"/>
          <p:cNvSpPr/>
          <p:nvPr/>
        </p:nvSpPr>
        <p:spPr>
          <a:xfrm>
            <a:off x="8597900" y="2730500"/>
            <a:ext cx="5588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C48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207500" y="2730500"/>
            <a:ext cx="609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Follow the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Rule of Three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resource-managing classes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3746500"/>
            <a:ext cx="7048500" cy="762000"/>
          </a:xfrm>
          <a:prstGeom prst="rect">
            <a:avLst/>
          </a:prstGeom>
          <a:solidFill>
            <a:srgbClr val="E8E3DA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746500"/>
            <a:ext cx="5588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C48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24000" y="3746500"/>
            <a:ext cx="609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Always use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virtual destructors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 base classes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445500" y="3746500"/>
            <a:ext cx="7048500" cy="762000"/>
          </a:xfrm>
          <a:prstGeom prst="rect">
            <a:avLst/>
          </a:prstGeom>
          <a:solidFill>
            <a:srgbClr val="E8E3DA"/>
          </a:solidFill>
          <a:ln/>
        </p:spPr>
      </p:sp>
      <p:sp>
        <p:nvSpPr>
          <p:cNvPr id="21" name="Text 19"/>
          <p:cNvSpPr/>
          <p:nvPr/>
        </p:nvSpPr>
        <p:spPr>
          <a:xfrm>
            <a:off x="8597900" y="3746500"/>
            <a:ext cx="5588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C48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07500" y="3746500"/>
            <a:ext cx="609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Never throw exceptions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from destructors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4762500"/>
            <a:ext cx="14732000" cy="7620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4762500"/>
            <a:ext cx="5588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524000" y="4762500"/>
            <a:ext cx="1371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Destructors complete the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RAII pattern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resources are tied to object lifetime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2000" y="5842000"/>
            <a:ext cx="14732000" cy="2286000"/>
          </a:xfrm>
          <a:prstGeom prst="rect">
            <a:avLst/>
          </a:prstGeom>
          <a:solidFill>
            <a:srgbClr val="E8E3DA"/>
          </a:solidFill>
          <a:ln/>
        </p:spPr>
      </p:sp>
      <p:sp>
        <p:nvSpPr>
          <p:cNvPr id="27" name="Shape 25"/>
          <p:cNvSpPr/>
          <p:nvPr/>
        </p:nvSpPr>
        <p:spPr>
          <a:xfrm>
            <a:off x="1270000" y="6223000"/>
            <a:ext cx="2540000" cy="635000"/>
          </a:xfrm>
          <a:prstGeom prst="roundRect">
            <a:avLst>
              <a:gd name="adj" fmla="val 8000"/>
            </a:avLst>
          </a:prstGeom>
          <a:solidFill>
            <a:srgbClr val="1B5E5E"/>
          </a:solidFill>
          <a:ln/>
        </p:spPr>
      </p:sp>
      <p:sp>
        <p:nvSpPr>
          <p:cNvPr id="28" name="Text 26"/>
          <p:cNvSpPr/>
          <p:nvPr/>
        </p:nvSpPr>
        <p:spPr>
          <a:xfrm>
            <a:off x="1270000" y="62230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Constructor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10000" y="6540500"/>
            <a:ext cx="1524000" cy="0"/>
          </a:xfrm>
          <a:prstGeom prst="straightConnector1">
            <a:avLst/>
          </a:prstGeom>
          <a:noFill/>
          <a:ln w="25400">
            <a:solidFill>
              <a:srgbClr val="8A9B8C"/>
            </a:solidFill>
            <a:prstDash val="solid"/>
            <a:headEnd type="none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5334000" y="6223000"/>
            <a:ext cx="2540000" cy="635000"/>
          </a:xfrm>
          <a:prstGeom prst="roundRect">
            <a:avLst>
              <a:gd name="adj" fmla="val 8000"/>
            </a:avLst>
          </a:prstGeom>
          <a:solidFill>
            <a:srgbClr val="C4863A"/>
          </a:solidFill>
          <a:ln/>
        </p:spPr>
      </p:sp>
      <p:sp>
        <p:nvSpPr>
          <p:cNvPr id="31" name="Text 29"/>
          <p:cNvSpPr/>
          <p:nvPr/>
        </p:nvSpPr>
        <p:spPr>
          <a:xfrm>
            <a:off x="5334000" y="62230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 Lifetime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874000" y="6540500"/>
            <a:ext cx="1524000" cy="0"/>
          </a:xfrm>
          <a:prstGeom prst="straightConnector1">
            <a:avLst/>
          </a:prstGeom>
          <a:noFill/>
          <a:ln w="25400">
            <a:solidFill>
              <a:srgbClr val="8A9B8C"/>
            </a:solidFill>
            <a:prstDash val="solid"/>
            <a:headEnd type="none"/>
            <a:tailEnd type="arrow"/>
          </a:ln>
        </p:spPr>
      </p:sp>
      <p:sp>
        <p:nvSpPr>
          <p:cNvPr id="33" name="Shape 31"/>
          <p:cNvSpPr/>
          <p:nvPr/>
        </p:nvSpPr>
        <p:spPr>
          <a:xfrm>
            <a:off x="9398000" y="6223000"/>
            <a:ext cx="2540000" cy="635000"/>
          </a:xfrm>
          <a:prstGeom prst="roundRect">
            <a:avLst>
              <a:gd name="adj" fmla="val 8000"/>
            </a:avLst>
          </a:prstGeom>
          <a:solidFill>
            <a:srgbClr val="8A4B4B"/>
          </a:solidFill>
          <a:ln/>
        </p:spPr>
      </p:sp>
      <p:sp>
        <p:nvSpPr>
          <p:cNvPr id="34" name="Text 32"/>
          <p:cNvSpPr/>
          <p:nvPr/>
        </p:nvSpPr>
        <p:spPr>
          <a:xfrm>
            <a:off x="9398000" y="62230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Destructor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2446000" y="6223000"/>
            <a:ext cx="2540000" cy="635000"/>
          </a:xfrm>
          <a:prstGeom prst="roundRect">
            <a:avLst>
              <a:gd name="adj" fmla="val 8000"/>
            </a:avLst>
          </a:prstGeom>
          <a:solidFill>
            <a:srgbClr val="1B2B2B"/>
          </a:solidFill>
          <a:ln/>
        </p:spPr>
      </p:sp>
      <p:sp>
        <p:nvSpPr>
          <p:cNvPr id="36" name="Text 34"/>
          <p:cNvSpPr/>
          <p:nvPr/>
        </p:nvSpPr>
        <p:spPr>
          <a:xfrm>
            <a:off x="12446000" y="62230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Resources Freed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270000" y="7048500"/>
            <a:ext cx="137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RAII: Resource Acquisition Is Initialization — the cornerstone of safe C++ resource management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4986000" y="87376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8A9B8C">
              <a:alpha val="30196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0"/>
            <a:ext cx="381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C48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3810000"/>
            <a:ext cx="1016000" cy="50800"/>
          </a:xfrm>
          <a:prstGeom prst="rect">
            <a:avLst/>
          </a:prstGeom>
          <a:solidFill>
            <a:srgbClr val="C4863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4064000"/>
            <a:ext cx="1016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Lecture 8 — Static Class Data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4826000"/>
            <a:ext cx="889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Shared data across all object instances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8A9B8C">
              <a:alpha val="20000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8A9B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OOP — WEEK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5E5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What is Static Class Data?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46200"/>
            <a:ext cx="635000" cy="50800"/>
          </a:xfrm>
          <a:prstGeom prst="rect">
            <a:avLst/>
          </a:prstGeom>
          <a:solidFill>
            <a:srgbClr val="C486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651000"/>
            <a:ext cx="762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 data members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are class-level variables shared by all objects of that class. Unlike regular members, they exist only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once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regardless of how many objects are created.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3111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Properties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62000" y="3556000"/>
            <a:ext cx="7620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Shared across all instances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changing it in one object affects all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Exists before any object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 created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Must be defined outside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 class (in C++)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Can be accessed using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 name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without an object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Declared inside class with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keyword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890000" y="1651000"/>
            <a:ext cx="6604000" cy="2540000"/>
          </a:xfrm>
          <a:prstGeom prst="rect">
            <a:avLst/>
          </a:prstGeom>
          <a:solidFill>
            <a:srgbClr val="E8E3DA"/>
          </a:solidFill>
          <a:ln/>
        </p:spPr>
      </p:sp>
      <p:sp>
        <p:nvSpPr>
          <p:cNvPr id="9" name="Text 7"/>
          <p:cNvSpPr/>
          <p:nvPr/>
        </p:nvSpPr>
        <p:spPr>
          <a:xfrm>
            <a:off x="9093200" y="1752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100" kern="0" dirty="0">
                <a:solidFill>
                  <a:srgbClr val="8A9B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BASIC DECLARATION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093200" y="2082800"/>
            <a:ext cx="61976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 int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totalStudents;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id; 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instance member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 name; 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instance member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890000" y="4191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Memory Visualization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890000" y="46990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8A9B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Segment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890000" y="5029200"/>
            <a:ext cx="3048000" cy="6350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14" name="Text 12"/>
          <p:cNvSpPr/>
          <p:nvPr/>
        </p:nvSpPr>
        <p:spPr>
          <a:xfrm>
            <a:off x="8890000" y="5029200"/>
            <a:ext cx="304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totalStudents = 0 (ONE copy)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890000" y="58674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8A9B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Heap/Stack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890000" y="6731000"/>
            <a:ext cx="3048000" cy="508000"/>
          </a:xfrm>
          <a:prstGeom prst="rect">
            <a:avLst/>
          </a:prstGeom>
          <a:solidFill>
            <a:srgbClr val="C4863A"/>
          </a:solidFill>
          <a:ln/>
        </p:spPr>
      </p:sp>
      <p:sp>
        <p:nvSpPr>
          <p:cNvPr id="17" name="Text 15"/>
          <p:cNvSpPr/>
          <p:nvPr/>
        </p:nvSpPr>
        <p:spPr>
          <a:xfrm>
            <a:off x="8890000" y="6731000"/>
            <a:ext cx="304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s1: id=1, name="Alice"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890000" y="7366000"/>
            <a:ext cx="3048000" cy="635000"/>
          </a:xfrm>
          <a:prstGeom prst="rect">
            <a:avLst/>
          </a:prstGeom>
          <a:solidFill>
            <a:srgbClr val="C4863A"/>
          </a:solidFill>
          <a:ln/>
        </p:spPr>
      </p:sp>
      <p:sp>
        <p:nvSpPr>
          <p:cNvPr id="19" name="Text 17"/>
          <p:cNvSpPr/>
          <p:nvPr/>
        </p:nvSpPr>
        <p:spPr>
          <a:xfrm>
            <a:off x="8890000" y="7366000"/>
            <a:ext cx="304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s2: id=2, name="Bob"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414000" y="5664200"/>
            <a:ext cx="0" cy="762000"/>
          </a:xfrm>
          <a:prstGeom prst="straightConnector1">
            <a:avLst/>
          </a:prstGeom>
          <a:noFill/>
          <a:ln w="12700">
            <a:solidFill>
              <a:srgbClr val="8A9B8C"/>
            </a:solidFill>
            <a:prstDash val="sysDot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10414000" y="5664200"/>
            <a:ext cx="0" cy="889000"/>
          </a:xfrm>
          <a:prstGeom prst="straightConnector1">
            <a:avLst/>
          </a:prstGeom>
          <a:noFill/>
          <a:ln w="12700">
            <a:solidFill>
              <a:srgbClr val="8A9B8C"/>
            </a:solidFill>
            <a:prstDash val="sysDot"/>
            <a:headEnd type="none"/>
            <a:tailEnd type="none"/>
          </a:ln>
        </p:spPr>
      </p:sp>
      <p:sp>
        <p:nvSpPr>
          <p:cNvPr id="22" name="Text 20"/>
          <p:cNvSpPr/>
          <p:nvPr/>
        </p:nvSpPr>
        <p:spPr>
          <a:xfrm>
            <a:off x="12192000" y="5334000"/>
            <a:ext cx="330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Both s1 and s2 share the same totalStudents variable. Changing it through either object affects the class as a whole.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986000" y="87376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8A9B8C">
              <a:alpha val="30196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8A9B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OOP — WEEK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762000"/>
            <a:ext cx="1270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5E5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Declaring &amp; Defining Static Data Members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46200"/>
            <a:ext cx="635000" cy="50800"/>
          </a:xfrm>
          <a:prstGeom prst="rect">
            <a:avLst/>
          </a:prstGeom>
          <a:solidFill>
            <a:srgbClr val="C486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651000"/>
            <a:ext cx="685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Step 1: Declare Inside Class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62000" y="2082800"/>
            <a:ext cx="6858000" cy="2794000"/>
          </a:xfrm>
          <a:prstGeom prst="rect">
            <a:avLst/>
          </a:prstGeom>
          <a:solidFill>
            <a:srgbClr val="E8E3DA"/>
          </a:solidFill>
          <a:ln/>
        </p:spPr>
      </p:sp>
      <p:sp>
        <p:nvSpPr>
          <p:cNvPr id="7" name="Text 5"/>
          <p:cNvSpPr/>
          <p:nvPr/>
        </p:nvSpPr>
        <p:spPr>
          <a:xfrm>
            <a:off x="965200" y="2184400"/>
            <a:ext cx="6451600" cy="259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 int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totalStudents; 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declaration only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id;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Student() { totalStudents++; }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5003800"/>
            <a:ext cx="685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Step 2: Define Outside Class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62000" y="5435600"/>
            <a:ext cx="6858000" cy="1968500"/>
          </a:xfrm>
          <a:prstGeom prst="rect">
            <a:avLst/>
          </a:prstGeom>
          <a:solidFill>
            <a:srgbClr val="E8E3DA"/>
          </a:solidFill>
          <a:ln/>
        </p:spPr>
      </p:sp>
      <p:sp>
        <p:nvSpPr>
          <p:cNvPr id="10" name="Text 8"/>
          <p:cNvSpPr/>
          <p:nvPr/>
        </p:nvSpPr>
        <p:spPr>
          <a:xfrm>
            <a:off x="965200" y="5537200"/>
            <a:ext cx="64516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In Student.cpp — definition + initialization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Student::totalStudents = 0;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Without this: linker error!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"undefined reference to..."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28000" y="1651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Important Rules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128000" y="2133600"/>
            <a:ext cx="7366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 external definition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allocates storage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Can include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initialization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value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Omitting definition =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linker error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Use scope resolution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::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operator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No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keyword in definition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28000" y="5080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Special Case: const Integral Types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128000" y="5511800"/>
            <a:ext cx="7366000" cy="1841500"/>
          </a:xfrm>
          <a:prstGeom prst="rect">
            <a:avLst/>
          </a:prstGeom>
          <a:solidFill>
            <a:srgbClr val="E8E3DA"/>
          </a:solidFill>
          <a:ln/>
        </p:spPr>
      </p:sp>
      <p:sp>
        <p:nvSpPr>
          <p:cNvPr id="15" name="Text 13"/>
          <p:cNvSpPr/>
          <p:nvPr/>
        </p:nvSpPr>
        <p:spPr>
          <a:xfrm>
            <a:off x="8331200" y="5664200"/>
            <a:ext cx="69596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C++11+: Can initialize inside class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 constexpr int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MAX_SIZE = 100;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No external definition needed for constexpr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28000" y="7493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Accessing Static Members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128000" y="7924800"/>
            <a:ext cx="7366000" cy="584200"/>
          </a:xfrm>
          <a:prstGeom prst="rect">
            <a:avLst/>
          </a:prstGeom>
          <a:solidFill>
            <a:srgbClr val="E8E3DA"/>
          </a:solidFill>
          <a:ln/>
        </p:spPr>
      </p:sp>
      <p:sp>
        <p:nvSpPr>
          <p:cNvPr id="18" name="Text 16"/>
          <p:cNvSpPr/>
          <p:nvPr/>
        </p:nvSpPr>
        <p:spPr>
          <a:xfrm>
            <a:off x="8331200" y="8001000"/>
            <a:ext cx="69596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Student::totalStudents; 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via class name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986000" y="87376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16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8A9B8C">
              <a:alpha val="30196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8A9B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OOP — WEEK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5E5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Static Member Functions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46200"/>
            <a:ext cx="635000" cy="50800"/>
          </a:xfrm>
          <a:prstGeom prst="rect">
            <a:avLst/>
          </a:prstGeom>
          <a:solidFill>
            <a:srgbClr val="C486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65100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 member functions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belong to the class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not to any specific object. They can be called without creating an object.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2667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Characteristics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62000" y="3124200"/>
            <a:ext cx="7620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Can only access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 data members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Can only call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other static member functions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Do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have a 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pointer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Cannot access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non-static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members directly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Called using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ClassName::function()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890000" y="1651000"/>
            <a:ext cx="6604000" cy="4572000"/>
          </a:xfrm>
          <a:prstGeom prst="rect">
            <a:avLst/>
          </a:prstGeom>
          <a:solidFill>
            <a:srgbClr val="E8E3DA"/>
          </a:solidFill>
          <a:ln/>
        </p:spPr>
      </p:sp>
      <p:sp>
        <p:nvSpPr>
          <p:cNvPr id="9" name="Text 7"/>
          <p:cNvSpPr/>
          <p:nvPr/>
        </p:nvSpPr>
        <p:spPr>
          <a:xfrm>
            <a:off x="9093200" y="1752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100" kern="0" dirty="0">
                <a:solidFill>
                  <a:srgbClr val="8A9B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093200" y="2082800"/>
            <a:ext cx="61976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Counter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 int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count;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 int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getCount()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count;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Call without an object: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Counter::getCount();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6350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Common Uses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62000" y="6781800"/>
            <a:ext cx="14732000" cy="1397000"/>
          </a:xfrm>
          <a:prstGeom prst="rect">
            <a:avLst/>
          </a:prstGeom>
          <a:solidFill>
            <a:srgbClr val="E8E3DA"/>
          </a:solidFill>
          <a:ln/>
        </p:spPr>
      </p:sp>
      <p:sp>
        <p:nvSpPr>
          <p:cNvPr id="13" name="Shape 11"/>
          <p:cNvSpPr/>
          <p:nvPr/>
        </p:nvSpPr>
        <p:spPr>
          <a:xfrm>
            <a:off x="1244600" y="70358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28600" y="25400"/>
                </a:moveTo>
                <a:cubicBezTo>
                  <a:pt x="164465" y="25400"/>
                  <a:pt x="113109" y="54610"/>
                  <a:pt x="75724" y="89376"/>
                </a:cubicBezTo>
                <a:cubicBezTo>
                  <a:pt x="38576" y="123904"/>
                  <a:pt x="13732" y="165100"/>
                  <a:pt x="1905" y="193437"/>
                </a:cubicBezTo>
                <a:cubicBezTo>
                  <a:pt x="-714" y="199708"/>
                  <a:pt x="-714" y="206692"/>
                  <a:pt x="1905" y="212963"/>
                </a:cubicBezTo>
                <a:cubicBezTo>
                  <a:pt x="13732" y="241300"/>
                  <a:pt x="38576" y="282575"/>
                  <a:pt x="75724" y="317024"/>
                </a:cubicBezTo>
                <a:cubicBezTo>
                  <a:pt x="113109" y="351711"/>
                  <a:pt x="164465" y="381000"/>
                  <a:pt x="228600" y="381000"/>
                </a:cubicBezTo>
                <a:cubicBezTo>
                  <a:pt x="292735" y="381000"/>
                  <a:pt x="344091" y="351790"/>
                  <a:pt x="381476" y="317024"/>
                </a:cubicBezTo>
                <a:cubicBezTo>
                  <a:pt x="418624" y="282496"/>
                  <a:pt x="443468" y="241300"/>
                  <a:pt x="455295" y="212963"/>
                </a:cubicBezTo>
                <a:cubicBezTo>
                  <a:pt x="457914" y="206692"/>
                  <a:pt x="457914" y="199707"/>
                  <a:pt x="455295" y="193437"/>
                </a:cubicBezTo>
                <a:cubicBezTo>
                  <a:pt x="443468" y="165100"/>
                  <a:pt x="418624" y="123825"/>
                  <a:pt x="381476" y="89376"/>
                </a:cubicBezTo>
                <a:cubicBezTo>
                  <a:pt x="344091" y="54689"/>
                  <a:pt x="292735" y="25400"/>
                  <a:pt x="228600" y="25400"/>
                </a:cubicBezTo>
                <a:close/>
                <a:moveTo>
                  <a:pt x="114300" y="203200"/>
                </a:moveTo>
                <a:cubicBezTo>
                  <a:pt x="114300" y="140116"/>
                  <a:pt x="165516" y="88900"/>
                  <a:pt x="228600" y="88900"/>
                </a:cubicBezTo>
                <a:cubicBezTo>
                  <a:pt x="291684" y="88900"/>
                  <a:pt x="342900" y="140116"/>
                  <a:pt x="342900" y="203200"/>
                </a:cubicBezTo>
                <a:cubicBezTo>
                  <a:pt x="342900" y="266284"/>
                  <a:pt x="291684" y="317500"/>
                  <a:pt x="228600" y="317500"/>
                </a:cubicBezTo>
                <a:cubicBezTo>
                  <a:pt x="165516" y="317500"/>
                  <a:pt x="114300" y="266284"/>
                  <a:pt x="114300" y="203200"/>
                </a:cubicBezTo>
                <a:close/>
                <a:moveTo>
                  <a:pt x="228600" y="152400"/>
                </a:moveTo>
                <a:cubicBezTo>
                  <a:pt x="228600" y="180419"/>
                  <a:pt x="205819" y="203200"/>
                  <a:pt x="177800" y="203200"/>
                </a:cubicBezTo>
                <a:cubicBezTo>
                  <a:pt x="168672" y="203200"/>
                  <a:pt x="160099" y="200819"/>
                  <a:pt x="152638" y="196533"/>
                </a:cubicBezTo>
                <a:cubicBezTo>
                  <a:pt x="151844" y="205184"/>
                  <a:pt x="152559" y="214074"/>
                  <a:pt x="154940" y="222885"/>
                </a:cubicBezTo>
                <a:cubicBezTo>
                  <a:pt x="165814" y="263525"/>
                  <a:pt x="207645" y="287655"/>
                  <a:pt x="248285" y="276781"/>
                </a:cubicBezTo>
                <a:cubicBezTo>
                  <a:pt x="288925" y="265906"/>
                  <a:pt x="313055" y="224076"/>
                  <a:pt x="302181" y="183436"/>
                </a:cubicBezTo>
                <a:cubicBezTo>
                  <a:pt x="292497" y="147161"/>
                  <a:pt x="258128" y="124063"/>
                  <a:pt x="221933" y="127238"/>
                </a:cubicBezTo>
                <a:cubicBezTo>
                  <a:pt x="226139" y="134620"/>
                  <a:pt x="228600" y="143193"/>
                  <a:pt x="228600" y="152400"/>
                </a:cubicBezTo>
                <a:close/>
              </a:path>
            </a:pathLst>
          </a:custGeom>
          <a:solidFill>
            <a:srgbClr val="1B5E5E"/>
          </a:solidFill>
          <a:ln/>
        </p:spPr>
      </p:sp>
      <p:sp>
        <p:nvSpPr>
          <p:cNvPr id="14" name="Text 12"/>
          <p:cNvSpPr/>
          <p:nvPr/>
        </p:nvSpPr>
        <p:spPr>
          <a:xfrm>
            <a:off x="1016000" y="7493000"/>
            <a:ext cx="254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Getters/Setters for static data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826000" y="70358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5400" y="25400"/>
                </a:moveTo>
                <a:cubicBezTo>
                  <a:pt x="11351" y="25400"/>
                  <a:pt x="0" y="36751"/>
                  <a:pt x="0" y="50800"/>
                </a:cubicBezTo>
                <a:lnTo>
                  <a:pt x="0" y="342900"/>
                </a:lnTo>
                <a:cubicBezTo>
                  <a:pt x="0" y="363934"/>
                  <a:pt x="17066" y="381000"/>
                  <a:pt x="38100" y="381000"/>
                </a:cubicBezTo>
                <a:lnTo>
                  <a:pt x="368300" y="381000"/>
                </a:lnTo>
                <a:cubicBezTo>
                  <a:pt x="389334" y="381000"/>
                  <a:pt x="406400" y="363934"/>
                  <a:pt x="406400" y="342900"/>
                </a:cubicBezTo>
                <a:lnTo>
                  <a:pt x="406400" y="120809"/>
                </a:lnTo>
                <a:cubicBezTo>
                  <a:pt x="406400" y="106363"/>
                  <a:pt x="391001" y="97234"/>
                  <a:pt x="378301" y="104061"/>
                </a:cubicBezTo>
                <a:lnTo>
                  <a:pt x="254000" y="170974"/>
                </a:lnTo>
                <a:lnTo>
                  <a:pt x="254000" y="120809"/>
                </a:lnTo>
                <a:cubicBezTo>
                  <a:pt x="254000" y="106363"/>
                  <a:pt x="238601" y="97234"/>
                  <a:pt x="225901" y="104061"/>
                </a:cubicBezTo>
                <a:lnTo>
                  <a:pt x="101600" y="170974"/>
                </a:lnTo>
                <a:lnTo>
                  <a:pt x="101600" y="50800"/>
                </a:lnTo>
                <a:cubicBezTo>
                  <a:pt x="101600" y="36751"/>
                  <a:pt x="90249" y="25400"/>
                  <a:pt x="76200" y="25400"/>
                </a:cubicBezTo>
                <a:lnTo>
                  <a:pt x="25400" y="25400"/>
                </a:lnTo>
                <a:close/>
              </a:path>
            </a:pathLst>
          </a:custGeom>
          <a:solidFill>
            <a:srgbClr val="1B5E5E"/>
          </a:solidFill>
          <a:ln/>
        </p:spPr>
      </p:sp>
      <p:sp>
        <p:nvSpPr>
          <p:cNvPr id="16" name="Text 14"/>
          <p:cNvSpPr/>
          <p:nvPr/>
        </p:nvSpPr>
        <p:spPr>
          <a:xfrm>
            <a:off x="4318000" y="7493000"/>
            <a:ext cx="254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Factory methods for object creation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356600" y="70358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404336" y="78264"/>
                </a:moveTo>
                <a:cubicBezTo>
                  <a:pt x="410369" y="72231"/>
                  <a:pt x="420449" y="73739"/>
                  <a:pt x="423466" y="81677"/>
                </a:cubicBezTo>
                <a:cubicBezTo>
                  <a:pt x="428863" y="95726"/>
                  <a:pt x="431800" y="111046"/>
                  <a:pt x="431800" y="127000"/>
                </a:cubicBezTo>
                <a:cubicBezTo>
                  <a:pt x="431800" y="197168"/>
                  <a:pt x="374968" y="254000"/>
                  <a:pt x="304800" y="254000"/>
                </a:cubicBezTo>
                <a:cubicBezTo>
                  <a:pt x="290909" y="254000"/>
                  <a:pt x="277495" y="251777"/>
                  <a:pt x="264954" y="247650"/>
                </a:cubicBezTo>
                <a:lnTo>
                  <a:pt x="116602" y="396002"/>
                </a:lnTo>
                <a:cubicBezTo>
                  <a:pt x="94298" y="418306"/>
                  <a:pt x="58103" y="418306"/>
                  <a:pt x="35798" y="396002"/>
                </a:cubicBezTo>
                <a:cubicBezTo>
                  <a:pt x="13494" y="373697"/>
                  <a:pt x="13494" y="337502"/>
                  <a:pt x="35798" y="315198"/>
                </a:cubicBezTo>
                <a:lnTo>
                  <a:pt x="184150" y="166846"/>
                </a:lnTo>
                <a:cubicBezTo>
                  <a:pt x="180023" y="154305"/>
                  <a:pt x="177800" y="140970"/>
                  <a:pt x="177800" y="127000"/>
                </a:cubicBezTo>
                <a:cubicBezTo>
                  <a:pt x="177800" y="56832"/>
                  <a:pt x="234633" y="0"/>
                  <a:pt x="304800" y="0"/>
                </a:cubicBezTo>
                <a:cubicBezTo>
                  <a:pt x="320754" y="0"/>
                  <a:pt x="336074" y="2937"/>
                  <a:pt x="350123" y="8334"/>
                </a:cubicBezTo>
                <a:cubicBezTo>
                  <a:pt x="358061" y="11351"/>
                  <a:pt x="359489" y="21431"/>
                  <a:pt x="353536" y="27464"/>
                </a:cubicBezTo>
                <a:lnTo>
                  <a:pt x="283131" y="97869"/>
                </a:lnTo>
                <a:cubicBezTo>
                  <a:pt x="280749" y="100251"/>
                  <a:pt x="279400" y="103505"/>
                  <a:pt x="279400" y="106839"/>
                </a:cubicBezTo>
                <a:lnTo>
                  <a:pt x="279400" y="139700"/>
                </a:lnTo>
                <a:cubicBezTo>
                  <a:pt x="279400" y="146685"/>
                  <a:pt x="285115" y="152400"/>
                  <a:pt x="292100" y="152400"/>
                </a:cubicBezTo>
                <a:lnTo>
                  <a:pt x="324961" y="152400"/>
                </a:lnTo>
                <a:cubicBezTo>
                  <a:pt x="328295" y="152400"/>
                  <a:pt x="331549" y="151051"/>
                  <a:pt x="333931" y="148669"/>
                </a:cubicBezTo>
                <a:lnTo>
                  <a:pt x="404336" y="78264"/>
                </a:lnTo>
                <a:close/>
              </a:path>
            </a:pathLst>
          </a:custGeom>
          <a:solidFill>
            <a:srgbClr val="1B5E5E"/>
          </a:solidFill>
          <a:ln/>
        </p:spPr>
      </p:sp>
      <p:sp>
        <p:nvSpPr>
          <p:cNvPr id="18" name="Text 16"/>
          <p:cNvSpPr/>
          <p:nvPr/>
        </p:nvSpPr>
        <p:spPr>
          <a:xfrm>
            <a:off x="7874000" y="7493000"/>
            <a:ext cx="254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Utility functions without object state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1938000" y="70358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54861" y="7541"/>
                </a:moveTo>
                <a:cubicBezTo>
                  <a:pt x="157242" y="-4207"/>
                  <a:pt x="167640" y="-12700"/>
                  <a:pt x="179705" y="-12700"/>
                </a:cubicBezTo>
                <a:lnTo>
                  <a:pt x="227171" y="-12700"/>
                </a:lnTo>
                <a:cubicBezTo>
                  <a:pt x="239236" y="-12700"/>
                  <a:pt x="249634" y="-4207"/>
                  <a:pt x="252016" y="7541"/>
                </a:cubicBezTo>
                <a:lnTo>
                  <a:pt x="263525" y="63103"/>
                </a:lnTo>
                <a:cubicBezTo>
                  <a:pt x="274717" y="67866"/>
                  <a:pt x="285194" y="73978"/>
                  <a:pt x="294719" y="81201"/>
                </a:cubicBezTo>
                <a:lnTo>
                  <a:pt x="348536" y="63341"/>
                </a:lnTo>
                <a:cubicBezTo>
                  <a:pt x="359966" y="59531"/>
                  <a:pt x="372507" y="64294"/>
                  <a:pt x="378539" y="74771"/>
                </a:cubicBezTo>
                <a:lnTo>
                  <a:pt x="402273" y="115888"/>
                </a:lnTo>
                <a:cubicBezTo>
                  <a:pt x="408305" y="126365"/>
                  <a:pt x="406162" y="139541"/>
                  <a:pt x="397113" y="147558"/>
                </a:cubicBezTo>
                <a:lnTo>
                  <a:pt x="354806" y="185182"/>
                </a:lnTo>
                <a:cubicBezTo>
                  <a:pt x="355521" y="191056"/>
                  <a:pt x="355838" y="197088"/>
                  <a:pt x="355838" y="203200"/>
                </a:cubicBezTo>
                <a:cubicBezTo>
                  <a:pt x="355838" y="209312"/>
                  <a:pt x="355441" y="215344"/>
                  <a:pt x="354806" y="221218"/>
                </a:cubicBezTo>
                <a:lnTo>
                  <a:pt x="397192" y="258921"/>
                </a:lnTo>
                <a:cubicBezTo>
                  <a:pt x="406241" y="266938"/>
                  <a:pt x="408305" y="280194"/>
                  <a:pt x="402352" y="290592"/>
                </a:cubicBezTo>
                <a:lnTo>
                  <a:pt x="378619" y="331708"/>
                </a:lnTo>
                <a:cubicBezTo>
                  <a:pt x="372586" y="342106"/>
                  <a:pt x="360045" y="346948"/>
                  <a:pt x="348615" y="343138"/>
                </a:cubicBezTo>
                <a:lnTo>
                  <a:pt x="294799" y="325279"/>
                </a:lnTo>
                <a:cubicBezTo>
                  <a:pt x="285194" y="332502"/>
                  <a:pt x="274717" y="338534"/>
                  <a:pt x="263604" y="343376"/>
                </a:cubicBezTo>
                <a:lnTo>
                  <a:pt x="252174" y="398859"/>
                </a:lnTo>
                <a:cubicBezTo>
                  <a:pt x="249714" y="410686"/>
                  <a:pt x="239316" y="419100"/>
                  <a:pt x="227330" y="419100"/>
                </a:cubicBezTo>
                <a:lnTo>
                  <a:pt x="179864" y="419100"/>
                </a:lnTo>
                <a:cubicBezTo>
                  <a:pt x="167799" y="419100"/>
                  <a:pt x="157401" y="410607"/>
                  <a:pt x="155019" y="398859"/>
                </a:cubicBezTo>
                <a:lnTo>
                  <a:pt x="143589" y="343376"/>
                </a:lnTo>
                <a:cubicBezTo>
                  <a:pt x="132397" y="338614"/>
                  <a:pt x="121999" y="332502"/>
                  <a:pt x="112395" y="325279"/>
                </a:cubicBezTo>
                <a:lnTo>
                  <a:pt x="58341" y="343138"/>
                </a:lnTo>
                <a:cubicBezTo>
                  <a:pt x="46911" y="346948"/>
                  <a:pt x="34369" y="342186"/>
                  <a:pt x="28337" y="331708"/>
                </a:cubicBezTo>
                <a:lnTo>
                  <a:pt x="4604" y="290592"/>
                </a:lnTo>
                <a:cubicBezTo>
                  <a:pt x="-1429" y="280114"/>
                  <a:pt x="714" y="266938"/>
                  <a:pt x="9763" y="258921"/>
                </a:cubicBezTo>
                <a:lnTo>
                  <a:pt x="52149" y="221218"/>
                </a:lnTo>
                <a:cubicBezTo>
                  <a:pt x="51435" y="215344"/>
                  <a:pt x="51118" y="209312"/>
                  <a:pt x="51118" y="203200"/>
                </a:cubicBezTo>
                <a:cubicBezTo>
                  <a:pt x="51118" y="197088"/>
                  <a:pt x="51514" y="191056"/>
                  <a:pt x="52149" y="185182"/>
                </a:cubicBezTo>
                <a:lnTo>
                  <a:pt x="9763" y="147479"/>
                </a:lnTo>
                <a:cubicBezTo>
                  <a:pt x="714" y="139462"/>
                  <a:pt x="-1349" y="126206"/>
                  <a:pt x="4604" y="115808"/>
                </a:cubicBezTo>
                <a:lnTo>
                  <a:pt x="28337" y="74692"/>
                </a:lnTo>
                <a:cubicBezTo>
                  <a:pt x="34369" y="64214"/>
                  <a:pt x="46911" y="59452"/>
                  <a:pt x="58341" y="63262"/>
                </a:cubicBezTo>
                <a:lnTo>
                  <a:pt x="112157" y="81121"/>
                </a:lnTo>
                <a:cubicBezTo>
                  <a:pt x="121761" y="73898"/>
                  <a:pt x="132239" y="67866"/>
                  <a:pt x="143351" y="63024"/>
                </a:cubicBezTo>
                <a:lnTo>
                  <a:pt x="154861" y="7541"/>
                </a:lnTo>
                <a:close/>
                <a:moveTo>
                  <a:pt x="203438" y="266700"/>
                </a:moveTo>
                <a:cubicBezTo>
                  <a:pt x="226124" y="266615"/>
                  <a:pt x="247042" y="254433"/>
                  <a:pt x="258312" y="234744"/>
                </a:cubicBezTo>
                <a:cubicBezTo>
                  <a:pt x="269581" y="215054"/>
                  <a:pt x="269490" y="190848"/>
                  <a:pt x="258074" y="171244"/>
                </a:cubicBezTo>
                <a:cubicBezTo>
                  <a:pt x="246657" y="151639"/>
                  <a:pt x="225648" y="139615"/>
                  <a:pt x="202962" y="139700"/>
                </a:cubicBezTo>
                <a:cubicBezTo>
                  <a:pt x="180276" y="139785"/>
                  <a:pt x="159358" y="151967"/>
                  <a:pt x="148088" y="171656"/>
                </a:cubicBezTo>
                <a:cubicBezTo>
                  <a:pt x="136819" y="191346"/>
                  <a:pt x="136910" y="215552"/>
                  <a:pt x="148326" y="235156"/>
                </a:cubicBezTo>
                <a:cubicBezTo>
                  <a:pt x="159743" y="254761"/>
                  <a:pt x="180752" y="266785"/>
                  <a:pt x="203438" y="266700"/>
                </a:cubicBezTo>
                <a:close/>
              </a:path>
            </a:pathLst>
          </a:custGeom>
          <a:solidFill>
            <a:srgbClr val="1B5E5E"/>
          </a:solidFill>
          <a:ln/>
        </p:spPr>
      </p:sp>
      <p:sp>
        <p:nvSpPr>
          <p:cNvPr id="20" name="Text 18"/>
          <p:cNvSpPr/>
          <p:nvPr/>
        </p:nvSpPr>
        <p:spPr>
          <a:xfrm>
            <a:off x="11430000" y="7493000"/>
            <a:ext cx="254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Shared configuration access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986000" y="87376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17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8A9B8C">
              <a:alpha val="30196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8A9B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OOP — WEEK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762000"/>
            <a:ext cx="1270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5E5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Case 1 — Counting Object Instances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46200"/>
            <a:ext cx="635000" cy="50800"/>
          </a:xfrm>
          <a:prstGeom prst="rect">
            <a:avLst/>
          </a:prstGeom>
          <a:solidFill>
            <a:srgbClr val="C486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65100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One of the most common uses of static data is tracking how many objects of a class currently exist.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2667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Implementation Pattern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62000" y="3124200"/>
            <a:ext cx="7620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Declare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 int count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 class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Increment count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 constructor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Decrement count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 destructor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Provide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 getter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getCount()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5715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Applications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62000" y="6146800"/>
            <a:ext cx="7620000" cy="2032000"/>
          </a:xfrm>
          <a:prstGeom prst="rect">
            <a:avLst/>
          </a:prstGeom>
          <a:solidFill>
            <a:srgbClr val="E8E3DA"/>
          </a:solidFill>
          <a:ln/>
        </p:spPr>
      </p:sp>
      <p:sp>
        <p:nvSpPr>
          <p:cNvPr id="10" name="Text 8"/>
          <p:cNvSpPr/>
          <p:nvPr/>
        </p:nvSpPr>
        <p:spPr>
          <a:xfrm>
            <a:off x="965200" y="6273800"/>
            <a:ext cx="72136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Connection pooling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track active connections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Thread management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monitor thread count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Resource monitoring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watch allocations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Debugging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detect object leaks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890000" y="1651000"/>
            <a:ext cx="6604000" cy="6731000"/>
          </a:xfrm>
          <a:prstGeom prst="rect">
            <a:avLst/>
          </a:prstGeom>
          <a:solidFill>
            <a:srgbClr val="E8E3DA"/>
          </a:solidFill>
          <a:ln/>
        </p:spPr>
      </p:sp>
      <p:sp>
        <p:nvSpPr>
          <p:cNvPr id="12" name="Text 10"/>
          <p:cNvSpPr/>
          <p:nvPr/>
        </p:nvSpPr>
        <p:spPr>
          <a:xfrm>
            <a:off x="9093200" y="1752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100" kern="0" dirty="0">
                <a:solidFill>
                  <a:srgbClr val="8A9B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 COUNTER EXAMPLE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093200" y="2082800"/>
            <a:ext cx="6197600" cy="609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Widget {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private: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 int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count;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public: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Widget() {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count++;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Widget() {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count--;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 int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getCount() {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count;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Widget::count = 0;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Usage: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Widget w1, w2;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Widget::getCount(); 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986000" y="87376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18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8A9B8C">
              <a:alpha val="30196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8A9B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OOP — WEEK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762000"/>
            <a:ext cx="1270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5E5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Case 2 — Shared Constants &amp; Configuration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46200"/>
            <a:ext cx="635000" cy="50800"/>
          </a:xfrm>
          <a:prstGeom prst="rect">
            <a:avLst/>
          </a:prstGeom>
          <a:solidFill>
            <a:srgbClr val="C486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6510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 data members are ideal for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class-wide constants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configuration values. All objects share the same constant value, saving memory and centralizing configuration.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2667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Common Constant Patterns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62000" y="3175000"/>
            <a:ext cx="4699000" cy="1270000"/>
          </a:xfrm>
          <a:prstGeom prst="rect">
            <a:avLst/>
          </a:prstGeom>
          <a:solidFill>
            <a:srgbClr val="E8E3DA"/>
          </a:solidFill>
          <a:ln/>
        </p:spPr>
      </p:sp>
      <p:sp>
        <p:nvSpPr>
          <p:cNvPr id="8" name="Text 6"/>
          <p:cNvSpPr/>
          <p:nvPr/>
        </p:nvSpPr>
        <p:spPr>
          <a:xfrm>
            <a:off x="965200" y="3302000"/>
            <a:ext cx="42926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 const double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PI;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Mathematical constants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78500" y="3175000"/>
            <a:ext cx="4699000" cy="1270000"/>
          </a:xfrm>
          <a:prstGeom prst="rect">
            <a:avLst/>
          </a:prstGeom>
          <a:solidFill>
            <a:srgbClr val="E8E3DA"/>
          </a:solidFill>
          <a:ln/>
        </p:spPr>
      </p:sp>
      <p:sp>
        <p:nvSpPr>
          <p:cNvPr id="10" name="Text 8"/>
          <p:cNvSpPr/>
          <p:nvPr/>
        </p:nvSpPr>
        <p:spPr>
          <a:xfrm>
            <a:off x="5981700" y="3302000"/>
            <a:ext cx="42926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 const int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MAX_SIZE;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Size limits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795000" y="3175000"/>
            <a:ext cx="4699000" cy="1270000"/>
          </a:xfrm>
          <a:prstGeom prst="rect">
            <a:avLst/>
          </a:prstGeom>
          <a:solidFill>
            <a:srgbClr val="E8E3DA"/>
          </a:solidFill>
          <a:ln/>
        </p:spPr>
      </p:sp>
      <p:sp>
        <p:nvSpPr>
          <p:cNvPr id="12" name="Text 10"/>
          <p:cNvSpPr/>
          <p:nvPr/>
        </p:nvSpPr>
        <p:spPr>
          <a:xfrm>
            <a:off x="10998200" y="3302000"/>
            <a:ext cx="42926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 const char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* VERSION;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Version strings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47625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C++11 and Later: static constexpr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62000" y="5207000"/>
            <a:ext cx="14732000" cy="2730500"/>
          </a:xfrm>
          <a:prstGeom prst="rect">
            <a:avLst/>
          </a:prstGeom>
          <a:solidFill>
            <a:srgbClr val="E8E3DA"/>
          </a:solidFill>
          <a:ln/>
        </p:spPr>
      </p:sp>
      <p:sp>
        <p:nvSpPr>
          <p:cNvPr id="15" name="Text 13"/>
          <p:cNvSpPr/>
          <p:nvPr/>
        </p:nvSpPr>
        <p:spPr>
          <a:xfrm>
            <a:off x="965200" y="5334000"/>
            <a:ext cx="143256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Circle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 constexpr double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PI = 3.14159265358979;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 constexpr int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MAX_RADIUS = 1000;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No external definition needed — compile-time constant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80264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Benefits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62000" y="8382000"/>
            <a:ext cx="1473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Centralized —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change one place, affects all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Compile-time with constexpr 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No per-object overhead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986000" y="87376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8A9B8C">
              <a:alpha val="30196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8A9B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OOP — WEEK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5E5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Case 3 — Singleton Pattern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46200"/>
            <a:ext cx="635000" cy="50800"/>
          </a:xfrm>
          <a:prstGeom prst="rect">
            <a:avLst/>
          </a:prstGeom>
          <a:solidFill>
            <a:srgbClr val="C486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65100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Singleton pattern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ensures a class has only one instance and provides global access to it. Implementation uses static members.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2667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Implementation Steps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62000" y="31242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 constructor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prevents external creation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35560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 pointer/reference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holds the single instance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39878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 getInstance()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provides global access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4699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Common Use Cases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62000" y="5130800"/>
            <a:ext cx="7620000" cy="1968500"/>
          </a:xfrm>
          <a:prstGeom prst="rect">
            <a:avLst/>
          </a:prstGeom>
          <a:solidFill>
            <a:srgbClr val="E8E3DA"/>
          </a:solidFill>
          <a:ln/>
        </p:spPr>
      </p:sp>
      <p:sp>
        <p:nvSpPr>
          <p:cNvPr id="12" name="Text 10"/>
          <p:cNvSpPr/>
          <p:nvPr/>
        </p:nvSpPr>
        <p:spPr>
          <a:xfrm>
            <a:off x="965200" y="5257800"/>
            <a:ext cx="72136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 connection managers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Logging systems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Configuration managers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Thread pools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7035800"/>
            <a:ext cx="7620000" cy="1016000"/>
          </a:xfrm>
          <a:prstGeom prst="rect">
            <a:avLst/>
          </a:prstGeom>
          <a:solidFill>
            <a:srgbClr val="E8E3DA"/>
          </a:solidFill>
          <a:ln/>
        </p:spPr>
      </p:sp>
      <p:sp>
        <p:nvSpPr>
          <p:cNvPr id="14" name="Shape 12"/>
          <p:cNvSpPr/>
          <p:nvPr/>
        </p:nvSpPr>
        <p:spPr>
          <a:xfrm>
            <a:off x="762000" y="7035800"/>
            <a:ext cx="50800" cy="1016000"/>
          </a:xfrm>
          <a:prstGeom prst="rect">
            <a:avLst/>
          </a:prstGeom>
          <a:solidFill>
            <a:srgbClr val="8A4B4B"/>
          </a:solidFill>
          <a:ln/>
        </p:spPr>
      </p:sp>
      <p:sp>
        <p:nvSpPr>
          <p:cNvPr id="15" name="Text 13"/>
          <p:cNvSpPr/>
          <p:nvPr/>
        </p:nvSpPr>
        <p:spPr>
          <a:xfrm>
            <a:off x="1016000" y="7162800"/>
            <a:ext cx="7162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8A4B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Caution: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Singletons can make unit testing difficult and create hidden dependencies — use judiciously.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890000" y="1651000"/>
            <a:ext cx="6604000" cy="6731000"/>
          </a:xfrm>
          <a:prstGeom prst="rect">
            <a:avLst/>
          </a:prstGeom>
          <a:solidFill>
            <a:srgbClr val="E8E3DA"/>
          </a:solidFill>
          <a:ln/>
        </p:spPr>
      </p:sp>
      <p:sp>
        <p:nvSpPr>
          <p:cNvPr id="17" name="Text 15"/>
          <p:cNvSpPr/>
          <p:nvPr/>
        </p:nvSpPr>
        <p:spPr>
          <a:xfrm>
            <a:off x="9093200" y="1752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100" kern="0" dirty="0">
                <a:solidFill>
                  <a:srgbClr val="8A9B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SINGLETON EXAMPLE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093200" y="2082800"/>
            <a:ext cx="6197600" cy="609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Logger {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private: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Logger* instance;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Logger() {} 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private!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public: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Logger* getInstance() {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(!instance)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instance = 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Logger();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instance;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log(string msg) {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msg &lt;&lt; endl;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Logger* Logger::instance = nullptr;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Usage: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Logger::getInstance()-&gt;log(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1B5E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"Hello"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986000" y="87376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8A9B8C">
              <a:alpha val="30196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8A9B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OOP — WEEK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762000"/>
            <a:ext cx="1270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5E5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Example — Static Data Member in 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46200"/>
            <a:ext cx="635000" cy="50800"/>
          </a:xfrm>
          <a:prstGeom prst="rect">
            <a:avLst/>
          </a:prstGeom>
          <a:solidFill>
            <a:srgbClr val="C486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651000"/>
            <a:ext cx="8890000" cy="6731000"/>
          </a:xfrm>
          <a:prstGeom prst="rect">
            <a:avLst/>
          </a:prstGeom>
          <a:solidFill>
            <a:srgbClr val="E8E3DA"/>
          </a:solidFill>
          <a:ln/>
        </p:spPr>
      </p:sp>
      <p:sp>
        <p:nvSpPr>
          <p:cNvPr id="6" name="Text 4"/>
          <p:cNvSpPr/>
          <p:nvPr/>
        </p:nvSpPr>
        <p:spPr>
          <a:xfrm>
            <a:off x="965200" y="1752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100" kern="0" dirty="0">
                <a:solidFill>
                  <a:srgbClr val="8A9B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BANKACCOUNT CLASS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5200" y="2082800"/>
            <a:ext cx="8483600" cy="609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BankAccount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private: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 double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interestRate;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accountNumber;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balance;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public: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BankAccount(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acc,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bal)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accountNumber(acc), balance(bal) {}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 void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setInterestRate(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r)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interestRate = r; }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 double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getInterestRate()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interestRate;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display()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const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B5E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"Acc: "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&lt;&lt; accountNumber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&lt;&lt;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B5E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 Rate: "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&lt;&lt; interestRate;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BankAccount::interestRate = 3.5;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33000" y="1651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Program Output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0033000" y="2082800"/>
            <a:ext cx="5461000" cy="2540000"/>
          </a:xfrm>
          <a:prstGeom prst="rect">
            <a:avLst/>
          </a:prstGeom>
          <a:solidFill>
            <a:srgbClr val="1B2B2B"/>
          </a:solidFill>
          <a:ln/>
        </p:spPr>
      </p:sp>
      <p:sp>
        <p:nvSpPr>
          <p:cNvPr id="10" name="Text 8"/>
          <p:cNvSpPr/>
          <p:nvPr/>
        </p:nvSpPr>
        <p:spPr>
          <a:xfrm>
            <a:off x="10287000" y="2235200"/>
            <a:ext cx="4953000" cy="223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A8C4A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 ./program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A8C4A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Initial rate: 3.5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A8C4A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After change: 5.5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E8A8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a1 rate: 5.5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E8A8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a2 rate: 5.5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A8C4A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33000" y="4953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Observations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0033000" y="5384800"/>
            <a:ext cx="5461000" cy="3048000"/>
          </a:xfrm>
          <a:prstGeom prst="rect">
            <a:avLst/>
          </a:prstGeom>
          <a:solidFill>
            <a:srgbClr val="E8E3DA"/>
          </a:solidFill>
          <a:ln/>
        </p:spPr>
      </p:sp>
      <p:sp>
        <p:nvSpPr>
          <p:cNvPr id="13" name="Text 11"/>
          <p:cNvSpPr/>
          <p:nvPr/>
        </p:nvSpPr>
        <p:spPr>
          <a:xfrm>
            <a:off x="10236200" y="5537200"/>
            <a:ext cx="50546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▶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Changing rate via one object affects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all accounts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▶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Static data is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shared state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use with care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▶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External definition initializes: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 BankAccount::interestRate = 3.5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▶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Static setters/getters provide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controlled access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986000" y="87376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21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8A9B8C">
              <a:alpha val="30196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8A9B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OOP — WEEK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762000"/>
            <a:ext cx="1270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5E5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Example — Static Member Functions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46200"/>
            <a:ext cx="635000" cy="50800"/>
          </a:xfrm>
          <a:prstGeom prst="rect">
            <a:avLst/>
          </a:prstGeom>
          <a:solidFill>
            <a:srgbClr val="C486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651000"/>
            <a:ext cx="7366000" cy="3556000"/>
          </a:xfrm>
          <a:prstGeom prst="rect">
            <a:avLst/>
          </a:prstGeom>
          <a:solidFill>
            <a:srgbClr val="E8E3DA"/>
          </a:solidFill>
          <a:ln/>
        </p:spPr>
      </p:sp>
      <p:sp>
        <p:nvSpPr>
          <p:cNvPr id="6" name="Text 4"/>
          <p:cNvSpPr/>
          <p:nvPr/>
        </p:nvSpPr>
        <p:spPr>
          <a:xfrm>
            <a:off x="965200" y="1752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100" kern="0" dirty="0">
                <a:solidFill>
                  <a:srgbClr val="8A9B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MATHUTILS CLASS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5200" y="2082800"/>
            <a:ext cx="69596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MathUtils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public: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 int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max(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a,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b)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(a &gt; b) ? a : b;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 int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min(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a,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b)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(a &lt; b) ? a : b;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5410200"/>
            <a:ext cx="7366000" cy="635000"/>
          </a:xfrm>
          <a:prstGeom prst="rect">
            <a:avLst/>
          </a:prstGeom>
          <a:solidFill>
            <a:srgbClr val="1B2B2B"/>
          </a:solidFill>
          <a:ln/>
        </p:spPr>
      </p:sp>
      <p:sp>
        <p:nvSpPr>
          <p:cNvPr id="9" name="Text 7"/>
          <p:cNvSpPr/>
          <p:nvPr/>
        </p:nvSpPr>
        <p:spPr>
          <a:xfrm>
            <a:off x="965200" y="5486400"/>
            <a:ext cx="6959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A8C4A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MathUtils::max(10, 20); 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20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636000" y="1651000"/>
            <a:ext cx="6858000" cy="3937000"/>
          </a:xfrm>
          <a:prstGeom prst="rect">
            <a:avLst/>
          </a:prstGeom>
          <a:solidFill>
            <a:srgbClr val="E8E3DA"/>
          </a:solidFill>
          <a:ln/>
        </p:spPr>
      </p:sp>
      <p:sp>
        <p:nvSpPr>
          <p:cNvPr id="11" name="Text 9"/>
          <p:cNvSpPr/>
          <p:nvPr/>
        </p:nvSpPr>
        <p:spPr>
          <a:xfrm>
            <a:off x="8839200" y="1752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100" kern="0" dirty="0">
                <a:solidFill>
                  <a:srgbClr val="8A9B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SETTINGS CLASS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839200" y="2082800"/>
            <a:ext cx="6451600" cy="340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Settings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private: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 string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configPath;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public: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 void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setPath(string p)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configPath = p;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 string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getPath()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configPath;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636000" y="5638800"/>
            <a:ext cx="6858000" cy="635000"/>
          </a:xfrm>
          <a:prstGeom prst="rect">
            <a:avLst/>
          </a:prstGeom>
          <a:solidFill>
            <a:srgbClr val="1B2B2B"/>
          </a:solidFill>
          <a:ln/>
        </p:spPr>
      </p:sp>
      <p:sp>
        <p:nvSpPr>
          <p:cNvPr id="14" name="Text 12"/>
          <p:cNvSpPr/>
          <p:nvPr/>
        </p:nvSpPr>
        <p:spPr>
          <a:xfrm>
            <a:off x="8839200" y="5715000"/>
            <a:ext cx="6451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A8C4A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Settings::setPath(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1B5E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"/etc/app.conf"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A8C4A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6350000"/>
            <a:ext cx="14732000" cy="1778000"/>
          </a:xfrm>
          <a:prstGeom prst="rect">
            <a:avLst/>
          </a:prstGeom>
          <a:solidFill>
            <a:srgbClr val="E8E3DA"/>
          </a:solidFill>
          <a:ln/>
        </p:spPr>
      </p:sp>
      <p:sp>
        <p:nvSpPr>
          <p:cNvPr id="16" name="Shape 14"/>
          <p:cNvSpPr/>
          <p:nvPr/>
        </p:nvSpPr>
        <p:spPr>
          <a:xfrm>
            <a:off x="762000" y="6350000"/>
            <a:ext cx="50800" cy="17780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17" name="Text 15"/>
          <p:cNvSpPr/>
          <p:nvPr/>
        </p:nvSpPr>
        <p:spPr>
          <a:xfrm>
            <a:off x="1066800" y="6477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66800" y="6883400"/>
            <a:ext cx="14173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 member functions encapsulate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class-level behavior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without requiring an object. They are called using the class name and the scope resolution operator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::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This pattern is widely used for utility classes, factory methods, and managing class-wide configuration.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986000" y="87376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22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8A9B8C">
              <a:alpha val="30196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8A9B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OOP — WEEK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5E5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Static vs Instance Members — Comparison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46200"/>
            <a:ext cx="635000" cy="50800"/>
          </a:xfrm>
          <a:prstGeom prst="rect">
            <a:avLst/>
          </a:prstGeom>
          <a:solidFill>
            <a:srgbClr val="C4863A"/>
          </a:solidFill>
          <a:ln/>
        </p:spPr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651000"/>
          <a:ext cx="14732000" cy="4826000"/>
        </p:xfrm>
        <a:graphic>
          <a:graphicData uri="http://schemas.openxmlformats.org/drawingml/2006/table">
            <a:tbl>
              <a:tblPr/>
              <a:tblGrid>
                <a:gridCol w="3241040"/>
                <a:gridCol w="5745480"/>
                <a:gridCol w="5745480"/>
              </a:tblGrid>
              <a:tr h="751277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Aspect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Static Members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Instance Members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E"/>
                    </a:solidFill>
                  </a:tcPr>
                </a:tc>
              </a:tr>
              <a:tr h="814945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Copies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One copy shared by all objects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Separate copy per object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  <a:tr h="814945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Existence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3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Exists without any object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3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Requires object to exist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3DA"/>
                    </a:solidFill>
                  </a:tcPr>
                </a:tc>
              </a:tr>
              <a:tr h="814945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Access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ClassName::member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object.member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  <a:tr h="814945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this pointer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3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No this pointer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3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Has this pointer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3DA"/>
                    </a:solidFill>
                  </a:tcPr>
                </a:tc>
              </a:tr>
              <a:tr h="814945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Use Case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Shared state, constants, utilities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2D2D2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Object-specific state and behavior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2000" y="6794500"/>
            <a:ext cx="14732000" cy="1270000"/>
          </a:xfrm>
          <a:prstGeom prst="rect">
            <a:avLst/>
          </a:prstGeom>
          <a:solidFill>
            <a:srgbClr val="E8E3DA"/>
          </a:solidFill>
          <a:ln/>
        </p:spPr>
      </p:sp>
      <p:sp>
        <p:nvSpPr>
          <p:cNvPr id="7" name="Shape 4"/>
          <p:cNvSpPr/>
          <p:nvPr/>
        </p:nvSpPr>
        <p:spPr>
          <a:xfrm>
            <a:off x="762000" y="6794500"/>
            <a:ext cx="50800" cy="1270000"/>
          </a:xfrm>
          <a:prstGeom prst="rect">
            <a:avLst/>
          </a:prstGeom>
          <a:solidFill>
            <a:srgbClr val="C4863A"/>
          </a:solidFill>
          <a:ln/>
        </p:spPr>
      </p:sp>
      <p:sp>
        <p:nvSpPr>
          <p:cNvPr id="8" name="Text 5"/>
          <p:cNvSpPr/>
          <p:nvPr/>
        </p:nvSpPr>
        <p:spPr>
          <a:xfrm>
            <a:off x="1066800" y="6921500"/>
            <a:ext cx="141732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Choosing correctly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leads to cleaner, more efficient designs. Ask: "Does this data belong to each object individually, or to the class as a whole?" If the latter, make it static. If the former, keep it as an instance member.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4986000" y="87376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8A9B8C">
              <a:alpha val="30196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8A9B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OOP — WEEK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5E5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Common Pitfalls with Static Data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46200"/>
            <a:ext cx="635000" cy="50800"/>
          </a:xfrm>
          <a:prstGeom prst="rect">
            <a:avLst/>
          </a:prstGeom>
          <a:solidFill>
            <a:srgbClr val="C486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651000"/>
            <a:ext cx="7175500" cy="3175000"/>
          </a:xfrm>
          <a:prstGeom prst="rect">
            <a:avLst/>
          </a:prstGeom>
          <a:solidFill>
            <a:srgbClr val="E8E3DA"/>
          </a:solidFill>
          <a:ln/>
        </p:spPr>
      </p:sp>
      <p:sp>
        <p:nvSpPr>
          <p:cNvPr id="6" name="Text 4"/>
          <p:cNvSpPr/>
          <p:nvPr/>
        </p:nvSpPr>
        <p:spPr>
          <a:xfrm>
            <a:off x="965200" y="1778000"/>
            <a:ext cx="457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8A4B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73200" y="1778000"/>
            <a:ext cx="622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Forgetting External Definition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5200" y="2260600"/>
            <a:ext cx="678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Declaring static inside class without defining outside causes a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linker error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Always provide the external definition in a .cpp file.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5200" y="3492500"/>
            <a:ext cx="678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In .cpp file — REQUIRED!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B5E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MyClass::count = 0;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Without: undefined reference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18500" y="1651000"/>
            <a:ext cx="7175500" cy="3175000"/>
          </a:xfrm>
          <a:prstGeom prst="rect">
            <a:avLst/>
          </a:prstGeom>
          <a:solidFill>
            <a:srgbClr val="E8E3DA"/>
          </a:solidFill>
          <a:ln/>
        </p:spPr>
      </p:sp>
      <p:sp>
        <p:nvSpPr>
          <p:cNvPr id="11" name="Text 9"/>
          <p:cNvSpPr/>
          <p:nvPr/>
        </p:nvSpPr>
        <p:spPr>
          <a:xfrm>
            <a:off x="8521700" y="1778000"/>
            <a:ext cx="457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8A4B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029700" y="1778000"/>
            <a:ext cx="622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Accessing Non-Static from Static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521700" y="2260600"/>
            <a:ext cx="678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 functions have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this pointer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Trying to access instance members results in a compile error.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521700" y="3492500"/>
            <a:ext cx="678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 void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B5E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foo()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B5E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 = 5; 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8A4B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ERROR: no 'this'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Must use object.x instead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B5E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5143500"/>
            <a:ext cx="4699000" cy="3175000"/>
          </a:xfrm>
          <a:prstGeom prst="rect">
            <a:avLst/>
          </a:prstGeom>
          <a:solidFill>
            <a:srgbClr val="E8E3DA"/>
          </a:solidFill>
          <a:ln/>
        </p:spPr>
      </p:sp>
      <p:sp>
        <p:nvSpPr>
          <p:cNvPr id="16" name="Text 14"/>
          <p:cNvSpPr/>
          <p:nvPr/>
        </p:nvSpPr>
        <p:spPr>
          <a:xfrm>
            <a:off x="965200" y="5270500"/>
            <a:ext cx="457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8A4B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73200" y="5270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Thread Safety Issues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5200" y="5753100"/>
            <a:ext cx="4292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 data is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shared across threads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Concurrent access needs synchronization using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mutexes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or atomic types.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5200" y="6985000"/>
            <a:ext cx="4292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Use std::atomic or mutex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B5E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std::atomic&lt;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B5E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&gt; count{0};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B5E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count++; 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thread-safe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778500" y="5143500"/>
            <a:ext cx="4699000" cy="3175000"/>
          </a:xfrm>
          <a:prstGeom prst="rect">
            <a:avLst/>
          </a:prstGeom>
          <a:solidFill>
            <a:srgbClr val="E8E3DA"/>
          </a:solidFill>
          <a:ln/>
        </p:spPr>
      </p:sp>
      <p:sp>
        <p:nvSpPr>
          <p:cNvPr id="21" name="Text 19"/>
          <p:cNvSpPr/>
          <p:nvPr/>
        </p:nvSpPr>
        <p:spPr>
          <a:xfrm>
            <a:off x="5981700" y="5270500"/>
            <a:ext cx="457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8A4B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89700" y="5270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Initialization Order Fiasco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981700" y="5753100"/>
            <a:ext cx="4292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 objects across translation units have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undefined initialization order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Avoid dependencies between static objects.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981700" y="6985000"/>
            <a:ext cx="4292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In file A.cpp: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extern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B5E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 b; 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may not be init!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B5E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a(b); 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DANGEROUS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795000" y="5143500"/>
            <a:ext cx="4699000" cy="3175000"/>
          </a:xfrm>
          <a:prstGeom prst="rect">
            <a:avLst/>
          </a:prstGeom>
          <a:solidFill>
            <a:srgbClr val="E8E3DA"/>
          </a:solidFill>
          <a:ln/>
        </p:spPr>
      </p:sp>
      <p:sp>
        <p:nvSpPr>
          <p:cNvPr id="26" name="Text 24"/>
          <p:cNvSpPr/>
          <p:nvPr/>
        </p:nvSpPr>
        <p:spPr>
          <a:xfrm>
            <a:off x="10998200" y="5270500"/>
            <a:ext cx="457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8A4B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506200" y="5270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Overusing Static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998200" y="5753100"/>
            <a:ext cx="4292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 everything should be shared. Prefer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instance members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object-specific state. Overusing static increases coupling.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998200" y="6985000"/>
            <a:ext cx="4292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Ask: does this belong to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the class or each object?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B5E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balance; 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instance, not static!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4986000" y="87376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8A9B8C">
              <a:alpha val="30196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8A9B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OOP — WEEK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5E5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Best Practices for Static Members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46200"/>
            <a:ext cx="635000" cy="50800"/>
          </a:xfrm>
          <a:prstGeom prst="rect">
            <a:avLst/>
          </a:prstGeom>
          <a:solidFill>
            <a:srgbClr val="C486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651000"/>
            <a:ext cx="4699000" cy="2032000"/>
          </a:xfrm>
          <a:prstGeom prst="rect">
            <a:avLst/>
          </a:prstGeom>
          <a:solidFill>
            <a:srgbClr val="E8E3DA"/>
          </a:solidFill>
          <a:ln/>
        </p:spPr>
      </p:sp>
      <p:sp>
        <p:nvSpPr>
          <p:cNvPr id="6" name="Text 4"/>
          <p:cNvSpPr/>
          <p:nvPr/>
        </p:nvSpPr>
        <p:spPr>
          <a:xfrm>
            <a:off x="965200" y="1752600"/>
            <a:ext cx="4572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C48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73200" y="17526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static const/constexpr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5200" y="2184400"/>
            <a:ext cx="42926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true constants, use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constexpr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compile-time evaluation. No storage is needed, and values are inlined.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78500" y="1651000"/>
            <a:ext cx="4699000" cy="2032000"/>
          </a:xfrm>
          <a:prstGeom prst="rect">
            <a:avLst/>
          </a:prstGeom>
          <a:solidFill>
            <a:srgbClr val="E8E3DA"/>
          </a:solidFill>
          <a:ln/>
        </p:spPr>
      </p:sp>
      <p:sp>
        <p:nvSpPr>
          <p:cNvPr id="10" name="Text 8"/>
          <p:cNvSpPr/>
          <p:nvPr/>
        </p:nvSpPr>
        <p:spPr>
          <a:xfrm>
            <a:off x="5981700" y="1752600"/>
            <a:ext cx="4572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C48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89700" y="17526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Keep static data minimal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81700" y="2184400"/>
            <a:ext cx="42926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Shared state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increases coupling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between objects. Minimize mutable static data to reduce hidden dependencies.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795000" y="1651000"/>
            <a:ext cx="4699000" cy="2032000"/>
          </a:xfrm>
          <a:prstGeom prst="rect">
            <a:avLst/>
          </a:prstGeom>
          <a:solidFill>
            <a:srgbClr val="E8E3DA"/>
          </a:solidFill>
          <a:ln/>
        </p:spPr>
      </p:sp>
      <p:sp>
        <p:nvSpPr>
          <p:cNvPr id="14" name="Text 12"/>
          <p:cNvSpPr/>
          <p:nvPr/>
        </p:nvSpPr>
        <p:spPr>
          <a:xfrm>
            <a:off x="10998200" y="1752600"/>
            <a:ext cx="4572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C48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506200" y="17526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Ensure thread safety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98200" y="2184400"/>
            <a:ext cx="42926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mutexes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or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atomic types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mutable static data in multi-threaded programs to prevent race conditions.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4000500"/>
            <a:ext cx="7175500" cy="2032000"/>
          </a:xfrm>
          <a:prstGeom prst="rect">
            <a:avLst/>
          </a:prstGeom>
          <a:solidFill>
            <a:srgbClr val="E8E3DA"/>
          </a:solidFill>
          <a:ln/>
        </p:spPr>
      </p:sp>
      <p:sp>
        <p:nvSpPr>
          <p:cNvPr id="18" name="Text 16"/>
          <p:cNvSpPr/>
          <p:nvPr/>
        </p:nvSpPr>
        <p:spPr>
          <a:xfrm>
            <a:off x="965200" y="4102100"/>
            <a:ext cx="4572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C48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73200" y="4102100"/>
            <a:ext cx="6223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Prefer encapsulation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5200" y="4533900"/>
            <a:ext cx="67818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Make static data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with public static getter/setter functions. This controls access and allows validation or lazy initialization.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318500" y="4000500"/>
            <a:ext cx="7175500" cy="2032000"/>
          </a:xfrm>
          <a:prstGeom prst="rect">
            <a:avLst/>
          </a:prstGeom>
          <a:solidFill>
            <a:srgbClr val="E8E3DA"/>
          </a:solidFill>
          <a:ln/>
        </p:spPr>
      </p:sp>
      <p:sp>
        <p:nvSpPr>
          <p:cNvPr id="22" name="Text 20"/>
          <p:cNvSpPr/>
          <p:nvPr/>
        </p:nvSpPr>
        <p:spPr>
          <a:xfrm>
            <a:off x="8521700" y="4102100"/>
            <a:ext cx="4572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C48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029700" y="4102100"/>
            <a:ext cx="6223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 shared behavior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21700" y="4533900"/>
            <a:ext cx="67818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Clearly indicate which members affect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all instances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Comments and naming conventions help prevent surprises for other developers.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6350000"/>
            <a:ext cx="14732000" cy="17780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26" name="Text 24"/>
          <p:cNvSpPr/>
          <p:nvPr/>
        </p:nvSpPr>
        <p:spPr>
          <a:xfrm>
            <a:off x="965200" y="6502400"/>
            <a:ext cx="4572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73200" y="6502400"/>
            <a:ext cx="6223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Consider alternatives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65200" y="6934200"/>
            <a:ext cx="142748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Before making something static, consider if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namespaces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free functions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or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dependency injection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might be cleaner. Static state is global state in disguise — use it when it genuinely represents class-level shared data, not as a convenience for avoiding object passing.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986000" y="87376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8A9B8C">
              <a:alpha val="30196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8A9B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OOP — WEEK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5E5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Takeaways — Static Class Data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46200"/>
            <a:ext cx="635000" cy="50800"/>
          </a:xfrm>
          <a:prstGeom prst="rect">
            <a:avLst/>
          </a:prstGeom>
          <a:solidFill>
            <a:srgbClr val="C486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714500"/>
            <a:ext cx="7048500" cy="762000"/>
          </a:xfrm>
          <a:prstGeom prst="rect">
            <a:avLst/>
          </a:prstGeom>
          <a:solidFill>
            <a:srgbClr val="E8E3D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14500"/>
            <a:ext cx="5588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C48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24000" y="1714500"/>
            <a:ext cx="609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 members are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shared across all class instances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45500" y="1714500"/>
            <a:ext cx="7048500" cy="762000"/>
          </a:xfrm>
          <a:prstGeom prst="rect">
            <a:avLst/>
          </a:prstGeom>
          <a:solidFill>
            <a:srgbClr val="E8E3DA"/>
          </a:solidFill>
          <a:ln/>
        </p:spPr>
      </p:sp>
      <p:sp>
        <p:nvSpPr>
          <p:cNvPr id="9" name="Text 7"/>
          <p:cNvSpPr/>
          <p:nvPr/>
        </p:nvSpPr>
        <p:spPr>
          <a:xfrm>
            <a:off x="8597900" y="1714500"/>
            <a:ext cx="5588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C48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207500" y="1714500"/>
            <a:ext cx="609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Declare with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inside class,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define outside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2730500"/>
            <a:ext cx="7048500" cy="762000"/>
          </a:xfrm>
          <a:prstGeom prst="rect">
            <a:avLst/>
          </a:prstGeom>
          <a:solidFill>
            <a:srgbClr val="E8E3DA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730500"/>
            <a:ext cx="5588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C48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24000" y="2730500"/>
            <a:ext cx="609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 functions have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this pointer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access only static members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445500" y="2730500"/>
            <a:ext cx="7048500" cy="762000"/>
          </a:xfrm>
          <a:prstGeom prst="rect">
            <a:avLst/>
          </a:prstGeom>
          <a:solidFill>
            <a:srgbClr val="E8E3DA"/>
          </a:solidFill>
          <a:ln/>
        </p:spPr>
      </p:sp>
      <p:sp>
        <p:nvSpPr>
          <p:cNvPr id="15" name="Text 13"/>
          <p:cNvSpPr/>
          <p:nvPr/>
        </p:nvSpPr>
        <p:spPr>
          <a:xfrm>
            <a:off x="8597900" y="2730500"/>
            <a:ext cx="5588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C48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207500" y="2730500"/>
            <a:ext cx="609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uses: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 counting, constants, singleton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3746500"/>
            <a:ext cx="7048500" cy="762000"/>
          </a:xfrm>
          <a:prstGeom prst="rect">
            <a:avLst/>
          </a:prstGeom>
          <a:solidFill>
            <a:srgbClr val="E8E3DA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746500"/>
            <a:ext cx="5588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C48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24000" y="3746500"/>
            <a:ext cx="609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Beware of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thread safety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initialization order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445500" y="3746500"/>
            <a:ext cx="7048500" cy="762000"/>
          </a:xfrm>
          <a:prstGeom prst="rect">
            <a:avLst/>
          </a:prstGeom>
          <a:solidFill>
            <a:srgbClr val="E8E3DA"/>
          </a:solidFill>
          <a:ln/>
        </p:spPr>
      </p:sp>
      <p:sp>
        <p:nvSpPr>
          <p:cNvPr id="21" name="Text 19"/>
          <p:cNvSpPr/>
          <p:nvPr/>
        </p:nvSpPr>
        <p:spPr>
          <a:xfrm>
            <a:off x="8597900" y="3746500"/>
            <a:ext cx="5588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C48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07500" y="3746500"/>
            <a:ext cx="609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 const/constexpr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compile-time constants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4762500"/>
            <a:ext cx="14732000" cy="76200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4762500"/>
            <a:ext cx="5588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524000" y="4762500"/>
            <a:ext cx="1371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 data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reduces memory overhead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shared state but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increases coupling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use judiciously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2000" y="5842000"/>
            <a:ext cx="14732000" cy="2540000"/>
          </a:xfrm>
          <a:prstGeom prst="rect">
            <a:avLst/>
          </a:prstGeom>
          <a:solidFill>
            <a:srgbClr val="E8E3DA"/>
          </a:solidFill>
          <a:ln/>
        </p:spPr>
      </p:sp>
      <p:sp>
        <p:nvSpPr>
          <p:cNvPr id="27" name="Text 25"/>
          <p:cNvSpPr/>
          <p:nvPr/>
        </p:nvSpPr>
        <p:spPr>
          <a:xfrm>
            <a:off x="1016000" y="59944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5E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Decision Framework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16000" y="6426200"/>
            <a:ext cx="14224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Does the data change per object? →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Instance member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 it shared and mutable? →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 data + thread safety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 it a constant? →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 const or constexpr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 it a utility function? →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 member function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986000" y="87376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26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8A9B8C">
              <a:alpha val="30196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B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540000"/>
            <a:ext cx="2540000" cy="50800"/>
          </a:xfrm>
          <a:prstGeom prst="rect">
            <a:avLst/>
          </a:prstGeom>
          <a:solidFill>
            <a:srgbClr val="C4863A"/>
          </a:solidFill>
          <a:ln/>
        </p:spPr>
      </p:sp>
      <p:sp>
        <p:nvSpPr>
          <p:cNvPr id="3" name="Text 1"/>
          <p:cNvSpPr/>
          <p:nvPr/>
        </p:nvSpPr>
        <p:spPr>
          <a:xfrm>
            <a:off x="1778000" y="2794000"/>
            <a:ext cx="12700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 4 Complete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413000" y="3810000"/>
            <a:ext cx="1143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Destructors ensure clean resource management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413000" y="4318000"/>
            <a:ext cx="1143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C48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 class data enables efficient sharing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413000" y="4826000"/>
            <a:ext cx="1143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Together they form essential tools for robust object-oriented design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23000" y="5588000"/>
            <a:ext cx="3810000" cy="12700"/>
          </a:xfrm>
          <a:prstGeom prst="rect">
            <a:avLst/>
          </a:prstGeom>
          <a:solidFill>
            <a:srgbClr val="8A9B8C">
              <a:alpha val="30196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048000" y="5905500"/>
            <a:ext cx="1016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spc="200" kern="0" dirty="0">
                <a:solidFill>
                  <a:srgbClr val="8A9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NEXT: OPERATOR OVERLOADING &amp; INHERITANCE DEEP DIVE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8A9B8C">
              <a:alpha val="20000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Oriented Programming — Week 4</dc:title>
  <dc:subject>Object Oriented Programming — Week 4</dc:subject>
  <dc:creator>Kimi</dc:creator>
  <cp:lastModifiedBy>Kimi</cp:lastModifiedBy>
  <cp:revision>1</cp:revision>
  <dcterms:created xsi:type="dcterms:W3CDTF">2026-05-26T11:38:33Z</dcterms:created>
  <dcterms:modified xsi:type="dcterms:W3CDTF">2026-05-26T11:38:33Z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{"Label":"Object Oriented Programming — Week 4","ContentProducer":"001191110108MACG2KBH8F10000","ProduceID":"19e64068-1512-8325-8000-00003097b605","ReservedCode1":"","ContentPropagator":"001191110108MACG2KBH8F20000","PropagateID":"19e64068-1512-8325-8000-00003097b605","ReservedCode2":""}</vt:lpwstr>
  </property>
</Properties>
</file>