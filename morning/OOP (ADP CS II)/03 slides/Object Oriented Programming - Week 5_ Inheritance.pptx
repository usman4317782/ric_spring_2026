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048000" y="24130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3556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048000" y="457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8E5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Classes &amp; Access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5334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5715000"/>
            <a:ext cx="1016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Oriented Programming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762000" cy="9144000"/>
          </a:xfrm>
          <a:prstGeom prst="rect">
            <a:avLst/>
          </a:prstGeom>
          <a:solidFill>
            <a:srgbClr val="0F4C5C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494000" y="0"/>
            <a:ext cx="762000" cy="9144000"/>
          </a:xfrm>
          <a:prstGeom prst="rect">
            <a:avLst/>
          </a:prstGeom>
          <a:solidFill>
            <a:srgbClr val="0F4C5C">
              <a:alpha val="1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— Inheritance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14732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540000"/>
            <a:ext cx="1778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81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4216400"/>
            <a:ext cx="635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 to Inheritance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is Inheritance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"Is-A" Relationship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and Derived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Types of Inheritance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Constructors &amp; Destructors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01000" y="2540000"/>
            <a:ext cx="12700" cy="40640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540000"/>
            <a:ext cx="1778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381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36000" y="4216400"/>
            <a:ext cx="6858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Accessing Base Class Members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36000" y="4826000"/>
            <a:ext cx="685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Specifiers Review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protected Access Specifier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Accessing Inherited Members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Inheritance &amp; Access Interaction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Best Practices &amp; Common Mistakes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7366000"/>
            <a:ext cx="14732000" cy="38100"/>
          </a:xfrm>
          <a:prstGeom prst="rect">
            <a:avLst/>
          </a:prstGeom>
          <a:solidFill>
            <a:srgbClr val="0F4C5C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7620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Oriented Programming | Week 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spc="4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Inheritance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50800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5397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8E5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Class Hierarchies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38100" cy="9144000"/>
          </a:xfrm>
          <a:prstGeom prst="rect">
            <a:avLst/>
          </a:prstGeom>
          <a:solidFill>
            <a:srgbClr val="0F4C5C">
              <a:alpha val="3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Inheritance?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60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52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fundamental OOP mechanism that allows a new class (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to acquire the properties and behaviors of an existing class (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), promoting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reusability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establishing natural class hierarchies.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1400" y="2857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63500" y="82550"/>
                </a:moveTo>
                <a:cubicBezTo>
                  <a:pt x="74014" y="82550"/>
                  <a:pt x="82550" y="74014"/>
                  <a:pt x="82550" y="63500"/>
                </a:cubicBezTo>
                <a:cubicBezTo>
                  <a:pt x="82550" y="52986"/>
                  <a:pt x="74014" y="44450"/>
                  <a:pt x="63500" y="44450"/>
                </a:cubicBezTo>
                <a:cubicBezTo>
                  <a:pt x="52986" y="44450"/>
                  <a:pt x="44450" y="52986"/>
                  <a:pt x="44450" y="63500"/>
                </a:cubicBezTo>
                <a:cubicBezTo>
                  <a:pt x="44450" y="74014"/>
                  <a:pt x="52986" y="82550"/>
                  <a:pt x="63500" y="82550"/>
                </a:cubicBezTo>
                <a:close/>
                <a:moveTo>
                  <a:pt x="127000" y="63500"/>
                </a:moveTo>
                <a:cubicBezTo>
                  <a:pt x="127000" y="89535"/>
                  <a:pt x="111363" y="111919"/>
                  <a:pt x="88900" y="121682"/>
                </a:cubicBezTo>
                <a:lnTo>
                  <a:pt x="88900" y="177800"/>
                </a:lnTo>
                <a:lnTo>
                  <a:pt x="228600" y="177800"/>
                </a:lnTo>
                <a:cubicBezTo>
                  <a:pt x="249634" y="177800"/>
                  <a:pt x="266700" y="160734"/>
                  <a:pt x="266700" y="139700"/>
                </a:cubicBezTo>
                <a:lnTo>
                  <a:pt x="266700" y="121682"/>
                </a:lnTo>
                <a:cubicBezTo>
                  <a:pt x="244237" y="111919"/>
                  <a:pt x="228600" y="89535"/>
                  <a:pt x="228600" y="63500"/>
                </a:cubicBezTo>
                <a:cubicBezTo>
                  <a:pt x="228600" y="28416"/>
                  <a:pt x="257016" y="0"/>
                  <a:pt x="292100" y="0"/>
                </a:cubicBezTo>
                <a:cubicBezTo>
                  <a:pt x="327184" y="0"/>
                  <a:pt x="355600" y="28416"/>
                  <a:pt x="355600" y="63500"/>
                </a:cubicBezTo>
                <a:cubicBezTo>
                  <a:pt x="355600" y="89535"/>
                  <a:pt x="339963" y="111919"/>
                  <a:pt x="317500" y="121682"/>
                </a:cubicBezTo>
                <a:lnTo>
                  <a:pt x="317500" y="139700"/>
                </a:lnTo>
                <a:cubicBezTo>
                  <a:pt x="317500" y="188833"/>
                  <a:pt x="277733" y="228600"/>
                  <a:pt x="228600" y="228600"/>
                </a:cubicBezTo>
                <a:lnTo>
                  <a:pt x="88900" y="228600"/>
                </a:lnTo>
                <a:lnTo>
                  <a:pt x="88900" y="284718"/>
                </a:lnTo>
                <a:cubicBezTo>
                  <a:pt x="111363" y="294481"/>
                  <a:pt x="127000" y="316865"/>
                  <a:pt x="127000" y="342900"/>
                </a:cubicBezTo>
                <a:cubicBezTo>
                  <a:pt x="127000" y="377984"/>
                  <a:pt x="98584" y="406400"/>
                  <a:pt x="63500" y="406400"/>
                </a:cubicBezTo>
                <a:cubicBezTo>
                  <a:pt x="28416" y="406400"/>
                  <a:pt x="0" y="377984"/>
                  <a:pt x="0" y="342900"/>
                </a:cubicBezTo>
                <a:cubicBezTo>
                  <a:pt x="0" y="316865"/>
                  <a:pt x="15637" y="294481"/>
                  <a:pt x="38100" y="284718"/>
                </a:cubicBezTo>
                <a:lnTo>
                  <a:pt x="38100" y="121761"/>
                </a:lnTo>
                <a:cubicBezTo>
                  <a:pt x="15637" y="111919"/>
                  <a:pt x="0" y="89535"/>
                  <a:pt x="0" y="63500"/>
                </a:cubicBezTo>
                <a:cubicBezTo>
                  <a:pt x="0" y="28416"/>
                  <a:pt x="28416" y="0"/>
                  <a:pt x="63500" y="0"/>
                </a:cubicBezTo>
                <a:cubicBezTo>
                  <a:pt x="98584" y="0"/>
                  <a:pt x="127000" y="28416"/>
                  <a:pt x="127000" y="63500"/>
                </a:cubicBezTo>
                <a:close/>
                <a:moveTo>
                  <a:pt x="311150" y="63500"/>
                </a:moveTo>
                <a:cubicBezTo>
                  <a:pt x="311150" y="52986"/>
                  <a:pt x="302614" y="44450"/>
                  <a:pt x="292100" y="44450"/>
                </a:cubicBezTo>
                <a:cubicBezTo>
                  <a:pt x="281586" y="44450"/>
                  <a:pt x="273050" y="52986"/>
                  <a:pt x="273050" y="63500"/>
                </a:cubicBezTo>
                <a:cubicBezTo>
                  <a:pt x="273050" y="74014"/>
                  <a:pt x="281586" y="82550"/>
                  <a:pt x="292100" y="82550"/>
                </a:cubicBezTo>
                <a:cubicBezTo>
                  <a:pt x="302614" y="82550"/>
                  <a:pt x="311150" y="74014"/>
                  <a:pt x="311150" y="63500"/>
                </a:cubicBezTo>
                <a:close/>
                <a:moveTo>
                  <a:pt x="63500" y="361950"/>
                </a:moveTo>
                <a:cubicBezTo>
                  <a:pt x="74014" y="361950"/>
                  <a:pt x="82550" y="353414"/>
                  <a:pt x="82550" y="342900"/>
                </a:cubicBezTo>
                <a:cubicBezTo>
                  <a:pt x="82550" y="332386"/>
                  <a:pt x="74014" y="323850"/>
                  <a:pt x="63500" y="323850"/>
                </a:cubicBezTo>
                <a:cubicBezTo>
                  <a:pt x="52986" y="323850"/>
                  <a:pt x="44450" y="332386"/>
                  <a:pt x="44450" y="342900"/>
                </a:cubicBezTo>
                <a:cubicBezTo>
                  <a:pt x="44450" y="353414"/>
                  <a:pt x="52986" y="361950"/>
                  <a:pt x="63500" y="3619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285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Reuse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6000" y="34290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 common attributes and methods once in the base class. All derived classes automatically inherit them, eliminating redundant code.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690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40500" y="2857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Hierarchy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69000" y="34290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Models real-world categorization where general categories become specialized. A natural structure for organizing related classes.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220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93500" y="2857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Extensibility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22000" y="3429000"/>
            <a:ext cx="431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new functionality by creating derived classes without modifying existing code. New classes extend rather than replace.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23950" y="546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5435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ANALOGY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79500" y="59690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genetic inheritance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children inherit traits (eye color, height) from parents while developing their own unique characteristics. Similarly, a derived class inherits members from its base class and adds its own specialized behavior.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7429500"/>
            <a:ext cx="14732000" cy="4572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7429500"/>
            <a:ext cx="1422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Inheritance models the </a:t>
            </a:r>
            <a:pPr>
              <a:lnSpc>
                <a:spcPct val="10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"is-a"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 — a Derived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a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specialized type of Base.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"Is-A" Relationship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 is the conceptual foundation of inheritance. If class B inherits from class A, then B 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specialized type of A. This relationship is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directional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transitive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28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Examples of "Is-A"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27686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>
                <a:alpha val="18824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" y="2768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8000" y="2768600"/>
            <a:ext cx="4572000" cy="635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>
                <a:alpha val="18824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8500" y="27686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Rectangle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14000" y="27686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 w="12700">
            <a:solidFill>
              <a:srgbClr val="0F4C5C">
                <a:alpha val="18824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4500" y="2768600"/>
            <a:ext cx="469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SavingsAccount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BankAccount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3746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 vs. Composition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6834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Inheritance ("Is-A")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Composition ("Has-A")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588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Specialization — derived class is a type of 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Containment — class contains an object of another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5882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 is a Vehicle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 has a Engine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62000" y="6921500"/>
            <a:ext cx="14732000" cy="9525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2000" y="6921500"/>
            <a:ext cx="50800" cy="952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6000" y="711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1460500" y="6985000"/>
            <a:ext cx="13779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 of thumb: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If you cannot say "Derived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Base" without sounding wrong,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inheritance. Favor composition over inheritance when the relationship is unclear.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Class and Derived Class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7" name="Shape 5"/>
          <p:cNvSpPr/>
          <p:nvPr/>
        </p:nvSpPr>
        <p:spPr>
          <a:xfrm>
            <a:off x="1060450" y="165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49046" y="12085"/>
                </a:moveTo>
                <a:cubicBezTo>
                  <a:pt x="140365" y="3403"/>
                  <a:pt x="126266" y="3403"/>
                  <a:pt x="117584" y="12085"/>
                </a:cubicBezTo>
                <a:lnTo>
                  <a:pt x="6459" y="123210"/>
                </a:lnTo>
                <a:cubicBezTo>
                  <a:pt x="-2222" y="131891"/>
                  <a:pt x="-2222" y="145990"/>
                  <a:pt x="6459" y="154672"/>
                </a:cubicBezTo>
                <a:cubicBezTo>
                  <a:pt x="15141" y="163354"/>
                  <a:pt x="29240" y="163354"/>
                  <a:pt x="37921" y="154672"/>
                </a:cubicBezTo>
                <a:lnTo>
                  <a:pt x="111125" y="81469"/>
                </a:lnTo>
                <a:lnTo>
                  <a:pt x="111125" y="338931"/>
                </a:lnTo>
                <a:cubicBezTo>
                  <a:pt x="111125" y="351224"/>
                  <a:pt x="121057" y="361156"/>
                  <a:pt x="133350" y="361156"/>
                </a:cubicBezTo>
                <a:cubicBezTo>
                  <a:pt x="145643" y="361156"/>
                  <a:pt x="155575" y="351224"/>
                  <a:pt x="155575" y="338931"/>
                </a:cubicBezTo>
                <a:lnTo>
                  <a:pt x="155575" y="81469"/>
                </a:lnTo>
                <a:lnTo>
                  <a:pt x="228779" y="154672"/>
                </a:lnTo>
                <a:cubicBezTo>
                  <a:pt x="237460" y="163354"/>
                  <a:pt x="251559" y="163354"/>
                  <a:pt x="260241" y="154672"/>
                </a:cubicBezTo>
                <a:cubicBezTo>
                  <a:pt x="268922" y="145990"/>
                  <a:pt x="268922" y="131891"/>
                  <a:pt x="260241" y="123210"/>
                </a:cubicBezTo>
                <a:lnTo>
                  <a:pt x="149116" y="1208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62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called: Parent Class, Superclass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24765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common attributes and behaviors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Serves as foundation for specialization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Its members are inherited by derived classes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derived classes can share one base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14605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43950" y="165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7654" y="349071"/>
                </a:moveTo>
                <a:cubicBezTo>
                  <a:pt x="126335" y="357753"/>
                  <a:pt x="140434" y="357753"/>
                  <a:pt x="149116" y="349071"/>
                </a:cubicBezTo>
                <a:lnTo>
                  <a:pt x="260241" y="237946"/>
                </a:lnTo>
                <a:cubicBezTo>
                  <a:pt x="268922" y="229265"/>
                  <a:pt x="268922" y="215166"/>
                  <a:pt x="260241" y="206484"/>
                </a:cubicBezTo>
                <a:cubicBezTo>
                  <a:pt x="251559" y="197803"/>
                  <a:pt x="237460" y="197803"/>
                  <a:pt x="228779" y="206484"/>
                </a:cubicBezTo>
                <a:lnTo>
                  <a:pt x="155575" y="279688"/>
                </a:lnTo>
                <a:lnTo>
                  <a:pt x="155575" y="22225"/>
                </a:lnTo>
                <a:cubicBezTo>
                  <a:pt x="155575" y="9932"/>
                  <a:pt x="145643" y="0"/>
                  <a:pt x="133350" y="0"/>
                </a:cubicBezTo>
                <a:cubicBezTo>
                  <a:pt x="121057" y="0"/>
                  <a:pt x="111125" y="9932"/>
                  <a:pt x="111125" y="22225"/>
                </a:cubicBezTo>
                <a:lnTo>
                  <a:pt x="111125" y="279688"/>
                </a:lnTo>
                <a:lnTo>
                  <a:pt x="37921" y="206484"/>
                </a:lnTo>
                <a:cubicBezTo>
                  <a:pt x="29240" y="197802"/>
                  <a:pt x="15141" y="197802"/>
                  <a:pt x="6459" y="206484"/>
                </a:cubicBezTo>
                <a:cubicBezTo>
                  <a:pt x="-2223" y="215166"/>
                  <a:pt x="-2223" y="229265"/>
                  <a:pt x="6459" y="237946"/>
                </a:cubicBezTo>
                <a:lnTo>
                  <a:pt x="117584" y="349071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82100" y="1625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20955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Also called: Child Class, Subclass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99500" y="24765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Inherits members from the base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new data members and methods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override base class behaviors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Represents a specialized type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Syntax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5562600"/>
            <a:ext cx="14732000" cy="6985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5626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access_specifier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/* additional members */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};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540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colon (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indicates inheritance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access_specifier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(public, protected, or private) controls visibility of inherited members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derived class object contains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data members plus its own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Inheritance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22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24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Single Inheritance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1905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derived class inherits from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exactly one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class. Most common form.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B : public 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422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152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Multiple Inheritance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99500" y="1905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derived class inherits from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 or more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classes simultaneously.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C : public A, public 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327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429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Multilevel Inheritance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6000" y="3810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class derived from a class which is also derived from another class.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Chain: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→ B → 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45500" y="3327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6" name="Text 14"/>
          <p:cNvSpPr/>
          <p:nvPr/>
        </p:nvSpPr>
        <p:spPr>
          <a:xfrm>
            <a:off x="8699500" y="34290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Hierarchical Inheritance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99500" y="3810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classes inherit from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is base for B, C, and 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232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334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Hybrid Inheritance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5715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Combination of two or more types of inheritance in a single program.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lead to diamond problem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45500" y="52324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45500" y="5232400"/>
            <a:ext cx="508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699500" y="5397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Language Note: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supports all inheritance types. Java and C# support only single inheritance for classes (interfaces allow multiple inheritance behavior).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of Derived Class in C++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22400"/>
            <a:ext cx="14732000" cy="5334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224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DerivedClass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</a:t>
            </a:r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access_specifier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BaseClass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{ 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A0C4D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/* members */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};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Inheritance Access Specifiers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298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9845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9845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2500" y="35814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Models true </a:t>
            </a:r>
            <a:pPr>
              <a:lnSpc>
                <a:spcPct val="155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Most common form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78500" y="298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29845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5778500" y="29845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inheritance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9000" y="35814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Restricts public access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Rarely used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95000" y="2984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0" y="29845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0" y="29845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inheritance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85500" y="35814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"Implemented-in-terms-of"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 "is-a"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588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5880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651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your default. It preserves the natural "is-a" relationship and is the standard in virtually all OOP codebases.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CODE 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1752600"/>
            <a:ext cx="8636000" cy="5461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841500"/>
            <a:ext cx="8191500" cy="530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name;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setName(string n) { name = n;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setAge(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a) { age = a;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studentID;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setID(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id) { studentID = id; 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display() {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name &lt;&lt; ", " &lt;&lt; age;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", " &lt;&lt; studentID;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79000" y="1752600"/>
            <a:ext cx="5715000" cy="5461000"/>
          </a:xfrm>
          <a:prstGeom prst="roundRect">
            <a:avLst>
              <a:gd name="adj" fmla="val 8000"/>
            </a:avLst>
          </a:prstGeom>
          <a:solidFill>
            <a:srgbClr val="0F4C5C">
              <a:alpha val="3137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33000" y="1905000"/>
            <a:ext cx="520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Breakdown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33000" y="2311400"/>
            <a:ext cx="5207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33000" y="2476500"/>
            <a:ext cx="5207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(Base Class)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(protected)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setName()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setAge()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(Derived Class)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Inherits all Person members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(private)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setID()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display()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 accesses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in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display()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because they are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Person.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and Destructor in Inheritance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Construction Order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1879600"/>
            <a:ext cx="7048500" cy="1524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879600"/>
            <a:ext cx="50800" cy="152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68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derived object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constructor executes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constructor executes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SECOND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500" y="142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Destruction Order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445500" y="1879600"/>
            <a:ext cx="7048500" cy="1524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1879600"/>
            <a:ext cx="50800" cy="1524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699500" y="1968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derived object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destroyed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destructor executes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destructor executes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SECOND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374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This Order Matters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4191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base class portion must be fully constructed before the derived class can safely use it. The derived class may depend on base class members being initialized. Destruction is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reverse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(LIFO order) to ensure derived resources are freed before the base is destroyed.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14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EXPLICIT BASE CONSTRUCTOR CALL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5524500"/>
            <a:ext cx="14732000" cy="14605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6134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{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Base(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x) { ... } };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parameterized only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: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Derived(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a) :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Base(a)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 ... }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explicit base call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048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★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Always explicitly call the base class constructor in the member initializer list for clarity and correctness.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INHERITANCE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Constructor Execution Order — Visualized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22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Construction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70000" y="196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96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Created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0" y="2260600"/>
            <a:ext cx="762000" cy="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572000" y="196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Constructor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2000" y="2260600"/>
            <a:ext cx="762000" cy="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874000" y="196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0" y="196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Constructor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414000" y="22606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176000" y="1968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0" y="1968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Ready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311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Destruction Flow (Reverse)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70000" y="36576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9B2226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" y="3657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Destroyed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0" y="3949700"/>
            <a:ext cx="762000" cy="0"/>
          </a:xfrm>
          <a:prstGeom prst="straightConnector1">
            <a:avLst/>
          </a:prstGeom>
          <a:noFill/>
          <a:ln w="25400">
            <a:solidFill>
              <a:srgbClr val="9B2226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657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~Derived()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12000" y="39497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874000" y="36576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26" name="Text 24"/>
          <p:cNvSpPr/>
          <p:nvPr/>
        </p:nvSpPr>
        <p:spPr>
          <a:xfrm>
            <a:off x="7874000" y="3657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~Base()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414000" y="3949700"/>
            <a:ext cx="762000" cy="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1176000" y="36576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11176000" y="3657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Freed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Execution Trace Example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62000" y="52324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5334000"/>
            <a:ext cx="1422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Creating and destroying a Student object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s;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Person() → Student() [construction]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... use ... // End of scope: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~Student() → ~Person()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[destruction - reverse order]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0" y="190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9 |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L9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60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code reuse through the 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 between classes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260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260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7000" y="2222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common attributes;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specializes and extends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022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2984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syntax: 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Derived : access_specifier Base { ... };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784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784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3746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Constructors execute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base-first, derived-second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destructors execute in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reverse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546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546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7000" y="4508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most common and models true </a:t>
            </a:r>
            <a:pPr>
              <a:lnSpc>
                <a:spcPct val="150000"/>
              </a:lnSpc>
            </a:pPr>
            <a:r>
              <a:rPr lang="en-US" sz="17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3086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0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" y="5270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natural hierarchies; otherwise consider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6223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350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Lesson 10 — How do derived classes access inherited members?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access control is critical for proper class hierarchy design.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381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0" spc="400" kern="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62000" y="368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4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41275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Base Class Members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62000" y="5016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5334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5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protected Access Specifier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5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Controlling Visibility in Class Hierarchies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0"/>
            <a:ext cx="38100" cy="9144000"/>
          </a:xfrm>
          <a:prstGeom prst="rect">
            <a:avLst/>
          </a:prstGeom>
          <a:solidFill>
            <a:srgbClr val="0F4C5C">
              <a:alpha val="30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0" y="190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1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Specifiers 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provides three access specifiers that control the visibility of class members. Understanding these is essential for designing proper encapsulation and inheritance.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225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438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28956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 accessible from: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the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External 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permissive.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222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2222500"/>
            <a:ext cx="4699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438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2500" y="28956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 accessible from: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the class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✕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External 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inheritance.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225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1C1C1E">
              <a:alpha val="627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2222500"/>
            <a:ext cx="4699000" cy="635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24384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049000" y="28956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 accessible from: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Inside the class only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✕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✕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External code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 encapsulation.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58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★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access: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default;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default. Access specifiers apply to both data members and member functions.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0" y="190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1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protected Access Specifier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224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224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498600"/>
            <a:ext cx="1422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specifier is designed specifically for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 scenarios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Protected members are accessible within the class and in all derived classes, but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external code.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Visibility Visualization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40000" y="33655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 w="254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0000" y="3429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Animal (Base)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30500" y="3873500"/>
            <a:ext cx="3175000" cy="3810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/>
        </p:spPr>
      </p:sp>
      <p:sp>
        <p:nvSpPr>
          <p:cNvPr id="13" name="Text 11"/>
          <p:cNvSpPr/>
          <p:nvPr/>
        </p:nvSpPr>
        <p:spPr>
          <a:xfrm>
            <a:off x="2730500" y="3873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private: id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30500" y="4343400"/>
            <a:ext cx="3175000" cy="381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2730500" y="43434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protected: name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30500" y="4813300"/>
            <a:ext cx="3175000" cy="381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2730500" y="48133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public: speak()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0" y="4318000"/>
            <a:ext cx="762000" cy="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858000" y="33655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0F4C5C">
              <a:alpha val="3137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429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Dog (Derived)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8500" y="3937000"/>
            <a:ext cx="317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✕ Cannot access 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Can access name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Can access speak()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Can add bark()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4318000"/>
            <a:ext cx="762000" cy="0"/>
          </a:xfrm>
          <a:prstGeom prst="straightConnector1">
            <a:avLst/>
          </a:prstGeom>
          <a:noFill/>
          <a:ln w="25400">
            <a:solidFill>
              <a:srgbClr val="6B7280"/>
            </a:solidFill>
            <a:prstDash val="sysDot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1176000" y="33655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9B2226">
              <a:alpha val="6275"/>
            </a:srgbClr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76000" y="3429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Code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66500" y="3937000"/>
            <a:ext cx="317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✕ Cannot access 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✕ Cannot access name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Can call speak()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✕ Cannot call bark()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905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5905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596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Guideline: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Prefer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over public for data members that derived classes need to manipulate directly. This maintains encapsulation while enabling inheritance flexibility.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0" y="190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1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vs private vs public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2921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4489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Access Level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Same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Derived 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External Code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587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B22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B22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587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B22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✗ 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  <a:tr h="75870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6A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✓ 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to Use Each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51816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1C1C1E">
              <a:alpha val="627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5308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private when...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16000" y="57150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want maximum encapsulation. Internal data should never be accessed directly, even by derived classes. Use getters/setters instead.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778500" y="51816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32500" y="5308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protected when...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32500" y="5715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classes need direct access to base class data. Balances encapsulation with inheritance flexibility. Ideal for class hierarchies.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95000" y="51816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049000" y="53086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public when...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049000" y="57150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member is part of the class interface. Any code should be able to access it. Typically used for member functions, not data.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0" y="190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1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Accessing Base Class Members from Derived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derived class can access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of its base class directly by name, as if they were declared in the derived class itself.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606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60600"/>
            <a:ext cx="508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349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 Access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2730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Simply use the member name as if declared in the derived class: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 display() { cout &lt;&lt; name; 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22606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2260600"/>
            <a:ext cx="50800" cy="165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699500" y="2349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Conflicts (Hiding)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2730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derived has same name as base, base member is hidden. Use scope resolution: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Person::name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access base version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41656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4165600"/>
            <a:ext cx="508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25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Accessible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6000" y="4635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can access: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of base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of base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445500" y="4165600"/>
            <a:ext cx="7048500" cy="1651000"/>
          </a:xfrm>
          <a:prstGeom prst="roundRect">
            <a:avLst>
              <a:gd name="adj" fmla="val 8000"/>
            </a:avLst>
          </a:prstGeom>
          <a:solidFill>
            <a:srgbClr val="9B2226">
              <a:alpha val="627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45500" y="4165600"/>
            <a:ext cx="50800" cy="1651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425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B22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NOT Accessible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99500" y="46355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cannot access: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B22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✕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of base (ever)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9B22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✕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public/protected getters instead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6159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159500"/>
            <a:ext cx="50800" cy="88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6388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422400" y="6223000"/>
            <a:ext cx="1381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name hiding: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the same member names in base and derived classes can cause subtle bugs. Choose distinct names or use scope resolution explicitly.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0" y="190500"/>
            <a:ext cx="304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1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 — Accessing Inherited Members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CODE 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1752600"/>
            <a:ext cx="8636000" cy="5842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841500"/>
            <a:ext cx="8191500" cy="568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name;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salary;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Employee(string n,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s) : name(n), salary(s)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Manager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teamSize;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Manager(string n,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s,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Employee(n, s)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teamSize(t) {}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show()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&lt;&lt;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salary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&lt;&lt; teamSize;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79000" y="1752600"/>
            <a:ext cx="5715000" cy="5842000"/>
          </a:xfrm>
          <a:prstGeom prst="roundRect">
            <a:avLst>
              <a:gd name="adj" fmla="val 8000"/>
            </a:avLst>
          </a:prstGeom>
          <a:solidFill>
            <a:srgbClr val="0F4C5C">
              <a:alpha val="3137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33000" y="1905000"/>
            <a:ext cx="520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Code Breakdown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33000" y="2311400"/>
            <a:ext cx="5207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33000" y="2476500"/>
            <a:ext cx="5207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(Base)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salary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Parameterized constructor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Manager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(Derived)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Inherits from Employee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Constructor calls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Employee(n,s)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 Access: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show()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accesses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salary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(protected).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Own member: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teamSize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private to Manager.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 and Access Specifier Interaction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inheritance access specifier modifies how base class members appear in the derived class. It does not change access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derived class — it affects how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further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classes and external code see the members.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60600"/>
            <a:ext cx="4699000" cy="24765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2606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2606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inheritance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284480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Derived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Preserves access levels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Models true "is-a"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78500" y="2260600"/>
            <a:ext cx="4699000" cy="24765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22606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5778500" y="22606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protected inheritance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84480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Restricts public access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Rarely used in practice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60600"/>
            <a:ext cx="4699000" cy="2476500"/>
          </a:xfrm>
          <a:prstGeom prst="roundRect">
            <a:avLst>
              <a:gd name="adj" fmla="val 8000"/>
            </a:avLst>
          </a:prstGeom>
          <a:solidFill>
            <a:srgbClr val="1C1C1E">
              <a:alpha val="627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2260600"/>
            <a:ext cx="4699000" cy="457200"/>
          </a:xfrm>
          <a:prstGeom prst="roundRect">
            <a:avLst>
              <a:gd name="adj" fmla="val 8000"/>
            </a:avLst>
          </a:prstGeom>
          <a:solidFill>
            <a:srgbClr val="1C1C1E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2260600"/>
            <a:ext cx="469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inheritance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85500" y="284480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public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protected →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"Implemented-in-terms-of"</a:t>
            </a:r>
            <a:endParaRPr lang="en-US" sz="18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Not an "is-a" relationship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08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5143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★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Private inheritance does NOT affect access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derived class itself. Inside the derived class, you can still access public and protected base members normally. Private inheritance only affects how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classes derived from THIS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see the inherited members.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6477000"/>
            <a:ext cx="14732000" cy="508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6477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public inheritance as your default. Private inheritance is rare and models implementation reuse, not "is-a."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Modifier Table — Inheritance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26416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 Member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public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F4C5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protected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in Derived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DF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B728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B728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6B728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accessible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08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Points to Remember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5588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9B2226">
              <a:alpha val="6275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56896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members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base class are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NEVER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accessible in any derived class, regardless of inheritance type.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778500" y="5588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78500" y="5588000"/>
            <a:ext cx="50800" cy="139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032500" y="56896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access private base members, use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or protected getter/setter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 provided by the base class.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95000" y="5588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795000" y="5588000"/>
            <a:ext cx="50800" cy="1397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11049000" y="5689600"/>
            <a:ext cx="4254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most common for "is-a" relationships and should be your default choice.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Base Class Pointers with Derived Objects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base class pointer can point to a derived class object. This is called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polymorphic pointer assignment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is fundamental to runtime polymorphism in C++.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60600"/>
            <a:ext cx="7048500" cy="2413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2692400"/>
            <a:ext cx="660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Person* p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Only base members accessible: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p-&gt;setName(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"Alice"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2260600"/>
            <a:ext cx="7048500" cy="2286000"/>
          </a:xfrm>
          <a:prstGeom prst="roundRect">
            <a:avLst>
              <a:gd name="adj" fmla="val 8000"/>
            </a:avLst>
          </a:prstGeom>
          <a:solidFill>
            <a:srgbClr val="0F4C5C">
              <a:alpha val="3137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234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99500" y="26924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pointer can point to derived object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base class members accessible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Derived members require explicit cast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generic, reusable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Explicit Casting to Access Derived Members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53594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4610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Access Student-specific members through Person pointer: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Student* s =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static_cast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&lt;Student*&gt;(p);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s-&gt;setID(12345);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Derived members now accessible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858000"/>
            <a:ext cx="14732000" cy="5715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858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with virtual functions, base pointers enable dynamic dispatch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cornerstone of OOP.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Hiding and Scope Resolution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a derived class declares a member with the same name as a base class member, the base member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"hidden"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derived member does NOT override — it hides the base member from normal lookup.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60600"/>
            <a:ext cx="8636000" cy="3810000"/>
          </a:xfrm>
          <a:prstGeom prst="roundRect">
            <a:avLst>
              <a:gd name="adj" fmla="val 6000"/>
            </a:avLst>
          </a:prstGeom>
          <a:solidFill>
            <a:srgbClr val="E8E5D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4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HIDING EXAMPLE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2692400"/>
            <a:ext cx="8128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calculatePay();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Base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Manager :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calculatePay();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Hides base!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void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basePay()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Employee::calculatePay()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Explicit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};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79000" y="2260600"/>
            <a:ext cx="5715000" cy="3302000"/>
          </a:xfrm>
          <a:prstGeom prst="roundRect">
            <a:avLst>
              <a:gd name="adj" fmla="val 8000"/>
            </a:avLst>
          </a:prstGeom>
          <a:solidFill>
            <a:srgbClr val="0F4C5C">
              <a:alpha val="3137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0" y="2387600"/>
            <a:ext cx="520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Name Hiding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33000" y="2768600"/>
            <a:ext cx="5207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3000" y="2895600"/>
            <a:ext cx="520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Manager's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calculatePay()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hides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Employee's version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Calling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calculatePay()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Manager calls Manager's version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Employee::calculatePay()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access the base version explicitly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 hiding applies to ALL members with the same name, regardless of parameter lists.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9B2226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6223000"/>
            <a:ext cx="50800" cy="10160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99417" y="99417"/>
                </a:moveTo>
                <a:cubicBezTo>
                  <a:pt x="105013" y="93821"/>
                  <a:pt x="114062" y="93821"/>
                  <a:pt x="119598" y="99417"/>
                </a:cubicBezTo>
                <a:lnTo>
                  <a:pt x="152340" y="132159"/>
                </a:lnTo>
                <a:lnTo>
                  <a:pt x="185083" y="99417"/>
                </a:lnTo>
                <a:cubicBezTo>
                  <a:pt x="190679" y="93821"/>
                  <a:pt x="199727" y="93821"/>
                  <a:pt x="205264" y="99417"/>
                </a:cubicBezTo>
                <a:cubicBezTo>
                  <a:pt x="210800" y="105013"/>
                  <a:pt x="210860" y="114062"/>
                  <a:pt x="205264" y="119598"/>
                </a:cubicBezTo>
                <a:lnTo>
                  <a:pt x="172522" y="152340"/>
                </a:lnTo>
                <a:lnTo>
                  <a:pt x="205264" y="185083"/>
                </a:lnTo>
                <a:cubicBezTo>
                  <a:pt x="210860" y="190679"/>
                  <a:pt x="210860" y="199727"/>
                  <a:pt x="205264" y="205264"/>
                </a:cubicBezTo>
                <a:cubicBezTo>
                  <a:pt x="199668" y="210800"/>
                  <a:pt x="190619" y="210860"/>
                  <a:pt x="185083" y="205264"/>
                </a:cubicBezTo>
                <a:lnTo>
                  <a:pt x="152340" y="172522"/>
                </a:lnTo>
                <a:lnTo>
                  <a:pt x="119598" y="205264"/>
                </a:lnTo>
                <a:cubicBezTo>
                  <a:pt x="114002" y="210860"/>
                  <a:pt x="104954" y="210860"/>
                  <a:pt x="99417" y="205264"/>
                </a:cubicBezTo>
                <a:cubicBezTo>
                  <a:pt x="93881" y="199668"/>
                  <a:pt x="93821" y="190619"/>
                  <a:pt x="99417" y="185083"/>
                </a:cubicBezTo>
                <a:lnTo>
                  <a:pt x="132159" y="152340"/>
                </a:lnTo>
                <a:lnTo>
                  <a:pt x="99417" y="119598"/>
                </a:lnTo>
                <a:cubicBezTo>
                  <a:pt x="93821" y="114002"/>
                  <a:pt x="93821" y="104954"/>
                  <a:pt x="99417" y="99417"/>
                </a:cubicBezTo>
                <a:close/>
              </a:path>
            </a:pathLst>
          </a:custGeom>
          <a:solidFill>
            <a:srgbClr val="9B2226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6311900"/>
            <a:ext cx="13779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overriding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name hiding does not consider parameter lists. A derived function with a different signature will still hide all base functions with the same name.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Base::functionName;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bring base names into scope.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BEST PRACTICES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— Designing Class Hierarchies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7000" y="1422400"/>
            <a:ext cx="6731000" cy="101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14986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"is-a" relationships; use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"has-a" relationships.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6924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69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97000" y="2616200"/>
            <a:ext cx="6731000" cy="101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500" y="26924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base class data members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Use protected when derived classes need direct access.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8862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8862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97000" y="3810000"/>
            <a:ext cx="6731000" cy="101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38862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provide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virtual destructor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base classes that will be used polymorphically.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080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508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97000" y="5003800"/>
            <a:ext cx="6731000" cy="101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21" name="Text 19"/>
          <p:cNvSpPr/>
          <p:nvPr/>
        </p:nvSpPr>
        <p:spPr>
          <a:xfrm>
            <a:off x="1587500" y="50800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 inheritance hierarchies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Prefer 2-3 levels maximum for maintainability.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273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6273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97000" y="6197600"/>
            <a:ext cx="6731000" cy="1016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62738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Liskov Substitution Principle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derived classes should be substitutable for their base classes.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636000" y="1422400"/>
            <a:ext cx="6858000" cy="57912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71250" y="177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2540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Liskov Substitution Principle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06000" y="3111500"/>
            <a:ext cx="4318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3365500"/>
            <a:ext cx="584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 of a superclass shall be replaceable with objects of its subclasses without affecting the correctness of the program.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practice: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Square should NOT inherit from Rectangle (violates LSP)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Penguin should NOT inherit from Bird if it cannot fly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inheritance breaks substitutability, reconsider your design.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PITFALLS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224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9B2226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22400"/>
            <a:ext cx="50800" cy="14605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1549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9B2226"/>
          </a:solidFill>
          <a:ln/>
        </p:spPr>
      </p:sp>
      <p:sp>
        <p:nvSpPr>
          <p:cNvPr id="9" name="Text 7"/>
          <p:cNvSpPr/>
          <p:nvPr/>
        </p:nvSpPr>
        <p:spPr>
          <a:xfrm>
            <a:off x="1422400" y="152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B22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Accessing Private Base Members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19304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Attempting to access private base class members directly from derived class results in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compilation error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Use protected or getters instead.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45500" y="14224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9B2226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45500" y="1422400"/>
            <a:ext cx="50800" cy="146050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9500" y="1549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9B2226"/>
          </a:solidFill>
          <a:ln/>
        </p:spPr>
      </p:sp>
      <p:sp>
        <p:nvSpPr>
          <p:cNvPr id="14" name="Text 12"/>
          <p:cNvSpPr/>
          <p:nvPr/>
        </p:nvSpPr>
        <p:spPr>
          <a:xfrm>
            <a:off x="9105900" y="152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9B22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Forgetting Base Constructor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99500" y="19304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the base class has no default constructor, you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explicitly call a parameterized base constructor in the derived initializer list.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31369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3136900"/>
            <a:ext cx="50800" cy="1460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3263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323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Inheritance for Code Reuse Only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16000" y="36449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inheritance when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composition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more appropriate creates fragile designs. Inheritance implies "is-a," not "wants-code-from."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445500" y="31369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45500" y="3136900"/>
            <a:ext cx="50800" cy="1460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8699500" y="3263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9105900" y="323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Deep Inheritance Chains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99500" y="36449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Creating deep inheritance hierarchies (4+ levels) makes code hard to maintain, understand, and debug. Keep hierarchies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shallow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48514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4851400"/>
            <a:ext cx="50800" cy="1460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497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9" name="Text 27"/>
          <p:cNvSpPr/>
          <p:nvPr/>
        </p:nvSpPr>
        <p:spPr>
          <a:xfrm>
            <a:off x="1422400" y="495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Inheritance Misunderstanding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16000" y="53594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 inheritance does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create an "is-a" relationship. It is implementation reuse — use composition instead when possible.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445500" y="4851400"/>
            <a:ext cx="7048500" cy="14605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445500" y="4851400"/>
            <a:ext cx="50800" cy="1460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3" name="Shape 31"/>
          <p:cNvSpPr/>
          <p:nvPr/>
        </p:nvSpPr>
        <p:spPr>
          <a:xfrm>
            <a:off x="8699500" y="4978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47722" y="0"/>
                  <a:pt x="155089" y="4420"/>
                  <a:pt x="158909" y="11460"/>
                </a:cubicBezTo>
                <a:lnTo>
                  <a:pt x="276781" y="229741"/>
                </a:lnTo>
                <a:cubicBezTo>
                  <a:pt x="280437" y="236508"/>
                  <a:pt x="280273" y="244693"/>
                  <a:pt x="276344" y="251296"/>
                </a:cubicBezTo>
                <a:cubicBezTo>
                  <a:pt x="272415" y="257899"/>
                  <a:pt x="265266" y="261938"/>
                  <a:pt x="257572" y="261938"/>
                </a:cubicBezTo>
                <a:lnTo>
                  <a:pt x="21828" y="261938"/>
                </a:lnTo>
                <a:cubicBezTo>
                  <a:pt x="14134" y="261938"/>
                  <a:pt x="7040" y="257899"/>
                  <a:pt x="3056" y="251296"/>
                </a:cubicBezTo>
                <a:cubicBezTo>
                  <a:pt x="-928" y="244693"/>
                  <a:pt x="-1037" y="236508"/>
                  <a:pt x="2619" y="229741"/>
                </a:cubicBezTo>
                <a:lnTo>
                  <a:pt x="120491" y="11460"/>
                </a:lnTo>
                <a:cubicBezTo>
                  <a:pt x="124311" y="4420"/>
                  <a:pt x="131678" y="0"/>
                  <a:pt x="139700" y="0"/>
                </a:cubicBezTo>
                <a:close/>
                <a:moveTo>
                  <a:pt x="139700" y="91678"/>
                </a:moveTo>
                <a:cubicBezTo>
                  <a:pt x="132442" y="91678"/>
                  <a:pt x="126603" y="97517"/>
                  <a:pt x="126603" y="104775"/>
                </a:cubicBezTo>
                <a:lnTo>
                  <a:pt x="126603" y="165894"/>
                </a:lnTo>
                <a:cubicBezTo>
                  <a:pt x="126603" y="173152"/>
                  <a:pt x="132442" y="178991"/>
                  <a:pt x="139700" y="178991"/>
                </a:cubicBezTo>
                <a:cubicBezTo>
                  <a:pt x="146958" y="178991"/>
                  <a:pt x="152797" y="173152"/>
                  <a:pt x="152797" y="165894"/>
                </a:cubicBezTo>
                <a:lnTo>
                  <a:pt x="152797" y="104775"/>
                </a:lnTo>
                <a:cubicBezTo>
                  <a:pt x="152797" y="97517"/>
                  <a:pt x="146958" y="91678"/>
                  <a:pt x="139700" y="91678"/>
                </a:cubicBezTo>
                <a:close/>
                <a:moveTo>
                  <a:pt x="154270" y="209550"/>
                </a:moveTo>
                <a:cubicBezTo>
                  <a:pt x="154602" y="204142"/>
                  <a:pt x="151905" y="198996"/>
                  <a:pt x="147268" y="196192"/>
                </a:cubicBezTo>
                <a:cubicBezTo>
                  <a:pt x="142632" y="193387"/>
                  <a:pt x="136823" y="193387"/>
                  <a:pt x="132186" y="196192"/>
                </a:cubicBezTo>
                <a:cubicBezTo>
                  <a:pt x="127550" y="198996"/>
                  <a:pt x="124853" y="204142"/>
                  <a:pt x="125184" y="209550"/>
                </a:cubicBezTo>
                <a:cubicBezTo>
                  <a:pt x="124853" y="214958"/>
                  <a:pt x="127550" y="220104"/>
                  <a:pt x="132186" y="222908"/>
                </a:cubicBezTo>
                <a:cubicBezTo>
                  <a:pt x="136823" y="225713"/>
                  <a:pt x="142632" y="225713"/>
                  <a:pt x="147268" y="222908"/>
                </a:cubicBezTo>
                <a:cubicBezTo>
                  <a:pt x="151905" y="220104"/>
                  <a:pt x="154602" y="214958"/>
                  <a:pt x="154270" y="2095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34" name="Text 32"/>
          <p:cNvSpPr/>
          <p:nvPr/>
        </p:nvSpPr>
        <p:spPr>
          <a:xfrm>
            <a:off x="9105900" y="495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 Hiding Bugs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699500" y="53594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Accidentally hiding base class functions with derived members of the same name causes unexpected behavior. Use 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</a:t>
            </a:r>
            <a:pPr>
              <a:lnSpc>
                <a:spcPct val="145000"/>
              </a:lnSpc>
            </a:pPr>
            <a:r>
              <a:rPr lang="en-US" sz="14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declarations explicitly.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62000" y="6731000"/>
            <a:ext cx="14732000" cy="508000"/>
          </a:xfrm>
          <a:prstGeom prst="roundRect">
            <a:avLst>
              <a:gd name="adj" fmla="val 6000"/>
            </a:avLst>
          </a:prstGeom>
          <a:solidFill>
            <a:srgbClr val="0F4C5C"/>
          </a:solidFill>
          <a:ln/>
        </p:spPr>
      </p:sp>
      <p:sp>
        <p:nvSpPr>
          <p:cNvPr id="37" name="Text 35"/>
          <p:cNvSpPr/>
          <p:nvPr/>
        </p:nvSpPr>
        <p:spPr>
          <a:xfrm>
            <a:off x="1016000" y="6731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thumb:</a:t>
            </a:r>
            <a:pPr algn="ctr"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you cannot say "Derived IS A Base," do not use inheritance.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 10 |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L10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97000" y="1460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specifier enables derived classes to access base members while maintaining encapsulation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2260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260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7000" y="2222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members of the base class are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never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directly accessible in any derived class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022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97000" y="2984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 resolution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Base::member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to access hidden base class members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3784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784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97000" y="3746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preserves access levels; protected and private inheritance restrict them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4546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546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97000" y="4508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 pointers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point to derived objects, enabling polymorphic behavior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3086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0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7000" y="527050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class hierarchies carefully: prefer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inheritance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shallow hierarchies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6223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6350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Week 5 Summary &amp; Practice Exercises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your understanding of inheritance and access control.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Summary — Inheritance Concepts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460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350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47625" y="61912"/>
                </a:moveTo>
                <a:cubicBezTo>
                  <a:pt x="55510" y="61912"/>
                  <a:pt x="61912" y="55510"/>
                  <a:pt x="61912" y="47625"/>
                </a:cubicBezTo>
                <a:cubicBezTo>
                  <a:pt x="61912" y="39740"/>
                  <a:pt x="55510" y="33338"/>
                  <a:pt x="47625" y="33338"/>
                </a:cubicBezTo>
                <a:cubicBezTo>
                  <a:pt x="39740" y="33338"/>
                  <a:pt x="33338" y="39740"/>
                  <a:pt x="33338" y="47625"/>
                </a:cubicBezTo>
                <a:cubicBezTo>
                  <a:pt x="33338" y="55510"/>
                  <a:pt x="39740" y="61912"/>
                  <a:pt x="47625" y="61912"/>
                </a:cubicBezTo>
                <a:close/>
                <a:moveTo>
                  <a:pt x="95250" y="47625"/>
                </a:moveTo>
                <a:cubicBezTo>
                  <a:pt x="95250" y="67151"/>
                  <a:pt x="83522" y="83939"/>
                  <a:pt x="66675" y="91261"/>
                </a:cubicBezTo>
                <a:lnTo>
                  <a:pt x="66675" y="133350"/>
                </a:lnTo>
                <a:lnTo>
                  <a:pt x="171450" y="133350"/>
                </a:lnTo>
                <a:cubicBezTo>
                  <a:pt x="187226" y="133350"/>
                  <a:pt x="200025" y="120551"/>
                  <a:pt x="200025" y="104775"/>
                </a:cubicBezTo>
                <a:lnTo>
                  <a:pt x="200025" y="91261"/>
                </a:lnTo>
                <a:cubicBezTo>
                  <a:pt x="183178" y="83939"/>
                  <a:pt x="171450" y="67151"/>
                  <a:pt x="171450" y="47625"/>
                </a:cubicBezTo>
                <a:cubicBezTo>
                  <a:pt x="171450" y="21312"/>
                  <a:pt x="192762" y="0"/>
                  <a:pt x="219075" y="0"/>
                </a:cubicBezTo>
                <a:cubicBezTo>
                  <a:pt x="245388" y="0"/>
                  <a:pt x="266700" y="21312"/>
                  <a:pt x="266700" y="47625"/>
                </a:cubicBezTo>
                <a:cubicBezTo>
                  <a:pt x="266700" y="67151"/>
                  <a:pt x="254972" y="83939"/>
                  <a:pt x="238125" y="91261"/>
                </a:cubicBezTo>
                <a:lnTo>
                  <a:pt x="238125" y="104775"/>
                </a:lnTo>
                <a:cubicBezTo>
                  <a:pt x="238125" y="141625"/>
                  <a:pt x="208300" y="171450"/>
                  <a:pt x="171450" y="171450"/>
                </a:cubicBezTo>
                <a:lnTo>
                  <a:pt x="66675" y="171450"/>
                </a:lnTo>
                <a:lnTo>
                  <a:pt x="66675" y="213539"/>
                </a:lnTo>
                <a:cubicBezTo>
                  <a:pt x="83522" y="220861"/>
                  <a:pt x="95250" y="237649"/>
                  <a:pt x="95250" y="257175"/>
                </a:cubicBezTo>
                <a:cubicBezTo>
                  <a:pt x="95250" y="283488"/>
                  <a:pt x="73938" y="304800"/>
                  <a:pt x="47625" y="304800"/>
                </a:cubicBezTo>
                <a:cubicBezTo>
                  <a:pt x="21312" y="304800"/>
                  <a:pt x="0" y="283488"/>
                  <a:pt x="0" y="257175"/>
                </a:cubicBezTo>
                <a:cubicBezTo>
                  <a:pt x="0" y="237649"/>
                  <a:pt x="11728" y="220861"/>
                  <a:pt x="28575" y="213539"/>
                </a:cubicBezTo>
                <a:lnTo>
                  <a:pt x="28575" y="91321"/>
                </a:lnTo>
                <a:cubicBezTo>
                  <a:pt x="11728" y="83939"/>
                  <a:pt x="0" y="67151"/>
                  <a:pt x="0" y="47625"/>
                </a:cubicBezTo>
                <a:cubicBezTo>
                  <a:pt x="0" y="21312"/>
                  <a:pt x="21312" y="0"/>
                  <a:pt x="47625" y="0"/>
                </a:cubicBezTo>
                <a:cubicBezTo>
                  <a:pt x="73938" y="0"/>
                  <a:pt x="95250" y="21312"/>
                  <a:pt x="95250" y="47625"/>
                </a:cubicBezTo>
                <a:close/>
                <a:moveTo>
                  <a:pt x="233363" y="47625"/>
                </a:moveTo>
                <a:cubicBezTo>
                  <a:pt x="233363" y="39740"/>
                  <a:pt x="226960" y="33338"/>
                  <a:pt x="219075" y="33338"/>
                </a:cubicBezTo>
                <a:cubicBezTo>
                  <a:pt x="211190" y="33338"/>
                  <a:pt x="204787" y="39740"/>
                  <a:pt x="204787" y="47625"/>
                </a:cubicBezTo>
                <a:cubicBezTo>
                  <a:pt x="204787" y="55510"/>
                  <a:pt x="211190" y="61912"/>
                  <a:pt x="219075" y="61912"/>
                </a:cubicBezTo>
                <a:cubicBezTo>
                  <a:pt x="226960" y="61912"/>
                  <a:pt x="233363" y="55510"/>
                  <a:pt x="233363" y="47625"/>
                </a:cubicBezTo>
                <a:close/>
                <a:moveTo>
                  <a:pt x="47625" y="271463"/>
                </a:moveTo>
                <a:cubicBezTo>
                  <a:pt x="55510" y="271463"/>
                  <a:pt x="61912" y="265060"/>
                  <a:pt x="61912" y="257175"/>
                </a:cubicBezTo>
                <a:cubicBezTo>
                  <a:pt x="61912" y="249290"/>
                  <a:pt x="55510" y="242888"/>
                  <a:pt x="47625" y="242888"/>
                </a:cubicBezTo>
                <a:cubicBezTo>
                  <a:pt x="39740" y="242888"/>
                  <a:pt x="33338" y="249290"/>
                  <a:pt x="33338" y="257175"/>
                </a:cubicBezTo>
                <a:cubicBezTo>
                  <a:pt x="33338" y="265060"/>
                  <a:pt x="39740" y="271463"/>
                  <a:pt x="47625" y="27146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158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code reuse through class hierarchies based on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"is-a"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45500" y="146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45500" y="1460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995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58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defines common behavior;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derived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specializes and extends it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273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2730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100" y="2984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285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access specifiers (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public, protected, private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control member visibility in hierarchies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45500" y="273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45500" y="2730500"/>
            <a:ext cx="50800" cy="101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99500" y="298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85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bridge between strict encapsulation (private) and open access (public)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400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4000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950" y="425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6329" y="251579"/>
                </a:moveTo>
                <a:lnTo>
                  <a:pt x="108704" y="299204"/>
                </a:lnTo>
                <a:cubicBezTo>
                  <a:pt x="101263" y="306645"/>
                  <a:pt x="89178" y="306645"/>
                  <a:pt x="81736" y="299204"/>
                </a:cubicBezTo>
                <a:lnTo>
                  <a:pt x="34111" y="251579"/>
                </a:lnTo>
                <a:cubicBezTo>
                  <a:pt x="26670" y="244138"/>
                  <a:pt x="26670" y="232053"/>
                  <a:pt x="34111" y="224611"/>
                </a:cubicBezTo>
                <a:cubicBezTo>
                  <a:pt x="41553" y="217170"/>
                  <a:pt x="53638" y="217170"/>
                  <a:pt x="61079" y="224611"/>
                </a:cubicBezTo>
                <a:lnTo>
                  <a:pt x="76200" y="239732"/>
                </a:lnTo>
                <a:lnTo>
                  <a:pt x="76200" y="171450"/>
                </a:lnTo>
                <a:lnTo>
                  <a:pt x="38100" y="171450"/>
                </a:lnTo>
                <a:cubicBezTo>
                  <a:pt x="27563" y="171450"/>
                  <a:pt x="19050" y="162937"/>
                  <a:pt x="19050" y="152400"/>
                </a:cubicBezTo>
                <a:cubicBezTo>
                  <a:pt x="19050" y="141863"/>
                  <a:pt x="27563" y="133350"/>
                  <a:pt x="38100" y="133350"/>
                </a:cubicBezTo>
                <a:lnTo>
                  <a:pt x="190500" y="133350"/>
                </a:lnTo>
                <a:lnTo>
                  <a:pt x="190500" y="65068"/>
                </a:lnTo>
                <a:lnTo>
                  <a:pt x="175379" y="80189"/>
                </a:lnTo>
                <a:cubicBezTo>
                  <a:pt x="167938" y="87630"/>
                  <a:pt x="155853" y="87630"/>
                  <a:pt x="148411" y="80189"/>
                </a:cubicBezTo>
                <a:cubicBezTo>
                  <a:pt x="140970" y="72747"/>
                  <a:pt x="140970" y="60662"/>
                  <a:pt x="148411" y="53221"/>
                </a:cubicBezTo>
                <a:lnTo>
                  <a:pt x="196036" y="5596"/>
                </a:lnTo>
                <a:cubicBezTo>
                  <a:pt x="203478" y="-1845"/>
                  <a:pt x="215563" y="-1845"/>
                  <a:pt x="223004" y="5596"/>
                </a:cubicBezTo>
                <a:lnTo>
                  <a:pt x="270629" y="53221"/>
                </a:lnTo>
                <a:cubicBezTo>
                  <a:pt x="278070" y="60662"/>
                  <a:pt x="278070" y="72747"/>
                  <a:pt x="270629" y="80189"/>
                </a:cubicBezTo>
                <a:cubicBezTo>
                  <a:pt x="263188" y="87630"/>
                  <a:pt x="251103" y="87630"/>
                  <a:pt x="243661" y="80189"/>
                </a:cubicBezTo>
                <a:lnTo>
                  <a:pt x="228540" y="65068"/>
                </a:lnTo>
                <a:lnTo>
                  <a:pt x="228540" y="121503"/>
                </a:lnTo>
                <a:cubicBezTo>
                  <a:pt x="213479" y="133588"/>
                  <a:pt x="203061" y="151328"/>
                  <a:pt x="200561" y="171450"/>
                </a:cubicBezTo>
                <a:lnTo>
                  <a:pt x="114240" y="171450"/>
                </a:lnTo>
                <a:lnTo>
                  <a:pt x="114240" y="239732"/>
                </a:lnTo>
                <a:lnTo>
                  <a:pt x="129361" y="224611"/>
                </a:lnTo>
                <a:cubicBezTo>
                  <a:pt x="136803" y="217170"/>
                  <a:pt x="148888" y="217170"/>
                  <a:pt x="156329" y="224611"/>
                </a:cubicBezTo>
                <a:cubicBezTo>
                  <a:pt x="163770" y="232053"/>
                  <a:pt x="163770" y="244138"/>
                  <a:pt x="156329" y="251579"/>
                </a:cubicBezTo>
                <a:close/>
                <a:moveTo>
                  <a:pt x="114300" y="19050"/>
                </a:moveTo>
                <a:lnTo>
                  <a:pt x="114300" y="104775"/>
                </a:lnTo>
                <a:lnTo>
                  <a:pt x="76200" y="104775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ubicBezTo>
                  <a:pt x="105787" y="0"/>
                  <a:pt x="114300" y="8513"/>
                  <a:pt x="114300" y="19050"/>
                </a:cubicBezTo>
                <a:close/>
                <a:moveTo>
                  <a:pt x="295275" y="181035"/>
                </a:moveTo>
                <a:cubicBezTo>
                  <a:pt x="295275" y="170498"/>
                  <a:pt x="286762" y="161985"/>
                  <a:pt x="276225" y="161985"/>
                </a:cubicBezTo>
                <a:cubicBezTo>
                  <a:pt x="265688" y="161985"/>
                  <a:pt x="257175" y="170498"/>
                  <a:pt x="257175" y="181035"/>
                </a:cubicBezTo>
                <a:lnTo>
                  <a:pt x="257175" y="209550"/>
                </a:lnTo>
                <a:lnTo>
                  <a:pt x="295275" y="209550"/>
                </a:lnTo>
                <a:lnTo>
                  <a:pt x="295275" y="181035"/>
                </a:lnTo>
                <a:close/>
                <a:moveTo>
                  <a:pt x="209550" y="238125"/>
                </a:moveTo>
                <a:cubicBezTo>
                  <a:pt x="209550" y="225683"/>
                  <a:pt x="217527" y="215086"/>
                  <a:pt x="228600" y="211157"/>
                </a:cubicBezTo>
                <a:lnTo>
                  <a:pt x="228600" y="181035"/>
                </a:lnTo>
                <a:cubicBezTo>
                  <a:pt x="228600" y="154722"/>
                  <a:pt x="249912" y="133410"/>
                  <a:pt x="276225" y="133410"/>
                </a:cubicBezTo>
                <a:cubicBezTo>
                  <a:pt x="302538" y="133410"/>
                  <a:pt x="323850" y="154722"/>
                  <a:pt x="323850" y="181035"/>
                </a:cubicBezTo>
                <a:lnTo>
                  <a:pt x="323850" y="211157"/>
                </a:lnTo>
                <a:cubicBezTo>
                  <a:pt x="334923" y="215086"/>
                  <a:pt x="342900" y="225683"/>
                  <a:pt x="342900" y="238125"/>
                </a:cubicBezTo>
                <a:lnTo>
                  <a:pt x="342900" y="295275"/>
                </a:lnTo>
                <a:cubicBezTo>
                  <a:pt x="342900" y="311051"/>
                  <a:pt x="330101" y="323850"/>
                  <a:pt x="314325" y="323850"/>
                </a:cubicBezTo>
                <a:lnTo>
                  <a:pt x="238125" y="323850"/>
                </a:lnTo>
                <a:cubicBezTo>
                  <a:pt x="222349" y="323850"/>
                  <a:pt x="209550" y="311051"/>
                  <a:pt x="209550" y="295275"/>
                </a:cubicBezTo>
                <a:lnTo>
                  <a:pt x="209550" y="23812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5" name="Text 23"/>
          <p:cNvSpPr/>
          <p:nvPr/>
        </p:nvSpPr>
        <p:spPr>
          <a:xfrm>
            <a:off x="1460500" y="412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Constructor/destructor chaining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ensures proper initialization and cleanup order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45500" y="4000500"/>
            <a:ext cx="7048500" cy="1016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45500" y="4000500"/>
            <a:ext cx="508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99500" y="425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82582" y="193536"/>
                </a:moveTo>
                <a:lnTo>
                  <a:pt x="96679" y="226576"/>
                </a:lnTo>
                <a:cubicBezTo>
                  <a:pt x="85130" y="231041"/>
                  <a:pt x="73759" y="219670"/>
                  <a:pt x="78224" y="208121"/>
                </a:cubicBezTo>
                <a:lnTo>
                  <a:pt x="111264" y="122218"/>
                </a:lnTo>
                <a:cubicBezTo>
                  <a:pt x="113228" y="117157"/>
                  <a:pt x="117157" y="113228"/>
                  <a:pt x="122218" y="111264"/>
                </a:cubicBezTo>
                <a:lnTo>
                  <a:pt x="208121" y="78224"/>
                </a:lnTo>
                <a:cubicBezTo>
                  <a:pt x="219670" y="73759"/>
                  <a:pt x="231041" y="85130"/>
                  <a:pt x="226576" y="96679"/>
                </a:cubicBezTo>
                <a:lnTo>
                  <a:pt x="193536" y="182582"/>
                </a:lnTo>
                <a:cubicBezTo>
                  <a:pt x="191631" y="187643"/>
                  <a:pt x="187643" y="191572"/>
                  <a:pt x="182582" y="193536"/>
                </a:cubicBezTo>
                <a:close/>
                <a:moveTo>
                  <a:pt x="171450" y="152400"/>
                </a:moveTo>
                <a:cubicBezTo>
                  <a:pt x="171450" y="141886"/>
                  <a:pt x="162914" y="133350"/>
                  <a:pt x="152400" y="133350"/>
                </a:cubicBezTo>
                <a:cubicBezTo>
                  <a:pt x="141886" y="133350"/>
                  <a:pt x="133350" y="141886"/>
                  <a:pt x="133350" y="152400"/>
                </a:cubicBezTo>
                <a:cubicBezTo>
                  <a:pt x="133350" y="162914"/>
                  <a:pt x="141886" y="171450"/>
                  <a:pt x="152400" y="171450"/>
                </a:cubicBezTo>
                <a:cubicBezTo>
                  <a:pt x="162914" y="171450"/>
                  <a:pt x="171450" y="162914"/>
                  <a:pt x="171450" y="1524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41275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access control is essential for designing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robust, maintainable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hierarchies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2000" y="5461000"/>
            <a:ext cx="14732000" cy="1778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56515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2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3000" y="6096000"/>
            <a:ext cx="3810000" cy="25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1270000" y="622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 is about </a:t>
            </a:r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code reuse.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your hierarchies around </a:t>
            </a:r>
            <a:pPr algn="ctr">
              <a:lnSpc>
                <a:spcPct val="150000"/>
              </a:lnSpc>
            </a:pPr>
            <a:r>
              <a:rPr lang="en-US" sz="17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"is-a"</a:t>
            </a:r>
            <a:pPr algn="ctr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relationships and proper access control.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0" y="1905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| PRACTICE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Exercises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143000"/>
            <a:ext cx="76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986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8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7000" y="1422400"/>
            <a:ext cx="14097000" cy="1270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14986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Vehicle Hierarchy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87500" y="1854200"/>
            <a:ext cx="1365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 class with brand and year. Derive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Motorcycle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classes with specific attributes. Demonstrate constructor chaining and member access.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29464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946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97000" y="2870200"/>
            <a:ext cx="14097000" cy="1270000"/>
          </a:xfrm>
          <a:prstGeom prst="roundRect">
            <a:avLst>
              <a:gd name="adj" fmla="val 8000"/>
            </a:avLst>
          </a:prstGeom>
          <a:solidFill>
            <a:srgbClr val="E8E5DF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2946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 Area Calculator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87500" y="3302000"/>
            <a:ext cx="1365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a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hierarchy with protected data members. Derive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Circle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Rectangle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Implement area calculation methods and demonstrate polymorphic behavior.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3942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3942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97000" y="4318000"/>
            <a:ext cx="14097000" cy="1270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43942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Account Access Control Challenge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87500" y="4749800"/>
            <a:ext cx="1365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Given a base class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Account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balance and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protected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ownerName, derive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SavingsAccount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What members can it directly access? How would you access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balance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8420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84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97000" y="5765800"/>
            <a:ext cx="14097000" cy="1270000"/>
          </a:xfrm>
          <a:prstGeom prst="roundRect">
            <a:avLst>
              <a:gd name="adj" fmla="val 8000"/>
            </a:avLst>
          </a:prstGeom>
          <a:solidFill>
            <a:srgbClr val="D97706">
              <a:alpha val="6275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87500" y="5842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 → Employee → Manager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87500" y="6197600"/>
            <a:ext cx="1365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 a three-level hierarchy using public inheritance. Demonstrate name resolution for common member functions and proper constructor chaining across all levels.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7366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Solutions and discussion in next week's lab session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0" cy="9144000"/>
          </a:xfrm>
          <a:prstGeom prst="rect">
            <a:avLst/>
          </a:prstGeom>
          <a:solidFill>
            <a:srgbClr val="0F4C5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5494000" y="0"/>
            <a:ext cx="762000" cy="9144000"/>
          </a:xfrm>
          <a:prstGeom prst="rect">
            <a:avLst/>
          </a:prstGeom>
          <a:solidFill>
            <a:srgbClr val="0F4C5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921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175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858000" y="4318000"/>
            <a:ext cx="254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4699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E8E5D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 Oriented Programming — Week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8000" y="5181600"/>
            <a:ext cx="1016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 | Derived Classes &amp; Access Control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8000" y="5969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- Week 5: Inheritance</dc:title>
  <dc:subject>Object Oriented Programming - Week 5: Inheritance</dc:subject>
  <dc:creator>Kimi</dc:creator>
  <cp:lastModifiedBy>Kimi</cp:lastModifiedBy>
  <cp:revision>1</cp:revision>
  <dcterms:created xsi:type="dcterms:W3CDTF">2026-05-26T11:38:37Z</dcterms:created>
  <dcterms:modified xsi:type="dcterms:W3CDTF">2026-05-26T11:38:37Z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{"Label":"Object Oriented Programming - Week 5: Inheritance","ContentProducer":"001191110108MACG2KBH8F10000","ProduceID":"19e640a1-98a2-8d8a-8000-0000e4343bf9","ReservedCode1":"","ContentPropagator":"001191110108MACG2KBH8F20000","PropagateID":"19e640a1-98a2-8d8a-8000-0000e4343bf9","ReservedCode2":""}</vt:lpwstr>
  </property>
</Properties>
</file>