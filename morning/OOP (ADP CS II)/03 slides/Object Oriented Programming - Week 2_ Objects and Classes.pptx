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5080000" cy="508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16000" y="5715000"/>
            <a:ext cx="3175000" cy="3175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556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330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SCIENCE COURSE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81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62000" y="5715000"/>
            <a:ext cx="1524000" cy="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62000" y="5969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E6F0F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2 — Objects and Classes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8128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CS / IT Department • 2025-2026 Academic Year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970000" y="3810000"/>
            <a:ext cx="1524000" cy="2032000"/>
          </a:xfrm>
          <a:prstGeom prst="bracePair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01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OF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2667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week covers the foundational concepts of OOP languages and practical class implementation in C++.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0" y="6350000"/>
            <a:ext cx="2032000" cy="2032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50000" y="177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3000" y="17780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3000" y="2286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 of Object-Oriented Languages, Defining the Class, Using the Class, Calling Member Functions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3556000"/>
            <a:ext cx="8636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350000" y="406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3000" y="40640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3000" y="4572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 of Class, Member Functions Defined Outside the Class, Header vs Implementation Files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508000" cy="508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0" y="1524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627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8000" y="330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3810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 of OOP Languages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66000" y="4699000"/>
            <a:ext cx="1524000" cy="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48000" y="495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the Class • Using the Class • Calling Member Functions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6350000"/>
            <a:ext cx="1524000" cy="1524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0" y="6096000"/>
            <a:ext cx="2286000" cy="2286000"/>
          </a:xfrm>
          <a:prstGeom prst="ellipse">
            <a:avLst/>
          </a:prstGeom>
          <a:solidFill>
            <a:srgbClr val="FFFFFF">
              <a:alpha val="156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a Language Object-Oriented?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Object-oriented programming (OOP) is a programming paradigm based 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contain data and code. Four fundamental characteristics define an OOP language: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6650" y="2794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28194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429000"/>
            <a:ext cx="6413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Bundling data (variables) and methods (functions) together as a single unit called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Controls access via access specifiers to protect data integrity.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540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63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8194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429000"/>
            <a:ext cx="6413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new classes from existing ones. The child class acquires properties and behaviors of the parent class, promoting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reusability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6515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714500" y="59309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540500"/>
            <a:ext cx="6413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interface, different implementations. Objects of different classes can be treated as objects of a common base class. Enables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56515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34425" y="590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6612" y="-22235"/>
                </a:moveTo>
                <a:cubicBezTo>
                  <a:pt x="28218" y="-30629"/>
                  <a:pt x="14645" y="-30629"/>
                  <a:pt x="6340" y="-22235"/>
                </a:cubicBezTo>
                <a:cubicBezTo>
                  <a:pt x="-1965" y="-13841"/>
                  <a:pt x="-2054" y="-268"/>
                  <a:pt x="6251" y="8126"/>
                </a:cubicBezTo>
                <a:lnTo>
                  <a:pt x="477738" y="479614"/>
                </a:lnTo>
                <a:cubicBezTo>
                  <a:pt x="486132" y="488007"/>
                  <a:pt x="499705" y="488007"/>
                  <a:pt x="508010" y="479614"/>
                </a:cubicBezTo>
                <a:cubicBezTo>
                  <a:pt x="516315" y="471220"/>
                  <a:pt x="516404" y="457646"/>
                  <a:pt x="508010" y="449342"/>
                </a:cubicBezTo>
                <a:lnTo>
                  <a:pt x="421928" y="363260"/>
                </a:lnTo>
                <a:cubicBezTo>
                  <a:pt x="424339" y="361117"/>
                  <a:pt x="426750" y="358973"/>
                  <a:pt x="429071" y="356830"/>
                </a:cubicBezTo>
                <a:cubicBezTo>
                  <a:pt x="470862" y="317986"/>
                  <a:pt x="498812" y="271641"/>
                  <a:pt x="512118" y="239762"/>
                </a:cubicBezTo>
                <a:cubicBezTo>
                  <a:pt x="515064" y="232708"/>
                  <a:pt x="515064" y="224850"/>
                  <a:pt x="512118" y="217795"/>
                </a:cubicBezTo>
                <a:cubicBezTo>
                  <a:pt x="498812" y="185916"/>
                  <a:pt x="470862" y="139482"/>
                  <a:pt x="429071" y="100727"/>
                </a:cubicBezTo>
                <a:cubicBezTo>
                  <a:pt x="387013" y="61704"/>
                  <a:pt x="329238" y="28754"/>
                  <a:pt x="257086" y="28754"/>
                </a:cubicBezTo>
                <a:cubicBezTo>
                  <a:pt x="206365" y="28754"/>
                  <a:pt x="162788" y="45006"/>
                  <a:pt x="126712" y="68223"/>
                </a:cubicBezTo>
                <a:lnTo>
                  <a:pt x="36612" y="-22235"/>
                </a:lnTo>
                <a:close/>
                <a:moveTo>
                  <a:pt x="182612" y="123855"/>
                </a:moveTo>
                <a:cubicBezTo>
                  <a:pt x="203597" y="108853"/>
                  <a:pt x="229404" y="100012"/>
                  <a:pt x="257175" y="100012"/>
                </a:cubicBezTo>
                <a:cubicBezTo>
                  <a:pt x="328166" y="100012"/>
                  <a:pt x="385763" y="157609"/>
                  <a:pt x="385763" y="228600"/>
                </a:cubicBezTo>
                <a:cubicBezTo>
                  <a:pt x="385763" y="256371"/>
                  <a:pt x="376922" y="282089"/>
                  <a:pt x="361920" y="303163"/>
                </a:cubicBezTo>
                <a:lnTo>
                  <a:pt x="330934" y="272177"/>
                </a:lnTo>
                <a:cubicBezTo>
                  <a:pt x="342275" y="253067"/>
                  <a:pt x="346115" y="229582"/>
                  <a:pt x="339953" y="206365"/>
                </a:cubicBezTo>
                <a:cubicBezTo>
                  <a:pt x="327720" y="160645"/>
                  <a:pt x="280660" y="133499"/>
                  <a:pt x="234940" y="145733"/>
                </a:cubicBezTo>
                <a:cubicBezTo>
                  <a:pt x="227261" y="147786"/>
                  <a:pt x="220028" y="150822"/>
                  <a:pt x="213509" y="154662"/>
                </a:cubicBezTo>
                <a:lnTo>
                  <a:pt x="182523" y="123676"/>
                </a:lnTo>
                <a:close/>
                <a:moveTo>
                  <a:pt x="290483" y="352812"/>
                </a:moveTo>
                <a:cubicBezTo>
                  <a:pt x="279856" y="355669"/>
                  <a:pt x="268694" y="357188"/>
                  <a:pt x="257175" y="357188"/>
                </a:cubicBezTo>
                <a:cubicBezTo>
                  <a:pt x="186184" y="357188"/>
                  <a:pt x="128588" y="299591"/>
                  <a:pt x="128588" y="228600"/>
                </a:cubicBezTo>
                <a:cubicBezTo>
                  <a:pt x="128588" y="217081"/>
                  <a:pt x="130106" y="205919"/>
                  <a:pt x="132963" y="195292"/>
                </a:cubicBezTo>
                <a:lnTo>
                  <a:pt x="61972" y="124301"/>
                </a:lnTo>
                <a:cubicBezTo>
                  <a:pt x="32861" y="157163"/>
                  <a:pt x="12859" y="191988"/>
                  <a:pt x="2232" y="217616"/>
                </a:cubicBezTo>
                <a:cubicBezTo>
                  <a:pt x="-714" y="224671"/>
                  <a:pt x="-714" y="232529"/>
                  <a:pt x="2232" y="239584"/>
                </a:cubicBezTo>
                <a:cubicBezTo>
                  <a:pt x="15538" y="271463"/>
                  <a:pt x="43488" y="317897"/>
                  <a:pt x="85279" y="356652"/>
                </a:cubicBezTo>
                <a:cubicBezTo>
                  <a:pt x="127337" y="395674"/>
                  <a:pt x="185112" y="428625"/>
                  <a:pt x="257264" y="428625"/>
                </a:cubicBezTo>
                <a:cubicBezTo>
                  <a:pt x="290572" y="428625"/>
                  <a:pt x="320844" y="421571"/>
                  <a:pt x="347901" y="410230"/>
                </a:cubicBezTo>
                <a:lnTo>
                  <a:pt x="290572" y="352901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59309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6540500"/>
            <a:ext cx="6413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Hiding complex implementation details and showing only essential features. Focuses 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 — Data Hiding &amp; Binding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Encapsulation binds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(variables)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(methods) into a single unit —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restricts direct access to object components, preventing accidental interference.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is controlled through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methods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(getters and setters).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565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2230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6159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Protects data integrity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6675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66040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complexity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62230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97400" y="6159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modularity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18000" y="66675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400" y="66040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to maintain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524000"/>
            <a:ext cx="7366000" cy="5588000"/>
          </a:xfrm>
          <a:prstGeom prst="roundRect">
            <a:avLst>
              <a:gd name="adj" fmla="val 6000"/>
            </a:avLst>
          </a:prstGeom>
          <a:solidFill>
            <a:srgbClr val="E6F0F2"/>
          </a:solidFill>
          <a:ln/>
        </p:spPr>
      </p:sp>
      <p:sp>
        <p:nvSpPr>
          <p:cNvPr id="15" name="Text 13"/>
          <p:cNvSpPr/>
          <p:nvPr/>
        </p:nvSpPr>
        <p:spPr>
          <a:xfrm>
            <a:off x="84455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45500" y="2006600"/>
            <a:ext cx="6731000" cy="488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BankAccount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hidden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deposit(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amt)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+= amt;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getBalance()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 — Reusing &amp; Extending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 lets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child class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acquire properties and behaviors from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parent class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Derived : access Base { };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symbol establishes the inheritance relationship.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Inheritance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8260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base class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18000" y="48260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base classes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9055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Multilevel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of inheritance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8000" y="59055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from one base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1524000"/>
            <a:ext cx="7366000" cy="55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5500" y="165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HIERARCHY EXAMPLE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049000" y="2222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0" y="222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049000" y="2857500"/>
            <a:ext cx="0" cy="508000"/>
          </a:xfrm>
          <a:prstGeom prst="straightConnector1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081000" y="2857500"/>
            <a:ext cx="0" cy="508000"/>
          </a:xfrm>
          <a:prstGeom prst="straightConnector1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033000" y="3492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33000" y="349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19000" y="3492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19000" y="349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Bike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049000" y="4127500"/>
            <a:ext cx="0" cy="508000"/>
          </a:xfrm>
          <a:prstGeom prst="straightConnector1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3081000" y="4127500"/>
            <a:ext cx="0" cy="508000"/>
          </a:xfrm>
          <a:prstGeom prst="straightConnector1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033000" y="4762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3000" y="476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SportsCar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19000" y="47625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19000" y="476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MountainBike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5500" y="58420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derived class inherits all accessible members from its parent and can add its own unique members.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— Many Forms, One Interface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Polymorphism means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"many forms"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objects of different classes can be treated as objects of a common base class. The same function name behaves differently based on the calling object.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Compile-Time Polymorphism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685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Overloading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Same function name, different parameters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Overloading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Redefining operator behavior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Resolved at compile time by the compiler.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2667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Polymorphism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3175000"/>
            <a:ext cx="685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Functions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Base class declares, derived class overrides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Overriding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Redefining base class function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Resolved at runtime using vtables.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080000"/>
            <a:ext cx="14732000" cy="3302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523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5588000"/>
            <a:ext cx="1409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 cout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"Drawing a shape"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cout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"Drawing a circle"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Shape* s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Circle(); s-&gt;draw();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"Drawing a circle"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Abstraction — Simplifying Complexity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Abstraction hides complex implementation details, showing only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features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focuses on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"what"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 object does, not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"how"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 does it.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C++, achieved through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classes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at least one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pure virtual function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50800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5181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 VIRTUAL FUNCTION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52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function() =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350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classes cannot be instantiated directly. They serve as blueprints for derived classes.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1524000"/>
            <a:ext cx="7366000" cy="55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45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017000" y="180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45500" y="24130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 driver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knows how to: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Steer, accelerate, brake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does </a:t>
            </a:r>
            <a:pPr>
              <a:lnSpc>
                <a:spcPct val="14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need</a:t>
            </a:r>
            <a:pPr>
              <a:lnSpc>
                <a:spcPct val="14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understand: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Internal combustion engine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Transmission mechanics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Electrical systems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5207000"/>
            <a:ext cx="6731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445500" y="53975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interface (steering, pedals)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complex implementation (engine, transmission).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Pillars at a Glance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3340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3683000"/>
                <a:gridCol w="3683000"/>
              </a:tblGrid>
              <a:tr h="75108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Pillar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It Does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Mechanism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Benefit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114572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Encapsulation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Bundles data + methods into a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 specifiers (public/private)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protection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4572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Derives new classes from existing ones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/ Derived class hierarchy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reuse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</a:tr>
              <a:tr h="114572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Polymorphism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Same interface, different behaviors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Virtual functions, overloading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4572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Hides implementation details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 classes, interfaces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pillar addresses a specific software engineering challenge. Together, they enable the creation of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modular, reusable, and maintainable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code that scales from small programs to large enterprise systems.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a Class in C++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user-defined data type that serves as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blueprint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creating objects. It defines what data the object holds (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members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and what operations can be performed (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 functions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3048000"/>
            <a:ext cx="14732000" cy="3937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3200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556000"/>
            <a:ext cx="14097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 specifier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Private members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dataMember;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Public members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memberFunction()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function body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Note: semicolon is required!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7239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742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7366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default, all members of a class are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class declaration must end with a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semicolon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Components — Data Members &amp; Member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4900" y="177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80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Members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3495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an object. Can be any data type: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Primitive: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int, float, char, bool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Complex: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string, arrays, pointers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User-defined: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class types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object gets its own copy.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5240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37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1803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Functions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23495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object: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Defined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inside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(inline)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Defined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(::)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member functions: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initialize objects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Destructors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cleanup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Class Example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905500"/>
            <a:ext cx="14732000" cy="2540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070600"/>
            <a:ext cx="1409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rollNo;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Data members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setData(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n,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r,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m) { name=n; rollNo=r; marks=m;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{ cout &lt;&lt; name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rollNo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marks;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Member functions operate on data members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Specifiers — public, private, protected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specifiers control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visibility and accessibility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class members. They are the foundation of encapsulation.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4699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349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3495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750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Members accessible from: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Inside the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Outside the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Derived classes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for: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 that form the class interface (getters, setters, utility functions)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349500"/>
            <a:ext cx="4699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78500" y="2349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0" y="23495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1750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Members accessible from: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Inside the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Outside the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Derived classes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for: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members and internal helper methods.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classes.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349500"/>
            <a:ext cx="4699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0" y="2349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0" y="23495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1750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Members accessible from: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Inside the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Outside the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Derived classes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for: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that derived classes need to access but external code should not.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604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6F0F2"/>
          </a:solidFill>
          <a:ln/>
        </p:spPr>
      </p:sp>
      <p:sp>
        <p:nvSpPr>
          <p:cNvPr id="18" name="Shape 16"/>
          <p:cNvSpPr/>
          <p:nvPr/>
        </p:nvSpPr>
        <p:spPr>
          <a:xfrm>
            <a:off x="993775" y="6794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6667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data members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provide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getter/setter methods. This enforces encapsulation.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the Class — Creating Objects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 class. It occupies memory and holds actual values for the data members.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349500"/>
            <a:ext cx="7048500" cy="635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3495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Allocation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1750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ClassName obj;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 created on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Automatically destroyed when out of scope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Faster allocation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dot operator: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obj.member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3495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45500" y="2349500"/>
            <a:ext cx="7048500" cy="635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445500" y="23495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 Allocation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1750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ClassName* obj = new ClassName();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 created on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Must manually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 obj;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Persists until explicitly freed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arrow operator: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obj-&gt;member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223000"/>
            <a:ext cx="14732000" cy="2032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413500"/>
            <a:ext cx="1409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Stack object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s1.name =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Student* s2 =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Student();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Heap object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s2-&gt;name =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s2;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Free heap 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Class Members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 are accessed using operators: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Dot operator (.)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stack objects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Arrow operator (-&gt;)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pointer objects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object maintains its own separate copy of data members.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45720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E6F0F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673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obj.memberName obj.memberFunction()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054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 operator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7150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E6F0F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5816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ptr-&gt;memberName ptr-&gt;memberFunction()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6197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Arrow operator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1524000"/>
            <a:ext cx="7366000" cy="5588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5500" y="2006600"/>
            <a:ext cx="6731000" cy="488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setAge(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a;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 &lt;&lt; age;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s1.name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s1.setAge(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s1.display();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Calling Member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 functions are called on objects using the dot (.) or arrow (-&gt;) operator. They can access all members of the class, including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data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4699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260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26289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Accessor Functions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298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365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data without modifying it.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the value of a private data member.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Should be marked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349500"/>
            <a:ext cx="4699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0" y="260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2607" y="15776"/>
                </a:moveTo>
                <a:lnTo>
                  <a:pt x="229195" y="49188"/>
                </a:lnTo>
                <a:lnTo>
                  <a:pt x="331812" y="151805"/>
                </a:lnTo>
                <a:lnTo>
                  <a:pt x="365224" y="118393"/>
                </a:lnTo>
                <a:cubicBezTo>
                  <a:pt x="375345" y="108347"/>
                  <a:pt x="381000" y="94655"/>
                  <a:pt x="381000" y="80367"/>
                </a:cubicBezTo>
                <a:cubicBezTo>
                  <a:pt x="381000" y="66080"/>
                  <a:pt x="375345" y="52388"/>
                  <a:pt x="365224" y="42342"/>
                </a:cubicBezTo>
                <a:lnTo>
                  <a:pt x="338658" y="15776"/>
                </a:lnTo>
                <a:cubicBezTo>
                  <a:pt x="328613" y="5655"/>
                  <a:pt x="314920" y="0"/>
                  <a:pt x="300633" y="0"/>
                </a:cubicBezTo>
                <a:cubicBezTo>
                  <a:pt x="286345" y="0"/>
                  <a:pt x="272653" y="5655"/>
                  <a:pt x="262607" y="15776"/>
                </a:cubicBezTo>
                <a:close/>
                <a:moveTo>
                  <a:pt x="203969" y="74414"/>
                </a:moveTo>
                <a:lnTo>
                  <a:pt x="43830" y="234479"/>
                </a:lnTo>
                <a:cubicBezTo>
                  <a:pt x="35868" y="242441"/>
                  <a:pt x="30063" y="252413"/>
                  <a:pt x="27012" y="263277"/>
                </a:cubicBezTo>
                <a:lnTo>
                  <a:pt x="670" y="358378"/>
                </a:lnTo>
                <a:cubicBezTo>
                  <a:pt x="-1042" y="364554"/>
                  <a:pt x="670" y="371252"/>
                  <a:pt x="5283" y="375791"/>
                </a:cubicBezTo>
                <a:cubicBezTo>
                  <a:pt x="9897" y="380330"/>
                  <a:pt x="16520" y="382116"/>
                  <a:pt x="22696" y="380405"/>
                </a:cubicBezTo>
                <a:lnTo>
                  <a:pt x="117797" y="353988"/>
                </a:lnTo>
                <a:cubicBezTo>
                  <a:pt x="128662" y="350937"/>
                  <a:pt x="138559" y="345207"/>
                  <a:pt x="146596" y="337170"/>
                </a:cubicBezTo>
                <a:lnTo>
                  <a:pt x="306586" y="177031"/>
                </a:lnTo>
                <a:lnTo>
                  <a:pt x="203969" y="74414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604000" y="26289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Mutator Functions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4000" y="298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3365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 data with validation.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 parameters and update private members.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include error checking.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349500"/>
            <a:ext cx="4699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064875" y="2603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0" y="26289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Functions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20500" y="298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3365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operations using data.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call other member functions.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core class behavior.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588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577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this Pointer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87500" y="6159500"/>
            <a:ext cx="135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 member function is called, the object that invoked it is implicitly passed as a pointer called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points to the current object.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this Pointer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is an implicit pointer available in all non-static member functions. It points to the object that invoked the member function.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Key Uses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8956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28194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Resolve name conflicts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member variables and parameters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5814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35052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the current object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method chaining: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*this;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2672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41910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the current object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a parameter to another function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349500"/>
            <a:ext cx="7366000" cy="47625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247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2819400"/>
            <a:ext cx="673100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1: resolve conflict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setName(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-&gt;name = name;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2: method chaining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Person&amp; setAge(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... */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5207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pointer is automatically passed by the compiler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be modified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0" y="1524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0" dirty="0">
                <a:solidFill>
                  <a:srgbClr val="FFFFFF">
                    <a:alpha val="627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8000" y="330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13000" y="3810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Examples &amp; Member Functions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66000" y="4699000"/>
            <a:ext cx="1524000" cy="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48000" y="495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 of Class • Member Functions Defined Outside the Class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6350000"/>
            <a:ext cx="1524000" cy="1524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0" y="6096000"/>
            <a:ext cx="2286000" cy="2286000"/>
          </a:xfrm>
          <a:prstGeom prst="ellipse">
            <a:avLst/>
          </a:prstGeom>
          <a:solidFill>
            <a:srgbClr val="FFFFFF">
              <a:alpha val="156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 Simple Class — Student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complete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demonstrating encapsulation with private data members and a public interface.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4732000" cy="5080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1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EXAMPLE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768600"/>
            <a:ext cx="14097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&lt;string&gt;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rollNumber;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setData(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m) { name=n; rollNumber=r; marks=m; 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{ cout &lt;&lt; name &lt;&lt;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rollNumber &lt;&lt;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marks &lt;&lt; endl; 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s1; s1.setData(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85.5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s1.display();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Alice 101 85.5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75565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members are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they cannot be accessed directly. All interaction happens through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Example — Bank Account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BankAccount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with: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accountNumber, holderName, balance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deposit(), withdraw(), getBalance(), displayInfo()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withdraw()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 validates against overdraft — the balance cannot be directly modified from outside.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demonstrates how encapsulation ensures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integrity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0" y="1524000"/>
            <a:ext cx="7366000" cy="5588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6" name="Text 4"/>
          <p:cNvSpPr/>
          <p:nvPr/>
        </p:nvSpPr>
        <p:spPr>
          <a:xfrm>
            <a:off x="84455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45500" y="2006600"/>
            <a:ext cx="6731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BankAccount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accNo;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holder;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deposit(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amt)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+= amt;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withdraw(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amt)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(amt &gt; balance)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-= amt;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getBalance()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with Multiple Objects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objects can be created from the same class. Each object maintains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independent state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changes to one do not affect others.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14732000" cy="3429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7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 OF OBJECTS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819400"/>
            <a:ext cx="14097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marks; 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Array of 3 Student objects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].name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].marks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].name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].marks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].name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"Carol"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s[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].marks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i=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i&lt;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i++) cout &lt;&lt; s[i].name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": 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s[i].marks &lt;&lt; endl;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84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Representation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64135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2000" y="64770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s[0] — Alice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= "Alice"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marks = 85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64135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78500" y="64770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s[1] — Bob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78500" y="6858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= "Bob"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marks = 90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64135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95000" y="64770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s[2] — Carol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0" y="6858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= "Carol"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marks = 78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Functions Defined Outside the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 functions can be defined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outside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class body using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 resolution operator (::)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This keeps the class declaration clean and separates interface from implementation.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9500" y="2641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984500"/>
            <a:ext cx="140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returnType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functionName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(parameters) {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function body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5085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44450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class declaration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and readable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9530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400" y="48895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Separates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53340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Organizes code in header (.h) and source (.cpp) files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842000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57785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to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3937000"/>
            <a:ext cx="7366000" cy="3429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18" name="Text 16"/>
          <p:cNvSpPr/>
          <p:nvPr/>
        </p:nvSpPr>
        <p:spPr>
          <a:xfrm>
            <a:off x="84455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45500" y="4419600"/>
            <a:ext cx="6731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setName(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n);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declaration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declaration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Student::setName(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definition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Scope Resolution Operator (::)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 resolution operator (::)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tells the compiler which class a member function belongs to. Without it, the function is treated as a regular global function with no access to class members.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100" y="2768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730500"/>
            <a:ext cx="134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returnType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functionName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(parameters) { ...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81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:: Tells the Compiler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381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2500" y="4546600"/>
            <a:ext cx="406400" cy="4064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54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" y="4508500"/>
            <a:ext cx="374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function is a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ClassName"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belongs to the class scope, not global scope.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4381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9000" y="4546600"/>
            <a:ext cx="406400" cy="4064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969000" y="454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5100" y="4508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"Grant access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private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protected members of the class"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4381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85500" y="4546600"/>
            <a:ext cx="406400" cy="4064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85500" y="454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31600" y="4508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"Link this definition to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inside the class body"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286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9500" y="657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587500" y="64135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::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compiler treats the function as a global function — it cannot access private members and will produce errors when you try to use class data.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 File vs. Implementation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professional C++ development, classes are split across two files. This separation is a cornerstone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 programming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349500"/>
            <a:ext cx="7048500" cy="5715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349500"/>
            <a:ext cx="704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 File — Student.h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11500"/>
            <a:ext cx="6540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#ifndef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STUDENT_H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#define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STUDENT_H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&lt;string&gt;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std::string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setName(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std::string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n);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#endif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3495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45500" y="2349500"/>
            <a:ext cx="7048500" cy="5715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445500" y="2349500"/>
            <a:ext cx="704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— Student.cpp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3111500"/>
            <a:ext cx="6540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"Student.h"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Student::setName(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Student::display()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 &lt;&lt; endl;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Separation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731000"/>
            <a:ext cx="342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Reusability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can be included in multiple files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5000" y="6731000"/>
            <a:ext cx="342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Compilation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to .cpp don't recompile all files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0" y="6731000"/>
            <a:ext cx="342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Organization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and implementation separated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0" y="6731000"/>
            <a:ext cx="342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Hiding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only see the public interface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Inline Functions vs. Outside Definition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 functions can be defined in two ways. Each approach has its own use cases and trade-offs.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70485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222500"/>
            <a:ext cx="7048500" cy="5715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222500"/>
            <a:ext cx="704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Inline (Inside Class)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6540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function body inside class declaration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Small, frequently-called functions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Simple getters and setters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Compiler may inline the code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Reduced function call overhead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Clutters class declaration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Recompilation on any change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222500"/>
            <a:ext cx="70485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45500" y="2222500"/>
            <a:ext cx="7048500" cy="5715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445500" y="2222500"/>
            <a:ext cx="704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(Outside Class)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2984500"/>
            <a:ext cx="6540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ClassName:: with scope resolution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Complex, multi-line functions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Large class implementations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 class declaration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Faster compilation times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Slightly more overhead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Must manage multiple files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0485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E6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7112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is a request, not a command. The compiler decides whether to actually inline a function based on its complexity and size.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Program — Rectangle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complete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Rectangle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with all member functions defined outside the class using the scope resolution operator.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5080000"/>
          </a:xfrm>
          <a:prstGeom prst="roundRect">
            <a:avLst>
              <a:gd name="adj" fmla="val 5000"/>
            </a:avLst>
          </a:prstGeom>
          <a:solidFill>
            <a:srgbClr val="E6F0F2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28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PROGRAM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641600"/>
            <a:ext cx="14097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length, width;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setDimensions(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w);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calculateArea();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calculatePerimeter();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Rectangle::setDimensions(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w) { length=l; width=w; 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Rectangle::calculateArea() {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length*width; 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Rectangle::calculatePerimeter() {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*(length+width); 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Rectangle::display() { cout &lt;&lt;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"Area: "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calculateArea() &lt;&lt;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Perimeter: "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calculatePerimeter(); 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 Rectangle r; r.setDimensions(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5.0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3.0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r.display();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38000"/>
              </a:lnSpc>
            </a:pPr>
            <a:r>
              <a:rPr lang="en-US" sz="1300" dirty="0">
                <a:solidFill>
                  <a:srgbClr val="0A3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7429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7493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78740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Area: 15 Perimeter: 16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Class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 these guidelines to write effective, maintainable, and professional-quality classes.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2286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231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Data Private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768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encapsulation. Data members should never be public.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69000" y="2286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0" y="231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Meaningful Names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768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Classes, members, and functions should clearly describe their purpose.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85500" y="2286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93500" y="231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Responsibility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85500" y="2768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class should have one reason to change. Keep classes focused.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810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25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396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const Correctness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4419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 getter functions as const. Prevent accidental modifications.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3810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69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0" y="396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Initialize in Constructors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4419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data members should be initialized. Never leave them uninitialized.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3810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855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93500" y="396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References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85500" y="4419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objects by const reference when appropriate to avoid copying.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4610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2500" y="558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0500" y="5613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Your Classes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2500" y="60706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comments explaining class purpose, parameters, and usage.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732000" y="87376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Frequent errors beginners make when working with classes in C++. Learn to recognize and avoid them.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5050" y="241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473200" y="2286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Forgetting the semicolon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class declaration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2159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8550" y="241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156700" y="2286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Accessing private members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directly from outside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302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5050" y="355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473200" y="3429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Forgetting ClassName::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defining outside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0" y="3302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18550" y="355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56700" y="3429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initializing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members (garbage values)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445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5050" y="469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" y="457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Confusing . and -&gt;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operators for object access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4445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8550" y="469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56700" y="457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leaks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new without delete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588000"/>
            <a:ext cx="7048500" cy="889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5050" y="5842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" y="571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Declaring but not defining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functions (linker errors)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858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6F0F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0450" y="704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524000" y="6959600"/>
            <a:ext cx="1371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compile frequently, read error messages carefully, and use a debugger to trace object behavior step by step.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732000" y="876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5080000" cy="508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16000" y="5715000"/>
            <a:ext cx="3175000" cy="3175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1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460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1524000" cy="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2667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OOP's four pillars —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Encapsulation, Inheritance, Polymorphism, Abstraction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blueprint;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683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data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expose controlled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 functions: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(inside) 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(using ::)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699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Practice building classes to master OOP concepts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7620000" cy="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577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159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Constructors, Destructors &amp; Operator Overloading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128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Oriented Programming • Week 2 Complete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70000" y="3810000"/>
            <a:ext cx="1524000" cy="2032000"/>
          </a:xfrm>
          <a:prstGeom prst="bracePair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2: Objects and Classes</dc:title>
  <dc:subject>Object Oriented Programming - Week 2: Objects and Classes</dc:subject>
  <dc:creator>Kimi</dc:creator>
  <cp:lastModifiedBy>Kimi</cp:lastModifiedBy>
  <cp:revision>1</cp:revision>
  <dcterms:created xsi:type="dcterms:W3CDTF">2026-05-26T11:38:21Z</dcterms:created>
  <dcterms:modified xsi:type="dcterms:W3CDTF">2026-05-26T11:38:21Z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2: Objects and Classes","ContentProducer":"001191110108MACG2KBH8F10000","ProduceID":"19e64004-b1d2-832e-8000-0000455d393a","ReservedCode1":"","ContentPropagator":"001191110108MACG2KBH8F20000","PropagateID":"19e64004-b1d2-832e-8000-0000455d393a","ReservedCode2":""}</vt:lpwstr>
  </property>
</Properties>
</file>