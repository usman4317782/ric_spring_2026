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 in C++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2286000" y="4191000"/>
            <a:ext cx="1168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19 &amp; 20 — Pointers to Objects, Early Binding &amp; Virtual Functions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5080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53000" y="558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Oriented Programming with C++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Will Learn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54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19: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Pointer to Objects &amp; Early Binding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111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Pointer to Objects with coding example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Early binding concept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24000" y="4318000"/>
            <a:ext cx="558800" cy="5588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318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431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20: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Polymorphism with Virtual Functions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4889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Polymorphism with Virtual Function Concept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Implementation with code examples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2794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70000" y="3746500"/>
            <a:ext cx="1371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L19: Pointer to Objects &amp; Early Binding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83000" y="5016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pointers, objects, and compile-time binding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Pointer to an Object?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40196"/>
                </a:moveTo>
                <a:lnTo>
                  <a:pt x="254000" y="447080"/>
                </a:lnTo>
                <a:lnTo>
                  <a:pt x="254496" y="446881"/>
                </a:lnTo>
                <a:cubicBezTo>
                  <a:pt x="308670" y="424359"/>
                  <a:pt x="366812" y="412750"/>
                  <a:pt x="425450" y="412750"/>
                </a:cubicBezTo>
                <a:lnTo>
                  <a:pt x="444500" y="412750"/>
                </a:lnTo>
                <a:lnTo>
                  <a:pt x="444500" y="95250"/>
                </a:lnTo>
                <a:lnTo>
                  <a:pt x="425450" y="95250"/>
                </a:lnTo>
                <a:cubicBezTo>
                  <a:pt x="383580" y="95250"/>
                  <a:pt x="342007" y="103584"/>
                  <a:pt x="303312" y="119658"/>
                </a:cubicBezTo>
                <a:cubicBezTo>
                  <a:pt x="286643" y="126603"/>
                  <a:pt x="270173" y="133449"/>
                  <a:pt x="254000" y="140196"/>
                </a:cubicBezTo>
                <a:close/>
                <a:moveTo>
                  <a:pt x="229096" y="61020"/>
                </a:moveTo>
                <a:lnTo>
                  <a:pt x="254000" y="71438"/>
                </a:lnTo>
                <a:lnTo>
                  <a:pt x="278904" y="61020"/>
                </a:lnTo>
                <a:cubicBezTo>
                  <a:pt x="325338" y="41672"/>
                  <a:pt x="375146" y="31750"/>
                  <a:pt x="425450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428625"/>
                </a:lnTo>
                <a:cubicBezTo>
                  <a:pt x="508000" y="454918"/>
                  <a:pt x="486668" y="476250"/>
                  <a:pt x="460375" y="476250"/>
                </a:cubicBezTo>
                <a:lnTo>
                  <a:pt x="425450" y="476250"/>
                </a:lnTo>
                <a:cubicBezTo>
                  <a:pt x="375146" y="476250"/>
                  <a:pt x="325338" y="486172"/>
                  <a:pt x="278904" y="505520"/>
                </a:cubicBezTo>
                <a:lnTo>
                  <a:pt x="266204" y="510778"/>
                </a:lnTo>
                <a:cubicBezTo>
                  <a:pt x="258366" y="514052"/>
                  <a:pt x="249634" y="514052"/>
                  <a:pt x="241796" y="510778"/>
                </a:cubicBezTo>
                <a:lnTo>
                  <a:pt x="229096" y="505520"/>
                </a:lnTo>
                <a:cubicBezTo>
                  <a:pt x="182662" y="486172"/>
                  <a:pt x="132854" y="476250"/>
                  <a:pt x="82550" y="476250"/>
                </a:cubicBezTo>
                <a:lnTo>
                  <a:pt x="47625" y="476250"/>
                </a:lnTo>
                <a:cubicBezTo>
                  <a:pt x="21332" y="476250"/>
                  <a:pt x="0" y="454918"/>
                  <a:pt x="0" y="428625"/>
                </a:cubicBezTo>
                <a:lnTo>
                  <a:pt x="0" y="79375"/>
                </a:lnTo>
                <a:cubicBezTo>
                  <a:pt x="0" y="53082"/>
                  <a:pt x="21332" y="31750"/>
                  <a:pt x="47625" y="31750"/>
                </a:cubicBezTo>
                <a:lnTo>
                  <a:pt x="82550" y="31750"/>
                </a:lnTo>
                <a:cubicBezTo>
                  <a:pt x="132854" y="31750"/>
                  <a:pt x="182662" y="41672"/>
                  <a:pt x="229096" y="6102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095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49500" y="2476500"/>
            <a:ext cx="1231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to an object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stores the memory address of a class object. Just as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int* ptr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points to an integer,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ClassName* ptr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points to an object of that class.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70000" y="3937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Simple Analogy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270000" y="4572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1000" y="482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30" y="8533"/>
                </a:moveTo>
                <a:cubicBezTo>
                  <a:pt x="263426" y="-2778"/>
                  <a:pt x="244574" y="-2778"/>
                  <a:pt x="232470" y="8533"/>
                </a:cubicBezTo>
                <a:lnTo>
                  <a:pt x="10220" y="214908"/>
                </a:lnTo>
                <a:cubicBezTo>
                  <a:pt x="695" y="223838"/>
                  <a:pt x="-2480" y="237629"/>
                  <a:pt x="2282" y="249734"/>
                </a:cubicBezTo>
                <a:cubicBezTo>
                  <a:pt x="7045" y="261838"/>
                  <a:pt x="18653" y="269875"/>
                  <a:pt x="31750" y="269875"/>
                </a:cubicBezTo>
                <a:lnTo>
                  <a:pt x="47625" y="269875"/>
                </a:lnTo>
                <a:lnTo>
                  <a:pt x="47625" y="444500"/>
                </a:lnTo>
                <a:cubicBezTo>
                  <a:pt x="47625" y="479524"/>
                  <a:pt x="76101" y="508000"/>
                  <a:pt x="111125" y="508000"/>
                </a:cubicBezTo>
                <a:lnTo>
                  <a:pt x="396875" y="508000"/>
                </a:lnTo>
                <a:cubicBezTo>
                  <a:pt x="431899" y="508000"/>
                  <a:pt x="460375" y="479524"/>
                  <a:pt x="460375" y="444500"/>
                </a:cubicBezTo>
                <a:lnTo>
                  <a:pt x="460375" y="269875"/>
                </a:lnTo>
                <a:lnTo>
                  <a:pt x="476250" y="269875"/>
                </a:lnTo>
                <a:cubicBezTo>
                  <a:pt x="489347" y="269875"/>
                  <a:pt x="501055" y="261838"/>
                  <a:pt x="505817" y="249734"/>
                </a:cubicBezTo>
                <a:cubicBezTo>
                  <a:pt x="510580" y="237629"/>
                  <a:pt x="507405" y="223738"/>
                  <a:pt x="497880" y="214908"/>
                </a:cubicBezTo>
                <a:lnTo>
                  <a:pt x="275630" y="8533"/>
                </a:lnTo>
                <a:close/>
                <a:moveTo>
                  <a:pt x="238125" y="317500"/>
                </a:moveTo>
                <a:lnTo>
                  <a:pt x="269875" y="317500"/>
                </a:lnTo>
                <a:cubicBezTo>
                  <a:pt x="296168" y="317500"/>
                  <a:pt x="317500" y="338832"/>
                  <a:pt x="317500" y="365125"/>
                </a:cubicBezTo>
                <a:lnTo>
                  <a:pt x="317500" y="460375"/>
                </a:lnTo>
                <a:lnTo>
                  <a:pt x="190500" y="460375"/>
                </a:lnTo>
                <a:lnTo>
                  <a:pt x="190500" y="365125"/>
                </a:lnTo>
                <a:cubicBezTo>
                  <a:pt x="190500" y="338832"/>
                  <a:pt x="211832" y="317500"/>
                  <a:pt x="238125" y="3175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546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House Address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24000" y="5969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address is the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pointer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house is the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69000" y="4572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20000" y="482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cubicBezTo>
                  <a:pt x="60226" y="0"/>
                  <a:pt x="31750" y="28476"/>
                  <a:pt x="31750" y="63500"/>
                </a:cubicBezTo>
                <a:lnTo>
                  <a:pt x="31750" y="444500"/>
                </a:lnTo>
                <a:cubicBezTo>
                  <a:pt x="31750" y="479524"/>
                  <a:pt x="60226" y="508000"/>
                  <a:pt x="95250" y="508000"/>
                </a:cubicBezTo>
                <a:lnTo>
                  <a:pt x="381000" y="508000"/>
                </a:lnTo>
                <a:cubicBezTo>
                  <a:pt x="416024" y="508000"/>
                  <a:pt x="444500" y="479524"/>
                  <a:pt x="444500" y="444500"/>
                </a:cubicBezTo>
                <a:lnTo>
                  <a:pt x="444500" y="63500"/>
                </a:lnTo>
                <a:cubicBezTo>
                  <a:pt x="444500" y="28476"/>
                  <a:pt x="416024" y="0"/>
                  <a:pt x="381000" y="0"/>
                </a:cubicBezTo>
                <a:lnTo>
                  <a:pt x="95250" y="0"/>
                </a:lnTo>
                <a:close/>
                <a:moveTo>
                  <a:pt x="206375" y="285750"/>
                </a:moveTo>
                <a:lnTo>
                  <a:pt x="269875" y="285750"/>
                </a:lnTo>
                <a:cubicBezTo>
                  <a:pt x="313730" y="285750"/>
                  <a:pt x="349250" y="321270"/>
                  <a:pt x="349250" y="365125"/>
                </a:cubicBezTo>
                <a:cubicBezTo>
                  <a:pt x="349250" y="373856"/>
                  <a:pt x="342106" y="381000"/>
                  <a:pt x="333375" y="381000"/>
                </a:cubicBezTo>
                <a:lnTo>
                  <a:pt x="142875" y="381000"/>
                </a:lnTo>
                <a:cubicBezTo>
                  <a:pt x="134144" y="381000"/>
                  <a:pt x="127000" y="373856"/>
                  <a:pt x="127000" y="365125"/>
                </a:cubicBezTo>
                <a:cubicBezTo>
                  <a:pt x="127000" y="321270"/>
                  <a:pt x="162520" y="285750"/>
                  <a:pt x="206375" y="285750"/>
                </a:cubicBezTo>
                <a:close/>
                <a:moveTo>
                  <a:pt x="182563" y="190500"/>
                </a:moveTo>
                <a:cubicBezTo>
                  <a:pt x="182563" y="159834"/>
                  <a:pt x="207459" y="134938"/>
                  <a:pt x="238125" y="134938"/>
                </a:cubicBezTo>
                <a:cubicBezTo>
                  <a:pt x="268791" y="134938"/>
                  <a:pt x="293688" y="159834"/>
                  <a:pt x="293688" y="190500"/>
                </a:cubicBezTo>
                <a:cubicBezTo>
                  <a:pt x="293688" y="221166"/>
                  <a:pt x="268791" y="246063"/>
                  <a:pt x="238125" y="246063"/>
                </a:cubicBezTo>
                <a:cubicBezTo>
                  <a:pt x="207459" y="246063"/>
                  <a:pt x="182563" y="221166"/>
                  <a:pt x="182563" y="190500"/>
                </a:cubicBezTo>
                <a:close/>
                <a:moveTo>
                  <a:pt x="508000" y="79375"/>
                </a:moveTo>
                <a:cubicBezTo>
                  <a:pt x="508000" y="70644"/>
                  <a:pt x="500856" y="63500"/>
                  <a:pt x="492125" y="63500"/>
                </a:cubicBezTo>
                <a:cubicBezTo>
                  <a:pt x="483394" y="63500"/>
                  <a:pt x="476250" y="70644"/>
                  <a:pt x="476250" y="79375"/>
                </a:cubicBezTo>
                <a:lnTo>
                  <a:pt x="476250" y="142875"/>
                </a:lnTo>
                <a:cubicBezTo>
                  <a:pt x="476250" y="151606"/>
                  <a:pt x="483394" y="158750"/>
                  <a:pt x="492125" y="158750"/>
                </a:cubicBezTo>
                <a:cubicBezTo>
                  <a:pt x="500856" y="158750"/>
                  <a:pt x="508000" y="151606"/>
                  <a:pt x="508000" y="142875"/>
                </a:cubicBezTo>
                <a:lnTo>
                  <a:pt x="508000" y="79375"/>
                </a:lnTo>
                <a:close/>
                <a:moveTo>
                  <a:pt x="508000" y="206375"/>
                </a:moveTo>
                <a:cubicBezTo>
                  <a:pt x="508000" y="197644"/>
                  <a:pt x="500856" y="190500"/>
                  <a:pt x="492125" y="190500"/>
                </a:cubicBezTo>
                <a:cubicBezTo>
                  <a:pt x="483394" y="190500"/>
                  <a:pt x="476250" y="197644"/>
                  <a:pt x="476250" y="206375"/>
                </a:cubicBezTo>
                <a:lnTo>
                  <a:pt x="476250" y="269875"/>
                </a:lnTo>
                <a:cubicBezTo>
                  <a:pt x="476250" y="278606"/>
                  <a:pt x="483394" y="285750"/>
                  <a:pt x="492125" y="285750"/>
                </a:cubicBezTo>
                <a:cubicBezTo>
                  <a:pt x="500856" y="285750"/>
                  <a:pt x="508000" y="278606"/>
                  <a:pt x="508000" y="269875"/>
                </a:cubicBezTo>
                <a:lnTo>
                  <a:pt x="508000" y="206375"/>
                </a:lnTo>
                <a:close/>
                <a:moveTo>
                  <a:pt x="492125" y="317500"/>
                </a:moveTo>
                <a:cubicBezTo>
                  <a:pt x="483394" y="317500"/>
                  <a:pt x="476250" y="324644"/>
                  <a:pt x="476250" y="333375"/>
                </a:cubicBezTo>
                <a:lnTo>
                  <a:pt x="476250" y="396875"/>
                </a:lnTo>
                <a:cubicBezTo>
                  <a:pt x="476250" y="405606"/>
                  <a:pt x="483394" y="412750"/>
                  <a:pt x="492125" y="412750"/>
                </a:cubicBezTo>
                <a:cubicBezTo>
                  <a:pt x="500856" y="412750"/>
                  <a:pt x="508000" y="405606"/>
                  <a:pt x="508000" y="396875"/>
                </a:cubicBezTo>
                <a:lnTo>
                  <a:pt x="508000" y="333375"/>
                </a:lnTo>
                <a:cubicBezTo>
                  <a:pt x="508000" y="324644"/>
                  <a:pt x="500856" y="317500"/>
                  <a:pt x="492125" y="3175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6223000" y="546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Phone Contact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23000" y="5969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Contact gives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person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Contact is NOT the person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0" y="4572000"/>
            <a:ext cx="4318000" cy="254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12319000" y="482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3375" y="349250"/>
                </a:moveTo>
                <a:cubicBezTo>
                  <a:pt x="429816" y="349250"/>
                  <a:pt x="508000" y="271066"/>
                  <a:pt x="508000" y="174625"/>
                </a:cubicBezTo>
                <a:cubicBezTo>
                  <a:pt x="508000" y="78184"/>
                  <a:pt x="429816" y="0"/>
                  <a:pt x="333375" y="0"/>
                </a:cubicBezTo>
                <a:cubicBezTo>
                  <a:pt x="236934" y="0"/>
                  <a:pt x="158750" y="78184"/>
                  <a:pt x="158750" y="174625"/>
                </a:cubicBezTo>
                <a:cubicBezTo>
                  <a:pt x="158750" y="193179"/>
                  <a:pt x="161627" y="211138"/>
                  <a:pt x="166985" y="227905"/>
                </a:cubicBezTo>
                <a:lnTo>
                  <a:pt x="6945" y="387945"/>
                </a:lnTo>
                <a:cubicBezTo>
                  <a:pt x="2480" y="392410"/>
                  <a:pt x="0" y="398463"/>
                  <a:pt x="0" y="404813"/>
                </a:cubicBezTo>
                <a:lnTo>
                  <a:pt x="0" y="484187"/>
                </a:lnTo>
                <a:cubicBezTo>
                  <a:pt x="0" y="497384"/>
                  <a:pt x="10616" y="508000"/>
                  <a:pt x="23812" y="508000"/>
                </a:cubicBezTo>
                <a:lnTo>
                  <a:pt x="103188" y="508000"/>
                </a:lnTo>
                <a:cubicBezTo>
                  <a:pt x="116384" y="508000"/>
                  <a:pt x="127000" y="497384"/>
                  <a:pt x="127000" y="484187"/>
                </a:cubicBezTo>
                <a:lnTo>
                  <a:pt x="127000" y="444500"/>
                </a:lnTo>
                <a:lnTo>
                  <a:pt x="166688" y="444500"/>
                </a:lnTo>
                <a:cubicBezTo>
                  <a:pt x="179884" y="444500"/>
                  <a:pt x="190500" y="433884"/>
                  <a:pt x="190500" y="420688"/>
                </a:cubicBezTo>
                <a:lnTo>
                  <a:pt x="190500" y="381000"/>
                </a:lnTo>
                <a:lnTo>
                  <a:pt x="230188" y="381000"/>
                </a:lnTo>
                <a:cubicBezTo>
                  <a:pt x="236538" y="381000"/>
                  <a:pt x="242590" y="378520"/>
                  <a:pt x="247055" y="374055"/>
                </a:cubicBezTo>
                <a:lnTo>
                  <a:pt x="280095" y="341015"/>
                </a:lnTo>
                <a:cubicBezTo>
                  <a:pt x="296862" y="346373"/>
                  <a:pt x="314821" y="349250"/>
                  <a:pt x="333375" y="349250"/>
                </a:cubicBezTo>
                <a:close/>
                <a:moveTo>
                  <a:pt x="373063" y="95250"/>
                </a:moveTo>
                <a:cubicBezTo>
                  <a:pt x="394967" y="95250"/>
                  <a:pt x="412750" y="113033"/>
                  <a:pt x="412750" y="134938"/>
                </a:cubicBezTo>
                <a:cubicBezTo>
                  <a:pt x="412750" y="156842"/>
                  <a:pt x="394967" y="174625"/>
                  <a:pt x="373063" y="174625"/>
                </a:cubicBezTo>
                <a:cubicBezTo>
                  <a:pt x="351158" y="174625"/>
                  <a:pt x="333375" y="156842"/>
                  <a:pt x="333375" y="134938"/>
                </a:cubicBezTo>
                <a:cubicBezTo>
                  <a:pt x="333375" y="113033"/>
                  <a:pt x="351158" y="95250"/>
                  <a:pt x="373063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922000" y="546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Point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22000" y="5969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Pointer holds starting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address of the object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70000" y="7493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use the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arrow operator ( -&gt; )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access members through a pointer — same as 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(*ptr).member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to Object — Syntax &amp; Rules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Declaration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ClassName* ptr;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Assignment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 = &amp;object;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 using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 = new ClassName();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Access Members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ptr-&gt;member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(arrow operator)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as: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(*ptr).member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Call Functions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ptr-&gt;function();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350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017000" y="2159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Important Rules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017000" y="2794000"/>
            <a:ext cx="5588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Pointer type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must match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class type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-&gt;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shorthand for dereference + dot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class pointer can point to 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object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ptr;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when allocated with 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Arrow operator is the 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preferred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way in C++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Always initialize pointers — uninitialized pointers cause crashes!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to Object —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6223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1879600"/>
            <a:ext cx="12954000" cy="612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 &lt;iostream&gt;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 name;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rollNo;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show()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cout &lt;&lt;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91CC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"Name: 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name &lt;&lt; endl;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Student s1;  s1.name =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91CC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Student* ptr = &amp;s1;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Pointer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ptr-&gt;rollNo =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101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ptr-&gt;show();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8191500"/>
            <a:ext cx="127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67000" y="819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Name: Ali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to Object — Real Life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349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3283" y="69850"/>
                </a:moveTo>
                <a:cubicBezTo>
                  <a:pt x="23283" y="31323"/>
                  <a:pt x="65048" y="0"/>
                  <a:pt x="116417" y="0"/>
                </a:cubicBezTo>
                <a:lnTo>
                  <a:pt x="442383" y="0"/>
                </a:lnTo>
                <a:cubicBezTo>
                  <a:pt x="493752" y="0"/>
                  <a:pt x="535517" y="31323"/>
                  <a:pt x="535517" y="69850"/>
                </a:cubicBezTo>
                <a:lnTo>
                  <a:pt x="535517" y="488950"/>
                </a:lnTo>
                <a:cubicBezTo>
                  <a:pt x="535517" y="527477"/>
                  <a:pt x="493752" y="558800"/>
                  <a:pt x="442383" y="558800"/>
                </a:cubicBezTo>
                <a:lnTo>
                  <a:pt x="116417" y="558800"/>
                </a:lnTo>
                <a:cubicBezTo>
                  <a:pt x="65048" y="558800"/>
                  <a:pt x="23283" y="527477"/>
                  <a:pt x="23283" y="488950"/>
                </a:cubicBezTo>
                <a:lnTo>
                  <a:pt x="23283" y="69850"/>
                </a:lnTo>
                <a:close/>
                <a:moveTo>
                  <a:pt x="116417" y="69850"/>
                </a:moveTo>
                <a:lnTo>
                  <a:pt x="116417" y="401637"/>
                </a:lnTo>
                <a:lnTo>
                  <a:pt x="442383" y="401637"/>
                </a:lnTo>
                <a:lnTo>
                  <a:pt x="442383" y="69850"/>
                </a:lnTo>
                <a:lnTo>
                  <a:pt x="116417" y="69850"/>
                </a:lnTo>
                <a:close/>
                <a:moveTo>
                  <a:pt x="279400" y="515144"/>
                </a:moveTo>
                <a:cubicBezTo>
                  <a:pt x="305157" y="515144"/>
                  <a:pt x="325967" y="499537"/>
                  <a:pt x="325967" y="480219"/>
                </a:cubicBezTo>
                <a:cubicBezTo>
                  <a:pt x="325967" y="460901"/>
                  <a:pt x="305157" y="445294"/>
                  <a:pt x="279400" y="445294"/>
                </a:cubicBezTo>
                <a:cubicBezTo>
                  <a:pt x="253643" y="445294"/>
                  <a:pt x="232833" y="460901"/>
                  <a:pt x="232833" y="480219"/>
                </a:cubicBezTo>
                <a:cubicBezTo>
                  <a:pt x="232833" y="499537"/>
                  <a:pt x="253643" y="515144"/>
                  <a:pt x="279400" y="515144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2349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Phone Contact Analogy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921000"/>
            <a:ext cx="584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phone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like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stores info to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reach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person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contact is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person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contacts → same person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2000" y="2032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349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303193" y="9386"/>
                </a:moveTo>
                <a:cubicBezTo>
                  <a:pt x="289768" y="-3056"/>
                  <a:pt x="269032" y="-3056"/>
                  <a:pt x="255716" y="9386"/>
                </a:cubicBezTo>
                <a:lnTo>
                  <a:pt x="11241" y="236399"/>
                </a:lnTo>
                <a:cubicBezTo>
                  <a:pt x="764" y="246221"/>
                  <a:pt x="-2729" y="261392"/>
                  <a:pt x="2510" y="274707"/>
                </a:cubicBezTo>
                <a:cubicBezTo>
                  <a:pt x="7749" y="288022"/>
                  <a:pt x="20518" y="296863"/>
                  <a:pt x="34925" y="296863"/>
                </a:cubicBezTo>
                <a:lnTo>
                  <a:pt x="52388" y="296863"/>
                </a:lnTo>
                <a:lnTo>
                  <a:pt x="52388" y="488950"/>
                </a:lnTo>
                <a:cubicBezTo>
                  <a:pt x="52388" y="527477"/>
                  <a:pt x="83711" y="558800"/>
                  <a:pt x="122238" y="558800"/>
                </a:cubicBezTo>
                <a:lnTo>
                  <a:pt x="436563" y="558800"/>
                </a:lnTo>
                <a:cubicBezTo>
                  <a:pt x="475089" y="558800"/>
                  <a:pt x="506413" y="527477"/>
                  <a:pt x="506413" y="488950"/>
                </a:cubicBezTo>
                <a:lnTo>
                  <a:pt x="506413" y="296863"/>
                </a:lnTo>
                <a:lnTo>
                  <a:pt x="523875" y="296863"/>
                </a:lnTo>
                <a:cubicBezTo>
                  <a:pt x="538282" y="296863"/>
                  <a:pt x="551160" y="288022"/>
                  <a:pt x="556399" y="274707"/>
                </a:cubicBezTo>
                <a:cubicBezTo>
                  <a:pt x="561638" y="261392"/>
                  <a:pt x="558145" y="246112"/>
                  <a:pt x="547668" y="236399"/>
                </a:cubicBezTo>
                <a:lnTo>
                  <a:pt x="303193" y="9386"/>
                </a:lnTo>
                <a:close/>
                <a:moveTo>
                  <a:pt x="261938" y="349250"/>
                </a:moveTo>
                <a:lnTo>
                  <a:pt x="296863" y="349250"/>
                </a:lnTo>
                <a:cubicBezTo>
                  <a:pt x="325785" y="349250"/>
                  <a:pt x="349250" y="372715"/>
                  <a:pt x="349250" y="401637"/>
                </a:cubicBezTo>
                <a:lnTo>
                  <a:pt x="349250" y="506413"/>
                </a:lnTo>
                <a:lnTo>
                  <a:pt x="209550" y="506413"/>
                </a:lnTo>
                <a:lnTo>
                  <a:pt x="209550" y="401637"/>
                </a:lnTo>
                <a:cubicBezTo>
                  <a:pt x="209550" y="372715"/>
                  <a:pt x="233015" y="349250"/>
                  <a:pt x="261938" y="3492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0" y="2349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House Address Analogy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921000"/>
            <a:ext cx="584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house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address to find the house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Changing address ≠ changing house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70000" y="5461000"/>
            <a:ext cx="13716000" cy="254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778000" y="577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7482" y="381000"/>
                </a:moveTo>
                <a:cubicBezTo>
                  <a:pt x="397140" y="358874"/>
                  <a:pt x="416454" y="338832"/>
                  <a:pt x="438282" y="321568"/>
                </a:cubicBezTo>
                <a:cubicBezTo>
                  <a:pt x="481542" y="287437"/>
                  <a:pt x="508000" y="241300"/>
                  <a:pt x="508000" y="190500"/>
                </a:cubicBezTo>
                <a:cubicBezTo>
                  <a:pt x="508000" y="85328"/>
                  <a:pt x="394229" y="0"/>
                  <a:pt x="254000" y="0"/>
                </a:cubicBezTo>
                <a:cubicBezTo>
                  <a:pt x="113771" y="0"/>
                  <a:pt x="0" y="85328"/>
                  <a:pt x="0" y="190500"/>
                </a:cubicBezTo>
                <a:cubicBezTo>
                  <a:pt x="0" y="241300"/>
                  <a:pt x="26458" y="287437"/>
                  <a:pt x="69718" y="321568"/>
                </a:cubicBezTo>
                <a:cubicBezTo>
                  <a:pt x="91546" y="338832"/>
                  <a:pt x="110993" y="358874"/>
                  <a:pt x="120518" y="381000"/>
                </a:cubicBezTo>
                <a:lnTo>
                  <a:pt x="387350" y="381000"/>
                </a:lnTo>
                <a:close/>
                <a:moveTo>
                  <a:pt x="381000" y="428625"/>
                </a:moveTo>
                <a:lnTo>
                  <a:pt x="127000" y="428625"/>
                </a:lnTo>
                <a:lnTo>
                  <a:pt x="127000" y="444500"/>
                </a:lnTo>
                <a:cubicBezTo>
                  <a:pt x="127000" y="488355"/>
                  <a:pt x="174360" y="523875"/>
                  <a:pt x="232833" y="523875"/>
                </a:cubicBezTo>
                <a:lnTo>
                  <a:pt x="275167" y="523875"/>
                </a:lnTo>
                <a:cubicBezTo>
                  <a:pt x="333640" y="523875"/>
                  <a:pt x="381000" y="488355"/>
                  <a:pt x="381000" y="444500"/>
                </a:cubicBezTo>
                <a:lnTo>
                  <a:pt x="381000" y="428625"/>
                </a:lnTo>
                <a:close/>
                <a:moveTo>
                  <a:pt x="243417" y="111125"/>
                </a:moveTo>
                <a:cubicBezTo>
                  <a:pt x="190765" y="111125"/>
                  <a:pt x="148167" y="143073"/>
                  <a:pt x="148167" y="182563"/>
                </a:cubicBezTo>
                <a:cubicBezTo>
                  <a:pt x="148167" y="195759"/>
                  <a:pt x="134011" y="206375"/>
                  <a:pt x="116417" y="206375"/>
                </a:cubicBezTo>
                <a:cubicBezTo>
                  <a:pt x="98822" y="206375"/>
                  <a:pt x="84667" y="195759"/>
                  <a:pt x="84667" y="182563"/>
                </a:cubicBezTo>
                <a:cubicBezTo>
                  <a:pt x="84667" y="116780"/>
                  <a:pt x="155707" y="63500"/>
                  <a:pt x="243417" y="63500"/>
                </a:cubicBezTo>
                <a:cubicBezTo>
                  <a:pt x="261011" y="63500"/>
                  <a:pt x="275167" y="74116"/>
                  <a:pt x="275167" y="87313"/>
                </a:cubicBezTo>
                <a:cubicBezTo>
                  <a:pt x="275167" y="100509"/>
                  <a:pt x="261011" y="111125"/>
                  <a:pt x="243417" y="1111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476500" y="5778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78000" y="64135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pointer is just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it tells you WHERE the object is, but it is not the object itself.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Just like knowing someone's address doesn't mean you own their house!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Early Binding?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69976" y="95250"/>
                </a:moveTo>
                <a:cubicBezTo>
                  <a:pt x="355335" y="95250"/>
                  <a:pt x="341136" y="99715"/>
                  <a:pt x="328701" y="107851"/>
                </a:cubicBezTo>
                <a:cubicBezTo>
                  <a:pt x="314766" y="91976"/>
                  <a:pt x="298538" y="78680"/>
                  <a:pt x="280635" y="68659"/>
                </a:cubicBezTo>
                <a:cubicBezTo>
                  <a:pt x="305506" y="44847"/>
                  <a:pt x="337167" y="31750"/>
                  <a:pt x="369976" y="31750"/>
                </a:cubicBezTo>
                <a:cubicBezTo>
                  <a:pt x="446176" y="31750"/>
                  <a:pt x="508000" y="101203"/>
                  <a:pt x="508000" y="187027"/>
                </a:cubicBezTo>
                <a:cubicBezTo>
                  <a:pt x="508000" y="228203"/>
                  <a:pt x="493448" y="267692"/>
                  <a:pt x="467607" y="296763"/>
                </a:cubicBezTo>
                <a:lnTo>
                  <a:pt x="404901" y="367308"/>
                </a:lnTo>
                <a:cubicBezTo>
                  <a:pt x="379060" y="396379"/>
                  <a:pt x="343958" y="412750"/>
                  <a:pt x="307358" y="412750"/>
                </a:cubicBezTo>
                <a:cubicBezTo>
                  <a:pt x="231158" y="412750"/>
                  <a:pt x="169333" y="343297"/>
                  <a:pt x="169333" y="257473"/>
                </a:cubicBezTo>
                <a:cubicBezTo>
                  <a:pt x="169333" y="255984"/>
                  <a:pt x="169333" y="254496"/>
                  <a:pt x="169422" y="253008"/>
                </a:cubicBezTo>
                <a:cubicBezTo>
                  <a:pt x="169863" y="235446"/>
                  <a:pt x="182827" y="221655"/>
                  <a:pt x="198438" y="222151"/>
                </a:cubicBezTo>
                <a:cubicBezTo>
                  <a:pt x="214048" y="222647"/>
                  <a:pt x="226307" y="237232"/>
                  <a:pt x="225866" y="254794"/>
                </a:cubicBezTo>
                <a:cubicBezTo>
                  <a:pt x="225866" y="255687"/>
                  <a:pt x="225866" y="256580"/>
                  <a:pt x="225866" y="257373"/>
                </a:cubicBezTo>
                <a:cubicBezTo>
                  <a:pt x="225866" y="308074"/>
                  <a:pt x="262378" y="349151"/>
                  <a:pt x="307446" y="349151"/>
                </a:cubicBezTo>
                <a:cubicBezTo>
                  <a:pt x="329053" y="349151"/>
                  <a:pt x="349779" y="339527"/>
                  <a:pt x="365125" y="322263"/>
                </a:cubicBezTo>
                <a:lnTo>
                  <a:pt x="427831" y="251718"/>
                </a:lnTo>
                <a:cubicBezTo>
                  <a:pt x="443089" y="234553"/>
                  <a:pt x="451732" y="211138"/>
                  <a:pt x="451732" y="186829"/>
                </a:cubicBezTo>
                <a:cubicBezTo>
                  <a:pt x="451732" y="136128"/>
                  <a:pt x="415219" y="95052"/>
                  <a:pt x="370152" y="95052"/>
                </a:cubicBezTo>
                <a:close/>
                <a:moveTo>
                  <a:pt x="242711" y="171946"/>
                </a:moveTo>
                <a:cubicBezTo>
                  <a:pt x="241035" y="171152"/>
                  <a:pt x="239360" y="170061"/>
                  <a:pt x="237860" y="168870"/>
                </a:cubicBezTo>
                <a:cubicBezTo>
                  <a:pt x="226748" y="162421"/>
                  <a:pt x="214048" y="158750"/>
                  <a:pt x="200731" y="158750"/>
                </a:cubicBezTo>
                <a:cubicBezTo>
                  <a:pt x="179123" y="158750"/>
                  <a:pt x="158397" y="168374"/>
                  <a:pt x="143051" y="185638"/>
                </a:cubicBezTo>
                <a:lnTo>
                  <a:pt x="80345" y="256183"/>
                </a:lnTo>
                <a:cubicBezTo>
                  <a:pt x="65088" y="273348"/>
                  <a:pt x="56444" y="296763"/>
                  <a:pt x="56444" y="321072"/>
                </a:cubicBezTo>
                <a:cubicBezTo>
                  <a:pt x="56444" y="371773"/>
                  <a:pt x="92957" y="412849"/>
                  <a:pt x="138024" y="412849"/>
                </a:cubicBezTo>
                <a:cubicBezTo>
                  <a:pt x="152576" y="412849"/>
                  <a:pt x="166776" y="408484"/>
                  <a:pt x="179211" y="400348"/>
                </a:cubicBezTo>
                <a:cubicBezTo>
                  <a:pt x="193146" y="416223"/>
                  <a:pt x="209374" y="429518"/>
                  <a:pt x="227365" y="439539"/>
                </a:cubicBezTo>
                <a:cubicBezTo>
                  <a:pt x="202494" y="463252"/>
                  <a:pt x="170921" y="476448"/>
                  <a:pt x="138024" y="476448"/>
                </a:cubicBezTo>
                <a:cubicBezTo>
                  <a:pt x="61824" y="476448"/>
                  <a:pt x="0" y="406995"/>
                  <a:pt x="0" y="321171"/>
                </a:cubicBezTo>
                <a:cubicBezTo>
                  <a:pt x="0" y="279995"/>
                  <a:pt x="14552" y="240506"/>
                  <a:pt x="40393" y="211435"/>
                </a:cubicBezTo>
                <a:lnTo>
                  <a:pt x="103099" y="140891"/>
                </a:lnTo>
                <a:cubicBezTo>
                  <a:pt x="128940" y="111820"/>
                  <a:pt x="164042" y="95448"/>
                  <a:pt x="200642" y="95448"/>
                </a:cubicBezTo>
                <a:cubicBezTo>
                  <a:pt x="277019" y="95448"/>
                  <a:pt x="338667" y="165497"/>
                  <a:pt x="338667" y="251123"/>
                </a:cubicBezTo>
                <a:cubicBezTo>
                  <a:pt x="338667" y="252413"/>
                  <a:pt x="338667" y="253702"/>
                  <a:pt x="338667" y="254992"/>
                </a:cubicBezTo>
                <a:cubicBezTo>
                  <a:pt x="338314" y="272554"/>
                  <a:pt x="325349" y="286345"/>
                  <a:pt x="309739" y="285948"/>
                </a:cubicBezTo>
                <a:cubicBezTo>
                  <a:pt x="294128" y="285552"/>
                  <a:pt x="281869" y="270966"/>
                  <a:pt x="282222" y="253405"/>
                </a:cubicBezTo>
                <a:cubicBezTo>
                  <a:pt x="282222" y="252611"/>
                  <a:pt x="282222" y="251916"/>
                  <a:pt x="282222" y="251123"/>
                </a:cubicBezTo>
                <a:cubicBezTo>
                  <a:pt x="282222" y="217686"/>
                  <a:pt x="266347" y="188317"/>
                  <a:pt x="242711" y="17214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03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 (Static Binding)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49500" y="2476500"/>
            <a:ext cx="1231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Binding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means the compiler decides which function to call at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 time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function call is linked to the function body during compilation. This is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behavior in C++.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70000" y="368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Also called: Compile-time Polymorphism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70000" y="4318000"/>
            <a:ext cx="4318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1000" y="457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520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24000" y="5715000"/>
            <a:ext cx="381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Fast execution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 runtime overhead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Simple to understand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Error detection at compile time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69000" y="4318000"/>
            <a:ext cx="4318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20000" y="457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165695" y="165695"/>
                </a:moveTo>
                <a:cubicBezTo>
                  <a:pt x="175022" y="156369"/>
                  <a:pt x="190103" y="156369"/>
                  <a:pt x="199330" y="165695"/>
                </a:cubicBezTo>
                <a:lnTo>
                  <a:pt x="253901" y="220266"/>
                </a:lnTo>
                <a:lnTo>
                  <a:pt x="308471" y="165695"/>
                </a:lnTo>
                <a:cubicBezTo>
                  <a:pt x="317798" y="156369"/>
                  <a:pt x="332879" y="156369"/>
                  <a:pt x="342106" y="165695"/>
                </a:cubicBezTo>
                <a:cubicBezTo>
                  <a:pt x="351334" y="175022"/>
                  <a:pt x="351433" y="190103"/>
                  <a:pt x="342106" y="199330"/>
                </a:cubicBezTo>
                <a:lnTo>
                  <a:pt x="287536" y="253901"/>
                </a:lnTo>
                <a:lnTo>
                  <a:pt x="342106" y="308471"/>
                </a:lnTo>
                <a:cubicBezTo>
                  <a:pt x="351433" y="317798"/>
                  <a:pt x="351433" y="332879"/>
                  <a:pt x="342106" y="342106"/>
                </a:cubicBezTo>
                <a:cubicBezTo>
                  <a:pt x="332780" y="351334"/>
                  <a:pt x="317698" y="351433"/>
                  <a:pt x="308471" y="342106"/>
                </a:cubicBezTo>
                <a:lnTo>
                  <a:pt x="253901" y="287536"/>
                </a:lnTo>
                <a:lnTo>
                  <a:pt x="199330" y="342106"/>
                </a:lnTo>
                <a:cubicBezTo>
                  <a:pt x="190004" y="351433"/>
                  <a:pt x="174923" y="351433"/>
                  <a:pt x="165695" y="342106"/>
                </a:cubicBezTo>
                <a:cubicBezTo>
                  <a:pt x="156468" y="332780"/>
                  <a:pt x="156369" y="317698"/>
                  <a:pt x="165695" y="308471"/>
                </a:cubicBezTo>
                <a:lnTo>
                  <a:pt x="220266" y="253901"/>
                </a:lnTo>
                <a:lnTo>
                  <a:pt x="165695" y="199330"/>
                </a:lnTo>
                <a:cubicBezTo>
                  <a:pt x="156369" y="190004"/>
                  <a:pt x="156369" y="174923"/>
                  <a:pt x="165695" y="165695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15" name="Text 13"/>
          <p:cNvSpPr/>
          <p:nvPr/>
        </p:nvSpPr>
        <p:spPr>
          <a:xfrm>
            <a:off x="6223000" y="520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Disadvantages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23000" y="5715000"/>
            <a:ext cx="381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43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Less flexible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43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Cannot decide at runtime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43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Base ptr calls base function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43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Limits extensibility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0" y="4318000"/>
            <a:ext cx="4318000" cy="355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12319000" y="457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8206" y="1191"/>
                </a:moveTo>
                <a:cubicBezTo>
                  <a:pt x="303213" y="-3671"/>
                  <a:pt x="287602" y="6152"/>
                  <a:pt x="283281" y="23019"/>
                </a:cubicBezTo>
                <a:lnTo>
                  <a:pt x="170392" y="467519"/>
                </a:lnTo>
                <a:cubicBezTo>
                  <a:pt x="166070" y="484386"/>
                  <a:pt x="174801" y="501948"/>
                  <a:pt x="189794" y="506809"/>
                </a:cubicBezTo>
                <a:cubicBezTo>
                  <a:pt x="204787" y="511671"/>
                  <a:pt x="220398" y="501848"/>
                  <a:pt x="224719" y="484981"/>
                </a:cubicBezTo>
                <a:lnTo>
                  <a:pt x="337608" y="40481"/>
                </a:lnTo>
                <a:cubicBezTo>
                  <a:pt x="341930" y="23614"/>
                  <a:pt x="333199" y="6052"/>
                  <a:pt x="318206" y="1191"/>
                </a:cubicBezTo>
                <a:close/>
                <a:moveTo>
                  <a:pt x="375179" y="136227"/>
                </a:moveTo>
                <a:cubicBezTo>
                  <a:pt x="364155" y="148630"/>
                  <a:pt x="364155" y="168771"/>
                  <a:pt x="375179" y="181173"/>
                </a:cubicBezTo>
                <a:lnTo>
                  <a:pt x="439914" y="254000"/>
                </a:lnTo>
                <a:lnTo>
                  <a:pt x="375179" y="326827"/>
                </a:lnTo>
                <a:cubicBezTo>
                  <a:pt x="364155" y="339229"/>
                  <a:pt x="364155" y="359370"/>
                  <a:pt x="375179" y="371773"/>
                </a:cubicBezTo>
                <a:cubicBezTo>
                  <a:pt x="386203" y="384175"/>
                  <a:pt x="404107" y="384175"/>
                  <a:pt x="415131" y="371773"/>
                </a:cubicBezTo>
                <a:lnTo>
                  <a:pt x="499798" y="276523"/>
                </a:lnTo>
                <a:cubicBezTo>
                  <a:pt x="510822" y="264120"/>
                  <a:pt x="510822" y="243979"/>
                  <a:pt x="499798" y="231577"/>
                </a:cubicBezTo>
                <a:lnTo>
                  <a:pt x="415131" y="136327"/>
                </a:lnTo>
                <a:cubicBezTo>
                  <a:pt x="404107" y="123924"/>
                  <a:pt x="386203" y="123924"/>
                  <a:pt x="375179" y="136327"/>
                </a:cubicBezTo>
                <a:close/>
                <a:moveTo>
                  <a:pt x="132909" y="136227"/>
                </a:moveTo>
                <a:cubicBezTo>
                  <a:pt x="121885" y="123825"/>
                  <a:pt x="103981" y="123825"/>
                  <a:pt x="92957" y="136227"/>
                </a:cubicBezTo>
                <a:lnTo>
                  <a:pt x="8290" y="231477"/>
                </a:lnTo>
                <a:cubicBezTo>
                  <a:pt x="-2734" y="243880"/>
                  <a:pt x="-2734" y="264021"/>
                  <a:pt x="8290" y="276423"/>
                </a:cubicBezTo>
                <a:lnTo>
                  <a:pt x="92957" y="371673"/>
                </a:lnTo>
                <a:cubicBezTo>
                  <a:pt x="103981" y="384076"/>
                  <a:pt x="121885" y="384076"/>
                  <a:pt x="132909" y="371673"/>
                </a:cubicBezTo>
                <a:cubicBezTo>
                  <a:pt x="143933" y="359271"/>
                  <a:pt x="143933" y="339130"/>
                  <a:pt x="132909" y="326727"/>
                </a:cubicBezTo>
                <a:lnTo>
                  <a:pt x="68174" y="254000"/>
                </a:lnTo>
                <a:lnTo>
                  <a:pt x="132821" y="181173"/>
                </a:lnTo>
                <a:cubicBezTo>
                  <a:pt x="143845" y="168771"/>
                  <a:pt x="143845" y="148630"/>
                  <a:pt x="132821" y="1362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922000" y="520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When It Happens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22000" y="5715000"/>
            <a:ext cx="381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Normal function calls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Function overloading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Operator overloading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Default C++ behavior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Binding — How It Works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651000" y="2286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2286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16000" y="3302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Compiler sees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obj.show()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94000" y="2667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318000" y="2286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4318000" y="2286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83000" y="3302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Checks type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61000" y="2667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985000" y="2286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6985000" y="2286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50000" y="3302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Links call to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that class's func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28000" y="2667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9652000" y="2286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9652000" y="2286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17000" y="3302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 runtime,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executes directly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795000" y="2667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319000" y="2286000"/>
            <a:ext cx="889000" cy="8890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09500" y="247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3032" y="69552"/>
                </a:moveTo>
                <a:cubicBezTo>
                  <a:pt x="509247" y="79871"/>
                  <a:pt x="512876" y="99715"/>
                  <a:pt x="501083" y="113903"/>
                </a:cubicBezTo>
                <a:lnTo>
                  <a:pt x="210797" y="463153"/>
                </a:lnTo>
                <a:cubicBezTo>
                  <a:pt x="204561" y="470694"/>
                  <a:pt x="194922" y="475357"/>
                  <a:pt x="184263" y="476151"/>
                </a:cubicBezTo>
                <a:cubicBezTo>
                  <a:pt x="173604" y="476945"/>
                  <a:pt x="163286" y="473472"/>
                  <a:pt x="155802" y="466923"/>
                </a:cubicBezTo>
                <a:lnTo>
                  <a:pt x="10659" y="339923"/>
                </a:lnTo>
                <a:cubicBezTo>
                  <a:pt x="-3515" y="327521"/>
                  <a:pt x="-3515" y="307380"/>
                  <a:pt x="10659" y="294977"/>
                </a:cubicBezTo>
                <a:cubicBezTo>
                  <a:pt x="24833" y="282575"/>
                  <a:pt x="47852" y="282575"/>
                  <a:pt x="62026" y="294977"/>
                </a:cubicBezTo>
                <a:lnTo>
                  <a:pt x="177120" y="395684"/>
                </a:lnTo>
                <a:lnTo>
                  <a:pt x="442459" y="76498"/>
                </a:lnTo>
                <a:cubicBezTo>
                  <a:pt x="454252" y="62309"/>
                  <a:pt x="476930" y="59134"/>
                  <a:pt x="493146" y="694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684000" y="3302000"/>
            <a:ext cx="2159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Done!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runtime decision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70000" y="4699000"/>
            <a:ext cx="13716000" cy="330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51000" y="495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0038" y="314325"/>
                </a:moveTo>
                <a:cubicBezTo>
                  <a:pt x="386834" y="314325"/>
                  <a:pt x="457200" y="243959"/>
                  <a:pt x="457200" y="157163"/>
                </a:cubicBezTo>
                <a:cubicBezTo>
                  <a:pt x="457200" y="70366"/>
                  <a:pt x="386834" y="0"/>
                  <a:pt x="300038" y="0"/>
                </a:cubicBezTo>
                <a:cubicBezTo>
                  <a:pt x="213241" y="0"/>
                  <a:pt x="142875" y="70366"/>
                  <a:pt x="142875" y="157163"/>
                </a:cubicBezTo>
                <a:cubicBezTo>
                  <a:pt x="142875" y="173861"/>
                  <a:pt x="145465" y="190024"/>
                  <a:pt x="150287" y="205115"/>
                </a:cubicBezTo>
                <a:lnTo>
                  <a:pt x="6251" y="349151"/>
                </a:lnTo>
                <a:cubicBezTo>
                  <a:pt x="2232" y="353169"/>
                  <a:pt x="0" y="358616"/>
                  <a:pt x="0" y="364331"/>
                </a:cubicBezTo>
                <a:lnTo>
                  <a:pt x="0" y="435769"/>
                </a:lnTo>
                <a:cubicBezTo>
                  <a:pt x="0" y="447645"/>
                  <a:pt x="9555" y="457200"/>
                  <a:pt x="21431" y="457200"/>
                </a:cubicBezTo>
                <a:lnTo>
                  <a:pt x="92869" y="457200"/>
                </a:lnTo>
                <a:cubicBezTo>
                  <a:pt x="104745" y="457200"/>
                  <a:pt x="114300" y="447645"/>
                  <a:pt x="114300" y="435769"/>
                </a:cubicBezTo>
                <a:lnTo>
                  <a:pt x="114300" y="400050"/>
                </a:lnTo>
                <a:lnTo>
                  <a:pt x="150019" y="400050"/>
                </a:lnTo>
                <a:cubicBezTo>
                  <a:pt x="161895" y="400050"/>
                  <a:pt x="171450" y="390495"/>
                  <a:pt x="171450" y="378619"/>
                </a:cubicBezTo>
                <a:lnTo>
                  <a:pt x="171450" y="342900"/>
                </a:lnTo>
                <a:lnTo>
                  <a:pt x="207169" y="342900"/>
                </a:lnTo>
                <a:cubicBezTo>
                  <a:pt x="212884" y="342900"/>
                  <a:pt x="218331" y="340668"/>
                  <a:pt x="222349" y="336649"/>
                </a:cubicBezTo>
                <a:lnTo>
                  <a:pt x="252085" y="306913"/>
                </a:lnTo>
                <a:cubicBezTo>
                  <a:pt x="267176" y="311735"/>
                  <a:pt x="283339" y="314325"/>
                  <a:pt x="300038" y="314325"/>
                </a:cubicBezTo>
                <a:close/>
                <a:moveTo>
                  <a:pt x="335756" y="85725"/>
                </a:moveTo>
                <a:cubicBezTo>
                  <a:pt x="355470" y="85725"/>
                  <a:pt x="371475" y="101730"/>
                  <a:pt x="371475" y="121444"/>
                </a:cubicBezTo>
                <a:cubicBezTo>
                  <a:pt x="371475" y="141157"/>
                  <a:pt x="355470" y="157163"/>
                  <a:pt x="335756" y="157163"/>
                </a:cubicBezTo>
                <a:cubicBezTo>
                  <a:pt x="316043" y="157163"/>
                  <a:pt x="300038" y="141157"/>
                  <a:pt x="300038" y="121444"/>
                </a:cubicBezTo>
                <a:cubicBezTo>
                  <a:pt x="300038" y="101730"/>
                  <a:pt x="316043" y="85725"/>
                  <a:pt x="335756" y="857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4953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51000" y="5588000"/>
            <a:ext cx="1295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binding (connection) between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call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body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happens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at compile time.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compiler looks at the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type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the actual object type, to decide which function to call.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means: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Base* ptr = new Derived(); ptr-&gt;show();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calls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Base::show()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(not Derived::show())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Binding —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8382000" cy="6223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1587500" y="1879600"/>
            <a:ext cx="7747000" cy="615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 &lt;iostream&gt;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{ cout &lt;&lt;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91CC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"Shape"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Shape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{ cout &lt;&lt;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91CC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"Circle"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Shape* ptr =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Circle();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ptr-&gt;draw();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Output?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0" y="1841500"/>
            <a:ext cx="4826000" cy="622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4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1176000" y="2159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Problem!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41000" y="2857500"/>
            <a:ext cx="406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Drawing Shape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"Drawing Circle"!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Why? Because compiler binds based on 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type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(Shape*), not the 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actual object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(Circle).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541000" y="6858000"/>
            <a:ext cx="4064000" cy="1143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10731500" y="69850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is the PROBLEM that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 Functions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solve!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Binding — Real Life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604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349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69741" y="15716"/>
                </a:moveTo>
                <a:cubicBezTo>
                  <a:pt x="68868" y="6767"/>
                  <a:pt x="61337" y="0"/>
                  <a:pt x="52388" y="0"/>
                </a:cubicBezTo>
                <a:cubicBezTo>
                  <a:pt x="43438" y="0"/>
                  <a:pt x="35907" y="6767"/>
                  <a:pt x="34925" y="15607"/>
                </a:cubicBezTo>
                <a:lnTo>
                  <a:pt x="19536" y="163384"/>
                </a:lnTo>
                <a:cubicBezTo>
                  <a:pt x="18117" y="169932"/>
                  <a:pt x="17463" y="176590"/>
                  <a:pt x="17463" y="183247"/>
                </a:cubicBezTo>
                <a:cubicBezTo>
                  <a:pt x="17463" y="233343"/>
                  <a:pt x="55771" y="274489"/>
                  <a:pt x="104775" y="278963"/>
                </a:cubicBezTo>
                <a:lnTo>
                  <a:pt x="104775" y="523875"/>
                </a:lnTo>
                <a:cubicBezTo>
                  <a:pt x="104775" y="543193"/>
                  <a:pt x="120382" y="558800"/>
                  <a:pt x="139700" y="558800"/>
                </a:cubicBezTo>
                <a:cubicBezTo>
                  <a:pt x="159018" y="558800"/>
                  <a:pt x="174625" y="543193"/>
                  <a:pt x="174625" y="523875"/>
                </a:cubicBezTo>
                <a:lnTo>
                  <a:pt x="174625" y="278963"/>
                </a:lnTo>
                <a:cubicBezTo>
                  <a:pt x="223629" y="274489"/>
                  <a:pt x="261938" y="233343"/>
                  <a:pt x="261938" y="183247"/>
                </a:cubicBezTo>
                <a:cubicBezTo>
                  <a:pt x="261938" y="176590"/>
                  <a:pt x="261283" y="169932"/>
                  <a:pt x="259864" y="163384"/>
                </a:cubicBezTo>
                <a:lnTo>
                  <a:pt x="244366" y="15607"/>
                </a:lnTo>
                <a:cubicBezTo>
                  <a:pt x="243493" y="6767"/>
                  <a:pt x="235962" y="0"/>
                  <a:pt x="227013" y="0"/>
                </a:cubicBezTo>
                <a:cubicBezTo>
                  <a:pt x="218063" y="0"/>
                  <a:pt x="210532" y="6767"/>
                  <a:pt x="209659" y="15716"/>
                </a:cubicBezTo>
                <a:lnTo>
                  <a:pt x="194816" y="163602"/>
                </a:lnTo>
                <a:cubicBezTo>
                  <a:pt x="194161" y="169823"/>
                  <a:pt x="188922" y="174625"/>
                  <a:pt x="182701" y="174625"/>
                </a:cubicBezTo>
                <a:cubicBezTo>
                  <a:pt x="176371" y="174625"/>
                  <a:pt x="171133" y="169823"/>
                  <a:pt x="170478" y="163493"/>
                </a:cubicBezTo>
                <a:lnTo>
                  <a:pt x="157053" y="15935"/>
                </a:lnTo>
                <a:cubicBezTo>
                  <a:pt x="156289" y="6876"/>
                  <a:pt x="148759" y="0"/>
                  <a:pt x="139700" y="0"/>
                </a:cubicBezTo>
                <a:cubicBezTo>
                  <a:pt x="130641" y="0"/>
                  <a:pt x="123111" y="6876"/>
                  <a:pt x="122347" y="15935"/>
                </a:cubicBezTo>
                <a:lnTo>
                  <a:pt x="108922" y="163493"/>
                </a:lnTo>
                <a:cubicBezTo>
                  <a:pt x="108377" y="169823"/>
                  <a:pt x="103029" y="174625"/>
                  <a:pt x="96699" y="174625"/>
                </a:cubicBezTo>
                <a:cubicBezTo>
                  <a:pt x="90368" y="174625"/>
                  <a:pt x="85130" y="169823"/>
                  <a:pt x="84584" y="163602"/>
                </a:cubicBezTo>
                <a:lnTo>
                  <a:pt x="69741" y="15716"/>
                </a:lnTo>
                <a:close/>
                <a:moveTo>
                  <a:pt x="488950" y="0"/>
                </a:moveTo>
                <a:cubicBezTo>
                  <a:pt x="471488" y="0"/>
                  <a:pt x="349250" y="34925"/>
                  <a:pt x="349250" y="192088"/>
                </a:cubicBezTo>
                <a:lnTo>
                  <a:pt x="349250" y="314325"/>
                </a:lnTo>
                <a:cubicBezTo>
                  <a:pt x="349250" y="352852"/>
                  <a:pt x="380573" y="384175"/>
                  <a:pt x="419100" y="384175"/>
                </a:cubicBezTo>
                <a:lnTo>
                  <a:pt x="454025" y="384175"/>
                </a:lnTo>
                <a:lnTo>
                  <a:pt x="454025" y="523875"/>
                </a:lnTo>
                <a:cubicBezTo>
                  <a:pt x="454025" y="543193"/>
                  <a:pt x="469632" y="558800"/>
                  <a:pt x="488950" y="558800"/>
                </a:cubicBezTo>
                <a:cubicBezTo>
                  <a:pt x="508268" y="558800"/>
                  <a:pt x="523875" y="543193"/>
                  <a:pt x="523875" y="523875"/>
                </a:cubicBezTo>
                <a:lnTo>
                  <a:pt x="523875" y="34925"/>
                </a:lnTo>
                <a:cubicBezTo>
                  <a:pt x="523875" y="15607"/>
                  <a:pt x="508268" y="0"/>
                  <a:pt x="488950" y="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2349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Analogy 1: Restaurant Menu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984500"/>
            <a:ext cx="584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printed menu is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advance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"Burger" → kitchen knows what to make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flexibility to change at "runtime"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= compiled code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2000" y="2032000"/>
            <a:ext cx="6604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349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104775"/>
                </a:moveTo>
                <a:cubicBezTo>
                  <a:pt x="0" y="46930"/>
                  <a:pt x="62574" y="0"/>
                  <a:pt x="139700" y="0"/>
                </a:cubicBezTo>
                <a:lnTo>
                  <a:pt x="419100" y="0"/>
                </a:lnTo>
                <a:cubicBezTo>
                  <a:pt x="496226" y="0"/>
                  <a:pt x="558800" y="46930"/>
                  <a:pt x="558800" y="104775"/>
                </a:cubicBezTo>
                <a:lnTo>
                  <a:pt x="558800" y="384175"/>
                </a:lnTo>
                <a:cubicBezTo>
                  <a:pt x="558800" y="427940"/>
                  <a:pt x="523002" y="465485"/>
                  <a:pt x="472215" y="481092"/>
                </a:cubicBezTo>
                <a:lnTo>
                  <a:pt x="550651" y="550614"/>
                </a:lnTo>
                <a:cubicBezTo>
                  <a:pt x="563166" y="561638"/>
                  <a:pt x="561274" y="578227"/>
                  <a:pt x="546576" y="587504"/>
                </a:cubicBezTo>
                <a:cubicBezTo>
                  <a:pt x="531879" y="596781"/>
                  <a:pt x="509759" y="595471"/>
                  <a:pt x="497390" y="584448"/>
                </a:cubicBezTo>
                <a:lnTo>
                  <a:pt x="389705" y="488950"/>
                </a:lnTo>
                <a:lnTo>
                  <a:pt x="169532" y="488950"/>
                </a:lnTo>
                <a:lnTo>
                  <a:pt x="61846" y="584448"/>
                </a:lnTo>
                <a:cubicBezTo>
                  <a:pt x="49332" y="595471"/>
                  <a:pt x="27358" y="596890"/>
                  <a:pt x="12660" y="587504"/>
                </a:cubicBezTo>
                <a:cubicBezTo>
                  <a:pt x="-2037" y="578118"/>
                  <a:pt x="-3929" y="561638"/>
                  <a:pt x="8586" y="550614"/>
                </a:cubicBezTo>
                <a:lnTo>
                  <a:pt x="87021" y="481092"/>
                </a:lnTo>
                <a:cubicBezTo>
                  <a:pt x="35798" y="465485"/>
                  <a:pt x="0" y="427940"/>
                  <a:pt x="0" y="384175"/>
                </a:cubicBezTo>
                <a:lnTo>
                  <a:pt x="0" y="104775"/>
                </a:lnTo>
                <a:close/>
                <a:moveTo>
                  <a:pt x="93133" y="139700"/>
                </a:moveTo>
                <a:lnTo>
                  <a:pt x="93133" y="244475"/>
                </a:lnTo>
                <a:cubicBezTo>
                  <a:pt x="93133" y="263793"/>
                  <a:pt x="113943" y="279400"/>
                  <a:pt x="139700" y="279400"/>
                </a:cubicBezTo>
                <a:lnTo>
                  <a:pt x="419100" y="279400"/>
                </a:lnTo>
                <a:cubicBezTo>
                  <a:pt x="444857" y="279400"/>
                  <a:pt x="465667" y="263793"/>
                  <a:pt x="465667" y="244475"/>
                </a:cubicBezTo>
                <a:lnTo>
                  <a:pt x="465667" y="139700"/>
                </a:lnTo>
                <a:cubicBezTo>
                  <a:pt x="465667" y="120382"/>
                  <a:pt x="444857" y="104775"/>
                  <a:pt x="419100" y="104775"/>
                </a:cubicBezTo>
                <a:lnTo>
                  <a:pt x="139700" y="104775"/>
                </a:lnTo>
                <a:cubicBezTo>
                  <a:pt x="113943" y="104775"/>
                  <a:pt x="93133" y="120382"/>
                  <a:pt x="93133" y="139700"/>
                </a:cubicBezTo>
                <a:close/>
                <a:moveTo>
                  <a:pt x="279400" y="419100"/>
                </a:moveTo>
                <a:cubicBezTo>
                  <a:pt x="305101" y="419100"/>
                  <a:pt x="325967" y="403451"/>
                  <a:pt x="325967" y="384175"/>
                </a:cubicBezTo>
                <a:cubicBezTo>
                  <a:pt x="325967" y="364899"/>
                  <a:pt x="305101" y="349250"/>
                  <a:pt x="279400" y="349250"/>
                </a:cubicBezTo>
                <a:cubicBezTo>
                  <a:pt x="253699" y="349250"/>
                  <a:pt x="232833" y="364899"/>
                  <a:pt x="232833" y="384175"/>
                </a:cubicBezTo>
                <a:cubicBezTo>
                  <a:pt x="232833" y="403451"/>
                  <a:pt x="253699" y="419100"/>
                  <a:pt x="279400" y="4191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0" y="2349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Analogy 2: Train Tracks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984500"/>
            <a:ext cx="584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tracks are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before the journey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path is decided in advance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change route during travel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Tracks = early binding, GPS = late binding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70000" y="5588000"/>
            <a:ext cx="13716000" cy="254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7780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74320" y="28575"/>
                </a:moveTo>
                <a:lnTo>
                  <a:pt x="365760" y="28575"/>
                </a:lnTo>
                <a:cubicBezTo>
                  <a:pt x="378404" y="28575"/>
                  <a:pt x="388620" y="41344"/>
                  <a:pt x="388620" y="57150"/>
                </a:cubicBezTo>
                <a:cubicBezTo>
                  <a:pt x="388620" y="72956"/>
                  <a:pt x="378404" y="85725"/>
                  <a:pt x="365760" y="85725"/>
                </a:cubicBezTo>
                <a:lnTo>
                  <a:pt x="284607" y="85725"/>
                </a:lnTo>
                <a:cubicBezTo>
                  <a:pt x="280892" y="108764"/>
                  <a:pt x="268248" y="127784"/>
                  <a:pt x="251460" y="136892"/>
                </a:cubicBezTo>
                <a:lnTo>
                  <a:pt x="251460" y="400050"/>
                </a:lnTo>
                <a:lnTo>
                  <a:pt x="365760" y="400050"/>
                </a:lnTo>
                <a:cubicBezTo>
                  <a:pt x="378404" y="400050"/>
                  <a:pt x="388620" y="412819"/>
                  <a:pt x="388620" y="428625"/>
                </a:cubicBezTo>
                <a:cubicBezTo>
                  <a:pt x="388620" y="444431"/>
                  <a:pt x="378404" y="457200"/>
                  <a:pt x="365760" y="457200"/>
                </a:cubicBezTo>
                <a:lnTo>
                  <a:pt x="91440" y="457200"/>
                </a:lnTo>
                <a:cubicBezTo>
                  <a:pt x="78796" y="457200"/>
                  <a:pt x="68580" y="444431"/>
                  <a:pt x="68580" y="428625"/>
                </a:cubicBezTo>
                <a:cubicBezTo>
                  <a:pt x="68580" y="412819"/>
                  <a:pt x="78796" y="400050"/>
                  <a:pt x="91440" y="400050"/>
                </a:cubicBezTo>
                <a:lnTo>
                  <a:pt x="205740" y="400050"/>
                </a:lnTo>
                <a:lnTo>
                  <a:pt x="205740" y="136892"/>
                </a:lnTo>
                <a:cubicBezTo>
                  <a:pt x="188952" y="127695"/>
                  <a:pt x="176308" y="108674"/>
                  <a:pt x="172593" y="85725"/>
                </a:cubicBezTo>
                <a:lnTo>
                  <a:pt x="91440" y="85725"/>
                </a:lnTo>
                <a:cubicBezTo>
                  <a:pt x="78796" y="85725"/>
                  <a:pt x="68580" y="72956"/>
                  <a:pt x="68580" y="57150"/>
                </a:cubicBezTo>
                <a:cubicBezTo>
                  <a:pt x="68580" y="41344"/>
                  <a:pt x="78796" y="28575"/>
                  <a:pt x="91440" y="28575"/>
                </a:cubicBezTo>
                <a:lnTo>
                  <a:pt x="182880" y="28575"/>
                </a:lnTo>
                <a:cubicBezTo>
                  <a:pt x="193310" y="11251"/>
                  <a:pt x="209883" y="0"/>
                  <a:pt x="228600" y="0"/>
                </a:cubicBezTo>
                <a:cubicBezTo>
                  <a:pt x="247317" y="0"/>
                  <a:pt x="263890" y="11251"/>
                  <a:pt x="274320" y="28575"/>
                </a:cubicBezTo>
                <a:close/>
                <a:moveTo>
                  <a:pt x="314039" y="285750"/>
                </a:moveTo>
                <a:lnTo>
                  <a:pt x="417481" y="285750"/>
                </a:lnTo>
                <a:lnTo>
                  <a:pt x="365760" y="174843"/>
                </a:lnTo>
                <a:lnTo>
                  <a:pt x="314039" y="285750"/>
                </a:lnTo>
                <a:close/>
                <a:moveTo>
                  <a:pt x="365760" y="371475"/>
                </a:moveTo>
                <a:cubicBezTo>
                  <a:pt x="320826" y="371475"/>
                  <a:pt x="283464" y="341114"/>
                  <a:pt x="275749" y="301020"/>
                </a:cubicBezTo>
                <a:cubicBezTo>
                  <a:pt x="273891" y="291197"/>
                  <a:pt x="276463" y="281107"/>
                  <a:pt x="280535" y="272355"/>
                </a:cubicBezTo>
                <a:lnTo>
                  <a:pt x="348544" y="126623"/>
                </a:lnTo>
                <a:cubicBezTo>
                  <a:pt x="352115" y="118943"/>
                  <a:pt x="358688" y="114300"/>
                  <a:pt x="365760" y="114300"/>
                </a:cubicBezTo>
                <a:cubicBezTo>
                  <a:pt x="372832" y="114300"/>
                  <a:pt x="379405" y="119033"/>
                  <a:pt x="382976" y="126623"/>
                </a:cubicBezTo>
                <a:lnTo>
                  <a:pt x="450985" y="272355"/>
                </a:lnTo>
                <a:cubicBezTo>
                  <a:pt x="455057" y="281107"/>
                  <a:pt x="457629" y="291197"/>
                  <a:pt x="455771" y="301020"/>
                </a:cubicBezTo>
                <a:cubicBezTo>
                  <a:pt x="448056" y="341025"/>
                  <a:pt x="410694" y="371475"/>
                  <a:pt x="365760" y="371475"/>
                </a:cubicBezTo>
                <a:close/>
                <a:moveTo>
                  <a:pt x="90583" y="174843"/>
                </a:moveTo>
                <a:lnTo>
                  <a:pt x="38862" y="285750"/>
                </a:lnTo>
                <a:lnTo>
                  <a:pt x="142375" y="285750"/>
                </a:lnTo>
                <a:lnTo>
                  <a:pt x="90583" y="174843"/>
                </a:lnTo>
                <a:close/>
                <a:moveTo>
                  <a:pt x="643" y="301020"/>
                </a:moveTo>
                <a:cubicBezTo>
                  <a:pt x="-1214" y="291197"/>
                  <a:pt x="1357" y="281107"/>
                  <a:pt x="5429" y="272355"/>
                </a:cubicBezTo>
                <a:lnTo>
                  <a:pt x="73438" y="126623"/>
                </a:lnTo>
                <a:cubicBezTo>
                  <a:pt x="77010" y="118943"/>
                  <a:pt x="83582" y="114300"/>
                  <a:pt x="90654" y="114300"/>
                </a:cubicBezTo>
                <a:cubicBezTo>
                  <a:pt x="97727" y="114300"/>
                  <a:pt x="104299" y="119033"/>
                  <a:pt x="107871" y="126623"/>
                </a:cubicBezTo>
                <a:lnTo>
                  <a:pt x="175879" y="272355"/>
                </a:lnTo>
                <a:cubicBezTo>
                  <a:pt x="179951" y="281107"/>
                  <a:pt x="182523" y="291197"/>
                  <a:pt x="180665" y="301020"/>
                </a:cubicBezTo>
                <a:cubicBezTo>
                  <a:pt x="172950" y="341025"/>
                  <a:pt x="135588" y="371475"/>
                  <a:pt x="90654" y="371475"/>
                </a:cubicBezTo>
                <a:cubicBezTo>
                  <a:pt x="45720" y="371475"/>
                  <a:pt x="8358" y="341114"/>
                  <a:pt x="643" y="30102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413000" y="5905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vs Late Binding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78000" y="65405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Binding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Fixed train tracks (path decided before journey starts)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Late Binding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GPS navigation (can change route based on real-time traffic)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19 — 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651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20955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to object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stores the memory address of a class object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510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8575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arrow operator ( -&gt; 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access members through a pointer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51000" y="368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36195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Binding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compiler decides which function at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 time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651000" y="444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43815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binding is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flexible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651000" y="520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51435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class pointer calls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class function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(even with derived object)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651000" y="596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221139"/>
                </a:moveTo>
                <a:cubicBezTo>
                  <a:pt x="408861" y="211217"/>
                  <a:pt x="408861" y="195104"/>
                  <a:pt x="398939" y="185182"/>
                </a:cubicBezTo>
                <a:lnTo>
                  <a:pt x="271939" y="58182"/>
                </a:lnTo>
                <a:cubicBezTo>
                  <a:pt x="262017" y="48260"/>
                  <a:pt x="245904" y="48260"/>
                  <a:pt x="235982" y="58182"/>
                </a:cubicBezTo>
                <a:cubicBezTo>
                  <a:pt x="226060" y="68104"/>
                  <a:pt x="226060" y="84217"/>
                  <a:pt x="235982" y="94139"/>
                </a:cubicBezTo>
                <a:lnTo>
                  <a:pt x="319643" y="177800"/>
                </a:ln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319643" y="228600"/>
                </a:lnTo>
                <a:lnTo>
                  <a:pt x="235982" y="312261"/>
                </a:lnTo>
                <a:cubicBezTo>
                  <a:pt x="226060" y="322183"/>
                  <a:pt x="226060" y="338296"/>
                  <a:pt x="235982" y="348218"/>
                </a:cubicBezTo>
                <a:cubicBezTo>
                  <a:pt x="245904" y="358140"/>
                  <a:pt x="262017" y="358140"/>
                  <a:pt x="271939" y="348218"/>
                </a:cubicBezTo>
                <a:lnTo>
                  <a:pt x="398939" y="221218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59055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limitation leads us to the need for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FUNCTIONS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70000" y="6985000"/>
            <a:ext cx="13716000" cy="101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651000" y="723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94680" y="350242"/>
                </a:moveTo>
                <a:cubicBezTo>
                  <a:pt x="285353" y="359569"/>
                  <a:pt x="270272" y="359569"/>
                  <a:pt x="261045" y="350242"/>
                </a:cubicBezTo>
                <a:cubicBezTo>
                  <a:pt x="251817" y="340916"/>
                  <a:pt x="251718" y="325834"/>
                  <a:pt x="261045" y="316607"/>
                </a:cubicBezTo>
                <a:lnTo>
                  <a:pt x="299740" y="277912"/>
                </a:lnTo>
                <a:lnTo>
                  <a:pt x="150813" y="277912"/>
                </a:lnTo>
                <a:cubicBezTo>
                  <a:pt x="137616" y="277912"/>
                  <a:pt x="127000" y="267295"/>
                  <a:pt x="127000" y="254099"/>
                </a:cubicBezTo>
                <a:cubicBezTo>
                  <a:pt x="127000" y="240903"/>
                  <a:pt x="137616" y="230287"/>
                  <a:pt x="150813" y="230287"/>
                </a:cubicBezTo>
                <a:lnTo>
                  <a:pt x="299740" y="230287"/>
                </a:lnTo>
                <a:lnTo>
                  <a:pt x="261045" y="191591"/>
                </a:lnTo>
                <a:cubicBezTo>
                  <a:pt x="251718" y="182265"/>
                  <a:pt x="251718" y="167184"/>
                  <a:pt x="261045" y="157956"/>
                </a:cubicBezTo>
                <a:cubicBezTo>
                  <a:pt x="270371" y="148729"/>
                  <a:pt x="285452" y="148630"/>
                  <a:pt x="294680" y="157956"/>
                </a:cubicBezTo>
                <a:lnTo>
                  <a:pt x="374055" y="237331"/>
                </a:lnTo>
                <a:cubicBezTo>
                  <a:pt x="383381" y="246658"/>
                  <a:pt x="383381" y="261739"/>
                  <a:pt x="374055" y="270966"/>
                </a:cubicBezTo>
                <a:lnTo>
                  <a:pt x="294680" y="35034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349500" y="7112000"/>
            <a:ext cx="1219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Coming Up Next:</a:t>
            </a:r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Lecture 20 — Polymorphism with Virtual Functions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2794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70000" y="3746500"/>
            <a:ext cx="13716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L20: Polymorphism &amp; Virtual Functions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83000" y="5016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runtime polymorphism and the virtual keyword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Polymorphism?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Poly</a:t>
            </a:r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Many  +  </a:t>
            </a:r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Morph</a:t>
            </a:r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Forms  →  </a:t>
            </a:r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Many Forms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70000" y="3175000"/>
            <a:ext cx="13716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51000" y="33020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C++,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means one function name behaves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differently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different situations. Same interface, different implementations.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70000" y="4826000"/>
            <a:ext cx="4318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10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246063"/>
                </a:moveTo>
                <a:cubicBezTo>
                  <a:pt x="329100" y="246063"/>
                  <a:pt x="390071" y="192712"/>
                  <a:pt x="390071" y="127000"/>
                </a:cubicBezTo>
                <a:cubicBezTo>
                  <a:pt x="390071" y="61288"/>
                  <a:pt x="329100" y="7938"/>
                  <a:pt x="254000" y="7938"/>
                </a:cubicBezTo>
                <a:cubicBezTo>
                  <a:pt x="178900" y="7938"/>
                  <a:pt x="117929" y="61288"/>
                  <a:pt x="117929" y="127000"/>
                </a:cubicBezTo>
                <a:cubicBezTo>
                  <a:pt x="117929" y="192712"/>
                  <a:pt x="178900" y="246063"/>
                  <a:pt x="254000" y="246063"/>
                </a:cubicBezTo>
                <a:close/>
                <a:moveTo>
                  <a:pt x="220322" y="301625"/>
                </a:moveTo>
                <a:cubicBezTo>
                  <a:pt x="108630" y="301625"/>
                  <a:pt x="18143" y="380802"/>
                  <a:pt x="18143" y="478532"/>
                </a:cubicBezTo>
                <a:cubicBezTo>
                  <a:pt x="18143" y="494804"/>
                  <a:pt x="33224" y="508000"/>
                  <a:pt x="51821" y="508000"/>
                </a:cubicBezTo>
                <a:lnTo>
                  <a:pt x="456179" y="508000"/>
                </a:lnTo>
                <a:cubicBezTo>
                  <a:pt x="474776" y="508000"/>
                  <a:pt x="489857" y="494804"/>
                  <a:pt x="489857" y="478532"/>
                </a:cubicBezTo>
                <a:cubicBezTo>
                  <a:pt x="489857" y="380802"/>
                  <a:pt x="399370" y="301625"/>
                  <a:pt x="287678" y="301625"/>
                </a:cubicBezTo>
                <a:lnTo>
                  <a:pt x="220322" y="30162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571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Life Example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24000" y="6159500"/>
            <a:ext cx="381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"person" can be a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Student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Teacher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Doctor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Parent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Same person, many roles!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69000" y="4826000"/>
            <a:ext cx="4318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200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8206" y="1191"/>
                </a:moveTo>
                <a:cubicBezTo>
                  <a:pt x="303213" y="-3671"/>
                  <a:pt x="287602" y="6152"/>
                  <a:pt x="283281" y="23019"/>
                </a:cubicBezTo>
                <a:lnTo>
                  <a:pt x="170392" y="467519"/>
                </a:lnTo>
                <a:cubicBezTo>
                  <a:pt x="166070" y="484386"/>
                  <a:pt x="174801" y="501948"/>
                  <a:pt x="189794" y="506809"/>
                </a:cubicBezTo>
                <a:cubicBezTo>
                  <a:pt x="204787" y="511671"/>
                  <a:pt x="220398" y="501848"/>
                  <a:pt x="224719" y="484981"/>
                </a:cubicBezTo>
                <a:lnTo>
                  <a:pt x="337608" y="40481"/>
                </a:lnTo>
                <a:cubicBezTo>
                  <a:pt x="341930" y="23614"/>
                  <a:pt x="333199" y="6052"/>
                  <a:pt x="318206" y="1191"/>
                </a:cubicBezTo>
                <a:close/>
                <a:moveTo>
                  <a:pt x="375179" y="136227"/>
                </a:moveTo>
                <a:cubicBezTo>
                  <a:pt x="364155" y="148630"/>
                  <a:pt x="364155" y="168771"/>
                  <a:pt x="375179" y="181173"/>
                </a:cubicBezTo>
                <a:lnTo>
                  <a:pt x="439914" y="254000"/>
                </a:lnTo>
                <a:lnTo>
                  <a:pt x="375179" y="326827"/>
                </a:lnTo>
                <a:cubicBezTo>
                  <a:pt x="364155" y="339229"/>
                  <a:pt x="364155" y="359370"/>
                  <a:pt x="375179" y="371773"/>
                </a:cubicBezTo>
                <a:cubicBezTo>
                  <a:pt x="386203" y="384175"/>
                  <a:pt x="404107" y="384175"/>
                  <a:pt x="415131" y="371773"/>
                </a:cubicBezTo>
                <a:lnTo>
                  <a:pt x="499798" y="276523"/>
                </a:lnTo>
                <a:cubicBezTo>
                  <a:pt x="510822" y="264120"/>
                  <a:pt x="510822" y="243979"/>
                  <a:pt x="499798" y="231577"/>
                </a:cubicBezTo>
                <a:lnTo>
                  <a:pt x="415131" y="136327"/>
                </a:lnTo>
                <a:cubicBezTo>
                  <a:pt x="404107" y="123924"/>
                  <a:pt x="386203" y="123924"/>
                  <a:pt x="375179" y="136327"/>
                </a:cubicBezTo>
                <a:close/>
                <a:moveTo>
                  <a:pt x="132909" y="136227"/>
                </a:moveTo>
                <a:cubicBezTo>
                  <a:pt x="121885" y="123825"/>
                  <a:pt x="103981" y="123825"/>
                  <a:pt x="92957" y="136227"/>
                </a:cubicBezTo>
                <a:lnTo>
                  <a:pt x="8290" y="231477"/>
                </a:lnTo>
                <a:cubicBezTo>
                  <a:pt x="-2734" y="243880"/>
                  <a:pt x="-2734" y="264021"/>
                  <a:pt x="8290" y="276423"/>
                </a:cubicBezTo>
                <a:lnTo>
                  <a:pt x="92957" y="371673"/>
                </a:lnTo>
                <a:cubicBezTo>
                  <a:pt x="103981" y="384076"/>
                  <a:pt x="121885" y="384076"/>
                  <a:pt x="132909" y="371673"/>
                </a:cubicBezTo>
                <a:cubicBezTo>
                  <a:pt x="143933" y="359271"/>
                  <a:pt x="143933" y="339130"/>
                  <a:pt x="132909" y="326727"/>
                </a:cubicBezTo>
                <a:lnTo>
                  <a:pt x="68174" y="254000"/>
                </a:lnTo>
                <a:lnTo>
                  <a:pt x="132821" y="181173"/>
                </a:lnTo>
                <a:cubicBezTo>
                  <a:pt x="143845" y="168771"/>
                  <a:pt x="143845" y="148630"/>
                  <a:pt x="132821" y="136227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6223000" y="571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 Programming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23000" y="6159500"/>
            <a:ext cx="381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 function call can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different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functions based on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actual object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68000" y="4826000"/>
            <a:ext cx="4318000" cy="304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123190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7482" y="381000"/>
                </a:moveTo>
                <a:cubicBezTo>
                  <a:pt x="397140" y="358874"/>
                  <a:pt x="416454" y="338832"/>
                  <a:pt x="438282" y="321568"/>
                </a:cubicBezTo>
                <a:cubicBezTo>
                  <a:pt x="481542" y="287437"/>
                  <a:pt x="508000" y="241300"/>
                  <a:pt x="508000" y="190500"/>
                </a:cubicBezTo>
                <a:cubicBezTo>
                  <a:pt x="508000" y="85328"/>
                  <a:pt x="394229" y="0"/>
                  <a:pt x="254000" y="0"/>
                </a:cubicBezTo>
                <a:cubicBezTo>
                  <a:pt x="113771" y="0"/>
                  <a:pt x="0" y="85328"/>
                  <a:pt x="0" y="190500"/>
                </a:cubicBezTo>
                <a:cubicBezTo>
                  <a:pt x="0" y="241300"/>
                  <a:pt x="26458" y="287437"/>
                  <a:pt x="69718" y="321568"/>
                </a:cubicBezTo>
                <a:cubicBezTo>
                  <a:pt x="91546" y="338832"/>
                  <a:pt x="110993" y="358874"/>
                  <a:pt x="120518" y="381000"/>
                </a:cubicBezTo>
                <a:lnTo>
                  <a:pt x="387350" y="381000"/>
                </a:lnTo>
                <a:close/>
                <a:moveTo>
                  <a:pt x="381000" y="428625"/>
                </a:moveTo>
                <a:lnTo>
                  <a:pt x="127000" y="428625"/>
                </a:lnTo>
                <a:lnTo>
                  <a:pt x="127000" y="444500"/>
                </a:lnTo>
                <a:cubicBezTo>
                  <a:pt x="127000" y="488355"/>
                  <a:pt x="174360" y="523875"/>
                  <a:pt x="232833" y="523875"/>
                </a:cubicBezTo>
                <a:lnTo>
                  <a:pt x="275167" y="523875"/>
                </a:lnTo>
                <a:cubicBezTo>
                  <a:pt x="333640" y="523875"/>
                  <a:pt x="381000" y="488355"/>
                  <a:pt x="381000" y="444500"/>
                </a:cubicBezTo>
                <a:lnTo>
                  <a:pt x="381000" y="428625"/>
                </a:lnTo>
                <a:close/>
                <a:moveTo>
                  <a:pt x="243417" y="111125"/>
                </a:moveTo>
                <a:cubicBezTo>
                  <a:pt x="190765" y="111125"/>
                  <a:pt x="148167" y="143073"/>
                  <a:pt x="148167" y="182563"/>
                </a:cubicBezTo>
                <a:cubicBezTo>
                  <a:pt x="148167" y="195759"/>
                  <a:pt x="134011" y="206375"/>
                  <a:pt x="116417" y="206375"/>
                </a:cubicBezTo>
                <a:cubicBezTo>
                  <a:pt x="98822" y="206375"/>
                  <a:pt x="84667" y="195759"/>
                  <a:pt x="84667" y="182563"/>
                </a:cubicBezTo>
                <a:cubicBezTo>
                  <a:pt x="84667" y="116780"/>
                  <a:pt x="155707" y="63500"/>
                  <a:pt x="243417" y="63500"/>
                </a:cubicBezTo>
                <a:cubicBezTo>
                  <a:pt x="261011" y="63500"/>
                  <a:pt x="275167" y="74116"/>
                  <a:pt x="275167" y="87313"/>
                </a:cubicBezTo>
                <a:cubicBezTo>
                  <a:pt x="275167" y="100509"/>
                  <a:pt x="261011" y="111125"/>
                  <a:pt x="243417" y="1111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922000" y="571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Idea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22000" y="6159500"/>
            <a:ext cx="381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Two types in C++: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Compile-time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(overloading)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Runtime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(overriding)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 virtual functions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Polymorphism in C++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ubicBezTo>
                  <a:pt x="0" y="113814"/>
                  <a:pt x="113814" y="0"/>
                  <a:pt x="254000" y="0"/>
                </a:cubicBezTo>
                <a:close/>
                <a:moveTo>
                  <a:pt x="230188" y="119063"/>
                </a:moveTo>
                <a:lnTo>
                  <a:pt x="230188" y="254000"/>
                </a:lnTo>
                <a:cubicBezTo>
                  <a:pt x="230188" y="261937"/>
                  <a:pt x="234156" y="269379"/>
                  <a:pt x="240804" y="273844"/>
                </a:cubicBezTo>
                <a:lnTo>
                  <a:pt x="336054" y="337344"/>
                </a:lnTo>
                <a:cubicBezTo>
                  <a:pt x="346968" y="344686"/>
                  <a:pt x="361752" y="341709"/>
                  <a:pt x="369094" y="330696"/>
                </a:cubicBezTo>
                <a:cubicBezTo>
                  <a:pt x="376436" y="319683"/>
                  <a:pt x="373459" y="304998"/>
                  <a:pt x="362446" y="297656"/>
                </a:cubicBezTo>
                <a:lnTo>
                  <a:pt x="277813" y="241300"/>
                </a:lnTo>
                <a:lnTo>
                  <a:pt x="277813" y="119063"/>
                </a:lnTo>
                <a:cubicBezTo>
                  <a:pt x="277813" y="105866"/>
                  <a:pt x="267196" y="95250"/>
                  <a:pt x="254000" y="95250"/>
                </a:cubicBezTo>
                <a:cubicBezTo>
                  <a:pt x="240804" y="95250"/>
                  <a:pt x="230188" y="105866"/>
                  <a:pt x="230188" y="11906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22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Compile-time Polymorphism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Binding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decided at compile time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51000" y="3429000"/>
            <a:ext cx="5842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Function Overloading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function name, different parameters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 print(int x)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 print(string s)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Operator Overloading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operator, different behavior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adds numbers, concatenates strings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Faster, but less flexible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0" y="1905000"/>
            <a:ext cx="6604000" cy="5969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8763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186829" y="145951"/>
                </a:moveTo>
                <a:cubicBezTo>
                  <a:pt x="179288" y="150118"/>
                  <a:pt x="174625" y="158155"/>
                  <a:pt x="174625" y="166688"/>
                </a:cubicBezTo>
                <a:lnTo>
                  <a:pt x="174625" y="341313"/>
                </a:lnTo>
                <a:cubicBezTo>
                  <a:pt x="174625" y="349945"/>
                  <a:pt x="179288" y="357882"/>
                  <a:pt x="186829" y="362049"/>
                </a:cubicBezTo>
                <a:cubicBezTo>
                  <a:pt x="194370" y="366216"/>
                  <a:pt x="203498" y="366117"/>
                  <a:pt x="210939" y="361553"/>
                </a:cubicBezTo>
                <a:lnTo>
                  <a:pt x="353814" y="274241"/>
                </a:lnTo>
                <a:cubicBezTo>
                  <a:pt x="360859" y="269875"/>
                  <a:pt x="365224" y="262235"/>
                  <a:pt x="365224" y="253901"/>
                </a:cubicBezTo>
                <a:cubicBezTo>
                  <a:pt x="365224" y="245566"/>
                  <a:pt x="360859" y="237927"/>
                  <a:pt x="353814" y="233561"/>
                </a:cubicBezTo>
                <a:lnTo>
                  <a:pt x="210939" y="146248"/>
                </a:lnTo>
                <a:cubicBezTo>
                  <a:pt x="203597" y="141784"/>
                  <a:pt x="194370" y="141585"/>
                  <a:pt x="186829" y="1457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461500" y="2222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Runtime Polymorphism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763000" y="2857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Late Binding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decided at runtime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63000" y="3429000"/>
            <a:ext cx="584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 Overriding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Derived class redefines base class function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Achieved using: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 FUNCTIONS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 void show()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 base class + override in derived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Flexible, extensible code!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Virtual Functions?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95387" y="12105"/>
                </a:moveTo>
                <a:lnTo>
                  <a:pt x="307876" y="99616"/>
                </a:lnTo>
                <a:lnTo>
                  <a:pt x="408384" y="200124"/>
                </a:lnTo>
                <a:lnTo>
                  <a:pt x="495895" y="112613"/>
                </a:lnTo>
                <a:cubicBezTo>
                  <a:pt x="503634" y="104775"/>
                  <a:pt x="508000" y="94258"/>
                  <a:pt x="508000" y="83344"/>
                </a:cubicBezTo>
                <a:cubicBezTo>
                  <a:pt x="508000" y="72430"/>
                  <a:pt x="503634" y="61913"/>
                  <a:pt x="495895" y="54074"/>
                </a:cubicBezTo>
                <a:lnTo>
                  <a:pt x="453926" y="12105"/>
                </a:lnTo>
                <a:cubicBezTo>
                  <a:pt x="446088" y="4366"/>
                  <a:pt x="435570" y="0"/>
                  <a:pt x="424656" y="0"/>
                </a:cubicBezTo>
                <a:cubicBezTo>
                  <a:pt x="413742" y="0"/>
                  <a:pt x="403225" y="4366"/>
                  <a:pt x="395387" y="12105"/>
                </a:cubicBezTo>
                <a:close/>
                <a:moveTo>
                  <a:pt x="274241" y="133251"/>
                </a:moveTo>
                <a:lnTo>
                  <a:pt x="12105" y="395387"/>
                </a:lnTo>
                <a:cubicBezTo>
                  <a:pt x="4366" y="403225"/>
                  <a:pt x="0" y="413742"/>
                  <a:pt x="0" y="424656"/>
                </a:cubicBezTo>
                <a:cubicBezTo>
                  <a:pt x="0" y="435570"/>
                  <a:pt x="4366" y="446088"/>
                  <a:pt x="12105" y="453926"/>
                </a:cubicBezTo>
                <a:lnTo>
                  <a:pt x="54074" y="495895"/>
                </a:lnTo>
                <a:cubicBezTo>
                  <a:pt x="61913" y="503634"/>
                  <a:pt x="72430" y="508000"/>
                  <a:pt x="83344" y="508000"/>
                </a:cubicBezTo>
                <a:cubicBezTo>
                  <a:pt x="94258" y="508000"/>
                  <a:pt x="104775" y="503634"/>
                  <a:pt x="112613" y="495895"/>
                </a:cubicBezTo>
                <a:lnTo>
                  <a:pt x="374749" y="233759"/>
                </a:lnTo>
                <a:lnTo>
                  <a:pt x="274241" y="13325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095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49500" y="2476500"/>
            <a:ext cx="1231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function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function in the base class declared with the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keyword. When called through a base pointer,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class version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executes — decided at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9370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40640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functionName() { ... }   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 base class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5334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70000" y="5969000"/>
            <a:ext cx="3175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70000" y="6032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0500" y="6477000"/>
            <a:ext cx="279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Declare function as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 base class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26000" y="5969000"/>
            <a:ext cx="3175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6000" y="6032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16500" y="6477000"/>
            <a:ext cx="279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Override it in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derived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class with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same signature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2000" y="5969000"/>
            <a:ext cx="3175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82000" y="6032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72500" y="6477000"/>
            <a:ext cx="279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Call through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pointer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points to derived obj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938000" y="5969000"/>
            <a:ext cx="3048000" cy="203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4CAF50"/>
              </a:gs>
              <a:gs pos="100000">
                <a:srgbClr val="66BB6A"/>
              </a:gs>
            </a:gsLst>
            <a:lin ang="810000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11938000" y="6032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065000" y="6477000"/>
            <a:ext cx="279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Derived class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 runs!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Runtime decision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Virtual Functions Work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460500" y="2032000"/>
            <a:ext cx="762000" cy="762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460500" y="2032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349500" y="2032000"/>
            <a:ext cx="1244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Compiler creates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Table (VTable)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each class with virtual functions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60500" y="3048000"/>
            <a:ext cx="762000" cy="762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3048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49500" y="3048000"/>
            <a:ext cx="1244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object gets a hidden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VPTR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(Virtual Pointer) pointing to its class's VTable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60500" y="4064000"/>
            <a:ext cx="762000" cy="762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4064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49500" y="4064000"/>
            <a:ext cx="1244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runtime, program follows: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VPTR → VTable → correct function address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460500" y="5080000"/>
            <a:ext cx="762000" cy="762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5080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349500" y="5080000"/>
            <a:ext cx="1244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actual object's type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decides which function executes —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magic!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70000" y="6223000"/>
            <a:ext cx="13716000" cy="1778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51000" y="6604000"/>
            <a:ext cx="2286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1651000" y="6604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Pointer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91000" y="6985000"/>
            <a:ext cx="1016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5461000" y="6604000"/>
            <a:ext cx="2286000" cy="889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5461000" y="6604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Derived Object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01000" y="6985000"/>
            <a:ext cx="1016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9271000" y="6604000"/>
            <a:ext cx="1778000" cy="88900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9271000" y="6604000"/>
            <a:ext cx="177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VPTR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303000" y="69850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2319000" y="6604000"/>
            <a:ext cx="2286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27" name="Text 25"/>
          <p:cNvSpPr/>
          <p:nvPr/>
        </p:nvSpPr>
        <p:spPr>
          <a:xfrm>
            <a:off x="12319000" y="6604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Derived Func()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68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Functions — Code Example (Part 1)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6223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2032000"/>
            <a:ext cx="12954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 &lt;iostream&gt;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makeSound()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cout&lt;&lt;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91CC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"Animal"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&lt;&lt;endl;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Dog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makeSound() { cout&lt;&lt;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91CC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"Woof!"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&lt;&lt;endl;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makeSound() { cout&lt;&lt;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91CC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"Meow!"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&lt;&lt;endl;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68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Functions — Code Example (Part 2)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8382000" cy="469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1587500" y="2032000"/>
            <a:ext cx="7747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Animal* ptr;  Dog d;  Cat c;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ptr = &amp;d;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ptr-&gt;makeSound();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Woof!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ptr = &amp;c;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ptr-&gt;makeSound();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Meow!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0" y="1841500"/>
            <a:ext cx="4826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4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394" y="105906"/>
                </a:moveTo>
                <a:cubicBezTo>
                  <a:pt x="-2768" y="94744"/>
                  <a:pt x="-2768" y="76617"/>
                  <a:pt x="8394" y="65455"/>
                </a:cubicBezTo>
                <a:cubicBezTo>
                  <a:pt x="19556" y="54293"/>
                  <a:pt x="37683" y="54293"/>
                  <a:pt x="48845" y="65455"/>
                </a:cubicBezTo>
                <a:lnTo>
                  <a:pt x="191720" y="208330"/>
                </a:lnTo>
                <a:cubicBezTo>
                  <a:pt x="202883" y="219492"/>
                  <a:pt x="202883" y="237619"/>
                  <a:pt x="191720" y="248781"/>
                </a:cubicBezTo>
                <a:lnTo>
                  <a:pt x="48845" y="391656"/>
                </a:lnTo>
                <a:cubicBezTo>
                  <a:pt x="37683" y="402818"/>
                  <a:pt x="19556" y="402818"/>
                  <a:pt x="8394" y="391656"/>
                </a:cubicBezTo>
                <a:cubicBezTo>
                  <a:pt x="-2768" y="380494"/>
                  <a:pt x="-2768" y="362367"/>
                  <a:pt x="8394" y="351205"/>
                </a:cubicBezTo>
                <a:lnTo>
                  <a:pt x="130999" y="228600"/>
                </a:lnTo>
                <a:lnTo>
                  <a:pt x="8394" y="105906"/>
                </a:lnTo>
                <a:close/>
                <a:moveTo>
                  <a:pt x="200025" y="342900"/>
                </a:moveTo>
                <a:lnTo>
                  <a:pt x="428625" y="342900"/>
                </a:lnTo>
                <a:cubicBezTo>
                  <a:pt x="444431" y="342900"/>
                  <a:pt x="457200" y="355669"/>
                  <a:pt x="457200" y="371475"/>
                </a:cubicBezTo>
                <a:cubicBezTo>
                  <a:pt x="457200" y="387281"/>
                  <a:pt x="444431" y="400050"/>
                  <a:pt x="428625" y="400050"/>
                </a:cubicBezTo>
                <a:lnTo>
                  <a:pt x="200025" y="400050"/>
                </a:lnTo>
                <a:cubicBezTo>
                  <a:pt x="184219" y="400050"/>
                  <a:pt x="171450" y="387281"/>
                  <a:pt x="171450" y="371475"/>
                </a:cubicBezTo>
                <a:cubicBezTo>
                  <a:pt x="171450" y="355669"/>
                  <a:pt x="184219" y="342900"/>
                  <a:pt x="200025" y="3429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1176000" y="2159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41000" y="2857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Woof! Woof!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Meow! Meow!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41000" y="4381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call: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ptr-&gt;makeSound()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 different output!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That's the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virtual functions!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70000" y="6921500"/>
            <a:ext cx="13716000" cy="101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1651000" y="70485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actual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object type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(Dog/Cat) decides which function runs — NOT the pointer type (Animal*)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Functions — Real Life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13716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349500"/>
            <a:ext cx="558800" cy="5588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2349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Analogy 1: Universal Remote Control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984500"/>
            <a:ext cx="1295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"Power"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button on the remote — but each TV responds differently: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Samsung TV → Shows Samsung logo  ● LG TV → Shows LG animation  ● Sony TV → Shows Sony splash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remote (base pointer) is the same, but the TV (actual object) decides what happens!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5334000"/>
            <a:ext cx="13716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51000" y="5651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cubicBezTo>
                  <a:pt x="291624" y="0"/>
                  <a:pt x="303084" y="6439"/>
                  <a:pt x="309305" y="16917"/>
                </a:cubicBezTo>
                <a:lnTo>
                  <a:pt x="414080" y="191542"/>
                </a:lnTo>
                <a:cubicBezTo>
                  <a:pt x="420519" y="202347"/>
                  <a:pt x="420737" y="215771"/>
                  <a:pt x="414516" y="226685"/>
                </a:cubicBezTo>
                <a:cubicBezTo>
                  <a:pt x="408295" y="237599"/>
                  <a:pt x="396726" y="244475"/>
                  <a:pt x="384175" y="244475"/>
                </a:cubicBezTo>
                <a:lnTo>
                  <a:pt x="174625" y="244475"/>
                </a:lnTo>
                <a:cubicBezTo>
                  <a:pt x="162074" y="244475"/>
                  <a:pt x="150396" y="237708"/>
                  <a:pt x="144284" y="226794"/>
                </a:cubicBezTo>
                <a:cubicBezTo>
                  <a:pt x="138172" y="215880"/>
                  <a:pt x="138281" y="202456"/>
                  <a:pt x="144720" y="191651"/>
                </a:cubicBezTo>
                <a:lnTo>
                  <a:pt x="249495" y="17026"/>
                </a:lnTo>
                <a:cubicBezTo>
                  <a:pt x="255716" y="6439"/>
                  <a:pt x="267176" y="0"/>
                  <a:pt x="279400" y="0"/>
                </a:cubicBezTo>
                <a:close/>
                <a:moveTo>
                  <a:pt x="139700" y="296863"/>
                </a:moveTo>
                <a:cubicBezTo>
                  <a:pt x="207165" y="296863"/>
                  <a:pt x="261938" y="351635"/>
                  <a:pt x="261938" y="419100"/>
                </a:cubicBezTo>
                <a:cubicBezTo>
                  <a:pt x="261938" y="486565"/>
                  <a:pt x="207165" y="541338"/>
                  <a:pt x="139700" y="541338"/>
                </a:cubicBezTo>
                <a:cubicBezTo>
                  <a:pt x="72235" y="541338"/>
                  <a:pt x="17463" y="486565"/>
                  <a:pt x="17463" y="419100"/>
                </a:cubicBezTo>
                <a:cubicBezTo>
                  <a:pt x="17463" y="351635"/>
                  <a:pt x="72235" y="296863"/>
                  <a:pt x="139700" y="296863"/>
                </a:cubicBezTo>
                <a:close/>
                <a:moveTo>
                  <a:pt x="357981" y="314325"/>
                </a:moveTo>
                <a:lnTo>
                  <a:pt x="480219" y="314325"/>
                </a:lnTo>
                <a:cubicBezTo>
                  <a:pt x="504339" y="314325"/>
                  <a:pt x="523875" y="333861"/>
                  <a:pt x="523875" y="357981"/>
                </a:cubicBezTo>
                <a:lnTo>
                  <a:pt x="523875" y="480219"/>
                </a:lnTo>
                <a:cubicBezTo>
                  <a:pt x="523875" y="504339"/>
                  <a:pt x="504339" y="523875"/>
                  <a:pt x="480219" y="523875"/>
                </a:cubicBezTo>
                <a:lnTo>
                  <a:pt x="357981" y="523875"/>
                </a:lnTo>
                <a:cubicBezTo>
                  <a:pt x="333861" y="523875"/>
                  <a:pt x="314325" y="504339"/>
                  <a:pt x="314325" y="480219"/>
                </a:cubicBezTo>
                <a:lnTo>
                  <a:pt x="314325" y="357981"/>
                </a:lnTo>
                <a:cubicBezTo>
                  <a:pt x="314325" y="333861"/>
                  <a:pt x="333861" y="314325"/>
                  <a:pt x="357981" y="3143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2413000" y="5651500"/>
            <a:ext cx="685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Analogy 2: "Draw" Command in Graphics Software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51000" y="6286500"/>
            <a:ext cx="1295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click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"Draw"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but what appears depends on the selected tool: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Circle tool → draws a circle  ● Rectangle tool → draws a rectangle  ● Line tool → draws a line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"Draw" action, different results based on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actual tool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selected!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19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Implementation — Shape Drawing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6223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2032000"/>
            <a:ext cx="12954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 &lt;iostream&gt;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{ cout&lt;&lt;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91CC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"Shape"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&lt;&lt;endl;}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area() {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Shape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{ cout&lt;&lt;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91CC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"Rectangle"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&lt;&lt;endl;}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Shape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{ cout&lt;&lt;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91CC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"Circle"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&lt;&lt;endl;}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renderShape(Shape* s){s-&gt;draw();}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— Output &amp; Explanation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3302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1968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main() function: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24000" y="2349500"/>
            <a:ext cx="6096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Shape* s1 =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Rectangle();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Shape* s2 =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Circle();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renderShape(s1);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renderShape(s2);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1905000"/>
            <a:ext cx="6604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63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394" y="105906"/>
                </a:moveTo>
                <a:cubicBezTo>
                  <a:pt x="-2768" y="94744"/>
                  <a:pt x="-2768" y="76617"/>
                  <a:pt x="8394" y="65455"/>
                </a:cubicBezTo>
                <a:cubicBezTo>
                  <a:pt x="19556" y="54293"/>
                  <a:pt x="37683" y="54293"/>
                  <a:pt x="48845" y="65455"/>
                </a:cubicBezTo>
                <a:lnTo>
                  <a:pt x="191720" y="208330"/>
                </a:lnTo>
                <a:cubicBezTo>
                  <a:pt x="202883" y="219492"/>
                  <a:pt x="202883" y="237619"/>
                  <a:pt x="191720" y="248781"/>
                </a:cubicBezTo>
                <a:lnTo>
                  <a:pt x="48845" y="391656"/>
                </a:lnTo>
                <a:cubicBezTo>
                  <a:pt x="37683" y="402818"/>
                  <a:pt x="19556" y="402818"/>
                  <a:pt x="8394" y="391656"/>
                </a:cubicBezTo>
                <a:cubicBezTo>
                  <a:pt x="-2768" y="380494"/>
                  <a:pt x="-2768" y="362367"/>
                  <a:pt x="8394" y="351205"/>
                </a:cubicBezTo>
                <a:lnTo>
                  <a:pt x="130999" y="228600"/>
                </a:lnTo>
                <a:lnTo>
                  <a:pt x="8394" y="105906"/>
                </a:lnTo>
                <a:close/>
                <a:moveTo>
                  <a:pt x="200025" y="342900"/>
                </a:moveTo>
                <a:lnTo>
                  <a:pt x="428625" y="342900"/>
                </a:lnTo>
                <a:cubicBezTo>
                  <a:pt x="444431" y="342900"/>
                  <a:pt x="457200" y="355669"/>
                  <a:pt x="457200" y="371475"/>
                </a:cubicBezTo>
                <a:cubicBezTo>
                  <a:pt x="457200" y="387281"/>
                  <a:pt x="444431" y="400050"/>
                  <a:pt x="428625" y="400050"/>
                </a:cubicBezTo>
                <a:lnTo>
                  <a:pt x="200025" y="400050"/>
                </a:lnTo>
                <a:cubicBezTo>
                  <a:pt x="184219" y="400050"/>
                  <a:pt x="171450" y="387281"/>
                  <a:pt x="171450" y="371475"/>
                </a:cubicBezTo>
                <a:cubicBezTo>
                  <a:pt x="171450" y="355669"/>
                  <a:pt x="184219" y="342900"/>
                  <a:pt x="200025" y="3429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9398000" y="2222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 Output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763000" y="29210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Drawing Rectangle...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Drawing Circle...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63000" y="40640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Same function call: renderShape()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Different behavior based on object!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5651500"/>
            <a:ext cx="13716000" cy="228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6510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5905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This is Powerful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51000" y="6413500"/>
            <a:ext cx="1295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We can add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shapes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(Triangle, Square, etc.) without changing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renderShape()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The function doesn't know or care what specific shape it receives — it just calls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draw()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!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This is the power of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polymorphism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extensible, maintainable code!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Function Table (VTable) Explained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VTable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hidden table created by the compiler. The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VPTR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hidden pointer in every object.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794000"/>
            <a:ext cx="4445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4000" y="29845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VTable (per class)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51000" y="3556000"/>
            <a:ext cx="3683000" cy="5080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3556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Animal::makeSound()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1000" y="4191000"/>
            <a:ext cx="3683000" cy="50800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4191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Dog::makeSound()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51000" y="4826000"/>
            <a:ext cx="3683000" cy="50800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4826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Cat::makeSound()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55245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Contains addresses of all virtual functions for that class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69000" y="4445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7366000" y="3556000"/>
            <a:ext cx="3556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3000" y="3746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VPTR (per object)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874000" y="4318000"/>
            <a:ext cx="2540000" cy="635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7874000" y="4318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Dog's VTable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3000" y="50800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Hidden pointer in each object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176000" y="4445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2573000" y="3683000"/>
            <a:ext cx="2413000" cy="1778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4CAF50"/>
              </a:gs>
              <a:gs pos="100000">
                <a:srgbClr val="66BB6A"/>
              </a:gs>
            </a:gsLst>
            <a:lin ang="81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133350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3032" y="69552"/>
                </a:moveTo>
                <a:cubicBezTo>
                  <a:pt x="509247" y="79871"/>
                  <a:pt x="512876" y="99715"/>
                  <a:pt x="501083" y="113903"/>
                </a:cubicBezTo>
                <a:lnTo>
                  <a:pt x="210797" y="463153"/>
                </a:lnTo>
                <a:cubicBezTo>
                  <a:pt x="204561" y="470694"/>
                  <a:pt x="194922" y="475357"/>
                  <a:pt x="184263" y="476151"/>
                </a:cubicBezTo>
                <a:cubicBezTo>
                  <a:pt x="173604" y="476945"/>
                  <a:pt x="163286" y="473472"/>
                  <a:pt x="155802" y="466923"/>
                </a:cubicBezTo>
                <a:lnTo>
                  <a:pt x="10659" y="339923"/>
                </a:lnTo>
                <a:cubicBezTo>
                  <a:pt x="-3515" y="327521"/>
                  <a:pt x="-3515" y="307380"/>
                  <a:pt x="10659" y="294977"/>
                </a:cubicBezTo>
                <a:cubicBezTo>
                  <a:pt x="24833" y="282575"/>
                  <a:pt x="47852" y="282575"/>
                  <a:pt x="62026" y="294977"/>
                </a:cubicBezTo>
                <a:lnTo>
                  <a:pt x="177120" y="395684"/>
                </a:lnTo>
                <a:lnTo>
                  <a:pt x="442459" y="76498"/>
                </a:lnTo>
                <a:cubicBezTo>
                  <a:pt x="454252" y="62309"/>
                  <a:pt x="476930" y="59134"/>
                  <a:pt x="493146" y="694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0" y="44450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Correct Function Called!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0000" y="67310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Lookup Process: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ptr-&gt;makeSound()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follow 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VPTR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find 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VTable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get function address →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4CA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execute!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Slight memory overhead (one VPTR per object, one VTable per class) — usually negligible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for Virtual Functions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685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968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05000" y="1905000"/>
            <a:ext cx="1282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functions must be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functions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cannot be static functions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70000" y="27305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2730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05000" y="2667000"/>
            <a:ext cx="1282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nature is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inherited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once virtual in base, always virtual in derived classes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70000" y="34925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492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05000" y="3429000"/>
            <a:ext cx="1282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functions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be friends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another class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70000" y="42545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425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05000" y="4191000"/>
            <a:ext cx="1282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CANNOT be virtual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but destructor SHOULD be virtual!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70000" y="50165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1270000" y="5016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05000" y="4953000"/>
            <a:ext cx="1282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specifiers (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work normally with virtual functions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270000" y="5969000"/>
            <a:ext cx="13716000" cy="2032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16510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5666" y="-16877"/>
                </a:moveTo>
                <a:cubicBezTo>
                  <a:pt x="242411" y="-24021"/>
                  <a:pt x="235823" y="-28575"/>
                  <a:pt x="228679" y="-28575"/>
                </a:cubicBezTo>
                <a:cubicBezTo>
                  <a:pt x="221536" y="-28575"/>
                  <a:pt x="214948" y="-24021"/>
                  <a:pt x="211693" y="-16877"/>
                </a:cubicBezTo>
                <a:lnTo>
                  <a:pt x="153273" y="111889"/>
                </a:lnTo>
                <a:lnTo>
                  <a:pt x="26353" y="134570"/>
                </a:lnTo>
                <a:cubicBezTo>
                  <a:pt x="19288" y="135821"/>
                  <a:pt x="13414" y="141446"/>
                  <a:pt x="11192" y="149126"/>
                </a:cubicBezTo>
                <a:cubicBezTo>
                  <a:pt x="8969" y="156805"/>
                  <a:pt x="10795" y="165199"/>
                  <a:pt x="15796" y="170914"/>
                </a:cubicBezTo>
                <a:lnTo>
                  <a:pt x="106601" y="273159"/>
                </a:lnTo>
                <a:lnTo>
                  <a:pt x="86598" y="415945"/>
                </a:lnTo>
                <a:cubicBezTo>
                  <a:pt x="85487" y="423892"/>
                  <a:pt x="88424" y="431929"/>
                  <a:pt x="94218" y="436662"/>
                </a:cubicBezTo>
                <a:cubicBezTo>
                  <a:pt x="100013" y="441394"/>
                  <a:pt x="107633" y="442109"/>
                  <a:pt x="114062" y="438448"/>
                </a:cubicBezTo>
                <a:lnTo>
                  <a:pt x="228679" y="372904"/>
                </a:lnTo>
                <a:lnTo>
                  <a:pt x="343218" y="438448"/>
                </a:lnTo>
                <a:cubicBezTo>
                  <a:pt x="349568" y="442109"/>
                  <a:pt x="357267" y="441394"/>
                  <a:pt x="363061" y="436662"/>
                </a:cubicBezTo>
                <a:cubicBezTo>
                  <a:pt x="368856" y="431929"/>
                  <a:pt x="371793" y="423982"/>
                  <a:pt x="370681" y="415945"/>
                </a:cubicBezTo>
                <a:lnTo>
                  <a:pt x="350599" y="273159"/>
                </a:lnTo>
                <a:lnTo>
                  <a:pt x="441404" y="170914"/>
                </a:lnTo>
                <a:cubicBezTo>
                  <a:pt x="446484" y="165199"/>
                  <a:pt x="448231" y="156805"/>
                  <a:pt x="446008" y="149126"/>
                </a:cubicBezTo>
                <a:cubicBezTo>
                  <a:pt x="443786" y="141446"/>
                  <a:pt x="437991" y="135821"/>
                  <a:pt x="430847" y="134570"/>
                </a:cubicBezTo>
                <a:lnTo>
                  <a:pt x="304006" y="111889"/>
                </a:lnTo>
                <a:lnTo>
                  <a:pt x="245666" y="-1687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6223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51000" y="67945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Always make base class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destructor virtual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when using polymorphism. This ensures the derived class destructor is called when deleting through a base pointer — preventing memory leaks!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Pure Virtual Functions &amp; Abstract Classes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63500"/>
                </a:moveTo>
                <a:cubicBezTo>
                  <a:pt x="0" y="28476"/>
                  <a:pt x="37968" y="0"/>
                  <a:pt x="84667" y="0"/>
                </a:cubicBezTo>
                <a:lnTo>
                  <a:pt x="282443" y="0"/>
                </a:lnTo>
                <a:cubicBezTo>
                  <a:pt x="304932" y="0"/>
                  <a:pt x="326496" y="6648"/>
                  <a:pt x="342371" y="18554"/>
                </a:cubicBezTo>
                <a:lnTo>
                  <a:pt x="483261" y="124321"/>
                </a:lnTo>
                <a:cubicBezTo>
                  <a:pt x="499136" y="136227"/>
                  <a:pt x="508000" y="152400"/>
                  <a:pt x="508000" y="169267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75167" y="58043"/>
                </a:moveTo>
                <a:lnTo>
                  <a:pt x="275167" y="150813"/>
                </a:lnTo>
                <a:cubicBezTo>
                  <a:pt x="275167" y="164009"/>
                  <a:pt x="289322" y="174625"/>
                  <a:pt x="306917" y="174625"/>
                </a:cubicBezTo>
                <a:lnTo>
                  <a:pt x="430609" y="174625"/>
                </a:lnTo>
                <a:lnTo>
                  <a:pt x="275167" y="58043"/>
                </a:lnTo>
                <a:close/>
                <a:moveTo>
                  <a:pt x="203994" y="293291"/>
                </a:moveTo>
                <a:cubicBezTo>
                  <a:pt x="215371" y="283270"/>
                  <a:pt x="213916" y="268288"/>
                  <a:pt x="200554" y="259755"/>
                </a:cubicBezTo>
                <a:cubicBezTo>
                  <a:pt x="187193" y="251222"/>
                  <a:pt x="167217" y="252313"/>
                  <a:pt x="155840" y="262334"/>
                </a:cubicBezTo>
                <a:lnTo>
                  <a:pt x="92340" y="317897"/>
                </a:lnTo>
                <a:cubicBezTo>
                  <a:pt x="82153" y="326827"/>
                  <a:pt x="82153" y="339923"/>
                  <a:pt x="92340" y="348853"/>
                </a:cubicBezTo>
                <a:lnTo>
                  <a:pt x="155840" y="404416"/>
                </a:lnTo>
                <a:cubicBezTo>
                  <a:pt x="167217" y="414437"/>
                  <a:pt x="187325" y="415528"/>
                  <a:pt x="200554" y="406995"/>
                </a:cubicBezTo>
                <a:cubicBezTo>
                  <a:pt x="213783" y="398463"/>
                  <a:pt x="215371" y="383381"/>
                  <a:pt x="203994" y="373459"/>
                </a:cubicBezTo>
                <a:lnTo>
                  <a:pt x="158221" y="333375"/>
                </a:lnTo>
                <a:lnTo>
                  <a:pt x="203994" y="293291"/>
                </a:lnTo>
                <a:close/>
                <a:moveTo>
                  <a:pt x="352160" y="262334"/>
                </a:moveTo>
                <a:cubicBezTo>
                  <a:pt x="340783" y="252313"/>
                  <a:pt x="320675" y="251222"/>
                  <a:pt x="307446" y="259755"/>
                </a:cubicBezTo>
                <a:cubicBezTo>
                  <a:pt x="294217" y="268287"/>
                  <a:pt x="292629" y="283369"/>
                  <a:pt x="304006" y="293291"/>
                </a:cubicBezTo>
                <a:lnTo>
                  <a:pt x="349779" y="333375"/>
                </a:lnTo>
                <a:lnTo>
                  <a:pt x="304006" y="373459"/>
                </a:lnTo>
                <a:cubicBezTo>
                  <a:pt x="292629" y="383480"/>
                  <a:pt x="294084" y="398462"/>
                  <a:pt x="307446" y="406995"/>
                </a:cubicBezTo>
                <a:cubicBezTo>
                  <a:pt x="320807" y="415528"/>
                  <a:pt x="340783" y="414437"/>
                  <a:pt x="352160" y="404416"/>
                </a:cubicBezTo>
                <a:lnTo>
                  <a:pt x="415660" y="348853"/>
                </a:lnTo>
                <a:cubicBezTo>
                  <a:pt x="425847" y="339923"/>
                  <a:pt x="425847" y="326827"/>
                  <a:pt x="415660" y="317897"/>
                </a:cubicBezTo>
                <a:lnTo>
                  <a:pt x="352160" y="26233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09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Pure Virtual Function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49500" y="2540000"/>
            <a:ext cx="1231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function with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body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only declaration. Syntax: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void func() = 0;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the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0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makes it "pure".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746500"/>
            <a:ext cx="6604000" cy="1016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3873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void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= 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Pure virtual!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746500"/>
            <a:ext cx="6604000" cy="4762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630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27898" y="368350"/>
                </a:moveTo>
                <a:lnTo>
                  <a:pt x="88850" y="129302"/>
                </a:lnTo>
                <a:cubicBezTo>
                  <a:pt x="68848" y="157341"/>
                  <a:pt x="57150" y="191631"/>
                  <a:pt x="57150" y="228600"/>
                </a:cubicBezTo>
                <a:cubicBezTo>
                  <a:pt x="57150" y="323255"/>
                  <a:pt x="133945" y="400050"/>
                  <a:pt x="228600" y="400050"/>
                </a:cubicBezTo>
                <a:cubicBezTo>
                  <a:pt x="265658" y="400050"/>
                  <a:pt x="299948" y="388352"/>
                  <a:pt x="327898" y="368350"/>
                </a:cubicBezTo>
                <a:close/>
                <a:moveTo>
                  <a:pt x="368350" y="327898"/>
                </a:moveTo>
                <a:cubicBezTo>
                  <a:pt x="388352" y="299859"/>
                  <a:pt x="400050" y="265569"/>
                  <a:pt x="400050" y="228600"/>
                </a:cubicBezTo>
                <a:cubicBezTo>
                  <a:pt x="400050" y="133945"/>
                  <a:pt x="323255" y="57150"/>
                  <a:pt x="228600" y="57150"/>
                </a:cubicBezTo>
                <a:cubicBezTo>
                  <a:pt x="191542" y="57150"/>
                  <a:pt x="157252" y="68848"/>
                  <a:pt x="129302" y="88850"/>
                </a:cubicBezTo>
                <a:lnTo>
                  <a:pt x="368350" y="327898"/>
                </a:ln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9398000" y="4000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Abstract Class Rules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63000" y="4635500"/>
            <a:ext cx="584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Has at least one pure virtual function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create objects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directly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Must be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inherited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be used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Derived class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MUST override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pure virtual functions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Acts as a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template/interface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270000" y="5207000"/>
            <a:ext cx="6604000" cy="323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16510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0729" y="104835"/>
                </a:moveTo>
                <a:lnTo>
                  <a:pt x="97423" y="171450"/>
                </a:lnTo>
                <a:lnTo>
                  <a:pt x="359777" y="171450"/>
                </a:lnTo>
                <a:lnTo>
                  <a:pt x="336471" y="104835"/>
                </a:lnTo>
                <a:cubicBezTo>
                  <a:pt x="332452" y="93405"/>
                  <a:pt x="321647" y="85725"/>
                  <a:pt x="309503" y="85725"/>
                </a:cubicBezTo>
                <a:lnTo>
                  <a:pt x="147697" y="85725"/>
                </a:lnTo>
                <a:cubicBezTo>
                  <a:pt x="135553" y="85725"/>
                  <a:pt x="124748" y="93405"/>
                  <a:pt x="120729" y="104835"/>
                </a:cubicBezTo>
                <a:close/>
                <a:moveTo>
                  <a:pt x="35362" y="175736"/>
                </a:moveTo>
                <a:lnTo>
                  <a:pt x="66794" y="85993"/>
                </a:lnTo>
                <a:cubicBezTo>
                  <a:pt x="78849" y="51614"/>
                  <a:pt x="111264" y="28575"/>
                  <a:pt x="147697" y="28575"/>
                </a:cubicBezTo>
                <a:lnTo>
                  <a:pt x="309503" y="28575"/>
                </a:lnTo>
                <a:cubicBezTo>
                  <a:pt x="345936" y="28575"/>
                  <a:pt x="378351" y="51614"/>
                  <a:pt x="390406" y="85993"/>
                </a:cubicBezTo>
                <a:lnTo>
                  <a:pt x="421838" y="175736"/>
                </a:lnTo>
                <a:cubicBezTo>
                  <a:pt x="442555" y="184309"/>
                  <a:pt x="457200" y="204758"/>
                  <a:pt x="457200" y="2286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400050" y="428625"/>
                </a:lnTo>
                <a:cubicBezTo>
                  <a:pt x="384244" y="428625"/>
                  <a:pt x="371475" y="415856"/>
                  <a:pt x="371475" y="400050"/>
                </a:cubicBezTo>
                <a:lnTo>
                  <a:pt x="371475" y="371475"/>
                </a:lnTo>
                <a:lnTo>
                  <a:pt x="85725" y="371475"/>
                </a:lnTo>
                <a:lnTo>
                  <a:pt x="85725" y="400050"/>
                </a:lnTo>
                <a:cubicBezTo>
                  <a:pt x="85725" y="415856"/>
                  <a:pt x="72956" y="428625"/>
                  <a:pt x="57150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228600"/>
                </a:lnTo>
                <a:cubicBezTo>
                  <a:pt x="0" y="204758"/>
                  <a:pt x="14645" y="184309"/>
                  <a:pt x="35362" y="175736"/>
                </a:cubicBezTo>
                <a:close/>
                <a:moveTo>
                  <a:pt x="114300" y="271463"/>
                </a:moveTo>
                <a:cubicBezTo>
                  <a:pt x="114300" y="255692"/>
                  <a:pt x="101496" y="242888"/>
                  <a:pt x="85725" y="242888"/>
                </a:cubicBezTo>
                <a:cubicBezTo>
                  <a:pt x="69954" y="242888"/>
                  <a:pt x="57150" y="255692"/>
                  <a:pt x="57150" y="271463"/>
                </a:cubicBezTo>
                <a:cubicBezTo>
                  <a:pt x="57150" y="287233"/>
                  <a:pt x="69954" y="300038"/>
                  <a:pt x="85725" y="300038"/>
                </a:cubicBezTo>
                <a:cubicBezTo>
                  <a:pt x="101496" y="300038"/>
                  <a:pt x="114300" y="287233"/>
                  <a:pt x="114300" y="271463"/>
                </a:cubicBezTo>
                <a:close/>
                <a:moveTo>
                  <a:pt x="371475" y="300038"/>
                </a:moveTo>
                <a:cubicBezTo>
                  <a:pt x="387246" y="300038"/>
                  <a:pt x="400050" y="287233"/>
                  <a:pt x="400050" y="271463"/>
                </a:cubicBezTo>
                <a:cubicBezTo>
                  <a:pt x="400050" y="255692"/>
                  <a:pt x="387246" y="242888"/>
                  <a:pt x="371475" y="242888"/>
                </a:cubicBezTo>
                <a:cubicBezTo>
                  <a:pt x="355704" y="242888"/>
                  <a:pt x="342900" y="255692"/>
                  <a:pt x="342900" y="271463"/>
                </a:cubicBezTo>
                <a:cubicBezTo>
                  <a:pt x="342900" y="287233"/>
                  <a:pt x="355704" y="300038"/>
                  <a:pt x="371475" y="30003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5524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Life Analogy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51000" y="6096000"/>
            <a:ext cx="584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"Vehicle" is an abstract concept — you can't have a generic "Vehicle" object.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 you CAN have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Bike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Truck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they all inherit from Vehicle!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06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Binding vs Late Binding — Comparison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826000"/>
        </p:xfrm>
        <a:graphic>
          <a:graphicData uri="http://schemas.openxmlformats.org/drawingml/2006/table">
            <a:tbl>
              <a:tblPr/>
              <a:tblGrid>
                <a:gridCol w="3429000"/>
                <a:gridCol w="5143500"/>
                <a:gridCol w="5143500"/>
              </a:tblGrid>
              <a:tr h="6756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Early Binding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Late Binding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When?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Compile time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Runtime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How?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Default behavior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Uses 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virtual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keyword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4CA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Slightly slower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Flexibility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Less flexible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Highly flexible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Function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 functions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Virtual functions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when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Behavior is fixed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Depends on object 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7112000"/>
            <a:ext cx="13716000" cy="101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651000" y="72390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Both have their place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choose Early Binding for fixed behavior, Late Binding for runtime flexibility!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20 — 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651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9685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"Many Forms" — same interface, different behavior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51000" y="273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6670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functions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enable runtime polymorphism (late binding)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51000" y="342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33655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keyword in base class +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derived class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651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40640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VTable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VPTR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mechanism makes late binding possible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651000" y="482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47625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Pure virtual functions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 abstract classes (interfaces)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651000" y="552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54610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use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destructor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base classes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651000" y="622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61595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 makes code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extensible, reusable, and maintainable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270000" y="7048500"/>
            <a:ext cx="13716000" cy="101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1651000" y="71755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Polymorphism — Write Flexible, Extensible C++ Code!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540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413000" y="3937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Polymorphism — Write Flexible, Extensible C++ Code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83000" y="4826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19: Pointer to Objects &amp; Early Binding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20: Polymorphism with Virtual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53000" y="6096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Object Oriented Programming with C++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 in C++</dc:title>
  <dc:subject>Polymorphism in C++</dc:subject>
  <dc:creator>Kimi</dc:creator>
  <cp:lastModifiedBy>Kimi</cp:lastModifiedBy>
  <cp:revision>1</cp:revision>
  <dcterms:created xsi:type="dcterms:W3CDTF">2026-06-29T03:50:59Z</dcterms:created>
  <dcterms:modified xsi:type="dcterms:W3CDTF">2026-06-29T03:50:59Z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{"Label":"Polymorphism in C++","ContentProducer":"001191110108MACG2KBH8F10000","ProduceID":"19f1156d-9e12-84d2-8000-000043de9021","ReservedCode1":"","ContentPropagator":"001191110108MACG2KBH8F20000","PropagateID":"19f11540-b242-8073-8000-09e921d29ba3","ReservedCode2":""}</vt:lpwstr>
  </property>
</Properties>
</file>