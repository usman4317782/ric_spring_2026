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556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279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WEEK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381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 in C++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8318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L13 — Levels of Inheritance | L14 — Multiple Inheritance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83185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Science Department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7112000" cy="66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778000"/>
            <a:ext cx="76200" cy="660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286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175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3619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Levels of Inheritance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4381500"/>
            <a:ext cx="6096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4699000"/>
            <a:ext cx="6096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Multilevel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Hierarchical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Hybrid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Diamond Problem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Visibility Modes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778000"/>
            <a:ext cx="7112000" cy="66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1778000"/>
            <a:ext cx="76200" cy="660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2286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0" y="3175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36195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Inheritance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0000" y="4381500"/>
            <a:ext cx="6096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4699000"/>
            <a:ext cx="6096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Multiple Inheritance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Syntax &amp; Rules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Ambiguity Resolution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Scope Resolution Operator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Virtual Base Classes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 Functions &amp; Constructors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Practices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69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Levels of Inheritance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70000" y="5588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Single, Multilevel, Hierarchical,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Hybrid Inheritance in C++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0" y="1270000"/>
            <a:ext cx="4064000" cy="4064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446000" y="4445000"/>
            <a:ext cx="2794000" cy="2794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core OOP concept that enables a class to acquire properties and behaviors from another class. It promotes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reusability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establishes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relationships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supports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extensibility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Terminology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6858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4100" y="3746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7391" y="317500"/>
                </a:moveTo>
                <a:lnTo>
                  <a:pt x="117078" y="190500"/>
                </a:lnTo>
                <a:lnTo>
                  <a:pt x="418227" y="190500"/>
                </a:lnTo>
                <a:lnTo>
                  <a:pt x="378539" y="317500"/>
                </a:lnTo>
                <a:lnTo>
                  <a:pt x="77391" y="317500"/>
                </a:lnTo>
                <a:close/>
                <a:moveTo>
                  <a:pt x="228759" y="355600"/>
                </a:moveTo>
                <a:lnTo>
                  <a:pt x="378619" y="355600"/>
                </a:lnTo>
                <a:cubicBezTo>
                  <a:pt x="395288" y="355600"/>
                  <a:pt x="410051" y="344805"/>
                  <a:pt x="414972" y="328851"/>
                </a:cubicBezTo>
                <a:lnTo>
                  <a:pt x="454660" y="201851"/>
                </a:lnTo>
                <a:cubicBezTo>
                  <a:pt x="462359" y="177324"/>
                  <a:pt x="444024" y="152400"/>
                  <a:pt x="418306" y="152400"/>
                </a:cubicBezTo>
                <a:lnTo>
                  <a:pt x="117158" y="152400"/>
                </a:lnTo>
                <a:cubicBezTo>
                  <a:pt x="100489" y="152400"/>
                  <a:pt x="85725" y="163195"/>
                  <a:pt x="80804" y="179149"/>
                </a:cubicBezTo>
                <a:lnTo>
                  <a:pt x="63659" y="233680"/>
                </a:lnTo>
                <a:lnTo>
                  <a:pt x="63659" y="76200"/>
                </a:lnTo>
                <a:cubicBezTo>
                  <a:pt x="63659" y="69215"/>
                  <a:pt x="69374" y="63500"/>
                  <a:pt x="76359" y="63500"/>
                </a:cubicBezTo>
                <a:lnTo>
                  <a:pt x="186452" y="63500"/>
                </a:lnTo>
                <a:cubicBezTo>
                  <a:pt x="189230" y="63500"/>
                  <a:pt x="191849" y="64373"/>
                  <a:pt x="194072" y="66040"/>
                </a:cubicBezTo>
                <a:lnTo>
                  <a:pt x="224552" y="88900"/>
                </a:lnTo>
                <a:cubicBezTo>
                  <a:pt x="235506" y="97155"/>
                  <a:pt x="248920" y="101600"/>
                  <a:pt x="262652" y="101600"/>
                </a:cubicBezTo>
                <a:lnTo>
                  <a:pt x="355759" y="101600"/>
                </a:lnTo>
                <a:cubicBezTo>
                  <a:pt x="362744" y="101600"/>
                  <a:pt x="368459" y="107315"/>
                  <a:pt x="368459" y="114300"/>
                </a:cubicBezTo>
                <a:lnTo>
                  <a:pt x="406559" y="114300"/>
                </a:lnTo>
                <a:cubicBezTo>
                  <a:pt x="406559" y="86281"/>
                  <a:pt x="383778" y="63500"/>
                  <a:pt x="355759" y="63500"/>
                </a:cubicBezTo>
                <a:lnTo>
                  <a:pt x="262652" y="63500"/>
                </a:lnTo>
                <a:cubicBezTo>
                  <a:pt x="257175" y="63500"/>
                  <a:pt x="251777" y="61754"/>
                  <a:pt x="247412" y="58420"/>
                </a:cubicBezTo>
                <a:lnTo>
                  <a:pt x="216932" y="35560"/>
                </a:lnTo>
                <a:cubicBezTo>
                  <a:pt x="208121" y="28972"/>
                  <a:pt x="197485" y="25400"/>
                  <a:pt x="186452" y="25400"/>
                </a:cubicBezTo>
                <a:lnTo>
                  <a:pt x="76359" y="25400"/>
                </a:lnTo>
                <a:cubicBezTo>
                  <a:pt x="48339" y="25400"/>
                  <a:pt x="25559" y="48181"/>
                  <a:pt x="25559" y="76200"/>
                </a:cubicBezTo>
                <a:lnTo>
                  <a:pt x="25559" y="304800"/>
                </a:lnTo>
                <a:cubicBezTo>
                  <a:pt x="25559" y="332819"/>
                  <a:pt x="48339" y="355600"/>
                  <a:pt x="76359" y="355600"/>
                </a:cubicBezTo>
                <a:lnTo>
                  <a:pt x="228759" y="355600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3721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4254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parent class whose properties and member functions are inherited by another class.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24500"/>
            <a:ext cx="6858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30300" y="577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38100"/>
                </a:moveTo>
                <a:lnTo>
                  <a:pt x="139700" y="38100"/>
                </a:lnTo>
                <a:lnTo>
                  <a:pt x="139700" y="107950"/>
                </a:lnTo>
                <a:cubicBezTo>
                  <a:pt x="139700" y="139541"/>
                  <a:pt x="165259" y="165100"/>
                  <a:pt x="196850" y="165100"/>
                </a:cubicBezTo>
                <a:lnTo>
                  <a:pt x="266700" y="165100"/>
                </a:lnTo>
                <a:lnTo>
                  <a:pt x="266700" y="355600"/>
                </a:lnTo>
                <a:cubicBezTo>
                  <a:pt x="266700" y="362585"/>
                  <a:pt x="260985" y="368300"/>
                  <a:pt x="254000" y="368300"/>
                </a:cubicBezTo>
                <a:lnTo>
                  <a:pt x="50800" y="368300"/>
                </a:lnTo>
                <a:cubicBezTo>
                  <a:pt x="43815" y="368300"/>
                  <a:pt x="38100" y="362585"/>
                  <a:pt x="38100" y="355600"/>
                </a:cubicBezTo>
                <a:lnTo>
                  <a:pt x="38100" y="50800"/>
                </a:lnTo>
                <a:cubicBezTo>
                  <a:pt x="38100" y="43815"/>
                  <a:pt x="43815" y="38100"/>
                  <a:pt x="50800" y="38100"/>
                </a:cubicBezTo>
                <a:close/>
                <a:moveTo>
                  <a:pt x="177800" y="53896"/>
                </a:moveTo>
                <a:lnTo>
                  <a:pt x="250904" y="127000"/>
                </a:lnTo>
                <a:lnTo>
                  <a:pt x="196850" y="127000"/>
                </a:lnTo>
                <a:cubicBezTo>
                  <a:pt x="186293" y="127000"/>
                  <a:pt x="177800" y="118507"/>
                  <a:pt x="177800" y="107950"/>
                </a:cubicBezTo>
                <a:lnTo>
                  <a:pt x="177800" y="53896"/>
                </a:lnTo>
                <a:close/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148034"/>
                </a:lnTo>
                <a:cubicBezTo>
                  <a:pt x="304800" y="134541"/>
                  <a:pt x="299482" y="121603"/>
                  <a:pt x="289957" y="112078"/>
                </a:cubicBezTo>
                <a:lnTo>
                  <a:pt x="192643" y="14843"/>
                </a:lnTo>
                <a:cubicBezTo>
                  <a:pt x="183118" y="5318"/>
                  <a:pt x="170259" y="0"/>
                  <a:pt x="156766" y="0"/>
                </a:cubicBezTo>
                <a:lnTo>
                  <a:pt x="50800" y="0"/>
                </a:lnTo>
                <a:close/>
                <a:moveTo>
                  <a:pt x="135096" y="234633"/>
                </a:moveTo>
                <a:cubicBezTo>
                  <a:pt x="141922" y="226616"/>
                  <a:pt x="141049" y="214630"/>
                  <a:pt x="133032" y="207804"/>
                </a:cubicBezTo>
                <a:cubicBezTo>
                  <a:pt x="125016" y="200978"/>
                  <a:pt x="113030" y="201851"/>
                  <a:pt x="106204" y="209868"/>
                </a:cubicBezTo>
                <a:lnTo>
                  <a:pt x="68104" y="254318"/>
                </a:lnTo>
                <a:cubicBezTo>
                  <a:pt x="61992" y="261461"/>
                  <a:pt x="61992" y="271939"/>
                  <a:pt x="68104" y="279083"/>
                </a:cubicBezTo>
                <a:lnTo>
                  <a:pt x="106204" y="323533"/>
                </a:lnTo>
                <a:cubicBezTo>
                  <a:pt x="113030" y="331549"/>
                  <a:pt x="125095" y="332423"/>
                  <a:pt x="133033" y="325596"/>
                </a:cubicBezTo>
                <a:cubicBezTo>
                  <a:pt x="140970" y="318770"/>
                  <a:pt x="141923" y="306705"/>
                  <a:pt x="135096" y="298768"/>
                </a:cubicBezTo>
                <a:lnTo>
                  <a:pt x="107633" y="266700"/>
                </a:lnTo>
                <a:lnTo>
                  <a:pt x="135096" y="234633"/>
                </a:lnTo>
                <a:close/>
                <a:moveTo>
                  <a:pt x="198596" y="209868"/>
                </a:moveTo>
                <a:cubicBezTo>
                  <a:pt x="191770" y="201851"/>
                  <a:pt x="179705" y="200978"/>
                  <a:pt x="171767" y="207804"/>
                </a:cubicBezTo>
                <a:cubicBezTo>
                  <a:pt x="163830" y="214630"/>
                  <a:pt x="162877" y="226695"/>
                  <a:pt x="169704" y="234633"/>
                </a:cubicBezTo>
                <a:lnTo>
                  <a:pt x="197167" y="266700"/>
                </a:lnTo>
                <a:lnTo>
                  <a:pt x="169704" y="298768"/>
                </a:lnTo>
                <a:cubicBezTo>
                  <a:pt x="162877" y="306784"/>
                  <a:pt x="163751" y="318770"/>
                  <a:pt x="171767" y="325596"/>
                </a:cubicBezTo>
                <a:cubicBezTo>
                  <a:pt x="179784" y="332423"/>
                  <a:pt x="191770" y="331549"/>
                  <a:pt x="198596" y="323532"/>
                </a:cubicBezTo>
                <a:lnTo>
                  <a:pt x="236696" y="279083"/>
                </a:lnTo>
                <a:cubicBezTo>
                  <a:pt x="242808" y="271939"/>
                  <a:pt x="242808" y="261461"/>
                  <a:pt x="236696" y="254317"/>
                </a:cubicBezTo>
                <a:lnTo>
                  <a:pt x="198596" y="20986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5753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286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child class that inherits properties and behaviors from the base class.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92500"/>
            <a:ext cx="7112000" cy="1778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99500" y="3619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access_specifier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Additional fields and methods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552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6032500"/>
            <a:ext cx="711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Code Reusability — reuse existing class members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Hierarchy — model real-world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Polymorphism — support runtime polymorphism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derived class inherits from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one base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is the simplest form of inheritance, forming a one-to-one parent-child relationship.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base class, one derived class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Simplest form of inheritance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Straightforward and easy to understand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Forms a linear class hierarchy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commonly used inheritance type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22000" y="34290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3429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74500" y="4127500"/>
            <a:ext cx="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922000" y="46355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46355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Class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Example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6731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base class members */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 Car inherits all accessible members from Vehicle */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546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546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1409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is a Vehicle"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"Engine started"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Vehicle is a Car"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accelerate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"Accelerating"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 obj; obj.start(); obj.accelerate();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711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75565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9500" y="762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a Vehicle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Vehicle is a Car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Multilevel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 class is derived from another derived class, forming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of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last derived class acquires all members of its entire inheritance chain.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a linear chain of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level adds new functionality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Deepest class has access to all bases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Constructors called top-to-bottom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Destructors called bottom-to-top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176000" y="3365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76000" y="3365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065000" y="3937000"/>
            <a:ext cx="0" cy="3302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1176000" y="42926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42926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65000" y="4800600"/>
            <a:ext cx="0" cy="254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5207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5207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6731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Base class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 inherits from 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 inherits from B (and A)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Multilevel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4699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469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14097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is a Vehicle"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FourWheeler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FourWheeler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"4 Wheeler Vehicle"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FourWheeler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4 Wheeler is a Car"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Car obj;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794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9500" y="68580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a Vehicle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Wheeler Vehicle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4 Wheeler is a Car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multiple derived classes inherit from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base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One base class serves as the parent for several derived classes, forming a tree-like structure.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base class, multiple derived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derived class has unique members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Forms a tree-like class hierarchy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Useful for related classes from common ancestor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derived classes share base functionality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303000" y="336550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303000" y="3365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41000" y="36449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827000" y="36449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9017000" y="336550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3365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589000" y="3365500"/>
            <a:ext cx="1524000" cy="571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3589000" y="33655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6731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Single base class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Derived class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Derived class 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4699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469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14097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is a Vehicle"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Vehicle is a Car"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"This Vehicle is a Bus"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Car c1; Bus b1;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6794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9500" y="68580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a Vehicle | This Vehicle is a Car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a Vehicle | This Vehicle is a Bus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combination of two or more types of inheritance in a single program. It combines single, multilevel, hierarchical, and/or multiple inheritance patterns.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Combinations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+ Hierarchical inheritance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+ Multilevel inheritance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Hierarchical + Multiple inheritance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79000" y="33655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779000" y="3365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0000" y="40640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4064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40640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4064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27000" y="36830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27000" y="3683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14000" y="3873500"/>
            <a:ext cx="381000" cy="19050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1049000" y="3683000"/>
            <a:ext cx="1778000" cy="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160000" y="4064000"/>
            <a:ext cx="2667000" cy="0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62000" y="5207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207000"/>
            <a:ext cx="635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95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5334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Hybrid inheritance often leads to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 Problem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when a class inherits from two classes that share a common base class, creating ambiguity about which base class member to use.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54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048500"/>
            <a:ext cx="14732000" cy="1206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" y="71755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Combines hierarchical (Vehicle) + multiple (Fare) inheritance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Diamond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 Problem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occurs when a derived class inherits from two classes that both share the same base class, creating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copies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base class members.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Diamond 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6350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02000" y="32385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302000" y="3238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67000" y="3746500"/>
            <a:ext cx="101600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 flipH="1">
            <a:off x="4191000" y="3746500"/>
            <a:ext cx="101600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651000" y="4254500"/>
            <a:ext cx="1397000" cy="5080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425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26000" y="4254500"/>
            <a:ext cx="1397000" cy="5080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42545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H="1">
            <a:off x="2794000" y="4762500"/>
            <a:ext cx="82550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254500" y="4762500"/>
            <a:ext cx="82550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21000" y="52705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2921000" y="5270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74000" y="254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Solutions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74000" y="3048000"/>
            <a:ext cx="7620000" cy="133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64500" y="31496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3149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Resolution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64500" y="3556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 to explicitly specify which base class member to access. Maintains multiple copies.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74000" y="4572000"/>
            <a:ext cx="7620000" cy="133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26400" y="4673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4673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Inheritance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64500" y="5080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to ensure only one copy of the base class is shared. Preferred solution.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28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Example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794500"/>
            <a:ext cx="14732000" cy="1460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6921500"/>
            <a:ext cx="1409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obj; obj.x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78C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'x' is ambiguous — two copies from Base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Visibility Modes in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visibility modes control how base class members are inherited by the derived class. They determine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level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inherited members in the derived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286000"/>
            <a:ext cx="4699000" cy="57150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286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not inherited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permissive mode. Public interface preserved.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86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8500" y="2286000"/>
            <a:ext cx="4699000" cy="571500"/>
          </a:xfrm>
          <a:prstGeom prst="roundRect">
            <a:avLst>
              <a:gd name="adj" fmla="val 6000"/>
            </a:avLst>
          </a:prstGeom>
          <a:solidFill>
            <a:srgbClr val="EAB308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2286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Inheritance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0480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AB30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AB30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AB30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not inherited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members become protected. Restricted access.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86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0" y="2286000"/>
            <a:ext cx="4699000" cy="5715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0" y="2286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Inheritance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0480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not inherited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inherited members become private. Most restrictive.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905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905500"/>
            <a:ext cx="635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7600" y="61341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5969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 members of the base class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accessible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derived class, regardless of the visibility mode used.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11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620000"/>
            <a:ext cx="14732000" cy="698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77089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Also: protected Base, private Base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following table summarizes how base class members are accessed in derived classes under different visibility modes: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349500"/>
          <a:ext cx="14732000" cy="3810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Class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AB30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AB30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AB30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AB30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F444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Inherited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Inherited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4748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Inherited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 From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Anywhere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classes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Within class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647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6985000"/>
            <a:ext cx="1473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 members are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inherited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remain completely hidden from derived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visibility mode only affects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members of the base class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inheritance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most common — it preserves the base class interface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54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4318000"/>
            <a:ext cx="127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699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Inheritance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Member Functions in Multiple Inheritance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6096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Syntax, ambiguity resolution, and best practices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065000" y="1016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0" y="4826000"/>
            <a:ext cx="2286000" cy="2286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Multiple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allows a derived class to inherit from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one base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simultaneously. The derived class combines features from all its parent classes.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derived class, multiple base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base class has its own access specifier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features from all parents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model complex real-world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careful ambiguity handling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750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017000" y="3556000"/>
            <a:ext cx="18415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3556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LandVehicle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208000" y="3365500"/>
            <a:ext cx="16510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3208000" y="3365500"/>
            <a:ext cx="165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WaterVehicle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H="1">
            <a:off x="10985500" y="3810000"/>
            <a:ext cx="1143000" cy="381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446000" y="3937000"/>
            <a:ext cx="1143000" cy="50800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731500" y="4508500"/>
            <a:ext cx="2413000" cy="5715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731500" y="4508500"/>
            <a:ext cx="2413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AmphibiousVehicle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67310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access_mode1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access_mode2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...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Derived class combines features from Base1, Base2, ...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Inheritance Syntax &amp;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1590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base class requires its own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specifier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declaration list.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72500" y="215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21590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Constructors are called in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of base class declaration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4290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2500" y="355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35560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Destructors are called 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order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constructor calls.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429000"/>
            <a:ext cx="7112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2500" y="3556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3556000"/>
            <a:ext cx="615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 members are accessible per their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respective visibility modes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&amp; Destructor Order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524500"/>
            <a:ext cx="14732000" cy="2857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651500"/>
            <a:ext cx="1409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constructor calls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 call order: A() → B() → C() → D()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Destructor call order: ~D() → ~C() → ~B() → ~A()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Inheritance — Code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5334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533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14097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"Driving on land"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sail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"Sailing on water"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Amphibious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WaterVehicle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Amphibious a; a.drive(); a.sail();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98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74295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9500" y="7493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Driving on land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Sailing on water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Ambiguity in Multiple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041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arises when two or more base classes have members with the same name. The compiler cannot determine which member to access, resulting in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compile-time error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Ambiguity Scenarios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2500" y="3238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32385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name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multiple base classes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3111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30900" y="3238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3500" y="32385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member name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multiple base classes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31115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47400" y="3238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0" y="32385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 Problem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indirect ambiguity through shared ancestors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397500"/>
            <a:ext cx="14732000" cy="2857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524500"/>
            <a:ext cx="14097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d; d.display();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53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ERROR: request for member 'display' is ambiguous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Resolving Ambiguity — Scope Resolution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Resolution Operator (::)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explicitly tells the compiler which base class member to access. This is the simplest way to resolve ambiguity.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11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2004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objectName.BaseClassName::memberName;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Explicitly specify the base class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699000"/>
            <a:ext cx="14732000" cy="2286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4826000"/>
            <a:ext cx="1409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d; d.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::show(); d.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::show(); 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048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7404100"/>
            <a:ext cx="14732000" cy="571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79500" y="74422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Resolving Ambiguity — Virtual Base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ensures only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copy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base class is shared among all inheritance paths. This is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preferred solution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Diamond Problem.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115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intermediate classes use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inheritance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one copy of the base class is created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ambiguity — direct access to members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Cleanest solution for production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60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11500"/>
            <a:ext cx="7112000" cy="1905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32385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 now has only ONE copy of 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905500"/>
            <a:ext cx="14732000" cy="2349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6032500"/>
            <a:ext cx="1409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sum;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 obj; obj.x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78C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 ambiguity! Single copy of x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Functions in Multiple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functions in multiple inheritance follow specific rules for calling, overriding, and resolving conflicts across base classes.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857500"/>
            <a:ext cx="7112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311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95369" y="14883"/>
                </a:moveTo>
                <a:cubicBezTo>
                  <a:pt x="90666" y="3631"/>
                  <a:pt x="78403" y="-2322"/>
                  <a:pt x="66735" y="833"/>
                </a:cubicBezTo>
                <a:lnTo>
                  <a:pt x="63460" y="1726"/>
                </a:lnTo>
                <a:cubicBezTo>
                  <a:pt x="25003" y="12204"/>
                  <a:pt x="-7858" y="49470"/>
                  <a:pt x="1726" y="94833"/>
                </a:cubicBezTo>
                <a:cubicBezTo>
                  <a:pt x="23812" y="199013"/>
                  <a:pt x="105787" y="280987"/>
                  <a:pt x="209967" y="303074"/>
                </a:cubicBezTo>
                <a:cubicBezTo>
                  <a:pt x="255389" y="312718"/>
                  <a:pt x="292596" y="279797"/>
                  <a:pt x="303074" y="241340"/>
                </a:cubicBezTo>
                <a:lnTo>
                  <a:pt x="303967" y="238065"/>
                </a:lnTo>
                <a:cubicBezTo>
                  <a:pt x="307181" y="226338"/>
                  <a:pt x="301169" y="214074"/>
                  <a:pt x="289977" y="209431"/>
                </a:cubicBezTo>
                <a:lnTo>
                  <a:pt x="232053" y="185321"/>
                </a:lnTo>
                <a:cubicBezTo>
                  <a:pt x="222230" y="181213"/>
                  <a:pt x="210860" y="184071"/>
                  <a:pt x="204073" y="192345"/>
                </a:cubicBezTo>
                <a:lnTo>
                  <a:pt x="181094" y="220444"/>
                </a:lnTo>
                <a:cubicBezTo>
                  <a:pt x="139244" y="199668"/>
                  <a:pt x="105549" y="164902"/>
                  <a:pt x="86201" y="122218"/>
                </a:cubicBezTo>
                <a:lnTo>
                  <a:pt x="112514" y="100786"/>
                </a:lnTo>
                <a:cubicBezTo>
                  <a:pt x="120789" y="94059"/>
                  <a:pt x="123587" y="82689"/>
                  <a:pt x="119539" y="72807"/>
                </a:cubicBezTo>
                <a:lnTo>
                  <a:pt x="95369" y="1488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29845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derived class can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member functions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any of its base classes directly.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8575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55050" y="298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080500" y="2921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function names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conflict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explicit qualification with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required.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318000"/>
            <a:ext cx="7112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16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44450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derived class can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functions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multiple base classes separately.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4318000"/>
            <a:ext cx="7112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55050" y="457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500" y="44450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calls resolved 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 time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unless virtual functions are used.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90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13500"/>
            <a:ext cx="14732000" cy="1841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65405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callBoth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::func();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::func(); 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qualification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 in Multiple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Calling Order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159000"/>
            <a:ext cx="374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 constructors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called in declaration order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6096000" y="2032000"/>
            <a:ext cx="4064000" cy="127000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159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object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constructors in declaration order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87000" y="2540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795000" y="2032000"/>
            <a:ext cx="4699000" cy="8255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85500" y="2095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57000" y="2159000"/>
            <a:ext cx="374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constructor called last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68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Constructor Calls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14732000" cy="2095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43180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y)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(x),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(y)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Explicit base constructor calls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"Derived constructor"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286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6286500"/>
            <a:ext cx="635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654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350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 explicit constructor call is provided,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constructor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base class is called automatically.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Destructors in Multiple Inheritance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825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825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24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Destructor calling order is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 reverse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constructor order. This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LIFO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(Last-In-First-Out) behavior ensures proper cleanup of resources.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Destructor Calling Order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4699000" cy="8255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238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3238500"/>
            <a:ext cx="374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destructor called first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3683000"/>
            <a:ext cx="381000" cy="0"/>
          </a:xfrm>
          <a:prstGeom prst="straightConnector1">
            <a:avLst/>
          </a:prstGeom>
          <a:noFill/>
          <a:ln w="25400">
            <a:solidFill>
              <a:srgbClr val="1B2A4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096000" y="3175000"/>
            <a:ext cx="4064000" cy="127000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0" y="330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3302000"/>
            <a:ext cx="311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objects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reverse declaration order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3683000"/>
            <a:ext cx="381000" cy="0"/>
          </a:xfrm>
          <a:prstGeom prst="straightConnector1">
            <a:avLst/>
          </a:prstGeom>
          <a:noFill/>
          <a:ln w="25400">
            <a:solidFill>
              <a:srgbClr val="1B2A4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795000" y="3175000"/>
            <a:ext cx="4699000" cy="8255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85500" y="32385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7000" y="3238500"/>
            <a:ext cx="374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destructors in reverse order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97500"/>
            <a:ext cx="14732000" cy="2857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524500"/>
            <a:ext cx="14097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~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"~A()"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~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"~B()"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 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C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~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3E8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"~C()"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82AA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C obj;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C792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 }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76E9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~C() → ~B() → ~A()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0" y="87376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095500"/>
            <a:ext cx="7112000" cy="6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413000"/>
            <a:ext cx="6477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Models complex real-world relationships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features from unrelated classes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code reusability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powerful design patterns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code duplication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Flexible class composition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524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095500"/>
            <a:ext cx="71120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2000" y="2095500"/>
            <a:ext cx="7112000" cy="6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2413000"/>
            <a:ext cx="6477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Ambiguity with same-named members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Increased complexity in hierarchies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Tighter coupling between classes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Diamond Problem requires handling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Harder to understand and maintain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supported in Java, C#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31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6731000"/>
            <a:ext cx="635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7600" y="6985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6794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Languages like Java and C# avoid multiple inheritance of classes, using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to achieve similar flexibility.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&amp;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2222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159000"/>
            <a:ext cx="387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inheritance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avoid Diamond Problem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2032000"/>
            <a:ext cx="4699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30900" y="2222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3500" y="2159000"/>
            <a:ext cx="387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scope resolution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ambiguity cannot be avoided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2032000"/>
            <a:ext cx="4699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47400" y="2222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2159000"/>
            <a:ext cx="387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inheritance hierarchies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shallow and simple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02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492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3429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Favor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multiple inheritance when possible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392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34400" y="34925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7000" y="3429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inheritance relationships clearly in code comments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— Key Concepts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270500"/>
            <a:ext cx="14732000" cy="298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92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9500" y="5461000"/>
            <a:ext cx="14097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Types of Inheritance: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Single, Multiple, Multilevel, Hierarchical, Hybrid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 Modes: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Public, Protected, Private — control member access in derived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 Resolution: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Scope Resolution Operator (::) and Virtual Base Classes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Constructor/Destructor Order: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Base-to-derived for constructors, reverse for destructors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Diamond Problem: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Solved with virtual inheritance — ensures single base class copy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4478000" y="8737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 / 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318000" y="1905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COMPLETION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13000" y="266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8000" y="3683000"/>
            <a:ext cx="1270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90000"/>
              </a:lnSpc>
            </a:pPr>
            <a:r>
              <a:rPr lang="en-US" sz="2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Inheritance enables </a:t>
            </a:r>
            <a:pPr>
              <a:lnSpc>
                <a:spcPct val="19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reusability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hierarchical class design</a:t>
            </a:r>
            <a:endParaRPr lang="en-US" sz="1600" dirty="0"/>
          </a:p>
          <a:p>
            <a:pPr>
              <a:lnSpc>
                <a:spcPct val="190000"/>
              </a:lnSpc>
            </a:pPr>
            <a:r>
              <a:rPr lang="en-US" sz="2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</a:t>
            </a:r>
            <a:pPr>
              <a:lnSpc>
                <a:spcPct val="19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 modes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control member access in derived classes</a:t>
            </a:r>
            <a:endParaRPr lang="en-US" sz="1600" dirty="0"/>
          </a:p>
          <a:p>
            <a:pPr>
              <a:lnSpc>
                <a:spcPct val="190000"/>
              </a:lnSpc>
            </a:pPr>
            <a:r>
              <a:rPr lang="en-US" sz="2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inheritance requires careful handling of </a:t>
            </a:r>
            <a:pPr>
              <a:lnSpc>
                <a:spcPct val="19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</a:t>
            </a:r>
            <a:endParaRPr lang="en-US" sz="1600" dirty="0"/>
          </a:p>
          <a:p>
            <a:pPr>
              <a:lnSpc>
                <a:spcPct val="190000"/>
              </a:lnSpc>
            </a:pPr>
            <a:r>
              <a:rPr lang="en-US" sz="2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9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inheritance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cleanest solution to the Diamond Problem</a:t>
            </a:r>
            <a:endParaRPr lang="en-US" sz="1600" dirty="0"/>
          </a:p>
          <a:p>
            <a:pPr>
              <a:lnSpc>
                <a:spcPct val="190000"/>
              </a:lnSpc>
            </a:pPr>
            <a:r>
              <a:rPr lang="en-US" sz="2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consider </a:t>
            </a:r>
            <a:pPr>
              <a:lnSpc>
                <a:spcPct val="19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composition</a:t>
            </a:r>
            <a:pPr>
              <a:lnSpc>
                <a:spcPct val="19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an alternative to complex inheritance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7620000"/>
            <a:ext cx="14732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Oriented Programming — Week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78740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7</dc:title>
  <dc:subject>Object Oriented Programming - Week 7</dc:subject>
  <dc:creator>Kimi</dc:creator>
  <cp:lastModifiedBy>Kimi</cp:lastModifiedBy>
  <cp:revision>1</cp:revision>
  <dcterms:created xsi:type="dcterms:W3CDTF">2026-05-26T11:38:49Z</dcterms:created>
  <dcterms:modified xsi:type="dcterms:W3CDTF">2026-05-26T11:38:49Z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7","ContentProducer":"001191110108MACG2KBH8F10000","ProduceID":"19e640f2-6ab2-8a81-8000-00003bcf7ed2","ReservedCode1":"","ContentPropagator":"001191110108MACG2KBH8F20000","PropagateID":"19e640f2-6ab2-8a81-8000-00003bcf7ed2","ReservedCode2":""}</vt:lpwstr>
  </property>
</Properties>
</file>