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embeddedFontLst>
    <p:embeddedFont>
      <p:font typeface="Quattrocento Sans" charset="-122" pitchFamily="34"/>
      <p:regular r:id="rId37"/>
    </p:embeddedFont>
    <p:embeddedFont>
      <p:font typeface="Liter" charset="-122" pitchFamily="34"/>
      <p:regular r:id="rId38"/>
    </p:embeddedFont>
    <p:embeddedFont>
      <p:font typeface="Hedvig Letters Sans" charset="-122" pitchFamily="34"/>
      <p:regular r:id="rId3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1"/>
        </a:solidFill>
      </p:bgPr>
    </p:bg>
    <p:spTree>
      <p:nvGrpSpPr>
        <p:cNvPr id="1" name=""/>
        <p:cNvGrpSpPr/>
        <p:nvPr/>
      </p:nvGrpSpPr>
      <p:grpSpPr>
        <a:xfrm>
          <a:off x="0" y="0"/>
          <a:ext cx="0" cy="0"/>
          <a:chOff x="0" y="0"/>
          <a:chExt cx="0" cy="0"/>
        </a:xfrm>
      </p:grpSpPr>
      <p:pic>
        <p:nvPicPr>
          <p:cNvPr id="2" name="Image 0" descr="https://kimi-web-img.moonshot.cn/img/cdn.prod.website-files.com/b2dfdecd210b817fae8dfa2b3dbb0ce00efde2cb.png">    </p:cNvPr>
          <p:cNvPicPr>
            <a:picLocks noChangeAspect="1"/>
          </p:cNvPicPr>
          <p:nvPr/>
        </p:nvPicPr>
        <p:blipFill>
          <a:blip r:embed="rId1">
            <a:alphaModFix amt="30000"/>
          </a:blip>
          <a:srcRect l="183" r="183" t="0" b="0"/>
          <a:stretch/>
        </p:blipFill>
        <p:spPr>
          <a:xfrm>
            <a:off x="0" y="0"/>
            <a:ext cx="12192000" cy="6858000"/>
          </a:xfrm>
          <a:prstGeom prst="roundRect">
            <a:avLst>
              <a:gd name="adj" fmla="val 0"/>
            </a:avLst>
          </a:prstGeom>
        </p:spPr>
      </p:pic>
      <p:sp>
        <p:nvSpPr>
          <p:cNvPr id="3" name="Shape 0"/>
          <p:cNvSpPr/>
          <p:nvPr/>
        </p:nvSpPr>
        <p:spPr>
          <a:xfrm>
            <a:off x="0" y="0"/>
            <a:ext cx="12192000" cy="6858000"/>
          </a:xfrm>
          <a:prstGeom prst="roundRect">
            <a:avLst>
              <a:gd name="adj" fmla="val 0"/>
            </a:avLst>
          </a:prstGeom>
          <a:gradFill rotWithShape="1" flip="none">
            <a:gsLst>
              <a:gs pos="0">
                <a:srgbClr val="1A1D21">
                  <a:alpha val="95000"/>
                </a:srgbClr>
              </a:gs>
              <a:gs pos="50000">
                <a:srgbClr val="1A1D21">
                  <a:alpha val="90000"/>
                </a:srgbClr>
              </a:gs>
              <a:gs pos="100000">
                <a:srgbClr val="34C759">
                  <a:alpha val="20000"/>
                </a:srgbClr>
              </a:gs>
            </a:gsLst>
            <a:lin ang="2700000" scaled="1"/>
          </a:gradFill>
          <a:ln/>
        </p:spPr>
      </p:sp>
      <p:sp>
        <p:nvSpPr>
          <p:cNvPr id="4" name="Shape 1"/>
          <p:cNvSpPr/>
          <p:nvPr/>
        </p:nvSpPr>
        <p:spPr>
          <a:xfrm>
            <a:off x="381000" y="1581150"/>
            <a:ext cx="2381250" cy="419100"/>
          </a:xfrm>
          <a:prstGeom prst="roundRect">
            <a:avLst>
              <a:gd name="adj" fmla="val 50000"/>
            </a:avLst>
          </a:prstGeom>
          <a:solidFill>
            <a:srgbClr val="34C759"/>
          </a:solidFill>
          <a:ln/>
        </p:spPr>
      </p:sp>
      <p:sp>
        <p:nvSpPr>
          <p:cNvPr id="5" name="Text 2"/>
          <p:cNvSpPr/>
          <p:nvPr/>
        </p:nvSpPr>
        <p:spPr>
          <a:xfrm>
            <a:off x="571500" y="1695450"/>
            <a:ext cx="2089547" cy="190500"/>
          </a:xfrm>
          <a:prstGeom prst="rect">
            <a:avLst/>
          </a:prstGeom>
          <a:noFill/>
          <a:ln/>
        </p:spPr>
        <p:txBody>
          <a:bodyPr wrap="square" lIns="0" tIns="0" rIns="0" bIns="0" rtlCol="0" anchor="ctr"/>
          <a:lstStyle/>
          <a:p>
            <a:pPr>
              <a:lnSpc>
                <a:spcPct val="130000"/>
              </a:lnSpc>
            </a:pPr>
            <a:r>
              <a:rPr lang="en-US" sz="1350" b="1" spc="68" kern="0" dirty="0">
                <a:solidFill>
                  <a:srgbClr val="1D1D1F"/>
                </a:solidFill>
                <a:latin typeface="Quattrocento Sans" pitchFamily="34" charset="0"/>
                <a:ea typeface="Quattrocento Sans" pitchFamily="34" charset="-122"/>
                <a:cs typeface="Quattrocento Sans" pitchFamily="34" charset="-120"/>
              </a:rPr>
              <a:t>WEEK 1 – LECTURE 1 &amp; 2</a:t>
            </a:r>
            <a:endParaRPr lang="en-US" sz="1600" dirty="0"/>
          </a:p>
        </p:txBody>
      </p:sp>
      <p:sp>
        <p:nvSpPr>
          <p:cNvPr id="6" name="Text 3"/>
          <p:cNvSpPr/>
          <p:nvPr/>
        </p:nvSpPr>
        <p:spPr>
          <a:xfrm>
            <a:off x="381000" y="2305050"/>
            <a:ext cx="6000750" cy="1714500"/>
          </a:xfrm>
          <a:prstGeom prst="rect">
            <a:avLst/>
          </a:prstGeom>
          <a:noFill/>
          <a:ln/>
        </p:spPr>
        <p:txBody>
          <a:bodyPr wrap="square" lIns="0" tIns="0" rIns="0" bIns="0" rtlCol="0" anchor="ctr"/>
          <a:lstStyle/>
          <a:p>
            <a:pPr>
              <a:lnSpc>
                <a:spcPct val="100000"/>
              </a:lnSpc>
            </a:pPr>
            <a:r>
              <a:rPr lang="en-US" sz="5400" b="1" dirty="0">
                <a:solidFill>
                  <a:srgbClr val="F5F5F7"/>
                </a:solidFill>
                <a:latin typeface="Liter" pitchFamily="34" charset="0"/>
                <a:ea typeface="Liter" pitchFamily="34" charset="-122"/>
                <a:cs typeface="Liter" pitchFamily="34" charset="-120"/>
              </a:rPr>
              <a:t>Mobile Application</a:t>
            </a:r>
            <a:endParaRPr lang="en-US" sz="1600" dirty="0"/>
          </a:p>
          <a:p>
            <a:pPr>
              <a:lnSpc>
                <a:spcPct val="100000"/>
              </a:lnSpc>
            </a:pPr>
            <a:r>
              <a:rPr lang="en-US" sz="5400" b="1" dirty="0">
                <a:solidFill>
                  <a:srgbClr val="F5F5F7"/>
                </a:solidFill>
                <a:latin typeface="Liter" pitchFamily="34" charset="0"/>
                <a:ea typeface="Liter" pitchFamily="34" charset="-122"/>
                <a:cs typeface="Liter" pitchFamily="34" charset="-120"/>
              </a:rPr>
              <a:t>Development</a:t>
            </a:r>
            <a:endParaRPr lang="en-US" sz="1600" dirty="0"/>
          </a:p>
        </p:txBody>
      </p:sp>
      <p:sp>
        <p:nvSpPr>
          <p:cNvPr id="7" name="Text 4"/>
          <p:cNvSpPr/>
          <p:nvPr/>
        </p:nvSpPr>
        <p:spPr>
          <a:xfrm>
            <a:off x="381000" y="4248150"/>
            <a:ext cx="7696200" cy="381000"/>
          </a:xfrm>
          <a:prstGeom prst="rect">
            <a:avLst/>
          </a:prstGeom>
          <a:noFill/>
          <a:ln/>
        </p:spPr>
        <p:txBody>
          <a:bodyPr wrap="square" lIns="0" tIns="0" rIns="0" bIns="0" rtlCol="0" anchor="ctr"/>
          <a:lstStyle/>
          <a:p>
            <a:pPr>
              <a:lnSpc>
                <a:spcPct val="90000"/>
              </a:lnSpc>
            </a:pPr>
            <a:r>
              <a:rPr lang="en-US" sz="2700" dirty="0">
                <a:solidFill>
                  <a:srgbClr val="34C759"/>
                </a:solidFill>
                <a:latin typeface="Hedvig Letters Sans" pitchFamily="34" charset="0"/>
                <a:ea typeface="Hedvig Letters Sans" pitchFamily="34" charset="-122"/>
                <a:cs typeface="Hedvig Letters Sans" pitchFamily="34" charset="-120"/>
              </a:rPr>
              <a:t>Introduction &amp; Development Environment Setup</a:t>
            </a:r>
            <a:endParaRPr lang="en-US" sz="1600" dirty="0"/>
          </a:p>
        </p:txBody>
      </p:sp>
      <p:sp>
        <p:nvSpPr>
          <p:cNvPr id="8" name="Shape 5"/>
          <p:cNvSpPr/>
          <p:nvPr/>
        </p:nvSpPr>
        <p:spPr>
          <a:xfrm>
            <a:off x="395288" y="5029200"/>
            <a:ext cx="257175" cy="228600"/>
          </a:xfrm>
          <a:custGeom>
            <a:avLst/>
            <a:gdLst/>
            <a:ahLst/>
            <a:cxnLst/>
            <a:rect l="l" t="t" r="r" b="b"/>
            <a:pathLst>
              <a:path w="257175" h="228600">
                <a:moveTo>
                  <a:pt x="21431" y="87422"/>
                </a:moveTo>
                <a:lnTo>
                  <a:pt x="114836" y="125864"/>
                </a:lnTo>
                <a:cubicBezTo>
                  <a:pt x="119211" y="127650"/>
                  <a:pt x="123855" y="128588"/>
                  <a:pt x="128588" y="128588"/>
                </a:cubicBezTo>
                <a:cubicBezTo>
                  <a:pt x="133320" y="128588"/>
                  <a:pt x="137964" y="127650"/>
                  <a:pt x="142339" y="125864"/>
                </a:cubicBezTo>
                <a:lnTo>
                  <a:pt x="250567" y="81305"/>
                </a:lnTo>
                <a:cubicBezTo>
                  <a:pt x="254585" y="79653"/>
                  <a:pt x="257175" y="75768"/>
                  <a:pt x="257175" y="71437"/>
                </a:cubicBezTo>
                <a:cubicBezTo>
                  <a:pt x="257175" y="67107"/>
                  <a:pt x="254585" y="63222"/>
                  <a:pt x="250567" y="61570"/>
                </a:cubicBezTo>
                <a:lnTo>
                  <a:pt x="142339" y="17011"/>
                </a:lnTo>
                <a:cubicBezTo>
                  <a:pt x="137964" y="15225"/>
                  <a:pt x="133320" y="14288"/>
                  <a:pt x="128588" y="14288"/>
                </a:cubicBezTo>
                <a:cubicBezTo>
                  <a:pt x="123855" y="14288"/>
                  <a:pt x="119211" y="15225"/>
                  <a:pt x="114836" y="17011"/>
                </a:cubicBezTo>
                <a:lnTo>
                  <a:pt x="6608" y="61570"/>
                </a:lnTo>
                <a:cubicBezTo>
                  <a:pt x="2590" y="63222"/>
                  <a:pt x="0" y="67107"/>
                  <a:pt x="0" y="71438"/>
                </a:cubicBezTo>
                <a:lnTo>
                  <a:pt x="0" y="203597"/>
                </a:lnTo>
                <a:cubicBezTo>
                  <a:pt x="0" y="209535"/>
                  <a:pt x="4777" y="214313"/>
                  <a:pt x="10716" y="214313"/>
                </a:cubicBezTo>
                <a:cubicBezTo>
                  <a:pt x="16654" y="214313"/>
                  <a:pt x="21431" y="209535"/>
                  <a:pt x="21431" y="203597"/>
                </a:cubicBezTo>
                <a:lnTo>
                  <a:pt x="21431" y="87422"/>
                </a:lnTo>
                <a:close/>
                <a:moveTo>
                  <a:pt x="42863" y="119435"/>
                </a:moveTo>
                <a:lnTo>
                  <a:pt x="42863" y="171450"/>
                </a:lnTo>
                <a:cubicBezTo>
                  <a:pt x="42863" y="195114"/>
                  <a:pt x="81260" y="214313"/>
                  <a:pt x="128588" y="214313"/>
                </a:cubicBezTo>
                <a:cubicBezTo>
                  <a:pt x="175915" y="214313"/>
                  <a:pt x="214313" y="195114"/>
                  <a:pt x="214313" y="171450"/>
                </a:cubicBezTo>
                <a:lnTo>
                  <a:pt x="214313" y="119390"/>
                </a:lnTo>
                <a:lnTo>
                  <a:pt x="150510" y="145688"/>
                </a:lnTo>
                <a:cubicBezTo>
                  <a:pt x="143545" y="148545"/>
                  <a:pt x="136133" y="150019"/>
                  <a:pt x="128588" y="150019"/>
                </a:cubicBezTo>
                <a:cubicBezTo>
                  <a:pt x="121042" y="150019"/>
                  <a:pt x="113630" y="148545"/>
                  <a:pt x="106665" y="145688"/>
                </a:cubicBezTo>
                <a:lnTo>
                  <a:pt x="42863" y="119390"/>
                </a:lnTo>
                <a:close/>
              </a:path>
            </a:pathLst>
          </a:custGeom>
          <a:solidFill>
            <a:srgbClr val="34C759"/>
          </a:solidFill>
          <a:ln/>
        </p:spPr>
      </p:sp>
      <p:sp>
        <p:nvSpPr>
          <p:cNvPr id="9" name="Text 6"/>
          <p:cNvSpPr/>
          <p:nvPr/>
        </p:nvSpPr>
        <p:spPr>
          <a:xfrm>
            <a:off x="781050" y="5010150"/>
            <a:ext cx="2190750" cy="266700"/>
          </a:xfrm>
          <a:prstGeom prst="rect">
            <a:avLst/>
          </a:prstGeom>
          <a:noFill/>
          <a:ln/>
        </p:spPr>
        <p:txBody>
          <a:bodyPr wrap="square" lIns="0" tIns="0" rIns="0" bIns="0" rtlCol="0" anchor="ctr"/>
          <a:lstStyle/>
          <a:p>
            <a:pPr>
              <a:lnSpc>
                <a:spcPct val="120000"/>
              </a:lnSpc>
            </a:pPr>
            <a:r>
              <a:rPr lang="en-US" sz="1500" dirty="0">
                <a:solidFill>
                  <a:srgbClr val="8E8E93"/>
                </a:solidFill>
                <a:latin typeface="Quattrocento Sans" pitchFamily="34" charset="0"/>
                <a:ea typeface="Quattrocento Sans" pitchFamily="34" charset="-122"/>
                <a:cs typeface="Quattrocento Sans" pitchFamily="34" charset="-120"/>
              </a:rPr>
              <a:t>Beginner-Friendly Course</a:t>
            </a:r>
            <a:endParaRPr lang="en-US" sz="1600" dirty="0"/>
          </a:p>
        </p:txBody>
      </p:sp>
      <p:sp>
        <p:nvSpPr>
          <p:cNvPr id="10" name="Shape 7"/>
          <p:cNvSpPr/>
          <p:nvPr/>
        </p:nvSpPr>
        <p:spPr>
          <a:xfrm>
            <a:off x="3109794" y="5105400"/>
            <a:ext cx="76200" cy="76200"/>
          </a:xfrm>
          <a:prstGeom prst="roundRect">
            <a:avLst>
              <a:gd name="adj" fmla="val 50000"/>
            </a:avLst>
          </a:prstGeom>
          <a:solidFill>
            <a:srgbClr val="34C759"/>
          </a:solidFill>
          <a:ln/>
        </p:spPr>
      </p:sp>
      <p:sp>
        <p:nvSpPr>
          <p:cNvPr id="11" name="Shape 8"/>
          <p:cNvSpPr/>
          <p:nvPr/>
        </p:nvSpPr>
        <p:spPr>
          <a:xfrm>
            <a:off x="3457456" y="5029200"/>
            <a:ext cx="200025" cy="228600"/>
          </a:xfrm>
          <a:custGeom>
            <a:avLst/>
            <a:gdLst/>
            <a:ahLst/>
            <a:cxnLst/>
            <a:rect l="l" t="t" r="r" b="b"/>
            <a:pathLst>
              <a:path w="200025" h="228600">
                <a:moveTo>
                  <a:pt x="57150" y="0"/>
                </a:moveTo>
                <a:cubicBezTo>
                  <a:pt x="65053" y="0"/>
                  <a:pt x="71438" y="6385"/>
                  <a:pt x="71438" y="14288"/>
                </a:cubicBezTo>
                <a:lnTo>
                  <a:pt x="71438" y="28575"/>
                </a:lnTo>
                <a:lnTo>
                  <a:pt x="128588" y="28575"/>
                </a:lnTo>
                <a:lnTo>
                  <a:pt x="128588" y="14288"/>
                </a:lnTo>
                <a:cubicBezTo>
                  <a:pt x="128588" y="6385"/>
                  <a:pt x="134972" y="0"/>
                  <a:pt x="142875" y="0"/>
                </a:cubicBezTo>
                <a:cubicBezTo>
                  <a:pt x="150778" y="0"/>
                  <a:pt x="157163" y="6385"/>
                  <a:pt x="157163" y="14288"/>
                </a:cubicBezTo>
                <a:lnTo>
                  <a:pt x="157163" y="28575"/>
                </a:lnTo>
                <a:lnTo>
                  <a:pt x="171450" y="28575"/>
                </a:lnTo>
                <a:cubicBezTo>
                  <a:pt x="187211" y="28575"/>
                  <a:pt x="200025" y="41389"/>
                  <a:pt x="200025" y="57150"/>
                </a:cubicBezTo>
                <a:lnTo>
                  <a:pt x="200025" y="185738"/>
                </a:lnTo>
                <a:cubicBezTo>
                  <a:pt x="200025" y="201498"/>
                  <a:pt x="187211" y="214313"/>
                  <a:pt x="171450" y="214313"/>
                </a:cubicBezTo>
                <a:lnTo>
                  <a:pt x="28575" y="214313"/>
                </a:lnTo>
                <a:cubicBezTo>
                  <a:pt x="12814" y="214313"/>
                  <a:pt x="0" y="201498"/>
                  <a:pt x="0" y="185738"/>
                </a:cubicBezTo>
                <a:lnTo>
                  <a:pt x="0" y="57150"/>
                </a:lnTo>
                <a:cubicBezTo>
                  <a:pt x="0" y="41389"/>
                  <a:pt x="12814" y="28575"/>
                  <a:pt x="28575" y="28575"/>
                </a:cubicBezTo>
                <a:lnTo>
                  <a:pt x="42863" y="28575"/>
                </a:lnTo>
                <a:lnTo>
                  <a:pt x="42863" y="14288"/>
                </a:lnTo>
                <a:cubicBezTo>
                  <a:pt x="42863" y="6385"/>
                  <a:pt x="49247" y="0"/>
                  <a:pt x="57150" y="0"/>
                </a:cubicBezTo>
                <a:close/>
                <a:moveTo>
                  <a:pt x="28575" y="107156"/>
                </a:moveTo>
                <a:lnTo>
                  <a:pt x="28575" y="121444"/>
                </a:lnTo>
                <a:cubicBezTo>
                  <a:pt x="28575" y="125373"/>
                  <a:pt x="31790" y="128588"/>
                  <a:pt x="35719" y="128588"/>
                </a:cubicBezTo>
                <a:lnTo>
                  <a:pt x="50006" y="128588"/>
                </a:lnTo>
                <a:cubicBezTo>
                  <a:pt x="53935" y="128588"/>
                  <a:pt x="57150" y="125373"/>
                  <a:pt x="57150" y="121444"/>
                </a:cubicBezTo>
                <a:lnTo>
                  <a:pt x="57150" y="107156"/>
                </a:lnTo>
                <a:cubicBezTo>
                  <a:pt x="57150" y="103227"/>
                  <a:pt x="53935" y="100013"/>
                  <a:pt x="50006" y="100013"/>
                </a:cubicBezTo>
                <a:lnTo>
                  <a:pt x="35719" y="100013"/>
                </a:lnTo>
                <a:cubicBezTo>
                  <a:pt x="31790" y="100013"/>
                  <a:pt x="28575" y="103227"/>
                  <a:pt x="28575" y="107156"/>
                </a:cubicBezTo>
                <a:close/>
                <a:moveTo>
                  <a:pt x="85725" y="107156"/>
                </a:moveTo>
                <a:lnTo>
                  <a:pt x="85725" y="121444"/>
                </a:lnTo>
                <a:cubicBezTo>
                  <a:pt x="85725" y="125373"/>
                  <a:pt x="88940" y="128588"/>
                  <a:pt x="92869" y="128588"/>
                </a:cubicBezTo>
                <a:lnTo>
                  <a:pt x="107156" y="128588"/>
                </a:lnTo>
                <a:cubicBezTo>
                  <a:pt x="111085" y="128588"/>
                  <a:pt x="114300" y="125373"/>
                  <a:pt x="114300" y="121444"/>
                </a:cubicBezTo>
                <a:lnTo>
                  <a:pt x="114300" y="107156"/>
                </a:lnTo>
                <a:cubicBezTo>
                  <a:pt x="114300" y="103227"/>
                  <a:pt x="111085" y="100013"/>
                  <a:pt x="107156" y="100013"/>
                </a:cubicBezTo>
                <a:lnTo>
                  <a:pt x="92869" y="100013"/>
                </a:lnTo>
                <a:cubicBezTo>
                  <a:pt x="88940" y="100013"/>
                  <a:pt x="85725" y="103227"/>
                  <a:pt x="85725" y="107156"/>
                </a:cubicBezTo>
                <a:close/>
                <a:moveTo>
                  <a:pt x="150019" y="100013"/>
                </a:moveTo>
                <a:cubicBezTo>
                  <a:pt x="146090" y="100013"/>
                  <a:pt x="142875" y="103227"/>
                  <a:pt x="142875" y="107156"/>
                </a:cubicBezTo>
                <a:lnTo>
                  <a:pt x="142875" y="121444"/>
                </a:lnTo>
                <a:cubicBezTo>
                  <a:pt x="142875" y="125373"/>
                  <a:pt x="146090" y="128588"/>
                  <a:pt x="150019" y="128588"/>
                </a:cubicBezTo>
                <a:lnTo>
                  <a:pt x="164306" y="128588"/>
                </a:lnTo>
                <a:cubicBezTo>
                  <a:pt x="168235" y="128588"/>
                  <a:pt x="171450" y="125373"/>
                  <a:pt x="171450" y="121444"/>
                </a:cubicBezTo>
                <a:lnTo>
                  <a:pt x="171450" y="107156"/>
                </a:lnTo>
                <a:cubicBezTo>
                  <a:pt x="171450" y="103227"/>
                  <a:pt x="168235" y="100013"/>
                  <a:pt x="164306" y="100013"/>
                </a:cubicBezTo>
                <a:lnTo>
                  <a:pt x="150019" y="100013"/>
                </a:lnTo>
                <a:close/>
                <a:moveTo>
                  <a:pt x="28575" y="164306"/>
                </a:moveTo>
                <a:lnTo>
                  <a:pt x="28575" y="178594"/>
                </a:lnTo>
                <a:cubicBezTo>
                  <a:pt x="28575" y="182523"/>
                  <a:pt x="31790" y="185738"/>
                  <a:pt x="35719" y="185738"/>
                </a:cubicBezTo>
                <a:lnTo>
                  <a:pt x="50006" y="185738"/>
                </a:lnTo>
                <a:cubicBezTo>
                  <a:pt x="53935" y="185738"/>
                  <a:pt x="57150" y="182523"/>
                  <a:pt x="57150" y="178594"/>
                </a:cubicBezTo>
                <a:lnTo>
                  <a:pt x="57150" y="164306"/>
                </a:lnTo>
                <a:cubicBezTo>
                  <a:pt x="57150" y="160377"/>
                  <a:pt x="53935" y="157163"/>
                  <a:pt x="50006" y="157163"/>
                </a:cubicBezTo>
                <a:lnTo>
                  <a:pt x="35719" y="157163"/>
                </a:lnTo>
                <a:cubicBezTo>
                  <a:pt x="31790" y="157163"/>
                  <a:pt x="28575" y="160377"/>
                  <a:pt x="28575" y="164306"/>
                </a:cubicBezTo>
                <a:close/>
                <a:moveTo>
                  <a:pt x="92869" y="157163"/>
                </a:moveTo>
                <a:cubicBezTo>
                  <a:pt x="88940" y="157163"/>
                  <a:pt x="85725" y="160377"/>
                  <a:pt x="85725" y="164306"/>
                </a:cubicBezTo>
                <a:lnTo>
                  <a:pt x="85725" y="178594"/>
                </a:lnTo>
                <a:cubicBezTo>
                  <a:pt x="85725" y="182523"/>
                  <a:pt x="88940" y="185738"/>
                  <a:pt x="92869" y="185738"/>
                </a:cubicBezTo>
                <a:lnTo>
                  <a:pt x="107156" y="185738"/>
                </a:lnTo>
                <a:cubicBezTo>
                  <a:pt x="111085" y="185738"/>
                  <a:pt x="114300" y="182523"/>
                  <a:pt x="114300" y="178594"/>
                </a:cubicBezTo>
                <a:lnTo>
                  <a:pt x="114300" y="164306"/>
                </a:lnTo>
                <a:cubicBezTo>
                  <a:pt x="114300" y="160377"/>
                  <a:pt x="111085" y="157163"/>
                  <a:pt x="107156" y="157163"/>
                </a:cubicBezTo>
                <a:lnTo>
                  <a:pt x="92869" y="157163"/>
                </a:lnTo>
                <a:close/>
                <a:moveTo>
                  <a:pt x="142875" y="164306"/>
                </a:moveTo>
                <a:lnTo>
                  <a:pt x="142875" y="178594"/>
                </a:lnTo>
                <a:cubicBezTo>
                  <a:pt x="142875" y="182523"/>
                  <a:pt x="146090" y="185738"/>
                  <a:pt x="150019" y="185738"/>
                </a:cubicBezTo>
                <a:lnTo>
                  <a:pt x="164306" y="185738"/>
                </a:lnTo>
                <a:cubicBezTo>
                  <a:pt x="168235" y="185738"/>
                  <a:pt x="171450" y="182523"/>
                  <a:pt x="171450" y="178594"/>
                </a:cubicBezTo>
                <a:lnTo>
                  <a:pt x="171450" y="164306"/>
                </a:lnTo>
                <a:cubicBezTo>
                  <a:pt x="171450" y="160377"/>
                  <a:pt x="168235" y="157163"/>
                  <a:pt x="164306" y="157163"/>
                </a:cubicBezTo>
                <a:lnTo>
                  <a:pt x="150019" y="157163"/>
                </a:lnTo>
                <a:cubicBezTo>
                  <a:pt x="146090" y="157163"/>
                  <a:pt x="142875" y="160377"/>
                  <a:pt x="142875" y="164306"/>
                </a:cubicBezTo>
                <a:close/>
              </a:path>
            </a:pathLst>
          </a:custGeom>
          <a:solidFill>
            <a:srgbClr val="34C759"/>
          </a:solidFill>
          <a:ln/>
        </p:spPr>
      </p:sp>
      <p:sp>
        <p:nvSpPr>
          <p:cNvPr id="12" name="Text 9"/>
          <p:cNvSpPr/>
          <p:nvPr/>
        </p:nvSpPr>
        <p:spPr>
          <a:xfrm>
            <a:off x="3814644" y="5010150"/>
            <a:ext cx="514350" cy="266700"/>
          </a:xfrm>
          <a:prstGeom prst="rect">
            <a:avLst/>
          </a:prstGeom>
          <a:noFill/>
          <a:ln/>
        </p:spPr>
        <p:txBody>
          <a:bodyPr wrap="square" lIns="0" tIns="0" rIns="0" bIns="0" rtlCol="0" anchor="ctr"/>
          <a:lstStyle/>
          <a:p>
            <a:pPr>
              <a:lnSpc>
                <a:spcPct val="120000"/>
              </a:lnSpc>
            </a:pPr>
            <a:r>
              <a:rPr lang="en-US" sz="1500" dirty="0">
                <a:solidFill>
                  <a:srgbClr val="8E8E93"/>
                </a:solidFill>
                <a:latin typeface="Quattrocento Sans" pitchFamily="34" charset="0"/>
                <a:ea typeface="Quattrocento Sans" pitchFamily="34" charset="-122"/>
                <a:cs typeface="Quattrocento Sans" pitchFamily="34" charset="-120"/>
              </a:rPr>
              <a:t>2026</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78928" y="435767"/>
            <a:ext cx="454713" cy="454713"/>
          </a:xfrm>
          <a:prstGeom prst="roundRect">
            <a:avLst>
              <a:gd name="adj" fmla="val 25000"/>
            </a:avLst>
          </a:prstGeom>
          <a:solidFill>
            <a:srgbClr val="34C759"/>
          </a:solidFill>
          <a:ln/>
        </p:spPr>
      </p:sp>
      <p:sp>
        <p:nvSpPr>
          <p:cNvPr id="3" name="Text 1"/>
          <p:cNvSpPr/>
          <p:nvPr/>
        </p:nvSpPr>
        <p:spPr>
          <a:xfrm>
            <a:off x="488225" y="511552"/>
            <a:ext cx="350508" cy="303142"/>
          </a:xfrm>
          <a:prstGeom prst="rect">
            <a:avLst/>
          </a:prstGeom>
          <a:noFill/>
          <a:ln/>
        </p:spPr>
        <p:txBody>
          <a:bodyPr wrap="square" lIns="0" tIns="0" rIns="0" bIns="0" rtlCol="0" anchor="ctr"/>
          <a:lstStyle/>
          <a:p>
            <a:pPr>
              <a:lnSpc>
                <a:spcPct val="110000"/>
              </a:lnSpc>
            </a:pPr>
            <a:r>
              <a:rPr lang="en-US" sz="1790" b="1" dirty="0">
                <a:solidFill>
                  <a:srgbClr val="1D1D1F"/>
                </a:solidFill>
                <a:latin typeface="Liter" pitchFamily="34" charset="0"/>
                <a:ea typeface="Liter" pitchFamily="34" charset="-122"/>
                <a:cs typeface="Liter" pitchFamily="34" charset="-120"/>
              </a:rPr>
              <a:t>01</a:t>
            </a:r>
            <a:endParaRPr lang="en-US" sz="1600" dirty="0"/>
          </a:p>
        </p:txBody>
      </p:sp>
      <p:sp>
        <p:nvSpPr>
          <p:cNvPr id="4" name="Text 2"/>
          <p:cNvSpPr/>
          <p:nvPr/>
        </p:nvSpPr>
        <p:spPr>
          <a:xfrm>
            <a:off x="947319" y="378928"/>
            <a:ext cx="3410350" cy="189464"/>
          </a:xfrm>
          <a:prstGeom prst="rect">
            <a:avLst/>
          </a:prstGeom>
          <a:noFill/>
          <a:ln/>
        </p:spPr>
        <p:txBody>
          <a:bodyPr wrap="square" lIns="0" tIns="0" rIns="0" bIns="0" rtlCol="0" anchor="ctr"/>
          <a:lstStyle/>
          <a:p>
            <a:pPr>
              <a:lnSpc>
                <a:spcPct val="120000"/>
              </a:lnSpc>
            </a:pPr>
            <a:r>
              <a:rPr lang="en-US" sz="1044" b="1" spc="52" kern="0" dirty="0">
                <a:solidFill>
                  <a:srgbClr val="34C759"/>
                </a:solidFill>
                <a:latin typeface="Quattrocento Sans" pitchFamily="34" charset="0"/>
                <a:ea typeface="Quattrocento Sans" pitchFamily="34" charset="-122"/>
                <a:cs typeface="Quattrocento Sans" pitchFamily="34" charset="-120"/>
              </a:rPr>
              <a:t>Introduction to Mobile Apps</a:t>
            </a:r>
            <a:endParaRPr lang="en-US" sz="1600" dirty="0"/>
          </a:p>
        </p:txBody>
      </p:sp>
      <p:sp>
        <p:nvSpPr>
          <p:cNvPr id="5" name="Text 3"/>
          <p:cNvSpPr/>
          <p:nvPr/>
        </p:nvSpPr>
        <p:spPr>
          <a:xfrm>
            <a:off x="947319" y="568392"/>
            <a:ext cx="3514555" cy="378928"/>
          </a:xfrm>
          <a:prstGeom prst="rect">
            <a:avLst/>
          </a:prstGeom>
          <a:noFill/>
          <a:ln/>
        </p:spPr>
        <p:txBody>
          <a:bodyPr wrap="square" lIns="0" tIns="0" rIns="0" bIns="0" rtlCol="0" anchor="ctr"/>
          <a:lstStyle/>
          <a:p>
            <a:pPr>
              <a:lnSpc>
                <a:spcPct val="90000"/>
              </a:lnSpc>
            </a:pPr>
            <a:r>
              <a:rPr lang="en-US" sz="2685" b="1" dirty="0">
                <a:solidFill>
                  <a:srgbClr val="F5F5F7"/>
                </a:solidFill>
                <a:latin typeface="Liter" pitchFamily="34" charset="0"/>
                <a:ea typeface="Liter" pitchFamily="34" charset="-122"/>
                <a:cs typeface="Liter" pitchFamily="34" charset="-120"/>
              </a:rPr>
              <a:t>What is a Mobile App?</a:t>
            </a:r>
            <a:endParaRPr lang="en-US" sz="1600" dirty="0"/>
          </a:p>
        </p:txBody>
      </p:sp>
      <p:sp>
        <p:nvSpPr>
          <p:cNvPr id="6" name="Shape 4"/>
          <p:cNvSpPr/>
          <p:nvPr/>
        </p:nvSpPr>
        <p:spPr>
          <a:xfrm>
            <a:off x="397874" y="1288354"/>
            <a:ext cx="5589184" cy="2841958"/>
          </a:xfrm>
          <a:custGeom>
            <a:avLst/>
            <a:gdLst/>
            <a:ahLst/>
            <a:cxnLst/>
            <a:rect l="l" t="t" r="r" b="b"/>
            <a:pathLst>
              <a:path w="5589184" h="2841958">
                <a:moveTo>
                  <a:pt x="37846" y="0"/>
                </a:moveTo>
                <a:lnTo>
                  <a:pt x="5437632" y="0"/>
                </a:lnTo>
                <a:cubicBezTo>
                  <a:pt x="5521309" y="0"/>
                  <a:pt x="5589143" y="67834"/>
                  <a:pt x="5589143" y="151511"/>
                </a:cubicBezTo>
                <a:lnTo>
                  <a:pt x="5589143" y="2690368"/>
                </a:lnTo>
                <a:cubicBezTo>
                  <a:pt x="5589177" y="2730573"/>
                  <a:pt x="5573229" y="2769143"/>
                  <a:pt x="5544811" y="2797585"/>
                </a:cubicBezTo>
                <a:cubicBezTo>
                  <a:pt x="5516394" y="2826026"/>
                  <a:pt x="5477837" y="2842006"/>
                  <a:pt x="5437632" y="2842006"/>
                </a:cubicBezTo>
                <a:lnTo>
                  <a:pt x="37846" y="2842006"/>
                </a:lnTo>
                <a:cubicBezTo>
                  <a:pt x="27787" y="2842006"/>
                  <a:pt x="18141" y="2838001"/>
                  <a:pt x="11040" y="2830876"/>
                </a:cubicBezTo>
                <a:cubicBezTo>
                  <a:pt x="3939" y="2823751"/>
                  <a:pt x="-34" y="2814092"/>
                  <a:pt x="0" y="2804033"/>
                </a:cubicBezTo>
                <a:lnTo>
                  <a:pt x="0" y="37846"/>
                </a:lnTo>
                <a:cubicBezTo>
                  <a:pt x="0" y="16958"/>
                  <a:pt x="16958" y="0"/>
                  <a:pt x="37846" y="0"/>
                </a:cubicBezTo>
                <a:close/>
              </a:path>
            </a:pathLst>
          </a:custGeom>
          <a:solidFill>
            <a:srgbClr val="2C2C2E"/>
          </a:solidFill>
          <a:ln/>
        </p:spPr>
      </p:sp>
      <p:sp>
        <p:nvSpPr>
          <p:cNvPr id="7" name="Shape 5"/>
          <p:cNvSpPr/>
          <p:nvPr/>
        </p:nvSpPr>
        <p:spPr>
          <a:xfrm>
            <a:off x="397874" y="1288354"/>
            <a:ext cx="37893" cy="2841958"/>
          </a:xfrm>
          <a:custGeom>
            <a:avLst/>
            <a:gdLst/>
            <a:ahLst/>
            <a:cxnLst/>
            <a:rect l="l" t="t" r="r" b="b"/>
            <a:pathLst>
              <a:path w="37893" h="2841958">
                <a:moveTo>
                  <a:pt x="37846" y="0"/>
                </a:moveTo>
                <a:lnTo>
                  <a:pt x="37846" y="0"/>
                </a:lnTo>
                <a:lnTo>
                  <a:pt x="37846" y="2842006"/>
                </a:lnTo>
                <a:lnTo>
                  <a:pt x="37846" y="2842006"/>
                </a:lnTo>
                <a:cubicBezTo>
                  <a:pt x="27787" y="2842006"/>
                  <a:pt x="18141" y="2838001"/>
                  <a:pt x="11040" y="2830876"/>
                </a:cubicBezTo>
                <a:cubicBezTo>
                  <a:pt x="3939" y="2823751"/>
                  <a:pt x="-34" y="2814092"/>
                  <a:pt x="0" y="2804033"/>
                </a:cubicBezTo>
                <a:lnTo>
                  <a:pt x="0" y="37846"/>
                </a:lnTo>
                <a:cubicBezTo>
                  <a:pt x="0" y="16958"/>
                  <a:pt x="16958" y="0"/>
                  <a:pt x="37846" y="0"/>
                </a:cubicBezTo>
                <a:close/>
              </a:path>
            </a:pathLst>
          </a:custGeom>
          <a:solidFill>
            <a:srgbClr val="34C759"/>
          </a:solidFill>
          <a:ln/>
        </p:spPr>
      </p:sp>
      <p:sp>
        <p:nvSpPr>
          <p:cNvPr id="8" name="Shape 6"/>
          <p:cNvSpPr/>
          <p:nvPr/>
        </p:nvSpPr>
        <p:spPr>
          <a:xfrm>
            <a:off x="691543" y="1553604"/>
            <a:ext cx="142098" cy="189464"/>
          </a:xfrm>
          <a:custGeom>
            <a:avLst/>
            <a:gdLst/>
            <a:ahLst/>
            <a:cxnLst/>
            <a:rect l="l" t="t" r="r" b="b"/>
            <a:pathLst>
              <a:path w="142098" h="189464">
                <a:moveTo>
                  <a:pt x="108387" y="142098"/>
                </a:moveTo>
                <a:cubicBezTo>
                  <a:pt x="111088" y="133846"/>
                  <a:pt x="116491" y="126371"/>
                  <a:pt x="122596" y="119932"/>
                </a:cubicBezTo>
                <a:cubicBezTo>
                  <a:pt x="134697" y="107203"/>
                  <a:pt x="142098" y="89995"/>
                  <a:pt x="142098" y="71049"/>
                </a:cubicBezTo>
                <a:cubicBezTo>
                  <a:pt x="142098" y="31824"/>
                  <a:pt x="110274" y="0"/>
                  <a:pt x="71049" y="0"/>
                </a:cubicBezTo>
                <a:cubicBezTo>
                  <a:pt x="31824" y="0"/>
                  <a:pt x="0" y="31824"/>
                  <a:pt x="0" y="71049"/>
                </a:cubicBezTo>
                <a:cubicBezTo>
                  <a:pt x="0" y="89995"/>
                  <a:pt x="7401" y="107203"/>
                  <a:pt x="19501" y="119932"/>
                </a:cubicBezTo>
                <a:cubicBezTo>
                  <a:pt x="25607" y="126371"/>
                  <a:pt x="31047" y="133846"/>
                  <a:pt x="33711" y="142098"/>
                </a:cubicBezTo>
                <a:lnTo>
                  <a:pt x="108350" y="142098"/>
                </a:lnTo>
                <a:close/>
                <a:moveTo>
                  <a:pt x="106573" y="159860"/>
                </a:moveTo>
                <a:lnTo>
                  <a:pt x="35524" y="159860"/>
                </a:lnTo>
                <a:lnTo>
                  <a:pt x="35524" y="165781"/>
                </a:lnTo>
                <a:cubicBezTo>
                  <a:pt x="35524" y="182137"/>
                  <a:pt x="48772" y="195385"/>
                  <a:pt x="65128" y="195385"/>
                </a:cubicBezTo>
                <a:lnTo>
                  <a:pt x="76970" y="195385"/>
                </a:lnTo>
                <a:cubicBezTo>
                  <a:pt x="93326" y="195385"/>
                  <a:pt x="106573" y="182137"/>
                  <a:pt x="106573" y="165781"/>
                </a:cubicBezTo>
                <a:lnTo>
                  <a:pt x="106573" y="159860"/>
                </a:lnTo>
                <a:close/>
                <a:moveTo>
                  <a:pt x="68089" y="41445"/>
                </a:moveTo>
                <a:cubicBezTo>
                  <a:pt x="53361" y="41445"/>
                  <a:pt x="41445" y="53361"/>
                  <a:pt x="41445" y="68089"/>
                </a:cubicBezTo>
                <a:cubicBezTo>
                  <a:pt x="41445" y="73010"/>
                  <a:pt x="37486" y="76970"/>
                  <a:pt x="32564" y="76970"/>
                </a:cubicBezTo>
                <a:cubicBezTo>
                  <a:pt x="27642" y="76970"/>
                  <a:pt x="23683" y="73010"/>
                  <a:pt x="23683" y="68089"/>
                </a:cubicBezTo>
                <a:cubicBezTo>
                  <a:pt x="23683" y="43554"/>
                  <a:pt x="43554" y="23683"/>
                  <a:pt x="68089" y="23683"/>
                </a:cubicBezTo>
                <a:cubicBezTo>
                  <a:pt x="73010" y="23683"/>
                  <a:pt x="76970" y="27642"/>
                  <a:pt x="76970" y="32564"/>
                </a:cubicBezTo>
                <a:cubicBezTo>
                  <a:pt x="76970" y="37486"/>
                  <a:pt x="73010" y="41445"/>
                  <a:pt x="68089" y="41445"/>
                </a:cubicBezTo>
                <a:close/>
              </a:path>
            </a:pathLst>
          </a:custGeom>
          <a:solidFill>
            <a:srgbClr val="34C759"/>
          </a:solidFill>
          <a:ln/>
        </p:spPr>
      </p:sp>
      <p:sp>
        <p:nvSpPr>
          <p:cNvPr id="9" name="Text 7"/>
          <p:cNvSpPr/>
          <p:nvPr/>
        </p:nvSpPr>
        <p:spPr>
          <a:xfrm>
            <a:off x="881007" y="1515711"/>
            <a:ext cx="4973427" cy="265249"/>
          </a:xfrm>
          <a:prstGeom prst="rect">
            <a:avLst/>
          </a:prstGeom>
          <a:noFill/>
          <a:ln/>
        </p:spPr>
        <p:txBody>
          <a:bodyPr wrap="square" lIns="0" tIns="0" rIns="0" bIns="0" rtlCol="0" anchor="ctr"/>
          <a:lstStyle/>
          <a:p>
            <a:pPr>
              <a:lnSpc>
                <a:spcPct val="120000"/>
              </a:lnSpc>
            </a:pPr>
            <a:r>
              <a:rPr lang="en-US" sz="1492" b="1" dirty="0">
                <a:solidFill>
                  <a:srgbClr val="34C759"/>
                </a:solidFill>
                <a:latin typeface="Liter" pitchFamily="34" charset="0"/>
                <a:ea typeface="Liter" pitchFamily="34" charset="-122"/>
                <a:cs typeface="Liter" pitchFamily="34" charset="-120"/>
              </a:rPr>
              <a:t>Key Points</a:t>
            </a:r>
            <a:endParaRPr lang="en-US" sz="1600" dirty="0"/>
          </a:p>
        </p:txBody>
      </p:sp>
      <p:sp>
        <p:nvSpPr>
          <p:cNvPr id="10" name="Text 8"/>
          <p:cNvSpPr/>
          <p:nvPr/>
        </p:nvSpPr>
        <p:spPr>
          <a:xfrm>
            <a:off x="644177" y="1970424"/>
            <a:ext cx="123152" cy="227357"/>
          </a:xfrm>
          <a:prstGeom prst="rect">
            <a:avLst/>
          </a:prstGeom>
          <a:noFill/>
          <a:ln/>
        </p:spPr>
        <p:txBody>
          <a:bodyPr wrap="square" lIns="0" tIns="0" rIns="0" bIns="0" rtlCol="0" anchor="ctr"/>
          <a:lstStyle/>
          <a:p>
            <a:pPr>
              <a:lnSpc>
                <a:spcPct val="130000"/>
              </a:lnSpc>
            </a:pPr>
            <a:r>
              <a:rPr lang="en-US" sz="119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1" name="Text 9"/>
          <p:cNvSpPr/>
          <p:nvPr/>
        </p:nvSpPr>
        <p:spPr>
          <a:xfrm>
            <a:off x="807590" y="1932531"/>
            <a:ext cx="4206098" cy="227357"/>
          </a:xfrm>
          <a:prstGeom prst="rect">
            <a:avLst/>
          </a:prstGeom>
          <a:noFill/>
          <a:ln/>
        </p:spPr>
        <p:txBody>
          <a:bodyPr wrap="square" lIns="0" tIns="0" rIns="0" bIns="0" rtlCol="0" anchor="ctr"/>
          <a:lstStyle/>
          <a:p>
            <a:pPr>
              <a:lnSpc>
                <a:spcPct val="130000"/>
              </a:lnSpc>
            </a:pPr>
            <a:r>
              <a:rPr lang="en-US" sz="1193" dirty="0">
                <a:solidFill>
                  <a:srgbClr val="F5F5F7"/>
                </a:solidFill>
                <a:latin typeface="Quattrocento Sans" pitchFamily="34" charset="0"/>
                <a:ea typeface="Quattrocento Sans" pitchFamily="34" charset="-122"/>
                <a:cs typeface="Quattrocento Sans" pitchFamily="34" charset="-120"/>
              </a:rPr>
              <a:t>A mobile app is </a:t>
            </a:r>
            <a:pPr>
              <a:lnSpc>
                <a:spcPct val="130000"/>
              </a:lnSpc>
            </a:pPr>
            <a:r>
              <a:rPr lang="en-US" sz="1193" b="1" dirty="0">
                <a:solidFill>
                  <a:srgbClr val="34C759"/>
                </a:solidFill>
                <a:latin typeface="Quattrocento Sans" pitchFamily="34" charset="0"/>
                <a:ea typeface="Quattrocento Sans" pitchFamily="34" charset="-122"/>
                <a:cs typeface="Quattrocento Sans" pitchFamily="34" charset="-120"/>
              </a:rPr>
              <a:t>software designed for smartphones and tablets</a:t>
            </a:r>
            <a:endParaRPr lang="en-US" sz="1600" dirty="0"/>
          </a:p>
        </p:txBody>
      </p:sp>
      <p:sp>
        <p:nvSpPr>
          <p:cNvPr id="12" name="Text 10"/>
          <p:cNvSpPr/>
          <p:nvPr/>
        </p:nvSpPr>
        <p:spPr>
          <a:xfrm>
            <a:off x="644177" y="2349352"/>
            <a:ext cx="123152" cy="227357"/>
          </a:xfrm>
          <a:prstGeom prst="rect">
            <a:avLst/>
          </a:prstGeom>
          <a:noFill/>
          <a:ln/>
        </p:spPr>
        <p:txBody>
          <a:bodyPr wrap="square" lIns="0" tIns="0" rIns="0" bIns="0" rtlCol="0" anchor="ctr"/>
          <a:lstStyle/>
          <a:p>
            <a:pPr>
              <a:lnSpc>
                <a:spcPct val="130000"/>
              </a:lnSpc>
            </a:pPr>
            <a:r>
              <a:rPr lang="en-US" sz="119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3" name="Text 11"/>
          <p:cNvSpPr/>
          <p:nvPr/>
        </p:nvSpPr>
        <p:spPr>
          <a:xfrm>
            <a:off x="807590" y="2311459"/>
            <a:ext cx="4253464" cy="227357"/>
          </a:xfrm>
          <a:prstGeom prst="rect">
            <a:avLst/>
          </a:prstGeom>
          <a:noFill/>
          <a:ln/>
        </p:spPr>
        <p:txBody>
          <a:bodyPr wrap="square" lIns="0" tIns="0" rIns="0" bIns="0" rtlCol="0" anchor="ctr"/>
          <a:lstStyle/>
          <a:p>
            <a:pPr>
              <a:lnSpc>
                <a:spcPct val="130000"/>
              </a:lnSpc>
            </a:pPr>
            <a:r>
              <a:rPr lang="en-US" sz="1193" dirty="0">
                <a:solidFill>
                  <a:srgbClr val="F5F5F7"/>
                </a:solidFill>
                <a:latin typeface="Quattrocento Sans" pitchFamily="34" charset="0"/>
                <a:ea typeface="Quattrocento Sans" pitchFamily="34" charset="-122"/>
                <a:cs typeface="Quattrocento Sans" pitchFamily="34" charset="-120"/>
              </a:rPr>
              <a:t>Apps are </a:t>
            </a:r>
            <a:pPr>
              <a:lnSpc>
                <a:spcPct val="130000"/>
              </a:lnSpc>
            </a:pPr>
            <a:r>
              <a:rPr lang="en-US" sz="1193" b="1" dirty="0">
                <a:solidFill>
                  <a:srgbClr val="34C759"/>
                </a:solidFill>
                <a:latin typeface="Quattrocento Sans" pitchFamily="34" charset="0"/>
                <a:ea typeface="Quattrocento Sans" pitchFamily="34" charset="-122"/>
                <a:cs typeface="Quattrocento Sans" pitchFamily="34" charset="-120"/>
              </a:rPr>
              <a:t>installed from app stores</a:t>
            </a:r>
            <a:pPr>
              <a:lnSpc>
                <a:spcPct val="130000"/>
              </a:lnSpc>
            </a:pPr>
            <a:r>
              <a:rPr lang="en-US" sz="1193" dirty="0">
                <a:solidFill>
                  <a:srgbClr val="F5F5F7"/>
                </a:solidFill>
                <a:latin typeface="Quattrocento Sans" pitchFamily="34" charset="0"/>
                <a:ea typeface="Quattrocento Sans" pitchFamily="34" charset="-122"/>
                <a:cs typeface="Quattrocento Sans" pitchFamily="34" charset="-120"/>
              </a:rPr>
              <a:t> like Google Play or App Store</a:t>
            </a:r>
            <a:endParaRPr lang="en-US" sz="1600" dirty="0"/>
          </a:p>
        </p:txBody>
      </p:sp>
      <p:sp>
        <p:nvSpPr>
          <p:cNvPr id="14" name="Text 12"/>
          <p:cNvSpPr/>
          <p:nvPr/>
        </p:nvSpPr>
        <p:spPr>
          <a:xfrm>
            <a:off x="644177" y="2728280"/>
            <a:ext cx="123152" cy="227357"/>
          </a:xfrm>
          <a:prstGeom prst="rect">
            <a:avLst/>
          </a:prstGeom>
          <a:noFill/>
          <a:ln/>
        </p:spPr>
        <p:txBody>
          <a:bodyPr wrap="square" lIns="0" tIns="0" rIns="0" bIns="0" rtlCol="0" anchor="ctr"/>
          <a:lstStyle/>
          <a:p>
            <a:pPr>
              <a:lnSpc>
                <a:spcPct val="130000"/>
              </a:lnSpc>
            </a:pPr>
            <a:r>
              <a:rPr lang="en-US" sz="119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5" name="Text 13"/>
          <p:cNvSpPr/>
          <p:nvPr/>
        </p:nvSpPr>
        <p:spPr>
          <a:xfrm>
            <a:off x="807590" y="2690387"/>
            <a:ext cx="3959795" cy="227357"/>
          </a:xfrm>
          <a:prstGeom prst="rect">
            <a:avLst/>
          </a:prstGeom>
          <a:noFill/>
          <a:ln/>
        </p:spPr>
        <p:txBody>
          <a:bodyPr wrap="square" lIns="0" tIns="0" rIns="0" bIns="0" rtlCol="0" anchor="ctr"/>
          <a:lstStyle/>
          <a:p>
            <a:pPr>
              <a:lnSpc>
                <a:spcPct val="130000"/>
              </a:lnSpc>
            </a:pPr>
            <a:r>
              <a:rPr lang="en-US" sz="1193" dirty="0">
                <a:solidFill>
                  <a:srgbClr val="F5F5F7"/>
                </a:solidFill>
                <a:latin typeface="Quattrocento Sans" pitchFamily="34" charset="0"/>
                <a:ea typeface="Quattrocento Sans" pitchFamily="34" charset="-122"/>
                <a:cs typeface="Quattrocento Sans" pitchFamily="34" charset="-120"/>
              </a:rPr>
              <a:t>They use </a:t>
            </a:r>
            <a:pPr>
              <a:lnSpc>
                <a:spcPct val="130000"/>
              </a:lnSpc>
            </a:pPr>
            <a:r>
              <a:rPr lang="en-US" sz="1193" b="1" dirty="0">
                <a:solidFill>
                  <a:srgbClr val="34C759"/>
                </a:solidFill>
                <a:latin typeface="Quattrocento Sans" pitchFamily="34" charset="0"/>
                <a:ea typeface="Quattrocento Sans" pitchFamily="34" charset="-122"/>
                <a:cs typeface="Quattrocento Sans" pitchFamily="34" charset="-120"/>
              </a:rPr>
              <a:t>phone features</a:t>
            </a:r>
            <a:pPr>
              <a:lnSpc>
                <a:spcPct val="130000"/>
              </a:lnSpc>
            </a:pPr>
            <a:r>
              <a:rPr lang="en-US" sz="1193" dirty="0">
                <a:solidFill>
                  <a:srgbClr val="F5F5F7"/>
                </a:solidFill>
                <a:latin typeface="Quattrocento Sans" pitchFamily="34" charset="0"/>
                <a:ea typeface="Quattrocento Sans" pitchFamily="34" charset="-122"/>
                <a:cs typeface="Quattrocento Sans" pitchFamily="34" charset="-120"/>
              </a:rPr>
              <a:t> like camera, GPS, and notifications</a:t>
            </a:r>
            <a:endParaRPr lang="en-US" sz="1600" dirty="0"/>
          </a:p>
        </p:txBody>
      </p:sp>
      <p:sp>
        <p:nvSpPr>
          <p:cNvPr id="16" name="Text 14"/>
          <p:cNvSpPr/>
          <p:nvPr/>
        </p:nvSpPr>
        <p:spPr>
          <a:xfrm>
            <a:off x="644177" y="3107207"/>
            <a:ext cx="123152" cy="227357"/>
          </a:xfrm>
          <a:prstGeom prst="rect">
            <a:avLst/>
          </a:prstGeom>
          <a:noFill/>
          <a:ln/>
        </p:spPr>
        <p:txBody>
          <a:bodyPr wrap="square" lIns="0" tIns="0" rIns="0" bIns="0" rtlCol="0" anchor="ctr"/>
          <a:lstStyle/>
          <a:p>
            <a:pPr>
              <a:lnSpc>
                <a:spcPct val="130000"/>
              </a:lnSpc>
            </a:pPr>
            <a:r>
              <a:rPr lang="en-US" sz="119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7" name="Text 15"/>
          <p:cNvSpPr/>
          <p:nvPr/>
        </p:nvSpPr>
        <p:spPr>
          <a:xfrm>
            <a:off x="807590" y="3069315"/>
            <a:ext cx="3505082" cy="227357"/>
          </a:xfrm>
          <a:prstGeom prst="rect">
            <a:avLst/>
          </a:prstGeom>
          <a:noFill/>
          <a:ln/>
        </p:spPr>
        <p:txBody>
          <a:bodyPr wrap="square" lIns="0" tIns="0" rIns="0" bIns="0" rtlCol="0" anchor="ctr"/>
          <a:lstStyle/>
          <a:p>
            <a:pPr>
              <a:lnSpc>
                <a:spcPct val="130000"/>
              </a:lnSpc>
            </a:pPr>
            <a:r>
              <a:rPr lang="en-US" sz="1193" dirty="0">
                <a:solidFill>
                  <a:srgbClr val="F5F5F7"/>
                </a:solidFill>
                <a:latin typeface="Quattrocento Sans" pitchFamily="34" charset="0"/>
                <a:ea typeface="Quattrocento Sans" pitchFamily="34" charset="-122"/>
                <a:cs typeface="Quattrocento Sans" pitchFamily="34" charset="-120"/>
              </a:rPr>
              <a:t>Apps work </a:t>
            </a:r>
            <a:pPr>
              <a:lnSpc>
                <a:spcPct val="130000"/>
              </a:lnSpc>
            </a:pPr>
            <a:r>
              <a:rPr lang="en-US" sz="1193" b="1" dirty="0">
                <a:solidFill>
                  <a:srgbClr val="34C759"/>
                </a:solidFill>
                <a:latin typeface="Quattrocento Sans" pitchFamily="34" charset="0"/>
                <a:ea typeface="Quattrocento Sans" pitchFamily="34" charset="-122"/>
                <a:cs typeface="Quattrocento Sans" pitchFamily="34" charset="-120"/>
              </a:rPr>
              <a:t>faster than websites</a:t>
            </a:r>
            <a:pPr>
              <a:lnSpc>
                <a:spcPct val="130000"/>
              </a:lnSpc>
            </a:pPr>
            <a:r>
              <a:rPr lang="en-US" sz="1193" dirty="0">
                <a:solidFill>
                  <a:srgbClr val="F5F5F7"/>
                </a:solidFill>
                <a:latin typeface="Quattrocento Sans" pitchFamily="34" charset="0"/>
                <a:ea typeface="Quattrocento Sans" pitchFamily="34" charset="-122"/>
                <a:cs typeface="Quattrocento Sans" pitchFamily="34" charset="-120"/>
              </a:rPr>
              <a:t> and can work offline</a:t>
            </a:r>
            <a:endParaRPr lang="en-US" sz="1600" dirty="0"/>
          </a:p>
        </p:txBody>
      </p:sp>
      <p:sp>
        <p:nvSpPr>
          <p:cNvPr id="18" name="Text 16"/>
          <p:cNvSpPr/>
          <p:nvPr/>
        </p:nvSpPr>
        <p:spPr>
          <a:xfrm>
            <a:off x="644177" y="3486135"/>
            <a:ext cx="123152" cy="227357"/>
          </a:xfrm>
          <a:prstGeom prst="rect">
            <a:avLst/>
          </a:prstGeom>
          <a:noFill/>
          <a:ln/>
        </p:spPr>
        <p:txBody>
          <a:bodyPr wrap="square" lIns="0" tIns="0" rIns="0" bIns="0" rtlCol="0" anchor="ctr"/>
          <a:lstStyle/>
          <a:p>
            <a:pPr>
              <a:lnSpc>
                <a:spcPct val="130000"/>
              </a:lnSpc>
            </a:pPr>
            <a:r>
              <a:rPr lang="en-US" sz="119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9" name="Text 17"/>
          <p:cNvSpPr/>
          <p:nvPr/>
        </p:nvSpPr>
        <p:spPr>
          <a:xfrm>
            <a:off x="807590" y="3448242"/>
            <a:ext cx="5020793" cy="454713"/>
          </a:xfrm>
          <a:prstGeom prst="rect">
            <a:avLst/>
          </a:prstGeom>
          <a:noFill/>
          <a:ln/>
        </p:spPr>
        <p:txBody>
          <a:bodyPr wrap="square" lIns="0" tIns="0" rIns="0" bIns="0" rtlCol="0" anchor="ctr"/>
          <a:lstStyle/>
          <a:p>
            <a:pPr>
              <a:lnSpc>
                <a:spcPct val="130000"/>
              </a:lnSpc>
            </a:pPr>
            <a:r>
              <a:rPr lang="en-US" sz="1193" dirty="0">
                <a:solidFill>
                  <a:srgbClr val="F5F5F7"/>
                </a:solidFill>
                <a:latin typeface="Quattrocento Sans" pitchFamily="34" charset="0"/>
                <a:ea typeface="Quattrocento Sans" pitchFamily="34" charset="-122"/>
                <a:cs typeface="Quattrocento Sans" pitchFamily="34" charset="-120"/>
              </a:rPr>
              <a:t>They are built by </a:t>
            </a:r>
            <a:pPr>
              <a:lnSpc>
                <a:spcPct val="130000"/>
              </a:lnSpc>
            </a:pPr>
            <a:r>
              <a:rPr lang="en-US" sz="1193" b="1" dirty="0">
                <a:solidFill>
                  <a:srgbClr val="34C759"/>
                </a:solidFill>
                <a:latin typeface="Quattrocento Sans" pitchFamily="34" charset="0"/>
                <a:ea typeface="Quattrocento Sans" pitchFamily="34" charset="-122"/>
                <a:cs typeface="Quattrocento Sans" pitchFamily="34" charset="-120"/>
              </a:rPr>
              <a:t>developers using special tools</a:t>
            </a:r>
            <a:pPr>
              <a:lnSpc>
                <a:spcPct val="130000"/>
              </a:lnSpc>
            </a:pPr>
            <a:r>
              <a:rPr lang="en-US" sz="1193" dirty="0">
                <a:solidFill>
                  <a:srgbClr val="F5F5F7"/>
                </a:solidFill>
                <a:latin typeface="Quattrocento Sans" pitchFamily="34" charset="0"/>
                <a:ea typeface="Quattrocento Sans" pitchFamily="34" charset="-122"/>
                <a:cs typeface="Quattrocento Sans" pitchFamily="34" charset="-120"/>
              </a:rPr>
              <a:t> and programming languages</a:t>
            </a:r>
            <a:endParaRPr lang="en-US" sz="1600" dirty="0"/>
          </a:p>
        </p:txBody>
      </p:sp>
      <p:sp>
        <p:nvSpPr>
          <p:cNvPr id="20" name="Shape 18"/>
          <p:cNvSpPr/>
          <p:nvPr/>
        </p:nvSpPr>
        <p:spPr>
          <a:xfrm>
            <a:off x="382717" y="4323566"/>
            <a:ext cx="5596763" cy="1750646"/>
          </a:xfrm>
          <a:prstGeom prst="roundRect">
            <a:avLst>
              <a:gd name="adj" fmla="val 8658"/>
            </a:avLst>
          </a:prstGeom>
          <a:solidFill>
            <a:srgbClr val="0A84FF">
              <a:alpha val="10196"/>
            </a:srgbClr>
          </a:solidFill>
          <a:ln w="10160">
            <a:solidFill>
              <a:srgbClr val="0A84FF">
                <a:alpha val="30196"/>
              </a:srgbClr>
            </a:solidFill>
            <a:prstDash val="solid"/>
          </a:ln>
        </p:spPr>
      </p:sp>
      <p:sp>
        <p:nvSpPr>
          <p:cNvPr id="21" name="Shape 19"/>
          <p:cNvSpPr/>
          <p:nvPr/>
        </p:nvSpPr>
        <p:spPr>
          <a:xfrm>
            <a:off x="599653" y="4564185"/>
            <a:ext cx="170517" cy="170517"/>
          </a:xfrm>
          <a:custGeom>
            <a:avLst/>
            <a:gdLst/>
            <a:ahLst/>
            <a:cxnLst/>
            <a:rect l="l" t="t" r="r" b="b"/>
            <a:pathLst>
              <a:path w="170517" h="170517">
                <a:moveTo>
                  <a:pt x="85259" y="159860"/>
                </a:moveTo>
                <a:cubicBezTo>
                  <a:pt x="132351" y="159860"/>
                  <a:pt x="170517" y="124058"/>
                  <a:pt x="170517" y="79930"/>
                </a:cubicBezTo>
                <a:cubicBezTo>
                  <a:pt x="170517" y="35802"/>
                  <a:pt x="132351" y="0"/>
                  <a:pt x="85259" y="0"/>
                </a:cubicBezTo>
                <a:cubicBezTo>
                  <a:pt x="38167" y="0"/>
                  <a:pt x="0" y="35802"/>
                  <a:pt x="0" y="79930"/>
                </a:cubicBezTo>
                <a:cubicBezTo>
                  <a:pt x="0" y="98014"/>
                  <a:pt x="6394" y="114666"/>
                  <a:pt x="17185" y="128055"/>
                </a:cubicBezTo>
                <a:lnTo>
                  <a:pt x="933" y="158794"/>
                </a:lnTo>
                <a:cubicBezTo>
                  <a:pt x="-666" y="161792"/>
                  <a:pt x="-167" y="165455"/>
                  <a:pt x="2131" y="167953"/>
                </a:cubicBezTo>
                <a:cubicBezTo>
                  <a:pt x="4429" y="170451"/>
                  <a:pt x="8060" y="171217"/>
                  <a:pt x="11157" y="169885"/>
                </a:cubicBezTo>
                <a:lnTo>
                  <a:pt x="50589" y="152999"/>
                </a:lnTo>
                <a:cubicBezTo>
                  <a:pt x="61180" y="157396"/>
                  <a:pt x="72903" y="159860"/>
                  <a:pt x="85259" y="159860"/>
                </a:cubicBezTo>
                <a:close/>
                <a:moveTo>
                  <a:pt x="42629" y="69273"/>
                </a:moveTo>
                <a:cubicBezTo>
                  <a:pt x="48511" y="69273"/>
                  <a:pt x="53287" y="74048"/>
                  <a:pt x="53287" y="79930"/>
                </a:cubicBezTo>
                <a:cubicBezTo>
                  <a:pt x="53287" y="85812"/>
                  <a:pt x="48511" y="90587"/>
                  <a:pt x="42629" y="90587"/>
                </a:cubicBezTo>
                <a:cubicBezTo>
                  <a:pt x="36747" y="90587"/>
                  <a:pt x="31972" y="85812"/>
                  <a:pt x="31972" y="79930"/>
                </a:cubicBezTo>
                <a:cubicBezTo>
                  <a:pt x="31972" y="74048"/>
                  <a:pt x="36747" y="69273"/>
                  <a:pt x="42629" y="69273"/>
                </a:cubicBezTo>
                <a:close/>
                <a:moveTo>
                  <a:pt x="85259" y="69273"/>
                </a:moveTo>
                <a:cubicBezTo>
                  <a:pt x="91141" y="69273"/>
                  <a:pt x="95916" y="74048"/>
                  <a:pt x="95916" y="79930"/>
                </a:cubicBezTo>
                <a:cubicBezTo>
                  <a:pt x="95916" y="85812"/>
                  <a:pt x="91141" y="90587"/>
                  <a:pt x="85259" y="90587"/>
                </a:cubicBezTo>
                <a:cubicBezTo>
                  <a:pt x="79377" y="90587"/>
                  <a:pt x="74601" y="85812"/>
                  <a:pt x="74601" y="79930"/>
                </a:cubicBezTo>
                <a:cubicBezTo>
                  <a:pt x="74601" y="74048"/>
                  <a:pt x="79377" y="69273"/>
                  <a:pt x="85259" y="69273"/>
                </a:cubicBezTo>
                <a:close/>
                <a:moveTo>
                  <a:pt x="117231" y="79930"/>
                </a:moveTo>
                <a:cubicBezTo>
                  <a:pt x="117231" y="74048"/>
                  <a:pt x="122006" y="69273"/>
                  <a:pt x="127888" y="69273"/>
                </a:cubicBezTo>
                <a:cubicBezTo>
                  <a:pt x="133770" y="69273"/>
                  <a:pt x="138545" y="74048"/>
                  <a:pt x="138545" y="79930"/>
                </a:cubicBezTo>
                <a:cubicBezTo>
                  <a:pt x="138545" y="85812"/>
                  <a:pt x="133770" y="90587"/>
                  <a:pt x="127888" y="90587"/>
                </a:cubicBezTo>
                <a:cubicBezTo>
                  <a:pt x="122006" y="90587"/>
                  <a:pt x="117231" y="85812"/>
                  <a:pt x="117231" y="79930"/>
                </a:cubicBezTo>
                <a:close/>
              </a:path>
            </a:pathLst>
          </a:custGeom>
          <a:solidFill>
            <a:srgbClr val="0A84FF"/>
          </a:solidFill>
          <a:ln/>
        </p:spPr>
      </p:sp>
      <p:sp>
        <p:nvSpPr>
          <p:cNvPr id="22" name="Text 20"/>
          <p:cNvSpPr/>
          <p:nvPr/>
        </p:nvSpPr>
        <p:spPr>
          <a:xfrm>
            <a:off x="793854" y="4516819"/>
            <a:ext cx="5077632" cy="265249"/>
          </a:xfrm>
          <a:prstGeom prst="rect">
            <a:avLst/>
          </a:prstGeom>
          <a:noFill/>
          <a:ln/>
        </p:spPr>
        <p:txBody>
          <a:bodyPr wrap="square" lIns="0" tIns="0" rIns="0" bIns="0" rtlCol="0" anchor="ctr"/>
          <a:lstStyle/>
          <a:p>
            <a:pPr>
              <a:lnSpc>
                <a:spcPct val="130000"/>
              </a:lnSpc>
            </a:pPr>
            <a:r>
              <a:rPr lang="en-US" sz="1343"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23" name="Text 21"/>
          <p:cNvSpPr/>
          <p:nvPr/>
        </p:nvSpPr>
        <p:spPr>
          <a:xfrm>
            <a:off x="575970" y="4895747"/>
            <a:ext cx="5286042" cy="985212"/>
          </a:xfrm>
          <a:prstGeom prst="rect">
            <a:avLst/>
          </a:prstGeom>
          <a:noFill/>
          <a:ln/>
        </p:spPr>
        <p:txBody>
          <a:bodyPr wrap="square" lIns="0" tIns="0" rIns="0" bIns="0" rtlCol="0" anchor="ctr"/>
          <a:lstStyle/>
          <a:p>
            <a:pPr>
              <a:lnSpc>
                <a:spcPct val="140000"/>
              </a:lnSpc>
            </a:pPr>
            <a:r>
              <a:rPr lang="en-US" sz="1193" dirty="0">
                <a:solidFill>
                  <a:srgbClr val="F5F5F7"/>
                </a:solidFill>
                <a:latin typeface="Quattrocento Sans" pitchFamily="34" charset="0"/>
                <a:ea typeface="Quattrocento Sans" pitchFamily="34" charset="-122"/>
                <a:cs typeface="Quattrocento Sans" pitchFamily="34" charset="-120"/>
              </a:rPr>
              <a:t>Think of a mobile app like a </a:t>
            </a:r>
            <a:pPr>
              <a:lnSpc>
                <a:spcPct val="140000"/>
              </a:lnSpc>
            </a:pPr>
            <a:r>
              <a:rPr lang="en-US" sz="1193" b="1" dirty="0">
                <a:solidFill>
                  <a:srgbClr val="34C759"/>
                </a:solidFill>
                <a:latin typeface="Quattrocento Sans" pitchFamily="34" charset="0"/>
                <a:ea typeface="Quattrocento Sans" pitchFamily="34" charset="-122"/>
                <a:cs typeface="Quattrocento Sans" pitchFamily="34" charset="-120"/>
              </a:rPr>
              <a:t>special tool on your phone</a:t>
            </a:r>
            <a:pPr>
              <a:lnSpc>
                <a:spcPct val="140000"/>
              </a:lnSpc>
            </a:pPr>
            <a:r>
              <a:rPr lang="en-US" sz="1193" dirty="0">
                <a:solidFill>
                  <a:srgbClr val="F5F5F7"/>
                </a:solidFill>
                <a:latin typeface="Quattrocento Sans" pitchFamily="34" charset="0"/>
                <a:ea typeface="Quattrocento Sans" pitchFamily="34" charset="-122"/>
                <a:cs typeface="Quattrocento Sans" pitchFamily="34" charset="-120"/>
              </a:rPr>
              <a:t>. Just like you have a calculator app or a camera app, other apps like WhatsApp or Instagram are tools that help you do specific things – send messages, share photos, or call a ride.</a:t>
            </a:r>
            <a:endParaRPr lang="en-US" sz="1600" dirty="0"/>
          </a:p>
        </p:txBody>
      </p:sp>
      <p:sp>
        <p:nvSpPr>
          <p:cNvPr id="24" name="Shape 22"/>
          <p:cNvSpPr/>
          <p:nvPr/>
        </p:nvSpPr>
        <p:spPr>
          <a:xfrm>
            <a:off x="6210152" y="1288354"/>
            <a:ext cx="5608131" cy="4092420"/>
          </a:xfrm>
          <a:prstGeom prst="roundRect">
            <a:avLst>
              <a:gd name="adj" fmla="val 3704"/>
            </a:avLst>
          </a:prstGeom>
          <a:solidFill>
            <a:srgbClr val="2C2C2E"/>
          </a:solidFill>
          <a:ln/>
        </p:spPr>
      </p:sp>
      <p:sp>
        <p:nvSpPr>
          <p:cNvPr id="25" name="Shape 23"/>
          <p:cNvSpPr/>
          <p:nvPr/>
        </p:nvSpPr>
        <p:spPr>
          <a:xfrm>
            <a:off x="6484874" y="1553604"/>
            <a:ext cx="142098" cy="189464"/>
          </a:xfrm>
          <a:custGeom>
            <a:avLst/>
            <a:gdLst/>
            <a:ahLst/>
            <a:cxnLst/>
            <a:rect l="l" t="t" r="r" b="b"/>
            <a:pathLst>
              <a:path w="142098" h="189464">
                <a:moveTo>
                  <a:pt x="5921" y="23683"/>
                </a:moveTo>
                <a:cubicBezTo>
                  <a:pt x="5921" y="10620"/>
                  <a:pt x="16541" y="0"/>
                  <a:pt x="29604" y="0"/>
                </a:cubicBezTo>
                <a:lnTo>
                  <a:pt x="112494" y="0"/>
                </a:lnTo>
                <a:cubicBezTo>
                  <a:pt x="125557" y="0"/>
                  <a:pt x="136177" y="10620"/>
                  <a:pt x="136177" y="23683"/>
                </a:cubicBezTo>
                <a:lnTo>
                  <a:pt x="136177" y="165781"/>
                </a:lnTo>
                <a:cubicBezTo>
                  <a:pt x="136177" y="178844"/>
                  <a:pt x="125557" y="189464"/>
                  <a:pt x="112494" y="189464"/>
                </a:cubicBezTo>
                <a:lnTo>
                  <a:pt x="29604" y="189464"/>
                </a:lnTo>
                <a:cubicBezTo>
                  <a:pt x="16541" y="189464"/>
                  <a:pt x="5921" y="178844"/>
                  <a:pt x="5921" y="165781"/>
                </a:cubicBezTo>
                <a:lnTo>
                  <a:pt x="5921" y="23683"/>
                </a:lnTo>
                <a:close/>
                <a:moveTo>
                  <a:pt x="29604" y="23683"/>
                </a:moveTo>
                <a:lnTo>
                  <a:pt x="29604" y="136177"/>
                </a:lnTo>
                <a:lnTo>
                  <a:pt x="112494" y="136177"/>
                </a:lnTo>
                <a:lnTo>
                  <a:pt x="112494" y="23683"/>
                </a:lnTo>
                <a:lnTo>
                  <a:pt x="29604" y="23683"/>
                </a:lnTo>
                <a:close/>
                <a:moveTo>
                  <a:pt x="71049" y="174662"/>
                </a:moveTo>
                <a:cubicBezTo>
                  <a:pt x="77599" y="174662"/>
                  <a:pt x="82890" y="169370"/>
                  <a:pt x="82890" y="162821"/>
                </a:cubicBezTo>
                <a:cubicBezTo>
                  <a:pt x="82890" y="156271"/>
                  <a:pt x="77599" y="150979"/>
                  <a:pt x="71049" y="150979"/>
                </a:cubicBezTo>
                <a:cubicBezTo>
                  <a:pt x="64499" y="150979"/>
                  <a:pt x="59207" y="156271"/>
                  <a:pt x="59207" y="162821"/>
                </a:cubicBezTo>
                <a:cubicBezTo>
                  <a:pt x="59207" y="169370"/>
                  <a:pt x="64499" y="174662"/>
                  <a:pt x="71049" y="174662"/>
                </a:cubicBezTo>
                <a:close/>
              </a:path>
            </a:pathLst>
          </a:custGeom>
          <a:solidFill>
            <a:srgbClr val="34C759"/>
          </a:solidFill>
          <a:ln/>
        </p:spPr>
      </p:sp>
      <p:sp>
        <p:nvSpPr>
          <p:cNvPr id="26" name="Text 24"/>
          <p:cNvSpPr/>
          <p:nvPr/>
        </p:nvSpPr>
        <p:spPr>
          <a:xfrm>
            <a:off x="6674338" y="1515711"/>
            <a:ext cx="5011319" cy="265249"/>
          </a:xfrm>
          <a:prstGeom prst="rect">
            <a:avLst/>
          </a:prstGeom>
          <a:noFill/>
          <a:ln/>
        </p:spPr>
        <p:txBody>
          <a:bodyPr wrap="square" lIns="0" tIns="0" rIns="0" bIns="0" rtlCol="0" anchor="ctr"/>
          <a:lstStyle/>
          <a:p>
            <a:pPr>
              <a:lnSpc>
                <a:spcPct val="120000"/>
              </a:lnSpc>
            </a:pPr>
            <a:r>
              <a:rPr lang="en-US" sz="1492" b="1" dirty="0">
                <a:solidFill>
                  <a:srgbClr val="34C759"/>
                </a:solidFill>
                <a:latin typeface="Liter" pitchFamily="34" charset="0"/>
                <a:ea typeface="Liter" pitchFamily="34" charset="-122"/>
                <a:cs typeface="Liter" pitchFamily="34" charset="-120"/>
              </a:rPr>
              <a:t>Real-World Example</a:t>
            </a:r>
            <a:endParaRPr lang="en-US" sz="1600" dirty="0"/>
          </a:p>
        </p:txBody>
      </p:sp>
      <p:sp>
        <p:nvSpPr>
          <p:cNvPr id="27" name="Shape 25"/>
          <p:cNvSpPr/>
          <p:nvPr/>
        </p:nvSpPr>
        <p:spPr>
          <a:xfrm>
            <a:off x="6437509" y="1932531"/>
            <a:ext cx="5153417" cy="3220886"/>
          </a:xfrm>
          <a:prstGeom prst="roundRect">
            <a:avLst>
              <a:gd name="adj" fmla="val 3529"/>
            </a:avLst>
          </a:prstGeom>
          <a:solidFill>
            <a:srgbClr val="1A1D21"/>
          </a:solidFill>
          <a:ln/>
        </p:spPr>
      </p:sp>
      <p:pic>
        <p:nvPicPr>
          <p:cNvPr id="28" name="Image 0" descr="https://kimi-web-img.moonshot.cn/img/cdn-images.threadless.com/53d61e2c6f898c501940b9bd839874058e3f3505.png">    </p:cNvPr>
          <p:cNvPicPr>
            <a:picLocks noChangeAspect="1"/>
          </p:cNvPicPr>
          <p:nvPr/>
        </p:nvPicPr>
        <p:blipFill>
          <a:blip r:embed="rId1"/>
          <a:srcRect l="0" r="0" t="30645" b="30645"/>
          <a:stretch/>
        </p:blipFill>
        <p:spPr>
          <a:xfrm>
            <a:off x="6664865" y="2159888"/>
            <a:ext cx="4698704" cy="1818853"/>
          </a:xfrm>
          <a:prstGeom prst="roundRect">
            <a:avLst>
              <a:gd name="adj" fmla="val 4167"/>
            </a:avLst>
          </a:prstGeom>
        </p:spPr>
      </p:pic>
      <p:sp>
        <p:nvSpPr>
          <p:cNvPr id="29" name="Text 26"/>
          <p:cNvSpPr/>
          <p:nvPr/>
        </p:nvSpPr>
        <p:spPr>
          <a:xfrm>
            <a:off x="6622236" y="4130312"/>
            <a:ext cx="4783963" cy="795748"/>
          </a:xfrm>
          <a:prstGeom prst="rect">
            <a:avLst/>
          </a:prstGeom>
          <a:noFill/>
          <a:ln/>
        </p:spPr>
        <p:txBody>
          <a:bodyPr wrap="square" lIns="0" tIns="0" rIns="0" bIns="0" rtlCol="0" anchor="ctr"/>
          <a:lstStyle/>
          <a:p>
            <a:pPr algn="ctr">
              <a:lnSpc>
                <a:spcPct val="130000"/>
              </a:lnSpc>
            </a:pPr>
            <a:r>
              <a:rPr lang="en-US" sz="1343" b="1" dirty="0">
                <a:solidFill>
                  <a:srgbClr val="34C759"/>
                </a:solidFill>
                <a:latin typeface="Quattrocento Sans" pitchFamily="34" charset="0"/>
                <a:ea typeface="Quattrocento Sans" pitchFamily="34" charset="-122"/>
                <a:cs typeface="Quattrocento Sans" pitchFamily="34" charset="-120"/>
              </a:rPr>
              <a:t>WhatsApp</a:t>
            </a:r>
            <a:pPr algn="ctr">
              <a:lnSpc>
                <a:spcPct val="130000"/>
              </a:lnSpc>
            </a:pPr>
            <a:r>
              <a:rPr lang="en-US" sz="1343" dirty="0">
                <a:solidFill>
                  <a:srgbClr val="F5F5F7"/>
                </a:solidFill>
                <a:latin typeface="Quattrocento Sans" pitchFamily="34" charset="0"/>
                <a:ea typeface="Quattrocento Sans" pitchFamily="34" charset="-122"/>
                <a:cs typeface="Quattrocento Sans" pitchFamily="34" charset="-120"/>
              </a:rPr>
              <a:t> is a mobile app that lets you send messages, make calls, and share photos with friends and family around the world.</a:t>
            </a:r>
            <a:endParaRPr lang="en-US" sz="1600" dirty="0"/>
          </a:p>
        </p:txBody>
      </p:sp>
      <p:sp>
        <p:nvSpPr>
          <p:cNvPr id="30" name="Shape 27"/>
          <p:cNvSpPr/>
          <p:nvPr/>
        </p:nvSpPr>
        <p:spPr>
          <a:xfrm>
            <a:off x="6210152" y="5570238"/>
            <a:ext cx="5608131" cy="1288354"/>
          </a:xfrm>
          <a:prstGeom prst="roundRect">
            <a:avLst>
              <a:gd name="adj" fmla="val 11765"/>
            </a:avLst>
          </a:prstGeom>
          <a:solidFill>
            <a:srgbClr val="2C2C2E"/>
          </a:solidFill>
          <a:ln/>
        </p:spPr>
      </p:sp>
      <p:sp>
        <p:nvSpPr>
          <p:cNvPr id="31" name="Shape 28"/>
          <p:cNvSpPr/>
          <p:nvPr/>
        </p:nvSpPr>
        <p:spPr>
          <a:xfrm>
            <a:off x="6433956" y="5807068"/>
            <a:ext cx="149203" cy="170517"/>
          </a:xfrm>
          <a:custGeom>
            <a:avLst/>
            <a:gdLst/>
            <a:ahLst/>
            <a:cxnLst/>
            <a:rect l="l" t="t" r="r" b="b"/>
            <a:pathLst>
              <a:path w="149203" h="170517">
                <a:moveTo>
                  <a:pt x="21315" y="10657"/>
                </a:moveTo>
                <a:cubicBezTo>
                  <a:pt x="9558" y="10657"/>
                  <a:pt x="0" y="20216"/>
                  <a:pt x="0" y="31972"/>
                </a:cubicBezTo>
                <a:lnTo>
                  <a:pt x="0" y="138545"/>
                </a:lnTo>
                <a:cubicBezTo>
                  <a:pt x="0" y="150302"/>
                  <a:pt x="9558" y="159860"/>
                  <a:pt x="21315" y="159860"/>
                </a:cubicBezTo>
                <a:lnTo>
                  <a:pt x="127888" y="159860"/>
                </a:lnTo>
                <a:cubicBezTo>
                  <a:pt x="139644" y="159860"/>
                  <a:pt x="149203" y="150302"/>
                  <a:pt x="149203" y="138545"/>
                </a:cubicBezTo>
                <a:lnTo>
                  <a:pt x="149203" y="31972"/>
                </a:lnTo>
                <a:cubicBezTo>
                  <a:pt x="149203" y="20216"/>
                  <a:pt x="139644" y="10657"/>
                  <a:pt x="127888" y="10657"/>
                </a:cubicBezTo>
                <a:lnTo>
                  <a:pt x="21315" y="10657"/>
                </a:lnTo>
                <a:close/>
                <a:moveTo>
                  <a:pt x="42629" y="37301"/>
                </a:moveTo>
                <a:cubicBezTo>
                  <a:pt x="51452" y="37301"/>
                  <a:pt x="58615" y="44464"/>
                  <a:pt x="58615" y="53287"/>
                </a:cubicBezTo>
                <a:cubicBezTo>
                  <a:pt x="58615" y="62110"/>
                  <a:pt x="51452" y="69273"/>
                  <a:pt x="42629" y="69273"/>
                </a:cubicBezTo>
                <a:cubicBezTo>
                  <a:pt x="33806" y="69273"/>
                  <a:pt x="26643" y="62110"/>
                  <a:pt x="26643" y="53287"/>
                </a:cubicBezTo>
                <a:cubicBezTo>
                  <a:pt x="26643" y="44464"/>
                  <a:pt x="33806" y="37301"/>
                  <a:pt x="42629" y="37301"/>
                </a:cubicBezTo>
                <a:close/>
                <a:moveTo>
                  <a:pt x="90587" y="74601"/>
                </a:moveTo>
                <a:cubicBezTo>
                  <a:pt x="93385" y="74601"/>
                  <a:pt x="95949" y="76067"/>
                  <a:pt x="97415" y="78431"/>
                </a:cubicBezTo>
                <a:lnTo>
                  <a:pt x="126722" y="126389"/>
                </a:lnTo>
                <a:cubicBezTo>
                  <a:pt x="128221" y="128854"/>
                  <a:pt x="128288" y="131951"/>
                  <a:pt x="126889" y="134482"/>
                </a:cubicBezTo>
                <a:cubicBezTo>
                  <a:pt x="125490" y="137013"/>
                  <a:pt x="122793" y="138545"/>
                  <a:pt x="119895" y="138545"/>
                </a:cubicBezTo>
                <a:lnTo>
                  <a:pt x="29308" y="138545"/>
                </a:lnTo>
                <a:cubicBezTo>
                  <a:pt x="26344" y="138545"/>
                  <a:pt x="23579" y="136880"/>
                  <a:pt x="22214" y="134249"/>
                </a:cubicBezTo>
                <a:cubicBezTo>
                  <a:pt x="20848" y="131618"/>
                  <a:pt x="21048" y="128421"/>
                  <a:pt x="22747" y="125990"/>
                </a:cubicBezTo>
                <a:lnTo>
                  <a:pt x="41397" y="99346"/>
                </a:lnTo>
                <a:cubicBezTo>
                  <a:pt x="42896" y="97215"/>
                  <a:pt x="45327" y="95949"/>
                  <a:pt x="47958" y="95949"/>
                </a:cubicBezTo>
                <a:cubicBezTo>
                  <a:pt x="50589" y="95949"/>
                  <a:pt x="53020" y="97215"/>
                  <a:pt x="54519" y="99346"/>
                </a:cubicBezTo>
                <a:lnTo>
                  <a:pt x="63311" y="111935"/>
                </a:lnTo>
                <a:lnTo>
                  <a:pt x="83760" y="78465"/>
                </a:lnTo>
                <a:cubicBezTo>
                  <a:pt x="85225" y="76100"/>
                  <a:pt x="87790" y="74635"/>
                  <a:pt x="90587" y="74635"/>
                </a:cubicBezTo>
                <a:close/>
              </a:path>
            </a:pathLst>
          </a:custGeom>
          <a:solidFill>
            <a:srgbClr val="8E8E93"/>
          </a:solidFill>
          <a:ln/>
        </p:spPr>
      </p:sp>
      <p:sp>
        <p:nvSpPr>
          <p:cNvPr id="32" name="Text 29"/>
          <p:cNvSpPr/>
          <p:nvPr/>
        </p:nvSpPr>
        <p:spPr>
          <a:xfrm>
            <a:off x="6617499" y="5759702"/>
            <a:ext cx="5096578" cy="265249"/>
          </a:xfrm>
          <a:prstGeom prst="rect">
            <a:avLst/>
          </a:prstGeom>
          <a:noFill/>
          <a:ln/>
        </p:spPr>
        <p:txBody>
          <a:bodyPr wrap="square" lIns="0" tIns="0" rIns="0" bIns="0" rtlCol="0" anchor="ctr"/>
          <a:lstStyle/>
          <a:p>
            <a:pPr>
              <a:lnSpc>
                <a:spcPct val="130000"/>
              </a:lnSpc>
            </a:pPr>
            <a:r>
              <a:rPr lang="en-US" sz="1343" b="1" dirty="0">
                <a:solidFill>
                  <a:srgbClr val="8E8E93"/>
                </a:solidFill>
                <a:latin typeface="Liter" pitchFamily="34" charset="0"/>
                <a:ea typeface="Liter" pitchFamily="34" charset="-122"/>
                <a:cs typeface="Liter" pitchFamily="34" charset="-120"/>
              </a:rPr>
              <a:t>Visual Suggestion</a:t>
            </a:r>
            <a:endParaRPr lang="en-US" sz="1600" dirty="0"/>
          </a:p>
        </p:txBody>
      </p:sp>
      <p:sp>
        <p:nvSpPr>
          <p:cNvPr id="33" name="Shape 30"/>
          <p:cNvSpPr/>
          <p:nvPr/>
        </p:nvSpPr>
        <p:spPr>
          <a:xfrm>
            <a:off x="6418562" y="6176522"/>
            <a:ext cx="151571" cy="151571"/>
          </a:xfrm>
          <a:custGeom>
            <a:avLst/>
            <a:gdLst/>
            <a:ahLst/>
            <a:cxnLst/>
            <a:rect l="l" t="t" r="r" b="b"/>
            <a:pathLst>
              <a:path w="151571" h="151571">
                <a:moveTo>
                  <a:pt x="0" y="23683"/>
                </a:moveTo>
                <a:cubicBezTo>
                  <a:pt x="0" y="15838"/>
                  <a:pt x="6365" y="9473"/>
                  <a:pt x="14210" y="9473"/>
                </a:cubicBezTo>
                <a:lnTo>
                  <a:pt x="42629" y="9473"/>
                </a:lnTo>
                <a:cubicBezTo>
                  <a:pt x="50474" y="9473"/>
                  <a:pt x="56839" y="15838"/>
                  <a:pt x="56839" y="23683"/>
                </a:cubicBezTo>
                <a:lnTo>
                  <a:pt x="56839" y="28420"/>
                </a:lnTo>
                <a:lnTo>
                  <a:pt x="94732" y="28420"/>
                </a:lnTo>
                <a:lnTo>
                  <a:pt x="94732" y="23683"/>
                </a:lnTo>
                <a:cubicBezTo>
                  <a:pt x="94732" y="15838"/>
                  <a:pt x="101097" y="9473"/>
                  <a:pt x="108942" y="9473"/>
                </a:cubicBezTo>
                <a:lnTo>
                  <a:pt x="137361" y="9473"/>
                </a:lnTo>
                <a:cubicBezTo>
                  <a:pt x="145206" y="9473"/>
                  <a:pt x="151571" y="15838"/>
                  <a:pt x="151571" y="23683"/>
                </a:cubicBezTo>
                <a:lnTo>
                  <a:pt x="151571" y="52103"/>
                </a:lnTo>
                <a:cubicBezTo>
                  <a:pt x="151571" y="59948"/>
                  <a:pt x="145206" y="66312"/>
                  <a:pt x="137361" y="66312"/>
                </a:cubicBezTo>
                <a:lnTo>
                  <a:pt x="108942" y="66312"/>
                </a:lnTo>
                <a:cubicBezTo>
                  <a:pt x="101097" y="66312"/>
                  <a:pt x="94732" y="59948"/>
                  <a:pt x="94732" y="52103"/>
                </a:cubicBezTo>
                <a:lnTo>
                  <a:pt x="94732" y="47366"/>
                </a:lnTo>
                <a:lnTo>
                  <a:pt x="56839" y="47366"/>
                </a:lnTo>
                <a:lnTo>
                  <a:pt x="56839" y="52103"/>
                </a:lnTo>
                <a:cubicBezTo>
                  <a:pt x="56839" y="54264"/>
                  <a:pt x="56336" y="56336"/>
                  <a:pt x="55477" y="58171"/>
                </a:cubicBezTo>
                <a:lnTo>
                  <a:pt x="75786" y="85259"/>
                </a:lnTo>
                <a:lnTo>
                  <a:pt x="99469" y="85259"/>
                </a:lnTo>
                <a:cubicBezTo>
                  <a:pt x="107314" y="85259"/>
                  <a:pt x="113678" y="91624"/>
                  <a:pt x="113678" y="99469"/>
                </a:cubicBezTo>
                <a:lnTo>
                  <a:pt x="113678" y="127888"/>
                </a:lnTo>
                <a:cubicBezTo>
                  <a:pt x="113678" y="135733"/>
                  <a:pt x="107314" y="142098"/>
                  <a:pt x="99469" y="142098"/>
                </a:cubicBezTo>
                <a:lnTo>
                  <a:pt x="71049" y="142098"/>
                </a:lnTo>
                <a:cubicBezTo>
                  <a:pt x="63204" y="142098"/>
                  <a:pt x="56839" y="135733"/>
                  <a:pt x="56839" y="127888"/>
                </a:cubicBezTo>
                <a:lnTo>
                  <a:pt x="56839" y="99469"/>
                </a:lnTo>
                <a:cubicBezTo>
                  <a:pt x="56839" y="97307"/>
                  <a:pt x="57342" y="95235"/>
                  <a:pt x="58201" y="93400"/>
                </a:cubicBezTo>
                <a:lnTo>
                  <a:pt x="37893" y="66312"/>
                </a:lnTo>
                <a:lnTo>
                  <a:pt x="14210" y="66312"/>
                </a:lnTo>
                <a:cubicBezTo>
                  <a:pt x="6365" y="66312"/>
                  <a:pt x="0" y="59948"/>
                  <a:pt x="0" y="52103"/>
                </a:cubicBezTo>
                <a:lnTo>
                  <a:pt x="0" y="23683"/>
                </a:lnTo>
                <a:close/>
              </a:path>
            </a:pathLst>
          </a:custGeom>
          <a:solidFill>
            <a:srgbClr val="34C759"/>
          </a:solidFill>
          <a:ln/>
        </p:spPr>
      </p:sp>
      <p:sp>
        <p:nvSpPr>
          <p:cNvPr id="34" name="Text 31"/>
          <p:cNvSpPr/>
          <p:nvPr/>
        </p:nvSpPr>
        <p:spPr>
          <a:xfrm>
            <a:off x="6664865" y="6138629"/>
            <a:ext cx="4386089" cy="227357"/>
          </a:xfrm>
          <a:prstGeom prst="rect">
            <a:avLst/>
          </a:prstGeom>
          <a:noFill/>
          <a:ln/>
        </p:spPr>
        <p:txBody>
          <a:bodyPr wrap="square" lIns="0" tIns="0" rIns="0" bIns="0" rtlCol="0" anchor="ctr"/>
          <a:lstStyle/>
          <a:p>
            <a:pPr>
              <a:lnSpc>
                <a:spcPct val="130000"/>
              </a:lnSpc>
            </a:pPr>
            <a:r>
              <a:rPr lang="en-US" sz="1193"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193" dirty="0">
                <a:solidFill>
                  <a:srgbClr val="F5F5F7"/>
                </a:solidFill>
                <a:latin typeface="Quattrocento Sans" pitchFamily="34" charset="0"/>
                <a:ea typeface="Quattrocento Sans" pitchFamily="34" charset="-122"/>
                <a:cs typeface="Quattrocento Sans" pitchFamily="34" charset="-120"/>
              </a:rPr>
              <a:t> Mobile app ecosystem showing apps, phones, and users</a:t>
            </a:r>
            <a:endParaRPr lang="en-US" sz="1600" dirty="0"/>
          </a:p>
        </p:txBody>
      </p:sp>
      <p:sp>
        <p:nvSpPr>
          <p:cNvPr id="35" name="Shape 32"/>
          <p:cNvSpPr/>
          <p:nvPr/>
        </p:nvSpPr>
        <p:spPr>
          <a:xfrm>
            <a:off x="6428035" y="6479664"/>
            <a:ext cx="132625" cy="151571"/>
          </a:xfrm>
          <a:custGeom>
            <a:avLst/>
            <a:gdLst/>
            <a:ahLst/>
            <a:cxnLst/>
            <a:rect l="l" t="t" r="r" b="b"/>
            <a:pathLst>
              <a:path w="132625" h="151571">
                <a:moveTo>
                  <a:pt x="18946" y="9473"/>
                </a:moveTo>
                <a:cubicBezTo>
                  <a:pt x="8496" y="9473"/>
                  <a:pt x="0" y="17969"/>
                  <a:pt x="0" y="28420"/>
                </a:cubicBezTo>
                <a:lnTo>
                  <a:pt x="0" y="123152"/>
                </a:lnTo>
                <a:cubicBezTo>
                  <a:pt x="0" y="133602"/>
                  <a:pt x="8496" y="142098"/>
                  <a:pt x="18946" y="142098"/>
                </a:cubicBezTo>
                <a:lnTo>
                  <a:pt x="113678" y="142098"/>
                </a:lnTo>
                <a:cubicBezTo>
                  <a:pt x="124128" y="142098"/>
                  <a:pt x="132625" y="133602"/>
                  <a:pt x="132625" y="123152"/>
                </a:cubicBezTo>
                <a:lnTo>
                  <a:pt x="132625" y="28420"/>
                </a:lnTo>
                <a:cubicBezTo>
                  <a:pt x="132625" y="17969"/>
                  <a:pt x="124128" y="9473"/>
                  <a:pt x="113678" y="9473"/>
                </a:cubicBezTo>
                <a:lnTo>
                  <a:pt x="18946" y="9473"/>
                </a:lnTo>
                <a:close/>
                <a:moveTo>
                  <a:pt x="37893" y="33156"/>
                </a:moveTo>
                <a:cubicBezTo>
                  <a:pt x="45735" y="33156"/>
                  <a:pt x="52103" y="39523"/>
                  <a:pt x="52103" y="47366"/>
                </a:cubicBezTo>
                <a:cubicBezTo>
                  <a:pt x="52103" y="55209"/>
                  <a:pt x="45735" y="61576"/>
                  <a:pt x="37893" y="61576"/>
                </a:cubicBezTo>
                <a:cubicBezTo>
                  <a:pt x="30050" y="61576"/>
                  <a:pt x="23683" y="55209"/>
                  <a:pt x="23683" y="47366"/>
                </a:cubicBezTo>
                <a:cubicBezTo>
                  <a:pt x="23683" y="39523"/>
                  <a:pt x="30050" y="33156"/>
                  <a:pt x="37893" y="33156"/>
                </a:cubicBezTo>
                <a:close/>
                <a:moveTo>
                  <a:pt x="80522" y="66312"/>
                </a:moveTo>
                <a:cubicBezTo>
                  <a:pt x="83009" y="66312"/>
                  <a:pt x="85288" y="67615"/>
                  <a:pt x="86591" y="69717"/>
                </a:cubicBezTo>
                <a:lnTo>
                  <a:pt x="112642" y="112346"/>
                </a:lnTo>
                <a:cubicBezTo>
                  <a:pt x="113974" y="114537"/>
                  <a:pt x="114034" y="117290"/>
                  <a:pt x="112790" y="119540"/>
                </a:cubicBezTo>
                <a:cubicBezTo>
                  <a:pt x="111547" y="121790"/>
                  <a:pt x="109149" y="123152"/>
                  <a:pt x="106573" y="123152"/>
                </a:cubicBezTo>
                <a:lnTo>
                  <a:pt x="26051" y="123152"/>
                </a:lnTo>
                <a:cubicBezTo>
                  <a:pt x="23417" y="123152"/>
                  <a:pt x="20959" y="121671"/>
                  <a:pt x="19746" y="119333"/>
                </a:cubicBezTo>
                <a:cubicBezTo>
                  <a:pt x="18532" y="116994"/>
                  <a:pt x="18710" y="114152"/>
                  <a:pt x="20219" y="111991"/>
                </a:cubicBezTo>
                <a:lnTo>
                  <a:pt x="36797" y="88308"/>
                </a:lnTo>
                <a:cubicBezTo>
                  <a:pt x="38130" y="86413"/>
                  <a:pt x="40291" y="85288"/>
                  <a:pt x="42629" y="85288"/>
                </a:cubicBezTo>
                <a:cubicBezTo>
                  <a:pt x="44968" y="85288"/>
                  <a:pt x="47129" y="86413"/>
                  <a:pt x="48461" y="88308"/>
                </a:cubicBezTo>
                <a:lnTo>
                  <a:pt x="56277" y="99498"/>
                </a:lnTo>
                <a:lnTo>
                  <a:pt x="74453" y="69746"/>
                </a:lnTo>
                <a:cubicBezTo>
                  <a:pt x="75756" y="67645"/>
                  <a:pt x="78035" y="66342"/>
                  <a:pt x="80522" y="66342"/>
                </a:cubicBezTo>
                <a:close/>
              </a:path>
            </a:pathLst>
          </a:custGeom>
          <a:solidFill>
            <a:srgbClr val="0A84FF"/>
          </a:solidFill>
          <a:ln/>
        </p:spPr>
      </p:sp>
      <p:sp>
        <p:nvSpPr>
          <p:cNvPr id="36" name="Text 33"/>
          <p:cNvSpPr/>
          <p:nvPr/>
        </p:nvSpPr>
        <p:spPr>
          <a:xfrm>
            <a:off x="6664865" y="6441772"/>
            <a:ext cx="3211413" cy="227357"/>
          </a:xfrm>
          <a:prstGeom prst="rect">
            <a:avLst/>
          </a:prstGeom>
          <a:noFill/>
          <a:ln/>
        </p:spPr>
        <p:txBody>
          <a:bodyPr wrap="square" lIns="0" tIns="0" rIns="0" bIns="0" rtlCol="0" anchor="ctr"/>
          <a:lstStyle/>
          <a:p>
            <a:pPr>
              <a:lnSpc>
                <a:spcPct val="130000"/>
              </a:lnSpc>
            </a:pPr>
            <a:r>
              <a:rPr lang="en-US" sz="1193"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193" dirty="0">
                <a:solidFill>
                  <a:srgbClr val="F5F5F7"/>
                </a:solidFill>
                <a:latin typeface="Quattrocento Sans" pitchFamily="34" charset="0"/>
                <a:ea typeface="Quattrocento Sans" pitchFamily="34" charset="-122"/>
                <a:cs typeface="Quattrocento Sans" pitchFamily="34" charset="-120"/>
              </a:rPr>
              <a:t> Phone screen showing various app icons</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34C759"/>
          </a:solidFill>
          <a:ln/>
        </p:spPr>
      </p:sp>
      <p:sp>
        <p:nvSpPr>
          <p:cNvPr id="3" name="Text 1"/>
          <p:cNvSpPr/>
          <p:nvPr/>
        </p:nvSpPr>
        <p:spPr>
          <a:xfrm>
            <a:off x="470178" y="514350"/>
            <a:ext cx="390525" cy="304800"/>
          </a:xfrm>
          <a:prstGeom prst="rect">
            <a:avLst/>
          </a:prstGeom>
          <a:noFill/>
          <a:ln/>
        </p:spPr>
        <p:txBody>
          <a:bodyPr wrap="square" lIns="0" tIns="0" rIns="0" bIns="0" rtlCol="0" anchor="ctr"/>
          <a:lstStyle/>
          <a:p>
            <a:pPr>
              <a:lnSpc>
                <a:spcPct val="110000"/>
              </a:lnSpc>
            </a:pPr>
            <a:r>
              <a:rPr lang="en-US" sz="1800" b="1" dirty="0">
                <a:solidFill>
                  <a:srgbClr val="1D1D1F"/>
                </a:solidFill>
                <a:latin typeface="Liter" pitchFamily="34" charset="0"/>
                <a:ea typeface="Liter" pitchFamily="34" charset="-122"/>
                <a:cs typeface="Liter" pitchFamily="34" charset="-120"/>
              </a:rPr>
              <a:t>02</a:t>
            </a:r>
            <a:endParaRPr lang="en-US" sz="1600" dirty="0"/>
          </a:p>
        </p:txBody>
      </p:sp>
      <p:sp>
        <p:nvSpPr>
          <p:cNvPr id="4" name="Text 2"/>
          <p:cNvSpPr/>
          <p:nvPr/>
        </p:nvSpPr>
        <p:spPr>
          <a:xfrm>
            <a:off x="952500" y="381000"/>
            <a:ext cx="4448175" cy="190500"/>
          </a:xfrm>
          <a:prstGeom prst="rect">
            <a:avLst/>
          </a:prstGeom>
          <a:noFill/>
          <a:ln/>
        </p:spPr>
        <p:txBody>
          <a:bodyPr wrap="square" lIns="0" tIns="0" rIns="0" bIns="0" rtlCol="0" anchor="ctr"/>
          <a:lstStyle/>
          <a:p>
            <a:pPr>
              <a:lnSpc>
                <a:spcPct val="120000"/>
              </a:lnSpc>
            </a:pPr>
            <a:r>
              <a:rPr lang="en-US" sz="1050" b="1" spc="53" kern="0" dirty="0">
                <a:solidFill>
                  <a:srgbClr val="34C759"/>
                </a:solidFill>
                <a:latin typeface="Quattrocento Sans" pitchFamily="34" charset="0"/>
                <a:ea typeface="Quattrocento Sans" pitchFamily="34" charset="-122"/>
                <a:cs typeface="Quattrocento Sans" pitchFamily="34" charset="-120"/>
              </a:rPr>
              <a:t>Introduction to Mobile Apps</a:t>
            </a:r>
            <a:endParaRPr lang="en-US" sz="1600" dirty="0"/>
          </a:p>
        </p:txBody>
      </p:sp>
      <p:sp>
        <p:nvSpPr>
          <p:cNvPr id="5" name="Text 3"/>
          <p:cNvSpPr/>
          <p:nvPr/>
        </p:nvSpPr>
        <p:spPr>
          <a:xfrm>
            <a:off x="952500" y="571500"/>
            <a:ext cx="4552950" cy="381000"/>
          </a:xfrm>
          <a:prstGeom prst="rect">
            <a:avLst/>
          </a:prstGeom>
          <a:noFill/>
          <a:ln/>
        </p:spPr>
        <p:txBody>
          <a:bodyPr wrap="square" lIns="0" tIns="0" rIns="0" bIns="0" rtlCol="0" anchor="ctr"/>
          <a:lstStyle/>
          <a:p>
            <a:pPr>
              <a:lnSpc>
                <a:spcPct val="90000"/>
              </a:lnSpc>
            </a:pPr>
            <a:r>
              <a:rPr lang="en-US" sz="2700" b="1" dirty="0">
                <a:solidFill>
                  <a:srgbClr val="F5F5F7"/>
                </a:solidFill>
                <a:latin typeface="Liter" pitchFamily="34" charset="0"/>
                <a:ea typeface="Liter" pitchFamily="34" charset="-122"/>
                <a:cs typeface="Liter" pitchFamily="34" charset="-120"/>
              </a:rPr>
              <a:t>Types of Mobile Applications</a:t>
            </a:r>
            <a:endParaRPr lang="en-US" sz="1600" dirty="0"/>
          </a:p>
        </p:txBody>
      </p:sp>
      <p:sp>
        <p:nvSpPr>
          <p:cNvPr id="6" name="Shape 4"/>
          <p:cNvSpPr/>
          <p:nvPr/>
        </p:nvSpPr>
        <p:spPr>
          <a:xfrm>
            <a:off x="381000" y="1276350"/>
            <a:ext cx="3705225" cy="2495550"/>
          </a:xfrm>
          <a:custGeom>
            <a:avLst/>
            <a:gdLst/>
            <a:ahLst/>
            <a:cxnLst/>
            <a:rect l="l" t="t" r="r" b="b"/>
            <a:pathLst>
              <a:path w="3705225" h="2495550">
                <a:moveTo>
                  <a:pt x="38100" y="0"/>
                </a:moveTo>
                <a:lnTo>
                  <a:pt x="3667125" y="0"/>
                </a:lnTo>
                <a:cubicBezTo>
                  <a:pt x="3688153" y="0"/>
                  <a:pt x="3705225" y="17072"/>
                  <a:pt x="3705225" y="38100"/>
                </a:cubicBezTo>
                <a:lnTo>
                  <a:pt x="3705225" y="2343150"/>
                </a:lnTo>
                <a:cubicBezTo>
                  <a:pt x="3705225" y="2427262"/>
                  <a:pt x="3636937" y="2495550"/>
                  <a:pt x="3552825" y="2495550"/>
                </a:cubicBezTo>
                <a:lnTo>
                  <a:pt x="152400" y="2495550"/>
                </a:lnTo>
                <a:cubicBezTo>
                  <a:pt x="68288" y="2495550"/>
                  <a:pt x="0" y="2427262"/>
                  <a:pt x="0" y="2343150"/>
                </a:cubicBezTo>
                <a:lnTo>
                  <a:pt x="0" y="38100"/>
                </a:lnTo>
                <a:cubicBezTo>
                  <a:pt x="0" y="17072"/>
                  <a:pt x="17072" y="0"/>
                  <a:pt x="38100" y="0"/>
                </a:cubicBezTo>
                <a:close/>
              </a:path>
            </a:pathLst>
          </a:custGeom>
          <a:gradFill rotWithShape="1" flip="none">
            <a:gsLst>
              <a:gs pos="0">
                <a:srgbClr val="34C759">
                  <a:alpha val="20000"/>
                </a:srgbClr>
              </a:gs>
              <a:gs pos="100000">
                <a:srgbClr val="2C2C2E"/>
              </a:gs>
            </a:gsLst>
            <a:lin ang="2700000" scaled="1"/>
          </a:gradFill>
          <a:ln/>
        </p:spPr>
      </p:sp>
      <p:sp>
        <p:nvSpPr>
          <p:cNvPr id="7" name="Shape 5"/>
          <p:cNvSpPr/>
          <p:nvPr/>
        </p:nvSpPr>
        <p:spPr>
          <a:xfrm>
            <a:off x="381000" y="1276350"/>
            <a:ext cx="3705225" cy="38100"/>
          </a:xfrm>
          <a:custGeom>
            <a:avLst/>
            <a:gdLst/>
            <a:ahLst/>
            <a:cxnLst/>
            <a:rect l="l" t="t" r="r" b="b"/>
            <a:pathLst>
              <a:path w="3705225" h="38100">
                <a:moveTo>
                  <a:pt x="38100" y="0"/>
                </a:moveTo>
                <a:lnTo>
                  <a:pt x="3667125" y="0"/>
                </a:lnTo>
                <a:cubicBezTo>
                  <a:pt x="3688153" y="0"/>
                  <a:pt x="3705225" y="17072"/>
                  <a:pt x="3705225" y="38100"/>
                </a:cubicBezTo>
                <a:lnTo>
                  <a:pt x="3705225" y="38100"/>
                </a:lnTo>
                <a:lnTo>
                  <a:pt x="0" y="38100"/>
                </a:lnTo>
                <a:lnTo>
                  <a:pt x="0" y="38100"/>
                </a:lnTo>
                <a:cubicBezTo>
                  <a:pt x="0" y="17072"/>
                  <a:pt x="17072" y="0"/>
                  <a:pt x="38100" y="0"/>
                </a:cubicBezTo>
                <a:close/>
              </a:path>
            </a:pathLst>
          </a:custGeom>
          <a:solidFill>
            <a:srgbClr val="34C759"/>
          </a:solidFill>
          <a:ln/>
        </p:spPr>
      </p:sp>
      <p:sp>
        <p:nvSpPr>
          <p:cNvPr id="8" name="Shape 6"/>
          <p:cNvSpPr/>
          <p:nvPr/>
        </p:nvSpPr>
        <p:spPr>
          <a:xfrm>
            <a:off x="571500" y="1485900"/>
            <a:ext cx="533400" cy="533400"/>
          </a:xfrm>
          <a:prstGeom prst="roundRect">
            <a:avLst>
              <a:gd name="adj" fmla="val 50000"/>
            </a:avLst>
          </a:prstGeom>
          <a:solidFill>
            <a:srgbClr val="34C759"/>
          </a:solidFill>
          <a:ln/>
        </p:spPr>
      </p:sp>
      <p:sp>
        <p:nvSpPr>
          <p:cNvPr id="9" name="Shape 7"/>
          <p:cNvSpPr/>
          <p:nvPr/>
        </p:nvSpPr>
        <p:spPr>
          <a:xfrm>
            <a:off x="752475" y="1638300"/>
            <a:ext cx="171450" cy="228600"/>
          </a:xfrm>
          <a:custGeom>
            <a:avLst/>
            <a:gdLst/>
            <a:ahLst/>
            <a:cxnLst/>
            <a:rect l="l" t="t" r="r" b="b"/>
            <a:pathLst>
              <a:path w="171450" h="228600">
                <a:moveTo>
                  <a:pt x="7144" y="28575"/>
                </a:moveTo>
                <a:cubicBezTo>
                  <a:pt x="7144" y="12814"/>
                  <a:pt x="19958" y="0"/>
                  <a:pt x="35719" y="0"/>
                </a:cubicBezTo>
                <a:lnTo>
                  <a:pt x="135731" y="0"/>
                </a:lnTo>
                <a:cubicBezTo>
                  <a:pt x="151492" y="0"/>
                  <a:pt x="164306" y="12814"/>
                  <a:pt x="164306" y="28575"/>
                </a:cubicBezTo>
                <a:lnTo>
                  <a:pt x="164306" y="200025"/>
                </a:lnTo>
                <a:cubicBezTo>
                  <a:pt x="164306" y="215786"/>
                  <a:pt x="151492" y="228600"/>
                  <a:pt x="135731" y="228600"/>
                </a:cubicBezTo>
                <a:lnTo>
                  <a:pt x="35719" y="228600"/>
                </a:lnTo>
                <a:cubicBezTo>
                  <a:pt x="19958" y="228600"/>
                  <a:pt x="7144" y="215786"/>
                  <a:pt x="7144" y="200025"/>
                </a:cubicBezTo>
                <a:lnTo>
                  <a:pt x="7144" y="28575"/>
                </a:lnTo>
                <a:close/>
                <a:moveTo>
                  <a:pt x="35719" y="28575"/>
                </a:moveTo>
                <a:lnTo>
                  <a:pt x="35719" y="164306"/>
                </a:lnTo>
                <a:lnTo>
                  <a:pt x="135731" y="164306"/>
                </a:lnTo>
                <a:lnTo>
                  <a:pt x="135731" y="28575"/>
                </a:lnTo>
                <a:lnTo>
                  <a:pt x="35719" y="28575"/>
                </a:lnTo>
                <a:close/>
                <a:moveTo>
                  <a:pt x="85725" y="210741"/>
                </a:moveTo>
                <a:cubicBezTo>
                  <a:pt x="93628" y="210741"/>
                  <a:pt x="100013" y="204356"/>
                  <a:pt x="100013" y="196453"/>
                </a:cubicBezTo>
                <a:cubicBezTo>
                  <a:pt x="100013" y="188550"/>
                  <a:pt x="93628" y="182166"/>
                  <a:pt x="85725" y="182166"/>
                </a:cubicBezTo>
                <a:cubicBezTo>
                  <a:pt x="77822" y="182166"/>
                  <a:pt x="71438" y="188550"/>
                  <a:pt x="71438" y="196453"/>
                </a:cubicBezTo>
                <a:cubicBezTo>
                  <a:pt x="71438" y="204356"/>
                  <a:pt x="77822" y="210741"/>
                  <a:pt x="85725" y="210741"/>
                </a:cubicBezTo>
                <a:close/>
              </a:path>
            </a:pathLst>
          </a:custGeom>
          <a:solidFill>
            <a:srgbClr val="1D1D1F"/>
          </a:solidFill>
          <a:ln/>
        </p:spPr>
      </p:sp>
      <p:sp>
        <p:nvSpPr>
          <p:cNvPr id="10" name="Text 8"/>
          <p:cNvSpPr/>
          <p:nvPr/>
        </p:nvSpPr>
        <p:spPr>
          <a:xfrm>
            <a:off x="1219200" y="1600200"/>
            <a:ext cx="1343025" cy="304800"/>
          </a:xfrm>
          <a:prstGeom prst="rect">
            <a:avLst/>
          </a:prstGeom>
          <a:noFill/>
          <a:ln/>
        </p:spPr>
        <p:txBody>
          <a:bodyPr wrap="square" lIns="0" tIns="0" rIns="0" bIns="0" rtlCol="0" anchor="ctr"/>
          <a:lstStyle/>
          <a:p>
            <a:pPr>
              <a:lnSpc>
                <a:spcPct val="110000"/>
              </a:lnSpc>
            </a:pPr>
            <a:r>
              <a:rPr lang="en-US" sz="1800" b="1" dirty="0">
                <a:solidFill>
                  <a:srgbClr val="34C759"/>
                </a:solidFill>
                <a:latin typeface="Liter" pitchFamily="34" charset="0"/>
                <a:ea typeface="Liter" pitchFamily="34" charset="-122"/>
                <a:cs typeface="Liter" pitchFamily="34" charset="-120"/>
              </a:rPr>
              <a:t>Native Apps</a:t>
            </a:r>
            <a:endParaRPr lang="en-US" sz="1600" dirty="0"/>
          </a:p>
        </p:txBody>
      </p:sp>
      <p:sp>
        <p:nvSpPr>
          <p:cNvPr id="11" name="Text 9"/>
          <p:cNvSpPr/>
          <p:nvPr/>
        </p:nvSpPr>
        <p:spPr>
          <a:xfrm>
            <a:off x="571500" y="2133600"/>
            <a:ext cx="123825" cy="228600"/>
          </a:xfrm>
          <a:prstGeom prst="rect">
            <a:avLst/>
          </a:prstGeom>
          <a:noFill/>
          <a:ln/>
        </p:spPr>
        <p:txBody>
          <a:bodyPr wrap="square" lIns="0" tIns="0" rIns="0" bIns="0" rtlCol="0" anchor="ctr"/>
          <a:lstStyle/>
          <a:p>
            <a:pPr>
              <a:lnSpc>
                <a:spcPct val="130000"/>
              </a:lnSpc>
            </a:pPr>
            <a:r>
              <a:rPr lang="en-US" sz="12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2" name="Text 10"/>
          <p:cNvSpPr/>
          <p:nvPr/>
        </p:nvSpPr>
        <p:spPr>
          <a:xfrm>
            <a:off x="697706" y="2133600"/>
            <a:ext cx="2009775"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Built for </a:t>
            </a:r>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one specific platform</a:t>
            </a:r>
            <a:endParaRPr lang="en-US" sz="1600" dirty="0"/>
          </a:p>
        </p:txBody>
      </p:sp>
      <p:sp>
        <p:nvSpPr>
          <p:cNvPr id="13" name="Text 11"/>
          <p:cNvSpPr/>
          <p:nvPr/>
        </p:nvSpPr>
        <p:spPr>
          <a:xfrm>
            <a:off x="571500" y="2438400"/>
            <a:ext cx="123825" cy="228600"/>
          </a:xfrm>
          <a:prstGeom prst="rect">
            <a:avLst/>
          </a:prstGeom>
          <a:noFill/>
          <a:ln/>
        </p:spPr>
        <p:txBody>
          <a:bodyPr wrap="square" lIns="0" tIns="0" rIns="0" bIns="0" rtlCol="0" anchor="ctr"/>
          <a:lstStyle/>
          <a:p>
            <a:pPr>
              <a:lnSpc>
                <a:spcPct val="130000"/>
              </a:lnSpc>
            </a:pPr>
            <a:r>
              <a:rPr lang="en-US" sz="12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4" name="Text 12"/>
          <p:cNvSpPr/>
          <p:nvPr/>
        </p:nvSpPr>
        <p:spPr>
          <a:xfrm>
            <a:off x="697706" y="2438400"/>
            <a:ext cx="169545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Android uses </a:t>
            </a:r>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Java/Kotlin</a:t>
            </a:r>
            <a:endParaRPr lang="en-US" sz="1600" dirty="0"/>
          </a:p>
        </p:txBody>
      </p:sp>
      <p:sp>
        <p:nvSpPr>
          <p:cNvPr id="15" name="Text 13"/>
          <p:cNvSpPr/>
          <p:nvPr/>
        </p:nvSpPr>
        <p:spPr>
          <a:xfrm>
            <a:off x="571500" y="2743200"/>
            <a:ext cx="123825" cy="228600"/>
          </a:xfrm>
          <a:prstGeom prst="rect">
            <a:avLst/>
          </a:prstGeom>
          <a:noFill/>
          <a:ln/>
        </p:spPr>
        <p:txBody>
          <a:bodyPr wrap="square" lIns="0" tIns="0" rIns="0" bIns="0" rtlCol="0" anchor="ctr"/>
          <a:lstStyle/>
          <a:p>
            <a:pPr>
              <a:lnSpc>
                <a:spcPct val="130000"/>
              </a:lnSpc>
            </a:pPr>
            <a:r>
              <a:rPr lang="en-US" sz="12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6" name="Text 14"/>
          <p:cNvSpPr/>
          <p:nvPr/>
        </p:nvSpPr>
        <p:spPr>
          <a:xfrm>
            <a:off x="697706" y="2743200"/>
            <a:ext cx="1019175"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iOS uses </a:t>
            </a:r>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Swift</a:t>
            </a:r>
            <a:endParaRPr lang="en-US" sz="1600" dirty="0"/>
          </a:p>
        </p:txBody>
      </p:sp>
      <p:sp>
        <p:nvSpPr>
          <p:cNvPr id="17" name="Text 15"/>
          <p:cNvSpPr/>
          <p:nvPr/>
        </p:nvSpPr>
        <p:spPr>
          <a:xfrm>
            <a:off x="571500" y="3048000"/>
            <a:ext cx="123825" cy="228600"/>
          </a:xfrm>
          <a:prstGeom prst="rect">
            <a:avLst/>
          </a:prstGeom>
          <a:noFill/>
          <a:ln/>
        </p:spPr>
        <p:txBody>
          <a:bodyPr wrap="square" lIns="0" tIns="0" rIns="0" bIns="0" rtlCol="0" anchor="ctr"/>
          <a:lstStyle/>
          <a:p>
            <a:pPr>
              <a:lnSpc>
                <a:spcPct val="130000"/>
              </a:lnSpc>
            </a:pPr>
            <a:r>
              <a:rPr lang="en-US" sz="12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8" name="Text 16"/>
          <p:cNvSpPr/>
          <p:nvPr/>
        </p:nvSpPr>
        <p:spPr>
          <a:xfrm>
            <a:off x="697706" y="3048000"/>
            <a:ext cx="1962150"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Best performance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and speed</a:t>
            </a:r>
            <a:endParaRPr lang="en-US" sz="1600" dirty="0"/>
          </a:p>
        </p:txBody>
      </p:sp>
      <p:sp>
        <p:nvSpPr>
          <p:cNvPr id="19" name="Text 17"/>
          <p:cNvSpPr/>
          <p:nvPr/>
        </p:nvSpPr>
        <p:spPr>
          <a:xfrm>
            <a:off x="571500" y="3352800"/>
            <a:ext cx="123825" cy="228600"/>
          </a:xfrm>
          <a:prstGeom prst="rect">
            <a:avLst/>
          </a:prstGeom>
          <a:noFill/>
          <a:ln/>
        </p:spPr>
        <p:txBody>
          <a:bodyPr wrap="square" lIns="0" tIns="0" rIns="0" bIns="0" rtlCol="0" anchor="ctr"/>
          <a:lstStyle/>
          <a:p>
            <a:pPr>
              <a:lnSpc>
                <a:spcPct val="130000"/>
              </a:lnSpc>
            </a:pPr>
            <a:r>
              <a:rPr lang="en-US" sz="12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20" name="Text 18"/>
          <p:cNvSpPr/>
          <p:nvPr/>
        </p:nvSpPr>
        <p:spPr>
          <a:xfrm>
            <a:off x="697706" y="3352800"/>
            <a:ext cx="1990725"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Full access to </a:t>
            </a:r>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device features</a:t>
            </a:r>
            <a:endParaRPr lang="en-US" sz="1600" dirty="0"/>
          </a:p>
        </p:txBody>
      </p:sp>
      <p:sp>
        <p:nvSpPr>
          <p:cNvPr id="21" name="Shape 19"/>
          <p:cNvSpPr/>
          <p:nvPr/>
        </p:nvSpPr>
        <p:spPr>
          <a:xfrm>
            <a:off x="4241721" y="1276350"/>
            <a:ext cx="3705225" cy="2495550"/>
          </a:xfrm>
          <a:custGeom>
            <a:avLst/>
            <a:gdLst/>
            <a:ahLst/>
            <a:cxnLst/>
            <a:rect l="l" t="t" r="r" b="b"/>
            <a:pathLst>
              <a:path w="3705225" h="2495550">
                <a:moveTo>
                  <a:pt x="38100" y="0"/>
                </a:moveTo>
                <a:lnTo>
                  <a:pt x="3667125" y="0"/>
                </a:lnTo>
                <a:cubicBezTo>
                  <a:pt x="3688153" y="0"/>
                  <a:pt x="3705225" y="17072"/>
                  <a:pt x="3705225" y="38100"/>
                </a:cubicBezTo>
                <a:lnTo>
                  <a:pt x="3705225" y="2343150"/>
                </a:lnTo>
                <a:cubicBezTo>
                  <a:pt x="3705225" y="2427262"/>
                  <a:pt x="3636937" y="2495550"/>
                  <a:pt x="3552825" y="2495550"/>
                </a:cubicBezTo>
                <a:lnTo>
                  <a:pt x="152400" y="2495550"/>
                </a:lnTo>
                <a:cubicBezTo>
                  <a:pt x="68288" y="2495550"/>
                  <a:pt x="0" y="2427262"/>
                  <a:pt x="0" y="2343150"/>
                </a:cubicBezTo>
                <a:lnTo>
                  <a:pt x="0" y="38100"/>
                </a:lnTo>
                <a:cubicBezTo>
                  <a:pt x="0" y="17072"/>
                  <a:pt x="17072" y="0"/>
                  <a:pt x="38100" y="0"/>
                </a:cubicBezTo>
                <a:close/>
              </a:path>
            </a:pathLst>
          </a:custGeom>
          <a:gradFill rotWithShape="1" flip="none">
            <a:gsLst>
              <a:gs pos="0">
                <a:srgbClr val="0A84FF">
                  <a:alpha val="20000"/>
                </a:srgbClr>
              </a:gs>
              <a:gs pos="100000">
                <a:srgbClr val="2C2C2E"/>
              </a:gs>
            </a:gsLst>
            <a:lin ang="2700000" scaled="1"/>
          </a:gradFill>
          <a:ln/>
        </p:spPr>
      </p:sp>
      <p:sp>
        <p:nvSpPr>
          <p:cNvPr id="22" name="Shape 20"/>
          <p:cNvSpPr/>
          <p:nvPr/>
        </p:nvSpPr>
        <p:spPr>
          <a:xfrm>
            <a:off x="4241721" y="1276350"/>
            <a:ext cx="3705225" cy="38100"/>
          </a:xfrm>
          <a:custGeom>
            <a:avLst/>
            <a:gdLst/>
            <a:ahLst/>
            <a:cxnLst/>
            <a:rect l="l" t="t" r="r" b="b"/>
            <a:pathLst>
              <a:path w="3705225" h="38100">
                <a:moveTo>
                  <a:pt x="38100" y="0"/>
                </a:moveTo>
                <a:lnTo>
                  <a:pt x="3667125" y="0"/>
                </a:lnTo>
                <a:cubicBezTo>
                  <a:pt x="3688153" y="0"/>
                  <a:pt x="3705225" y="17072"/>
                  <a:pt x="3705225" y="38100"/>
                </a:cubicBezTo>
                <a:lnTo>
                  <a:pt x="3705225" y="38100"/>
                </a:lnTo>
                <a:lnTo>
                  <a:pt x="0" y="38100"/>
                </a:lnTo>
                <a:lnTo>
                  <a:pt x="0" y="38100"/>
                </a:lnTo>
                <a:cubicBezTo>
                  <a:pt x="0" y="17072"/>
                  <a:pt x="17072" y="0"/>
                  <a:pt x="38100" y="0"/>
                </a:cubicBezTo>
                <a:close/>
              </a:path>
            </a:pathLst>
          </a:custGeom>
          <a:solidFill>
            <a:srgbClr val="0A84FF"/>
          </a:solidFill>
          <a:ln/>
        </p:spPr>
      </p:sp>
      <p:sp>
        <p:nvSpPr>
          <p:cNvPr id="23" name="Shape 21"/>
          <p:cNvSpPr/>
          <p:nvPr/>
        </p:nvSpPr>
        <p:spPr>
          <a:xfrm>
            <a:off x="4432221" y="1485900"/>
            <a:ext cx="533400" cy="533400"/>
          </a:xfrm>
          <a:prstGeom prst="roundRect">
            <a:avLst>
              <a:gd name="adj" fmla="val 50000"/>
            </a:avLst>
          </a:prstGeom>
          <a:solidFill>
            <a:srgbClr val="0A84FF"/>
          </a:solidFill>
          <a:ln/>
        </p:spPr>
      </p:sp>
      <p:sp>
        <p:nvSpPr>
          <p:cNvPr id="24" name="Shape 22"/>
          <p:cNvSpPr/>
          <p:nvPr/>
        </p:nvSpPr>
        <p:spPr>
          <a:xfrm>
            <a:off x="4584621" y="1638300"/>
            <a:ext cx="228600" cy="228600"/>
          </a:xfrm>
          <a:custGeom>
            <a:avLst/>
            <a:gdLst/>
            <a:ahLst/>
            <a:cxnLst/>
            <a:rect l="l" t="t" r="r" b="b"/>
            <a:pathLst>
              <a:path w="228600" h="228600">
                <a:moveTo>
                  <a:pt x="157118" y="125016"/>
                </a:moveTo>
                <a:lnTo>
                  <a:pt x="71884" y="125016"/>
                </a:lnTo>
                <a:cubicBezTo>
                  <a:pt x="73179" y="153814"/>
                  <a:pt x="79564" y="180335"/>
                  <a:pt x="88627" y="199757"/>
                </a:cubicBezTo>
                <a:cubicBezTo>
                  <a:pt x="93717" y="210696"/>
                  <a:pt x="99209" y="218420"/>
                  <a:pt x="104299" y="223153"/>
                </a:cubicBezTo>
                <a:cubicBezTo>
                  <a:pt x="109299" y="227841"/>
                  <a:pt x="112737" y="228600"/>
                  <a:pt x="114523" y="228600"/>
                </a:cubicBezTo>
                <a:cubicBezTo>
                  <a:pt x="116309" y="228600"/>
                  <a:pt x="119747" y="227841"/>
                  <a:pt x="124748" y="223153"/>
                </a:cubicBezTo>
                <a:cubicBezTo>
                  <a:pt x="129838" y="218420"/>
                  <a:pt x="135329" y="210651"/>
                  <a:pt x="140419" y="199757"/>
                </a:cubicBezTo>
                <a:cubicBezTo>
                  <a:pt x="149483" y="180335"/>
                  <a:pt x="155868" y="153814"/>
                  <a:pt x="157162" y="125016"/>
                </a:cubicBezTo>
                <a:close/>
                <a:moveTo>
                  <a:pt x="71839" y="103584"/>
                </a:moveTo>
                <a:lnTo>
                  <a:pt x="157073" y="103584"/>
                </a:lnTo>
                <a:cubicBezTo>
                  <a:pt x="155823" y="74786"/>
                  <a:pt x="149438" y="48265"/>
                  <a:pt x="140375" y="28843"/>
                </a:cubicBezTo>
                <a:cubicBezTo>
                  <a:pt x="135285" y="17949"/>
                  <a:pt x="129793" y="10180"/>
                  <a:pt x="124703" y="5447"/>
                </a:cubicBezTo>
                <a:cubicBezTo>
                  <a:pt x="119702" y="759"/>
                  <a:pt x="116265" y="0"/>
                  <a:pt x="114479" y="0"/>
                </a:cubicBezTo>
                <a:cubicBezTo>
                  <a:pt x="112693" y="0"/>
                  <a:pt x="109255" y="759"/>
                  <a:pt x="104254" y="5447"/>
                </a:cubicBezTo>
                <a:cubicBezTo>
                  <a:pt x="99164" y="10180"/>
                  <a:pt x="93672" y="17949"/>
                  <a:pt x="88582" y="28843"/>
                </a:cubicBezTo>
                <a:cubicBezTo>
                  <a:pt x="79519" y="48265"/>
                  <a:pt x="73134" y="74786"/>
                  <a:pt x="71839" y="103584"/>
                </a:cubicBezTo>
                <a:close/>
                <a:moveTo>
                  <a:pt x="50408" y="103584"/>
                </a:moveTo>
                <a:cubicBezTo>
                  <a:pt x="51971" y="65365"/>
                  <a:pt x="61838" y="29870"/>
                  <a:pt x="76260" y="6563"/>
                </a:cubicBezTo>
                <a:cubicBezTo>
                  <a:pt x="35138" y="21119"/>
                  <a:pt x="4867" y="58579"/>
                  <a:pt x="670" y="103584"/>
                </a:cubicBezTo>
                <a:lnTo>
                  <a:pt x="50408" y="103584"/>
                </a:lnTo>
                <a:close/>
                <a:moveTo>
                  <a:pt x="670" y="125016"/>
                </a:moveTo>
                <a:cubicBezTo>
                  <a:pt x="4867" y="170021"/>
                  <a:pt x="35138" y="207481"/>
                  <a:pt x="76260" y="222037"/>
                </a:cubicBezTo>
                <a:cubicBezTo>
                  <a:pt x="61838" y="198730"/>
                  <a:pt x="51971" y="163235"/>
                  <a:pt x="50408" y="125016"/>
                </a:cubicBezTo>
                <a:lnTo>
                  <a:pt x="670" y="125016"/>
                </a:lnTo>
                <a:close/>
                <a:moveTo>
                  <a:pt x="178549" y="125016"/>
                </a:moveTo>
                <a:cubicBezTo>
                  <a:pt x="176986" y="163235"/>
                  <a:pt x="167119" y="198730"/>
                  <a:pt x="152698" y="222037"/>
                </a:cubicBezTo>
                <a:cubicBezTo>
                  <a:pt x="193819" y="207437"/>
                  <a:pt x="224091" y="170021"/>
                  <a:pt x="228287" y="125016"/>
                </a:cubicBezTo>
                <a:lnTo>
                  <a:pt x="178549" y="125016"/>
                </a:lnTo>
                <a:close/>
                <a:moveTo>
                  <a:pt x="228287" y="103584"/>
                </a:moveTo>
                <a:cubicBezTo>
                  <a:pt x="224091" y="58579"/>
                  <a:pt x="193819" y="21119"/>
                  <a:pt x="152698" y="6563"/>
                </a:cubicBezTo>
                <a:cubicBezTo>
                  <a:pt x="167119" y="29870"/>
                  <a:pt x="176986" y="65365"/>
                  <a:pt x="178549" y="103584"/>
                </a:cubicBezTo>
                <a:lnTo>
                  <a:pt x="228287" y="103584"/>
                </a:lnTo>
                <a:close/>
              </a:path>
            </a:pathLst>
          </a:custGeom>
          <a:solidFill>
            <a:srgbClr val="FFFFFF"/>
          </a:solidFill>
          <a:ln/>
        </p:spPr>
      </p:sp>
      <p:sp>
        <p:nvSpPr>
          <p:cNvPr id="25" name="Text 23"/>
          <p:cNvSpPr/>
          <p:nvPr/>
        </p:nvSpPr>
        <p:spPr>
          <a:xfrm>
            <a:off x="5079921" y="1600200"/>
            <a:ext cx="1171575" cy="304800"/>
          </a:xfrm>
          <a:prstGeom prst="rect">
            <a:avLst/>
          </a:prstGeom>
          <a:noFill/>
          <a:ln/>
        </p:spPr>
        <p:txBody>
          <a:bodyPr wrap="square" lIns="0" tIns="0" rIns="0" bIns="0" rtlCol="0" anchor="ctr"/>
          <a:lstStyle/>
          <a:p>
            <a:pPr>
              <a:lnSpc>
                <a:spcPct val="110000"/>
              </a:lnSpc>
            </a:pPr>
            <a:r>
              <a:rPr lang="en-US" sz="1800" b="1" dirty="0">
                <a:solidFill>
                  <a:srgbClr val="0A84FF"/>
                </a:solidFill>
                <a:latin typeface="Liter" pitchFamily="34" charset="0"/>
                <a:ea typeface="Liter" pitchFamily="34" charset="-122"/>
                <a:cs typeface="Liter" pitchFamily="34" charset="-120"/>
              </a:rPr>
              <a:t>Web Apps</a:t>
            </a:r>
            <a:endParaRPr lang="en-US" sz="1600" dirty="0"/>
          </a:p>
        </p:txBody>
      </p:sp>
      <p:sp>
        <p:nvSpPr>
          <p:cNvPr id="26" name="Text 24"/>
          <p:cNvSpPr/>
          <p:nvPr/>
        </p:nvSpPr>
        <p:spPr>
          <a:xfrm>
            <a:off x="4432221" y="2133600"/>
            <a:ext cx="123825" cy="228600"/>
          </a:xfrm>
          <a:prstGeom prst="rect">
            <a:avLst/>
          </a:prstGeom>
          <a:noFill/>
          <a:ln/>
        </p:spPr>
        <p:txBody>
          <a:bodyPr wrap="square" lIns="0" tIns="0" rIns="0" bIns="0" rtlCol="0" anchor="ctr"/>
          <a:lstStyle/>
          <a:p>
            <a:pPr>
              <a:lnSpc>
                <a:spcPct val="130000"/>
              </a:lnSpc>
            </a:pPr>
            <a:r>
              <a:rPr lang="en-US" sz="1200" dirty="0">
                <a:solidFill>
                  <a:srgbClr val="0A84FF"/>
                </a:solidFill>
                <a:latin typeface="Quattrocento Sans" pitchFamily="34" charset="0"/>
                <a:ea typeface="Quattrocento Sans" pitchFamily="34" charset="-122"/>
                <a:cs typeface="Quattrocento Sans" pitchFamily="34" charset="-120"/>
              </a:rPr>
              <a:t>•</a:t>
            </a:r>
            <a:endParaRPr lang="en-US" sz="1600" dirty="0"/>
          </a:p>
        </p:txBody>
      </p:sp>
      <p:sp>
        <p:nvSpPr>
          <p:cNvPr id="27" name="Text 25"/>
          <p:cNvSpPr/>
          <p:nvPr/>
        </p:nvSpPr>
        <p:spPr>
          <a:xfrm>
            <a:off x="4558427" y="2133600"/>
            <a:ext cx="15240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Run in a </a:t>
            </a:r>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web browser</a:t>
            </a:r>
            <a:endParaRPr lang="en-US" sz="1600" dirty="0"/>
          </a:p>
        </p:txBody>
      </p:sp>
      <p:sp>
        <p:nvSpPr>
          <p:cNvPr id="28" name="Text 26"/>
          <p:cNvSpPr/>
          <p:nvPr/>
        </p:nvSpPr>
        <p:spPr>
          <a:xfrm>
            <a:off x="4432221" y="2438400"/>
            <a:ext cx="123825" cy="228600"/>
          </a:xfrm>
          <a:prstGeom prst="rect">
            <a:avLst/>
          </a:prstGeom>
          <a:noFill/>
          <a:ln/>
        </p:spPr>
        <p:txBody>
          <a:bodyPr wrap="square" lIns="0" tIns="0" rIns="0" bIns="0" rtlCol="0" anchor="ctr"/>
          <a:lstStyle/>
          <a:p>
            <a:pPr>
              <a:lnSpc>
                <a:spcPct val="130000"/>
              </a:lnSpc>
            </a:pPr>
            <a:r>
              <a:rPr lang="en-US" sz="1200" dirty="0">
                <a:solidFill>
                  <a:srgbClr val="0A84FF"/>
                </a:solidFill>
                <a:latin typeface="Quattrocento Sans" pitchFamily="34" charset="0"/>
                <a:ea typeface="Quattrocento Sans" pitchFamily="34" charset="-122"/>
                <a:cs typeface="Quattrocento Sans" pitchFamily="34" charset="-120"/>
              </a:rPr>
              <a:t>•</a:t>
            </a:r>
            <a:endParaRPr lang="en-US" sz="1600" dirty="0"/>
          </a:p>
        </p:txBody>
      </p:sp>
      <p:sp>
        <p:nvSpPr>
          <p:cNvPr id="29" name="Text 27"/>
          <p:cNvSpPr/>
          <p:nvPr/>
        </p:nvSpPr>
        <p:spPr>
          <a:xfrm>
            <a:off x="4558427" y="2438400"/>
            <a:ext cx="18288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Use </a:t>
            </a:r>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HTML, CSS, JavaScript</a:t>
            </a:r>
            <a:endParaRPr lang="en-US" sz="1600" dirty="0"/>
          </a:p>
        </p:txBody>
      </p:sp>
      <p:sp>
        <p:nvSpPr>
          <p:cNvPr id="30" name="Text 28"/>
          <p:cNvSpPr/>
          <p:nvPr/>
        </p:nvSpPr>
        <p:spPr>
          <a:xfrm>
            <a:off x="4432221" y="2743200"/>
            <a:ext cx="123825" cy="228600"/>
          </a:xfrm>
          <a:prstGeom prst="rect">
            <a:avLst/>
          </a:prstGeom>
          <a:noFill/>
          <a:ln/>
        </p:spPr>
        <p:txBody>
          <a:bodyPr wrap="square" lIns="0" tIns="0" rIns="0" bIns="0" rtlCol="0" anchor="ctr"/>
          <a:lstStyle/>
          <a:p>
            <a:pPr>
              <a:lnSpc>
                <a:spcPct val="130000"/>
              </a:lnSpc>
            </a:pPr>
            <a:r>
              <a:rPr lang="en-US" sz="1200" dirty="0">
                <a:solidFill>
                  <a:srgbClr val="0A84FF"/>
                </a:solidFill>
                <a:latin typeface="Quattrocento Sans" pitchFamily="34" charset="0"/>
                <a:ea typeface="Quattrocento Sans" pitchFamily="34" charset="-122"/>
                <a:cs typeface="Quattrocento Sans" pitchFamily="34" charset="-120"/>
              </a:rPr>
              <a:t>•</a:t>
            </a:r>
            <a:endParaRPr lang="en-US" sz="1600" dirty="0"/>
          </a:p>
        </p:txBody>
      </p:sp>
      <p:sp>
        <p:nvSpPr>
          <p:cNvPr id="31" name="Text 29"/>
          <p:cNvSpPr/>
          <p:nvPr/>
        </p:nvSpPr>
        <p:spPr>
          <a:xfrm>
            <a:off x="4558427" y="2743200"/>
            <a:ext cx="1543050"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No installation</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needed</a:t>
            </a:r>
            <a:endParaRPr lang="en-US" sz="1600" dirty="0"/>
          </a:p>
        </p:txBody>
      </p:sp>
      <p:sp>
        <p:nvSpPr>
          <p:cNvPr id="32" name="Text 30"/>
          <p:cNvSpPr/>
          <p:nvPr/>
        </p:nvSpPr>
        <p:spPr>
          <a:xfrm>
            <a:off x="4432221" y="3048000"/>
            <a:ext cx="123825" cy="228600"/>
          </a:xfrm>
          <a:prstGeom prst="rect">
            <a:avLst/>
          </a:prstGeom>
          <a:noFill/>
          <a:ln/>
        </p:spPr>
        <p:txBody>
          <a:bodyPr wrap="square" lIns="0" tIns="0" rIns="0" bIns="0" rtlCol="0" anchor="ctr"/>
          <a:lstStyle/>
          <a:p>
            <a:pPr>
              <a:lnSpc>
                <a:spcPct val="130000"/>
              </a:lnSpc>
            </a:pPr>
            <a:r>
              <a:rPr lang="en-US" sz="1200" dirty="0">
                <a:solidFill>
                  <a:srgbClr val="0A84FF"/>
                </a:solidFill>
                <a:latin typeface="Quattrocento Sans" pitchFamily="34" charset="0"/>
                <a:ea typeface="Quattrocento Sans" pitchFamily="34" charset="-122"/>
                <a:cs typeface="Quattrocento Sans" pitchFamily="34" charset="-120"/>
              </a:rPr>
              <a:t>•</a:t>
            </a:r>
            <a:endParaRPr lang="en-US" sz="1600" dirty="0"/>
          </a:p>
        </p:txBody>
      </p:sp>
      <p:sp>
        <p:nvSpPr>
          <p:cNvPr id="33" name="Text 31"/>
          <p:cNvSpPr/>
          <p:nvPr/>
        </p:nvSpPr>
        <p:spPr>
          <a:xfrm>
            <a:off x="4558427" y="3048000"/>
            <a:ext cx="14097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Work on </a:t>
            </a:r>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any device</a:t>
            </a:r>
            <a:endParaRPr lang="en-US" sz="1600" dirty="0"/>
          </a:p>
        </p:txBody>
      </p:sp>
      <p:sp>
        <p:nvSpPr>
          <p:cNvPr id="34" name="Text 32"/>
          <p:cNvSpPr/>
          <p:nvPr/>
        </p:nvSpPr>
        <p:spPr>
          <a:xfrm>
            <a:off x="4432221" y="3352800"/>
            <a:ext cx="123825" cy="228600"/>
          </a:xfrm>
          <a:prstGeom prst="rect">
            <a:avLst/>
          </a:prstGeom>
          <a:noFill/>
          <a:ln/>
        </p:spPr>
        <p:txBody>
          <a:bodyPr wrap="square" lIns="0" tIns="0" rIns="0" bIns="0" rtlCol="0" anchor="ctr"/>
          <a:lstStyle/>
          <a:p>
            <a:pPr>
              <a:lnSpc>
                <a:spcPct val="130000"/>
              </a:lnSpc>
            </a:pPr>
            <a:r>
              <a:rPr lang="en-US" sz="1200" dirty="0">
                <a:solidFill>
                  <a:srgbClr val="0A84FF"/>
                </a:solidFill>
                <a:latin typeface="Quattrocento Sans" pitchFamily="34" charset="0"/>
                <a:ea typeface="Quattrocento Sans" pitchFamily="34" charset="-122"/>
                <a:cs typeface="Quattrocento Sans" pitchFamily="34" charset="-120"/>
              </a:rPr>
              <a:t>•</a:t>
            </a:r>
            <a:endParaRPr lang="en-US" sz="1600" dirty="0"/>
          </a:p>
        </p:txBody>
      </p:sp>
      <p:sp>
        <p:nvSpPr>
          <p:cNvPr id="35" name="Text 33"/>
          <p:cNvSpPr/>
          <p:nvPr/>
        </p:nvSpPr>
        <p:spPr>
          <a:xfrm>
            <a:off x="4558427" y="3352800"/>
            <a:ext cx="1743075"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Need </a:t>
            </a:r>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internet connection</a:t>
            </a:r>
            <a:endParaRPr lang="en-US" sz="1600" dirty="0"/>
          </a:p>
        </p:txBody>
      </p:sp>
      <p:sp>
        <p:nvSpPr>
          <p:cNvPr id="36" name="Shape 34"/>
          <p:cNvSpPr/>
          <p:nvPr/>
        </p:nvSpPr>
        <p:spPr>
          <a:xfrm>
            <a:off x="8102561" y="1276350"/>
            <a:ext cx="3705225" cy="2495550"/>
          </a:xfrm>
          <a:custGeom>
            <a:avLst/>
            <a:gdLst/>
            <a:ahLst/>
            <a:cxnLst/>
            <a:rect l="l" t="t" r="r" b="b"/>
            <a:pathLst>
              <a:path w="3705225" h="2495550">
                <a:moveTo>
                  <a:pt x="38100" y="0"/>
                </a:moveTo>
                <a:lnTo>
                  <a:pt x="3667125" y="0"/>
                </a:lnTo>
                <a:cubicBezTo>
                  <a:pt x="3688153" y="0"/>
                  <a:pt x="3705225" y="17072"/>
                  <a:pt x="3705225" y="38100"/>
                </a:cubicBezTo>
                <a:lnTo>
                  <a:pt x="3705225" y="2343150"/>
                </a:lnTo>
                <a:cubicBezTo>
                  <a:pt x="3705225" y="2427262"/>
                  <a:pt x="3636937" y="2495550"/>
                  <a:pt x="3552825" y="2495550"/>
                </a:cubicBezTo>
                <a:lnTo>
                  <a:pt x="152400" y="2495550"/>
                </a:lnTo>
                <a:cubicBezTo>
                  <a:pt x="68288" y="2495550"/>
                  <a:pt x="0" y="2427262"/>
                  <a:pt x="0" y="2343150"/>
                </a:cubicBezTo>
                <a:lnTo>
                  <a:pt x="0" y="38100"/>
                </a:lnTo>
                <a:cubicBezTo>
                  <a:pt x="0" y="17072"/>
                  <a:pt x="17072" y="0"/>
                  <a:pt x="38100" y="0"/>
                </a:cubicBezTo>
                <a:close/>
              </a:path>
            </a:pathLst>
          </a:custGeom>
          <a:gradFill rotWithShape="1" flip="none">
            <a:gsLst>
              <a:gs pos="0">
                <a:srgbClr val="8E8E93">
                  <a:alpha val="20000"/>
                </a:srgbClr>
              </a:gs>
              <a:gs pos="100000">
                <a:srgbClr val="2C2C2E"/>
              </a:gs>
            </a:gsLst>
            <a:lin ang="2700000" scaled="1"/>
          </a:gradFill>
          <a:ln/>
        </p:spPr>
      </p:sp>
      <p:sp>
        <p:nvSpPr>
          <p:cNvPr id="37" name="Shape 35"/>
          <p:cNvSpPr/>
          <p:nvPr/>
        </p:nvSpPr>
        <p:spPr>
          <a:xfrm>
            <a:off x="8102561" y="1276350"/>
            <a:ext cx="3705225" cy="38100"/>
          </a:xfrm>
          <a:custGeom>
            <a:avLst/>
            <a:gdLst/>
            <a:ahLst/>
            <a:cxnLst/>
            <a:rect l="l" t="t" r="r" b="b"/>
            <a:pathLst>
              <a:path w="3705225" h="38100">
                <a:moveTo>
                  <a:pt x="38100" y="0"/>
                </a:moveTo>
                <a:lnTo>
                  <a:pt x="3667125" y="0"/>
                </a:lnTo>
                <a:cubicBezTo>
                  <a:pt x="3688153" y="0"/>
                  <a:pt x="3705225" y="17072"/>
                  <a:pt x="3705225" y="38100"/>
                </a:cubicBezTo>
                <a:lnTo>
                  <a:pt x="3705225" y="38100"/>
                </a:lnTo>
                <a:lnTo>
                  <a:pt x="0" y="38100"/>
                </a:lnTo>
                <a:lnTo>
                  <a:pt x="0" y="38100"/>
                </a:lnTo>
                <a:cubicBezTo>
                  <a:pt x="0" y="17072"/>
                  <a:pt x="17072" y="0"/>
                  <a:pt x="38100" y="0"/>
                </a:cubicBezTo>
                <a:close/>
              </a:path>
            </a:pathLst>
          </a:custGeom>
          <a:solidFill>
            <a:srgbClr val="8E8E93"/>
          </a:solidFill>
          <a:ln/>
        </p:spPr>
      </p:sp>
      <p:sp>
        <p:nvSpPr>
          <p:cNvPr id="38" name="Shape 36"/>
          <p:cNvSpPr/>
          <p:nvPr/>
        </p:nvSpPr>
        <p:spPr>
          <a:xfrm>
            <a:off x="8293061" y="1485900"/>
            <a:ext cx="533400" cy="533400"/>
          </a:xfrm>
          <a:prstGeom prst="roundRect">
            <a:avLst>
              <a:gd name="adj" fmla="val 50000"/>
            </a:avLst>
          </a:prstGeom>
          <a:solidFill>
            <a:srgbClr val="8E8E93"/>
          </a:solidFill>
          <a:ln/>
        </p:spPr>
      </p:sp>
      <p:sp>
        <p:nvSpPr>
          <p:cNvPr id="39" name="Shape 37"/>
          <p:cNvSpPr/>
          <p:nvPr/>
        </p:nvSpPr>
        <p:spPr>
          <a:xfrm>
            <a:off x="8445461" y="1638300"/>
            <a:ext cx="228600" cy="228600"/>
          </a:xfrm>
          <a:custGeom>
            <a:avLst/>
            <a:gdLst/>
            <a:ahLst/>
            <a:cxnLst/>
            <a:rect l="l" t="t" r="r" b="b"/>
            <a:pathLst>
              <a:path w="228600" h="228600">
                <a:moveTo>
                  <a:pt x="103808" y="2322"/>
                </a:moveTo>
                <a:cubicBezTo>
                  <a:pt x="110460" y="-759"/>
                  <a:pt x="118140" y="-759"/>
                  <a:pt x="124792" y="2322"/>
                </a:cubicBezTo>
                <a:lnTo>
                  <a:pt x="222394" y="47417"/>
                </a:lnTo>
                <a:cubicBezTo>
                  <a:pt x="226189" y="49158"/>
                  <a:pt x="228600" y="52953"/>
                  <a:pt x="228600" y="57150"/>
                </a:cubicBezTo>
                <a:cubicBezTo>
                  <a:pt x="228600" y="61347"/>
                  <a:pt x="226189" y="65142"/>
                  <a:pt x="222394" y="66883"/>
                </a:cubicBezTo>
                <a:lnTo>
                  <a:pt x="124792" y="111978"/>
                </a:lnTo>
                <a:cubicBezTo>
                  <a:pt x="118140" y="115059"/>
                  <a:pt x="110460" y="115059"/>
                  <a:pt x="103808" y="111978"/>
                </a:cubicBezTo>
                <a:lnTo>
                  <a:pt x="6206" y="66883"/>
                </a:lnTo>
                <a:cubicBezTo>
                  <a:pt x="2411" y="65097"/>
                  <a:pt x="0" y="61302"/>
                  <a:pt x="0" y="57150"/>
                </a:cubicBezTo>
                <a:cubicBezTo>
                  <a:pt x="0" y="52998"/>
                  <a:pt x="2411" y="49158"/>
                  <a:pt x="6206" y="47417"/>
                </a:cubicBezTo>
                <a:lnTo>
                  <a:pt x="103808" y="2322"/>
                </a:lnTo>
                <a:close/>
                <a:moveTo>
                  <a:pt x="21476" y="97512"/>
                </a:moveTo>
                <a:lnTo>
                  <a:pt x="94833" y="131400"/>
                </a:lnTo>
                <a:cubicBezTo>
                  <a:pt x="107201" y="137115"/>
                  <a:pt x="121444" y="137115"/>
                  <a:pt x="133811" y="131400"/>
                </a:cubicBezTo>
                <a:lnTo>
                  <a:pt x="207169" y="97512"/>
                </a:lnTo>
                <a:lnTo>
                  <a:pt x="222394" y="104567"/>
                </a:lnTo>
                <a:cubicBezTo>
                  <a:pt x="226189" y="106308"/>
                  <a:pt x="228600" y="110103"/>
                  <a:pt x="228600" y="114300"/>
                </a:cubicBezTo>
                <a:cubicBezTo>
                  <a:pt x="228600" y="118497"/>
                  <a:pt x="226189" y="122292"/>
                  <a:pt x="222394" y="124033"/>
                </a:cubicBezTo>
                <a:lnTo>
                  <a:pt x="124792" y="169128"/>
                </a:lnTo>
                <a:cubicBezTo>
                  <a:pt x="118140" y="172209"/>
                  <a:pt x="110460" y="172209"/>
                  <a:pt x="103808" y="169128"/>
                </a:cubicBezTo>
                <a:lnTo>
                  <a:pt x="6206" y="124033"/>
                </a:lnTo>
                <a:cubicBezTo>
                  <a:pt x="2411" y="122247"/>
                  <a:pt x="0" y="118452"/>
                  <a:pt x="0" y="114300"/>
                </a:cubicBezTo>
                <a:cubicBezTo>
                  <a:pt x="0" y="110148"/>
                  <a:pt x="2411" y="106308"/>
                  <a:pt x="6206" y="104567"/>
                </a:cubicBezTo>
                <a:lnTo>
                  <a:pt x="21431" y="97512"/>
                </a:lnTo>
                <a:close/>
                <a:moveTo>
                  <a:pt x="6206" y="161717"/>
                </a:moveTo>
                <a:lnTo>
                  <a:pt x="21431" y="154662"/>
                </a:lnTo>
                <a:lnTo>
                  <a:pt x="94789" y="188550"/>
                </a:lnTo>
                <a:cubicBezTo>
                  <a:pt x="107156" y="194265"/>
                  <a:pt x="121399" y="194265"/>
                  <a:pt x="133767" y="188550"/>
                </a:cubicBezTo>
                <a:lnTo>
                  <a:pt x="207124" y="154662"/>
                </a:lnTo>
                <a:lnTo>
                  <a:pt x="222349" y="161717"/>
                </a:lnTo>
                <a:cubicBezTo>
                  <a:pt x="226144" y="163458"/>
                  <a:pt x="228555" y="167253"/>
                  <a:pt x="228555" y="171450"/>
                </a:cubicBezTo>
                <a:cubicBezTo>
                  <a:pt x="228555" y="175647"/>
                  <a:pt x="226144" y="179442"/>
                  <a:pt x="222349" y="181183"/>
                </a:cubicBezTo>
                <a:lnTo>
                  <a:pt x="124748" y="226278"/>
                </a:lnTo>
                <a:cubicBezTo>
                  <a:pt x="118095" y="229359"/>
                  <a:pt x="110416" y="229359"/>
                  <a:pt x="103763" y="226278"/>
                </a:cubicBezTo>
                <a:lnTo>
                  <a:pt x="6206" y="181183"/>
                </a:lnTo>
                <a:cubicBezTo>
                  <a:pt x="2411" y="179397"/>
                  <a:pt x="0" y="175602"/>
                  <a:pt x="0" y="171450"/>
                </a:cubicBezTo>
                <a:cubicBezTo>
                  <a:pt x="0" y="167298"/>
                  <a:pt x="2411" y="163458"/>
                  <a:pt x="6206" y="161717"/>
                </a:cubicBezTo>
                <a:close/>
              </a:path>
            </a:pathLst>
          </a:custGeom>
          <a:solidFill>
            <a:srgbClr val="FFFFFF"/>
          </a:solidFill>
          <a:ln/>
        </p:spPr>
      </p:sp>
      <p:sp>
        <p:nvSpPr>
          <p:cNvPr id="40" name="Text 38"/>
          <p:cNvSpPr/>
          <p:nvPr/>
        </p:nvSpPr>
        <p:spPr>
          <a:xfrm>
            <a:off x="8940761" y="1600200"/>
            <a:ext cx="1371600" cy="304800"/>
          </a:xfrm>
          <a:prstGeom prst="rect">
            <a:avLst/>
          </a:prstGeom>
          <a:noFill/>
          <a:ln/>
        </p:spPr>
        <p:txBody>
          <a:bodyPr wrap="square" lIns="0" tIns="0" rIns="0" bIns="0" rtlCol="0" anchor="ctr"/>
          <a:lstStyle/>
          <a:p>
            <a:pPr>
              <a:lnSpc>
                <a:spcPct val="110000"/>
              </a:lnSpc>
            </a:pPr>
            <a:r>
              <a:rPr lang="en-US" sz="1800" b="1" dirty="0">
                <a:solidFill>
                  <a:srgbClr val="8E8E93"/>
                </a:solidFill>
                <a:latin typeface="Liter" pitchFamily="34" charset="0"/>
                <a:ea typeface="Liter" pitchFamily="34" charset="-122"/>
                <a:cs typeface="Liter" pitchFamily="34" charset="-120"/>
              </a:rPr>
              <a:t>Hybrid Apps</a:t>
            </a:r>
            <a:endParaRPr lang="en-US" sz="1600" dirty="0"/>
          </a:p>
        </p:txBody>
      </p:sp>
      <p:sp>
        <p:nvSpPr>
          <p:cNvPr id="41" name="Text 39"/>
          <p:cNvSpPr/>
          <p:nvPr/>
        </p:nvSpPr>
        <p:spPr>
          <a:xfrm>
            <a:off x="8293061" y="2133600"/>
            <a:ext cx="123825" cy="228600"/>
          </a:xfrm>
          <a:prstGeom prst="rect">
            <a:avLst/>
          </a:prstGeom>
          <a:noFill/>
          <a:ln/>
        </p:spPr>
        <p:txBody>
          <a:bodyPr wrap="square" lIns="0" tIns="0" rIns="0" bIns="0" rtlCol="0" anchor="ctr"/>
          <a:lstStyle/>
          <a:p>
            <a:pPr>
              <a:lnSpc>
                <a:spcPct val="130000"/>
              </a:lnSpc>
            </a:pPr>
            <a:r>
              <a:rPr lang="en-US" sz="1200" dirty="0">
                <a:solidFill>
                  <a:srgbClr val="8E8E93"/>
                </a:solidFill>
                <a:latin typeface="Quattrocento Sans" pitchFamily="34" charset="0"/>
                <a:ea typeface="Quattrocento Sans" pitchFamily="34" charset="-122"/>
                <a:cs typeface="Quattrocento Sans" pitchFamily="34" charset="-120"/>
              </a:rPr>
              <a:t>•</a:t>
            </a:r>
            <a:endParaRPr lang="en-US" sz="1600" dirty="0"/>
          </a:p>
        </p:txBody>
      </p:sp>
      <p:sp>
        <p:nvSpPr>
          <p:cNvPr id="42" name="Text 40"/>
          <p:cNvSpPr/>
          <p:nvPr/>
        </p:nvSpPr>
        <p:spPr>
          <a:xfrm>
            <a:off x="8419267" y="2164081"/>
            <a:ext cx="1535787" cy="16764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Mix of native and web</a:t>
            </a:r>
            <a:endParaRPr lang="en-US" sz="1600" dirty="0"/>
          </a:p>
        </p:txBody>
      </p:sp>
      <p:sp>
        <p:nvSpPr>
          <p:cNvPr id="43" name="Text 41"/>
          <p:cNvSpPr/>
          <p:nvPr/>
        </p:nvSpPr>
        <p:spPr>
          <a:xfrm>
            <a:off x="8293061" y="2438400"/>
            <a:ext cx="123825" cy="228600"/>
          </a:xfrm>
          <a:prstGeom prst="rect">
            <a:avLst/>
          </a:prstGeom>
          <a:noFill/>
          <a:ln/>
        </p:spPr>
        <p:txBody>
          <a:bodyPr wrap="square" lIns="0" tIns="0" rIns="0" bIns="0" rtlCol="0" anchor="ctr"/>
          <a:lstStyle/>
          <a:p>
            <a:pPr>
              <a:lnSpc>
                <a:spcPct val="130000"/>
              </a:lnSpc>
            </a:pPr>
            <a:r>
              <a:rPr lang="en-US" sz="1200" dirty="0">
                <a:solidFill>
                  <a:srgbClr val="8E8E93"/>
                </a:solidFill>
                <a:latin typeface="Quattrocento Sans" pitchFamily="34" charset="0"/>
                <a:ea typeface="Quattrocento Sans" pitchFamily="34" charset="-122"/>
                <a:cs typeface="Quattrocento Sans" pitchFamily="34" charset="-120"/>
              </a:rPr>
              <a:t>•</a:t>
            </a:r>
            <a:endParaRPr lang="en-US" sz="1600" dirty="0"/>
          </a:p>
        </p:txBody>
      </p:sp>
      <p:sp>
        <p:nvSpPr>
          <p:cNvPr id="44" name="Text 42"/>
          <p:cNvSpPr/>
          <p:nvPr/>
        </p:nvSpPr>
        <p:spPr>
          <a:xfrm>
            <a:off x="8419267" y="2438400"/>
            <a:ext cx="1895475"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Built with </a:t>
            </a:r>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web technologies</a:t>
            </a:r>
            <a:endParaRPr lang="en-US" sz="1600" dirty="0"/>
          </a:p>
        </p:txBody>
      </p:sp>
      <p:sp>
        <p:nvSpPr>
          <p:cNvPr id="45" name="Text 43"/>
          <p:cNvSpPr/>
          <p:nvPr/>
        </p:nvSpPr>
        <p:spPr>
          <a:xfrm>
            <a:off x="8293061" y="2743200"/>
            <a:ext cx="123825" cy="228600"/>
          </a:xfrm>
          <a:prstGeom prst="rect">
            <a:avLst/>
          </a:prstGeom>
          <a:noFill/>
          <a:ln/>
        </p:spPr>
        <p:txBody>
          <a:bodyPr wrap="square" lIns="0" tIns="0" rIns="0" bIns="0" rtlCol="0" anchor="ctr"/>
          <a:lstStyle/>
          <a:p>
            <a:pPr>
              <a:lnSpc>
                <a:spcPct val="130000"/>
              </a:lnSpc>
            </a:pPr>
            <a:r>
              <a:rPr lang="en-US" sz="1200" dirty="0">
                <a:solidFill>
                  <a:srgbClr val="8E8E93"/>
                </a:solidFill>
                <a:latin typeface="Quattrocento Sans" pitchFamily="34" charset="0"/>
                <a:ea typeface="Quattrocento Sans" pitchFamily="34" charset="-122"/>
                <a:cs typeface="Quattrocento Sans" pitchFamily="34" charset="-120"/>
              </a:rPr>
              <a:t>•</a:t>
            </a:r>
            <a:endParaRPr lang="en-US" sz="1600" dirty="0"/>
          </a:p>
        </p:txBody>
      </p:sp>
      <p:sp>
        <p:nvSpPr>
          <p:cNvPr id="46" name="Text 44"/>
          <p:cNvSpPr/>
          <p:nvPr/>
        </p:nvSpPr>
        <p:spPr>
          <a:xfrm>
            <a:off x="8419267" y="2743200"/>
            <a:ext cx="1895475"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Work on </a:t>
            </a:r>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multiple platforms</a:t>
            </a:r>
            <a:endParaRPr lang="en-US" sz="1600" dirty="0"/>
          </a:p>
        </p:txBody>
      </p:sp>
      <p:sp>
        <p:nvSpPr>
          <p:cNvPr id="47" name="Text 45"/>
          <p:cNvSpPr/>
          <p:nvPr/>
        </p:nvSpPr>
        <p:spPr>
          <a:xfrm>
            <a:off x="8293061" y="3048000"/>
            <a:ext cx="123825" cy="228600"/>
          </a:xfrm>
          <a:prstGeom prst="rect">
            <a:avLst/>
          </a:prstGeom>
          <a:noFill/>
          <a:ln/>
        </p:spPr>
        <p:txBody>
          <a:bodyPr wrap="square" lIns="0" tIns="0" rIns="0" bIns="0" rtlCol="0" anchor="ctr"/>
          <a:lstStyle/>
          <a:p>
            <a:pPr>
              <a:lnSpc>
                <a:spcPct val="130000"/>
              </a:lnSpc>
            </a:pPr>
            <a:r>
              <a:rPr lang="en-US" sz="1200" dirty="0">
                <a:solidFill>
                  <a:srgbClr val="8E8E93"/>
                </a:solidFill>
                <a:latin typeface="Quattrocento Sans" pitchFamily="34" charset="0"/>
                <a:ea typeface="Quattrocento Sans" pitchFamily="34" charset="-122"/>
                <a:cs typeface="Quattrocento Sans" pitchFamily="34" charset="-120"/>
              </a:rPr>
              <a:t>•</a:t>
            </a:r>
            <a:endParaRPr lang="en-US" sz="1600" dirty="0"/>
          </a:p>
        </p:txBody>
      </p:sp>
      <p:sp>
        <p:nvSpPr>
          <p:cNvPr id="48" name="Text 46"/>
          <p:cNvSpPr/>
          <p:nvPr/>
        </p:nvSpPr>
        <p:spPr>
          <a:xfrm>
            <a:off x="8419267" y="3078481"/>
            <a:ext cx="1385173" cy="16764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Faster development</a:t>
            </a:r>
            <a:endParaRPr lang="en-US" sz="1600" dirty="0"/>
          </a:p>
        </p:txBody>
      </p:sp>
      <p:sp>
        <p:nvSpPr>
          <p:cNvPr id="49" name="Text 47"/>
          <p:cNvSpPr/>
          <p:nvPr/>
        </p:nvSpPr>
        <p:spPr>
          <a:xfrm>
            <a:off x="8293061" y="3352800"/>
            <a:ext cx="123825" cy="228600"/>
          </a:xfrm>
          <a:prstGeom prst="rect">
            <a:avLst/>
          </a:prstGeom>
          <a:noFill/>
          <a:ln/>
        </p:spPr>
        <p:txBody>
          <a:bodyPr wrap="square" lIns="0" tIns="0" rIns="0" bIns="0" rtlCol="0" anchor="ctr"/>
          <a:lstStyle/>
          <a:p>
            <a:pPr>
              <a:lnSpc>
                <a:spcPct val="130000"/>
              </a:lnSpc>
            </a:pPr>
            <a:r>
              <a:rPr lang="en-US" sz="1200" dirty="0">
                <a:solidFill>
                  <a:srgbClr val="8E8E93"/>
                </a:solidFill>
                <a:latin typeface="Quattrocento Sans" pitchFamily="34" charset="0"/>
                <a:ea typeface="Quattrocento Sans" pitchFamily="34" charset="-122"/>
                <a:cs typeface="Quattrocento Sans" pitchFamily="34" charset="-120"/>
              </a:rPr>
              <a:t>•</a:t>
            </a:r>
            <a:endParaRPr lang="en-US" sz="1600" dirty="0"/>
          </a:p>
        </p:txBody>
      </p:sp>
      <p:sp>
        <p:nvSpPr>
          <p:cNvPr id="50" name="Text 48"/>
          <p:cNvSpPr/>
          <p:nvPr/>
        </p:nvSpPr>
        <p:spPr>
          <a:xfrm>
            <a:off x="8419267" y="3352800"/>
            <a:ext cx="14859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Good for </a:t>
            </a:r>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simple apps</a:t>
            </a:r>
            <a:endParaRPr lang="en-US" sz="1600" dirty="0"/>
          </a:p>
        </p:txBody>
      </p:sp>
      <p:sp>
        <p:nvSpPr>
          <p:cNvPr id="51" name="Shape 49"/>
          <p:cNvSpPr/>
          <p:nvPr/>
        </p:nvSpPr>
        <p:spPr>
          <a:xfrm>
            <a:off x="400050" y="3924300"/>
            <a:ext cx="5619750" cy="1504950"/>
          </a:xfrm>
          <a:custGeom>
            <a:avLst/>
            <a:gdLst/>
            <a:ahLst/>
            <a:cxnLst/>
            <a:rect l="l" t="t" r="r" b="b"/>
            <a:pathLst>
              <a:path w="5619750" h="1504950">
                <a:moveTo>
                  <a:pt x="38100" y="0"/>
                </a:moveTo>
                <a:lnTo>
                  <a:pt x="5467350" y="0"/>
                </a:lnTo>
                <a:cubicBezTo>
                  <a:pt x="5551462" y="0"/>
                  <a:pt x="5619750" y="68288"/>
                  <a:pt x="5619750" y="152400"/>
                </a:cubicBezTo>
                <a:lnTo>
                  <a:pt x="5619750" y="1352550"/>
                </a:lnTo>
                <a:cubicBezTo>
                  <a:pt x="5619750" y="1436662"/>
                  <a:pt x="5551462" y="1504950"/>
                  <a:pt x="5467350" y="1504950"/>
                </a:cubicBezTo>
                <a:lnTo>
                  <a:pt x="38100" y="1504950"/>
                </a:lnTo>
                <a:cubicBezTo>
                  <a:pt x="17072" y="1504950"/>
                  <a:pt x="0" y="1487878"/>
                  <a:pt x="0" y="1466850"/>
                </a:cubicBezTo>
                <a:lnTo>
                  <a:pt x="0" y="38100"/>
                </a:lnTo>
                <a:cubicBezTo>
                  <a:pt x="0" y="17072"/>
                  <a:pt x="17072" y="0"/>
                  <a:pt x="38100" y="0"/>
                </a:cubicBezTo>
                <a:close/>
              </a:path>
            </a:pathLst>
          </a:custGeom>
          <a:solidFill>
            <a:srgbClr val="2C2C2E"/>
          </a:solidFill>
          <a:ln/>
        </p:spPr>
      </p:sp>
      <p:sp>
        <p:nvSpPr>
          <p:cNvPr id="52" name="Shape 50"/>
          <p:cNvSpPr/>
          <p:nvPr/>
        </p:nvSpPr>
        <p:spPr>
          <a:xfrm>
            <a:off x="400050" y="3924300"/>
            <a:ext cx="38100" cy="1504950"/>
          </a:xfrm>
          <a:custGeom>
            <a:avLst/>
            <a:gdLst/>
            <a:ahLst/>
            <a:cxnLst/>
            <a:rect l="l" t="t" r="r" b="b"/>
            <a:pathLst>
              <a:path w="38100" h="1504950">
                <a:moveTo>
                  <a:pt x="38100" y="0"/>
                </a:moveTo>
                <a:lnTo>
                  <a:pt x="38100" y="0"/>
                </a:lnTo>
                <a:lnTo>
                  <a:pt x="38100" y="1504950"/>
                </a:lnTo>
                <a:lnTo>
                  <a:pt x="38100" y="1504950"/>
                </a:lnTo>
                <a:cubicBezTo>
                  <a:pt x="17072" y="1504950"/>
                  <a:pt x="0" y="1487878"/>
                  <a:pt x="0" y="1466850"/>
                </a:cubicBezTo>
                <a:lnTo>
                  <a:pt x="0" y="38100"/>
                </a:lnTo>
                <a:cubicBezTo>
                  <a:pt x="0" y="17072"/>
                  <a:pt x="17072" y="0"/>
                  <a:pt x="38100" y="0"/>
                </a:cubicBezTo>
                <a:close/>
              </a:path>
            </a:pathLst>
          </a:custGeom>
          <a:solidFill>
            <a:srgbClr val="34C759"/>
          </a:solidFill>
          <a:ln/>
        </p:spPr>
      </p:sp>
      <p:sp>
        <p:nvSpPr>
          <p:cNvPr id="53" name="Shape 51"/>
          <p:cNvSpPr/>
          <p:nvPr/>
        </p:nvSpPr>
        <p:spPr>
          <a:xfrm>
            <a:off x="633413" y="4162425"/>
            <a:ext cx="171450" cy="171450"/>
          </a:xfrm>
          <a:custGeom>
            <a:avLst/>
            <a:gdLst/>
            <a:ahLst/>
            <a:cxnLst/>
            <a:rect l="l" t="t" r="r" b="b"/>
            <a:pathLst>
              <a:path w="171450" h="171450">
                <a:moveTo>
                  <a:pt x="85725" y="160734"/>
                </a:moveTo>
                <a:cubicBezTo>
                  <a:pt x="133075" y="160734"/>
                  <a:pt x="171450" y="124737"/>
                  <a:pt x="171450" y="80367"/>
                </a:cubicBezTo>
                <a:cubicBezTo>
                  <a:pt x="171450" y="35998"/>
                  <a:pt x="133075" y="0"/>
                  <a:pt x="85725" y="0"/>
                </a:cubicBezTo>
                <a:cubicBezTo>
                  <a:pt x="38375" y="0"/>
                  <a:pt x="0" y="35998"/>
                  <a:pt x="0" y="80367"/>
                </a:cubicBezTo>
                <a:cubicBezTo>
                  <a:pt x="0" y="98550"/>
                  <a:pt x="6429" y="115293"/>
                  <a:pt x="17279" y="128755"/>
                </a:cubicBezTo>
                <a:lnTo>
                  <a:pt x="938" y="159663"/>
                </a:lnTo>
                <a:cubicBezTo>
                  <a:pt x="-670" y="162677"/>
                  <a:pt x="-167" y="166360"/>
                  <a:pt x="2143" y="168872"/>
                </a:cubicBezTo>
                <a:cubicBezTo>
                  <a:pt x="4454" y="171383"/>
                  <a:pt x="8104" y="172153"/>
                  <a:pt x="11218" y="170814"/>
                </a:cubicBezTo>
                <a:lnTo>
                  <a:pt x="50866" y="153836"/>
                </a:lnTo>
                <a:cubicBezTo>
                  <a:pt x="61514" y="158256"/>
                  <a:pt x="73302" y="160734"/>
                  <a:pt x="85725" y="160734"/>
                </a:cubicBezTo>
                <a:close/>
                <a:moveTo>
                  <a:pt x="42863" y="69652"/>
                </a:moveTo>
                <a:cubicBezTo>
                  <a:pt x="48777" y="69652"/>
                  <a:pt x="53578" y="74453"/>
                  <a:pt x="53578" y="80367"/>
                </a:cubicBezTo>
                <a:cubicBezTo>
                  <a:pt x="53578" y="86281"/>
                  <a:pt x="48777" y="91083"/>
                  <a:pt x="42863" y="91083"/>
                </a:cubicBezTo>
                <a:cubicBezTo>
                  <a:pt x="36948" y="91083"/>
                  <a:pt x="32147" y="86281"/>
                  <a:pt x="32147" y="80367"/>
                </a:cubicBezTo>
                <a:cubicBezTo>
                  <a:pt x="32147" y="74453"/>
                  <a:pt x="36948" y="69652"/>
                  <a:pt x="42863" y="69652"/>
                </a:cubicBezTo>
                <a:close/>
                <a:moveTo>
                  <a:pt x="85725" y="69652"/>
                </a:moveTo>
                <a:cubicBezTo>
                  <a:pt x="91639" y="69652"/>
                  <a:pt x="96441" y="74453"/>
                  <a:pt x="96441" y="80367"/>
                </a:cubicBezTo>
                <a:cubicBezTo>
                  <a:pt x="96441" y="86281"/>
                  <a:pt x="91639" y="91083"/>
                  <a:pt x="85725" y="91083"/>
                </a:cubicBezTo>
                <a:cubicBezTo>
                  <a:pt x="79811" y="91083"/>
                  <a:pt x="75009" y="86281"/>
                  <a:pt x="75009" y="80367"/>
                </a:cubicBezTo>
                <a:cubicBezTo>
                  <a:pt x="75009" y="74453"/>
                  <a:pt x="79811" y="69652"/>
                  <a:pt x="85725" y="69652"/>
                </a:cubicBezTo>
                <a:close/>
                <a:moveTo>
                  <a:pt x="117872" y="80367"/>
                </a:moveTo>
                <a:cubicBezTo>
                  <a:pt x="117872" y="74453"/>
                  <a:pt x="122673" y="69652"/>
                  <a:pt x="128588" y="69652"/>
                </a:cubicBezTo>
                <a:cubicBezTo>
                  <a:pt x="134502" y="69652"/>
                  <a:pt x="139303" y="74453"/>
                  <a:pt x="139303" y="80367"/>
                </a:cubicBezTo>
                <a:cubicBezTo>
                  <a:pt x="139303" y="86281"/>
                  <a:pt x="134502" y="91083"/>
                  <a:pt x="128588" y="91083"/>
                </a:cubicBezTo>
                <a:cubicBezTo>
                  <a:pt x="122673" y="91083"/>
                  <a:pt x="117872" y="86281"/>
                  <a:pt x="117872" y="80367"/>
                </a:cubicBezTo>
                <a:close/>
              </a:path>
            </a:pathLst>
          </a:custGeom>
          <a:solidFill>
            <a:srgbClr val="34C759"/>
          </a:solidFill>
          <a:ln/>
        </p:spPr>
      </p:sp>
      <p:sp>
        <p:nvSpPr>
          <p:cNvPr id="54" name="Text 52"/>
          <p:cNvSpPr/>
          <p:nvPr/>
        </p:nvSpPr>
        <p:spPr>
          <a:xfrm>
            <a:off x="828675" y="4114800"/>
            <a:ext cx="5086350" cy="266700"/>
          </a:xfrm>
          <a:prstGeom prst="rect">
            <a:avLst/>
          </a:prstGeom>
          <a:noFill/>
          <a:ln/>
        </p:spPr>
        <p:txBody>
          <a:bodyPr wrap="square" lIns="0" tIns="0" rIns="0" bIns="0" rtlCol="0" anchor="ctr"/>
          <a:lstStyle/>
          <a:p>
            <a:pPr>
              <a:lnSpc>
                <a:spcPct val="130000"/>
              </a:lnSpc>
            </a:pPr>
            <a:r>
              <a:rPr lang="en-US" sz="1350" b="1" dirty="0">
                <a:solidFill>
                  <a:srgbClr val="34C759"/>
                </a:solidFill>
                <a:latin typeface="Liter" pitchFamily="34" charset="0"/>
                <a:ea typeface="Liter" pitchFamily="34" charset="-122"/>
                <a:cs typeface="Liter" pitchFamily="34" charset="-120"/>
              </a:rPr>
              <a:t>Simple Explanation</a:t>
            </a:r>
            <a:endParaRPr lang="en-US" sz="1600" dirty="0"/>
          </a:p>
        </p:txBody>
      </p:sp>
      <p:sp>
        <p:nvSpPr>
          <p:cNvPr id="55" name="Text 53"/>
          <p:cNvSpPr/>
          <p:nvPr/>
        </p:nvSpPr>
        <p:spPr>
          <a:xfrm>
            <a:off x="609600" y="4495800"/>
            <a:ext cx="5295900" cy="742950"/>
          </a:xfrm>
          <a:prstGeom prst="rect">
            <a:avLst/>
          </a:prstGeom>
          <a:noFill/>
          <a:ln/>
        </p:spPr>
        <p:txBody>
          <a:bodyPr wrap="square" lIns="0" tIns="0" rIns="0" bIns="0" rtlCol="0" anchor="ctr"/>
          <a:lstStyle/>
          <a:p>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Native apps are like </a:t>
            </a:r>
            <a:pPr>
              <a:lnSpc>
                <a:spcPct val="140000"/>
              </a:lnSpc>
            </a:pPr>
            <a:r>
              <a:rPr lang="en-US" sz="1200" b="1" dirty="0">
                <a:solidFill>
                  <a:srgbClr val="34C759"/>
                </a:solidFill>
                <a:latin typeface="Quattrocento Sans" pitchFamily="34" charset="0"/>
                <a:ea typeface="Quattrocento Sans" pitchFamily="34" charset="-122"/>
                <a:cs typeface="Quattrocento Sans" pitchFamily="34" charset="-120"/>
              </a:rPr>
              <a:t>custom-made shoes</a:t>
            </a:r>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 – perfect fit but only for one foot. Web apps are like </a:t>
            </a:r>
            <a:pPr>
              <a:lnSpc>
                <a:spcPct val="140000"/>
              </a:lnSpc>
            </a:pPr>
            <a:r>
              <a:rPr lang="en-US" sz="1200" b="1" dirty="0">
                <a:solidFill>
                  <a:srgbClr val="0A84FF"/>
                </a:solidFill>
                <a:latin typeface="Quattrocento Sans" pitchFamily="34" charset="0"/>
                <a:ea typeface="Quattrocento Sans" pitchFamily="34" charset="-122"/>
                <a:cs typeface="Quattrocento Sans" pitchFamily="34" charset="-120"/>
              </a:rPr>
              <a:t>sandals</a:t>
            </a:r>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 – anyone can wear them. Hybrid apps are like </a:t>
            </a:r>
            <a:pPr>
              <a:lnSpc>
                <a:spcPct val="140000"/>
              </a:lnSpc>
            </a:pPr>
            <a:r>
              <a:rPr lang="en-US" sz="1200" b="1" dirty="0">
                <a:solidFill>
                  <a:srgbClr val="8E8E93"/>
                </a:solidFill>
                <a:latin typeface="Quattrocento Sans" pitchFamily="34" charset="0"/>
                <a:ea typeface="Quattrocento Sans" pitchFamily="34" charset="-122"/>
                <a:cs typeface="Quattrocento Sans" pitchFamily="34" charset="-120"/>
              </a:rPr>
              <a:t>adjustable shoes</a:t>
            </a:r>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 – fit most people well.</a:t>
            </a:r>
            <a:endParaRPr lang="en-US" sz="1600" dirty="0"/>
          </a:p>
        </p:txBody>
      </p:sp>
      <p:sp>
        <p:nvSpPr>
          <p:cNvPr id="56" name="Shape 54"/>
          <p:cNvSpPr/>
          <p:nvPr/>
        </p:nvSpPr>
        <p:spPr>
          <a:xfrm>
            <a:off x="6191250" y="3924300"/>
            <a:ext cx="5619750" cy="1504950"/>
          </a:xfrm>
          <a:custGeom>
            <a:avLst/>
            <a:gdLst/>
            <a:ahLst/>
            <a:cxnLst/>
            <a:rect l="l" t="t" r="r" b="b"/>
            <a:pathLst>
              <a:path w="5619750" h="1504950">
                <a:moveTo>
                  <a:pt x="38100" y="0"/>
                </a:moveTo>
                <a:lnTo>
                  <a:pt x="5467350" y="0"/>
                </a:lnTo>
                <a:cubicBezTo>
                  <a:pt x="5551462" y="0"/>
                  <a:pt x="5619750" y="68288"/>
                  <a:pt x="5619750" y="152400"/>
                </a:cubicBezTo>
                <a:lnTo>
                  <a:pt x="5619750" y="1352550"/>
                </a:lnTo>
                <a:cubicBezTo>
                  <a:pt x="5619750" y="1436662"/>
                  <a:pt x="5551462" y="1504950"/>
                  <a:pt x="5467350" y="1504950"/>
                </a:cubicBezTo>
                <a:lnTo>
                  <a:pt x="38100" y="1504950"/>
                </a:lnTo>
                <a:cubicBezTo>
                  <a:pt x="17072" y="1504950"/>
                  <a:pt x="0" y="1487878"/>
                  <a:pt x="0" y="1466850"/>
                </a:cubicBezTo>
                <a:lnTo>
                  <a:pt x="0" y="38100"/>
                </a:lnTo>
                <a:cubicBezTo>
                  <a:pt x="0" y="17072"/>
                  <a:pt x="17072" y="0"/>
                  <a:pt x="38100" y="0"/>
                </a:cubicBezTo>
                <a:close/>
              </a:path>
            </a:pathLst>
          </a:custGeom>
          <a:solidFill>
            <a:srgbClr val="2C2C2E"/>
          </a:solidFill>
          <a:ln/>
        </p:spPr>
      </p:sp>
      <p:sp>
        <p:nvSpPr>
          <p:cNvPr id="57" name="Shape 55"/>
          <p:cNvSpPr/>
          <p:nvPr/>
        </p:nvSpPr>
        <p:spPr>
          <a:xfrm>
            <a:off x="6191250" y="3924300"/>
            <a:ext cx="38100" cy="1504950"/>
          </a:xfrm>
          <a:custGeom>
            <a:avLst/>
            <a:gdLst/>
            <a:ahLst/>
            <a:cxnLst/>
            <a:rect l="l" t="t" r="r" b="b"/>
            <a:pathLst>
              <a:path w="38100" h="1504950">
                <a:moveTo>
                  <a:pt x="38100" y="0"/>
                </a:moveTo>
                <a:lnTo>
                  <a:pt x="38100" y="0"/>
                </a:lnTo>
                <a:lnTo>
                  <a:pt x="38100" y="1504950"/>
                </a:lnTo>
                <a:lnTo>
                  <a:pt x="38100" y="1504950"/>
                </a:lnTo>
                <a:cubicBezTo>
                  <a:pt x="17072" y="1504950"/>
                  <a:pt x="0" y="1487878"/>
                  <a:pt x="0" y="1466850"/>
                </a:cubicBezTo>
                <a:lnTo>
                  <a:pt x="0" y="38100"/>
                </a:lnTo>
                <a:cubicBezTo>
                  <a:pt x="0" y="17072"/>
                  <a:pt x="17072" y="0"/>
                  <a:pt x="38100" y="0"/>
                </a:cubicBezTo>
                <a:close/>
              </a:path>
            </a:pathLst>
          </a:custGeom>
          <a:solidFill>
            <a:srgbClr val="0A84FF"/>
          </a:solidFill>
          <a:ln/>
        </p:spPr>
      </p:sp>
      <p:sp>
        <p:nvSpPr>
          <p:cNvPr id="58" name="Shape 56"/>
          <p:cNvSpPr/>
          <p:nvPr/>
        </p:nvSpPr>
        <p:spPr>
          <a:xfrm>
            <a:off x="6446044" y="4162425"/>
            <a:ext cx="128588" cy="171450"/>
          </a:xfrm>
          <a:custGeom>
            <a:avLst/>
            <a:gdLst/>
            <a:ahLst/>
            <a:cxnLst/>
            <a:rect l="l" t="t" r="r" b="b"/>
            <a:pathLst>
              <a:path w="128588" h="171450">
                <a:moveTo>
                  <a:pt x="5358" y="21431"/>
                </a:moveTo>
                <a:cubicBezTo>
                  <a:pt x="5358" y="9611"/>
                  <a:pt x="14968" y="0"/>
                  <a:pt x="26789" y="0"/>
                </a:cubicBezTo>
                <a:lnTo>
                  <a:pt x="101798" y="0"/>
                </a:lnTo>
                <a:cubicBezTo>
                  <a:pt x="113619" y="0"/>
                  <a:pt x="123230" y="9611"/>
                  <a:pt x="123230" y="21431"/>
                </a:cubicBezTo>
                <a:lnTo>
                  <a:pt x="123230" y="150019"/>
                </a:lnTo>
                <a:cubicBezTo>
                  <a:pt x="123230" y="161839"/>
                  <a:pt x="113619" y="171450"/>
                  <a:pt x="101798" y="171450"/>
                </a:cubicBezTo>
                <a:lnTo>
                  <a:pt x="26789" y="171450"/>
                </a:lnTo>
                <a:cubicBezTo>
                  <a:pt x="14968" y="171450"/>
                  <a:pt x="5358" y="161839"/>
                  <a:pt x="5358" y="150019"/>
                </a:cubicBezTo>
                <a:lnTo>
                  <a:pt x="5358" y="21431"/>
                </a:lnTo>
                <a:close/>
                <a:moveTo>
                  <a:pt x="26789" y="21431"/>
                </a:moveTo>
                <a:lnTo>
                  <a:pt x="26789" y="123230"/>
                </a:lnTo>
                <a:lnTo>
                  <a:pt x="101798" y="123230"/>
                </a:lnTo>
                <a:lnTo>
                  <a:pt x="101798" y="21431"/>
                </a:lnTo>
                <a:lnTo>
                  <a:pt x="26789" y="21431"/>
                </a:lnTo>
                <a:close/>
                <a:moveTo>
                  <a:pt x="64294" y="158055"/>
                </a:moveTo>
                <a:cubicBezTo>
                  <a:pt x="70221" y="158055"/>
                  <a:pt x="75009" y="153267"/>
                  <a:pt x="75009" y="147340"/>
                </a:cubicBezTo>
                <a:cubicBezTo>
                  <a:pt x="75009" y="141413"/>
                  <a:pt x="70221" y="136624"/>
                  <a:pt x="64294" y="136624"/>
                </a:cubicBezTo>
                <a:cubicBezTo>
                  <a:pt x="58367" y="136624"/>
                  <a:pt x="53578" y="141413"/>
                  <a:pt x="53578" y="147340"/>
                </a:cubicBezTo>
                <a:cubicBezTo>
                  <a:pt x="53578" y="153267"/>
                  <a:pt x="58367" y="158055"/>
                  <a:pt x="64294" y="158055"/>
                </a:cubicBezTo>
                <a:close/>
              </a:path>
            </a:pathLst>
          </a:custGeom>
          <a:solidFill>
            <a:srgbClr val="0A84FF"/>
          </a:solidFill>
          <a:ln/>
        </p:spPr>
      </p:sp>
      <p:sp>
        <p:nvSpPr>
          <p:cNvPr id="59" name="Text 57"/>
          <p:cNvSpPr/>
          <p:nvPr/>
        </p:nvSpPr>
        <p:spPr>
          <a:xfrm>
            <a:off x="6619875" y="4114800"/>
            <a:ext cx="5086350" cy="266700"/>
          </a:xfrm>
          <a:prstGeom prst="rect">
            <a:avLst/>
          </a:prstGeom>
          <a:noFill/>
          <a:ln/>
        </p:spPr>
        <p:txBody>
          <a:bodyPr wrap="square" lIns="0" tIns="0" rIns="0" bIns="0" rtlCol="0" anchor="ctr"/>
          <a:lstStyle/>
          <a:p>
            <a:pPr>
              <a:lnSpc>
                <a:spcPct val="130000"/>
              </a:lnSpc>
            </a:pPr>
            <a:r>
              <a:rPr lang="en-US" sz="1350" b="1" dirty="0">
                <a:solidFill>
                  <a:srgbClr val="0A84FF"/>
                </a:solidFill>
                <a:latin typeface="Liter" pitchFamily="34" charset="0"/>
                <a:ea typeface="Liter" pitchFamily="34" charset="-122"/>
                <a:cs typeface="Liter" pitchFamily="34" charset="-120"/>
              </a:rPr>
              <a:t>Real-World Example</a:t>
            </a:r>
            <a:endParaRPr lang="en-US" sz="1600" dirty="0"/>
          </a:p>
        </p:txBody>
      </p:sp>
      <p:sp>
        <p:nvSpPr>
          <p:cNvPr id="60" name="Text 58"/>
          <p:cNvSpPr/>
          <p:nvPr/>
        </p:nvSpPr>
        <p:spPr>
          <a:xfrm>
            <a:off x="6400800" y="4495800"/>
            <a:ext cx="5295900" cy="495300"/>
          </a:xfrm>
          <a:prstGeom prst="rect">
            <a:avLst/>
          </a:prstGeom>
          <a:noFill/>
          <a:ln/>
        </p:spPr>
        <p:txBody>
          <a:bodyPr wrap="square" lIns="0" tIns="0" rIns="0" bIns="0" rtlCol="0" anchor="ctr"/>
          <a:lstStyle/>
          <a:p>
            <a:pPr>
              <a:lnSpc>
                <a:spcPct val="140000"/>
              </a:lnSpc>
            </a:pPr>
            <a:r>
              <a:rPr lang="en-US" sz="1200" b="1" dirty="0">
                <a:solidFill>
                  <a:srgbClr val="34C759"/>
                </a:solidFill>
                <a:latin typeface="Quattrocento Sans" pitchFamily="34" charset="0"/>
                <a:ea typeface="Quattrocento Sans" pitchFamily="34" charset="-122"/>
                <a:cs typeface="Quattrocento Sans" pitchFamily="34" charset="-120"/>
              </a:rPr>
              <a:t>Instagram</a:t>
            </a:r>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 started as a native app for better camera access. Many banking apps are hybrid – they look like native apps but use web technology inside.</a:t>
            </a:r>
            <a:endParaRPr lang="en-US" sz="1600" dirty="0"/>
          </a:p>
        </p:txBody>
      </p:sp>
      <p:sp>
        <p:nvSpPr>
          <p:cNvPr id="61" name="Shape 59"/>
          <p:cNvSpPr/>
          <p:nvPr/>
        </p:nvSpPr>
        <p:spPr>
          <a:xfrm>
            <a:off x="381000" y="5581650"/>
            <a:ext cx="11430000" cy="838200"/>
          </a:xfrm>
          <a:prstGeom prst="roundRect">
            <a:avLst>
              <a:gd name="adj" fmla="val 18182"/>
            </a:avLst>
          </a:prstGeom>
          <a:solidFill>
            <a:srgbClr val="2C2C2E"/>
          </a:solidFill>
          <a:ln/>
        </p:spPr>
      </p:sp>
      <p:sp>
        <p:nvSpPr>
          <p:cNvPr id="62" name="Shape 60"/>
          <p:cNvSpPr/>
          <p:nvPr/>
        </p:nvSpPr>
        <p:spPr>
          <a:xfrm>
            <a:off x="561975" y="5772150"/>
            <a:ext cx="133350" cy="152400"/>
          </a:xfrm>
          <a:custGeom>
            <a:avLst/>
            <a:gdLst/>
            <a:ahLst/>
            <a:cxnLst/>
            <a:rect l="l" t="t" r="r" b="b"/>
            <a:pathLst>
              <a:path w="133350" h="152400">
                <a:moveTo>
                  <a:pt x="19050" y="9525"/>
                </a:moveTo>
                <a:cubicBezTo>
                  <a:pt x="8543" y="9525"/>
                  <a:pt x="0" y="18068"/>
                  <a:pt x="0" y="28575"/>
                </a:cubicBezTo>
                <a:lnTo>
                  <a:pt x="0" y="123825"/>
                </a:lnTo>
                <a:cubicBezTo>
                  <a:pt x="0" y="134332"/>
                  <a:pt x="8543" y="142875"/>
                  <a:pt x="19050" y="142875"/>
                </a:cubicBezTo>
                <a:lnTo>
                  <a:pt x="114300" y="142875"/>
                </a:lnTo>
                <a:cubicBezTo>
                  <a:pt x="124807" y="142875"/>
                  <a:pt x="133350" y="134332"/>
                  <a:pt x="133350" y="123825"/>
                </a:cubicBezTo>
                <a:lnTo>
                  <a:pt x="133350" y="28575"/>
                </a:lnTo>
                <a:cubicBezTo>
                  <a:pt x="133350" y="18068"/>
                  <a:pt x="124807" y="9525"/>
                  <a:pt x="114300" y="9525"/>
                </a:cubicBezTo>
                <a:lnTo>
                  <a:pt x="19050" y="9525"/>
                </a:lnTo>
                <a:close/>
                <a:moveTo>
                  <a:pt x="38100" y="33338"/>
                </a:moveTo>
                <a:cubicBezTo>
                  <a:pt x="45985" y="33338"/>
                  <a:pt x="52388" y="39740"/>
                  <a:pt x="52388" y="47625"/>
                </a:cubicBezTo>
                <a:cubicBezTo>
                  <a:pt x="52388" y="55510"/>
                  <a:pt x="45985" y="61912"/>
                  <a:pt x="38100" y="61912"/>
                </a:cubicBezTo>
                <a:cubicBezTo>
                  <a:pt x="30215" y="61912"/>
                  <a:pt x="23813" y="55510"/>
                  <a:pt x="23813" y="47625"/>
                </a:cubicBezTo>
                <a:cubicBezTo>
                  <a:pt x="23813" y="39740"/>
                  <a:pt x="30215" y="33338"/>
                  <a:pt x="38100" y="33338"/>
                </a:cubicBezTo>
                <a:close/>
                <a:moveTo>
                  <a:pt x="80962" y="66675"/>
                </a:moveTo>
                <a:cubicBezTo>
                  <a:pt x="83463" y="66675"/>
                  <a:pt x="85755" y="67985"/>
                  <a:pt x="87064" y="70098"/>
                </a:cubicBezTo>
                <a:lnTo>
                  <a:pt x="113258" y="112961"/>
                </a:lnTo>
                <a:cubicBezTo>
                  <a:pt x="114598" y="115163"/>
                  <a:pt x="114657" y="117931"/>
                  <a:pt x="113407" y="120194"/>
                </a:cubicBezTo>
                <a:cubicBezTo>
                  <a:pt x="112157" y="122456"/>
                  <a:pt x="109746" y="123825"/>
                  <a:pt x="107156" y="123825"/>
                </a:cubicBezTo>
                <a:lnTo>
                  <a:pt x="26194" y="123825"/>
                </a:lnTo>
                <a:cubicBezTo>
                  <a:pt x="23545" y="123825"/>
                  <a:pt x="21074" y="122337"/>
                  <a:pt x="19854" y="119985"/>
                </a:cubicBezTo>
                <a:cubicBezTo>
                  <a:pt x="18633" y="117634"/>
                  <a:pt x="18812" y="114776"/>
                  <a:pt x="20330" y="112603"/>
                </a:cubicBezTo>
                <a:lnTo>
                  <a:pt x="36999" y="88791"/>
                </a:lnTo>
                <a:cubicBezTo>
                  <a:pt x="38338" y="86886"/>
                  <a:pt x="40511" y="85755"/>
                  <a:pt x="42863" y="85755"/>
                </a:cubicBezTo>
                <a:cubicBezTo>
                  <a:pt x="45214" y="85755"/>
                  <a:pt x="47387" y="86886"/>
                  <a:pt x="48726" y="88791"/>
                </a:cubicBezTo>
                <a:lnTo>
                  <a:pt x="56584" y="100042"/>
                </a:lnTo>
                <a:lnTo>
                  <a:pt x="74861" y="70128"/>
                </a:lnTo>
                <a:cubicBezTo>
                  <a:pt x="76170" y="68014"/>
                  <a:pt x="78462" y="66705"/>
                  <a:pt x="80962" y="66705"/>
                </a:cubicBezTo>
                <a:close/>
              </a:path>
            </a:pathLst>
          </a:custGeom>
          <a:solidFill>
            <a:srgbClr val="8E8E93"/>
          </a:solidFill>
          <a:ln/>
        </p:spPr>
      </p:sp>
      <p:sp>
        <p:nvSpPr>
          <p:cNvPr id="63" name="Text 61"/>
          <p:cNvSpPr/>
          <p:nvPr/>
        </p:nvSpPr>
        <p:spPr>
          <a:xfrm>
            <a:off x="723900" y="5734050"/>
            <a:ext cx="11010900" cy="228600"/>
          </a:xfrm>
          <a:prstGeom prst="rect">
            <a:avLst/>
          </a:prstGeom>
          <a:noFill/>
          <a:ln/>
        </p:spPr>
        <p:txBody>
          <a:bodyPr wrap="square" lIns="0" tIns="0" rIns="0" bIns="0" rtlCol="0" anchor="ctr"/>
          <a:lstStyle/>
          <a:p>
            <a:pPr>
              <a:lnSpc>
                <a:spcPct val="130000"/>
              </a:lnSpc>
            </a:pPr>
            <a:r>
              <a:rPr lang="en-US" sz="1200" b="1" dirty="0">
                <a:solidFill>
                  <a:srgbClr val="8E8E93"/>
                </a:solidFill>
                <a:latin typeface="Liter" pitchFamily="34" charset="0"/>
                <a:ea typeface="Liter" pitchFamily="34" charset="-122"/>
                <a:cs typeface="Liter" pitchFamily="34" charset="-120"/>
              </a:rPr>
              <a:t>Visual Suggestion</a:t>
            </a:r>
            <a:endParaRPr lang="en-US" sz="1600" dirty="0"/>
          </a:p>
        </p:txBody>
      </p:sp>
      <p:sp>
        <p:nvSpPr>
          <p:cNvPr id="64" name="Shape 62"/>
          <p:cNvSpPr/>
          <p:nvPr/>
        </p:nvSpPr>
        <p:spPr>
          <a:xfrm>
            <a:off x="552450" y="6076950"/>
            <a:ext cx="152400" cy="152400"/>
          </a:xfrm>
          <a:custGeom>
            <a:avLst/>
            <a:gdLst/>
            <a:ahLst/>
            <a:cxnLst/>
            <a:rect l="l" t="t" r="r" b="b"/>
            <a:pathLst>
              <a:path w="152400" h="152400">
                <a:moveTo>
                  <a:pt x="0" y="23813"/>
                </a:moveTo>
                <a:cubicBezTo>
                  <a:pt x="0" y="15925"/>
                  <a:pt x="6400" y="9525"/>
                  <a:pt x="14288" y="9525"/>
                </a:cubicBezTo>
                <a:lnTo>
                  <a:pt x="42863" y="9525"/>
                </a:lnTo>
                <a:cubicBezTo>
                  <a:pt x="50750" y="9525"/>
                  <a:pt x="57150" y="15925"/>
                  <a:pt x="57150" y="23813"/>
                </a:cubicBezTo>
                <a:lnTo>
                  <a:pt x="57150" y="28575"/>
                </a:lnTo>
                <a:lnTo>
                  <a:pt x="95250" y="28575"/>
                </a:lnTo>
                <a:lnTo>
                  <a:pt x="95250" y="23813"/>
                </a:lnTo>
                <a:cubicBezTo>
                  <a:pt x="95250" y="15925"/>
                  <a:pt x="101650" y="9525"/>
                  <a:pt x="109537" y="9525"/>
                </a:cubicBezTo>
                <a:lnTo>
                  <a:pt x="138113" y="9525"/>
                </a:lnTo>
                <a:cubicBezTo>
                  <a:pt x="146000" y="9525"/>
                  <a:pt x="152400" y="15925"/>
                  <a:pt x="152400" y="23813"/>
                </a:cubicBezTo>
                <a:lnTo>
                  <a:pt x="152400" y="52388"/>
                </a:lnTo>
                <a:cubicBezTo>
                  <a:pt x="152400" y="60275"/>
                  <a:pt x="146000" y="66675"/>
                  <a:pt x="138113" y="66675"/>
                </a:cubicBezTo>
                <a:lnTo>
                  <a:pt x="109537" y="66675"/>
                </a:lnTo>
                <a:cubicBezTo>
                  <a:pt x="101650" y="66675"/>
                  <a:pt x="95250" y="60275"/>
                  <a:pt x="95250" y="52388"/>
                </a:cubicBezTo>
                <a:lnTo>
                  <a:pt x="95250" y="47625"/>
                </a:lnTo>
                <a:lnTo>
                  <a:pt x="57150" y="47625"/>
                </a:lnTo>
                <a:lnTo>
                  <a:pt x="57150" y="52388"/>
                </a:lnTo>
                <a:cubicBezTo>
                  <a:pt x="57150" y="54560"/>
                  <a:pt x="56644" y="56644"/>
                  <a:pt x="55781" y="58489"/>
                </a:cubicBezTo>
                <a:lnTo>
                  <a:pt x="76200" y="85725"/>
                </a:lnTo>
                <a:lnTo>
                  <a:pt x="100013" y="85725"/>
                </a:lnTo>
                <a:cubicBezTo>
                  <a:pt x="107900" y="85725"/>
                  <a:pt x="114300" y="92125"/>
                  <a:pt x="114300" y="100013"/>
                </a:cubicBezTo>
                <a:lnTo>
                  <a:pt x="114300" y="128588"/>
                </a:lnTo>
                <a:cubicBezTo>
                  <a:pt x="114300" y="136475"/>
                  <a:pt x="107900" y="142875"/>
                  <a:pt x="100013" y="142875"/>
                </a:cubicBezTo>
                <a:lnTo>
                  <a:pt x="71438" y="142875"/>
                </a:lnTo>
                <a:cubicBezTo>
                  <a:pt x="63550" y="142875"/>
                  <a:pt x="57150" y="136475"/>
                  <a:pt x="57150" y="128588"/>
                </a:cubicBezTo>
                <a:lnTo>
                  <a:pt x="57150" y="100013"/>
                </a:lnTo>
                <a:cubicBezTo>
                  <a:pt x="57150" y="97840"/>
                  <a:pt x="57656" y="95756"/>
                  <a:pt x="58519" y="93911"/>
                </a:cubicBezTo>
                <a:lnTo>
                  <a:pt x="38100" y="66675"/>
                </a:lnTo>
                <a:lnTo>
                  <a:pt x="14288" y="66675"/>
                </a:lnTo>
                <a:cubicBezTo>
                  <a:pt x="6400" y="66675"/>
                  <a:pt x="0" y="60275"/>
                  <a:pt x="0" y="52388"/>
                </a:cubicBezTo>
                <a:lnTo>
                  <a:pt x="0" y="23813"/>
                </a:lnTo>
                <a:close/>
              </a:path>
            </a:pathLst>
          </a:custGeom>
          <a:solidFill>
            <a:srgbClr val="34C759"/>
          </a:solidFill>
          <a:ln/>
        </p:spPr>
      </p:sp>
      <p:sp>
        <p:nvSpPr>
          <p:cNvPr id="65" name="Text 63"/>
          <p:cNvSpPr/>
          <p:nvPr/>
        </p:nvSpPr>
        <p:spPr>
          <a:xfrm>
            <a:off x="800100" y="6038850"/>
            <a:ext cx="4752975"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Three-column comparison showing Native vs Web vs Hybrid</a:t>
            </a:r>
            <a:endParaRPr lang="en-US" sz="1600" dirty="0"/>
          </a:p>
        </p:txBody>
      </p:sp>
      <p:sp>
        <p:nvSpPr>
          <p:cNvPr id="66" name="Shape 64"/>
          <p:cNvSpPr/>
          <p:nvPr/>
        </p:nvSpPr>
        <p:spPr>
          <a:xfrm>
            <a:off x="5729526" y="6076950"/>
            <a:ext cx="133350" cy="152400"/>
          </a:xfrm>
          <a:custGeom>
            <a:avLst/>
            <a:gdLst/>
            <a:ahLst/>
            <a:cxnLst/>
            <a:rect l="l" t="t" r="r" b="b"/>
            <a:pathLst>
              <a:path w="133350" h="152400">
                <a:moveTo>
                  <a:pt x="19050" y="9525"/>
                </a:moveTo>
                <a:cubicBezTo>
                  <a:pt x="8543" y="9525"/>
                  <a:pt x="0" y="18068"/>
                  <a:pt x="0" y="28575"/>
                </a:cubicBezTo>
                <a:lnTo>
                  <a:pt x="0" y="123825"/>
                </a:lnTo>
                <a:cubicBezTo>
                  <a:pt x="0" y="134332"/>
                  <a:pt x="8543" y="142875"/>
                  <a:pt x="19050" y="142875"/>
                </a:cubicBezTo>
                <a:lnTo>
                  <a:pt x="114300" y="142875"/>
                </a:lnTo>
                <a:cubicBezTo>
                  <a:pt x="124807" y="142875"/>
                  <a:pt x="133350" y="134332"/>
                  <a:pt x="133350" y="123825"/>
                </a:cubicBezTo>
                <a:lnTo>
                  <a:pt x="133350" y="28575"/>
                </a:lnTo>
                <a:cubicBezTo>
                  <a:pt x="133350" y="18068"/>
                  <a:pt x="124807" y="9525"/>
                  <a:pt x="114300" y="9525"/>
                </a:cubicBezTo>
                <a:lnTo>
                  <a:pt x="19050" y="9525"/>
                </a:lnTo>
                <a:close/>
                <a:moveTo>
                  <a:pt x="38100" y="33338"/>
                </a:moveTo>
                <a:cubicBezTo>
                  <a:pt x="45985" y="33338"/>
                  <a:pt x="52388" y="39740"/>
                  <a:pt x="52388" y="47625"/>
                </a:cubicBezTo>
                <a:cubicBezTo>
                  <a:pt x="52388" y="55510"/>
                  <a:pt x="45985" y="61912"/>
                  <a:pt x="38100" y="61912"/>
                </a:cubicBezTo>
                <a:cubicBezTo>
                  <a:pt x="30215" y="61912"/>
                  <a:pt x="23813" y="55510"/>
                  <a:pt x="23813" y="47625"/>
                </a:cubicBezTo>
                <a:cubicBezTo>
                  <a:pt x="23813" y="39740"/>
                  <a:pt x="30215" y="33338"/>
                  <a:pt x="38100" y="33338"/>
                </a:cubicBezTo>
                <a:close/>
                <a:moveTo>
                  <a:pt x="80962" y="66675"/>
                </a:moveTo>
                <a:cubicBezTo>
                  <a:pt x="83463" y="66675"/>
                  <a:pt x="85755" y="67985"/>
                  <a:pt x="87064" y="70098"/>
                </a:cubicBezTo>
                <a:lnTo>
                  <a:pt x="113258" y="112961"/>
                </a:lnTo>
                <a:cubicBezTo>
                  <a:pt x="114598" y="115163"/>
                  <a:pt x="114657" y="117931"/>
                  <a:pt x="113407" y="120194"/>
                </a:cubicBezTo>
                <a:cubicBezTo>
                  <a:pt x="112157" y="122456"/>
                  <a:pt x="109746" y="123825"/>
                  <a:pt x="107156" y="123825"/>
                </a:cubicBezTo>
                <a:lnTo>
                  <a:pt x="26194" y="123825"/>
                </a:lnTo>
                <a:cubicBezTo>
                  <a:pt x="23545" y="123825"/>
                  <a:pt x="21074" y="122337"/>
                  <a:pt x="19854" y="119985"/>
                </a:cubicBezTo>
                <a:cubicBezTo>
                  <a:pt x="18633" y="117634"/>
                  <a:pt x="18812" y="114776"/>
                  <a:pt x="20330" y="112603"/>
                </a:cubicBezTo>
                <a:lnTo>
                  <a:pt x="36999" y="88791"/>
                </a:lnTo>
                <a:cubicBezTo>
                  <a:pt x="38338" y="86886"/>
                  <a:pt x="40511" y="85755"/>
                  <a:pt x="42863" y="85755"/>
                </a:cubicBezTo>
                <a:cubicBezTo>
                  <a:pt x="45214" y="85755"/>
                  <a:pt x="47387" y="86886"/>
                  <a:pt x="48726" y="88791"/>
                </a:cubicBezTo>
                <a:lnTo>
                  <a:pt x="56584" y="100042"/>
                </a:lnTo>
                <a:lnTo>
                  <a:pt x="74861" y="70128"/>
                </a:lnTo>
                <a:cubicBezTo>
                  <a:pt x="76170" y="68014"/>
                  <a:pt x="78462" y="66705"/>
                  <a:pt x="80962" y="66705"/>
                </a:cubicBezTo>
                <a:close/>
              </a:path>
            </a:pathLst>
          </a:custGeom>
          <a:solidFill>
            <a:srgbClr val="0A84FF"/>
          </a:solidFill>
          <a:ln/>
        </p:spPr>
      </p:sp>
      <p:sp>
        <p:nvSpPr>
          <p:cNvPr id="67" name="Text 65"/>
          <p:cNvSpPr/>
          <p:nvPr/>
        </p:nvSpPr>
        <p:spPr>
          <a:xfrm>
            <a:off x="5967651" y="6038850"/>
            <a:ext cx="3705225"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Instagram app interface showing native features</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34C759"/>
          </a:solidFill>
          <a:ln/>
        </p:spPr>
      </p:sp>
      <p:sp>
        <p:nvSpPr>
          <p:cNvPr id="3" name="Text 1"/>
          <p:cNvSpPr/>
          <p:nvPr/>
        </p:nvSpPr>
        <p:spPr>
          <a:xfrm>
            <a:off x="469225" y="514350"/>
            <a:ext cx="390525" cy="304800"/>
          </a:xfrm>
          <a:prstGeom prst="rect">
            <a:avLst/>
          </a:prstGeom>
          <a:noFill/>
          <a:ln/>
        </p:spPr>
        <p:txBody>
          <a:bodyPr wrap="square" lIns="0" tIns="0" rIns="0" bIns="0" rtlCol="0" anchor="ctr"/>
          <a:lstStyle/>
          <a:p>
            <a:pPr>
              <a:lnSpc>
                <a:spcPct val="110000"/>
              </a:lnSpc>
            </a:pPr>
            <a:r>
              <a:rPr lang="en-US" sz="1800" b="1" dirty="0">
                <a:solidFill>
                  <a:srgbClr val="1D1D1F"/>
                </a:solidFill>
                <a:latin typeface="Liter" pitchFamily="34" charset="0"/>
                <a:ea typeface="Liter" pitchFamily="34" charset="-122"/>
                <a:cs typeface="Liter" pitchFamily="34" charset="-120"/>
              </a:rPr>
              <a:t>03</a:t>
            </a:r>
            <a:endParaRPr lang="en-US" sz="1600" dirty="0"/>
          </a:p>
        </p:txBody>
      </p:sp>
      <p:sp>
        <p:nvSpPr>
          <p:cNvPr id="4" name="Text 2"/>
          <p:cNvSpPr/>
          <p:nvPr/>
        </p:nvSpPr>
        <p:spPr>
          <a:xfrm>
            <a:off x="952500" y="381000"/>
            <a:ext cx="6381750" cy="190500"/>
          </a:xfrm>
          <a:prstGeom prst="rect">
            <a:avLst/>
          </a:prstGeom>
          <a:noFill/>
          <a:ln/>
        </p:spPr>
        <p:txBody>
          <a:bodyPr wrap="square" lIns="0" tIns="0" rIns="0" bIns="0" rtlCol="0" anchor="ctr"/>
          <a:lstStyle/>
          <a:p>
            <a:pPr>
              <a:lnSpc>
                <a:spcPct val="120000"/>
              </a:lnSpc>
            </a:pPr>
            <a:r>
              <a:rPr lang="en-US" sz="1050" b="1" spc="53" kern="0" dirty="0">
                <a:solidFill>
                  <a:srgbClr val="34C759"/>
                </a:solidFill>
                <a:latin typeface="Quattrocento Sans" pitchFamily="34" charset="0"/>
                <a:ea typeface="Quattrocento Sans" pitchFamily="34" charset="-122"/>
                <a:cs typeface="Quattrocento Sans" pitchFamily="34" charset="-120"/>
              </a:rPr>
              <a:t>Introduction to Mobile Apps</a:t>
            </a:r>
            <a:endParaRPr lang="en-US" sz="1600" dirty="0"/>
          </a:p>
        </p:txBody>
      </p:sp>
      <p:sp>
        <p:nvSpPr>
          <p:cNvPr id="5" name="Text 3"/>
          <p:cNvSpPr/>
          <p:nvPr/>
        </p:nvSpPr>
        <p:spPr>
          <a:xfrm>
            <a:off x="952500" y="571500"/>
            <a:ext cx="6486525" cy="381000"/>
          </a:xfrm>
          <a:prstGeom prst="rect">
            <a:avLst/>
          </a:prstGeom>
          <a:noFill/>
          <a:ln/>
        </p:spPr>
        <p:txBody>
          <a:bodyPr wrap="square" lIns="0" tIns="0" rIns="0" bIns="0" rtlCol="0" anchor="ctr"/>
          <a:lstStyle/>
          <a:p>
            <a:pPr>
              <a:lnSpc>
                <a:spcPct val="90000"/>
              </a:lnSpc>
            </a:pPr>
            <a:r>
              <a:rPr lang="en-US" sz="2700" b="1" dirty="0">
                <a:solidFill>
                  <a:srgbClr val="F5F5F7"/>
                </a:solidFill>
                <a:latin typeface="Liter" pitchFamily="34" charset="0"/>
                <a:ea typeface="Liter" pitchFamily="34" charset="-122"/>
                <a:cs typeface="Liter" pitchFamily="34" charset="-120"/>
              </a:rPr>
              <a:t>Apps vs Websites: What's the Difference?</a:t>
            </a:r>
            <a:endParaRPr lang="en-US" sz="1600" dirty="0"/>
          </a:p>
        </p:txBody>
      </p:sp>
      <p:sp>
        <p:nvSpPr>
          <p:cNvPr id="6" name="Shape 4"/>
          <p:cNvSpPr/>
          <p:nvPr/>
        </p:nvSpPr>
        <p:spPr>
          <a:xfrm>
            <a:off x="400050" y="1257300"/>
            <a:ext cx="5581650" cy="3543300"/>
          </a:xfrm>
          <a:custGeom>
            <a:avLst/>
            <a:gdLst/>
            <a:ahLst/>
            <a:cxnLst/>
            <a:rect l="l" t="t" r="r" b="b"/>
            <a:pathLst>
              <a:path w="5581650" h="3543300">
                <a:moveTo>
                  <a:pt x="38100" y="0"/>
                </a:moveTo>
                <a:lnTo>
                  <a:pt x="5429250" y="0"/>
                </a:lnTo>
                <a:cubicBezTo>
                  <a:pt x="5513362" y="0"/>
                  <a:pt x="5581650" y="68288"/>
                  <a:pt x="5581650" y="152400"/>
                </a:cubicBezTo>
                <a:lnTo>
                  <a:pt x="5581650" y="3390900"/>
                </a:lnTo>
                <a:cubicBezTo>
                  <a:pt x="5581650" y="3475012"/>
                  <a:pt x="5513362" y="3543300"/>
                  <a:pt x="5429250" y="3543300"/>
                </a:cubicBezTo>
                <a:lnTo>
                  <a:pt x="38100" y="3543300"/>
                </a:lnTo>
                <a:cubicBezTo>
                  <a:pt x="17072" y="3543300"/>
                  <a:pt x="0" y="3526228"/>
                  <a:pt x="0" y="3505200"/>
                </a:cubicBezTo>
                <a:lnTo>
                  <a:pt x="0" y="38100"/>
                </a:lnTo>
                <a:cubicBezTo>
                  <a:pt x="0" y="17072"/>
                  <a:pt x="17072" y="0"/>
                  <a:pt x="38100" y="0"/>
                </a:cubicBezTo>
                <a:close/>
              </a:path>
            </a:pathLst>
          </a:custGeom>
          <a:solidFill>
            <a:srgbClr val="2C2C2E"/>
          </a:solidFill>
          <a:ln/>
        </p:spPr>
      </p:sp>
      <p:sp>
        <p:nvSpPr>
          <p:cNvPr id="7" name="Shape 5"/>
          <p:cNvSpPr/>
          <p:nvPr/>
        </p:nvSpPr>
        <p:spPr>
          <a:xfrm>
            <a:off x="400050" y="1257300"/>
            <a:ext cx="38100" cy="3543300"/>
          </a:xfrm>
          <a:custGeom>
            <a:avLst/>
            <a:gdLst/>
            <a:ahLst/>
            <a:cxnLst/>
            <a:rect l="l" t="t" r="r" b="b"/>
            <a:pathLst>
              <a:path w="38100" h="3543300">
                <a:moveTo>
                  <a:pt x="38100" y="0"/>
                </a:moveTo>
                <a:lnTo>
                  <a:pt x="38100" y="0"/>
                </a:lnTo>
                <a:lnTo>
                  <a:pt x="38100" y="3543300"/>
                </a:lnTo>
                <a:lnTo>
                  <a:pt x="38100" y="3543300"/>
                </a:lnTo>
                <a:cubicBezTo>
                  <a:pt x="17072" y="3543300"/>
                  <a:pt x="0" y="3526228"/>
                  <a:pt x="0" y="3505200"/>
                </a:cubicBezTo>
                <a:lnTo>
                  <a:pt x="0" y="38100"/>
                </a:lnTo>
                <a:cubicBezTo>
                  <a:pt x="0" y="17072"/>
                  <a:pt x="17072" y="0"/>
                  <a:pt x="38100" y="0"/>
                </a:cubicBezTo>
                <a:close/>
              </a:path>
            </a:pathLst>
          </a:custGeom>
          <a:solidFill>
            <a:srgbClr val="34C759"/>
          </a:solidFill>
          <a:ln/>
        </p:spPr>
      </p:sp>
      <p:sp>
        <p:nvSpPr>
          <p:cNvPr id="8" name="Shape 6"/>
          <p:cNvSpPr/>
          <p:nvPr/>
        </p:nvSpPr>
        <p:spPr>
          <a:xfrm>
            <a:off x="695325" y="1524000"/>
            <a:ext cx="142875" cy="190500"/>
          </a:xfrm>
          <a:custGeom>
            <a:avLst/>
            <a:gdLst/>
            <a:ahLst/>
            <a:cxnLst/>
            <a:rect l="l" t="t" r="r" b="b"/>
            <a:pathLst>
              <a:path w="142875" h="190500">
                <a:moveTo>
                  <a:pt x="5953" y="23812"/>
                </a:moveTo>
                <a:cubicBezTo>
                  <a:pt x="5953" y="10678"/>
                  <a:pt x="16632" y="0"/>
                  <a:pt x="29766" y="0"/>
                </a:cubicBezTo>
                <a:lnTo>
                  <a:pt x="113109" y="0"/>
                </a:lnTo>
                <a:cubicBezTo>
                  <a:pt x="126243" y="0"/>
                  <a:pt x="136922" y="10678"/>
                  <a:pt x="136922" y="23812"/>
                </a:cubicBezTo>
                <a:lnTo>
                  <a:pt x="136922" y="166688"/>
                </a:lnTo>
                <a:cubicBezTo>
                  <a:pt x="136922" y="179822"/>
                  <a:pt x="126243" y="190500"/>
                  <a:pt x="113109" y="190500"/>
                </a:cubicBezTo>
                <a:lnTo>
                  <a:pt x="29766" y="190500"/>
                </a:lnTo>
                <a:cubicBezTo>
                  <a:pt x="16632" y="190500"/>
                  <a:pt x="5953" y="179822"/>
                  <a:pt x="5953" y="166688"/>
                </a:cubicBezTo>
                <a:lnTo>
                  <a:pt x="5953" y="23812"/>
                </a:lnTo>
                <a:close/>
                <a:moveTo>
                  <a:pt x="47625" y="163711"/>
                </a:moveTo>
                <a:cubicBezTo>
                  <a:pt x="47625" y="168659"/>
                  <a:pt x="51606" y="172641"/>
                  <a:pt x="56555" y="172641"/>
                </a:cubicBezTo>
                <a:lnTo>
                  <a:pt x="86320" y="172641"/>
                </a:lnTo>
                <a:cubicBezTo>
                  <a:pt x="91269" y="172641"/>
                  <a:pt x="95250" y="168659"/>
                  <a:pt x="95250" y="163711"/>
                </a:cubicBezTo>
                <a:cubicBezTo>
                  <a:pt x="95250" y="158762"/>
                  <a:pt x="91269" y="154781"/>
                  <a:pt x="86320" y="154781"/>
                </a:cubicBezTo>
                <a:lnTo>
                  <a:pt x="56555" y="154781"/>
                </a:lnTo>
                <a:cubicBezTo>
                  <a:pt x="51606" y="154781"/>
                  <a:pt x="47625" y="158762"/>
                  <a:pt x="47625" y="163711"/>
                </a:cubicBezTo>
                <a:close/>
                <a:moveTo>
                  <a:pt x="113109" y="23812"/>
                </a:moveTo>
                <a:lnTo>
                  <a:pt x="29766" y="23812"/>
                </a:lnTo>
                <a:lnTo>
                  <a:pt x="29766" y="136922"/>
                </a:lnTo>
                <a:lnTo>
                  <a:pt x="113109" y="136922"/>
                </a:lnTo>
                <a:lnTo>
                  <a:pt x="113109" y="23812"/>
                </a:lnTo>
                <a:close/>
              </a:path>
            </a:pathLst>
          </a:custGeom>
          <a:solidFill>
            <a:srgbClr val="34C759"/>
          </a:solidFill>
          <a:ln/>
        </p:spPr>
      </p:sp>
      <p:sp>
        <p:nvSpPr>
          <p:cNvPr id="9" name="Text 7"/>
          <p:cNvSpPr/>
          <p:nvPr/>
        </p:nvSpPr>
        <p:spPr>
          <a:xfrm>
            <a:off x="885825" y="1485900"/>
            <a:ext cx="4962525" cy="266700"/>
          </a:xfrm>
          <a:prstGeom prst="rect">
            <a:avLst/>
          </a:prstGeom>
          <a:noFill/>
          <a:ln/>
        </p:spPr>
        <p:txBody>
          <a:bodyPr wrap="square" lIns="0" tIns="0" rIns="0" bIns="0" rtlCol="0" anchor="ctr"/>
          <a:lstStyle/>
          <a:p>
            <a:pPr>
              <a:lnSpc>
                <a:spcPct val="120000"/>
              </a:lnSpc>
            </a:pPr>
            <a:r>
              <a:rPr lang="en-US" sz="1500" b="1" dirty="0">
                <a:solidFill>
                  <a:srgbClr val="34C759"/>
                </a:solidFill>
                <a:latin typeface="Liter" pitchFamily="34" charset="0"/>
                <a:ea typeface="Liter" pitchFamily="34" charset="-122"/>
                <a:cs typeface="Liter" pitchFamily="34" charset="-120"/>
              </a:rPr>
              <a:t>Mobile Apps</a:t>
            </a:r>
            <a:endParaRPr lang="en-US" sz="1600" dirty="0"/>
          </a:p>
        </p:txBody>
      </p:sp>
      <p:sp>
        <p:nvSpPr>
          <p:cNvPr id="10" name="Shape 8"/>
          <p:cNvSpPr/>
          <p:nvPr/>
        </p:nvSpPr>
        <p:spPr>
          <a:xfrm>
            <a:off x="647700" y="1924050"/>
            <a:ext cx="304800" cy="304800"/>
          </a:xfrm>
          <a:prstGeom prst="roundRect">
            <a:avLst>
              <a:gd name="adj" fmla="val 25000"/>
            </a:avLst>
          </a:prstGeom>
          <a:solidFill>
            <a:srgbClr val="34C759"/>
          </a:solidFill>
          <a:ln/>
        </p:spPr>
      </p:sp>
      <p:sp>
        <p:nvSpPr>
          <p:cNvPr id="11" name="Shape 9"/>
          <p:cNvSpPr/>
          <p:nvPr/>
        </p:nvSpPr>
        <p:spPr>
          <a:xfrm>
            <a:off x="744141" y="2009775"/>
            <a:ext cx="116681" cy="133350"/>
          </a:xfrm>
          <a:custGeom>
            <a:avLst/>
            <a:gdLst/>
            <a:ahLst/>
            <a:cxnLst/>
            <a:rect l="l" t="t" r="r" b="b"/>
            <a:pathLst>
              <a:path w="116681" h="133350">
                <a:moveTo>
                  <a:pt x="66675" y="8334"/>
                </a:moveTo>
                <a:cubicBezTo>
                  <a:pt x="66675" y="3724"/>
                  <a:pt x="62951" y="0"/>
                  <a:pt x="58341" y="0"/>
                </a:cubicBezTo>
                <a:cubicBezTo>
                  <a:pt x="53731" y="0"/>
                  <a:pt x="50006" y="3724"/>
                  <a:pt x="50006" y="8334"/>
                </a:cubicBezTo>
                <a:lnTo>
                  <a:pt x="50006" y="63211"/>
                </a:lnTo>
                <a:lnTo>
                  <a:pt x="39224" y="52428"/>
                </a:lnTo>
                <a:cubicBezTo>
                  <a:pt x="35968" y="49173"/>
                  <a:pt x="30681" y="49173"/>
                  <a:pt x="27425" y="52428"/>
                </a:cubicBezTo>
                <a:cubicBezTo>
                  <a:pt x="24170" y="55684"/>
                  <a:pt x="24170" y="60971"/>
                  <a:pt x="27425" y="64227"/>
                </a:cubicBezTo>
                <a:lnTo>
                  <a:pt x="52428" y="89230"/>
                </a:lnTo>
                <a:cubicBezTo>
                  <a:pt x="55684" y="92486"/>
                  <a:pt x="60971" y="92486"/>
                  <a:pt x="64227" y="89230"/>
                </a:cubicBezTo>
                <a:lnTo>
                  <a:pt x="89230" y="64227"/>
                </a:lnTo>
                <a:cubicBezTo>
                  <a:pt x="92486" y="60971"/>
                  <a:pt x="92486" y="55684"/>
                  <a:pt x="89230" y="52428"/>
                </a:cubicBezTo>
                <a:cubicBezTo>
                  <a:pt x="85974" y="49173"/>
                  <a:pt x="80687" y="49173"/>
                  <a:pt x="77432" y="52428"/>
                </a:cubicBezTo>
                <a:lnTo>
                  <a:pt x="66675" y="63211"/>
                </a:lnTo>
                <a:lnTo>
                  <a:pt x="66675" y="8334"/>
                </a:lnTo>
                <a:close/>
                <a:moveTo>
                  <a:pt x="16669" y="83344"/>
                </a:moveTo>
                <a:cubicBezTo>
                  <a:pt x="7475" y="83344"/>
                  <a:pt x="0" y="90819"/>
                  <a:pt x="0" y="100013"/>
                </a:cubicBezTo>
                <a:lnTo>
                  <a:pt x="0" y="108347"/>
                </a:lnTo>
                <a:cubicBezTo>
                  <a:pt x="0" y="117541"/>
                  <a:pt x="7475" y="125016"/>
                  <a:pt x="16669" y="125016"/>
                </a:cubicBezTo>
                <a:lnTo>
                  <a:pt x="100013" y="125016"/>
                </a:lnTo>
                <a:cubicBezTo>
                  <a:pt x="109206" y="125016"/>
                  <a:pt x="116681" y="117541"/>
                  <a:pt x="116681" y="108347"/>
                </a:cubicBezTo>
                <a:lnTo>
                  <a:pt x="116681" y="100013"/>
                </a:lnTo>
                <a:cubicBezTo>
                  <a:pt x="116681" y="90819"/>
                  <a:pt x="109206" y="83344"/>
                  <a:pt x="100013" y="83344"/>
                </a:cubicBezTo>
                <a:lnTo>
                  <a:pt x="87797" y="83344"/>
                </a:lnTo>
                <a:lnTo>
                  <a:pt x="73056" y="98085"/>
                </a:lnTo>
                <a:cubicBezTo>
                  <a:pt x="64930" y="106211"/>
                  <a:pt x="51725" y="106211"/>
                  <a:pt x="43599" y="98085"/>
                </a:cubicBezTo>
                <a:lnTo>
                  <a:pt x="28884" y="83344"/>
                </a:lnTo>
                <a:lnTo>
                  <a:pt x="16669" y="83344"/>
                </a:lnTo>
                <a:close/>
                <a:moveTo>
                  <a:pt x="95845" y="97929"/>
                </a:moveTo>
                <a:cubicBezTo>
                  <a:pt x="99295" y="97929"/>
                  <a:pt x="102096" y="100730"/>
                  <a:pt x="102096" y="104180"/>
                </a:cubicBezTo>
                <a:cubicBezTo>
                  <a:pt x="102096" y="107630"/>
                  <a:pt x="99295" y="110430"/>
                  <a:pt x="95845" y="110430"/>
                </a:cubicBezTo>
                <a:cubicBezTo>
                  <a:pt x="92395" y="110430"/>
                  <a:pt x="89595" y="107630"/>
                  <a:pt x="89595" y="104180"/>
                </a:cubicBezTo>
                <a:cubicBezTo>
                  <a:pt x="89595" y="100730"/>
                  <a:pt x="92395" y="97929"/>
                  <a:pt x="95845" y="97929"/>
                </a:cubicBezTo>
                <a:close/>
              </a:path>
            </a:pathLst>
          </a:custGeom>
          <a:solidFill>
            <a:srgbClr val="1D1D1F"/>
          </a:solidFill>
          <a:ln/>
        </p:spPr>
      </p:sp>
      <p:sp>
        <p:nvSpPr>
          <p:cNvPr id="12" name="Text 10"/>
          <p:cNvSpPr/>
          <p:nvPr/>
        </p:nvSpPr>
        <p:spPr>
          <a:xfrm>
            <a:off x="1066800" y="1905000"/>
            <a:ext cx="2324100" cy="228600"/>
          </a:xfrm>
          <a:prstGeom prst="rect">
            <a:avLst/>
          </a:prstGeom>
          <a:noFill/>
          <a:ln/>
        </p:spPr>
        <p:txBody>
          <a:bodyPr wrap="square" lIns="0" tIns="0" rIns="0" bIns="0" rtlCol="0" anchor="ctr"/>
          <a:lstStyle/>
          <a:p>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Installed on device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from app store</a:t>
            </a:r>
            <a:endParaRPr lang="en-US" sz="1600" dirty="0"/>
          </a:p>
        </p:txBody>
      </p:sp>
      <p:sp>
        <p:nvSpPr>
          <p:cNvPr id="13" name="Shape 11"/>
          <p:cNvSpPr/>
          <p:nvPr/>
        </p:nvSpPr>
        <p:spPr>
          <a:xfrm>
            <a:off x="647700" y="2362200"/>
            <a:ext cx="304800" cy="304800"/>
          </a:xfrm>
          <a:prstGeom prst="roundRect">
            <a:avLst>
              <a:gd name="adj" fmla="val 25000"/>
            </a:avLst>
          </a:prstGeom>
          <a:solidFill>
            <a:srgbClr val="34C759"/>
          </a:solidFill>
          <a:ln/>
        </p:spPr>
      </p:sp>
      <p:sp>
        <p:nvSpPr>
          <p:cNvPr id="14" name="Shape 12"/>
          <p:cNvSpPr/>
          <p:nvPr/>
        </p:nvSpPr>
        <p:spPr>
          <a:xfrm>
            <a:off x="727472" y="2447925"/>
            <a:ext cx="150019" cy="133350"/>
          </a:xfrm>
          <a:custGeom>
            <a:avLst/>
            <a:gdLst/>
            <a:ahLst/>
            <a:cxnLst/>
            <a:rect l="l" t="t" r="r" b="b"/>
            <a:pathLst>
              <a:path w="150019" h="133350">
                <a:moveTo>
                  <a:pt x="75009" y="25003"/>
                </a:moveTo>
                <a:cubicBezTo>
                  <a:pt x="51335" y="25003"/>
                  <a:pt x="29900" y="34379"/>
                  <a:pt x="14142" y="49642"/>
                </a:cubicBezTo>
                <a:cubicBezTo>
                  <a:pt x="10835" y="52845"/>
                  <a:pt x="5548" y="52767"/>
                  <a:pt x="2370" y="49459"/>
                </a:cubicBezTo>
                <a:cubicBezTo>
                  <a:pt x="-807" y="46152"/>
                  <a:pt x="-755" y="40864"/>
                  <a:pt x="2552" y="37687"/>
                </a:cubicBezTo>
                <a:cubicBezTo>
                  <a:pt x="21279" y="19508"/>
                  <a:pt x="46855" y="8334"/>
                  <a:pt x="75009" y="8334"/>
                </a:cubicBezTo>
                <a:cubicBezTo>
                  <a:pt x="103164" y="8334"/>
                  <a:pt x="128740" y="19508"/>
                  <a:pt x="147492" y="37687"/>
                </a:cubicBezTo>
                <a:cubicBezTo>
                  <a:pt x="150800" y="40891"/>
                  <a:pt x="150878" y="46178"/>
                  <a:pt x="147675" y="49459"/>
                </a:cubicBezTo>
                <a:cubicBezTo>
                  <a:pt x="144471" y="52741"/>
                  <a:pt x="139184" y="52845"/>
                  <a:pt x="135902" y="49642"/>
                </a:cubicBezTo>
                <a:cubicBezTo>
                  <a:pt x="120119" y="34379"/>
                  <a:pt x="98684" y="25003"/>
                  <a:pt x="75009" y="25003"/>
                </a:cubicBezTo>
                <a:close/>
                <a:moveTo>
                  <a:pt x="62508" y="112514"/>
                </a:moveTo>
                <a:cubicBezTo>
                  <a:pt x="62508" y="105614"/>
                  <a:pt x="68110" y="100013"/>
                  <a:pt x="75009" y="100013"/>
                </a:cubicBezTo>
                <a:cubicBezTo>
                  <a:pt x="81909" y="100013"/>
                  <a:pt x="87511" y="105614"/>
                  <a:pt x="87511" y="112514"/>
                </a:cubicBezTo>
                <a:cubicBezTo>
                  <a:pt x="87511" y="119414"/>
                  <a:pt x="81909" y="125016"/>
                  <a:pt x="75009" y="125016"/>
                </a:cubicBezTo>
                <a:cubicBezTo>
                  <a:pt x="68110" y="125016"/>
                  <a:pt x="62508" y="119414"/>
                  <a:pt x="62508" y="112514"/>
                </a:cubicBezTo>
                <a:close/>
                <a:moveTo>
                  <a:pt x="43755" y="84959"/>
                </a:moveTo>
                <a:cubicBezTo>
                  <a:pt x="40708" y="88423"/>
                  <a:pt x="35447" y="88735"/>
                  <a:pt x="31983" y="85688"/>
                </a:cubicBezTo>
                <a:cubicBezTo>
                  <a:pt x="28519" y="82641"/>
                  <a:pt x="28207" y="77379"/>
                  <a:pt x="31254" y="73915"/>
                </a:cubicBezTo>
                <a:cubicBezTo>
                  <a:pt x="41932" y="61831"/>
                  <a:pt x="57585" y="54173"/>
                  <a:pt x="75009" y="54173"/>
                </a:cubicBezTo>
                <a:cubicBezTo>
                  <a:pt x="92433" y="54173"/>
                  <a:pt x="108086" y="61831"/>
                  <a:pt x="118765" y="73915"/>
                </a:cubicBezTo>
                <a:cubicBezTo>
                  <a:pt x="121812" y="77379"/>
                  <a:pt x="121474" y="82641"/>
                  <a:pt x="118036" y="85688"/>
                </a:cubicBezTo>
                <a:cubicBezTo>
                  <a:pt x="114598" y="88735"/>
                  <a:pt x="109311" y="88396"/>
                  <a:pt x="106263" y="84959"/>
                </a:cubicBezTo>
                <a:cubicBezTo>
                  <a:pt x="98606" y="76286"/>
                  <a:pt x="87459" y="70842"/>
                  <a:pt x="75009" y="70842"/>
                </a:cubicBezTo>
                <a:cubicBezTo>
                  <a:pt x="62560" y="70842"/>
                  <a:pt x="51413" y="76286"/>
                  <a:pt x="43755" y="84959"/>
                </a:cubicBezTo>
                <a:close/>
              </a:path>
            </a:pathLst>
          </a:custGeom>
          <a:solidFill>
            <a:srgbClr val="1D1D1F"/>
          </a:solidFill>
          <a:ln/>
        </p:spPr>
      </p:sp>
      <p:sp>
        <p:nvSpPr>
          <p:cNvPr id="15" name="Text 13"/>
          <p:cNvSpPr/>
          <p:nvPr/>
        </p:nvSpPr>
        <p:spPr>
          <a:xfrm>
            <a:off x="1066800" y="2343150"/>
            <a:ext cx="1971675" cy="228600"/>
          </a:xfrm>
          <a:prstGeom prst="rect">
            <a:avLst/>
          </a:prstGeom>
          <a:noFill/>
          <a:ln/>
        </p:spPr>
        <p:txBody>
          <a:bodyPr wrap="square" lIns="0" tIns="0" rIns="0" bIns="0" rtlCol="0" anchor="ctr"/>
          <a:lstStyle/>
          <a:p>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Work offline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(many features)</a:t>
            </a:r>
            <a:endParaRPr lang="en-US" sz="1600" dirty="0"/>
          </a:p>
        </p:txBody>
      </p:sp>
      <p:sp>
        <p:nvSpPr>
          <p:cNvPr id="16" name="Shape 14"/>
          <p:cNvSpPr/>
          <p:nvPr/>
        </p:nvSpPr>
        <p:spPr>
          <a:xfrm>
            <a:off x="647700" y="2800350"/>
            <a:ext cx="304800" cy="304800"/>
          </a:xfrm>
          <a:prstGeom prst="roundRect">
            <a:avLst>
              <a:gd name="adj" fmla="val 25000"/>
            </a:avLst>
          </a:prstGeom>
          <a:solidFill>
            <a:srgbClr val="34C759"/>
          </a:solidFill>
          <a:ln/>
        </p:spPr>
      </p:sp>
      <p:sp>
        <p:nvSpPr>
          <p:cNvPr id="17" name="Shape 15"/>
          <p:cNvSpPr/>
          <p:nvPr/>
        </p:nvSpPr>
        <p:spPr>
          <a:xfrm>
            <a:off x="744141" y="2886075"/>
            <a:ext cx="116681" cy="133350"/>
          </a:xfrm>
          <a:custGeom>
            <a:avLst/>
            <a:gdLst/>
            <a:ahLst/>
            <a:cxnLst/>
            <a:rect l="l" t="t" r="r" b="b"/>
            <a:pathLst>
              <a:path w="116681" h="133350">
                <a:moveTo>
                  <a:pt x="88240" y="-2578"/>
                </a:moveTo>
                <a:cubicBezTo>
                  <a:pt x="91340" y="-339"/>
                  <a:pt x="92486" y="3724"/>
                  <a:pt x="91079" y="7267"/>
                </a:cubicBezTo>
                <a:lnTo>
                  <a:pt x="70660" y="58341"/>
                </a:lnTo>
                <a:lnTo>
                  <a:pt x="108347" y="58341"/>
                </a:lnTo>
                <a:cubicBezTo>
                  <a:pt x="111863" y="58341"/>
                  <a:pt x="114988" y="60528"/>
                  <a:pt x="116186" y="63836"/>
                </a:cubicBezTo>
                <a:cubicBezTo>
                  <a:pt x="117384" y="67144"/>
                  <a:pt x="116369" y="70842"/>
                  <a:pt x="113686" y="73082"/>
                </a:cubicBezTo>
                <a:lnTo>
                  <a:pt x="38677" y="135590"/>
                </a:lnTo>
                <a:cubicBezTo>
                  <a:pt x="35734" y="138038"/>
                  <a:pt x="31540" y="138168"/>
                  <a:pt x="28441" y="135928"/>
                </a:cubicBezTo>
                <a:cubicBezTo>
                  <a:pt x="25342" y="133689"/>
                  <a:pt x="24196" y="129626"/>
                  <a:pt x="25602" y="126083"/>
                </a:cubicBezTo>
                <a:lnTo>
                  <a:pt x="46021" y="75009"/>
                </a:lnTo>
                <a:lnTo>
                  <a:pt x="8334" y="75009"/>
                </a:lnTo>
                <a:cubicBezTo>
                  <a:pt x="4818" y="75009"/>
                  <a:pt x="1693" y="72822"/>
                  <a:pt x="495" y="69514"/>
                </a:cubicBezTo>
                <a:cubicBezTo>
                  <a:pt x="-703" y="66206"/>
                  <a:pt x="313" y="62508"/>
                  <a:pt x="2995" y="60268"/>
                </a:cubicBezTo>
                <a:lnTo>
                  <a:pt x="78005" y="-2240"/>
                </a:lnTo>
                <a:cubicBezTo>
                  <a:pt x="80948" y="-4688"/>
                  <a:pt x="85141" y="-4818"/>
                  <a:pt x="88240" y="-2578"/>
                </a:cubicBezTo>
                <a:close/>
              </a:path>
            </a:pathLst>
          </a:custGeom>
          <a:solidFill>
            <a:srgbClr val="1D1D1F"/>
          </a:solidFill>
          <a:ln/>
        </p:spPr>
      </p:sp>
      <p:sp>
        <p:nvSpPr>
          <p:cNvPr id="18" name="Text 16"/>
          <p:cNvSpPr/>
          <p:nvPr/>
        </p:nvSpPr>
        <p:spPr>
          <a:xfrm>
            <a:off x="1066800" y="2781300"/>
            <a:ext cx="2314575" cy="228600"/>
          </a:xfrm>
          <a:prstGeom prst="rect">
            <a:avLst/>
          </a:prstGeom>
          <a:noFill/>
          <a:ln/>
        </p:spPr>
        <p:txBody>
          <a:bodyPr wrap="square" lIns="0" tIns="0" rIns="0" bIns="0" rtlCol="0" anchor="ctr"/>
          <a:lstStyle/>
          <a:p>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Faster performance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and smoother</a:t>
            </a:r>
            <a:endParaRPr lang="en-US" sz="1600" dirty="0"/>
          </a:p>
        </p:txBody>
      </p:sp>
      <p:sp>
        <p:nvSpPr>
          <p:cNvPr id="19" name="Shape 17"/>
          <p:cNvSpPr/>
          <p:nvPr/>
        </p:nvSpPr>
        <p:spPr>
          <a:xfrm>
            <a:off x="647700" y="3238500"/>
            <a:ext cx="304800" cy="304800"/>
          </a:xfrm>
          <a:prstGeom prst="roundRect">
            <a:avLst>
              <a:gd name="adj" fmla="val 25000"/>
            </a:avLst>
          </a:prstGeom>
          <a:solidFill>
            <a:srgbClr val="34C759"/>
          </a:solidFill>
          <a:ln/>
        </p:spPr>
      </p:sp>
      <p:sp>
        <p:nvSpPr>
          <p:cNvPr id="20" name="Shape 18"/>
          <p:cNvSpPr/>
          <p:nvPr/>
        </p:nvSpPr>
        <p:spPr>
          <a:xfrm>
            <a:off x="735806" y="3324225"/>
            <a:ext cx="133350" cy="133350"/>
          </a:xfrm>
          <a:custGeom>
            <a:avLst/>
            <a:gdLst/>
            <a:ahLst/>
            <a:cxnLst/>
            <a:rect l="l" t="t" r="r" b="b"/>
            <a:pathLst>
              <a:path w="133350" h="133350">
                <a:moveTo>
                  <a:pt x="38833" y="16877"/>
                </a:moveTo>
                <a:lnTo>
                  <a:pt x="36124" y="25003"/>
                </a:lnTo>
                <a:lnTo>
                  <a:pt x="16669" y="25003"/>
                </a:lnTo>
                <a:cubicBezTo>
                  <a:pt x="7475" y="25003"/>
                  <a:pt x="0" y="32478"/>
                  <a:pt x="0" y="41672"/>
                </a:cubicBezTo>
                <a:lnTo>
                  <a:pt x="0" y="108347"/>
                </a:lnTo>
                <a:cubicBezTo>
                  <a:pt x="0" y="117541"/>
                  <a:pt x="7475" y="125016"/>
                  <a:pt x="16669" y="125016"/>
                </a:cubicBezTo>
                <a:lnTo>
                  <a:pt x="116681" y="125016"/>
                </a:lnTo>
                <a:cubicBezTo>
                  <a:pt x="125875" y="125016"/>
                  <a:pt x="133350" y="117541"/>
                  <a:pt x="133350" y="108347"/>
                </a:cubicBezTo>
                <a:lnTo>
                  <a:pt x="133350" y="41672"/>
                </a:lnTo>
                <a:cubicBezTo>
                  <a:pt x="133350" y="32478"/>
                  <a:pt x="125875" y="25003"/>
                  <a:pt x="116681" y="25003"/>
                </a:cubicBezTo>
                <a:lnTo>
                  <a:pt x="97226" y="25003"/>
                </a:lnTo>
                <a:lnTo>
                  <a:pt x="94517" y="16877"/>
                </a:lnTo>
                <a:cubicBezTo>
                  <a:pt x="92824" y="11772"/>
                  <a:pt x="88058" y="8334"/>
                  <a:pt x="82667" y="8334"/>
                </a:cubicBezTo>
                <a:lnTo>
                  <a:pt x="50683" y="8334"/>
                </a:lnTo>
                <a:cubicBezTo>
                  <a:pt x="45292" y="8334"/>
                  <a:pt x="40526" y="11772"/>
                  <a:pt x="38833" y="16877"/>
                </a:cubicBezTo>
                <a:close/>
                <a:moveTo>
                  <a:pt x="66675" y="50006"/>
                </a:moveTo>
                <a:cubicBezTo>
                  <a:pt x="80475" y="50006"/>
                  <a:pt x="91678" y="61210"/>
                  <a:pt x="91678" y="75009"/>
                </a:cubicBezTo>
                <a:cubicBezTo>
                  <a:pt x="91678" y="88809"/>
                  <a:pt x="80475" y="100013"/>
                  <a:pt x="66675" y="100013"/>
                </a:cubicBezTo>
                <a:cubicBezTo>
                  <a:pt x="52875" y="100013"/>
                  <a:pt x="41672" y="88809"/>
                  <a:pt x="41672" y="75009"/>
                </a:cubicBezTo>
                <a:cubicBezTo>
                  <a:pt x="41672" y="61210"/>
                  <a:pt x="52875" y="50006"/>
                  <a:pt x="66675" y="50006"/>
                </a:cubicBezTo>
                <a:close/>
              </a:path>
            </a:pathLst>
          </a:custGeom>
          <a:solidFill>
            <a:srgbClr val="1D1D1F"/>
          </a:solidFill>
          <a:ln/>
        </p:spPr>
      </p:sp>
      <p:sp>
        <p:nvSpPr>
          <p:cNvPr id="21" name="Text 19"/>
          <p:cNvSpPr/>
          <p:nvPr/>
        </p:nvSpPr>
        <p:spPr>
          <a:xfrm>
            <a:off x="1066800" y="3219450"/>
            <a:ext cx="2495550" cy="228600"/>
          </a:xfrm>
          <a:prstGeom prst="rect">
            <a:avLst/>
          </a:prstGeom>
          <a:noFill/>
          <a:ln/>
        </p:spPr>
        <p:txBody>
          <a:bodyPr wrap="square" lIns="0" tIns="0" rIns="0" bIns="0" rtlCol="0" anchor="ctr"/>
          <a:lstStyle/>
          <a:p>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Use device features</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like camera, GPS</a:t>
            </a:r>
            <a:endParaRPr lang="en-US" sz="1600" dirty="0"/>
          </a:p>
        </p:txBody>
      </p:sp>
      <p:sp>
        <p:nvSpPr>
          <p:cNvPr id="22" name="Shape 20"/>
          <p:cNvSpPr/>
          <p:nvPr/>
        </p:nvSpPr>
        <p:spPr>
          <a:xfrm>
            <a:off x="647700" y="3676650"/>
            <a:ext cx="304800" cy="304800"/>
          </a:xfrm>
          <a:prstGeom prst="roundRect">
            <a:avLst>
              <a:gd name="adj" fmla="val 25000"/>
            </a:avLst>
          </a:prstGeom>
          <a:solidFill>
            <a:srgbClr val="34C759"/>
          </a:solidFill>
          <a:ln/>
        </p:spPr>
      </p:sp>
      <p:sp>
        <p:nvSpPr>
          <p:cNvPr id="23" name="Shape 21"/>
          <p:cNvSpPr/>
          <p:nvPr/>
        </p:nvSpPr>
        <p:spPr>
          <a:xfrm>
            <a:off x="744141" y="3762375"/>
            <a:ext cx="116681" cy="133350"/>
          </a:xfrm>
          <a:custGeom>
            <a:avLst/>
            <a:gdLst/>
            <a:ahLst/>
            <a:cxnLst/>
            <a:rect l="l" t="t" r="r" b="b"/>
            <a:pathLst>
              <a:path w="116681" h="133350">
                <a:moveTo>
                  <a:pt x="58341" y="0"/>
                </a:moveTo>
                <a:cubicBezTo>
                  <a:pt x="53731" y="0"/>
                  <a:pt x="50006" y="3724"/>
                  <a:pt x="50006" y="8334"/>
                </a:cubicBezTo>
                <a:lnTo>
                  <a:pt x="50006" y="9168"/>
                </a:lnTo>
                <a:cubicBezTo>
                  <a:pt x="30993" y="13022"/>
                  <a:pt x="16669" y="29847"/>
                  <a:pt x="16669" y="50006"/>
                </a:cubicBezTo>
                <a:lnTo>
                  <a:pt x="16669" y="55658"/>
                </a:lnTo>
                <a:cubicBezTo>
                  <a:pt x="16669" y="68186"/>
                  <a:pt x="12397" y="80349"/>
                  <a:pt x="4584" y="90141"/>
                </a:cubicBezTo>
                <a:lnTo>
                  <a:pt x="2032" y="93319"/>
                </a:lnTo>
                <a:cubicBezTo>
                  <a:pt x="703" y="94960"/>
                  <a:pt x="0" y="96991"/>
                  <a:pt x="0" y="99101"/>
                </a:cubicBezTo>
                <a:cubicBezTo>
                  <a:pt x="0" y="104206"/>
                  <a:pt x="4141" y="108347"/>
                  <a:pt x="9246" y="108347"/>
                </a:cubicBezTo>
                <a:lnTo>
                  <a:pt x="107409" y="108347"/>
                </a:lnTo>
                <a:cubicBezTo>
                  <a:pt x="112514" y="108347"/>
                  <a:pt x="116655" y="104206"/>
                  <a:pt x="116655" y="99101"/>
                </a:cubicBezTo>
                <a:cubicBezTo>
                  <a:pt x="116655" y="96991"/>
                  <a:pt x="115952" y="94960"/>
                  <a:pt x="114624" y="93319"/>
                </a:cubicBezTo>
                <a:lnTo>
                  <a:pt x="112071" y="90141"/>
                </a:lnTo>
                <a:cubicBezTo>
                  <a:pt x="104284" y="80349"/>
                  <a:pt x="100013" y="68186"/>
                  <a:pt x="100013" y="55658"/>
                </a:cubicBezTo>
                <a:lnTo>
                  <a:pt x="100013" y="50006"/>
                </a:lnTo>
                <a:cubicBezTo>
                  <a:pt x="100013" y="29847"/>
                  <a:pt x="85688" y="13022"/>
                  <a:pt x="66675" y="9168"/>
                </a:cubicBezTo>
                <a:lnTo>
                  <a:pt x="66675" y="8334"/>
                </a:lnTo>
                <a:cubicBezTo>
                  <a:pt x="66675" y="3724"/>
                  <a:pt x="62951" y="0"/>
                  <a:pt x="58341" y="0"/>
                </a:cubicBezTo>
                <a:close/>
                <a:moveTo>
                  <a:pt x="42193" y="120848"/>
                </a:moveTo>
                <a:cubicBezTo>
                  <a:pt x="44042" y="128037"/>
                  <a:pt x="50579" y="133350"/>
                  <a:pt x="58341" y="133350"/>
                </a:cubicBezTo>
                <a:cubicBezTo>
                  <a:pt x="66102" y="133350"/>
                  <a:pt x="72639" y="128037"/>
                  <a:pt x="74488" y="120848"/>
                </a:cubicBezTo>
                <a:lnTo>
                  <a:pt x="42193" y="120848"/>
                </a:lnTo>
                <a:close/>
              </a:path>
            </a:pathLst>
          </a:custGeom>
          <a:solidFill>
            <a:srgbClr val="1D1D1F"/>
          </a:solidFill>
          <a:ln/>
        </p:spPr>
      </p:sp>
      <p:sp>
        <p:nvSpPr>
          <p:cNvPr id="24" name="Text 22"/>
          <p:cNvSpPr/>
          <p:nvPr/>
        </p:nvSpPr>
        <p:spPr>
          <a:xfrm>
            <a:off x="1066800" y="3688080"/>
            <a:ext cx="1605558" cy="167640"/>
          </a:xfrm>
          <a:prstGeom prst="rect">
            <a:avLst/>
          </a:prstGeom>
          <a:noFill/>
          <a:ln/>
        </p:spPr>
        <p:txBody>
          <a:bodyPr wrap="square" lIns="0" tIns="0" rIns="0" bIns="0" rtlCol="0" anchor="ctr"/>
          <a:lstStyle/>
          <a:p>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Send push notifications</a:t>
            </a:r>
            <a:endParaRPr lang="en-US" sz="1600" dirty="0"/>
          </a:p>
        </p:txBody>
      </p:sp>
      <p:sp>
        <p:nvSpPr>
          <p:cNvPr id="25" name="Shape 23"/>
          <p:cNvSpPr/>
          <p:nvPr/>
        </p:nvSpPr>
        <p:spPr>
          <a:xfrm>
            <a:off x="384810" y="4960621"/>
            <a:ext cx="5589270" cy="1512570"/>
          </a:xfrm>
          <a:prstGeom prst="roundRect">
            <a:avLst>
              <a:gd name="adj" fmla="val 10076"/>
            </a:avLst>
          </a:prstGeom>
          <a:solidFill>
            <a:srgbClr val="0A84FF">
              <a:alpha val="10196"/>
            </a:srgbClr>
          </a:solidFill>
          <a:ln w="10160">
            <a:solidFill>
              <a:srgbClr val="0A84FF">
                <a:alpha val="30196"/>
              </a:srgbClr>
            </a:solidFill>
            <a:prstDash val="solid"/>
          </a:ln>
        </p:spPr>
      </p:sp>
      <p:sp>
        <p:nvSpPr>
          <p:cNvPr id="26" name="Shape 24"/>
          <p:cNvSpPr/>
          <p:nvPr/>
        </p:nvSpPr>
        <p:spPr>
          <a:xfrm>
            <a:off x="602932" y="5202555"/>
            <a:ext cx="171450" cy="171450"/>
          </a:xfrm>
          <a:custGeom>
            <a:avLst/>
            <a:gdLst/>
            <a:ahLst/>
            <a:cxnLst/>
            <a:rect l="l" t="t" r="r" b="b"/>
            <a:pathLst>
              <a:path w="171450" h="171450">
                <a:moveTo>
                  <a:pt x="85725" y="160734"/>
                </a:moveTo>
                <a:cubicBezTo>
                  <a:pt x="133075" y="160734"/>
                  <a:pt x="171450" y="124737"/>
                  <a:pt x="171450" y="80367"/>
                </a:cubicBezTo>
                <a:cubicBezTo>
                  <a:pt x="171450" y="35998"/>
                  <a:pt x="133075" y="0"/>
                  <a:pt x="85725" y="0"/>
                </a:cubicBezTo>
                <a:cubicBezTo>
                  <a:pt x="38375" y="0"/>
                  <a:pt x="0" y="35998"/>
                  <a:pt x="0" y="80367"/>
                </a:cubicBezTo>
                <a:cubicBezTo>
                  <a:pt x="0" y="98550"/>
                  <a:pt x="6429" y="115293"/>
                  <a:pt x="17279" y="128755"/>
                </a:cubicBezTo>
                <a:lnTo>
                  <a:pt x="938" y="159663"/>
                </a:lnTo>
                <a:cubicBezTo>
                  <a:pt x="-670" y="162677"/>
                  <a:pt x="-167" y="166360"/>
                  <a:pt x="2143" y="168872"/>
                </a:cubicBezTo>
                <a:cubicBezTo>
                  <a:pt x="4454" y="171383"/>
                  <a:pt x="8104" y="172153"/>
                  <a:pt x="11218" y="170814"/>
                </a:cubicBezTo>
                <a:lnTo>
                  <a:pt x="50866" y="153836"/>
                </a:lnTo>
                <a:cubicBezTo>
                  <a:pt x="61514" y="158256"/>
                  <a:pt x="73302" y="160734"/>
                  <a:pt x="85725" y="160734"/>
                </a:cubicBezTo>
                <a:close/>
                <a:moveTo>
                  <a:pt x="42863" y="69652"/>
                </a:moveTo>
                <a:cubicBezTo>
                  <a:pt x="48777" y="69652"/>
                  <a:pt x="53578" y="74453"/>
                  <a:pt x="53578" y="80367"/>
                </a:cubicBezTo>
                <a:cubicBezTo>
                  <a:pt x="53578" y="86281"/>
                  <a:pt x="48777" y="91083"/>
                  <a:pt x="42863" y="91083"/>
                </a:cubicBezTo>
                <a:cubicBezTo>
                  <a:pt x="36948" y="91083"/>
                  <a:pt x="32147" y="86281"/>
                  <a:pt x="32147" y="80367"/>
                </a:cubicBezTo>
                <a:cubicBezTo>
                  <a:pt x="32147" y="74453"/>
                  <a:pt x="36948" y="69652"/>
                  <a:pt x="42863" y="69652"/>
                </a:cubicBezTo>
                <a:close/>
                <a:moveTo>
                  <a:pt x="85725" y="69652"/>
                </a:moveTo>
                <a:cubicBezTo>
                  <a:pt x="91639" y="69652"/>
                  <a:pt x="96441" y="74453"/>
                  <a:pt x="96441" y="80367"/>
                </a:cubicBezTo>
                <a:cubicBezTo>
                  <a:pt x="96441" y="86281"/>
                  <a:pt x="91639" y="91083"/>
                  <a:pt x="85725" y="91083"/>
                </a:cubicBezTo>
                <a:cubicBezTo>
                  <a:pt x="79811" y="91083"/>
                  <a:pt x="75009" y="86281"/>
                  <a:pt x="75009" y="80367"/>
                </a:cubicBezTo>
                <a:cubicBezTo>
                  <a:pt x="75009" y="74453"/>
                  <a:pt x="79811" y="69652"/>
                  <a:pt x="85725" y="69652"/>
                </a:cubicBezTo>
                <a:close/>
                <a:moveTo>
                  <a:pt x="117872" y="80367"/>
                </a:moveTo>
                <a:cubicBezTo>
                  <a:pt x="117872" y="74453"/>
                  <a:pt x="122673" y="69652"/>
                  <a:pt x="128588" y="69652"/>
                </a:cubicBezTo>
                <a:cubicBezTo>
                  <a:pt x="134502" y="69652"/>
                  <a:pt x="139303" y="74453"/>
                  <a:pt x="139303" y="80367"/>
                </a:cubicBezTo>
                <a:cubicBezTo>
                  <a:pt x="139303" y="86281"/>
                  <a:pt x="134502" y="91083"/>
                  <a:pt x="128588" y="91083"/>
                </a:cubicBezTo>
                <a:cubicBezTo>
                  <a:pt x="122673" y="91083"/>
                  <a:pt x="117872" y="86281"/>
                  <a:pt x="117872" y="80367"/>
                </a:cubicBezTo>
                <a:close/>
              </a:path>
            </a:pathLst>
          </a:custGeom>
          <a:solidFill>
            <a:srgbClr val="0A84FF"/>
          </a:solidFill>
          <a:ln/>
        </p:spPr>
      </p:sp>
      <p:sp>
        <p:nvSpPr>
          <p:cNvPr id="27" name="Text 25"/>
          <p:cNvSpPr/>
          <p:nvPr/>
        </p:nvSpPr>
        <p:spPr>
          <a:xfrm>
            <a:off x="798195" y="5154930"/>
            <a:ext cx="5067300" cy="266700"/>
          </a:xfrm>
          <a:prstGeom prst="rect">
            <a:avLst/>
          </a:prstGeom>
          <a:noFill/>
          <a:ln/>
        </p:spPr>
        <p:txBody>
          <a:bodyPr wrap="square" lIns="0" tIns="0" rIns="0" bIns="0" rtlCol="0" anchor="ctr"/>
          <a:lstStyle/>
          <a:p>
            <a:pPr>
              <a:lnSpc>
                <a:spcPct val="130000"/>
              </a:lnSpc>
            </a:pPr>
            <a:r>
              <a:rPr lang="en-US" sz="1350"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28" name="Text 26"/>
          <p:cNvSpPr/>
          <p:nvPr/>
        </p:nvSpPr>
        <p:spPr>
          <a:xfrm>
            <a:off x="579120" y="5535930"/>
            <a:ext cx="5276850" cy="742950"/>
          </a:xfrm>
          <a:prstGeom prst="rect">
            <a:avLst/>
          </a:prstGeom>
          <a:noFill/>
          <a:ln/>
        </p:spPr>
        <p:txBody>
          <a:bodyPr wrap="square" lIns="0" tIns="0" rIns="0" bIns="0" rtlCol="0" anchor="ctr"/>
          <a:lstStyle/>
          <a:p>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Think of it this way: a </a:t>
            </a:r>
            <a:pPr>
              <a:lnSpc>
                <a:spcPct val="140000"/>
              </a:lnSpc>
            </a:pPr>
            <a:r>
              <a:rPr lang="en-US" sz="1200" b="1" dirty="0">
                <a:solidFill>
                  <a:srgbClr val="34C759"/>
                </a:solidFill>
                <a:latin typeface="Quattrocento Sans" pitchFamily="34" charset="0"/>
                <a:ea typeface="Quattrocento Sans" pitchFamily="34" charset="-122"/>
                <a:cs typeface="Quattrocento Sans" pitchFamily="34" charset="-120"/>
              </a:rPr>
              <a:t>mobile app is like a program installed on your computer</a:t>
            </a:r>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 – it's always there and works fast. A </a:t>
            </a:r>
            <a:pPr>
              <a:lnSpc>
                <a:spcPct val="140000"/>
              </a:lnSpc>
            </a:pPr>
            <a:r>
              <a:rPr lang="en-US" sz="1200" b="1" dirty="0">
                <a:solidFill>
                  <a:srgbClr val="0A84FF"/>
                </a:solidFill>
                <a:latin typeface="Quattrocento Sans" pitchFamily="34" charset="0"/>
                <a:ea typeface="Quattrocento Sans" pitchFamily="34" charset="-122"/>
                <a:cs typeface="Quattrocento Sans" pitchFamily="34" charset="-120"/>
              </a:rPr>
              <a:t>website is like visiting a library</a:t>
            </a:r>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 – you need to go there (open browser) and need internet to access it.</a:t>
            </a:r>
            <a:endParaRPr lang="en-US" sz="1600" dirty="0"/>
          </a:p>
        </p:txBody>
      </p:sp>
      <p:sp>
        <p:nvSpPr>
          <p:cNvPr id="29" name="Shape 27"/>
          <p:cNvSpPr/>
          <p:nvPr/>
        </p:nvSpPr>
        <p:spPr>
          <a:xfrm>
            <a:off x="6229350" y="1257300"/>
            <a:ext cx="5581650" cy="3562350"/>
          </a:xfrm>
          <a:custGeom>
            <a:avLst/>
            <a:gdLst/>
            <a:ahLst/>
            <a:cxnLst/>
            <a:rect l="l" t="t" r="r" b="b"/>
            <a:pathLst>
              <a:path w="5581650" h="3562350">
                <a:moveTo>
                  <a:pt x="38100" y="0"/>
                </a:moveTo>
                <a:lnTo>
                  <a:pt x="5429250" y="0"/>
                </a:lnTo>
                <a:cubicBezTo>
                  <a:pt x="5513362" y="0"/>
                  <a:pt x="5581650" y="68288"/>
                  <a:pt x="5581650" y="152400"/>
                </a:cubicBezTo>
                <a:lnTo>
                  <a:pt x="5581650" y="3409950"/>
                </a:lnTo>
                <a:cubicBezTo>
                  <a:pt x="5581650" y="3494062"/>
                  <a:pt x="5513362" y="3562350"/>
                  <a:pt x="5429250" y="3562350"/>
                </a:cubicBezTo>
                <a:lnTo>
                  <a:pt x="38100" y="3562350"/>
                </a:lnTo>
                <a:cubicBezTo>
                  <a:pt x="17072" y="3562350"/>
                  <a:pt x="0" y="3545278"/>
                  <a:pt x="0" y="3524250"/>
                </a:cubicBezTo>
                <a:lnTo>
                  <a:pt x="0" y="38100"/>
                </a:lnTo>
                <a:cubicBezTo>
                  <a:pt x="0" y="17072"/>
                  <a:pt x="17072" y="0"/>
                  <a:pt x="38100" y="0"/>
                </a:cubicBezTo>
                <a:close/>
              </a:path>
            </a:pathLst>
          </a:custGeom>
          <a:solidFill>
            <a:srgbClr val="2C2C2E"/>
          </a:solidFill>
          <a:ln/>
        </p:spPr>
      </p:sp>
      <p:sp>
        <p:nvSpPr>
          <p:cNvPr id="30" name="Shape 28"/>
          <p:cNvSpPr/>
          <p:nvPr/>
        </p:nvSpPr>
        <p:spPr>
          <a:xfrm>
            <a:off x="6229350" y="1257300"/>
            <a:ext cx="38100" cy="3562350"/>
          </a:xfrm>
          <a:custGeom>
            <a:avLst/>
            <a:gdLst/>
            <a:ahLst/>
            <a:cxnLst/>
            <a:rect l="l" t="t" r="r" b="b"/>
            <a:pathLst>
              <a:path w="38100" h="3562350">
                <a:moveTo>
                  <a:pt x="38100" y="0"/>
                </a:moveTo>
                <a:lnTo>
                  <a:pt x="38100" y="0"/>
                </a:lnTo>
                <a:lnTo>
                  <a:pt x="38100" y="3562350"/>
                </a:lnTo>
                <a:lnTo>
                  <a:pt x="38100" y="3562350"/>
                </a:lnTo>
                <a:cubicBezTo>
                  <a:pt x="17072" y="3562350"/>
                  <a:pt x="0" y="3545278"/>
                  <a:pt x="0" y="3524250"/>
                </a:cubicBezTo>
                <a:lnTo>
                  <a:pt x="0" y="38100"/>
                </a:lnTo>
                <a:cubicBezTo>
                  <a:pt x="0" y="17072"/>
                  <a:pt x="17072" y="0"/>
                  <a:pt x="38100" y="0"/>
                </a:cubicBezTo>
                <a:close/>
              </a:path>
            </a:pathLst>
          </a:custGeom>
          <a:solidFill>
            <a:srgbClr val="0A84FF"/>
          </a:solidFill>
          <a:ln/>
        </p:spPr>
      </p:sp>
      <p:sp>
        <p:nvSpPr>
          <p:cNvPr id="31" name="Shape 29"/>
          <p:cNvSpPr/>
          <p:nvPr/>
        </p:nvSpPr>
        <p:spPr>
          <a:xfrm>
            <a:off x="6500813" y="1524000"/>
            <a:ext cx="190500" cy="190500"/>
          </a:xfrm>
          <a:custGeom>
            <a:avLst/>
            <a:gdLst/>
            <a:ahLst/>
            <a:cxnLst/>
            <a:rect l="l" t="t" r="r" b="b"/>
            <a:pathLst>
              <a:path w="190500" h="190500">
                <a:moveTo>
                  <a:pt x="130932" y="104180"/>
                </a:moveTo>
                <a:lnTo>
                  <a:pt x="59903" y="104180"/>
                </a:lnTo>
                <a:cubicBezTo>
                  <a:pt x="60982" y="128178"/>
                  <a:pt x="66303" y="150279"/>
                  <a:pt x="73856" y="166464"/>
                </a:cubicBezTo>
                <a:cubicBezTo>
                  <a:pt x="78098" y="175580"/>
                  <a:pt x="82674" y="182017"/>
                  <a:pt x="86916" y="185961"/>
                </a:cubicBezTo>
                <a:cubicBezTo>
                  <a:pt x="91083" y="189867"/>
                  <a:pt x="93948" y="190500"/>
                  <a:pt x="95436" y="190500"/>
                </a:cubicBezTo>
                <a:cubicBezTo>
                  <a:pt x="96924" y="190500"/>
                  <a:pt x="99789" y="189867"/>
                  <a:pt x="103956" y="185961"/>
                </a:cubicBezTo>
                <a:cubicBezTo>
                  <a:pt x="108198" y="182017"/>
                  <a:pt x="112775" y="175543"/>
                  <a:pt x="117016" y="166464"/>
                </a:cubicBezTo>
                <a:cubicBezTo>
                  <a:pt x="124569" y="150279"/>
                  <a:pt x="129890" y="128178"/>
                  <a:pt x="130969" y="104180"/>
                </a:cubicBezTo>
                <a:close/>
                <a:moveTo>
                  <a:pt x="59866" y="86320"/>
                </a:moveTo>
                <a:lnTo>
                  <a:pt x="130894" y="86320"/>
                </a:lnTo>
                <a:cubicBezTo>
                  <a:pt x="129853" y="62322"/>
                  <a:pt x="124532" y="40221"/>
                  <a:pt x="116979" y="24036"/>
                </a:cubicBezTo>
                <a:cubicBezTo>
                  <a:pt x="112737" y="14957"/>
                  <a:pt x="108161" y="8483"/>
                  <a:pt x="103919" y="4539"/>
                </a:cubicBezTo>
                <a:cubicBezTo>
                  <a:pt x="99752" y="633"/>
                  <a:pt x="96887" y="0"/>
                  <a:pt x="95399" y="0"/>
                </a:cubicBezTo>
                <a:cubicBezTo>
                  <a:pt x="93911" y="0"/>
                  <a:pt x="91046" y="633"/>
                  <a:pt x="86878" y="4539"/>
                </a:cubicBezTo>
                <a:cubicBezTo>
                  <a:pt x="82637" y="8483"/>
                  <a:pt x="78060" y="14957"/>
                  <a:pt x="73819" y="24036"/>
                </a:cubicBezTo>
                <a:cubicBezTo>
                  <a:pt x="66266" y="40221"/>
                  <a:pt x="60945" y="62322"/>
                  <a:pt x="59866" y="86320"/>
                </a:cubicBezTo>
                <a:close/>
                <a:moveTo>
                  <a:pt x="42007" y="86320"/>
                </a:moveTo>
                <a:cubicBezTo>
                  <a:pt x="43309" y="54471"/>
                  <a:pt x="51532" y="24892"/>
                  <a:pt x="63550" y="5469"/>
                </a:cubicBezTo>
                <a:cubicBezTo>
                  <a:pt x="29282" y="17599"/>
                  <a:pt x="4056" y="48816"/>
                  <a:pt x="558" y="86320"/>
                </a:cubicBezTo>
                <a:lnTo>
                  <a:pt x="42007" y="86320"/>
                </a:lnTo>
                <a:close/>
                <a:moveTo>
                  <a:pt x="558" y="104180"/>
                </a:moveTo>
                <a:cubicBezTo>
                  <a:pt x="4056" y="141684"/>
                  <a:pt x="29282" y="172901"/>
                  <a:pt x="63550" y="185031"/>
                </a:cubicBezTo>
                <a:cubicBezTo>
                  <a:pt x="51532" y="165608"/>
                  <a:pt x="43309" y="136029"/>
                  <a:pt x="42007" y="104180"/>
                </a:cubicBezTo>
                <a:lnTo>
                  <a:pt x="558" y="104180"/>
                </a:lnTo>
                <a:close/>
                <a:moveTo>
                  <a:pt x="148791" y="104180"/>
                </a:moveTo>
                <a:cubicBezTo>
                  <a:pt x="147489" y="136029"/>
                  <a:pt x="139266" y="165608"/>
                  <a:pt x="127248" y="185031"/>
                </a:cubicBezTo>
                <a:cubicBezTo>
                  <a:pt x="161516" y="172864"/>
                  <a:pt x="186742" y="141684"/>
                  <a:pt x="190240" y="104180"/>
                </a:cubicBezTo>
                <a:lnTo>
                  <a:pt x="148791" y="104180"/>
                </a:lnTo>
                <a:close/>
                <a:moveTo>
                  <a:pt x="190240" y="86320"/>
                </a:moveTo>
                <a:cubicBezTo>
                  <a:pt x="186742" y="48816"/>
                  <a:pt x="161516" y="17599"/>
                  <a:pt x="127248" y="5469"/>
                </a:cubicBezTo>
                <a:cubicBezTo>
                  <a:pt x="139266" y="24892"/>
                  <a:pt x="147489" y="54471"/>
                  <a:pt x="148791" y="86320"/>
                </a:cubicBezTo>
                <a:lnTo>
                  <a:pt x="190240" y="86320"/>
                </a:lnTo>
                <a:close/>
              </a:path>
            </a:pathLst>
          </a:custGeom>
          <a:solidFill>
            <a:srgbClr val="0A84FF"/>
          </a:solidFill>
          <a:ln/>
        </p:spPr>
      </p:sp>
      <p:sp>
        <p:nvSpPr>
          <p:cNvPr id="32" name="Text 30"/>
          <p:cNvSpPr/>
          <p:nvPr/>
        </p:nvSpPr>
        <p:spPr>
          <a:xfrm>
            <a:off x="6715125" y="1485900"/>
            <a:ext cx="4962525" cy="266700"/>
          </a:xfrm>
          <a:prstGeom prst="rect">
            <a:avLst/>
          </a:prstGeom>
          <a:noFill/>
          <a:ln/>
        </p:spPr>
        <p:txBody>
          <a:bodyPr wrap="square" lIns="0" tIns="0" rIns="0" bIns="0" rtlCol="0" anchor="ctr"/>
          <a:lstStyle/>
          <a:p>
            <a:pPr>
              <a:lnSpc>
                <a:spcPct val="120000"/>
              </a:lnSpc>
            </a:pPr>
            <a:r>
              <a:rPr lang="en-US" sz="1500" b="1" dirty="0">
                <a:solidFill>
                  <a:srgbClr val="0A84FF"/>
                </a:solidFill>
                <a:latin typeface="Liter" pitchFamily="34" charset="0"/>
                <a:ea typeface="Liter" pitchFamily="34" charset="-122"/>
                <a:cs typeface="Liter" pitchFamily="34" charset="-120"/>
              </a:rPr>
              <a:t>Websites</a:t>
            </a:r>
            <a:endParaRPr lang="en-US" sz="1600" dirty="0"/>
          </a:p>
        </p:txBody>
      </p:sp>
      <p:sp>
        <p:nvSpPr>
          <p:cNvPr id="33" name="Shape 31"/>
          <p:cNvSpPr/>
          <p:nvPr/>
        </p:nvSpPr>
        <p:spPr>
          <a:xfrm>
            <a:off x="6477000" y="1924050"/>
            <a:ext cx="304800" cy="304800"/>
          </a:xfrm>
          <a:prstGeom prst="roundRect">
            <a:avLst>
              <a:gd name="adj" fmla="val 25000"/>
            </a:avLst>
          </a:prstGeom>
          <a:solidFill>
            <a:srgbClr val="0A84FF"/>
          </a:solidFill>
          <a:ln/>
        </p:spPr>
      </p:sp>
      <p:sp>
        <p:nvSpPr>
          <p:cNvPr id="34" name="Shape 32"/>
          <p:cNvSpPr/>
          <p:nvPr/>
        </p:nvSpPr>
        <p:spPr>
          <a:xfrm>
            <a:off x="6565106" y="2009775"/>
            <a:ext cx="133350" cy="133350"/>
          </a:xfrm>
          <a:custGeom>
            <a:avLst/>
            <a:gdLst/>
            <a:ahLst/>
            <a:cxnLst/>
            <a:rect l="l" t="t" r="r" b="b"/>
            <a:pathLst>
              <a:path w="133350" h="133350">
                <a:moveTo>
                  <a:pt x="17164" y="59513"/>
                </a:moveTo>
                <a:cubicBezTo>
                  <a:pt x="20628" y="35291"/>
                  <a:pt x="41490" y="16669"/>
                  <a:pt x="66675" y="16669"/>
                </a:cubicBezTo>
                <a:cubicBezTo>
                  <a:pt x="80479" y="16669"/>
                  <a:pt x="92980" y="22268"/>
                  <a:pt x="102044" y="31306"/>
                </a:cubicBezTo>
                <a:cubicBezTo>
                  <a:pt x="102096" y="31358"/>
                  <a:pt x="102148" y="31410"/>
                  <a:pt x="102200" y="31462"/>
                </a:cubicBezTo>
                <a:lnTo>
                  <a:pt x="104180" y="33337"/>
                </a:lnTo>
                <a:lnTo>
                  <a:pt x="91704" y="33337"/>
                </a:lnTo>
                <a:cubicBezTo>
                  <a:pt x="87094" y="33337"/>
                  <a:pt x="83370" y="37062"/>
                  <a:pt x="83370" y="41672"/>
                </a:cubicBezTo>
                <a:cubicBezTo>
                  <a:pt x="83370" y="46282"/>
                  <a:pt x="87094" y="50006"/>
                  <a:pt x="91704" y="50006"/>
                </a:cubicBezTo>
                <a:lnTo>
                  <a:pt x="125042" y="50006"/>
                </a:lnTo>
                <a:cubicBezTo>
                  <a:pt x="129652" y="50006"/>
                  <a:pt x="133376" y="46282"/>
                  <a:pt x="133376" y="41672"/>
                </a:cubicBezTo>
                <a:lnTo>
                  <a:pt x="133376" y="8334"/>
                </a:lnTo>
                <a:cubicBezTo>
                  <a:pt x="133376" y="3724"/>
                  <a:pt x="129652" y="0"/>
                  <a:pt x="125042" y="0"/>
                </a:cubicBezTo>
                <a:cubicBezTo>
                  <a:pt x="120432" y="0"/>
                  <a:pt x="116707" y="3724"/>
                  <a:pt x="116707" y="8334"/>
                </a:cubicBezTo>
                <a:lnTo>
                  <a:pt x="116707" y="22242"/>
                </a:lnTo>
                <a:lnTo>
                  <a:pt x="113764" y="19456"/>
                </a:lnTo>
                <a:cubicBezTo>
                  <a:pt x="101705" y="7449"/>
                  <a:pt x="85037" y="0"/>
                  <a:pt x="66675" y="0"/>
                </a:cubicBezTo>
                <a:cubicBezTo>
                  <a:pt x="33077" y="0"/>
                  <a:pt x="5287" y="24847"/>
                  <a:pt x="677" y="57169"/>
                </a:cubicBezTo>
                <a:cubicBezTo>
                  <a:pt x="26" y="61726"/>
                  <a:pt x="3177" y="65946"/>
                  <a:pt x="7735" y="66597"/>
                </a:cubicBezTo>
                <a:cubicBezTo>
                  <a:pt x="12293" y="67248"/>
                  <a:pt x="16512" y="64071"/>
                  <a:pt x="17164" y="59539"/>
                </a:cubicBezTo>
                <a:close/>
                <a:moveTo>
                  <a:pt x="132673" y="76181"/>
                </a:moveTo>
                <a:cubicBezTo>
                  <a:pt x="133324" y="71624"/>
                  <a:pt x="130146" y="67404"/>
                  <a:pt x="125615" y="66753"/>
                </a:cubicBezTo>
                <a:cubicBezTo>
                  <a:pt x="121083" y="66102"/>
                  <a:pt x="116838" y="69279"/>
                  <a:pt x="116186" y="73811"/>
                </a:cubicBezTo>
                <a:cubicBezTo>
                  <a:pt x="112722" y="98033"/>
                  <a:pt x="91860" y="116655"/>
                  <a:pt x="66675" y="116655"/>
                </a:cubicBezTo>
                <a:cubicBezTo>
                  <a:pt x="52871" y="116655"/>
                  <a:pt x="40370" y="111056"/>
                  <a:pt x="31306" y="102018"/>
                </a:cubicBezTo>
                <a:cubicBezTo>
                  <a:pt x="31254" y="101966"/>
                  <a:pt x="31202" y="101914"/>
                  <a:pt x="31150" y="101862"/>
                </a:cubicBezTo>
                <a:lnTo>
                  <a:pt x="29170" y="99986"/>
                </a:lnTo>
                <a:lnTo>
                  <a:pt x="41646" y="99986"/>
                </a:lnTo>
                <a:cubicBezTo>
                  <a:pt x="46256" y="99986"/>
                  <a:pt x="49980" y="96262"/>
                  <a:pt x="49980" y="91652"/>
                </a:cubicBezTo>
                <a:cubicBezTo>
                  <a:pt x="49980" y="87042"/>
                  <a:pt x="46256" y="83318"/>
                  <a:pt x="41646" y="83318"/>
                </a:cubicBezTo>
                <a:lnTo>
                  <a:pt x="8334" y="83344"/>
                </a:lnTo>
                <a:cubicBezTo>
                  <a:pt x="6121" y="83344"/>
                  <a:pt x="3985" y="84229"/>
                  <a:pt x="2422" y="85818"/>
                </a:cubicBezTo>
                <a:cubicBezTo>
                  <a:pt x="859" y="87407"/>
                  <a:pt x="-26" y="89516"/>
                  <a:pt x="0" y="91756"/>
                </a:cubicBezTo>
                <a:lnTo>
                  <a:pt x="260" y="124833"/>
                </a:lnTo>
                <a:cubicBezTo>
                  <a:pt x="286" y="129443"/>
                  <a:pt x="4063" y="133142"/>
                  <a:pt x="8673" y="133090"/>
                </a:cubicBezTo>
                <a:cubicBezTo>
                  <a:pt x="13283" y="133037"/>
                  <a:pt x="16981" y="129287"/>
                  <a:pt x="16929" y="124677"/>
                </a:cubicBezTo>
                <a:lnTo>
                  <a:pt x="16825" y="111264"/>
                </a:lnTo>
                <a:lnTo>
                  <a:pt x="19612" y="113894"/>
                </a:lnTo>
                <a:cubicBezTo>
                  <a:pt x="31671" y="125901"/>
                  <a:pt x="48313" y="133350"/>
                  <a:pt x="66675" y="133350"/>
                </a:cubicBezTo>
                <a:cubicBezTo>
                  <a:pt x="100273" y="133350"/>
                  <a:pt x="128063" y="108503"/>
                  <a:pt x="132673" y="76181"/>
                </a:cubicBezTo>
                <a:close/>
              </a:path>
            </a:pathLst>
          </a:custGeom>
          <a:solidFill>
            <a:srgbClr val="FFFFFF"/>
          </a:solidFill>
          <a:ln/>
        </p:spPr>
      </p:sp>
      <p:sp>
        <p:nvSpPr>
          <p:cNvPr id="35" name="Text 33"/>
          <p:cNvSpPr/>
          <p:nvPr/>
        </p:nvSpPr>
        <p:spPr>
          <a:xfrm>
            <a:off x="6896100" y="1905000"/>
            <a:ext cx="2295525" cy="228600"/>
          </a:xfrm>
          <a:prstGeom prst="rect">
            <a:avLst/>
          </a:prstGeom>
          <a:noFill/>
          <a:ln/>
        </p:spPr>
        <p:txBody>
          <a:bodyPr wrap="square" lIns="0" tIns="0" rIns="0" bIns="0" rtlCol="0" anchor="ctr"/>
          <a:lstStyle/>
          <a:p>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Open in browser</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(Chrome, Safari)</a:t>
            </a:r>
            <a:endParaRPr lang="en-US" sz="1600" dirty="0"/>
          </a:p>
        </p:txBody>
      </p:sp>
      <p:sp>
        <p:nvSpPr>
          <p:cNvPr id="36" name="Shape 34"/>
          <p:cNvSpPr/>
          <p:nvPr/>
        </p:nvSpPr>
        <p:spPr>
          <a:xfrm>
            <a:off x="6477000" y="2362200"/>
            <a:ext cx="304800" cy="304800"/>
          </a:xfrm>
          <a:prstGeom prst="roundRect">
            <a:avLst>
              <a:gd name="adj" fmla="val 25000"/>
            </a:avLst>
          </a:prstGeom>
          <a:solidFill>
            <a:srgbClr val="0A84FF"/>
          </a:solidFill>
          <a:ln/>
        </p:spPr>
      </p:sp>
      <p:sp>
        <p:nvSpPr>
          <p:cNvPr id="37" name="Shape 35"/>
          <p:cNvSpPr/>
          <p:nvPr/>
        </p:nvSpPr>
        <p:spPr>
          <a:xfrm>
            <a:off x="6556772" y="2447925"/>
            <a:ext cx="150019" cy="133350"/>
          </a:xfrm>
          <a:custGeom>
            <a:avLst/>
            <a:gdLst/>
            <a:ahLst/>
            <a:cxnLst/>
            <a:rect l="l" t="t" r="r" b="b"/>
            <a:pathLst>
              <a:path w="150019" h="133350">
                <a:moveTo>
                  <a:pt x="75009" y="25003"/>
                </a:moveTo>
                <a:cubicBezTo>
                  <a:pt x="51335" y="25003"/>
                  <a:pt x="29900" y="34379"/>
                  <a:pt x="14142" y="49642"/>
                </a:cubicBezTo>
                <a:cubicBezTo>
                  <a:pt x="10835" y="52845"/>
                  <a:pt x="5548" y="52767"/>
                  <a:pt x="2370" y="49459"/>
                </a:cubicBezTo>
                <a:cubicBezTo>
                  <a:pt x="-807" y="46152"/>
                  <a:pt x="-755" y="40864"/>
                  <a:pt x="2552" y="37687"/>
                </a:cubicBezTo>
                <a:cubicBezTo>
                  <a:pt x="21279" y="19508"/>
                  <a:pt x="46855" y="8334"/>
                  <a:pt x="75009" y="8334"/>
                </a:cubicBezTo>
                <a:cubicBezTo>
                  <a:pt x="103164" y="8334"/>
                  <a:pt x="128740" y="19508"/>
                  <a:pt x="147492" y="37687"/>
                </a:cubicBezTo>
                <a:cubicBezTo>
                  <a:pt x="150800" y="40891"/>
                  <a:pt x="150878" y="46178"/>
                  <a:pt x="147675" y="49459"/>
                </a:cubicBezTo>
                <a:cubicBezTo>
                  <a:pt x="144471" y="52741"/>
                  <a:pt x="139184" y="52845"/>
                  <a:pt x="135902" y="49642"/>
                </a:cubicBezTo>
                <a:cubicBezTo>
                  <a:pt x="120119" y="34379"/>
                  <a:pt x="98684" y="25003"/>
                  <a:pt x="75009" y="25003"/>
                </a:cubicBezTo>
                <a:close/>
                <a:moveTo>
                  <a:pt x="62508" y="112514"/>
                </a:moveTo>
                <a:cubicBezTo>
                  <a:pt x="62508" y="105614"/>
                  <a:pt x="68110" y="100013"/>
                  <a:pt x="75009" y="100013"/>
                </a:cubicBezTo>
                <a:cubicBezTo>
                  <a:pt x="81909" y="100013"/>
                  <a:pt x="87511" y="105614"/>
                  <a:pt x="87511" y="112514"/>
                </a:cubicBezTo>
                <a:cubicBezTo>
                  <a:pt x="87511" y="119414"/>
                  <a:pt x="81909" y="125016"/>
                  <a:pt x="75009" y="125016"/>
                </a:cubicBezTo>
                <a:cubicBezTo>
                  <a:pt x="68110" y="125016"/>
                  <a:pt x="62508" y="119414"/>
                  <a:pt x="62508" y="112514"/>
                </a:cubicBezTo>
                <a:close/>
                <a:moveTo>
                  <a:pt x="43755" y="84959"/>
                </a:moveTo>
                <a:cubicBezTo>
                  <a:pt x="40708" y="88423"/>
                  <a:pt x="35447" y="88735"/>
                  <a:pt x="31983" y="85688"/>
                </a:cubicBezTo>
                <a:cubicBezTo>
                  <a:pt x="28519" y="82641"/>
                  <a:pt x="28207" y="77379"/>
                  <a:pt x="31254" y="73915"/>
                </a:cubicBezTo>
                <a:cubicBezTo>
                  <a:pt x="41932" y="61831"/>
                  <a:pt x="57585" y="54173"/>
                  <a:pt x="75009" y="54173"/>
                </a:cubicBezTo>
                <a:cubicBezTo>
                  <a:pt x="92433" y="54173"/>
                  <a:pt x="108086" y="61831"/>
                  <a:pt x="118765" y="73915"/>
                </a:cubicBezTo>
                <a:cubicBezTo>
                  <a:pt x="121812" y="77379"/>
                  <a:pt x="121474" y="82641"/>
                  <a:pt x="118036" y="85688"/>
                </a:cubicBezTo>
                <a:cubicBezTo>
                  <a:pt x="114598" y="88735"/>
                  <a:pt x="109311" y="88396"/>
                  <a:pt x="106263" y="84959"/>
                </a:cubicBezTo>
                <a:cubicBezTo>
                  <a:pt x="98606" y="76286"/>
                  <a:pt x="87459" y="70842"/>
                  <a:pt x="75009" y="70842"/>
                </a:cubicBezTo>
                <a:cubicBezTo>
                  <a:pt x="62560" y="70842"/>
                  <a:pt x="51413" y="76286"/>
                  <a:pt x="43755" y="84959"/>
                </a:cubicBezTo>
                <a:close/>
              </a:path>
            </a:pathLst>
          </a:custGeom>
          <a:solidFill>
            <a:srgbClr val="FFFFFF"/>
          </a:solidFill>
          <a:ln/>
        </p:spPr>
      </p:sp>
      <p:sp>
        <p:nvSpPr>
          <p:cNvPr id="38" name="Text 36"/>
          <p:cNvSpPr/>
          <p:nvPr/>
        </p:nvSpPr>
        <p:spPr>
          <a:xfrm>
            <a:off x="6896100" y="2343150"/>
            <a:ext cx="1743075" cy="228600"/>
          </a:xfrm>
          <a:prstGeom prst="rect">
            <a:avLst/>
          </a:prstGeom>
          <a:noFill/>
          <a:ln/>
        </p:spPr>
        <p:txBody>
          <a:bodyPr wrap="square" lIns="0" tIns="0" rIns="0" bIns="0" rtlCol="0" anchor="ctr"/>
          <a:lstStyle/>
          <a:p>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Need internet</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connection</a:t>
            </a:r>
            <a:endParaRPr lang="en-US" sz="1600" dirty="0"/>
          </a:p>
        </p:txBody>
      </p:sp>
      <p:sp>
        <p:nvSpPr>
          <p:cNvPr id="39" name="Shape 37"/>
          <p:cNvSpPr/>
          <p:nvPr/>
        </p:nvSpPr>
        <p:spPr>
          <a:xfrm>
            <a:off x="6477000" y="2800350"/>
            <a:ext cx="304800" cy="304800"/>
          </a:xfrm>
          <a:prstGeom prst="roundRect">
            <a:avLst>
              <a:gd name="adj" fmla="val 25000"/>
            </a:avLst>
          </a:prstGeom>
          <a:solidFill>
            <a:srgbClr val="0A84FF"/>
          </a:solidFill>
          <a:ln/>
        </p:spPr>
      </p:sp>
      <p:sp>
        <p:nvSpPr>
          <p:cNvPr id="40" name="Shape 38"/>
          <p:cNvSpPr/>
          <p:nvPr/>
        </p:nvSpPr>
        <p:spPr>
          <a:xfrm>
            <a:off x="6565106" y="2886075"/>
            <a:ext cx="133350" cy="133350"/>
          </a:xfrm>
          <a:custGeom>
            <a:avLst/>
            <a:gdLst/>
            <a:ahLst/>
            <a:cxnLst/>
            <a:rect l="l" t="t" r="r" b="b"/>
            <a:pathLst>
              <a:path w="133350" h="133350">
                <a:moveTo>
                  <a:pt x="0" y="66675"/>
                </a:moveTo>
                <a:cubicBezTo>
                  <a:pt x="0" y="29876"/>
                  <a:pt x="29876" y="0"/>
                  <a:pt x="66675" y="0"/>
                </a:cubicBezTo>
                <a:cubicBezTo>
                  <a:pt x="103474" y="0"/>
                  <a:pt x="133350" y="29876"/>
                  <a:pt x="133350" y="66675"/>
                </a:cubicBezTo>
                <a:cubicBezTo>
                  <a:pt x="133350" y="103474"/>
                  <a:pt x="103474" y="133350"/>
                  <a:pt x="66675" y="133350"/>
                </a:cubicBezTo>
                <a:cubicBezTo>
                  <a:pt x="29876" y="133350"/>
                  <a:pt x="0" y="103474"/>
                  <a:pt x="0" y="66675"/>
                </a:cubicBezTo>
                <a:close/>
                <a:moveTo>
                  <a:pt x="75009" y="25003"/>
                </a:moveTo>
                <a:cubicBezTo>
                  <a:pt x="75009" y="20403"/>
                  <a:pt x="71275" y="16669"/>
                  <a:pt x="66675" y="16669"/>
                </a:cubicBezTo>
                <a:cubicBezTo>
                  <a:pt x="62075" y="16669"/>
                  <a:pt x="58341" y="20403"/>
                  <a:pt x="58341" y="25003"/>
                </a:cubicBezTo>
                <a:cubicBezTo>
                  <a:pt x="58341" y="29603"/>
                  <a:pt x="62075" y="33337"/>
                  <a:pt x="66675" y="33337"/>
                </a:cubicBezTo>
                <a:cubicBezTo>
                  <a:pt x="71275" y="33337"/>
                  <a:pt x="75009" y="29603"/>
                  <a:pt x="75009" y="25003"/>
                </a:cubicBezTo>
                <a:close/>
                <a:moveTo>
                  <a:pt x="66675" y="108347"/>
                </a:moveTo>
                <a:cubicBezTo>
                  <a:pt x="75869" y="108347"/>
                  <a:pt x="83344" y="100872"/>
                  <a:pt x="83344" y="91678"/>
                </a:cubicBezTo>
                <a:cubicBezTo>
                  <a:pt x="83344" y="87459"/>
                  <a:pt x="81781" y="83578"/>
                  <a:pt x="79177" y="80661"/>
                </a:cubicBezTo>
                <a:lnTo>
                  <a:pt x="97278" y="44485"/>
                </a:lnTo>
                <a:cubicBezTo>
                  <a:pt x="98814" y="41385"/>
                  <a:pt x="97564" y="37635"/>
                  <a:pt x="94491" y="36098"/>
                </a:cubicBezTo>
                <a:cubicBezTo>
                  <a:pt x="91418" y="34562"/>
                  <a:pt x="87641" y="35812"/>
                  <a:pt x="86105" y="38885"/>
                </a:cubicBezTo>
                <a:lnTo>
                  <a:pt x="68003" y="75061"/>
                </a:lnTo>
                <a:cubicBezTo>
                  <a:pt x="67561" y="75035"/>
                  <a:pt x="67118" y="75009"/>
                  <a:pt x="66675" y="75009"/>
                </a:cubicBezTo>
                <a:cubicBezTo>
                  <a:pt x="57481" y="75009"/>
                  <a:pt x="50006" y="82484"/>
                  <a:pt x="50006" y="91678"/>
                </a:cubicBezTo>
                <a:cubicBezTo>
                  <a:pt x="50006" y="100872"/>
                  <a:pt x="57481" y="108347"/>
                  <a:pt x="66675" y="108347"/>
                </a:cubicBezTo>
                <a:close/>
                <a:moveTo>
                  <a:pt x="45839" y="37505"/>
                </a:moveTo>
                <a:cubicBezTo>
                  <a:pt x="45839" y="32905"/>
                  <a:pt x="42105" y="29170"/>
                  <a:pt x="37505" y="29170"/>
                </a:cubicBezTo>
                <a:cubicBezTo>
                  <a:pt x="32905" y="29170"/>
                  <a:pt x="29170" y="32905"/>
                  <a:pt x="29170" y="37505"/>
                </a:cubicBezTo>
                <a:cubicBezTo>
                  <a:pt x="29170" y="42105"/>
                  <a:pt x="32905" y="45839"/>
                  <a:pt x="37505" y="45839"/>
                </a:cubicBezTo>
                <a:cubicBezTo>
                  <a:pt x="42105" y="45839"/>
                  <a:pt x="45839" y="42105"/>
                  <a:pt x="45839" y="37505"/>
                </a:cubicBezTo>
                <a:close/>
                <a:moveTo>
                  <a:pt x="25003" y="75009"/>
                </a:moveTo>
                <a:cubicBezTo>
                  <a:pt x="29603" y="75009"/>
                  <a:pt x="33337" y="71275"/>
                  <a:pt x="33337" y="66675"/>
                </a:cubicBezTo>
                <a:cubicBezTo>
                  <a:pt x="33337" y="62075"/>
                  <a:pt x="29603" y="58341"/>
                  <a:pt x="25003" y="58341"/>
                </a:cubicBezTo>
                <a:cubicBezTo>
                  <a:pt x="20403" y="58341"/>
                  <a:pt x="16669" y="62075"/>
                  <a:pt x="16669" y="66675"/>
                </a:cubicBezTo>
                <a:cubicBezTo>
                  <a:pt x="16669" y="71275"/>
                  <a:pt x="20403" y="75009"/>
                  <a:pt x="25003" y="75009"/>
                </a:cubicBezTo>
                <a:close/>
                <a:moveTo>
                  <a:pt x="116681" y="66675"/>
                </a:moveTo>
                <a:cubicBezTo>
                  <a:pt x="116681" y="62075"/>
                  <a:pt x="112947" y="58341"/>
                  <a:pt x="108347" y="58341"/>
                </a:cubicBezTo>
                <a:cubicBezTo>
                  <a:pt x="103747" y="58341"/>
                  <a:pt x="100013" y="62075"/>
                  <a:pt x="100013" y="66675"/>
                </a:cubicBezTo>
                <a:cubicBezTo>
                  <a:pt x="100013" y="71275"/>
                  <a:pt x="103747" y="75009"/>
                  <a:pt x="108347" y="75009"/>
                </a:cubicBezTo>
                <a:cubicBezTo>
                  <a:pt x="112947" y="75009"/>
                  <a:pt x="116681" y="71275"/>
                  <a:pt x="116681" y="66675"/>
                </a:cubicBezTo>
                <a:close/>
              </a:path>
            </a:pathLst>
          </a:custGeom>
          <a:solidFill>
            <a:srgbClr val="FFFFFF"/>
          </a:solidFill>
          <a:ln/>
        </p:spPr>
      </p:sp>
      <p:sp>
        <p:nvSpPr>
          <p:cNvPr id="41" name="Text 39"/>
          <p:cNvSpPr/>
          <p:nvPr/>
        </p:nvSpPr>
        <p:spPr>
          <a:xfrm>
            <a:off x="6896100" y="2781300"/>
            <a:ext cx="1743075" cy="228600"/>
          </a:xfrm>
          <a:prstGeom prst="rect">
            <a:avLst/>
          </a:prstGeom>
          <a:noFill/>
          <a:ln/>
        </p:spPr>
        <p:txBody>
          <a:bodyPr wrap="square" lIns="0" tIns="0" rIns="0" bIns="0" rtlCol="0" anchor="ctr"/>
          <a:lstStyle/>
          <a:p>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May be slower</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on mobile</a:t>
            </a:r>
            <a:endParaRPr lang="en-US" sz="1600" dirty="0"/>
          </a:p>
        </p:txBody>
      </p:sp>
      <p:sp>
        <p:nvSpPr>
          <p:cNvPr id="42" name="Shape 40"/>
          <p:cNvSpPr/>
          <p:nvPr/>
        </p:nvSpPr>
        <p:spPr>
          <a:xfrm>
            <a:off x="6477000" y="3238500"/>
            <a:ext cx="304800" cy="304800"/>
          </a:xfrm>
          <a:prstGeom prst="roundRect">
            <a:avLst>
              <a:gd name="adj" fmla="val 25000"/>
            </a:avLst>
          </a:prstGeom>
          <a:solidFill>
            <a:srgbClr val="0A84FF"/>
          </a:solidFill>
          <a:ln/>
        </p:spPr>
      </p:sp>
      <p:sp>
        <p:nvSpPr>
          <p:cNvPr id="43" name="Shape 41"/>
          <p:cNvSpPr/>
          <p:nvPr/>
        </p:nvSpPr>
        <p:spPr>
          <a:xfrm>
            <a:off x="6581775" y="3324225"/>
            <a:ext cx="100013" cy="133350"/>
          </a:xfrm>
          <a:custGeom>
            <a:avLst/>
            <a:gdLst/>
            <a:ahLst/>
            <a:cxnLst/>
            <a:rect l="l" t="t" r="r" b="b"/>
            <a:pathLst>
              <a:path w="100013" h="133350">
                <a:moveTo>
                  <a:pt x="33337" y="25003"/>
                </a:moveTo>
                <a:lnTo>
                  <a:pt x="33337" y="41672"/>
                </a:lnTo>
                <a:lnTo>
                  <a:pt x="66675" y="41672"/>
                </a:lnTo>
                <a:lnTo>
                  <a:pt x="66675" y="25003"/>
                </a:lnTo>
                <a:cubicBezTo>
                  <a:pt x="66675" y="15809"/>
                  <a:pt x="59200" y="8334"/>
                  <a:pt x="50006" y="8334"/>
                </a:cubicBezTo>
                <a:cubicBezTo>
                  <a:pt x="40812" y="8334"/>
                  <a:pt x="33337" y="15809"/>
                  <a:pt x="33337" y="25003"/>
                </a:cubicBezTo>
                <a:close/>
                <a:moveTo>
                  <a:pt x="16669" y="41672"/>
                </a:moveTo>
                <a:lnTo>
                  <a:pt x="16669" y="25003"/>
                </a:lnTo>
                <a:cubicBezTo>
                  <a:pt x="16669" y="6589"/>
                  <a:pt x="31592" y="-8334"/>
                  <a:pt x="50006" y="-8334"/>
                </a:cubicBezTo>
                <a:cubicBezTo>
                  <a:pt x="68420" y="-8334"/>
                  <a:pt x="83344" y="6589"/>
                  <a:pt x="83344" y="25003"/>
                </a:cubicBezTo>
                <a:lnTo>
                  <a:pt x="83344" y="41672"/>
                </a:lnTo>
                <a:cubicBezTo>
                  <a:pt x="92538" y="41672"/>
                  <a:pt x="100013" y="49147"/>
                  <a:pt x="100013" y="58341"/>
                </a:cubicBezTo>
                <a:lnTo>
                  <a:pt x="100013" y="116681"/>
                </a:lnTo>
                <a:cubicBezTo>
                  <a:pt x="100013" y="125875"/>
                  <a:pt x="92538" y="133350"/>
                  <a:pt x="83344" y="133350"/>
                </a:cubicBezTo>
                <a:lnTo>
                  <a:pt x="16669" y="133350"/>
                </a:lnTo>
                <a:cubicBezTo>
                  <a:pt x="7475" y="133350"/>
                  <a:pt x="0" y="125875"/>
                  <a:pt x="0" y="116681"/>
                </a:cubicBezTo>
                <a:lnTo>
                  <a:pt x="0" y="58341"/>
                </a:lnTo>
                <a:cubicBezTo>
                  <a:pt x="0" y="49147"/>
                  <a:pt x="7475" y="41672"/>
                  <a:pt x="16669" y="41672"/>
                </a:cubicBezTo>
                <a:close/>
              </a:path>
            </a:pathLst>
          </a:custGeom>
          <a:solidFill>
            <a:srgbClr val="FFFFFF"/>
          </a:solidFill>
          <a:ln/>
        </p:spPr>
      </p:sp>
      <p:sp>
        <p:nvSpPr>
          <p:cNvPr id="44" name="Text 42"/>
          <p:cNvSpPr/>
          <p:nvPr/>
        </p:nvSpPr>
        <p:spPr>
          <a:xfrm>
            <a:off x="6896100" y="3249930"/>
            <a:ext cx="1515666" cy="167640"/>
          </a:xfrm>
          <a:prstGeom prst="rect">
            <a:avLst/>
          </a:prstGeom>
          <a:noFill/>
          <a:ln/>
        </p:spPr>
        <p:txBody>
          <a:bodyPr wrap="square" lIns="0" tIns="0" rIns="0" bIns="0" rtlCol="0" anchor="ctr"/>
          <a:lstStyle/>
          <a:p>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Limited device access</a:t>
            </a:r>
            <a:endParaRPr lang="en-US" sz="1600" dirty="0"/>
          </a:p>
        </p:txBody>
      </p:sp>
      <p:sp>
        <p:nvSpPr>
          <p:cNvPr id="45" name="Shape 43"/>
          <p:cNvSpPr/>
          <p:nvPr/>
        </p:nvSpPr>
        <p:spPr>
          <a:xfrm>
            <a:off x="6477000" y="3676650"/>
            <a:ext cx="304800" cy="304800"/>
          </a:xfrm>
          <a:prstGeom prst="roundRect">
            <a:avLst>
              <a:gd name="adj" fmla="val 25000"/>
            </a:avLst>
          </a:prstGeom>
          <a:solidFill>
            <a:srgbClr val="0A84FF"/>
          </a:solidFill>
          <a:ln/>
        </p:spPr>
      </p:sp>
      <p:sp>
        <p:nvSpPr>
          <p:cNvPr id="46" name="Shape 44"/>
          <p:cNvSpPr/>
          <p:nvPr/>
        </p:nvSpPr>
        <p:spPr>
          <a:xfrm>
            <a:off x="6565106" y="3762375"/>
            <a:ext cx="133350" cy="133350"/>
          </a:xfrm>
          <a:custGeom>
            <a:avLst/>
            <a:gdLst/>
            <a:ahLst/>
            <a:cxnLst/>
            <a:rect l="l" t="t" r="r" b="b"/>
            <a:pathLst>
              <a:path w="133350" h="133350">
                <a:moveTo>
                  <a:pt x="17164" y="59513"/>
                </a:moveTo>
                <a:cubicBezTo>
                  <a:pt x="20628" y="35291"/>
                  <a:pt x="41490" y="16669"/>
                  <a:pt x="66675" y="16669"/>
                </a:cubicBezTo>
                <a:cubicBezTo>
                  <a:pt x="80479" y="16669"/>
                  <a:pt x="92980" y="22268"/>
                  <a:pt x="102044" y="31306"/>
                </a:cubicBezTo>
                <a:cubicBezTo>
                  <a:pt x="102096" y="31358"/>
                  <a:pt x="102148" y="31410"/>
                  <a:pt x="102200" y="31462"/>
                </a:cubicBezTo>
                <a:lnTo>
                  <a:pt x="104180" y="33337"/>
                </a:lnTo>
                <a:lnTo>
                  <a:pt x="91704" y="33337"/>
                </a:lnTo>
                <a:cubicBezTo>
                  <a:pt x="87094" y="33337"/>
                  <a:pt x="83370" y="37062"/>
                  <a:pt x="83370" y="41672"/>
                </a:cubicBezTo>
                <a:cubicBezTo>
                  <a:pt x="83370" y="46282"/>
                  <a:pt x="87094" y="50006"/>
                  <a:pt x="91704" y="50006"/>
                </a:cubicBezTo>
                <a:lnTo>
                  <a:pt x="125042" y="50006"/>
                </a:lnTo>
                <a:cubicBezTo>
                  <a:pt x="129652" y="50006"/>
                  <a:pt x="133376" y="46282"/>
                  <a:pt x="133376" y="41672"/>
                </a:cubicBezTo>
                <a:lnTo>
                  <a:pt x="133376" y="8334"/>
                </a:lnTo>
                <a:cubicBezTo>
                  <a:pt x="133376" y="3724"/>
                  <a:pt x="129652" y="0"/>
                  <a:pt x="125042" y="0"/>
                </a:cubicBezTo>
                <a:cubicBezTo>
                  <a:pt x="120432" y="0"/>
                  <a:pt x="116707" y="3724"/>
                  <a:pt x="116707" y="8334"/>
                </a:cubicBezTo>
                <a:lnTo>
                  <a:pt x="116707" y="22242"/>
                </a:lnTo>
                <a:lnTo>
                  <a:pt x="113764" y="19456"/>
                </a:lnTo>
                <a:cubicBezTo>
                  <a:pt x="101705" y="7449"/>
                  <a:pt x="85037" y="0"/>
                  <a:pt x="66675" y="0"/>
                </a:cubicBezTo>
                <a:cubicBezTo>
                  <a:pt x="33077" y="0"/>
                  <a:pt x="5287" y="24847"/>
                  <a:pt x="677" y="57169"/>
                </a:cubicBezTo>
                <a:cubicBezTo>
                  <a:pt x="26" y="61726"/>
                  <a:pt x="3177" y="65946"/>
                  <a:pt x="7735" y="66597"/>
                </a:cubicBezTo>
                <a:cubicBezTo>
                  <a:pt x="12293" y="67248"/>
                  <a:pt x="16512" y="64071"/>
                  <a:pt x="17164" y="59539"/>
                </a:cubicBezTo>
                <a:close/>
                <a:moveTo>
                  <a:pt x="132673" y="76181"/>
                </a:moveTo>
                <a:cubicBezTo>
                  <a:pt x="133324" y="71624"/>
                  <a:pt x="130146" y="67404"/>
                  <a:pt x="125615" y="66753"/>
                </a:cubicBezTo>
                <a:cubicBezTo>
                  <a:pt x="121083" y="66102"/>
                  <a:pt x="116838" y="69279"/>
                  <a:pt x="116186" y="73811"/>
                </a:cubicBezTo>
                <a:cubicBezTo>
                  <a:pt x="112722" y="98033"/>
                  <a:pt x="91860" y="116655"/>
                  <a:pt x="66675" y="116655"/>
                </a:cubicBezTo>
                <a:cubicBezTo>
                  <a:pt x="52871" y="116655"/>
                  <a:pt x="40370" y="111056"/>
                  <a:pt x="31306" y="102018"/>
                </a:cubicBezTo>
                <a:cubicBezTo>
                  <a:pt x="31254" y="101966"/>
                  <a:pt x="31202" y="101914"/>
                  <a:pt x="31150" y="101862"/>
                </a:cubicBezTo>
                <a:lnTo>
                  <a:pt x="29170" y="99986"/>
                </a:lnTo>
                <a:lnTo>
                  <a:pt x="41646" y="99986"/>
                </a:lnTo>
                <a:cubicBezTo>
                  <a:pt x="46256" y="99986"/>
                  <a:pt x="49980" y="96262"/>
                  <a:pt x="49980" y="91652"/>
                </a:cubicBezTo>
                <a:cubicBezTo>
                  <a:pt x="49980" y="87042"/>
                  <a:pt x="46256" y="83318"/>
                  <a:pt x="41646" y="83318"/>
                </a:cubicBezTo>
                <a:lnTo>
                  <a:pt x="8334" y="83344"/>
                </a:lnTo>
                <a:cubicBezTo>
                  <a:pt x="6121" y="83344"/>
                  <a:pt x="3985" y="84229"/>
                  <a:pt x="2422" y="85818"/>
                </a:cubicBezTo>
                <a:cubicBezTo>
                  <a:pt x="859" y="87407"/>
                  <a:pt x="-26" y="89516"/>
                  <a:pt x="0" y="91756"/>
                </a:cubicBezTo>
                <a:lnTo>
                  <a:pt x="260" y="124833"/>
                </a:lnTo>
                <a:cubicBezTo>
                  <a:pt x="286" y="129443"/>
                  <a:pt x="4063" y="133142"/>
                  <a:pt x="8673" y="133090"/>
                </a:cubicBezTo>
                <a:cubicBezTo>
                  <a:pt x="13283" y="133037"/>
                  <a:pt x="16981" y="129287"/>
                  <a:pt x="16929" y="124677"/>
                </a:cubicBezTo>
                <a:lnTo>
                  <a:pt x="16825" y="111264"/>
                </a:lnTo>
                <a:lnTo>
                  <a:pt x="19612" y="113894"/>
                </a:lnTo>
                <a:cubicBezTo>
                  <a:pt x="31671" y="125901"/>
                  <a:pt x="48313" y="133350"/>
                  <a:pt x="66675" y="133350"/>
                </a:cubicBezTo>
                <a:cubicBezTo>
                  <a:pt x="100273" y="133350"/>
                  <a:pt x="128063" y="108503"/>
                  <a:pt x="132673" y="76181"/>
                </a:cubicBezTo>
                <a:close/>
              </a:path>
            </a:pathLst>
          </a:custGeom>
          <a:solidFill>
            <a:srgbClr val="FFFFFF"/>
          </a:solidFill>
          <a:ln/>
        </p:spPr>
      </p:sp>
      <p:sp>
        <p:nvSpPr>
          <p:cNvPr id="47" name="Text 45"/>
          <p:cNvSpPr/>
          <p:nvPr/>
        </p:nvSpPr>
        <p:spPr>
          <a:xfrm>
            <a:off x="6896100" y="3657600"/>
            <a:ext cx="2257425" cy="228600"/>
          </a:xfrm>
          <a:prstGeom prst="rect">
            <a:avLst/>
          </a:prstGeom>
          <a:noFill/>
          <a:ln/>
        </p:spPr>
        <p:txBody>
          <a:bodyPr wrap="square" lIns="0" tIns="0" rIns="0" bIns="0" rtlCol="0" anchor="ctr"/>
          <a:lstStyle/>
          <a:p>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Always up-to-date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automatically</a:t>
            </a:r>
            <a:endParaRPr lang="en-US" sz="1600" dirty="0"/>
          </a:p>
        </p:txBody>
      </p:sp>
      <p:sp>
        <p:nvSpPr>
          <p:cNvPr id="48" name="Shape 46"/>
          <p:cNvSpPr/>
          <p:nvPr/>
        </p:nvSpPr>
        <p:spPr>
          <a:xfrm>
            <a:off x="6210300" y="4972050"/>
            <a:ext cx="5600700" cy="1504950"/>
          </a:xfrm>
          <a:prstGeom prst="roundRect">
            <a:avLst>
              <a:gd name="adj" fmla="val 10127"/>
            </a:avLst>
          </a:prstGeom>
          <a:solidFill>
            <a:srgbClr val="2C2C2E"/>
          </a:solidFill>
          <a:ln/>
        </p:spPr>
      </p:sp>
      <p:sp>
        <p:nvSpPr>
          <p:cNvPr id="49" name="Shape 47"/>
          <p:cNvSpPr/>
          <p:nvPr/>
        </p:nvSpPr>
        <p:spPr>
          <a:xfrm>
            <a:off x="6446044" y="5210175"/>
            <a:ext cx="128588" cy="171450"/>
          </a:xfrm>
          <a:custGeom>
            <a:avLst/>
            <a:gdLst/>
            <a:ahLst/>
            <a:cxnLst/>
            <a:rect l="l" t="t" r="r" b="b"/>
            <a:pathLst>
              <a:path w="128588" h="171450">
                <a:moveTo>
                  <a:pt x="5358" y="21431"/>
                </a:moveTo>
                <a:cubicBezTo>
                  <a:pt x="5358" y="9611"/>
                  <a:pt x="14968" y="0"/>
                  <a:pt x="26789" y="0"/>
                </a:cubicBezTo>
                <a:lnTo>
                  <a:pt x="101798" y="0"/>
                </a:lnTo>
                <a:cubicBezTo>
                  <a:pt x="113619" y="0"/>
                  <a:pt x="123230" y="9611"/>
                  <a:pt x="123230" y="21431"/>
                </a:cubicBezTo>
                <a:lnTo>
                  <a:pt x="123230" y="150019"/>
                </a:lnTo>
                <a:cubicBezTo>
                  <a:pt x="123230" y="161839"/>
                  <a:pt x="113619" y="171450"/>
                  <a:pt x="101798" y="171450"/>
                </a:cubicBezTo>
                <a:lnTo>
                  <a:pt x="26789" y="171450"/>
                </a:lnTo>
                <a:cubicBezTo>
                  <a:pt x="14968" y="171450"/>
                  <a:pt x="5358" y="161839"/>
                  <a:pt x="5358" y="150019"/>
                </a:cubicBezTo>
                <a:lnTo>
                  <a:pt x="5358" y="21431"/>
                </a:lnTo>
                <a:close/>
                <a:moveTo>
                  <a:pt x="26789" y="21431"/>
                </a:moveTo>
                <a:lnTo>
                  <a:pt x="26789" y="123230"/>
                </a:lnTo>
                <a:lnTo>
                  <a:pt x="101798" y="123230"/>
                </a:lnTo>
                <a:lnTo>
                  <a:pt x="101798" y="21431"/>
                </a:lnTo>
                <a:lnTo>
                  <a:pt x="26789" y="21431"/>
                </a:lnTo>
                <a:close/>
                <a:moveTo>
                  <a:pt x="64294" y="158055"/>
                </a:moveTo>
                <a:cubicBezTo>
                  <a:pt x="70221" y="158055"/>
                  <a:pt x="75009" y="153267"/>
                  <a:pt x="75009" y="147340"/>
                </a:cubicBezTo>
                <a:cubicBezTo>
                  <a:pt x="75009" y="141413"/>
                  <a:pt x="70221" y="136624"/>
                  <a:pt x="64294" y="136624"/>
                </a:cubicBezTo>
                <a:cubicBezTo>
                  <a:pt x="58367" y="136624"/>
                  <a:pt x="53578" y="141413"/>
                  <a:pt x="53578" y="147340"/>
                </a:cubicBezTo>
                <a:cubicBezTo>
                  <a:pt x="53578" y="153267"/>
                  <a:pt x="58367" y="158055"/>
                  <a:pt x="64294" y="158055"/>
                </a:cubicBezTo>
                <a:close/>
              </a:path>
            </a:pathLst>
          </a:custGeom>
          <a:solidFill>
            <a:srgbClr val="34C759"/>
          </a:solidFill>
          <a:ln/>
        </p:spPr>
      </p:sp>
      <p:sp>
        <p:nvSpPr>
          <p:cNvPr id="50" name="Text 48"/>
          <p:cNvSpPr/>
          <p:nvPr/>
        </p:nvSpPr>
        <p:spPr>
          <a:xfrm>
            <a:off x="6619875" y="5162550"/>
            <a:ext cx="5086350" cy="266700"/>
          </a:xfrm>
          <a:prstGeom prst="rect">
            <a:avLst/>
          </a:prstGeom>
          <a:noFill/>
          <a:ln/>
        </p:spPr>
        <p:txBody>
          <a:bodyPr wrap="square" lIns="0" tIns="0" rIns="0" bIns="0" rtlCol="0" anchor="ctr"/>
          <a:lstStyle/>
          <a:p>
            <a:pPr>
              <a:lnSpc>
                <a:spcPct val="130000"/>
              </a:lnSpc>
            </a:pPr>
            <a:r>
              <a:rPr lang="en-US" sz="1350" b="1" dirty="0">
                <a:solidFill>
                  <a:srgbClr val="34C759"/>
                </a:solidFill>
                <a:latin typeface="Liter" pitchFamily="34" charset="0"/>
                <a:ea typeface="Liter" pitchFamily="34" charset="-122"/>
                <a:cs typeface="Liter" pitchFamily="34" charset="-120"/>
              </a:rPr>
              <a:t>Real-World Example</a:t>
            </a:r>
            <a:endParaRPr lang="en-US" sz="1600" dirty="0"/>
          </a:p>
        </p:txBody>
      </p:sp>
      <p:sp>
        <p:nvSpPr>
          <p:cNvPr id="51" name="Text 49"/>
          <p:cNvSpPr/>
          <p:nvPr/>
        </p:nvSpPr>
        <p:spPr>
          <a:xfrm>
            <a:off x="6400800" y="5543550"/>
            <a:ext cx="5295900" cy="742950"/>
          </a:xfrm>
          <a:prstGeom prst="rect">
            <a:avLst/>
          </a:prstGeom>
          <a:noFill/>
          <a:ln/>
        </p:spPr>
        <p:txBody>
          <a:bodyPr wrap="square" lIns="0" tIns="0" rIns="0" bIns="0" rtlCol="0" anchor="ctr"/>
          <a:lstStyle/>
          <a:p>
            <a:pPr>
              <a:lnSpc>
                <a:spcPct val="140000"/>
              </a:lnSpc>
            </a:pPr>
            <a:r>
              <a:rPr lang="en-US" sz="1200" b="1" dirty="0">
                <a:solidFill>
                  <a:srgbClr val="34C759"/>
                </a:solidFill>
                <a:latin typeface="Quattrocento Sans" pitchFamily="34" charset="0"/>
                <a:ea typeface="Quattrocento Sans" pitchFamily="34" charset="-122"/>
                <a:cs typeface="Quattrocento Sans" pitchFamily="34" charset="-120"/>
              </a:rPr>
              <a:t>Mobile banking app</a:t>
            </a:r>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 vs </a:t>
            </a:r>
            <a:pPr>
              <a:lnSpc>
                <a:spcPct val="140000"/>
              </a:lnSpc>
            </a:pPr>
            <a:r>
              <a:rPr lang="en-US" sz="1200" b="1" dirty="0">
                <a:solidFill>
                  <a:srgbClr val="0A84FF"/>
                </a:solidFill>
                <a:latin typeface="Quattrocento Sans" pitchFamily="34" charset="0"/>
                <a:ea typeface="Quattrocento Sans" pitchFamily="34" charset="-122"/>
                <a:cs typeface="Quattrocento Sans" pitchFamily="34" charset="-120"/>
              </a:rPr>
              <a:t>bank website</a:t>
            </a:r>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 The app lets you deposit checks using camera, get instant notifications, and works offline for viewing balance. The website needs you to log in every time and can't use your camera.</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19371" y="367277"/>
            <a:ext cx="383246" cy="383246"/>
          </a:xfrm>
          <a:prstGeom prst="roundRect">
            <a:avLst>
              <a:gd name="adj" fmla="val 25000"/>
            </a:avLst>
          </a:prstGeom>
          <a:solidFill>
            <a:srgbClr val="34C759"/>
          </a:solidFill>
          <a:ln/>
        </p:spPr>
      </p:sp>
      <p:sp>
        <p:nvSpPr>
          <p:cNvPr id="3" name="Text 1"/>
          <p:cNvSpPr/>
          <p:nvPr/>
        </p:nvSpPr>
        <p:spPr>
          <a:xfrm>
            <a:off x="393426" y="431151"/>
            <a:ext cx="327356" cy="255497"/>
          </a:xfrm>
          <a:prstGeom prst="rect">
            <a:avLst/>
          </a:prstGeom>
          <a:noFill/>
          <a:ln/>
        </p:spPr>
        <p:txBody>
          <a:bodyPr wrap="square" lIns="0" tIns="0" rIns="0" bIns="0" rtlCol="0" anchor="ctr"/>
          <a:lstStyle/>
          <a:p>
            <a:pPr>
              <a:lnSpc>
                <a:spcPct val="110000"/>
              </a:lnSpc>
            </a:pPr>
            <a:r>
              <a:rPr lang="en-US" sz="1509" b="1" dirty="0">
                <a:solidFill>
                  <a:srgbClr val="1D1D1F"/>
                </a:solidFill>
                <a:latin typeface="Liter" pitchFamily="34" charset="0"/>
                <a:ea typeface="Liter" pitchFamily="34" charset="-122"/>
                <a:cs typeface="Liter" pitchFamily="34" charset="-120"/>
              </a:rPr>
              <a:t>04</a:t>
            </a:r>
            <a:endParaRPr lang="en-US" sz="1600" dirty="0"/>
          </a:p>
        </p:txBody>
      </p:sp>
      <p:sp>
        <p:nvSpPr>
          <p:cNvPr id="4" name="Text 2"/>
          <p:cNvSpPr/>
          <p:nvPr/>
        </p:nvSpPr>
        <p:spPr>
          <a:xfrm>
            <a:off x="798428" y="319371"/>
            <a:ext cx="3608896" cy="159686"/>
          </a:xfrm>
          <a:prstGeom prst="rect">
            <a:avLst/>
          </a:prstGeom>
          <a:noFill/>
          <a:ln/>
        </p:spPr>
        <p:txBody>
          <a:bodyPr wrap="square" lIns="0" tIns="0" rIns="0" bIns="0" rtlCol="0" anchor="ctr"/>
          <a:lstStyle/>
          <a:p>
            <a:pPr>
              <a:lnSpc>
                <a:spcPct val="120000"/>
              </a:lnSpc>
            </a:pPr>
            <a:r>
              <a:rPr lang="en-US" sz="880" b="1" spc="44" kern="0" dirty="0">
                <a:solidFill>
                  <a:srgbClr val="34C759"/>
                </a:solidFill>
                <a:latin typeface="Quattrocento Sans" pitchFamily="34" charset="0"/>
                <a:ea typeface="Quattrocento Sans" pitchFamily="34" charset="-122"/>
                <a:cs typeface="Quattrocento Sans" pitchFamily="34" charset="-120"/>
              </a:rPr>
              <a:t>Introduction to Mobile Apps</a:t>
            </a:r>
            <a:endParaRPr lang="en-US" sz="1600" dirty="0"/>
          </a:p>
        </p:txBody>
      </p:sp>
      <p:sp>
        <p:nvSpPr>
          <p:cNvPr id="5" name="Text 3"/>
          <p:cNvSpPr/>
          <p:nvPr/>
        </p:nvSpPr>
        <p:spPr>
          <a:xfrm>
            <a:off x="798428" y="479057"/>
            <a:ext cx="3696723" cy="319371"/>
          </a:xfrm>
          <a:prstGeom prst="rect">
            <a:avLst/>
          </a:prstGeom>
          <a:noFill/>
          <a:ln/>
        </p:spPr>
        <p:txBody>
          <a:bodyPr wrap="square" lIns="0" tIns="0" rIns="0" bIns="0" rtlCol="0" anchor="ctr"/>
          <a:lstStyle/>
          <a:p>
            <a:pPr>
              <a:lnSpc>
                <a:spcPct val="90000"/>
              </a:lnSpc>
            </a:pPr>
            <a:r>
              <a:rPr lang="en-US" sz="2263" b="1" dirty="0">
                <a:solidFill>
                  <a:srgbClr val="F5F5F7"/>
                </a:solidFill>
                <a:latin typeface="Liter" pitchFamily="34" charset="0"/>
                <a:ea typeface="Liter" pitchFamily="34" charset="-122"/>
                <a:cs typeface="Liter" pitchFamily="34" charset="-120"/>
              </a:rPr>
              <a:t>How Do Mobile Apps Work?</a:t>
            </a:r>
            <a:endParaRPr lang="en-US" sz="1600" dirty="0"/>
          </a:p>
        </p:txBody>
      </p:sp>
      <p:sp>
        <p:nvSpPr>
          <p:cNvPr id="6" name="Shape 4"/>
          <p:cNvSpPr/>
          <p:nvPr/>
        </p:nvSpPr>
        <p:spPr>
          <a:xfrm>
            <a:off x="319371" y="1053925"/>
            <a:ext cx="11553257" cy="2131804"/>
          </a:xfrm>
          <a:prstGeom prst="roundRect">
            <a:avLst>
              <a:gd name="adj" fmla="val 5993"/>
            </a:avLst>
          </a:prstGeom>
          <a:solidFill>
            <a:srgbClr val="2C2C2E"/>
          </a:solidFill>
          <a:ln/>
        </p:spPr>
      </p:sp>
      <p:sp>
        <p:nvSpPr>
          <p:cNvPr id="7" name="Shape 5"/>
          <p:cNvSpPr/>
          <p:nvPr/>
        </p:nvSpPr>
        <p:spPr>
          <a:xfrm>
            <a:off x="510994" y="1277485"/>
            <a:ext cx="199607" cy="159686"/>
          </a:xfrm>
          <a:custGeom>
            <a:avLst/>
            <a:gdLst/>
            <a:ahLst/>
            <a:cxnLst/>
            <a:rect l="l" t="t" r="r" b="b"/>
            <a:pathLst>
              <a:path w="199607" h="159686">
                <a:moveTo>
                  <a:pt x="129713" y="65652"/>
                </a:moveTo>
                <a:cubicBezTo>
                  <a:pt x="133518" y="64623"/>
                  <a:pt x="137511" y="66432"/>
                  <a:pt x="139226" y="69956"/>
                </a:cubicBezTo>
                <a:lnTo>
                  <a:pt x="145027" y="81683"/>
                </a:lnTo>
                <a:cubicBezTo>
                  <a:pt x="148239" y="82120"/>
                  <a:pt x="151389" y="82993"/>
                  <a:pt x="154352" y="84209"/>
                </a:cubicBezTo>
                <a:lnTo>
                  <a:pt x="165268" y="76942"/>
                </a:lnTo>
                <a:cubicBezTo>
                  <a:pt x="168543" y="74759"/>
                  <a:pt x="172878" y="75196"/>
                  <a:pt x="175654" y="77972"/>
                </a:cubicBezTo>
                <a:lnTo>
                  <a:pt x="181642" y="83960"/>
                </a:lnTo>
                <a:cubicBezTo>
                  <a:pt x="184418" y="86736"/>
                  <a:pt x="184855" y="91102"/>
                  <a:pt x="182672" y="94346"/>
                </a:cubicBezTo>
                <a:lnTo>
                  <a:pt x="175405" y="105230"/>
                </a:lnTo>
                <a:cubicBezTo>
                  <a:pt x="175997" y="106696"/>
                  <a:pt x="176528" y="108224"/>
                  <a:pt x="176964" y="109815"/>
                </a:cubicBezTo>
                <a:cubicBezTo>
                  <a:pt x="177401" y="111406"/>
                  <a:pt x="177681" y="112965"/>
                  <a:pt x="177900" y="114556"/>
                </a:cubicBezTo>
                <a:lnTo>
                  <a:pt x="189658" y="120357"/>
                </a:lnTo>
                <a:cubicBezTo>
                  <a:pt x="193182" y="122103"/>
                  <a:pt x="194991" y="126096"/>
                  <a:pt x="193962" y="129869"/>
                </a:cubicBezTo>
                <a:lnTo>
                  <a:pt x="191779" y="138041"/>
                </a:lnTo>
                <a:cubicBezTo>
                  <a:pt x="190750" y="141815"/>
                  <a:pt x="187225" y="144372"/>
                  <a:pt x="183295" y="144123"/>
                </a:cubicBezTo>
                <a:lnTo>
                  <a:pt x="170196" y="143280"/>
                </a:lnTo>
                <a:cubicBezTo>
                  <a:pt x="168231" y="145807"/>
                  <a:pt x="165955" y="148146"/>
                  <a:pt x="163366" y="150142"/>
                </a:cubicBezTo>
                <a:lnTo>
                  <a:pt x="164208" y="163210"/>
                </a:lnTo>
                <a:cubicBezTo>
                  <a:pt x="164458" y="167140"/>
                  <a:pt x="161900" y="170695"/>
                  <a:pt x="158126" y="171693"/>
                </a:cubicBezTo>
                <a:lnTo>
                  <a:pt x="149955" y="173876"/>
                </a:lnTo>
                <a:cubicBezTo>
                  <a:pt x="146150" y="174906"/>
                  <a:pt x="142189" y="173097"/>
                  <a:pt x="140442" y="169572"/>
                </a:cubicBezTo>
                <a:lnTo>
                  <a:pt x="134641" y="157846"/>
                </a:lnTo>
                <a:cubicBezTo>
                  <a:pt x="131429" y="157409"/>
                  <a:pt x="128279" y="156536"/>
                  <a:pt x="125316" y="155319"/>
                </a:cubicBezTo>
                <a:lnTo>
                  <a:pt x="114400" y="162586"/>
                </a:lnTo>
                <a:cubicBezTo>
                  <a:pt x="111125" y="164769"/>
                  <a:pt x="106790" y="164333"/>
                  <a:pt x="104014" y="161557"/>
                </a:cubicBezTo>
                <a:lnTo>
                  <a:pt x="98026" y="155569"/>
                </a:lnTo>
                <a:cubicBezTo>
                  <a:pt x="95250" y="152793"/>
                  <a:pt x="94813" y="148458"/>
                  <a:pt x="96997" y="145183"/>
                </a:cubicBezTo>
                <a:lnTo>
                  <a:pt x="104264" y="134267"/>
                </a:lnTo>
                <a:cubicBezTo>
                  <a:pt x="103671" y="132801"/>
                  <a:pt x="103141" y="131273"/>
                  <a:pt x="102704" y="129682"/>
                </a:cubicBezTo>
                <a:cubicBezTo>
                  <a:pt x="102267" y="128092"/>
                  <a:pt x="101987" y="126501"/>
                  <a:pt x="101768" y="124942"/>
                </a:cubicBezTo>
                <a:lnTo>
                  <a:pt x="90010" y="119140"/>
                </a:lnTo>
                <a:cubicBezTo>
                  <a:pt x="86486" y="117394"/>
                  <a:pt x="84708" y="113402"/>
                  <a:pt x="85706" y="109628"/>
                </a:cubicBezTo>
                <a:lnTo>
                  <a:pt x="87889" y="101457"/>
                </a:lnTo>
                <a:cubicBezTo>
                  <a:pt x="88919" y="97683"/>
                  <a:pt x="92443" y="95125"/>
                  <a:pt x="96373" y="95375"/>
                </a:cubicBezTo>
                <a:lnTo>
                  <a:pt x="109441" y="96217"/>
                </a:lnTo>
                <a:cubicBezTo>
                  <a:pt x="111406" y="93691"/>
                  <a:pt x="113682" y="91351"/>
                  <a:pt x="116271" y="89355"/>
                </a:cubicBezTo>
                <a:lnTo>
                  <a:pt x="115429" y="76319"/>
                </a:lnTo>
                <a:cubicBezTo>
                  <a:pt x="115180" y="72389"/>
                  <a:pt x="117737" y="68833"/>
                  <a:pt x="121511" y="67835"/>
                </a:cubicBezTo>
                <a:lnTo>
                  <a:pt x="129682" y="65652"/>
                </a:lnTo>
                <a:close/>
                <a:moveTo>
                  <a:pt x="139850" y="106041"/>
                </a:moveTo>
                <a:cubicBezTo>
                  <a:pt x="132276" y="106050"/>
                  <a:pt x="126134" y="112206"/>
                  <a:pt x="126142" y="119780"/>
                </a:cubicBezTo>
                <a:cubicBezTo>
                  <a:pt x="126151" y="127354"/>
                  <a:pt x="132307" y="133496"/>
                  <a:pt x="139881" y="133487"/>
                </a:cubicBezTo>
                <a:cubicBezTo>
                  <a:pt x="147455" y="133479"/>
                  <a:pt x="153597" y="127323"/>
                  <a:pt x="153588" y="119749"/>
                </a:cubicBezTo>
                <a:cubicBezTo>
                  <a:pt x="153580" y="112175"/>
                  <a:pt x="147424" y="106033"/>
                  <a:pt x="139850" y="106041"/>
                </a:cubicBezTo>
                <a:close/>
                <a:moveTo>
                  <a:pt x="70143" y="-14191"/>
                </a:moveTo>
                <a:lnTo>
                  <a:pt x="78315" y="-12008"/>
                </a:lnTo>
                <a:cubicBezTo>
                  <a:pt x="82088" y="-10978"/>
                  <a:pt x="84646" y="-7423"/>
                  <a:pt x="84396" y="-3524"/>
                </a:cubicBezTo>
                <a:lnTo>
                  <a:pt x="83554" y="9513"/>
                </a:lnTo>
                <a:cubicBezTo>
                  <a:pt x="86143" y="11509"/>
                  <a:pt x="88420" y="13817"/>
                  <a:pt x="90385" y="16374"/>
                </a:cubicBezTo>
                <a:lnTo>
                  <a:pt x="103484" y="15532"/>
                </a:lnTo>
                <a:cubicBezTo>
                  <a:pt x="107382" y="15282"/>
                  <a:pt x="110938" y="17840"/>
                  <a:pt x="111967" y="21614"/>
                </a:cubicBezTo>
                <a:lnTo>
                  <a:pt x="114150" y="29785"/>
                </a:lnTo>
                <a:cubicBezTo>
                  <a:pt x="115148" y="33559"/>
                  <a:pt x="113371" y="37551"/>
                  <a:pt x="109846" y="39298"/>
                </a:cubicBezTo>
                <a:lnTo>
                  <a:pt x="98088" y="45099"/>
                </a:lnTo>
                <a:cubicBezTo>
                  <a:pt x="97870" y="46689"/>
                  <a:pt x="97558" y="48280"/>
                  <a:pt x="97153" y="49839"/>
                </a:cubicBezTo>
                <a:cubicBezTo>
                  <a:pt x="96747" y="51399"/>
                  <a:pt x="96186" y="52958"/>
                  <a:pt x="95593" y="54424"/>
                </a:cubicBezTo>
                <a:lnTo>
                  <a:pt x="102860" y="65340"/>
                </a:lnTo>
                <a:cubicBezTo>
                  <a:pt x="105043" y="68615"/>
                  <a:pt x="104607" y="72950"/>
                  <a:pt x="101831" y="75726"/>
                </a:cubicBezTo>
                <a:lnTo>
                  <a:pt x="95843" y="81714"/>
                </a:lnTo>
                <a:cubicBezTo>
                  <a:pt x="93067" y="84490"/>
                  <a:pt x="88732" y="84927"/>
                  <a:pt x="85457" y="82743"/>
                </a:cubicBezTo>
                <a:lnTo>
                  <a:pt x="74541" y="75476"/>
                </a:lnTo>
                <a:cubicBezTo>
                  <a:pt x="71578" y="76693"/>
                  <a:pt x="68428" y="77566"/>
                  <a:pt x="65215" y="78003"/>
                </a:cubicBezTo>
                <a:lnTo>
                  <a:pt x="59414" y="89730"/>
                </a:lnTo>
                <a:cubicBezTo>
                  <a:pt x="57668" y="93254"/>
                  <a:pt x="53676" y="95032"/>
                  <a:pt x="49902" y="94034"/>
                </a:cubicBezTo>
                <a:lnTo>
                  <a:pt x="41730" y="91850"/>
                </a:lnTo>
                <a:cubicBezTo>
                  <a:pt x="37925" y="90821"/>
                  <a:pt x="35399" y="87266"/>
                  <a:pt x="35649" y="83367"/>
                </a:cubicBezTo>
                <a:lnTo>
                  <a:pt x="36491" y="70299"/>
                </a:lnTo>
                <a:cubicBezTo>
                  <a:pt x="33902" y="68303"/>
                  <a:pt x="31625" y="65995"/>
                  <a:pt x="29660" y="63438"/>
                </a:cubicBezTo>
                <a:lnTo>
                  <a:pt x="16561" y="64280"/>
                </a:lnTo>
                <a:cubicBezTo>
                  <a:pt x="12663" y="64529"/>
                  <a:pt x="9107" y="61972"/>
                  <a:pt x="8078" y="58198"/>
                </a:cubicBezTo>
                <a:lnTo>
                  <a:pt x="5895" y="50027"/>
                </a:lnTo>
                <a:cubicBezTo>
                  <a:pt x="4897" y="46253"/>
                  <a:pt x="6674" y="42261"/>
                  <a:pt x="10199" y="40514"/>
                </a:cubicBezTo>
                <a:lnTo>
                  <a:pt x="21957" y="34713"/>
                </a:lnTo>
                <a:cubicBezTo>
                  <a:pt x="22175" y="33122"/>
                  <a:pt x="22487" y="31563"/>
                  <a:pt x="22892" y="29972"/>
                </a:cubicBezTo>
                <a:cubicBezTo>
                  <a:pt x="23329" y="28382"/>
                  <a:pt x="23828" y="26853"/>
                  <a:pt x="24452" y="25388"/>
                </a:cubicBezTo>
                <a:lnTo>
                  <a:pt x="17185" y="14503"/>
                </a:lnTo>
                <a:cubicBezTo>
                  <a:pt x="15002" y="11228"/>
                  <a:pt x="15438" y="6893"/>
                  <a:pt x="18214" y="4117"/>
                </a:cubicBezTo>
                <a:lnTo>
                  <a:pt x="24202" y="-1871"/>
                </a:lnTo>
                <a:cubicBezTo>
                  <a:pt x="26978" y="-4647"/>
                  <a:pt x="31313" y="-5084"/>
                  <a:pt x="34588" y="-2901"/>
                </a:cubicBezTo>
                <a:lnTo>
                  <a:pt x="45504" y="4366"/>
                </a:lnTo>
                <a:cubicBezTo>
                  <a:pt x="48467" y="3150"/>
                  <a:pt x="51617" y="2277"/>
                  <a:pt x="54830" y="1840"/>
                </a:cubicBezTo>
                <a:lnTo>
                  <a:pt x="60631" y="-9887"/>
                </a:lnTo>
                <a:cubicBezTo>
                  <a:pt x="62377" y="-13411"/>
                  <a:pt x="66338" y="-15189"/>
                  <a:pt x="70143" y="-14191"/>
                </a:cubicBezTo>
                <a:close/>
                <a:moveTo>
                  <a:pt x="60007" y="26198"/>
                </a:moveTo>
                <a:cubicBezTo>
                  <a:pt x="52433" y="26198"/>
                  <a:pt x="46284" y="32347"/>
                  <a:pt x="46284" y="39921"/>
                </a:cubicBezTo>
                <a:cubicBezTo>
                  <a:pt x="46284" y="47495"/>
                  <a:pt x="52433" y="53644"/>
                  <a:pt x="60007" y="53644"/>
                </a:cubicBezTo>
                <a:cubicBezTo>
                  <a:pt x="67581" y="53644"/>
                  <a:pt x="73730" y="47495"/>
                  <a:pt x="73730" y="39921"/>
                </a:cubicBezTo>
                <a:cubicBezTo>
                  <a:pt x="73730" y="32347"/>
                  <a:pt x="67581" y="26198"/>
                  <a:pt x="60007" y="26198"/>
                </a:cubicBezTo>
                <a:close/>
              </a:path>
            </a:pathLst>
          </a:custGeom>
          <a:solidFill>
            <a:srgbClr val="34C759"/>
          </a:solidFill>
          <a:ln/>
        </p:spPr>
      </p:sp>
      <p:sp>
        <p:nvSpPr>
          <p:cNvPr id="8" name="Text 6"/>
          <p:cNvSpPr/>
          <p:nvPr/>
        </p:nvSpPr>
        <p:spPr>
          <a:xfrm>
            <a:off x="710601" y="1245548"/>
            <a:ext cx="11050248" cy="223560"/>
          </a:xfrm>
          <a:prstGeom prst="rect">
            <a:avLst/>
          </a:prstGeom>
          <a:noFill/>
          <a:ln/>
        </p:spPr>
        <p:txBody>
          <a:bodyPr wrap="square" lIns="0" tIns="0" rIns="0" bIns="0" rtlCol="0" anchor="ctr"/>
          <a:lstStyle/>
          <a:p>
            <a:pPr>
              <a:lnSpc>
                <a:spcPct val="120000"/>
              </a:lnSpc>
            </a:pPr>
            <a:r>
              <a:rPr lang="en-US" sz="1257" b="1" dirty="0">
                <a:solidFill>
                  <a:srgbClr val="34C759"/>
                </a:solidFill>
                <a:latin typeface="Liter" pitchFamily="34" charset="0"/>
                <a:ea typeface="Liter" pitchFamily="34" charset="-122"/>
                <a:cs typeface="Liter" pitchFamily="34" charset="-120"/>
              </a:rPr>
              <a:t>Simple Workflow</a:t>
            </a:r>
            <a:endParaRPr lang="en-US" sz="1600" dirty="0"/>
          </a:p>
        </p:txBody>
      </p:sp>
      <p:sp>
        <p:nvSpPr>
          <p:cNvPr id="9" name="Shape 7"/>
          <p:cNvSpPr/>
          <p:nvPr/>
        </p:nvSpPr>
        <p:spPr>
          <a:xfrm>
            <a:off x="517382" y="1635181"/>
            <a:ext cx="3342221" cy="1354134"/>
          </a:xfrm>
          <a:prstGeom prst="roundRect">
            <a:avLst>
              <a:gd name="adj" fmla="val 7075"/>
            </a:avLst>
          </a:prstGeom>
          <a:solidFill>
            <a:srgbClr val="1A1D21"/>
          </a:solidFill>
          <a:ln w="20320">
            <a:solidFill>
              <a:srgbClr val="34C759"/>
            </a:solidFill>
            <a:prstDash val="solid"/>
          </a:ln>
        </p:spPr>
      </p:sp>
      <p:sp>
        <p:nvSpPr>
          <p:cNvPr id="10" name="Shape 8"/>
          <p:cNvSpPr/>
          <p:nvPr/>
        </p:nvSpPr>
        <p:spPr>
          <a:xfrm>
            <a:off x="1932296" y="1769318"/>
            <a:ext cx="510994" cy="510994"/>
          </a:xfrm>
          <a:prstGeom prst="roundRect">
            <a:avLst>
              <a:gd name="adj" fmla="val 50000"/>
            </a:avLst>
          </a:prstGeom>
          <a:solidFill>
            <a:srgbClr val="34C759"/>
          </a:solidFill>
          <a:ln/>
        </p:spPr>
      </p:sp>
      <p:sp>
        <p:nvSpPr>
          <p:cNvPr id="11" name="Shape 9"/>
          <p:cNvSpPr/>
          <p:nvPr/>
        </p:nvSpPr>
        <p:spPr>
          <a:xfrm>
            <a:off x="2103958" y="1929004"/>
            <a:ext cx="167670" cy="191623"/>
          </a:xfrm>
          <a:custGeom>
            <a:avLst/>
            <a:gdLst/>
            <a:ahLst/>
            <a:cxnLst/>
            <a:rect l="l" t="t" r="r" b="b"/>
            <a:pathLst>
              <a:path w="167670" h="191623">
                <a:moveTo>
                  <a:pt x="47906" y="14971"/>
                </a:moveTo>
                <a:cubicBezTo>
                  <a:pt x="47906" y="6699"/>
                  <a:pt x="54605" y="0"/>
                  <a:pt x="62876" y="0"/>
                </a:cubicBezTo>
                <a:cubicBezTo>
                  <a:pt x="71147" y="0"/>
                  <a:pt x="77847" y="6699"/>
                  <a:pt x="77847" y="14971"/>
                </a:cubicBezTo>
                <a:lnTo>
                  <a:pt x="77847" y="70436"/>
                </a:lnTo>
                <a:cubicBezTo>
                  <a:pt x="81028" y="67592"/>
                  <a:pt x="85220" y="65870"/>
                  <a:pt x="89823" y="65870"/>
                </a:cubicBezTo>
                <a:cubicBezTo>
                  <a:pt x="97533" y="65870"/>
                  <a:pt x="104120" y="70736"/>
                  <a:pt x="106665" y="77547"/>
                </a:cubicBezTo>
                <a:cubicBezTo>
                  <a:pt x="109959" y="74067"/>
                  <a:pt x="114599" y="71859"/>
                  <a:pt x="119764" y="71859"/>
                </a:cubicBezTo>
                <a:cubicBezTo>
                  <a:pt x="129233" y="71859"/>
                  <a:pt x="136980" y="79157"/>
                  <a:pt x="137691" y="88438"/>
                </a:cubicBezTo>
                <a:cubicBezTo>
                  <a:pt x="140873" y="85557"/>
                  <a:pt x="145102" y="83835"/>
                  <a:pt x="149705" y="83835"/>
                </a:cubicBezTo>
                <a:cubicBezTo>
                  <a:pt x="159623" y="83835"/>
                  <a:pt x="167670" y="91882"/>
                  <a:pt x="167670" y="101800"/>
                </a:cubicBezTo>
                <a:lnTo>
                  <a:pt x="167670" y="143717"/>
                </a:lnTo>
                <a:cubicBezTo>
                  <a:pt x="167670" y="170178"/>
                  <a:pt x="146225" y="191623"/>
                  <a:pt x="119764" y="191623"/>
                </a:cubicBezTo>
                <a:lnTo>
                  <a:pt x="87840" y="191623"/>
                </a:lnTo>
                <a:cubicBezTo>
                  <a:pt x="85968" y="191623"/>
                  <a:pt x="84134" y="191511"/>
                  <a:pt x="82338" y="191249"/>
                </a:cubicBezTo>
                <a:cubicBezTo>
                  <a:pt x="61641" y="189153"/>
                  <a:pt x="42591" y="178524"/>
                  <a:pt x="29941" y="161682"/>
                </a:cubicBezTo>
                <a:lnTo>
                  <a:pt x="2994" y="125752"/>
                </a:lnTo>
                <a:cubicBezTo>
                  <a:pt x="-1984" y="119128"/>
                  <a:pt x="-636" y="109771"/>
                  <a:pt x="5988" y="104794"/>
                </a:cubicBezTo>
                <a:cubicBezTo>
                  <a:pt x="12613" y="99816"/>
                  <a:pt x="21969" y="101163"/>
                  <a:pt x="26947" y="107788"/>
                </a:cubicBezTo>
                <a:lnTo>
                  <a:pt x="47906" y="135745"/>
                </a:lnTo>
                <a:lnTo>
                  <a:pt x="47906" y="14971"/>
                </a:lnTo>
                <a:close/>
                <a:moveTo>
                  <a:pt x="89823" y="113776"/>
                </a:moveTo>
                <a:cubicBezTo>
                  <a:pt x="89823" y="110483"/>
                  <a:pt x="87128" y="107788"/>
                  <a:pt x="83835" y="107788"/>
                </a:cubicBezTo>
                <a:cubicBezTo>
                  <a:pt x="80541" y="107788"/>
                  <a:pt x="77847" y="110483"/>
                  <a:pt x="77847" y="113776"/>
                </a:cubicBezTo>
                <a:lnTo>
                  <a:pt x="77847" y="149705"/>
                </a:lnTo>
                <a:cubicBezTo>
                  <a:pt x="77847" y="152999"/>
                  <a:pt x="80541" y="155694"/>
                  <a:pt x="83835" y="155694"/>
                </a:cubicBezTo>
                <a:cubicBezTo>
                  <a:pt x="87128" y="155694"/>
                  <a:pt x="89823" y="152999"/>
                  <a:pt x="89823" y="149705"/>
                </a:cubicBezTo>
                <a:lnTo>
                  <a:pt x="89823" y="113776"/>
                </a:lnTo>
                <a:close/>
                <a:moveTo>
                  <a:pt x="107788" y="107788"/>
                </a:moveTo>
                <a:cubicBezTo>
                  <a:pt x="104494" y="107788"/>
                  <a:pt x="101800" y="110483"/>
                  <a:pt x="101800" y="113776"/>
                </a:cubicBezTo>
                <a:lnTo>
                  <a:pt x="101800" y="149705"/>
                </a:lnTo>
                <a:cubicBezTo>
                  <a:pt x="101800" y="152999"/>
                  <a:pt x="104494" y="155694"/>
                  <a:pt x="107788" y="155694"/>
                </a:cubicBezTo>
                <a:cubicBezTo>
                  <a:pt x="111081" y="155694"/>
                  <a:pt x="113776" y="152999"/>
                  <a:pt x="113776" y="149705"/>
                </a:cubicBezTo>
                <a:lnTo>
                  <a:pt x="113776" y="113776"/>
                </a:lnTo>
                <a:cubicBezTo>
                  <a:pt x="113776" y="110483"/>
                  <a:pt x="111081" y="107788"/>
                  <a:pt x="107788" y="107788"/>
                </a:cubicBezTo>
                <a:close/>
                <a:moveTo>
                  <a:pt x="137729" y="113776"/>
                </a:moveTo>
                <a:cubicBezTo>
                  <a:pt x="137729" y="110483"/>
                  <a:pt x="135034" y="107788"/>
                  <a:pt x="131741" y="107788"/>
                </a:cubicBezTo>
                <a:cubicBezTo>
                  <a:pt x="128447" y="107788"/>
                  <a:pt x="125752" y="110483"/>
                  <a:pt x="125752" y="113776"/>
                </a:cubicBezTo>
                <a:lnTo>
                  <a:pt x="125752" y="149705"/>
                </a:lnTo>
                <a:cubicBezTo>
                  <a:pt x="125752" y="152999"/>
                  <a:pt x="128447" y="155694"/>
                  <a:pt x="131741" y="155694"/>
                </a:cubicBezTo>
                <a:cubicBezTo>
                  <a:pt x="135034" y="155694"/>
                  <a:pt x="137729" y="152999"/>
                  <a:pt x="137729" y="149705"/>
                </a:cubicBezTo>
                <a:lnTo>
                  <a:pt x="137729" y="113776"/>
                </a:lnTo>
                <a:close/>
              </a:path>
            </a:pathLst>
          </a:custGeom>
          <a:solidFill>
            <a:srgbClr val="1D1D1F"/>
          </a:solidFill>
          <a:ln/>
        </p:spPr>
      </p:sp>
      <p:sp>
        <p:nvSpPr>
          <p:cNvPr id="12" name="Text 10"/>
          <p:cNvSpPr/>
          <p:nvPr/>
        </p:nvSpPr>
        <p:spPr>
          <a:xfrm>
            <a:off x="615588" y="2376123"/>
            <a:ext cx="3145807" cy="223560"/>
          </a:xfrm>
          <a:prstGeom prst="rect">
            <a:avLst/>
          </a:prstGeom>
          <a:noFill/>
          <a:ln/>
        </p:spPr>
        <p:txBody>
          <a:bodyPr wrap="square" lIns="0" tIns="0" rIns="0" bIns="0" rtlCol="0" anchor="ctr"/>
          <a:lstStyle/>
          <a:p>
            <a:pPr algn="ctr">
              <a:lnSpc>
                <a:spcPct val="130000"/>
              </a:lnSpc>
            </a:pPr>
            <a:r>
              <a:rPr lang="en-US" sz="1132" b="1" dirty="0">
                <a:solidFill>
                  <a:srgbClr val="F5F5F7"/>
                </a:solidFill>
                <a:latin typeface="Liter" pitchFamily="34" charset="0"/>
                <a:ea typeface="Liter" pitchFamily="34" charset="-122"/>
                <a:cs typeface="Liter" pitchFamily="34" charset="-120"/>
              </a:rPr>
              <a:t>1. You Tap</a:t>
            </a:r>
            <a:endParaRPr lang="en-US" sz="1600" dirty="0"/>
          </a:p>
        </p:txBody>
      </p:sp>
      <p:sp>
        <p:nvSpPr>
          <p:cNvPr id="13" name="Text 11"/>
          <p:cNvSpPr/>
          <p:nvPr/>
        </p:nvSpPr>
        <p:spPr>
          <a:xfrm>
            <a:off x="619580" y="2663558"/>
            <a:ext cx="3137823" cy="191623"/>
          </a:xfrm>
          <a:prstGeom prst="rect">
            <a:avLst/>
          </a:prstGeom>
          <a:noFill/>
          <a:ln/>
        </p:spPr>
        <p:txBody>
          <a:bodyPr wrap="square" lIns="0" tIns="0" rIns="0" bIns="0" rtlCol="0" anchor="ctr"/>
          <a:lstStyle/>
          <a:p>
            <a:pPr algn="ctr">
              <a:lnSpc>
                <a:spcPct val="130000"/>
              </a:lnSpc>
            </a:pPr>
            <a:r>
              <a:rPr lang="en-US" sz="1006" dirty="0">
                <a:solidFill>
                  <a:srgbClr val="8E8E93"/>
                </a:solidFill>
                <a:latin typeface="Quattrocento Sans" pitchFamily="34" charset="0"/>
                <a:ea typeface="Quattrocento Sans" pitchFamily="34" charset="-122"/>
                <a:cs typeface="Quattrocento Sans" pitchFamily="34" charset="-120"/>
              </a:rPr>
              <a:t>User touches a button or icon on screen</a:t>
            </a:r>
            <a:endParaRPr lang="en-US" sz="1600" dirty="0"/>
          </a:p>
        </p:txBody>
      </p:sp>
      <p:sp>
        <p:nvSpPr>
          <p:cNvPr id="14" name="Shape 12"/>
          <p:cNvSpPr/>
          <p:nvPr/>
        </p:nvSpPr>
        <p:spPr>
          <a:xfrm>
            <a:off x="4024278" y="2181306"/>
            <a:ext cx="239528" cy="239528"/>
          </a:xfrm>
          <a:custGeom>
            <a:avLst/>
            <a:gdLst/>
            <a:ahLst/>
            <a:cxnLst/>
            <a:rect l="l" t="t" r="r" b="b"/>
            <a:pathLst>
              <a:path w="239528" h="239528">
                <a:moveTo>
                  <a:pt x="235131" y="130337"/>
                </a:moveTo>
                <a:cubicBezTo>
                  <a:pt x="240979" y="124489"/>
                  <a:pt x="240979" y="114992"/>
                  <a:pt x="235131" y="109145"/>
                </a:cubicBezTo>
                <a:lnTo>
                  <a:pt x="160278" y="34292"/>
                </a:lnTo>
                <a:cubicBezTo>
                  <a:pt x="154430" y="28444"/>
                  <a:pt x="144933" y="28444"/>
                  <a:pt x="139086" y="34292"/>
                </a:cubicBezTo>
                <a:cubicBezTo>
                  <a:pt x="133238" y="40140"/>
                  <a:pt x="133238" y="49637"/>
                  <a:pt x="139086" y="55485"/>
                </a:cubicBezTo>
                <a:lnTo>
                  <a:pt x="188395" y="104794"/>
                </a:lnTo>
                <a:lnTo>
                  <a:pt x="14971" y="104794"/>
                </a:lnTo>
                <a:cubicBezTo>
                  <a:pt x="6690" y="104794"/>
                  <a:pt x="0" y="111484"/>
                  <a:pt x="0" y="119764"/>
                </a:cubicBezTo>
                <a:cubicBezTo>
                  <a:pt x="0" y="128045"/>
                  <a:pt x="6690" y="134735"/>
                  <a:pt x="14971" y="134735"/>
                </a:cubicBezTo>
                <a:lnTo>
                  <a:pt x="188395" y="134735"/>
                </a:lnTo>
                <a:lnTo>
                  <a:pt x="139086" y="184044"/>
                </a:lnTo>
                <a:cubicBezTo>
                  <a:pt x="133238" y="189892"/>
                  <a:pt x="133238" y="199389"/>
                  <a:pt x="139086" y="205237"/>
                </a:cubicBezTo>
                <a:cubicBezTo>
                  <a:pt x="144933" y="211084"/>
                  <a:pt x="154430" y="211084"/>
                  <a:pt x="160278" y="205237"/>
                </a:cubicBezTo>
                <a:lnTo>
                  <a:pt x="235131" y="130384"/>
                </a:lnTo>
                <a:close/>
              </a:path>
            </a:pathLst>
          </a:custGeom>
          <a:solidFill>
            <a:srgbClr val="34C759"/>
          </a:solidFill>
          <a:ln/>
        </p:spPr>
      </p:sp>
      <p:sp>
        <p:nvSpPr>
          <p:cNvPr id="15" name="Shape 13"/>
          <p:cNvSpPr/>
          <p:nvPr/>
        </p:nvSpPr>
        <p:spPr>
          <a:xfrm>
            <a:off x="4425888" y="1635181"/>
            <a:ext cx="3342221" cy="1354134"/>
          </a:xfrm>
          <a:prstGeom prst="roundRect">
            <a:avLst>
              <a:gd name="adj" fmla="val 7075"/>
            </a:avLst>
          </a:prstGeom>
          <a:solidFill>
            <a:srgbClr val="1A1D21"/>
          </a:solidFill>
          <a:ln w="20320">
            <a:solidFill>
              <a:srgbClr val="0A84FF"/>
            </a:solidFill>
            <a:prstDash val="solid"/>
          </a:ln>
        </p:spPr>
      </p:sp>
      <p:sp>
        <p:nvSpPr>
          <p:cNvPr id="16" name="Shape 14"/>
          <p:cNvSpPr/>
          <p:nvPr/>
        </p:nvSpPr>
        <p:spPr>
          <a:xfrm>
            <a:off x="5840803" y="1769318"/>
            <a:ext cx="510994" cy="510994"/>
          </a:xfrm>
          <a:prstGeom prst="roundRect">
            <a:avLst>
              <a:gd name="adj" fmla="val 50000"/>
            </a:avLst>
          </a:prstGeom>
          <a:solidFill>
            <a:srgbClr val="0A84FF"/>
          </a:solidFill>
          <a:ln/>
        </p:spPr>
      </p:sp>
      <p:sp>
        <p:nvSpPr>
          <p:cNvPr id="17" name="Shape 15"/>
          <p:cNvSpPr/>
          <p:nvPr/>
        </p:nvSpPr>
        <p:spPr>
          <a:xfrm>
            <a:off x="6000488" y="1929004"/>
            <a:ext cx="191623" cy="191623"/>
          </a:xfrm>
          <a:custGeom>
            <a:avLst/>
            <a:gdLst/>
            <a:ahLst/>
            <a:cxnLst/>
            <a:rect l="l" t="t" r="r" b="b"/>
            <a:pathLst>
              <a:path w="191623" h="191623">
                <a:moveTo>
                  <a:pt x="65870" y="8982"/>
                </a:moveTo>
                <a:cubicBezTo>
                  <a:pt x="65870" y="4005"/>
                  <a:pt x="61866" y="0"/>
                  <a:pt x="56888" y="0"/>
                </a:cubicBezTo>
                <a:cubicBezTo>
                  <a:pt x="51910" y="0"/>
                  <a:pt x="47906" y="4005"/>
                  <a:pt x="47906" y="8982"/>
                </a:cubicBezTo>
                <a:lnTo>
                  <a:pt x="47906" y="23953"/>
                </a:lnTo>
                <a:cubicBezTo>
                  <a:pt x="34694" y="23953"/>
                  <a:pt x="23953" y="34694"/>
                  <a:pt x="23953" y="47906"/>
                </a:cubicBezTo>
                <a:lnTo>
                  <a:pt x="8982" y="47906"/>
                </a:lnTo>
                <a:cubicBezTo>
                  <a:pt x="4005" y="47906"/>
                  <a:pt x="0" y="51910"/>
                  <a:pt x="0" y="56888"/>
                </a:cubicBezTo>
                <a:cubicBezTo>
                  <a:pt x="0" y="61866"/>
                  <a:pt x="4005" y="65870"/>
                  <a:pt x="8982" y="65870"/>
                </a:cubicBezTo>
                <a:lnTo>
                  <a:pt x="23953" y="65870"/>
                </a:lnTo>
                <a:lnTo>
                  <a:pt x="23953" y="86829"/>
                </a:lnTo>
                <a:lnTo>
                  <a:pt x="8982" y="86829"/>
                </a:lnTo>
                <a:cubicBezTo>
                  <a:pt x="4005" y="86829"/>
                  <a:pt x="0" y="90834"/>
                  <a:pt x="0" y="95811"/>
                </a:cubicBezTo>
                <a:cubicBezTo>
                  <a:pt x="0" y="100789"/>
                  <a:pt x="4005" y="104794"/>
                  <a:pt x="8982" y="104794"/>
                </a:cubicBezTo>
                <a:lnTo>
                  <a:pt x="23953" y="104794"/>
                </a:lnTo>
                <a:lnTo>
                  <a:pt x="23953" y="125752"/>
                </a:lnTo>
                <a:lnTo>
                  <a:pt x="8982" y="125752"/>
                </a:lnTo>
                <a:cubicBezTo>
                  <a:pt x="4005" y="125752"/>
                  <a:pt x="0" y="129757"/>
                  <a:pt x="0" y="134735"/>
                </a:cubicBezTo>
                <a:cubicBezTo>
                  <a:pt x="0" y="139712"/>
                  <a:pt x="4005" y="143717"/>
                  <a:pt x="8982" y="143717"/>
                </a:cubicBezTo>
                <a:lnTo>
                  <a:pt x="23953" y="143717"/>
                </a:lnTo>
                <a:cubicBezTo>
                  <a:pt x="23953" y="156929"/>
                  <a:pt x="34694" y="167670"/>
                  <a:pt x="47906" y="167670"/>
                </a:cubicBezTo>
                <a:lnTo>
                  <a:pt x="47906" y="182640"/>
                </a:lnTo>
                <a:cubicBezTo>
                  <a:pt x="47906" y="187618"/>
                  <a:pt x="51910" y="191623"/>
                  <a:pt x="56888" y="191623"/>
                </a:cubicBezTo>
                <a:cubicBezTo>
                  <a:pt x="61866" y="191623"/>
                  <a:pt x="65870" y="187618"/>
                  <a:pt x="65870" y="182640"/>
                </a:cubicBezTo>
                <a:lnTo>
                  <a:pt x="65870" y="167670"/>
                </a:lnTo>
                <a:lnTo>
                  <a:pt x="86829" y="167670"/>
                </a:lnTo>
                <a:lnTo>
                  <a:pt x="86829" y="182640"/>
                </a:lnTo>
                <a:cubicBezTo>
                  <a:pt x="86829" y="187618"/>
                  <a:pt x="90834" y="191623"/>
                  <a:pt x="95811" y="191623"/>
                </a:cubicBezTo>
                <a:cubicBezTo>
                  <a:pt x="100789" y="191623"/>
                  <a:pt x="104794" y="187618"/>
                  <a:pt x="104794" y="182640"/>
                </a:cubicBezTo>
                <a:lnTo>
                  <a:pt x="104794" y="167670"/>
                </a:lnTo>
                <a:lnTo>
                  <a:pt x="125752" y="167670"/>
                </a:lnTo>
                <a:lnTo>
                  <a:pt x="125752" y="182640"/>
                </a:lnTo>
                <a:cubicBezTo>
                  <a:pt x="125752" y="187618"/>
                  <a:pt x="129757" y="191623"/>
                  <a:pt x="134735" y="191623"/>
                </a:cubicBezTo>
                <a:cubicBezTo>
                  <a:pt x="139712" y="191623"/>
                  <a:pt x="143717" y="187618"/>
                  <a:pt x="143717" y="182640"/>
                </a:cubicBezTo>
                <a:lnTo>
                  <a:pt x="143717" y="167670"/>
                </a:lnTo>
                <a:cubicBezTo>
                  <a:pt x="156929" y="167670"/>
                  <a:pt x="167670" y="156929"/>
                  <a:pt x="167670" y="143717"/>
                </a:cubicBezTo>
                <a:lnTo>
                  <a:pt x="182640" y="143717"/>
                </a:lnTo>
                <a:cubicBezTo>
                  <a:pt x="187618" y="143717"/>
                  <a:pt x="191623" y="139712"/>
                  <a:pt x="191623" y="134735"/>
                </a:cubicBezTo>
                <a:cubicBezTo>
                  <a:pt x="191623" y="129757"/>
                  <a:pt x="187618" y="125752"/>
                  <a:pt x="182640" y="125752"/>
                </a:cubicBezTo>
                <a:lnTo>
                  <a:pt x="167670" y="125752"/>
                </a:lnTo>
                <a:lnTo>
                  <a:pt x="167670" y="104794"/>
                </a:lnTo>
                <a:lnTo>
                  <a:pt x="182640" y="104794"/>
                </a:lnTo>
                <a:cubicBezTo>
                  <a:pt x="187618" y="104794"/>
                  <a:pt x="191623" y="100789"/>
                  <a:pt x="191623" y="95811"/>
                </a:cubicBezTo>
                <a:cubicBezTo>
                  <a:pt x="191623" y="90834"/>
                  <a:pt x="187618" y="86829"/>
                  <a:pt x="182640" y="86829"/>
                </a:cubicBezTo>
                <a:lnTo>
                  <a:pt x="167670" y="86829"/>
                </a:lnTo>
                <a:lnTo>
                  <a:pt x="167670" y="65870"/>
                </a:lnTo>
                <a:lnTo>
                  <a:pt x="182640" y="65870"/>
                </a:lnTo>
                <a:cubicBezTo>
                  <a:pt x="187618" y="65870"/>
                  <a:pt x="191623" y="61866"/>
                  <a:pt x="191623" y="56888"/>
                </a:cubicBezTo>
                <a:cubicBezTo>
                  <a:pt x="191623" y="51910"/>
                  <a:pt x="187618" y="47906"/>
                  <a:pt x="182640" y="47906"/>
                </a:cubicBezTo>
                <a:lnTo>
                  <a:pt x="167670" y="47906"/>
                </a:lnTo>
                <a:cubicBezTo>
                  <a:pt x="167670" y="34694"/>
                  <a:pt x="156929" y="23953"/>
                  <a:pt x="143717" y="23953"/>
                </a:cubicBezTo>
                <a:lnTo>
                  <a:pt x="143717" y="8982"/>
                </a:lnTo>
                <a:cubicBezTo>
                  <a:pt x="143717" y="4005"/>
                  <a:pt x="139712" y="0"/>
                  <a:pt x="134735" y="0"/>
                </a:cubicBezTo>
                <a:cubicBezTo>
                  <a:pt x="129757" y="0"/>
                  <a:pt x="125752" y="4005"/>
                  <a:pt x="125752" y="8982"/>
                </a:cubicBezTo>
                <a:lnTo>
                  <a:pt x="125752" y="23953"/>
                </a:lnTo>
                <a:lnTo>
                  <a:pt x="104794" y="23953"/>
                </a:lnTo>
                <a:lnTo>
                  <a:pt x="104794" y="8982"/>
                </a:lnTo>
                <a:cubicBezTo>
                  <a:pt x="104794" y="4005"/>
                  <a:pt x="100789" y="0"/>
                  <a:pt x="95811" y="0"/>
                </a:cubicBezTo>
                <a:cubicBezTo>
                  <a:pt x="90834" y="0"/>
                  <a:pt x="86829" y="4005"/>
                  <a:pt x="86829" y="8982"/>
                </a:cubicBezTo>
                <a:lnTo>
                  <a:pt x="86829" y="23953"/>
                </a:lnTo>
                <a:lnTo>
                  <a:pt x="65870" y="23953"/>
                </a:lnTo>
                <a:lnTo>
                  <a:pt x="65870" y="8982"/>
                </a:lnTo>
                <a:close/>
                <a:moveTo>
                  <a:pt x="59882" y="47906"/>
                </a:moveTo>
                <a:lnTo>
                  <a:pt x="131741" y="47906"/>
                </a:lnTo>
                <a:cubicBezTo>
                  <a:pt x="138365" y="47906"/>
                  <a:pt x="143717" y="53258"/>
                  <a:pt x="143717" y="59882"/>
                </a:cubicBezTo>
                <a:lnTo>
                  <a:pt x="143717" y="131741"/>
                </a:lnTo>
                <a:cubicBezTo>
                  <a:pt x="143717" y="138365"/>
                  <a:pt x="138365" y="143717"/>
                  <a:pt x="131741" y="143717"/>
                </a:cubicBezTo>
                <a:lnTo>
                  <a:pt x="59882" y="143717"/>
                </a:lnTo>
                <a:cubicBezTo>
                  <a:pt x="53258" y="143717"/>
                  <a:pt x="47906" y="138365"/>
                  <a:pt x="47906" y="131741"/>
                </a:cubicBezTo>
                <a:lnTo>
                  <a:pt x="47906" y="59882"/>
                </a:lnTo>
                <a:cubicBezTo>
                  <a:pt x="47906" y="53258"/>
                  <a:pt x="53258" y="47906"/>
                  <a:pt x="59882" y="47906"/>
                </a:cubicBezTo>
                <a:close/>
                <a:moveTo>
                  <a:pt x="65870" y="65870"/>
                </a:moveTo>
                <a:lnTo>
                  <a:pt x="65870" y="125752"/>
                </a:lnTo>
                <a:lnTo>
                  <a:pt x="125752" y="125752"/>
                </a:lnTo>
                <a:lnTo>
                  <a:pt x="125752" y="65870"/>
                </a:lnTo>
                <a:lnTo>
                  <a:pt x="65870" y="65870"/>
                </a:lnTo>
                <a:close/>
              </a:path>
            </a:pathLst>
          </a:custGeom>
          <a:solidFill>
            <a:srgbClr val="FFFFFF"/>
          </a:solidFill>
          <a:ln/>
        </p:spPr>
      </p:sp>
      <p:sp>
        <p:nvSpPr>
          <p:cNvPr id="18" name="Text 16"/>
          <p:cNvSpPr/>
          <p:nvPr/>
        </p:nvSpPr>
        <p:spPr>
          <a:xfrm>
            <a:off x="4524094" y="2376123"/>
            <a:ext cx="3145807" cy="223560"/>
          </a:xfrm>
          <a:prstGeom prst="rect">
            <a:avLst/>
          </a:prstGeom>
          <a:noFill/>
          <a:ln/>
        </p:spPr>
        <p:txBody>
          <a:bodyPr wrap="square" lIns="0" tIns="0" rIns="0" bIns="0" rtlCol="0" anchor="ctr"/>
          <a:lstStyle/>
          <a:p>
            <a:pPr algn="ctr">
              <a:lnSpc>
                <a:spcPct val="130000"/>
              </a:lnSpc>
            </a:pPr>
            <a:r>
              <a:rPr lang="en-US" sz="1132" b="1" dirty="0">
                <a:solidFill>
                  <a:srgbClr val="F5F5F7"/>
                </a:solidFill>
                <a:latin typeface="Liter" pitchFamily="34" charset="0"/>
                <a:ea typeface="Liter" pitchFamily="34" charset="-122"/>
                <a:cs typeface="Liter" pitchFamily="34" charset="-120"/>
              </a:rPr>
              <a:t>2. App Processes</a:t>
            </a:r>
            <a:endParaRPr lang="en-US" sz="1600" dirty="0"/>
          </a:p>
        </p:txBody>
      </p:sp>
      <p:sp>
        <p:nvSpPr>
          <p:cNvPr id="19" name="Text 17"/>
          <p:cNvSpPr/>
          <p:nvPr/>
        </p:nvSpPr>
        <p:spPr>
          <a:xfrm>
            <a:off x="4528086" y="2663558"/>
            <a:ext cx="3137823" cy="191623"/>
          </a:xfrm>
          <a:prstGeom prst="rect">
            <a:avLst/>
          </a:prstGeom>
          <a:noFill/>
          <a:ln/>
        </p:spPr>
        <p:txBody>
          <a:bodyPr wrap="square" lIns="0" tIns="0" rIns="0" bIns="0" rtlCol="0" anchor="ctr"/>
          <a:lstStyle/>
          <a:p>
            <a:pPr algn="ctr">
              <a:lnSpc>
                <a:spcPct val="130000"/>
              </a:lnSpc>
            </a:pPr>
            <a:r>
              <a:rPr lang="en-US" sz="1006" dirty="0">
                <a:solidFill>
                  <a:srgbClr val="8E8E93"/>
                </a:solidFill>
                <a:latin typeface="Quattrocento Sans" pitchFamily="34" charset="0"/>
                <a:ea typeface="Quattrocento Sans" pitchFamily="34" charset="-122"/>
                <a:cs typeface="Quattrocento Sans" pitchFamily="34" charset="-120"/>
              </a:rPr>
              <a:t>App understands what you want and works on it</a:t>
            </a:r>
            <a:endParaRPr lang="en-US" sz="1600" dirty="0"/>
          </a:p>
        </p:txBody>
      </p:sp>
      <p:sp>
        <p:nvSpPr>
          <p:cNvPr id="20" name="Shape 18"/>
          <p:cNvSpPr/>
          <p:nvPr/>
        </p:nvSpPr>
        <p:spPr>
          <a:xfrm>
            <a:off x="7932884" y="2181306"/>
            <a:ext cx="239528" cy="239528"/>
          </a:xfrm>
          <a:custGeom>
            <a:avLst/>
            <a:gdLst/>
            <a:ahLst/>
            <a:cxnLst/>
            <a:rect l="l" t="t" r="r" b="b"/>
            <a:pathLst>
              <a:path w="239528" h="239528">
                <a:moveTo>
                  <a:pt x="235131" y="130337"/>
                </a:moveTo>
                <a:cubicBezTo>
                  <a:pt x="240979" y="124489"/>
                  <a:pt x="240979" y="114992"/>
                  <a:pt x="235131" y="109145"/>
                </a:cubicBezTo>
                <a:lnTo>
                  <a:pt x="160278" y="34292"/>
                </a:lnTo>
                <a:cubicBezTo>
                  <a:pt x="154430" y="28444"/>
                  <a:pt x="144933" y="28444"/>
                  <a:pt x="139086" y="34292"/>
                </a:cubicBezTo>
                <a:cubicBezTo>
                  <a:pt x="133238" y="40140"/>
                  <a:pt x="133238" y="49637"/>
                  <a:pt x="139086" y="55485"/>
                </a:cubicBezTo>
                <a:lnTo>
                  <a:pt x="188395" y="104794"/>
                </a:lnTo>
                <a:lnTo>
                  <a:pt x="14971" y="104794"/>
                </a:lnTo>
                <a:cubicBezTo>
                  <a:pt x="6690" y="104794"/>
                  <a:pt x="0" y="111484"/>
                  <a:pt x="0" y="119764"/>
                </a:cubicBezTo>
                <a:cubicBezTo>
                  <a:pt x="0" y="128045"/>
                  <a:pt x="6690" y="134735"/>
                  <a:pt x="14971" y="134735"/>
                </a:cubicBezTo>
                <a:lnTo>
                  <a:pt x="188395" y="134735"/>
                </a:lnTo>
                <a:lnTo>
                  <a:pt x="139086" y="184044"/>
                </a:lnTo>
                <a:cubicBezTo>
                  <a:pt x="133238" y="189892"/>
                  <a:pt x="133238" y="199389"/>
                  <a:pt x="139086" y="205237"/>
                </a:cubicBezTo>
                <a:cubicBezTo>
                  <a:pt x="144933" y="211084"/>
                  <a:pt x="154430" y="211084"/>
                  <a:pt x="160278" y="205237"/>
                </a:cubicBezTo>
                <a:lnTo>
                  <a:pt x="235131" y="130384"/>
                </a:lnTo>
                <a:close/>
              </a:path>
            </a:pathLst>
          </a:custGeom>
          <a:solidFill>
            <a:srgbClr val="0A84FF"/>
          </a:solidFill>
          <a:ln/>
        </p:spPr>
      </p:sp>
      <p:sp>
        <p:nvSpPr>
          <p:cNvPr id="21" name="Shape 19"/>
          <p:cNvSpPr/>
          <p:nvPr/>
        </p:nvSpPr>
        <p:spPr>
          <a:xfrm>
            <a:off x="8334494" y="1635181"/>
            <a:ext cx="3342221" cy="1354134"/>
          </a:xfrm>
          <a:prstGeom prst="roundRect">
            <a:avLst>
              <a:gd name="adj" fmla="val 7075"/>
            </a:avLst>
          </a:prstGeom>
          <a:solidFill>
            <a:srgbClr val="1A1D21"/>
          </a:solidFill>
          <a:ln w="20320">
            <a:solidFill>
              <a:srgbClr val="34C759"/>
            </a:solidFill>
            <a:prstDash val="solid"/>
          </a:ln>
        </p:spPr>
      </p:sp>
      <p:sp>
        <p:nvSpPr>
          <p:cNvPr id="22" name="Shape 20"/>
          <p:cNvSpPr/>
          <p:nvPr/>
        </p:nvSpPr>
        <p:spPr>
          <a:xfrm>
            <a:off x="9749409" y="1769318"/>
            <a:ext cx="510994" cy="510994"/>
          </a:xfrm>
          <a:prstGeom prst="roundRect">
            <a:avLst>
              <a:gd name="adj" fmla="val 50000"/>
            </a:avLst>
          </a:prstGeom>
          <a:solidFill>
            <a:srgbClr val="34C759"/>
          </a:solidFill>
          <a:ln/>
        </p:spPr>
      </p:sp>
      <p:sp>
        <p:nvSpPr>
          <p:cNvPr id="23" name="Shape 21"/>
          <p:cNvSpPr/>
          <p:nvPr/>
        </p:nvSpPr>
        <p:spPr>
          <a:xfrm>
            <a:off x="9909094" y="1929004"/>
            <a:ext cx="191623" cy="191623"/>
          </a:xfrm>
          <a:custGeom>
            <a:avLst/>
            <a:gdLst/>
            <a:ahLst/>
            <a:cxnLst/>
            <a:rect l="l" t="t" r="r" b="b"/>
            <a:pathLst>
              <a:path w="191623" h="191623">
                <a:moveTo>
                  <a:pt x="23953" y="11976"/>
                </a:moveTo>
                <a:cubicBezTo>
                  <a:pt x="10741" y="11976"/>
                  <a:pt x="0" y="22718"/>
                  <a:pt x="0" y="35929"/>
                </a:cubicBezTo>
                <a:lnTo>
                  <a:pt x="0" y="131741"/>
                </a:lnTo>
                <a:cubicBezTo>
                  <a:pt x="0" y="144952"/>
                  <a:pt x="10741" y="155694"/>
                  <a:pt x="23953" y="155694"/>
                </a:cubicBezTo>
                <a:lnTo>
                  <a:pt x="77847" y="155694"/>
                </a:lnTo>
                <a:lnTo>
                  <a:pt x="71859" y="173658"/>
                </a:lnTo>
                <a:lnTo>
                  <a:pt x="44912" y="173658"/>
                </a:lnTo>
                <a:cubicBezTo>
                  <a:pt x="39934" y="173658"/>
                  <a:pt x="35929" y="177663"/>
                  <a:pt x="35929" y="182640"/>
                </a:cubicBezTo>
                <a:cubicBezTo>
                  <a:pt x="35929" y="187618"/>
                  <a:pt x="39934" y="191623"/>
                  <a:pt x="44912" y="191623"/>
                </a:cubicBezTo>
                <a:lnTo>
                  <a:pt x="146711" y="191623"/>
                </a:lnTo>
                <a:cubicBezTo>
                  <a:pt x="151689" y="191623"/>
                  <a:pt x="155694" y="187618"/>
                  <a:pt x="155694" y="182640"/>
                </a:cubicBezTo>
                <a:cubicBezTo>
                  <a:pt x="155694" y="177663"/>
                  <a:pt x="151689" y="173658"/>
                  <a:pt x="146711" y="173658"/>
                </a:cubicBezTo>
                <a:lnTo>
                  <a:pt x="119764" y="173658"/>
                </a:lnTo>
                <a:lnTo>
                  <a:pt x="113776" y="155694"/>
                </a:lnTo>
                <a:lnTo>
                  <a:pt x="167670" y="155694"/>
                </a:lnTo>
                <a:cubicBezTo>
                  <a:pt x="180881" y="155694"/>
                  <a:pt x="191623" y="144952"/>
                  <a:pt x="191623" y="131741"/>
                </a:cubicBezTo>
                <a:lnTo>
                  <a:pt x="191623" y="35929"/>
                </a:lnTo>
                <a:cubicBezTo>
                  <a:pt x="191623" y="22718"/>
                  <a:pt x="180881" y="11976"/>
                  <a:pt x="167670" y="11976"/>
                </a:cubicBezTo>
                <a:lnTo>
                  <a:pt x="23953" y="11976"/>
                </a:lnTo>
                <a:close/>
                <a:moveTo>
                  <a:pt x="35929" y="35929"/>
                </a:moveTo>
                <a:lnTo>
                  <a:pt x="155694" y="35929"/>
                </a:lnTo>
                <a:cubicBezTo>
                  <a:pt x="162318" y="35929"/>
                  <a:pt x="167670" y="41281"/>
                  <a:pt x="167670" y="47906"/>
                </a:cubicBezTo>
                <a:lnTo>
                  <a:pt x="167670" y="107788"/>
                </a:lnTo>
                <a:cubicBezTo>
                  <a:pt x="167670" y="114412"/>
                  <a:pt x="162318" y="119764"/>
                  <a:pt x="155694" y="119764"/>
                </a:cubicBezTo>
                <a:lnTo>
                  <a:pt x="35929" y="119764"/>
                </a:lnTo>
                <a:cubicBezTo>
                  <a:pt x="29305" y="119764"/>
                  <a:pt x="23953" y="114412"/>
                  <a:pt x="23953" y="107788"/>
                </a:cubicBezTo>
                <a:lnTo>
                  <a:pt x="23953" y="47906"/>
                </a:lnTo>
                <a:cubicBezTo>
                  <a:pt x="23953" y="41281"/>
                  <a:pt x="29305" y="35929"/>
                  <a:pt x="35929" y="35929"/>
                </a:cubicBezTo>
                <a:close/>
              </a:path>
            </a:pathLst>
          </a:custGeom>
          <a:solidFill>
            <a:srgbClr val="1D1D1F"/>
          </a:solidFill>
          <a:ln/>
        </p:spPr>
      </p:sp>
      <p:sp>
        <p:nvSpPr>
          <p:cNvPr id="24" name="Text 22"/>
          <p:cNvSpPr/>
          <p:nvPr/>
        </p:nvSpPr>
        <p:spPr>
          <a:xfrm>
            <a:off x="8432700" y="2376123"/>
            <a:ext cx="3145807" cy="223560"/>
          </a:xfrm>
          <a:prstGeom prst="rect">
            <a:avLst/>
          </a:prstGeom>
          <a:noFill/>
          <a:ln/>
        </p:spPr>
        <p:txBody>
          <a:bodyPr wrap="square" lIns="0" tIns="0" rIns="0" bIns="0" rtlCol="0" anchor="ctr"/>
          <a:lstStyle/>
          <a:p>
            <a:pPr algn="ctr">
              <a:lnSpc>
                <a:spcPct val="130000"/>
              </a:lnSpc>
            </a:pPr>
            <a:r>
              <a:rPr lang="en-US" sz="1132" b="1" dirty="0">
                <a:solidFill>
                  <a:srgbClr val="F5F5F7"/>
                </a:solidFill>
                <a:latin typeface="Liter" pitchFamily="34" charset="0"/>
                <a:ea typeface="Liter" pitchFamily="34" charset="-122"/>
                <a:cs typeface="Liter" pitchFamily="34" charset="-120"/>
              </a:rPr>
              <a:t>3. Shows Result</a:t>
            </a:r>
            <a:endParaRPr lang="en-US" sz="1600" dirty="0"/>
          </a:p>
        </p:txBody>
      </p:sp>
      <p:sp>
        <p:nvSpPr>
          <p:cNvPr id="25" name="Text 23"/>
          <p:cNvSpPr/>
          <p:nvPr/>
        </p:nvSpPr>
        <p:spPr>
          <a:xfrm>
            <a:off x="8436692" y="2663558"/>
            <a:ext cx="3137823" cy="191623"/>
          </a:xfrm>
          <a:prstGeom prst="rect">
            <a:avLst/>
          </a:prstGeom>
          <a:noFill/>
          <a:ln/>
        </p:spPr>
        <p:txBody>
          <a:bodyPr wrap="square" lIns="0" tIns="0" rIns="0" bIns="0" rtlCol="0" anchor="ctr"/>
          <a:lstStyle/>
          <a:p>
            <a:pPr algn="ctr">
              <a:lnSpc>
                <a:spcPct val="130000"/>
              </a:lnSpc>
            </a:pPr>
            <a:r>
              <a:rPr lang="en-US" sz="1006" dirty="0">
                <a:solidFill>
                  <a:srgbClr val="8E8E93"/>
                </a:solidFill>
                <a:latin typeface="Quattrocento Sans" pitchFamily="34" charset="0"/>
                <a:ea typeface="Quattrocento Sans" pitchFamily="34" charset="-122"/>
                <a:cs typeface="Quattrocento Sans" pitchFamily="34" charset="-120"/>
              </a:rPr>
              <a:t>App displays information or completes action</a:t>
            </a:r>
            <a:endParaRPr lang="en-US" sz="1600" dirty="0"/>
          </a:p>
        </p:txBody>
      </p:sp>
      <p:sp>
        <p:nvSpPr>
          <p:cNvPr id="26" name="Shape 24"/>
          <p:cNvSpPr/>
          <p:nvPr/>
        </p:nvSpPr>
        <p:spPr>
          <a:xfrm>
            <a:off x="335340" y="3315074"/>
            <a:ext cx="5700778" cy="2155756"/>
          </a:xfrm>
          <a:custGeom>
            <a:avLst/>
            <a:gdLst/>
            <a:ahLst/>
            <a:cxnLst/>
            <a:rect l="l" t="t" r="r" b="b"/>
            <a:pathLst>
              <a:path w="5700778" h="2155756">
                <a:moveTo>
                  <a:pt x="31877" y="0"/>
                </a:moveTo>
                <a:lnTo>
                  <a:pt x="5573014" y="0"/>
                </a:lnTo>
                <a:cubicBezTo>
                  <a:pt x="5643575" y="0"/>
                  <a:pt x="5700776" y="57201"/>
                  <a:pt x="5700776" y="127762"/>
                </a:cubicBezTo>
                <a:lnTo>
                  <a:pt x="5700776" y="2028063"/>
                </a:lnTo>
                <a:cubicBezTo>
                  <a:pt x="5700706" y="2098574"/>
                  <a:pt x="5643525" y="2155698"/>
                  <a:pt x="5573014" y="2155698"/>
                </a:cubicBezTo>
                <a:lnTo>
                  <a:pt x="31877" y="2155698"/>
                </a:lnTo>
                <a:cubicBezTo>
                  <a:pt x="14272" y="2155698"/>
                  <a:pt x="0" y="2141426"/>
                  <a:pt x="0" y="2123821"/>
                </a:cubicBezTo>
                <a:lnTo>
                  <a:pt x="0" y="31877"/>
                </a:lnTo>
                <a:cubicBezTo>
                  <a:pt x="0" y="14284"/>
                  <a:pt x="14284" y="0"/>
                  <a:pt x="31877" y="0"/>
                </a:cubicBezTo>
                <a:close/>
              </a:path>
            </a:pathLst>
          </a:custGeom>
          <a:solidFill>
            <a:srgbClr val="2C2C2E"/>
          </a:solidFill>
          <a:ln/>
        </p:spPr>
      </p:sp>
      <p:sp>
        <p:nvSpPr>
          <p:cNvPr id="27" name="Shape 25"/>
          <p:cNvSpPr/>
          <p:nvPr/>
        </p:nvSpPr>
        <p:spPr>
          <a:xfrm>
            <a:off x="335340" y="3315074"/>
            <a:ext cx="31937" cy="2155756"/>
          </a:xfrm>
          <a:custGeom>
            <a:avLst/>
            <a:gdLst/>
            <a:ahLst/>
            <a:cxnLst/>
            <a:rect l="l" t="t" r="r" b="b"/>
            <a:pathLst>
              <a:path w="31937" h="2155756">
                <a:moveTo>
                  <a:pt x="31877" y="0"/>
                </a:moveTo>
                <a:lnTo>
                  <a:pt x="31877" y="0"/>
                </a:lnTo>
                <a:lnTo>
                  <a:pt x="31877" y="2155698"/>
                </a:lnTo>
                <a:lnTo>
                  <a:pt x="31877" y="2155698"/>
                </a:lnTo>
                <a:cubicBezTo>
                  <a:pt x="14272" y="2155698"/>
                  <a:pt x="0" y="2141426"/>
                  <a:pt x="0" y="2123821"/>
                </a:cubicBezTo>
                <a:lnTo>
                  <a:pt x="0" y="31877"/>
                </a:lnTo>
                <a:cubicBezTo>
                  <a:pt x="0" y="14284"/>
                  <a:pt x="14284" y="0"/>
                  <a:pt x="31877" y="0"/>
                </a:cubicBezTo>
                <a:close/>
              </a:path>
            </a:pathLst>
          </a:custGeom>
          <a:solidFill>
            <a:srgbClr val="34C759"/>
          </a:solidFill>
          <a:ln/>
        </p:spPr>
      </p:sp>
      <p:sp>
        <p:nvSpPr>
          <p:cNvPr id="28" name="Shape 26"/>
          <p:cNvSpPr/>
          <p:nvPr/>
        </p:nvSpPr>
        <p:spPr>
          <a:xfrm>
            <a:off x="548919" y="3514681"/>
            <a:ext cx="107788" cy="143717"/>
          </a:xfrm>
          <a:custGeom>
            <a:avLst/>
            <a:gdLst/>
            <a:ahLst/>
            <a:cxnLst/>
            <a:rect l="l" t="t" r="r" b="b"/>
            <a:pathLst>
              <a:path w="107788" h="143717">
                <a:moveTo>
                  <a:pt x="82216" y="107788"/>
                </a:moveTo>
                <a:cubicBezTo>
                  <a:pt x="84265" y="101528"/>
                  <a:pt x="88364" y="95858"/>
                  <a:pt x="92995" y="90974"/>
                </a:cubicBezTo>
                <a:cubicBezTo>
                  <a:pt x="102174" y="81318"/>
                  <a:pt x="107788" y="68266"/>
                  <a:pt x="107788" y="53894"/>
                </a:cubicBezTo>
                <a:cubicBezTo>
                  <a:pt x="107788" y="24140"/>
                  <a:pt x="83648" y="0"/>
                  <a:pt x="53894" y="0"/>
                </a:cubicBezTo>
                <a:cubicBezTo>
                  <a:pt x="24140" y="0"/>
                  <a:pt x="0" y="24140"/>
                  <a:pt x="0" y="53894"/>
                </a:cubicBezTo>
                <a:cubicBezTo>
                  <a:pt x="0" y="68266"/>
                  <a:pt x="5614" y="81318"/>
                  <a:pt x="14793" y="90974"/>
                </a:cubicBezTo>
                <a:cubicBezTo>
                  <a:pt x="19424" y="95858"/>
                  <a:pt x="23551" y="101528"/>
                  <a:pt x="25572" y="107788"/>
                </a:cubicBezTo>
                <a:lnTo>
                  <a:pt x="82188" y="107788"/>
                </a:lnTo>
                <a:close/>
                <a:moveTo>
                  <a:pt x="80841" y="121261"/>
                </a:moveTo>
                <a:lnTo>
                  <a:pt x="26947" y="121261"/>
                </a:lnTo>
                <a:lnTo>
                  <a:pt x="26947" y="125752"/>
                </a:lnTo>
                <a:cubicBezTo>
                  <a:pt x="26947" y="138159"/>
                  <a:pt x="36996" y="148208"/>
                  <a:pt x="49403" y="148208"/>
                </a:cubicBezTo>
                <a:lnTo>
                  <a:pt x="58385" y="148208"/>
                </a:lnTo>
                <a:cubicBezTo>
                  <a:pt x="70792" y="148208"/>
                  <a:pt x="80841" y="138159"/>
                  <a:pt x="80841" y="125752"/>
                </a:cubicBezTo>
                <a:lnTo>
                  <a:pt x="80841" y="121261"/>
                </a:lnTo>
                <a:close/>
                <a:moveTo>
                  <a:pt x="51648" y="31438"/>
                </a:moveTo>
                <a:cubicBezTo>
                  <a:pt x="40477" y="31438"/>
                  <a:pt x="31438" y="40477"/>
                  <a:pt x="31438" y="51648"/>
                </a:cubicBezTo>
                <a:cubicBezTo>
                  <a:pt x="31438" y="55382"/>
                  <a:pt x="28435" y="58385"/>
                  <a:pt x="24701" y="58385"/>
                </a:cubicBezTo>
                <a:cubicBezTo>
                  <a:pt x="20968" y="58385"/>
                  <a:pt x="17965" y="55382"/>
                  <a:pt x="17965" y="51648"/>
                </a:cubicBezTo>
                <a:cubicBezTo>
                  <a:pt x="17965" y="33038"/>
                  <a:pt x="33038" y="17965"/>
                  <a:pt x="51648" y="17965"/>
                </a:cubicBezTo>
                <a:cubicBezTo>
                  <a:pt x="55382" y="17965"/>
                  <a:pt x="58385" y="20968"/>
                  <a:pt x="58385" y="24701"/>
                </a:cubicBezTo>
                <a:cubicBezTo>
                  <a:pt x="58385" y="28435"/>
                  <a:pt x="55382" y="31438"/>
                  <a:pt x="51648" y="31438"/>
                </a:cubicBezTo>
                <a:close/>
              </a:path>
            </a:pathLst>
          </a:custGeom>
          <a:solidFill>
            <a:srgbClr val="34C759"/>
          </a:solidFill>
          <a:ln/>
        </p:spPr>
      </p:sp>
      <p:sp>
        <p:nvSpPr>
          <p:cNvPr id="29" name="Text 27"/>
          <p:cNvSpPr/>
          <p:nvPr/>
        </p:nvSpPr>
        <p:spPr>
          <a:xfrm>
            <a:off x="694633" y="3474760"/>
            <a:ext cx="5253658" cy="223560"/>
          </a:xfrm>
          <a:prstGeom prst="rect">
            <a:avLst/>
          </a:prstGeom>
          <a:noFill/>
          <a:ln/>
        </p:spPr>
        <p:txBody>
          <a:bodyPr wrap="square" lIns="0" tIns="0" rIns="0" bIns="0" rtlCol="0" anchor="ctr"/>
          <a:lstStyle/>
          <a:p>
            <a:pPr>
              <a:lnSpc>
                <a:spcPct val="130000"/>
              </a:lnSpc>
            </a:pPr>
            <a:r>
              <a:rPr lang="en-US" sz="1132" b="1" dirty="0">
                <a:solidFill>
                  <a:srgbClr val="34C759"/>
                </a:solidFill>
                <a:latin typeface="Liter" pitchFamily="34" charset="0"/>
                <a:ea typeface="Liter" pitchFamily="34" charset="-122"/>
                <a:cs typeface="Liter" pitchFamily="34" charset="-120"/>
              </a:rPr>
              <a:t>Key Points</a:t>
            </a:r>
            <a:endParaRPr lang="en-US" sz="1600" dirty="0"/>
          </a:p>
        </p:txBody>
      </p:sp>
      <p:sp>
        <p:nvSpPr>
          <p:cNvPr id="30" name="Text 28"/>
          <p:cNvSpPr/>
          <p:nvPr/>
        </p:nvSpPr>
        <p:spPr>
          <a:xfrm>
            <a:off x="510994" y="3794131"/>
            <a:ext cx="103796" cy="191623"/>
          </a:xfrm>
          <a:prstGeom prst="rect">
            <a:avLst/>
          </a:prstGeom>
          <a:noFill/>
          <a:ln/>
        </p:spPr>
        <p:txBody>
          <a:bodyPr wrap="square" lIns="0" tIns="0" rIns="0" bIns="0" rtlCol="0" anchor="ctr"/>
          <a:lstStyle/>
          <a:p>
            <a:pPr>
              <a:lnSpc>
                <a:spcPct val="130000"/>
              </a:lnSpc>
            </a:pPr>
            <a:r>
              <a:rPr lang="en-US" sz="1006"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31" name="Text 29"/>
          <p:cNvSpPr/>
          <p:nvPr/>
        </p:nvSpPr>
        <p:spPr>
          <a:xfrm>
            <a:off x="616786" y="3794131"/>
            <a:ext cx="2283505" cy="191623"/>
          </a:xfrm>
          <a:prstGeom prst="rect">
            <a:avLst/>
          </a:prstGeom>
          <a:noFill/>
          <a:ln/>
        </p:spPr>
        <p:txBody>
          <a:bodyPr wrap="square" lIns="0" tIns="0" rIns="0" bIns="0" rtlCol="0" anchor="ctr"/>
          <a:lstStyle/>
          <a:p>
            <a:pPr>
              <a:lnSpc>
                <a:spcPct val="130000"/>
              </a:lnSpc>
            </a:pPr>
            <a:r>
              <a:rPr lang="en-US" sz="1006" dirty="0">
                <a:solidFill>
                  <a:srgbClr val="F5F5F7"/>
                </a:solidFill>
                <a:latin typeface="Quattrocento Sans" pitchFamily="34" charset="0"/>
                <a:ea typeface="Quattrocento Sans" pitchFamily="34" charset="-122"/>
                <a:cs typeface="Quattrocento Sans" pitchFamily="34" charset="-120"/>
              </a:rPr>
              <a:t>Apps have </a:t>
            </a:r>
            <a:pPr>
              <a:lnSpc>
                <a:spcPct val="130000"/>
              </a:lnSpc>
            </a:pPr>
            <a:r>
              <a:rPr lang="en-US" sz="1006" b="1" dirty="0">
                <a:solidFill>
                  <a:srgbClr val="34C759"/>
                </a:solidFill>
                <a:latin typeface="Quattrocento Sans" pitchFamily="34" charset="0"/>
                <a:ea typeface="Quattrocento Sans" pitchFamily="34" charset="-122"/>
                <a:cs typeface="Quattrocento Sans" pitchFamily="34" charset="-120"/>
              </a:rPr>
              <a:t>screens</a:t>
            </a:r>
            <a:pPr>
              <a:lnSpc>
                <a:spcPct val="130000"/>
              </a:lnSpc>
            </a:pPr>
            <a:r>
              <a:rPr lang="en-US" sz="1006" dirty="0">
                <a:solidFill>
                  <a:srgbClr val="F5F5F7"/>
                </a:solidFill>
                <a:latin typeface="Quattrocento Sans" pitchFamily="34" charset="0"/>
                <a:ea typeface="Quattrocento Sans" pitchFamily="34" charset="-122"/>
                <a:cs typeface="Quattrocento Sans" pitchFamily="34" charset="-120"/>
              </a:rPr>
              <a:t> (like pages in a book)</a:t>
            </a:r>
            <a:endParaRPr lang="en-US" sz="1600" dirty="0"/>
          </a:p>
        </p:txBody>
      </p:sp>
      <p:sp>
        <p:nvSpPr>
          <p:cNvPr id="32" name="Text 30"/>
          <p:cNvSpPr/>
          <p:nvPr/>
        </p:nvSpPr>
        <p:spPr>
          <a:xfrm>
            <a:off x="510994" y="4049628"/>
            <a:ext cx="103796" cy="191623"/>
          </a:xfrm>
          <a:prstGeom prst="rect">
            <a:avLst/>
          </a:prstGeom>
          <a:noFill/>
          <a:ln/>
        </p:spPr>
        <p:txBody>
          <a:bodyPr wrap="square" lIns="0" tIns="0" rIns="0" bIns="0" rtlCol="0" anchor="ctr"/>
          <a:lstStyle/>
          <a:p>
            <a:pPr>
              <a:lnSpc>
                <a:spcPct val="130000"/>
              </a:lnSpc>
            </a:pPr>
            <a:r>
              <a:rPr lang="en-US" sz="1006"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33" name="Text 31"/>
          <p:cNvSpPr/>
          <p:nvPr/>
        </p:nvSpPr>
        <p:spPr>
          <a:xfrm>
            <a:off x="616786" y="4049628"/>
            <a:ext cx="2123819" cy="191623"/>
          </a:xfrm>
          <a:prstGeom prst="rect">
            <a:avLst/>
          </a:prstGeom>
          <a:noFill/>
          <a:ln/>
        </p:spPr>
        <p:txBody>
          <a:bodyPr wrap="square" lIns="0" tIns="0" rIns="0" bIns="0" rtlCol="0" anchor="ctr"/>
          <a:lstStyle/>
          <a:p>
            <a:pPr>
              <a:lnSpc>
                <a:spcPct val="130000"/>
              </a:lnSpc>
            </a:pPr>
            <a:r>
              <a:rPr lang="en-US" sz="1006" dirty="0">
                <a:solidFill>
                  <a:srgbClr val="F5F5F7"/>
                </a:solidFill>
                <a:latin typeface="Quattrocento Sans" pitchFamily="34" charset="0"/>
                <a:ea typeface="Quattrocento Sans" pitchFamily="34" charset="-122"/>
                <a:cs typeface="Quattrocento Sans" pitchFamily="34" charset="-120"/>
              </a:rPr>
              <a:t>Each screen has </a:t>
            </a:r>
            <a:pPr>
              <a:lnSpc>
                <a:spcPct val="130000"/>
              </a:lnSpc>
            </a:pPr>
            <a:r>
              <a:rPr lang="en-US" sz="1006" b="1" dirty="0">
                <a:solidFill>
                  <a:srgbClr val="34C759"/>
                </a:solidFill>
                <a:latin typeface="Quattrocento Sans" pitchFamily="34" charset="0"/>
                <a:ea typeface="Quattrocento Sans" pitchFamily="34" charset="-122"/>
                <a:cs typeface="Quattrocento Sans" pitchFamily="34" charset="-120"/>
              </a:rPr>
              <a:t>buttons, text, images</a:t>
            </a:r>
            <a:endParaRPr lang="en-US" sz="1600" dirty="0"/>
          </a:p>
        </p:txBody>
      </p:sp>
      <p:sp>
        <p:nvSpPr>
          <p:cNvPr id="34" name="Text 32"/>
          <p:cNvSpPr/>
          <p:nvPr/>
        </p:nvSpPr>
        <p:spPr>
          <a:xfrm>
            <a:off x="510994" y="4305125"/>
            <a:ext cx="103796" cy="191623"/>
          </a:xfrm>
          <a:prstGeom prst="rect">
            <a:avLst/>
          </a:prstGeom>
          <a:noFill/>
          <a:ln/>
        </p:spPr>
        <p:txBody>
          <a:bodyPr wrap="square" lIns="0" tIns="0" rIns="0" bIns="0" rtlCol="0" anchor="ctr"/>
          <a:lstStyle/>
          <a:p>
            <a:pPr>
              <a:lnSpc>
                <a:spcPct val="130000"/>
              </a:lnSpc>
            </a:pPr>
            <a:r>
              <a:rPr lang="en-US" sz="1006"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35" name="Text 33"/>
          <p:cNvSpPr/>
          <p:nvPr/>
        </p:nvSpPr>
        <p:spPr>
          <a:xfrm>
            <a:off x="616786" y="4305125"/>
            <a:ext cx="1828401" cy="191623"/>
          </a:xfrm>
          <a:prstGeom prst="rect">
            <a:avLst/>
          </a:prstGeom>
          <a:noFill/>
          <a:ln/>
        </p:spPr>
        <p:txBody>
          <a:bodyPr wrap="square" lIns="0" tIns="0" rIns="0" bIns="0" rtlCol="0" anchor="ctr"/>
          <a:lstStyle/>
          <a:p>
            <a:pPr>
              <a:lnSpc>
                <a:spcPct val="130000"/>
              </a:lnSpc>
            </a:pPr>
            <a:r>
              <a:rPr lang="en-US" sz="1006" dirty="0">
                <a:solidFill>
                  <a:srgbClr val="F5F5F7"/>
                </a:solidFill>
                <a:latin typeface="Quattrocento Sans" pitchFamily="34" charset="0"/>
                <a:ea typeface="Quattrocento Sans" pitchFamily="34" charset="-122"/>
                <a:cs typeface="Quattrocento Sans" pitchFamily="34" charset="-120"/>
              </a:rPr>
              <a:t>Tapping buttons </a:t>
            </a:r>
            <a:pPr>
              <a:lnSpc>
                <a:spcPct val="130000"/>
              </a:lnSpc>
            </a:pPr>
            <a:r>
              <a:rPr lang="en-US" sz="1006" b="1" dirty="0">
                <a:solidFill>
                  <a:srgbClr val="34C759"/>
                </a:solidFill>
                <a:latin typeface="Quattrocento Sans" pitchFamily="34" charset="0"/>
                <a:ea typeface="Quattrocento Sans" pitchFamily="34" charset="-122"/>
                <a:cs typeface="Quattrocento Sans" pitchFamily="34" charset="-120"/>
              </a:rPr>
              <a:t>triggers actions</a:t>
            </a:r>
            <a:endParaRPr lang="en-US" sz="1600" dirty="0"/>
          </a:p>
        </p:txBody>
      </p:sp>
      <p:sp>
        <p:nvSpPr>
          <p:cNvPr id="36" name="Text 34"/>
          <p:cNvSpPr/>
          <p:nvPr/>
        </p:nvSpPr>
        <p:spPr>
          <a:xfrm>
            <a:off x="510994" y="4560622"/>
            <a:ext cx="103796" cy="191623"/>
          </a:xfrm>
          <a:prstGeom prst="rect">
            <a:avLst/>
          </a:prstGeom>
          <a:noFill/>
          <a:ln/>
        </p:spPr>
        <p:txBody>
          <a:bodyPr wrap="square" lIns="0" tIns="0" rIns="0" bIns="0" rtlCol="0" anchor="ctr"/>
          <a:lstStyle/>
          <a:p>
            <a:pPr>
              <a:lnSpc>
                <a:spcPct val="130000"/>
              </a:lnSpc>
            </a:pPr>
            <a:r>
              <a:rPr lang="en-US" sz="1006"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37" name="Text 35"/>
          <p:cNvSpPr/>
          <p:nvPr/>
        </p:nvSpPr>
        <p:spPr>
          <a:xfrm>
            <a:off x="616786" y="4560622"/>
            <a:ext cx="2115835" cy="191623"/>
          </a:xfrm>
          <a:prstGeom prst="rect">
            <a:avLst/>
          </a:prstGeom>
          <a:noFill/>
          <a:ln/>
        </p:spPr>
        <p:txBody>
          <a:bodyPr wrap="square" lIns="0" tIns="0" rIns="0" bIns="0" rtlCol="0" anchor="ctr"/>
          <a:lstStyle/>
          <a:p>
            <a:pPr>
              <a:lnSpc>
                <a:spcPct val="130000"/>
              </a:lnSpc>
            </a:pPr>
            <a:r>
              <a:rPr lang="en-US" sz="1006" dirty="0">
                <a:solidFill>
                  <a:srgbClr val="F5F5F7"/>
                </a:solidFill>
                <a:latin typeface="Quattrocento Sans" pitchFamily="34" charset="0"/>
                <a:ea typeface="Quattrocento Sans" pitchFamily="34" charset="-122"/>
                <a:cs typeface="Quattrocento Sans" pitchFamily="34" charset="-120"/>
              </a:rPr>
              <a:t>Apps can </a:t>
            </a:r>
            <a:pPr>
              <a:lnSpc>
                <a:spcPct val="130000"/>
              </a:lnSpc>
            </a:pPr>
            <a:r>
              <a:rPr lang="en-US" sz="1006" b="1" dirty="0">
                <a:solidFill>
                  <a:srgbClr val="34C759"/>
                </a:solidFill>
                <a:latin typeface="Quattrocento Sans" pitchFamily="34" charset="0"/>
                <a:ea typeface="Quattrocento Sans" pitchFamily="34" charset="-122"/>
                <a:cs typeface="Quattrocento Sans" pitchFamily="34" charset="-120"/>
              </a:rPr>
              <a:t>connect to internet</a:t>
            </a:r>
            <a:pPr>
              <a:lnSpc>
                <a:spcPct val="130000"/>
              </a:lnSpc>
            </a:pPr>
            <a:r>
              <a:rPr lang="en-US" sz="1006" dirty="0">
                <a:solidFill>
                  <a:srgbClr val="F5F5F7"/>
                </a:solidFill>
                <a:latin typeface="Quattrocento Sans" pitchFamily="34" charset="0"/>
                <a:ea typeface="Quattrocento Sans" pitchFamily="34" charset="-122"/>
                <a:cs typeface="Quattrocento Sans" pitchFamily="34" charset="-120"/>
              </a:rPr>
              <a:t> for data</a:t>
            </a:r>
            <a:endParaRPr lang="en-US" sz="1600" dirty="0"/>
          </a:p>
        </p:txBody>
      </p:sp>
      <p:sp>
        <p:nvSpPr>
          <p:cNvPr id="38" name="Text 36"/>
          <p:cNvSpPr/>
          <p:nvPr/>
        </p:nvSpPr>
        <p:spPr>
          <a:xfrm>
            <a:off x="510994" y="4816119"/>
            <a:ext cx="103796" cy="191623"/>
          </a:xfrm>
          <a:prstGeom prst="rect">
            <a:avLst/>
          </a:prstGeom>
          <a:noFill/>
          <a:ln/>
        </p:spPr>
        <p:txBody>
          <a:bodyPr wrap="square" lIns="0" tIns="0" rIns="0" bIns="0" rtlCol="0" anchor="ctr"/>
          <a:lstStyle/>
          <a:p>
            <a:pPr>
              <a:lnSpc>
                <a:spcPct val="130000"/>
              </a:lnSpc>
            </a:pPr>
            <a:r>
              <a:rPr lang="en-US" sz="1006"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39" name="Text 37"/>
          <p:cNvSpPr/>
          <p:nvPr/>
        </p:nvSpPr>
        <p:spPr>
          <a:xfrm>
            <a:off x="616786" y="4816119"/>
            <a:ext cx="1908244" cy="191623"/>
          </a:xfrm>
          <a:prstGeom prst="rect">
            <a:avLst/>
          </a:prstGeom>
          <a:noFill/>
          <a:ln/>
        </p:spPr>
        <p:txBody>
          <a:bodyPr wrap="square" lIns="0" tIns="0" rIns="0" bIns="0" rtlCol="0" anchor="ctr"/>
          <a:lstStyle/>
          <a:p>
            <a:pPr>
              <a:lnSpc>
                <a:spcPct val="130000"/>
              </a:lnSpc>
            </a:pPr>
            <a:r>
              <a:rPr lang="en-US" sz="1006" dirty="0">
                <a:solidFill>
                  <a:srgbClr val="F5F5F7"/>
                </a:solidFill>
                <a:latin typeface="Quattrocento Sans" pitchFamily="34" charset="0"/>
                <a:ea typeface="Quattrocento Sans" pitchFamily="34" charset="-122"/>
                <a:cs typeface="Quattrocento Sans" pitchFamily="34" charset="-120"/>
              </a:rPr>
              <a:t>Some apps work </a:t>
            </a:r>
            <a:pPr>
              <a:lnSpc>
                <a:spcPct val="130000"/>
              </a:lnSpc>
            </a:pPr>
            <a:r>
              <a:rPr lang="en-US" sz="1006" b="1" dirty="0">
                <a:solidFill>
                  <a:srgbClr val="34C759"/>
                </a:solidFill>
                <a:latin typeface="Quattrocento Sans" pitchFamily="34" charset="0"/>
                <a:ea typeface="Quattrocento Sans" pitchFamily="34" charset="-122"/>
                <a:cs typeface="Quattrocento Sans" pitchFamily="34" charset="-120"/>
              </a:rPr>
              <a:t>without internet</a:t>
            </a:r>
            <a:endParaRPr lang="en-US" sz="1600" dirty="0"/>
          </a:p>
        </p:txBody>
      </p:sp>
      <p:sp>
        <p:nvSpPr>
          <p:cNvPr id="40" name="Shape 38"/>
          <p:cNvSpPr/>
          <p:nvPr/>
        </p:nvSpPr>
        <p:spPr>
          <a:xfrm>
            <a:off x="322565" y="5604967"/>
            <a:ext cx="5707165" cy="1060313"/>
          </a:xfrm>
          <a:prstGeom prst="roundRect">
            <a:avLst>
              <a:gd name="adj" fmla="val 12048"/>
            </a:avLst>
          </a:prstGeom>
          <a:solidFill>
            <a:srgbClr val="0A84FF">
              <a:alpha val="10196"/>
            </a:srgbClr>
          </a:solidFill>
          <a:ln w="10160">
            <a:solidFill>
              <a:srgbClr val="0A84FF">
                <a:alpha val="30196"/>
              </a:srgbClr>
            </a:solidFill>
            <a:prstDash val="solid"/>
          </a:ln>
        </p:spPr>
      </p:sp>
      <p:sp>
        <p:nvSpPr>
          <p:cNvPr id="41" name="Shape 39"/>
          <p:cNvSpPr/>
          <p:nvPr/>
        </p:nvSpPr>
        <p:spPr>
          <a:xfrm>
            <a:off x="505405" y="5807769"/>
            <a:ext cx="143717" cy="143717"/>
          </a:xfrm>
          <a:custGeom>
            <a:avLst/>
            <a:gdLst/>
            <a:ahLst/>
            <a:cxnLst/>
            <a:rect l="l" t="t" r="r" b="b"/>
            <a:pathLst>
              <a:path w="143717" h="143717">
                <a:moveTo>
                  <a:pt x="71859" y="134735"/>
                </a:moveTo>
                <a:cubicBezTo>
                  <a:pt x="111549" y="134735"/>
                  <a:pt x="143717" y="104560"/>
                  <a:pt x="143717" y="67367"/>
                </a:cubicBezTo>
                <a:cubicBezTo>
                  <a:pt x="143717" y="30175"/>
                  <a:pt x="111549" y="0"/>
                  <a:pt x="71859" y="0"/>
                </a:cubicBezTo>
                <a:cubicBezTo>
                  <a:pt x="32168" y="0"/>
                  <a:pt x="0" y="30175"/>
                  <a:pt x="0" y="67367"/>
                </a:cubicBezTo>
                <a:cubicBezTo>
                  <a:pt x="0" y="82609"/>
                  <a:pt x="5389" y="96644"/>
                  <a:pt x="14484" y="107928"/>
                </a:cubicBezTo>
                <a:lnTo>
                  <a:pt x="786" y="133837"/>
                </a:lnTo>
                <a:cubicBezTo>
                  <a:pt x="-561" y="136363"/>
                  <a:pt x="-140" y="139450"/>
                  <a:pt x="1796" y="141556"/>
                </a:cubicBezTo>
                <a:cubicBezTo>
                  <a:pt x="3733" y="143661"/>
                  <a:pt x="6793" y="144307"/>
                  <a:pt x="9403" y="143184"/>
                </a:cubicBezTo>
                <a:lnTo>
                  <a:pt x="42638" y="128952"/>
                </a:lnTo>
                <a:cubicBezTo>
                  <a:pt x="51564" y="132658"/>
                  <a:pt x="61445" y="134735"/>
                  <a:pt x="71859" y="134735"/>
                </a:cubicBezTo>
                <a:close/>
                <a:moveTo>
                  <a:pt x="35929" y="58385"/>
                </a:moveTo>
                <a:cubicBezTo>
                  <a:pt x="40887" y="58385"/>
                  <a:pt x="44912" y="62410"/>
                  <a:pt x="44912" y="67367"/>
                </a:cubicBezTo>
                <a:cubicBezTo>
                  <a:pt x="44912" y="72325"/>
                  <a:pt x="40887" y="76350"/>
                  <a:pt x="35929" y="76350"/>
                </a:cubicBezTo>
                <a:cubicBezTo>
                  <a:pt x="30972" y="76350"/>
                  <a:pt x="26947" y="72325"/>
                  <a:pt x="26947" y="67367"/>
                </a:cubicBezTo>
                <a:cubicBezTo>
                  <a:pt x="26947" y="62410"/>
                  <a:pt x="30972" y="58385"/>
                  <a:pt x="35929" y="58385"/>
                </a:cubicBezTo>
                <a:close/>
                <a:moveTo>
                  <a:pt x="71859" y="58385"/>
                </a:moveTo>
                <a:cubicBezTo>
                  <a:pt x="76816" y="58385"/>
                  <a:pt x="80841" y="62410"/>
                  <a:pt x="80841" y="67367"/>
                </a:cubicBezTo>
                <a:cubicBezTo>
                  <a:pt x="80841" y="72325"/>
                  <a:pt x="76816" y="76350"/>
                  <a:pt x="71859" y="76350"/>
                </a:cubicBezTo>
                <a:cubicBezTo>
                  <a:pt x="66901" y="76350"/>
                  <a:pt x="62876" y="72325"/>
                  <a:pt x="62876" y="67367"/>
                </a:cubicBezTo>
                <a:cubicBezTo>
                  <a:pt x="62876" y="62410"/>
                  <a:pt x="66901" y="58385"/>
                  <a:pt x="71859" y="58385"/>
                </a:cubicBezTo>
                <a:close/>
                <a:moveTo>
                  <a:pt x="98806" y="67367"/>
                </a:moveTo>
                <a:cubicBezTo>
                  <a:pt x="98806" y="62410"/>
                  <a:pt x="102830" y="58385"/>
                  <a:pt x="107788" y="58385"/>
                </a:cubicBezTo>
                <a:cubicBezTo>
                  <a:pt x="112745" y="58385"/>
                  <a:pt x="116770" y="62410"/>
                  <a:pt x="116770" y="67367"/>
                </a:cubicBezTo>
                <a:cubicBezTo>
                  <a:pt x="116770" y="72325"/>
                  <a:pt x="112745" y="76350"/>
                  <a:pt x="107788" y="76350"/>
                </a:cubicBezTo>
                <a:cubicBezTo>
                  <a:pt x="102830" y="76350"/>
                  <a:pt x="98806" y="72325"/>
                  <a:pt x="98806" y="67367"/>
                </a:cubicBezTo>
                <a:close/>
              </a:path>
            </a:pathLst>
          </a:custGeom>
          <a:solidFill>
            <a:srgbClr val="0A84FF"/>
          </a:solidFill>
          <a:ln/>
        </p:spPr>
      </p:sp>
      <p:sp>
        <p:nvSpPr>
          <p:cNvPr id="42" name="Text 40"/>
          <p:cNvSpPr/>
          <p:nvPr/>
        </p:nvSpPr>
        <p:spPr>
          <a:xfrm>
            <a:off x="669083" y="5767847"/>
            <a:ext cx="5269627" cy="223560"/>
          </a:xfrm>
          <a:prstGeom prst="rect">
            <a:avLst/>
          </a:prstGeom>
          <a:noFill/>
          <a:ln/>
        </p:spPr>
        <p:txBody>
          <a:bodyPr wrap="square" lIns="0" tIns="0" rIns="0" bIns="0" rtlCol="0" anchor="ctr"/>
          <a:lstStyle/>
          <a:p>
            <a:pPr>
              <a:lnSpc>
                <a:spcPct val="130000"/>
              </a:lnSpc>
            </a:pPr>
            <a:r>
              <a:rPr lang="en-US" sz="1132"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43" name="Text 41"/>
          <p:cNvSpPr/>
          <p:nvPr/>
        </p:nvSpPr>
        <p:spPr>
          <a:xfrm>
            <a:off x="485444" y="6087218"/>
            <a:ext cx="5445281" cy="415183"/>
          </a:xfrm>
          <a:prstGeom prst="rect">
            <a:avLst/>
          </a:prstGeom>
          <a:noFill/>
          <a:ln/>
        </p:spPr>
        <p:txBody>
          <a:bodyPr wrap="square" lIns="0" tIns="0" rIns="0" bIns="0" rtlCol="0" anchor="ctr"/>
          <a:lstStyle/>
          <a:p>
            <a:pPr>
              <a:lnSpc>
                <a:spcPct val="140000"/>
              </a:lnSpc>
            </a:pPr>
            <a:r>
              <a:rPr lang="en-US" sz="1006" dirty="0">
                <a:solidFill>
                  <a:srgbClr val="F5F5F7"/>
                </a:solidFill>
                <a:latin typeface="Quattrocento Sans" pitchFamily="34" charset="0"/>
                <a:ea typeface="Quattrocento Sans" pitchFamily="34" charset="-122"/>
                <a:cs typeface="Quattrocento Sans" pitchFamily="34" charset="-120"/>
              </a:rPr>
              <a:t>Think of an app like a </a:t>
            </a:r>
            <a:pPr>
              <a:lnSpc>
                <a:spcPct val="140000"/>
              </a:lnSpc>
            </a:pPr>
            <a:r>
              <a:rPr lang="en-US" sz="1006" b="1" dirty="0">
                <a:solidFill>
                  <a:srgbClr val="34C759"/>
                </a:solidFill>
                <a:latin typeface="Quattrocento Sans" pitchFamily="34" charset="0"/>
                <a:ea typeface="Quattrocento Sans" pitchFamily="34" charset="-122"/>
                <a:cs typeface="Quattrocento Sans" pitchFamily="34" charset="-120"/>
              </a:rPr>
              <a:t>restaurant</a:t>
            </a:r>
            <a:pPr>
              <a:lnSpc>
                <a:spcPct val="140000"/>
              </a:lnSpc>
            </a:pPr>
            <a:r>
              <a:rPr lang="en-US" sz="1006" dirty="0">
                <a:solidFill>
                  <a:srgbClr val="F5F5F7"/>
                </a:solidFill>
                <a:latin typeface="Quattrocento Sans" pitchFamily="34" charset="0"/>
                <a:ea typeface="Quattrocento Sans" pitchFamily="34" charset="-122"/>
                <a:cs typeface="Quattrocento Sans" pitchFamily="34" charset="-120"/>
              </a:rPr>
              <a:t>. You (user) look at the menu (screen), tell the waiter what you want (tap button), the kitchen prepares it (app processes), and brings you food (shows result).</a:t>
            </a:r>
            <a:endParaRPr lang="en-US" sz="1600" dirty="0"/>
          </a:p>
        </p:txBody>
      </p:sp>
      <p:sp>
        <p:nvSpPr>
          <p:cNvPr id="44" name="Shape 42"/>
          <p:cNvSpPr/>
          <p:nvPr/>
        </p:nvSpPr>
        <p:spPr>
          <a:xfrm>
            <a:off x="6160273" y="3315074"/>
            <a:ext cx="5716747" cy="2299473"/>
          </a:xfrm>
          <a:prstGeom prst="roundRect">
            <a:avLst>
              <a:gd name="adj" fmla="val 5556"/>
            </a:avLst>
          </a:prstGeom>
          <a:solidFill>
            <a:srgbClr val="2C2C2E"/>
          </a:solidFill>
          <a:ln/>
        </p:spPr>
      </p:sp>
      <p:sp>
        <p:nvSpPr>
          <p:cNvPr id="45" name="Shape 43"/>
          <p:cNvSpPr/>
          <p:nvPr/>
        </p:nvSpPr>
        <p:spPr>
          <a:xfrm>
            <a:off x="6357884" y="3514681"/>
            <a:ext cx="107788" cy="143717"/>
          </a:xfrm>
          <a:custGeom>
            <a:avLst/>
            <a:gdLst/>
            <a:ahLst/>
            <a:cxnLst/>
            <a:rect l="l" t="t" r="r" b="b"/>
            <a:pathLst>
              <a:path w="107788" h="143717">
                <a:moveTo>
                  <a:pt x="4491" y="17965"/>
                </a:moveTo>
                <a:cubicBezTo>
                  <a:pt x="4491" y="8056"/>
                  <a:pt x="12547" y="0"/>
                  <a:pt x="22456" y="0"/>
                </a:cubicBezTo>
                <a:lnTo>
                  <a:pt x="85332" y="0"/>
                </a:lnTo>
                <a:cubicBezTo>
                  <a:pt x="95241" y="0"/>
                  <a:pt x="103297" y="8056"/>
                  <a:pt x="103297" y="17965"/>
                </a:cubicBezTo>
                <a:lnTo>
                  <a:pt x="103297" y="125752"/>
                </a:lnTo>
                <a:cubicBezTo>
                  <a:pt x="103297" y="135661"/>
                  <a:pt x="95241" y="143717"/>
                  <a:pt x="85332" y="143717"/>
                </a:cubicBezTo>
                <a:lnTo>
                  <a:pt x="22456" y="143717"/>
                </a:lnTo>
                <a:cubicBezTo>
                  <a:pt x="12547" y="143717"/>
                  <a:pt x="4491" y="135661"/>
                  <a:pt x="4491" y="125752"/>
                </a:cubicBezTo>
                <a:lnTo>
                  <a:pt x="4491" y="17965"/>
                </a:lnTo>
                <a:close/>
                <a:moveTo>
                  <a:pt x="22456" y="17965"/>
                </a:moveTo>
                <a:lnTo>
                  <a:pt x="22456" y="103297"/>
                </a:lnTo>
                <a:lnTo>
                  <a:pt x="85332" y="103297"/>
                </a:lnTo>
                <a:lnTo>
                  <a:pt x="85332" y="17965"/>
                </a:lnTo>
                <a:lnTo>
                  <a:pt x="22456" y="17965"/>
                </a:lnTo>
                <a:close/>
                <a:moveTo>
                  <a:pt x="53894" y="132489"/>
                </a:moveTo>
                <a:cubicBezTo>
                  <a:pt x="58862" y="132489"/>
                  <a:pt x="62876" y="128475"/>
                  <a:pt x="62876" y="123507"/>
                </a:cubicBezTo>
                <a:cubicBezTo>
                  <a:pt x="62876" y="118539"/>
                  <a:pt x="58862" y="114525"/>
                  <a:pt x="53894" y="114525"/>
                </a:cubicBezTo>
                <a:cubicBezTo>
                  <a:pt x="48926" y="114525"/>
                  <a:pt x="44912" y="118539"/>
                  <a:pt x="44912" y="123507"/>
                </a:cubicBezTo>
                <a:cubicBezTo>
                  <a:pt x="44912" y="128475"/>
                  <a:pt x="48926" y="132489"/>
                  <a:pt x="53894" y="132489"/>
                </a:cubicBezTo>
                <a:close/>
              </a:path>
            </a:pathLst>
          </a:custGeom>
          <a:solidFill>
            <a:srgbClr val="34C759"/>
          </a:solidFill>
          <a:ln/>
        </p:spPr>
      </p:sp>
      <p:sp>
        <p:nvSpPr>
          <p:cNvPr id="46" name="Text 44"/>
          <p:cNvSpPr/>
          <p:nvPr/>
        </p:nvSpPr>
        <p:spPr>
          <a:xfrm>
            <a:off x="6503598" y="3474760"/>
            <a:ext cx="5285595" cy="223560"/>
          </a:xfrm>
          <a:prstGeom prst="rect">
            <a:avLst/>
          </a:prstGeom>
          <a:noFill/>
          <a:ln/>
        </p:spPr>
        <p:txBody>
          <a:bodyPr wrap="square" lIns="0" tIns="0" rIns="0" bIns="0" rtlCol="0" anchor="ctr"/>
          <a:lstStyle/>
          <a:p>
            <a:pPr>
              <a:lnSpc>
                <a:spcPct val="130000"/>
              </a:lnSpc>
            </a:pPr>
            <a:r>
              <a:rPr lang="en-US" sz="1132" b="1" dirty="0">
                <a:solidFill>
                  <a:srgbClr val="34C759"/>
                </a:solidFill>
                <a:latin typeface="Liter" pitchFamily="34" charset="0"/>
                <a:ea typeface="Liter" pitchFamily="34" charset="-122"/>
                <a:cs typeface="Liter" pitchFamily="34" charset="-120"/>
              </a:rPr>
              <a:t>Real-World Example</a:t>
            </a:r>
            <a:endParaRPr lang="en-US" sz="1600" dirty="0"/>
          </a:p>
        </p:txBody>
      </p:sp>
      <p:sp>
        <p:nvSpPr>
          <p:cNvPr id="47" name="Shape 45"/>
          <p:cNvSpPr/>
          <p:nvPr/>
        </p:nvSpPr>
        <p:spPr>
          <a:xfrm>
            <a:off x="6319959" y="3794131"/>
            <a:ext cx="5397375" cy="1660731"/>
          </a:xfrm>
          <a:prstGeom prst="roundRect">
            <a:avLst>
              <a:gd name="adj" fmla="val 5769"/>
            </a:avLst>
          </a:prstGeom>
          <a:solidFill>
            <a:srgbClr val="1A1D21"/>
          </a:solidFill>
          <a:ln/>
        </p:spPr>
      </p:sp>
      <p:sp>
        <p:nvSpPr>
          <p:cNvPr id="48" name="Shape 46"/>
          <p:cNvSpPr/>
          <p:nvPr/>
        </p:nvSpPr>
        <p:spPr>
          <a:xfrm>
            <a:off x="6479645" y="3953817"/>
            <a:ext cx="510994" cy="510994"/>
          </a:xfrm>
          <a:prstGeom prst="roundRect">
            <a:avLst>
              <a:gd name="adj" fmla="val 25000"/>
            </a:avLst>
          </a:prstGeom>
          <a:solidFill>
            <a:srgbClr val="34C759"/>
          </a:solidFill>
          <a:ln/>
        </p:spPr>
      </p:sp>
      <p:sp>
        <p:nvSpPr>
          <p:cNvPr id="49" name="Shape 47"/>
          <p:cNvSpPr/>
          <p:nvPr/>
        </p:nvSpPr>
        <p:spPr>
          <a:xfrm>
            <a:off x="6617374" y="4089549"/>
            <a:ext cx="239528" cy="239528"/>
          </a:xfrm>
          <a:custGeom>
            <a:avLst/>
            <a:gdLst/>
            <a:ahLst/>
            <a:cxnLst/>
            <a:rect l="l" t="t" r="r" b="b"/>
            <a:pathLst>
              <a:path w="239528" h="239528">
                <a:moveTo>
                  <a:pt x="89823" y="0"/>
                </a:moveTo>
                <a:cubicBezTo>
                  <a:pt x="81543" y="0"/>
                  <a:pt x="74853" y="6690"/>
                  <a:pt x="74853" y="14971"/>
                </a:cubicBezTo>
                <a:lnTo>
                  <a:pt x="74853" y="29941"/>
                </a:lnTo>
                <a:lnTo>
                  <a:pt x="70689" y="29941"/>
                </a:lnTo>
                <a:cubicBezTo>
                  <a:pt x="51040" y="29941"/>
                  <a:pt x="33684" y="42713"/>
                  <a:pt x="27836" y="61473"/>
                </a:cubicBezTo>
                <a:lnTo>
                  <a:pt x="17076" y="95858"/>
                </a:lnTo>
                <a:cubicBezTo>
                  <a:pt x="6784" y="102501"/>
                  <a:pt x="0" y="114104"/>
                  <a:pt x="0" y="127250"/>
                </a:cubicBezTo>
                <a:lnTo>
                  <a:pt x="0" y="209587"/>
                </a:lnTo>
                <a:cubicBezTo>
                  <a:pt x="0" y="217868"/>
                  <a:pt x="6690" y="224558"/>
                  <a:pt x="14971" y="224558"/>
                </a:cubicBezTo>
                <a:lnTo>
                  <a:pt x="29941" y="224558"/>
                </a:lnTo>
                <a:cubicBezTo>
                  <a:pt x="38222" y="224558"/>
                  <a:pt x="44912" y="217868"/>
                  <a:pt x="44912" y="209587"/>
                </a:cubicBezTo>
                <a:lnTo>
                  <a:pt x="44912" y="194617"/>
                </a:lnTo>
                <a:lnTo>
                  <a:pt x="194617" y="194617"/>
                </a:lnTo>
                <a:lnTo>
                  <a:pt x="194617" y="209587"/>
                </a:lnTo>
                <a:cubicBezTo>
                  <a:pt x="194617" y="217868"/>
                  <a:pt x="201307" y="224558"/>
                  <a:pt x="209587" y="224558"/>
                </a:cubicBezTo>
                <a:lnTo>
                  <a:pt x="224558" y="224558"/>
                </a:lnTo>
                <a:cubicBezTo>
                  <a:pt x="232839" y="224558"/>
                  <a:pt x="239528" y="217868"/>
                  <a:pt x="239528" y="209587"/>
                </a:cubicBezTo>
                <a:lnTo>
                  <a:pt x="239528" y="127250"/>
                </a:lnTo>
                <a:cubicBezTo>
                  <a:pt x="239528" y="114104"/>
                  <a:pt x="232745" y="102501"/>
                  <a:pt x="222500" y="95858"/>
                </a:cubicBezTo>
                <a:lnTo>
                  <a:pt x="211739" y="61473"/>
                </a:lnTo>
                <a:cubicBezTo>
                  <a:pt x="205892" y="42713"/>
                  <a:pt x="188488" y="29941"/>
                  <a:pt x="168840" y="29941"/>
                </a:cubicBezTo>
                <a:lnTo>
                  <a:pt x="164676" y="29941"/>
                </a:lnTo>
                <a:lnTo>
                  <a:pt x="164676" y="14971"/>
                </a:lnTo>
                <a:cubicBezTo>
                  <a:pt x="164676" y="6690"/>
                  <a:pt x="157986" y="0"/>
                  <a:pt x="149705" y="0"/>
                </a:cubicBezTo>
                <a:lnTo>
                  <a:pt x="89823" y="0"/>
                </a:lnTo>
                <a:close/>
                <a:moveTo>
                  <a:pt x="70689" y="59882"/>
                </a:moveTo>
                <a:lnTo>
                  <a:pt x="168886" y="59882"/>
                </a:lnTo>
                <a:cubicBezTo>
                  <a:pt x="175436" y="59882"/>
                  <a:pt x="181237" y="64139"/>
                  <a:pt x="183155" y="70408"/>
                </a:cubicBezTo>
                <a:lnTo>
                  <a:pt x="189237" y="89823"/>
                </a:lnTo>
                <a:lnTo>
                  <a:pt x="50338" y="89823"/>
                </a:lnTo>
                <a:lnTo>
                  <a:pt x="56420" y="70408"/>
                </a:lnTo>
                <a:cubicBezTo>
                  <a:pt x="58385" y="64139"/>
                  <a:pt x="64139" y="59882"/>
                  <a:pt x="70689" y="59882"/>
                </a:cubicBezTo>
                <a:close/>
                <a:moveTo>
                  <a:pt x="44912" y="127250"/>
                </a:moveTo>
                <a:cubicBezTo>
                  <a:pt x="53174" y="127250"/>
                  <a:pt x="59882" y="133958"/>
                  <a:pt x="59882" y="142220"/>
                </a:cubicBezTo>
                <a:cubicBezTo>
                  <a:pt x="59882" y="150482"/>
                  <a:pt x="53174" y="157191"/>
                  <a:pt x="44912" y="157191"/>
                </a:cubicBezTo>
                <a:cubicBezTo>
                  <a:pt x="36649" y="157191"/>
                  <a:pt x="29941" y="150482"/>
                  <a:pt x="29941" y="142220"/>
                </a:cubicBezTo>
                <a:cubicBezTo>
                  <a:pt x="29941" y="133958"/>
                  <a:pt x="36649" y="127250"/>
                  <a:pt x="44912" y="127250"/>
                </a:cubicBezTo>
                <a:close/>
                <a:moveTo>
                  <a:pt x="179646" y="142220"/>
                </a:moveTo>
                <a:cubicBezTo>
                  <a:pt x="179646" y="133958"/>
                  <a:pt x="186354" y="127250"/>
                  <a:pt x="194617" y="127250"/>
                </a:cubicBezTo>
                <a:cubicBezTo>
                  <a:pt x="202879" y="127250"/>
                  <a:pt x="209587" y="133958"/>
                  <a:pt x="209587" y="142220"/>
                </a:cubicBezTo>
                <a:cubicBezTo>
                  <a:pt x="209587" y="150482"/>
                  <a:pt x="202879" y="157191"/>
                  <a:pt x="194617" y="157191"/>
                </a:cubicBezTo>
                <a:cubicBezTo>
                  <a:pt x="186354" y="157191"/>
                  <a:pt x="179646" y="150482"/>
                  <a:pt x="179646" y="142220"/>
                </a:cubicBezTo>
                <a:close/>
              </a:path>
            </a:pathLst>
          </a:custGeom>
          <a:solidFill>
            <a:srgbClr val="1D1D1F"/>
          </a:solidFill>
          <a:ln/>
        </p:spPr>
      </p:sp>
      <p:sp>
        <p:nvSpPr>
          <p:cNvPr id="50" name="Text 48"/>
          <p:cNvSpPr/>
          <p:nvPr/>
        </p:nvSpPr>
        <p:spPr>
          <a:xfrm>
            <a:off x="7118387" y="3985754"/>
            <a:ext cx="998035" cy="255497"/>
          </a:xfrm>
          <a:prstGeom prst="rect">
            <a:avLst/>
          </a:prstGeom>
          <a:noFill/>
          <a:ln/>
        </p:spPr>
        <p:txBody>
          <a:bodyPr wrap="square" lIns="0" tIns="0" rIns="0" bIns="0" rtlCol="0" anchor="ctr"/>
          <a:lstStyle/>
          <a:p>
            <a:pPr>
              <a:lnSpc>
                <a:spcPct val="110000"/>
              </a:lnSpc>
            </a:pPr>
            <a:r>
              <a:rPr lang="en-US" sz="1509" b="1" dirty="0">
                <a:solidFill>
                  <a:srgbClr val="34C759"/>
                </a:solidFill>
                <a:latin typeface="Liter" pitchFamily="34" charset="0"/>
                <a:ea typeface="Liter" pitchFamily="34" charset="-122"/>
                <a:cs typeface="Liter" pitchFamily="34" charset="-120"/>
              </a:rPr>
              <a:t>Uber</a:t>
            </a:r>
            <a:endParaRPr lang="en-US" sz="1600" dirty="0"/>
          </a:p>
        </p:txBody>
      </p:sp>
      <p:sp>
        <p:nvSpPr>
          <p:cNvPr id="51" name="Text 49"/>
          <p:cNvSpPr/>
          <p:nvPr/>
        </p:nvSpPr>
        <p:spPr>
          <a:xfrm>
            <a:off x="7118387" y="4241151"/>
            <a:ext cx="966098" cy="191623"/>
          </a:xfrm>
          <a:prstGeom prst="rect">
            <a:avLst/>
          </a:prstGeom>
          <a:noFill/>
          <a:ln/>
        </p:spPr>
        <p:txBody>
          <a:bodyPr wrap="square" lIns="0" tIns="0" rIns="0" bIns="0" rtlCol="0" anchor="ctr"/>
          <a:lstStyle/>
          <a:p>
            <a:pPr>
              <a:lnSpc>
                <a:spcPct val="130000"/>
              </a:lnSpc>
            </a:pPr>
            <a:r>
              <a:rPr lang="en-US" sz="1006" dirty="0">
                <a:solidFill>
                  <a:srgbClr val="8E8E93"/>
                </a:solidFill>
                <a:latin typeface="Quattrocento Sans" pitchFamily="34" charset="0"/>
                <a:ea typeface="Quattrocento Sans" pitchFamily="34" charset="-122"/>
                <a:cs typeface="Quattrocento Sans" pitchFamily="34" charset="-120"/>
              </a:rPr>
              <a:t>Ride-hailing app</a:t>
            </a:r>
            <a:endParaRPr lang="en-US" sz="1600" dirty="0"/>
          </a:p>
        </p:txBody>
      </p:sp>
      <p:sp>
        <p:nvSpPr>
          <p:cNvPr id="52" name="Text 50"/>
          <p:cNvSpPr/>
          <p:nvPr/>
        </p:nvSpPr>
        <p:spPr>
          <a:xfrm>
            <a:off x="6479645" y="4592559"/>
            <a:ext cx="5141878" cy="191623"/>
          </a:xfrm>
          <a:prstGeom prst="rect">
            <a:avLst/>
          </a:prstGeom>
          <a:noFill/>
          <a:ln/>
        </p:spPr>
        <p:txBody>
          <a:bodyPr wrap="square" lIns="0" tIns="0" rIns="0" bIns="0" rtlCol="0" anchor="ctr"/>
          <a:lstStyle/>
          <a:p>
            <a:pPr>
              <a:lnSpc>
                <a:spcPct val="130000"/>
              </a:lnSpc>
            </a:pPr>
            <a:r>
              <a:rPr lang="en-US" sz="1006" b="1" dirty="0">
                <a:solidFill>
                  <a:srgbClr val="34C759"/>
                </a:solidFill>
                <a:latin typeface="Quattrocento Sans" pitchFamily="34" charset="0"/>
                <a:ea typeface="Quattrocento Sans" pitchFamily="34" charset="-122"/>
                <a:cs typeface="Quattrocento Sans" pitchFamily="34" charset="-120"/>
              </a:rPr>
              <a:t>1. You tap:</a:t>
            </a:r>
            <a:pPr>
              <a:lnSpc>
                <a:spcPct val="130000"/>
              </a:lnSpc>
            </a:pPr>
            <a:r>
              <a:rPr lang="en-US" sz="1006" dirty="0">
                <a:solidFill>
                  <a:srgbClr val="F5F5F7"/>
                </a:solidFill>
                <a:latin typeface="Quattrocento Sans" pitchFamily="34" charset="0"/>
                <a:ea typeface="Quattrocento Sans" pitchFamily="34" charset="-122"/>
                <a:cs typeface="Quattrocento Sans" pitchFamily="34" charset="-120"/>
              </a:rPr>
              <a:t> "Where to?" box</a:t>
            </a:r>
            <a:endParaRPr lang="en-US" sz="1600" dirty="0"/>
          </a:p>
        </p:txBody>
      </p:sp>
      <p:sp>
        <p:nvSpPr>
          <p:cNvPr id="53" name="Text 51"/>
          <p:cNvSpPr/>
          <p:nvPr/>
        </p:nvSpPr>
        <p:spPr>
          <a:xfrm>
            <a:off x="6479645" y="4848056"/>
            <a:ext cx="5141878" cy="191623"/>
          </a:xfrm>
          <a:prstGeom prst="rect">
            <a:avLst/>
          </a:prstGeom>
          <a:noFill/>
          <a:ln/>
        </p:spPr>
        <p:txBody>
          <a:bodyPr wrap="square" lIns="0" tIns="0" rIns="0" bIns="0" rtlCol="0" anchor="ctr"/>
          <a:lstStyle/>
          <a:p>
            <a:pPr>
              <a:lnSpc>
                <a:spcPct val="130000"/>
              </a:lnSpc>
            </a:pPr>
            <a:r>
              <a:rPr lang="en-US" sz="1006" b="1" dirty="0">
                <a:solidFill>
                  <a:srgbClr val="0A84FF"/>
                </a:solidFill>
                <a:latin typeface="Quattrocento Sans" pitchFamily="34" charset="0"/>
                <a:ea typeface="Quattrocento Sans" pitchFamily="34" charset="-122"/>
                <a:cs typeface="Quattrocento Sans" pitchFamily="34" charset="-120"/>
              </a:rPr>
              <a:t>2. App processes:</a:t>
            </a:r>
            <a:pPr>
              <a:lnSpc>
                <a:spcPct val="130000"/>
              </a:lnSpc>
            </a:pPr>
            <a:r>
              <a:rPr lang="en-US" sz="1006" dirty="0">
                <a:solidFill>
                  <a:srgbClr val="F5F5F7"/>
                </a:solidFill>
                <a:latin typeface="Quattrocento Sans" pitchFamily="34" charset="0"/>
                <a:ea typeface="Quattrocento Sans" pitchFamily="34" charset="-122"/>
                <a:cs typeface="Quattrocento Sans" pitchFamily="34" charset="-120"/>
              </a:rPr>
              <a:t> Finds your location, searches for nearby drivers</a:t>
            </a:r>
            <a:endParaRPr lang="en-US" sz="1600" dirty="0"/>
          </a:p>
        </p:txBody>
      </p:sp>
      <p:sp>
        <p:nvSpPr>
          <p:cNvPr id="54" name="Text 52"/>
          <p:cNvSpPr/>
          <p:nvPr/>
        </p:nvSpPr>
        <p:spPr>
          <a:xfrm>
            <a:off x="6479645" y="5103553"/>
            <a:ext cx="5141878" cy="191623"/>
          </a:xfrm>
          <a:prstGeom prst="rect">
            <a:avLst/>
          </a:prstGeom>
          <a:noFill/>
          <a:ln/>
        </p:spPr>
        <p:txBody>
          <a:bodyPr wrap="square" lIns="0" tIns="0" rIns="0" bIns="0" rtlCol="0" anchor="ctr"/>
          <a:lstStyle/>
          <a:p>
            <a:pPr>
              <a:lnSpc>
                <a:spcPct val="130000"/>
              </a:lnSpc>
            </a:pPr>
            <a:r>
              <a:rPr lang="en-US" sz="1006" b="1" dirty="0">
                <a:solidFill>
                  <a:srgbClr val="34C759"/>
                </a:solidFill>
                <a:latin typeface="Quattrocento Sans" pitchFamily="34" charset="0"/>
                <a:ea typeface="Quattrocento Sans" pitchFamily="34" charset="-122"/>
                <a:cs typeface="Quattrocento Sans" pitchFamily="34" charset="-120"/>
              </a:rPr>
              <a:t>3. Shows result:</a:t>
            </a:r>
            <a:pPr>
              <a:lnSpc>
                <a:spcPct val="130000"/>
              </a:lnSpc>
            </a:pPr>
            <a:r>
              <a:rPr lang="en-US" sz="1006" dirty="0">
                <a:solidFill>
                  <a:srgbClr val="F5F5F7"/>
                </a:solidFill>
                <a:latin typeface="Quattrocento Sans" pitchFamily="34" charset="0"/>
                <a:ea typeface="Quattrocento Sans" pitchFamily="34" charset="-122"/>
                <a:cs typeface="Quattrocento Sans" pitchFamily="34" charset="-120"/>
              </a:rPr>
              <a:t> Driver name, car type, arrival time, price</a:t>
            </a:r>
            <a:endParaRPr lang="en-US" sz="1600" dirty="0"/>
          </a:p>
        </p:txBody>
      </p:sp>
      <p:sp>
        <p:nvSpPr>
          <p:cNvPr id="55" name="Shape 53"/>
          <p:cNvSpPr/>
          <p:nvPr/>
        </p:nvSpPr>
        <p:spPr>
          <a:xfrm>
            <a:off x="6160273" y="5742296"/>
            <a:ext cx="5716747" cy="926177"/>
          </a:xfrm>
          <a:prstGeom prst="roundRect">
            <a:avLst>
              <a:gd name="adj" fmla="val 13793"/>
            </a:avLst>
          </a:prstGeom>
          <a:solidFill>
            <a:srgbClr val="2C2C2E"/>
          </a:solidFill>
          <a:ln/>
        </p:spPr>
      </p:sp>
      <p:sp>
        <p:nvSpPr>
          <p:cNvPr id="56" name="Shape 54"/>
          <p:cNvSpPr/>
          <p:nvPr/>
        </p:nvSpPr>
        <p:spPr>
          <a:xfrm>
            <a:off x="6311975" y="5901982"/>
            <a:ext cx="111780" cy="127749"/>
          </a:xfrm>
          <a:custGeom>
            <a:avLst/>
            <a:gdLst/>
            <a:ahLst/>
            <a:cxnLst/>
            <a:rect l="l" t="t" r="r" b="b"/>
            <a:pathLst>
              <a:path w="111780" h="127749">
                <a:moveTo>
                  <a:pt x="15969" y="7984"/>
                </a:moveTo>
                <a:cubicBezTo>
                  <a:pt x="7161" y="7984"/>
                  <a:pt x="0" y="15145"/>
                  <a:pt x="0" y="23953"/>
                </a:cubicBezTo>
                <a:lnTo>
                  <a:pt x="0" y="103796"/>
                </a:lnTo>
                <a:cubicBezTo>
                  <a:pt x="0" y="112603"/>
                  <a:pt x="7161" y="119764"/>
                  <a:pt x="15969" y="119764"/>
                </a:cubicBezTo>
                <a:lnTo>
                  <a:pt x="95811" y="119764"/>
                </a:lnTo>
                <a:cubicBezTo>
                  <a:pt x="104619" y="119764"/>
                  <a:pt x="111780" y="112603"/>
                  <a:pt x="111780" y="103796"/>
                </a:cubicBezTo>
                <a:lnTo>
                  <a:pt x="111780" y="23953"/>
                </a:lnTo>
                <a:cubicBezTo>
                  <a:pt x="111780" y="15145"/>
                  <a:pt x="104619" y="7984"/>
                  <a:pt x="95811" y="7984"/>
                </a:cubicBezTo>
                <a:lnTo>
                  <a:pt x="15969" y="7984"/>
                </a:lnTo>
                <a:close/>
                <a:moveTo>
                  <a:pt x="31937" y="27945"/>
                </a:moveTo>
                <a:cubicBezTo>
                  <a:pt x="38547" y="27945"/>
                  <a:pt x="43914" y="33311"/>
                  <a:pt x="43914" y="39921"/>
                </a:cubicBezTo>
                <a:cubicBezTo>
                  <a:pt x="43914" y="46531"/>
                  <a:pt x="38547" y="51898"/>
                  <a:pt x="31937" y="51898"/>
                </a:cubicBezTo>
                <a:cubicBezTo>
                  <a:pt x="25327" y="51898"/>
                  <a:pt x="19961" y="46531"/>
                  <a:pt x="19961" y="39921"/>
                </a:cubicBezTo>
                <a:cubicBezTo>
                  <a:pt x="19961" y="33311"/>
                  <a:pt x="25327" y="27945"/>
                  <a:pt x="31937" y="27945"/>
                </a:cubicBezTo>
                <a:close/>
                <a:moveTo>
                  <a:pt x="67866" y="55890"/>
                </a:moveTo>
                <a:cubicBezTo>
                  <a:pt x="69962" y="55890"/>
                  <a:pt x="71883" y="56988"/>
                  <a:pt x="72981" y="58759"/>
                </a:cubicBezTo>
                <a:lnTo>
                  <a:pt x="94938" y="94689"/>
                </a:lnTo>
                <a:cubicBezTo>
                  <a:pt x="96061" y="96535"/>
                  <a:pt x="96111" y="98855"/>
                  <a:pt x="95063" y="100752"/>
                </a:cubicBezTo>
                <a:cubicBezTo>
                  <a:pt x="94015" y="102648"/>
                  <a:pt x="91994" y="103796"/>
                  <a:pt x="89823" y="103796"/>
                </a:cubicBezTo>
                <a:lnTo>
                  <a:pt x="21957" y="103796"/>
                </a:lnTo>
                <a:cubicBezTo>
                  <a:pt x="19736" y="103796"/>
                  <a:pt x="17665" y="102548"/>
                  <a:pt x="16642" y="100577"/>
                </a:cubicBezTo>
                <a:cubicBezTo>
                  <a:pt x="15619" y="98606"/>
                  <a:pt x="15769" y="96211"/>
                  <a:pt x="17041" y="94389"/>
                </a:cubicBezTo>
                <a:lnTo>
                  <a:pt x="31014" y="74428"/>
                </a:lnTo>
                <a:cubicBezTo>
                  <a:pt x="32137" y="72832"/>
                  <a:pt x="33958" y="71883"/>
                  <a:pt x="35929" y="71883"/>
                </a:cubicBezTo>
                <a:cubicBezTo>
                  <a:pt x="37900" y="71883"/>
                  <a:pt x="39722" y="72832"/>
                  <a:pt x="40845" y="74428"/>
                </a:cubicBezTo>
                <a:lnTo>
                  <a:pt x="47432" y="83860"/>
                </a:lnTo>
                <a:lnTo>
                  <a:pt x="62751" y="58784"/>
                </a:lnTo>
                <a:cubicBezTo>
                  <a:pt x="63849" y="57013"/>
                  <a:pt x="65771" y="55915"/>
                  <a:pt x="67866" y="55915"/>
                </a:cubicBezTo>
                <a:close/>
              </a:path>
            </a:pathLst>
          </a:custGeom>
          <a:solidFill>
            <a:srgbClr val="8E8E93"/>
          </a:solidFill>
          <a:ln/>
        </p:spPr>
      </p:sp>
      <p:sp>
        <p:nvSpPr>
          <p:cNvPr id="57" name="Text 55"/>
          <p:cNvSpPr/>
          <p:nvPr/>
        </p:nvSpPr>
        <p:spPr>
          <a:xfrm>
            <a:off x="6447708" y="5870044"/>
            <a:ext cx="5365438" cy="191623"/>
          </a:xfrm>
          <a:prstGeom prst="rect">
            <a:avLst/>
          </a:prstGeom>
          <a:noFill/>
          <a:ln/>
        </p:spPr>
        <p:txBody>
          <a:bodyPr wrap="square" lIns="0" tIns="0" rIns="0" bIns="0" rtlCol="0" anchor="ctr"/>
          <a:lstStyle/>
          <a:p>
            <a:pPr>
              <a:lnSpc>
                <a:spcPct val="130000"/>
              </a:lnSpc>
            </a:pPr>
            <a:r>
              <a:rPr lang="en-US" sz="1006" b="1" dirty="0">
                <a:solidFill>
                  <a:srgbClr val="8E8E93"/>
                </a:solidFill>
                <a:latin typeface="Liter" pitchFamily="34" charset="0"/>
                <a:ea typeface="Liter" pitchFamily="34" charset="-122"/>
                <a:cs typeface="Liter" pitchFamily="34" charset="-120"/>
              </a:rPr>
              <a:t>Visual Suggestion</a:t>
            </a:r>
            <a:endParaRPr lang="en-US" sz="1600" dirty="0"/>
          </a:p>
        </p:txBody>
      </p:sp>
      <p:sp>
        <p:nvSpPr>
          <p:cNvPr id="58" name="Shape 56"/>
          <p:cNvSpPr/>
          <p:nvPr/>
        </p:nvSpPr>
        <p:spPr>
          <a:xfrm>
            <a:off x="6303990" y="6157479"/>
            <a:ext cx="127749" cy="127749"/>
          </a:xfrm>
          <a:custGeom>
            <a:avLst/>
            <a:gdLst/>
            <a:ahLst/>
            <a:cxnLst/>
            <a:rect l="l" t="t" r="r" b="b"/>
            <a:pathLst>
              <a:path w="127749" h="127749">
                <a:moveTo>
                  <a:pt x="0" y="19961"/>
                </a:moveTo>
                <a:cubicBezTo>
                  <a:pt x="0" y="13349"/>
                  <a:pt x="5364" y="7984"/>
                  <a:pt x="11976" y="7984"/>
                </a:cubicBezTo>
                <a:lnTo>
                  <a:pt x="35929" y="7984"/>
                </a:lnTo>
                <a:cubicBezTo>
                  <a:pt x="42541" y="7984"/>
                  <a:pt x="47906" y="13349"/>
                  <a:pt x="47906" y="19961"/>
                </a:cubicBezTo>
                <a:lnTo>
                  <a:pt x="47906" y="23953"/>
                </a:lnTo>
                <a:lnTo>
                  <a:pt x="79843" y="23953"/>
                </a:lnTo>
                <a:lnTo>
                  <a:pt x="79843" y="19961"/>
                </a:lnTo>
                <a:cubicBezTo>
                  <a:pt x="79843" y="13349"/>
                  <a:pt x="85207" y="7984"/>
                  <a:pt x="91819" y="7984"/>
                </a:cubicBezTo>
                <a:lnTo>
                  <a:pt x="115772" y="7984"/>
                </a:lnTo>
                <a:cubicBezTo>
                  <a:pt x="122384" y="7984"/>
                  <a:pt x="127749" y="13349"/>
                  <a:pt x="127749" y="19961"/>
                </a:cubicBezTo>
                <a:lnTo>
                  <a:pt x="127749" y="43914"/>
                </a:lnTo>
                <a:cubicBezTo>
                  <a:pt x="127749" y="50526"/>
                  <a:pt x="122384" y="55890"/>
                  <a:pt x="115772" y="55890"/>
                </a:cubicBezTo>
                <a:lnTo>
                  <a:pt x="91819" y="55890"/>
                </a:lnTo>
                <a:cubicBezTo>
                  <a:pt x="85207" y="55890"/>
                  <a:pt x="79843" y="50526"/>
                  <a:pt x="79843" y="43914"/>
                </a:cubicBezTo>
                <a:lnTo>
                  <a:pt x="79843" y="39921"/>
                </a:lnTo>
                <a:lnTo>
                  <a:pt x="47906" y="39921"/>
                </a:lnTo>
                <a:lnTo>
                  <a:pt x="47906" y="43914"/>
                </a:lnTo>
                <a:cubicBezTo>
                  <a:pt x="47906" y="45735"/>
                  <a:pt x="47482" y="47482"/>
                  <a:pt x="46758" y="49028"/>
                </a:cubicBezTo>
                <a:lnTo>
                  <a:pt x="63874" y="71859"/>
                </a:lnTo>
                <a:lnTo>
                  <a:pt x="83835" y="71859"/>
                </a:lnTo>
                <a:cubicBezTo>
                  <a:pt x="90447" y="71859"/>
                  <a:pt x="95811" y="77223"/>
                  <a:pt x="95811" y="83835"/>
                </a:cubicBezTo>
                <a:lnTo>
                  <a:pt x="95811" y="107788"/>
                </a:lnTo>
                <a:cubicBezTo>
                  <a:pt x="95811" y="114400"/>
                  <a:pt x="90447" y="119764"/>
                  <a:pt x="83835" y="119764"/>
                </a:cubicBezTo>
                <a:lnTo>
                  <a:pt x="59882" y="119764"/>
                </a:lnTo>
                <a:cubicBezTo>
                  <a:pt x="53270" y="119764"/>
                  <a:pt x="47906" y="114400"/>
                  <a:pt x="47906" y="107788"/>
                </a:cubicBezTo>
                <a:lnTo>
                  <a:pt x="47906" y="83835"/>
                </a:lnTo>
                <a:cubicBezTo>
                  <a:pt x="47906" y="82014"/>
                  <a:pt x="48330" y="80267"/>
                  <a:pt x="49053" y="78720"/>
                </a:cubicBezTo>
                <a:lnTo>
                  <a:pt x="31937" y="55890"/>
                </a:lnTo>
                <a:lnTo>
                  <a:pt x="11976" y="55890"/>
                </a:lnTo>
                <a:cubicBezTo>
                  <a:pt x="5364" y="55890"/>
                  <a:pt x="0" y="50526"/>
                  <a:pt x="0" y="43914"/>
                </a:cubicBezTo>
                <a:lnTo>
                  <a:pt x="0" y="19961"/>
                </a:lnTo>
                <a:close/>
              </a:path>
            </a:pathLst>
          </a:custGeom>
          <a:solidFill>
            <a:srgbClr val="34C759"/>
          </a:solidFill>
          <a:ln/>
        </p:spPr>
      </p:sp>
      <p:sp>
        <p:nvSpPr>
          <p:cNvPr id="59" name="Text 57"/>
          <p:cNvSpPr/>
          <p:nvPr/>
        </p:nvSpPr>
        <p:spPr>
          <a:xfrm>
            <a:off x="6511582" y="6125541"/>
            <a:ext cx="2794499" cy="191623"/>
          </a:xfrm>
          <a:prstGeom prst="rect">
            <a:avLst/>
          </a:prstGeom>
          <a:noFill/>
          <a:ln/>
        </p:spPr>
        <p:txBody>
          <a:bodyPr wrap="square" lIns="0" tIns="0" rIns="0" bIns="0" rtlCol="0" anchor="ctr"/>
          <a:lstStyle/>
          <a:p>
            <a:pPr>
              <a:lnSpc>
                <a:spcPct val="130000"/>
              </a:lnSpc>
            </a:pPr>
            <a:r>
              <a:rPr lang="en-US" sz="1006"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006" dirty="0">
                <a:solidFill>
                  <a:srgbClr val="F5F5F7"/>
                </a:solidFill>
                <a:latin typeface="Quattrocento Sans" pitchFamily="34" charset="0"/>
                <a:ea typeface="Quattrocento Sans" pitchFamily="34" charset="-122"/>
                <a:cs typeface="Quattrocento Sans" pitchFamily="34" charset="-120"/>
              </a:rPr>
              <a:t> App workflow from user action to result</a:t>
            </a:r>
            <a:endParaRPr lang="en-US" sz="1600" dirty="0"/>
          </a:p>
        </p:txBody>
      </p:sp>
      <p:sp>
        <p:nvSpPr>
          <p:cNvPr id="60" name="Shape 58"/>
          <p:cNvSpPr/>
          <p:nvPr/>
        </p:nvSpPr>
        <p:spPr>
          <a:xfrm>
            <a:off x="6311975" y="6381039"/>
            <a:ext cx="111780" cy="127749"/>
          </a:xfrm>
          <a:custGeom>
            <a:avLst/>
            <a:gdLst/>
            <a:ahLst/>
            <a:cxnLst/>
            <a:rect l="l" t="t" r="r" b="b"/>
            <a:pathLst>
              <a:path w="111780" h="127749">
                <a:moveTo>
                  <a:pt x="15969" y="7984"/>
                </a:moveTo>
                <a:cubicBezTo>
                  <a:pt x="7161" y="7984"/>
                  <a:pt x="0" y="15145"/>
                  <a:pt x="0" y="23953"/>
                </a:cubicBezTo>
                <a:lnTo>
                  <a:pt x="0" y="103796"/>
                </a:lnTo>
                <a:cubicBezTo>
                  <a:pt x="0" y="112603"/>
                  <a:pt x="7161" y="119764"/>
                  <a:pt x="15969" y="119764"/>
                </a:cubicBezTo>
                <a:lnTo>
                  <a:pt x="95811" y="119764"/>
                </a:lnTo>
                <a:cubicBezTo>
                  <a:pt x="104619" y="119764"/>
                  <a:pt x="111780" y="112603"/>
                  <a:pt x="111780" y="103796"/>
                </a:cubicBezTo>
                <a:lnTo>
                  <a:pt x="111780" y="23953"/>
                </a:lnTo>
                <a:cubicBezTo>
                  <a:pt x="111780" y="15145"/>
                  <a:pt x="104619" y="7984"/>
                  <a:pt x="95811" y="7984"/>
                </a:cubicBezTo>
                <a:lnTo>
                  <a:pt x="15969" y="7984"/>
                </a:lnTo>
                <a:close/>
                <a:moveTo>
                  <a:pt x="31937" y="27945"/>
                </a:moveTo>
                <a:cubicBezTo>
                  <a:pt x="38547" y="27945"/>
                  <a:pt x="43914" y="33311"/>
                  <a:pt x="43914" y="39921"/>
                </a:cubicBezTo>
                <a:cubicBezTo>
                  <a:pt x="43914" y="46531"/>
                  <a:pt x="38547" y="51898"/>
                  <a:pt x="31937" y="51898"/>
                </a:cubicBezTo>
                <a:cubicBezTo>
                  <a:pt x="25327" y="51898"/>
                  <a:pt x="19961" y="46531"/>
                  <a:pt x="19961" y="39921"/>
                </a:cubicBezTo>
                <a:cubicBezTo>
                  <a:pt x="19961" y="33311"/>
                  <a:pt x="25327" y="27945"/>
                  <a:pt x="31937" y="27945"/>
                </a:cubicBezTo>
                <a:close/>
                <a:moveTo>
                  <a:pt x="67866" y="55890"/>
                </a:moveTo>
                <a:cubicBezTo>
                  <a:pt x="69962" y="55890"/>
                  <a:pt x="71883" y="56988"/>
                  <a:pt x="72981" y="58759"/>
                </a:cubicBezTo>
                <a:lnTo>
                  <a:pt x="94938" y="94689"/>
                </a:lnTo>
                <a:cubicBezTo>
                  <a:pt x="96061" y="96535"/>
                  <a:pt x="96111" y="98855"/>
                  <a:pt x="95063" y="100752"/>
                </a:cubicBezTo>
                <a:cubicBezTo>
                  <a:pt x="94015" y="102648"/>
                  <a:pt x="91994" y="103796"/>
                  <a:pt x="89823" y="103796"/>
                </a:cubicBezTo>
                <a:lnTo>
                  <a:pt x="21957" y="103796"/>
                </a:lnTo>
                <a:cubicBezTo>
                  <a:pt x="19736" y="103796"/>
                  <a:pt x="17665" y="102548"/>
                  <a:pt x="16642" y="100577"/>
                </a:cubicBezTo>
                <a:cubicBezTo>
                  <a:pt x="15619" y="98606"/>
                  <a:pt x="15769" y="96211"/>
                  <a:pt x="17041" y="94389"/>
                </a:cubicBezTo>
                <a:lnTo>
                  <a:pt x="31014" y="74428"/>
                </a:lnTo>
                <a:cubicBezTo>
                  <a:pt x="32137" y="72832"/>
                  <a:pt x="33958" y="71883"/>
                  <a:pt x="35929" y="71883"/>
                </a:cubicBezTo>
                <a:cubicBezTo>
                  <a:pt x="37900" y="71883"/>
                  <a:pt x="39722" y="72832"/>
                  <a:pt x="40845" y="74428"/>
                </a:cubicBezTo>
                <a:lnTo>
                  <a:pt x="47432" y="83860"/>
                </a:lnTo>
                <a:lnTo>
                  <a:pt x="62751" y="58784"/>
                </a:lnTo>
                <a:cubicBezTo>
                  <a:pt x="63849" y="57013"/>
                  <a:pt x="65771" y="55915"/>
                  <a:pt x="67866" y="55915"/>
                </a:cubicBezTo>
                <a:close/>
              </a:path>
            </a:pathLst>
          </a:custGeom>
          <a:solidFill>
            <a:srgbClr val="0A84FF"/>
          </a:solidFill>
          <a:ln/>
        </p:spPr>
      </p:sp>
      <p:sp>
        <p:nvSpPr>
          <p:cNvPr id="61" name="Text 59"/>
          <p:cNvSpPr/>
          <p:nvPr/>
        </p:nvSpPr>
        <p:spPr>
          <a:xfrm>
            <a:off x="6511582" y="6349101"/>
            <a:ext cx="2602876" cy="191623"/>
          </a:xfrm>
          <a:prstGeom prst="rect">
            <a:avLst/>
          </a:prstGeom>
          <a:noFill/>
          <a:ln/>
        </p:spPr>
        <p:txBody>
          <a:bodyPr wrap="square" lIns="0" tIns="0" rIns="0" bIns="0" rtlCol="0" anchor="ctr"/>
          <a:lstStyle/>
          <a:p>
            <a:pPr>
              <a:lnSpc>
                <a:spcPct val="130000"/>
              </a:lnSpc>
            </a:pPr>
            <a:r>
              <a:rPr lang="en-US" sz="1006"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006" dirty="0">
                <a:solidFill>
                  <a:srgbClr val="F5F5F7"/>
                </a:solidFill>
                <a:latin typeface="Quattrocento Sans" pitchFamily="34" charset="0"/>
                <a:ea typeface="Quattrocento Sans" pitchFamily="34" charset="-122"/>
                <a:cs typeface="Quattrocento Sans" pitchFamily="34" charset="-120"/>
              </a:rPr>
              <a:t> Uber app screens showing the process</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44650" y="396348"/>
            <a:ext cx="413580" cy="413580"/>
          </a:xfrm>
          <a:prstGeom prst="roundRect">
            <a:avLst>
              <a:gd name="adj" fmla="val 25000"/>
            </a:avLst>
          </a:prstGeom>
          <a:solidFill>
            <a:srgbClr val="34C759"/>
          </a:solidFill>
          <a:ln/>
        </p:spPr>
      </p:sp>
      <p:sp>
        <p:nvSpPr>
          <p:cNvPr id="3" name="Text 1"/>
          <p:cNvSpPr/>
          <p:nvPr/>
        </p:nvSpPr>
        <p:spPr>
          <a:xfrm>
            <a:off x="425858" y="465278"/>
            <a:ext cx="353266" cy="275720"/>
          </a:xfrm>
          <a:prstGeom prst="rect">
            <a:avLst/>
          </a:prstGeom>
          <a:noFill/>
          <a:ln/>
        </p:spPr>
        <p:txBody>
          <a:bodyPr wrap="square" lIns="0" tIns="0" rIns="0" bIns="0" rtlCol="0" anchor="ctr"/>
          <a:lstStyle/>
          <a:p>
            <a:pPr>
              <a:lnSpc>
                <a:spcPct val="110000"/>
              </a:lnSpc>
            </a:pPr>
            <a:r>
              <a:rPr lang="en-US" sz="1628" b="1" dirty="0">
                <a:solidFill>
                  <a:srgbClr val="1D1D1F"/>
                </a:solidFill>
                <a:latin typeface="Liter" pitchFamily="34" charset="0"/>
                <a:ea typeface="Liter" pitchFamily="34" charset="-122"/>
                <a:cs typeface="Liter" pitchFamily="34" charset="-120"/>
              </a:rPr>
              <a:t>05</a:t>
            </a:r>
            <a:endParaRPr lang="en-US" sz="1600" dirty="0"/>
          </a:p>
        </p:txBody>
      </p:sp>
      <p:sp>
        <p:nvSpPr>
          <p:cNvPr id="4" name="Text 2"/>
          <p:cNvSpPr/>
          <p:nvPr/>
        </p:nvSpPr>
        <p:spPr>
          <a:xfrm>
            <a:off x="861625" y="344650"/>
            <a:ext cx="4704475" cy="172325"/>
          </a:xfrm>
          <a:prstGeom prst="rect">
            <a:avLst/>
          </a:prstGeom>
          <a:noFill/>
          <a:ln/>
        </p:spPr>
        <p:txBody>
          <a:bodyPr wrap="square" lIns="0" tIns="0" rIns="0" bIns="0" rtlCol="0" anchor="ctr"/>
          <a:lstStyle/>
          <a:p>
            <a:pPr>
              <a:lnSpc>
                <a:spcPct val="120000"/>
              </a:lnSpc>
            </a:pPr>
            <a:r>
              <a:rPr lang="en-US" sz="950" b="1" spc="47" kern="0" dirty="0">
                <a:solidFill>
                  <a:srgbClr val="34C759"/>
                </a:solidFill>
                <a:latin typeface="Quattrocento Sans" pitchFamily="34" charset="0"/>
                <a:ea typeface="Quattrocento Sans" pitchFamily="34" charset="-122"/>
                <a:cs typeface="Quattrocento Sans" pitchFamily="34" charset="-120"/>
              </a:rPr>
              <a:t>Introduction to Mobile Apps</a:t>
            </a:r>
            <a:endParaRPr lang="en-US" sz="1600" dirty="0"/>
          </a:p>
        </p:txBody>
      </p:sp>
      <p:sp>
        <p:nvSpPr>
          <p:cNvPr id="5" name="Text 3"/>
          <p:cNvSpPr/>
          <p:nvPr/>
        </p:nvSpPr>
        <p:spPr>
          <a:xfrm>
            <a:off x="861625" y="516975"/>
            <a:ext cx="4799254" cy="344650"/>
          </a:xfrm>
          <a:prstGeom prst="rect">
            <a:avLst/>
          </a:prstGeom>
          <a:noFill/>
          <a:ln/>
        </p:spPr>
        <p:txBody>
          <a:bodyPr wrap="square" lIns="0" tIns="0" rIns="0" bIns="0" rtlCol="0" anchor="ctr"/>
          <a:lstStyle/>
          <a:p>
            <a:pPr>
              <a:lnSpc>
                <a:spcPct val="90000"/>
              </a:lnSpc>
            </a:pPr>
            <a:r>
              <a:rPr lang="en-US" sz="2442" b="1" dirty="0">
                <a:solidFill>
                  <a:srgbClr val="F5F5F7"/>
                </a:solidFill>
                <a:latin typeface="Liter" pitchFamily="34" charset="0"/>
                <a:ea typeface="Liter" pitchFamily="34" charset="-122"/>
                <a:cs typeface="Liter" pitchFamily="34" charset="-120"/>
              </a:rPr>
              <a:t>Common Features of Mobile Apps</a:t>
            </a:r>
            <a:endParaRPr lang="en-US" sz="1600" dirty="0"/>
          </a:p>
        </p:txBody>
      </p:sp>
      <p:sp>
        <p:nvSpPr>
          <p:cNvPr id="6" name="Shape 4"/>
          <p:cNvSpPr/>
          <p:nvPr/>
        </p:nvSpPr>
        <p:spPr>
          <a:xfrm>
            <a:off x="344650" y="1154578"/>
            <a:ext cx="2214377" cy="1395833"/>
          </a:xfrm>
          <a:custGeom>
            <a:avLst/>
            <a:gdLst/>
            <a:ahLst/>
            <a:cxnLst/>
            <a:rect l="l" t="t" r="r" b="b"/>
            <a:pathLst>
              <a:path w="2214377" h="1395833">
                <a:moveTo>
                  <a:pt x="34417" y="0"/>
                </a:moveTo>
                <a:lnTo>
                  <a:pt x="2179955" y="0"/>
                </a:lnTo>
                <a:cubicBezTo>
                  <a:pt x="2198963" y="0"/>
                  <a:pt x="2214372" y="15409"/>
                  <a:pt x="2214372" y="34417"/>
                </a:cubicBezTo>
                <a:lnTo>
                  <a:pt x="2214372" y="1257935"/>
                </a:lnTo>
                <a:cubicBezTo>
                  <a:pt x="2214372" y="1334107"/>
                  <a:pt x="2152622" y="1395857"/>
                  <a:pt x="2076450" y="1395857"/>
                </a:cubicBezTo>
                <a:lnTo>
                  <a:pt x="137922" y="1395857"/>
                </a:lnTo>
                <a:cubicBezTo>
                  <a:pt x="61750" y="1395857"/>
                  <a:pt x="0" y="1334107"/>
                  <a:pt x="0" y="1257935"/>
                </a:cubicBezTo>
                <a:lnTo>
                  <a:pt x="0" y="34417"/>
                </a:lnTo>
                <a:cubicBezTo>
                  <a:pt x="0" y="15409"/>
                  <a:pt x="15409" y="0"/>
                  <a:pt x="34417" y="0"/>
                </a:cubicBezTo>
                <a:close/>
              </a:path>
            </a:pathLst>
          </a:custGeom>
          <a:gradFill rotWithShape="1" flip="none">
            <a:gsLst>
              <a:gs pos="0">
                <a:srgbClr val="34C759">
                  <a:alpha val="20000"/>
                </a:srgbClr>
              </a:gs>
              <a:gs pos="100000">
                <a:srgbClr val="2C2C2E"/>
              </a:gs>
            </a:gsLst>
            <a:lin ang="2700000" scaled="1"/>
          </a:gradFill>
          <a:ln/>
        </p:spPr>
      </p:sp>
      <p:sp>
        <p:nvSpPr>
          <p:cNvPr id="7" name="Shape 5"/>
          <p:cNvSpPr/>
          <p:nvPr/>
        </p:nvSpPr>
        <p:spPr>
          <a:xfrm>
            <a:off x="344650" y="1154578"/>
            <a:ext cx="2214377" cy="34465"/>
          </a:xfrm>
          <a:custGeom>
            <a:avLst/>
            <a:gdLst/>
            <a:ahLst/>
            <a:cxnLst/>
            <a:rect l="l" t="t" r="r" b="b"/>
            <a:pathLst>
              <a:path w="2214377" h="34465">
                <a:moveTo>
                  <a:pt x="34417" y="0"/>
                </a:moveTo>
                <a:lnTo>
                  <a:pt x="2179955" y="0"/>
                </a:lnTo>
                <a:cubicBezTo>
                  <a:pt x="2198963" y="0"/>
                  <a:pt x="2214372" y="15409"/>
                  <a:pt x="2214372" y="34417"/>
                </a:cubicBezTo>
                <a:lnTo>
                  <a:pt x="2214372" y="34417"/>
                </a:lnTo>
                <a:lnTo>
                  <a:pt x="0" y="34417"/>
                </a:lnTo>
                <a:lnTo>
                  <a:pt x="0" y="34417"/>
                </a:lnTo>
                <a:cubicBezTo>
                  <a:pt x="0" y="15409"/>
                  <a:pt x="15409" y="0"/>
                  <a:pt x="34417" y="0"/>
                </a:cubicBezTo>
                <a:close/>
              </a:path>
            </a:pathLst>
          </a:custGeom>
          <a:solidFill>
            <a:srgbClr val="34C759"/>
          </a:solidFill>
          <a:ln/>
        </p:spPr>
      </p:sp>
      <p:sp>
        <p:nvSpPr>
          <p:cNvPr id="8" name="Shape 6"/>
          <p:cNvSpPr/>
          <p:nvPr/>
        </p:nvSpPr>
        <p:spPr>
          <a:xfrm>
            <a:off x="1212307" y="1309671"/>
            <a:ext cx="482510" cy="482510"/>
          </a:xfrm>
          <a:prstGeom prst="roundRect">
            <a:avLst>
              <a:gd name="adj" fmla="val 50000"/>
            </a:avLst>
          </a:prstGeom>
          <a:solidFill>
            <a:srgbClr val="34C759"/>
          </a:solidFill>
          <a:ln/>
        </p:spPr>
      </p:sp>
      <p:sp>
        <p:nvSpPr>
          <p:cNvPr id="9" name="Shape 7"/>
          <p:cNvSpPr/>
          <p:nvPr/>
        </p:nvSpPr>
        <p:spPr>
          <a:xfrm>
            <a:off x="1363091" y="1447531"/>
            <a:ext cx="180941" cy="206790"/>
          </a:xfrm>
          <a:custGeom>
            <a:avLst/>
            <a:gdLst/>
            <a:ahLst/>
            <a:cxnLst/>
            <a:rect l="l" t="t" r="r" b="b"/>
            <a:pathLst>
              <a:path w="180941" h="206790">
                <a:moveTo>
                  <a:pt x="51698" y="16155"/>
                </a:moveTo>
                <a:cubicBezTo>
                  <a:pt x="51698" y="7230"/>
                  <a:pt x="58927" y="0"/>
                  <a:pt x="67853" y="0"/>
                </a:cubicBezTo>
                <a:cubicBezTo>
                  <a:pt x="76779" y="0"/>
                  <a:pt x="84008" y="7230"/>
                  <a:pt x="84008" y="16155"/>
                </a:cubicBezTo>
                <a:lnTo>
                  <a:pt x="84008" y="76012"/>
                </a:lnTo>
                <a:cubicBezTo>
                  <a:pt x="87442" y="72942"/>
                  <a:pt x="91965" y="71084"/>
                  <a:pt x="96933" y="71084"/>
                </a:cubicBezTo>
                <a:cubicBezTo>
                  <a:pt x="105253" y="71084"/>
                  <a:pt x="112361" y="76335"/>
                  <a:pt x="115108" y="83685"/>
                </a:cubicBezTo>
                <a:cubicBezTo>
                  <a:pt x="118662" y="79929"/>
                  <a:pt x="123670" y="77546"/>
                  <a:pt x="129244" y="77546"/>
                </a:cubicBezTo>
                <a:cubicBezTo>
                  <a:pt x="139462" y="77546"/>
                  <a:pt x="147823" y="85422"/>
                  <a:pt x="148590" y="95438"/>
                </a:cubicBezTo>
                <a:cubicBezTo>
                  <a:pt x="152023" y="92329"/>
                  <a:pt x="156587" y="90471"/>
                  <a:pt x="161555" y="90471"/>
                </a:cubicBezTo>
                <a:cubicBezTo>
                  <a:pt x="172258" y="90471"/>
                  <a:pt x="180941" y="99154"/>
                  <a:pt x="180941" y="109857"/>
                </a:cubicBezTo>
                <a:lnTo>
                  <a:pt x="180941" y="155093"/>
                </a:lnTo>
                <a:cubicBezTo>
                  <a:pt x="180941" y="183647"/>
                  <a:pt x="157799" y="206790"/>
                  <a:pt x="129244" y="206790"/>
                </a:cubicBezTo>
                <a:lnTo>
                  <a:pt x="94792" y="206790"/>
                </a:lnTo>
                <a:cubicBezTo>
                  <a:pt x="92773" y="206790"/>
                  <a:pt x="90794" y="206669"/>
                  <a:pt x="88855" y="206386"/>
                </a:cubicBezTo>
                <a:cubicBezTo>
                  <a:pt x="66520" y="204124"/>
                  <a:pt x="45962" y="192654"/>
                  <a:pt x="32311" y="174479"/>
                </a:cubicBezTo>
                <a:lnTo>
                  <a:pt x="3231" y="135706"/>
                </a:lnTo>
                <a:cubicBezTo>
                  <a:pt x="-2141" y="128557"/>
                  <a:pt x="-687" y="118460"/>
                  <a:pt x="6462" y="113088"/>
                </a:cubicBezTo>
                <a:cubicBezTo>
                  <a:pt x="13611" y="107717"/>
                  <a:pt x="23708" y="109171"/>
                  <a:pt x="29080" y="116319"/>
                </a:cubicBezTo>
                <a:lnTo>
                  <a:pt x="51698" y="146490"/>
                </a:lnTo>
                <a:lnTo>
                  <a:pt x="51698" y="16155"/>
                </a:lnTo>
                <a:close/>
                <a:moveTo>
                  <a:pt x="96933" y="122782"/>
                </a:moveTo>
                <a:cubicBezTo>
                  <a:pt x="96933" y="119227"/>
                  <a:pt x="94025" y="116319"/>
                  <a:pt x="90471" y="116319"/>
                </a:cubicBezTo>
                <a:cubicBezTo>
                  <a:pt x="86916" y="116319"/>
                  <a:pt x="84008" y="119227"/>
                  <a:pt x="84008" y="122782"/>
                </a:cubicBezTo>
                <a:lnTo>
                  <a:pt x="84008" y="161555"/>
                </a:lnTo>
                <a:cubicBezTo>
                  <a:pt x="84008" y="165109"/>
                  <a:pt x="86916" y="168017"/>
                  <a:pt x="90471" y="168017"/>
                </a:cubicBezTo>
                <a:cubicBezTo>
                  <a:pt x="94025" y="168017"/>
                  <a:pt x="96933" y="165109"/>
                  <a:pt x="96933" y="161555"/>
                </a:cubicBezTo>
                <a:lnTo>
                  <a:pt x="96933" y="122782"/>
                </a:lnTo>
                <a:close/>
                <a:moveTo>
                  <a:pt x="116319" y="116319"/>
                </a:moveTo>
                <a:cubicBezTo>
                  <a:pt x="112765" y="116319"/>
                  <a:pt x="109857" y="119227"/>
                  <a:pt x="109857" y="122782"/>
                </a:cubicBezTo>
                <a:lnTo>
                  <a:pt x="109857" y="161555"/>
                </a:lnTo>
                <a:cubicBezTo>
                  <a:pt x="109857" y="165109"/>
                  <a:pt x="112765" y="168017"/>
                  <a:pt x="116319" y="168017"/>
                </a:cubicBezTo>
                <a:cubicBezTo>
                  <a:pt x="119874" y="168017"/>
                  <a:pt x="122782" y="165109"/>
                  <a:pt x="122782" y="161555"/>
                </a:cubicBezTo>
                <a:lnTo>
                  <a:pt x="122782" y="122782"/>
                </a:lnTo>
                <a:cubicBezTo>
                  <a:pt x="122782" y="119227"/>
                  <a:pt x="119874" y="116319"/>
                  <a:pt x="116319" y="116319"/>
                </a:cubicBezTo>
                <a:close/>
                <a:moveTo>
                  <a:pt x="148630" y="122782"/>
                </a:moveTo>
                <a:cubicBezTo>
                  <a:pt x="148630" y="119227"/>
                  <a:pt x="145722" y="116319"/>
                  <a:pt x="142168" y="116319"/>
                </a:cubicBezTo>
                <a:cubicBezTo>
                  <a:pt x="138614" y="116319"/>
                  <a:pt x="135706" y="119227"/>
                  <a:pt x="135706" y="122782"/>
                </a:cubicBezTo>
                <a:lnTo>
                  <a:pt x="135706" y="161555"/>
                </a:lnTo>
                <a:cubicBezTo>
                  <a:pt x="135706" y="165109"/>
                  <a:pt x="138614" y="168017"/>
                  <a:pt x="142168" y="168017"/>
                </a:cubicBezTo>
                <a:cubicBezTo>
                  <a:pt x="145722" y="168017"/>
                  <a:pt x="148630" y="165109"/>
                  <a:pt x="148630" y="161555"/>
                </a:cubicBezTo>
                <a:lnTo>
                  <a:pt x="148630" y="122782"/>
                </a:lnTo>
                <a:close/>
              </a:path>
            </a:pathLst>
          </a:custGeom>
          <a:solidFill>
            <a:srgbClr val="1D1D1F"/>
          </a:solidFill>
          <a:ln/>
        </p:spPr>
      </p:sp>
      <p:sp>
        <p:nvSpPr>
          <p:cNvPr id="10" name="Text 8"/>
          <p:cNvSpPr/>
          <p:nvPr/>
        </p:nvSpPr>
        <p:spPr>
          <a:xfrm>
            <a:off x="443737" y="1895576"/>
            <a:ext cx="2016204" cy="241255"/>
          </a:xfrm>
          <a:prstGeom prst="rect">
            <a:avLst/>
          </a:prstGeom>
          <a:noFill/>
          <a:ln/>
        </p:spPr>
        <p:txBody>
          <a:bodyPr wrap="square" lIns="0" tIns="0" rIns="0" bIns="0" rtlCol="0" anchor="ctr"/>
          <a:lstStyle/>
          <a:p>
            <a:pPr algn="ctr">
              <a:lnSpc>
                <a:spcPct val="130000"/>
              </a:lnSpc>
            </a:pPr>
            <a:r>
              <a:rPr lang="en-US" sz="1221" b="1" dirty="0">
                <a:solidFill>
                  <a:srgbClr val="34C759"/>
                </a:solidFill>
                <a:latin typeface="Liter" pitchFamily="34" charset="0"/>
                <a:ea typeface="Liter" pitchFamily="34" charset="-122"/>
                <a:cs typeface="Liter" pitchFamily="34" charset="-120"/>
              </a:rPr>
              <a:t>Touch Interface</a:t>
            </a:r>
            <a:endParaRPr lang="en-US" sz="1600" dirty="0"/>
          </a:p>
        </p:txBody>
      </p:sp>
      <p:sp>
        <p:nvSpPr>
          <p:cNvPr id="11" name="Text 9"/>
          <p:cNvSpPr/>
          <p:nvPr/>
        </p:nvSpPr>
        <p:spPr>
          <a:xfrm>
            <a:off x="448045" y="2205761"/>
            <a:ext cx="2007587" cy="206790"/>
          </a:xfrm>
          <a:prstGeom prst="rect">
            <a:avLst/>
          </a:prstGeom>
          <a:noFill/>
          <a:ln/>
        </p:spPr>
        <p:txBody>
          <a:bodyPr wrap="square" lIns="0" tIns="0" rIns="0" bIns="0" rtlCol="0" anchor="ctr"/>
          <a:lstStyle/>
          <a:p>
            <a:pPr algn="ct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Tap, swipe, pinch to interact</a:t>
            </a:r>
            <a:endParaRPr lang="en-US" sz="1600" dirty="0"/>
          </a:p>
        </p:txBody>
      </p:sp>
      <p:sp>
        <p:nvSpPr>
          <p:cNvPr id="12" name="Shape 10"/>
          <p:cNvSpPr/>
          <p:nvPr/>
        </p:nvSpPr>
        <p:spPr>
          <a:xfrm>
            <a:off x="2665977" y="1154578"/>
            <a:ext cx="2214377" cy="1395833"/>
          </a:xfrm>
          <a:custGeom>
            <a:avLst/>
            <a:gdLst/>
            <a:ahLst/>
            <a:cxnLst/>
            <a:rect l="l" t="t" r="r" b="b"/>
            <a:pathLst>
              <a:path w="2214377" h="1395833">
                <a:moveTo>
                  <a:pt x="34417" y="0"/>
                </a:moveTo>
                <a:lnTo>
                  <a:pt x="2179955" y="0"/>
                </a:lnTo>
                <a:cubicBezTo>
                  <a:pt x="2198963" y="0"/>
                  <a:pt x="2214372" y="15409"/>
                  <a:pt x="2214372" y="34417"/>
                </a:cubicBezTo>
                <a:lnTo>
                  <a:pt x="2214372" y="1257935"/>
                </a:lnTo>
                <a:cubicBezTo>
                  <a:pt x="2214372" y="1334107"/>
                  <a:pt x="2152622" y="1395857"/>
                  <a:pt x="2076450" y="1395857"/>
                </a:cubicBezTo>
                <a:lnTo>
                  <a:pt x="137922" y="1395857"/>
                </a:lnTo>
                <a:cubicBezTo>
                  <a:pt x="61750" y="1395857"/>
                  <a:pt x="0" y="1334107"/>
                  <a:pt x="0" y="1257935"/>
                </a:cubicBezTo>
                <a:lnTo>
                  <a:pt x="0" y="34417"/>
                </a:lnTo>
                <a:cubicBezTo>
                  <a:pt x="0" y="15409"/>
                  <a:pt x="15409" y="0"/>
                  <a:pt x="34417" y="0"/>
                </a:cubicBezTo>
                <a:close/>
              </a:path>
            </a:pathLst>
          </a:custGeom>
          <a:gradFill rotWithShape="1" flip="none">
            <a:gsLst>
              <a:gs pos="0">
                <a:srgbClr val="0A84FF">
                  <a:alpha val="20000"/>
                </a:srgbClr>
              </a:gs>
              <a:gs pos="100000">
                <a:srgbClr val="2C2C2E"/>
              </a:gs>
            </a:gsLst>
            <a:lin ang="2700000" scaled="1"/>
          </a:gradFill>
          <a:ln/>
        </p:spPr>
      </p:sp>
      <p:sp>
        <p:nvSpPr>
          <p:cNvPr id="13" name="Shape 11"/>
          <p:cNvSpPr/>
          <p:nvPr/>
        </p:nvSpPr>
        <p:spPr>
          <a:xfrm>
            <a:off x="2665977" y="1154578"/>
            <a:ext cx="2214377" cy="34465"/>
          </a:xfrm>
          <a:custGeom>
            <a:avLst/>
            <a:gdLst/>
            <a:ahLst/>
            <a:cxnLst/>
            <a:rect l="l" t="t" r="r" b="b"/>
            <a:pathLst>
              <a:path w="2214377" h="34465">
                <a:moveTo>
                  <a:pt x="34417" y="0"/>
                </a:moveTo>
                <a:lnTo>
                  <a:pt x="2179955" y="0"/>
                </a:lnTo>
                <a:cubicBezTo>
                  <a:pt x="2198963" y="0"/>
                  <a:pt x="2214372" y="15409"/>
                  <a:pt x="2214372" y="34417"/>
                </a:cubicBezTo>
                <a:lnTo>
                  <a:pt x="2214372" y="34417"/>
                </a:lnTo>
                <a:lnTo>
                  <a:pt x="0" y="34417"/>
                </a:lnTo>
                <a:lnTo>
                  <a:pt x="0" y="34417"/>
                </a:lnTo>
                <a:cubicBezTo>
                  <a:pt x="0" y="15409"/>
                  <a:pt x="15409" y="0"/>
                  <a:pt x="34417" y="0"/>
                </a:cubicBezTo>
                <a:close/>
              </a:path>
            </a:pathLst>
          </a:custGeom>
          <a:solidFill>
            <a:srgbClr val="0A84FF"/>
          </a:solidFill>
          <a:ln/>
        </p:spPr>
      </p:sp>
      <p:sp>
        <p:nvSpPr>
          <p:cNvPr id="14" name="Shape 12"/>
          <p:cNvSpPr/>
          <p:nvPr/>
        </p:nvSpPr>
        <p:spPr>
          <a:xfrm>
            <a:off x="3533741" y="1309671"/>
            <a:ext cx="482510" cy="482510"/>
          </a:xfrm>
          <a:prstGeom prst="roundRect">
            <a:avLst>
              <a:gd name="adj" fmla="val 50000"/>
            </a:avLst>
          </a:prstGeom>
          <a:solidFill>
            <a:srgbClr val="0A84FF"/>
          </a:solidFill>
          <a:ln/>
        </p:spPr>
      </p:sp>
      <p:sp>
        <p:nvSpPr>
          <p:cNvPr id="15" name="Shape 13"/>
          <p:cNvSpPr/>
          <p:nvPr/>
        </p:nvSpPr>
        <p:spPr>
          <a:xfrm>
            <a:off x="3684526" y="1447531"/>
            <a:ext cx="180941" cy="206790"/>
          </a:xfrm>
          <a:custGeom>
            <a:avLst/>
            <a:gdLst/>
            <a:ahLst/>
            <a:cxnLst/>
            <a:rect l="l" t="t" r="r" b="b"/>
            <a:pathLst>
              <a:path w="180941" h="206790">
                <a:moveTo>
                  <a:pt x="90471" y="0"/>
                </a:moveTo>
                <a:cubicBezTo>
                  <a:pt x="83322" y="0"/>
                  <a:pt x="77546" y="5776"/>
                  <a:pt x="77546" y="12924"/>
                </a:cubicBezTo>
                <a:lnTo>
                  <a:pt x="77546" y="14217"/>
                </a:lnTo>
                <a:cubicBezTo>
                  <a:pt x="48063" y="20194"/>
                  <a:pt x="25849" y="46285"/>
                  <a:pt x="25849" y="77546"/>
                </a:cubicBezTo>
                <a:lnTo>
                  <a:pt x="25849" y="86311"/>
                </a:lnTo>
                <a:cubicBezTo>
                  <a:pt x="25849" y="105738"/>
                  <a:pt x="19225" y="124599"/>
                  <a:pt x="7108" y="139785"/>
                </a:cubicBezTo>
                <a:lnTo>
                  <a:pt x="3150" y="144713"/>
                </a:lnTo>
                <a:cubicBezTo>
                  <a:pt x="1090" y="147257"/>
                  <a:pt x="0" y="150407"/>
                  <a:pt x="0" y="153679"/>
                </a:cubicBezTo>
                <a:cubicBezTo>
                  <a:pt x="0" y="161595"/>
                  <a:pt x="6422" y="168017"/>
                  <a:pt x="14338" y="168017"/>
                </a:cubicBezTo>
                <a:lnTo>
                  <a:pt x="166563" y="168017"/>
                </a:lnTo>
                <a:cubicBezTo>
                  <a:pt x="174479" y="168017"/>
                  <a:pt x="180901" y="161595"/>
                  <a:pt x="180901" y="153679"/>
                </a:cubicBezTo>
                <a:cubicBezTo>
                  <a:pt x="180901" y="150407"/>
                  <a:pt x="179810" y="147257"/>
                  <a:pt x="177751" y="144713"/>
                </a:cubicBezTo>
                <a:lnTo>
                  <a:pt x="173793" y="139785"/>
                </a:lnTo>
                <a:cubicBezTo>
                  <a:pt x="161716" y="124599"/>
                  <a:pt x="155093" y="105738"/>
                  <a:pt x="155093" y="86311"/>
                </a:cubicBezTo>
                <a:lnTo>
                  <a:pt x="155093" y="77546"/>
                </a:lnTo>
                <a:cubicBezTo>
                  <a:pt x="155093" y="46285"/>
                  <a:pt x="132879" y="20194"/>
                  <a:pt x="103395" y="14217"/>
                </a:cubicBezTo>
                <a:lnTo>
                  <a:pt x="103395" y="12924"/>
                </a:lnTo>
                <a:cubicBezTo>
                  <a:pt x="103395" y="5776"/>
                  <a:pt x="97619" y="0"/>
                  <a:pt x="90471" y="0"/>
                </a:cubicBezTo>
                <a:close/>
                <a:moveTo>
                  <a:pt x="65430" y="187404"/>
                </a:moveTo>
                <a:cubicBezTo>
                  <a:pt x="68297" y="198551"/>
                  <a:pt x="78435" y="206790"/>
                  <a:pt x="90471" y="206790"/>
                </a:cubicBezTo>
                <a:cubicBezTo>
                  <a:pt x="102507" y="206790"/>
                  <a:pt x="112644" y="198551"/>
                  <a:pt x="115512" y="187404"/>
                </a:cubicBezTo>
                <a:lnTo>
                  <a:pt x="65430" y="187404"/>
                </a:lnTo>
                <a:close/>
              </a:path>
            </a:pathLst>
          </a:custGeom>
          <a:solidFill>
            <a:srgbClr val="FFFFFF"/>
          </a:solidFill>
          <a:ln/>
        </p:spPr>
      </p:sp>
      <p:sp>
        <p:nvSpPr>
          <p:cNvPr id="16" name="Text 14"/>
          <p:cNvSpPr/>
          <p:nvPr/>
        </p:nvSpPr>
        <p:spPr>
          <a:xfrm>
            <a:off x="2765064" y="1895576"/>
            <a:ext cx="2016204" cy="241255"/>
          </a:xfrm>
          <a:prstGeom prst="rect">
            <a:avLst/>
          </a:prstGeom>
          <a:noFill/>
          <a:ln/>
        </p:spPr>
        <p:txBody>
          <a:bodyPr wrap="square" lIns="0" tIns="0" rIns="0" bIns="0" rtlCol="0" anchor="ctr"/>
          <a:lstStyle/>
          <a:p>
            <a:pPr algn="ctr">
              <a:lnSpc>
                <a:spcPct val="130000"/>
              </a:lnSpc>
            </a:pPr>
            <a:r>
              <a:rPr lang="en-US" sz="1221" b="1" dirty="0">
                <a:solidFill>
                  <a:srgbClr val="0A84FF"/>
                </a:solidFill>
                <a:latin typeface="Liter" pitchFamily="34" charset="0"/>
                <a:ea typeface="Liter" pitchFamily="34" charset="-122"/>
                <a:cs typeface="Liter" pitchFamily="34" charset="-120"/>
              </a:rPr>
              <a:t>Notifications</a:t>
            </a:r>
            <a:endParaRPr lang="en-US" sz="1600" dirty="0"/>
          </a:p>
        </p:txBody>
      </p:sp>
      <p:sp>
        <p:nvSpPr>
          <p:cNvPr id="17" name="Text 15"/>
          <p:cNvSpPr/>
          <p:nvPr/>
        </p:nvSpPr>
        <p:spPr>
          <a:xfrm>
            <a:off x="2769372" y="2205761"/>
            <a:ext cx="2007587" cy="206790"/>
          </a:xfrm>
          <a:prstGeom prst="rect">
            <a:avLst/>
          </a:prstGeom>
          <a:noFill/>
          <a:ln/>
        </p:spPr>
        <p:txBody>
          <a:bodyPr wrap="square" lIns="0" tIns="0" rIns="0" bIns="0" rtlCol="0" anchor="ctr"/>
          <a:lstStyle/>
          <a:p>
            <a:pPr algn="ct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Alerts and messages</a:t>
            </a:r>
            <a:endParaRPr lang="en-US" sz="1600" dirty="0"/>
          </a:p>
        </p:txBody>
      </p:sp>
      <p:sp>
        <p:nvSpPr>
          <p:cNvPr id="18" name="Shape 16"/>
          <p:cNvSpPr/>
          <p:nvPr/>
        </p:nvSpPr>
        <p:spPr>
          <a:xfrm>
            <a:off x="4987411" y="1154578"/>
            <a:ext cx="2214377" cy="1395833"/>
          </a:xfrm>
          <a:custGeom>
            <a:avLst/>
            <a:gdLst/>
            <a:ahLst/>
            <a:cxnLst/>
            <a:rect l="l" t="t" r="r" b="b"/>
            <a:pathLst>
              <a:path w="2214377" h="1395833">
                <a:moveTo>
                  <a:pt x="34417" y="0"/>
                </a:moveTo>
                <a:lnTo>
                  <a:pt x="2179955" y="0"/>
                </a:lnTo>
                <a:cubicBezTo>
                  <a:pt x="2198963" y="0"/>
                  <a:pt x="2214372" y="15409"/>
                  <a:pt x="2214372" y="34417"/>
                </a:cubicBezTo>
                <a:lnTo>
                  <a:pt x="2214372" y="1257935"/>
                </a:lnTo>
                <a:cubicBezTo>
                  <a:pt x="2214372" y="1334107"/>
                  <a:pt x="2152622" y="1395857"/>
                  <a:pt x="2076450" y="1395857"/>
                </a:cubicBezTo>
                <a:lnTo>
                  <a:pt x="137922" y="1395857"/>
                </a:lnTo>
                <a:cubicBezTo>
                  <a:pt x="61750" y="1395857"/>
                  <a:pt x="0" y="1334107"/>
                  <a:pt x="0" y="1257935"/>
                </a:cubicBezTo>
                <a:lnTo>
                  <a:pt x="0" y="34417"/>
                </a:lnTo>
                <a:cubicBezTo>
                  <a:pt x="0" y="15409"/>
                  <a:pt x="15409" y="0"/>
                  <a:pt x="34417" y="0"/>
                </a:cubicBezTo>
                <a:close/>
              </a:path>
            </a:pathLst>
          </a:custGeom>
          <a:gradFill rotWithShape="1" flip="none">
            <a:gsLst>
              <a:gs pos="0">
                <a:srgbClr val="8E8E93">
                  <a:alpha val="20000"/>
                </a:srgbClr>
              </a:gs>
              <a:gs pos="100000">
                <a:srgbClr val="2C2C2E"/>
              </a:gs>
            </a:gsLst>
            <a:lin ang="2700000" scaled="1"/>
          </a:gradFill>
          <a:ln/>
        </p:spPr>
      </p:sp>
      <p:sp>
        <p:nvSpPr>
          <p:cNvPr id="19" name="Shape 17"/>
          <p:cNvSpPr/>
          <p:nvPr/>
        </p:nvSpPr>
        <p:spPr>
          <a:xfrm>
            <a:off x="4987411" y="1154578"/>
            <a:ext cx="2214377" cy="34465"/>
          </a:xfrm>
          <a:custGeom>
            <a:avLst/>
            <a:gdLst/>
            <a:ahLst/>
            <a:cxnLst/>
            <a:rect l="l" t="t" r="r" b="b"/>
            <a:pathLst>
              <a:path w="2214377" h="34465">
                <a:moveTo>
                  <a:pt x="34417" y="0"/>
                </a:moveTo>
                <a:lnTo>
                  <a:pt x="2179955" y="0"/>
                </a:lnTo>
                <a:cubicBezTo>
                  <a:pt x="2198963" y="0"/>
                  <a:pt x="2214372" y="15409"/>
                  <a:pt x="2214372" y="34417"/>
                </a:cubicBezTo>
                <a:lnTo>
                  <a:pt x="2214372" y="34417"/>
                </a:lnTo>
                <a:lnTo>
                  <a:pt x="0" y="34417"/>
                </a:lnTo>
                <a:lnTo>
                  <a:pt x="0" y="34417"/>
                </a:lnTo>
                <a:cubicBezTo>
                  <a:pt x="0" y="15409"/>
                  <a:pt x="15409" y="0"/>
                  <a:pt x="34417" y="0"/>
                </a:cubicBezTo>
                <a:close/>
              </a:path>
            </a:pathLst>
          </a:custGeom>
          <a:solidFill>
            <a:srgbClr val="8E8E93"/>
          </a:solidFill>
          <a:ln/>
        </p:spPr>
      </p:sp>
      <p:sp>
        <p:nvSpPr>
          <p:cNvPr id="20" name="Shape 18"/>
          <p:cNvSpPr/>
          <p:nvPr/>
        </p:nvSpPr>
        <p:spPr>
          <a:xfrm>
            <a:off x="5855068" y="1309671"/>
            <a:ext cx="482510" cy="482510"/>
          </a:xfrm>
          <a:prstGeom prst="roundRect">
            <a:avLst>
              <a:gd name="adj" fmla="val 50000"/>
            </a:avLst>
          </a:prstGeom>
          <a:solidFill>
            <a:srgbClr val="8E8E93"/>
          </a:solidFill>
          <a:ln/>
        </p:spPr>
      </p:sp>
      <p:sp>
        <p:nvSpPr>
          <p:cNvPr id="21" name="Shape 19"/>
          <p:cNvSpPr/>
          <p:nvPr/>
        </p:nvSpPr>
        <p:spPr>
          <a:xfrm>
            <a:off x="5992928" y="1447531"/>
            <a:ext cx="206790" cy="206790"/>
          </a:xfrm>
          <a:custGeom>
            <a:avLst/>
            <a:gdLst/>
            <a:ahLst/>
            <a:cxnLst/>
            <a:rect l="l" t="t" r="r" b="b"/>
            <a:pathLst>
              <a:path w="206790" h="206790">
                <a:moveTo>
                  <a:pt x="60220" y="26172"/>
                </a:moveTo>
                <a:lnTo>
                  <a:pt x="56019" y="38773"/>
                </a:lnTo>
                <a:lnTo>
                  <a:pt x="25849" y="38773"/>
                </a:lnTo>
                <a:cubicBezTo>
                  <a:pt x="11592" y="38773"/>
                  <a:pt x="0" y="50365"/>
                  <a:pt x="0" y="64622"/>
                </a:cubicBezTo>
                <a:lnTo>
                  <a:pt x="0" y="168017"/>
                </a:lnTo>
                <a:cubicBezTo>
                  <a:pt x="0" y="182274"/>
                  <a:pt x="11592" y="193866"/>
                  <a:pt x="25849" y="193866"/>
                </a:cubicBezTo>
                <a:lnTo>
                  <a:pt x="180941" y="193866"/>
                </a:lnTo>
                <a:cubicBezTo>
                  <a:pt x="195199" y="193866"/>
                  <a:pt x="206790" y="182274"/>
                  <a:pt x="206790" y="168017"/>
                </a:cubicBezTo>
                <a:lnTo>
                  <a:pt x="206790" y="64622"/>
                </a:lnTo>
                <a:cubicBezTo>
                  <a:pt x="206790" y="50365"/>
                  <a:pt x="195199" y="38773"/>
                  <a:pt x="180941" y="38773"/>
                </a:cubicBezTo>
                <a:lnTo>
                  <a:pt x="150771" y="38773"/>
                </a:lnTo>
                <a:lnTo>
                  <a:pt x="146571" y="26172"/>
                </a:lnTo>
                <a:cubicBezTo>
                  <a:pt x="143945" y="18256"/>
                  <a:pt x="136554" y="12924"/>
                  <a:pt x="128194" y="12924"/>
                </a:cubicBezTo>
                <a:lnTo>
                  <a:pt x="78596" y="12924"/>
                </a:lnTo>
                <a:cubicBezTo>
                  <a:pt x="70236" y="12924"/>
                  <a:pt x="62845" y="18256"/>
                  <a:pt x="60220" y="26172"/>
                </a:cubicBezTo>
                <a:close/>
                <a:moveTo>
                  <a:pt x="103395" y="77546"/>
                </a:moveTo>
                <a:cubicBezTo>
                  <a:pt x="124795" y="77546"/>
                  <a:pt x="142168" y="94920"/>
                  <a:pt x="142168" y="116319"/>
                </a:cubicBezTo>
                <a:cubicBezTo>
                  <a:pt x="142168" y="137719"/>
                  <a:pt x="124795" y="155093"/>
                  <a:pt x="103395" y="155093"/>
                </a:cubicBezTo>
                <a:cubicBezTo>
                  <a:pt x="81996" y="155093"/>
                  <a:pt x="64622" y="137719"/>
                  <a:pt x="64622" y="116319"/>
                </a:cubicBezTo>
                <a:cubicBezTo>
                  <a:pt x="64622" y="94920"/>
                  <a:pt x="81996" y="77546"/>
                  <a:pt x="103395" y="77546"/>
                </a:cubicBezTo>
                <a:close/>
              </a:path>
            </a:pathLst>
          </a:custGeom>
          <a:solidFill>
            <a:srgbClr val="FFFFFF"/>
          </a:solidFill>
          <a:ln/>
        </p:spPr>
      </p:sp>
      <p:sp>
        <p:nvSpPr>
          <p:cNvPr id="22" name="Text 20"/>
          <p:cNvSpPr/>
          <p:nvPr/>
        </p:nvSpPr>
        <p:spPr>
          <a:xfrm>
            <a:off x="5086498" y="1895576"/>
            <a:ext cx="2016204" cy="241255"/>
          </a:xfrm>
          <a:prstGeom prst="rect">
            <a:avLst/>
          </a:prstGeom>
          <a:noFill/>
          <a:ln/>
        </p:spPr>
        <p:txBody>
          <a:bodyPr wrap="square" lIns="0" tIns="0" rIns="0" bIns="0" rtlCol="0" anchor="ctr"/>
          <a:lstStyle/>
          <a:p>
            <a:pPr algn="ctr">
              <a:lnSpc>
                <a:spcPct val="130000"/>
              </a:lnSpc>
            </a:pPr>
            <a:r>
              <a:rPr lang="en-US" sz="1221" b="1" dirty="0">
                <a:solidFill>
                  <a:srgbClr val="8E8E93"/>
                </a:solidFill>
                <a:latin typeface="Liter" pitchFamily="34" charset="0"/>
                <a:ea typeface="Liter" pitchFamily="34" charset="-122"/>
                <a:cs typeface="Liter" pitchFamily="34" charset="-120"/>
              </a:rPr>
              <a:t>Camera Access</a:t>
            </a:r>
            <a:endParaRPr lang="en-US" sz="1600" dirty="0"/>
          </a:p>
        </p:txBody>
      </p:sp>
      <p:sp>
        <p:nvSpPr>
          <p:cNvPr id="23" name="Text 21"/>
          <p:cNvSpPr/>
          <p:nvPr/>
        </p:nvSpPr>
        <p:spPr>
          <a:xfrm>
            <a:off x="5090806" y="2205761"/>
            <a:ext cx="2007587" cy="206790"/>
          </a:xfrm>
          <a:prstGeom prst="rect">
            <a:avLst/>
          </a:prstGeom>
          <a:noFill/>
          <a:ln/>
        </p:spPr>
        <p:txBody>
          <a:bodyPr wrap="square" lIns="0" tIns="0" rIns="0" bIns="0" rtlCol="0" anchor="ctr"/>
          <a:lstStyle/>
          <a:p>
            <a:pPr algn="ct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Take photos and videos</a:t>
            </a:r>
            <a:endParaRPr lang="en-US" sz="1600" dirty="0"/>
          </a:p>
        </p:txBody>
      </p:sp>
      <p:sp>
        <p:nvSpPr>
          <p:cNvPr id="24" name="Shape 22"/>
          <p:cNvSpPr/>
          <p:nvPr/>
        </p:nvSpPr>
        <p:spPr>
          <a:xfrm>
            <a:off x="7308738" y="1154578"/>
            <a:ext cx="2214377" cy="1395833"/>
          </a:xfrm>
          <a:custGeom>
            <a:avLst/>
            <a:gdLst/>
            <a:ahLst/>
            <a:cxnLst/>
            <a:rect l="l" t="t" r="r" b="b"/>
            <a:pathLst>
              <a:path w="2214377" h="1395833">
                <a:moveTo>
                  <a:pt x="34417" y="0"/>
                </a:moveTo>
                <a:lnTo>
                  <a:pt x="2179955" y="0"/>
                </a:lnTo>
                <a:cubicBezTo>
                  <a:pt x="2198963" y="0"/>
                  <a:pt x="2214372" y="15409"/>
                  <a:pt x="2214372" y="34417"/>
                </a:cubicBezTo>
                <a:lnTo>
                  <a:pt x="2214372" y="1257935"/>
                </a:lnTo>
                <a:cubicBezTo>
                  <a:pt x="2214372" y="1334107"/>
                  <a:pt x="2152622" y="1395857"/>
                  <a:pt x="2076450" y="1395857"/>
                </a:cubicBezTo>
                <a:lnTo>
                  <a:pt x="137922" y="1395857"/>
                </a:lnTo>
                <a:cubicBezTo>
                  <a:pt x="61750" y="1395857"/>
                  <a:pt x="0" y="1334107"/>
                  <a:pt x="0" y="1257935"/>
                </a:cubicBezTo>
                <a:lnTo>
                  <a:pt x="0" y="34417"/>
                </a:lnTo>
                <a:cubicBezTo>
                  <a:pt x="0" y="15409"/>
                  <a:pt x="15409" y="0"/>
                  <a:pt x="34417" y="0"/>
                </a:cubicBezTo>
                <a:close/>
              </a:path>
            </a:pathLst>
          </a:custGeom>
          <a:gradFill rotWithShape="1" flip="none">
            <a:gsLst>
              <a:gs pos="0">
                <a:srgbClr val="34C759">
                  <a:alpha val="20000"/>
                </a:srgbClr>
              </a:gs>
              <a:gs pos="100000">
                <a:srgbClr val="2C2C2E"/>
              </a:gs>
            </a:gsLst>
            <a:lin ang="2700000" scaled="1"/>
          </a:gradFill>
          <a:ln/>
        </p:spPr>
      </p:sp>
      <p:sp>
        <p:nvSpPr>
          <p:cNvPr id="25" name="Shape 23"/>
          <p:cNvSpPr/>
          <p:nvPr/>
        </p:nvSpPr>
        <p:spPr>
          <a:xfrm>
            <a:off x="7308738" y="1154578"/>
            <a:ext cx="2214377" cy="34465"/>
          </a:xfrm>
          <a:custGeom>
            <a:avLst/>
            <a:gdLst/>
            <a:ahLst/>
            <a:cxnLst/>
            <a:rect l="l" t="t" r="r" b="b"/>
            <a:pathLst>
              <a:path w="2214377" h="34465">
                <a:moveTo>
                  <a:pt x="34417" y="0"/>
                </a:moveTo>
                <a:lnTo>
                  <a:pt x="2179955" y="0"/>
                </a:lnTo>
                <a:cubicBezTo>
                  <a:pt x="2198963" y="0"/>
                  <a:pt x="2214372" y="15409"/>
                  <a:pt x="2214372" y="34417"/>
                </a:cubicBezTo>
                <a:lnTo>
                  <a:pt x="2214372" y="34417"/>
                </a:lnTo>
                <a:lnTo>
                  <a:pt x="0" y="34417"/>
                </a:lnTo>
                <a:lnTo>
                  <a:pt x="0" y="34417"/>
                </a:lnTo>
                <a:cubicBezTo>
                  <a:pt x="0" y="15409"/>
                  <a:pt x="15409" y="0"/>
                  <a:pt x="34417" y="0"/>
                </a:cubicBezTo>
                <a:close/>
              </a:path>
            </a:pathLst>
          </a:custGeom>
          <a:solidFill>
            <a:srgbClr val="34C759"/>
          </a:solidFill>
          <a:ln/>
        </p:spPr>
      </p:sp>
      <p:sp>
        <p:nvSpPr>
          <p:cNvPr id="26" name="Shape 24"/>
          <p:cNvSpPr/>
          <p:nvPr/>
        </p:nvSpPr>
        <p:spPr>
          <a:xfrm>
            <a:off x="8176503" y="1309671"/>
            <a:ext cx="482510" cy="482510"/>
          </a:xfrm>
          <a:prstGeom prst="roundRect">
            <a:avLst>
              <a:gd name="adj" fmla="val 50000"/>
            </a:avLst>
          </a:prstGeom>
          <a:solidFill>
            <a:srgbClr val="34C759"/>
          </a:solidFill>
          <a:ln/>
        </p:spPr>
      </p:sp>
      <p:sp>
        <p:nvSpPr>
          <p:cNvPr id="27" name="Shape 25"/>
          <p:cNvSpPr/>
          <p:nvPr/>
        </p:nvSpPr>
        <p:spPr>
          <a:xfrm>
            <a:off x="8340211" y="1447531"/>
            <a:ext cx="155093" cy="206790"/>
          </a:xfrm>
          <a:custGeom>
            <a:avLst/>
            <a:gdLst/>
            <a:ahLst/>
            <a:cxnLst/>
            <a:rect l="l" t="t" r="r" b="b"/>
            <a:pathLst>
              <a:path w="155093" h="206790">
                <a:moveTo>
                  <a:pt x="0" y="76173"/>
                </a:moveTo>
                <a:cubicBezTo>
                  <a:pt x="0" y="34088"/>
                  <a:pt x="34734" y="0"/>
                  <a:pt x="77546" y="0"/>
                </a:cubicBezTo>
                <a:cubicBezTo>
                  <a:pt x="120358" y="0"/>
                  <a:pt x="155093" y="34088"/>
                  <a:pt x="155093" y="76173"/>
                </a:cubicBezTo>
                <a:cubicBezTo>
                  <a:pt x="155093" y="124357"/>
                  <a:pt x="106545" y="182113"/>
                  <a:pt x="86270" y="204124"/>
                </a:cubicBezTo>
                <a:cubicBezTo>
                  <a:pt x="81504" y="209294"/>
                  <a:pt x="73548" y="209294"/>
                  <a:pt x="68782" y="204124"/>
                </a:cubicBezTo>
                <a:cubicBezTo>
                  <a:pt x="48507" y="182113"/>
                  <a:pt x="-40" y="124357"/>
                  <a:pt x="-40" y="76173"/>
                </a:cubicBezTo>
                <a:close/>
                <a:moveTo>
                  <a:pt x="77546" y="103395"/>
                </a:moveTo>
                <a:cubicBezTo>
                  <a:pt x="91813" y="103395"/>
                  <a:pt x="103395" y="91813"/>
                  <a:pt x="103395" y="77546"/>
                </a:cubicBezTo>
                <a:cubicBezTo>
                  <a:pt x="103395" y="63280"/>
                  <a:pt x="91813" y="51698"/>
                  <a:pt x="77546" y="51698"/>
                </a:cubicBezTo>
                <a:cubicBezTo>
                  <a:pt x="63280" y="51698"/>
                  <a:pt x="51698" y="63280"/>
                  <a:pt x="51698" y="77546"/>
                </a:cubicBezTo>
                <a:cubicBezTo>
                  <a:pt x="51698" y="91813"/>
                  <a:pt x="63280" y="103395"/>
                  <a:pt x="77546" y="103395"/>
                </a:cubicBezTo>
                <a:close/>
              </a:path>
            </a:pathLst>
          </a:custGeom>
          <a:solidFill>
            <a:srgbClr val="1D1D1F"/>
          </a:solidFill>
          <a:ln/>
        </p:spPr>
      </p:sp>
      <p:sp>
        <p:nvSpPr>
          <p:cNvPr id="28" name="Text 26"/>
          <p:cNvSpPr/>
          <p:nvPr/>
        </p:nvSpPr>
        <p:spPr>
          <a:xfrm>
            <a:off x="7407825" y="1895576"/>
            <a:ext cx="2016204" cy="241255"/>
          </a:xfrm>
          <a:prstGeom prst="rect">
            <a:avLst/>
          </a:prstGeom>
          <a:noFill/>
          <a:ln/>
        </p:spPr>
        <p:txBody>
          <a:bodyPr wrap="square" lIns="0" tIns="0" rIns="0" bIns="0" rtlCol="0" anchor="ctr"/>
          <a:lstStyle/>
          <a:p>
            <a:pPr algn="ctr">
              <a:lnSpc>
                <a:spcPct val="130000"/>
              </a:lnSpc>
            </a:pPr>
            <a:r>
              <a:rPr lang="en-US" sz="1221" b="1" dirty="0">
                <a:solidFill>
                  <a:srgbClr val="34C759"/>
                </a:solidFill>
                <a:latin typeface="Liter" pitchFamily="34" charset="0"/>
                <a:ea typeface="Liter" pitchFamily="34" charset="-122"/>
                <a:cs typeface="Liter" pitchFamily="34" charset="-120"/>
              </a:rPr>
              <a:t>GPS Location</a:t>
            </a:r>
            <a:endParaRPr lang="en-US" sz="1600" dirty="0"/>
          </a:p>
        </p:txBody>
      </p:sp>
      <p:sp>
        <p:nvSpPr>
          <p:cNvPr id="29" name="Text 27"/>
          <p:cNvSpPr/>
          <p:nvPr/>
        </p:nvSpPr>
        <p:spPr>
          <a:xfrm>
            <a:off x="7412133" y="2205761"/>
            <a:ext cx="2007587" cy="206790"/>
          </a:xfrm>
          <a:prstGeom prst="rect">
            <a:avLst/>
          </a:prstGeom>
          <a:noFill/>
          <a:ln/>
        </p:spPr>
        <p:txBody>
          <a:bodyPr wrap="square" lIns="0" tIns="0" rIns="0" bIns="0" rtlCol="0" anchor="ctr"/>
          <a:lstStyle/>
          <a:p>
            <a:pPr algn="ct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Maps and navigation</a:t>
            </a:r>
            <a:endParaRPr lang="en-US" sz="1600" dirty="0"/>
          </a:p>
        </p:txBody>
      </p:sp>
      <p:sp>
        <p:nvSpPr>
          <p:cNvPr id="30" name="Shape 28"/>
          <p:cNvSpPr/>
          <p:nvPr/>
        </p:nvSpPr>
        <p:spPr>
          <a:xfrm>
            <a:off x="9630173" y="1154578"/>
            <a:ext cx="2214377" cy="1395833"/>
          </a:xfrm>
          <a:custGeom>
            <a:avLst/>
            <a:gdLst/>
            <a:ahLst/>
            <a:cxnLst/>
            <a:rect l="l" t="t" r="r" b="b"/>
            <a:pathLst>
              <a:path w="2214377" h="1395833">
                <a:moveTo>
                  <a:pt x="34417" y="0"/>
                </a:moveTo>
                <a:lnTo>
                  <a:pt x="2179955" y="0"/>
                </a:lnTo>
                <a:cubicBezTo>
                  <a:pt x="2198963" y="0"/>
                  <a:pt x="2214372" y="15409"/>
                  <a:pt x="2214372" y="34417"/>
                </a:cubicBezTo>
                <a:lnTo>
                  <a:pt x="2214372" y="1257935"/>
                </a:lnTo>
                <a:cubicBezTo>
                  <a:pt x="2214372" y="1334107"/>
                  <a:pt x="2152622" y="1395857"/>
                  <a:pt x="2076450" y="1395857"/>
                </a:cubicBezTo>
                <a:lnTo>
                  <a:pt x="137922" y="1395857"/>
                </a:lnTo>
                <a:cubicBezTo>
                  <a:pt x="61750" y="1395857"/>
                  <a:pt x="0" y="1334107"/>
                  <a:pt x="0" y="1257935"/>
                </a:cubicBezTo>
                <a:lnTo>
                  <a:pt x="0" y="34417"/>
                </a:lnTo>
                <a:cubicBezTo>
                  <a:pt x="0" y="15409"/>
                  <a:pt x="15409" y="0"/>
                  <a:pt x="34417" y="0"/>
                </a:cubicBezTo>
                <a:close/>
              </a:path>
            </a:pathLst>
          </a:custGeom>
          <a:gradFill rotWithShape="1" flip="none">
            <a:gsLst>
              <a:gs pos="0">
                <a:srgbClr val="0A84FF">
                  <a:alpha val="20000"/>
                </a:srgbClr>
              </a:gs>
              <a:gs pos="100000">
                <a:srgbClr val="2C2C2E"/>
              </a:gs>
            </a:gsLst>
            <a:lin ang="2700000" scaled="1"/>
          </a:gradFill>
          <a:ln/>
        </p:spPr>
      </p:sp>
      <p:sp>
        <p:nvSpPr>
          <p:cNvPr id="31" name="Shape 29"/>
          <p:cNvSpPr/>
          <p:nvPr/>
        </p:nvSpPr>
        <p:spPr>
          <a:xfrm>
            <a:off x="9630173" y="1154578"/>
            <a:ext cx="2214377" cy="34465"/>
          </a:xfrm>
          <a:custGeom>
            <a:avLst/>
            <a:gdLst/>
            <a:ahLst/>
            <a:cxnLst/>
            <a:rect l="l" t="t" r="r" b="b"/>
            <a:pathLst>
              <a:path w="2214377" h="34465">
                <a:moveTo>
                  <a:pt x="34417" y="0"/>
                </a:moveTo>
                <a:lnTo>
                  <a:pt x="2179955" y="0"/>
                </a:lnTo>
                <a:cubicBezTo>
                  <a:pt x="2198963" y="0"/>
                  <a:pt x="2214372" y="15409"/>
                  <a:pt x="2214372" y="34417"/>
                </a:cubicBezTo>
                <a:lnTo>
                  <a:pt x="2214372" y="34417"/>
                </a:lnTo>
                <a:lnTo>
                  <a:pt x="0" y="34417"/>
                </a:lnTo>
                <a:lnTo>
                  <a:pt x="0" y="34417"/>
                </a:lnTo>
                <a:cubicBezTo>
                  <a:pt x="0" y="15409"/>
                  <a:pt x="15409" y="0"/>
                  <a:pt x="34417" y="0"/>
                </a:cubicBezTo>
                <a:close/>
              </a:path>
            </a:pathLst>
          </a:custGeom>
          <a:solidFill>
            <a:srgbClr val="0A84FF"/>
          </a:solidFill>
          <a:ln/>
        </p:spPr>
      </p:sp>
      <p:sp>
        <p:nvSpPr>
          <p:cNvPr id="32" name="Shape 30"/>
          <p:cNvSpPr/>
          <p:nvPr/>
        </p:nvSpPr>
        <p:spPr>
          <a:xfrm>
            <a:off x="10497829" y="1309671"/>
            <a:ext cx="482510" cy="482510"/>
          </a:xfrm>
          <a:prstGeom prst="roundRect">
            <a:avLst>
              <a:gd name="adj" fmla="val 50000"/>
            </a:avLst>
          </a:prstGeom>
          <a:solidFill>
            <a:srgbClr val="0A84FF"/>
          </a:solidFill>
          <a:ln/>
        </p:spPr>
      </p:sp>
      <p:sp>
        <p:nvSpPr>
          <p:cNvPr id="33" name="Shape 31"/>
          <p:cNvSpPr/>
          <p:nvPr/>
        </p:nvSpPr>
        <p:spPr>
          <a:xfrm>
            <a:off x="10648613" y="1447531"/>
            <a:ext cx="180941" cy="206790"/>
          </a:xfrm>
          <a:custGeom>
            <a:avLst/>
            <a:gdLst/>
            <a:ahLst/>
            <a:cxnLst/>
            <a:rect l="l" t="t" r="r" b="b"/>
            <a:pathLst>
              <a:path w="180941" h="206790">
                <a:moveTo>
                  <a:pt x="180941" y="83120"/>
                </a:moveTo>
                <a:cubicBezTo>
                  <a:pt x="174964" y="87078"/>
                  <a:pt x="168098" y="90269"/>
                  <a:pt x="160949" y="92813"/>
                </a:cubicBezTo>
                <a:cubicBezTo>
                  <a:pt x="141966" y="99599"/>
                  <a:pt x="117046" y="103395"/>
                  <a:pt x="90471" y="103395"/>
                </a:cubicBezTo>
                <a:cubicBezTo>
                  <a:pt x="63895" y="103395"/>
                  <a:pt x="38935" y="99558"/>
                  <a:pt x="19992" y="92813"/>
                </a:cubicBezTo>
                <a:cubicBezTo>
                  <a:pt x="12884" y="90269"/>
                  <a:pt x="5978" y="87078"/>
                  <a:pt x="0" y="83120"/>
                </a:cubicBezTo>
                <a:lnTo>
                  <a:pt x="0" y="116319"/>
                </a:lnTo>
                <a:cubicBezTo>
                  <a:pt x="0" y="134171"/>
                  <a:pt x="40510" y="148630"/>
                  <a:pt x="90471" y="148630"/>
                </a:cubicBezTo>
                <a:cubicBezTo>
                  <a:pt x="140431" y="148630"/>
                  <a:pt x="180941" y="134171"/>
                  <a:pt x="180941" y="116319"/>
                </a:cubicBezTo>
                <a:lnTo>
                  <a:pt x="180941" y="83120"/>
                </a:lnTo>
                <a:close/>
                <a:moveTo>
                  <a:pt x="180941" y="51698"/>
                </a:moveTo>
                <a:lnTo>
                  <a:pt x="180941" y="32311"/>
                </a:lnTo>
                <a:cubicBezTo>
                  <a:pt x="180941" y="14459"/>
                  <a:pt x="140431" y="0"/>
                  <a:pt x="90471" y="0"/>
                </a:cubicBezTo>
                <a:cubicBezTo>
                  <a:pt x="40510" y="0"/>
                  <a:pt x="0" y="14459"/>
                  <a:pt x="0" y="32311"/>
                </a:cubicBezTo>
                <a:lnTo>
                  <a:pt x="0" y="51698"/>
                </a:lnTo>
                <a:cubicBezTo>
                  <a:pt x="0" y="69549"/>
                  <a:pt x="40510" y="84008"/>
                  <a:pt x="90471" y="84008"/>
                </a:cubicBezTo>
                <a:cubicBezTo>
                  <a:pt x="140431" y="84008"/>
                  <a:pt x="180941" y="69549"/>
                  <a:pt x="180941" y="51698"/>
                </a:cubicBezTo>
                <a:close/>
                <a:moveTo>
                  <a:pt x="160949" y="157435"/>
                </a:moveTo>
                <a:cubicBezTo>
                  <a:pt x="142007" y="164180"/>
                  <a:pt x="117087" y="168017"/>
                  <a:pt x="90471" y="168017"/>
                </a:cubicBezTo>
                <a:cubicBezTo>
                  <a:pt x="63855" y="168017"/>
                  <a:pt x="38935" y="164180"/>
                  <a:pt x="19992" y="157435"/>
                </a:cubicBezTo>
                <a:cubicBezTo>
                  <a:pt x="12884" y="154891"/>
                  <a:pt x="5978" y="151700"/>
                  <a:pt x="0" y="147742"/>
                </a:cubicBezTo>
                <a:lnTo>
                  <a:pt x="0" y="174479"/>
                </a:lnTo>
                <a:cubicBezTo>
                  <a:pt x="0" y="192331"/>
                  <a:pt x="40510" y="206790"/>
                  <a:pt x="90471" y="206790"/>
                </a:cubicBezTo>
                <a:cubicBezTo>
                  <a:pt x="140431" y="206790"/>
                  <a:pt x="180941" y="192331"/>
                  <a:pt x="180941" y="174479"/>
                </a:cubicBezTo>
                <a:lnTo>
                  <a:pt x="180941" y="147742"/>
                </a:lnTo>
                <a:cubicBezTo>
                  <a:pt x="174964" y="151700"/>
                  <a:pt x="168098" y="154891"/>
                  <a:pt x="160949" y="157435"/>
                </a:cubicBezTo>
                <a:close/>
              </a:path>
            </a:pathLst>
          </a:custGeom>
          <a:solidFill>
            <a:srgbClr val="FFFFFF"/>
          </a:solidFill>
          <a:ln/>
        </p:spPr>
      </p:sp>
      <p:sp>
        <p:nvSpPr>
          <p:cNvPr id="34" name="Text 32"/>
          <p:cNvSpPr/>
          <p:nvPr/>
        </p:nvSpPr>
        <p:spPr>
          <a:xfrm>
            <a:off x="9729260" y="1895576"/>
            <a:ext cx="2016204" cy="241255"/>
          </a:xfrm>
          <a:prstGeom prst="rect">
            <a:avLst/>
          </a:prstGeom>
          <a:noFill/>
          <a:ln/>
        </p:spPr>
        <p:txBody>
          <a:bodyPr wrap="square" lIns="0" tIns="0" rIns="0" bIns="0" rtlCol="0" anchor="ctr"/>
          <a:lstStyle/>
          <a:p>
            <a:pPr algn="ctr">
              <a:lnSpc>
                <a:spcPct val="130000"/>
              </a:lnSpc>
            </a:pPr>
            <a:r>
              <a:rPr lang="en-US" sz="1221" b="1" dirty="0">
                <a:solidFill>
                  <a:srgbClr val="0A84FF"/>
                </a:solidFill>
                <a:latin typeface="Liter" pitchFamily="34" charset="0"/>
                <a:ea typeface="Liter" pitchFamily="34" charset="-122"/>
                <a:cs typeface="Liter" pitchFamily="34" charset="-120"/>
              </a:rPr>
              <a:t>Offline Storage</a:t>
            </a:r>
            <a:endParaRPr lang="en-US" sz="1600" dirty="0"/>
          </a:p>
        </p:txBody>
      </p:sp>
      <p:sp>
        <p:nvSpPr>
          <p:cNvPr id="35" name="Text 33"/>
          <p:cNvSpPr/>
          <p:nvPr/>
        </p:nvSpPr>
        <p:spPr>
          <a:xfrm>
            <a:off x="9733568" y="2205761"/>
            <a:ext cx="2007587" cy="206790"/>
          </a:xfrm>
          <a:prstGeom prst="rect">
            <a:avLst/>
          </a:prstGeom>
          <a:noFill/>
          <a:ln/>
        </p:spPr>
        <p:txBody>
          <a:bodyPr wrap="square" lIns="0" tIns="0" rIns="0" bIns="0" rtlCol="0" anchor="ctr"/>
          <a:lstStyle/>
          <a:p>
            <a:pPr algn="ct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Save data on device</a:t>
            </a:r>
            <a:endParaRPr lang="en-US" sz="1600" dirty="0"/>
          </a:p>
        </p:txBody>
      </p:sp>
      <p:sp>
        <p:nvSpPr>
          <p:cNvPr id="36" name="Shape 34"/>
          <p:cNvSpPr/>
          <p:nvPr/>
        </p:nvSpPr>
        <p:spPr>
          <a:xfrm>
            <a:off x="361883" y="2688271"/>
            <a:ext cx="5669495" cy="2653806"/>
          </a:xfrm>
          <a:custGeom>
            <a:avLst/>
            <a:gdLst/>
            <a:ahLst/>
            <a:cxnLst/>
            <a:rect l="l" t="t" r="r" b="b"/>
            <a:pathLst>
              <a:path w="5669495" h="2653806">
                <a:moveTo>
                  <a:pt x="34417" y="0"/>
                </a:moveTo>
                <a:lnTo>
                  <a:pt x="5531612" y="0"/>
                </a:lnTo>
                <a:cubicBezTo>
                  <a:pt x="5607784" y="0"/>
                  <a:pt x="5669534" y="61750"/>
                  <a:pt x="5669534" y="137922"/>
                </a:cubicBezTo>
                <a:lnTo>
                  <a:pt x="5669534" y="2515997"/>
                </a:lnTo>
                <a:cubicBezTo>
                  <a:pt x="5669464" y="2592120"/>
                  <a:pt x="5607735" y="2653792"/>
                  <a:pt x="5531612" y="2653792"/>
                </a:cubicBezTo>
                <a:lnTo>
                  <a:pt x="34417" y="2653792"/>
                </a:lnTo>
                <a:cubicBezTo>
                  <a:pt x="15409" y="2653792"/>
                  <a:pt x="0" y="2638383"/>
                  <a:pt x="0" y="2619375"/>
                </a:cubicBezTo>
                <a:lnTo>
                  <a:pt x="0" y="34417"/>
                </a:lnTo>
                <a:cubicBezTo>
                  <a:pt x="0" y="15409"/>
                  <a:pt x="15409" y="0"/>
                  <a:pt x="34417" y="0"/>
                </a:cubicBezTo>
                <a:close/>
              </a:path>
            </a:pathLst>
          </a:custGeom>
          <a:solidFill>
            <a:srgbClr val="2C2C2E"/>
          </a:solidFill>
          <a:ln/>
        </p:spPr>
      </p:sp>
      <p:sp>
        <p:nvSpPr>
          <p:cNvPr id="37" name="Shape 35"/>
          <p:cNvSpPr/>
          <p:nvPr/>
        </p:nvSpPr>
        <p:spPr>
          <a:xfrm>
            <a:off x="361883" y="2688271"/>
            <a:ext cx="34465" cy="2653806"/>
          </a:xfrm>
          <a:custGeom>
            <a:avLst/>
            <a:gdLst/>
            <a:ahLst/>
            <a:cxnLst/>
            <a:rect l="l" t="t" r="r" b="b"/>
            <a:pathLst>
              <a:path w="34465" h="2653806">
                <a:moveTo>
                  <a:pt x="34417" y="0"/>
                </a:moveTo>
                <a:lnTo>
                  <a:pt x="34417" y="0"/>
                </a:lnTo>
                <a:lnTo>
                  <a:pt x="34417" y="2653792"/>
                </a:lnTo>
                <a:lnTo>
                  <a:pt x="34417" y="2653792"/>
                </a:lnTo>
                <a:cubicBezTo>
                  <a:pt x="15409" y="2653792"/>
                  <a:pt x="0" y="2638383"/>
                  <a:pt x="0" y="2619375"/>
                </a:cubicBezTo>
                <a:lnTo>
                  <a:pt x="0" y="34417"/>
                </a:lnTo>
                <a:cubicBezTo>
                  <a:pt x="0" y="15409"/>
                  <a:pt x="15409" y="0"/>
                  <a:pt x="34417" y="0"/>
                </a:cubicBezTo>
                <a:close/>
              </a:path>
            </a:pathLst>
          </a:custGeom>
          <a:solidFill>
            <a:srgbClr val="34C759"/>
          </a:solidFill>
          <a:ln/>
        </p:spPr>
      </p:sp>
      <p:sp>
        <p:nvSpPr>
          <p:cNvPr id="38" name="Shape 36"/>
          <p:cNvSpPr/>
          <p:nvPr/>
        </p:nvSpPr>
        <p:spPr>
          <a:xfrm>
            <a:off x="592367" y="2903678"/>
            <a:ext cx="116319" cy="155093"/>
          </a:xfrm>
          <a:custGeom>
            <a:avLst/>
            <a:gdLst/>
            <a:ahLst/>
            <a:cxnLst/>
            <a:rect l="l" t="t" r="r" b="b"/>
            <a:pathLst>
              <a:path w="116319" h="155093">
                <a:moveTo>
                  <a:pt x="88724" y="116319"/>
                </a:moveTo>
                <a:cubicBezTo>
                  <a:pt x="90935" y="109564"/>
                  <a:pt x="95358" y="103446"/>
                  <a:pt x="100356" y="98175"/>
                </a:cubicBezTo>
                <a:cubicBezTo>
                  <a:pt x="110261" y="87755"/>
                  <a:pt x="116319" y="73669"/>
                  <a:pt x="116319" y="58160"/>
                </a:cubicBezTo>
                <a:cubicBezTo>
                  <a:pt x="116319" y="26051"/>
                  <a:pt x="90269" y="0"/>
                  <a:pt x="58160" y="0"/>
                </a:cubicBezTo>
                <a:cubicBezTo>
                  <a:pt x="26051" y="0"/>
                  <a:pt x="0" y="26051"/>
                  <a:pt x="0" y="58160"/>
                </a:cubicBezTo>
                <a:cubicBezTo>
                  <a:pt x="0" y="73669"/>
                  <a:pt x="6058" y="87755"/>
                  <a:pt x="15964" y="98175"/>
                </a:cubicBezTo>
                <a:cubicBezTo>
                  <a:pt x="20962" y="103446"/>
                  <a:pt x="25415" y="109564"/>
                  <a:pt x="27596" y="116319"/>
                </a:cubicBezTo>
                <a:lnTo>
                  <a:pt x="88694" y="116319"/>
                </a:lnTo>
                <a:close/>
                <a:moveTo>
                  <a:pt x="87240" y="130859"/>
                </a:moveTo>
                <a:lnTo>
                  <a:pt x="29080" y="130859"/>
                </a:lnTo>
                <a:lnTo>
                  <a:pt x="29080" y="135706"/>
                </a:lnTo>
                <a:cubicBezTo>
                  <a:pt x="29080" y="149095"/>
                  <a:pt x="39924" y="159939"/>
                  <a:pt x="53313" y="159939"/>
                </a:cubicBezTo>
                <a:lnTo>
                  <a:pt x="63006" y="159939"/>
                </a:lnTo>
                <a:cubicBezTo>
                  <a:pt x="76395" y="159939"/>
                  <a:pt x="87240" y="149095"/>
                  <a:pt x="87240" y="135706"/>
                </a:cubicBezTo>
                <a:lnTo>
                  <a:pt x="87240" y="130859"/>
                </a:lnTo>
                <a:close/>
                <a:moveTo>
                  <a:pt x="55736" y="33927"/>
                </a:moveTo>
                <a:cubicBezTo>
                  <a:pt x="43680" y="33927"/>
                  <a:pt x="33927" y="43680"/>
                  <a:pt x="33927" y="55736"/>
                </a:cubicBezTo>
                <a:cubicBezTo>
                  <a:pt x="33927" y="59765"/>
                  <a:pt x="30685" y="63006"/>
                  <a:pt x="26657" y="63006"/>
                </a:cubicBezTo>
                <a:cubicBezTo>
                  <a:pt x="22628" y="63006"/>
                  <a:pt x="19387" y="59765"/>
                  <a:pt x="19387" y="55736"/>
                </a:cubicBezTo>
                <a:cubicBezTo>
                  <a:pt x="19387" y="35653"/>
                  <a:pt x="35653" y="19387"/>
                  <a:pt x="55736" y="19387"/>
                </a:cubicBezTo>
                <a:cubicBezTo>
                  <a:pt x="59765" y="19387"/>
                  <a:pt x="63006" y="22628"/>
                  <a:pt x="63006" y="26657"/>
                </a:cubicBezTo>
                <a:cubicBezTo>
                  <a:pt x="63006" y="30685"/>
                  <a:pt x="59765" y="33927"/>
                  <a:pt x="55736" y="33927"/>
                </a:cubicBezTo>
                <a:close/>
              </a:path>
            </a:pathLst>
          </a:custGeom>
          <a:solidFill>
            <a:srgbClr val="34C759"/>
          </a:solidFill>
          <a:ln/>
        </p:spPr>
      </p:sp>
      <p:sp>
        <p:nvSpPr>
          <p:cNvPr id="39" name="Text 37"/>
          <p:cNvSpPr/>
          <p:nvPr/>
        </p:nvSpPr>
        <p:spPr>
          <a:xfrm>
            <a:off x="749614" y="2860596"/>
            <a:ext cx="5186985" cy="241255"/>
          </a:xfrm>
          <a:prstGeom prst="rect">
            <a:avLst/>
          </a:prstGeom>
          <a:noFill/>
          <a:ln/>
        </p:spPr>
        <p:txBody>
          <a:bodyPr wrap="square" lIns="0" tIns="0" rIns="0" bIns="0" rtlCol="0" anchor="ctr"/>
          <a:lstStyle/>
          <a:p>
            <a:pPr>
              <a:lnSpc>
                <a:spcPct val="130000"/>
              </a:lnSpc>
            </a:pPr>
            <a:r>
              <a:rPr lang="en-US" sz="1221" b="1" dirty="0">
                <a:solidFill>
                  <a:srgbClr val="34C759"/>
                </a:solidFill>
                <a:latin typeface="Liter" pitchFamily="34" charset="0"/>
                <a:ea typeface="Liter" pitchFamily="34" charset="-122"/>
                <a:cs typeface="Liter" pitchFamily="34" charset="-120"/>
              </a:rPr>
              <a:t>Key Points</a:t>
            </a:r>
            <a:endParaRPr lang="en-US" sz="1600" dirty="0"/>
          </a:p>
        </p:txBody>
      </p:sp>
      <p:sp>
        <p:nvSpPr>
          <p:cNvPr id="40" name="Text 38"/>
          <p:cNvSpPr/>
          <p:nvPr/>
        </p:nvSpPr>
        <p:spPr>
          <a:xfrm>
            <a:off x="551440" y="3205247"/>
            <a:ext cx="112011" cy="206790"/>
          </a:xfrm>
          <a:prstGeom prst="rect">
            <a:avLst/>
          </a:prstGeom>
          <a:noFill/>
          <a:ln/>
        </p:spPr>
        <p:txBody>
          <a:bodyPr wrap="square" lIns="0" tIns="0" rIns="0" bIns="0" rtlCol="0" anchor="ctr"/>
          <a:lstStyle/>
          <a:p>
            <a:pPr>
              <a:lnSpc>
                <a:spcPct val="120000"/>
              </a:lnSpc>
            </a:pPr>
            <a:r>
              <a:rPr lang="en-US" sz="1086"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1" name="Text 39"/>
          <p:cNvSpPr/>
          <p:nvPr/>
        </p:nvSpPr>
        <p:spPr>
          <a:xfrm>
            <a:off x="665606" y="3205247"/>
            <a:ext cx="2378086" cy="206790"/>
          </a:xfrm>
          <a:prstGeom prst="rect">
            <a:avLst/>
          </a:prstGeom>
          <a:noFill/>
          <a:ln/>
        </p:spPr>
        <p:txBody>
          <a:bodyPr wrap="square" lIns="0" tIns="0" rIns="0" bIns="0" rtlCol="0" anchor="ctr"/>
          <a:lstStyle/>
          <a:p>
            <a:pP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Apps use </a:t>
            </a:r>
            <a:pPr>
              <a:lnSpc>
                <a:spcPct val="120000"/>
              </a:lnSpc>
            </a:pPr>
            <a:r>
              <a:rPr lang="en-US" sz="1086" b="1" dirty="0">
                <a:solidFill>
                  <a:srgbClr val="34C759"/>
                </a:solidFill>
                <a:latin typeface="Quattrocento Sans" pitchFamily="34" charset="0"/>
                <a:ea typeface="Quattrocento Sans" pitchFamily="34" charset="-122"/>
                <a:cs typeface="Quattrocento Sans" pitchFamily="34" charset="-120"/>
              </a:rPr>
              <a:t>touch gestures</a:t>
            </a:r>
            <a:pP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 for navigation</a:t>
            </a:r>
            <a:endParaRPr lang="en-US" sz="1600" dirty="0"/>
          </a:p>
        </p:txBody>
      </p:sp>
      <p:sp>
        <p:nvSpPr>
          <p:cNvPr id="42" name="Text 40"/>
          <p:cNvSpPr/>
          <p:nvPr/>
        </p:nvSpPr>
        <p:spPr>
          <a:xfrm>
            <a:off x="551440" y="3480967"/>
            <a:ext cx="112011" cy="206790"/>
          </a:xfrm>
          <a:prstGeom prst="rect">
            <a:avLst/>
          </a:prstGeom>
          <a:noFill/>
          <a:ln/>
        </p:spPr>
        <p:txBody>
          <a:bodyPr wrap="square" lIns="0" tIns="0" rIns="0" bIns="0" rtlCol="0" anchor="ctr"/>
          <a:lstStyle/>
          <a:p>
            <a:pPr>
              <a:lnSpc>
                <a:spcPct val="120000"/>
              </a:lnSpc>
            </a:pPr>
            <a:r>
              <a:rPr lang="en-US" sz="1086"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3" name="Text 41"/>
          <p:cNvSpPr/>
          <p:nvPr/>
        </p:nvSpPr>
        <p:spPr>
          <a:xfrm>
            <a:off x="665606" y="3480967"/>
            <a:ext cx="2317772" cy="206790"/>
          </a:xfrm>
          <a:prstGeom prst="rect">
            <a:avLst/>
          </a:prstGeom>
          <a:noFill/>
          <a:ln/>
        </p:spPr>
        <p:txBody>
          <a:bodyPr wrap="square" lIns="0" tIns="0" rIns="0" bIns="0" rtlCol="0" anchor="ctr"/>
          <a:lstStyle/>
          <a:p>
            <a:pPr>
              <a:lnSpc>
                <a:spcPct val="120000"/>
              </a:lnSpc>
            </a:pPr>
            <a:r>
              <a:rPr lang="en-US" sz="1086" b="1" dirty="0">
                <a:solidFill>
                  <a:srgbClr val="34C759"/>
                </a:solidFill>
                <a:latin typeface="Quattrocento Sans" pitchFamily="34" charset="0"/>
                <a:ea typeface="Quattrocento Sans" pitchFamily="34" charset="-122"/>
                <a:cs typeface="Quattrocento Sans" pitchFamily="34" charset="-120"/>
              </a:rPr>
              <a:t>Push notifications</a:t>
            </a:r>
            <a:pP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 keep users engaged</a:t>
            </a:r>
            <a:endParaRPr lang="en-US" sz="1600" dirty="0"/>
          </a:p>
        </p:txBody>
      </p:sp>
      <p:sp>
        <p:nvSpPr>
          <p:cNvPr id="44" name="Text 42"/>
          <p:cNvSpPr/>
          <p:nvPr/>
        </p:nvSpPr>
        <p:spPr>
          <a:xfrm>
            <a:off x="551440" y="3756687"/>
            <a:ext cx="112011" cy="206790"/>
          </a:xfrm>
          <a:prstGeom prst="rect">
            <a:avLst/>
          </a:prstGeom>
          <a:noFill/>
          <a:ln/>
        </p:spPr>
        <p:txBody>
          <a:bodyPr wrap="square" lIns="0" tIns="0" rIns="0" bIns="0" rtlCol="0" anchor="ctr"/>
          <a:lstStyle/>
          <a:p>
            <a:pPr>
              <a:lnSpc>
                <a:spcPct val="120000"/>
              </a:lnSpc>
            </a:pPr>
            <a:r>
              <a:rPr lang="en-US" sz="1086"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5" name="Text 43"/>
          <p:cNvSpPr/>
          <p:nvPr/>
        </p:nvSpPr>
        <p:spPr>
          <a:xfrm>
            <a:off x="665606" y="3756687"/>
            <a:ext cx="2317772" cy="206790"/>
          </a:xfrm>
          <a:prstGeom prst="rect">
            <a:avLst/>
          </a:prstGeom>
          <a:noFill/>
          <a:ln/>
        </p:spPr>
        <p:txBody>
          <a:bodyPr wrap="square" lIns="0" tIns="0" rIns="0" bIns="0" rtlCol="0" anchor="ctr"/>
          <a:lstStyle/>
          <a:p>
            <a:pP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Camera enables </a:t>
            </a:r>
            <a:pPr>
              <a:lnSpc>
                <a:spcPct val="120000"/>
              </a:lnSpc>
            </a:pPr>
            <a:r>
              <a:rPr lang="en-US" sz="1086" b="1" dirty="0">
                <a:solidFill>
                  <a:srgbClr val="34C759"/>
                </a:solidFill>
                <a:latin typeface="Quattrocento Sans" pitchFamily="34" charset="0"/>
                <a:ea typeface="Quattrocento Sans" pitchFamily="34" charset="-122"/>
                <a:cs typeface="Quattrocento Sans" pitchFamily="34" charset="-120"/>
              </a:rPr>
              <a:t>photo/video features</a:t>
            </a:r>
            <a:endParaRPr lang="en-US" sz="1600" dirty="0"/>
          </a:p>
        </p:txBody>
      </p:sp>
      <p:sp>
        <p:nvSpPr>
          <p:cNvPr id="46" name="Text 44"/>
          <p:cNvSpPr/>
          <p:nvPr/>
        </p:nvSpPr>
        <p:spPr>
          <a:xfrm>
            <a:off x="551440" y="4032407"/>
            <a:ext cx="112011" cy="206790"/>
          </a:xfrm>
          <a:prstGeom prst="rect">
            <a:avLst/>
          </a:prstGeom>
          <a:noFill/>
          <a:ln/>
        </p:spPr>
        <p:txBody>
          <a:bodyPr wrap="square" lIns="0" tIns="0" rIns="0" bIns="0" rtlCol="0" anchor="ctr"/>
          <a:lstStyle/>
          <a:p>
            <a:pPr>
              <a:lnSpc>
                <a:spcPct val="120000"/>
              </a:lnSpc>
            </a:pPr>
            <a:r>
              <a:rPr lang="en-US" sz="1086"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7" name="Text 45"/>
          <p:cNvSpPr/>
          <p:nvPr/>
        </p:nvSpPr>
        <p:spPr>
          <a:xfrm>
            <a:off x="665606" y="4032407"/>
            <a:ext cx="2317772" cy="206790"/>
          </a:xfrm>
          <a:prstGeom prst="rect">
            <a:avLst/>
          </a:prstGeom>
          <a:noFill/>
          <a:ln/>
        </p:spPr>
        <p:txBody>
          <a:bodyPr wrap="square" lIns="0" tIns="0" rIns="0" bIns="0" rtlCol="0" anchor="ctr"/>
          <a:lstStyle/>
          <a:p>
            <a:pP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GPS provides </a:t>
            </a:r>
            <a:pPr>
              <a:lnSpc>
                <a:spcPct val="120000"/>
              </a:lnSpc>
            </a:pPr>
            <a:r>
              <a:rPr lang="en-US" sz="1086" b="1" dirty="0">
                <a:solidFill>
                  <a:srgbClr val="34C759"/>
                </a:solidFill>
                <a:latin typeface="Quattrocento Sans" pitchFamily="34" charset="0"/>
                <a:ea typeface="Quattrocento Sans" pitchFamily="34" charset="-122"/>
                <a:cs typeface="Quattrocento Sans" pitchFamily="34" charset="-120"/>
              </a:rPr>
              <a:t>location-based services</a:t>
            </a:r>
            <a:endParaRPr lang="en-US" sz="1600" dirty="0"/>
          </a:p>
        </p:txBody>
      </p:sp>
      <p:sp>
        <p:nvSpPr>
          <p:cNvPr id="48" name="Text 46"/>
          <p:cNvSpPr/>
          <p:nvPr/>
        </p:nvSpPr>
        <p:spPr>
          <a:xfrm>
            <a:off x="551440" y="4308127"/>
            <a:ext cx="112011" cy="206790"/>
          </a:xfrm>
          <a:prstGeom prst="rect">
            <a:avLst/>
          </a:prstGeom>
          <a:noFill/>
          <a:ln/>
        </p:spPr>
        <p:txBody>
          <a:bodyPr wrap="square" lIns="0" tIns="0" rIns="0" bIns="0" rtlCol="0" anchor="ctr"/>
          <a:lstStyle/>
          <a:p>
            <a:pPr>
              <a:lnSpc>
                <a:spcPct val="120000"/>
              </a:lnSpc>
            </a:pPr>
            <a:r>
              <a:rPr lang="en-US" sz="1086"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9" name="Text 47"/>
          <p:cNvSpPr/>
          <p:nvPr/>
        </p:nvSpPr>
        <p:spPr>
          <a:xfrm>
            <a:off x="665606" y="4308127"/>
            <a:ext cx="2421167" cy="206790"/>
          </a:xfrm>
          <a:prstGeom prst="rect">
            <a:avLst/>
          </a:prstGeom>
          <a:noFill/>
          <a:ln/>
        </p:spPr>
        <p:txBody>
          <a:bodyPr wrap="square" lIns="0" tIns="0" rIns="0" bIns="0" rtlCol="0" anchor="ctr"/>
          <a:lstStyle/>
          <a:p>
            <a:pP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Storage allows </a:t>
            </a:r>
            <a:pPr>
              <a:lnSpc>
                <a:spcPct val="120000"/>
              </a:lnSpc>
            </a:pPr>
            <a:r>
              <a:rPr lang="en-US" sz="1086" b="1" dirty="0">
                <a:solidFill>
                  <a:srgbClr val="34C759"/>
                </a:solidFill>
                <a:latin typeface="Quattrocento Sans" pitchFamily="34" charset="0"/>
                <a:ea typeface="Quattrocento Sans" pitchFamily="34" charset="-122"/>
                <a:cs typeface="Quattrocento Sans" pitchFamily="34" charset="-120"/>
              </a:rPr>
              <a:t>offline access</a:t>
            </a:r>
            <a:pP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 to content</a:t>
            </a:r>
            <a:endParaRPr lang="en-US" sz="1600" dirty="0"/>
          </a:p>
        </p:txBody>
      </p:sp>
      <p:sp>
        <p:nvSpPr>
          <p:cNvPr id="50" name="Shape 48"/>
          <p:cNvSpPr/>
          <p:nvPr/>
        </p:nvSpPr>
        <p:spPr>
          <a:xfrm>
            <a:off x="348097" y="5486830"/>
            <a:ext cx="5676388" cy="1368261"/>
          </a:xfrm>
          <a:prstGeom prst="roundRect">
            <a:avLst>
              <a:gd name="adj" fmla="val 10076"/>
            </a:avLst>
          </a:prstGeom>
          <a:solidFill>
            <a:srgbClr val="0A84FF">
              <a:alpha val="10196"/>
            </a:srgbClr>
          </a:solidFill>
          <a:ln w="10160">
            <a:solidFill>
              <a:srgbClr val="0A84FF">
                <a:alpha val="30196"/>
              </a:srgbClr>
            </a:solidFill>
            <a:prstDash val="solid"/>
          </a:ln>
        </p:spPr>
      </p:sp>
      <p:sp>
        <p:nvSpPr>
          <p:cNvPr id="51" name="Shape 49"/>
          <p:cNvSpPr/>
          <p:nvPr/>
        </p:nvSpPr>
        <p:spPr>
          <a:xfrm>
            <a:off x="545409" y="5705685"/>
            <a:ext cx="155093" cy="155093"/>
          </a:xfrm>
          <a:custGeom>
            <a:avLst/>
            <a:gdLst/>
            <a:ahLst/>
            <a:cxnLst/>
            <a:rect l="l" t="t" r="r" b="b"/>
            <a:pathLst>
              <a:path w="155093" h="155093">
                <a:moveTo>
                  <a:pt x="77546" y="145399"/>
                </a:moveTo>
                <a:cubicBezTo>
                  <a:pt x="120378" y="145399"/>
                  <a:pt x="155093" y="112836"/>
                  <a:pt x="155093" y="72700"/>
                </a:cubicBezTo>
                <a:cubicBezTo>
                  <a:pt x="155093" y="32563"/>
                  <a:pt x="120378" y="0"/>
                  <a:pt x="77546" y="0"/>
                </a:cubicBezTo>
                <a:cubicBezTo>
                  <a:pt x="34714" y="0"/>
                  <a:pt x="0" y="32563"/>
                  <a:pt x="0" y="72700"/>
                </a:cubicBezTo>
                <a:cubicBezTo>
                  <a:pt x="0" y="89148"/>
                  <a:pt x="5816" y="104294"/>
                  <a:pt x="15630" y="116471"/>
                </a:cubicBezTo>
                <a:lnTo>
                  <a:pt x="848" y="144430"/>
                </a:lnTo>
                <a:cubicBezTo>
                  <a:pt x="-606" y="147156"/>
                  <a:pt x="-151" y="150488"/>
                  <a:pt x="1939" y="152760"/>
                </a:cubicBezTo>
                <a:cubicBezTo>
                  <a:pt x="4029" y="155032"/>
                  <a:pt x="7331" y="155729"/>
                  <a:pt x="10148" y="154517"/>
                </a:cubicBezTo>
                <a:lnTo>
                  <a:pt x="46013" y="139159"/>
                </a:lnTo>
                <a:cubicBezTo>
                  <a:pt x="55646" y="143158"/>
                  <a:pt x="66308" y="145399"/>
                  <a:pt x="77546" y="145399"/>
                </a:cubicBezTo>
                <a:close/>
                <a:moveTo>
                  <a:pt x="38773" y="63006"/>
                </a:moveTo>
                <a:cubicBezTo>
                  <a:pt x="44123" y="63006"/>
                  <a:pt x="48466" y="67350"/>
                  <a:pt x="48466" y="72700"/>
                </a:cubicBezTo>
                <a:cubicBezTo>
                  <a:pt x="48466" y="78050"/>
                  <a:pt x="44123" y="82393"/>
                  <a:pt x="38773" y="82393"/>
                </a:cubicBezTo>
                <a:cubicBezTo>
                  <a:pt x="33423" y="82393"/>
                  <a:pt x="29080" y="78050"/>
                  <a:pt x="29080" y="72700"/>
                </a:cubicBezTo>
                <a:cubicBezTo>
                  <a:pt x="29080" y="67350"/>
                  <a:pt x="33423" y="63006"/>
                  <a:pt x="38773" y="63006"/>
                </a:cubicBezTo>
                <a:close/>
                <a:moveTo>
                  <a:pt x="77546" y="63006"/>
                </a:moveTo>
                <a:cubicBezTo>
                  <a:pt x="82896" y="63006"/>
                  <a:pt x="87240" y="67350"/>
                  <a:pt x="87240" y="72700"/>
                </a:cubicBezTo>
                <a:cubicBezTo>
                  <a:pt x="87240" y="78050"/>
                  <a:pt x="82896" y="82393"/>
                  <a:pt x="77546" y="82393"/>
                </a:cubicBezTo>
                <a:cubicBezTo>
                  <a:pt x="72196" y="82393"/>
                  <a:pt x="67853" y="78050"/>
                  <a:pt x="67853" y="72700"/>
                </a:cubicBezTo>
                <a:cubicBezTo>
                  <a:pt x="67853" y="67350"/>
                  <a:pt x="72196" y="63006"/>
                  <a:pt x="77546" y="63006"/>
                </a:cubicBezTo>
                <a:close/>
                <a:moveTo>
                  <a:pt x="106626" y="72700"/>
                </a:moveTo>
                <a:cubicBezTo>
                  <a:pt x="106626" y="67350"/>
                  <a:pt x="110970" y="63006"/>
                  <a:pt x="116319" y="63006"/>
                </a:cubicBezTo>
                <a:cubicBezTo>
                  <a:pt x="121669" y="63006"/>
                  <a:pt x="126013" y="67350"/>
                  <a:pt x="126013" y="72700"/>
                </a:cubicBezTo>
                <a:cubicBezTo>
                  <a:pt x="126013" y="78050"/>
                  <a:pt x="121669" y="82393"/>
                  <a:pt x="116319" y="82393"/>
                </a:cubicBezTo>
                <a:cubicBezTo>
                  <a:pt x="110970" y="82393"/>
                  <a:pt x="106626" y="78050"/>
                  <a:pt x="106626" y="72700"/>
                </a:cubicBezTo>
                <a:close/>
              </a:path>
            </a:pathLst>
          </a:custGeom>
          <a:solidFill>
            <a:srgbClr val="0A84FF"/>
          </a:solidFill>
          <a:ln/>
        </p:spPr>
      </p:sp>
      <p:sp>
        <p:nvSpPr>
          <p:cNvPr id="52" name="Text 50"/>
          <p:cNvSpPr/>
          <p:nvPr/>
        </p:nvSpPr>
        <p:spPr>
          <a:xfrm>
            <a:off x="722042" y="5662604"/>
            <a:ext cx="5204218" cy="241255"/>
          </a:xfrm>
          <a:prstGeom prst="rect">
            <a:avLst/>
          </a:prstGeom>
          <a:noFill/>
          <a:ln/>
        </p:spPr>
        <p:txBody>
          <a:bodyPr wrap="square" lIns="0" tIns="0" rIns="0" bIns="0" rtlCol="0" anchor="ctr"/>
          <a:lstStyle/>
          <a:p>
            <a:pPr>
              <a:lnSpc>
                <a:spcPct val="130000"/>
              </a:lnSpc>
            </a:pPr>
            <a:r>
              <a:rPr lang="en-US" sz="1221"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53" name="Text 51"/>
          <p:cNvSpPr/>
          <p:nvPr/>
        </p:nvSpPr>
        <p:spPr>
          <a:xfrm>
            <a:off x="523868" y="6007254"/>
            <a:ext cx="5393775" cy="672068"/>
          </a:xfrm>
          <a:prstGeom prst="rect">
            <a:avLst/>
          </a:prstGeom>
          <a:noFill/>
          <a:ln/>
        </p:spPr>
        <p:txBody>
          <a:bodyPr wrap="square" lIns="0" tIns="0" rIns="0" bIns="0" rtlCol="0" anchor="ctr"/>
          <a:lstStyle/>
          <a:p>
            <a:pPr>
              <a:lnSpc>
                <a:spcPct val="140000"/>
              </a:lnSpc>
            </a:pPr>
            <a:r>
              <a:rPr lang="en-US" sz="1086" dirty="0">
                <a:solidFill>
                  <a:srgbClr val="F5F5F7"/>
                </a:solidFill>
                <a:latin typeface="Quattrocento Sans" pitchFamily="34" charset="0"/>
                <a:ea typeface="Quattrocento Sans" pitchFamily="34" charset="-122"/>
                <a:cs typeface="Quattrocento Sans" pitchFamily="34" charset="-120"/>
              </a:rPr>
              <a:t>Mobile apps are like </a:t>
            </a:r>
            <a:pPr>
              <a:lnSpc>
                <a:spcPct val="140000"/>
              </a:lnSpc>
            </a:pPr>
            <a:r>
              <a:rPr lang="en-US" sz="1086" b="1" dirty="0">
                <a:solidFill>
                  <a:srgbClr val="34C759"/>
                </a:solidFill>
                <a:latin typeface="Quattrocento Sans" pitchFamily="34" charset="0"/>
                <a:ea typeface="Quattrocento Sans" pitchFamily="34" charset="-122"/>
                <a:cs typeface="Quattrocento Sans" pitchFamily="34" charset="-120"/>
              </a:rPr>
              <a:t>super-powered tools</a:t>
            </a:r>
            <a:pPr>
              <a:lnSpc>
                <a:spcPct val="140000"/>
              </a:lnSpc>
            </a:pPr>
            <a:r>
              <a:rPr lang="en-US" sz="1086" dirty="0">
                <a:solidFill>
                  <a:srgbClr val="F5F5F7"/>
                </a:solidFill>
                <a:latin typeface="Quattrocento Sans" pitchFamily="34" charset="0"/>
                <a:ea typeface="Quattrocento Sans" pitchFamily="34" charset="-122"/>
                <a:cs typeface="Quattrocento Sans" pitchFamily="34" charset="-120"/>
              </a:rPr>
              <a:t> that use your phone's special abilities. Just like a Swiss Army knife has many tools, apps use your phone's camera, GPS, and sensors to do amazing things.</a:t>
            </a:r>
            <a:endParaRPr lang="en-US" sz="1600" dirty="0"/>
          </a:p>
        </p:txBody>
      </p:sp>
      <p:sp>
        <p:nvSpPr>
          <p:cNvPr id="54" name="Shape 52"/>
          <p:cNvSpPr/>
          <p:nvPr/>
        </p:nvSpPr>
        <p:spPr>
          <a:xfrm>
            <a:off x="6165361" y="2688271"/>
            <a:ext cx="5686728" cy="3032922"/>
          </a:xfrm>
          <a:prstGeom prst="roundRect">
            <a:avLst>
              <a:gd name="adj" fmla="val 4545"/>
            </a:avLst>
          </a:prstGeom>
          <a:solidFill>
            <a:srgbClr val="2C2C2E"/>
          </a:solidFill>
          <a:ln/>
        </p:spPr>
      </p:sp>
      <p:sp>
        <p:nvSpPr>
          <p:cNvPr id="55" name="Shape 53"/>
          <p:cNvSpPr/>
          <p:nvPr/>
        </p:nvSpPr>
        <p:spPr>
          <a:xfrm>
            <a:off x="6378613" y="2903678"/>
            <a:ext cx="116319" cy="155093"/>
          </a:xfrm>
          <a:custGeom>
            <a:avLst/>
            <a:gdLst/>
            <a:ahLst/>
            <a:cxnLst/>
            <a:rect l="l" t="t" r="r" b="b"/>
            <a:pathLst>
              <a:path w="116319" h="155093">
                <a:moveTo>
                  <a:pt x="4847" y="19387"/>
                </a:moveTo>
                <a:cubicBezTo>
                  <a:pt x="4847" y="8694"/>
                  <a:pt x="13540" y="0"/>
                  <a:pt x="24233" y="0"/>
                </a:cubicBezTo>
                <a:lnTo>
                  <a:pt x="92086" y="0"/>
                </a:lnTo>
                <a:cubicBezTo>
                  <a:pt x="102779" y="0"/>
                  <a:pt x="111473" y="8694"/>
                  <a:pt x="111473" y="19387"/>
                </a:cubicBezTo>
                <a:lnTo>
                  <a:pt x="111473" y="135706"/>
                </a:lnTo>
                <a:cubicBezTo>
                  <a:pt x="111473" y="146399"/>
                  <a:pt x="102779" y="155093"/>
                  <a:pt x="92086" y="155093"/>
                </a:cubicBezTo>
                <a:lnTo>
                  <a:pt x="24233" y="155093"/>
                </a:lnTo>
                <a:cubicBezTo>
                  <a:pt x="13540" y="155093"/>
                  <a:pt x="4847" y="146399"/>
                  <a:pt x="4847" y="135706"/>
                </a:cubicBezTo>
                <a:lnTo>
                  <a:pt x="4847" y="19387"/>
                </a:lnTo>
                <a:close/>
                <a:moveTo>
                  <a:pt x="24233" y="19387"/>
                </a:moveTo>
                <a:lnTo>
                  <a:pt x="24233" y="111473"/>
                </a:lnTo>
                <a:lnTo>
                  <a:pt x="92086" y="111473"/>
                </a:lnTo>
                <a:lnTo>
                  <a:pt x="92086" y="19387"/>
                </a:lnTo>
                <a:lnTo>
                  <a:pt x="24233" y="19387"/>
                </a:lnTo>
                <a:close/>
                <a:moveTo>
                  <a:pt x="58160" y="142976"/>
                </a:moveTo>
                <a:cubicBezTo>
                  <a:pt x="63521" y="142976"/>
                  <a:pt x="67853" y="138644"/>
                  <a:pt x="67853" y="133283"/>
                </a:cubicBezTo>
                <a:cubicBezTo>
                  <a:pt x="67853" y="127921"/>
                  <a:pt x="63521" y="123589"/>
                  <a:pt x="58160" y="123589"/>
                </a:cubicBezTo>
                <a:cubicBezTo>
                  <a:pt x="52798" y="123589"/>
                  <a:pt x="48466" y="127921"/>
                  <a:pt x="48466" y="133283"/>
                </a:cubicBezTo>
                <a:cubicBezTo>
                  <a:pt x="48466" y="138644"/>
                  <a:pt x="52798" y="142976"/>
                  <a:pt x="58160" y="142976"/>
                </a:cubicBezTo>
                <a:close/>
              </a:path>
            </a:pathLst>
          </a:custGeom>
          <a:solidFill>
            <a:srgbClr val="34C759"/>
          </a:solidFill>
          <a:ln/>
        </p:spPr>
      </p:sp>
      <p:sp>
        <p:nvSpPr>
          <p:cNvPr id="56" name="Text 54"/>
          <p:cNvSpPr/>
          <p:nvPr/>
        </p:nvSpPr>
        <p:spPr>
          <a:xfrm>
            <a:off x="6535860" y="2860596"/>
            <a:ext cx="5221450" cy="241255"/>
          </a:xfrm>
          <a:prstGeom prst="rect">
            <a:avLst/>
          </a:prstGeom>
          <a:noFill/>
          <a:ln/>
        </p:spPr>
        <p:txBody>
          <a:bodyPr wrap="square" lIns="0" tIns="0" rIns="0" bIns="0" rtlCol="0" anchor="ctr"/>
          <a:lstStyle/>
          <a:p>
            <a:pPr>
              <a:lnSpc>
                <a:spcPct val="130000"/>
              </a:lnSpc>
            </a:pPr>
            <a:r>
              <a:rPr lang="en-US" sz="1221" b="1" dirty="0">
                <a:solidFill>
                  <a:srgbClr val="34C759"/>
                </a:solidFill>
                <a:latin typeface="Liter" pitchFamily="34" charset="0"/>
                <a:ea typeface="Liter" pitchFamily="34" charset="-122"/>
                <a:cs typeface="Liter" pitchFamily="34" charset="-120"/>
              </a:rPr>
              <a:t>Real-World Example</a:t>
            </a:r>
            <a:endParaRPr lang="en-US" sz="1600" dirty="0"/>
          </a:p>
        </p:txBody>
      </p:sp>
      <p:sp>
        <p:nvSpPr>
          <p:cNvPr id="57" name="Shape 55"/>
          <p:cNvSpPr/>
          <p:nvPr/>
        </p:nvSpPr>
        <p:spPr>
          <a:xfrm>
            <a:off x="6337686" y="3205247"/>
            <a:ext cx="5342078" cy="2343621"/>
          </a:xfrm>
          <a:prstGeom prst="roundRect">
            <a:avLst>
              <a:gd name="adj" fmla="val 4412"/>
            </a:avLst>
          </a:prstGeom>
          <a:solidFill>
            <a:srgbClr val="1A1D21"/>
          </a:solidFill>
          <a:ln/>
        </p:spPr>
      </p:sp>
      <p:sp>
        <p:nvSpPr>
          <p:cNvPr id="58" name="Shape 56"/>
          <p:cNvSpPr/>
          <p:nvPr/>
        </p:nvSpPr>
        <p:spPr>
          <a:xfrm>
            <a:off x="6510011" y="3377572"/>
            <a:ext cx="551440" cy="551440"/>
          </a:xfrm>
          <a:prstGeom prst="roundRect">
            <a:avLst>
              <a:gd name="adj" fmla="val 25000"/>
            </a:avLst>
          </a:prstGeom>
          <a:solidFill>
            <a:srgbClr val="FF9500"/>
          </a:solidFill>
          <a:ln/>
        </p:spPr>
      </p:sp>
      <p:sp>
        <p:nvSpPr>
          <p:cNvPr id="59" name="Shape 57"/>
          <p:cNvSpPr/>
          <p:nvPr/>
        </p:nvSpPr>
        <p:spPr>
          <a:xfrm>
            <a:off x="6658641" y="3524048"/>
            <a:ext cx="258488" cy="258488"/>
          </a:xfrm>
          <a:custGeom>
            <a:avLst/>
            <a:gdLst/>
            <a:ahLst/>
            <a:cxnLst/>
            <a:rect l="l" t="t" r="r" b="b"/>
            <a:pathLst>
              <a:path w="258488" h="258488">
                <a:moveTo>
                  <a:pt x="32260" y="7270"/>
                </a:moveTo>
                <a:cubicBezTo>
                  <a:pt x="31857" y="3130"/>
                  <a:pt x="28373" y="0"/>
                  <a:pt x="24233" y="0"/>
                </a:cubicBezTo>
                <a:cubicBezTo>
                  <a:pt x="20093" y="0"/>
                  <a:pt x="16610" y="3130"/>
                  <a:pt x="16155" y="7219"/>
                </a:cubicBezTo>
                <a:lnTo>
                  <a:pt x="9037" y="75577"/>
                </a:lnTo>
                <a:cubicBezTo>
                  <a:pt x="8381" y="78606"/>
                  <a:pt x="8078" y="81686"/>
                  <a:pt x="8078" y="84766"/>
                </a:cubicBezTo>
                <a:cubicBezTo>
                  <a:pt x="8078" y="107939"/>
                  <a:pt x="25798" y="126972"/>
                  <a:pt x="48466" y="129042"/>
                </a:cubicBezTo>
                <a:lnTo>
                  <a:pt x="48466" y="242332"/>
                </a:lnTo>
                <a:cubicBezTo>
                  <a:pt x="48466" y="251268"/>
                  <a:pt x="55686" y="258488"/>
                  <a:pt x="64622" y="258488"/>
                </a:cubicBezTo>
                <a:cubicBezTo>
                  <a:pt x="73558" y="258488"/>
                  <a:pt x="80777" y="251268"/>
                  <a:pt x="80777" y="242332"/>
                </a:cubicBezTo>
                <a:lnTo>
                  <a:pt x="80777" y="129042"/>
                </a:lnTo>
                <a:cubicBezTo>
                  <a:pt x="103446" y="126972"/>
                  <a:pt x="121166" y="107939"/>
                  <a:pt x="121166" y="84766"/>
                </a:cubicBezTo>
                <a:cubicBezTo>
                  <a:pt x="121166" y="81686"/>
                  <a:pt x="120863" y="78606"/>
                  <a:pt x="120207" y="75577"/>
                </a:cubicBezTo>
                <a:lnTo>
                  <a:pt x="113038" y="7219"/>
                </a:lnTo>
                <a:cubicBezTo>
                  <a:pt x="112634" y="3130"/>
                  <a:pt x="109150" y="0"/>
                  <a:pt x="105011" y="0"/>
                </a:cubicBezTo>
                <a:cubicBezTo>
                  <a:pt x="100871" y="0"/>
                  <a:pt x="97387" y="3130"/>
                  <a:pt x="96983" y="7270"/>
                </a:cubicBezTo>
                <a:lnTo>
                  <a:pt x="90117" y="75678"/>
                </a:lnTo>
                <a:cubicBezTo>
                  <a:pt x="89814" y="78556"/>
                  <a:pt x="87391" y="80777"/>
                  <a:pt x="84513" y="80777"/>
                </a:cubicBezTo>
                <a:cubicBezTo>
                  <a:pt x="81585" y="80777"/>
                  <a:pt x="79162" y="78556"/>
                  <a:pt x="78859" y="75628"/>
                </a:cubicBezTo>
                <a:lnTo>
                  <a:pt x="72649" y="7371"/>
                </a:lnTo>
                <a:cubicBezTo>
                  <a:pt x="72296" y="3181"/>
                  <a:pt x="68812" y="0"/>
                  <a:pt x="64622" y="0"/>
                </a:cubicBezTo>
                <a:cubicBezTo>
                  <a:pt x="60432" y="0"/>
                  <a:pt x="56948" y="3181"/>
                  <a:pt x="56595" y="7371"/>
                </a:cubicBezTo>
                <a:lnTo>
                  <a:pt x="50385" y="75628"/>
                </a:lnTo>
                <a:cubicBezTo>
                  <a:pt x="50132" y="78556"/>
                  <a:pt x="47659" y="80777"/>
                  <a:pt x="44730" y="80777"/>
                </a:cubicBezTo>
                <a:cubicBezTo>
                  <a:pt x="41802" y="80777"/>
                  <a:pt x="39379" y="78556"/>
                  <a:pt x="39127" y="75678"/>
                </a:cubicBezTo>
                <a:lnTo>
                  <a:pt x="32260" y="7270"/>
                </a:lnTo>
                <a:close/>
                <a:moveTo>
                  <a:pt x="226177" y="0"/>
                </a:moveTo>
                <a:cubicBezTo>
                  <a:pt x="218099" y="0"/>
                  <a:pt x="161555" y="16155"/>
                  <a:pt x="161555" y="88855"/>
                </a:cubicBezTo>
                <a:lnTo>
                  <a:pt x="161555" y="145399"/>
                </a:lnTo>
                <a:cubicBezTo>
                  <a:pt x="161555" y="163221"/>
                  <a:pt x="176044" y="177710"/>
                  <a:pt x="193866" y="177710"/>
                </a:cubicBezTo>
                <a:lnTo>
                  <a:pt x="210021" y="177710"/>
                </a:lnTo>
                <a:lnTo>
                  <a:pt x="210021" y="242332"/>
                </a:lnTo>
                <a:cubicBezTo>
                  <a:pt x="210021" y="251268"/>
                  <a:pt x="217241" y="258488"/>
                  <a:pt x="226177" y="258488"/>
                </a:cubicBezTo>
                <a:cubicBezTo>
                  <a:pt x="235113" y="258488"/>
                  <a:pt x="242332" y="251268"/>
                  <a:pt x="242332" y="242332"/>
                </a:cubicBezTo>
                <a:lnTo>
                  <a:pt x="242332" y="16155"/>
                </a:lnTo>
                <a:cubicBezTo>
                  <a:pt x="242332" y="7219"/>
                  <a:pt x="235113" y="0"/>
                  <a:pt x="226177" y="0"/>
                </a:cubicBezTo>
                <a:close/>
              </a:path>
            </a:pathLst>
          </a:custGeom>
          <a:solidFill>
            <a:srgbClr val="FFFFFF"/>
          </a:solidFill>
          <a:ln/>
        </p:spPr>
      </p:sp>
      <p:sp>
        <p:nvSpPr>
          <p:cNvPr id="60" name="Text 58"/>
          <p:cNvSpPr/>
          <p:nvPr/>
        </p:nvSpPr>
        <p:spPr>
          <a:xfrm>
            <a:off x="7199311" y="3412037"/>
            <a:ext cx="1180427" cy="275720"/>
          </a:xfrm>
          <a:prstGeom prst="rect">
            <a:avLst/>
          </a:prstGeom>
          <a:noFill/>
          <a:ln/>
        </p:spPr>
        <p:txBody>
          <a:bodyPr wrap="square" lIns="0" tIns="0" rIns="0" bIns="0" rtlCol="0" anchor="ctr"/>
          <a:lstStyle/>
          <a:p>
            <a:pPr>
              <a:lnSpc>
                <a:spcPct val="110000"/>
              </a:lnSpc>
            </a:pPr>
            <a:r>
              <a:rPr lang="en-US" sz="1628" b="1" dirty="0">
                <a:solidFill>
                  <a:srgbClr val="FF9500"/>
                </a:solidFill>
                <a:latin typeface="Liter" pitchFamily="34" charset="0"/>
                <a:ea typeface="Liter" pitchFamily="34" charset="-122"/>
                <a:cs typeface="Liter" pitchFamily="34" charset="-120"/>
              </a:rPr>
              <a:t>DoorDash</a:t>
            </a:r>
            <a:endParaRPr lang="en-US" sz="1600" dirty="0"/>
          </a:p>
        </p:txBody>
      </p:sp>
      <p:sp>
        <p:nvSpPr>
          <p:cNvPr id="61" name="Text 59"/>
          <p:cNvSpPr/>
          <p:nvPr/>
        </p:nvSpPr>
        <p:spPr>
          <a:xfrm>
            <a:off x="7199311" y="3687652"/>
            <a:ext cx="1145962" cy="206790"/>
          </a:xfrm>
          <a:prstGeom prst="rect">
            <a:avLst/>
          </a:prstGeom>
          <a:noFill/>
          <a:ln/>
        </p:spPr>
        <p:txBody>
          <a:bodyPr wrap="square" lIns="0" tIns="0" rIns="0" bIns="0" rtlCol="0" anchor="ctr"/>
          <a:lstStyle/>
          <a:p>
            <a:pPr>
              <a:lnSpc>
                <a:spcPct val="120000"/>
              </a:lnSpc>
            </a:pPr>
            <a:r>
              <a:rPr lang="en-US" sz="1086" dirty="0">
                <a:solidFill>
                  <a:srgbClr val="8E8E93"/>
                </a:solidFill>
                <a:latin typeface="Quattrocento Sans" pitchFamily="34" charset="0"/>
                <a:ea typeface="Quattrocento Sans" pitchFamily="34" charset="-122"/>
                <a:cs typeface="Quattrocento Sans" pitchFamily="34" charset="-120"/>
              </a:rPr>
              <a:t>Food delivery app</a:t>
            </a:r>
            <a:endParaRPr lang="en-US" sz="1600" dirty="0"/>
          </a:p>
        </p:txBody>
      </p:sp>
      <p:sp>
        <p:nvSpPr>
          <p:cNvPr id="62" name="Text 60"/>
          <p:cNvSpPr/>
          <p:nvPr/>
        </p:nvSpPr>
        <p:spPr>
          <a:xfrm>
            <a:off x="6510011" y="4066872"/>
            <a:ext cx="5066358" cy="206790"/>
          </a:xfrm>
          <a:prstGeom prst="rect">
            <a:avLst/>
          </a:prstGeom>
          <a:noFill/>
          <a:ln/>
        </p:spPr>
        <p:txBody>
          <a:bodyPr wrap="square" lIns="0" tIns="0" rIns="0" bIns="0" rtlCol="0" anchor="ctr"/>
          <a:lstStyle/>
          <a:p>
            <a:pPr>
              <a:lnSpc>
                <a:spcPct val="120000"/>
              </a:lnSpc>
            </a:pPr>
            <a:r>
              <a:rPr lang="en-US" sz="1086" b="1" dirty="0">
                <a:solidFill>
                  <a:srgbClr val="34C759"/>
                </a:solidFill>
                <a:latin typeface="Quattrocento Sans" pitchFamily="34" charset="0"/>
                <a:ea typeface="Quattrocento Sans" pitchFamily="34" charset="-122"/>
                <a:cs typeface="Quattrocento Sans" pitchFamily="34" charset="-120"/>
              </a:rPr>
              <a:t>Touch:</a:t>
            </a:r>
            <a:pP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 Browse restaurants, tap to order</a:t>
            </a:r>
            <a:endParaRPr lang="en-US" sz="1600" dirty="0"/>
          </a:p>
        </p:txBody>
      </p:sp>
      <p:sp>
        <p:nvSpPr>
          <p:cNvPr id="63" name="Text 61"/>
          <p:cNvSpPr/>
          <p:nvPr/>
        </p:nvSpPr>
        <p:spPr>
          <a:xfrm>
            <a:off x="6510011" y="4342592"/>
            <a:ext cx="5066358" cy="206790"/>
          </a:xfrm>
          <a:prstGeom prst="rect">
            <a:avLst/>
          </a:prstGeom>
          <a:noFill/>
          <a:ln/>
        </p:spPr>
        <p:txBody>
          <a:bodyPr wrap="square" lIns="0" tIns="0" rIns="0" bIns="0" rtlCol="0" anchor="ctr"/>
          <a:lstStyle/>
          <a:p>
            <a:pPr>
              <a:lnSpc>
                <a:spcPct val="120000"/>
              </a:lnSpc>
            </a:pPr>
            <a:r>
              <a:rPr lang="en-US" sz="1086" b="1" dirty="0">
                <a:solidFill>
                  <a:srgbClr val="0A84FF"/>
                </a:solidFill>
                <a:latin typeface="Quattrocento Sans" pitchFamily="34" charset="0"/>
                <a:ea typeface="Quattrocento Sans" pitchFamily="34" charset="-122"/>
                <a:cs typeface="Quattrocento Sans" pitchFamily="34" charset="-120"/>
              </a:rPr>
              <a:t>GPS:</a:t>
            </a:r>
            <a:pP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 Shows nearby restaurants, tracks delivery</a:t>
            </a:r>
            <a:endParaRPr lang="en-US" sz="1600" dirty="0"/>
          </a:p>
        </p:txBody>
      </p:sp>
      <p:sp>
        <p:nvSpPr>
          <p:cNvPr id="64" name="Text 62"/>
          <p:cNvSpPr/>
          <p:nvPr/>
        </p:nvSpPr>
        <p:spPr>
          <a:xfrm>
            <a:off x="6510011" y="4618312"/>
            <a:ext cx="5066358" cy="206790"/>
          </a:xfrm>
          <a:prstGeom prst="rect">
            <a:avLst/>
          </a:prstGeom>
          <a:noFill/>
          <a:ln/>
        </p:spPr>
        <p:txBody>
          <a:bodyPr wrap="square" lIns="0" tIns="0" rIns="0" bIns="0" rtlCol="0" anchor="ctr"/>
          <a:lstStyle/>
          <a:p>
            <a:pPr>
              <a:lnSpc>
                <a:spcPct val="120000"/>
              </a:lnSpc>
            </a:pPr>
            <a:r>
              <a:rPr lang="en-US" sz="1086" b="1" dirty="0">
                <a:solidFill>
                  <a:srgbClr val="8E8E93"/>
                </a:solidFill>
                <a:latin typeface="Quattrocento Sans" pitchFamily="34" charset="0"/>
                <a:ea typeface="Quattrocento Sans" pitchFamily="34" charset="-122"/>
                <a:cs typeface="Quattrocento Sans" pitchFamily="34" charset="-120"/>
              </a:rPr>
              <a:t>Notifications:</a:t>
            </a:r>
            <a:pP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 Alerts when food is ready</a:t>
            </a:r>
            <a:endParaRPr lang="en-US" sz="1600" dirty="0"/>
          </a:p>
        </p:txBody>
      </p:sp>
      <p:sp>
        <p:nvSpPr>
          <p:cNvPr id="65" name="Text 63"/>
          <p:cNvSpPr/>
          <p:nvPr/>
        </p:nvSpPr>
        <p:spPr>
          <a:xfrm>
            <a:off x="6510011" y="4894033"/>
            <a:ext cx="5066358" cy="206790"/>
          </a:xfrm>
          <a:prstGeom prst="rect">
            <a:avLst/>
          </a:prstGeom>
          <a:noFill/>
          <a:ln/>
        </p:spPr>
        <p:txBody>
          <a:bodyPr wrap="square" lIns="0" tIns="0" rIns="0" bIns="0" rtlCol="0" anchor="ctr"/>
          <a:lstStyle/>
          <a:p>
            <a:pPr>
              <a:lnSpc>
                <a:spcPct val="120000"/>
              </a:lnSpc>
            </a:pPr>
            <a:r>
              <a:rPr lang="en-US" sz="1086" b="1" dirty="0">
                <a:solidFill>
                  <a:srgbClr val="34C759"/>
                </a:solidFill>
                <a:latin typeface="Quattrocento Sans" pitchFamily="34" charset="0"/>
                <a:ea typeface="Quattrocento Sans" pitchFamily="34" charset="-122"/>
                <a:cs typeface="Quattrocento Sans" pitchFamily="34" charset="-120"/>
              </a:rPr>
              <a:t>Camera:</a:t>
            </a:r>
            <a:pP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 Take photo of delivery issues</a:t>
            </a:r>
            <a:endParaRPr lang="en-US" sz="1600" dirty="0"/>
          </a:p>
        </p:txBody>
      </p:sp>
      <p:sp>
        <p:nvSpPr>
          <p:cNvPr id="66" name="Text 64"/>
          <p:cNvSpPr/>
          <p:nvPr/>
        </p:nvSpPr>
        <p:spPr>
          <a:xfrm>
            <a:off x="6510011" y="5169753"/>
            <a:ext cx="5066358" cy="206790"/>
          </a:xfrm>
          <a:prstGeom prst="rect">
            <a:avLst/>
          </a:prstGeom>
          <a:noFill/>
          <a:ln/>
        </p:spPr>
        <p:txBody>
          <a:bodyPr wrap="square" lIns="0" tIns="0" rIns="0" bIns="0" rtlCol="0" anchor="ctr"/>
          <a:lstStyle/>
          <a:p>
            <a:pPr>
              <a:lnSpc>
                <a:spcPct val="120000"/>
              </a:lnSpc>
            </a:pPr>
            <a:r>
              <a:rPr lang="en-US" sz="1086" b="1" dirty="0">
                <a:solidFill>
                  <a:srgbClr val="0A84FF"/>
                </a:solidFill>
                <a:latin typeface="Quattrocento Sans" pitchFamily="34" charset="0"/>
                <a:ea typeface="Quattrocento Sans" pitchFamily="34" charset="-122"/>
                <a:cs typeface="Quattrocento Sans" pitchFamily="34" charset="-120"/>
              </a:rPr>
              <a:t>Storage:</a:t>
            </a:r>
            <a:pP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 Saves order history and preferences</a:t>
            </a:r>
            <a:endParaRPr lang="en-US" sz="1600" dirty="0"/>
          </a:p>
        </p:txBody>
      </p:sp>
      <p:sp>
        <p:nvSpPr>
          <p:cNvPr id="67" name="Shape 65"/>
          <p:cNvSpPr/>
          <p:nvPr/>
        </p:nvSpPr>
        <p:spPr>
          <a:xfrm>
            <a:off x="6165361" y="5859053"/>
            <a:ext cx="5686728" cy="999486"/>
          </a:xfrm>
          <a:prstGeom prst="roundRect">
            <a:avLst>
              <a:gd name="adj" fmla="val 13793"/>
            </a:avLst>
          </a:prstGeom>
          <a:solidFill>
            <a:srgbClr val="2C2C2E"/>
          </a:solidFill>
          <a:ln/>
        </p:spPr>
      </p:sp>
      <p:sp>
        <p:nvSpPr>
          <p:cNvPr id="68" name="Shape 66"/>
          <p:cNvSpPr/>
          <p:nvPr/>
        </p:nvSpPr>
        <p:spPr>
          <a:xfrm>
            <a:off x="6329070" y="6031378"/>
            <a:ext cx="120628" cy="137860"/>
          </a:xfrm>
          <a:custGeom>
            <a:avLst/>
            <a:gdLst/>
            <a:ahLst/>
            <a:cxnLst/>
            <a:rect l="l" t="t" r="r" b="b"/>
            <a:pathLst>
              <a:path w="120628" h="137860">
                <a:moveTo>
                  <a:pt x="17233" y="8616"/>
                </a:moveTo>
                <a:cubicBezTo>
                  <a:pt x="7728" y="8616"/>
                  <a:pt x="0" y="16344"/>
                  <a:pt x="0" y="25849"/>
                </a:cubicBezTo>
                <a:lnTo>
                  <a:pt x="0" y="112011"/>
                </a:lnTo>
                <a:cubicBezTo>
                  <a:pt x="0" y="121516"/>
                  <a:pt x="7728" y="129244"/>
                  <a:pt x="17233" y="129244"/>
                </a:cubicBezTo>
                <a:lnTo>
                  <a:pt x="103395" y="129244"/>
                </a:lnTo>
                <a:cubicBezTo>
                  <a:pt x="112900" y="129244"/>
                  <a:pt x="120628" y="121516"/>
                  <a:pt x="120628" y="112011"/>
                </a:cubicBezTo>
                <a:lnTo>
                  <a:pt x="120628" y="25849"/>
                </a:lnTo>
                <a:cubicBezTo>
                  <a:pt x="120628" y="16344"/>
                  <a:pt x="112900" y="8616"/>
                  <a:pt x="103395" y="8616"/>
                </a:cubicBezTo>
                <a:lnTo>
                  <a:pt x="17233" y="8616"/>
                </a:lnTo>
                <a:close/>
                <a:moveTo>
                  <a:pt x="34465" y="30157"/>
                </a:moveTo>
                <a:cubicBezTo>
                  <a:pt x="41598" y="30157"/>
                  <a:pt x="47389" y="35948"/>
                  <a:pt x="47389" y="43081"/>
                </a:cubicBezTo>
                <a:cubicBezTo>
                  <a:pt x="47389" y="50214"/>
                  <a:pt x="41598" y="56006"/>
                  <a:pt x="34465" y="56006"/>
                </a:cubicBezTo>
                <a:cubicBezTo>
                  <a:pt x="27332" y="56006"/>
                  <a:pt x="21541" y="50214"/>
                  <a:pt x="21541" y="43081"/>
                </a:cubicBezTo>
                <a:cubicBezTo>
                  <a:pt x="21541" y="35948"/>
                  <a:pt x="27332" y="30157"/>
                  <a:pt x="34465" y="30157"/>
                </a:cubicBezTo>
                <a:close/>
                <a:moveTo>
                  <a:pt x="73238" y="60314"/>
                </a:moveTo>
                <a:cubicBezTo>
                  <a:pt x="75500" y="60314"/>
                  <a:pt x="77573" y="61499"/>
                  <a:pt x="78758" y="63410"/>
                </a:cubicBezTo>
                <a:lnTo>
                  <a:pt x="102453" y="102183"/>
                </a:lnTo>
                <a:cubicBezTo>
                  <a:pt x="103664" y="104176"/>
                  <a:pt x="103718" y="106680"/>
                  <a:pt x="102587" y="108726"/>
                </a:cubicBezTo>
                <a:cubicBezTo>
                  <a:pt x="101456" y="110773"/>
                  <a:pt x="99275" y="112011"/>
                  <a:pt x="96933" y="112011"/>
                </a:cubicBezTo>
                <a:lnTo>
                  <a:pt x="23695" y="112011"/>
                </a:lnTo>
                <a:cubicBezTo>
                  <a:pt x="21298" y="112011"/>
                  <a:pt x="19063" y="110665"/>
                  <a:pt x="17960" y="108538"/>
                </a:cubicBezTo>
                <a:cubicBezTo>
                  <a:pt x="16856" y="106411"/>
                  <a:pt x="17017" y="103826"/>
                  <a:pt x="18390" y="101860"/>
                </a:cubicBezTo>
                <a:lnTo>
                  <a:pt x="33469" y="80320"/>
                </a:lnTo>
                <a:cubicBezTo>
                  <a:pt x="34680" y="78596"/>
                  <a:pt x="36646" y="77573"/>
                  <a:pt x="38773" y="77573"/>
                </a:cubicBezTo>
                <a:cubicBezTo>
                  <a:pt x="40900" y="77573"/>
                  <a:pt x="42866" y="78596"/>
                  <a:pt x="44078" y="80320"/>
                </a:cubicBezTo>
                <a:lnTo>
                  <a:pt x="51186" y="90498"/>
                </a:lnTo>
                <a:lnTo>
                  <a:pt x="67718" y="63437"/>
                </a:lnTo>
                <a:cubicBezTo>
                  <a:pt x="68903" y="61525"/>
                  <a:pt x="70976" y="60341"/>
                  <a:pt x="73238" y="60341"/>
                </a:cubicBezTo>
                <a:close/>
              </a:path>
            </a:pathLst>
          </a:custGeom>
          <a:solidFill>
            <a:srgbClr val="8E8E93"/>
          </a:solidFill>
          <a:ln/>
        </p:spPr>
      </p:sp>
      <p:sp>
        <p:nvSpPr>
          <p:cNvPr id="69" name="Text 67"/>
          <p:cNvSpPr/>
          <p:nvPr/>
        </p:nvSpPr>
        <p:spPr>
          <a:xfrm>
            <a:off x="6475546" y="5996913"/>
            <a:ext cx="5307613" cy="206790"/>
          </a:xfrm>
          <a:prstGeom prst="rect">
            <a:avLst/>
          </a:prstGeom>
          <a:noFill/>
          <a:ln/>
        </p:spPr>
        <p:txBody>
          <a:bodyPr wrap="square" lIns="0" tIns="0" rIns="0" bIns="0" rtlCol="0" anchor="ctr"/>
          <a:lstStyle/>
          <a:p>
            <a:pPr>
              <a:lnSpc>
                <a:spcPct val="120000"/>
              </a:lnSpc>
            </a:pPr>
            <a:r>
              <a:rPr lang="en-US" sz="1086" b="1" dirty="0">
                <a:solidFill>
                  <a:srgbClr val="8E8E93"/>
                </a:solidFill>
                <a:latin typeface="Liter" pitchFamily="34" charset="0"/>
                <a:ea typeface="Liter" pitchFamily="34" charset="-122"/>
                <a:cs typeface="Liter" pitchFamily="34" charset="-120"/>
              </a:rPr>
              <a:t>Visual Suggestion</a:t>
            </a:r>
            <a:endParaRPr lang="en-US" sz="1600" dirty="0"/>
          </a:p>
        </p:txBody>
      </p:sp>
      <p:sp>
        <p:nvSpPr>
          <p:cNvPr id="70" name="Shape 68"/>
          <p:cNvSpPr/>
          <p:nvPr/>
        </p:nvSpPr>
        <p:spPr>
          <a:xfrm>
            <a:off x="6320453" y="6307098"/>
            <a:ext cx="137860" cy="137860"/>
          </a:xfrm>
          <a:custGeom>
            <a:avLst/>
            <a:gdLst/>
            <a:ahLst/>
            <a:cxnLst/>
            <a:rect l="l" t="t" r="r" b="b"/>
            <a:pathLst>
              <a:path w="137860" h="137860">
                <a:moveTo>
                  <a:pt x="0" y="21541"/>
                </a:moveTo>
                <a:cubicBezTo>
                  <a:pt x="0" y="14405"/>
                  <a:pt x="5789" y="8616"/>
                  <a:pt x="12924" y="8616"/>
                </a:cubicBezTo>
                <a:lnTo>
                  <a:pt x="38773" y="8616"/>
                </a:lnTo>
                <a:cubicBezTo>
                  <a:pt x="45908" y="8616"/>
                  <a:pt x="51698" y="14405"/>
                  <a:pt x="51698" y="21541"/>
                </a:cubicBezTo>
                <a:lnTo>
                  <a:pt x="51698" y="25849"/>
                </a:lnTo>
                <a:lnTo>
                  <a:pt x="86163" y="25849"/>
                </a:lnTo>
                <a:lnTo>
                  <a:pt x="86163" y="21541"/>
                </a:lnTo>
                <a:cubicBezTo>
                  <a:pt x="86163" y="14405"/>
                  <a:pt x="91952" y="8616"/>
                  <a:pt x="99087" y="8616"/>
                </a:cubicBezTo>
                <a:lnTo>
                  <a:pt x="124936" y="8616"/>
                </a:lnTo>
                <a:cubicBezTo>
                  <a:pt x="132071" y="8616"/>
                  <a:pt x="137860" y="14405"/>
                  <a:pt x="137860" y="21541"/>
                </a:cubicBezTo>
                <a:lnTo>
                  <a:pt x="137860" y="47389"/>
                </a:lnTo>
                <a:cubicBezTo>
                  <a:pt x="137860" y="54525"/>
                  <a:pt x="132071" y="60314"/>
                  <a:pt x="124936" y="60314"/>
                </a:cubicBezTo>
                <a:lnTo>
                  <a:pt x="99087" y="60314"/>
                </a:lnTo>
                <a:cubicBezTo>
                  <a:pt x="91952" y="60314"/>
                  <a:pt x="86163" y="54525"/>
                  <a:pt x="86163" y="47389"/>
                </a:cubicBezTo>
                <a:lnTo>
                  <a:pt x="86163" y="43081"/>
                </a:lnTo>
                <a:lnTo>
                  <a:pt x="51698" y="43081"/>
                </a:lnTo>
                <a:lnTo>
                  <a:pt x="51698" y="47389"/>
                </a:lnTo>
                <a:cubicBezTo>
                  <a:pt x="51698" y="49355"/>
                  <a:pt x="51240" y="51240"/>
                  <a:pt x="50459" y="52909"/>
                </a:cubicBezTo>
                <a:lnTo>
                  <a:pt x="68930" y="77546"/>
                </a:lnTo>
                <a:lnTo>
                  <a:pt x="90471" y="77546"/>
                </a:lnTo>
                <a:cubicBezTo>
                  <a:pt x="97606" y="77546"/>
                  <a:pt x="103395" y="83335"/>
                  <a:pt x="103395" y="90471"/>
                </a:cubicBezTo>
                <a:lnTo>
                  <a:pt x="103395" y="116319"/>
                </a:lnTo>
                <a:cubicBezTo>
                  <a:pt x="103395" y="123455"/>
                  <a:pt x="97606" y="129244"/>
                  <a:pt x="90471" y="129244"/>
                </a:cubicBezTo>
                <a:lnTo>
                  <a:pt x="64622" y="129244"/>
                </a:lnTo>
                <a:cubicBezTo>
                  <a:pt x="57487" y="129244"/>
                  <a:pt x="51698" y="123455"/>
                  <a:pt x="51698" y="116319"/>
                </a:cubicBezTo>
                <a:lnTo>
                  <a:pt x="51698" y="90471"/>
                </a:lnTo>
                <a:cubicBezTo>
                  <a:pt x="51698" y="88505"/>
                  <a:pt x="52155" y="86620"/>
                  <a:pt x="52936" y="84951"/>
                </a:cubicBezTo>
                <a:lnTo>
                  <a:pt x="34465" y="60314"/>
                </a:lnTo>
                <a:lnTo>
                  <a:pt x="12924" y="60314"/>
                </a:lnTo>
                <a:cubicBezTo>
                  <a:pt x="5789" y="60314"/>
                  <a:pt x="0" y="54525"/>
                  <a:pt x="0" y="47389"/>
                </a:cubicBezTo>
                <a:lnTo>
                  <a:pt x="0" y="21541"/>
                </a:lnTo>
                <a:close/>
              </a:path>
            </a:pathLst>
          </a:custGeom>
          <a:solidFill>
            <a:srgbClr val="34C759"/>
          </a:solidFill>
          <a:ln/>
        </p:spPr>
      </p:sp>
      <p:sp>
        <p:nvSpPr>
          <p:cNvPr id="71" name="Text 69"/>
          <p:cNvSpPr/>
          <p:nvPr/>
        </p:nvSpPr>
        <p:spPr>
          <a:xfrm>
            <a:off x="6544476" y="6272633"/>
            <a:ext cx="2671039" cy="206790"/>
          </a:xfrm>
          <a:prstGeom prst="rect">
            <a:avLst/>
          </a:prstGeom>
          <a:noFill/>
          <a:ln/>
        </p:spPr>
        <p:txBody>
          <a:bodyPr wrap="square" lIns="0" tIns="0" rIns="0" bIns="0" rtlCol="0" anchor="ctr"/>
          <a:lstStyle/>
          <a:p>
            <a:pPr>
              <a:lnSpc>
                <a:spcPct val="120000"/>
              </a:lnSpc>
            </a:pPr>
            <a:r>
              <a:rPr lang="en-US" sz="1086" b="1" dirty="0">
                <a:solidFill>
                  <a:srgbClr val="F5F5F7"/>
                </a:solidFill>
                <a:latin typeface="Quattrocento Sans" pitchFamily="34" charset="0"/>
                <a:ea typeface="Quattrocento Sans" pitchFamily="34" charset="-122"/>
                <a:cs typeface="Quattrocento Sans" pitchFamily="34" charset="-120"/>
              </a:rPr>
              <a:t>Diagram:</a:t>
            </a:r>
            <a:pP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 Phone with feature icons around it</a:t>
            </a:r>
            <a:endParaRPr lang="en-US" sz="1600" dirty="0"/>
          </a:p>
        </p:txBody>
      </p:sp>
      <p:sp>
        <p:nvSpPr>
          <p:cNvPr id="72" name="Shape 70"/>
          <p:cNvSpPr/>
          <p:nvPr/>
        </p:nvSpPr>
        <p:spPr>
          <a:xfrm>
            <a:off x="6329070" y="6548353"/>
            <a:ext cx="120628" cy="137860"/>
          </a:xfrm>
          <a:custGeom>
            <a:avLst/>
            <a:gdLst/>
            <a:ahLst/>
            <a:cxnLst/>
            <a:rect l="l" t="t" r="r" b="b"/>
            <a:pathLst>
              <a:path w="120628" h="137860">
                <a:moveTo>
                  <a:pt x="17233" y="8616"/>
                </a:moveTo>
                <a:cubicBezTo>
                  <a:pt x="7728" y="8616"/>
                  <a:pt x="0" y="16344"/>
                  <a:pt x="0" y="25849"/>
                </a:cubicBezTo>
                <a:lnTo>
                  <a:pt x="0" y="112011"/>
                </a:lnTo>
                <a:cubicBezTo>
                  <a:pt x="0" y="121516"/>
                  <a:pt x="7728" y="129244"/>
                  <a:pt x="17233" y="129244"/>
                </a:cubicBezTo>
                <a:lnTo>
                  <a:pt x="103395" y="129244"/>
                </a:lnTo>
                <a:cubicBezTo>
                  <a:pt x="112900" y="129244"/>
                  <a:pt x="120628" y="121516"/>
                  <a:pt x="120628" y="112011"/>
                </a:cubicBezTo>
                <a:lnTo>
                  <a:pt x="120628" y="25849"/>
                </a:lnTo>
                <a:cubicBezTo>
                  <a:pt x="120628" y="16344"/>
                  <a:pt x="112900" y="8616"/>
                  <a:pt x="103395" y="8616"/>
                </a:cubicBezTo>
                <a:lnTo>
                  <a:pt x="17233" y="8616"/>
                </a:lnTo>
                <a:close/>
                <a:moveTo>
                  <a:pt x="34465" y="30157"/>
                </a:moveTo>
                <a:cubicBezTo>
                  <a:pt x="41598" y="30157"/>
                  <a:pt x="47389" y="35948"/>
                  <a:pt x="47389" y="43081"/>
                </a:cubicBezTo>
                <a:cubicBezTo>
                  <a:pt x="47389" y="50214"/>
                  <a:pt x="41598" y="56006"/>
                  <a:pt x="34465" y="56006"/>
                </a:cubicBezTo>
                <a:cubicBezTo>
                  <a:pt x="27332" y="56006"/>
                  <a:pt x="21541" y="50214"/>
                  <a:pt x="21541" y="43081"/>
                </a:cubicBezTo>
                <a:cubicBezTo>
                  <a:pt x="21541" y="35948"/>
                  <a:pt x="27332" y="30157"/>
                  <a:pt x="34465" y="30157"/>
                </a:cubicBezTo>
                <a:close/>
                <a:moveTo>
                  <a:pt x="73238" y="60314"/>
                </a:moveTo>
                <a:cubicBezTo>
                  <a:pt x="75500" y="60314"/>
                  <a:pt x="77573" y="61499"/>
                  <a:pt x="78758" y="63410"/>
                </a:cubicBezTo>
                <a:lnTo>
                  <a:pt x="102453" y="102183"/>
                </a:lnTo>
                <a:cubicBezTo>
                  <a:pt x="103664" y="104176"/>
                  <a:pt x="103718" y="106680"/>
                  <a:pt x="102587" y="108726"/>
                </a:cubicBezTo>
                <a:cubicBezTo>
                  <a:pt x="101456" y="110773"/>
                  <a:pt x="99275" y="112011"/>
                  <a:pt x="96933" y="112011"/>
                </a:cubicBezTo>
                <a:lnTo>
                  <a:pt x="23695" y="112011"/>
                </a:lnTo>
                <a:cubicBezTo>
                  <a:pt x="21298" y="112011"/>
                  <a:pt x="19063" y="110665"/>
                  <a:pt x="17960" y="108538"/>
                </a:cubicBezTo>
                <a:cubicBezTo>
                  <a:pt x="16856" y="106411"/>
                  <a:pt x="17017" y="103826"/>
                  <a:pt x="18390" y="101860"/>
                </a:cubicBezTo>
                <a:lnTo>
                  <a:pt x="33469" y="80320"/>
                </a:lnTo>
                <a:cubicBezTo>
                  <a:pt x="34680" y="78596"/>
                  <a:pt x="36646" y="77573"/>
                  <a:pt x="38773" y="77573"/>
                </a:cubicBezTo>
                <a:cubicBezTo>
                  <a:pt x="40900" y="77573"/>
                  <a:pt x="42866" y="78596"/>
                  <a:pt x="44078" y="80320"/>
                </a:cubicBezTo>
                <a:lnTo>
                  <a:pt x="51186" y="90498"/>
                </a:lnTo>
                <a:lnTo>
                  <a:pt x="67718" y="63437"/>
                </a:lnTo>
                <a:cubicBezTo>
                  <a:pt x="68903" y="61525"/>
                  <a:pt x="70976" y="60341"/>
                  <a:pt x="73238" y="60341"/>
                </a:cubicBezTo>
                <a:close/>
              </a:path>
            </a:pathLst>
          </a:custGeom>
          <a:solidFill>
            <a:srgbClr val="0A84FF"/>
          </a:solidFill>
          <a:ln/>
        </p:spPr>
      </p:sp>
      <p:sp>
        <p:nvSpPr>
          <p:cNvPr id="73" name="Text 71"/>
          <p:cNvSpPr/>
          <p:nvPr/>
        </p:nvSpPr>
        <p:spPr>
          <a:xfrm>
            <a:off x="6544476" y="6513888"/>
            <a:ext cx="2679655" cy="206790"/>
          </a:xfrm>
          <a:prstGeom prst="rect">
            <a:avLst/>
          </a:prstGeom>
          <a:noFill/>
          <a:ln/>
        </p:spPr>
        <p:txBody>
          <a:bodyPr wrap="square" lIns="0" tIns="0" rIns="0" bIns="0" rtlCol="0" anchor="ctr"/>
          <a:lstStyle/>
          <a:p>
            <a:pPr>
              <a:lnSpc>
                <a:spcPct val="120000"/>
              </a:lnSpc>
            </a:pPr>
            <a:r>
              <a:rPr lang="en-US" sz="1086" b="1" dirty="0">
                <a:solidFill>
                  <a:srgbClr val="F5F5F7"/>
                </a:solidFill>
                <a:latin typeface="Quattrocento Sans" pitchFamily="34" charset="0"/>
                <a:ea typeface="Quattrocento Sans" pitchFamily="34" charset="-122"/>
                <a:cs typeface="Quattrocento Sans" pitchFamily="34" charset="-120"/>
              </a:rPr>
              <a:t>Image:</a:t>
            </a:r>
            <a:pPr>
              <a:lnSpc>
                <a:spcPct val="120000"/>
              </a:lnSpc>
            </a:pPr>
            <a:r>
              <a:rPr lang="en-US" sz="1086" dirty="0">
                <a:solidFill>
                  <a:srgbClr val="F5F5F7"/>
                </a:solidFill>
                <a:latin typeface="Quattrocento Sans" pitchFamily="34" charset="0"/>
                <a:ea typeface="Quattrocento Sans" pitchFamily="34" charset="-122"/>
                <a:cs typeface="Quattrocento Sans" pitchFamily="34" charset="-120"/>
              </a:rPr>
              <a:t> DoorDash app showing GPS tracking</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62857" y="417286"/>
            <a:ext cx="435429" cy="435429"/>
          </a:xfrm>
          <a:prstGeom prst="roundRect">
            <a:avLst>
              <a:gd name="adj" fmla="val 25000"/>
            </a:avLst>
          </a:prstGeom>
          <a:solidFill>
            <a:srgbClr val="0A84FF"/>
          </a:solidFill>
          <a:ln/>
        </p:spPr>
      </p:sp>
      <p:sp>
        <p:nvSpPr>
          <p:cNvPr id="3" name="Text 1"/>
          <p:cNvSpPr/>
          <p:nvPr/>
        </p:nvSpPr>
        <p:spPr>
          <a:xfrm>
            <a:off x="445974" y="489857"/>
            <a:ext cx="381000" cy="290286"/>
          </a:xfrm>
          <a:prstGeom prst="rect">
            <a:avLst/>
          </a:prstGeom>
          <a:noFill/>
          <a:ln/>
        </p:spPr>
        <p:txBody>
          <a:bodyPr wrap="square" lIns="0" tIns="0" rIns="0" bIns="0" rtlCol="0" anchor="ctr"/>
          <a:lstStyle/>
          <a:p>
            <a:pPr>
              <a:lnSpc>
                <a:spcPct val="110000"/>
              </a:lnSpc>
            </a:pPr>
            <a:r>
              <a:rPr lang="en-US" sz="1714" b="1" dirty="0">
                <a:solidFill>
                  <a:srgbClr val="F5F5F7"/>
                </a:solidFill>
                <a:latin typeface="Liter" pitchFamily="34" charset="0"/>
                <a:ea typeface="Liter" pitchFamily="34" charset="-122"/>
                <a:cs typeface="Liter" pitchFamily="34" charset="-120"/>
              </a:rPr>
              <a:t>06</a:t>
            </a:r>
            <a:endParaRPr lang="en-US" sz="1600" dirty="0"/>
          </a:p>
        </p:txBody>
      </p:sp>
      <p:sp>
        <p:nvSpPr>
          <p:cNvPr id="4" name="Text 2"/>
          <p:cNvSpPr/>
          <p:nvPr/>
        </p:nvSpPr>
        <p:spPr>
          <a:xfrm>
            <a:off x="907143" y="362857"/>
            <a:ext cx="2966357" cy="181429"/>
          </a:xfrm>
          <a:prstGeom prst="rect">
            <a:avLst/>
          </a:prstGeom>
          <a:noFill/>
          <a:ln/>
        </p:spPr>
        <p:txBody>
          <a:bodyPr wrap="square" lIns="0" tIns="0" rIns="0" bIns="0" rtlCol="0" anchor="ctr"/>
          <a:lstStyle/>
          <a:p>
            <a:pPr>
              <a:lnSpc>
                <a:spcPct val="120000"/>
              </a:lnSpc>
            </a:pPr>
            <a:r>
              <a:rPr lang="en-US" sz="1000" b="1" spc="50" kern="0" dirty="0">
                <a:solidFill>
                  <a:srgbClr val="0A84FF"/>
                </a:solidFill>
                <a:latin typeface="Quattrocento Sans" pitchFamily="34" charset="0"/>
                <a:ea typeface="Quattrocento Sans" pitchFamily="34" charset="-122"/>
                <a:cs typeface="Quattrocento Sans" pitchFamily="34" charset="-120"/>
              </a:rPr>
              <a:t>Course Overview</a:t>
            </a:r>
            <a:endParaRPr lang="en-US" sz="1600" dirty="0"/>
          </a:p>
        </p:txBody>
      </p:sp>
      <p:sp>
        <p:nvSpPr>
          <p:cNvPr id="5" name="Text 3"/>
          <p:cNvSpPr/>
          <p:nvPr/>
        </p:nvSpPr>
        <p:spPr>
          <a:xfrm>
            <a:off x="907143" y="544286"/>
            <a:ext cx="3066143" cy="362857"/>
          </a:xfrm>
          <a:prstGeom prst="rect">
            <a:avLst/>
          </a:prstGeom>
          <a:noFill/>
          <a:ln/>
        </p:spPr>
        <p:txBody>
          <a:bodyPr wrap="square" lIns="0" tIns="0" rIns="0" bIns="0" rtlCol="0" anchor="ctr"/>
          <a:lstStyle/>
          <a:p>
            <a:pPr>
              <a:lnSpc>
                <a:spcPct val="90000"/>
              </a:lnSpc>
            </a:pPr>
            <a:r>
              <a:rPr lang="en-US" sz="2571" b="1" dirty="0">
                <a:solidFill>
                  <a:srgbClr val="F5F5F7"/>
                </a:solidFill>
                <a:latin typeface="Liter" pitchFamily="34" charset="0"/>
                <a:ea typeface="Liter" pitchFamily="34" charset="-122"/>
                <a:cs typeface="Liter" pitchFamily="34" charset="-120"/>
              </a:rPr>
              <a:t>What You Will Learn</a:t>
            </a:r>
            <a:endParaRPr lang="en-US" sz="1600" dirty="0"/>
          </a:p>
        </p:txBody>
      </p:sp>
      <p:sp>
        <p:nvSpPr>
          <p:cNvPr id="6" name="Shape 4"/>
          <p:cNvSpPr/>
          <p:nvPr/>
        </p:nvSpPr>
        <p:spPr>
          <a:xfrm>
            <a:off x="381000" y="1197429"/>
            <a:ext cx="5642429" cy="1959429"/>
          </a:xfrm>
          <a:custGeom>
            <a:avLst/>
            <a:gdLst/>
            <a:ahLst/>
            <a:cxnLst/>
            <a:rect l="l" t="t" r="r" b="b"/>
            <a:pathLst>
              <a:path w="5642429" h="1959429">
                <a:moveTo>
                  <a:pt x="36322" y="0"/>
                </a:moveTo>
                <a:lnTo>
                  <a:pt x="5497322" y="0"/>
                </a:lnTo>
                <a:cubicBezTo>
                  <a:pt x="5577492" y="0"/>
                  <a:pt x="5642483" y="64991"/>
                  <a:pt x="5642483" y="145161"/>
                </a:cubicBezTo>
                <a:lnTo>
                  <a:pt x="5642483" y="1814322"/>
                </a:lnTo>
                <a:cubicBezTo>
                  <a:pt x="5642483" y="1894492"/>
                  <a:pt x="5577492" y="1959483"/>
                  <a:pt x="5497322" y="1959483"/>
                </a:cubicBezTo>
                <a:lnTo>
                  <a:pt x="36322" y="1959483"/>
                </a:lnTo>
                <a:cubicBezTo>
                  <a:pt x="16262" y="1959483"/>
                  <a:pt x="0" y="1943221"/>
                  <a:pt x="0" y="1923161"/>
                </a:cubicBezTo>
                <a:lnTo>
                  <a:pt x="0" y="36322"/>
                </a:lnTo>
                <a:cubicBezTo>
                  <a:pt x="0" y="16275"/>
                  <a:pt x="16275" y="0"/>
                  <a:pt x="36322" y="0"/>
                </a:cubicBezTo>
                <a:close/>
              </a:path>
            </a:pathLst>
          </a:custGeom>
          <a:gradFill rotWithShape="1" flip="none">
            <a:gsLst>
              <a:gs pos="0">
                <a:srgbClr val="34C759">
                  <a:alpha val="20000"/>
                </a:srgbClr>
              </a:gs>
              <a:gs pos="100000">
                <a:srgbClr val="2C2C2E"/>
              </a:gs>
            </a:gsLst>
            <a:lin ang="2700000" scaled="1"/>
          </a:gradFill>
          <a:ln/>
        </p:spPr>
      </p:sp>
      <p:sp>
        <p:nvSpPr>
          <p:cNvPr id="7" name="Shape 5"/>
          <p:cNvSpPr/>
          <p:nvPr/>
        </p:nvSpPr>
        <p:spPr>
          <a:xfrm>
            <a:off x="381000" y="1197429"/>
            <a:ext cx="36286" cy="1959429"/>
          </a:xfrm>
          <a:custGeom>
            <a:avLst/>
            <a:gdLst/>
            <a:ahLst/>
            <a:cxnLst/>
            <a:rect l="l" t="t" r="r" b="b"/>
            <a:pathLst>
              <a:path w="36286" h="1959429">
                <a:moveTo>
                  <a:pt x="36322" y="0"/>
                </a:moveTo>
                <a:lnTo>
                  <a:pt x="36322" y="0"/>
                </a:lnTo>
                <a:lnTo>
                  <a:pt x="36322" y="1959483"/>
                </a:lnTo>
                <a:lnTo>
                  <a:pt x="36322" y="1959483"/>
                </a:lnTo>
                <a:cubicBezTo>
                  <a:pt x="16262" y="1959483"/>
                  <a:pt x="0" y="1943221"/>
                  <a:pt x="0" y="1923161"/>
                </a:cubicBezTo>
                <a:lnTo>
                  <a:pt x="0" y="36322"/>
                </a:lnTo>
                <a:cubicBezTo>
                  <a:pt x="0" y="16275"/>
                  <a:pt x="16275" y="0"/>
                  <a:pt x="36322" y="0"/>
                </a:cubicBezTo>
                <a:close/>
              </a:path>
            </a:pathLst>
          </a:custGeom>
          <a:solidFill>
            <a:srgbClr val="34C759"/>
          </a:solidFill>
          <a:ln/>
        </p:spPr>
      </p:sp>
      <p:sp>
        <p:nvSpPr>
          <p:cNvPr id="8" name="Shape 6"/>
          <p:cNvSpPr/>
          <p:nvPr/>
        </p:nvSpPr>
        <p:spPr>
          <a:xfrm>
            <a:off x="616857" y="1415143"/>
            <a:ext cx="580571" cy="580571"/>
          </a:xfrm>
          <a:prstGeom prst="roundRect">
            <a:avLst>
              <a:gd name="adj" fmla="val 25000"/>
            </a:avLst>
          </a:prstGeom>
          <a:solidFill>
            <a:srgbClr val="34C759"/>
          </a:solidFill>
          <a:ln/>
        </p:spPr>
      </p:sp>
      <p:sp>
        <p:nvSpPr>
          <p:cNvPr id="9" name="Text 7"/>
          <p:cNvSpPr/>
          <p:nvPr/>
        </p:nvSpPr>
        <p:spPr>
          <a:xfrm>
            <a:off x="765855" y="1542143"/>
            <a:ext cx="417286" cy="326571"/>
          </a:xfrm>
          <a:prstGeom prst="rect">
            <a:avLst/>
          </a:prstGeom>
          <a:noFill/>
          <a:ln/>
        </p:spPr>
        <p:txBody>
          <a:bodyPr wrap="square" lIns="0" tIns="0" rIns="0" bIns="0" rtlCol="0" anchor="ctr"/>
          <a:lstStyle/>
          <a:p>
            <a:pPr>
              <a:lnSpc>
                <a:spcPct val="100000"/>
              </a:lnSpc>
            </a:pPr>
            <a:r>
              <a:rPr lang="en-US" sz="2143" b="1" dirty="0">
                <a:solidFill>
                  <a:srgbClr val="1D1D1F"/>
                </a:solidFill>
                <a:latin typeface="Liter" pitchFamily="34" charset="0"/>
                <a:ea typeface="Liter" pitchFamily="34" charset="-122"/>
                <a:cs typeface="Liter" pitchFamily="34" charset="-120"/>
              </a:rPr>
              <a:t>01</a:t>
            </a:r>
            <a:endParaRPr lang="en-US" sz="1600" dirty="0"/>
          </a:p>
        </p:txBody>
      </p:sp>
      <p:sp>
        <p:nvSpPr>
          <p:cNvPr id="10" name="Text 8"/>
          <p:cNvSpPr/>
          <p:nvPr/>
        </p:nvSpPr>
        <p:spPr>
          <a:xfrm>
            <a:off x="1342571" y="1560286"/>
            <a:ext cx="3211286" cy="290286"/>
          </a:xfrm>
          <a:prstGeom prst="rect">
            <a:avLst/>
          </a:prstGeom>
          <a:noFill/>
          <a:ln/>
        </p:spPr>
        <p:txBody>
          <a:bodyPr wrap="square" lIns="0" tIns="0" rIns="0" bIns="0" rtlCol="0" anchor="ctr"/>
          <a:lstStyle/>
          <a:p>
            <a:pPr>
              <a:lnSpc>
                <a:spcPct val="110000"/>
              </a:lnSpc>
            </a:pPr>
            <a:r>
              <a:rPr lang="en-US" sz="1714" b="1" dirty="0">
                <a:solidFill>
                  <a:srgbClr val="34C759"/>
                </a:solidFill>
                <a:latin typeface="Liter" pitchFamily="34" charset="0"/>
                <a:ea typeface="Liter" pitchFamily="34" charset="-122"/>
                <a:cs typeface="Liter" pitchFamily="34" charset="-120"/>
              </a:rPr>
              <a:t>Understanding Mobile Platforms</a:t>
            </a:r>
            <a:endParaRPr lang="en-US" sz="1600" dirty="0"/>
          </a:p>
        </p:txBody>
      </p:sp>
      <p:sp>
        <p:nvSpPr>
          <p:cNvPr id="11" name="Text 9"/>
          <p:cNvSpPr/>
          <p:nvPr/>
        </p:nvSpPr>
        <p:spPr>
          <a:xfrm>
            <a:off x="616857" y="2140857"/>
            <a:ext cx="117929" cy="217714"/>
          </a:xfrm>
          <a:prstGeom prst="rect">
            <a:avLst/>
          </a:prstGeom>
          <a:noFill/>
          <a:ln/>
        </p:spPr>
        <p:txBody>
          <a:bodyPr wrap="square" lIns="0" tIns="0" rIns="0" bIns="0" rtlCol="0" anchor="ctr"/>
          <a:lstStyle/>
          <a:p>
            <a:pPr>
              <a:lnSpc>
                <a:spcPct val="120000"/>
              </a:lnSpc>
            </a:pPr>
            <a:r>
              <a:rPr lang="en-US" sz="114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2" name="Text 10"/>
          <p:cNvSpPr/>
          <p:nvPr/>
        </p:nvSpPr>
        <p:spPr>
          <a:xfrm>
            <a:off x="737054" y="2140857"/>
            <a:ext cx="2948214" cy="217714"/>
          </a:xfrm>
          <a:prstGeom prst="rect">
            <a:avLst/>
          </a:prstGeom>
          <a:noFill/>
          <a:ln/>
        </p:spPr>
        <p:txBody>
          <a:bodyPr wrap="square" lIns="0" tIns="0" rIns="0" bIns="0" rtlCol="0" anchor="ctr"/>
          <a:lstStyle/>
          <a:p>
            <a:pPr>
              <a:lnSpc>
                <a:spcPct val="120000"/>
              </a:lnSpc>
            </a:pPr>
            <a:r>
              <a:rPr lang="en-US" sz="1143" dirty="0">
                <a:solidFill>
                  <a:srgbClr val="F5F5F7"/>
                </a:solidFill>
                <a:latin typeface="Quattrocento Sans" pitchFamily="34" charset="0"/>
                <a:ea typeface="Quattrocento Sans" pitchFamily="34" charset="-122"/>
                <a:cs typeface="Quattrocento Sans" pitchFamily="34" charset="-120"/>
              </a:rPr>
              <a:t>Learn about </a:t>
            </a:r>
            <a:pPr>
              <a:lnSpc>
                <a:spcPct val="120000"/>
              </a:lnSpc>
            </a:pPr>
            <a:r>
              <a:rPr lang="en-US" sz="1143" b="1" dirty="0">
                <a:solidFill>
                  <a:srgbClr val="34C759"/>
                </a:solidFill>
                <a:latin typeface="Quattrocento Sans" pitchFamily="34" charset="0"/>
                <a:ea typeface="Quattrocento Sans" pitchFamily="34" charset="-122"/>
                <a:cs typeface="Quattrocento Sans" pitchFamily="34" charset="-120"/>
              </a:rPr>
              <a:t>Android, iOS, and Cross-Platform</a:t>
            </a:r>
            <a:endParaRPr lang="en-US" sz="1600" dirty="0"/>
          </a:p>
        </p:txBody>
      </p:sp>
      <p:sp>
        <p:nvSpPr>
          <p:cNvPr id="13" name="Text 11"/>
          <p:cNvSpPr/>
          <p:nvPr/>
        </p:nvSpPr>
        <p:spPr>
          <a:xfrm>
            <a:off x="616857" y="2431143"/>
            <a:ext cx="117929" cy="217714"/>
          </a:xfrm>
          <a:prstGeom prst="rect">
            <a:avLst/>
          </a:prstGeom>
          <a:noFill/>
          <a:ln/>
        </p:spPr>
        <p:txBody>
          <a:bodyPr wrap="square" lIns="0" tIns="0" rIns="0" bIns="0" rtlCol="0" anchor="ctr"/>
          <a:lstStyle/>
          <a:p>
            <a:pPr>
              <a:lnSpc>
                <a:spcPct val="120000"/>
              </a:lnSpc>
            </a:pPr>
            <a:r>
              <a:rPr lang="en-US" sz="114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4" name="Text 12"/>
          <p:cNvSpPr/>
          <p:nvPr/>
        </p:nvSpPr>
        <p:spPr>
          <a:xfrm>
            <a:off x="737054" y="2431143"/>
            <a:ext cx="2911929" cy="217714"/>
          </a:xfrm>
          <a:prstGeom prst="rect">
            <a:avLst/>
          </a:prstGeom>
          <a:noFill/>
          <a:ln/>
        </p:spPr>
        <p:txBody>
          <a:bodyPr wrap="square" lIns="0" tIns="0" rIns="0" bIns="0" rtlCol="0" anchor="ctr"/>
          <a:lstStyle/>
          <a:p>
            <a:pPr>
              <a:lnSpc>
                <a:spcPct val="120000"/>
              </a:lnSpc>
            </a:pPr>
            <a:r>
              <a:rPr lang="en-US" sz="1143" dirty="0">
                <a:solidFill>
                  <a:srgbClr val="F5F5F7"/>
                </a:solidFill>
                <a:latin typeface="Quattrocento Sans" pitchFamily="34" charset="0"/>
                <a:ea typeface="Quattrocento Sans" pitchFamily="34" charset="-122"/>
                <a:cs typeface="Quattrocento Sans" pitchFamily="34" charset="-120"/>
              </a:rPr>
              <a:t>Understand </a:t>
            </a:r>
            <a:pPr>
              <a:lnSpc>
                <a:spcPct val="120000"/>
              </a:lnSpc>
            </a:pPr>
            <a:r>
              <a:rPr lang="en-US" sz="1143" b="1" dirty="0">
                <a:solidFill>
                  <a:srgbClr val="34C759"/>
                </a:solidFill>
                <a:latin typeface="Quattrocento Sans" pitchFamily="34" charset="0"/>
                <a:ea typeface="Quattrocento Sans" pitchFamily="34" charset="-122"/>
                <a:cs typeface="Quattrocento Sans" pitchFamily="34" charset="-120"/>
              </a:rPr>
              <a:t>differences and strengths</a:t>
            </a:r>
            <a:pPr>
              <a:lnSpc>
                <a:spcPct val="120000"/>
              </a:lnSpc>
            </a:pPr>
            <a:r>
              <a:rPr lang="en-US" sz="1143" dirty="0">
                <a:solidFill>
                  <a:srgbClr val="F5F5F7"/>
                </a:solidFill>
                <a:latin typeface="Quattrocento Sans" pitchFamily="34" charset="0"/>
                <a:ea typeface="Quattrocento Sans" pitchFamily="34" charset="-122"/>
                <a:cs typeface="Quattrocento Sans" pitchFamily="34" charset="-120"/>
              </a:rPr>
              <a:t> of each</a:t>
            </a:r>
            <a:endParaRPr lang="en-US" sz="1600" dirty="0"/>
          </a:p>
        </p:txBody>
      </p:sp>
      <p:sp>
        <p:nvSpPr>
          <p:cNvPr id="15" name="Text 13"/>
          <p:cNvSpPr/>
          <p:nvPr/>
        </p:nvSpPr>
        <p:spPr>
          <a:xfrm>
            <a:off x="616857" y="2721429"/>
            <a:ext cx="117929" cy="217714"/>
          </a:xfrm>
          <a:prstGeom prst="rect">
            <a:avLst/>
          </a:prstGeom>
          <a:noFill/>
          <a:ln/>
        </p:spPr>
        <p:txBody>
          <a:bodyPr wrap="square" lIns="0" tIns="0" rIns="0" bIns="0" rtlCol="0" anchor="ctr"/>
          <a:lstStyle/>
          <a:p>
            <a:pPr>
              <a:lnSpc>
                <a:spcPct val="120000"/>
              </a:lnSpc>
            </a:pPr>
            <a:r>
              <a:rPr lang="en-US" sz="114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6" name="Text 14"/>
          <p:cNvSpPr/>
          <p:nvPr/>
        </p:nvSpPr>
        <p:spPr>
          <a:xfrm>
            <a:off x="737054" y="2721429"/>
            <a:ext cx="3093357" cy="217714"/>
          </a:xfrm>
          <a:prstGeom prst="rect">
            <a:avLst/>
          </a:prstGeom>
          <a:noFill/>
          <a:ln/>
        </p:spPr>
        <p:txBody>
          <a:bodyPr wrap="square" lIns="0" tIns="0" rIns="0" bIns="0" rtlCol="0" anchor="ctr"/>
          <a:lstStyle/>
          <a:p>
            <a:pPr>
              <a:lnSpc>
                <a:spcPct val="120000"/>
              </a:lnSpc>
            </a:pPr>
            <a:r>
              <a:rPr lang="en-US" sz="1143" dirty="0">
                <a:solidFill>
                  <a:srgbClr val="F5F5F7"/>
                </a:solidFill>
                <a:latin typeface="Quattrocento Sans" pitchFamily="34" charset="0"/>
                <a:ea typeface="Quattrocento Sans" pitchFamily="34" charset="-122"/>
                <a:cs typeface="Quattrocento Sans" pitchFamily="34" charset="-120"/>
              </a:rPr>
              <a:t>Know which platform to choose </a:t>
            </a:r>
            <a:pPr>
              <a:lnSpc>
                <a:spcPct val="120000"/>
              </a:lnSpc>
            </a:pPr>
            <a:r>
              <a:rPr lang="en-US" sz="1143" b="1" dirty="0">
                <a:solidFill>
                  <a:srgbClr val="34C759"/>
                </a:solidFill>
                <a:latin typeface="Quattrocento Sans" pitchFamily="34" charset="0"/>
                <a:ea typeface="Quattrocento Sans" pitchFamily="34" charset="-122"/>
                <a:cs typeface="Quattrocento Sans" pitchFamily="34" charset="-120"/>
              </a:rPr>
              <a:t>for your project</a:t>
            </a:r>
            <a:endParaRPr lang="en-US" sz="1600" dirty="0"/>
          </a:p>
        </p:txBody>
      </p:sp>
      <p:sp>
        <p:nvSpPr>
          <p:cNvPr id="17" name="Shape 15"/>
          <p:cNvSpPr/>
          <p:nvPr/>
        </p:nvSpPr>
        <p:spPr>
          <a:xfrm>
            <a:off x="6186714" y="1197429"/>
            <a:ext cx="5642429" cy="1959429"/>
          </a:xfrm>
          <a:custGeom>
            <a:avLst/>
            <a:gdLst/>
            <a:ahLst/>
            <a:cxnLst/>
            <a:rect l="l" t="t" r="r" b="b"/>
            <a:pathLst>
              <a:path w="5642429" h="1959429">
                <a:moveTo>
                  <a:pt x="36322" y="0"/>
                </a:moveTo>
                <a:lnTo>
                  <a:pt x="5497322" y="0"/>
                </a:lnTo>
                <a:cubicBezTo>
                  <a:pt x="5577492" y="0"/>
                  <a:pt x="5642483" y="64991"/>
                  <a:pt x="5642483" y="145161"/>
                </a:cubicBezTo>
                <a:lnTo>
                  <a:pt x="5642483" y="1814322"/>
                </a:lnTo>
                <a:cubicBezTo>
                  <a:pt x="5642483" y="1894492"/>
                  <a:pt x="5577492" y="1959483"/>
                  <a:pt x="5497322" y="1959483"/>
                </a:cubicBezTo>
                <a:lnTo>
                  <a:pt x="36322" y="1959483"/>
                </a:lnTo>
                <a:cubicBezTo>
                  <a:pt x="16262" y="1959483"/>
                  <a:pt x="0" y="1943221"/>
                  <a:pt x="0" y="1923161"/>
                </a:cubicBezTo>
                <a:lnTo>
                  <a:pt x="0" y="36322"/>
                </a:lnTo>
                <a:cubicBezTo>
                  <a:pt x="0" y="16275"/>
                  <a:pt x="16275" y="0"/>
                  <a:pt x="36322" y="0"/>
                </a:cubicBezTo>
                <a:close/>
              </a:path>
            </a:pathLst>
          </a:custGeom>
          <a:gradFill rotWithShape="1" flip="none">
            <a:gsLst>
              <a:gs pos="0">
                <a:srgbClr val="0A84FF">
                  <a:alpha val="20000"/>
                </a:srgbClr>
              </a:gs>
              <a:gs pos="100000">
                <a:srgbClr val="2C2C2E"/>
              </a:gs>
            </a:gsLst>
            <a:lin ang="2700000" scaled="1"/>
          </a:gradFill>
          <a:ln/>
        </p:spPr>
      </p:sp>
      <p:sp>
        <p:nvSpPr>
          <p:cNvPr id="18" name="Shape 16"/>
          <p:cNvSpPr/>
          <p:nvPr/>
        </p:nvSpPr>
        <p:spPr>
          <a:xfrm>
            <a:off x="6186714" y="1197429"/>
            <a:ext cx="36286" cy="1959429"/>
          </a:xfrm>
          <a:custGeom>
            <a:avLst/>
            <a:gdLst/>
            <a:ahLst/>
            <a:cxnLst/>
            <a:rect l="l" t="t" r="r" b="b"/>
            <a:pathLst>
              <a:path w="36286" h="1959429">
                <a:moveTo>
                  <a:pt x="36322" y="0"/>
                </a:moveTo>
                <a:lnTo>
                  <a:pt x="36322" y="0"/>
                </a:lnTo>
                <a:lnTo>
                  <a:pt x="36322" y="1959483"/>
                </a:lnTo>
                <a:lnTo>
                  <a:pt x="36322" y="1959483"/>
                </a:lnTo>
                <a:cubicBezTo>
                  <a:pt x="16262" y="1959483"/>
                  <a:pt x="0" y="1943221"/>
                  <a:pt x="0" y="1923161"/>
                </a:cubicBezTo>
                <a:lnTo>
                  <a:pt x="0" y="36322"/>
                </a:lnTo>
                <a:cubicBezTo>
                  <a:pt x="0" y="16275"/>
                  <a:pt x="16275" y="0"/>
                  <a:pt x="36322" y="0"/>
                </a:cubicBezTo>
                <a:close/>
              </a:path>
            </a:pathLst>
          </a:custGeom>
          <a:solidFill>
            <a:srgbClr val="0A84FF"/>
          </a:solidFill>
          <a:ln/>
        </p:spPr>
      </p:sp>
      <p:sp>
        <p:nvSpPr>
          <p:cNvPr id="19" name="Shape 17"/>
          <p:cNvSpPr/>
          <p:nvPr/>
        </p:nvSpPr>
        <p:spPr>
          <a:xfrm>
            <a:off x="6422571" y="1415143"/>
            <a:ext cx="580571" cy="580571"/>
          </a:xfrm>
          <a:prstGeom prst="roundRect">
            <a:avLst>
              <a:gd name="adj" fmla="val 25000"/>
            </a:avLst>
          </a:prstGeom>
          <a:solidFill>
            <a:srgbClr val="0A84FF"/>
          </a:solidFill>
          <a:ln/>
        </p:spPr>
      </p:sp>
      <p:sp>
        <p:nvSpPr>
          <p:cNvPr id="20" name="Text 18"/>
          <p:cNvSpPr/>
          <p:nvPr/>
        </p:nvSpPr>
        <p:spPr>
          <a:xfrm>
            <a:off x="6546964" y="1542143"/>
            <a:ext cx="471714" cy="326571"/>
          </a:xfrm>
          <a:prstGeom prst="rect">
            <a:avLst/>
          </a:prstGeom>
          <a:noFill/>
          <a:ln/>
        </p:spPr>
        <p:txBody>
          <a:bodyPr wrap="square" lIns="0" tIns="0" rIns="0" bIns="0" rtlCol="0" anchor="ctr"/>
          <a:lstStyle/>
          <a:p>
            <a:pPr>
              <a:lnSpc>
                <a:spcPct val="100000"/>
              </a:lnSpc>
            </a:pPr>
            <a:r>
              <a:rPr lang="en-US" sz="2143" b="1" dirty="0">
                <a:solidFill>
                  <a:srgbClr val="FFFFFF"/>
                </a:solidFill>
                <a:latin typeface="Liter" pitchFamily="34" charset="0"/>
                <a:ea typeface="Liter" pitchFamily="34" charset="-122"/>
                <a:cs typeface="Liter" pitchFamily="34" charset="-120"/>
              </a:rPr>
              <a:t>02</a:t>
            </a:r>
            <a:endParaRPr lang="en-US" sz="1600" dirty="0"/>
          </a:p>
        </p:txBody>
      </p:sp>
      <p:sp>
        <p:nvSpPr>
          <p:cNvPr id="21" name="Text 19"/>
          <p:cNvSpPr/>
          <p:nvPr/>
        </p:nvSpPr>
        <p:spPr>
          <a:xfrm>
            <a:off x="7148286" y="1560286"/>
            <a:ext cx="3029857" cy="290286"/>
          </a:xfrm>
          <a:prstGeom prst="rect">
            <a:avLst/>
          </a:prstGeom>
          <a:noFill/>
          <a:ln/>
        </p:spPr>
        <p:txBody>
          <a:bodyPr wrap="square" lIns="0" tIns="0" rIns="0" bIns="0" rtlCol="0" anchor="ctr"/>
          <a:lstStyle/>
          <a:p>
            <a:pPr>
              <a:lnSpc>
                <a:spcPct val="110000"/>
              </a:lnSpc>
            </a:pPr>
            <a:r>
              <a:rPr lang="en-US" sz="1714" b="1" dirty="0">
                <a:solidFill>
                  <a:srgbClr val="0A84FF"/>
                </a:solidFill>
                <a:latin typeface="Liter" pitchFamily="34" charset="0"/>
                <a:ea typeface="Liter" pitchFamily="34" charset="-122"/>
                <a:cs typeface="Liter" pitchFamily="34" charset="-120"/>
              </a:rPr>
              <a:t>Setting Up Development Tools</a:t>
            </a:r>
            <a:endParaRPr lang="en-US" sz="1600" dirty="0"/>
          </a:p>
        </p:txBody>
      </p:sp>
      <p:sp>
        <p:nvSpPr>
          <p:cNvPr id="22" name="Text 20"/>
          <p:cNvSpPr/>
          <p:nvPr/>
        </p:nvSpPr>
        <p:spPr>
          <a:xfrm>
            <a:off x="6422571" y="2140857"/>
            <a:ext cx="117929" cy="217714"/>
          </a:xfrm>
          <a:prstGeom prst="rect">
            <a:avLst/>
          </a:prstGeom>
          <a:noFill/>
          <a:ln/>
        </p:spPr>
        <p:txBody>
          <a:bodyPr wrap="square" lIns="0" tIns="0" rIns="0" bIns="0" rtlCol="0" anchor="ctr"/>
          <a:lstStyle/>
          <a:p>
            <a:pPr>
              <a:lnSpc>
                <a:spcPct val="120000"/>
              </a:lnSpc>
            </a:pPr>
            <a:r>
              <a:rPr lang="en-US" sz="1143" dirty="0">
                <a:solidFill>
                  <a:srgbClr val="0A84FF"/>
                </a:solidFill>
                <a:latin typeface="Quattrocento Sans" pitchFamily="34" charset="0"/>
                <a:ea typeface="Quattrocento Sans" pitchFamily="34" charset="-122"/>
                <a:cs typeface="Quattrocento Sans" pitchFamily="34" charset="-120"/>
              </a:rPr>
              <a:t>•</a:t>
            </a:r>
            <a:endParaRPr lang="en-US" sz="1600" dirty="0"/>
          </a:p>
        </p:txBody>
      </p:sp>
      <p:sp>
        <p:nvSpPr>
          <p:cNvPr id="23" name="Text 21"/>
          <p:cNvSpPr/>
          <p:nvPr/>
        </p:nvSpPr>
        <p:spPr>
          <a:xfrm>
            <a:off x="6542768" y="2140857"/>
            <a:ext cx="2313214" cy="217714"/>
          </a:xfrm>
          <a:prstGeom prst="rect">
            <a:avLst/>
          </a:prstGeom>
          <a:noFill/>
          <a:ln/>
        </p:spPr>
        <p:txBody>
          <a:bodyPr wrap="square" lIns="0" tIns="0" rIns="0" bIns="0" rtlCol="0" anchor="ctr"/>
          <a:lstStyle/>
          <a:p>
            <a:pPr>
              <a:lnSpc>
                <a:spcPct val="120000"/>
              </a:lnSpc>
            </a:pPr>
            <a:r>
              <a:rPr lang="en-US" sz="1143" dirty="0">
                <a:solidFill>
                  <a:srgbClr val="F5F5F7"/>
                </a:solidFill>
                <a:latin typeface="Quattrocento Sans" pitchFamily="34" charset="0"/>
                <a:ea typeface="Quattrocento Sans" pitchFamily="34" charset="-122"/>
                <a:cs typeface="Quattrocento Sans" pitchFamily="34" charset="-120"/>
              </a:rPr>
              <a:t>Install and configure </a:t>
            </a:r>
            <a:pPr>
              <a:lnSpc>
                <a:spcPct val="120000"/>
              </a:lnSpc>
            </a:pPr>
            <a:r>
              <a:rPr lang="en-US" sz="1143" b="1" dirty="0">
                <a:solidFill>
                  <a:srgbClr val="0A84FF"/>
                </a:solidFill>
                <a:latin typeface="Quattrocento Sans" pitchFamily="34" charset="0"/>
                <a:ea typeface="Quattrocento Sans" pitchFamily="34" charset="-122"/>
                <a:cs typeface="Quattrocento Sans" pitchFamily="34" charset="-120"/>
              </a:rPr>
              <a:t>Android Studio</a:t>
            </a:r>
            <a:endParaRPr lang="en-US" sz="1600" dirty="0"/>
          </a:p>
        </p:txBody>
      </p:sp>
      <p:sp>
        <p:nvSpPr>
          <p:cNvPr id="24" name="Text 22"/>
          <p:cNvSpPr/>
          <p:nvPr/>
        </p:nvSpPr>
        <p:spPr>
          <a:xfrm>
            <a:off x="6422571" y="2431143"/>
            <a:ext cx="117929" cy="217714"/>
          </a:xfrm>
          <a:prstGeom prst="rect">
            <a:avLst/>
          </a:prstGeom>
          <a:noFill/>
          <a:ln/>
        </p:spPr>
        <p:txBody>
          <a:bodyPr wrap="square" lIns="0" tIns="0" rIns="0" bIns="0" rtlCol="0" anchor="ctr"/>
          <a:lstStyle/>
          <a:p>
            <a:pPr>
              <a:lnSpc>
                <a:spcPct val="120000"/>
              </a:lnSpc>
            </a:pPr>
            <a:r>
              <a:rPr lang="en-US" sz="1143" dirty="0">
                <a:solidFill>
                  <a:srgbClr val="0A84FF"/>
                </a:solidFill>
                <a:latin typeface="Quattrocento Sans" pitchFamily="34" charset="0"/>
                <a:ea typeface="Quattrocento Sans" pitchFamily="34" charset="-122"/>
                <a:cs typeface="Quattrocento Sans" pitchFamily="34" charset="-120"/>
              </a:rPr>
              <a:t>•</a:t>
            </a:r>
            <a:endParaRPr lang="en-US" sz="1600" dirty="0"/>
          </a:p>
        </p:txBody>
      </p:sp>
      <p:sp>
        <p:nvSpPr>
          <p:cNvPr id="25" name="Text 23"/>
          <p:cNvSpPr/>
          <p:nvPr/>
        </p:nvSpPr>
        <p:spPr>
          <a:xfrm>
            <a:off x="6542768" y="2431143"/>
            <a:ext cx="2295071" cy="217714"/>
          </a:xfrm>
          <a:prstGeom prst="rect">
            <a:avLst/>
          </a:prstGeom>
          <a:noFill/>
          <a:ln/>
        </p:spPr>
        <p:txBody>
          <a:bodyPr wrap="square" lIns="0" tIns="0" rIns="0" bIns="0" rtlCol="0" anchor="ctr"/>
          <a:lstStyle/>
          <a:p>
            <a:pPr>
              <a:lnSpc>
                <a:spcPct val="120000"/>
              </a:lnSpc>
            </a:pPr>
            <a:r>
              <a:rPr lang="en-US" sz="1143" dirty="0">
                <a:solidFill>
                  <a:srgbClr val="F5F5F7"/>
                </a:solidFill>
                <a:latin typeface="Quattrocento Sans" pitchFamily="34" charset="0"/>
                <a:ea typeface="Quattrocento Sans" pitchFamily="34" charset="-122"/>
                <a:cs typeface="Quattrocento Sans" pitchFamily="34" charset="-120"/>
              </a:rPr>
              <a:t>Set up </a:t>
            </a:r>
            <a:pPr>
              <a:lnSpc>
                <a:spcPct val="120000"/>
              </a:lnSpc>
            </a:pPr>
            <a:r>
              <a:rPr lang="en-US" sz="1143" b="1" dirty="0">
                <a:solidFill>
                  <a:srgbClr val="0A84FF"/>
                </a:solidFill>
                <a:latin typeface="Quattrocento Sans" pitchFamily="34" charset="0"/>
                <a:ea typeface="Quattrocento Sans" pitchFamily="34" charset="-122"/>
                <a:cs typeface="Quattrocento Sans" pitchFamily="34" charset="-120"/>
              </a:rPr>
              <a:t>Xcode</a:t>
            </a:r>
            <a:pPr>
              <a:lnSpc>
                <a:spcPct val="120000"/>
              </a:lnSpc>
            </a:pPr>
            <a:r>
              <a:rPr lang="en-US" sz="1143" dirty="0">
                <a:solidFill>
                  <a:srgbClr val="F5F5F7"/>
                </a:solidFill>
                <a:latin typeface="Quattrocento Sans" pitchFamily="34" charset="0"/>
                <a:ea typeface="Quattrocento Sans" pitchFamily="34" charset="-122"/>
                <a:cs typeface="Quattrocento Sans" pitchFamily="34" charset="-120"/>
              </a:rPr>
              <a:t> on Mac (if applicable)</a:t>
            </a:r>
            <a:endParaRPr lang="en-US" sz="1600" dirty="0"/>
          </a:p>
        </p:txBody>
      </p:sp>
      <p:sp>
        <p:nvSpPr>
          <p:cNvPr id="26" name="Text 24"/>
          <p:cNvSpPr/>
          <p:nvPr/>
        </p:nvSpPr>
        <p:spPr>
          <a:xfrm>
            <a:off x="6422571" y="2721429"/>
            <a:ext cx="117929" cy="217714"/>
          </a:xfrm>
          <a:prstGeom prst="rect">
            <a:avLst/>
          </a:prstGeom>
          <a:noFill/>
          <a:ln/>
        </p:spPr>
        <p:txBody>
          <a:bodyPr wrap="square" lIns="0" tIns="0" rIns="0" bIns="0" rtlCol="0" anchor="ctr"/>
          <a:lstStyle/>
          <a:p>
            <a:pPr>
              <a:lnSpc>
                <a:spcPct val="120000"/>
              </a:lnSpc>
            </a:pPr>
            <a:r>
              <a:rPr lang="en-US" sz="1143" dirty="0">
                <a:solidFill>
                  <a:srgbClr val="0A84FF"/>
                </a:solidFill>
                <a:latin typeface="Quattrocento Sans" pitchFamily="34" charset="0"/>
                <a:ea typeface="Quattrocento Sans" pitchFamily="34" charset="-122"/>
                <a:cs typeface="Quattrocento Sans" pitchFamily="34" charset="-120"/>
              </a:rPr>
              <a:t>•</a:t>
            </a:r>
            <a:endParaRPr lang="en-US" sz="1600" dirty="0"/>
          </a:p>
        </p:txBody>
      </p:sp>
      <p:sp>
        <p:nvSpPr>
          <p:cNvPr id="27" name="Text 25"/>
          <p:cNvSpPr/>
          <p:nvPr/>
        </p:nvSpPr>
        <p:spPr>
          <a:xfrm>
            <a:off x="6542768" y="2721429"/>
            <a:ext cx="2803071" cy="217714"/>
          </a:xfrm>
          <a:prstGeom prst="rect">
            <a:avLst/>
          </a:prstGeom>
          <a:noFill/>
          <a:ln/>
        </p:spPr>
        <p:txBody>
          <a:bodyPr wrap="square" lIns="0" tIns="0" rIns="0" bIns="0" rtlCol="0" anchor="ctr"/>
          <a:lstStyle/>
          <a:p>
            <a:pPr>
              <a:lnSpc>
                <a:spcPct val="120000"/>
              </a:lnSpc>
            </a:pPr>
            <a:r>
              <a:rPr lang="en-US" sz="1143" dirty="0">
                <a:solidFill>
                  <a:srgbClr val="F5F5F7"/>
                </a:solidFill>
                <a:latin typeface="Quattrocento Sans" pitchFamily="34" charset="0"/>
                <a:ea typeface="Quattrocento Sans" pitchFamily="34" charset="-122"/>
                <a:cs typeface="Quattrocento Sans" pitchFamily="34" charset="-120"/>
              </a:rPr>
              <a:t>Configure </a:t>
            </a:r>
            <a:pPr>
              <a:lnSpc>
                <a:spcPct val="120000"/>
              </a:lnSpc>
            </a:pPr>
            <a:r>
              <a:rPr lang="en-US" sz="1143" b="1" dirty="0">
                <a:solidFill>
                  <a:srgbClr val="0A84FF"/>
                </a:solidFill>
                <a:latin typeface="Quattrocento Sans" pitchFamily="34" charset="0"/>
                <a:ea typeface="Quattrocento Sans" pitchFamily="34" charset="-122"/>
                <a:cs typeface="Quattrocento Sans" pitchFamily="34" charset="-120"/>
              </a:rPr>
              <a:t>VS Code</a:t>
            </a:r>
            <a:pPr>
              <a:lnSpc>
                <a:spcPct val="120000"/>
              </a:lnSpc>
            </a:pPr>
            <a:r>
              <a:rPr lang="en-US" sz="1143" dirty="0">
                <a:solidFill>
                  <a:srgbClr val="F5F5F7"/>
                </a:solidFill>
                <a:latin typeface="Quattrocento Sans" pitchFamily="34" charset="0"/>
                <a:ea typeface="Quattrocento Sans" pitchFamily="34" charset="-122"/>
                <a:cs typeface="Quattrocento Sans" pitchFamily="34" charset="-120"/>
              </a:rPr>
              <a:t> for mobile development</a:t>
            </a:r>
            <a:endParaRPr lang="en-US" sz="1600" dirty="0"/>
          </a:p>
        </p:txBody>
      </p:sp>
      <p:sp>
        <p:nvSpPr>
          <p:cNvPr id="28" name="Shape 26"/>
          <p:cNvSpPr/>
          <p:nvPr/>
        </p:nvSpPr>
        <p:spPr>
          <a:xfrm>
            <a:off x="381000" y="3302000"/>
            <a:ext cx="5642429" cy="1959429"/>
          </a:xfrm>
          <a:custGeom>
            <a:avLst/>
            <a:gdLst/>
            <a:ahLst/>
            <a:cxnLst/>
            <a:rect l="l" t="t" r="r" b="b"/>
            <a:pathLst>
              <a:path w="5642429" h="1959429">
                <a:moveTo>
                  <a:pt x="36322" y="0"/>
                </a:moveTo>
                <a:lnTo>
                  <a:pt x="5497322" y="0"/>
                </a:lnTo>
                <a:cubicBezTo>
                  <a:pt x="5577492" y="0"/>
                  <a:pt x="5642483" y="64991"/>
                  <a:pt x="5642483" y="145161"/>
                </a:cubicBezTo>
                <a:lnTo>
                  <a:pt x="5642483" y="1814322"/>
                </a:lnTo>
                <a:cubicBezTo>
                  <a:pt x="5642483" y="1894492"/>
                  <a:pt x="5577492" y="1959483"/>
                  <a:pt x="5497322" y="1959483"/>
                </a:cubicBezTo>
                <a:lnTo>
                  <a:pt x="36322" y="1959483"/>
                </a:lnTo>
                <a:cubicBezTo>
                  <a:pt x="16262" y="1959483"/>
                  <a:pt x="0" y="1943221"/>
                  <a:pt x="0" y="1923161"/>
                </a:cubicBezTo>
                <a:lnTo>
                  <a:pt x="0" y="36322"/>
                </a:lnTo>
                <a:cubicBezTo>
                  <a:pt x="0" y="16275"/>
                  <a:pt x="16275" y="0"/>
                  <a:pt x="36322" y="0"/>
                </a:cubicBezTo>
                <a:close/>
              </a:path>
            </a:pathLst>
          </a:custGeom>
          <a:gradFill rotWithShape="1" flip="none">
            <a:gsLst>
              <a:gs pos="0">
                <a:srgbClr val="8E8E93">
                  <a:alpha val="20000"/>
                </a:srgbClr>
              </a:gs>
              <a:gs pos="100000">
                <a:srgbClr val="2C2C2E"/>
              </a:gs>
            </a:gsLst>
            <a:lin ang="2700000" scaled="1"/>
          </a:gradFill>
          <a:ln/>
        </p:spPr>
      </p:sp>
      <p:sp>
        <p:nvSpPr>
          <p:cNvPr id="29" name="Shape 27"/>
          <p:cNvSpPr/>
          <p:nvPr/>
        </p:nvSpPr>
        <p:spPr>
          <a:xfrm>
            <a:off x="381000" y="3302000"/>
            <a:ext cx="36286" cy="1959429"/>
          </a:xfrm>
          <a:custGeom>
            <a:avLst/>
            <a:gdLst/>
            <a:ahLst/>
            <a:cxnLst/>
            <a:rect l="l" t="t" r="r" b="b"/>
            <a:pathLst>
              <a:path w="36286" h="1959429">
                <a:moveTo>
                  <a:pt x="36322" y="0"/>
                </a:moveTo>
                <a:lnTo>
                  <a:pt x="36322" y="0"/>
                </a:lnTo>
                <a:lnTo>
                  <a:pt x="36322" y="1959483"/>
                </a:lnTo>
                <a:lnTo>
                  <a:pt x="36322" y="1959483"/>
                </a:lnTo>
                <a:cubicBezTo>
                  <a:pt x="16262" y="1959483"/>
                  <a:pt x="0" y="1943221"/>
                  <a:pt x="0" y="1923161"/>
                </a:cubicBezTo>
                <a:lnTo>
                  <a:pt x="0" y="36322"/>
                </a:lnTo>
                <a:cubicBezTo>
                  <a:pt x="0" y="16275"/>
                  <a:pt x="16275" y="0"/>
                  <a:pt x="36322" y="0"/>
                </a:cubicBezTo>
                <a:close/>
              </a:path>
            </a:pathLst>
          </a:custGeom>
          <a:solidFill>
            <a:srgbClr val="8E8E93"/>
          </a:solidFill>
          <a:ln/>
        </p:spPr>
      </p:sp>
      <p:sp>
        <p:nvSpPr>
          <p:cNvPr id="30" name="Shape 28"/>
          <p:cNvSpPr/>
          <p:nvPr/>
        </p:nvSpPr>
        <p:spPr>
          <a:xfrm>
            <a:off x="616857" y="3519714"/>
            <a:ext cx="580571" cy="580571"/>
          </a:xfrm>
          <a:prstGeom prst="roundRect">
            <a:avLst>
              <a:gd name="adj" fmla="val 25000"/>
            </a:avLst>
          </a:prstGeom>
          <a:solidFill>
            <a:srgbClr val="8E8E93"/>
          </a:solidFill>
          <a:ln/>
        </p:spPr>
      </p:sp>
      <p:sp>
        <p:nvSpPr>
          <p:cNvPr id="31" name="Text 29"/>
          <p:cNvSpPr/>
          <p:nvPr/>
        </p:nvSpPr>
        <p:spPr>
          <a:xfrm>
            <a:off x="740002" y="3646714"/>
            <a:ext cx="471714" cy="326571"/>
          </a:xfrm>
          <a:prstGeom prst="rect">
            <a:avLst/>
          </a:prstGeom>
          <a:noFill/>
          <a:ln/>
        </p:spPr>
        <p:txBody>
          <a:bodyPr wrap="square" lIns="0" tIns="0" rIns="0" bIns="0" rtlCol="0" anchor="ctr"/>
          <a:lstStyle/>
          <a:p>
            <a:pPr>
              <a:lnSpc>
                <a:spcPct val="100000"/>
              </a:lnSpc>
            </a:pPr>
            <a:r>
              <a:rPr lang="en-US" sz="2143" b="1" dirty="0">
                <a:solidFill>
                  <a:srgbClr val="FFFFFF"/>
                </a:solidFill>
                <a:latin typeface="Liter" pitchFamily="34" charset="0"/>
                <a:ea typeface="Liter" pitchFamily="34" charset="-122"/>
                <a:cs typeface="Liter" pitchFamily="34" charset="-120"/>
              </a:rPr>
              <a:t>03</a:t>
            </a:r>
            <a:endParaRPr lang="en-US" sz="1600" dirty="0"/>
          </a:p>
        </p:txBody>
      </p:sp>
      <p:sp>
        <p:nvSpPr>
          <p:cNvPr id="32" name="Text 30"/>
          <p:cNvSpPr/>
          <p:nvPr/>
        </p:nvSpPr>
        <p:spPr>
          <a:xfrm>
            <a:off x="1342571" y="3664857"/>
            <a:ext cx="2177143" cy="290286"/>
          </a:xfrm>
          <a:prstGeom prst="rect">
            <a:avLst/>
          </a:prstGeom>
          <a:noFill/>
          <a:ln/>
        </p:spPr>
        <p:txBody>
          <a:bodyPr wrap="square" lIns="0" tIns="0" rIns="0" bIns="0" rtlCol="0" anchor="ctr"/>
          <a:lstStyle/>
          <a:p>
            <a:pPr>
              <a:lnSpc>
                <a:spcPct val="110000"/>
              </a:lnSpc>
            </a:pPr>
            <a:r>
              <a:rPr lang="en-US" sz="1714" b="1" dirty="0">
                <a:solidFill>
                  <a:srgbClr val="8E8E93"/>
                </a:solidFill>
                <a:latin typeface="Liter" pitchFamily="34" charset="0"/>
                <a:ea typeface="Liter" pitchFamily="34" charset="-122"/>
                <a:cs typeface="Liter" pitchFamily="34" charset="-120"/>
              </a:rPr>
              <a:t>Learning Frameworks</a:t>
            </a:r>
            <a:endParaRPr lang="en-US" sz="1600" dirty="0"/>
          </a:p>
        </p:txBody>
      </p:sp>
      <p:sp>
        <p:nvSpPr>
          <p:cNvPr id="33" name="Text 31"/>
          <p:cNvSpPr/>
          <p:nvPr/>
        </p:nvSpPr>
        <p:spPr>
          <a:xfrm>
            <a:off x="616857" y="4245429"/>
            <a:ext cx="117929" cy="217714"/>
          </a:xfrm>
          <a:prstGeom prst="rect">
            <a:avLst/>
          </a:prstGeom>
          <a:noFill/>
          <a:ln/>
        </p:spPr>
        <p:txBody>
          <a:bodyPr wrap="square" lIns="0" tIns="0" rIns="0" bIns="0" rtlCol="0" anchor="ctr"/>
          <a:lstStyle/>
          <a:p>
            <a:pPr>
              <a:lnSpc>
                <a:spcPct val="120000"/>
              </a:lnSpc>
            </a:pPr>
            <a:r>
              <a:rPr lang="en-US" sz="1143" dirty="0">
                <a:solidFill>
                  <a:srgbClr val="8E8E93"/>
                </a:solidFill>
                <a:latin typeface="Quattrocento Sans" pitchFamily="34" charset="0"/>
                <a:ea typeface="Quattrocento Sans" pitchFamily="34" charset="-122"/>
                <a:cs typeface="Quattrocento Sans" pitchFamily="34" charset="-120"/>
              </a:rPr>
              <a:t>•</a:t>
            </a:r>
            <a:endParaRPr lang="en-US" sz="1600" dirty="0"/>
          </a:p>
        </p:txBody>
      </p:sp>
      <p:sp>
        <p:nvSpPr>
          <p:cNvPr id="34" name="Text 32"/>
          <p:cNvSpPr/>
          <p:nvPr/>
        </p:nvSpPr>
        <p:spPr>
          <a:xfrm>
            <a:off x="737054" y="4245429"/>
            <a:ext cx="2168071" cy="217714"/>
          </a:xfrm>
          <a:prstGeom prst="rect">
            <a:avLst/>
          </a:prstGeom>
          <a:noFill/>
          <a:ln/>
        </p:spPr>
        <p:txBody>
          <a:bodyPr wrap="square" lIns="0" tIns="0" rIns="0" bIns="0" rtlCol="0" anchor="ctr"/>
          <a:lstStyle/>
          <a:p>
            <a:pPr>
              <a:lnSpc>
                <a:spcPct val="120000"/>
              </a:lnSpc>
            </a:pPr>
            <a:r>
              <a:rPr lang="en-US" sz="1143" dirty="0">
                <a:solidFill>
                  <a:srgbClr val="F5F5F7"/>
                </a:solidFill>
                <a:latin typeface="Quattrocento Sans" pitchFamily="34" charset="0"/>
                <a:ea typeface="Quattrocento Sans" pitchFamily="34" charset="-122"/>
                <a:cs typeface="Quattrocento Sans" pitchFamily="34" charset="-120"/>
              </a:rPr>
              <a:t>Introduction to </a:t>
            </a:r>
            <a:pPr>
              <a:lnSpc>
                <a:spcPct val="120000"/>
              </a:lnSpc>
            </a:pPr>
            <a:r>
              <a:rPr lang="en-US" sz="1143" b="1" dirty="0">
                <a:solidFill>
                  <a:srgbClr val="8E8E93"/>
                </a:solidFill>
                <a:latin typeface="Quattrocento Sans" pitchFamily="34" charset="0"/>
                <a:ea typeface="Quattrocento Sans" pitchFamily="34" charset="-122"/>
                <a:cs typeface="Quattrocento Sans" pitchFamily="34" charset="-120"/>
              </a:rPr>
              <a:t>Flutter framework</a:t>
            </a:r>
            <a:endParaRPr lang="en-US" sz="1600" dirty="0"/>
          </a:p>
        </p:txBody>
      </p:sp>
      <p:sp>
        <p:nvSpPr>
          <p:cNvPr id="35" name="Text 33"/>
          <p:cNvSpPr/>
          <p:nvPr/>
        </p:nvSpPr>
        <p:spPr>
          <a:xfrm>
            <a:off x="616857" y="4535714"/>
            <a:ext cx="117929" cy="217714"/>
          </a:xfrm>
          <a:prstGeom prst="rect">
            <a:avLst/>
          </a:prstGeom>
          <a:noFill/>
          <a:ln/>
        </p:spPr>
        <p:txBody>
          <a:bodyPr wrap="square" lIns="0" tIns="0" rIns="0" bIns="0" rtlCol="0" anchor="ctr"/>
          <a:lstStyle/>
          <a:p>
            <a:pPr>
              <a:lnSpc>
                <a:spcPct val="120000"/>
              </a:lnSpc>
            </a:pPr>
            <a:r>
              <a:rPr lang="en-US" sz="1143" dirty="0">
                <a:solidFill>
                  <a:srgbClr val="8E8E93"/>
                </a:solidFill>
                <a:latin typeface="Quattrocento Sans" pitchFamily="34" charset="0"/>
                <a:ea typeface="Quattrocento Sans" pitchFamily="34" charset="-122"/>
                <a:cs typeface="Quattrocento Sans" pitchFamily="34" charset="-120"/>
              </a:rPr>
              <a:t>•</a:t>
            </a:r>
            <a:endParaRPr lang="en-US" sz="1600" dirty="0"/>
          </a:p>
        </p:txBody>
      </p:sp>
      <p:sp>
        <p:nvSpPr>
          <p:cNvPr id="36" name="Text 34"/>
          <p:cNvSpPr/>
          <p:nvPr/>
        </p:nvSpPr>
        <p:spPr>
          <a:xfrm>
            <a:off x="737054" y="4535714"/>
            <a:ext cx="2558143" cy="217714"/>
          </a:xfrm>
          <a:prstGeom prst="rect">
            <a:avLst/>
          </a:prstGeom>
          <a:noFill/>
          <a:ln/>
        </p:spPr>
        <p:txBody>
          <a:bodyPr wrap="square" lIns="0" tIns="0" rIns="0" bIns="0" rtlCol="0" anchor="ctr"/>
          <a:lstStyle/>
          <a:p>
            <a:pPr>
              <a:lnSpc>
                <a:spcPct val="120000"/>
              </a:lnSpc>
            </a:pPr>
            <a:r>
              <a:rPr lang="en-US" sz="1143" dirty="0">
                <a:solidFill>
                  <a:srgbClr val="F5F5F7"/>
                </a:solidFill>
                <a:latin typeface="Quattrocento Sans" pitchFamily="34" charset="0"/>
                <a:ea typeface="Quattrocento Sans" pitchFamily="34" charset="-122"/>
                <a:cs typeface="Quattrocento Sans" pitchFamily="34" charset="-120"/>
              </a:rPr>
              <a:t>Introduction to </a:t>
            </a:r>
            <a:pPr>
              <a:lnSpc>
                <a:spcPct val="120000"/>
              </a:lnSpc>
            </a:pPr>
            <a:r>
              <a:rPr lang="en-US" sz="1143" b="1" dirty="0">
                <a:solidFill>
                  <a:srgbClr val="8E8E93"/>
                </a:solidFill>
                <a:latin typeface="Quattrocento Sans" pitchFamily="34" charset="0"/>
                <a:ea typeface="Quattrocento Sans" pitchFamily="34" charset="-122"/>
                <a:cs typeface="Quattrocento Sans" pitchFamily="34" charset="-120"/>
              </a:rPr>
              <a:t>React Native framework</a:t>
            </a:r>
            <a:endParaRPr lang="en-US" sz="1600" dirty="0"/>
          </a:p>
        </p:txBody>
      </p:sp>
      <p:sp>
        <p:nvSpPr>
          <p:cNvPr id="37" name="Text 35"/>
          <p:cNvSpPr/>
          <p:nvPr/>
        </p:nvSpPr>
        <p:spPr>
          <a:xfrm>
            <a:off x="616857" y="4826000"/>
            <a:ext cx="117929" cy="217714"/>
          </a:xfrm>
          <a:prstGeom prst="rect">
            <a:avLst/>
          </a:prstGeom>
          <a:noFill/>
          <a:ln/>
        </p:spPr>
        <p:txBody>
          <a:bodyPr wrap="square" lIns="0" tIns="0" rIns="0" bIns="0" rtlCol="0" anchor="ctr"/>
          <a:lstStyle/>
          <a:p>
            <a:pPr>
              <a:lnSpc>
                <a:spcPct val="120000"/>
              </a:lnSpc>
            </a:pPr>
            <a:r>
              <a:rPr lang="en-US" sz="1143" dirty="0">
                <a:solidFill>
                  <a:srgbClr val="8E8E93"/>
                </a:solidFill>
                <a:latin typeface="Quattrocento Sans" pitchFamily="34" charset="0"/>
                <a:ea typeface="Quattrocento Sans" pitchFamily="34" charset="-122"/>
                <a:cs typeface="Quattrocento Sans" pitchFamily="34" charset="-120"/>
              </a:rPr>
              <a:t>•</a:t>
            </a:r>
            <a:endParaRPr lang="en-US" sz="1600" dirty="0"/>
          </a:p>
        </p:txBody>
      </p:sp>
      <p:sp>
        <p:nvSpPr>
          <p:cNvPr id="38" name="Text 36"/>
          <p:cNvSpPr/>
          <p:nvPr/>
        </p:nvSpPr>
        <p:spPr>
          <a:xfrm>
            <a:off x="737054" y="4826000"/>
            <a:ext cx="1941286" cy="217714"/>
          </a:xfrm>
          <a:prstGeom prst="rect">
            <a:avLst/>
          </a:prstGeom>
          <a:noFill/>
          <a:ln/>
        </p:spPr>
        <p:txBody>
          <a:bodyPr wrap="square" lIns="0" tIns="0" rIns="0" bIns="0" rtlCol="0" anchor="ctr"/>
          <a:lstStyle/>
          <a:p>
            <a:pPr>
              <a:lnSpc>
                <a:spcPct val="120000"/>
              </a:lnSpc>
            </a:pPr>
            <a:r>
              <a:rPr lang="en-US" sz="1143" dirty="0">
                <a:solidFill>
                  <a:srgbClr val="F5F5F7"/>
                </a:solidFill>
                <a:latin typeface="Quattrocento Sans" pitchFamily="34" charset="0"/>
                <a:ea typeface="Quattrocento Sans" pitchFamily="34" charset="-122"/>
                <a:cs typeface="Quattrocento Sans" pitchFamily="34" charset="-120"/>
              </a:rPr>
              <a:t>Understand </a:t>
            </a:r>
            <a:pPr>
              <a:lnSpc>
                <a:spcPct val="120000"/>
              </a:lnSpc>
            </a:pPr>
            <a:r>
              <a:rPr lang="en-US" sz="1143" b="1" dirty="0">
                <a:solidFill>
                  <a:srgbClr val="8E8E93"/>
                </a:solidFill>
                <a:latin typeface="Quattrocento Sans" pitchFamily="34" charset="0"/>
                <a:ea typeface="Quattrocento Sans" pitchFamily="34" charset="-122"/>
                <a:cs typeface="Quattrocento Sans" pitchFamily="34" charset="-120"/>
              </a:rPr>
              <a:t>when to use each</a:t>
            </a:r>
            <a:endParaRPr lang="en-US" sz="1600" dirty="0"/>
          </a:p>
        </p:txBody>
      </p:sp>
      <p:sp>
        <p:nvSpPr>
          <p:cNvPr id="39" name="Shape 37"/>
          <p:cNvSpPr/>
          <p:nvPr/>
        </p:nvSpPr>
        <p:spPr>
          <a:xfrm>
            <a:off x="6186714" y="3302000"/>
            <a:ext cx="5642429" cy="1959429"/>
          </a:xfrm>
          <a:custGeom>
            <a:avLst/>
            <a:gdLst/>
            <a:ahLst/>
            <a:cxnLst/>
            <a:rect l="l" t="t" r="r" b="b"/>
            <a:pathLst>
              <a:path w="5642429" h="1959429">
                <a:moveTo>
                  <a:pt x="36322" y="0"/>
                </a:moveTo>
                <a:lnTo>
                  <a:pt x="5497322" y="0"/>
                </a:lnTo>
                <a:cubicBezTo>
                  <a:pt x="5577492" y="0"/>
                  <a:pt x="5642483" y="64991"/>
                  <a:pt x="5642483" y="145161"/>
                </a:cubicBezTo>
                <a:lnTo>
                  <a:pt x="5642483" y="1814322"/>
                </a:lnTo>
                <a:cubicBezTo>
                  <a:pt x="5642483" y="1894492"/>
                  <a:pt x="5577492" y="1959483"/>
                  <a:pt x="5497322" y="1959483"/>
                </a:cubicBezTo>
                <a:lnTo>
                  <a:pt x="36322" y="1959483"/>
                </a:lnTo>
                <a:cubicBezTo>
                  <a:pt x="16262" y="1959483"/>
                  <a:pt x="0" y="1943221"/>
                  <a:pt x="0" y="1923161"/>
                </a:cubicBezTo>
                <a:lnTo>
                  <a:pt x="0" y="36322"/>
                </a:lnTo>
                <a:cubicBezTo>
                  <a:pt x="0" y="16275"/>
                  <a:pt x="16275" y="0"/>
                  <a:pt x="36322" y="0"/>
                </a:cubicBezTo>
                <a:close/>
              </a:path>
            </a:pathLst>
          </a:custGeom>
          <a:gradFill rotWithShape="1" flip="none">
            <a:gsLst>
              <a:gs pos="0">
                <a:srgbClr val="34C759">
                  <a:alpha val="20000"/>
                </a:srgbClr>
              </a:gs>
              <a:gs pos="100000">
                <a:srgbClr val="2C2C2E"/>
              </a:gs>
            </a:gsLst>
            <a:lin ang="2700000" scaled="1"/>
          </a:gradFill>
          <a:ln/>
        </p:spPr>
      </p:sp>
      <p:sp>
        <p:nvSpPr>
          <p:cNvPr id="40" name="Shape 38"/>
          <p:cNvSpPr/>
          <p:nvPr/>
        </p:nvSpPr>
        <p:spPr>
          <a:xfrm>
            <a:off x="6186714" y="3302000"/>
            <a:ext cx="36286" cy="1959429"/>
          </a:xfrm>
          <a:custGeom>
            <a:avLst/>
            <a:gdLst/>
            <a:ahLst/>
            <a:cxnLst/>
            <a:rect l="l" t="t" r="r" b="b"/>
            <a:pathLst>
              <a:path w="36286" h="1959429">
                <a:moveTo>
                  <a:pt x="36322" y="0"/>
                </a:moveTo>
                <a:lnTo>
                  <a:pt x="36322" y="0"/>
                </a:lnTo>
                <a:lnTo>
                  <a:pt x="36322" y="1959483"/>
                </a:lnTo>
                <a:lnTo>
                  <a:pt x="36322" y="1959483"/>
                </a:lnTo>
                <a:cubicBezTo>
                  <a:pt x="16262" y="1959483"/>
                  <a:pt x="0" y="1943221"/>
                  <a:pt x="0" y="1923161"/>
                </a:cubicBezTo>
                <a:lnTo>
                  <a:pt x="0" y="36322"/>
                </a:lnTo>
                <a:cubicBezTo>
                  <a:pt x="0" y="16275"/>
                  <a:pt x="16275" y="0"/>
                  <a:pt x="36322" y="0"/>
                </a:cubicBezTo>
                <a:close/>
              </a:path>
            </a:pathLst>
          </a:custGeom>
          <a:solidFill>
            <a:srgbClr val="34C759"/>
          </a:solidFill>
          <a:ln/>
        </p:spPr>
      </p:sp>
      <p:sp>
        <p:nvSpPr>
          <p:cNvPr id="41" name="Shape 39"/>
          <p:cNvSpPr/>
          <p:nvPr/>
        </p:nvSpPr>
        <p:spPr>
          <a:xfrm>
            <a:off x="6422571" y="3519714"/>
            <a:ext cx="580571" cy="580571"/>
          </a:xfrm>
          <a:prstGeom prst="roundRect">
            <a:avLst>
              <a:gd name="adj" fmla="val 25000"/>
            </a:avLst>
          </a:prstGeom>
          <a:solidFill>
            <a:srgbClr val="34C759"/>
          </a:solidFill>
          <a:ln/>
        </p:spPr>
      </p:sp>
      <p:sp>
        <p:nvSpPr>
          <p:cNvPr id="42" name="Text 40"/>
          <p:cNvSpPr/>
          <p:nvPr/>
        </p:nvSpPr>
        <p:spPr>
          <a:xfrm>
            <a:off x="6545830" y="3646714"/>
            <a:ext cx="471714" cy="326571"/>
          </a:xfrm>
          <a:prstGeom prst="rect">
            <a:avLst/>
          </a:prstGeom>
          <a:noFill/>
          <a:ln/>
        </p:spPr>
        <p:txBody>
          <a:bodyPr wrap="square" lIns="0" tIns="0" rIns="0" bIns="0" rtlCol="0" anchor="ctr"/>
          <a:lstStyle/>
          <a:p>
            <a:pPr>
              <a:lnSpc>
                <a:spcPct val="100000"/>
              </a:lnSpc>
            </a:pPr>
            <a:r>
              <a:rPr lang="en-US" sz="2143" b="1" dirty="0">
                <a:solidFill>
                  <a:srgbClr val="1D1D1F"/>
                </a:solidFill>
                <a:latin typeface="Liter" pitchFamily="34" charset="0"/>
                <a:ea typeface="Liter" pitchFamily="34" charset="-122"/>
                <a:cs typeface="Liter" pitchFamily="34" charset="-120"/>
              </a:rPr>
              <a:t>04</a:t>
            </a:r>
            <a:endParaRPr lang="en-US" sz="1600" dirty="0"/>
          </a:p>
        </p:txBody>
      </p:sp>
      <p:sp>
        <p:nvSpPr>
          <p:cNvPr id="43" name="Text 41"/>
          <p:cNvSpPr/>
          <p:nvPr/>
        </p:nvSpPr>
        <p:spPr>
          <a:xfrm>
            <a:off x="7148286" y="3664857"/>
            <a:ext cx="2295071" cy="290286"/>
          </a:xfrm>
          <a:prstGeom prst="rect">
            <a:avLst/>
          </a:prstGeom>
          <a:noFill/>
          <a:ln/>
        </p:spPr>
        <p:txBody>
          <a:bodyPr wrap="square" lIns="0" tIns="0" rIns="0" bIns="0" rtlCol="0" anchor="ctr"/>
          <a:lstStyle/>
          <a:p>
            <a:pPr>
              <a:lnSpc>
                <a:spcPct val="110000"/>
              </a:lnSpc>
            </a:pPr>
            <a:r>
              <a:rPr lang="en-US" sz="1714" b="1" dirty="0">
                <a:solidFill>
                  <a:srgbClr val="34C759"/>
                </a:solidFill>
                <a:latin typeface="Liter" pitchFamily="34" charset="0"/>
                <a:ea typeface="Liter" pitchFamily="34" charset="-122"/>
                <a:cs typeface="Liter" pitchFamily="34" charset="-120"/>
              </a:rPr>
              <a:t>Building Your First App</a:t>
            </a:r>
            <a:endParaRPr lang="en-US" sz="1600" dirty="0"/>
          </a:p>
        </p:txBody>
      </p:sp>
      <p:sp>
        <p:nvSpPr>
          <p:cNvPr id="44" name="Text 42"/>
          <p:cNvSpPr/>
          <p:nvPr/>
        </p:nvSpPr>
        <p:spPr>
          <a:xfrm>
            <a:off x="6422571" y="4245429"/>
            <a:ext cx="117929" cy="217714"/>
          </a:xfrm>
          <a:prstGeom prst="rect">
            <a:avLst/>
          </a:prstGeom>
          <a:noFill/>
          <a:ln/>
        </p:spPr>
        <p:txBody>
          <a:bodyPr wrap="square" lIns="0" tIns="0" rIns="0" bIns="0" rtlCol="0" anchor="ctr"/>
          <a:lstStyle/>
          <a:p>
            <a:pPr>
              <a:lnSpc>
                <a:spcPct val="120000"/>
              </a:lnSpc>
            </a:pPr>
            <a:r>
              <a:rPr lang="en-US" sz="114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5" name="Text 43"/>
          <p:cNvSpPr/>
          <p:nvPr/>
        </p:nvSpPr>
        <p:spPr>
          <a:xfrm>
            <a:off x="6542768" y="4245429"/>
            <a:ext cx="1859643" cy="217714"/>
          </a:xfrm>
          <a:prstGeom prst="rect">
            <a:avLst/>
          </a:prstGeom>
          <a:noFill/>
          <a:ln/>
        </p:spPr>
        <p:txBody>
          <a:bodyPr wrap="square" lIns="0" tIns="0" rIns="0" bIns="0" rtlCol="0" anchor="ctr"/>
          <a:lstStyle/>
          <a:p>
            <a:pPr>
              <a:lnSpc>
                <a:spcPct val="120000"/>
              </a:lnSpc>
            </a:pPr>
            <a:r>
              <a:rPr lang="en-US" sz="1143" dirty="0">
                <a:solidFill>
                  <a:srgbClr val="F5F5F7"/>
                </a:solidFill>
                <a:latin typeface="Quattrocento Sans" pitchFamily="34" charset="0"/>
                <a:ea typeface="Quattrocento Sans" pitchFamily="34" charset="-122"/>
                <a:cs typeface="Quattrocento Sans" pitchFamily="34" charset="-120"/>
              </a:rPr>
              <a:t>Create a </a:t>
            </a:r>
            <a:pPr>
              <a:lnSpc>
                <a:spcPct val="120000"/>
              </a:lnSpc>
            </a:pPr>
            <a:r>
              <a:rPr lang="en-US" sz="1143" b="1" dirty="0">
                <a:solidFill>
                  <a:srgbClr val="34C759"/>
                </a:solidFill>
                <a:latin typeface="Quattrocento Sans" pitchFamily="34" charset="0"/>
                <a:ea typeface="Quattrocento Sans" pitchFamily="34" charset="-122"/>
                <a:cs typeface="Quattrocento Sans" pitchFamily="34" charset="-120"/>
              </a:rPr>
              <a:t>simple working app</a:t>
            </a:r>
            <a:endParaRPr lang="en-US" sz="1600" dirty="0"/>
          </a:p>
        </p:txBody>
      </p:sp>
      <p:sp>
        <p:nvSpPr>
          <p:cNvPr id="46" name="Text 44"/>
          <p:cNvSpPr/>
          <p:nvPr/>
        </p:nvSpPr>
        <p:spPr>
          <a:xfrm>
            <a:off x="6422571" y="4535714"/>
            <a:ext cx="117929" cy="217714"/>
          </a:xfrm>
          <a:prstGeom prst="rect">
            <a:avLst/>
          </a:prstGeom>
          <a:noFill/>
          <a:ln/>
        </p:spPr>
        <p:txBody>
          <a:bodyPr wrap="square" lIns="0" tIns="0" rIns="0" bIns="0" rtlCol="0" anchor="ctr"/>
          <a:lstStyle/>
          <a:p>
            <a:pPr>
              <a:lnSpc>
                <a:spcPct val="120000"/>
              </a:lnSpc>
            </a:pPr>
            <a:r>
              <a:rPr lang="en-US" sz="114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7" name="Text 45"/>
          <p:cNvSpPr/>
          <p:nvPr/>
        </p:nvSpPr>
        <p:spPr>
          <a:xfrm>
            <a:off x="6542768" y="4535714"/>
            <a:ext cx="1850571" cy="217714"/>
          </a:xfrm>
          <a:prstGeom prst="rect">
            <a:avLst/>
          </a:prstGeom>
          <a:noFill/>
          <a:ln/>
        </p:spPr>
        <p:txBody>
          <a:bodyPr wrap="square" lIns="0" tIns="0" rIns="0" bIns="0" rtlCol="0" anchor="ctr"/>
          <a:lstStyle/>
          <a:p>
            <a:pPr>
              <a:lnSpc>
                <a:spcPct val="120000"/>
              </a:lnSpc>
            </a:pPr>
            <a:r>
              <a:rPr lang="en-US" sz="1143" dirty="0">
                <a:solidFill>
                  <a:srgbClr val="F5F5F7"/>
                </a:solidFill>
                <a:latin typeface="Quattrocento Sans" pitchFamily="34" charset="0"/>
                <a:ea typeface="Quattrocento Sans" pitchFamily="34" charset="-122"/>
                <a:cs typeface="Quattrocento Sans" pitchFamily="34" charset="-120"/>
              </a:rPr>
              <a:t>Learn </a:t>
            </a:r>
            <a:pPr>
              <a:lnSpc>
                <a:spcPct val="120000"/>
              </a:lnSpc>
            </a:pPr>
            <a:r>
              <a:rPr lang="en-US" sz="1143" b="1" dirty="0">
                <a:solidFill>
                  <a:srgbClr val="34C759"/>
                </a:solidFill>
                <a:latin typeface="Quattrocento Sans" pitchFamily="34" charset="0"/>
                <a:ea typeface="Quattrocento Sans" pitchFamily="34" charset="-122"/>
                <a:cs typeface="Quattrocento Sans" pitchFamily="34" charset="-120"/>
              </a:rPr>
              <a:t>basic coding concepts</a:t>
            </a:r>
            <a:endParaRPr lang="en-US" sz="1600" dirty="0"/>
          </a:p>
        </p:txBody>
      </p:sp>
      <p:sp>
        <p:nvSpPr>
          <p:cNvPr id="48" name="Text 46"/>
          <p:cNvSpPr/>
          <p:nvPr/>
        </p:nvSpPr>
        <p:spPr>
          <a:xfrm>
            <a:off x="6422571" y="4826000"/>
            <a:ext cx="117929" cy="217714"/>
          </a:xfrm>
          <a:prstGeom prst="rect">
            <a:avLst/>
          </a:prstGeom>
          <a:noFill/>
          <a:ln/>
        </p:spPr>
        <p:txBody>
          <a:bodyPr wrap="square" lIns="0" tIns="0" rIns="0" bIns="0" rtlCol="0" anchor="ctr"/>
          <a:lstStyle/>
          <a:p>
            <a:pPr>
              <a:lnSpc>
                <a:spcPct val="120000"/>
              </a:lnSpc>
            </a:pPr>
            <a:r>
              <a:rPr lang="en-US" sz="114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9" name="Text 47"/>
          <p:cNvSpPr/>
          <p:nvPr/>
        </p:nvSpPr>
        <p:spPr>
          <a:xfrm>
            <a:off x="6542768" y="4826000"/>
            <a:ext cx="1678214" cy="217714"/>
          </a:xfrm>
          <a:prstGeom prst="rect">
            <a:avLst/>
          </a:prstGeom>
          <a:noFill/>
          <a:ln/>
        </p:spPr>
        <p:txBody>
          <a:bodyPr wrap="square" lIns="0" tIns="0" rIns="0" bIns="0" rtlCol="0" anchor="ctr"/>
          <a:lstStyle/>
          <a:p>
            <a:pPr>
              <a:lnSpc>
                <a:spcPct val="120000"/>
              </a:lnSpc>
            </a:pPr>
            <a:r>
              <a:rPr lang="en-US" sz="1143" dirty="0">
                <a:solidFill>
                  <a:srgbClr val="F5F5F7"/>
                </a:solidFill>
                <a:latin typeface="Quattrocento Sans" pitchFamily="34" charset="0"/>
                <a:ea typeface="Quattrocento Sans" pitchFamily="34" charset="-122"/>
                <a:cs typeface="Quattrocento Sans" pitchFamily="34" charset="-120"/>
              </a:rPr>
              <a:t>Understand </a:t>
            </a:r>
            <a:pPr>
              <a:lnSpc>
                <a:spcPct val="120000"/>
              </a:lnSpc>
            </a:pPr>
            <a:r>
              <a:rPr lang="en-US" sz="1143" b="1" dirty="0">
                <a:solidFill>
                  <a:srgbClr val="34C759"/>
                </a:solidFill>
                <a:latin typeface="Quattrocento Sans" pitchFamily="34" charset="0"/>
                <a:ea typeface="Quattrocento Sans" pitchFamily="34" charset="-122"/>
                <a:cs typeface="Quattrocento Sans" pitchFamily="34" charset="-120"/>
              </a:rPr>
              <a:t>app structure</a:t>
            </a:r>
            <a:endParaRPr lang="en-US" sz="1600" dirty="0"/>
          </a:p>
        </p:txBody>
      </p:sp>
      <p:sp>
        <p:nvSpPr>
          <p:cNvPr id="50" name="Shape 48"/>
          <p:cNvSpPr/>
          <p:nvPr/>
        </p:nvSpPr>
        <p:spPr>
          <a:xfrm>
            <a:off x="366486" y="5410200"/>
            <a:ext cx="5649686" cy="1440543"/>
          </a:xfrm>
          <a:prstGeom prst="roundRect">
            <a:avLst>
              <a:gd name="adj" fmla="val 10076"/>
            </a:avLst>
          </a:prstGeom>
          <a:solidFill>
            <a:srgbClr val="0A84FF">
              <a:alpha val="10196"/>
            </a:srgbClr>
          </a:solidFill>
          <a:ln w="10160">
            <a:solidFill>
              <a:srgbClr val="0A84FF">
                <a:alpha val="30196"/>
              </a:srgbClr>
            </a:solidFill>
            <a:prstDash val="solid"/>
          </a:ln>
        </p:spPr>
      </p:sp>
      <p:sp>
        <p:nvSpPr>
          <p:cNvPr id="51" name="Shape 49"/>
          <p:cNvSpPr/>
          <p:nvPr/>
        </p:nvSpPr>
        <p:spPr>
          <a:xfrm>
            <a:off x="574221" y="5640617"/>
            <a:ext cx="163286" cy="163286"/>
          </a:xfrm>
          <a:custGeom>
            <a:avLst/>
            <a:gdLst/>
            <a:ahLst/>
            <a:cxnLst/>
            <a:rect l="l" t="t" r="r" b="b"/>
            <a:pathLst>
              <a:path w="163286" h="163286">
                <a:moveTo>
                  <a:pt x="81643" y="153080"/>
                </a:moveTo>
                <a:cubicBezTo>
                  <a:pt x="126738" y="153080"/>
                  <a:pt x="163286" y="118797"/>
                  <a:pt x="163286" y="76540"/>
                </a:cubicBezTo>
                <a:cubicBezTo>
                  <a:pt x="163286" y="34284"/>
                  <a:pt x="126738" y="0"/>
                  <a:pt x="81643" y="0"/>
                </a:cubicBezTo>
                <a:cubicBezTo>
                  <a:pt x="36548" y="0"/>
                  <a:pt x="0" y="34284"/>
                  <a:pt x="0" y="76540"/>
                </a:cubicBezTo>
                <a:cubicBezTo>
                  <a:pt x="0" y="93857"/>
                  <a:pt x="6123" y="109803"/>
                  <a:pt x="16456" y="122624"/>
                </a:cubicBezTo>
                <a:lnTo>
                  <a:pt x="893" y="152060"/>
                </a:lnTo>
                <a:cubicBezTo>
                  <a:pt x="-638" y="154930"/>
                  <a:pt x="-159" y="158438"/>
                  <a:pt x="2041" y="160830"/>
                </a:cubicBezTo>
                <a:cubicBezTo>
                  <a:pt x="4242" y="163222"/>
                  <a:pt x="7718" y="163955"/>
                  <a:pt x="10684" y="162680"/>
                </a:cubicBezTo>
                <a:lnTo>
                  <a:pt x="48444" y="146511"/>
                </a:lnTo>
                <a:cubicBezTo>
                  <a:pt x="58585" y="150720"/>
                  <a:pt x="69811" y="153080"/>
                  <a:pt x="81643" y="153080"/>
                </a:cubicBezTo>
                <a:close/>
                <a:moveTo>
                  <a:pt x="40821" y="66335"/>
                </a:moveTo>
                <a:cubicBezTo>
                  <a:pt x="46454" y="66335"/>
                  <a:pt x="51027" y="70908"/>
                  <a:pt x="51027" y="76540"/>
                </a:cubicBezTo>
                <a:cubicBezTo>
                  <a:pt x="51027" y="82173"/>
                  <a:pt x="46454" y="86746"/>
                  <a:pt x="40821" y="86746"/>
                </a:cubicBezTo>
                <a:cubicBezTo>
                  <a:pt x="35189" y="86746"/>
                  <a:pt x="30616" y="82173"/>
                  <a:pt x="30616" y="76540"/>
                </a:cubicBezTo>
                <a:cubicBezTo>
                  <a:pt x="30616" y="70908"/>
                  <a:pt x="35189" y="66335"/>
                  <a:pt x="40821" y="66335"/>
                </a:cubicBezTo>
                <a:close/>
                <a:moveTo>
                  <a:pt x="81643" y="66335"/>
                </a:moveTo>
                <a:cubicBezTo>
                  <a:pt x="87275" y="66335"/>
                  <a:pt x="91848" y="70908"/>
                  <a:pt x="91848" y="76540"/>
                </a:cubicBezTo>
                <a:cubicBezTo>
                  <a:pt x="91848" y="82173"/>
                  <a:pt x="87275" y="86746"/>
                  <a:pt x="81643" y="86746"/>
                </a:cubicBezTo>
                <a:cubicBezTo>
                  <a:pt x="76010" y="86746"/>
                  <a:pt x="71438" y="82173"/>
                  <a:pt x="71438" y="76540"/>
                </a:cubicBezTo>
                <a:cubicBezTo>
                  <a:pt x="71438" y="70908"/>
                  <a:pt x="76010" y="66335"/>
                  <a:pt x="81643" y="66335"/>
                </a:cubicBezTo>
                <a:close/>
                <a:moveTo>
                  <a:pt x="112259" y="76540"/>
                </a:moveTo>
                <a:cubicBezTo>
                  <a:pt x="112259" y="70908"/>
                  <a:pt x="116832" y="66335"/>
                  <a:pt x="122464" y="66335"/>
                </a:cubicBezTo>
                <a:cubicBezTo>
                  <a:pt x="128097" y="66335"/>
                  <a:pt x="132670" y="70908"/>
                  <a:pt x="132670" y="76540"/>
                </a:cubicBezTo>
                <a:cubicBezTo>
                  <a:pt x="132670" y="82173"/>
                  <a:pt x="128097" y="86746"/>
                  <a:pt x="122464" y="86746"/>
                </a:cubicBezTo>
                <a:cubicBezTo>
                  <a:pt x="116832" y="86746"/>
                  <a:pt x="112259" y="82173"/>
                  <a:pt x="112259" y="76540"/>
                </a:cubicBezTo>
                <a:close/>
              </a:path>
            </a:pathLst>
          </a:custGeom>
          <a:solidFill>
            <a:srgbClr val="0A84FF"/>
          </a:solidFill>
          <a:ln/>
        </p:spPr>
      </p:sp>
      <p:sp>
        <p:nvSpPr>
          <p:cNvPr id="52" name="Text 50"/>
          <p:cNvSpPr/>
          <p:nvPr/>
        </p:nvSpPr>
        <p:spPr>
          <a:xfrm>
            <a:off x="760186" y="5595260"/>
            <a:ext cx="5152571" cy="254000"/>
          </a:xfrm>
          <a:prstGeom prst="rect">
            <a:avLst/>
          </a:prstGeom>
          <a:noFill/>
          <a:ln/>
        </p:spPr>
        <p:txBody>
          <a:bodyPr wrap="square" lIns="0" tIns="0" rIns="0" bIns="0" rtlCol="0" anchor="ctr"/>
          <a:lstStyle/>
          <a:p>
            <a:pPr>
              <a:lnSpc>
                <a:spcPct val="130000"/>
              </a:lnSpc>
            </a:pPr>
            <a:r>
              <a:rPr lang="en-US" sz="1286"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53" name="Text 51"/>
          <p:cNvSpPr/>
          <p:nvPr/>
        </p:nvSpPr>
        <p:spPr>
          <a:xfrm>
            <a:off x="551543" y="5958117"/>
            <a:ext cx="5352143" cy="707571"/>
          </a:xfrm>
          <a:prstGeom prst="rect">
            <a:avLst/>
          </a:prstGeom>
          <a:noFill/>
          <a:ln/>
        </p:spPr>
        <p:txBody>
          <a:bodyPr wrap="square" lIns="0" tIns="0" rIns="0" bIns="0" rtlCol="0" anchor="ctr"/>
          <a:lstStyle/>
          <a:p>
            <a:pPr>
              <a:lnSpc>
                <a:spcPct val="140000"/>
              </a:lnSpc>
            </a:pPr>
            <a:r>
              <a:rPr lang="en-US" sz="1143" dirty="0">
                <a:solidFill>
                  <a:srgbClr val="F5F5F7"/>
                </a:solidFill>
                <a:latin typeface="Quattrocento Sans" pitchFamily="34" charset="0"/>
                <a:ea typeface="Quattrocento Sans" pitchFamily="34" charset="-122"/>
                <a:cs typeface="Quattrocento Sans" pitchFamily="34" charset="-120"/>
              </a:rPr>
              <a:t>This course is your </a:t>
            </a:r>
            <a:pPr>
              <a:lnSpc>
                <a:spcPct val="140000"/>
              </a:lnSpc>
            </a:pPr>
            <a:r>
              <a:rPr lang="en-US" sz="1143" b="1" dirty="0">
                <a:solidFill>
                  <a:srgbClr val="34C759"/>
                </a:solidFill>
                <a:latin typeface="Quattrocento Sans" pitchFamily="34" charset="0"/>
                <a:ea typeface="Quattrocento Sans" pitchFamily="34" charset="-122"/>
                <a:cs typeface="Quattrocento Sans" pitchFamily="34" charset="-120"/>
              </a:rPr>
              <a:t>roadmap from complete beginner to app builder</a:t>
            </a:r>
            <a:pPr>
              <a:lnSpc>
                <a:spcPct val="140000"/>
              </a:lnSpc>
            </a:pPr>
            <a:r>
              <a:rPr lang="en-US" sz="1143" dirty="0">
                <a:solidFill>
                  <a:srgbClr val="F5F5F7"/>
                </a:solidFill>
                <a:latin typeface="Quattrocento Sans" pitchFamily="34" charset="0"/>
                <a:ea typeface="Quattrocento Sans" pitchFamily="34" charset="-122"/>
                <a:cs typeface="Quattrocento Sans" pitchFamily="34" charset="-120"/>
              </a:rPr>
              <a:t>. Just like learning to drive starts with understanding the car, we'll start with the basics and gradually build your skills.</a:t>
            </a:r>
            <a:endParaRPr lang="en-US" sz="1600" dirty="0"/>
          </a:p>
        </p:txBody>
      </p:sp>
      <p:sp>
        <p:nvSpPr>
          <p:cNvPr id="54" name="Shape 52"/>
          <p:cNvSpPr/>
          <p:nvPr/>
        </p:nvSpPr>
        <p:spPr>
          <a:xfrm>
            <a:off x="6168571" y="5406571"/>
            <a:ext cx="5660571" cy="1451429"/>
          </a:xfrm>
          <a:prstGeom prst="roundRect">
            <a:avLst>
              <a:gd name="adj" fmla="val 10000"/>
            </a:avLst>
          </a:prstGeom>
          <a:solidFill>
            <a:srgbClr val="2C2C2E"/>
          </a:solidFill>
          <a:ln/>
        </p:spPr>
      </p:sp>
      <p:sp>
        <p:nvSpPr>
          <p:cNvPr id="55" name="Shape 53"/>
          <p:cNvSpPr/>
          <p:nvPr/>
        </p:nvSpPr>
        <p:spPr>
          <a:xfrm>
            <a:off x="6362473" y="5633357"/>
            <a:ext cx="183696" cy="163286"/>
          </a:xfrm>
          <a:custGeom>
            <a:avLst/>
            <a:gdLst/>
            <a:ahLst/>
            <a:cxnLst/>
            <a:rect l="l" t="t" r="r" b="b"/>
            <a:pathLst>
              <a:path w="183696" h="163286">
                <a:moveTo>
                  <a:pt x="15308" y="62444"/>
                </a:moveTo>
                <a:lnTo>
                  <a:pt x="82026" y="89903"/>
                </a:lnTo>
                <a:cubicBezTo>
                  <a:pt x="85151" y="91178"/>
                  <a:pt x="88468" y="91848"/>
                  <a:pt x="91848" y="91848"/>
                </a:cubicBezTo>
                <a:cubicBezTo>
                  <a:pt x="95229" y="91848"/>
                  <a:pt x="98545" y="91178"/>
                  <a:pt x="101671" y="89903"/>
                </a:cubicBezTo>
                <a:lnTo>
                  <a:pt x="178976" y="58075"/>
                </a:lnTo>
                <a:cubicBezTo>
                  <a:pt x="181847" y="56895"/>
                  <a:pt x="183696" y="54120"/>
                  <a:pt x="183696" y="51027"/>
                </a:cubicBezTo>
                <a:cubicBezTo>
                  <a:pt x="183696" y="47933"/>
                  <a:pt x="181847" y="45159"/>
                  <a:pt x="178976" y="43979"/>
                </a:cubicBezTo>
                <a:lnTo>
                  <a:pt x="101671" y="12151"/>
                </a:lnTo>
                <a:cubicBezTo>
                  <a:pt x="98545" y="10875"/>
                  <a:pt x="95229" y="10205"/>
                  <a:pt x="91848" y="10205"/>
                </a:cubicBezTo>
                <a:cubicBezTo>
                  <a:pt x="88468" y="10205"/>
                  <a:pt x="85151" y="10875"/>
                  <a:pt x="82026" y="12151"/>
                </a:cubicBezTo>
                <a:lnTo>
                  <a:pt x="4720" y="43979"/>
                </a:lnTo>
                <a:cubicBezTo>
                  <a:pt x="1850" y="45159"/>
                  <a:pt x="0" y="47933"/>
                  <a:pt x="0" y="51027"/>
                </a:cubicBezTo>
                <a:lnTo>
                  <a:pt x="0" y="145426"/>
                </a:lnTo>
                <a:cubicBezTo>
                  <a:pt x="0" y="149668"/>
                  <a:pt x="3412" y="153080"/>
                  <a:pt x="7654" y="153080"/>
                </a:cubicBezTo>
                <a:cubicBezTo>
                  <a:pt x="11896" y="153080"/>
                  <a:pt x="15308" y="149668"/>
                  <a:pt x="15308" y="145426"/>
                </a:cubicBezTo>
                <a:lnTo>
                  <a:pt x="15308" y="62444"/>
                </a:lnTo>
                <a:close/>
                <a:moveTo>
                  <a:pt x="30616" y="85310"/>
                </a:moveTo>
                <a:lnTo>
                  <a:pt x="30616" y="122464"/>
                </a:lnTo>
                <a:cubicBezTo>
                  <a:pt x="30616" y="139367"/>
                  <a:pt x="58043" y="153080"/>
                  <a:pt x="91848" y="153080"/>
                </a:cubicBezTo>
                <a:cubicBezTo>
                  <a:pt x="125653" y="153080"/>
                  <a:pt x="153080" y="139367"/>
                  <a:pt x="153080" y="122464"/>
                </a:cubicBezTo>
                <a:lnTo>
                  <a:pt x="153080" y="85279"/>
                </a:lnTo>
                <a:lnTo>
                  <a:pt x="107507" y="104063"/>
                </a:lnTo>
                <a:cubicBezTo>
                  <a:pt x="102532" y="106104"/>
                  <a:pt x="97238" y="107156"/>
                  <a:pt x="91848" y="107156"/>
                </a:cubicBezTo>
                <a:cubicBezTo>
                  <a:pt x="86459" y="107156"/>
                  <a:pt x="81164" y="106104"/>
                  <a:pt x="76189" y="104063"/>
                </a:cubicBezTo>
                <a:lnTo>
                  <a:pt x="30616" y="85279"/>
                </a:lnTo>
                <a:close/>
              </a:path>
            </a:pathLst>
          </a:custGeom>
          <a:solidFill>
            <a:srgbClr val="34C759"/>
          </a:solidFill>
          <a:ln/>
        </p:spPr>
      </p:sp>
      <p:sp>
        <p:nvSpPr>
          <p:cNvPr id="56" name="Text 54"/>
          <p:cNvSpPr/>
          <p:nvPr/>
        </p:nvSpPr>
        <p:spPr>
          <a:xfrm>
            <a:off x="6558643" y="5588000"/>
            <a:ext cx="5170714" cy="254000"/>
          </a:xfrm>
          <a:prstGeom prst="rect">
            <a:avLst/>
          </a:prstGeom>
          <a:noFill/>
          <a:ln/>
        </p:spPr>
        <p:txBody>
          <a:bodyPr wrap="square" lIns="0" tIns="0" rIns="0" bIns="0" rtlCol="0" anchor="ctr"/>
          <a:lstStyle/>
          <a:p>
            <a:pPr>
              <a:lnSpc>
                <a:spcPct val="130000"/>
              </a:lnSpc>
            </a:pPr>
            <a:r>
              <a:rPr lang="en-US" sz="1286" b="1" dirty="0">
                <a:solidFill>
                  <a:srgbClr val="34C759"/>
                </a:solidFill>
                <a:latin typeface="Liter" pitchFamily="34" charset="0"/>
                <a:ea typeface="Liter" pitchFamily="34" charset="-122"/>
                <a:cs typeface="Liter" pitchFamily="34" charset="-120"/>
              </a:rPr>
              <a:t>Learning Journey</a:t>
            </a:r>
            <a:endParaRPr lang="en-US" sz="1600" dirty="0"/>
          </a:p>
        </p:txBody>
      </p:sp>
      <p:sp>
        <p:nvSpPr>
          <p:cNvPr id="57" name="Shape 55"/>
          <p:cNvSpPr/>
          <p:nvPr/>
        </p:nvSpPr>
        <p:spPr>
          <a:xfrm>
            <a:off x="6924448" y="5950857"/>
            <a:ext cx="435429" cy="435429"/>
          </a:xfrm>
          <a:prstGeom prst="roundRect">
            <a:avLst>
              <a:gd name="adj" fmla="val 50000"/>
            </a:avLst>
          </a:prstGeom>
          <a:solidFill>
            <a:srgbClr val="34C759"/>
          </a:solidFill>
          <a:ln/>
        </p:spPr>
      </p:sp>
      <p:sp>
        <p:nvSpPr>
          <p:cNvPr id="58" name="Shape 56"/>
          <p:cNvSpPr/>
          <p:nvPr/>
        </p:nvSpPr>
        <p:spPr>
          <a:xfrm>
            <a:off x="7051448" y="6077857"/>
            <a:ext cx="181429" cy="181429"/>
          </a:xfrm>
          <a:custGeom>
            <a:avLst/>
            <a:gdLst/>
            <a:ahLst/>
            <a:cxnLst/>
            <a:rect l="l" t="t" r="r" b="b"/>
            <a:pathLst>
              <a:path w="181429" h="181429">
                <a:moveTo>
                  <a:pt x="181429" y="11339"/>
                </a:moveTo>
                <a:cubicBezTo>
                  <a:pt x="181429" y="49645"/>
                  <a:pt x="154285" y="81607"/>
                  <a:pt x="118212" y="89084"/>
                </a:cubicBezTo>
                <a:cubicBezTo>
                  <a:pt x="115413" y="68496"/>
                  <a:pt x="106164" y="49964"/>
                  <a:pt x="92521" y="35612"/>
                </a:cubicBezTo>
                <a:cubicBezTo>
                  <a:pt x="106731" y="14174"/>
                  <a:pt x="131075" y="0"/>
                  <a:pt x="158750" y="0"/>
                </a:cubicBezTo>
                <a:lnTo>
                  <a:pt x="170089" y="0"/>
                </a:lnTo>
                <a:cubicBezTo>
                  <a:pt x="176361" y="0"/>
                  <a:pt x="181429" y="5067"/>
                  <a:pt x="181429" y="11339"/>
                </a:cubicBezTo>
                <a:close/>
                <a:moveTo>
                  <a:pt x="0" y="34018"/>
                </a:moveTo>
                <a:cubicBezTo>
                  <a:pt x="0" y="27746"/>
                  <a:pt x="5067" y="22679"/>
                  <a:pt x="11339" y="22679"/>
                </a:cubicBezTo>
                <a:lnTo>
                  <a:pt x="22679" y="22679"/>
                </a:lnTo>
                <a:cubicBezTo>
                  <a:pt x="66512" y="22679"/>
                  <a:pt x="102054" y="58220"/>
                  <a:pt x="102054" y="102054"/>
                </a:cubicBezTo>
                <a:lnTo>
                  <a:pt x="102054" y="170089"/>
                </a:lnTo>
                <a:cubicBezTo>
                  <a:pt x="102054" y="176361"/>
                  <a:pt x="96986" y="181429"/>
                  <a:pt x="90714" y="181429"/>
                </a:cubicBezTo>
                <a:cubicBezTo>
                  <a:pt x="84442" y="181429"/>
                  <a:pt x="79375" y="176361"/>
                  <a:pt x="79375" y="170089"/>
                </a:cubicBezTo>
                <a:lnTo>
                  <a:pt x="79375" y="113393"/>
                </a:lnTo>
                <a:cubicBezTo>
                  <a:pt x="35542" y="113393"/>
                  <a:pt x="0" y="77851"/>
                  <a:pt x="0" y="34018"/>
                </a:cubicBezTo>
                <a:close/>
              </a:path>
            </a:pathLst>
          </a:custGeom>
          <a:solidFill>
            <a:srgbClr val="1D1D1F"/>
          </a:solidFill>
          <a:ln/>
        </p:spPr>
      </p:sp>
      <p:sp>
        <p:nvSpPr>
          <p:cNvPr id="59" name="Text 57"/>
          <p:cNvSpPr/>
          <p:nvPr/>
        </p:nvSpPr>
        <p:spPr>
          <a:xfrm>
            <a:off x="6313714" y="6458857"/>
            <a:ext cx="1660071" cy="217714"/>
          </a:xfrm>
          <a:prstGeom prst="rect">
            <a:avLst/>
          </a:prstGeom>
          <a:noFill/>
          <a:ln/>
        </p:spPr>
        <p:txBody>
          <a:bodyPr wrap="square" lIns="0" tIns="0" rIns="0" bIns="0" rtlCol="0" anchor="ctr"/>
          <a:lstStyle/>
          <a:p>
            <a:pPr algn="ctr">
              <a:lnSpc>
                <a:spcPct val="120000"/>
              </a:lnSpc>
            </a:pPr>
            <a:r>
              <a:rPr lang="en-US" sz="1143" b="1" dirty="0">
                <a:solidFill>
                  <a:srgbClr val="F5F5F7"/>
                </a:solidFill>
                <a:latin typeface="Quattrocento Sans" pitchFamily="34" charset="0"/>
                <a:ea typeface="Quattrocento Sans" pitchFamily="34" charset="-122"/>
                <a:cs typeface="Quattrocento Sans" pitchFamily="34" charset="-120"/>
              </a:rPr>
              <a:t>Beginner</a:t>
            </a:r>
            <a:endParaRPr lang="en-US" sz="1600" dirty="0"/>
          </a:p>
        </p:txBody>
      </p:sp>
      <p:sp>
        <p:nvSpPr>
          <p:cNvPr id="60" name="Shape 58"/>
          <p:cNvSpPr/>
          <p:nvPr/>
        </p:nvSpPr>
        <p:spPr>
          <a:xfrm>
            <a:off x="7961653" y="6190342"/>
            <a:ext cx="217714" cy="217714"/>
          </a:xfrm>
          <a:custGeom>
            <a:avLst/>
            <a:gdLst/>
            <a:ahLst/>
            <a:cxnLst/>
            <a:rect l="l" t="t" r="r" b="b"/>
            <a:pathLst>
              <a:path w="217714" h="217714">
                <a:moveTo>
                  <a:pt x="213717" y="118467"/>
                </a:moveTo>
                <a:cubicBezTo>
                  <a:pt x="219032" y="113152"/>
                  <a:pt x="219032" y="104520"/>
                  <a:pt x="213717" y="99205"/>
                </a:cubicBezTo>
                <a:lnTo>
                  <a:pt x="145681" y="31169"/>
                </a:lnTo>
                <a:cubicBezTo>
                  <a:pt x="140366" y="25854"/>
                  <a:pt x="131734" y="25854"/>
                  <a:pt x="126419" y="31169"/>
                </a:cubicBezTo>
                <a:cubicBezTo>
                  <a:pt x="121104" y="36484"/>
                  <a:pt x="121104" y="45116"/>
                  <a:pt x="126419" y="50431"/>
                </a:cubicBezTo>
                <a:lnTo>
                  <a:pt x="171237" y="95250"/>
                </a:lnTo>
                <a:lnTo>
                  <a:pt x="13607" y="95250"/>
                </a:lnTo>
                <a:cubicBezTo>
                  <a:pt x="6081" y="95250"/>
                  <a:pt x="0" y="101331"/>
                  <a:pt x="0" y="108857"/>
                </a:cubicBezTo>
                <a:cubicBezTo>
                  <a:pt x="0" y="116384"/>
                  <a:pt x="6081" y="122464"/>
                  <a:pt x="13607" y="122464"/>
                </a:cubicBezTo>
                <a:lnTo>
                  <a:pt x="171237" y="122464"/>
                </a:lnTo>
                <a:lnTo>
                  <a:pt x="126419" y="167283"/>
                </a:lnTo>
                <a:cubicBezTo>
                  <a:pt x="121104" y="172598"/>
                  <a:pt x="121104" y="181230"/>
                  <a:pt x="126419" y="186545"/>
                </a:cubicBezTo>
                <a:cubicBezTo>
                  <a:pt x="131734" y="191861"/>
                  <a:pt x="140366" y="191861"/>
                  <a:pt x="145681" y="186545"/>
                </a:cubicBezTo>
                <a:lnTo>
                  <a:pt x="213717" y="118510"/>
                </a:lnTo>
                <a:close/>
              </a:path>
            </a:pathLst>
          </a:custGeom>
          <a:solidFill>
            <a:srgbClr val="34C759"/>
          </a:solidFill>
          <a:ln/>
        </p:spPr>
      </p:sp>
      <p:sp>
        <p:nvSpPr>
          <p:cNvPr id="61" name="Shape 59"/>
          <p:cNvSpPr/>
          <p:nvPr/>
        </p:nvSpPr>
        <p:spPr>
          <a:xfrm>
            <a:off x="8781143" y="5950857"/>
            <a:ext cx="435429" cy="435429"/>
          </a:xfrm>
          <a:prstGeom prst="roundRect">
            <a:avLst>
              <a:gd name="adj" fmla="val 50000"/>
            </a:avLst>
          </a:prstGeom>
          <a:solidFill>
            <a:srgbClr val="0A84FF"/>
          </a:solidFill>
          <a:ln/>
        </p:spPr>
      </p:sp>
      <p:sp>
        <p:nvSpPr>
          <p:cNvPr id="62" name="Shape 60"/>
          <p:cNvSpPr/>
          <p:nvPr/>
        </p:nvSpPr>
        <p:spPr>
          <a:xfrm>
            <a:off x="8896804" y="6077857"/>
            <a:ext cx="204107" cy="181429"/>
          </a:xfrm>
          <a:custGeom>
            <a:avLst/>
            <a:gdLst/>
            <a:ahLst/>
            <a:cxnLst/>
            <a:rect l="l" t="t" r="r" b="b"/>
            <a:pathLst>
              <a:path w="204107" h="181429">
                <a:moveTo>
                  <a:pt x="79410" y="34408"/>
                </a:moveTo>
                <a:lnTo>
                  <a:pt x="79410" y="51984"/>
                </a:lnTo>
                <a:lnTo>
                  <a:pt x="79588" y="52161"/>
                </a:lnTo>
                <a:cubicBezTo>
                  <a:pt x="81891" y="22962"/>
                  <a:pt x="106306" y="0"/>
                  <a:pt x="136107" y="0"/>
                </a:cubicBezTo>
                <a:cubicBezTo>
                  <a:pt x="143229" y="0"/>
                  <a:pt x="150068" y="1311"/>
                  <a:pt x="156340" y="3721"/>
                </a:cubicBezTo>
                <a:cubicBezTo>
                  <a:pt x="159884" y="5067"/>
                  <a:pt x="160522" y="9568"/>
                  <a:pt x="157864" y="12261"/>
                </a:cubicBezTo>
                <a:lnTo>
                  <a:pt x="126433" y="43692"/>
                </a:lnTo>
                <a:cubicBezTo>
                  <a:pt x="125370" y="44755"/>
                  <a:pt x="124768" y="46208"/>
                  <a:pt x="124768" y="47696"/>
                </a:cubicBezTo>
                <a:lnTo>
                  <a:pt x="124768" y="62366"/>
                </a:lnTo>
                <a:cubicBezTo>
                  <a:pt x="124768" y="65484"/>
                  <a:pt x="127319" y="68036"/>
                  <a:pt x="130437" y="68036"/>
                </a:cubicBezTo>
                <a:lnTo>
                  <a:pt x="145107" y="68036"/>
                </a:lnTo>
                <a:cubicBezTo>
                  <a:pt x="146596" y="68036"/>
                  <a:pt x="148049" y="67433"/>
                  <a:pt x="149112" y="66370"/>
                </a:cubicBezTo>
                <a:lnTo>
                  <a:pt x="180543" y="34939"/>
                </a:lnTo>
                <a:cubicBezTo>
                  <a:pt x="183236" y="32246"/>
                  <a:pt x="187736" y="32919"/>
                  <a:pt x="189083" y="36463"/>
                </a:cubicBezTo>
                <a:cubicBezTo>
                  <a:pt x="191492" y="42735"/>
                  <a:pt x="192803" y="49574"/>
                  <a:pt x="192803" y="56696"/>
                </a:cubicBezTo>
                <a:cubicBezTo>
                  <a:pt x="192803" y="78170"/>
                  <a:pt x="180862" y="96880"/>
                  <a:pt x="163215" y="106483"/>
                </a:cubicBezTo>
                <a:lnTo>
                  <a:pt x="192095" y="135363"/>
                </a:lnTo>
                <a:cubicBezTo>
                  <a:pt x="198721" y="141989"/>
                  <a:pt x="198721" y="152761"/>
                  <a:pt x="192095" y="159423"/>
                </a:cubicBezTo>
                <a:lnTo>
                  <a:pt x="170798" y="180720"/>
                </a:lnTo>
                <a:cubicBezTo>
                  <a:pt x="164172" y="187346"/>
                  <a:pt x="153399" y="187346"/>
                  <a:pt x="146737" y="180720"/>
                </a:cubicBezTo>
                <a:lnTo>
                  <a:pt x="102089" y="136071"/>
                </a:lnTo>
                <a:cubicBezTo>
                  <a:pt x="92380" y="126362"/>
                  <a:pt x="90183" y="112011"/>
                  <a:pt x="95533" y="100176"/>
                </a:cubicBezTo>
                <a:lnTo>
                  <a:pt x="63394" y="68036"/>
                </a:lnTo>
                <a:lnTo>
                  <a:pt x="45818" y="68036"/>
                </a:lnTo>
                <a:cubicBezTo>
                  <a:pt x="42026" y="68036"/>
                  <a:pt x="38483" y="66158"/>
                  <a:pt x="36392" y="63004"/>
                </a:cubicBezTo>
                <a:lnTo>
                  <a:pt x="8292" y="20871"/>
                </a:lnTo>
                <a:cubicBezTo>
                  <a:pt x="6804" y="18639"/>
                  <a:pt x="7087" y="15627"/>
                  <a:pt x="9001" y="13713"/>
                </a:cubicBezTo>
                <a:lnTo>
                  <a:pt x="25088" y="-2374"/>
                </a:lnTo>
                <a:cubicBezTo>
                  <a:pt x="27002" y="-4288"/>
                  <a:pt x="29978" y="-4571"/>
                  <a:pt x="32246" y="-3083"/>
                </a:cubicBezTo>
                <a:lnTo>
                  <a:pt x="74379" y="24982"/>
                </a:lnTo>
                <a:cubicBezTo>
                  <a:pt x="77532" y="27073"/>
                  <a:pt x="79410" y="30616"/>
                  <a:pt x="79410" y="34408"/>
                </a:cubicBezTo>
                <a:close/>
                <a:moveTo>
                  <a:pt x="76398" y="105101"/>
                </a:moveTo>
                <a:cubicBezTo>
                  <a:pt x="74166" y="118212"/>
                  <a:pt x="77249" y="132067"/>
                  <a:pt x="85753" y="143158"/>
                </a:cubicBezTo>
                <a:lnTo>
                  <a:pt x="52090" y="176787"/>
                </a:lnTo>
                <a:cubicBezTo>
                  <a:pt x="42133" y="186744"/>
                  <a:pt x="25974" y="186744"/>
                  <a:pt x="16017" y="176787"/>
                </a:cubicBezTo>
                <a:cubicBezTo>
                  <a:pt x="6059" y="166829"/>
                  <a:pt x="6059" y="150671"/>
                  <a:pt x="16017" y="140713"/>
                </a:cubicBezTo>
                <a:lnTo>
                  <a:pt x="63996" y="92734"/>
                </a:lnTo>
                <a:lnTo>
                  <a:pt x="76398" y="105136"/>
                </a:lnTo>
                <a:close/>
              </a:path>
            </a:pathLst>
          </a:custGeom>
          <a:solidFill>
            <a:srgbClr val="FFFFFF"/>
          </a:solidFill>
          <a:ln/>
        </p:spPr>
      </p:sp>
      <p:sp>
        <p:nvSpPr>
          <p:cNvPr id="63" name="Text 61"/>
          <p:cNvSpPr/>
          <p:nvPr/>
        </p:nvSpPr>
        <p:spPr>
          <a:xfrm>
            <a:off x="8170296" y="6458857"/>
            <a:ext cx="1660071" cy="217714"/>
          </a:xfrm>
          <a:prstGeom prst="rect">
            <a:avLst/>
          </a:prstGeom>
          <a:noFill/>
          <a:ln/>
        </p:spPr>
        <p:txBody>
          <a:bodyPr wrap="square" lIns="0" tIns="0" rIns="0" bIns="0" rtlCol="0" anchor="ctr"/>
          <a:lstStyle/>
          <a:p>
            <a:pPr algn="ctr">
              <a:lnSpc>
                <a:spcPct val="120000"/>
              </a:lnSpc>
            </a:pPr>
            <a:r>
              <a:rPr lang="en-US" sz="1143" b="1" dirty="0">
                <a:solidFill>
                  <a:srgbClr val="F5F5F7"/>
                </a:solidFill>
                <a:latin typeface="Quattrocento Sans" pitchFamily="34" charset="0"/>
                <a:ea typeface="Quattrocento Sans" pitchFamily="34" charset="-122"/>
                <a:cs typeface="Quattrocento Sans" pitchFamily="34" charset="-120"/>
              </a:rPr>
              <a:t>Tools Setup</a:t>
            </a:r>
            <a:endParaRPr lang="en-US" sz="1600" dirty="0"/>
          </a:p>
        </p:txBody>
      </p:sp>
      <p:sp>
        <p:nvSpPr>
          <p:cNvPr id="64" name="Shape 62"/>
          <p:cNvSpPr/>
          <p:nvPr/>
        </p:nvSpPr>
        <p:spPr>
          <a:xfrm>
            <a:off x="9818348" y="6190342"/>
            <a:ext cx="217714" cy="217714"/>
          </a:xfrm>
          <a:custGeom>
            <a:avLst/>
            <a:gdLst/>
            <a:ahLst/>
            <a:cxnLst/>
            <a:rect l="l" t="t" r="r" b="b"/>
            <a:pathLst>
              <a:path w="217714" h="217714">
                <a:moveTo>
                  <a:pt x="213717" y="118467"/>
                </a:moveTo>
                <a:cubicBezTo>
                  <a:pt x="219032" y="113152"/>
                  <a:pt x="219032" y="104520"/>
                  <a:pt x="213717" y="99205"/>
                </a:cubicBezTo>
                <a:lnTo>
                  <a:pt x="145681" y="31169"/>
                </a:lnTo>
                <a:cubicBezTo>
                  <a:pt x="140366" y="25854"/>
                  <a:pt x="131734" y="25854"/>
                  <a:pt x="126419" y="31169"/>
                </a:cubicBezTo>
                <a:cubicBezTo>
                  <a:pt x="121104" y="36484"/>
                  <a:pt x="121104" y="45116"/>
                  <a:pt x="126419" y="50431"/>
                </a:cubicBezTo>
                <a:lnTo>
                  <a:pt x="171237" y="95250"/>
                </a:lnTo>
                <a:lnTo>
                  <a:pt x="13607" y="95250"/>
                </a:lnTo>
                <a:cubicBezTo>
                  <a:pt x="6081" y="95250"/>
                  <a:pt x="0" y="101331"/>
                  <a:pt x="0" y="108857"/>
                </a:cubicBezTo>
                <a:cubicBezTo>
                  <a:pt x="0" y="116384"/>
                  <a:pt x="6081" y="122464"/>
                  <a:pt x="13607" y="122464"/>
                </a:cubicBezTo>
                <a:lnTo>
                  <a:pt x="171237" y="122464"/>
                </a:lnTo>
                <a:lnTo>
                  <a:pt x="126419" y="167283"/>
                </a:lnTo>
                <a:cubicBezTo>
                  <a:pt x="121104" y="172598"/>
                  <a:pt x="121104" y="181230"/>
                  <a:pt x="126419" y="186545"/>
                </a:cubicBezTo>
                <a:cubicBezTo>
                  <a:pt x="131734" y="191861"/>
                  <a:pt x="140366" y="191861"/>
                  <a:pt x="145681" y="186545"/>
                </a:cubicBezTo>
                <a:lnTo>
                  <a:pt x="213717" y="118510"/>
                </a:lnTo>
                <a:close/>
              </a:path>
            </a:pathLst>
          </a:custGeom>
          <a:solidFill>
            <a:srgbClr val="0A84FF"/>
          </a:solidFill>
          <a:ln/>
        </p:spPr>
      </p:sp>
      <p:sp>
        <p:nvSpPr>
          <p:cNvPr id="65" name="Shape 63"/>
          <p:cNvSpPr/>
          <p:nvPr/>
        </p:nvSpPr>
        <p:spPr>
          <a:xfrm>
            <a:off x="10637724" y="5950857"/>
            <a:ext cx="435429" cy="435429"/>
          </a:xfrm>
          <a:prstGeom prst="roundRect">
            <a:avLst>
              <a:gd name="adj" fmla="val 50000"/>
            </a:avLst>
          </a:prstGeom>
          <a:solidFill>
            <a:srgbClr val="8E8E93"/>
          </a:solidFill>
          <a:ln/>
        </p:spPr>
      </p:sp>
      <p:sp>
        <p:nvSpPr>
          <p:cNvPr id="66" name="Shape 64"/>
          <p:cNvSpPr/>
          <p:nvPr/>
        </p:nvSpPr>
        <p:spPr>
          <a:xfrm>
            <a:off x="10764724" y="6077857"/>
            <a:ext cx="181429" cy="181429"/>
          </a:xfrm>
          <a:custGeom>
            <a:avLst/>
            <a:gdLst/>
            <a:ahLst/>
            <a:cxnLst/>
            <a:rect l="l" t="t" r="r" b="b"/>
            <a:pathLst>
              <a:path w="181429" h="181429">
                <a:moveTo>
                  <a:pt x="45357" y="113393"/>
                </a:moveTo>
                <a:lnTo>
                  <a:pt x="8682" y="113393"/>
                </a:lnTo>
                <a:cubicBezTo>
                  <a:pt x="-142" y="113393"/>
                  <a:pt x="-5563" y="103790"/>
                  <a:pt x="-1028" y="96207"/>
                </a:cubicBezTo>
                <a:lnTo>
                  <a:pt x="17718" y="64953"/>
                </a:lnTo>
                <a:cubicBezTo>
                  <a:pt x="20801" y="59815"/>
                  <a:pt x="26328" y="56696"/>
                  <a:pt x="32317" y="56696"/>
                </a:cubicBezTo>
                <a:lnTo>
                  <a:pt x="65980" y="56696"/>
                </a:lnTo>
                <a:cubicBezTo>
                  <a:pt x="92947" y="11020"/>
                  <a:pt x="133166" y="8717"/>
                  <a:pt x="160061" y="12650"/>
                </a:cubicBezTo>
                <a:cubicBezTo>
                  <a:pt x="164597" y="13324"/>
                  <a:pt x="168140" y="16867"/>
                  <a:pt x="168778" y="21367"/>
                </a:cubicBezTo>
                <a:cubicBezTo>
                  <a:pt x="172711" y="48263"/>
                  <a:pt x="170408" y="88482"/>
                  <a:pt x="124732" y="115448"/>
                </a:cubicBezTo>
                <a:lnTo>
                  <a:pt x="124732" y="149112"/>
                </a:lnTo>
                <a:cubicBezTo>
                  <a:pt x="124732" y="155100"/>
                  <a:pt x="121614" y="160628"/>
                  <a:pt x="116476" y="163711"/>
                </a:cubicBezTo>
                <a:lnTo>
                  <a:pt x="85222" y="182456"/>
                </a:lnTo>
                <a:cubicBezTo>
                  <a:pt x="77674" y="186992"/>
                  <a:pt x="68036" y="181535"/>
                  <a:pt x="68036" y="172747"/>
                </a:cubicBezTo>
                <a:lnTo>
                  <a:pt x="68036" y="136071"/>
                </a:lnTo>
                <a:cubicBezTo>
                  <a:pt x="68036" y="123563"/>
                  <a:pt x="57866" y="113393"/>
                  <a:pt x="45357" y="113393"/>
                </a:cubicBezTo>
                <a:lnTo>
                  <a:pt x="45322" y="113393"/>
                </a:lnTo>
                <a:close/>
                <a:moveTo>
                  <a:pt x="141741" y="56696"/>
                </a:moveTo>
                <a:cubicBezTo>
                  <a:pt x="141741" y="47309"/>
                  <a:pt x="134120" y="39688"/>
                  <a:pt x="124732" y="39688"/>
                </a:cubicBezTo>
                <a:cubicBezTo>
                  <a:pt x="115345" y="39688"/>
                  <a:pt x="107723" y="47309"/>
                  <a:pt x="107723" y="56696"/>
                </a:cubicBezTo>
                <a:cubicBezTo>
                  <a:pt x="107723" y="66084"/>
                  <a:pt x="115345" y="73705"/>
                  <a:pt x="124732" y="73705"/>
                </a:cubicBezTo>
                <a:cubicBezTo>
                  <a:pt x="134120" y="73705"/>
                  <a:pt x="141741" y="66084"/>
                  <a:pt x="141741" y="56696"/>
                </a:cubicBezTo>
                <a:close/>
              </a:path>
            </a:pathLst>
          </a:custGeom>
          <a:solidFill>
            <a:srgbClr val="FFFFFF"/>
          </a:solidFill>
          <a:ln/>
        </p:spPr>
      </p:sp>
      <p:sp>
        <p:nvSpPr>
          <p:cNvPr id="67" name="Text 65"/>
          <p:cNvSpPr/>
          <p:nvPr/>
        </p:nvSpPr>
        <p:spPr>
          <a:xfrm>
            <a:off x="10026990" y="6458857"/>
            <a:ext cx="1660071" cy="217714"/>
          </a:xfrm>
          <a:prstGeom prst="rect">
            <a:avLst/>
          </a:prstGeom>
          <a:noFill/>
          <a:ln/>
        </p:spPr>
        <p:txBody>
          <a:bodyPr wrap="square" lIns="0" tIns="0" rIns="0" bIns="0" rtlCol="0" anchor="ctr"/>
          <a:lstStyle/>
          <a:p>
            <a:pPr algn="ctr">
              <a:lnSpc>
                <a:spcPct val="120000"/>
              </a:lnSpc>
            </a:pPr>
            <a:r>
              <a:rPr lang="en-US" sz="1143" b="1" dirty="0">
                <a:solidFill>
                  <a:srgbClr val="F5F5F7"/>
                </a:solidFill>
                <a:latin typeface="Quattrocento Sans" pitchFamily="34" charset="0"/>
                <a:ea typeface="Quattrocento Sans" pitchFamily="34" charset="-122"/>
                <a:cs typeface="Quattrocento Sans" pitchFamily="34" charset="-120"/>
              </a:rPr>
              <a:t>App Builder</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64757" y="419470"/>
            <a:ext cx="437708" cy="437708"/>
          </a:xfrm>
          <a:prstGeom prst="roundRect">
            <a:avLst>
              <a:gd name="adj" fmla="val 25000"/>
            </a:avLst>
          </a:prstGeom>
          <a:solidFill>
            <a:srgbClr val="0A84FF"/>
          </a:solidFill>
          <a:ln/>
        </p:spPr>
      </p:sp>
      <p:sp>
        <p:nvSpPr>
          <p:cNvPr id="3" name="Text 1"/>
          <p:cNvSpPr/>
          <p:nvPr/>
        </p:nvSpPr>
        <p:spPr>
          <a:xfrm>
            <a:off x="457770" y="492422"/>
            <a:ext cx="364757" cy="291806"/>
          </a:xfrm>
          <a:prstGeom prst="rect">
            <a:avLst/>
          </a:prstGeom>
          <a:noFill/>
          <a:ln/>
        </p:spPr>
        <p:txBody>
          <a:bodyPr wrap="square" lIns="0" tIns="0" rIns="0" bIns="0" rtlCol="0" anchor="ctr"/>
          <a:lstStyle/>
          <a:p>
            <a:pPr>
              <a:lnSpc>
                <a:spcPct val="110000"/>
              </a:lnSpc>
            </a:pPr>
            <a:r>
              <a:rPr lang="en-US" sz="1723" b="1" dirty="0">
                <a:solidFill>
                  <a:srgbClr val="F5F5F7"/>
                </a:solidFill>
                <a:latin typeface="Liter" pitchFamily="34" charset="0"/>
                <a:ea typeface="Liter" pitchFamily="34" charset="-122"/>
                <a:cs typeface="Liter" pitchFamily="34" charset="-120"/>
              </a:rPr>
              <a:t>07</a:t>
            </a:r>
            <a:endParaRPr lang="en-US" sz="1600" dirty="0"/>
          </a:p>
        </p:txBody>
      </p:sp>
      <p:sp>
        <p:nvSpPr>
          <p:cNvPr id="4" name="Text 2"/>
          <p:cNvSpPr/>
          <p:nvPr/>
        </p:nvSpPr>
        <p:spPr>
          <a:xfrm>
            <a:off x="911892" y="364757"/>
            <a:ext cx="4878624" cy="182378"/>
          </a:xfrm>
          <a:prstGeom prst="rect">
            <a:avLst/>
          </a:prstGeom>
          <a:noFill/>
          <a:ln/>
        </p:spPr>
        <p:txBody>
          <a:bodyPr wrap="square" lIns="0" tIns="0" rIns="0" bIns="0" rtlCol="0" anchor="ctr"/>
          <a:lstStyle/>
          <a:p>
            <a:pPr>
              <a:lnSpc>
                <a:spcPct val="120000"/>
              </a:lnSpc>
            </a:pPr>
            <a:r>
              <a:rPr lang="en-US" sz="1005" b="1" spc="50" kern="0" dirty="0">
                <a:solidFill>
                  <a:srgbClr val="0A84FF"/>
                </a:solidFill>
                <a:latin typeface="Quattrocento Sans" pitchFamily="34" charset="0"/>
                <a:ea typeface="Quattrocento Sans" pitchFamily="34" charset="-122"/>
                <a:cs typeface="Quattrocento Sans" pitchFamily="34" charset="-120"/>
              </a:rPr>
              <a:t>Course Overview</a:t>
            </a:r>
            <a:endParaRPr lang="en-US" sz="1600" dirty="0"/>
          </a:p>
        </p:txBody>
      </p:sp>
      <p:sp>
        <p:nvSpPr>
          <p:cNvPr id="5" name="Text 3"/>
          <p:cNvSpPr/>
          <p:nvPr/>
        </p:nvSpPr>
        <p:spPr>
          <a:xfrm>
            <a:off x="911892" y="547135"/>
            <a:ext cx="4978932" cy="364757"/>
          </a:xfrm>
          <a:prstGeom prst="rect">
            <a:avLst/>
          </a:prstGeom>
          <a:noFill/>
          <a:ln/>
        </p:spPr>
        <p:txBody>
          <a:bodyPr wrap="square" lIns="0" tIns="0" rIns="0" bIns="0" rtlCol="0" anchor="ctr"/>
          <a:lstStyle/>
          <a:p>
            <a:pPr>
              <a:lnSpc>
                <a:spcPct val="90000"/>
              </a:lnSpc>
            </a:pPr>
            <a:r>
              <a:rPr lang="en-US" sz="2585" b="1" dirty="0">
                <a:solidFill>
                  <a:srgbClr val="F5F5F7"/>
                </a:solidFill>
                <a:latin typeface="Liter" pitchFamily="34" charset="0"/>
                <a:ea typeface="Liter" pitchFamily="34" charset="-122"/>
                <a:cs typeface="Liter" pitchFamily="34" charset="-120"/>
              </a:rPr>
              <a:t>Course Objectives and Outcomes</a:t>
            </a:r>
            <a:endParaRPr lang="en-US" sz="1600" dirty="0"/>
          </a:p>
        </p:txBody>
      </p:sp>
      <p:sp>
        <p:nvSpPr>
          <p:cNvPr id="6" name="Shape 4"/>
          <p:cNvSpPr/>
          <p:nvPr/>
        </p:nvSpPr>
        <p:spPr>
          <a:xfrm>
            <a:off x="382995" y="1203698"/>
            <a:ext cx="5635494" cy="5653732"/>
          </a:xfrm>
          <a:custGeom>
            <a:avLst/>
            <a:gdLst/>
            <a:ahLst/>
            <a:cxnLst/>
            <a:rect l="l" t="t" r="r" b="b"/>
            <a:pathLst>
              <a:path w="5635494" h="5653732">
                <a:moveTo>
                  <a:pt x="36449" y="0"/>
                </a:moveTo>
                <a:lnTo>
                  <a:pt x="5489575" y="0"/>
                </a:lnTo>
                <a:cubicBezTo>
                  <a:pt x="5570166" y="0"/>
                  <a:pt x="5635498" y="65332"/>
                  <a:pt x="5635498" y="145923"/>
                </a:cubicBezTo>
                <a:lnTo>
                  <a:pt x="5635498" y="5507863"/>
                </a:lnTo>
                <a:cubicBezTo>
                  <a:pt x="5635498" y="5588454"/>
                  <a:pt x="5570166" y="5653786"/>
                  <a:pt x="5489575" y="5653786"/>
                </a:cubicBezTo>
                <a:lnTo>
                  <a:pt x="36449" y="5653786"/>
                </a:lnTo>
                <a:cubicBezTo>
                  <a:pt x="26760" y="5653786"/>
                  <a:pt x="17470" y="5649928"/>
                  <a:pt x="10631" y="5643065"/>
                </a:cubicBezTo>
                <a:cubicBezTo>
                  <a:pt x="3791" y="5636202"/>
                  <a:pt x="-34" y="5626899"/>
                  <a:pt x="0" y="5617210"/>
                </a:cubicBezTo>
                <a:lnTo>
                  <a:pt x="0" y="36449"/>
                </a:lnTo>
                <a:cubicBezTo>
                  <a:pt x="0" y="16319"/>
                  <a:pt x="16319" y="0"/>
                  <a:pt x="36449" y="0"/>
                </a:cubicBezTo>
                <a:close/>
              </a:path>
            </a:pathLst>
          </a:custGeom>
          <a:solidFill>
            <a:srgbClr val="2C2C2E"/>
          </a:solidFill>
          <a:ln/>
        </p:spPr>
      </p:sp>
      <p:sp>
        <p:nvSpPr>
          <p:cNvPr id="7" name="Shape 5"/>
          <p:cNvSpPr/>
          <p:nvPr/>
        </p:nvSpPr>
        <p:spPr>
          <a:xfrm>
            <a:off x="382995" y="1203698"/>
            <a:ext cx="36476" cy="5653732"/>
          </a:xfrm>
          <a:custGeom>
            <a:avLst/>
            <a:gdLst/>
            <a:ahLst/>
            <a:cxnLst/>
            <a:rect l="l" t="t" r="r" b="b"/>
            <a:pathLst>
              <a:path w="36476" h="5653732">
                <a:moveTo>
                  <a:pt x="36449" y="0"/>
                </a:moveTo>
                <a:lnTo>
                  <a:pt x="36449" y="0"/>
                </a:lnTo>
                <a:lnTo>
                  <a:pt x="36449" y="5653786"/>
                </a:lnTo>
                <a:lnTo>
                  <a:pt x="36449" y="5653786"/>
                </a:lnTo>
                <a:cubicBezTo>
                  <a:pt x="26760" y="5653786"/>
                  <a:pt x="17470" y="5649928"/>
                  <a:pt x="10631" y="5643065"/>
                </a:cubicBezTo>
                <a:cubicBezTo>
                  <a:pt x="3791" y="5636202"/>
                  <a:pt x="-34" y="5626899"/>
                  <a:pt x="0" y="5617210"/>
                </a:cubicBezTo>
                <a:lnTo>
                  <a:pt x="0" y="36449"/>
                </a:lnTo>
                <a:cubicBezTo>
                  <a:pt x="0" y="16319"/>
                  <a:pt x="16319" y="0"/>
                  <a:pt x="36449" y="0"/>
                </a:cubicBezTo>
                <a:close/>
              </a:path>
            </a:pathLst>
          </a:custGeom>
          <a:solidFill>
            <a:srgbClr val="34C759"/>
          </a:solidFill>
          <a:ln/>
        </p:spPr>
      </p:sp>
      <p:sp>
        <p:nvSpPr>
          <p:cNvPr id="8" name="Shape 6"/>
          <p:cNvSpPr/>
          <p:nvPr/>
        </p:nvSpPr>
        <p:spPr>
          <a:xfrm>
            <a:off x="647444" y="1458916"/>
            <a:ext cx="218854" cy="218854"/>
          </a:xfrm>
          <a:custGeom>
            <a:avLst/>
            <a:gdLst/>
            <a:ahLst/>
            <a:cxnLst/>
            <a:rect l="l" t="t" r="r" b="b"/>
            <a:pathLst>
              <a:path w="218854" h="218854">
                <a:moveTo>
                  <a:pt x="191497" y="109427"/>
                </a:moveTo>
                <a:cubicBezTo>
                  <a:pt x="191497" y="64131"/>
                  <a:pt x="154723" y="27357"/>
                  <a:pt x="109427" y="27357"/>
                </a:cubicBezTo>
                <a:cubicBezTo>
                  <a:pt x="64131" y="27357"/>
                  <a:pt x="27357" y="64131"/>
                  <a:pt x="27357" y="109427"/>
                </a:cubicBezTo>
                <a:cubicBezTo>
                  <a:pt x="27357" y="154723"/>
                  <a:pt x="64131" y="191497"/>
                  <a:pt x="109427" y="191497"/>
                </a:cubicBezTo>
                <a:cubicBezTo>
                  <a:pt x="154723" y="191497"/>
                  <a:pt x="191497" y="154723"/>
                  <a:pt x="191497" y="109427"/>
                </a:cubicBezTo>
                <a:close/>
                <a:moveTo>
                  <a:pt x="0" y="109427"/>
                </a:moveTo>
                <a:cubicBezTo>
                  <a:pt x="0" y="49033"/>
                  <a:pt x="49033" y="0"/>
                  <a:pt x="109427" y="0"/>
                </a:cubicBezTo>
                <a:cubicBezTo>
                  <a:pt x="169822" y="0"/>
                  <a:pt x="218854" y="49033"/>
                  <a:pt x="218854" y="109427"/>
                </a:cubicBezTo>
                <a:cubicBezTo>
                  <a:pt x="218854" y="169822"/>
                  <a:pt x="169822" y="218854"/>
                  <a:pt x="109427" y="218854"/>
                </a:cubicBezTo>
                <a:cubicBezTo>
                  <a:pt x="49033" y="218854"/>
                  <a:pt x="0" y="169822"/>
                  <a:pt x="0" y="109427"/>
                </a:cubicBezTo>
                <a:close/>
                <a:moveTo>
                  <a:pt x="109427" y="143623"/>
                </a:moveTo>
                <a:cubicBezTo>
                  <a:pt x="128300" y="143623"/>
                  <a:pt x="143623" y="128300"/>
                  <a:pt x="143623" y="109427"/>
                </a:cubicBezTo>
                <a:cubicBezTo>
                  <a:pt x="143623" y="90554"/>
                  <a:pt x="128300" y="75231"/>
                  <a:pt x="109427" y="75231"/>
                </a:cubicBezTo>
                <a:cubicBezTo>
                  <a:pt x="90554" y="75231"/>
                  <a:pt x="75231" y="90554"/>
                  <a:pt x="75231" y="109427"/>
                </a:cubicBezTo>
                <a:cubicBezTo>
                  <a:pt x="75231" y="128300"/>
                  <a:pt x="90554" y="143623"/>
                  <a:pt x="109427" y="143623"/>
                </a:cubicBezTo>
                <a:close/>
                <a:moveTo>
                  <a:pt x="109427" y="47874"/>
                </a:moveTo>
                <a:cubicBezTo>
                  <a:pt x="143399" y="47874"/>
                  <a:pt x="170980" y="75455"/>
                  <a:pt x="170980" y="109427"/>
                </a:cubicBezTo>
                <a:cubicBezTo>
                  <a:pt x="170980" y="143399"/>
                  <a:pt x="143399" y="170980"/>
                  <a:pt x="109427" y="170980"/>
                </a:cubicBezTo>
                <a:cubicBezTo>
                  <a:pt x="75455" y="170980"/>
                  <a:pt x="47874" y="143399"/>
                  <a:pt x="47874" y="109427"/>
                </a:cubicBezTo>
                <a:cubicBezTo>
                  <a:pt x="47874" y="75455"/>
                  <a:pt x="75455" y="47874"/>
                  <a:pt x="109427" y="47874"/>
                </a:cubicBezTo>
                <a:close/>
                <a:moveTo>
                  <a:pt x="95749" y="109427"/>
                </a:moveTo>
                <a:cubicBezTo>
                  <a:pt x="95749" y="101878"/>
                  <a:pt x="101878" y="95749"/>
                  <a:pt x="109427" y="95749"/>
                </a:cubicBezTo>
                <a:cubicBezTo>
                  <a:pt x="116976" y="95749"/>
                  <a:pt x="123105" y="101878"/>
                  <a:pt x="123105" y="109427"/>
                </a:cubicBezTo>
                <a:cubicBezTo>
                  <a:pt x="123105" y="116976"/>
                  <a:pt x="116976" y="123105"/>
                  <a:pt x="109427" y="123105"/>
                </a:cubicBezTo>
                <a:cubicBezTo>
                  <a:pt x="101878" y="123105"/>
                  <a:pt x="95749" y="116976"/>
                  <a:pt x="95749" y="109427"/>
                </a:cubicBezTo>
                <a:close/>
              </a:path>
            </a:pathLst>
          </a:custGeom>
          <a:solidFill>
            <a:srgbClr val="34C759"/>
          </a:solidFill>
          <a:ln/>
        </p:spPr>
      </p:sp>
      <p:sp>
        <p:nvSpPr>
          <p:cNvPr id="9" name="Text 7"/>
          <p:cNvSpPr/>
          <p:nvPr/>
        </p:nvSpPr>
        <p:spPr>
          <a:xfrm>
            <a:off x="893654" y="1422552"/>
            <a:ext cx="5015408" cy="291806"/>
          </a:xfrm>
          <a:prstGeom prst="rect">
            <a:avLst/>
          </a:prstGeom>
          <a:noFill/>
          <a:ln/>
        </p:spPr>
        <p:txBody>
          <a:bodyPr wrap="square" lIns="0" tIns="0" rIns="0" bIns="0" rtlCol="0" anchor="ctr"/>
          <a:lstStyle/>
          <a:p>
            <a:pPr>
              <a:lnSpc>
                <a:spcPct val="110000"/>
              </a:lnSpc>
            </a:pPr>
            <a:r>
              <a:rPr lang="en-US" sz="1723" b="1" dirty="0">
                <a:solidFill>
                  <a:srgbClr val="34C759"/>
                </a:solidFill>
                <a:latin typeface="Liter" pitchFamily="34" charset="0"/>
                <a:ea typeface="Liter" pitchFamily="34" charset="-122"/>
                <a:cs typeface="Liter" pitchFamily="34" charset="-120"/>
              </a:rPr>
              <a:t>Learning Objectives</a:t>
            </a:r>
            <a:endParaRPr lang="en-US" sz="1600" dirty="0"/>
          </a:p>
        </p:txBody>
      </p:sp>
      <p:sp>
        <p:nvSpPr>
          <p:cNvPr id="10" name="Shape 8"/>
          <p:cNvSpPr/>
          <p:nvPr/>
        </p:nvSpPr>
        <p:spPr>
          <a:xfrm>
            <a:off x="620087" y="2115020"/>
            <a:ext cx="364757" cy="364757"/>
          </a:xfrm>
          <a:prstGeom prst="roundRect">
            <a:avLst>
              <a:gd name="adj" fmla="val 20000"/>
            </a:avLst>
          </a:prstGeom>
          <a:solidFill>
            <a:srgbClr val="34C759"/>
          </a:solidFill>
          <a:ln/>
        </p:spPr>
      </p:sp>
      <p:sp>
        <p:nvSpPr>
          <p:cNvPr id="11" name="Shape 9"/>
          <p:cNvSpPr/>
          <p:nvPr/>
        </p:nvSpPr>
        <p:spPr>
          <a:xfrm>
            <a:off x="738633" y="2224447"/>
            <a:ext cx="127665" cy="145903"/>
          </a:xfrm>
          <a:custGeom>
            <a:avLst/>
            <a:gdLst/>
            <a:ahLst/>
            <a:cxnLst/>
            <a:rect l="l" t="t" r="r" b="b"/>
            <a:pathLst>
              <a:path w="127665" h="145903">
                <a:moveTo>
                  <a:pt x="123903" y="19976"/>
                </a:moveTo>
                <a:cubicBezTo>
                  <a:pt x="127978" y="22940"/>
                  <a:pt x="128890" y="28639"/>
                  <a:pt x="125927" y="32714"/>
                </a:cubicBezTo>
                <a:lnTo>
                  <a:pt x="52975" y="133022"/>
                </a:lnTo>
                <a:cubicBezTo>
                  <a:pt x="51408" y="135188"/>
                  <a:pt x="48986" y="136527"/>
                  <a:pt x="46307" y="136755"/>
                </a:cubicBezTo>
                <a:cubicBezTo>
                  <a:pt x="43628" y="136983"/>
                  <a:pt x="41035" y="135986"/>
                  <a:pt x="39154" y="134105"/>
                </a:cubicBezTo>
                <a:lnTo>
                  <a:pt x="2679" y="97629"/>
                </a:lnTo>
                <a:cubicBezTo>
                  <a:pt x="-883" y="94067"/>
                  <a:pt x="-883" y="88283"/>
                  <a:pt x="2679" y="84720"/>
                </a:cubicBezTo>
                <a:cubicBezTo>
                  <a:pt x="6241" y="81158"/>
                  <a:pt x="12026" y="81158"/>
                  <a:pt x="15588" y="84720"/>
                </a:cubicBezTo>
                <a:lnTo>
                  <a:pt x="44512" y="113645"/>
                </a:lnTo>
                <a:lnTo>
                  <a:pt x="111194" y="21971"/>
                </a:lnTo>
                <a:cubicBezTo>
                  <a:pt x="114158" y="17896"/>
                  <a:pt x="119857" y="16984"/>
                  <a:pt x="123932" y="19948"/>
                </a:cubicBezTo>
                <a:close/>
              </a:path>
            </a:pathLst>
          </a:custGeom>
          <a:solidFill>
            <a:srgbClr val="1D1D1F"/>
          </a:solidFill>
          <a:ln/>
        </p:spPr>
      </p:sp>
      <p:sp>
        <p:nvSpPr>
          <p:cNvPr id="12" name="Text 10"/>
          <p:cNvSpPr/>
          <p:nvPr/>
        </p:nvSpPr>
        <p:spPr>
          <a:xfrm>
            <a:off x="1130746" y="2115020"/>
            <a:ext cx="3091315" cy="255330"/>
          </a:xfrm>
          <a:prstGeom prst="rect">
            <a:avLst/>
          </a:prstGeom>
          <a:noFill/>
          <a:ln/>
        </p:spPr>
        <p:txBody>
          <a:bodyPr wrap="square" lIns="0" tIns="0" rIns="0" bIns="0" rtlCol="0" anchor="ctr"/>
          <a:lstStyle/>
          <a:p>
            <a:pPr>
              <a:lnSpc>
                <a:spcPct val="130000"/>
              </a:lnSpc>
            </a:pPr>
            <a:r>
              <a:rPr lang="en-US" sz="1292" b="1" dirty="0">
                <a:solidFill>
                  <a:srgbClr val="F5F5F7"/>
                </a:solidFill>
                <a:latin typeface="Quattrocento Sans" pitchFamily="34" charset="0"/>
                <a:ea typeface="Quattrocento Sans" pitchFamily="34" charset="-122"/>
                <a:cs typeface="Quattrocento Sans" pitchFamily="34" charset="-120"/>
              </a:rPr>
              <a:t>Understand App Development Basics</a:t>
            </a:r>
            <a:endParaRPr lang="en-US" sz="1600" dirty="0"/>
          </a:p>
        </p:txBody>
      </p:sp>
      <p:sp>
        <p:nvSpPr>
          <p:cNvPr id="13" name="Text 11"/>
          <p:cNvSpPr/>
          <p:nvPr/>
        </p:nvSpPr>
        <p:spPr>
          <a:xfrm>
            <a:off x="1130746" y="2406826"/>
            <a:ext cx="3082196" cy="218854"/>
          </a:xfrm>
          <a:prstGeom prst="rect">
            <a:avLst/>
          </a:prstGeom>
          <a:noFill/>
          <a:ln/>
        </p:spPr>
        <p:txBody>
          <a:bodyPr wrap="square" lIns="0" tIns="0" rIns="0" bIns="0" rtlCol="0" anchor="ctr"/>
          <a:lstStyle/>
          <a:p>
            <a:pPr>
              <a:lnSpc>
                <a:spcPct val="130000"/>
              </a:lnSpc>
            </a:pPr>
            <a:r>
              <a:rPr lang="en-US" sz="1149" dirty="0">
                <a:solidFill>
                  <a:srgbClr val="8E8E93"/>
                </a:solidFill>
                <a:latin typeface="Quattrocento Sans" pitchFamily="34" charset="0"/>
                <a:ea typeface="Quattrocento Sans" pitchFamily="34" charset="-122"/>
                <a:cs typeface="Quattrocento Sans" pitchFamily="34" charset="-120"/>
              </a:rPr>
              <a:t>Learn what mobile apps are and how they work</a:t>
            </a:r>
            <a:endParaRPr lang="en-US" sz="1600" dirty="0"/>
          </a:p>
        </p:txBody>
      </p:sp>
      <p:sp>
        <p:nvSpPr>
          <p:cNvPr id="14" name="Shape 12"/>
          <p:cNvSpPr/>
          <p:nvPr/>
        </p:nvSpPr>
        <p:spPr>
          <a:xfrm>
            <a:off x="620087" y="3062707"/>
            <a:ext cx="364757" cy="364757"/>
          </a:xfrm>
          <a:prstGeom prst="roundRect">
            <a:avLst>
              <a:gd name="adj" fmla="val 20000"/>
            </a:avLst>
          </a:prstGeom>
          <a:solidFill>
            <a:srgbClr val="34C759"/>
          </a:solidFill>
          <a:ln/>
        </p:spPr>
      </p:sp>
      <p:sp>
        <p:nvSpPr>
          <p:cNvPr id="15" name="Shape 13"/>
          <p:cNvSpPr/>
          <p:nvPr/>
        </p:nvSpPr>
        <p:spPr>
          <a:xfrm>
            <a:off x="738633" y="3172134"/>
            <a:ext cx="127665" cy="145903"/>
          </a:xfrm>
          <a:custGeom>
            <a:avLst/>
            <a:gdLst/>
            <a:ahLst/>
            <a:cxnLst/>
            <a:rect l="l" t="t" r="r" b="b"/>
            <a:pathLst>
              <a:path w="127665" h="145903">
                <a:moveTo>
                  <a:pt x="123903" y="19976"/>
                </a:moveTo>
                <a:cubicBezTo>
                  <a:pt x="127978" y="22940"/>
                  <a:pt x="128890" y="28639"/>
                  <a:pt x="125927" y="32714"/>
                </a:cubicBezTo>
                <a:lnTo>
                  <a:pt x="52975" y="133022"/>
                </a:lnTo>
                <a:cubicBezTo>
                  <a:pt x="51408" y="135188"/>
                  <a:pt x="48986" y="136527"/>
                  <a:pt x="46307" y="136755"/>
                </a:cubicBezTo>
                <a:cubicBezTo>
                  <a:pt x="43628" y="136983"/>
                  <a:pt x="41035" y="135986"/>
                  <a:pt x="39154" y="134105"/>
                </a:cubicBezTo>
                <a:lnTo>
                  <a:pt x="2679" y="97629"/>
                </a:lnTo>
                <a:cubicBezTo>
                  <a:pt x="-883" y="94067"/>
                  <a:pt x="-883" y="88283"/>
                  <a:pt x="2679" y="84720"/>
                </a:cubicBezTo>
                <a:cubicBezTo>
                  <a:pt x="6241" y="81158"/>
                  <a:pt x="12026" y="81158"/>
                  <a:pt x="15588" y="84720"/>
                </a:cubicBezTo>
                <a:lnTo>
                  <a:pt x="44512" y="113645"/>
                </a:lnTo>
                <a:lnTo>
                  <a:pt x="111194" y="21971"/>
                </a:lnTo>
                <a:cubicBezTo>
                  <a:pt x="114158" y="17896"/>
                  <a:pt x="119857" y="16984"/>
                  <a:pt x="123932" y="19948"/>
                </a:cubicBezTo>
                <a:close/>
              </a:path>
            </a:pathLst>
          </a:custGeom>
          <a:solidFill>
            <a:srgbClr val="1D1D1F"/>
          </a:solidFill>
          <a:ln/>
        </p:spPr>
      </p:sp>
      <p:sp>
        <p:nvSpPr>
          <p:cNvPr id="16" name="Text 14"/>
          <p:cNvSpPr/>
          <p:nvPr/>
        </p:nvSpPr>
        <p:spPr>
          <a:xfrm>
            <a:off x="1130746" y="3062707"/>
            <a:ext cx="2963650" cy="255330"/>
          </a:xfrm>
          <a:prstGeom prst="rect">
            <a:avLst/>
          </a:prstGeom>
          <a:noFill/>
          <a:ln/>
        </p:spPr>
        <p:txBody>
          <a:bodyPr wrap="square" lIns="0" tIns="0" rIns="0" bIns="0" rtlCol="0" anchor="ctr"/>
          <a:lstStyle/>
          <a:p>
            <a:pPr>
              <a:lnSpc>
                <a:spcPct val="130000"/>
              </a:lnSpc>
            </a:pPr>
            <a:r>
              <a:rPr lang="en-US" sz="1292" b="1" dirty="0">
                <a:solidFill>
                  <a:srgbClr val="F5F5F7"/>
                </a:solidFill>
                <a:latin typeface="Quattrocento Sans" pitchFamily="34" charset="0"/>
                <a:ea typeface="Quattrocento Sans" pitchFamily="34" charset="-122"/>
                <a:cs typeface="Quattrocento Sans" pitchFamily="34" charset="-120"/>
              </a:rPr>
              <a:t>Know Different Platforms</a:t>
            </a:r>
            <a:endParaRPr lang="en-US" sz="1600" dirty="0"/>
          </a:p>
        </p:txBody>
      </p:sp>
      <p:sp>
        <p:nvSpPr>
          <p:cNvPr id="17" name="Text 15"/>
          <p:cNvSpPr/>
          <p:nvPr/>
        </p:nvSpPr>
        <p:spPr>
          <a:xfrm>
            <a:off x="1130746" y="3354512"/>
            <a:ext cx="2954531" cy="218854"/>
          </a:xfrm>
          <a:prstGeom prst="rect">
            <a:avLst/>
          </a:prstGeom>
          <a:noFill/>
          <a:ln/>
        </p:spPr>
        <p:txBody>
          <a:bodyPr wrap="square" lIns="0" tIns="0" rIns="0" bIns="0" rtlCol="0" anchor="ctr"/>
          <a:lstStyle/>
          <a:p>
            <a:pPr>
              <a:lnSpc>
                <a:spcPct val="130000"/>
              </a:lnSpc>
            </a:pPr>
            <a:r>
              <a:rPr lang="en-US" sz="1149" dirty="0">
                <a:solidFill>
                  <a:srgbClr val="8E8E93"/>
                </a:solidFill>
                <a:latin typeface="Quattrocento Sans" pitchFamily="34" charset="0"/>
                <a:ea typeface="Quattrocento Sans" pitchFamily="34" charset="-122"/>
                <a:cs typeface="Quattrocento Sans" pitchFamily="34" charset="-120"/>
              </a:rPr>
              <a:t>Understand Android, iOS, and Cross-Platform</a:t>
            </a:r>
            <a:endParaRPr lang="en-US" sz="1600" dirty="0"/>
          </a:p>
        </p:txBody>
      </p:sp>
      <p:sp>
        <p:nvSpPr>
          <p:cNvPr id="18" name="Shape 16"/>
          <p:cNvSpPr/>
          <p:nvPr/>
        </p:nvSpPr>
        <p:spPr>
          <a:xfrm>
            <a:off x="620087" y="4010273"/>
            <a:ext cx="364757" cy="364757"/>
          </a:xfrm>
          <a:prstGeom prst="roundRect">
            <a:avLst>
              <a:gd name="adj" fmla="val 20000"/>
            </a:avLst>
          </a:prstGeom>
          <a:solidFill>
            <a:srgbClr val="34C759"/>
          </a:solidFill>
          <a:ln/>
        </p:spPr>
      </p:sp>
      <p:sp>
        <p:nvSpPr>
          <p:cNvPr id="19" name="Shape 17"/>
          <p:cNvSpPr/>
          <p:nvPr/>
        </p:nvSpPr>
        <p:spPr>
          <a:xfrm>
            <a:off x="738633" y="4119701"/>
            <a:ext cx="127665" cy="145903"/>
          </a:xfrm>
          <a:custGeom>
            <a:avLst/>
            <a:gdLst/>
            <a:ahLst/>
            <a:cxnLst/>
            <a:rect l="l" t="t" r="r" b="b"/>
            <a:pathLst>
              <a:path w="127665" h="145903">
                <a:moveTo>
                  <a:pt x="123903" y="19976"/>
                </a:moveTo>
                <a:cubicBezTo>
                  <a:pt x="127978" y="22940"/>
                  <a:pt x="128890" y="28639"/>
                  <a:pt x="125927" y="32714"/>
                </a:cubicBezTo>
                <a:lnTo>
                  <a:pt x="52975" y="133022"/>
                </a:lnTo>
                <a:cubicBezTo>
                  <a:pt x="51408" y="135188"/>
                  <a:pt x="48986" y="136527"/>
                  <a:pt x="46307" y="136755"/>
                </a:cubicBezTo>
                <a:cubicBezTo>
                  <a:pt x="43628" y="136983"/>
                  <a:pt x="41035" y="135986"/>
                  <a:pt x="39154" y="134105"/>
                </a:cubicBezTo>
                <a:lnTo>
                  <a:pt x="2679" y="97629"/>
                </a:lnTo>
                <a:cubicBezTo>
                  <a:pt x="-883" y="94067"/>
                  <a:pt x="-883" y="88283"/>
                  <a:pt x="2679" y="84720"/>
                </a:cubicBezTo>
                <a:cubicBezTo>
                  <a:pt x="6241" y="81158"/>
                  <a:pt x="12026" y="81158"/>
                  <a:pt x="15588" y="84720"/>
                </a:cubicBezTo>
                <a:lnTo>
                  <a:pt x="44512" y="113645"/>
                </a:lnTo>
                <a:lnTo>
                  <a:pt x="111194" y="21971"/>
                </a:lnTo>
                <a:cubicBezTo>
                  <a:pt x="114158" y="17896"/>
                  <a:pt x="119857" y="16984"/>
                  <a:pt x="123932" y="19948"/>
                </a:cubicBezTo>
                <a:close/>
              </a:path>
            </a:pathLst>
          </a:custGeom>
          <a:solidFill>
            <a:srgbClr val="1D1D1F"/>
          </a:solidFill>
          <a:ln/>
        </p:spPr>
      </p:sp>
      <p:sp>
        <p:nvSpPr>
          <p:cNvPr id="20" name="Text 18"/>
          <p:cNvSpPr/>
          <p:nvPr/>
        </p:nvSpPr>
        <p:spPr>
          <a:xfrm>
            <a:off x="1130746" y="4010273"/>
            <a:ext cx="2507704" cy="255330"/>
          </a:xfrm>
          <a:prstGeom prst="rect">
            <a:avLst/>
          </a:prstGeom>
          <a:noFill/>
          <a:ln/>
        </p:spPr>
        <p:txBody>
          <a:bodyPr wrap="square" lIns="0" tIns="0" rIns="0" bIns="0" rtlCol="0" anchor="ctr"/>
          <a:lstStyle/>
          <a:p>
            <a:pPr>
              <a:lnSpc>
                <a:spcPct val="130000"/>
              </a:lnSpc>
            </a:pPr>
            <a:r>
              <a:rPr lang="en-US" sz="1292" b="1" dirty="0">
                <a:solidFill>
                  <a:srgbClr val="F5F5F7"/>
                </a:solidFill>
                <a:latin typeface="Quattrocento Sans" pitchFamily="34" charset="0"/>
                <a:ea typeface="Quattrocento Sans" pitchFamily="34" charset="-122"/>
                <a:cs typeface="Quattrocento Sans" pitchFamily="34" charset="-120"/>
              </a:rPr>
              <a:t>Set Up Development Environment</a:t>
            </a:r>
            <a:endParaRPr lang="en-US" sz="1600" dirty="0"/>
          </a:p>
        </p:txBody>
      </p:sp>
      <p:sp>
        <p:nvSpPr>
          <p:cNvPr id="21" name="Text 19"/>
          <p:cNvSpPr/>
          <p:nvPr/>
        </p:nvSpPr>
        <p:spPr>
          <a:xfrm>
            <a:off x="1130746" y="4302079"/>
            <a:ext cx="2498585" cy="218854"/>
          </a:xfrm>
          <a:prstGeom prst="rect">
            <a:avLst/>
          </a:prstGeom>
          <a:noFill/>
          <a:ln/>
        </p:spPr>
        <p:txBody>
          <a:bodyPr wrap="square" lIns="0" tIns="0" rIns="0" bIns="0" rtlCol="0" anchor="ctr"/>
          <a:lstStyle/>
          <a:p>
            <a:pPr>
              <a:lnSpc>
                <a:spcPct val="130000"/>
              </a:lnSpc>
            </a:pPr>
            <a:r>
              <a:rPr lang="en-US" sz="1149" dirty="0">
                <a:solidFill>
                  <a:srgbClr val="8E8E93"/>
                </a:solidFill>
                <a:latin typeface="Quattrocento Sans" pitchFamily="34" charset="0"/>
                <a:ea typeface="Quattrocento Sans" pitchFamily="34" charset="-122"/>
                <a:cs typeface="Quattrocento Sans" pitchFamily="34" charset="-120"/>
              </a:rPr>
              <a:t>Install and configure required tools</a:t>
            </a:r>
            <a:endParaRPr lang="en-US" sz="1600" dirty="0"/>
          </a:p>
        </p:txBody>
      </p:sp>
      <p:sp>
        <p:nvSpPr>
          <p:cNvPr id="22" name="Shape 20"/>
          <p:cNvSpPr/>
          <p:nvPr/>
        </p:nvSpPr>
        <p:spPr>
          <a:xfrm>
            <a:off x="620087" y="4957960"/>
            <a:ext cx="364757" cy="364757"/>
          </a:xfrm>
          <a:prstGeom prst="roundRect">
            <a:avLst>
              <a:gd name="adj" fmla="val 20000"/>
            </a:avLst>
          </a:prstGeom>
          <a:solidFill>
            <a:srgbClr val="34C759"/>
          </a:solidFill>
          <a:ln/>
        </p:spPr>
      </p:sp>
      <p:sp>
        <p:nvSpPr>
          <p:cNvPr id="23" name="Shape 21"/>
          <p:cNvSpPr/>
          <p:nvPr/>
        </p:nvSpPr>
        <p:spPr>
          <a:xfrm>
            <a:off x="738633" y="5067387"/>
            <a:ext cx="127665" cy="145903"/>
          </a:xfrm>
          <a:custGeom>
            <a:avLst/>
            <a:gdLst/>
            <a:ahLst/>
            <a:cxnLst/>
            <a:rect l="l" t="t" r="r" b="b"/>
            <a:pathLst>
              <a:path w="127665" h="145903">
                <a:moveTo>
                  <a:pt x="123903" y="19976"/>
                </a:moveTo>
                <a:cubicBezTo>
                  <a:pt x="127978" y="22940"/>
                  <a:pt x="128890" y="28639"/>
                  <a:pt x="125927" y="32714"/>
                </a:cubicBezTo>
                <a:lnTo>
                  <a:pt x="52975" y="133022"/>
                </a:lnTo>
                <a:cubicBezTo>
                  <a:pt x="51408" y="135188"/>
                  <a:pt x="48986" y="136527"/>
                  <a:pt x="46307" y="136755"/>
                </a:cubicBezTo>
                <a:cubicBezTo>
                  <a:pt x="43628" y="136983"/>
                  <a:pt x="41035" y="135986"/>
                  <a:pt x="39154" y="134105"/>
                </a:cubicBezTo>
                <a:lnTo>
                  <a:pt x="2679" y="97629"/>
                </a:lnTo>
                <a:cubicBezTo>
                  <a:pt x="-883" y="94067"/>
                  <a:pt x="-883" y="88283"/>
                  <a:pt x="2679" y="84720"/>
                </a:cubicBezTo>
                <a:cubicBezTo>
                  <a:pt x="6241" y="81158"/>
                  <a:pt x="12026" y="81158"/>
                  <a:pt x="15588" y="84720"/>
                </a:cubicBezTo>
                <a:lnTo>
                  <a:pt x="44512" y="113645"/>
                </a:lnTo>
                <a:lnTo>
                  <a:pt x="111194" y="21971"/>
                </a:lnTo>
                <a:cubicBezTo>
                  <a:pt x="114158" y="17896"/>
                  <a:pt x="119857" y="16984"/>
                  <a:pt x="123932" y="19948"/>
                </a:cubicBezTo>
                <a:close/>
              </a:path>
            </a:pathLst>
          </a:custGeom>
          <a:solidFill>
            <a:srgbClr val="1D1D1F"/>
          </a:solidFill>
          <a:ln/>
        </p:spPr>
      </p:sp>
      <p:sp>
        <p:nvSpPr>
          <p:cNvPr id="24" name="Text 22"/>
          <p:cNvSpPr/>
          <p:nvPr/>
        </p:nvSpPr>
        <p:spPr>
          <a:xfrm>
            <a:off x="1130746" y="4957960"/>
            <a:ext cx="2498585" cy="255330"/>
          </a:xfrm>
          <a:prstGeom prst="rect">
            <a:avLst/>
          </a:prstGeom>
          <a:noFill/>
          <a:ln/>
        </p:spPr>
        <p:txBody>
          <a:bodyPr wrap="square" lIns="0" tIns="0" rIns="0" bIns="0" rtlCol="0" anchor="ctr"/>
          <a:lstStyle/>
          <a:p>
            <a:pPr>
              <a:lnSpc>
                <a:spcPct val="130000"/>
              </a:lnSpc>
            </a:pPr>
            <a:r>
              <a:rPr lang="en-US" sz="1292" b="1" dirty="0">
                <a:solidFill>
                  <a:srgbClr val="F5F5F7"/>
                </a:solidFill>
                <a:latin typeface="Quattrocento Sans" pitchFamily="34" charset="0"/>
                <a:ea typeface="Quattrocento Sans" pitchFamily="34" charset="-122"/>
                <a:cs typeface="Quattrocento Sans" pitchFamily="34" charset="-120"/>
              </a:rPr>
              <a:t>Understand Flutter &amp; React Native</a:t>
            </a:r>
            <a:endParaRPr lang="en-US" sz="1600" dirty="0"/>
          </a:p>
        </p:txBody>
      </p:sp>
      <p:sp>
        <p:nvSpPr>
          <p:cNvPr id="25" name="Text 23"/>
          <p:cNvSpPr/>
          <p:nvPr/>
        </p:nvSpPr>
        <p:spPr>
          <a:xfrm>
            <a:off x="1130746" y="5249766"/>
            <a:ext cx="2489466" cy="218854"/>
          </a:xfrm>
          <a:prstGeom prst="rect">
            <a:avLst/>
          </a:prstGeom>
          <a:noFill/>
          <a:ln/>
        </p:spPr>
        <p:txBody>
          <a:bodyPr wrap="square" lIns="0" tIns="0" rIns="0" bIns="0" rtlCol="0" anchor="ctr"/>
          <a:lstStyle/>
          <a:p>
            <a:pPr>
              <a:lnSpc>
                <a:spcPct val="130000"/>
              </a:lnSpc>
            </a:pPr>
            <a:r>
              <a:rPr lang="en-US" sz="1149" dirty="0">
                <a:solidFill>
                  <a:srgbClr val="8E8E93"/>
                </a:solidFill>
                <a:latin typeface="Quattrocento Sans" pitchFamily="34" charset="0"/>
                <a:ea typeface="Quattrocento Sans" pitchFamily="34" charset="-122"/>
                <a:cs typeface="Quattrocento Sans" pitchFamily="34" charset="-120"/>
              </a:rPr>
              <a:t>Learn about popular frameworks</a:t>
            </a:r>
            <a:endParaRPr lang="en-US" sz="1600" dirty="0"/>
          </a:p>
        </p:txBody>
      </p:sp>
      <p:sp>
        <p:nvSpPr>
          <p:cNvPr id="26" name="Shape 24"/>
          <p:cNvSpPr/>
          <p:nvPr/>
        </p:nvSpPr>
        <p:spPr>
          <a:xfrm>
            <a:off x="620087" y="5905531"/>
            <a:ext cx="364757" cy="364757"/>
          </a:xfrm>
          <a:prstGeom prst="roundRect">
            <a:avLst>
              <a:gd name="adj" fmla="val 20000"/>
            </a:avLst>
          </a:prstGeom>
          <a:solidFill>
            <a:srgbClr val="34C759"/>
          </a:solidFill>
          <a:ln/>
        </p:spPr>
      </p:sp>
      <p:sp>
        <p:nvSpPr>
          <p:cNvPr id="27" name="Shape 25"/>
          <p:cNvSpPr/>
          <p:nvPr/>
        </p:nvSpPr>
        <p:spPr>
          <a:xfrm>
            <a:off x="738633" y="6014958"/>
            <a:ext cx="127665" cy="145903"/>
          </a:xfrm>
          <a:custGeom>
            <a:avLst/>
            <a:gdLst/>
            <a:ahLst/>
            <a:cxnLst/>
            <a:rect l="l" t="t" r="r" b="b"/>
            <a:pathLst>
              <a:path w="127665" h="145903">
                <a:moveTo>
                  <a:pt x="123903" y="19976"/>
                </a:moveTo>
                <a:cubicBezTo>
                  <a:pt x="127978" y="22940"/>
                  <a:pt x="128890" y="28639"/>
                  <a:pt x="125927" y="32714"/>
                </a:cubicBezTo>
                <a:lnTo>
                  <a:pt x="52975" y="133022"/>
                </a:lnTo>
                <a:cubicBezTo>
                  <a:pt x="51408" y="135188"/>
                  <a:pt x="48986" y="136527"/>
                  <a:pt x="46307" y="136755"/>
                </a:cubicBezTo>
                <a:cubicBezTo>
                  <a:pt x="43628" y="136983"/>
                  <a:pt x="41035" y="135986"/>
                  <a:pt x="39154" y="134105"/>
                </a:cubicBezTo>
                <a:lnTo>
                  <a:pt x="2679" y="97629"/>
                </a:lnTo>
                <a:cubicBezTo>
                  <a:pt x="-883" y="94067"/>
                  <a:pt x="-883" y="88283"/>
                  <a:pt x="2679" y="84720"/>
                </a:cubicBezTo>
                <a:cubicBezTo>
                  <a:pt x="6241" y="81158"/>
                  <a:pt x="12026" y="81158"/>
                  <a:pt x="15588" y="84720"/>
                </a:cubicBezTo>
                <a:lnTo>
                  <a:pt x="44512" y="113645"/>
                </a:lnTo>
                <a:lnTo>
                  <a:pt x="111194" y="21971"/>
                </a:lnTo>
                <a:cubicBezTo>
                  <a:pt x="114158" y="17896"/>
                  <a:pt x="119857" y="16984"/>
                  <a:pt x="123932" y="19948"/>
                </a:cubicBezTo>
                <a:close/>
              </a:path>
            </a:pathLst>
          </a:custGeom>
          <a:solidFill>
            <a:srgbClr val="1D1D1F"/>
          </a:solidFill>
          <a:ln/>
        </p:spPr>
      </p:sp>
      <p:sp>
        <p:nvSpPr>
          <p:cNvPr id="28" name="Text 26"/>
          <p:cNvSpPr/>
          <p:nvPr/>
        </p:nvSpPr>
        <p:spPr>
          <a:xfrm>
            <a:off x="1130746" y="5905531"/>
            <a:ext cx="2106471" cy="255330"/>
          </a:xfrm>
          <a:prstGeom prst="rect">
            <a:avLst/>
          </a:prstGeom>
          <a:noFill/>
          <a:ln/>
        </p:spPr>
        <p:txBody>
          <a:bodyPr wrap="square" lIns="0" tIns="0" rIns="0" bIns="0" rtlCol="0" anchor="ctr"/>
          <a:lstStyle/>
          <a:p>
            <a:pPr>
              <a:lnSpc>
                <a:spcPct val="130000"/>
              </a:lnSpc>
            </a:pPr>
            <a:r>
              <a:rPr lang="en-US" sz="1292" b="1" dirty="0">
                <a:solidFill>
                  <a:srgbClr val="F5F5F7"/>
                </a:solidFill>
                <a:latin typeface="Quattrocento Sans" pitchFamily="34" charset="0"/>
                <a:ea typeface="Quattrocento Sans" pitchFamily="34" charset="-122"/>
                <a:cs typeface="Quattrocento Sans" pitchFamily="34" charset="-120"/>
              </a:rPr>
              <a:t>Be Ready to Build Apps</a:t>
            </a:r>
            <a:endParaRPr lang="en-US" sz="1600" dirty="0"/>
          </a:p>
        </p:txBody>
      </p:sp>
      <p:sp>
        <p:nvSpPr>
          <p:cNvPr id="29" name="Text 27"/>
          <p:cNvSpPr/>
          <p:nvPr/>
        </p:nvSpPr>
        <p:spPr>
          <a:xfrm>
            <a:off x="1130746" y="6197337"/>
            <a:ext cx="2097352" cy="218854"/>
          </a:xfrm>
          <a:prstGeom prst="rect">
            <a:avLst/>
          </a:prstGeom>
          <a:noFill/>
          <a:ln/>
        </p:spPr>
        <p:txBody>
          <a:bodyPr wrap="square" lIns="0" tIns="0" rIns="0" bIns="0" rtlCol="0" anchor="ctr"/>
          <a:lstStyle/>
          <a:p>
            <a:pPr>
              <a:lnSpc>
                <a:spcPct val="130000"/>
              </a:lnSpc>
            </a:pPr>
            <a:r>
              <a:rPr lang="en-US" sz="1149" dirty="0">
                <a:solidFill>
                  <a:srgbClr val="8E8E93"/>
                </a:solidFill>
                <a:latin typeface="Quattrocento Sans" pitchFamily="34" charset="0"/>
                <a:ea typeface="Quattrocento Sans" pitchFamily="34" charset="-122"/>
                <a:cs typeface="Quattrocento Sans" pitchFamily="34" charset="-120"/>
              </a:rPr>
              <a:t>Have skills to start creating apps</a:t>
            </a:r>
            <a:endParaRPr lang="en-US" sz="1600" dirty="0"/>
          </a:p>
        </p:txBody>
      </p:sp>
      <p:sp>
        <p:nvSpPr>
          <p:cNvPr id="30" name="Shape 28"/>
          <p:cNvSpPr/>
          <p:nvPr/>
        </p:nvSpPr>
        <p:spPr>
          <a:xfrm>
            <a:off x="6186619" y="1203698"/>
            <a:ext cx="5635494" cy="4048802"/>
          </a:xfrm>
          <a:custGeom>
            <a:avLst/>
            <a:gdLst/>
            <a:ahLst/>
            <a:cxnLst/>
            <a:rect l="l" t="t" r="r" b="b"/>
            <a:pathLst>
              <a:path w="5635494" h="4048802">
                <a:moveTo>
                  <a:pt x="36449" y="0"/>
                </a:moveTo>
                <a:lnTo>
                  <a:pt x="5489575" y="0"/>
                </a:lnTo>
                <a:cubicBezTo>
                  <a:pt x="5570166" y="0"/>
                  <a:pt x="5635498" y="65332"/>
                  <a:pt x="5635498" y="145923"/>
                </a:cubicBezTo>
                <a:lnTo>
                  <a:pt x="5635498" y="3902837"/>
                </a:lnTo>
                <a:cubicBezTo>
                  <a:pt x="5635498" y="3983428"/>
                  <a:pt x="5570166" y="4048760"/>
                  <a:pt x="5489575" y="4048760"/>
                </a:cubicBezTo>
                <a:lnTo>
                  <a:pt x="36449" y="4048760"/>
                </a:lnTo>
                <a:cubicBezTo>
                  <a:pt x="16319" y="4048760"/>
                  <a:pt x="0" y="4032441"/>
                  <a:pt x="0" y="4012311"/>
                </a:cubicBezTo>
                <a:lnTo>
                  <a:pt x="0" y="36449"/>
                </a:lnTo>
                <a:cubicBezTo>
                  <a:pt x="0" y="16319"/>
                  <a:pt x="16319" y="0"/>
                  <a:pt x="36449" y="0"/>
                </a:cubicBezTo>
                <a:close/>
              </a:path>
            </a:pathLst>
          </a:custGeom>
          <a:solidFill>
            <a:srgbClr val="2C2C2E"/>
          </a:solidFill>
          <a:ln/>
        </p:spPr>
      </p:sp>
      <p:sp>
        <p:nvSpPr>
          <p:cNvPr id="31" name="Shape 29"/>
          <p:cNvSpPr/>
          <p:nvPr/>
        </p:nvSpPr>
        <p:spPr>
          <a:xfrm>
            <a:off x="6186619" y="1203698"/>
            <a:ext cx="36476" cy="4048802"/>
          </a:xfrm>
          <a:custGeom>
            <a:avLst/>
            <a:gdLst/>
            <a:ahLst/>
            <a:cxnLst/>
            <a:rect l="l" t="t" r="r" b="b"/>
            <a:pathLst>
              <a:path w="36476" h="4048802">
                <a:moveTo>
                  <a:pt x="36449" y="0"/>
                </a:moveTo>
                <a:lnTo>
                  <a:pt x="36449" y="0"/>
                </a:lnTo>
                <a:lnTo>
                  <a:pt x="36449" y="4048760"/>
                </a:lnTo>
                <a:lnTo>
                  <a:pt x="36449" y="4048760"/>
                </a:lnTo>
                <a:cubicBezTo>
                  <a:pt x="16319" y="4048760"/>
                  <a:pt x="0" y="4032441"/>
                  <a:pt x="0" y="4012311"/>
                </a:cubicBezTo>
                <a:lnTo>
                  <a:pt x="0" y="36449"/>
                </a:lnTo>
                <a:cubicBezTo>
                  <a:pt x="0" y="16319"/>
                  <a:pt x="16319" y="0"/>
                  <a:pt x="36449" y="0"/>
                </a:cubicBezTo>
                <a:close/>
              </a:path>
            </a:pathLst>
          </a:custGeom>
          <a:solidFill>
            <a:srgbClr val="0A84FF"/>
          </a:solidFill>
          <a:ln/>
        </p:spPr>
      </p:sp>
      <p:sp>
        <p:nvSpPr>
          <p:cNvPr id="32" name="Shape 30"/>
          <p:cNvSpPr/>
          <p:nvPr/>
        </p:nvSpPr>
        <p:spPr>
          <a:xfrm>
            <a:off x="6451068" y="1458916"/>
            <a:ext cx="218854" cy="218854"/>
          </a:xfrm>
          <a:custGeom>
            <a:avLst/>
            <a:gdLst/>
            <a:ahLst/>
            <a:cxnLst/>
            <a:rect l="l" t="t" r="r" b="b"/>
            <a:pathLst>
              <a:path w="218854" h="218854">
                <a:moveTo>
                  <a:pt x="61681" y="0"/>
                </a:moveTo>
                <a:lnTo>
                  <a:pt x="157430" y="0"/>
                </a:lnTo>
                <a:cubicBezTo>
                  <a:pt x="168757" y="0"/>
                  <a:pt x="177990" y="9318"/>
                  <a:pt x="177563" y="20603"/>
                </a:cubicBezTo>
                <a:cubicBezTo>
                  <a:pt x="177477" y="22869"/>
                  <a:pt x="177392" y="25134"/>
                  <a:pt x="177263" y="27357"/>
                </a:cubicBezTo>
                <a:lnTo>
                  <a:pt x="198465" y="27357"/>
                </a:lnTo>
                <a:cubicBezTo>
                  <a:pt x="209621" y="27357"/>
                  <a:pt x="219453" y="36590"/>
                  <a:pt x="218598" y="48644"/>
                </a:cubicBezTo>
                <a:cubicBezTo>
                  <a:pt x="215392" y="92970"/>
                  <a:pt x="192737" y="117335"/>
                  <a:pt x="168159" y="130073"/>
                </a:cubicBezTo>
                <a:cubicBezTo>
                  <a:pt x="161405" y="133578"/>
                  <a:pt x="154523" y="136185"/>
                  <a:pt x="147983" y="138109"/>
                </a:cubicBezTo>
                <a:cubicBezTo>
                  <a:pt x="139349" y="150334"/>
                  <a:pt x="130372" y="156788"/>
                  <a:pt x="123234" y="160251"/>
                </a:cubicBezTo>
                <a:lnTo>
                  <a:pt x="123234" y="191497"/>
                </a:lnTo>
                <a:lnTo>
                  <a:pt x="150590" y="191497"/>
                </a:lnTo>
                <a:cubicBezTo>
                  <a:pt x="158156" y="191497"/>
                  <a:pt x="164269" y="197610"/>
                  <a:pt x="164269" y="205176"/>
                </a:cubicBezTo>
                <a:cubicBezTo>
                  <a:pt x="164269" y="212742"/>
                  <a:pt x="158156" y="218854"/>
                  <a:pt x="150590" y="218854"/>
                </a:cubicBezTo>
                <a:lnTo>
                  <a:pt x="68520" y="218854"/>
                </a:lnTo>
                <a:cubicBezTo>
                  <a:pt x="60954" y="218854"/>
                  <a:pt x="54842" y="212742"/>
                  <a:pt x="54842" y="205176"/>
                </a:cubicBezTo>
                <a:cubicBezTo>
                  <a:pt x="54842" y="197610"/>
                  <a:pt x="60954" y="191497"/>
                  <a:pt x="68520" y="191497"/>
                </a:cubicBezTo>
                <a:lnTo>
                  <a:pt x="95877" y="191497"/>
                </a:lnTo>
                <a:lnTo>
                  <a:pt x="95877" y="160251"/>
                </a:lnTo>
                <a:cubicBezTo>
                  <a:pt x="89038" y="156959"/>
                  <a:pt x="80531" y="150847"/>
                  <a:pt x="72239" y="139605"/>
                </a:cubicBezTo>
                <a:cubicBezTo>
                  <a:pt x="64374" y="137553"/>
                  <a:pt x="55825" y="134433"/>
                  <a:pt x="47490" y="129731"/>
                </a:cubicBezTo>
                <a:cubicBezTo>
                  <a:pt x="24365" y="116779"/>
                  <a:pt x="3505" y="92372"/>
                  <a:pt x="513" y="48558"/>
                </a:cubicBezTo>
                <a:cubicBezTo>
                  <a:pt x="-299" y="36547"/>
                  <a:pt x="9489" y="27314"/>
                  <a:pt x="20646" y="27314"/>
                </a:cubicBezTo>
                <a:lnTo>
                  <a:pt x="41847" y="27314"/>
                </a:lnTo>
                <a:cubicBezTo>
                  <a:pt x="41719" y="25091"/>
                  <a:pt x="41634" y="22869"/>
                  <a:pt x="41548" y="20560"/>
                </a:cubicBezTo>
                <a:cubicBezTo>
                  <a:pt x="41121" y="9233"/>
                  <a:pt x="50354" y="-43"/>
                  <a:pt x="61681" y="-43"/>
                </a:cubicBezTo>
                <a:close/>
                <a:moveTo>
                  <a:pt x="43386" y="47874"/>
                </a:moveTo>
                <a:lnTo>
                  <a:pt x="20988" y="47874"/>
                </a:lnTo>
                <a:cubicBezTo>
                  <a:pt x="23638" y="84079"/>
                  <a:pt x="40266" y="102203"/>
                  <a:pt x="57406" y="111821"/>
                </a:cubicBezTo>
                <a:cubicBezTo>
                  <a:pt x="51251" y="95877"/>
                  <a:pt x="46165" y="75060"/>
                  <a:pt x="43386" y="47874"/>
                </a:cubicBezTo>
                <a:close/>
                <a:moveTo>
                  <a:pt x="162431" y="109769"/>
                </a:moveTo>
                <a:cubicBezTo>
                  <a:pt x="179743" y="99596"/>
                  <a:pt x="195387" y="81515"/>
                  <a:pt x="198037" y="47874"/>
                </a:cubicBezTo>
                <a:lnTo>
                  <a:pt x="175682" y="47874"/>
                </a:lnTo>
                <a:cubicBezTo>
                  <a:pt x="173032" y="73906"/>
                  <a:pt x="168244" y="94124"/>
                  <a:pt x="162431" y="109769"/>
                </a:cubicBezTo>
                <a:close/>
              </a:path>
            </a:pathLst>
          </a:custGeom>
          <a:solidFill>
            <a:srgbClr val="0A84FF"/>
          </a:solidFill>
          <a:ln/>
        </p:spPr>
      </p:sp>
      <p:sp>
        <p:nvSpPr>
          <p:cNvPr id="33" name="Text 31"/>
          <p:cNvSpPr/>
          <p:nvPr/>
        </p:nvSpPr>
        <p:spPr>
          <a:xfrm>
            <a:off x="6697279" y="1422552"/>
            <a:ext cx="5015408" cy="291806"/>
          </a:xfrm>
          <a:prstGeom prst="rect">
            <a:avLst/>
          </a:prstGeom>
          <a:noFill/>
          <a:ln/>
        </p:spPr>
        <p:txBody>
          <a:bodyPr wrap="square" lIns="0" tIns="0" rIns="0" bIns="0" rtlCol="0" anchor="ctr"/>
          <a:lstStyle/>
          <a:p>
            <a:pPr>
              <a:lnSpc>
                <a:spcPct val="110000"/>
              </a:lnSpc>
            </a:pPr>
            <a:r>
              <a:rPr lang="en-US" sz="1723" b="1" dirty="0">
                <a:solidFill>
                  <a:srgbClr val="0A84FF"/>
                </a:solidFill>
                <a:latin typeface="Liter" pitchFamily="34" charset="0"/>
                <a:ea typeface="Liter" pitchFamily="34" charset="-122"/>
                <a:cs typeface="Liter" pitchFamily="34" charset="-120"/>
              </a:rPr>
              <a:t>Expected Outcomes</a:t>
            </a:r>
            <a:endParaRPr lang="en-US" sz="1600" dirty="0"/>
          </a:p>
        </p:txBody>
      </p:sp>
      <p:sp>
        <p:nvSpPr>
          <p:cNvPr id="34" name="Shape 32"/>
          <p:cNvSpPr/>
          <p:nvPr/>
        </p:nvSpPr>
        <p:spPr>
          <a:xfrm>
            <a:off x="6423711" y="1896625"/>
            <a:ext cx="5179548" cy="1094271"/>
          </a:xfrm>
          <a:prstGeom prst="roundRect">
            <a:avLst>
              <a:gd name="adj" fmla="val 10000"/>
            </a:avLst>
          </a:prstGeom>
          <a:solidFill>
            <a:srgbClr val="1A1D21"/>
          </a:solidFill>
          <a:ln/>
        </p:spPr>
      </p:sp>
      <p:sp>
        <p:nvSpPr>
          <p:cNvPr id="35" name="Shape 33"/>
          <p:cNvSpPr/>
          <p:nvPr/>
        </p:nvSpPr>
        <p:spPr>
          <a:xfrm>
            <a:off x="6569614" y="2042527"/>
            <a:ext cx="291806" cy="291806"/>
          </a:xfrm>
          <a:prstGeom prst="roundRect">
            <a:avLst>
              <a:gd name="adj" fmla="val 50000"/>
            </a:avLst>
          </a:prstGeom>
          <a:solidFill>
            <a:srgbClr val="0A84FF"/>
          </a:solidFill>
          <a:ln/>
        </p:spPr>
      </p:sp>
      <p:sp>
        <p:nvSpPr>
          <p:cNvPr id="36" name="Text 34"/>
          <p:cNvSpPr/>
          <p:nvPr/>
        </p:nvSpPr>
        <p:spPr>
          <a:xfrm>
            <a:off x="6692378" y="2079003"/>
            <a:ext cx="118546" cy="218854"/>
          </a:xfrm>
          <a:prstGeom prst="rect">
            <a:avLst/>
          </a:prstGeom>
          <a:noFill/>
          <a:ln/>
        </p:spPr>
        <p:txBody>
          <a:bodyPr wrap="square" lIns="0" tIns="0" rIns="0" bIns="0" rtlCol="0" anchor="ctr"/>
          <a:lstStyle/>
          <a:p>
            <a:pPr>
              <a:lnSpc>
                <a:spcPct val="130000"/>
              </a:lnSpc>
            </a:pPr>
            <a:r>
              <a:rPr lang="en-US" sz="1149"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37" name="Text 35"/>
          <p:cNvSpPr/>
          <p:nvPr/>
        </p:nvSpPr>
        <p:spPr>
          <a:xfrm>
            <a:off x="6970847" y="2060765"/>
            <a:ext cx="1550217" cy="255330"/>
          </a:xfrm>
          <a:prstGeom prst="rect">
            <a:avLst/>
          </a:prstGeom>
          <a:noFill/>
          <a:ln/>
        </p:spPr>
        <p:txBody>
          <a:bodyPr wrap="square" lIns="0" tIns="0" rIns="0" bIns="0" rtlCol="0" anchor="ctr"/>
          <a:lstStyle/>
          <a:p>
            <a:pPr>
              <a:lnSpc>
                <a:spcPct val="130000"/>
              </a:lnSpc>
            </a:pPr>
            <a:r>
              <a:rPr lang="en-US" sz="1292" b="1" dirty="0">
                <a:solidFill>
                  <a:srgbClr val="0A84FF"/>
                </a:solidFill>
                <a:latin typeface="Liter" pitchFamily="34" charset="0"/>
                <a:ea typeface="Liter" pitchFamily="34" charset="-122"/>
                <a:cs typeface="Liter" pitchFamily="34" charset="-120"/>
              </a:rPr>
              <a:t>Platform Knowledge</a:t>
            </a:r>
            <a:endParaRPr lang="en-US" sz="1600" dirty="0"/>
          </a:p>
        </p:txBody>
      </p:sp>
      <p:sp>
        <p:nvSpPr>
          <p:cNvPr id="38" name="Text 36"/>
          <p:cNvSpPr/>
          <p:nvPr/>
        </p:nvSpPr>
        <p:spPr>
          <a:xfrm>
            <a:off x="6569614" y="2407284"/>
            <a:ext cx="4960694" cy="437708"/>
          </a:xfrm>
          <a:prstGeom prst="rect">
            <a:avLst/>
          </a:prstGeom>
          <a:noFill/>
          <a:ln/>
        </p:spPr>
        <p:txBody>
          <a:bodyPr wrap="square" lIns="0" tIns="0" rIns="0" bIns="0" rtlCol="0" anchor="ctr"/>
          <a:lstStyle/>
          <a:p>
            <a:pP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You can explain the differences between Android, iOS, and Cross-Platform development</a:t>
            </a:r>
            <a:endParaRPr lang="en-US" sz="1600" dirty="0"/>
          </a:p>
        </p:txBody>
      </p:sp>
      <p:sp>
        <p:nvSpPr>
          <p:cNvPr id="39" name="Shape 37"/>
          <p:cNvSpPr/>
          <p:nvPr/>
        </p:nvSpPr>
        <p:spPr>
          <a:xfrm>
            <a:off x="6423711" y="3136798"/>
            <a:ext cx="5179548" cy="875417"/>
          </a:xfrm>
          <a:prstGeom prst="roundRect">
            <a:avLst>
              <a:gd name="adj" fmla="val 12500"/>
            </a:avLst>
          </a:prstGeom>
          <a:solidFill>
            <a:srgbClr val="1A1D21"/>
          </a:solidFill>
          <a:ln/>
        </p:spPr>
      </p:sp>
      <p:sp>
        <p:nvSpPr>
          <p:cNvPr id="40" name="Shape 38"/>
          <p:cNvSpPr/>
          <p:nvPr/>
        </p:nvSpPr>
        <p:spPr>
          <a:xfrm>
            <a:off x="6569614" y="3282701"/>
            <a:ext cx="291806" cy="291806"/>
          </a:xfrm>
          <a:prstGeom prst="roundRect">
            <a:avLst>
              <a:gd name="adj" fmla="val 50000"/>
            </a:avLst>
          </a:prstGeom>
          <a:solidFill>
            <a:srgbClr val="0A84FF"/>
          </a:solidFill>
          <a:ln/>
        </p:spPr>
      </p:sp>
      <p:sp>
        <p:nvSpPr>
          <p:cNvPr id="41" name="Text 39"/>
          <p:cNvSpPr/>
          <p:nvPr/>
        </p:nvSpPr>
        <p:spPr>
          <a:xfrm>
            <a:off x="6678357" y="3319177"/>
            <a:ext cx="145903" cy="218854"/>
          </a:xfrm>
          <a:prstGeom prst="rect">
            <a:avLst/>
          </a:prstGeom>
          <a:noFill/>
          <a:ln/>
        </p:spPr>
        <p:txBody>
          <a:bodyPr wrap="square" lIns="0" tIns="0" rIns="0" bIns="0" rtlCol="0" anchor="ctr"/>
          <a:lstStyle/>
          <a:p>
            <a:pPr>
              <a:lnSpc>
                <a:spcPct val="130000"/>
              </a:lnSpc>
            </a:pPr>
            <a:r>
              <a:rPr lang="en-US" sz="1149"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42" name="Text 40"/>
          <p:cNvSpPr/>
          <p:nvPr/>
        </p:nvSpPr>
        <p:spPr>
          <a:xfrm>
            <a:off x="6970847" y="3300939"/>
            <a:ext cx="1258411" cy="255330"/>
          </a:xfrm>
          <a:prstGeom prst="rect">
            <a:avLst/>
          </a:prstGeom>
          <a:noFill/>
          <a:ln/>
        </p:spPr>
        <p:txBody>
          <a:bodyPr wrap="square" lIns="0" tIns="0" rIns="0" bIns="0" rtlCol="0" anchor="ctr"/>
          <a:lstStyle/>
          <a:p>
            <a:pPr>
              <a:lnSpc>
                <a:spcPct val="130000"/>
              </a:lnSpc>
            </a:pPr>
            <a:r>
              <a:rPr lang="en-US" sz="1292" b="1" dirty="0">
                <a:solidFill>
                  <a:srgbClr val="0A84FF"/>
                </a:solidFill>
                <a:latin typeface="Liter" pitchFamily="34" charset="0"/>
                <a:ea typeface="Liter" pitchFamily="34" charset="-122"/>
                <a:cs typeface="Liter" pitchFamily="34" charset="-120"/>
              </a:rPr>
              <a:t>Tool Proficiency</a:t>
            </a:r>
            <a:endParaRPr lang="en-US" sz="1600" dirty="0"/>
          </a:p>
        </p:txBody>
      </p:sp>
      <p:sp>
        <p:nvSpPr>
          <p:cNvPr id="43" name="Text 41"/>
          <p:cNvSpPr/>
          <p:nvPr/>
        </p:nvSpPr>
        <p:spPr>
          <a:xfrm>
            <a:off x="6569614" y="3647458"/>
            <a:ext cx="4960694" cy="218854"/>
          </a:xfrm>
          <a:prstGeom prst="rect">
            <a:avLst/>
          </a:prstGeom>
          <a:noFill/>
          <a:ln/>
        </p:spPr>
        <p:txBody>
          <a:bodyPr wrap="square" lIns="0" tIns="0" rIns="0" bIns="0" rtlCol="0" anchor="ctr"/>
          <a:lstStyle/>
          <a:p>
            <a:pP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You have Android Studio, Xcode, or VS Code installed and ready to use</a:t>
            </a:r>
            <a:endParaRPr lang="en-US" sz="1600" dirty="0"/>
          </a:p>
        </p:txBody>
      </p:sp>
      <p:sp>
        <p:nvSpPr>
          <p:cNvPr id="44" name="Shape 42"/>
          <p:cNvSpPr/>
          <p:nvPr/>
        </p:nvSpPr>
        <p:spPr>
          <a:xfrm>
            <a:off x="6423711" y="4158118"/>
            <a:ext cx="5179548" cy="875417"/>
          </a:xfrm>
          <a:prstGeom prst="roundRect">
            <a:avLst>
              <a:gd name="adj" fmla="val 12500"/>
            </a:avLst>
          </a:prstGeom>
          <a:solidFill>
            <a:srgbClr val="1A1D21"/>
          </a:solidFill>
          <a:ln/>
        </p:spPr>
      </p:sp>
      <p:sp>
        <p:nvSpPr>
          <p:cNvPr id="45" name="Shape 43"/>
          <p:cNvSpPr/>
          <p:nvPr/>
        </p:nvSpPr>
        <p:spPr>
          <a:xfrm>
            <a:off x="6569614" y="4304020"/>
            <a:ext cx="291806" cy="291806"/>
          </a:xfrm>
          <a:prstGeom prst="roundRect">
            <a:avLst>
              <a:gd name="adj" fmla="val 50000"/>
            </a:avLst>
          </a:prstGeom>
          <a:solidFill>
            <a:srgbClr val="0A84FF"/>
          </a:solidFill>
          <a:ln/>
        </p:spPr>
      </p:sp>
      <p:sp>
        <p:nvSpPr>
          <p:cNvPr id="46" name="Text 44"/>
          <p:cNvSpPr/>
          <p:nvPr/>
        </p:nvSpPr>
        <p:spPr>
          <a:xfrm>
            <a:off x="6676420" y="4340496"/>
            <a:ext cx="155022" cy="218854"/>
          </a:xfrm>
          <a:prstGeom prst="rect">
            <a:avLst/>
          </a:prstGeom>
          <a:noFill/>
          <a:ln/>
        </p:spPr>
        <p:txBody>
          <a:bodyPr wrap="square" lIns="0" tIns="0" rIns="0" bIns="0" rtlCol="0" anchor="ctr"/>
          <a:lstStyle/>
          <a:p>
            <a:pPr>
              <a:lnSpc>
                <a:spcPct val="130000"/>
              </a:lnSpc>
            </a:pPr>
            <a:r>
              <a:rPr lang="en-US" sz="1149" b="1"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47" name="Text 45"/>
          <p:cNvSpPr/>
          <p:nvPr/>
        </p:nvSpPr>
        <p:spPr>
          <a:xfrm>
            <a:off x="6970847" y="4322258"/>
            <a:ext cx="1732595" cy="255330"/>
          </a:xfrm>
          <a:prstGeom prst="rect">
            <a:avLst/>
          </a:prstGeom>
          <a:noFill/>
          <a:ln/>
        </p:spPr>
        <p:txBody>
          <a:bodyPr wrap="square" lIns="0" tIns="0" rIns="0" bIns="0" rtlCol="0" anchor="ctr"/>
          <a:lstStyle/>
          <a:p>
            <a:pPr>
              <a:lnSpc>
                <a:spcPct val="130000"/>
              </a:lnSpc>
            </a:pPr>
            <a:r>
              <a:rPr lang="en-US" sz="1292" b="1" dirty="0">
                <a:solidFill>
                  <a:srgbClr val="0A84FF"/>
                </a:solidFill>
                <a:latin typeface="Liter" pitchFamily="34" charset="0"/>
                <a:ea typeface="Liter" pitchFamily="34" charset="-122"/>
                <a:cs typeface="Liter" pitchFamily="34" charset="-120"/>
              </a:rPr>
              <a:t>Framework Awareness</a:t>
            </a:r>
            <a:endParaRPr lang="en-US" sz="1600" dirty="0"/>
          </a:p>
        </p:txBody>
      </p:sp>
      <p:sp>
        <p:nvSpPr>
          <p:cNvPr id="48" name="Text 46"/>
          <p:cNvSpPr/>
          <p:nvPr/>
        </p:nvSpPr>
        <p:spPr>
          <a:xfrm>
            <a:off x="6569614" y="4668777"/>
            <a:ext cx="4960694" cy="218854"/>
          </a:xfrm>
          <a:prstGeom prst="rect">
            <a:avLst/>
          </a:prstGeom>
          <a:noFill/>
          <a:ln/>
        </p:spPr>
        <p:txBody>
          <a:bodyPr wrap="square" lIns="0" tIns="0" rIns="0" bIns="0" rtlCol="0" anchor="ctr"/>
          <a:lstStyle/>
          <a:p>
            <a:pP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You understand when to use Flutter vs React Native for projects</a:t>
            </a:r>
            <a:endParaRPr lang="en-US" sz="1600" dirty="0"/>
          </a:p>
        </p:txBody>
      </p:sp>
      <p:sp>
        <p:nvSpPr>
          <p:cNvPr id="49" name="Shape 47"/>
          <p:cNvSpPr/>
          <p:nvPr/>
        </p:nvSpPr>
        <p:spPr>
          <a:xfrm>
            <a:off x="6172029" y="5401939"/>
            <a:ext cx="5651908" cy="1448085"/>
          </a:xfrm>
          <a:prstGeom prst="roundRect">
            <a:avLst>
              <a:gd name="adj" fmla="val 10076"/>
            </a:avLst>
          </a:prstGeom>
          <a:solidFill>
            <a:srgbClr val="34C759">
              <a:alpha val="10196"/>
            </a:srgbClr>
          </a:solidFill>
          <a:ln w="10160">
            <a:solidFill>
              <a:srgbClr val="34C759">
                <a:alpha val="30196"/>
              </a:srgbClr>
            </a:solidFill>
            <a:prstDash val="solid"/>
          </a:ln>
        </p:spPr>
      </p:sp>
      <p:sp>
        <p:nvSpPr>
          <p:cNvPr id="50" name="Shape 48"/>
          <p:cNvSpPr/>
          <p:nvPr/>
        </p:nvSpPr>
        <p:spPr>
          <a:xfrm>
            <a:off x="6380852" y="5633558"/>
            <a:ext cx="164141" cy="164141"/>
          </a:xfrm>
          <a:custGeom>
            <a:avLst/>
            <a:gdLst/>
            <a:ahLst/>
            <a:cxnLst/>
            <a:rect l="l" t="t" r="r" b="b"/>
            <a:pathLst>
              <a:path w="164141" h="164141">
                <a:moveTo>
                  <a:pt x="82070" y="153882"/>
                </a:moveTo>
                <a:cubicBezTo>
                  <a:pt x="127401" y="153882"/>
                  <a:pt x="164141" y="119419"/>
                  <a:pt x="164141" y="76941"/>
                </a:cubicBezTo>
                <a:cubicBezTo>
                  <a:pt x="164141" y="34463"/>
                  <a:pt x="127401" y="0"/>
                  <a:pt x="82070" y="0"/>
                </a:cubicBezTo>
                <a:cubicBezTo>
                  <a:pt x="36739" y="0"/>
                  <a:pt x="0" y="34463"/>
                  <a:pt x="0" y="76941"/>
                </a:cubicBezTo>
                <a:cubicBezTo>
                  <a:pt x="0" y="94349"/>
                  <a:pt x="6155" y="110378"/>
                  <a:pt x="16542" y="123266"/>
                </a:cubicBezTo>
                <a:lnTo>
                  <a:pt x="898" y="152856"/>
                </a:lnTo>
                <a:cubicBezTo>
                  <a:pt x="-641" y="155741"/>
                  <a:pt x="-160" y="159268"/>
                  <a:pt x="2052" y="161672"/>
                </a:cubicBezTo>
                <a:cubicBezTo>
                  <a:pt x="4264" y="164076"/>
                  <a:pt x="7758" y="164814"/>
                  <a:pt x="10740" y="163531"/>
                </a:cubicBezTo>
                <a:lnTo>
                  <a:pt x="48697" y="147278"/>
                </a:lnTo>
                <a:cubicBezTo>
                  <a:pt x="58892" y="151509"/>
                  <a:pt x="70177" y="153882"/>
                  <a:pt x="82070" y="153882"/>
                </a:cubicBezTo>
                <a:close/>
                <a:moveTo>
                  <a:pt x="41035" y="66682"/>
                </a:moveTo>
                <a:cubicBezTo>
                  <a:pt x="46697" y="66682"/>
                  <a:pt x="51294" y="71279"/>
                  <a:pt x="51294" y="76941"/>
                </a:cubicBezTo>
                <a:cubicBezTo>
                  <a:pt x="51294" y="82603"/>
                  <a:pt x="46697" y="87200"/>
                  <a:pt x="41035" y="87200"/>
                </a:cubicBezTo>
                <a:cubicBezTo>
                  <a:pt x="35373" y="87200"/>
                  <a:pt x="30776" y="82603"/>
                  <a:pt x="30776" y="76941"/>
                </a:cubicBezTo>
                <a:cubicBezTo>
                  <a:pt x="30776" y="71279"/>
                  <a:pt x="35373" y="66682"/>
                  <a:pt x="41035" y="66682"/>
                </a:cubicBezTo>
                <a:close/>
                <a:moveTo>
                  <a:pt x="82070" y="66682"/>
                </a:moveTo>
                <a:cubicBezTo>
                  <a:pt x="87732" y="66682"/>
                  <a:pt x="92329" y="71279"/>
                  <a:pt x="92329" y="76941"/>
                </a:cubicBezTo>
                <a:cubicBezTo>
                  <a:pt x="92329" y="82603"/>
                  <a:pt x="87732" y="87200"/>
                  <a:pt x="82070" y="87200"/>
                </a:cubicBezTo>
                <a:cubicBezTo>
                  <a:pt x="76408" y="87200"/>
                  <a:pt x="71812" y="82603"/>
                  <a:pt x="71812" y="76941"/>
                </a:cubicBezTo>
                <a:cubicBezTo>
                  <a:pt x="71812" y="71279"/>
                  <a:pt x="76408" y="66682"/>
                  <a:pt x="82070" y="66682"/>
                </a:cubicBezTo>
                <a:close/>
                <a:moveTo>
                  <a:pt x="112847" y="76941"/>
                </a:moveTo>
                <a:cubicBezTo>
                  <a:pt x="112847" y="71279"/>
                  <a:pt x="117443" y="66682"/>
                  <a:pt x="123105" y="66682"/>
                </a:cubicBezTo>
                <a:cubicBezTo>
                  <a:pt x="128767" y="66682"/>
                  <a:pt x="133364" y="71279"/>
                  <a:pt x="133364" y="76941"/>
                </a:cubicBezTo>
                <a:cubicBezTo>
                  <a:pt x="133364" y="82603"/>
                  <a:pt x="128767" y="87200"/>
                  <a:pt x="123105" y="87200"/>
                </a:cubicBezTo>
                <a:cubicBezTo>
                  <a:pt x="117443" y="87200"/>
                  <a:pt x="112847" y="82603"/>
                  <a:pt x="112847" y="76941"/>
                </a:cubicBezTo>
                <a:close/>
              </a:path>
            </a:pathLst>
          </a:custGeom>
          <a:solidFill>
            <a:srgbClr val="34C759"/>
          </a:solidFill>
          <a:ln/>
        </p:spPr>
      </p:sp>
      <p:sp>
        <p:nvSpPr>
          <p:cNvPr id="51" name="Text 49"/>
          <p:cNvSpPr/>
          <p:nvPr/>
        </p:nvSpPr>
        <p:spPr>
          <a:xfrm>
            <a:off x="6567790" y="5587963"/>
            <a:ext cx="5152191" cy="255330"/>
          </a:xfrm>
          <a:prstGeom prst="rect">
            <a:avLst/>
          </a:prstGeom>
          <a:noFill/>
          <a:ln/>
        </p:spPr>
        <p:txBody>
          <a:bodyPr wrap="square" lIns="0" tIns="0" rIns="0" bIns="0" rtlCol="0" anchor="ctr"/>
          <a:lstStyle/>
          <a:p>
            <a:pPr>
              <a:lnSpc>
                <a:spcPct val="130000"/>
              </a:lnSpc>
            </a:pPr>
            <a:r>
              <a:rPr lang="en-US" sz="1292" b="1" dirty="0">
                <a:solidFill>
                  <a:srgbClr val="34C759"/>
                </a:solidFill>
                <a:latin typeface="Liter" pitchFamily="34" charset="0"/>
                <a:ea typeface="Liter" pitchFamily="34" charset="-122"/>
                <a:cs typeface="Liter" pitchFamily="34" charset="-120"/>
              </a:rPr>
              <a:t>Simple Explanation</a:t>
            </a:r>
            <a:endParaRPr lang="en-US" sz="1600" dirty="0"/>
          </a:p>
        </p:txBody>
      </p:sp>
      <p:sp>
        <p:nvSpPr>
          <p:cNvPr id="52" name="Text 50"/>
          <p:cNvSpPr/>
          <p:nvPr/>
        </p:nvSpPr>
        <p:spPr>
          <a:xfrm>
            <a:off x="6358055" y="5952720"/>
            <a:ext cx="5352808" cy="711276"/>
          </a:xfrm>
          <a:prstGeom prst="rect">
            <a:avLst/>
          </a:prstGeom>
          <a:noFill/>
          <a:ln/>
        </p:spPr>
        <p:txBody>
          <a:bodyPr wrap="square" lIns="0" tIns="0" rIns="0" bIns="0" rtlCol="0" anchor="ctr"/>
          <a:lstStyle/>
          <a:p>
            <a:pPr>
              <a:lnSpc>
                <a:spcPct val="140000"/>
              </a:lnSpc>
            </a:pPr>
            <a:r>
              <a:rPr lang="en-US" sz="1149" dirty="0">
                <a:solidFill>
                  <a:srgbClr val="F5F5F7"/>
                </a:solidFill>
                <a:latin typeface="Quattrocento Sans" pitchFamily="34" charset="0"/>
                <a:ea typeface="Quattrocento Sans" pitchFamily="34" charset="-122"/>
                <a:cs typeface="Quattrocento Sans" pitchFamily="34" charset="-120"/>
              </a:rPr>
              <a:t>Think of this course as </a:t>
            </a:r>
            <a:pPr>
              <a:lnSpc>
                <a:spcPct val="140000"/>
              </a:lnSpc>
            </a:pPr>
            <a:r>
              <a:rPr lang="en-US" sz="1149" b="1" dirty="0">
                <a:solidFill>
                  <a:srgbClr val="34C759"/>
                </a:solidFill>
                <a:latin typeface="Quattrocento Sans" pitchFamily="34" charset="0"/>
                <a:ea typeface="Quattrocento Sans" pitchFamily="34" charset="-122"/>
                <a:cs typeface="Quattrocento Sans" pitchFamily="34" charset="-120"/>
              </a:rPr>
              <a:t>learning to cook</a:t>
            </a:r>
            <a:pPr>
              <a:lnSpc>
                <a:spcPct val="140000"/>
              </a:lnSpc>
            </a:pPr>
            <a:r>
              <a:rPr lang="en-US" sz="1149" dirty="0">
                <a:solidFill>
                  <a:srgbClr val="F5F5F7"/>
                </a:solidFill>
                <a:latin typeface="Quattrocento Sans" pitchFamily="34" charset="0"/>
                <a:ea typeface="Quattrocento Sans" pitchFamily="34" charset="-122"/>
                <a:cs typeface="Quattrocento Sans" pitchFamily="34" charset="-120"/>
              </a:rPr>
              <a:t>. First, you learn about ingredients (platforms), then you set up your kitchen (development tools), and finally you learn recipes (frameworks) to create delicious meals (apps).</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66677" y="421678"/>
            <a:ext cx="440012" cy="440012"/>
          </a:xfrm>
          <a:prstGeom prst="roundRect">
            <a:avLst>
              <a:gd name="adj" fmla="val 25000"/>
            </a:avLst>
          </a:prstGeom>
          <a:solidFill>
            <a:srgbClr val="0A84FF"/>
          </a:solidFill>
          <a:ln/>
        </p:spPr>
      </p:sp>
      <p:sp>
        <p:nvSpPr>
          <p:cNvPr id="3" name="Text 1"/>
          <p:cNvSpPr/>
          <p:nvPr/>
        </p:nvSpPr>
        <p:spPr>
          <a:xfrm>
            <a:off x="448950" y="495014"/>
            <a:ext cx="385011" cy="293341"/>
          </a:xfrm>
          <a:prstGeom prst="rect">
            <a:avLst/>
          </a:prstGeom>
          <a:noFill/>
          <a:ln/>
        </p:spPr>
        <p:txBody>
          <a:bodyPr wrap="square" lIns="0" tIns="0" rIns="0" bIns="0" rtlCol="0" anchor="ctr"/>
          <a:lstStyle/>
          <a:p>
            <a:pPr>
              <a:lnSpc>
                <a:spcPct val="110000"/>
              </a:lnSpc>
            </a:pPr>
            <a:r>
              <a:rPr lang="en-US" sz="1732" b="1" dirty="0">
                <a:solidFill>
                  <a:srgbClr val="F5F5F7"/>
                </a:solidFill>
                <a:latin typeface="Liter" pitchFamily="34" charset="0"/>
                <a:ea typeface="Liter" pitchFamily="34" charset="-122"/>
                <a:cs typeface="Liter" pitchFamily="34" charset="-120"/>
              </a:rPr>
              <a:t>08</a:t>
            </a:r>
            <a:endParaRPr lang="en-US" sz="1600" dirty="0"/>
          </a:p>
        </p:txBody>
      </p:sp>
      <p:sp>
        <p:nvSpPr>
          <p:cNvPr id="4" name="Text 2"/>
          <p:cNvSpPr/>
          <p:nvPr/>
        </p:nvSpPr>
        <p:spPr>
          <a:xfrm>
            <a:off x="916692" y="366677"/>
            <a:ext cx="3355092" cy="183338"/>
          </a:xfrm>
          <a:prstGeom prst="rect">
            <a:avLst/>
          </a:prstGeom>
          <a:noFill/>
          <a:ln/>
        </p:spPr>
        <p:txBody>
          <a:bodyPr wrap="square" lIns="0" tIns="0" rIns="0" bIns="0" rtlCol="0" anchor="ctr"/>
          <a:lstStyle/>
          <a:p>
            <a:pPr>
              <a:lnSpc>
                <a:spcPct val="120000"/>
              </a:lnSpc>
            </a:pPr>
            <a:r>
              <a:rPr lang="en-US" sz="1011" b="1" spc="51" kern="0" dirty="0">
                <a:solidFill>
                  <a:srgbClr val="0A84FF"/>
                </a:solidFill>
                <a:latin typeface="Quattrocento Sans" pitchFamily="34" charset="0"/>
                <a:ea typeface="Quattrocento Sans" pitchFamily="34" charset="-122"/>
                <a:cs typeface="Quattrocento Sans" pitchFamily="34" charset="-120"/>
              </a:rPr>
              <a:t>Course Overview</a:t>
            </a:r>
            <a:endParaRPr lang="en-US" sz="1600" dirty="0"/>
          </a:p>
        </p:txBody>
      </p:sp>
      <p:sp>
        <p:nvSpPr>
          <p:cNvPr id="5" name="Text 3"/>
          <p:cNvSpPr/>
          <p:nvPr/>
        </p:nvSpPr>
        <p:spPr>
          <a:xfrm>
            <a:off x="916692" y="550015"/>
            <a:ext cx="3455928" cy="366677"/>
          </a:xfrm>
          <a:prstGeom prst="rect">
            <a:avLst/>
          </a:prstGeom>
          <a:noFill/>
          <a:ln/>
        </p:spPr>
        <p:txBody>
          <a:bodyPr wrap="square" lIns="0" tIns="0" rIns="0" bIns="0" rtlCol="0" anchor="ctr"/>
          <a:lstStyle/>
          <a:p>
            <a:pPr>
              <a:lnSpc>
                <a:spcPct val="90000"/>
              </a:lnSpc>
            </a:pPr>
            <a:r>
              <a:rPr lang="en-US" sz="2599" b="1" dirty="0">
                <a:solidFill>
                  <a:srgbClr val="F5F5F7"/>
                </a:solidFill>
                <a:latin typeface="Liter" pitchFamily="34" charset="0"/>
                <a:ea typeface="Liter" pitchFamily="34" charset="-122"/>
                <a:cs typeface="Liter" pitchFamily="34" charset="-120"/>
              </a:rPr>
              <a:t>Skills You Will Develop</a:t>
            </a:r>
            <a:endParaRPr lang="en-US" sz="1600" dirty="0"/>
          </a:p>
        </p:txBody>
      </p:sp>
      <p:sp>
        <p:nvSpPr>
          <p:cNvPr id="6" name="Shape 4"/>
          <p:cNvSpPr/>
          <p:nvPr/>
        </p:nvSpPr>
        <p:spPr>
          <a:xfrm>
            <a:off x="366677" y="1228367"/>
            <a:ext cx="3721768" cy="2548403"/>
          </a:xfrm>
          <a:custGeom>
            <a:avLst/>
            <a:gdLst/>
            <a:ahLst/>
            <a:cxnLst/>
            <a:rect l="l" t="t" r="r" b="b"/>
            <a:pathLst>
              <a:path w="3721768" h="2548403">
                <a:moveTo>
                  <a:pt x="36703" y="0"/>
                </a:moveTo>
                <a:lnTo>
                  <a:pt x="3685159" y="0"/>
                </a:lnTo>
                <a:cubicBezTo>
                  <a:pt x="3705380" y="70"/>
                  <a:pt x="3721735" y="16482"/>
                  <a:pt x="3721735" y="36703"/>
                </a:cubicBezTo>
                <a:lnTo>
                  <a:pt x="3721735" y="2401697"/>
                </a:lnTo>
                <a:cubicBezTo>
                  <a:pt x="3721735" y="2482709"/>
                  <a:pt x="3656062" y="2548382"/>
                  <a:pt x="3575050" y="2548382"/>
                </a:cubicBezTo>
                <a:lnTo>
                  <a:pt x="146685" y="2548382"/>
                </a:lnTo>
                <a:cubicBezTo>
                  <a:pt x="65673" y="2548382"/>
                  <a:pt x="0" y="2482709"/>
                  <a:pt x="0" y="2401697"/>
                </a:cubicBezTo>
                <a:lnTo>
                  <a:pt x="0" y="36703"/>
                </a:lnTo>
                <a:cubicBezTo>
                  <a:pt x="0" y="16432"/>
                  <a:pt x="16432" y="0"/>
                  <a:pt x="36703" y="0"/>
                </a:cubicBezTo>
                <a:close/>
              </a:path>
            </a:pathLst>
          </a:custGeom>
          <a:gradFill rotWithShape="1" flip="none">
            <a:gsLst>
              <a:gs pos="0">
                <a:srgbClr val="34C759">
                  <a:alpha val="20000"/>
                </a:srgbClr>
              </a:gs>
              <a:gs pos="100000">
                <a:srgbClr val="2C2C2E"/>
              </a:gs>
            </a:gsLst>
            <a:lin ang="2700000" scaled="1"/>
          </a:gradFill>
          <a:ln/>
        </p:spPr>
      </p:sp>
      <p:sp>
        <p:nvSpPr>
          <p:cNvPr id="7" name="Shape 5"/>
          <p:cNvSpPr/>
          <p:nvPr/>
        </p:nvSpPr>
        <p:spPr>
          <a:xfrm>
            <a:off x="366677" y="1228367"/>
            <a:ext cx="3721768" cy="36668"/>
          </a:xfrm>
          <a:custGeom>
            <a:avLst/>
            <a:gdLst/>
            <a:ahLst/>
            <a:cxnLst/>
            <a:rect l="l" t="t" r="r" b="b"/>
            <a:pathLst>
              <a:path w="3721768" h="36668">
                <a:moveTo>
                  <a:pt x="36703" y="0"/>
                </a:moveTo>
                <a:lnTo>
                  <a:pt x="3685159" y="0"/>
                </a:lnTo>
                <a:cubicBezTo>
                  <a:pt x="3705380" y="70"/>
                  <a:pt x="3721735" y="16482"/>
                  <a:pt x="3721735" y="36703"/>
                </a:cubicBezTo>
                <a:lnTo>
                  <a:pt x="3721735" y="36703"/>
                </a:lnTo>
                <a:lnTo>
                  <a:pt x="0" y="36703"/>
                </a:lnTo>
                <a:lnTo>
                  <a:pt x="0" y="36703"/>
                </a:lnTo>
                <a:cubicBezTo>
                  <a:pt x="0" y="16432"/>
                  <a:pt x="16432" y="0"/>
                  <a:pt x="36703" y="0"/>
                </a:cubicBezTo>
                <a:close/>
              </a:path>
            </a:pathLst>
          </a:custGeom>
          <a:solidFill>
            <a:srgbClr val="34C759"/>
          </a:solidFill>
          <a:ln/>
        </p:spPr>
      </p:sp>
      <p:sp>
        <p:nvSpPr>
          <p:cNvPr id="8" name="Shape 6"/>
          <p:cNvSpPr/>
          <p:nvPr/>
        </p:nvSpPr>
        <p:spPr>
          <a:xfrm>
            <a:off x="550015" y="1430039"/>
            <a:ext cx="586683" cy="586683"/>
          </a:xfrm>
          <a:prstGeom prst="roundRect">
            <a:avLst>
              <a:gd name="adj" fmla="val 25000"/>
            </a:avLst>
          </a:prstGeom>
          <a:solidFill>
            <a:srgbClr val="34C759"/>
          </a:solidFill>
          <a:ln/>
        </p:spPr>
      </p:sp>
      <p:sp>
        <p:nvSpPr>
          <p:cNvPr id="9" name="Shape 7"/>
          <p:cNvSpPr/>
          <p:nvPr/>
        </p:nvSpPr>
        <p:spPr>
          <a:xfrm>
            <a:off x="673768" y="1585877"/>
            <a:ext cx="343759" cy="275008"/>
          </a:xfrm>
          <a:custGeom>
            <a:avLst/>
            <a:gdLst/>
            <a:ahLst/>
            <a:cxnLst/>
            <a:rect l="l" t="t" r="r" b="b"/>
            <a:pathLst>
              <a:path w="343759" h="275008">
                <a:moveTo>
                  <a:pt x="34376" y="51564"/>
                </a:moveTo>
                <a:cubicBezTo>
                  <a:pt x="34376" y="32603"/>
                  <a:pt x="49791" y="17188"/>
                  <a:pt x="68752" y="17188"/>
                </a:cubicBezTo>
                <a:lnTo>
                  <a:pt x="275008" y="17188"/>
                </a:lnTo>
                <a:cubicBezTo>
                  <a:pt x="293968" y="17188"/>
                  <a:pt x="309383" y="32603"/>
                  <a:pt x="309383" y="51564"/>
                </a:cubicBezTo>
                <a:lnTo>
                  <a:pt x="309383" y="180474"/>
                </a:lnTo>
                <a:lnTo>
                  <a:pt x="275008" y="180474"/>
                </a:lnTo>
                <a:lnTo>
                  <a:pt x="275008" y="51564"/>
                </a:lnTo>
                <a:lnTo>
                  <a:pt x="68752" y="51564"/>
                </a:lnTo>
                <a:lnTo>
                  <a:pt x="68752" y="180474"/>
                </a:lnTo>
                <a:lnTo>
                  <a:pt x="34376" y="180474"/>
                </a:lnTo>
                <a:lnTo>
                  <a:pt x="34376" y="51564"/>
                </a:lnTo>
                <a:close/>
                <a:moveTo>
                  <a:pt x="0" y="216568"/>
                </a:moveTo>
                <a:cubicBezTo>
                  <a:pt x="0" y="210875"/>
                  <a:pt x="4619" y="206256"/>
                  <a:pt x="10313" y="206256"/>
                </a:cubicBezTo>
                <a:lnTo>
                  <a:pt x="333447" y="206256"/>
                </a:lnTo>
                <a:cubicBezTo>
                  <a:pt x="339140" y="206256"/>
                  <a:pt x="343759" y="210875"/>
                  <a:pt x="343759" y="216568"/>
                </a:cubicBezTo>
                <a:cubicBezTo>
                  <a:pt x="343759" y="239342"/>
                  <a:pt x="325282" y="257820"/>
                  <a:pt x="302508" y="257820"/>
                </a:cubicBezTo>
                <a:lnTo>
                  <a:pt x="41251" y="257820"/>
                </a:lnTo>
                <a:cubicBezTo>
                  <a:pt x="18477" y="257820"/>
                  <a:pt x="0" y="239342"/>
                  <a:pt x="0" y="216568"/>
                </a:cubicBezTo>
                <a:close/>
                <a:moveTo>
                  <a:pt x="150932" y="112259"/>
                </a:moveTo>
                <a:lnTo>
                  <a:pt x="134281" y="128910"/>
                </a:lnTo>
                <a:lnTo>
                  <a:pt x="150932" y="145561"/>
                </a:lnTo>
                <a:cubicBezTo>
                  <a:pt x="155981" y="150610"/>
                  <a:pt x="155981" y="158774"/>
                  <a:pt x="150932" y="163769"/>
                </a:cubicBezTo>
                <a:cubicBezTo>
                  <a:pt x="145883" y="168764"/>
                  <a:pt x="137719" y="168818"/>
                  <a:pt x="132723" y="163769"/>
                </a:cubicBezTo>
                <a:lnTo>
                  <a:pt x="106941" y="137987"/>
                </a:lnTo>
                <a:cubicBezTo>
                  <a:pt x="101892" y="132938"/>
                  <a:pt x="101892" y="124774"/>
                  <a:pt x="106941" y="119779"/>
                </a:cubicBezTo>
                <a:lnTo>
                  <a:pt x="132723" y="93997"/>
                </a:lnTo>
                <a:cubicBezTo>
                  <a:pt x="137772" y="88948"/>
                  <a:pt x="145937" y="88948"/>
                  <a:pt x="150932" y="93997"/>
                </a:cubicBezTo>
                <a:cubicBezTo>
                  <a:pt x="155927" y="99046"/>
                  <a:pt x="155981" y="107210"/>
                  <a:pt x="150932" y="112205"/>
                </a:cubicBezTo>
                <a:close/>
                <a:moveTo>
                  <a:pt x="211090" y="93997"/>
                </a:moveTo>
                <a:lnTo>
                  <a:pt x="236872" y="119779"/>
                </a:lnTo>
                <a:cubicBezTo>
                  <a:pt x="241921" y="124828"/>
                  <a:pt x="241921" y="132992"/>
                  <a:pt x="236872" y="137987"/>
                </a:cubicBezTo>
                <a:lnTo>
                  <a:pt x="211090" y="163769"/>
                </a:lnTo>
                <a:cubicBezTo>
                  <a:pt x="206041" y="168818"/>
                  <a:pt x="197877" y="168818"/>
                  <a:pt x="192881" y="163769"/>
                </a:cubicBezTo>
                <a:cubicBezTo>
                  <a:pt x="187886" y="158720"/>
                  <a:pt x="187832" y="150556"/>
                  <a:pt x="192881" y="145561"/>
                </a:cubicBezTo>
                <a:lnTo>
                  <a:pt x="209532" y="128910"/>
                </a:lnTo>
                <a:lnTo>
                  <a:pt x="192881" y="112259"/>
                </a:lnTo>
                <a:cubicBezTo>
                  <a:pt x="187832" y="107210"/>
                  <a:pt x="187832" y="99046"/>
                  <a:pt x="192881" y="94050"/>
                </a:cubicBezTo>
                <a:cubicBezTo>
                  <a:pt x="197930" y="89055"/>
                  <a:pt x="206095" y="89001"/>
                  <a:pt x="211090" y="94050"/>
                </a:cubicBezTo>
                <a:close/>
              </a:path>
            </a:pathLst>
          </a:custGeom>
          <a:solidFill>
            <a:srgbClr val="1D1D1F"/>
          </a:solidFill>
          <a:ln/>
        </p:spPr>
      </p:sp>
      <p:sp>
        <p:nvSpPr>
          <p:cNvPr id="10" name="Text 8"/>
          <p:cNvSpPr/>
          <p:nvPr/>
        </p:nvSpPr>
        <p:spPr>
          <a:xfrm>
            <a:off x="550015" y="2163392"/>
            <a:ext cx="3446761" cy="256674"/>
          </a:xfrm>
          <a:prstGeom prst="rect">
            <a:avLst/>
          </a:prstGeom>
          <a:noFill/>
          <a:ln/>
        </p:spPr>
        <p:txBody>
          <a:bodyPr wrap="square" lIns="0" tIns="0" rIns="0" bIns="0" rtlCol="0" anchor="ctr"/>
          <a:lstStyle/>
          <a:p>
            <a:pPr>
              <a:lnSpc>
                <a:spcPct val="120000"/>
              </a:lnSpc>
            </a:pPr>
            <a:r>
              <a:rPr lang="en-US" sz="1444" b="1" dirty="0">
                <a:solidFill>
                  <a:srgbClr val="34C759"/>
                </a:solidFill>
                <a:latin typeface="Liter" pitchFamily="34" charset="0"/>
                <a:ea typeface="Liter" pitchFamily="34" charset="-122"/>
                <a:cs typeface="Liter" pitchFamily="34" charset="-120"/>
              </a:rPr>
              <a:t>Using IDEs</a:t>
            </a:r>
            <a:endParaRPr lang="en-US" sz="1600" dirty="0"/>
          </a:p>
        </p:txBody>
      </p:sp>
      <p:sp>
        <p:nvSpPr>
          <p:cNvPr id="11" name="Text 9"/>
          <p:cNvSpPr/>
          <p:nvPr/>
        </p:nvSpPr>
        <p:spPr>
          <a:xfrm>
            <a:off x="550015" y="2530069"/>
            <a:ext cx="3428427" cy="220006"/>
          </a:xfrm>
          <a:prstGeom prst="rect">
            <a:avLst/>
          </a:prstGeom>
          <a:noFill/>
          <a:ln/>
        </p:spPr>
        <p:txBody>
          <a:bodyPr wrap="square" lIns="0" tIns="0" rIns="0" bIns="0" rtlCol="0" anchor="ctr"/>
          <a:lstStyle/>
          <a:p>
            <a:pPr>
              <a:lnSpc>
                <a:spcPct val="130000"/>
              </a:lnSpc>
            </a:pPr>
            <a:r>
              <a:rPr lang="en-US" sz="1155" dirty="0">
                <a:solidFill>
                  <a:srgbClr val="F5F5F7"/>
                </a:solidFill>
                <a:latin typeface="Quattrocento Sans" pitchFamily="34" charset="0"/>
                <a:ea typeface="Quattrocento Sans" pitchFamily="34" charset="-122"/>
                <a:cs typeface="Quattrocento Sans" pitchFamily="34" charset="-120"/>
              </a:rPr>
              <a:t>Master development environments</a:t>
            </a:r>
            <a:endParaRPr lang="en-US" sz="1600" dirty="0"/>
          </a:p>
        </p:txBody>
      </p:sp>
      <p:sp>
        <p:nvSpPr>
          <p:cNvPr id="12" name="Text 10"/>
          <p:cNvSpPr/>
          <p:nvPr/>
        </p:nvSpPr>
        <p:spPr>
          <a:xfrm>
            <a:off x="550015" y="2860078"/>
            <a:ext cx="3428427" cy="220006"/>
          </a:xfrm>
          <a:prstGeom prst="rect">
            <a:avLst/>
          </a:prstGeom>
          <a:noFill/>
          <a:ln/>
        </p:spPr>
        <p:txBody>
          <a:bodyPr wrap="square" lIns="0" tIns="0" rIns="0" bIns="0" rtlCol="0" anchor="ctr"/>
          <a:lstStyle/>
          <a:p>
            <a:pPr>
              <a:lnSpc>
                <a:spcPct val="130000"/>
              </a:lnSpc>
            </a:pPr>
            <a:r>
              <a:rPr lang="en-US" sz="1155" dirty="0">
                <a:solidFill>
                  <a:srgbClr val="8E8E93"/>
                </a:solidFill>
                <a:latin typeface="Quattrocento Sans" pitchFamily="34" charset="0"/>
                <a:ea typeface="Quattrocento Sans" pitchFamily="34" charset="-122"/>
                <a:cs typeface="Quattrocento Sans" pitchFamily="34" charset="-120"/>
              </a:rPr>
              <a:t>• Android Studio</a:t>
            </a:r>
            <a:endParaRPr lang="en-US" sz="1600" dirty="0"/>
          </a:p>
        </p:txBody>
      </p:sp>
      <p:sp>
        <p:nvSpPr>
          <p:cNvPr id="13" name="Text 11"/>
          <p:cNvSpPr/>
          <p:nvPr/>
        </p:nvSpPr>
        <p:spPr>
          <a:xfrm>
            <a:off x="550015" y="3116752"/>
            <a:ext cx="3428427" cy="220006"/>
          </a:xfrm>
          <a:prstGeom prst="rect">
            <a:avLst/>
          </a:prstGeom>
          <a:noFill/>
          <a:ln/>
        </p:spPr>
        <p:txBody>
          <a:bodyPr wrap="square" lIns="0" tIns="0" rIns="0" bIns="0" rtlCol="0" anchor="ctr"/>
          <a:lstStyle/>
          <a:p>
            <a:pPr>
              <a:lnSpc>
                <a:spcPct val="130000"/>
              </a:lnSpc>
            </a:pPr>
            <a:r>
              <a:rPr lang="en-US" sz="1155" dirty="0">
                <a:solidFill>
                  <a:srgbClr val="8E8E93"/>
                </a:solidFill>
                <a:latin typeface="Quattrocento Sans" pitchFamily="34" charset="0"/>
                <a:ea typeface="Quattrocento Sans" pitchFamily="34" charset="-122"/>
                <a:cs typeface="Quattrocento Sans" pitchFamily="34" charset="-120"/>
              </a:rPr>
              <a:t>• Xcode</a:t>
            </a:r>
            <a:endParaRPr lang="en-US" sz="1600" dirty="0"/>
          </a:p>
        </p:txBody>
      </p:sp>
      <p:sp>
        <p:nvSpPr>
          <p:cNvPr id="14" name="Text 12"/>
          <p:cNvSpPr/>
          <p:nvPr/>
        </p:nvSpPr>
        <p:spPr>
          <a:xfrm>
            <a:off x="550015" y="3373426"/>
            <a:ext cx="3428427" cy="220006"/>
          </a:xfrm>
          <a:prstGeom prst="rect">
            <a:avLst/>
          </a:prstGeom>
          <a:noFill/>
          <a:ln/>
        </p:spPr>
        <p:txBody>
          <a:bodyPr wrap="square" lIns="0" tIns="0" rIns="0" bIns="0" rtlCol="0" anchor="ctr"/>
          <a:lstStyle/>
          <a:p>
            <a:pPr>
              <a:lnSpc>
                <a:spcPct val="130000"/>
              </a:lnSpc>
            </a:pPr>
            <a:r>
              <a:rPr lang="en-US" sz="1155" dirty="0">
                <a:solidFill>
                  <a:srgbClr val="8E8E93"/>
                </a:solidFill>
                <a:latin typeface="Quattrocento Sans" pitchFamily="34" charset="0"/>
                <a:ea typeface="Quattrocento Sans" pitchFamily="34" charset="-122"/>
                <a:cs typeface="Quattrocento Sans" pitchFamily="34" charset="-120"/>
              </a:rPr>
              <a:t>• VS Code</a:t>
            </a:r>
            <a:endParaRPr lang="en-US" sz="1600" dirty="0"/>
          </a:p>
        </p:txBody>
      </p:sp>
      <p:sp>
        <p:nvSpPr>
          <p:cNvPr id="15" name="Shape 13"/>
          <p:cNvSpPr/>
          <p:nvPr/>
        </p:nvSpPr>
        <p:spPr>
          <a:xfrm>
            <a:off x="4234428" y="1228367"/>
            <a:ext cx="3721768" cy="2548403"/>
          </a:xfrm>
          <a:custGeom>
            <a:avLst/>
            <a:gdLst/>
            <a:ahLst/>
            <a:cxnLst/>
            <a:rect l="l" t="t" r="r" b="b"/>
            <a:pathLst>
              <a:path w="3721768" h="2548403">
                <a:moveTo>
                  <a:pt x="36703" y="0"/>
                </a:moveTo>
                <a:lnTo>
                  <a:pt x="3685159" y="0"/>
                </a:lnTo>
                <a:cubicBezTo>
                  <a:pt x="3705380" y="70"/>
                  <a:pt x="3721735" y="16482"/>
                  <a:pt x="3721735" y="36703"/>
                </a:cubicBezTo>
                <a:lnTo>
                  <a:pt x="3721735" y="2401697"/>
                </a:lnTo>
                <a:cubicBezTo>
                  <a:pt x="3721735" y="2482709"/>
                  <a:pt x="3656062" y="2548382"/>
                  <a:pt x="3575050" y="2548382"/>
                </a:cubicBezTo>
                <a:lnTo>
                  <a:pt x="146685" y="2548382"/>
                </a:lnTo>
                <a:cubicBezTo>
                  <a:pt x="65673" y="2548382"/>
                  <a:pt x="0" y="2482709"/>
                  <a:pt x="0" y="2401697"/>
                </a:cubicBezTo>
                <a:lnTo>
                  <a:pt x="0" y="36703"/>
                </a:lnTo>
                <a:cubicBezTo>
                  <a:pt x="0" y="16432"/>
                  <a:pt x="16432" y="0"/>
                  <a:pt x="36703" y="0"/>
                </a:cubicBezTo>
                <a:close/>
              </a:path>
            </a:pathLst>
          </a:custGeom>
          <a:gradFill rotWithShape="1" flip="none">
            <a:gsLst>
              <a:gs pos="0">
                <a:srgbClr val="0A84FF">
                  <a:alpha val="20000"/>
                </a:srgbClr>
              </a:gs>
              <a:gs pos="100000">
                <a:srgbClr val="2C2C2E"/>
              </a:gs>
            </a:gsLst>
            <a:lin ang="2700000" scaled="1"/>
          </a:gradFill>
          <a:ln/>
        </p:spPr>
      </p:sp>
      <p:sp>
        <p:nvSpPr>
          <p:cNvPr id="16" name="Shape 14"/>
          <p:cNvSpPr/>
          <p:nvPr/>
        </p:nvSpPr>
        <p:spPr>
          <a:xfrm>
            <a:off x="4234428" y="1228367"/>
            <a:ext cx="3721768" cy="36668"/>
          </a:xfrm>
          <a:custGeom>
            <a:avLst/>
            <a:gdLst/>
            <a:ahLst/>
            <a:cxnLst/>
            <a:rect l="l" t="t" r="r" b="b"/>
            <a:pathLst>
              <a:path w="3721768" h="36668">
                <a:moveTo>
                  <a:pt x="36703" y="0"/>
                </a:moveTo>
                <a:lnTo>
                  <a:pt x="3685159" y="0"/>
                </a:lnTo>
                <a:cubicBezTo>
                  <a:pt x="3705380" y="70"/>
                  <a:pt x="3721735" y="16482"/>
                  <a:pt x="3721735" y="36703"/>
                </a:cubicBezTo>
                <a:lnTo>
                  <a:pt x="3721735" y="36703"/>
                </a:lnTo>
                <a:lnTo>
                  <a:pt x="0" y="36703"/>
                </a:lnTo>
                <a:lnTo>
                  <a:pt x="0" y="36703"/>
                </a:lnTo>
                <a:cubicBezTo>
                  <a:pt x="0" y="16432"/>
                  <a:pt x="16432" y="0"/>
                  <a:pt x="36703" y="0"/>
                </a:cubicBezTo>
                <a:close/>
              </a:path>
            </a:pathLst>
          </a:custGeom>
          <a:solidFill>
            <a:srgbClr val="0A84FF"/>
          </a:solidFill>
          <a:ln/>
        </p:spPr>
      </p:sp>
      <p:sp>
        <p:nvSpPr>
          <p:cNvPr id="17" name="Shape 15"/>
          <p:cNvSpPr/>
          <p:nvPr/>
        </p:nvSpPr>
        <p:spPr>
          <a:xfrm>
            <a:off x="4417767" y="1430039"/>
            <a:ext cx="586683" cy="586683"/>
          </a:xfrm>
          <a:prstGeom prst="roundRect">
            <a:avLst>
              <a:gd name="adj" fmla="val 25000"/>
            </a:avLst>
          </a:prstGeom>
          <a:solidFill>
            <a:srgbClr val="0A84FF"/>
          </a:solidFill>
          <a:ln/>
        </p:spPr>
      </p:sp>
      <p:sp>
        <p:nvSpPr>
          <p:cNvPr id="18" name="Shape 16"/>
          <p:cNvSpPr/>
          <p:nvPr/>
        </p:nvSpPr>
        <p:spPr>
          <a:xfrm>
            <a:off x="4558708" y="1585877"/>
            <a:ext cx="309383" cy="275008"/>
          </a:xfrm>
          <a:custGeom>
            <a:avLst/>
            <a:gdLst/>
            <a:ahLst/>
            <a:cxnLst/>
            <a:rect l="l" t="t" r="r" b="b"/>
            <a:pathLst>
              <a:path w="309383" h="275008">
                <a:moveTo>
                  <a:pt x="193794" y="645"/>
                </a:moveTo>
                <a:cubicBezTo>
                  <a:pt x="184663" y="-1987"/>
                  <a:pt x="175156" y="3330"/>
                  <a:pt x="172524" y="12461"/>
                </a:cubicBezTo>
                <a:lnTo>
                  <a:pt x="103772" y="253093"/>
                </a:lnTo>
                <a:cubicBezTo>
                  <a:pt x="101140" y="262224"/>
                  <a:pt x="106458" y="271731"/>
                  <a:pt x="115589" y="274363"/>
                </a:cubicBezTo>
                <a:cubicBezTo>
                  <a:pt x="124720" y="276995"/>
                  <a:pt x="134227" y="271677"/>
                  <a:pt x="136859" y="262546"/>
                </a:cubicBezTo>
                <a:lnTo>
                  <a:pt x="205611" y="21915"/>
                </a:lnTo>
                <a:cubicBezTo>
                  <a:pt x="208243" y="12784"/>
                  <a:pt x="202925" y="3276"/>
                  <a:pt x="193794" y="645"/>
                </a:cubicBezTo>
                <a:close/>
                <a:moveTo>
                  <a:pt x="228493" y="73747"/>
                </a:moveTo>
                <a:cubicBezTo>
                  <a:pt x="221779" y="80461"/>
                  <a:pt x="221779" y="91365"/>
                  <a:pt x="228493" y="98079"/>
                </a:cubicBezTo>
                <a:lnTo>
                  <a:pt x="267917" y="137504"/>
                </a:lnTo>
                <a:lnTo>
                  <a:pt x="228493" y="176929"/>
                </a:lnTo>
                <a:cubicBezTo>
                  <a:pt x="221779" y="183643"/>
                  <a:pt x="221779" y="194546"/>
                  <a:pt x="228493" y="201260"/>
                </a:cubicBezTo>
                <a:cubicBezTo>
                  <a:pt x="235207" y="207974"/>
                  <a:pt x="246110" y="207974"/>
                  <a:pt x="252824" y="201260"/>
                </a:cubicBezTo>
                <a:lnTo>
                  <a:pt x="304388" y="149696"/>
                </a:lnTo>
                <a:cubicBezTo>
                  <a:pt x="311102" y="142982"/>
                  <a:pt x="311102" y="132079"/>
                  <a:pt x="304388" y="125365"/>
                </a:cubicBezTo>
                <a:lnTo>
                  <a:pt x="252824" y="73801"/>
                </a:lnTo>
                <a:cubicBezTo>
                  <a:pt x="246110" y="67087"/>
                  <a:pt x="235207" y="67087"/>
                  <a:pt x="228493" y="73801"/>
                </a:cubicBezTo>
                <a:close/>
                <a:moveTo>
                  <a:pt x="80945" y="73747"/>
                </a:moveTo>
                <a:cubicBezTo>
                  <a:pt x="74231" y="67033"/>
                  <a:pt x="63327" y="67033"/>
                  <a:pt x="56613" y="73747"/>
                </a:cubicBezTo>
                <a:lnTo>
                  <a:pt x="5049" y="125311"/>
                </a:lnTo>
                <a:cubicBezTo>
                  <a:pt x="-1665" y="132025"/>
                  <a:pt x="-1665" y="142929"/>
                  <a:pt x="5049" y="149643"/>
                </a:cubicBezTo>
                <a:lnTo>
                  <a:pt x="56613" y="201207"/>
                </a:lnTo>
                <a:cubicBezTo>
                  <a:pt x="63327" y="207921"/>
                  <a:pt x="74231" y="207921"/>
                  <a:pt x="80945" y="201207"/>
                </a:cubicBezTo>
                <a:cubicBezTo>
                  <a:pt x="87659" y="194493"/>
                  <a:pt x="87659" y="183589"/>
                  <a:pt x="80945" y="176875"/>
                </a:cubicBezTo>
                <a:lnTo>
                  <a:pt x="41520" y="137504"/>
                </a:lnTo>
                <a:lnTo>
                  <a:pt x="80891" y="98079"/>
                </a:lnTo>
                <a:cubicBezTo>
                  <a:pt x="87605" y="91365"/>
                  <a:pt x="87605" y="80461"/>
                  <a:pt x="80891" y="73747"/>
                </a:cubicBezTo>
                <a:close/>
              </a:path>
            </a:pathLst>
          </a:custGeom>
          <a:solidFill>
            <a:srgbClr val="FFFFFF"/>
          </a:solidFill>
          <a:ln/>
        </p:spPr>
      </p:sp>
      <p:sp>
        <p:nvSpPr>
          <p:cNvPr id="19" name="Text 17"/>
          <p:cNvSpPr/>
          <p:nvPr/>
        </p:nvSpPr>
        <p:spPr>
          <a:xfrm>
            <a:off x="4417767" y="2163392"/>
            <a:ext cx="3446761" cy="256674"/>
          </a:xfrm>
          <a:prstGeom prst="rect">
            <a:avLst/>
          </a:prstGeom>
          <a:noFill/>
          <a:ln/>
        </p:spPr>
        <p:txBody>
          <a:bodyPr wrap="square" lIns="0" tIns="0" rIns="0" bIns="0" rtlCol="0" anchor="ctr"/>
          <a:lstStyle/>
          <a:p>
            <a:pPr>
              <a:lnSpc>
                <a:spcPct val="120000"/>
              </a:lnSpc>
            </a:pPr>
            <a:r>
              <a:rPr lang="en-US" sz="1444" b="1" dirty="0">
                <a:solidFill>
                  <a:srgbClr val="0A84FF"/>
                </a:solidFill>
                <a:latin typeface="Liter" pitchFamily="34" charset="0"/>
                <a:ea typeface="Liter" pitchFamily="34" charset="-122"/>
                <a:cs typeface="Liter" pitchFamily="34" charset="-120"/>
              </a:rPr>
              <a:t>Code Structure</a:t>
            </a:r>
            <a:endParaRPr lang="en-US" sz="1600" dirty="0"/>
          </a:p>
        </p:txBody>
      </p:sp>
      <p:sp>
        <p:nvSpPr>
          <p:cNvPr id="20" name="Text 18"/>
          <p:cNvSpPr/>
          <p:nvPr/>
        </p:nvSpPr>
        <p:spPr>
          <a:xfrm>
            <a:off x="4417767" y="2530069"/>
            <a:ext cx="3428427" cy="220006"/>
          </a:xfrm>
          <a:prstGeom prst="rect">
            <a:avLst/>
          </a:prstGeom>
          <a:noFill/>
          <a:ln/>
        </p:spPr>
        <p:txBody>
          <a:bodyPr wrap="square" lIns="0" tIns="0" rIns="0" bIns="0" rtlCol="0" anchor="ctr"/>
          <a:lstStyle/>
          <a:p>
            <a:pPr>
              <a:lnSpc>
                <a:spcPct val="130000"/>
              </a:lnSpc>
            </a:pPr>
            <a:r>
              <a:rPr lang="en-US" sz="1155" dirty="0">
                <a:solidFill>
                  <a:srgbClr val="F5F5F7"/>
                </a:solidFill>
                <a:latin typeface="Quattrocento Sans" pitchFamily="34" charset="0"/>
                <a:ea typeface="Quattrocento Sans" pitchFamily="34" charset="-122"/>
                <a:cs typeface="Quattrocento Sans" pitchFamily="34" charset="-120"/>
              </a:rPr>
              <a:t>Understand how code is organized</a:t>
            </a:r>
            <a:endParaRPr lang="en-US" sz="1600" dirty="0"/>
          </a:p>
        </p:txBody>
      </p:sp>
      <p:sp>
        <p:nvSpPr>
          <p:cNvPr id="21" name="Text 19"/>
          <p:cNvSpPr/>
          <p:nvPr/>
        </p:nvSpPr>
        <p:spPr>
          <a:xfrm>
            <a:off x="4417767" y="2860078"/>
            <a:ext cx="3428427" cy="220006"/>
          </a:xfrm>
          <a:prstGeom prst="rect">
            <a:avLst/>
          </a:prstGeom>
          <a:noFill/>
          <a:ln/>
        </p:spPr>
        <p:txBody>
          <a:bodyPr wrap="square" lIns="0" tIns="0" rIns="0" bIns="0" rtlCol="0" anchor="ctr"/>
          <a:lstStyle/>
          <a:p>
            <a:pPr>
              <a:lnSpc>
                <a:spcPct val="130000"/>
              </a:lnSpc>
            </a:pPr>
            <a:r>
              <a:rPr lang="en-US" sz="1155" dirty="0">
                <a:solidFill>
                  <a:srgbClr val="8E8E93"/>
                </a:solidFill>
                <a:latin typeface="Quattrocento Sans" pitchFamily="34" charset="0"/>
                <a:ea typeface="Quattrocento Sans" pitchFamily="34" charset="-122"/>
                <a:cs typeface="Quattrocento Sans" pitchFamily="34" charset="-120"/>
              </a:rPr>
              <a:t>• Files and folders</a:t>
            </a:r>
            <a:endParaRPr lang="en-US" sz="1600" dirty="0"/>
          </a:p>
        </p:txBody>
      </p:sp>
      <p:sp>
        <p:nvSpPr>
          <p:cNvPr id="22" name="Text 20"/>
          <p:cNvSpPr/>
          <p:nvPr/>
        </p:nvSpPr>
        <p:spPr>
          <a:xfrm>
            <a:off x="4417767" y="3116752"/>
            <a:ext cx="3428427" cy="220006"/>
          </a:xfrm>
          <a:prstGeom prst="rect">
            <a:avLst/>
          </a:prstGeom>
          <a:noFill/>
          <a:ln/>
        </p:spPr>
        <p:txBody>
          <a:bodyPr wrap="square" lIns="0" tIns="0" rIns="0" bIns="0" rtlCol="0" anchor="ctr"/>
          <a:lstStyle/>
          <a:p>
            <a:pPr>
              <a:lnSpc>
                <a:spcPct val="130000"/>
              </a:lnSpc>
            </a:pPr>
            <a:r>
              <a:rPr lang="en-US" sz="1155" dirty="0">
                <a:solidFill>
                  <a:srgbClr val="8E8E93"/>
                </a:solidFill>
                <a:latin typeface="Quattrocento Sans" pitchFamily="34" charset="0"/>
                <a:ea typeface="Quattrocento Sans" pitchFamily="34" charset="-122"/>
                <a:cs typeface="Quattrocento Sans" pitchFamily="34" charset="-120"/>
              </a:rPr>
              <a:t>• Functions and classes</a:t>
            </a:r>
            <a:endParaRPr lang="en-US" sz="1600" dirty="0"/>
          </a:p>
        </p:txBody>
      </p:sp>
      <p:sp>
        <p:nvSpPr>
          <p:cNvPr id="23" name="Text 21"/>
          <p:cNvSpPr/>
          <p:nvPr/>
        </p:nvSpPr>
        <p:spPr>
          <a:xfrm>
            <a:off x="4417767" y="3373426"/>
            <a:ext cx="3428427" cy="220006"/>
          </a:xfrm>
          <a:prstGeom prst="rect">
            <a:avLst/>
          </a:prstGeom>
          <a:noFill/>
          <a:ln/>
        </p:spPr>
        <p:txBody>
          <a:bodyPr wrap="square" lIns="0" tIns="0" rIns="0" bIns="0" rtlCol="0" anchor="ctr"/>
          <a:lstStyle/>
          <a:p>
            <a:pPr>
              <a:lnSpc>
                <a:spcPct val="130000"/>
              </a:lnSpc>
            </a:pPr>
            <a:r>
              <a:rPr lang="en-US" sz="1155" dirty="0">
                <a:solidFill>
                  <a:srgbClr val="8E8E93"/>
                </a:solidFill>
                <a:latin typeface="Quattrocento Sans" pitchFamily="34" charset="0"/>
                <a:ea typeface="Quattrocento Sans" pitchFamily="34" charset="-122"/>
                <a:cs typeface="Quattrocento Sans" pitchFamily="34" charset="-120"/>
              </a:rPr>
              <a:t>• Import statements</a:t>
            </a:r>
            <a:endParaRPr lang="en-US" sz="1600" dirty="0"/>
          </a:p>
        </p:txBody>
      </p:sp>
      <p:sp>
        <p:nvSpPr>
          <p:cNvPr id="24" name="Shape 22"/>
          <p:cNvSpPr/>
          <p:nvPr/>
        </p:nvSpPr>
        <p:spPr>
          <a:xfrm>
            <a:off x="8102180" y="1228367"/>
            <a:ext cx="3721768" cy="2548403"/>
          </a:xfrm>
          <a:custGeom>
            <a:avLst/>
            <a:gdLst/>
            <a:ahLst/>
            <a:cxnLst/>
            <a:rect l="l" t="t" r="r" b="b"/>
            <a:pathLst>
              <a:path w="3721768" h="2548403">
                <a:moveTo>
                  <a:pt x="36703" y="0"/>
                </a:moveTo>
                <a:lnTo>
                  <a:pt x="3685159" y="0"/>
                </a:lnTo>
                <a:cubicBezTo>
                  <a:pt x="3705380" y="70"/>
                  <a:pt x="3721735" y="16482"/>
                  <a:pt x="3721735" y="36703"/>
                </a:cubicBezTo>
                <a:lnTo>
                  <a:pt x="3721735" y="2401697"/>
                </a:lnTo>
                <a:cubicBezTo>
                  <a:pt x="3721735" y="2482709"/>
                  <a:pt x="3656062" y="2548382"/>
                  <a:pt x="3575050" y="2548382"/>
                </a:cubicBezTo>
                <a:lnTo>
                  <a:pt x="146685" y="2548382"/>
                </a:lnTo>
                <a:cubicBezTo>
                  <a:pt x="65673" y="2548382"/>
                  <a:pt x="0" y="2482709"/>
                  <a:pt x="0" y="2401697"/>
                </a:cubicBezTo>
                <a:lnTo>
                  <a:pt x="0" y="36703"/>
                </a:lnTo>
                <a:cubicBezTo>
                  <a:pt x="0" y="16432"/>
                  <a:pt x="16432" y="0"/>
                  <a:pt x="36703" y="0"/>
                </a:cubicBezTo>
                <a:close/>
              </a:path>
            </a:pathLst>
          </a:custGeom>
          <a:gradFill rotWithShape="1" flip="none">
            <a:gsLst>
              <a:gs pos="0">
                <a:srgbClr val="8E8E93">
                  <a:alpha val="20000"/>
                </a:srgbClr>
              </a:gs>
              <a:gs pos="100000">
                <a:srgbClr val="2C2C2E"/>
              </a:gs>
            </a:gsLst>
            <a:lin ang="2700000" scaled="1"/>
          </a:gradFill>
          <a:ln/>
        </p:spPr>
      </p:sp>
      <p:sp>
        <p:nvSpPr>
          <p:cNvPr id="25" name="Shape 23"/>
          <p:cNvSpPr/>
          <p:nvPr/>
        </p:nvSpPr>
        <p:spPr>
          <a:xfrm>
            <a:off x="8102180" y="1228367"/>
            <a:ext cx="3721768" cy="36668"/>
          </a:xfrm>
          <a:custGeom>
            <a:avLst/>
            <a:gdLst/>
            <a:ahLst/>
            <a:cxnLst/>
            <a:rect l="l" t="t" r="r" b="b"/>
            <a:pathLst>
              <a:path w="3721768" h="36668">
                <a:moveTo>
                  <a:pt x="36703" y="0"/>
                </a:moveTo>
                <a:lnTo>
                  <a:pt x="3685159" y="0"/>
                </a:lnTo>
                <a:cubicBezTo>
                  <a:pt x="3705380" y="70"/>
                  <a:pt x="3721735" y="16482"/>
                  <a:pt x="3721735" y="36703"/>
                </a:cubicBezTo>
                <a:lnTo>
                  <a:pt x="3721735" y="36703"/>
                </a:lnTo>
                <a:lnTo>
                  <a:pt x="0" y="36703"/>
                </a:lnTo>
                <a:lnTo>
                  <a:pt x="0" y="36703"/>
                </a:lnTo>
                <a:cubicBezTo>
                  <a:pt x="0" y="16432"/>
                  <a:pt x="16432" y="0"/>
                  <a:pt x="36703" y="0"/>
                </a:cubicBezTo>
                <a:close/>
              </a:path>
            </a:pathLst>
          </a:custGeom>
          <a:solidFill>
            <a:srgbClr val="8E8E93"/>
          </a:solidFill>
          <a:ln/>
        </p:spPr>
      </p:sp>
      <p:sp>
        <p:nvSpPr>
          <p:cNvPr id="26" name="Shape 24"/>
          <p:cNvSpPr/>
          <p:nvPr/>
        </p:nvSpPr>
        <p:spPr>
          <a:xfrm>
            <a:off x="8285519" y="1430039"/>
            <a:ext cx="586683" cy="586683"/>
          </a:xfrm>
          <a:prstGeom prst="roundRect">
            <a:avLst>
              <a:gd name="adj" fmla="val 25000"/>
            </a:avLst>
          </a:prstGeom>
          <a:solidFill>
            <a:srgbClr val="8E8E93"/>
          </a:solidFill>
          <a:ln/>
        </p:spPr>
      </p:sp>
      <p:sp>
        <p:nvSpPr>
          <p:cNvPr id="27" name="Shape 25"/>
          <p:cNvSpPr/>
          <p:nvPr/>
        </p:nvSpPr>
        <p:spPr>
          <a:xfrm>
            <a:off x="8426460" y="1585877"/>
            <a:ext cx="309383" cy="275008"/>
          </a:xfrm>
          <a:custGeom>
            <a:avLst/>
            <a:gdLst/>
            <a:ahLst/>
            <a:cxnLst/>
            <a:rect l="l" t="t" r="r" b="b"/>
            <a:pathLst>
              <a:path w="309383" h="275008">
                <a:moveTo>
                  <a:pt x="103128" y="51564"/>
                </a:moveTo>
                <a:cubicBezTo>
                  <a:pt x="103128" y="23096"/>
                  <a:pt x="126224" y="0"/>
                  <a:pt x="154692" y="0"/>
                </a:cubicBezTo>
                <a:cubicBezTo>
                  <a:pt x="183159" y="0"/>
                  <a:pt x="206256" y="23096"/>
                  <a:pt x="206256" y="51564"/>
                </a:cubicBezTo>
                <a:lnTo>
                  <a:pt x="206256" y="53498"/>
                </a:lnTo>
                <a:cubicBezTo>
                  <a:pt x="206256" y="61930"/>
                  <a:pt x="199434" y="68752"/>
                  <a:pt x="191001" y="68752"/>
                </a:cubicBezTo>
                <a:lnTo>
                  <a:pt x="118436" y="68752"/>
                </a:lnTo>
                <a:cubicBezTo>
                  <a:pt x="110003" y="68752"/>
                  <a:pt x="103182" y="61930"/>
                  <a:pt x="103182" y="53498"/>
                </a:cubicBezTo>
                <a:lnTo>
                  <a:pt x="103182" y="51564"/>
                </a:lnTo>
                <a:close/>
                <a:moveTo>
                  <a:pt x="288758" y="58439"/>
                </a:moveTo>
                <a:cubicBezTo>
                  <a:pt x="294451" y="66013"/>
                  <a:pt x="292894" y="76809"/>
                  <a:pt x="285320" y="82502"/>
                </a:cubicBezTo>
                <a:lnTo>
                  <a:pt x="232790" y="121873"/>
                </a:lnTo>
                <a:cubicBezTo>
                  <a:pt x="235636" y="126654"/>
                  <a:pt x="237785" y="131918"/>
                  <a:pt x="239128" y="137504"/>
                </a:cubicBezTo>
                <a:lnTo>
                  <a:pt x="292195" y="137504"/>
                </a:lnTo>
                <a:cubicBezTo>
                  <a:pt x="301703" y="137504"/>
                  <a:pt x="309383" y="145185"/>
                  <a:pt x="309383" y="154692"/>
                </a:cubicBezTo>
                <a:cubicBezTo>
                  <a:pt x="309383" y="164199"/>
                  <a:pt x="301703" y="171880"/>
                  <a:pt x="292195" y="171880"/>
                </a:cubicBezTo>
                <a:lnTo>
                  <a:pt x="240632" y="171880"/>
                </a:lnTo>
                <a:lnTo>
                  <a:pt x="240632" y="189068"/>
                </a:lnTo>
                <a:cubicBezTo>
                  <a:pt x="240632" y="190464"/>
                  <a:pt x="240578" y="191914"/>
                  <a:pt x="240524" y="193311"/>
                </a:cubicBezTo>
                <a:lnTo>
                  <a:pt x="285320" y="226881"/>
                </a:lnTo>
                <a:cubicBezTo>
                  <a:pt x="292894" y="232575"/>
                  <a:pt x="294451" y="243371"/>
                  <a:pt x="288758" y="250944"/>
                </a:cubicBezTo>
                <a:cubicBezTo>
                  <a:pt x="283064" y="258518"/>
                  <a:pt x="272268" y="260075"/>
                  <a:pt x="264695" y="254382"/>
                </a:cubicBezTo>
                <a:lnTo>
                  <a:pt x="230802" y="228976"/>
                </a:lnTo>
                <a:cubicBezTo>
                  <a:pt x="218341" y="252717"/>
                  <a:pt x="195083" y="269905"/>
                  <a:pt x="167583" y="274041"/>
                </a:cubicBezTo>
                <a:lnTo>
                  <a:pt x="167583" y="150395"/>
                </a:lnTo>
                <a:cubicBezTo>
                  <a:pt x="167583" y="143251"/>
                  <a:pt x="161835" y="137504"/>
                  <a:pt x="154692" y="137504"/>
                </a:cubicBezTo>
                <a:cubicBezTo>
                  <a:pt x="147548" y="137504"/>
                  <a:pt x="141801" y="143251"/>
                  <a:pt x="141801" y="150395"/>
                </a:cubicBezTo>
                <a:lnTo>
                  <a:pt x="141801" y="274041"/>
                </a:lnTo>
                <a:cubicBezTo>
                  <a:pt x="114300" y="269905"/>
                  <a:pt x="91043" y="252717"/>
                  <a:pt x="78581" y="228976"/>
                </a:cubicBezTo>
                <a:lnTo>
                  <a:pt x="44689" y="254382"/>
                </a:lnTo>
                <a:cubicBezTo>
                  <a:pt x="37115" y="260075"/>
                  <a:pt x="26319" y="258518"/>
                  <a:pt x="20626" y="250944"/>
                </a:cubicBezTo>
                <a:cubicBezTo>
                  <a:pt x="14932" y="243371"/>
                  <a:pt x="16490" y="232575"/>
                  <a:pt x="24063" y="226881"/>
                </a:cubicBezTo>
                <a:lnTo>
                  <a:pt x="68859" y="193311"/>
                </a:lnTo>
                <a:cubicBezTo>
                  <a:pt x="68806" y="191914"/>
                  <a:pt x="68752" y="190518"/>
                  <a:pt x="68752" y="189068"/>
                </a:cubicBezTo>
                <a:lnTo>
                  <a:pt x="68752" y="171880"/>
                </a:lnTo>
                <a:lnTo>
                  <a:pt x="17188" y="171880"/>
                </a:lnTo>
                <a:cubicBezTo>
                  <a:pt x="7681" y="171880"/>
                  <a:pt x="0" y="164199"/>
                  <a:pt x="0" y="154692"/>
                </a:cubicBezTo>
                <a:cubicBezTo>
                  <a:pt x="0" y="145185"/>
                  <a:pt x="7681" y="137504"/>
                  <a:pt x="17188" y="137504"/>
                </a:cubicBezTo>
                <a:lnTo>
                  <a:pt x="70256" y="137504"/>
                </a:lnTo>
                <a:cubicBezTo>
                  <a:pt x="71599" y="131918"/>
                  <a:pt x="73747" y="126654"/>
                  <a:pt x="76594" y="121873"/>
                </a:cubicBezTo>
                <a:lnTo>
                  <a:pt x="24063" y="82502"/>
                </a:lnTo>
                <a:cubicBezTo>
                  <a:pt x="16490" y="76809"/>
                  <a:pt x="14932" y="66013"/>
                  <a:pt x="20626" y="58439"/>
                </a:cubicBezTo>
                <a:cubicBezTo>
                  <a:pt x="26319" y="50866"/>
                  <a:pt x="37115" y="49308"/>
                  <a:pt x="44689" y="55002"/>
                </a:cubicBezTo>
                <a:lnTo>
                  <a:pt x="103128" y="98831"/>
                </a:lnTo>
                <a:cubicBezTo>
                  <a:pt x="109734" y="96091"/>
                  <a:pt x="116986" y="94534"/>
                  <a:pt x="124613" y="94534"/>
                </a:cubicBezTo>
                <a:lnTo>
                  <a:pt x="184771" y="94534"/>
                </a:lnTo>
                <a:cubicBezTo>
                  <a:pt x="192398" y="94534"/>
                  <a:pt x="199649" y="96038"/>
                  <a:pt x="206256" y="98831"/>
                </a:cubicBezTo>
                <a:lnTo>
                  <a:pt x="264695" y="55002"/>
                </a:lnTo>
                <a:cubicBezTo>
                  <a:pt x="272268" y="49308"/>
                  <a:pt x="283064" y="50866"/>
                  <a:pt x="288758" y="58439"/>
                </a:cubicBezTo>
                <a:close/>
              </a:path>
            </a:pathLst>
          </a:custGeom>
          <a:solidFill>
            <a:srgbClr val="FFFFFF"/>
          </a:solidFill>
          <a:ln/>
        </p:spPr>
      </p:sp>
      <p:sp>
        <p:nvSpPr>
          <p:cNvPr id="28" name="Text 26"/>
          <p:cNvSpPr/>
          <p:nvPr/>
        </p:nvSpPr>
        <p:spPr>
          <a:xfrm>
            <a:off x="8285519" y="2163392"/>
            <a:ext cx="3446761" cy="256674"/>
          </a:xfrm>
          <a:prstGeom prst="rect">
            <a:avLst/>
          </a:prstGeom>
          <a:noFill/>
          <a:ln/>
        </p:spPr>
        <p:txBody>
          <a:bodyPr wrap="square" lIns="0" tIns="0" rIns="0" bIns="0" rtlCol="0" anchor="ctr"/>
          <a:lstStyle/>
          <a:p>
            <a:pPr>
              <a:lnSpc>
                <a:spcPct val="120000"/>
              </a:lnSpc>
            </a:pPr>
            <a:r>
              <a:rPr lang="en-US" sz="1444" b="1" dirty="0">
                <a:solidFill>
                  <a:srgbClr val="8E8E93"/>
                </a:solidFill>
                <a:latin typeface="Liter" pitchFamily="34" charset="0"/>
                <a:ea typeface="Liter" pitchFamily="34" charset="-122"/>
                <a:cs typeface="Liter" pitchFamily="34" charset="-120"/>
              </a:rPr>
              <a:t>Debugging Basics</a:t>
            </a:r>
            <a:endParaRPr lang="en-US" sz="1600" dirty="0"/>
          </a:p>
        </p:txBody>
      </p:sp>
      <p:sp>
        <p:nvSpPr>
          <p:cNvPr id="29" name="Text 27"/>
          <p:cNvSpPr/>
          <p:nvPr/>
        </p:nvSpPr>
        <p:spPr>
          <a:xfrm>
            <a:off x="8285519" y="2530069"/>
            <a:ext cx="3428427" cy="220006"/>
          </a:xfrm>
          <a:prstGeom prst="rect">
            <a:avLst/>
          </a:prstGeom>
          <a:noFill/>
          <a:ln/>
        </p:spPr>
        <p:txBody>
          <a:bodyPr wrap="square" lIns="0" tIns="0" rIns="0" bIns="0" rtlCol="0" anchor="ctr"/>
          <a:lstStyle/>
          <a:p>
            <a:pPr>
              <a:lnSpc>
                <a:spcPct val="130000"/>
              </a:lnSpc>
            </a:pPr>
            <a:r>
              <a:rPr lang="en-US" sz="1155" dirty="0">
                <a:solidFill>
                  <a:srgbClr val="F5F5F7"/>
                </a:solidFill>
                <a:latin typeface="Quattrocento Sans" pitchFamily="34" charset="0"/>
                <a:ea typeface="Quattrocento Sans" pitchFamily="34" charset="-122"/>
                <a:cs typeface="Quattrocento Sans" pitchFamily="34" charset="-120"/>
              </a:rPr>
              <a:t>Find and fix errors in code</a:t>
            </a:r>
            <a:endParaRPr lang="en-US" sz="1600" dirty="0"/>
          </a:p>
        </p:txBody>
      </p:sp>
      <p:sp>
        <p:nvSpPr>
          <p:cNvPr id="30" name="Text 28"/>
          <p:cNvSpPr/>
          <p:nvPr/>
        </p:nvSpPr>
        <p:spPr>
          <a:xfrm>
            <a:off x="8285519" y="2860078"/>
            <a:ext cx="3428427" cy="220006"/>
          </a:xfrm>
          <a:prstGeom prst="rect">
            <a:avLst/>
          </a:prstGeom>
          <a:noFill/>
          <a:ln/>
        </p:spPr>
        <p:txBody>
          <a:bodyPr wrap="square" lIns="0" tIns="0" rIns="0" bIns="0" rtlCol="0" anchor="ctr"/>
          <a:lstStyle/>
          <a:p>
            <a:pPr>
              <a:lnSpc>
                <a:spcPct val="130000"/>
              </a:lnSpc>
            </a:pPr>
            <a:r>
              <a:rPr lang="en-US" sz="1155" dirty="0">
                <a:solidFill>
                  <a:srgbClr val="8E8E93"/>
                </a:solidFill>
                <a:latin typeface="Quattrocento Sans" pitchFamily="34" charset="0"/>
                <a:ea typeface="Quattrocento Sans" pitchFamily="34" charset="-122"/>
                <a:cs typeface="Quattrocento Sans" pitchFamily="34" charset="-120"/>
              </a:rPr>
              <a:t>• Reading error messages</a:t>
            </a:r>
            <a:endParaRPr lang="en-US" sz="1600" dirty="0"/>
          </a:p>
        </p:txBody>
      </p:sp>
      <p:sp>
        <p:nvSpPr>
          <p:cNvPr id="31" name="Text 29"/>
          <p:cNvSpPr/>
          <p:nvPr/>
        </p:nvSpPr>
        <p:spPr>
          <a:xfrm>
            <a:off x="8285519" y="3116752"/>
            <a:ext cx="3428427" cy="220006"/>
          </a:xfrm>
          <a:prstGeom prst="rect">
            <a:avLst/>
          </a:prstGeom>
          <a:noFill/>
          <a:ln/>
        </p:spPr>
        <p:txBody>
          <a:bodyPr wrap="square" lIns="0" tIns="0" rIns="0" bIns="0" rtlCol="0" anchor="ctr"/>
          <a:lstStyle/>
          <a:p>
            <a:pPr>
              <a:lnSpc>
                <a:spcPct val="130000"/>
              </a:lnSpc>
            </a:pPr>
            <a:r>
              <a:rPr lang="en-US" sz="1155" dirty="0">
                <a:solidFill>
                  <a:srgbClr val="8E8E93"/>
                </a:solidFill>
                <a:latin typeface="Quattrocento Sans" pitchFamily="34" charset="0"/>
                <a:ea typeface="Quattrocento Sans" pitchFamily="34" charset="-122"/>
                <a:cs typeface="Quattrocento Sans" pitchFamily="34" charset="-120"/>
              </a:rPr>
              <a:t>• Using debug tools</a:t>
            </a:r>
            <a:endParaRPr lang="en-US" sz="1600" dirty="0"/>
          </a:p>
        </p:txBody>
      </p:sp>
      <p:sp>
        <p:nvSpPr>
          <p:cNvPr id="32" name="Text 30"/>
          <p:cNvSpPr/>
          <p:nvPr/>
        </p:nvSpPr>
        <p:spPr>
          <a:xfrm>
            <a:off x="8285519" y="3373426"/>
            <a:ext cx="3428427" cy="220006"/>
          </a:xfrm>
          <a:prstGeom prst="rect">
            <a:avLst/>
          </a:prstGeom>
          <a:noFill/>
          <a:ln/>
        </p:spPr>
        <p:txBody>
          <a:bodyPr wrap="square" lIns="0" tIns="0" rIns="0" bIns="0" rtlCol="0" anchor="ctr"/>
          <a:lstStyle/>
          <a:p>
            <a:pPr>
              <a:lnSpc>
                <a:spcPct val="130000"/>
              </a:lnSpc>
            </a:pPr>
            <a:r>
              <a:rPr lang="en-US" sz="1155" dirty="0">
                <a:solidFill>
                  <a:srgbClr val="8E8E93"/>
                </a:solidFill>
                <a:latin typeface="Quattrocento Sans" pitchFamily="34" charset="0"/>
                <a:ea typeface="Quattrocento Sans" pitchFamily="34" charset="-122"/>
                <a:cs typeface="Quattrocento Sans" pitchFamily="34" charset="-120"/>
              </a:rPr>
              <a:t>• Testing solutions</a:t>
            </a:r>
            <a:endParaRPr lang="en-US" sz="1600" dirty="0"/>
          </a:p>
        </p:txBody>
      </p:sp>
      <p:sp>
        <p:nvSpPr>
          <p:cNvPr id="33" name="Shape 31"/>
          <p:cNvSpPr/>
          <p:nvPr/>
        </p:nvSpPr>
        <p:spPr>
          <a:xfrm>
            <a:off x="385011" y="3923441"/>
            <a:ext cx="2731741" cy="2933414"/>
          </a:xfrm>
          <a:custGeom>
            <a:avLst/>
            <a:gdLst/>
            <a:ahLst/>
            <a:cxnLst/>
            <a:rect l="l" t="t" r="r" b="b"/>
            <a:pathLst>
              <a:path w="2731741" h="2933414">
                <a:moveTo>
                  <a:pt x="36703" y="0"/>
                </a:moveTo>
                <a:lnTo>
                  <a:pt x="2585085" y="0"/>
                </a:lnTo>
                <a:cubicBezTo>
                  <a:pt x="2666097" y="0"/>
                  <a:pt x="2731770" y="65673"/>
                  <a:pt x="2731770" y="146685"/>
                </a:cubicBezTo>
                <a:lnTo>
                  <a:pt x="2731770" y="2786761"/>
                </a:lnTo>
                <a:cubicBezTo>
                  <a:pt x="2731770" y="2867773"/>
                  <a:pt x="2666097" y="2933446"/>
                  <a:pt x="2585085" y="2933446"/>
                </a:cubicBezTo>
                <a:lnTo>
                  <a:pt x="36703" y="2933446"/>
                </a:lnTo>
                <a:cubicBezTo>
                  <a:pt x="16432" y="2933446"/>
                  <a:pt x="0" y="2917014"/>
                  <a:pt x="0" y="2896743"/>
                </a:cubicBezTo>
                <a:lnTo>
                  <a:pt x="0" y="36703"/>
                </a:lnTo>
                <a:cubicBezTo>
                  <a:pt x="0" y="16432"/>
                  <a:pt x="16432" y="0"/>
                  <a:pt x="36703" y="0"/>
                </a:cubicBezTo>
                <a:close/>
              </a:path>
            </a:pathLst>
          </a:custGeom>
          <a:solidFill>
            <a:srgbClr val="2C2C2E"/>
          </a:solidFill>
          <a:ln/>
        </p:spPr>
      </p:sp>
      <p:sp>
        <p:nvSpPr>
          <p:cNvPr id="34" name="Shape 32"/>
          <p:cNvSpPr/>
          <p:nvPr/>
        </p:nvSpPr>
        <p:spPr>
          <a:xfrm>
            <a:off x="385011" y="3923441"/>
            <a:ext cx="36668" cy="2933414"/>
          </a:xfrm>
          <a:custGeom>
            <a:avLst/>
            <a:gdLst/>
            <a:ahLst/>
            <a:cxnLst/>
            <a:rect l="l" t="t" r="r" b="b"/>
            <a:pathLst>
              <a:path w="36668" h="2933414">
                <a:moveTo>
                  <a:pt x="36703" y="0"/>
                </a:moveTo>
                <a:lnTo>
                  <a:pt x="36703" y="0"/>
                </a:lnTo>
                <a:lnTo>
                  <a:pt x="36703" y="2933446"/>
                </a:lnTo>
                <a:lnTo>
                  <a:pt x="36703" y="2933446"/>
                </a:lnTo>
                <a:cubicBezTo>
                  <a:pt x="16432" y="2933446"/>
                  <a:pt x="0" y="2917014"/>
                  <a:pt x="0" y="2896743"/>
                </a:cubicBezTo>
                <a:lnTo>
                  <a:pt x="0" y="36703"/>
                </a:lnTo>
                <a:cubicBezTo>
                  <a:pt x="0" y="16432"/>
                  <a:pt x="16432" y="0"/>
                  <a:pt x="36703" y="0"/>
                </a:cubicBezTo>
                <a:close/>
              </a:path>
            </a:pathLst>
          </a:custGeom>
          <a:solidFill>
            <a:srgbClr val="34C759"/>
          </a:solidFill>
          <a:ln/>
        </p:spPr>
      </p:sp>
      <p:sp>
        <p:nvSpPr>
          <p:cNvPr id="35" name="Shape 33"/>
          <p:cNvSpPr/>
          <p:nvPr/>
        </p:nvSpPr>
        <p:spPr>
          <a:xfrm>
            <a:off x="586683" y="4106779"/>
            <a:ext cx="440012" cy="440012"/>
          </a:xfrm>
          <a:prstGeom prst="roundRect">
            <a:avLst>
              <a:gd name="adj" fmla="val 25000"/>
            </a:avLst>
          </a:prstGeom>
          <a:solidFill>
            <a:srgbClr val="34C759"/>
          </a:solidFill>
          <a:ln/>
        </p:spPr>
      </p:sp>
      <p:sp>
        <p:nvSpPr>
          <p:cNvPr id="36" name="Shape 34"/>
          <p:cNvSpPr/>
          <p:nvPr/>
        </p:nvSpPr>
        <p:spPr>
          <a:xfrm>
            <a:off x="703561" y="4235116"/>
            <a:ext cx="206256" cy="183338"/>
          </a:xfrm>
          <a:custGeom>
            <a:avLst/>
            <a:gdLst/>
            <a:ahLst/>
            <a:cxnLst/>
            <a:rect l="l" t="t" r="r" b="b"/>
            <a:pathLst>
              <a:path w="206256" h="183338">
                <a:moveTo>
                  <a:pt x="172059" y="3688"/>
                </a:moveTo>
                <a:lnTo>
                  <a:pt x="92779" y="56577"/>
                </a:lnTo>
                <a:cubicBezTo>
                  <a:pt x="82359" y="63524"/>
                  <a:pt x="75734" y="74803"/>
                  <a:pt x="74660" y="87122"/>
                </a:cubicBezTo>
                <a:cubicBezTo>
                  <a:pt x="96969" y="91705"/>
                  <a:pt x="114551" y="109287"/>
                  <a:pt x="119170" y="131631"/>
                </a:cubicBezTo>
                <a:cubicBezTo>
                  <a:pt x="131524" y="130557"/>
                  <a:pt x="142768" y="123932"/>
                  <a:pt x="149714" y="113512"/>
                </a:cubicBezTo>
                <a:lnTo>
                  <a:pt x="202567" y="34197"/>
                </a:lnTo>
                <a:cubicBezTo>
                  <a:pt x="204967" y="30580"/>
                  <a:pt x="206256" y="26355"/>
                  <a:pt x="206256" y="21986"/>
                </a:cubicBezTo>
                <a:cubicBezTo>
                  <a:pt x="206256" y="9847"/>
                  <a:pt x="196408" y="0"/>
                  <a:pt x="184269" y="0"/>
                </a:cubicBezTo>
                <a:cubicBezTo>
                  <a:pt x="179937" y="0"/>
                  <a:pt x="175675" y="1289"/>
                  <a:pt x="172059" y="3688"/>
                </a:cubicBezTo>
                <a:close/>
                <a:moveTo>
                  <a:pt x="103128" y="143233"/>
                </a:moveTo>
                <a:cubicBezTo>
                  <a:pt x="103128" y="121068"/>
                  <a:pt x="85188" y="103128"/>
                  <a:pt x="63023" y="103128"/>
                </a:cubicBezTo>
                <a:cubicBezTo>
                  <a:pt x="40857" y="103128"/>
                  <a:pt x="22917" y="121068"/>
                  <a:pt x="22917" y="143233"/>
                </a:cubicBezTo>
                <a:cubicBezTo>
                  <a:pt x="22917" y="144630"/>
                  <a:pt x="22989" y="146026"/>
                  <a:pt x="23132" y="147387"/>
                </a:cubicBezTo>
                <a:cubicBezTo>
                  <a:pt x="23777" y="153653"/>
                  <a:pt x="19480" y="160421"/>
                  <a:pt x="13177" y="160421"/>
                </a:cubicBezTo>
                <a:lnTo>
                  <a:pt x="11459" y="160421"/>
                </a:lnTo>
                <a:cubicBezTo>
                  <a:pt x="5121" y="160421"/>
                  <a:pt x="0" y="165542"/>
                  <a:pt x="0" y="171880"/>
                </a:cubicBezTo>
                <a:cubicBezTo>
                  <a:pt x="0" y="178218"/>
                  <a:pt x="5121" y="183338"/>
                  <a:pt x="11459" y="183338"/>
                </a:cubicBezTo>
                <a:lnTo>
                  <a:pt x="63023" y="183338"/>
                </a:lnTo>
                <a:cubicBezTo>
                  <a:pt x="85188" y="183338"/>
                  <a:pt x="103128" y="165398"/>
                  <a:pt x="103128" y="143233"/>
                </a:cubicBezTo>
                <a:close/>
              </a:path>
            </a:pathLst>
          </a:custGeom>
          <a:solidFill>
            <a:srgbClr val="1D1D1F"/>
          </a:solidFill>
          <a:ln/>
        </p:spPr>
      </p:sp>
      <p:sp>
        <p:nvSpPr>
          <p:cNvPr id="37" name="Text 35"/>
          <p:cNvSpPr/>
          <p:nvPr/>
        </p:nvSpPr>
        <p:spPr>
          <a:xfrm>
            <a:off x="1136698" y="4198448"/>
            <a:ext cx="788355" cy="256674"/>
          </a:xfrm>
          <a:prstGeom prst="rect">
            <a:avLst/>
          </a:prstGeom>
          <a:noFill/>
          <a:ln/>
        </p:spPr>
        <p:txBody>
          <a:bodyPr wrap="square" lIns="0" tIns="0" rIns="0" bIns="0" rtlCol="0" anchor="ctr"/>
          <a:lstStyle/>
          <a:p>
            <a:pPr>
              <a:lnSpc>
                <a:spcPct val="130000"/>
              </a:lnSpc>
            </a:pPr>
            <a:r>
              <a:rPr lang="en-US" sz="1299" b="1" dirty="0">
                <a:solidFill>
                  <a:srgbClr val="34C759"/>
                </a:solidFill>
                <a:latin typeface="Liter" pitchFamily="34" charset="0"/>
                <a:ea typeface="Liter" pitchFamily="34" charset="-122"/>
                <a:cs typeface="Liter" pitchFamily="34" charset="-120"/>
              </a:rPr>
              <a:t>UI Design</a:t>
            </a:r>
            <a:endParaRPr lang="en-US" sz="1600" dirty="0"/>
          </a:p>
        </p:txBody>
      </p:sp>
      <p:sp>
        <p:nvSpPr>
          <p:cNvPr id="38" name="Text 36"/>
          <p:cNvSpPr/>
          <p:nvPr/>
        </p:nvSpPr>
        <p:spPr>
          <a:xfrm>
            <a:off x="586683" y="4656794"/>
            <a:ext cx="2420066" cy="440012"/>
          </a:xfrm>
          <a:prstGeom prst="rect">
            <a:avLst/>
          </a:prstGeom>
          <a:noFill/>
          <a:ln/>
        </p:spPr>
        <p:txBody>
          <a:bodyPr wrap="square" lIns="0" tIns="0" rIns="0" bIns="0" rtlCol="0" anchor="ctr"/>
          <a:lstStyle/>
          <a:p>
            <a:pPr>
              <a:lnSpc>
                <a:spcPct val="130000"/>
              </a:lnSpc>
            </a:pPr>
            <a:r>
              <a:rPr lang="en-US" sz="1155" dirty="0">
                <a:solidFill>
                  <a:srgbClr val="F5F5F7"/>
                </a:solidFill>
                <a:latin typeface="Quattrocento Sans" pitchFamily="34" charset="0"/>
                <a:ea typeface="Quattrocento Sans" pitchFamily="34" charset="-122"/>
                <a:cs typeface="Quattrocento Sans" pitchFamily="34" charset="-120"/>
              </a:rPr>
              <a:t>Create user-friendly interfaces with buttons, text, and layouts</a:t>
            </a:r>
            <a:endParaRPr lang="en-US" sz="1600" dirty="0"/>
          </a:p>
        </p:txBody>
      </p:sp>
      <p:sp>
        <p:nvSpPr>
          <p:cNvPr id="39" name="Shape 37"/>
          <p:cNvSpPr/>
          <p:nvPr/>
        </p:nvSpPr>
        <p:spPr>
          <a:xfrm>
            <a:off x="3285767" y="3923441"/>
            <a:ext cx="2731741" cy="2933414"/>
          </a:xfrm>
          <a:custGeom>
            <a:avLst/>
            <a:gdLst/>
            <a:ahLst/>
            <a:cxnLst/>
            <a:rect l="l" t="t" r="r" b="b"/>
            <a:pathLst>
              <a:path w="2731741" h="2933414">
                <a:moveTo>
                  <a:pt x="36703" y="0"/>
                </a:moveTo>
                <a:lnTo>
                  <a:pt x="2585085" y="0"/>
                </a:lnTo>
                <a:cubicBezTo>
                  <a:pt x="2666097" y="0"/>
                  <a:pt x="2731770" y="65673"/>
                  <a:pt x="2731770" y="146685"/>
                </a:cubicBezTo>
                <a:lnTo>
                  <a:pt x="2731770" y="2786761"/>
                </a:lnTo>
                <a:cubicBezTo>
                  <a:pt x="2731770" y="2867773"/>
                  <a:pt x="2666097" y="2933446"/>
                  <a:pt x="2585085" y="2933446"/>
                </a:cubicBezTo>
                <a:lnTo>
                  <a:pt x="36703" y="2933446"/>
                </a:lnTo>
                <a:cubicBezTo>
                  <a:pt x="16432" y="2933446"/>
                  <a:pt x="0" y="2917014"/>
                  <a:pt x="0" y="2896743"/>
                </a:cubicBezTo>
                <a:lnTo>
                  <a:pt x="0" y="36703"/>
                </a:lnTo>
                <a:cubicBezTo>
                  <a:pt x="0" y="16432"/>
                  <a:pt x="16432" y="0"/>
                  <a:pt x="36703" y="0"/>
                </a:cubicBezTo>
                <a:close/>
              </a:path>
            </a:pathLst>
          </a:custGeom>
          <a:solidFill>
            <a:srgbClr val="2C2C2E"/>
          </a:solidFill>
          <a:ln/>
        </p:spPr>
      </p:sp>
      <p:sp>
        <p:nvSpPr>
          <p:cNvPr id="40" name="Shape 38"/>
          <p:cNvSpPr/>
          <p:nvPr/>
        </p:nvSpPr>
        <p:spPr>
          <a:xfrm>
            <a:off x="3285767" y="3923441"/>
            <a:ext cx="36668" cy="2933414"/>
          </a:xfrm>
          <a:custGeom>
            <a:avLst/>
            <a:gdLst/>
            <a:ahLst/>
            <a:cxnLst/>
            <a:rect l="l" t="t" r="r" b="b"/>
            <a:pathLst>
              <a:path w="36668" h="2933414">
                <a:moveTo>
                  <a:pt x="36703" y="0"/>
                </a:moveTo>
                <a:lnTo>
                  <a:pt x="36703" y="0"/>
                </a:lnTo>
                <a:lnTo>
                  <a:pt x="36703" y="2933446"/>
                </a:lnTo>
                <a:lnTo>
                  <a:pt x="36703" y="2933446"/>
                </a:lnTo>
                <a:cubicBezTo>
                  <a:pt x="16432" y="2933446"/>
                  <a:pt x="0" y="2917014"/>
                  <a:pt x="0" y="2896743"/>
                </a:cubicBezTo>
                <a:lnTo>
                  <a:pt x="0" y="36703"/>
                </a:lnTo>
                <a:cubicBezTo>
                  <a:pt x="0" y="16432"/>
                  <a:pt x="16432" y="0"/>
                  <a:pt x="36703" y="0"/>
                </a:cubicBezTo>
                <a:close/>
              </a:path>
            </a:pathLst>
          </a:custGeom>
          <a:solidFill>
            <a:srgbClr val="0A84FF"/>
          </a:solidFill>
          <a:ln/>
        </p:spPr>
      </p:sp>
      <p:sp>
        <p:nvSpPr>
          <p:cNvPr id="41" name="Shape 39"/>
          <p:cNvSpPr/>
          <p:nvPr/>
        </p:nvSpPr>
        <p:spPr>
          <a:xfrm>
            <a:off x="3487439" y="4106779"/>
            <a:ext cx="440012" cy="440012"/>
          </a:xfrm>
          <a:prstGeom prst="roundRect">
            <a:avLst>
              <a:gd name="adj" fmla="val 25000"/>
            </a:avLst>
          </a:prstGeom>
          <a:solidFill>
            <a:srgbClr val="0A84FF"/>
          </a:solidFill>
          <a:ln/>
        </p:spPr>
      </p:sp>
      <p:sp>
        <p:nvSpPr>
          <p:cNvPr id="42" name="Shape 40"/>
          <p:cNvSpPr/>
          <p:nvPr/>
        </p:nvSpPr>
        <p:spPr>
          <a:xfrm>
            <a:off x="3615776" y="4235116"/>
            <a:ext cx="183338" cy="183338"/>
          </a:xfrm>
          <a:custGeom>
            <a:avLst/>
            <a:gdLst/>
            <a:ahLst/>
            <a:cxnLst/>
            <a:rect l="l" t="t" r="r" b="b"/>
            <a:pathLst>
              <a:path w="183338" h="183338">
                <a:moveTo>
                  <a:pt x="122679" y="3366"/>
                </a:moveTo>
                <a:cubicBezTo>
                  <a:pt x="118203" y="-1110"/>
                  <a:pt x="110934" y="-1110"/>
                  <a:pt x="106458" y="3366"/>
                </a:cubicBezTo>
                <a:cubicBezTo>
                  <a:pt x="101982" y="7842"/>
                  <a:pt x="101982" y="15111"/>
                  <a:pt x="106458" y="19587"/>
                </a:cubicBezTo>
                <a:lnTo>
                  <a:pt x="109824" y="22917"/>
                </a:lnTo>
                <a:lnTo>
                  <a:pt x="10062" y="122679"/>
                </a:lnTo>
                <a:cubicBezTo>
                  <a:pt x="3617" y="129125"/>
                  <a:pt x="0" y="137862"/>
                  <a:pt x="0" y="146993"/>
                </a:cubicBezTo>
                <a:lnTo>
                  <a:pt x="0" y="148962"/>
                </a:lnTo>
                <a:cubicBezTo>
                  <a:pt x="0" y="167941"/>
                  <a:pt x="15398" y="183338"/>
                  <a:pt x="34376" y="183338"/>
                </a:cubicBezTo>
                <a:lnTo>
                  <a:pt x="36345" y="183338"/>
                </a:lnTo>
                <a:cubicBezTo>
                  <a:pt x="45477" y="183338"/>
                  <a:pt x="54214" y="179722"/>
                  <a:pt x="60659" y="173276"/>
                </a:cubicBezTo>
                <a:lnTo>
                  <a:pt x="160421" y="73514"/>
                </a:lnTo>
                <a:lnTo>
                  <a:pt x="163787" y="76880"/>
                </a:lnTo>
                <a:cubicBezTo>
                  <a:pt x="168263" y="81356"/>
                  <a:pt x="175532" y="81356"/>
                  <a:pt x="180008" y="76880"/>
                </a:cubicBezTo>
                <a:cubicBezTo>
                  <a:pt x="184484" y="72404"/>
                  <a:pt x="184484" y="65135"/>
                  <a:pt x="180008" y="60659"/>
                </a:cubicBezTo>
                <a:lnTo>
                  <a:pt x="122715" y="3366"/>
                </a:lnTo>
                <a:close/>
                <a:moveTo>
                  <a:pt x="73514" y="91669"/>
                </a:moveTo>
                <a:lnTo>
                  <a:pt x="126045" y="39138"/>
                </a:lnTo>
                <a:lnTo>
                  <a:pt x="144200" y="57293"/>
                </a:lnTo>
                <a:lnTo>
                  <a:pt x="109824" y="91669"/>
                </a:lnTo>
                <a:lnTo>
                  <a:pt x="73479" y="91669"/>
                </a:lnTo>
                <a:close/>
              </a:path>
            </a:pathLst>
          </a:custGeom>
          <a:solidFill>
            <a:srgbClr val="FFFFFF"/>
          </a:solidFill>
          <a:ln/>
        </p:spPr>
      </p:sp>
      <p:sp>
        <p:nvSpPr>
          <p:cNvPr id="43" name="Text 41"/>
          <p:cNvSpPr/>
          <p:nvPr/>
        </p:nvSpPr>
        <p:spPr>
          <a:xfrm>
            <a:off x="4037454" y="4198448"/>
            <a:ext cx="962526" cy="256674"/>
          </a:xfrm>
          <a:prstGeom prst="rect">
            <a:avLst/>
          </a:prstGeom>
          <a:noFill/>
          <a:ln/>
        </p:spPr>
        <p:txBody>
          <a:bodyPr wrap="square" lIns="0" tIns="0" rIns="0" bIns="0" rtlCol="0" anchor="ctr"/>
          <a:lstStyle/>
          <a:p>
            <a:pPr>
              <a:lnSpc>
                <a:spcPct val="130000"/>
              </a:lnSpc>
            </a:pPr>
            <a:r>
              <a:rPr lang="en-US" sz="1299" b="1" dirty="0">
                <a:solidFill>
                  <a:srgbClr val="0A84FF"/>
                </a:solidFill>
                <a:latin typeface="Liter" pitchFamily="34" charset="0"/>
                <a:ea typeface="Liter" pitchFamily="34" charset="-122"/>
                <a:cs typeface="Liter" pitchFamily="34" charset="-120"/>
              </a:rPr>
              <a:t>App Testing</a:t>
            </a:r>
            <a:endParaRPr lang="en-US" sz="1600" dirty="0"/>
          </a:p>
        </p:txBody>
      </p:sp>
      <p:sp>
        <p:nvSpPr>
          <p:cNvPr id="44" name="Text 42"/>
          <p:cNvSpPr/>
          <p:nvPr/>
        </p:nvSpPr>
        <p:spPr>
          <a:xfrm>
            <a:off x="3487439" y="4656794"/>
            <a:ext cx="2420066" cy="440012"/>
          </a:xfrm>
          <a:prstGeom prst="rect">
            <a:avLst/>
          </a:prstGeom>
          <a:noFill/>
          <a:ln/>
        </p:spPr>
        <p:txBody>
          <a:bodyPr wrap="square" lIns="0" tIns="0" rIns="0" bIns="0" rtlCol="0" anchor="ctr"/>
          <a:lstStyle/>
          <a:p>
            <a:pPr>
              <a:lnSpc>
                <a:spcPct val="130000"/>
              </a:lnSpc>
            </a:pPr>
            <a:r>
              <a:rPr lang="en-US" sz="1155" dirty="0">
                <a:solidFill>
                  <a:srgbClr val="F5F5F7"/>
                </a:solidFill>
                <a:latin typeface="Quattrocento Sans" pitchFamily="34" charset="0"/>
                <a:ea typeface="Quattrocento Sans" pitchFamily="34" charset="-122"/>
                <a:cs typeface="Quattrocento Sans" pitchFamily="34" charset="-120"/>
              </a:rPr>
              <a:t>Test apps on emulators and real devices to ensure quality</a:t>
            </a:r>
            <a:endParaRPr lang="en-US" sz="1600" dirty="0"/>
          </a:p>
        </p:txBody>
      </p:sp>
      <p:sp>
        <p:nvSpPr>
          <p:cNvPr id="45" name="Shape 43"/>
          <p:cNvSpPr/>
          <p:nvPr/>
        </p:nvSpPr>
        <p:spPr>
          <a:xfrm>
            <a:off x="6171971" y="3927107"/>
            <a:ext cx="5644988" cy="1455706"/>
          </a:xfrm>
          <a:prstGeom prst="roundRect">
            <a:avLst>
              <a:gd name="adj" fmla="val 10076"/>
            </a:avLst>
          </a:prstGeom>
          <a:solidFill>
            <a:srgbClr val="0A84FF">
              <a:alpha val="10196"/>
            </a:srgbClr>
          </a:solidFill>
          <a:ln w="10160">
            <a:solidFill>
              <a:srgbClr val="0A84FF">
                <a:alpha val="30196"/>
              </a:srgbClr>
            </a:solidFill>
            <a:prstDash val="solid"/>
          </a:ln>
        </p:spPr>
      </p:sp>
      <p:sp>
        <p:nvSpPr>
          <p:cNvPr id="46" name="Shape 44"/>
          <p:cNvSpPr/>
          <p:nvPr/>
        </p:nvSpPr>
        <p:spPr>
          <a:xfrm>
            <a:off x="6381893" y="4159950"/>
            <a:ext cx="165005" cy="165005"/>
          </a:xfrm>
          <a:custGeom>
            <a:avLst/>
            <a:gdLst/>
            <a:ahLst/>
            <a:cxnLst/>
            <a:rect l="l" t="t" r="r" b="b"/>
            <a:pathLst>
              <a:path w="165005" h="165005">
                <a:moveTo>
                  <a:pt x="82502" y="154692"/>
                </a:moveTo>
                <a:cubicBezTo>
                  <a:pt x="128072" y="154692"/>
                  <a:pt x="165005" y="120047"/>
                  <a:pt x="165005" y="77346"/>
                </a:cubicBezTo>
                <a:cubicBezTo>
                  <a:pt x="165005" y="34645"/>
                  <a:pt x="128072" y="0"/>
                  <a:pt x="82502" y="0"/>
                </a:cubicBezTo>
                <a:cubicBezTo>
                  <a:pt x="36933" y="0"/>
                  <a:pt x="0" y="34645"/>
                  <a:pt x="0" y="77346"/>
                </a:cubicBezTo>
                <a:cubicBezTo>
                  <a:pt x="0" y="94845"/>
                  <a:pt x="6188" y="110959"/>
                  <a:pt x="16629" y="123915"/>
                </a:cubicBezTo>
                <a:lnTo>
                  <a:pt x="902" y="153660"/>
                </a:lnTo>
                <a:cubicBezTo>
                  <a:pt x="-645" y="156561"/>
                  <a:pt x="-161" y="160106"/>
                  <a:pt x="2063" y="162523"/>
                </a:cubicBezTo>
                <a:cubicBezTo>
                  <a:pt x="4286" y="164940"/>
                  <a:pt x="7799" y="165681"/>
                  <a:pt x="10796" y="164392"/>
                </a:cubicBezTo>
                <a:lnTo>
                  <a:pt x="48953" y="148053"/>
                </a:lnTo>
                <a:cubicBezTo>
                  <a:pt x="59202" y="152307"/>
                  <a:pt x="70546" y="154692"/>
                  <a:pt x="82502" y="154692"/>
                </a:cubicBezTo>
                <a:close/>
                <a:moveTo>
                  <a:pt x="41251" y="67033"/>
                </a:moveTo>
                <a:cubicBezTo>
                  <a:pt x="46943" y="67033"/>
                  <a:pt x="51564" y="71654"/>
                  <a:pt x="51564" y="77346"/>
                </a:cubicBezTo>
                <a:cubicBezTo>
                  <a:pt x="51564" y="83038"/>
                  <a:pt x="46943" y="87659"/>
                  <a:pt x="41251" y="87659"/>
                </a:cubicBezTo>
                <a:cubicBezTo>
                  <a:pt x="35559" y="87659"/>
                  <a:pt x="30938" y="83038"/>
                  <a:pt x="30938" y="77346"/>
                </a:cubicBezTo>
                <a:cubicBezTo>
                  <a:pt x="30938" y="71654"/>
                  <a:pt x="35559" y="67033"/>
                  <a:pt x="41251" y="67033"/>
                </a:cubicBezTo>
                <a:close/>
                <a:moveTo>
                  <a:pt x="82502" y="67033"/>
                </a:moveTo>
                <a:cubicBezTo>
                  <a:pt x="88194" y="67033"/>
                  <a:pt x="92815" y="71654"/>
                  <a:pt x="92815" y="77346"/>
                </a:cubicBezTo>
                <a:cubicBezTo>
                  <a:pt x="92815" y="83038"/>
                  <a:pt x="88194" y="87659"/>
                  <a:pt x="82502" y="87659"/>
                </a:cubicBezTo>
                <a:cubicBezTo>
                  <a:pt x="76810" y="87659"/>
                  <a:pt x="72189" y="83038"/>
                  <a:pt x="72189" y="77346"/>
                </a:cubicBezTo>
                <a:cubicBezTo>
                  <a:pt x="72189" y="71654"/>
                  <a:pt x="76810" y="67033"/>
                  <a:pt x="82502" y="67033"/>
                </a:cubicBezTo>
                <a:close/>
                <a:moveTo>
                  <a:pt x="113441" y="77346"/>
                </a:moveTo>
                <a:cubicBezTo>
                  <a:pt x="113441" y="71654"/>
                  <a:pt x="118062" y="67033"/>
                  <a:pt x="123753" y="67033"/>
                </a:cubicBezTo>
                <a:cubicBezTo>
                  <a:pt x="129445" y="67033"/>
                  <a:pt x="134066" y="71654"/>
                  <a:pt x="134066" y="77346"/>
                </a:cubicBezTo>
                <a:cubicBezTo>
                  <a:pt x="134066" y="83038"/>
                  <a:pt x="129445" y="87659"/>
                  <a:pt x="123753" y="87659"/>
                </a:cubicBezTo>
                <a:cubicBezTo>
                  <a:pt x="118062" y="87659"/>
                  <a:pt x="113441" y="83038"/>
                  <a:pt x="113441" y="77346"/>
                </a:cubicBezTo>
                <a:close/>
              </a:path>
            </a:pathLst>
          </a:custGeom>
          <a:solidFill>
            <a:srgbClr val="0A84FF"/>
          </a:solidFill>
          <a:ln/>
        </p:spPr>
      </p:sp>
      <p:sp>
        <p:nvSpPr>
          <p:cNvPr id="47" name="Text 45"/>
          <p:cNvSpPr/>
          <p:nvPr/>
        </p:nvSpPr>
        <p:spPr>
          <a:xfrm>
            <a:off x="6569815" y="4114115"/>
            <a:ext cx="5142641" cy="256674"/>
          </a:xfrm>
          <a:prstGeom prst="rect">
            <a:avLst/>
          </a:prstGeom>
          <a:noFill/>
          <a:ln/>
        </p:spPr>
        <p:txBody>
          <a:bodyPr wrap="square" lIns="0" tIns="0" rIns="0" bIns="0" rtlCol="0" anchor="ctr"/>
          <a:lstStyle/>
          <a:p>
            <a:pPr>
              <a:lnSpc>
                <a:spcPct val="130000"/>
              </a:lnSpc>
            </a:pPr>
            <a:r>
              <a:rPr lang="en-US" sz="1299"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48" name="Text 46"/>
          <p:cNvSpPr/>
          <p:nvPr/>
        </p:nvSpPr>
        <p:spPr>
          <a:xfrm>
            <a:off x="6358976" y="4480792"/>
            <a:ext cx="5344313" cy="715020"/>
          </a:xfrm>
          <a:prstGeom prst="rect">
            <a:avLst/>
          </a:prstGeom>
          <a:noFill/>
          <a:ln/>
        </p:spPr>
        <p:txBody>
          <a:bodyPr wrap="square" lIns="0" tIns="0" rIns="0" bIns="0" rtlCol="0" anchor="ctr"/>
          <a:lstStyle/>
          <a:p>
            <a:pPr>
              <a:lnSpc>
                <a:spcPct val="140000"/>
              </a:lnSpc>
            </a:pPr>
            <a:r>
              <a:rPr lang="en-US" sz="1155" dirty="0">
                <a:solidFill>
                  <a:srgbClr val="F5F5F7"/>
                </a:solidFill>
                <a:latin typeface="Quattrocento Sans" pitchFamily="34" charset="0"/>
                <a:ea typeface="Quattrocento Sans" pitchFamily="34" charset="-122"/>
                <a:cs typeface="Quattrocento Sans" pitchFamily="34" charset="-120"/>
              </a:rPr>
              <a:t>These skills are like </a:t>
            </a:r>
            <a:pPr>
              <a:lnSpc>
                <a:spcPct val="140000"/>
              </a:lnSpc>
            </a:pPr>
            <a:r>
              <a:rPr lang="en-US" sz="1155" b="1" dirty="0">
                <a:solidFill>
                  <a:srgbClr val="34C759"/>
                </a:solidFill>
                <a:latin typeface="Quattrocento Sans" pitchFamily="34" charset="0"/>
                <a:ea typeface="Quattrocento Sans" pitchFamily="34" charset="-122"/>
                <a:cs typeface="Quattrocento Sans" pitchFamily="34" charset="-120"/>
              </a:rPr>
              <a:t>tools in a toolbox</a:t>
            </a:r>
            <a:pPr>
              <a:lnSpc>
                <a:spcPct val="140000"/>
              </a:lnSpc>
            </a:pPr>
            <a:r>
              <a:rPr lang="en-US" sz="1155" dirty="0">
                <a:solidFill>
                  <a:srgbClr val="F5F5F7"/>
                </a:solidFill>
                <a:latin typeface="Quattrocento Sans" pitchFamily="34" charset="0"/>
                <a:ea typeface="Quattrocento Sans" pitchFamily="34" charset="-122"/>
                <a:cs typeface="Quattrocento Sans" pitchFamily="34" charset="-120"/>
              </a:rPr>
              <a:t>. Just as a carpenter needs a hammer, saw, and measuring tape, a developer needs IDEs, coding knowledge, and debugging skills to build great apps.</a:t>
            </a:r>
            <a:endParaRPr lang="en-US" sz="1600" dirty="0"/>
          </a:p>
        </p:txBody>
      </p:sp>
      <p:sp>
        <p:nvSpPr>
          <p:cNvPr id="49" name="Shape 47"/>
          <p:cNvSpPr/>
          <p:nvPr/>
        </p:nvSpPr>
        <p:spPr>
          <a:xfrm>
            <a:off x="6168304" y="5533152"/>
            <a:ext cx="5655988" cy="1320036"/>
          </a:xfrm>
          <a:prstGeom prst="roundRect">
            <a:avLst>
              <a:gd name="adj" fmla="val 11111"/>
            </a:avLst>
          </a:prstGeom>
          <a:solidFill>
            <a:srgbClr val="2C2C2E"/>
          </a:solidFill>
          <a:ln/>
        </p:spPr>
      </p:sp>
      <p:sp>
        <p:nvSpPr>
          <p:cNvPr id="50" name="Shape 48"/>
          <p:cNvSpPr/>
          <p:nvPr/>
        </p:nvSpPr>
        <p:spPr>
          <a:xfrm>
            <a:off x="6374560" y="5762325"/>
            <a:ext cx="165005" cy="165005"/>
          </a:xfrm>
          <a:custGeom>
            <a:avLst/>
            <a:gdLst/>
            <a:ahLst/>
            <a:cxnLst/>
            <a:rect l="l" t="t" r="r" b="b"/>
            <a:pathLst>
              <a:path w="165005" h="165005">
                <a:moveTo>
                  <a:pt x="56720" y="18047"/>
                </a:moveTo>
                <a:lnTo>
                  <a:pt x="56720" y="30938"/>
                </a:lnTo>
                <a:lnTo>
                  <a:pt x="108284" y="30938"/>
                </a:lnTo>
                <a:lnTo>
                  <a:pt x="108284" y="18047"/>
                </a:lnTo>
                <a:cubicBezTo>
                  <a:pt x="108284" y="16629"/>
                  <a:pt x="107124" y="15469"/>
                  <a:pt x="105706" y="15469"/>
                </a:cubicBezTo>
                <a:lnTo>
                  <a:pt x="59298" y="15469"/>
                </a:lnTo>
                <a:cubicBezTo>
                  <a:pt x="57880" y="15469"/>
                  <a:pt x="56720" y="16629"/>
                  <a:pt x="56720" y="18047"/>
                </a:cubicBezTo>
                <a:close/>
                <a:moveTo>
                  <a:pt x="41251" y="30938"/>
                </a:moveTo>
                <a:lnTo>
                  <a:pt x="41251" y="18047"/>
                </a:lnTo>
                <a:cubicBezTo>
                  <a:pt x="41251" y="8089"/>
                  <a:pt x="49340" y="0"/>
                  <a:pt x="59298" y="0"/>
                </a:cubicBezTo>
                <a:lnTo>
                  <a:pt x="105706" y="0"/>
                </a:lnTo>
                <a:cubicBezTo>
                  <a:pt x="115664" y="0"/>
                  <a:pt x="123753" y="8089"/>
                  <a:pt x="123753" y="18047"/>
                </a:cubicBezTo>
                <a:lnTo>
                  <a:pt x="123753" y="30938"/>
                </a:lnTo>
                <a:lnTo>
                  <a:pt x="132809" y="30938"/>
                </a:lnTo>
                <a:cubicBezTo>
                  <a:pt x="136902" y="30938"/>
                  <a:pt x="140834" y="32582"/>
                  <a:pt x="143734" y="35482"/>
                </a:cubicBezTo>
                <a:lnTo>
                  <a:pt x="160460" y="52208"/>
                </a:lnTo>
                <a:cubicBezTo>
                  <a:pt x="163361" y="55109"/>
                  <a:pt x="165005" y="59041"/>
                  <a:pt x="165005" y="63134"/>
                </a:cubicBezTo>
                <a:lnTo>
                  <a:pt x="165005" y="87659"/>
                </a:lnTo>
                <a:lnTo>
                  <a:pt x="121175" y="87659"/>
                </a:lnTo>
                <a:lnTo>
                  <a:pt x="121175" y="82502"/>
                </a:lnTo>
                <a:cubicBezTo>
                  <a:pt x="121175" y="78216"/>
                  <a:pt x="117727" y="74768"/>
                  <a:pt x="113441" y="74768"/>
                </a:cubicBezTo>
                <a:cubicBezTo>
                  <a:pt x="109154" y="74768"/>
                  <a:pt x="105706" y="78216"/>
                  <a:pt x="105706" y="82502"/>
                </a:cubicBezTo>
                <a:lnTo>
                  <a:pt x="105706" y="87659"/>
                </a:lnTo>
                <a:lnTo>
                  <a:pt x="59298" y="87659"/>
                </a:lnTo>
                <a:lnTo>
                  <a:pt x="59298" y="82502"/>
                </a:lnTo>
                <a:cubicBezTo>
                  <a:pt x="59298" y="78216"/>
                  <a:pt x="55850" y="74768"/>
                  <a:pt x="51564" y="74768"/>
                </a:cubicBezTo>
                <a:cubicBezTo>
                  <a:pt x="47278" y="74768"/>
                  <a:pt x="43829" y="78216"/>
                  <a:pt x="43829" y="82502"/>
                </a:cubicBezTo>
                <a:lnTo>
                  <a:pt x="43829" y="87659"/>
                </a:lnTo>
                <a:lnTo>
                  <a:pt x="0" y="87659"/>
                </a:lnTo>
                <a:lnTo>
                  <a:pt x="0" y="63134"/>
                </a:lnTo>
                <a:cubicBezTo>
                  <a:pt x="0" y="59041"/>
                  <a:pt x="1644" y="55109"/>
                  <a:pt x="4544" y="52208"/>
                </a:cubicBezTo>
                <a:lnTo>
                  <a:pt x="21270" y="35482"/>
                </a:lnTo>
                <a:cubicBezTo>
                  <a:pt x="24171" y="32582"/>
                  <a:pt x="28102" y="30938"/>
                  <a:pt x="32195" y="30938"/>
                </a:cubicBezTo>
                <a:lnTo>
                  <a:pt x="41251" y="30938"/>
                </a:lnTo>
                <a:close/>
                <a:moveTo>
                  <a:pt x="0" y="134066"/>
                </a:moveTo>
                <a:lnTo>
                  <a:pt x="0" y="103128"/>
                </a:lnTo>
                <a:lnTo>
                  <a:pt x="43829" y="103128"/>
                </a:lnTo>
                <a:lnTo>
                  <a:pt x="43829" y="108284"/>
                </a:lnTo>
                <a:cubicBezTo>
                  <a:pt x="43829" y="112570"/>
                  <a:pt x="47278" y="116019"/>
                  <a:pt x="51564" y="116019"/>
                </a:cubicBezTo>
                <a:cubicBezTo>
                  <a:pt x="55850" y="116019"/>
                  <a:pt x="59298" y="112570"/>
                  <a:pt x="59298" y="108284"/>
                </a:cubicBezTo>
                <a:lnTo>
                  <a:pt x="59298" y="103128"/>
                </a:lnTo>
                <a:lnTo>
                  <a:pt x="105706" y="103128"/>
                </a:lnTo>
                <a:lnTo>
                  <a:pt x="105706" y="108284"/>
                </a:lnTo>
                <a:cubicBezTo>
                  <a:pt x="105706" y="112570"/>
                  <a:pt x="109154" y="116019"/>
                  <a:pt x="113441" y="116019"/>
                </a:cubicBezTo>
                <a:cubicBezTo>
                  <a:pt x="117727" y="116019"/>
                  <a:pt x="121175" y="112570"/>
                  <a:pt x="121175" y="108284"/>
                </a:cubicBezTo>
                <a:lnTo>
                  <a:pt x="121175" y="103128"/>
                </a:lnTo>
                <a:lnTo>
                  <a:pt x="165005" y="103128"/>
                </a:lnTo>
                <a:lnTo>
                  <a:pt x="165005" y="134066"/>
                </a:lnTo>
                <a:cubicBezTo>
                  <a:pt x="165005" y="145442"/>
                  <a:pt x="155755" y="154692"/>
                  <a:pt x="144379" y="154692"/>
                </a:cubicBezTo>
                <a:lnTo>
                  <a:pt x="20626" y="154692"/>
                </a:lnTo>
                <a:cubicBezTo>
                  <a:pt x="9249" y="154692"/>
                  <a:pt x="0" y="145442"/>
                  <a:pt x="0" y="134066"/>
                </a:cubicBezTo>
                <a:close/>
              </a:path>
            </a:pathLst>
          </a:custGeom>
          <a:solidFill>
            <a:srgbClr val="34C759"/>
          </a:solidFill>
          <a:ln/>
        </p:spPr>
      </p:sp>
      <p:sp>
        <p:nvSpPr>
          <p:cNvPr id="51" name="Text 49"/>
          <p:cNvSpPr/>
          <p:nvPr/>
        </p:nvSpPr>
        <p:spPr>
          <a:xfrm>
            <a:off x="6562482" y="5716491"/>
            <a:ext cx="5160974" cy="256674"/>
          </a:xfrm>
          <a:prstGeom prst="rect">
            <a:avLst/>
          </a:prstGeom>
          <a:noFill/>
          <a:ln/>
        </p:spPr>
        <p:txBody>
          <a:bodyPr wrap="square" lIns="0" tIns="0" rIns="0" bIns="0" rtlCol="0" anchor="ctr"/>
          <a:lstStyle/>
          <a:p>
            <a:pPr>
              <a:lnSpc>
                <a:spcPct val="130000"/>
              </a:lnSpc>
            </a:pPr>
            <a:r>
              <a:rPr lang="en-US" sz="1299" b="1" dirty="0">
                <a:solidFill>
                  <a:srgbClr val="34C759"/>
                </a:solidFill>
                <a:latin typeface="Liter" pitchFamily="34" charset="0"/>
                <a:ea typeface="Liter" pitchFamily="34" charset="-122"/>
                <a:cs typeface="Liter" pitchFamily="34" charset="-120"/>
              </a:rPr>
              <a:t>Your Developer Toolbox</a:t>
            </a:r>
            <a:endParaRPr lang="en-US" sz="1600" dirty="0"/>
          </a:p>
        </p:txBody>
      </p:sp>
      <p:sp>
        <p:nvSpPr>
          <p:cNvPr id="52" name="Shape 50"/>
          <p:cNvSpPr/>
          <p:nvPr/>
        </p:nvSpPr>
        <p:spPr>
          <a:xfrm>
            <a:off x="6351643" y="6083167"/>
            <a:ext cx="999194" cy="586683"/>
          </a:xfrm>
          <a:prstGeom prst="roundRect">
            <a:avLst>
              <a:gd name="adj" fmla="val 12500"/>
            </a:avLst>
          </a:prstGeom>
          <a:solidFill>
            <a:srgbClr val="1A1D21"/>
          </a:solidFill>
          <a:ln/>
        </p:spPr>
      </p:sp>
      <p:sp>
        <p:nvSpPr>
          <p:cNvPr id="53" name="Shape 51"/>
          <p:cNvSpPr/>
          <p:nvPr/>
        </p:nvSpPr>
        <p:spPr>
          <a:xfrm>
            <a:off x="6713621" y="6156503"/>
            <a:ext cx="275008" cy="220006"/>
          </a:xfrm>
          <a:custGeom>
            <a:avLst/>
            <a:gdLst/>
            <a:ahLst/>
            <a:cxnLst/>
            <a:rect l="l" t="t" r="r" b="b"/>
            <a:pathLst>
              <a:path w="275008" h="220006">
                <a:moveTo>
                  <a:pt x="27501" y="41251"/>
                </a:moveTo>
                <a:cubicBezTo>
                  <a:pt x="27501" y="26083"/>
                  <a:pt x="39833" y="13750"/>
                  <a:pt x="55002" y="13750"/>
                </a:cubicBezTo>
                <a:lnTo>
                  <a:pt x="220006" y="13750"/>
                </a:lnTo>
                <a:cubicBezTo>
                  <a:pt x="235174" y="13750"/>
                  <a:pt x="247507" y="26083"/>
                  <a:pt x="247507" y="41251"/>
                </a:cubicBezTo>
                <a:lnTo>
                  <a:pt x="247507" y="144379"/>
                </a:lnTo>
                <a:lnTo>
                  <a:pt x="220006" y="144379"/>
                </a:lnTo>
                <a:lnTo>
                  <a:pt x="220006" y="41251"/>
                </a:lnTo>
                <a:lnTo>
                  <a:pt x="55002" y="41251"/>
                </a:lnTo>
                <a:lnTo>
                  <a:pt x="55002" y="144379"/>
                </a:lnTo>
                <a:lnTo>
                  <a:pt x="27501" y="144379"/>
                </a:lnTo>
                <a:lnTo>
                  <a:pt x="27501" y="41251"/>
                </a:lnTo>
                <a:close/>
                <a:moveTo>
                  <a:pt x="0" y="173255"/>
                </a:moveTo>
                <a:cubicBezTo>
                  <a:pt x="0" y="168700"/>
                  <a:pt x="3695" y="165005"/>
                  <a:pt x="8250" y="165005"/>
                </a:cubicBezTo>
                <a:lnTo>
                  <a:pt x="266757" y="165005"/>
                </a:lnTo>
                <a:cubicBezTo>
                  <a:pt x="271312" y="165005"/>
                  <a:pt x="275008" y="168700"/>
                  <a:pt x="275008" y="173255"/>
                </a:cubicBezTo>
                <a:cubicBezTo>
                  <a:pt x="275008" y="191474"/>
                  <a:pt x="260226" y="206256"/>
                  <a:pt x="242007" y="206256"/>
                </a:cubicBezTo>
                <a:lnTo>
                  <a:pt x="33001" y="206256"/>
                </a:lnTo>
                <a:cubicBezTo>
                  <a:pt x="14782" y="206256"/>
                  <a:pt x="0" y="191474"/>
                  <a:pt x="0" y="173255"/>
                </a:cubicBezTo>
                <a:close/>
                <a:moveTo>
                  <a:pt x="120745" y="89807"/>
                </a:moveTo>
                <a:lnTo>
                  <a:pt x="107425" y="103128"/>
                </a:lnTo>
                <a:lnTo>
                  <a:pt x="120745" y="116448"/>
                </a:lnTo>
                <a:cubicBezTo>
                  <a:pt x="124785" y="120488"/>
                  <a:pt x="124785" y="127019"/>
                  <a:pt x="120745" y="131015"/>
                </a:cubicBezTo>
                <a:cubicBezTo>
                  <a:pt x="116706" y="135012"/>
                  <a:pt x="110175" y="135054"/>
                  <a:pt x="106179" y="131015"/>
                </a:cubicBezTo>
                <a:lnTo>
                  <a:pt x="85553" y="110390"/>
                </a:lnTo>
                <a:cubicBezTo>
                  <a:pt x="81514" y="106351"/>
                  <a:pt x="81514" y="99819"/>
                  <a:pt x="85553" y="95823"/>
                </a:cubicBezTo>
                <a:lnTo>
                  <a:pt x="106179" y="75197"/>
                </a:lnTo>
                <a:cubicBezTo>
                  <a:pt x="110218" y="71158"/>
                  <a:pt x="116749" y="71158"/>
                  <a:pt x="120745" y="75197"/>
                </a:cubicBezTo>
                <a:cubicBezTo>
                  <a:pt x="124742" y="79237"/>
                  <a:pt x="124785" y="85768"/>
                  <a:pt x="120745" y="89764"/>
                </a:cubicBezTo>
                <a:close/>
                <a:moveTo>
                  <a:pt x="168872" y="75197"/>
                </a:moveTo>
                <a:lnTo>
                  <a:pt x="189497" y="95823"/>
                </a:lnTo>
                <a:cubicBezTo>
                  <a:pt x="193537" y="99862"/>
                  <a:pt x="193537" y="106394"/>
                  <a:pt x="189497" y="110390"/>
                </a:cubicBezTo>
                <a:lnTo>
                  <a:pt x="168872" y="131015"/>
                </a:lnTo>
                <a:cubicBezTo>
                  <a:pt x="164833" y="135054"/>
                  <a:pt x="158301" y="135054"/>
                  <a:pt x="154305" y="131015"/>
                </a:cubicBezTo>
                <a:cubicBezTo>
                  <a:pt x="150309" y="126976"/>
                  <a:pt x="150266" y="120445"/>
                  <a:pt x="154305" y="116448"/>
                </a:cubicBezTo>
                <a:lnTo>
                  <a:pt x="167626" y="103128"/>
                </a:lnTo>
                <a:lnTo>
                  <a:pt x="154305" y="89807"/>
                </a:lnTo>
                <a:cubicBezTo>
                  <a:pt x="150266" y="85768"/>
                  <a:pt x="150266" y="79237"/>
                  <a:pt x="154305" y="75240"/>
                </a:cubicBezTo>
                <a:cubicBezTo>
                  <a:pt x="158344" y="71244"/>
                  <a:pt x="164876" y="71201"/>
                  <a:pt x="168872" y="75240"/>
                </a:cubicBezTo>
                <a:close/>
              </a:path>
            </a:pathLst>
          </a:custGeom>
          <a:solidFill>
            <a:srgbClr val="34C759"/>
          </a:solidFill>
          <a:ln/>
        </p:spPr>
      </p:sp>
      <p:sp>
        <p:nvSpPr>
          <p:cNvPr id="54" name="Text 52"/>
          <p:cNvSpPr/>
          <p:nvPr/>
        </p:nvSpPr>
        <p:spPr>
          <a:xfrm>
            <a:off x="6392894" y="6413176"/>
            <a:ext cx="916692" cy="183338"/>
          </a:xfrm>
          <a:prstGeom prst="rect">
            <a:avLst/>
          </a:prstGeom>
          <a:noFill/>
          <a:ln/>
        </p:spPr>
        <p:txBody>
          <a:bodyPr wrap="square" lIns="0" tIns="0" rIns="0" bIns="0" rtlCol="0" anchor="ctr"/>
          <a:lstStyle/>
          <a:p>
            <a:pPr algn="ctr">
              <a:lnSpc>
                <a:spcPct val="120000"/>
              </a:lnSpc>
            </a:pPr>
            <a:r>
              <a:rPr lang="en-US" sz="1011" dirty="0">
                <a:solidFill>
                  <a:srgbClr val="F5F5F7"/>
                </a:solidFill>
                <a:latin typeface="Quattrocento Sans" pitchFamily="34" charset="0"/>
                <a:ea typeface="Quattrocento Sans" pitchFamily="34" charset="-122"/>
                <a:cs typeface="Quattrocento Sans" pitchFamily="34" charset="-120"/>
              </a:rPr>
              <a:t>IDEs</a:t>
            </a:r>
            <a:endParaRPr lang="en-US" sz="1600" dirty="0"/>
          </a:p>
        </p:txBody>
      </p:sp>
      <p:sp>
        <p:nvSpPr>
          <p:cNvPr id="55" name="Shape 53"/>
          <p:cNvSpPr/>
          <p:nvPr/>
        </p:nvSpPr>
        <p:spPr>
          <a:xfrm>
            <a:off x="7423942" y="6083167"/>
            <a:ext cx="999194" cy="586683"/>
          </a:xfrm>
          <a:prstGeom prst="roundRect">
            <a:avLst>
              <a:gd name="adj" fmla="val 12500"/>
            </a:avLst>
          </a:prstGeom>
          <a:solidFill>
            <a:srgbClr val="1A1D21"/>
          </a:solidFill>
          <a:ln/>
        </p:spPr>
      </p:sp>
      <p:sp>
        <p:nvSpPr>
          <p:cNvPr id="56" name="Shape 54"/>
          <p:cNvSpPr/>
          <p:nvPr/>
        </p:nvSpPr>
        <p:spPr>
          <a:xfrm>
            <a:off x="7799672" y="6156503"/>
            <a:ext cx="247507" cy="220006"/>
          </a:xfrm>
          <a:custGeom>
            <a:avLst/>
            <a:gdLst/>
            <a:ahLst/>
            <a:cxnLst/>
            <a:rect l="l" t="t" r="r" b="b"/>
            <a:pathLst>
              <a:path w="247507" h="220006">
                <a:moveTo>
                  <a:pt x="155035" y="516"/>
                </a:moveTo>
                <a:cubicBezTo>
                  <a:pt x="147731" y="-1590"/>
                  <a:pt x="140125" y="2664"/>
                  <a:pt x="138019" y="9969"/>
                </a:cubicBezTo>
                <a:lnTo>
                  <a:pt x="83018" y="202474"/>
                </a:lnTo>
                <a:cubicBezTo>
                  <a:pt x="80912" y="209779"/>
                  <a:pt x="85166" y="217385"/>
                  <a:pt x="92471" y="219490"/>
                </a:cubicBezTo>
                <a:cubicBezTo>
                  <a:pt x="99776" y="221596"/>
                  <a:pt x="107382" y="217342"/>
                  <a:pt x="109487" y="210037"/>
                </a:cubicBezTo>
                <a:lnTo>
                  <a:pt x="164489" y="17532"/>
                </a:lnTo>
                <a:cubicBezTo>
                  <a:pt x="166594" y="10227"/>
                  <a:pt x="162340" y="2621"/>
                  <a:pt x="155035" y="516"/>
                </a:cubicBezTo>
                <a:close/>
                <a:moveTo>
                  <a:pt x="182794" y="58998"/>
                </a:moveTo>
                <a:cubicBezTo>
                  <a:pt x="177423" y="64369"/>
                  <a:pt x="177423" y="73092"/>
                  <a:pt x="182794" y="78463"/>
                </a:cubicBezTo>
                <a:lnTo>
                  <a:pt x="214334" y="110003"/>
                </a:lnTo>
                <a:lnTo>
                  <a:pt x="182794" y="141543"/>
                </a:lnTo>
                <a:cubicBezTo>
                  <a:pt x="177423" y="146914"/>
                  <a:pt x="177423" y="155637"/>
                  <a:pt x="182794" y="161008"/>
                </a:cubicBezTo>
                <a:cubicBezTo>
                  <a:pt x="188165" y="166380"/>
                  <a:pt x="196888" y="166380"/>
                  <a:pt x="202259" y="161008"/>
                </a:cubicBezTo>
                <a:lnTo>
                  <a:pt x="243511" y="119757"/>
                </a:lnTo>
                <a:cubicBezTo>
                  <a:pt x="248882" y="114386"/>
                  <a:pt x="248882" y="105663"/>
                  <a:pt x="243511" y="100292"/>
                </a:cubicBezTo>
                <a:lnTo>
                  <a:pt x="202259" y="59041"/>
                </a:lnTo>
                <a:cubicBezTo>
                  <a:pt x="196888" y="53669"/>
                  <a:pt x="188165" y="53669"/>
                  <a:pt x="182794" y="59041"/>
                </a:cubicBezTo>
                <a:close/>
                <a:moveTo>
                  <a:pt x="64756" y="58998"/>
                </a:moveTo>
                <a:cubicBezTo>
                  <a:pt x="59384" y="53626"/>
                  <a:pt x="50662" y="53626"/>
                  <a:pt x="45290" y="58998"/>
                </a:cubicBezTo>
                <a:lnTo>
                  <a:pt x="4039" y="100249"/>
                </a:lnTo>
                <a:cubicBezTo>
                  <a:pt x="-1332" y="105620"/>
                  <a:pt x="-1332" y="114343"/>
                  <a:pt x="4039" y="119714"/>
                </a:cubicBezTo>
                <a:lnTo>
                  <a:pt x="45290" y="160965"/>
                </a:lnTo>
                <a:cubicBezTo>
                  <a:pt x="50662" y="166337"/>
                  <a:pt x="59384" y="166337"/>
                  <a:pt x="64756" y="160965"/>
                </a:cubicBezTo>
                <a:cubicBezTo>
                  <a:pt x="70127" y="155594"/>
                  <a:pt x="70127" y="146871"/>
                  <a:pt x="64756" y="141500"/>
                </a:cubicBezTo>
                <a:lnTo>
                  <a:pt x="33216" y="110003"/>
                </a:lnTo>
                <a:lnTo>
                  <a:pt x="64713" y="78463"/>
                </a:lnTo>
                <a:cubicBezTo>
                  <a:pt x="70084" y="73092"/>
                  <a:pt x="70084" y="64369"/>
                  <a:pt x="64713" y="58998"/>
                </a:cubicBezTo>
                <a:close/>
              </a:path>
            </a:pathLst>
          </a:custGeom>
          <a:solidFill>
            <a:srgbClr val="0A84FF"/>
          </a:solidFill>
          <a:ln/>
        </p:spPr>
      </p:sp>
      <p:sp>
        <p:nvSpPr>
          <p:cNvPr id="57" name="Text 55"/>
          <p:cNvSpPr/>
          <p:nvPr/>
        </p:nvSpPr>
        <p:spPr>
          <a:xfrm>
            <a:off x="7465194" y="6413176"/>
            <a:ext cx="916692" cy="183338"/>
          </a:xfrm>
          <a:prstGeom prst="rect">
            <a:avLst/>
          </a:prstGeom>
          <a:noFill/>
          <a:ln/>
        </p:spPr>
        <p:txBody>
          <a:bodyPr wrap="square" lIns="0" tIns="0" rIns="0" bIns="0" rtlCol="0" anchor="ctr"/>
          <a:lstStyle/>
          <a:p>
            <a:pPr algn="ctr">
              <a:lnSpc>
                <a:spcPct val="120000"/>
              </a:lnSpc>
            </a:pPr>
            <a:r>
              <a:rPr lang="en-US" sz="1011" dirty="0">
                <a:solidFill>
                  <a:srgbClr val="F5F5F7"/>
                </a:solidFill>
                <a:latin typeface="Quattrocento Sans" pitchFamily="34" charset="0"/>
                <a:ea typeface="Quattrocento Sans" pitchFamily="34" charset="-122"/>
                <a:cs typeface="Quattrocento Sans" pitchFamily="34" charset="-120"/>
              </a:rPr>
              <a:t>Code</a:t>
            </a:r>
            <a:endParaRPr lang="en-US" sz="1600" dirty="0"/>
          </a:p>
        </p:txBody>
      </p:sp>
      <p:sp>
        <p:nvSpPr>
          <p:cNvPr id="58" name="Shape 56"/>
          <p:cNvSpPr/>
          <p:nvPr/>
        </p:nvSpPr>
        <p:spPr>
          <a:xfrm>
            <a:off x="8496243" y="6083167"/>
            <a:ext cx="999194" cy="586683"/>
          </a:xfrm>
          <a:prstGeom prst="roundRect">
            <a:avLst>
              <a:gd name="adj" fmla="val 12500"/>
            </a:avLst>
          </a:prstGeom>
          <a:solidFill>
            <a:srgbClr val="1A1D21"/>
          </a:solidFill>
          <a:ln/>
        </p:spPr>
      </p:sp>
      <p:sp>
        <p:nvSpPr>
          <p:cNvPr id="59" name="Shape 57"/>
          <p:cNvSpPr/>
          <p:nvPr/>
        </p:nvSpPr>
        <p:spPr>
          <a:xfrm>
            <a:off x="8871972" y="6156503"/>
            <a:ext cx="247507" cy="220006"/>
          </a:xfrm>
          <a:custGeom>
            <a:avLst/>
            <a:gdLst/>
            <a:ahLst/>
            <a:cxnLst/>
            <a:rect l="l" t="t" r="r" b="b"/>
            <a:pathLst>
              <a:path w="247507" h="220006">
                <a:moveTo>
                  <a:pt x="82502" y="41251"/>
                </a:moveTo>
                <a:cubicBezTo>
                  <a:pt x="82502" y="18477"/>
                  <a:pt x="100979" y="0"/>
                  <a:pt x="123753" y="0"/>
                </a:cubicBezTo>
                <a:cubicBezTo>
                  <a:pt x="146527" y="0"/>
                  <a:pt x="165005" y="18477"/>
                  <a:pt x="165005" y="41251"/>
                </a:cubicBezTo>
                <a:lnTo>
                  <a:pt x="165005" y="42798"/>
                </a:lnTo>
                <a:cubicBezTo>
                  <a:pt x="165005" y="49544"/>
                  <a:pt x="159547" y="55002"/>
                  <a:pt x="152801" y="55002"/>
                </a:cubicBezTo>
                <a:lnTo>
                  <a:pt x="94749" y="55002"/>
                </a:lnTo>
                <a:cubicBezTo>
                  <a:pt x="88002" y="55002"/>
                  <a:pt x="82545" y="49544"/>
                  <a:pt x="82545" y="42798"/>
                </a:cubicBezTo>
                <a:lnTo>
                  <a:pt x="82545" y="41251"/>
                </a:lnTo>
                <a:close/>
                <a:moveTo>
                  <a:pt x="231006" y="46751"/>
                </a:moveTo>
                <a:cubicBezTo>
                  <a:pt x="235561" y="52810"/>
                  <a:pt x="234315" y="61447"/>
                  <a:pt x="228256" y="66002"/>
                </a:cubicBezTo>
                <a:lnTo>
                  <a:pt x="186232" y="97499"/>
                </a:lnTo>
                <a:cubicBezTo>
                  <a:pt x="188509" y="101323"/>
                  <a:pt x="190228" y="105534"/>
                  <a:pt x="191302" y="110003"/>
                </a:cubicBezTo>
                <a:lnTo>
                  <a:pt x="233756" y="110003"/>
                </a:lnTo>
                <a:cubicBezTo>
                  <a:pt x="241362" y="110003"/>
                  <a:pt x="247507" y="116148"/>
                  <a:pt x="247507" y="123753"/>
                </a:cubicBezTo>
                <a:cubicBezTo>
                  <a:pt x="247507" y="131359"/>
                  <a:pt x="241362" y="137504"/>
                  <a:pt x="233756" y="137504"/>
                </a:cubicBezTo>
                <a:lnTo>
                  <a:pt x="192505" y="137504"/>
                </a:lnTo>
                <a:lnTo>
                  <a:pt x="192505" y="151254"/>
                </a:lnTo>
                <a:cubicBezTo>
                  <a:pt x="192505" y="152371"/>
                  <a:pt x="192462" y="153532"/>
                  <a:pt x="192419" y="154649"/>
                </a:cubicBezTo>
                <a:lnTo>
                  <a:pt x="228256" y="181505"/>
                </a:lnTo>
                <a:cubicBezTo>
                  <a:pt x="234315" y="186060"/>
                  <a:pt x="235561" y="194697"/>
                  <a:pt x="231006" y="200755"/>
                </a:cubicBezTo>
                <a:cubicBezTo>
                  <a:pt x="226452" y="206814"/>
                  <a:pt x="217815" y="208060"/>
                  <a:pt x="211756" y="203506"/>
                </a:cubicBezTo>
                <a:lnTo>
                  <a:pt x="184642" y="183181"/>
                </a:lnTo>
                <a:cubicBezTo>
                  <a:pt x="174673" y="202173"/>
                  <a:pt x="156067" y="215924"/>
                  <a:pt x="134066" y="219233"/>
                </a:cubicBezTo>
                <a:lnTo>
                  <a:pt x="134066" y="120316"/>
                </a:lnTo>
                <a:cubicBezTo>
                  <a:pt x="134066" y="114601"/>
                  <a:pt x="129468" y="110003"/>
                  <a:pt x="123753" y="110003"/>
                </a:cubicBezTo>
                <a:cubicBezTo>
                  <a:pt x="118038" y="110003"/>
                  <a:pt x="113441" y="114601"/>
                  <a:pt x="113441" y="120316"/>
                </a:cubicBezTo>
                <a:lnTo>
                  <a:pt x="113441" y="219233"/>
                </a:lnTo>
                <a:cubicBezTo>
                  <a:pt x="91440" y="215924"/>
                  <a:pt x="72834" y="202173"/>
                  <a:pt x="62865" y="183181"/>
                </a:cubicBezTo>
                <a:lnTo>
                  <a:pt x="35751" y="203506"/>
                </a:lnTo>
                <a:cubicBezTo>
                  <a:pt x="29692" y="208060"/>
                  <a:pt x="21055" y="206814"/>
                  <a:pt x="16500" y="200755"/>
                </a:cubicBezTo>
                <a:cubicBezTo>
                  <a:pt x="11946" y="194697"/>
                  <a:pt x="13192" y="186060"/>
                  <a:pt x="19251" y="181505"/>
                </a:cubicBezTo>
                <a:lnTo>
                  <a:pt x="55087" y="154649"/>
                </a:lnTo>
                <a:cubicBezTo>
                  <a:pt x="55044" y="153532"/>
                  <a:pt x="55002" y="152414"/>
                  <a:pt x="55002" y="151254"/>
                </a:cubicBezTo>
                <a:lnTo>
                  <a:pt x="55002" y="137504"/>
                </a:lnTo>
                <a:lnTo>
                  <a:pt x="13750" y="137504"/>
                </a:lnTo>
                <a:cubicBezTo>
                  <a:pt x="6145" y="137504"/>
                  <a:pt x="0" y="131359"/>
                  <a:pt x="0" y="123753"/>
                </a:cubicBezTo>
                <a:cubicBezTo>
                  <a:pt x="0" y="116148"/>
                  <a:pt x="6145" y="110003"/>
                  <a:pt x="13750" y="110003"/>
                </a:cubicBezTo>
                <a:lnTo>
                  <a:pt x="56205" y="110003"/>
                </a:lnTo>
                <a:cubicBezTo>
                  <a:pt x="57279" y="105534"/>
                  <a:pt x="58998" y="101323"/>
                  <a:pt x="61275" y="97499"/>
                </a:cubicBezTo>
                <a:lnTo>
                  <a:pt x="19251" y="66002"/>
                </a:lnTo>
                <a:cubicBezTo>
                  <a:pt x="13192" y="61447"/>
                  <a:pt x="11946" y="52810"/>
                  <a:pt x="16500" y="46751"/>
                </a:cubicBezTo>
                <a:cubicBezTo>
                  <a:pt x="21055" y="40693"/>
                  <a:pt x="29692" y="39446"/>
                  <a:pt x="35751" y="44001"/>
                </a:cubicBezTo>
                <a:lnTo>
                  <a:pt x="82502" y="79065"/>
                </a:lnTo>
                <a:cubicBezTo>
                  <a:pt x="87788" y="76873"/>
                  <a:pt x="93588" y="75627"/>
                  <a:pt x="99690" y="75627"/>
                </a:cubicBezTo>
                <a:lnTo>
                  <a:pt x="147817" y="75627"/>
                </a:lnTo>
                <a:cubicBezTo>
                  <a:pt x="153918" y="75627"/>
                  <a:pt x="159719" y="76830"/>
                  <a:pt x="165005" y="79065"/>
                </a:cubicBezTo>
                <a:lnTo>
                  <a:pt x="211756" y="44001"/>
                </a:lnTo>
                <a:cubicBezTo>
                  <a:pt x="217815" y="39446"/>
                  <a:pt x="226452" y="40693"/>
                  <a:pt x="231006" y="46751"/>
                </a:cubicBezTo>
                <a:close/>
              </a:path>
            </a:pathLst>
          </a:custGeom>
          <a:solidFill>
            <a:srgbClr val="8E8E93"/>
          </a:solidFill>
          <a:ln/>
        </p:spPr>
      </p:sp>
      <p:sp>
        <p:nvSpPr>
          <p:cNvPr id="60" name="Text 58"/>
          <p:cNvSpPr/>
          <p:nvPr/>
        </p:nvSpPr>
        <p:spPr>
          <a:xfrm>
            <a:off x="8537494" y="6413176"/>
            <a:ext cx="916692" cy="183338"/>
          </a:xfrm>
          <a:prstGeom prst="rect">
            <a:avLst/>
          </a:prstGeom>
          <a:noFill/>
          <a:ln/>
        </p:spPr>
        <p:txBody>
          <a:bodyPr wrap="square" lIns="0" tIns="0" rIns="0" bIns="0" rtlCol="0" anchor="ctr"/>
          <a:lstStyle/>
          <a:p>
            <a:pPr algn="ctr">
              <a:lnSpc>
                <a:spcPct val="120000"/>
              </a:lnSpc>
            </a:pPr>
            <a:r>
              <a:rPr lang="en-US" sz="1011" dirty="0">
                <a:solidFill>
                  <a:srgbClr val="F5F5F7"/>
                </a:solidFill>
                <a:latin typeface="Quattrocento Sans" pitchFamily="34" charset="0"/>
                <a:ea typeface="Quattrocento Sans" pitchFamily="34" charset="-122"/>
                <a:cs typeface="Quattrocento Sans" pitchFamily="34" charset="-120"/>
              </a:rPr>
              <a:t>Debug</a:t>
            </a:r>
            <a:endParaRPr lang="en-US" sz="1600" dirty="0"/>
          </a:p>
        </p:txBody>
      </p:sp>
      <p:sp>
        <p:nvSpPr>
          <p:cNvPr id="61" name="Shape 59"/>
          <p:cNvSpPr/>
          <p:nvPr/>
        </p:nvSpPr>
        <p:spPr>
          <a:xfrm>
            <a:off x="9568543" y="6083167"/>
            <a:ext cx="999194" cy="586683"/>
          </a:xfrm>
          <a:prstGeom prst="roundRect">
            <a:avLst>
              <a:gd name="adj" fmla="val 12500"/>
            </a:avLst>
          </a:prstGeom>
          <a:solidFill>
            <a:srgbClr val="1A1D21"/>
          </a:solidFill>
          <a:ln/>
        </p:spPr>
      </p:sp>
      <p:sp>
        <p:nvSpPr>
          <p:cNvPr id="62" name="Shape 60"/>
          <p:cNvSpPr/>
          <p:nvPr/>
        </p:nvSpPr>
        <p:spPr>
          <a:xfrm>
            <a:off x="9944272" y="6156503"/>
            <a:ext cx="247507" cy="220006"/>
          </a:xfrm>
          <a:custGeom>
            <a:avLst/>
            <a:gdLst/>
            <a:ahLst/>
            <a:cxnLst/>
            <a:rect l="l" t="t" r="r" b="b"/>
            <a:pathLst>
              <a:path w="247507" h="220006">
                <a:moveTo>
                  <a:pt x="206470" y="4426"/>
                </a:moveTo>
                <a:lnTo>
                  <a:pt x="111335" y="67892"/>
                </a:lnTo>
                <a:cubicBezTo>
                  <a:pt x="98831" y="76229"/>
                  <a:pt x="90881" y="89764"/>
                  <a:pt x="89592" y="104546"/>
                </a:cubicBezTo>
                <a:cubicBezTo>
                  <a:pt x="116363" y="110046"/>
                  <a:pt x="137461" y="131144"/>
                  <a:pt x="143004" y="157957"/>
                </a:cubicBezTo>
                <a:cubicBezTo>
                  <a:pt x="157829" y="156668"/>
                  <a:pt x="171321" y="148719"/>
                  <a:pt x="179657" y="136215"/>
                </a:cubicBezTo>
                <a:lnTo>
                  <a:pt x="243081" y="41036"/>
                </a:lnTo>
                <a:cubicBezTo>
                  <a:pt x="245960" y="36696"/>
                  <a:pt x="247507" y="31626"/>
                  <a:pt x="247507" y="26384"/>
                </a:cubicBezTo>
                <a:cubicBezTo>
                  <a:pt x="247507" y="11817"/>
                  <a:pt x="235690" y="0"/>
                  <a:pt x="221123" y="0"/>
                </a:cubicBezTo>
                <a:cubicBezTo>
                  <a:pt x="215924" y="0"/>
                  <a:pt x="210810" y="1547"/>
                  <a:pt x="206470" y="4426"/>
                </a:cubicBezTo>
                <a:close/>
                <a:moveTo>
                  <a:pt x="123753" y="171880"/>
                </a:moveTo>
                <a:cubicBezTo>
                  <a:pt x="123753" y="145281"/>
                  <a:pt x="102225" y="123753"/>
                  <a:pt x="75627" y="123753"/>
                </a:cubicBezTo>
                <a:cubicBezTo>
                  <a:pt x="49029" y="123753"/>
                  <a:pt x="27501" y="145281"/>
                  <a:pt x="27501" y="171880"/>
                </a:cubicBezTo>
                <a:cubicBezTo>
                  <a:pt x="27501" y="173556"/>
                  <a:pt x="27587" y="175231"/>
                  <a:pt x="27759" y="176864"/>
                </a:cubicBezTo>
                <a:cubicBezTo>
                  <a:pt x="28532" y="184384"/>
                  <a:pt x="23376" y="192505"/>
                  <a:pt x="15813" y="192505"/>
                </a:cubicBezTo>
                <a:lnTo>
                  <a:pt x="13750" y="192505"/>
                </a:lnTo>
                <a:cubicBezTo>
                  <a:pt x="6145" y="192505"/>
                  <a:pt x="0" y="198650"/>
                  <a:pt x="0" y="206256"/>
                </a:cubicBezTo>
                <a:cubicBezTo>
                  <a:pt x="0" y="213861"/>
                  <a:pt x="6145" y="220006"/>
                  <a:pt x="13750" y="220006"/>
                </a:cubicBezTo>
                <a:lnTo>
                  <a:pt x="75627" y="220006"/>
                </a:lnTo>
                <a:cubicBezTo>
                  <a:pt x="102225" y="220006"/>
                  <a:pt x="123753" y="198478"/>
                  <a:pt x="123753" y="171880"/>
                </a:cubicBezTo>
                <a:close/>
              </a:path>
            </a:pathLst>
          </a:custGeom>
          <a:solidFill>
            <a:srgbClr val="34C759"/>
          </a:solidFill>
          <a:ln/>
        </p:spPr>
      </p:sp>
      <p:sp>
        <p:nvSpPr>
          <p:cNvPr id="63" name="Text 61"/>
          <p:cNvSpPr/>
          <p:nvPr/>
        </p:nvSpPr>
        <p:spPr>
          <a:xfrm>
            <a:off x="9609794" y="6413176"/>
            <a:ext cx="916692" cy="183338"/>
          </a:xfrm>
          <a:prstGeom prst="rect">
            <a:avLst/>
          </a:prstGeom>
          <a:noFill/>
          <a:ln/>
        </p:spPr>
        <p:txBody>
          <a:bodyPr wrap="square" lIns="0" tIns="0" rIns="0" bIns="0" rtlCol="0" anchor="ctr"/>
          <a:lstStyle/>
          <a:p>
            <a:pPr algn="ctr">
              <a:lnSpc>
                <a:spcPct val="120000"/>
              </a:lnSpc>
            </a:pPr>
            <a:r>
              <a:rPr lang="en-US" sz="1011" dirty="0">
                <a:solidFill>
                  <a:srgbClr val="F5F5F7"/>
                </a:solidFill>
                <a:latin typeface="Quattrocento Sans" pitchFamily="34" charset="0"/>
                <a:ea typeface="Quattrocento Sans" pitchFamily="34" charset="-122"/>
                <a:cs typeface="Quattrocento Sans" pitchFamily="34" charset="-120"/>
              </a:rPr>
              <a:t>Design</a:t>
            </a:r>
            <a:endParaRPr lang="en-US" sz="1600" dirty="0"/>
          </a:p>
        </p:txBody>
      </p:sp>
      <p:sp>
        <p:nvSpPr>
          <p:cNvPr id="64" name="Shape 62"/>
          <p:cNvSpPr/>
          <p:nvPr/>
        </p:nvSpPr>
        <p:spPr>
          <a:xfrm>
            <a:off x="10640843" y="6083167"/>
            <a:ext cx="999194" cy="586683"/>
          </a:xfrm>
          <a:prstGeom prst="roundRect">
            <a:avLst>
              <a:gd name="adj" fmla="val 12500"/>
            </a:avLst>
          </a:prstGeom>
          <a:solidFill>
            <a:srgbClr val="1A1D21"/>
          </a:solidFill>
          <a:ln/>
        </p:spPr>
      </p:sp>
      <p:sp>
        <p:nvSpPr>
          <p:cNvPr id="65" name="Shape 63"/>
          <p:cNvSpPr/>
          <p:nvPr/>
        </p:nvSpPr>
        <p:spPr>
          <a:xfrm>
            <a:off x="11030323" y="6156503"/>
            <a:ext cx="220006" cy="220006"/>
          </a:xfrm>
          <a:custGeom>
            <a:avLst/>
            <a:gdLst/>
            <a:ahLst/>
            <a:cxnLst/>
            <a:rect l="l" t="t" r="r" b="b"/>
            <a:pathLst>
              <a:path w="220006" h="220006">
                <a:moveTo>
                  <a:pt x="147215" y="4039"/>
                </a:moveTo>
                <a:cubicBezTo>
                  <a:pt x="141844" y="-1332"/>
                  <a:pt x="133121" y="-1332"/>
                  <a:pt x="127750" y="4039"/>
                </a:cubicBezTo>
                <a:cubicBezTo>
                  <a:pt x="122378" y="9410"/>
                  <a:pt x="122378" y="18133"/>
                  <a:pt x="127750" y="23505"/>
                </a:cubicBezTo>
                <a:lnTo>
                  <a:pt x="131789" y="27501"/>
                </a:lnTo>
                <a:lnTo>
                  <a:pt x="12075" y="147215"/>
                </a:lnTo>
                <a:cubicBezTo>
                  <a:pt x="4340" y="154950"/>
                  <a:pt x="0" y="165434"/>
                  <a:pt x="0" y="176392"/>
                </a:cubicBezTo>
                <a:lnTo>
                  <a:pt x="0" y="178755"/>
                </a:lnTo>
                <a:cubicBezTo>
                  <a:pt x="0" y="201529"/>
                  <a:pt x="18477" y="220006"/>
                  <a:pt x="41251" y="220006"/>
                </a:cubicBezTo>
                <a:lnTo>
                  <a:pt x="43614" y="220006"/>
                </a:lnTo>
                <a:cubicBezTo>
                  <a:pt x="54572" y="220006"/>
                  <a:pt x="65056" y="215666"/>
                  <a:pt x="72791" y="207931"/>
                </a:cubicBezTo>
                <a:lnTo>
                  <a:pt x="192505" y="88217"/>
                </a:lnTo>
                <a:lnTo>
                  <a:pt x="196544" y="92256"/>
                </a:lnTo>
                <a:cubicBezTo>
                  <a:pt x="201916" y="97628"/>
                  <a:pt x="210639" y="97628"/>
                  <a:pt x="216010" y="92256"/>
                </a:cubicBezTo>
                <a:cubicBezTo>
                  <a:pt x="221381" y="86885"/>
                  <a:pt x="221381" y="78162"/>
                  <a:pt x="216010" y="72791"/>
                </a:cubicBezTo>
                <a:lnTo>
                  <a:pt x="147258" y="4039"/>
                </a:lnTo>
                <a:close/>
                <a:moveTo>
                  <a:pt x="88217" y="110003"/>
                </a:moveTo>
                <a:lnTo>
                  <a:pt x="151254" y="46966"/>
                </a:lnTo>
                <a:lnTo>
                  <a:pt x="173040" y="68752"/>
                </a:lnTo>
                <a:lnTo>
                  <a:pt x="131789" y="110003"/>
                </a:lnTo>
                <a:lnTo>
                  <a:pt x="88174" y="110003"/>
                </a:lnTo>
                <a:close/>
              </a:path>
            </a:pathLst>
          </a:custGeom>
          <a:solidFill>
            <a:srgbClr val="0A84FF"/>
          </a:solidFill>
          <a:ln/>
        </p:spPr>
      </p:sp>
      <p:sp>
        <p:nvSpPr>
          <p:cNvPr id="66" name="Text 64"/>
          <p:cNvSpPr/>
          <p:nvPr/>
        </p:nvSpPr>
        <p:spPr>
          <a:xfrm>
            <a:off x="10682094" y="6413176"/>
            <a:ext cx="916692" cy="183338"/>
          </a:xfrm>
          <a:prstGeom prst="rect">
            <a:avLst/>
          </a:prstGeom>
          <a:noFill/>
          <a:ln/>
        </p:spPr>
        <p:txBody>
          <a:bodyPr wrap="square" lIns="0" tIns="0" rIns="0" bIns="0" rtlCol="0" anchor="ctr"/>
          <a:lstStyle/>
          <a:p>
            <a:pPr algn="ctr">
              <a:lnSpc>
                <a:spcPct val="120000"/>
              </a:lnSpc>
            </a:pPr>
            <a:r>
              <a:rPr lang="en-US" sz="1011" dirty="0">
                <a:solidFill>
                  <a:srgbClr val="F5F5F7"/>
                </a:solidFill>
                <a:latin typeface="Quattrocento Sans" pitchFamily="34" charset="0"/>
                <a:ea typeface="Quattrocento Sans" pitchFamily="34" charset="-122"/>
                <a:cs typeface="Quattrocento Sans" pitchFamily="34" charset="-120"/>
              </a:rPr>
              <a:t>Test</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75716" y="432074"/>
            <a:ext cx="450860" cy="450860"/>
          </a:xfrm>
          <a:prstGeom prst="roundRect">
            <a:avLst>
              <a:gd name="adj" fmla="val 25000"/>
            </a:avLst>
          </a:prstGeom>
          <a:solidFill>
            <a:srgbClr val="0A84FF"/>
          </a:solidFill>
          <a:ln/>
        </p:spPr>
      </p:sp>
      <p:sp>
        <p:nvSpPr>
          <p:cNvPr id="3" name="Text 1"/>
          <p:cNvSpPr/>
          <p:nvPr/>
        </p:nvSpPr>
        <p:spPr>
          <a:xfrm>
            <a:off x="461779" y="507217"/>
            <a:ext cx="394502" cy="300573"/>
          </a:xfrm>
          <a:prstGeom prst="rect">
            <a:avLst/>
          </a:prstGeom>
          <a:noFill/>
          <a:ln/>
        </p:spPr>
        <p:txBody>
          <a:bodyPr wrap="square" lIns="0" tIns="0" rIns="0" bIns="0" rtlCol="0" anchor="ctr"/>
          <a:lstStyle/>
          <a:p>
            <a:pPr>
              <a:lnSpc>
                <a:spcPct val="110000"/>
              </a:lnSpc>
            </a:pPr>
            <a:r>
              <a:rPr lang="en-US" sz="1775" b="1" dirty="0">
                <a:solidFill>
                  <a:srgbClr val="F5F5F7"/>
                </a:solidFill>
                <a:latin typeface="Liter" pitchFamily="34" charset="0"/>
                <a:ea typeface="Liter" pitchFamily="34" charset="-122"/>
                <a:cs typeface="Liter" pitchFamily="34" charset="-120"/>
              </a:rPr>
              <a:t>09</a:t>
            </a:r>
            <a:endParaRPr lang="en-US" sz="1600" dirty="0"/>
          </a:p>
        </p:txBody>
      </p:sp>
      <p:sp>
        <p:nvSpPr>
          <p:cNvPr id="4" name="Text 2"/>
          <p:cNvSpPr/>
          <p:nvPr/>
        </p:nvSpPr>
        <p:spPr>
          <a:xfrm>
            <a:off x="939291" y="375716"/>
            <a:ext cx="5898749" cy="187858"/>
          </a:xfrm>
          <a:prstGeom prst="rect">
            <a:avLst/>
          </a:prstGeom>
          <a:noFill/>
          <a:ln/>
        </p:spPr>
        <p:txBody>
          <a:bodyPr wrap="square" lIns="0" tIns="0" rIns="0" bIns="0" rtlCol="0" anchor="ctr"/>
          <a:lstStyle/>
          <a:p>
            <a:pPr>
              <a:lnSpc>
                <a:spcPct val="120000"/>
              </a:lnSpc>
            </a:pPr>
            <a:r>
              <a:rPr lang="en-US" sz="1035" b="1" spc="52" kern="0" dirty="0">
                <a:solidFill>
                  <a:srgbClr val="0A84FF"/>
                </a:solidFill>
                <a:latin typeface="Quattrocento Sans" pitchFamily="34" charset="0"/>
                <a:ea typeface="Quattrocento Sans" pitchFamily="34" charset="-122"/>
                <a:cs typeface="Quattrocento Sans" pitchFamily="34" charset="-120"/>
              </a:rPr>
              <a:t>Course Overview</a:t>
            </a:r>
            <a:endParaRPr lang="en-US" sz="1600" dirty="0"/>
          </a:p>
        </p:txBody>
      </p:sp>
      <p:sp>
        <p:nvSpPr>
          <p:cNvPr id="5" name="Text 3"/>
          <p:cNvSpPr/>
          <p:nvPr/>
        </p:nvSpPr>
        <p:spPr>
          <a:xfrm>
            <a:off x="939291" y="563575"/>
            <a:ext cx="6002071" cy="375716"/>
          </a:xfrm>
          <a:prstGeom prst="rect">
            <a:avLst/>
          </a:prstGeom>
          <a:noFill/>
          <a:ln/>
        </p:spPr>
        <p:txBody>
          <a:bodyPr wrap="square" lIns="0" tIns="0" rIns="0" bIns="0" rtlCol="0" anchor="ctr"/>
          <a:lstStyle/>
          <a:p>
            <a:pPr>
              <a:lnSpc>
                <a:spcPct val="90000"/>
              </a:lnSpc>
            </a:pPr>
            <a:r>
              <a:rPr lang="en-US" sz="2663" b="1" dirty="0">
                <a:solidFill>
                  <a:srgbClr val="F5F5F7"/>
                </a:solidFill>
                <a:latin typeface="Liter" pitchFamily="34" charset="0"/>
                <a:ea typeface="Liter" pitchFamily="34" charset="-122"/>
                <a:cs typeface="Liter" pitchFamily="34" charset="-120"/>
              </a:rPr>
              <a:t>Real-World Applications of This Course</a:t>
            </a:r>
            <a:endParaRPr lang="en-US" sz="1600" dirty="0"/>
          </a:p>
        </p:txBody>
      </p:sp>
      <p:sp>
        <p:nvSpPr>
          <p:cNvPr id="6" name="Shape 4"/>
          <p:cNvSpPr/>
          <p:nvPr/>
        </p:nvSpPr>
        <p:spPr>
          <a:xfrm>
            <a:off x="394502" y="1239864"/>
            <a:ext cx="5626354" cy="2028869"/>
          </a:xfrm>
          <a:custGeom>
            <a:avLst/>
            <a:gdLst/>
            <a:ahLst/>
            <a:cxnLst/>
            <a:rect l="l" t="t" r="r" b="b"/>
            <a:pathLst>
              <a:path w="5626354" h="2028869">
                <a:moveTo>
                  <a:pt x="37592" y="0"/>
                </a:moveTo>
                <a:lnTo>
                  <a:pt x="5476113" y="0"/>
                </a:lnTo>
                <a:cubicBezTo>
                  <a:pt x="5559089" y="0"/>
                  <a:pt x="5626354" y="67265"/>
                  <a:pt x="5626354" y="150241"/>
                </a:cubicBezTo>
                <a:lnTo>
                  <a:pt x="5626354" y="1878584"/>
                </a:lnTo>
                <a:cubicBezTo>
                  <a:pt x="5626354" y="1961504"/>
                  <a:pt x="5559033" y="2028825"/>
                  <a:pt x="5476113" y="2028825"/>
                </a:cubicBezTo>
                <a:lnTo>
                  <a:pt x="37592" y="2028825"/>
                </a:lnTo>
                <a:cubicBezTo>
                  <a:pt x="16880" y="2028825"/>
                  <a:pt x="70" y="2012072"/>
                  <a:pt x="0" y="1991360"/>
                </a:cubicBezTo>
                <a:lnTo>
                  <a:pt x="0" y="37592"/>
                </a:lnTo>
                <a:cubicBezTo>
                  <a:pt x="0" y="16844"/>
                  <a:pt x="16844" y="0"/>
                  <a:pt x="37592" y="0"/>
                </a:cubicBezTo>
                <a:close/>
              </a:path>
            </a:pathLst>
          </a:custGeom>
          <a:gradFill rotWithShape="1" flip="none">
            <a:gsLst>
              <a:gs pos="0">
                <a:srgbClr val="34C759">
                  <a:alpha val="20000"/>
                </a:srgbClr>
              </a:gs>
              <a:gs pos="100000">
                <a:srgbClr val="2C2C2E"/>
              </a:gs>
            </a:gsLst>
            <a:lin ang="2700000" scaled="1"/>
          </a:gradFill>
          <a:ln/>
        </p:spPr>
      </p:sp>
      <p:sp>
        <p:nvSpPr>
          <p:cNvPr id="7" name="Shape 5"/>
          <p:cNvSpPr/>
          <p:nvPr/>
        </p:nvSpPr>
        <p:spPr>
          <a:xfrm>
            <a:off x="394502" y="1239864"/>
            <a:ext cx="37572" cy="2028869"/>
          </a:xfrm>
          <a:custGeom>
            <a:avLst/>
            <a:gdLst/>
            <a:ahLst/>
            <a:cxnLst/>
            <a:rect l="l" t="t" r="r" b="b"/>
            <a:pathLst>
              <a:path w="37572" h="2028869">
                <a:moveTo>
                  <a:pt x="37592" y="0"/>
                </a:moveTo>
                <a:lnTo>
                  <a:pt x="37592" y="0"/>
                </a:lnTo>
                <a:lnTo>
                  <a:pt x="37592" y="2028825"/>
                </a:lnTo>
                <a:lnTo>
                  <a:pt x="37592" y="2028825"/>
                </a:lnTo>
                <a:cubicBezTo>
                  <a:pt x="16880" y="2028825"/>
                  <a:pt x="70" y="2012072"/>
                  <a:pt x="0" y="1991360"/>
                </a:cubicBezTo>
                <a:lnTo>
                  <a:pt x="0" y="37592"/>
                </a:lnTo>
                <a:cubicBezTo>
                  <a:pt x="0" y="16844"/>
                  <a:pt x="16844" y="0"/>
                  <a:pt x="37592" y="0"/>
                </a:cubicBezTo>
                <a:close/>
              </a:path>
            </a:pathLst>
          </a:custGeom>
          <a:solidFill>
            <a:srgbClr val="34C759"/>
          </a:solidFill>
          <a:ln/>
        </p:spPr>
      </p:sp>
      <p:sp>
        <p:nvSpPr>
          <p:cNvPr id="8" name="Shape 6"/>
          <p:cNvSpPr/>
          <p:nvPr/>
        </p:nvSpPr>
        <p:spPr>
          <a:xfrm>
            <a:off x="638718" y="1465294"/>
            <a:ext cx="601146" cy="601146"/>
          </a:xfrm>
          <a:prstGeom prst="roundRect">
            <a:avLst>
              <a:gd name="adj" fmla="val 25000"/>
            </a:avLst>
          </a:prstGeom>
          <a:solidFill>
            <a:srgbClr val="34C759"/>
          </a:solidFill>
          <a:ln/>
        </p:spPr>
      </p:sp>
      <p:sp>
        <p:nvSpPr>
          <p:cNvPr id="9" name="Shape 7"/>
          <p:cNvSpPr/>
          <p:nvPr/>
        </p:nvSpPr>
        <p:spPr>
          <a:xfrm>
            <a:off x="800746" y="1624974"/>
            <a:ext cx="281787" cy="281787"/>
          </a:xfrm>
          <a:custGeom>
            <a:avLst/>
            <a:gdLst/>
            <a:ahLst/>
            <a:cxnLst/>
            <a:rect l="l" t="t" r="r" b="b"/>
            <a:pathLst>
              <a:path w="281787" h="281787">
                <a:moveTo>
                  <a:pt x="110073" y="26418"/>
                </a:moveTo>
                <a:lnTo>
                  <a:pt x="171714" y="26418"/>
                </a:lnTo>
                <a:cubicBezTo>
                  <a:pt x="174136" y="26418"/>
                  <a:pt x="176117" y="28399"/>
                  <a:pt x="176117" y="30820"/>
                </a:cubicBezTo>
                <a:lnTo>
                  <a:pt x="176117" y="52835"/>
                </a:lnTo>
                <a:lnTo>
                  <a:pt x="105670" y="52835"/>
                </a:lnTo>
                <a:lnTo>
                  <a:pt x="105670" y="30820"/>
                </a:lnTo>
                <a:cubicBezTo>
                  <a:pt x="105670" y="28399"/>
                  <a:pt x="107652" y="26418"/>
                  <a:pt x="110073" y="26418"/>
                </a:cubicBezTo>
                <a:close/>
                <a:moveTo>
                  <a:pt x="79253" y="30820"/>
                </a:moveTo>
                <a:lnTo>
                  <a:pt x="79253" y="52835"/>
                </a:lnTo>
                <a:lnTo>
                  <a:pt x="35223" y="52835"/>
                </a:lnTo>
                <a:cubicBezTo>
                  <a:pt x="15796" y="52835"/>
                  <a:pt x="0" y="68631"/>
                  <a:pt x="0" y="88059"/>
                </a:cubicBezTo>
                <a:lnTo>
                  <a:pt x="0" y="140894"/>
                </a:lnTo>
                <a:lnTo>
                  <a:pt x="281787" y="140894"/>
                </a:lnTo>
                <a:lnTo>
                  <a:pt x="281787" y="88059"/>
                </a:lnTo>
                <a:cubicBezTo>
                  <a:pt x="281787" y="68631"/>
                  <a:pt x="265992" y="52835"/>
                  <a:pt x="246564" y="52835"/>
                </a:cubicBezTo>
                <a:lnTo>
                  <a:pt x="202535" y="52835"/>
                </a:lnTo>
                <a:lnTo>
                  <a:pt x="202535" y="30820"/>
                </a:lnTo>
                <a:cubicBezTo>
                  <a:pt x="202535" y="13814"/>
                  <a:pt x="188720" y="0"/>
                  <a:pt x="171714" y="0"/>
                </a:cubicBezTo>
                <a:lnTo>
                  <a:pt x="110073" y="0"/>
                </a:lnTo>
                <a:cubicBezTo>
                  <a:pt x="93067" y="0"/>
                  <a:pt x="79253" y="13814"/>
                  <a:pt x="79253" y="30820"/>
                </a:cubicBezTo>
                <a:close/>
                <a:moveTo>
                  <a:pt x="281787" y="167311"/>
                </a:moveTo>
                <a:lnTo>
                  <a:pt x="176117" y="167311"/>
                </a:lnTo>
                <a:lnTo>
                  <a:pt x="176117" y="176117"/>
                </a:lnTo>
                <a:cubicBezTo>
                  <a:pt x="176117" y="185859"/>
                  <a:pt x="168247" y="193729"/>
                  <a:pt x="158505" y="193729"/>
                </a:cubicBezTo>
                <a:lnTo>
                  <a:pt x="123282" y="193729"/>
                </a:lnTo>
                <a:cubicBezTo>
                  <a:pt x="113540" y="193729"/>
                  <a:pt x="105670" y="185859"/>
                  <a:pt x="105670" y="176117"/>
                </a:cubicBezTo>
                <a:lnTo>
                  <a:pt x="105670" y="167311"/>
                </a:lnTo>
                <a:lnTo>
                  <a:pt x="0" y="167311"/>
                </a:lnTo>
                <a:lnTo>
                  <a:pt x="0" y="228952"/>
                </a:lnTo>
                <a:cubicBezTo>
                  <a:pt x="0" y="248380"/>
                  <a:pt x="15796" y="264176"/>
                  <a:pt x="35223" y="264176"/>
                </a:cubicBezTo>
                <a:lnTo>
                  <a:pt x="246564" y="264176"/>
                </a:lnTo>
                <a:cubicBezTo>
                  <a:pt x="265992" y="264176"/>
                  <a:pt x="281787" y="248380"/>
                  <a:pt x="281787" y="228952"/>
                </a:cubicBezTo>
                <a:lnTo>
                  <a:pt x="281787" y="167311"/>
                </a:lnTo>
                <a:close/>
              </a:path>
            </a:pathLst>
          </a:custGeom>
          <a:solidFill>
            <a:srgbClr val="1D1D1F"/>
          </a:solidFill>
          <a:ln/>
        </p:spPr>
      </p:sp>
      <p:sp>
        <p:nvSpPr>
          <p:cNvPr id="10" name="Text 8"/>
          <p:cNvSpPr/>
          <p:nvPr/>
        </p:nvSpPr>
        <p:spPr>
          <a:xfrm>
            <a:off x="1390151" y="1502866"/>
            <a:ext cx="2310656" cy="300573"/>
          </a:xfrm>
          <a:prstGeom prst="rect">
            <a:avLst/>
          </a:prstGeom>
          <a:noFill/>
          <a:ln/>
        </p:spPr>
        <p:txBody>
          <a:bodyPr wrap="square" lIns="0" tIns="0" rIns="0" bIns="0" rtlCol="0" anchor="ctr"/>
          <a:lstStyle/>
          <a:p>
            <a:pPr>
              <a:lnSpc>
                <a:spcPct val="110000"/>
              </a:lnSpc>
            </a:pPr>
            <a:r>
              <a:rPr lang="en-US" sz="1775" b="1" dirty="0">
                <a:solidFill>
                  <a:srgbClr val="34C759"/>
                </a:solidFill>
                <a:latin typeface="Liter" pitchFamily="34" charset="0"/>
                <a:ea typeface="Liter" pitchFamily="34" charset="-122"/>
                <a:cs typeface="Liter" pitchFamily="34" charset="-120"/>
              </a:rPr>
              <a:t>Mobile App Developer</a:t>
            </a:r>
            <a:endParaRPr lang="en-US" sz="1600" dirty="0"/>
          </a:p>
        </p:txBody>
      </p:sp>
      <p:sp>
        <p:nvSpPr>
          <p:cNvPr id="11" name="Text 9"/>
          <p:cNvSpPr/>
          <p:nvPr/>
        </p:nvSpPr>
        <p:spPr>
          <a:xfrm>
            <a:off x="1390151" y="1803324"/>
            <a:ext cx="2273085" cy="225430"/>
          </a:xfrm>
          <a:prstGeom prst="rect">
            <a:avLst/>
          </a:prstGeom>
          <a:noFill/>
          <a:ln/>
        </p:spPr>
        <p:txBody>
          <a:bodyPr wrap="square" lIns="0" tIns="0" rIns="0" bIns="0" rtlCol="0" anchor="ctr"/>
          <a:lstStyle/>
          <a:p>
            <a:pPr>
              <a:lnSpc>
                <a:spcPct val="120000"/>
              </a:lnSpc>
            </a:pPr>
            <a:r>
              <a:rPr lang="en-US" sz="1183" dirty="0">
                <a:solidFill>
                  <a:srgbClr val="8E8E93"/>
                </a:solidFill>
                <a:latin typeface="Quattrocento Sans" pitchFamily="34" charset="0"/>
                <a:ea typeface="Quattrocento Sans" pitchFamily="34" charset="-122"/>
                <a:cs typeface="Quattrocento Sans" pitchFamily="34" charset="-120"/>
              </a:rPr>
              <a:t>Full-time career path</a:t>
            </a:r>
            <a:endParaRPr lang="en-US" sz="1600" dirty="0"/>
          </a:p>
        </p:txBody>
      </p:sp>
      <p:sp>
        <p:nvSpPr>
          <p:cNvPr id="12" name="Text 10"/>
          <p:cNvSpPr/>
          <p:nvPr/>
        </p:nvSpPr>
        <p:spPr>
          <a:xfrm>
            <a:off x="638718" y="2216727"/>
            <a:ext cx="122108" cy="225430"/>
          </a:xfrm>
          <a:prstGeom prst="rect">
            <a:avLst/>
          </a:prstGeom>
          <a:noFill/>
          <a:ln/>
        </p:spPr>
        <p:txBody>
          <a:bodyPr wrap="square" lIns="0" tIns="0" rIns="0" bIns="0" rtlCol="0" anchor="ctr"/>
          <a:lstStyle/>
          <a:p>
            <a:pPr>
              <a:lnSpc>
                <a:spcPct val="120000"/>
              </a:lnSpc>
            </a:pPr>
            <a:r>
              <a:rPr lang="en-US" sz="118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3" name="Text 11"/>
          <p:cNvSpPr/>
          <p:nvPr/>
        </p:nvSpPr>
        <p:spPr>
          <a:xfrm>
            <a:off x="763174" y="2216727"/>
            <a:ext cx="2404586" cy="225430"/>
          </a:xfrm>
          <a:prstGeom prst="rect">
            <a:avLst/>
          </a:prstGeom>
          <a:noFill/>
          <a:ln/>
        </p:spPr>
        <p:txBody>
          <a:bodyPr wrap="square" lIns="0" tIns="0" rIns="0" bIns="0" rtlCol="0" anchor="ctr"/>
          <a:lstStyle/>
          <a:p>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Work at </a:t>
            </a:r>
            <a:pPr>
              <a:lnSpc>
                <a:spcPct val="120000"/>
              </a:lnSpc>
            </a:pPr>
            <a:r>
              <a:rPr lang="en-US" sz="1183" b="1" dirty="0">
                <a:solidFill>
                  <a:srgbClr val="34C759"/>
                </a:solidFill>
                <a:latin typeface="Quattrocento Sans" pitchFamily="34" charset="0"/>
                <a:ea typeface="Quattrocento Sans" pitchFamily="34" charset="-122"/>
                <a:cs typeface="Quattrocento Sans" pitchFamily="34" charset="-120"/>
              </a:rPr>
              <a:t>tech companies</a:t>
            </a:r>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 or startups</a:t>
            </a:r>
            <a:endParaRPr lang="en-US" sz="1600" dirty="0"/>
          </a:p>
        </p:txBody>
      </p:sp>
      <p:sp>
        <p:nvSpPr>
          <p:cNvPr id="14" name="Text 12"/>
          <p:cNvSpPr/>
          <p:nvPr/>
        </p:nvSpPr>
        <p:spPr>
          <a:xfrm>
            <a:off x="638718" y="2517300"/>
            <a:ext cx="122108" cy="225430"/>
          </a:xfrm>
          <a:prstGeom prst="rect">
            <a:avLst/>
          </a:prstGeom>
          <a:noFill/>
          <a:ln/>
        </p:spPr>
        <p:txBody>
          <a:bodyPr wrap="square" lIns="0" tIns="0" rIns="0" bIns="0" rtlCol="0" anchor="ctr"/>
          <a:lstStyle/>
          <a:p>
            <a:pPr>
              <a:lnSpc>
                <a:spcPct val="120000"/>
              </a:lnSpc>
            </a:pPr>
            <a:r>
              <a:rPr lang="en-US" sz="118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5" name="Text 13"/>
          <p:cNvSpPr/>
          <p:nvPr/>
        </p:nvSpPr>
        <p:spPr>
          <a:xfrm>
            <a:off x="763174" y="2517300"/>
            <a:ext cx="2057048" cy="225430"/>
          </a:xfrm>
          <a:prstGeom prst="rect">
            <a:avLst/>
          </a:prstGeom>
          <a:noFill/>
          <a:ln/>
        </p:spPr>
        <p:txBody>
          <a:bodyPr wrap="square" lIns="0" tIns="0" rIns="0" bIns="0" rtlCol="0" anchor="ctr"/>
          <a:lstStyle/>
          <a:p>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Build apps for </a:t>
            </a:r>
            <a:pPr>
              <a:lnSpc>
                <a:spcPct val="120000"/>
              </a:lnSpc>
            </a:pPr>
            <a:r>
              <a:rPr lang="en-US" sz="1183" b="1" dirty="0">
                <a:solidFill>
                  <a:srgbClr val="34C759"/>
                </a:solidFill>
                <a:latin typeface="Quattrocento Sans" pitchFamily="34" charset="0"/>
                <a:ea typeface="Quattrocento Sans" pitchFamily="34" charset="-122"/>
                <a:cs typeface="Quattrocento Sans" pitchFamily="34" charset="-120"/>
              </a:rPr>
              <a:t>millions of users</a:t>
            </a:r>
            <a:endParaRPr lang="en-US" sz="1600" dirty="0"/>
          </a:p>
        </p:txBody>
      </p:sp>
      <p:sp>
        <p:nvSpPr>
          <p:cNvPr id="16" name="Text 14"/>
          <p:cNvSpPr/>
          <p:nvPr/>
        </p:nvSpPr>
        <p:spPr>
          <a:xfrm>
            <a:off x="638718" y="2817874"/>
            <a:ext cx="122108" cy="225430"/>
          </a:xfrm>
          <a:prstGeom prst="rect">
            <a:avLst/>
          </a:prstGeom>
          <a:noFill/>
          <a:ln/>
        </p:spPr>
        <p:txBody>
          <a:bodyPr wrap="square" lIns="0" tIns="0" rIns="0" bIns="0" rtlCol="0" anchor="ctr"/>
          <a:lstStyle/>
          <a:p>
            <a:pPr>
              <a:lnSpc>
                <a:spcPct val="120000"/>
              </a:lnSpc>
            </a:pPr>
            <a:r>
              <a:rPr lang="en-US" sz="118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7" name="Text 15"/>
          <p:cNvSpPr/>
          <p:nvPr/>
        </p:nvSpPr>
        <p:spPr>
          <a:xfrm>
            <a:off x="763174" y="2817874"/>
            <a:ext cx="2489122" cy="225430"/>
          </a:xfrm>
          <a:prstGeom prst="rect">
            <a:avLst/>
          </a:prstGeom>
          <a:noFill/>
          <a:ln/>
        </p:spPr>
        <p:txBody>
          <a:bodyPr wrap="square" lIns="0" tIns="0" rIns="0" bIns="0" rtlCol="0" anchor="ctr"/>
          <a:lstStyle/>
          <a:p>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Salary range: </a:t>
            </a:r>
            <a:pPr>
              <a:lnSpc>
                <a:spcPct val="120000"/>
              </a:lnSpc>
            </a:pPr>
            <a:r>
              <a:rPr lang="en-US" sz="1183" b="1" dirty="0">
                <a:solidFill>
                  <a:srgbClr val="34C759"/>
                </a:solidFill>
                <a:latin typeface="Quattrocento Sans" pitchFamily="34" charset="0"/>
                <a:ea typeface="Quattrocento Sans" pitchFamily="34" charset="-122"/>
                <a:cs typeface="Quattrocento Sans" pitchFamily="34" charset="-120"/>
              </a:rPr>
              <a:t>$60K - $150K+</a:t>
            </a:r>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 per year</a:t>
            </a:r>
            <a:endParaRPr lang="en-US" sz="1600" dirty="0"/>
          </a:p>
        </p:txBody>
      </p:sp>
      <p:sp>
        <p:nvSpPr>
          <p:cNvPr id="18" name="Shape 16"/>
          <p:cNvSpPr/>
          <p:nvPr/>
        </p:nvSpPr>
        <p:spPr>
          <a:xfrm>
            <a:off x="6188873" y="1239864"/>
            <a:ext cx="5626354" cy="2028869"/>
          </a:xfrm>
          <a:custGeom>
            <a:avLst/>
            <a:gdLst/>
            <a:ahLst/>
            <a:cxnLst/>
            <a:rect l="l" t="t" r="r" b="b"/>
            <a:pathLst>
              <a:path w="5626354" h="2028869">
                <a:moveTo>
                  <a:pt x="37592" y="0"/>
                </a:moveTo>
                <a:lnTo>
                  <a:pt x="5476113" y="0"/>
                </a:lnTo>
                <a:cubicBezTo>
                  <a:pt x="5559089" y="0"/>
                  <a:pt x="5626354" y="67265"/>
                  <a:pt x="5626354" y="150241"/>
                </a:cubicBezTo>
                <a:lnTo>
                  <a:pt x="5626354" y="1878584"/>
                </a:lnTo>
                <a:cubicBezTo>
                  <a:pt x="5626354" y="1961504"/>
                  <a:pt x="5559033" y="2028825"/>
                  <a:pt x="5476113" y="2028825"/>
                </a:cubicBezTo>
                <a:lnTo>
                  <a:pt x="37592" y="2028825"/>
                </a:lnTo>
                <a:cubicBezTo>
                  <a:pt x="16880" y="2028825"/>
                  <a:pt x="70" y="2012072"/>
                  <a:pt x="0" y="1991360"/>
                </a:cubicBezTo>
                <a:lnTo>
                  <a:pt x="0" y="37592"/>
                </a:lnTo>
                <a:cubicBezTo>
                  <a:pt x="0" y="16844"/>
                  <a:pt x="16844" y="0"/>
                  <a:pt x="37592" y="0"/>
                </a:cubicBezTo>
                <a:close/>
              </a:path>
            </a:pathLst>
          </a:custGeom>
          <a:gradFill rotWithShape="1" flip="none">
            <a:gsLst>
              <a:gs pos="0">
                <a:srgbClr val="0A84FF">
                  <a:alpha val="20000"/>
                </a:srgbClr>
              </a:gs>
              <a:gs pos="100000">
                <a:srgbClr val="2C2C2E"/>
              </a:gs>
            </a:gsLst>
            <a:lin ang="2700000" scaled="1"/>
          </a:gradFill>
          <a:ln/>
        </p:spPr>
      </p:sp>
      <p:sp>
        <p:nvSpPr>
          <p:cNvPr id="19" name="Shape 17"/>
          <p:cNvSpPr/>
          <p:nvPr/>
        </p:nvSpPr>
        <p:spPr>
          <a:xfrm>
            <a:off x="6188873" y="1239864"/>
            <a:ext cx="37572" cy="2028869"/>
          </a:xfrm>
          <a:custGeom>
            <a:avLst/>
            <a:gdLst/>
            <a:ahLst/>
            <a:cxnLst/>
            <a:rect l="l" t="t" r="r" b="b"/>
            <a:pathLst>
              <a:path w="37572" h="2028869">
                <a:moveTo>
                  <a:pt x="37592" y="0"/>
                </a:moveTo>
                <a:lnTo>
                  <a:pt x="37592" y="0"/>
                </a:lnTo>
                <a:lnTo>
                  <a:pt x="37592" y="2028825"/>
                </a:lnTo>
                <a:lnTo>
                  <a:pt x="37592" y="2028825"/>
                </a:lnTo>
                <a:cubicBezTo>
                  <a:pt x="16880" y="2028825"/>
                  <a:pt x="70" y="2012072"/>
                  <a:pt x="0" y="1991360"/>
                </a:cubicBezTo>
                <a:lnTo>
                  <a:pt x="0" y="37592"/>
                </a:lnTo>
                <a:cubicBezTo>
                  <a:pt x="0" y="16844"/>
                  <a:pt x="16844" y="0"/>
                  <a:pt x="37592" y="0"/>
                </a:cubicBezTo>
                <a:close/>
              </a:path>
            </a:pathLst>
          </a:custGeom>
          <a:solidFill>
            <a:srgbClr val="0A84FF"/>
          </a:solidFill>
          <a:ln/>
        </p:spPr>
      </p:sp>
      <p:sp>
        <p:nvSpPr>
          <p:cNvPr id="20" name="Shape 18"/>
          <p:cNvSpPr/>
          <p:nvPr/>
        </p:nvSpPr>
        <p:spPr>
          <a:xfrm>
            <a:off x="6433088" y="1465294"/>
            <a:ext cx="601146" cy="601146"/>
          </a:xfrm>
          <a:prstGeom prst="roundRect">
            <a:avLst>
              <a:gd name="adj" fmla="val 25000"/>
            </a:avLst>
          </a:prstGeom>
          <a:solidFill>
            <a:srgbClr val="0A84FF"/>
          </a:solidFill>
          <a:ln/>
        </p:spPr>
      </p:sp>
      <p:sp>
        <p:nvSpPr>
          <p:cNvPr id="21" name="Shape 19"/>
          <p:cNvSpPr/>
          <p:nvPr/>
        </p:nvSpPr>
        <p:spPr>
          <a:xfrm>
            <a:off x="6577504" y="1624974"/>
            <a:ext cx="317011" cy="281787"/>
          </a:xfrm>
          <a:custGeom>
            <a:avLst/>
            <a:gdLst/>
            <a:ahLst/>
            <a:cxnLst/>
            <a:rect l="l" t="t" r="r" b="b"/>
            <a:pathLst>
              <a:path w="317011" h="281787">
                <a:moveTo>
                  <a:pt x="264451" y="5669"/>
                </a:moveTo>
                <a:lnTo>
                  <a:pt x="142600" y="86958"/>
                </a:lnTo>
                <a:cubicBezTo>
                  <a:pt x="126584" y="97635"/>
                  <a:pt x="116402" y="114971"/>
                  <a:pt x="114751" y="133904"/>
                </a:cubicBezTo>
                <a:cubicBezTo>
                  <a:pt x="149039" y="140949"/>
                  <a:pt x="176062" y="167972"/>
                  <a:pt x="183162" y="202315"/>
                </a:cubicBezTo>
                <a:cubicBezTo>
                  <a:pt x="202149" y="200663"/>
                  <a:pt x="219431" y="190482"/>
                  <a:pt x="230108" y="174466"/>
                </a:cubicBezTo>
                <a:lnTo>
                  <a:pt x="311342" y="52560"/>
                </a:lnTo>
                <a:cubicBezTo>
                  <a:pt x="315029" y="47001"/>
                  <a:pt x="317011" y="40507"/>
                  <a:pt x="317011" y="33792"/>
                </a:cubicBezTo>
                <a:cubicBezTo>
                  <a:pt x="317011" y="15135"/>
                  <a:pt x="301876" y="0"/>
                  <a:pt x="283218" y="0"/>
                </a:cubicBezTo>
                <a:cubicBezTo>
                  <a:pt x="276559" y="0"/>
                  <a:pt x="270010" y="1981"/>
                  <a:pt x="264451" y="5669"/>
                </a:cubicBezTo>
                <a:close/>
                <a:moveTo>
                  <a:pt x="158505" y="220146"/>
                </a:moveTo>
                <a:cubicBezTo>
                  <a:pt x="158505" y="186079"/>
                  <a:pt x="130932" y="158505"/>
                  <a:pt x="96864" y="158505"/>
                </a:cubicBezTo>
                <a:cubicBezTo>
                  <a:pt x="62797" y="158505"/>
                  <a:pt x="35223" y="186079"/>
                  <a:pt x="35223" y="220146"/>
                </a:cubicBezTo>
                <a:cubicBezTo>
                  <a:pt x="35223" y="222293"/>
                  <a:pt x="35333" y="224439"/>
                  <a:pt x="35554" y="226531"/>
                </a:cubicBezTo>
                <a:cubicBezTo>
                  <a:pt x="36544" y="236162"/>
                  <a:pt x="29940" y="246564"/>
                  <a:pt x="20253" y="246564"/>
                </a:cubicBezTo>
                <a:lnTo>
                  <a:pt x="17612" y="246564"/>
                </a:lnTo>
                <a:cubicBezTo>
                  <a:pt x="7870" y="246564"/>
                  <a:pt x="0" y="254434"/>
                  <a:pt x="0" y="264176"/>
                </a:cubicBezTo>
                <a:cubicBezTo>
                  <a:pt x="0" y="273917"/>
                  <a:pt x="7870" y="281787"/>
                  <a:pt x="17612" y="281787"/>
                </a:cubicBezTo>
                <a:lnTo>
                  <a:pt x="96864" y="281787"/>
                </a:lnTo>
                <a:cubicBezTo>
                  <a:pt x="130932" y="281787"/>
                  <a:pt x="158505" y="254214"/>
                  <a:pt x="158505" y="220146"/>
                </a:cubicBezTo>
                <a:close/>
              </a:path>
            </a:pathLst>
          </a:custGeom>
          <a:solidFill>
            <a:srgbClr val="FFFFFF"/>
          </a:solidFill>
          <a:ln/>
        </p:spPr>
      </p:sp>
      <p:sp>
        <p:nvSpPr>
          <p:cNvPr id="22" name="Text 20"/>
          <p:cNvSpPr/>
          <p:nvPr/>
        </p:nvSpPr>
        <p:spPr>
          <a:xfrm>
            <a:off x="7184521" y="1502866"/>
            <a:ext cx="1653153" cy="300573"/>
          </a:xfrm>
          <a:prstGeom prst="rect">
            <a:avLst/>
          </a:prstGeom>
          <a:noFill/>
          <a:ln/>
        </p:spPr>
        <p:txBody>
          <a:bodyPr wrap="square" lIns="0" tIns="0" rIns="0" bIns="0" rtlCol="0" anchor="ctr"/>
          <a:lstStyle/>
          <a:p>
            <a:pPr>
              <a:lnSpc>
                <a:spcPct val="110000"/>
              </a:lnSpc>
            </a:pPr>
            <a:r>
              <a:rPr lang="en-US" sz="1775" b="1" dirty="0">
                <a:solidFill>
                  <a:srgbClr val="0A84FF"/>
                </a:solidFill>
                <a:latin typeface="Liter" pitchFamily="34" charset="0"/>
                <a:ea typeface="Liter" pitchFamily="34" charset="-122"/>
                <a:cs typeface="Liter" pitchFamily="34" charset="-120"/>
              </a:rPr>
              <a:t>UI/UX Designer</a:t>
            </a:r>
            <a:endParaRPr lang="en-US" sz="1600" dirty="0"/>
          </a:p>
        </p:txBody>
      </p:sp>
      <p:sp>
        <p:nvSpPr>
          <p:cNvPr id="23" name="Text 21"/>
          <p:cNvSpPr/>
          <p:nvPr/>
        </p:nvSpPr>
        <p:spPr>
          <a:xfrm>
            <a:off x="7184521" y="1803324"/>
            <a:ext cx="1615581" cy="225430"/>
          </a:xfrm>
          <a:prstGeom prst="rect">
            <a:avLst/>
          </a:prstGeom>
          <a:noFill/>
          <a:ln/>
        </p:spPr>
        <p:txBody>
          <a:bodyPr wrap="square" lIns="0" tIns="0" rIns="0" bIns="0" rtlCol="0" anchor="ctr"/>
          <a:lstStyle/>
          <a:p>
            <a:pPr>
              <a:lnSpc>
                <a:spcPct val="120000"/>
              </a:lnSpc>
            </a:pPr>
            <a:r>
              <a:rPr lang="en-US" sz="1183" dirty="0">
                <a:solidFill>
                  <a:srgbClr val="8E8E93"/>
                </a:solidFill>
                <a:latin typeface="Quattrocento Sans" pitchFamily="34" charset="0"/>
                <a:ea typeface="Quattrocento Sans" pitchFamily="34" charset="-122"/>
                <a:cs typeface="Quattrocento Sans" pitchFamily="34" charset="-120"/>
              </a:rPr>
              <a:t>Design-focused role</a:t>
            </a:r>
            <a:endParaRPr lang="en-US" sz="1600" dirty="0"/>
          </a:p>
        </p:txBody>
      </p:sp>
      <p:sp>
        <p:nvSpPr>
          <p:cNvPr id="24" name="Text 22"/>
          <p:cNvSpPr/>
          <p:nvPr/>
        </p:nvSpPr>
        <p:spPr>
          <a:xfrm>
            <a:off x="6433088" y="2216727"/>
            <a:ext cx="122108" cy="225430"/>
          </a:xfrm>
          <a:prstGeom prst="rect">
            <a:avLst/>
          </a:prstGeom>
          <a:noFill/>
          <a:ln/>
        </p:spPr>
        <p:txBody>
          <a:bodyPr wrap="square" lIns="0" tIns="0" rIns="0" bIns="0" rtlCol="0" anchor="ctr"/>
          <a:lstStyle/>
          <a:p>
            <a:pPr>
              <a:lnSpc>
                <a:spcPct val="120000"/>
              </a:lnSpc>
            </a:pPr>
            <a:r>
              <a:rPr lang="en-US" sz="1183" dirty="0">
                <a:solidFill>
                  <a:srgbClr val="0A84FF"/>
                </a:solidFill>
                <a:latin typeface="Quattrocento Sans" pitchFamily="34" charset="0"/>
                <a:ea typeface="Quattrocento Sans" pitchFamily="34" charset="-122"/>
                <a:cs typeface="Quattrocento Sans" pitchFamily="34" charset="-120"/>
              </a:rPr>
              <a:t>•</a:t>
            </a:r>
            <a:endParaRPr lang="en-US" sz="1600" dirty="0"/>
          </a:p>
        </p:txBody>
      </p:sp>
      <p:sp>
        <p:nvSpPr>
          <p:cNvPr id="25" name="Text 23"/>
          <p:cNvSpPr/>
          <p:nvPr/>
        </p:nvSpPr>
        <p:spPr>
          <a:xfrm>
            <a:off x="6557544" y="2216727"/>
            <a:ext cx="2057048" cy="225430"/>
          </a:xfrm>
          <a:prstGeom prst="rect">
            <a:avLst/>
          </a:prstGeom>
          <a:noFill/>
          <a:ln/>
        </p:spPr>
        <p:txBody>
          <a:bodyPr wrap="square" lIns="0" tIns="0" rIns="0" bIns="0" rtlCol="0" anchor="ctr"/>
          <a:lstStyle/>
          <a:p>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Create </a:t>
            </a:r>
            <a:pPr>
              <a:lnSpc>
                <a:spcPct val="120000"/>
              </a:lnSpc>
            </a:pPr>
            <a:r>
              <a:rPr lang="en-US" sz="1183" b="1" dirty="0">
                <a:solidFill>
                  <a:srgbClr val="0A84FF"/>
                </a:solidFill>
                <a:latin typeface="Quattrocento Sans" pitchFamily="34" charset="0"/>
                <a:ea typeface="Quattrocento Sans" pitchFamily="34" charset="-122"/>
                <a:cs typeface="Quattrocento Sans" pitchFamily="34" charset="-120"/>
              </a:rPr>
              <a:t>beautiful app interfaces</a:t>
            </a:r>
            <a:endParaRPr lang="en-US" sz="1600" dirty="0"/>
          </a:p>
        </p:txBody>
      </p:sp>
      <p:sp>
        <p:nvSpPr>
          <p:cNvPr id="26" name="Text 24"/>
          <p:cNvSpPr/>
          <p:nvPr/>
        </p:nvSpPr>
        <p:spPr>
          <a:xfrm>
            <a:off x="6433088" y="2517300"/>
            <a:ext cx="122108" cy="225430"/>
          </a:xfrm>
          <a:prstGeom prst="rect">
            <a:avLst/>
          </a:prstGeom>
          <a:noFill/>
          <a:ln/>
        </p:spPr>
        <p:txBody>
          <a:bodyPr wrap="square" lIns="0" tIns="0" rIns="0" bIns="0" rtlCol="0" anchor="ctr"/>
          <a:lstStyle/>
          <a:p>
            <a:pPr>
              <a:lnSpc>
                <a:spcPct val="120000"/>
              </a:lnSpc>
            </a:pPr>
            <a:r>
              <a:rPr lang="en-US" sz="1183" dirty="0">
                <a:solidFill>
                  <a:srgbClr val="0A84FF"/>
                </a:solidFill>
                <a:latin typeface="Quattrocento Sans" pitchFamily="34" charset="0"/>
                <a:ea typeface="Quattrocento Sans" pitchFamily="34" charset="-122"/>
                <a:cs typeface="Quattrocento Sans" pitchFamily="34" charset="-120"/>
              </a:rPr>
              <a:t>•</a:t>
            </a:r>
            <a:endParaRPr lang="en-US" sz="1600" dirty="0"/>
          </a:p>
        </p:txBody>
      </p:sp>
      <p:sp>
        <p:nvSpPr>
          <p:cNvPr id="27" name="Text 25"/>
          <p:cNvSpPr/>
          <p:nvPr/>
        </p:nvSpPr>
        <p:spPr>
          <a:xfrm>
            <a:off x="6557544" y="2517300"/>
            <a:ext cx="1728296" cy="225430"/>
          </a:xfrm>
          <a:prstGeom prst="rect">
            <a:avLst/>
          </a:prstGeom>
          <a:noFill/>
          <a:ln/>
        </p:spPr>
        <p:txBody>
          <a:bodyPr wrap="square" lIns="0" tIns="0" rIns="0" bIns="0" rtlCol="0" anchor="ctr"/>
          <a:lstStyle/>
          <a:p>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Focus on </a:t>
            </a:r>
            <a:pPr>
              <a:lnSpc>
                <a:spcPct val="120000"/>
              </a:lnSpc>
            </a:pPr>
            <a:r>
              <a:rPr lang="en-US" sz="1183" b="1" dirty="0">
                <a:solidFill>
                  <a:srgbClr val="0A84FF"/>
                </a:solidFill>
                <a:latin typeface="Quattrocento Sans" pitchFamily="34" charset="0"/>
                <a:ea typeface="Quattrocento Sans" pitchFamily="34" charset="-122"/>
                <a:cs typeface="Quattrocento Sans" pitchFamily="34" charset="-120"/>
              </a:rPr>
              <a:t>user experience</a:t>
            </a:r>
            <a:endParaRPr lang="en-US" sz="1600" dirty="0"/>
          </a:p>
        </p:txBody>
      </p:sp>
      <p:sp>
        <p:nvSpPr>
          <p:cNvPr id="28" name="Text 26"/>
          <p:cNvSpPr/>
          <p:nvPr/>
        </p:nvSpPr>
        <p:spPr>
          <a:xfrm>
            <a:off x="6433088" y="2817874"/>
            <a:ext cx="122108" cy="225430"/>
          </a:xfrm>
          <a:prstGeom prst="rect">
            <a:avLst/>
          </a:prstGeom>
          <a:noFill/>
          <a:ln/>
        </p:spPr>
        <p:txBody>
          <a:bodyPr wrap="square" lIns="0" tIns="0" rIns="0" bIns="0" rtlCol="0" anchor="ctr"/>
          <a:lstStyle/>
          <a:p>
            <a:pPr>
              <a:lnSpc>
                <a:spcPct val="120000"/>
              </a:lnSpc>
            </a:pPr>
            <a:r>
              <a:rPr lang="en-US" sz="1183" dirty="0">
                <a:solidFill>
                  <a:srgbClr val="0A84FF"/>
                </a:solidFill>
                <a:latin typeface="Quattrocento Sans" pitchFamily="34" charset="0"/>
                <a:ea typeface="Quattrocento Sans" pitchFamily="34" charset="-122"/>
                <a:cs typeface="Quattrocento Sans" pitchFamily="34" charset="-120"/>
              </a:rPr>
              <a:t>•</a:t>
            </a:r>
            <a:endParaRPr lang="en-US" sz="1600" dirty="0"/>
          </a:p>
        </p:txBody>
      </p:sp>
      <p:sp>
        <p:nvSpPr>
          <p:cNvPr id="29" name="Text 27"/>
          <p:cNvSpPr/>
          <p:nvPr/>
        </p:nvSpPr>
        <p:spPr>
          <a:xfrm>
            <a:off x="6557544" y="2817874"/>
            <a:ext cx="2958767" cy="225430"/>
          </a:xfrm>
          <a:prstGeom prst="rect">
            <a:avLst/>
          </a:prstGeom>
          <a:noFill/>
          <a:ln/>
        </p:spPr>
        <p:txBody>
          <a:bodyPr wrap="square" lIns="0" tIns="0" rIns="0" bIns="0" rtlCol="0" anchor="ctr"/>
          <a:lstStyle/>
          <a:p>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Work with developers to </a:t>
            </a:r>
            <a:pPr>
              <a:lnSpc>
                <a:spcPct val="120000"/>
              </a:lnSpc>
            </a:pPr>
            <a:r>
              <a:rPr lang="en-US" sz="1183" b="1" dirty="0">
                <a:solidFill>
                  <a:srgbClr val="0A84FF"/>
                </a:solidFill>
                <a:latin typeface="Quattrocento Sans" pitchFamily="34" charset="0"/>
                <a:ea typeface="Quattrocento Sans" pitchFamily="34" charset="-122"/>
                <a:cs typeface="Quattrocento Sans" pitchFamily="34" charset="-120"/>
              </a:rPr>
              <a:t>implement designs</a:t>
            </a:r>
            <a:endParaRPr lang="en-US" sz="1600" dirty="0"/>
          </a:p>
        </p:txBody>
      </p:sp>
      <p:sp>
        <p:nvSpPr>
          <p:cNvPr id="30" name="Shape 28"/>
          <p:cNvSpPr/>
          <p:nvPr/>
        </p:nvSpPr>
        <p:spPr>
          <a:xfrm>
            <a:off x="394502" y="3419020"/>
            <a:ext cx="5626354" cy="2028869"/>
          </a:xfrm>
          <a:custGeom>
            <a:avLst/>
            <a:gdLst/>
            <a:ahLst/>
            <a:cxnLst/>
            <a:rect l="l" t="t" r="r" b="b"/>
            <a:pathLst>
              <a:path w="5626354" h="2028869">
                <a:moveTo>
                  <a:pt x="37592" y="0"/>
                </a:moveTo>
                <a:lnTo>
                  <a:pt x="5476113" y="0"/>
                </a:lnTo>
                <a:cubicBezTo>
                  <a:pt x="5559089" y="0"/>
                  <a:pt x="5626354" y="67265"/>
                  <a:pt x="5626354" y="150241"/>
                </a:cubicBezTo>
                <a:lnTo>
                  <a:pt x="5626354" y="1878584"/>
                </a:lnTo>
                <a:cubicBezTo>
                  <a:pt x="5626354" y="1961504"/>
                  <a:pt x="5559033" y="2028825"/>
                  <a:pt x="5476113" y="2028825"/>
                </a:cubicBezTo>
                <a:lnTo>
                  <a:pt x="37592" y="2028825"/>
                </a:lnTo>
                <a:cubicBezTo>
                  <a:pt x="16880" y="2028825"/>
                  <a:pt x="70" y="2012072"/>
                  <a:pt x="0" y="1991360"/>
                </a:cubicBezTo>
                <a:lnTo>
                  <a:pt x="0" y="37592"/>
                </a:lnTo>
                <a:cubicBezTo>
                  <a:pt x="0" y="16844"/>
                  <a:pt x="16844" y="0"/>
                  <a:pt x="37592" y="0"/>
                </a:cubicBezTo>
                <a:close/>
              </a:path>
            </a:pathLst>
          </a:custGeom>
          <a:gradFill rotWithShape="1" flip="none">
            <a:gsLst>
              <a:gs pos="0">
                <a:srgbClr val="8E8E93">
                  <a:alpha val="20000"/>
                </a:srgbClr>
              </a:gs>
              <a:gs pos="100000">
                <a:srgbClr val="2C2C2E"/>
              </a:gs>
            </a:gsLst>
            <a:lin ang="2700000" scaled="1"/>
          </a:gradFill>
          <a:ln/>
        </p:spPr>
      </p:sp>
      <p:sp>
        <p:nvSpPr>
          <p:cNvPr id="31" name="Shape 29"/>
          <p:cNvSpPr/>
          <p:nvPr/>
        </p:nvSpPr>
        <p:spPr>
          <a:xfrm>
            <a:off x="394502" y="3419020"/>
            <a:ext cx="37572" cy="2028869"/>
          </a:xfrm>
          <a:custGeom>
            <a:avLst/>
            <a:gdLst/>
            <a:ahLst/>
            <a:cxnLst/>
            <a:rect l="l" t="t" r="r" b="b"/>
            <a:pathLst>
              <a:path w="37572" h="2028869">
                <a:moveTo>
                  <a:pt x="37592" y="0"/>
                </a:moveTo>
                <a:lnTo>
                  <a:pt x="37592" y="0"/>
                </a:lnTo>
                <a:lnTo>
                  <a:pt x="37592" y="2028825"/>
                </a:lnTo>
                <a:lnTo>
                  <a:pt x="37592" y="2028825"/>
                </a:lnTo>
                <a:cubicBezTo>
                  <a:pt x="16880" y="2028825"/>
                  <a:pt x="70" y="2012072"/>
                  <a:pt x="0" y="1991360"/>
                </a:cubicBezTo>
                <a:lnTo>
                  <a:pt x="0" y="37592"/>
                </a:lnTo>
                <a:cubicBezTo>
                  <a:pt x="0" y="16844"/>
                  <a:pt x="16844" y="0"/>
                  <a:pt x="37592" y="0"/>
                </a:cubicBezTo>
                <a:close/>
              </a:path>
            </a:pathLst>
          </a:custGeom>
          <a:solidFill>
            <a:srgbClr val="8E8E93"/>
          </a:solidFill>
          <a:ln/>
        </p:spPr>
      </p:sp>
      <p:sp>
        <p:nvSpPr>
          <p:cNvPr id="32" name="Shape 30"/>
          <p:cNvSpPr/>
          <p:nvPr/>
        </p:nvSpPr>
        <p:spPr>
          <a:xfrm>
            <a:off x="638718" y="3644450"/>
            <a:ext cx="601146" cy="601146"/>
          </a:xfrm>
          <a:prstGeom prst="roundRect">
            <a:avLst>
              <a:gd name="adj" fmla="val 25000"/>
            </a:avLst>
          </a:prstGeom>
          <a:solidFill>
            <a:srgbClr val="8E8E93"/>
          </a:solidFill>
          <a:ln/>
        </p:spPr>
      </p:sp>
      <p:sp>
        <p:nvSpPr>
          <p:cNvPr id="33" name="Shape 31"/>
          <p:cNvSpPr/>
          <p:nvPr/>
        </p:nvSpPr>
        <p:spPr>
          <a:xfrm>
            <a:off x="818357" y="3804129"/>
            <a:ext cx="246564" cy="281787"/>
          </a:xfrm>
          <a:custGeom>
            <a:avLst/>
            <a:gdLst/>
            <a:ahLst/>
            <a:cxnLst/>
            <a:rect l="l" t="t" r="r" b="b"/>
            <a:pathLst>
              <a:path w="246564" h="281787">
                <a:moveTo>
                  <a:pt x="123282" y="136491"/>
                </a:moveTo>
                <a:cubicBezTo>
                  <a:pt x="86831" y="136491"/>
                  <a:pt x="57238" y="106897"/>
                  <a:pt x="57238" y="70447"/>
                </a:cubicBezTo>
                <a:cubicBezTo>
                  <a:pt x="57238" y="33996"/>
                  <a:pt x="86831" y="4403"/>
                  <a:pt x="123282" y="4403"/>
                </a:cubicBezTo>
                <a:cubicBezTo>
                  <a:pt x="159733" y="4403"/>
                  <a:pt x="189326" y="33996"/>
                  <a:pt x="189326" y="70447"/>
                </a:cubicBezTo>
                <a:cubicBezTo>
                  <a:pt x="189326" y="106897"/>
                  <a:pt x="159733" y="136491"/>
                  <a:pt x="123282" y="136491"/>
                </a:cubicBezTo>
                <a:close/>
                <a:moveTo>
                  <a:pt x="106496" y="167311"/>
                </a:moveTo>
                <a:lnTo>
                  <a:pt x="140068" y="167311"/>
                </a:lnTo>
                <a:cubicBezTo>
                  <a:pt x="145407" y="167311"/>
                  <a:pt x="149700" y="171604"/>
                  <a:pt x="149700" y="176943"/>
                </a:cubicBezTo>
                <a:cubicBezTo>
                  <a:pt x="149700" y="179254"/>
                  <a:pt x="148874" y="181456"/>
                  <a:pt x="147388" y="183217"/>
                </a:cubicBezTo>
                <a:lnTo>
                  <a:pt x="132308" y="200829"/>
                </a:lnTo>
                <a:lnTo>
                  <a:pt x="149369" y="264176"/>
                </a:lnTo>
                <a:lnTo>
                  <a:pt x="149700" y="264176"/>
                </a:lnTo>
                <a:lnTo>
                  <a:pt x="168742" y="187950"/>
                </a:lnTo>
                <a:cubicBezTo>
                  <a:pt x="169953" y="183162"/>
                  <a:pt x="174851" y="180245"/>
                  <a:pt x="179474" y="182006"/>
                </a:cubicBezTo>
                <a:cubicBezTo>
                  <a:pt x="213542" y="194995"/>
                  <a:pt x="237758" y="228017"/>
                  <a:pt x="237758" y="266652"/>
                </a:cubicBezTo>
                <a:cubicBezTo>
                  <a:pt x="237758" y="274963"/>
                  <a:pt x="230989" y="281732"/>
                  <a:pt x="222678" y="281732"/>
                </a:cubicBezTo>
                <a:lnTo>
                  <a:pt x="23886" y="281787"/>
                </a:lnTo>
                <a:cubicBezTo>
                  <a:pt x="15575" y="281787"/>
                  <a:pt x="8806" y="275018"/>
                  <a:pt x="8806" y="266707"/>
                </a:cubicBezTo>
                <a:cubicBezTo>
                  <a:pt x="8806" y="228072"/>
                  <a:pt x="33022" y="195050"/>
                  <a:pt x="67090" y="182061"/>
                </a:cubicBezTo>
                <a:cubicBezTo>
                  <a:pt x="71713" y="180300"/>
                  <a:pt x="76611" y="183217"/>
                  <a:pt x="77822" y="188005"/>
                </a:cubicBezTo>
                <a:lnTo>
                  <a:pt x="96864" y="264231"/>
                </a:lnTo>
                <a:lnTo>
                  <a:pt x="97195" y="264231"/>
                </a:lnTo>
                <a:lnTo>
                  <a:pt x="114256" y="200884"/>
                </a:lnTo>
                <a:lnTo>
                  <a:pt x="99176" y="183272"/>
                </a:lnTo>
                <a:cubicBezTo>
                  <a:pt x="97690" y="181511"/>
                  <a:pt x="96864" y="179309"/>
                  <a:pt x="96864" y="176998"/>
                </a:cubicBezTo>
                <a:cubicBezTo>
                  <a:pt x="96864" y="171659"/>
                  <a:pt x="101157" y="167366"/>
                  <a:pt x="106496" y="167366"/>
                </a:cubicBezTo>
                <a:close/>
              </a:path>
            </a:pathLst>
          </a:custGeom>
          <a:solidFill>
            <a:srgbClr val="FFFFFF"/>
          </a:solidFill>
          <a:ln/>
        </p:spPr>
      </p:sp>
      <p:sp>
        <p:nvSpPr>
          <p:cNvPr id="34" name="Text 32"/>
          <p:cNvSpPr/>
          <p:nvPr/>
        </p:nvSpPr>
        <p:spPr>
          <a:xfrm>
            <a:off x="1390151" y="3682022"/>
            <a:ext cx="2150977" cy="300573"/>
          </a:xfrm>
          <a:prstGeom prst="rect">
            <a:avLst/>
          </a:prstGeom>
          <a:noFill/>
          <a:ln/>
        </p:spPr>
        <p:txBody>
          <a:bodyPr wrap="square" lIns="0" tIns="0" rIns="0" bIns="0" rtlCol="0" anchor="ctr"/>
          <a:lstStyle/>
          <a:p>
            <a:pPr>
              <a:lnSpc>
                <a:spcPct val="110000"/>
              </a:lnSpc>
            </a:pPr>
            <a:r>
              <a:rPr lang="en-US" sz="1775" b="1" dirty="0">
                <a:solidFill>
                  <a:srgbClr val="8E8E93"/>
                </a:solidFill>
                <a:latin typeface="Liter" pitchFamily="34" charset="0"/>
                <a:ea typeface="Liter" pitchFamily="34" charset="-122"/>
                <a:cs typeface="Liter" pitchFamily="34" charset="-120"/>
              </a:rPr>
              <a:t>Freelance Developer</a:t>
            </a:r>
            <a:endParaRPr lang="en-US" sz="1600" dirty="0"/>
          </a:p>
        </p:txBody>
      </p:sp>
      <p:sp>
        <p:nvSpPr>
          <p:cNvPr id="35" name="Text 33"/>
          <p:cNvSpPr/>
          <p:nvPr/>
        </p:nvSpPr>
        <p:spPr>
          <a:xfrm>
            <a:off x="1390151" y="3982480"/>
            <a:ext cx="2113405" cy="225430"/>
          </a:xfrm>
          <a:prstGeom prst="rect">
            <a:avLst/>
          </a:prstGeom>
          <a:noFill/>
          <a:ln/>
        </p:spPr>
        <p:txBody>
          <a:bodyPr wrap="square" lIns="0" tIns="0" rIns="0" bIns="0" rtlCol="0" anchor="ctr"/>
          <a:lstStyle/>
          <a:p>
            <a:pPr>
              <a:lnSpc>
                <a:spcPct val="120000"/>
              </a:lnSpc>
            </a:pPr>
            <a:r>
              <a:rPr lang="en-US" sz="1183" dirty="0">
                <a:solidFill>
                  <a:srgbClr val="8E8E93"/>
                </a:solidFill>
                <a:latin typeface="Quattrocento Sans" pitchFamily="34" charset="0"/>
                <a:ea typeface="Quattrocento Sans" pitchFamily="34" charset="-122"/>
                <a:cs typeface="Quattrocento Sans" pitchFamily="34" charset="-120"/>
              </a:rPr>
              <a:t>Be your own boss</a:t>
            </a:r>
            <a:endParaRPr lang="en-US" sz="1600" dirty="0"/>
          </a:p>
        </p:txBody>
      </p:sp>
      <p:sp>
        <p:nvSpPr>
          <p:cNvPr id="36" name="Text 34"/>
          <p:cNvSpPr/>
          <p:nvPr/>
        </p:nvSpPr>
        <p:spPr>
          <a:xfrm>
            <a:off x="638718" y="4395883"/>
            <a:ext cx="122108" cy="225430"/>
          </a:xfrm>
          <a:prstGeom prst="rect">
            <a:avLst/>
          </a:prstGeom>
          <a:noFill/>
          <a:ln/>
        </p:spPr>
        <p:txBody>
          <a:bodyPr wrap="square" lIns="0" tIns="0" rIns="0" bIns="0" rtlCol="0" anchor="ctr"/>
          <a:lstStyle/>
          <a:p>
            <a:pPr>
              <a:lnSpc>
                <a:spcPct val="120000"/>
              </a:lnSpc>
            </a:pPr>
            <a:r>
              <a:rPr lang="en-US" sz="1183" dirty="0">
                <a:solidFill>
                  <a:srgbClr val="8E8E93"/>
                </a:solidFill>
                <a:latin typeface="Quattrocento Sans" pitchFamily="34" charset="0"/>
                <a:ea typeface="Quattrocento Sans" pitchFamily="34" charset="-122"/>
                <a:cs typeface="Quattrocento Sans" pitchFamily="34" charset="-120"/>
              </a:rPr>
              <a:t>•</a:t>
            </a:r>
            <a:endParaRPr lang="en-US" sz="1600" dirty="0"/>
          </a:p>
        </p:txBody>
      </p:sp>
      <p:sp>
        <p:nvSpPr>
          <p:cNvPr id="37" name="Text 35"/>
          <p:cNvSpPr/>
          <p:nvPr/>
        </p:nvSpPr>
        <p:spPr>
          <a:xfrm>
            <a:off x="763174" y="4395883"/>
            <a:ext cx="1775260" cy="225430"/>
          </a:xfrm>
          <a:prstGeom prst="rect">
            <a:avLst/>
          </a:prstGeom>
          <a:noFill/>
          <a:ln/>
        </p:spPr>
        <p:txBody>
          <a:bodyPr wrap="square" lIns="0" tIns="0" rIns="0" bIns="0" rtlCol="0" anchor="ctr"/>
          <a:lstStyle/>
          <a:p>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Work on </a:t>
            </a:r>
            <a:pPr>
              <a:lnSpc>
                <a:spcPct val="120000"/>
              </a:lnSpc>
            </a:pPr>
            <a:r>
              <a:rPr lang="en-US" sz="1183" b="1" dirty="0">
                <a:solidFill>
                  <a:srgbClr val="8E8E93"/>
                </a:solidFill>
                <a:latin typeface="Quattrocento Sans" pitchFamily="34" charset="0"/>
                <a:ea typeface="Quattrocento Sans" pitchFamily="34" charset="-122"/>
                <a:cs typeface="Quattrocento Sans" pitchFamily="34" charset="-120"/>
              </a:rPr>
              <a:t>multiple projects</a:t>
            </a:r>
            <a:endParaRPr lang="en-US" sz="1600" dirty="0"/>
          </a:p>
        </p:txBody>
      </p:sp>
      <p:sp>
        <p:nvSpPr>
          <p:cNvPr id="38" name="Text 36"/>
          <p:cNvSpPr/>
          <p:nvPr/>
        </p:nvSpPr>
        <p:spPr>
          <a:xfrm>
            <a:off x="638718" y="4696456"/>
            <a:ext cx="122108" cy="225430"/>
          </a:xfrm>
          <a:prstGeom prst="rect">
            <a:avLst/>
          </a:prstGeom>
          <a:noFill/>
          <a:ln/>
        </p:spPr>
        <p:txBody>
          <a:bodyPr wrap="square" lIns="0" tIns="0" rIns="0" bIns="0" rtlCol="0" anchor="ctr"/>
          <a:lstStyle/>
          <a:p>
            <a:pPr>
              <a:lnSpc>
                <a:spcPct val="120000"/>
              </a:lnSpc>
            </a:pPr>
            <a:r>
              <a:rPr lang="en-US" sz="1183" dirty="0">
                <a:solidFill>
                  <a:srgbClr val="8E8E93"/>
                </a:solidFill>
                <a:latin typeface="Quattrocento Sans" pitchFamily="34" charset="0"/>
                <a:ea typeface="Quattrocento Sans" pitchFamily="34" charset="-122"/>
                <a:cs typeface="Quattrocento Sans" pitchFamily="34" charset="-120"/>
              </a:rPr>
              <a:t>•</a:t>
            </a:r>
            <a:endParaRPr lang="en-US" sz="1600" dirty="0"/>
          </a:p>
        </p:txBody>
      </p:sp>
      <p:sp>
        <p:nvSpPr>
          <p:cNvPr id="39" name="Text 37"/>
          <p:cNvSpPr/>
          <p:nvPr/>
        </p:nvSpPr>
        <p:spPr>
          <a:xfrm>
            <a:off x="763174" y="4696456"/>
            <a:ext cx="1559223" cy="225430"/>
          </a:xfrm>
          <a:prstGeom prst="rect">
            <a:avLst/>
          </a:prstGeom>
          <a:noFill/>
          <a:ln/>
        </p:spPr>
        <p:txBody>
          <a:bodyPr wrap="square" lIns="0" tIns="0" rIns="0" bIns="0" rtlCol="0" anchor="ctr"/>
          <a:lstStyle/>
          <a:p>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Set your </a:t>
            </a:r>
            <a:pPr>
              <a:lnSpc>
                <a:spcPct val="120000"/>
              </a:lnSpc>
            </a:pPr>
            <a:r>
              <a:rPr lang="en-US" sz="1183" b="1" dirty="0">
                <a:solidFill>
                  <a:srgbClr val="8E8E93"/>
                </a:solidFill>
                <a:latin typeface="Quattrocento Sans" pitchFamily="34" charset="0"/>
                <a:ea typeface="Quattrocento Sans" pitchFamily="34" charset="-122"/>
                <a:cs typeface="Quattrocento Sans" pitchFamily="34" charset="-120"/>
              </a:rPr>
              <a:t>own schedule</a:t>
            </a:r>
            <a:endParaRPr lang="en-US" sz="1600" dirty="0"/>
          </a:p>
        </p:txBody>
      </p:sp>
      <p:sp>
        <p:nvSpPr>
          <p:cNvPr id="40" name="Text 38"/>
          <p:cNvSpPr/>
          <p:nvPr/>
        </p:nvSpPr>
        <p:spPr>
          <a:xfrm>
            <a:off x="638718" y="4997029"/>
            <a:ext cx="122108" cy="225430"/>
          </a:xfrm>
          <a:prstGeom prst="rect">
            <a:avLst/>
          </a:prstGeom>
          <a:noFill/>
          <a:ln/>
        </p:spPr>
        <p:txBody>
          <a:bodyPr wrap="square" lIns="0" tIns="0" rIns="0" bIns="0" rtlCol="0" anchor="ctr"/>
          <a:lstStyle/>
          <a:p>
            <a:pPr>
              <a:lnSpc>
                <a:spcPct val="120000"/>
              </a:lnSpc>
            </a:pPr>
            <a:r>
              <a:rPr lang="en-US" sz="1183" dirty="0">
                <a:solidFill>
                  <a:srgbClr val="8E8E93"/>
                </a:solidFill>
                <a:latin typeface="Quattrocento Sans" pitchFamily="34" charset="0"/>
                <a:ea typeface="Quattrocento Sans" pitchFamily="34" charset="-122"/>
                <a:cs typeface="Quattrocento Sans" pitchFamily="34" charset="-120"/>
              </a:rPr>
              <a:t>•</a:t>
            </a:r>
            <a:endParaRPr lang="en-US" sz="1600" dirty="0"/>
          </a:p>
        </p:txBody>
      </p:sp>
      <p:sp>
        <p:nvSpPr>
          <p:cNvPr id="41" name="Text 39"/>
          <p:cNvSpPr/>
          <p:nvPr/>
        </p:nvSpPr>
        <p:spPr>
          <a:xfrm>
            <a:off x="763174" y="4997029"/>
            <a:ext cx="1822225" cy="225430"/>
          </a:xfrm>
          <a:prstGeom prst="rect">
            <a:avLst/>
          </a:prstGeom>
          <a:noFill/>
          <a:ln/>
        </p:spPr>
        <p:txBody>
          <a:bodyPr wrap="square" lIns="0" tIns="0" rIns="0" bIns="0" rtlCol="0" anchor="ctr"/>
          <a:lstStyle/>
          <a:p>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Earn </a:t>
            </a:r>
            <a:pPr>
              <a:lnSpc>
                <a:spcPct val="120000"/>
              </a:lnSpc>
            </a:pPr>
            <a:r>
              <a:rPr lang="en-US" sz="1183" b="1" dirty="0">
                <a:solidFill>
                  <a:srgbClr val="8E8E93"/>
                </a:solidFill>
                <a:latin typeface="Quattrocento Sans" pitchFamily="34" charset="0"/>
                <a:ea typeface="Quattrocento Sans" pitchFamily="34" charset="-122"/>
                <a:cs typeface="Quattrocento Sans" pitchFamily="34" charset="-120"/>
              </a:rPr>
              <a:t>$50 - $200+ per hour</a:t>
            </a:r>
            <a:endParaRPr lang="en-US" sz="1600" dirty="0"/>
          </a:p>
        </p:txBody>
      </p:sp>
      <p:sp>
        <p:nvSpPr>
          <p:cNvPr id="42" name="Shape 40"/>
          <p:cNvSpPr/>
          <p:nvPr/>
        </p:nvSpPr>
        <p:spPr>
          <a:xfrm>
            <a:off x="6188873" y="3419020"/>
            <a:ext cx="5626354" cy="2028869"/>
          </a:xfrm>
          <a:custGeom>
            <a:avLst/>
            <a:gdLst/>
            <a:ahLst/>
            <a:cxnLst/>
            <a:rect l="l" t="t" r="r" b="b"/>
            <a:pathLst>
              <a:path w="5626354" h="2028869">
                <a:moveTo>
                  <a:pt x="37592" y="0"/>
                </a:moveTo>
                <a:lnTo>
                  <a:pt x="5476113" y="0"/>
                </a:lnTo>
                <a:cubicBezTo>
                  <a:pt x="5559089" y="0"/>
                  <a:pt x="5626354" y="67265"/>
                  <a:pt x="5626354" y="150241"/>
                </a:cubicBezTo>
                <a:lnTo>
                  <a:pt x="5626354" y="1878584"/>
                </a:lnTo>
                <a:cubicBezTo>
                  <a:pt x="5626354" y="1961504"/>
                  <a:pt x="5559033" y="2028825"/>
                  <a:pt x="5476113" y="2028825"/>
                </a:cubicBezTo>
                <a:lnTo>
                  <a:pt x="37592" y="2028825"/>
                </a:lnTo>
                <a:cubicBezTo>
                  <a:pt x="16880" y="2028825"/>
                  <a:pt x="70" y="2012072"/>
                  <a:pt x="0" y="1991360"/>
                </a:cubicBezTo>
                <a:lnTo>
                  <a:pt x="0" y="37592"/>
                </a:lnTo>
                <a:cubicBezTo>
                  <a:pt x="0" y="16844"/>
                  <a:pt x="16844" y="0"/>
                  <a:pt x="37592" y="0"/>
                </a:cubicBezTo>
                <a:close/>
              </a:path>
            </a:pathLst>
          </a:custGeom>
          <a:gradFill rotWithShape="1" flip="none">
            <a:gsLst>
              <a:gs pos="0">
                <a:srgbClr val="34C759">
                  <a:alpha val="20000"/>
                </a:srgbClr>
              </a:gs>
              <a:gs pos="100000">
                <a:srgbClr val="2C2C2E"/>
              </a:gs>
            </a:gsLst>
            <a:lin ang="2700000" scaled="1"/>
          </a:gradFill>
          <a:ln/>
        </p:spPr>
      </p:sp>
      <p:sp>
        <p:nvSpPr>
          <p:cNvPr id="43" name="Shape 41"/>
          <p:cNvSpPr/>
          <p:nvPr/>
        </p:nvSpPr>
        <p:spPr>
          <a:xfrm>
            <a:off x="6188873" y="3419020"/>
            <a:ext cx="37572" cy="2028869"/>
          </a:xfrm>
          <a:custGeom>
            <a:avLst/>
            <a:gdLst/>
            <a:ahLst/>
            <a:cxnLst/>
            <a:rect l="l" t="t" r="r" b="b"/>
            <a:pathLst>
              <a:path w="37572" h="2028869">
                <a:moveTo>
                  <a:pt x="37592" y="0"/>
                </a:moveTo>
                <a:lnTo>
                  <a:pt x="37592" y="0"/>
                </a:lnTo>
                <a:lnTo>
                  <a:pt x="37592" y="2028825"/>
                </a:lnTo>
                <a:lnTo>
                  <a:pt x="37592" y="2028825"/>
                </a:lnTo>
                <a:cubicBezTo>
                  <a:pt x="16880" y="2028825"/>
                  <a:pt x="70" y="2012072"/>
                  <a:pt x="0" y="1991360"/>
                </a:cubicBezTo>
                <a:lnTo>
                  <a:pt x="0" y="37592"/>
                </a:lnTo>
                <a:cubicBezTo>
                  <a:pt x="0" y="16844"/>
                  <a:pt x="16844" y="0"/>
                  <a:pt x="37592" y="0"/>
                </a:cubicBezTo>
                <a:close/>
              </a:path>
            </a:pathLst>
          </a:custGeom>
          <a:solidFill>
            <a:srgbClr val="34C759"/>
          </a:solidFill>
          <a:ln/>
        </p:spPr>
      </p:sp>
      <p:sp>
        <p:nvSpPr>
          <p:cNvPr id="44" name="Shape 42"/>
          <p:cNvSpPr/>
          <p:nvPr/>
        </p:nvSpPr>
        <p:spPr>
          <a:xfrm>
            <a:off x="6433088" y="3644450"/>
            <a:ext cx="601146" cy="601146"/>
          </a:xfrm>
          <a:prstGeom prst="roundRect">
            <a:avLst>
              <a:gd name="adj" fmla="val 25000"/>
            </a:avLst>
          </a:prstGeom>
          <a:solidFill>
            <a:srgbClr val="34C759"/>
          </a:solidFill>
          <a:ln/>
        </p:spPr>
      </p:sp>
      <p:sp>
        <p:nvSpPr>
          <p:cNvPr id="45" name="Shape 43"/>
          <p:cNvSpPr/>
          <p:nvPr/>
        </p:nvSpPr>
        <p:spPr>
          <a:xfrm>
            <a:off x="6595116" y="3804129"/>
            <a:ext cx="281787" cy="281787"/>
          </a:xfrm>
          <a:custGeom>
            <a:avLst/>
            <a:gdLst/>
            <a:ahLst/>
            <a:cxnLst/>
            <a:rect l="l" t="t" r="r" b="b"/>
            <a:pathLst>
              <a:path w="281787" h="281787">
                <a:moveTo>
                  <a:pt x="70447" y="176117"/>
                </a:moveTo>
                <a:lnTo>
                  <a:pt x="13484" y="176117"/>
                </a:lnTo>
                <a:cubicBezTo>
                  <a:pt x="-220" y="176117"/>
                  <a:pt x="-8641" y="161202"/>
                  <a:pt x="-1596" y="149424"/>
                </a:cubicBezTo>
                <a:lnTo>
                  <a:pt x="27518" y="100882"/>
                </a:lnTo>
                <a:cubicBezTo>
                  <a:pt x="32306" y="92902"/>
                  <a:pt x="40892" y="88059"/>
                  <a:pt x="50193" y="88059"/>
                </a:cubicBezTo>
                <a:lnTo>
                  <a:pt x="102478" y="88059"/>
                </a:lnTo>
                <a:cubicBezTo>
                  <a:pt x="144361" y="17116"/>
                  <a:pt x="206828" y="13539"/>
                  <a:pt x="248600" y="19648"/>
                </a:cubicBezTo>
                <a:cubicBezTo>
                  <a:pt x="255645" y="20694"/>
                  <a:pt x="261149" y="26197"/>
                  <a:pt x="262139" y="33187"/>
                </a:cubicBezTo>
                <a:cubicBezTo>
                  <a:pt x="268248" y="74960"/>
                  <a:pt x="264671" y="137426"/>
                  <a:pt x="193729" y="179309"/>
                </a:cubicBezTo>
                <a:lnTo>
                  <a:pt x="193729" y="231594"/>
                </a:lnTo>
                <a:cubicBezTo>
                  <a:pt x="193729" y="240895"/>
                  <a:pt x="188886" y="249481"/>
                  <a:pt x="180905" y="254269"/>
                </a:cubicBezTo>
                <a:lnTo>
                  <a:pt x="132363" y="283383"/>
                </a:lnTo>
                <a:cubicBezTo>
                  <a:pt x="120640" y="290428"/>
                  <a:pt x="105670" y="281952"/>
                  <a:pt x="105670" y="268303"/>
                </a:cubicBezTo>
                <a:lnTo>
                  <a:pt x="105670" y="211341"/>
                </a:lnTo>
                <a:cubicBezTo>
                  <a:pt x="105670" y="191913"/>
                  <a:pt x="89875" y="176117"/>
                  <a:pt x="70447" y="176117"/>
                </a:cubicBezTo>
                <a:lnTo>
                  <a:pt x="70392" y="176117"/>
                </a:lnTo>
                <a:close/>
                <a:moveTo>
                  <a:pt x="220146" y="88059"/>
                </a:moveTo>
                <a:cubicBezTo>
                  <a:pt x="220146" y="73478"/>
                  <a:pt x="208309" y="61641"/>
                  <a:pt x="193729" y="61641"/>
                </a:cubicBezTo>
                <a:cubicBezTo>
                  <a:pt x="179149" y="61641"/>
                  <a:pt x="167311" y="73478"/>
                  <a:pt x="167311" y="88059"/>
                </a:cubicBezTo>
                <a:cubicBezTo>
                  <a:pt x="167311" y="102639"/>
                  <a:pt x="179149" y="114476"/>
                  <a:pt x="193729" y="114476"/>
                </a:cubicBezTo>
                <a:cubicBezTo>
                  <a:pt x="208309" y="114476"/>
                  <a:pt x="220146" y="102639"/>
                  <a:pt x="220146" y="88059"/>
                </a:cubicBezTo>
                <a:close/>
              </a:path>
            </a:pathLst>
          </a:custGeom>
          <a:solidFill>
            <a:srgbClr val="1D1D1F"/>
          </a:solidFill>
          <a:ln/>
        </p:spPr>
      </p:sp>
      <p:sp>
        <p:nvSpPr>
          <p:cNvPr id="46" name="Text 44"/>
          <p:cNvSpPr/>
          <p:nvPr/>
        </p:nvSpPr>
        <p:spPr>
          <a:xfrm>
            <a:off x="7184521" y="3682022"/>
            <a:ext cx="1718903" cy="300573"/>
          </a:xfrm>
          <a:prstGeom prst="rect">
            <a:avLst/>
          </a:prstGeom>
          <a:noFill/>
          <a:ln/>
        </p:spPr>
        <p:txBody>
          <a:bodyPr wrap="square" lIns="0" tIns="0" rIns="0" bIns="0" rtlCol="0" anchor="ctr"/>
          <a:lstStyle/>
          <a:p>
            <a:pPr>
              <a:lnSpc>
                <a:spcPct val="110000"/>
              </a:lnSpc>
            </a:pPr>
            <a:r>
              <a:rPr lang="en-US" sz="1775" b="1" dirty="0">
                <a:solidFill>
                  <a:srgbClr val="34C759"/>
                </a:solidFill>
                <a:latin typeface="Liter" pitchFamily="34" charset="0"/>
                <a:ea typeface="Liter" pitchFamily="34" charset="-122"/>
                <a:cs typeface="Liter" pitchFamily="34" charset="-120"/>
              </a:rPr>
              <a:t>Startup Founder</a:t>
            </a:r>
            <a:endParaRPr lang="en-US" sz="1600" dirty="0"/>
          </a:p>
        </p:txBody>
      </p:sp>
      <p:sp>
        <p:nvSpPr>
          <p:cNvPr id="47" name="Text 45"/>
          <p:cNvSpPr/>
          <p:nvPr/>
        </p:nvSpPr>
        <p:spPr>
          <a:xfrm>
            <a:off x="7184521" y="3982480"/>
            <a:ext cx="1681331" cy="225430"/>
          </a:xfrm>
          <a:prstGeom prst="rect">
            <a:avLst/>
          </a:prstGeom>
          <a:noFill/>
          <a:ln/>
        </p:spPr>
        <p:txBody>
          <a:bodyPr wrap="square" lIns="0" tIns="0" rIns="0" bIns="0" rtlCol="0" anchor="ctr"/>
          <a:lstStyle/>
          <a:p>
            <a:pPr>
              <a:lnSpc>
                <a:spcPct val="120000"/>
              </a:lnSpc>
            </a:pPr>
            <a:r>
              <a:rPr lang="en-US" sz="1183" dirty="0">
                <a:solidFill>
                  <a:srgbClr val="8E8E93"/>
                </a:solidFill>
                <a:latin typeface="Quattrocento Sans" pitchFamily="34" charset="0"/>
                <a:ea typeface="Quattrocento Sans" pitchFamily="34" charset="-122"/>
                <a:cs typeface="Quattrocento Sans" pitchFamily="34" charset="-120"/>
              </a:rPr>
              <a:t>Build your own app</a:t>
            </a:r>
            <a:endParaRPr lang="en-US" sz="1600" dirty="0"/>
          </a:p>
        </p:txBody>
      </p:sp>
      <p:sp>
        <p:nvSpPr>
          <p:cNvPr id="48" name="Text 46"/>
          <p:cNvSpPr/>
          <p:nvPr/>
        </p:nvSpPr>
        <p:spPr>
          <a:xfrm>
            <a:off x="6433088" y="4395883"/>
            <a:ext cx="122108" cy="225430"/>
          </a:xfrm>
          <a:prstGeom prst="rect">
            <a:avLst/>
          </a:prstGeom>
          <a:noFill/>
          <a:ln/>
        </p:spPr>
        <p:txBody>
          <a:bodyPr wrap="square" lIns="0" tIns="0" rIns="0" bIns="0" rtlCol="0" anchor="ctr"/>
          <a:lstStyle/>
          <a:p>
            <a:pPr>
              <a:lnSpc>
                <a:spcPct val="120000"/>
              </a:lnSpc>
            </a:pPr>
            <a:r>
              <a:rPr lang="en-US" sz="118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9" name="Text 47"/>
          <p:cNvSpPr/>
          <p:nvPr/>
        </p:nvSpPr>
        <p:spPr>
          <a:xfrm>
            <a:off x="6557544" y="4395883"/>
            <a:ext cx="2019476" cy="225430"/>
          </a:xfrm>
          <a:prstGeom prst="rect">
            <a:avLst/>
          </a:prstGeom>
          <a:noFill/>
          <a:ln/>
        </p:spPr>
        <p:txBody>
          <a:bodyPr wrap="square" lIns="0" tIns="0" rIns="0" bIns="0" rtlCol="0" anchor="ctr"/>
          <a:lstStyle/>
          <a:p>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Turn your </a:t>
            </a:r>
            <a:pPr>
              <a:lnSpc>
                <a:spcPct val="120000"/>
              </a:lnSpc>
            </a:pPr>
            <a:r>
              <a:rPr lang="en-US" sz="1183" b="1" dirty="0">
                <a:solidFill>
                  <a:srgbClr val="34C759"/>
                </a:solidFill>
                <a:latin typeface="Quattrocento Sans" pitchFamily="34" charset="0"/>
                <a:ea typeface="Quattrocento Sans" pitchFamily="34" charset="-122"/>
                <a:cs typeface="Quattrocento Sans" pitchFamily="34" charset="-120"/>
              </a:rPr>
              <a:t>app idea</a:t>
            </a:r>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 into reality</a:t>
            </a:r>
            <a:endParaRPr lang="en-US" sz="1600" dirty="0"/>
          </a:p>
        </p:txBody>
      </p:sp>
      <p:sp>
        <p:nvSpPr>
          <p:cNvPr id="50" name="Text 48"/>
          <p:cNvSpPr/>
          <p:nvPr/>
        </p:nvSpPr>
        <p:spPr>
          <a:xfrm>
            <a:off x="6433088" y="4696456"/>
            <a:ext cx="122108" cy="225430"/>
          </a:xfrm>
          <a:prstGeom prst="rect">
            <a:avLst/>
          </a:prstGeom>
          <a:noFill/>
          <a:ln/>
        </p:spPr>
        <p:txBody>
          <a:bodyPr wrap="square" lIns="0" tIns="0" rIns="0" bIns="0" rtlCol="0" anchor="ctr"/>
          <a:lstStyle/>
          <a:p>
            <a:pPr>
              <a:lnSpc>
                <a:spcPct val="120000"/>
              </a:lnSpc>
            </a:pPr>
            <a:r>
              <a:rPr lang="en-US" sz="118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51" name="Text 49"/>
          <p:cNvSpPr/>
          <p:nvPr/>
        </p:nvSpPr>
        <p:spPr>
          <a:xfrm>
            <a:off x="6557544" y="4696456"/>
            <a:ext cx="2179156" cy="225430"/>
          </a:xfrm>
          <a:prstGeom prst="rect">
            <a:avLst/>
          </a:prstGeom>
          <a:noFill/>
          <a:ln/>
        </p:spPr>
        <p:txBody>
          <a:bodyPr wrap="square" lIns="0" tIns="0" rIns="0" bIns="0" rtlCol="0" anchor="ctr"/>
          <a:lstStyle/>
          <a:p>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Create apps that </a:t>
            </a:r>
            <a:pPr>
              <a:lnSpc>
                <a:spcPct val="120000"/>
              </a:lnSpc>
            </a:pPr>
            <a:r>
              <a:rPr lang="en-US" sz="1183" b="1" dirty="0">
                <a:solidFill>
                  <a:srgbClr val="34C759"/>
                </a:solidFill>
                <a:latin typeface="Quattrocento Sans" pitchFamily="34" charset="0"/>
                <a:ea typeface="Quattrocento Sans" pitchFamily="34" charset="-122"/>
                <a:cs typeface="Quattrocento Sans" pitchFamily="34" charset="-120"/>
              </a:rPr>
              <a:t>solve problems</a:t>
            </a:r>
            <a:endParaRPr lang="en-US" sz="1600" dirty="0"/>
          </a:p>
        </p:txBody>
      </p:sp>
      <p:sp>
        <p:nvSpPr>
          <p:cNvPr id="52" name="Text 50"/>
          <p:cNvSpPr/>
          <p:nvPr/>
        </p:nvSpPr>
        <p:spPr>
          <a:xfrm>
            <a:off x="6433088" y="4997029"/>
            <a:ext cx="122108" cy="225430"/>
          </a:xfrm>
          <a:prstGeom prst="rect">
            <a:avLst/>
          </a:prstGeom>
          <a:noFill/>
          <a:ln/>
        </p:spPr>
        <p:txBody>
          <a:bodyPr wrap="square" lIns="0" tIns="0" rIns="0" bIns="0" rtlCol="0" anchor="ctr"/>
          <a:lstStyle/>
          <a:p>
            <a:pPr>
              <a:lnSpc>
                <a:spcPct val="120000"/>
              </a:lnSpc>
            </a:pPr>
            <a:r>
              <a:rPr lang="en-US" sz="118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53" name="Text 51"/>
          <p:cNvSpPr/>
          <p:nvPr/>
        </p:nvSpPr>
        <p:spPr>
          <a:xfrm>
            <a:off x="6557544" y="4997029"/>
            <a:ext cx="2273085" cy="225430"/>
          </a:xfrm>
          <a:prstGeom prst="rect">
            <a:avLst/>
          </a:prstGeom>
          <a:noFill/>
          <a:ln/>
        </p:spPr>
        <p:txBody>
          <a:bodyPr wrap="square" lIns="0" tIns="0" rIns="0" bIns="0" rtlCol="0" anchor="ctr"/>
          <a:lstStyle/>
          <a:p>
            <a:pPr>
              <a:lnSpc>
                <a:spcPct val="120000"/>
              </a:lnSpc>
            </a:pPr>
            <a:r>
              <a:rPr lang="en-US" sz="1183" b="1" dirty="0">
                <a:solidFill>
                  <a:srgbClr val="34C759"/>
                </a:solidFill>
                <a:latin typeface="Quattrocento Sans" pitchFamily="34" charset="0"/>
                <a:ea typeface="Quattrocento Sans" pitchFamily="34" charset="-122"/>
                <a:cs typeface="Quattrocento Sans" pitchFamily="34" charset="-120"/>
              </a:rPr>
              <a:t>No coding partner needed</a:t>
            </a:r>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 to start</a:t>
            </a:r>
            <a:endParaRPr lang="en-US" sz="1600" dirty="0"/>
          </a:p>
        </p:txBody>
      </p:sp>
      <p:sp>
        <p:nvSpPr>
          <p:cNvPr id="54" name="Shape 52"/>
          <p:cNvSpPr/>
          <p:nvPr/>
        </p:nvSpPr>
        <p:spPr>
          <a:xfrm>
            <a:off x="379474" y="5601933"/>
            <a:ext cx="11429296" cy="1247379"/>
          </a:xfrm>
          <a:prstGeom prst="roundRect">
            <a:avLst>
              <a:gd name="adj" fmla="val 12048"/>
            </a:avLst>
          </a:prstGeom>
          <a:solidFill>
            <a:srgbClr val="0A84FF">
              <a:alpha val="10196"/>
            </a:srgbClr>
          </a:solidFill>
          <a:ln w="10160">
            <a:solidFill>
              <a:srgbClr val="0A84FF">
                <a:alpha val="30196"/>
              </a:srgbClr>
            </a:solidFill>
            <a:prstDash val="solid"/>
          </a:ln>
        </p:spPr>
      </p:sp>
      <p:sp>
        <p:nvSpPr>
          <p:cNvPr id="55" name="Shape 53"/>
          <p:cNvSpPr/>
          <p:nvPr/>
        </p:nvSpPr>
        <p:spPr>
          <a:xfrm>
            <a:off x="594571" y="5840516"/>
            <a:ext cx="169072" cy="169072"/>
          </a:xfrm>
          <a:custGeom>
            <a:avLst/>
            <a:gdLst/>
            <a:ahLst/>
            <a:cxnLst/>
            <a:rect l="l" t="t" r="r" b="b"/>
            <a:pathLst>
              <a:path w="169072" h="169072">
                <a:moveTo>
                  <a:pt x="84536" y="158505"/>
                </a:moveTo>
                <a:cubicBezTo>
                  <a:pt x="131229" y="158505"/>
                  <a:pt x="169072" y="123007"/>
                  <a:pt x="169072" y="79253"/>
                </a:cubicBezTo>
                <a:cubicBezTo>
                  <a:pt x="169072" y="35499"/>
                  <a:pt x="131229" y="0"/>
                  <a:pt x="84536" y="0"/>
                </a:cubicBezTo>
                <a:cubicBezTo>
                  <a:pt x="37843" y="0"/>
                  <a:pt x="0" y="35499"/>
                  <a:pt x="0" y="79253"/>
                </a:cubicBezTo>
                <a:cubicBezTo>
                  <a:pt x="0" y="97184"/>
                  <a:pt x="6340" y="113695"/>
                  <a:pt x="17039" y="126969"/>
                </a:cubicBezTo>
                <a:lnTo>
                  <a:pt x="925" y="157449"/>
                </a:lnTo>
                <a:cubicBezTo>
                  <a:pt x="-660" y="160421"/>
                  <a:pt x="-165" y="164053"/>
                  <a:pt x="2113" y="166530"/>
                </a:cubicBezTo>
                <a:cubicBezTo>
                  <a:pt x="4392" y="169006"/>
                  <a:pt x="7991" y="169766"/>
                  <a:pt x="11062" y="168445"/>
                </a:cubicBezTo>
                <a:lnTo>
                  <a:pt x="50160" y="151703"/>
                </a:lnTo>
                <a:cubicBezTo>
                  <a:pt x="60661" y="156062"/>
                  <a:pt x="72285" y="158505"/>
                  <a:pt x="84536" y="158505"/>
                </a:cubicBezTo>
                <a:close/>
                <a:moveTo>
                  <a:pt x="42268" y="68686"/>
                </a:moveTo>
                <a:cubicBezTo>
                  <a:pt x="48100" y="68686"/>
                  <a:pt x="52835" y="73421"/>
                  <a:pt x="52835" y="79253"/>
                </a:cubicBezTo>
                <a:cubicBezTo>
                  <a:pt x="52835" y="85085"/>
                  <a:pt x="48100" y="89820"/>
                  <a:pt x="42268" y="89820"/>
                </a:cubicBezTo>
                <a:cubicBezTo>
                  <a:pt x="36436" y="89820"/>
                  <a:pt x="31701" y="85085"/>
                  <a:pt x="31701" y="79253"/>
                </a:cubicBezTo>
                <a:cubicBezTo>
                  <a:pt x="31701" y="73421"/>
                  <a:pt x="36436" y="68686"/>
                  <a:pt x="42268" y="68686"/>
                </a:cubicBezTo>
                <a:close/>
                <a:moveTo>
                  <a:pt x="84536" y="68686"/>
                </a:moveTo>
                <a:cubicBezTo>
                  <a:pt x="90368" y="68686"/>
                  <a:pt x="95103" y="73421"/>
                  <a:pt x="95103" y="79253"/>
                </a:cubicBezTo>
                <a:cubicBezTo>
                  <a:pt x="95103" y="85085"/>
                  <a:pt x="90368" y="89820"/>
                  <a:pt x="84536" y="89820"/>
                </a:cubicBezTo>
                <a:cubicBezTo>
                  <a:pt x="78704" y="89820"/>
                  <a:pt x="73969" y="85085"/>
                  <a:pt x="73969" y="79253"/>
                </a:cubicBezTo>
                <a:cubicBezTo>
                  <a:pt x="73969" y="73421"/>
                  <a:pt x="78704" y="68686"/>
                  <a:pt x="84536" y="68686"/>
                </a:cubicBezTo>
                <a:close/>
                <a:moveTo>
                  <a:pt x="116237" y="79253"/>
                </a:moveTo>
                <a:cubicBezTo>
                  <a:pt x="116237" y="73421"/>
                  <a:pt x="120972" y="68686"/>
                  <a:pt x="126804" y="68686"/>
                </a:cubicBezTo>
                <a:cubicBezTo>
                  <a:pt x="132636" y="68686"/>
                  <a:pt x="137371" y="73421"/>
                  <a:pt x="137371" y="79253"/>
                </a:cubicBezTo>
                <a:cubicBezTo>
                  <a:pt x="137371" y="85085"/>
                  <a:pt x="132636" y="89820"/>
                  <a:pt x="126804" y="89820"/>
                </a:cubicBezTo>
                <a:cubicBezTo>
                  <a:pt x="120972" y="89820"/>
                  <a:pt x="116237" y="85085"/>
                  <a:pt x="116237" y="79253"/>
                </a:cubicBezTo>
                <a:close/>
              </a:path>
            </a:pathLst>
          </a:custGeom>
          <a:solidFill>
            <a:srgbClr val="0A84FF"/>
          </a:solidFill>
          <a:ln/>
        </p:spPr>
      </p:sp>
      <p:sp>
        <p:nvSpPr>
          <p:cNvPr id="56" name="Text 54"/>
          <p:cNvSpPr/>
          <p:nvPr/>
        </p:nvSpPr>
        <p:spPr>
          <a:xfrm>
            <a:off x="787126" y="5793551"/>
            <a:ext cx="10914564" cy="263002"/>
          </a:xfrm>
          <a:prstGeom prst="rect">
            <a:avLst/>
          </a:prstGeom>
          <a:noFill/>
          <a:ln/>
        </p:spPr>
        <p:txBody>
          <a:bodyPr wrap="square" lIns="0" tIns="0" rIns="0" bIns="0" rtlCol="0" anchor="ctr"/>
          <a:lstStyle/>
          <a:p>
            <a:pPr>
              <a:lnSpc>
                <a:spcPct val="130000"/>
              </a:lnSpc>
            </a:pPr>
            <a:r>
              <a:rPr lang="en-US" sz="1331"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57" name="Text 55"/>
          <p:cNvSpPr/>
          <p:nvPr/>
        </p:nvSpPr>
        <p:spPr>
          <a:xfrm>
            <a:off x="571089" y="6169267"/>
            <a:ext cx="11121208" cy="488431"/>
          </a:xfrm>
          <a:prstGeom prst="rect">
            <a:avLst/>
          </a:prstGeom>
          <a:noFill/>
          <a:ln/>
        </p:spPr>
        <p:txBody>
          <a:bodyPr wrap="square" lIns="0" tIns="0" rIns="0" bIns="0" rtlCol="0" anchor="ctr"/>
          <a:lstStyle/>
          <a:p>
            <a:pPr>
              <a:lnSpc>
                <a:spcPct val="140000"/>
              </a:lnSpc>
            </a:pPr>
            <a:r>
              <a:rPr lang="en-US" sz="1183" dirty="0">
                <a:solidFill>
                  <a:srgbClr val="F5F5F7"/>
                </a:solidFill>
                <a:latin typeface="Quattrocento Sans" pitchFamily="34" charset="0"/>
                <a:ea typeface="Quattrocento Sans" pitchFamily="34" charset="-122"/>
                <a:cs typeface="Quattrocento Sans" pitchFamily="34" charset="-120"/>
              </a:rPr>
              <a:t>Learning mobile app development opens </a:t>
            </a:r>
            <a:pPr>
              <a:lnSpc>
                <a:spcPct val="140000"/>
              </a:lnSpc>
            </a:pPr>
            <a:r>
              <a:rPr lang="en-US" sz="1183" b="1" dirty="0">
                <a:solidFill>
                  <a:srgbClr val="34C759"/>
                </a:solidFill>
                <a:latin typeface="Quattrocento Sans" pitchFamily="34" charset="0"/>
                <a:ea typeface="Quattrocento Sans" pitchFamily="34" charset="-122"/>
                <a:cs typeface="Quattrocento Sans" pitchFamily="34" charset="-120"/>
              </a:rPr>
              <a:t>multiple career doors</a:t>
            </a:r>
            <a:pPr>
              <a:lnSpc>
                <a:spcPct val="140000"/>
              </a:lnSpc>
            </a:pPr>
            <a:r>
              <a:rPr lang="en-US" sz="1183" dirty="0">
                <a:solidFill>
                  <a:srgbClr val="F5F5F7"/>
                </a:solidFill>
                <a:latin typeface="Quattrocento Sans" pitchFamily="34" charset="0"/>
                <a:ea typeface="Quattrocento Sans" pitchFamily="34" charset="-122"/>
                <a:cs typeface="Quattrocento Sans" pitchFamily="34" charset="-120"/>
              </a:rPr>
              <a:t>. Whether you want a stable job at a big company, creative freedom as a freelancer, or to build your own startup, these skills are your foundation.</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FF9500"/>
          </a:solidFill>
          <a:ln/>
        </p:spPr>
      </p:sp>
      <p:sp>
        <p:nvSpPr>
          <p:cNvPr id="3" name="Text 1"/>
          <p:cNvSpPr/>
          <p:nvPr/>
        </p:nvSpPr>
        <p:spPr>
          <a:xfrm>
            <a:off x="490895" y="514350"/>
            <a:ext cx="352425" cy="304800"/>
          </a:xfrm>
          <a:prstGeom prst="rect">
            <a:avLst/>
          </a:prstGeom>
          <a:noFill/>
          <a:ln/>
        </p:spPr>
        <p:txBody>
          <a:bodyPr wrap="square" lIns="0" tIns="0" rIns="0" bIns="0" rtlCol="0" anchor="ctr"/>
          <a:lstStyle/>
          <a:p>
            <a:pPr>
              <a:lnSpc>
                <a:spcPct val="110000"/>
              </a:lnSpc>
            </a:pPr>
            <a:r>
              <a:rPr lang="en-US" sz="1800" b="1" dirty="0">
                <a:solidFill>
                  <a:srgbClr val="1D1D1F"/>
                </a:solidFill>
                <a:latin typeface="Liter" pitchFamily="34" charset="0"/>
                <a:ea typeface="Liter" pitchFamily="34" charset="-122"/>
                <a:cs typeface="Liter" pitchFamily="34" charset="-120"/>
              </a:rPr>
              <a:t>10</a:t>
            </a:r>
            <a:endParaRPr lang="en-US" sz="1600" dirty="0"/>
          </a:p>
        </p:txBody>
      </p:sp>
      <p:sp>
        <p:nvSpPr>
          <p:cNvPr id="4" name="Text 2"/>
          <p:cNvSpPr/>
          <p:nvPr/>
        </p:nvSpPr>
        <p:spPr>
          <a:xfrm>
            <a:off x="952500" y="381000"/>
            <a:ext cx="4838700" cy="190500"/>
          </a:xfrm>
          <a:prstGeom prst="rect">
            <a:avLst/>
          </a:prstGeom>
          <a:noFill/>
          <a:ln/>
        </p:spPr>
        <p:txBody>
          <a:bodyPr wrap="square" lIns="0" tIns="0" rIns="0" bIns="0" rtlCol="0" anchor="ctr"/>
          <a:lstStyle/>
          <a:p>
            <a:pPr>
              <a:lnSpc>
                <a:spcPct val="120000"/>
              </a:lnSpc>
            </a:pPr>
            <a:r>
              <a:rPr lang="en-US" sz="1050" b="1" spc="53" kern="0" dirty="0">
                <a:solidFill>
                  <a:srgbClr val="FF9500"/>
                </a:solidFill>
                <a:latin typeface="Quattrocento Sans" pitchFamily="34" charset="0"/>
                <a:ea typeface="Quattrocento Sans" pitchFamily="34" charset="-122"/>
                <a:cs typeface="Quattrocento Sans" pitchFamily="34" charset="-120"/>
              </a:rPr>
              <a:t>Importance of Mobile Development</a:t>
            </a:r>
            <a:endParaRPr lang="en-US" sz="1600" dirty="0"/>
          </a:p>
        </p:txBody>
      </p:sp>
      <p:sp>
        <p:nvSpPr>
          <p:cNvPr id="5" name="Text 3"/>
          <p:cNvSpPr/>
          <p:nvPr/>
        </p:nvSpPr>
        <p:spPr>
          <a:xfrm>
            <a:off x="952500" y="571500"/>
            <a:ext cx="4943475" cy="381000"/>
          </a:xfrm>
          <a:prstGeom prst="rect">
            <a:avLst/>
          </a:prstGeom>
          <a:noFill/>
          <a:ln/>
        </p:spPr>
        <p:txBody>
          <a:bodyPr wrap="square" lIns="0" tIns="0" rIns="0" bIns="0" rtlCol="0" anchor="ctr"/>
          <a:lstStyle/>
          <a:p>
            <a:pPr>
              <a:lnSpc>
                <a:spcPct val="90000"/>
              </a:lnSpc>
            </a:pPr>
            <a:r>
              <a:rPr lang="en-US" sz="2700" b="1" dirty="0">
                <a:solidFill>
                  <a:srgbClr val="F5F5F7"/>
                </a:solidFill>
                <a:latin typeface="Liter" pitchFamily="34" charset="0"/>
                <a:ea typeface="Liter" pitchFamily="34" charset="-122"/>
                <a:cs typeface="Liter" pitchFamily="34" charset="-120"/>
              </a:rPr>
              <a:t>Why Mobile Apps Matter Today</a:t>
            </a:r>
            <a:endParaRPr lang="en-US" sz="1600" dirty="0"/>
          </a:p>
        </p:txBody>
      </p:sp>
      <p:sp>
        <p:nvSpPr>
          <p:cNvPr id="6" name="Shape 4"/>
          <p:cNvSpPr/>
          <p:nvPr/>
        </p:nvSpPr>
        <p:spPr>
          <a:xfrm>
            <a:off x="400050" y="1257300"/>
            <a:ext cx="5581650" cy="3543300"/>
          </a:xfrm>
          <a:custGeom>
            <a:avLst/>
            <a:gdLst/>
            <a:ahLst/>
            <a:cxnLst/>
            <a:rect l="l" t="t" r="r" b="b"/>
            <a:pathLst>
              <a:path w="5581650" h="3543300">
                <a:moveTo>
                  <a:pt x="38100" y="0"/>
                </a:moveTo>
                <a:lnTo>
                  <a:pt x="5429250" y="0"/>
                </a:lnTo>
                <a:cubicBezTo>
                  <a:pt x="5513362" y="0"/>
                  <a:pt x="5581650" y="68288"/>
                  <a:pt x="5581650" y="152400"/>
                </a:cubicBezTo>
                <a:lnTo>
                  <a:pt x="5581650" y="3390900"/>
                </a:lnTo>
                <a:cubicBezTo>
                  <a:pt x="5581650" y="3475012"/>
                  <a:pt x="5513362" y="3543300"/>
                  <a:pt x="5429250" y="3543300"/>
                </a:cubicBezTo>
                <a:lnTo>
                  <a:pt x="38100" y="3543300"/>
                </a:lnTo>
                <a:cubicBezTo>
                  <a:pt x="17072" y="3543300"/>
                  <a:pt x="0" y="3526228"/>
                  <a:pt x="0" y="3505200"/>
                </a:cubicBezTo>
                <a:lnTo>
                  <a:pt x="0" y="38100"/>
                </a:lnTo>
                <a:cubicBezTo>
                  <a:pt x="0" y="17072"/>
                  <a:pt x="17072" y="0"/>
                  <a:pt x="38100" y="0"/>
                </a:cubicBezTo>
                <a:close/>
              </a:path>
            </a:pathLst>
          </a:custGeom>
          <a:solidFill>
            <a:srgbClr val="2C2C2E"/>
          </a:solidFill>
          <a:ln/>
        </p:spPr>
      </p:sp>
      <p:sp>
        <p:nvSpPr>
          <p:cNvPr id="7" name="Shape 5"/>
          <p:cNvSpPr/>
          <p:nvPr/>
        </p:nvSpPr>
        <p:spPr>
          <a:xfrm>
            <a:off x="400050" y="1257300"/>
            <a:ext cx="38100" cy="3543300"/>
          </a:xfrm>
          <a:custGeom>
            <a:avLst/>
            <a:gdLst/>
            <a:ahLst/>
            <a:cxnLst/>
            <a:rect l="l" t="t" r="r" b="b"/>
            <a:pathLst>
              <a:path w="38100" h="3543300">
                <a:moveTo>
                  <a:pt x="38100" y="0"/>
                </a:moveTo>
                <a:lnTo>
                  <a:pt x="38100" y="0"/>
                </a:lnTo>
                <a:lnTo>
                  <a:pt x="38100" y="3543300"/>
                </a:lnTo>
                <a:lnTo>
                  <a:pt x="38100" y="3543300"/>
                </a:lnTo>
                <a:cubicBezTo>
                  <a:pt x="17072" y="3543300"/>
                  <a:pt x="0" y="3526228"/>
                  <a:pt x="0" y="3505200"/>
                </a:cubicBezTo>
                <a:lnTo>
                  <a:pt x="0" y="38100"/>
                </a:lnTo>
                <a:cubicBezTo>
                  <a:pt x="0" y="17072"/>
                  <a:pt x="17072" y="0"/>
                  <a:pt x="38100" y="0"/>
                </a:cubicBezTo>
                <a:close/>
              </a:path>
            </a:pathLst>
          </a:custGeom>
          <a:solidFill>
            <a:srgbClr val="34C759"/>
          </a:solidFill>
          <a:ln/>
        </p:spPr>
      </p:sp>
      <p:sp>
        <p:nvSpPr>
          <p:cNvPr id="8" name="Shape 6"/>
          <p:cNvSpPr/>
          <p:nvPr/>
        </p:nvSpPr>
        <p:spPr>
          <a:xfrm>
            <a:off x="676275" y="1523884"/>
            <a:ext cx="228600" cy="228600"/>
          </a:xfrm>
          <a:custGeom>
            <a:avLst/>
            <a:gdLst/>
            <a:ahLst/>
            <a:cxnLst/>
            <a:rect l="l" t="t" r="r" b="b"/>
            <a:pathLst>
              <a:path w="228600" h="228600">
                <a:moveTo>
                  <a:pt x="28575" y="28575"/>
                </a:moveTo>
                <a:cubicBezTo>
                  <a:pt x="28575" y="20672"/>
                  <a:pt x="22190" y="14288"/>
                  <a:pt x="14288" y="14288"/>
                </a:cubicBezTo>
                <a:cubicBezTo>
                  <a:pt x="6385" y="14288"/>
                  <a:pt x="0" y="20672"/>
                  <a:pt x="0" y="28575"/>
                </a:cubicBezTo>
                <a:lnTo>
                  <a:pt x="0" y="178594"/>
                </a:lnTo>
                <a:cubicBezTo>
                  <a:pt x="0" y="198328"/>
                  <a:pt x="15984" y="214313"/>
                  <a:pt x="35719" y="214313"/>
                </a:cubicBezTo>
                <a:lnTo>
                  <a:pt x="214313" y="214313"/>
                </a:lnTo>
                <a:cubicBezTo>
                  <a:pt x="222215" y="214313"/>
                  <a:pt x="228600" y="207928"/>
                  <a:pt x="228600" y="200025"/>
                </a:cubicBezTo>
                <a:cubicBezTo>
                  <a:pt x="228600" y="192122"/>
                  <a:pt x="222215" y="185738"/>
                  <a:pt x="214313" y="185738"/>
                </a:cubicBezTo>
                <a:lnTo>
                  <a:pt x="35719" y="185738"/>
                </a:lnTo>
                <a:cubicBezTo>
                  <a:pt x="31790" y="185738"/>
                  <a:pt x="28575" y="182523"/>
                  <a:pt x="28575" y="178594"/>
                </a:cubicBezTo>
                <a:lnTo>
                  <a:pt x="28575" y="28575"/>
                </a:lnTo>
                <a:close/>
                <a:moveTo>
                  <a:pt x="210116" y="67241"/>
                </a:moveTo>
                <a:cubicBezTo>
                  <a:pt x="215697" y="61659"/>
                  <a:pt x="215697" y="52596"/>
                  <a:pt x="210116" y="47015"/>
                </a:cubicBezTo>
                <a:cubicBezTo>
                  <a:pt x="204534" y="41434"/>
                  <a:pt x="195471" y="41434"/>
                  <a:pt x="189890" y="47015"/>
                </a:cubicBezTo>
                <a:lnTo>
                  <a:pt x="142875" y="94074"/>
                </a:lnTo>
                <a:lnTo>
                  <a:pt x="117247" y="68491"/>
                </a:lnTo>
                <a:cubicBezTo>
                  <a:pt x="111666" y="62910"/>
                  <a:pt x="102602" y="62910"/>
                  <a:pt x="97021" y="68491"/>
                </a:cubicBezTo>
                <a:lnTo>
                  <a:pt x="54159" y="111353"/>
                </a:lnTo>
                <a:cubicBezTo>
                  <a:pt x="48578" y="116934"/>
                  <a:pt x="48578" y="125998"/>
                  <a:pt x="54159" y="131579"/>
                </a:cubicBezTo>
                <a:cubicBezTo>
                  <a:pt x="59740" y="137160"/>
                  <a:pt x="68803" y="137160"/>
                  <a:pt x="74384" y="131579"/>
                </a:cubicBezTo>
                <a:lnTo>
                  <a:pt x="107156" y="98807"/>
                </a:lnTo>
                <a:lnTo>
                  <a:pt x="132784" y="124435"/>
                </a:lnTo>
                <a:cubicBezTo>
                  <a:pt x="138366" y="130016"/>
                  <a:pt x="147429" y="130016"/>
                  <a:pt x="153010" y="124435"/>
                </a:cubicBezTo>
                <a:lnTo>
                  <a:pt x="210160" y="67285"/>
                </a:lnTo>
                <a:close/>
              </a:path>
            </a:pathLst>
          </a:custGeom>
          <a:solidFill>
            <a:srgbClr val="34C759"/>
          </a:solidFill>
          <a:ln/>
        </p:spPr>
      </p:sp>
      <p:sp>
        <p:nvSpPr>
          <p:cNvPr id="9" name="Text 7"/>
          <p:cNvSpPr/>
          <p:nvPr/>
        </p:nvSpPr>
        <p:spPr>
          <a:xfrm>
            <a:off x="933450" y="1485900"/>
            <a:ext cx="4933950" cy="304800"/>
          </a:xfrm>
          <a:prstGeom prst="rect">
            <a:avLst/>
          </a:prstGeom>
          <a:noFill/>
          <a:ln/>
        </p:spPr>
        <p:txBody>
          <a:bodyPr wrap="square" lIns="0" tIns="0" rIns="0" bIns="0" rtlCol="0" anchor="ctr"/>
          <a:lstStyle/>
          <a:p>
            <a:pPr>
              <a:lnSpc>
                <a:spcPct val="110000"/>
              </a:lnSpc>
            </a:pPr>
            <a:r>
              <a:rPr lang="en-US" sz="1800" b="1" dirty="0">
                <a:solidFill>
                  <a:srgbClr val="34C759"/>
                </a:solidFill>
                <a:latin typeface="Liter" pitchFamily="34" charset="0"/>
                <a:ea typeface="Liter" pitchFamily="34" charset="-122"/>
                <a:cs typeface="Liter" pitchFamily="34" charset="-120"/>
              </a:rPr>
              <a:t>By The Numbers</a:t>
            </a:r>
            <a:endParaRPr lang="en-US" sz="1600" dirty="0"/>
          </a:p>
        </p:txBody>
      </p:sp>
      <p:sp>
        <p:nvSpPr>
          <p:cNvPr id="10" name="Shape 8"/>
          <p:cNvSpPr/>
          <p:nvPr/>
        </p:nvSpPr>
        <p:spPr>
          <a:xfrm>
            <a:off x="647700" y="1981084"/>
            <a:ext cx="2476500" cy="1181100"/>
          </a:xfrm>
          <a:prstGeom prst="roundRect">
            <a:avLst>
              <a:gd name="adj" fmla="val 9677"/>
            </a:avLst>
          </a:prstGeom>
          <a:solidFill>
            <a:srgbClr val="1A1D21"/>
          </a:solidFill>
          <a:ln/>
        </p:spPr>
      </p:sp>
      <p:sp>
        <p:nvSpPr>
          <p:cNvPr id="11" name="Text 9"/>
          <p:cNvSpPr/>
          <p:nvPr/>
        </p:nvSpPr>
        <p:spPr>
          <a:xfrm>
            <a:off x="714375" y="2133484"/>
            <a:ext cx="2343150" cy="381000"/>
          </a:xfrm>
          <a:prstGeom prst="rect">
            <a:avLst/>
          </a:prstGeom>
          <a:noFill/>
          <a:ln/>
        </p:spPr>
        <p:txBody>
          <a:bodyPr wrap="square" lIns="0" tIns="0" rIns="0" bIns="0" rtlCol="0" anchor="ctr"/>
          <a:lstStyle/>
          <a:p>
            <a:pPr algn="ctr">
              <a:lnSpc>
                <a:spcPct val="90000"/>
              </a:lnSpc>
            </a:pPr>
            <a:r>
              <a:rPr lang="en-US" sz="2700" b="1" dirty="0">
                <a:solidFill>
                  <a:srgbClr val="34C759"/>
                </a:solidFill>
                <a:latin typeface="Liter" pitchFamily="34" charset="0"/>
                <a:ea typeface="Liter" pitchFamily="34" charset="-122"/>
                <a:cs typeface="Liter" pitchFamily="34" charset="-120"/>
              </a:rPr>
              <a:t>6.8B</a:t>
            </a:r>
            <a:endParaRPr lang="en-US" sz="1600" dirty="0"/>
          </a:p>
        </p:txBody>
      </p:sp>
      <p:sp>
        <p:nvSpPr>
          <p:cNvPr id="12" name="Text 10"/>
          <p:cNvSpPr/>
          <p:nvPr/>
        </p:nvSpPr>
        <p:spPr>
          <a:xfrm>
            <a:off x="762000" y="2590679"/>
            <a:ext cx="2247900" cy="228600"/>
          </a:xfrm>
          <a:prstGeom prst="rect">
            <a:avLst/>
          </a:prstGeom>
          <a:noFill/>
          <a:ln/>
        </p:spPr>
        <p:txBody>
          <a:bodyPr wrap="square" lIns="0" tIns="0" rIns="0" bIns="0" rtlCol="0" anchor="ctr"/>
          <a:lstStyle/>
          <a:p>
            <a:pPr algn="ct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Smartphone Users</a:t>
            </a:r>
            <a:endParaRPr lang="en-US" sz="1600" dirty="0"/>
          </a:p>
        </p:txBody>
      </p:sp>
      <p:sp>
        <p:nvSpPr>
          <p:cNvPr id="13" name="Text 11"/>
          <p:cNvSpPr/>
          <p:nvPr/>
        </p:nvSpPr>
        <p:spPr>
          <a:xfrm>
            <a:off x="766763" y="2819279"/>
            <a:ext cx="2238375" cy="190500"/>
          </a:xfrm>
          <a:prstGeom prst="rect">
            <a:avLst/>
          </a:prstGeom>
          <a:noFill/>
          <a:ln/>
        </p:spPr>
        <p:txBody>
          <a:bodyPr wrap="square" lIns="0" tIns="0" rIns="0" bIns="0" rtlCol="0" anchor="ctr"/>
          <a:lstStyle/>
          <a:p>
            <a:pPr algn="ctr">
              <a:lnSpc>
                <a:spcPct val="120000"/>
              </a:lnSpc>
            </a:pPr>
            <a:r>
              <a:rPr lang="en-US" sz="1050" dirty="0">
                <a:solidFill>
                  <a:srgbClr val="8E8E93"/>
                </a:solidFill>
                <a:latin typeface="Quattrocento Sans" pitchFamily="34" charset="0"/>
                <a:ea typeface="Quattrocento Sans" pitchFamily="34" charset="-122"/>
                <a:cs typeface="Quattrocento Sans" pitchFamily="34" charset="-120"/>
              </a:rPr>
              <a:t>Worldwide in 2026</a:t>
            </a:r>
            <a:endParaRPr lang="en-US" sz="1600" dirty="0"/>
          </a:p>
        </p:txBody>
      </p:sp>
      <p:sp>
        <p:nvSpPr>
          <p:cNvPr id="14" name="Shape 12"/>
          <p:cNvSpPr/>
          <p:nvPr/>
        </p:nvSpPr>
        <p:spPr>
          <a:xfrm>
            <a:off x="3276600" y="1981084"/>
            <a:ext cx="2476500" cy="1181100"/>
          </a:xfrm>
          <a:prstGeom prst="roundRect">
            <a:avLst>
              <a:gd name="adj" fmla="val 9677"/>
            </a:avLst>
          </a:prstGeom>
          <a:solidFill>
            <a:srgbClr val="1A1D21"/>
          </a:solidFill>
          <a:ln/>
        </p:spPr>
      </p:sp>
      <p:sp>
        <p:nvSpPr>
          <p:cNvPr id="15" name="Text 13"/>
          <p:cNvSpPr/>
          <p:nvPr/>
        </p:nvSpPr>
        <p:spPr>
          <a:xfrm>
            <a:off x="3343275" y="2133484"/>
            <a:ext cx="2343150" cy="381000"/>
          </a:xfrm>
          <a:prstGeom prst="rect">
            <a:avLst/>
          </a:prstGeom>
          <a:noFill/>
          <a:ln/>
        </p:spPr>
        <p:txBody>
          <a:bodyPr wrap="square" lIns="0" tIns="0" rIns="0" bIns="0" rtlCol="0" anchor="ctr"/>
          <a:lstStyle/>
          <a:p>
            <a:pPr algn="ctr">
              <a:lnSpc>
                <a:spcPct val="90000"/>
              </a:lnSpc>
            </a:pPr>
            <a:r>
              <a:rPr lang="en-US" sz="2700" b="1" dirty="0">
                <a:solidFill>
                  <a:srgbClr val="0A84FF"/>
                </a:solidFill>
                <a:latin typeface="Liter" pitchFamily="34" charset="0"/>
                <a:ea typeface="Liter" pitchFamily="34" charset="-122"/>
                <a:cs typeface="Liter" pitchFamily="34" charset="-120"/>
              </a:rPr>
              <a:t>4.5h</a:t>
            </a:r>
            <a:endParaRPr lang="en-US" sz="1600" dirty="0"/>
          </a:p>
        </p:txBody>
      </p:sp>
      <p:sp>
        <p:nvSpPr>
          <p:cNvPr id="16" name="Text 14"/>
          <p:cNvSpPr/>
          <p:nvPr/>
        </p:nvSpPr>
        <p:spPr>
          <a:xfrm>
            <a:off x="3390900" y="2590679"/>
            <a:ext cx="2247900" cy="228600"/>
          </a:xfrm>
          <a:prstGeom prst="rect">
            <a:avLst/>
          </a:prstGeom>
          <a:noFill/>
          <a:ln/>
        </p:spPr>
        <p:txBody>
          <a:bodyPr wrap="square" lIns="0" tIns="0" rIns="0" bIns="0" rtlCol="0" anchor="ctr"/>
          <a:lstStyle/>
          <a:p>
            <a:pPr algn="ct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Daily Screen Time</a:t>
            </a:r>
            <a:endParaRPr lang="en-US" sz="1600" dirty="0"/>
          </a:p>
        </p:txBody>
      </p:sp>
      <p:sp>
        <p:nvSpPr>
          <p:cNvPr id="17" name="Text 15"/>
          <p:cNvSpPr/>
          <p:nvPr/>
        </p:nvSpPr>
        <p:spPr>
          <a:xfrm>
            <a:off x="3395663" y="2819279"/>
            <a:ext cx="2238375" cy="190500"/>
          </a:xfrm>
          <a:prstGeom prst="rect">
            <a:avLst/>
          </a:prstGeom>
          <a:noFill/>
          <a:ln/>
        </p:spPr>
        <p:txBody>
          <a:bodyPr wrap="square" lIns="0" tIns="0" rIns="0" bIns="0" rtlCol="0" anchor="ctr"/>
          <a:lstStyle/>
          <a:p>
            <a:pPr algn="ctr">
              <a:lnSpc>
                <a:spcPct val="120000"/>
              </a:lnSpc>
            </a:pPr>
            <a:r>
              <a:rPr lang="en-US" sz="1050" dirty="0">
                <a:solidFill>
                  <a:srgbClr val="8E8E93"/>
                </a:solidFill>
                <a:latin typeface="Quattrocento Sans" pitchFamily="34" charset="0"/>
                <a:ea typeface="Quattrocento Sans" pitchFamily="34" charset="-122"/>
                <a:cs typeface="Quattrocento Sans" pitchFamily="34" charset="-120"/>
              </a:rPr>
              <a:t>Average per person</a:t>
            </a:r>
            <a:endParaRPr lang="en-US" sz="1600" dirty="0"/>
          </a:p>
        </p:txBody>
      </p:sp>
      <p:sp>
        <p:nvSpPr>
          <p:cNvPr id="18" name="Shape 16"/>
          <p:cNvSpPr/>
          <p:nvPr/>
        </p:nvSpPr>
        <p:spPr>
          <a:xfrm>
            <a:off x="647700" y="3314579"/>
            <a:ext cx="2476500" cy="1181100"/>
          </a:xfrm>
          <a:prstGeom prst="roundRect">
            <a:avLst>
              <a:gd name="adj" fmla="val 9677"/>
            </a:avLst>
          </a:prstGeom>
          <a:solidFill>
            <a:srgbClr val="1A1D21"/>
          </a:solidFill>
          <a:ln/>
        </p:spPr>
      </p:sp>
      <p:sp>
        <p:nvSpPr>
          <p:cNvPr id="19" name="Text 17"/>
          <p:cNvSpPr/>
          <p:nvPr/>
        </p:nvSpPr>
        <p:spPr>
          <a:xfrm>
            <a:off x="714375" y="3466979"/>
            <a:ext cx="2343150" cy="381000"/>
          </a:xfrm>
          <a:prstGeom prst="rect">
            <a:avLst/>
          </a:prstGeom>
          <a:noFill/>
          <a:ln/>
        </p:spPr>
        <p:txBody>
          <a:bodyPr wrap="square" lIns="0" tIns="0" rIns="0" bIns="0" rtlCol="0" anchor="ctr"/>
          <a:lstStyle/>
          <a:p>
            <a:pPr algn="ctr">
              <a:lnSpc>
                <a:spcPct val="90000"/>
              </a:lnSpc>
            </a:pPr>
            <a:r>
              <a:rPr lang="en-US" sz="2700" b="1" dirty="0">
                <a:solidFill>
                  <a:srgbClr val="FF9500"/>
                </a:solidFill>
                <a:latin typeface="Liter" pitchFamily="34" charset="0"/>
                <a:ea typeface="Liter" pitchFamily="34" charset="-122"/>
                <a:cs typeface="Liter" pitchFamily="34" charset="-120"/>
              </a:rPr>
              <a:t>250+</a:t>
            </a:r>
            <a:endParaRPr lang="en-US" sz="1600" dirty="0"/>
          </a:p>
        </p:txBody>
      </p:sp>
      <p:sp>
        <p:nvSpPr>
          <p:cNvPr id="20" name="Text 18"/>
          <p:cNvSpPr/>
          <p:nvPr/>
        </p:nvSpPr>
        <p:spPr>
          <a:xfrm>
            <a:off x="762000" y="3924179"/>
            <a:ext cx="2247900" cy="228600"/>
          </a:xfrm>
          <a:prstGeom prst="rect">
            <a:avLst/>
          </a:prstGeom>
          <a:noFill/>
          <a:ln/>
        </p:spPr>
        <p:txBody>
          <a:bodyPr wrap="square" lIns="0" tIns="0" rIns="0" bIns="0" rtlCol="0" anchor="ctr"/>
          <a:lstStyle/>
          <a:p>
            <a:pPr algn="ct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Apps Installed</a:t>
            </a:r>
            <a:endParaRPr lang="en-US" sz="1600" dirty="0"/>
          </a:p>
        </p:txBody>
      </p:sp>
      <p:sp>
        <p:nvSpPr>
          <p:cNvPr id="21" name="Text 19"/>
          <p:cNvSpPr/>
          <p:nvPr/>
        </p:nvSpPr>
        <p:spPr>
          <a:xfrm>
            <a:off x="766763" y="4152779"/>
            <a:ext cx="2238375" cy="190500"/>
          </a:xfrm>
          <a:prstGeom prst="rect">
            <a:avLst/>
          </a:prstGeom>
          <a:noFill/>
          <a:ln/>
        </p:spPr>
        <p:txBody>
          <a:bodyPr wrap="square" lIns="0" tIns="0" rIns="0" bIns="0" rtlCol="0" anchor="ctr"/>
          <a:lstStyle/>
          <a:p>
            <a:pPr algn="ctr">
              <a:lnSpc>
                <a:spcPct val="120000"/>
              </a:lnSpc>
            </a:pPr>
            <a:r>
              <a:rPr lang="en-US" sz="1050" dirty="0">
                <a:solidFill>
                  <a:srgbClr val="8E8E93"/>
                </a:solidFill>
                <a:latin typeface="Quattrocento Sans" pitchFamily="34" charset="0"/>
                <a:ea typeface="Quattrocento Sans" pitchFamily="34" charset="-122"/>
                <a:cs typeface="Quattrocento Sans" pitchFamily="34" charset="-120"/>
              </a:rPr>
              <a:t>Average per phone</a:t>
            </a:r>
            <a:endParaRPr lang="en-US" sz="1600" dirty="0"/>
          </a:p>
        </p:txBody>
      </p:sp>
      <p:sp>
        <p:nvSpPr>
          <p:cNvPr id="22" name="Shape 20"/>
          <p:cNvSpPr/>
          <p:nvPr/>
        </p:nvSpPr>
        <p:spPr>
          <a:xfrm>
            <a:off x="3276600" y="3314579"/>
            <a:ext cx="2476500" cy="1181100"/>
          </a:xfrm>
          <a:prstGeom prst="roundRect">
            <a:avLst>
              <a:gd name="adj" fmla="val 9677"/>
            </a:avLst>
          </a:prstGeom>
          <a:solidFill>
            <a:srgbClr val="1A1D21"/>
          </a:solidFill>
          <a:ln/>
        </p:spPr>
      </p:sp>
      <p:sp>
        <p:nvSpPr>
          <p:cNvPr id="23" name="Text 21"/>
          <p:cNvSpPr/>
          <p:nvPr/>
        </p:nvSpPr>
        <p:spPr>
          <a:xfrm>
            <a:off x="3343275" y="3466979"/>
            <a:ext cx="2343150" cy="381000"/>
          </a:xfrm>
          <a:prstGeom prst="rect">
            <a:avLst/>
          </a:prstGeom>
          <a:noFill/>
          <a:ln/>
        </p:spPr>
        <p:txBody>
          <a:bodyPr wrap="square" lIns="0" tIns="0" rIns="0" bIns="0" rtlCol="0" anchor="ctr"/>
          <a:lstStyle/>
          <a:p>
            <a:pPr algn="ctr">
              <a:lnSpc>
                <a:spcPct val="90000"/>
              </a:lnSpc>
            </a:pPr>
            <a:r>
              <a:rPr lang="en-US" sz="2700" b="1" dirty="0">
                <a:solidFill>
                  <a:srgbClr val="34C759"/>
                </a:solidFill>
                <a:latin typeface="Liter" pitchFamily="34" charset="0"/>
                <a:ea typeface="Liter" pitchFamily="34" charset="-122"/>
                <a:cs typeface="Liter" pitchFamily="34" charset="-120"/>
              </a:rPr>
              <a:t>$500B</a:t>
            </a:r>
            <a:endParaRPr lang="en-US" sz="1600" dirty="0"/>
          </a:p>
        </p:txBody>
      </p:sp>
      <p:sp>
        <p:nvSpPr>
          <p:cNvPr id="24" name="Text 22"/>
          <p:cNvSpPr/>
          <p:nvPr/>
        </p:nvSpPr>
        <p:spPr>
          <a:xfrm>
            <a:off x="3390900" y="3924179"/>
            <a:ext cx="2247900" cy="228600"/>
          </a:xfrm>
          <a:prstGeom prst="rect">
            <a:avLst/>
          </a:prstGeom>
          <a:noFill/>
          <a:ln/>
        </p:spPr>
        <p:txBody>
          <a:bodyPr wrap="square" lIns="0" tIns="0" rIns="0" bIns="0" rtlCol="0" anchor="ctr"/>
          <a:lstStyle/>
          <a:p>
            <a:pPr algn="ct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App Revenue</a:t>
            </a:r>
            <a:endParaRPr lang="en-US" sz="1600" dirty="0"/>
          </a:p>
        </p:txBody>
      </p:sp>
      <p:sp>
        <p:nvSpPr>
          <p:cNvPr id="25" name="Text 23"/>
          <p:cNvSpPr/>
          <p:nvPr/>
        </p:nvSpPr>
        <p:spPr>
          <a:xfrm>
            <a:off x="3395663" y="4152779"/>
            <a:ext cx="2238375" cy="190500"/>
          </a:xfrm>
          <a:prstGeom prst="rect">
            <a:avLst/>
          </a:prstGeom>
          <a:noFill/>
          <a:ln/>
        </p:spPr>
        <p:txBody>
          <a:bodyPr wrap="square" lIns="0" tIns="0" rIns="0" bIns="0" rtlCol="0" anchor="ctr"/>
          <a:lstStyle/>
          <a:p>
            <a:pPr algn="ctr">
              <a:lnSpc>
                <a:spcPct val="120000"/>
              </a:lnSpc>
            </a:pPr>
            <a:r>
              <a:rPr lang="en-US" sz="1050" dirty="0">
                <a:solidFill>
                  <a:srgbClr val="8E8E93"/>
                </a:solidFill>
                <a:latin typeface="Quattrocento Sans" pitchFamily="34" charset="0"/>
                <a:ea typeface="Quattrocento Sans" pitchFamily="34" charset="-122"/>
                <a:cs typeface="Quattrocento Sans" pitchFamily="34" charset="-120"/>
              </a:rPr>
              <a:t>Global market size</a:t>
            </a:r>
            <a:endParaRPr lang="en-US" sz="1600" dirty="0"/>
          </a:p>
        </p:txBody>
      </p:sp>
      <p:sp>
        <p:nvSpPr>
          <p:cNvPr id="26" name="Shape 24"/>
          <p:cNvSpPr/>
          <p:nvPr/>
        </p:nvSpPr>
        <p:spPr>
          <a:xfrm>
            <a:off x="384810" y="4960624"/>
            <a:ext cx="5589270" cy="1512570"/>
          </a:xfrm>
          <a:prstGeom prst="roundRect">
            <a:avLst>
              <a:gd name="adj" fmla="val 10076"/>
            </a:avLst>
          </a:prstGeom>
          <a:solidFill>
            <a:srgbClr val="0A84FF">
              <a:alpha val="10196"/>
            </a:srgbClr>
          </a:solidFill>
          <a:ln w="10160">
            <a:solidFill>
              <a:srgbClr val="0A84FF">
                <a:alpha val="30196"/>
              </a:srgbClr>
            </a:solidFill>
            <a:prstDash val="solid"/>
          </a:ln>
        </p:spPr>
      </p:sp>
      <p:sp>
        <p:nvSpPr>
          <p:cNvPr id="27" name="Shape 25"/>
          <p:cNvSpPr/>
          <p:nvPr/>
        </p:nvSpPr>
        <p:spPr>
          <a:xfrm>
            <a:off x="602932" y="5202557"/>
            <a:ext cx="171450" cy="171450"/>
          </a:xfrm>
          <a:custGeom>
            <a:avLst/>
            <a:gdLst/>
            <a:ahLst/>
            <a:cxnLst/>
            <a:rect l="l" t="t" r="r" b="b"/>
            <a:pathLst>
              <a:path w="171450" h="171450">
                <a:moveTo>
                  <a:pt x="85725" y="160734"/>
                </a:moveTo>
                <a:cubicBezTo>
                  <a:pt x="133075" y="160734"/>
                  <a:pt x="171450" y="124737"/>
                  <a:pt x="171450" y="80367"/>
                </a:cubicBezTo>
                <a:cubicBezTo>
                  <a:pt x="171450" y="35998"/>
                  <a:pt x="133075" y="0"/>
                  <a:pt x="85725" y="0"/>
                </a:cubicBezTo>
                <a:cubicBezTo>
                  <a:pt x="38375" y="0"/>
                  <a:pt x="0" y="35998"/>
                  <a:pt x="0" y="80367"/>
                </a:cubicBezTo>
                <a:cubicBezTo>
                  <a:pt x="0" y="98550"/>
                  <a:pt x="6429" y="115293"/>
                  <a:pt x="17279" y="128755"/>
                </a:cubicBezTo>
                <a:lnTo>
                  <a:pt x="938" y="159663"/>
                </a:lnTo>
                <a:cubicBezTo>
                  <a:pt x="-670" y="162677"/>
                  <a:pt x="-167" y="166360"/>
                  <a:pt x="2143" y="168872"/>
                </a:cubicBezTo>
                <a:cubicBezTo>
                  <a:pt x="4454" y="171383"/>
                  <a:pt x="8104" y="172153"/>
                  <a:pt x="11218" y="170814"/>
                </a:cubicBezTo>
                <a:lnTo>
                  <a:pt x="50866" y="153836"/>
                </a:lnTo>
                <a:cubicBezTo>
                  <a:pt x="61514" y="158256"/>
                  <a:pt x="73302" y="160734"/>
                  <a:pt x="85725" y="160734"/>
                </a:cubicBezTo>
                <a:close/>
                <a:moveTo>
                  <a:pt x="42863" y="69652"/>
                </a:moveTo>
                <a:cubicBezTo>
                  <a:pt x="48777" y="69652"/>
                  <a:pt x="53578" y="74453"/>
                  <a:pt x="53578" y="80367"/>
                </a:cubicBezTo>
                <a:cubicBezTo>
                  <a:pt x="53578" y="86281"/>
                  <a:pt x="48777" y="91083"/>
                  <a:pt x="42863" y="91083"/>
                </a:cubicBezTo>
                <a:cubicBezTo>
                  <a:pt x="36948" y="91083"/>
                  <a:pt x="32147" y="86281"/>
                  <a:pt x="32147" y="80367"/>
                </a:cubicBezTo>
                <a:cubicBezTo>
                  <a:pt x="32147" y="74453"/>
                  <a:pt x="36948" y="69652"/>
                  <a:pt x="42863" y="69652"/>
                </a:cubicBezTo>
                <a:close/>
                <a:moveTo>
                  <a:pt x="85725" y="69652"/>
                </a:moveTo>
                <a:cubicBezTo>
                  <a:pt x="91639" y="69652"/>
                  <a:pt x="96441" y="74453"/>
                  <a:pt x="96441" y="80367"/>
                </a:cubicBezTo>
                <a:cubicBezTo>
                  <a:pt x="96441" y="86281"/>
                  <a:pt x="91639" y="91083"/>
                  <a:pt x="85725" y="91083"/>
                </a:cubicBezTo>
                <a:cubicBezTo>
                  <a:pt x="79811" y="91083"/>
                  <a:pt x="75009" y="86281"/>
                  <a:pt x="75009" y="80367"/>
                </a:cubicBezTo>
                <a:cubicBezTo>
                  <a:pt x="75009" y="74453"/>
                  <a:pt x="79811" y="69652"/>
                  <a:pt x="85725" y="69652"/>
                </a:cubicBezTo>
                <a:close/>
                <a:moveTo>
                  <a:pt x="117872" y="80367"/>
                </a:moveTo>
                <a:cubicBezTo>
                  <a:pt x="117872" y="74453"/>
                  <a:pt x="122673" y="69652"/>
                  <a:pt x="128588" y="69652"/>
                </a:cubicBezTo>
                <a:cubicBezTo>
                  <a:pt x="134502" y="69652"/>
                  <a:pt x="139303" y="74453"/>
                  <a:pt x="139303" y="80367"/>
                </a:cubicBezTo>
                <a:cubicBezTo>
                  <a:pt x="139303" y="86281"/>
                  <a:pt x="134502" y="91083"/>
                  <a:pt x="128588" y="91083"/>
                </a:cubicBezTo>
                <a:cubicBezTo>
                  <a:pt x="122673" y="91083"/>
                  <a:pt x="117872" y="86281"/>
                  <a:pt x="117872" y="80367"/>
                </a:cubicBezTo>
                <a:close/>
              </a:path>
            </a:pathLst>
          </a:custGeom>
          <a:solidFill>
            <a:srgbClr val="0A84FF"/>
          </a:solidFill>
          <a:ln/>
        </p:spPr>
      </p:sp>
      <p:sp>
        <p:nvSpPr>
          <p:cNvPr id="28" name="Text 26"/>
          <p:cNvSpPr/>
          <p:nvPr/>
        </p:nvSpPr>
        <p:spPr>
          <a:xfrm>
            <a:off x="798195" y="5154932"/>
            <a:ext cx="5067300" cy="266700"/>
          </a:xfrm>
          <a:prstGeom prst="rect">
            <a:avLst/>
          </a:prstGeom>
          <a:noFill/>
          <a:ln/>
        </p:spPr>
        <p:txBody>
          <a:bodyPr wrap="square" lIns="0" tIns="0" rIns="0" bIns="0" rtlCol="0" anchor="ctr"/>
          <a:lstStyle/>
          <a:p>
            <a:pPr>
              <a:lnSpc>
                <a:spcPct val="130000"/>
              </a:lnSpc>
            </a:pPr>
            <a:r>
              <a:rPr lang="en-US" sz="1350"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29" name="Text 27"/>
          <p:cNvSpPr/>
          <p:nvPr/>
        </p:nvSpPr>
        <p:spPr>
          <a:xfrm>
            <a:off x="579120" y="5535932"/>
            <a:ext cx="5276850" cy="742950"/>
          </a:xfrm>
          <a:prstGeom prst="rect">
            <a:avLst/>
          </a:prstGeom>
          <a:noFill/>
          <a:ln/>
        </p:spPr>
        <p:txBody>
          <a:bodyPr wrap="square" lIns="0" tIns="0" rIns="0" bIns="0" rtlCol="0" anchor="ctr"/>
          <a:lstStyle/>
          <a:p>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Mobile apps are no longer just nice-to-have – they're </a:t>
            </a:r>
            <a:pPr>
              <a:lnSpc>
                <a:spcPct val="140000"/>
              </a:lnSpc>
            </a:pPr>
            <a:r>
              <a:rPr lang="en-US" sz="1200" b="1" dirty="0">
                <a:solidFill>
                  <a:srgbClr val="34C759"/>
                </a:solidFill>
                <a:latin typeface="Quattrocento Sans" pitchFamily="34" charset="0"/>
                <a:ea typeface="Quattrocento Sans" pitchFamily="34" charset="-122"/>
                <a:cs typeface="Quattrocento Sans" pitchFamily="34" charset="-120"/>
              </a:rPr>
              <a:t>essential</a:t>
            </a:r>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 With almost 7 billion people using smartphones, apps have become the primary way we communicate, shop, work, and entertain ourselves.</a:t>
            </a:r>
            <a:endParaRPr lang="en-US" sz="1600" dirty="0"/>
          </a:p>
        </p:txBody>
      </p:sp>
      <p:sp>
        <p:nvSpPr>
          <p:cNvPr id="30" name="Shape 28"/>
          <p:cNvSpPr/>
          <p:nvPr/>
        </p:nvSpPr>
        <p:spPr>
          <a:xfrm>
            <a:off x="6229350" y="1257300"/>
            <a:ext cx="5581650" cy="3771900"/>
          </a:xfrm>
          <a:custGeom>
            <a:avLst/>
            <a:gdLst/>
            <a:ahLst/>
            <a:cxnLst/>
            <a:rect l="l" t="t" r="r" b="b"/>
            <a:pathLst>
              <a:path w="5581650" h="3771900">
                <a:moveTo>
                  <a:pt x="38100" y="0"/>
                </a:moveTo>
                <a:lnTo>
                  <a:pt x="5429250" y="0"/>
                </a:lnTo>
                <a:cubicBezTo>
                  <a:pt x="5513362" y="0"/>
                  <a:pt x="5581650" y="68288"/>
                  <a:pt x="5581650" y="152400"/>
                </a:cubicBezTo>
                <a:lnTo>
                  <a:pt x="5581650" y="3619500"/>
                </a:lnTo>
                <a:cubicBezTo>
                  <a:pt x="5581650" y="3703612"/>
                  <a:pt x="5513362" y="3771900"/>
                  <a:pt x="5429250" y="3771900"/>
                </a:cubicBezTo>
                <a:lnTo>
                  <a:pt x="38100" y="3771900"/>
                </a:lnTo>
                <a:cubicBezTo>
                  <a:pt x="17072" y="3771900"/>
                  <a:pt x="0" y="3754828"/>
                  <a:pt x="0" y="3733800"/>
                </a:cubicBezTo>
                <a:lnTo>
                  <a:pt x="0" y="38100"/>
                </a:lnTo>
                <a:cubicBezTo>
                  <a:pt x="0" y="17072"/>
                  <a:pt x="17072" y="0"/>
                  <a:pt x="38100" y="0"/>
                </a:cubicBezTo>
                <a:close/>
              </a:path>
            </a:pathLst>
          </a:custGeom>
          <a:solidFill>
            <a:srgbClr val="2C2C2E"/>
          </a:solidFill>
          <a:ln/>
        </p:spPr>
      </p:sp>
      <p:sp>
        <p:nvSpPr>
          <p:cNvPr id="31" name="Shape 29"/>
          <p:cNvSpPr/>
          <p:nvPr/>
        </p:nvSpPr>
        <p:spPr>
          <a:xfrm>
            <a:off x="6229350" y="1257300"/>
            <a:ext cx="38100" cy="3771900"/>
          </a:xfrm>
          <a:custGeom>
            <a:avLst/>
            <a:gdLst/>
            <a:ahLst/>
            <a:cxnLst/>
            <a:rect l="l" t="t" r="r" b="b"/>
            <a:pathLst>
              <a:path w="38100" h="3771900">
                <a:moveTo>
                  <a:pt x="38100" y="0"/>
                </a:moveTo>
                <a:lnTo>
                  <a:pt x="38100" y="0"/>
                </a:lnTo>
                <a:lnTo>
                  <a:pt x="38100" y="3771900"/>
                </a:lnTo>
                <a:lnTo>
                  <a:pt x="38100" y="3771900"/>
                </a:lnTo>
                <a:cubicBezTo>
                  <a:pt x="17072" y="3771900"/>
                  <a:pt x="0" y="3754828"/>
                  <a:pt x="0" y="3733800"/>
                </a:cubicBezTo>
                <a:lnTo>
                  <a:pt x="0" y="38100"/>
                </a:lnTo>
                <a:cubicBezTo>
                  <a:pt x="0" y="17072"/>
                  <a:pt x="17072" y="0"/>
                  <a:pt x="38100" y="0"/>
                </a:cubicBezTo>
                <a:close/>
              </a:path>
            </a:pathLst>
          </a:custGeom>
          <a:solidFill>
            <a:srgbClr val="FF9500"/>
          </a:solidFill>
          <a:ln/>
        </p:spPr>
      </p:sp>
      <p:sp>
        <p:nvSpPr>
          <p:cNvPr id="32" name="Shape 30"/>
          <p:cNvSpPr/>
          <p:nvPr/>
        </p:nvSpPr>
        <p:spPr>
          <a:xfrm>
            <a:off x="6491288" y="1523884"/>
            <a:ext cx="257175" cy="228600"/>
          </a:xfrm>
          <a:custGeom>
            <a:avLst/>
            <a:gdLst/>
            <a:ahLst/>
            <a:cxnLst/>
            <a:rect l="l" t="t" r="r" b="b"/>
            <a:pathLst>
              <a:path w="257175" h="228600">
                <a:moveTo>
                  <a:pt x="138187" y="-8439"/>
                </a:moveTo>
                <a:cubicBezTo>
                  <a:pt x="136356" y="-12010"/>
                  <a:pt x="132651" y="-14287"/>
                  <a:pt x="128632" y="-14287"/>
                </a:cubicBezTo>
                <a:cubicBezTo>
                  <a:pt x="124614" y="-14287"/>
                  <a:pt x="120908" y="-12010"/>
                  <a:pt x="119077" y="-8439"/>
                </a:cubicBezTo>
                <a:lnTo>
                  <a:pt x="86216" y="55944"/>
                </a:lnTo>
                <a:lnTo>
                  <a:pt x="14823" y="67285"/>
                </a:lnTo>
                <a:cubicBezTo>
                  <a:pt x="10850" y="67910"/>
                  <a:pt x="7546" y="70723"/>
                  <a:pt x="6295" y="74563"/>
                </a:cubicBezTo>
                <a:cubicBezTo>
                  <a:pt x="5045" y="78403"/>
                  <a:pt x="6072" y="82600"/>
                  <a:pt x="8885" y="85457"/>
                </a:cubicBezTo>
                <a:lnTo>
                  <a:pt x="59963" y="136580"/>
                </a:lnTo>
                <a:lnTo>
                  <a:pt x="48711" y="207972"/>
                </a:lnTo>
                <a:cubicBezTo>
                  <a:pt x="48086" y="211946"/>
                  <a:pt x="49738" y="215964"/>
                  <a:pt x="52998" y="218331"/>
                </a:cubicBezTo>
                <a:cubicBezTo>
                  <a:pt x="56257" y="220697"/>
                  <a:pt x="60543" y="221054"/>
                  <a:pt x="64160" y="219224"/>
                </a:cubicBezTo>
                <a:lnTo>
                  <a:pt x="128632" y="186452"/>
                </a:lnTo>
                <a:lnTo>
                  <a:pt x="193060" y="219224"/>
                </a:lnTo>
                <a:cubicBezTo>
                  <a:pt x="196632" y="221054"/>
                  <a:pt x="200963" y="220697"/>
                  <a:pt x="204222" y="218331"/>
                </a:cubicBezTo>
                <a:cubicBezTo>
                  <a:pt x="207481" y="215964"/>
                  <a:pt x="209133" y="211991"/>
                  <a:pt x="208508" y="207972"/>
                </a:cubicBezTo>
                <a:lnTo>
                  <a:pt x="197212" y="136580"/>
                </a:lnTo>
                <a:lnTo>
                  <a:pt x="248290" y="85457"/>
                </a:lnTo>
                <a:cubicBezTo>
                  <a:pt x="251147" y="82600"/>
                  <a:pt x="252130" y="78403"/>
                  <a:pt x="250880" y="74563"/>
                </a:cubicBezTo>
                <a:cubicBezTo>
                  <a:pt x="249629" y="70723"/>
                  <a:pt x="246370" y="67910"/>
                  <a:pt x="242352" y="67285"/>
                </a:cubicBezTo>
                <a:lnTo>
                  <a:pt x="171004" y="55944"/>
                </a:lnTo>
                <a:lnTo>
                  <a:pt x="138187" y="-8439"/>
                </a:lnTo>
                <a:close/>
              </a:path>
            </a:pathLst>
          </a:custGeom>
          <a:solidFill>
            <a:srgbClr val="FF9500"/>
          </a:solidFill>
          <a:ln/>
        </p:spPr>
      </p:sp>
      <p:sp>
        <p:nvSpPr>
          <p:cNvPr id="33" name="Text 31"/>
          <p:cNvSpPr/>
          <p:nvPr/>
        </p:nvSpPr>
        <p:spPr>
          <a:xfrm>
            <a:off x="6762750" y="1485900"/>
            <a:ext cx="4933950" cy="304800"/>
          </a:xfrm>
          <a:prstGeom prst="rect">
            <a:avLst/>
          </a:prstGeom>
          <a:noFill/>
          <a:ln/>
        </p:spPr>
        <p:txBody>
          <a:bodyPr wrap="square" lIns="0" tIns="0" rIns="0" bIns="0" rtlCol="0" anchor="ctr"/>
          <a:lstStyle/>
          <a:p>
            <a:pPr>
              <a:lnSpc>
                <a:spcPct val="110000"/>
              </a:lnSpc>
            </a:pPr>
            <a:r>
              <a:rPr lang="en-US" sz="1800" b="1" dirty="0">
                <a:solidFill>
                  <a:srgbClr val="FF9500"/>
                </a:solidFill>
                <a:latin typeface="Liter" pitchFamily="34" charset="0"/>
                <a:ea typeface="Liter" pitchFamily="34" charset="-122"/>
                <a:cs typeface="Liter" pitchFamily="34" charset="-120"/>
              </a:rPr>
              <a:t>Key Points</a:t>
            </a:r>
            <a:endParaRPr lang="en-US" sz="1600" dirty="0"/>
          </a:p>
        </p:txBody>
      </p:sp>
      <p:sp>
        <p:nvSpPr>
          <p:cNvPr id="34" name="Shape 32"/>
          <p:cNvSpPr/>
          <p:nvPr/>
        </p:nvSpPr>
        <p:spPr>
          <a:xfrm>
            <a:off x="6477000" y="2000134"/>
            <a:ext cx="304800" cy="304800"/>
          </a:xfrm>
          <a:prstGeom prst="roundRect">
            <a:avLst>
              <a:gd name="adj" fmla="val 25000"/>
            </a:avLst>
          </a:prstGeom>
          <a:solidFill>
            <a:srgbClr val="34C759"/>
          </a:solidFill>
          <a:ln/>
        </p:spPr>
      </p:sp>
      <p:sp>
        <p:nvSpPr>
          <p:cNvPr id="35" name="Shape 33"/>
          <p:cNvSpPr/>
          <p:nvPr/>
        </p:nvSpPr>
        <p:spPr>
          <a:xfrm>
            <a:off x="6548438" y="2085859"/>
            <a:ext cx="166688" cy="133350"/>
          </a:xfrm>
          <a:custGeom>
            <a:avLst/>
            <a:gdLst/>
            <a:ahLst/>
            <a:cxnLst/>
            <a:rect l="l" t="t" r="r" b="b"/>
            <a:pathLst>
              <a:path w="166688" h="133350">
                <a:moveTo>
                  <a:pt x="83344" y="4167"/>
                </a:moveTo>
                <a:cubicBezTo>
                  <a:pt x="98293" y="4167"/>
                  <a:pt x="110430" y="16304"/>
                  <a:pt x="110430" y="31254"/>
                </a:cubicBezTo>
                <a:cubicBezTo>
                  <a:pt x="110430" y="46203"/>
                  <a:pt x="98293" y="58341"/>
                  <a:pt x="83344" y="58341"/>
                </a:cubicBezTo>
                <a:cubicBezTo>
                  <a:pt x="68394" y="58341"/>
                  <a:pt x="56257" y="46203"/>
                  <a:pt x="56257" y="31254"/>
                </a:cubicBezTo>
                <a:cubicBezTo>
                  <a:pt x="56257" y="16304"/>
                  <a:pt x="68394" y="4167"/>
                  <a:pt x="83344" y="4167"/>
                </a:cubicBezTo>
                <a:close/>
                <a:moveTo>
                  <a:pt x="25003" y="22920"/>
                </a:moveTo>
                <a:cubicBezTo>
                  <a:pt x="35353" y="22920"/>
                  <a:pt x="43755" y="31322"/>
                  <a:pt x="43755" y="41672"/>
                </a:cubicBezTo>
                <a:cubicBezTo>
                  <a:pt x="43755" y="52022"/>
                  <a:pt x="35353" y="60424"/>
                  <a:pt x="25003" y="60424"/>
                </a:cubicBezTo>
                <a:cubicBezTo>
                  <a:pt x="14653" y="60424"/>
                  <a:pt x="6251" y="52022"/>
                  <a:pt x="6251" y="41672"/>
                </a:cubicBezTo>
                <a:cubicBezTo>
                  <a:pt x="6251" y="31322"/>
                  <a:pt x="14653" y="22920"/>
                  <a:pt x="25003" y="22920"/>
                </a:cubicBezTo>
                <a:close/>
                <a:moveTo>
                  <a:pt x="0" y="108347"/>
                </a:moveTo>
                <a:cubicBezTo>
                  <a:pt x="0" y="89933"/>
                  <a:pt x="14924" y="75009"/>
                  <a:pt x="33337" y="75009"/>
                </a:cubicBezTo>
                <a:cubicBezTo>
                  <a:pt x="36671" y="75009"/>
                  <a:pt x="39901" y="75504"/>
                  <a:pt x="42948" y="76416"/>
                </a:cubicBezTo>
                <a:cubicBezTo>
                  <a:pt x="34379" y="86000"/>
                  <a:pt x="29170" y="98658"/>
                  <a:pt x="29170" y="112514"/>
                </a:cubicBezTo>
                <a:lnTo>
                  <a:pt x="29170" y="116681"/>
                </a:lnTo>
                <a:cubicBezTo>
                  <a:pt x="29170" y="119650"/>
                  <a:pt x="29795" y="122463"/>
                  <a:pt x="30915" y="125016"/>
                </a:cubicBezTo>
                <a:lnTo>
                  <a:pt x="8334" y="125016"/>
                </a:lnTo>
                <a:cubicBezTo>
                  <a:pt x="3724" y="125016"/>
                  <a:pt x="0" y="121291"/>
                  <a:pt x="0" y="116681"/>
                </a:cubicBezTo>
                <a:lnTo>
                  <a:pt x="0" y="108347"/>
                </a:lnTo>
                <a:close/>
                <a:moveTo>
                  <a:pt x="135772" y="125016"/>
                </a:moveTo>
                <a:cubicBezTo>
                  <a:pt x="136892" y="122463"/>
                  <a:pt x="137517" y="119650"/>
                  <a:pt x="137517" y="116681"/>
                </a:cubicBezTo>
                <a:lnTo>
                  <a:pt x="137517" y="112514"/>
                </a:lnTo>
                <a:cubicBezTo>
                  <a:pt x="137517" y="98658"/>
                  <a:pt x="132308" y="86000"/>
                  <a:pt x="123739" y="76416"/>
                </a:cubicBezTo>
                <a:cubicBezTo>
                  <a:pt x="126787" y="75504"/>
                  <a:pt x="130016" y="75009"/>
                  <a:pt x="133350" y="75009"/>
                </a:cubicBezTo>
                <a:cubicBezTo>
                  <a:pt x="151764" y="75009"/>
                  <a:pt x="166688" y="89933"/>
                  <a:pt x="166688" y="108347"/>
                </a:cubicBezTo>
                <a:lnTo>
                  <a:pt x="166688" y="116681"/>
                </a:lnTo>
                <a:cubicBezTo>
                  <a:pt x="166688" y="121291"/>
                  <a:pt x="162963" y="125016"/>
                  <a:pt x="158353" y="125016"/>
                </a:cubicBezTo>
                <a:lnTo>
                  <a:pt x="135772" y="125016"/>
                </a:lnTo>
                <a:close/>
                <a:moveTo>
                  <a:pt x="122932" y="41672"/>
                </a:moveTo>
                <a:cubicBezTo>
                  <a:pt x="122932" y="31322"/>
                  <a:pt x="131335" y="22920"/>
                  <a:pt x="141684" y="22920"/>
                </a:cubicBezTo>
                <a:cubicBezTo>
                  <a:pt x="152034" y="22920"/>
                  <a:pt x="160437" y="31322"/>
                  <a:pt x="160437" y="41672"/>
                </a:cubicBezTo>
                <a:cubicBezTo>
                  <a:pt x="160437" y="52022"/>
                  <a:pt x="152034" y="60424"/>
                  <a:pt x="141684" y="60424"/>
                </a:cubicBezTo>
                <a:cubicBezTo>
                  <a:pt x="131335" y="60424"/>
                  <a:pt x="122932" y="52022"/>
                  <a:pt x="122932" y="41672"/>
                </a:cubicBezTo>
                <a:close/>
                <a:moveTo>
                  <a:pt x="41672" y="112514"/>
                </a:moveTo>
                <a:cubicBezTo>
                  <a:pt x="41672" y="89490"/>
                  <a:pt x="60320" y="70842"/>
                  <a:pt x="83344" y="70842"/>
                </a:cubicBezTo>
                <a:cubicBezTo>
                  <a:pt x="106367" y="70842"/>
                  <a:pt x="125016" y="89490"/>
                  <a:pt x="125016" y="112514"/>
                </a:cubicBezTo>
                <a:lnTo>
                  <a:pt x="125016" y="116681"/>
                </a:lnTo>
                <a:cubicBezTo>
                  <a:pt x="125016" y="121291"/>
                  <a:pt x="121291" y="125016"/>
                  <a:pt x="116681" y="125016"/>
                </a:cubicBezTo>
                <a:lnTo>
                  <a:pt x="50006" y="125016"/>
                </a:lnTo>
                <a:cubicBezTo>
                  <a:pt x="45396" y="125016"/>
                  <a:pt x="41672" y="121291"/>
                  <a:pt x="41672" y="116681"/>
                </a:cubicBezTo>
                <a:lnTo>
                  <a:pt x="41672" y="112514"/>
                </a:lnTo>
                <a:close/>
              </a:path>
            </a:pathLst>
          </a:custGeom>
          <a:solidFill>
            <a:srgbClr val="1D1D1F"/>
          </a:solidFill>
          <a:ln/>
        </p:spPr>
      </p:sp>
      <p:sp>
        <p:nvSpPr>
          <p:cNvPr id="36" name="Text 34"/>
          <p:cNvSpPr/>
          <p:nvPr/>
        </p:nvSpPr>
        <p:spPr>
          <a:xfrm>
            <a:off x="6896100" y="1981084"/>
            <a:ext cx="4114800" cy="228600"/>
          </a:xfrm>
          <a:prstGeom prst="rect">
            <a:avLst/>
          </a:prstGeom>
          <a:noFill/>
          <a:ln/>
        </p:spPr>
        <p:txBody>
          <a:bodyPr wrap="square" lIns="0" tIns="0" rIns="0" bIns="0" rtlCol="0" anchor="ctr"/>
          <a:lstStyle/>
          <a:p>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Everyone has a smartphone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 your potential audience is huge</a:t>
            </a:r>
            <a:endParaRPr lang="en-US" sz="1600" dirty="0"/>
          </a:p>
        </p:txBody>
      </p:sp>
      <p:sp>
        <p:nvSpPr>
          <p:cNvPr id="37" name="Shape 35"/>
          <p:cNvSpPr/>
          <p:nvPr/>
        </p:nvSpPr>
        <p:spPr>
          <a:xfrm>
            <a:off x="6477000" y="2438279"/>
            <a:ext cx="304800" cy="304800"/>
          </a:xfrm>
          <a:prstGeom prst="roundRect">
            <a:avLst>
              <a:gd name="adj" fmla="val 25000"/>
            </a:avLst>
          </a:prstGeom>
          <a:solidFill>
            <a:srgbClr val="0A84FF"/>
          </a:solidFill>
          <a:ln/>
        </p:spPr>
      </p:sp>
      <p:sp>
        <p:nvSpPr>
          <p:cNvPr id="38" name="Shape 36"/>
          <p:cNvSpPr/>
          <p:nvPr/>
        </p:nvSpPr>
        <p:spPr>
          <a:xfrm>
            <a:off x="6565106" y="2524004"/>
            <a:ext cx="133350" cy="133350"/>
          </a:xfrm>
          <a:custGeom>
            <a:avLst/>
            <a:gdLst/>
            <a:ahLst/>
            <a:cxnLst/>
            <a:rect l="l" t="t" r="r" b="b"/>
            <a:pathLst>
              <a:path w="133350" h="133350">
                <a:moveTo>
                  <a:pt x="66675" y="0"/>
                </a:moveTo>
                <a:cubicBezTo>
                  <a:pt x="103474" y="0"/>
                  <a:pt x="133350" y="29876"/>
                  <a:pt x="133350" y="66675"/>
                </a:cubicBezTo>
                <a:cubicBezTo>
                  <a:pt x="133350" y="103474"/>
                  <a:pt x="103474" y="133350"/>
                  <a:pt x="66675" y="133350"/>
                </a:cubicBezTo>
                <a:cubicBezTo>
                  <a:pt x="29876" y="133350"/>
                  <a:pt x="0" y="103474"/>
                  <a:pt x="0" y="66675"/>
                </a:cubicBezTo>
                <a:cubicBezTo>
                  <a:pt x="0" y="29876"/>
                  <a:pt x="29876" y="0"/>
                  <a:pt x="66675" y="0"/>
                </a:cubicBezTo>
                <a:close/>
                <a:moveTo>
                  <a:pt x="60424" y="31254"/>
                </a:moveTo>
                <a:lnTo>
                  <a:pt x="60424" y="66675"/>
                </a:lnTo>
                <a:cubicBezTo>
                  <a:pt x="60424" y="68759"/>
                  <a:pt x="61466" y="70712"/>
                  <a:pt x="63211" y="71884"/>
                </a:cubicBezTo>
                <a:lnTo>
                  <a:pt x="88214" y="88553"/>
                </a:lnTo>
                <a:cubicBezTo>
                  <a:pt x="91079" y="90480"/>
                  <a:pt x="94960" y="89699"/>
                  <a:pt x="96887" y="86808"/>
                </a:cubicBezTo>
                <a:cubicBezTo>
                  <a:pt x="98814" y="83917"/>
                  <a:pt x="98033" y="80062"/>
                  <a:pt x="95142" y="78135"/>
                </a:cubicBezTo>
                <a:lnTo>
                  <a:pt x="72926" y="63341"/>
                </a:lnTo>
                <a:lnTo>
                  <a:pt x="72926" y="31254"/>
                </a:lnTo>
                <a:cubicBezTo>
                  <a:pt x="72926" y="27790"/>
                  <a:pt x="70139" y="25003"/>
                  <a:pt x="66675" y="25003"/>
                </a:cubicBezTo>
                <a:cubicBezTo>
                  <a:pt x="63211" y="25003"/>
                  <a:pt x="60424" y="27790"/>
                  <a:pt x="60424" y="31254"/>
                </a:cubicBezTo>
                <a:close/>
              </a:path>
            </a:pathLst>
          </a:custGeom>
          <a:solidFill>
            <a:srgbClr val="FFFFFF"/>
          </a:solidFill>
          <a:ln/>
        </p:spPr>
      </p:sp>
      <p:sp>
        <p:nvSpPr>
          <p:cNvPr id="39" name="Text 37"/>
          <p:cNvSpPr/>
          <p:nvPr/>
        </p:nvSpPr>
        <p:spPr>
          <a:xfrm>
            <a:off x="6896100" y="2419229"/>
            <a:ext cx="29718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People spend </a:t>
            </a:r>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4+ hours daily</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on mobile apps</a:t>
            </a:r>
            <a:endParaRPr lang="en-US" sz="1600" dirty="0"/>
          </a:p>
        </p:txBody>
      </p:sp>
      <p:sp>
        <p:nvSpPr>
          <p:cNvPr id="40" name="Shape 38"/>
          <p:cNvSpPr/>
          <p:nvPr/>
        </p:nvSpPr>
        <p:spPr>
          <a:xfrm>
            <a:off x="6477000" y="2876429"/>
            <a:ext cx="304800" cy="304800"/>
          </a:xfrm>
          <a:prstGeom prst="roundRect">
            <a:avLst>
              <a:gd name="adj" fmla="val 25000"/>
            </a:avLst>
          </a:prstGeom>
          <a:solidFill>
            <a:srgbClr val="FF9500"/>
          </a:solidFill>
          <a:ln/>
        </p:spPr>
      </p:sp>
      <p:sp>
        <p:nvSpPr>
          <p:cNvPr id="41" name="Shape 39"/>
          <p:cNvSpPr/>
          <p:nvPr/>
        </p:nvSpPr>
        <p:spPr>
          <a:xfrm>
            <a:off x="6548438" y="2962154"/>
            <a:ext cx="166688" cy="133350"/>
          </a:xfrm>
          <a:custGeom>
            <a:avLst/>
            <a:gdLst/>
            <a:ahLst/>
            <a:cxnLst/>
            <a:rect l="l" t="t" r="r" b="b"/>
            <a:pathLst>
              <a:path w="166688" h="133350">
                <a:moveTo>
                  <a:pt x="6251" y="-4167"/>
                </a:moveTo>
                <a:cubicBezTo>
                  <a:pt x="2787" y="-4167"/>
                  <a:pt x="0" y="-1380"/>
                  <a:pt x="0" y="2084"/>
                </a:cubicBezTo>
                <a:cubicBezTo>
                  <a:pt x="0" y="5548"/>
                  <a:pt x="2787" y="8334"/>
                  <a:pt x="6251" y="8334"/>
                </a:cubicBezTo>
                <a:lnTo>
                  <a:pt x="18049" y="8334"/>
                </a:lnTo>
                <a:cubicBezTo>
                  <a:pt x="19065" y="8334"/>
                  <a:pt x="19924" y="9064"/>
                  <a:pt x="20107" y="10053"/>
                </a:cubicBezTo>
                <a:lnTo>
                  <a:pt x="33676" y="84620"/>
                </a:lnTo>
                <a:cubicBezTo>
                  <a:pt x="35291" y="93527"/>
                  <a:pt x="43052" y="100013"/>
                  <a:pt x="52116" y="100013"/>
                </a:cubicBezTo>
                <a:lnTo>
                  <a:pt x="118765" y="100013"/>
                </a:lnTo>
                <a:cubicBezTo>
                  <a:pt x="122229" y="100013"/>
                  <a:pt x="125016" y="97226"/>
                  <a:pt x="125016" y="93762"/>
                </a:cubicBezTo>
                <a:cubicBezTo>
                  <a:pt x="125016" y="90298"/>
                  <a:pt x="122229" y="87511"/>
                  <a:pt x="118765" y="87511"/>
                </a:cubicBezTo>
                <a:lnTo>
                  <a:pt x="52116" y="87511"/>
                </a:lnTo>
                <a:cubicBezTo>
                  <a:pt x="49095" y="87511"/>
                  <a:pt x="46516" y="85349"/>
                  <a:pt x="45969" y="82380"/>
                </a:cubicBezTo>
                <a:lnTo>
                  <a:pt x="44641" y="75009"/>
                </a:lnTo>
                <a:lnTo>
                  <a:pt x="123713" y="75009"/>
                </a:lnTo>
                <a:cubicBezTo>
                  <a:pt x="131735" y="75009"/>
                  <a:pt x="138611" y="69306"/>
                  <a:pt x="140096" y="61414"/>
                </a:cubicBezTo>
                <a:lnTo>
                  <a:pt x="148170" y="18205"/>
                </a:lnTo>
                <a:cubicBezTo>
                  <a:pt x="149133" y="13075"/>
                  <a:pt x="145200" y="8334"/>
                  <a:pt x="139965" y="8334"/>
                </a:cubicBezTo>
                <a:lnTo>
                  <a:pt x="32478" y="8334"/>
                </a:lnTo>
                <a:lnTo>
                  <a:pt x="32374" y="7813"/>
                </a:lnTo>
                <a:cubicBezTo>
                  <a:pt x="31124" y="886"/>
                  <a:pt x="25081" y="-4167"/>
                  <a:pt x="18023" y="-4167"/>
                </a:cubicBezTo>
                <a:lnTo>
                  <a:pt x="6251" y="-4167"/>
                </a:lnTo>
                <a:close/>
                <a:moveTo>
                  <a:pt x="54173" y="133350"/>
                </a:moveTo>
                <a:cubicBezTo>
                  <a:pt x="61073" y="133350"/>
                  <a:pt x="66675" y="127748"/>
                  <a:pt x="66675" y="120848"/>
                </a:cubicBezTo>
                <a:cubicBezTo>
                  <a:pt x="66675" y="113949"/>
                  <a:pt x="61073" y="108347"/>
                  <a:pt x="54173" y="108347"/>
                </a:cubicBezTo>
                <a:cubicBezTo>
                  <a:pt x="47274" y="108347"/>
                  <a:pt x="41672" y="113949"/>
                  <a:pt x="41672" y="120848"/>
                </a:cubicBezTo>
                <a:cubicBezTo>
                  <a:pt x="41672" y="127748"/>
                  <a:pt x="47274" y="133350"/>
                  <a:pt x="54173" y="133350"/>
                </a:cubicBezTo>
                <a:close/>
                <a:moveTo>
                  <a:pt x="112514" y="133350"/>
                </a:moveTo>
                <a:cubicBezTo>
                  <a:pt x="119414" y="133350"/>
                  <a:pt x="125016" y="127748"/>
                  <a:pt x="125016" y="120848"/>
                </a:cubicBezTo>
                <a:cubicBezTo>
                  <a:pt x="125016" y="113949"/>
                  <a:pt x="119414" y="108347"/>
                  <a:pt x="112514" y="108347"/>
                </a:cubicBezTo>
                <a:cubicBezTo>
                  <a:pt x="105614" y="108347"/>
                  <a:pt x="100013" y="113949"/>
                  <a:pt x="100013" y="120848"/>
                </a:cubicBezTo>
                <a:cubicBezTo>
                  <a:pt x="100013" y="127748"/>
                  <a:pt x="105614" y="133350"/>
                  <a:pt x="112514" y="133350"/>
                </a:cubicBezTo>
                <a:close/>
              </a:path>
            </a:pathLst>
          </a:custGeom>
          <a:solidFill>
            <a:srgbClr val="FFFFFF"/>
          </a:solidFill>
          <a:ln/>
        </p:spPr>
      </p:sp>
      <p:sp>
        <p:nvSpPr>
          <p:cNvPr id="42" name="Text 40"/>
          <p:cNvSpPr/>
          <p:nvPr/>
        </p:nvSpPr>
        <p:spPr>
          <a:xfrm>
            <a:off x="6896100" y="2857379"/>
            <a:ext cx="2486025" cy="228600"/>
          </a:xfrm>
          <a:prstGeom prst="rect">
            <a:avLst/>
          </a:prstGeom>
          <a:noFill/>
          <a:ln/>
        </p:spPr>
        <p:txBody>
          <a:bodyPr wrap="square" lIns="0" tIns="0" rIns="0" bIns="0" rtlCol="0" anchor="ctr"/>
          <a:lstStyle/>
          <a:p>
            <a:pPr>
              <a:lnSpc>
                <a:spcPct val="130000"/>
              </a:lnSpc>
            </a:pPr>
            <a:r>
              <a:rPr lang="en-US" sz="1200" b="1" dirty="0">
                <a:solidFill>
                  <a:srgbClr val="FF9500"/>
                </a:solidFill>
                <a:latin typeface="Quattrocento Sans" pitchFamily="34" charset="0"/>
                <a:ea typeface="Quattrocento Sans" pitchFamily="34" charset="-122"/>
                <a:cs typeface="Quattrocento Sans" pitchFamily="34" charset="-120"/>
              </a:rPr>
              <a:t>Mobile commerce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is growing rapidly</a:t>
            </a:r>
            <a:endParaRPr lang="en-US" sz="1600" dirty="0"/>
          </a:p>
        </p:txBody>
      </p:sp>
      <p:sp>
        <p:nvSpPr>
          <p:cNvPr id="43" name="Shape 41"/>
          <p:cNvSpPr/>
          <p:nvPr/>
        </p:nvSpPr>
        <p:spPr>
          <a:xfrm>
            <a:off x="6477000" y="3314579"/>
            <a:ext cx="304800" cy="304800"/>
          </a:xfrm>
          <a:prstGeom prst="roundRect">
            <a:avLst>
              <a:gd name="adj" fmla="val 25000"/>
            </a:avLst>
          </a:prstGeom>
          <a:solidFill>
            <a:srgbClr val="34C759"/>
          </a:solidFill>
          <a:ln/>
        </p:spPr>
      </p:sp>
      <p:sp>
        <p:nvSpPr>
          <p:cNvPr id="44" name="Shape 42"/>
          <p:cNvSpPr/>
          <p:nvPr/>
        </p:nvSpPr>
        <p:spPr>
          <a:xfrm>
            <a:off x="6565106" y="3400304"/>
            <a:ext cx="133350" cy="133350"/>
          </a:xfrm>
          <a:custGeom>
            <a:avLst/>
            <a:gdLst/>
            <a:ahLst/>
            <a:cxnLst/>
            <a:rect l="l" t="t" r="r" b="b"/>
            <a:pathLst>
              <a:path w="133350" h="133350">
                <a:moveTo>
                  <a:pt x="52090" y="12502"/>
                </a:moveTo>
                <a:lnTo>
                  <a:pt x="81260" y="12502"/>
                </a:lnTo>
                <a:cubicBezTo>
                  <a:pt x="82406" y="12502"/>
                  <a:pt x="83344" y="13439"/>
                  <a:pt x="83344" y="14585"/>
                </a:cubicBezTo>
                <a:lnTo>
                  <a:pt x="83344" y="25003"/>
                </a:lnTo>
                <a:lnTo>
                  <a:pt x="50006" y="25003"/>
                </a:lnTo>
                <a:lnTo>
                  <a:pt x="50006" y="14585"/>
                </a:lnTo>
                <a:cubicBezTo>
                  <a:pt x="50006" y="13439"/>
                  <a:pt x="50944" y="12502"/>
                  <a:pt x="52090" y="12502"/>
                </a:cubicBezTo>
                <a:close/>
                <a:moveTo>
                  <a:pt x="37505" y="14585"/>
                </a:moveTo>
                <a:lnTo>
                  <a:pt x="37505" y="25003"/>
                </a:lnTo>
                <a:lnTo>
                  <a:pt x="16669" y="25003"/>
                </a:lnTo>
                <a:cubicBezTo>
                  <a:pt x="7475" y="25003"/>
                  <a:pt x="0" y="32478"/>
                  <a:pt x="0" y="41672"/>
                </a:cubicBezTo>
                <a:lnTo>
                  <a:pt x="0" y="66675"/>
                </a:lnTo>
                <a:lnTo>
                  <a:pt x="133350" y="66675"/>
                </a:lnTo>
                <a:lnTo>
                  <a:pt x="133350" y="41672"/>
                </a:lnTo>
                <a:cubicBezTo>
                  <a:pt x="133350" y="32478"/>
                  <a:pt x="125875" y="25003"/>
                  <a:pt x="116681" y="25003"/>
                </a:cubicBezTo>
                <a:lnTo>
                  <a:pt x="95845" y="25003"/>
                </a:lnTo>
                <a:lnTo>
                  <a:pt x="95845" y="14585"/>
                </a:lnTo>
                <a:cubicBezTo>
                  <a:pt x="95845" y="6537"/>
                  <a:pt x="89308" y="0"/>
                  <a:pt x="81260" y="0"/>
                </a:cubicBezTo>
                <a:lnTo>
                  <a:pt x="52090" y="0"/>
                </a:lnTo>
                <a:cubicBezTo>
                  <a:pt x="44042" y="0"/>
                  <a:pt x="37505" y="6537"/>
                  <a:pt x="37505" y="14585"/>
                </a:cubicBezTo>
                <a:close/>
                <a:moveTo>
                  <a:pt x="133350" y="79177"/>
                </a:moveTo>
                <a:lnTo>
                  <a:pt x="83344" y="79177"/>
                </a:lnTo>
                <a:lnTo>
                  <a:pt x="83344" y="83344"/>
                </a:lnTo>
                <a:cubicBezTo>
                  <a:pt x="83344" y="87954"/>
                  <a:pt x="79619" y="91678"/>
                  <a:pt x="75009" y="91678"/>
                </a:cubicBezTo>
                <a:lnTo>
                  <a:pt x="58341" y="91678"/>
                </a:lnTo>
                <a:cubicBezTo>
                  <a:pt x="53731" y="91678"/>
                  <a:pt x="50006" y="87954"/>
                  <a:pt x="50006" y="83344"/>
                </a:cubicBezTo>
                <a:lnTo>
                  <a:pt x="50006" y="79177"/>
                </a:lnTo>
                <a:lnTo>
                  <a:pt x="0" y="79177"/>
                </a:lnTo>
                <a:lnTo>
                  <a:pt x="0" y="108347"/>
                </a:lnTo>
                <a:cubicBezTo>
                  <a:pt x="0" y="117541"/>
                  <a:pt x="7475" y="125016"/>
                  <a:pt x="16669" y="125016"/>
                </a:cubicBezTo>
                <a:lnTo>
                  <a:pt x="116681" y="125016"/>
                </a:lnTo>
                <a:cubicBezTo>
                  <a:pt x="125875" y="125016"/>
                  <a:pt x="133350" y="117541"/>
                  <a:pt x="133350" y="108347"/>
                </a:cubicBezTo>
                <a:lnTo>
                  <a:pt x="133350" y="79177"/>
                </a:lnTo>
                <a:close/>
              </a:path>
            </a:pathLst>
          </a:custGeom>
          <a:solidFill>
            <a:srgbClr val="1D1D1F"/>
          </a:solidFill>
          <a:ln/>
        </p:spPr>
      </p:sp>
      <p:sp>
        <p:nvSpPr>
          <p:cNvPr id="45" name="Text 43"/>
          <p:cNvSpPr/>
          <p:nvPr/>
        </p:nvSpPr>
        <p:spPr>
          <a:xfrm>
            <a:off x="6896100" y="3295529"/>
            <a:ext cx="2809875"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Businesses </a:t>
            </a:r>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need apps</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to stay competitive</a:t>
            </a:r>
            <a:endParaRPr lang="en-US" sz="1600" dirty="0"/>
          </a:p>
        </p:txBody>
      </p:sp>
      <p:sp>
        <p:nvSpPr>
          <p:cNvPr id="46" name="Shape 44"/>
          <p:cNvSpPr/>
          <p:nvPr/>
        </p:nvSpPr>
        <p:spPr>
          <a:xfrm>
            <a:off x="6477000" y="3752729"/>
            <a:ext cx="304800" cy="304800"/>
          </a:xfrm>
          <a:prstGeom prst="roundRect">
            <a:avLst>
              <a:gd name="adj" fmla="val 25000"/>
            </a:avLst>
          </a:prstGeom>
          <a:solidFill>
            <a:srgbClr val="0A84FF"/>
          </a:solidFill>
          <a:ln/>
        </p:spPr>
      </p:sp>
      <p:sp>
        <p:nvSpPr>
          <p:cNvPr id="47" name="Shape 45"/>
          <p:cNvSpPr/>
          <p:nvPr/>
        </p:nvSpPr>
        <p:spPr>
          <a:xfrm>
            <a:off x="6556772" y="3838454"/>
            <a:ext cx="150019" cy="133350"/>
          </a:xfrm>
          <a:custGeom>
            <a:avLst/>
            <a:gdLst/>
            <a:ahLst/>
            <a:cxnLst/>
            <a:rect l="l" t="t" r="r" b="b"/>
            <a:pathLst>
              <a:path w="150019" h="133350">
                <a:moveTo>
                  <a:pt x="12502" y="50996"/>
                </a:moveTo>
                <a:lnTo>
                  <a:pt x="66988" y="73421"/>
                </a:lnTo>
                <a:cubicBezTo>
                  <a:pt x="69540" y="74462"/>
                  <a:pt x="72249" y="75009"/>
                  <a:pt x="75009" y="75009"/>
                </a:cubicBezTo>
                <a:cubicBezTo>
                  <a:pt x="77770" y="75009"/>
                  <a:pt x="80479" y="74462"/>
                  <a:pt x="83031" y="73421"/>
                </a:cubicBezTo>
                <a:lnTo>
                  <a:pt x="146164" y="47428"/>
                </a:lnTo>
                <a:cubicBezTo>
                  <a:pt x="148508" y="46464"/>
                  <a:pt x="150019" y="44198"/>
                  <a:pt x="150019" y="41672"/>
                </a:cubicBezTo>
                <a:cubicBezTo>
                  <a:pt x="150019" y="39146"/>
                  <a:pt x="148508" y="36880"/>
                  <a:pt x="146164" y="35916"/>
                </a:cubicBezTo>
                <a:lnTo>
                  <a:pt x="83031" y="9923"/>
                </a:lnTo>
                <a:cubicBezTo>
                  <a:pt x="80479" y="8881"/>
                  <a:pt x="77770" y="8334"/>
                  <a:pt x="75009" y="8334"/>
                </a:cubicBezTo>
                <a:cubicBezTo>
                  <a:pt x="72249" y="8334"/>
                  <a:pt x="69540" y="8881"/>
                  <a:pt x="66988" y="9923"/>
                </a:cubicBezTo>
                <a:lnTo>
                  <a:pt x="3855" y="35916"/>
                </a:lnTo>
                <a:cubicBezTo>
                  <a:pt x="1511" y="36880"/>
                  <a:pt x="0" y="39146"/>
                  <a:pt x="0" y="41672"/>
                </a:cubicBezTo>
                <a:lnTo>
                  <a:pt x="0" y="118765"/>
                </a:lnTo>
                <a:cubicBezTo>
                  <a:pt x="0" y="122229"/>
                  <a:pt x="2787" y="125016"/>
                  <a:pt x="6251" y="125016"/>
                </a:cubicBezTo>
                <a:cubicBezTo>
                  <a:pt x="9715" y="125016"/>
                  <a:pt x="12502" y="122229"/>
                  <a:pt x="12502" y="118765"/>
                </a:cubicBezTo>
                <a:lnTo>
                  <a:pt x="12502" y="50996"/>
                </a:lnTo>
                <a:close/>
                <a:moveTo>
                  <a:pt x="25003" y="69670"/>
                </a:moveTo>
                <a:lnTo>
                  <a:pt x="25003" y="100013"/>
                </a:lnTo>
                <a:cubicBezTo>
                  <a:pt x="25003" y="113816"/>
                  <a:pt x="47402" y="125016"/>
                  <a:pt x="75009" y="125016"/>
                </a:cubicBezTo>
                <a:cubicBezTo>
                  <a:pt x="102617" y="125016"/>
                  <a:pt x="125016" y="113816"/>
                  <a:pt x="125016" y="100013"/>
                </a:cubicBezTo>
                <a:lnTo>
                  <a:pt x="125016" y="69644"/>
                </a:lnTo>
                <a:lnTo>
                  <a:pt x="87797" y="84985"/>
                </a:lnTo>
                <a:cubicBezTo>
                  <a:pt x="83734" y="86651"/>
                  <a:pt x="79411" y="87511"/>
                  <a:pt x="75009" y="87511"/>
                </a:cubicBezTo>
                <a:cubicBezTo>
                  <a:pt x="70608" y="87511"/>
                  <a:pt x="66284" y="86651"/>
                  <a:pt x="62221" y="84985"/>
                </a:cubicBezTo>
                <a:lnTo>
                  <a:pt x="25003" y="69644"/>
                </a:lnTo>
                <a:close/>
              </a:path>
            </a:pathLst>
          </a:custGeom>
          <a:solidFill>
            <a:srgbClr val="FFFFFF"/>
          </a:solidFill>
          <a:ln/>
        </p:spPr>
      </p:sp>
      <p:sp>
        <p:nvSpPr>
          <p:cNvPr id="48" name="Text 46"/>
          <p:cNvSpPr/>
          <p:nvPr/>
        </p:nvSpPr>
        <p:spPr>
          <a:xfrm>
            <a:off x="6896100" y="3733679"/>
            <a:ext cx="24003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High demand for </a:t>
            </a:r>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skilled developers</a:t>
            </a:r>
            <a:endParaRPr lang="en-US" sz="1600" dirty="0"/>
          </a:p>
        </p:txBody>
      </p:sp>
      <p:sp>
        <p:nvSpPr>
          <p:cNvPr id="49" name="Shape 47"/>
          <p:cNvSpPr/>
          <p:nvPr/>
        </p:nvSpPr>
        <p:spPr>
          <a:xfrm>
            <a:off x="6210300" y="5181600"/>
            <a:ext cx="5600700" cy="1295400"/>
          </a:xfrm>
          <a:prstGeom prst="roundRect">
            <a:avLst>
              <a:gd name="adj" fmla="val 11765"/>
            </a:avLst>
          </a:prstGeom>
          <a:solidFill>
            <a:srgbClr val="2C2C2E"/>
          </a:solidFill>
          <a:ln/>
        </p:spPr>
      </p:sp>
      <p:sp>
        <p:nvSpPr>
          <p:cNvPr id="50" name="Shape 48"/>
          <p:cNvSpPr/>
          <p:nvPr/>
        </p:nvSpPr>
        <p:spPr>
          <a:xfrm>
            <a:off x="6435328" y="54197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34C759"/>
          </a:solidFill>
          <a:ln/>
        </p:spPr>
      </p:sp>
      <p:sp>
        <p:nvSpPr>
          <p:cNvPr id="51" name="Text 49"/>
          <p:cNvSpPr/>
          <p:nvPr/>
        </p:nvSpPr>
        <p:spPr>
          <a:xfrm>
            <a:off x="6619875" y="5372100"/>
            <a:ext cx="5086350" cy="266700"/>
          </a:xfrm>
          <a:prstGeom prst="rect">
            <a:avLst/>
          </a:prstGeom>
          <a:noFill/>
          <a:ln/>
        </p:spPr>
        <p:txBody>
          <a:bodyPr wrap="square" lIns="0" tIns="0" rIns="0" bIns="0" rtlCol="0" anchor="ctr"/>
          <a:lstStyle/>
          <a:p>
            <a:pPr>
              <a:lnSpc>
                <a:spcPct val="130000"/>
              </a:lnSpc>
            </a:pPr>
            <a:r>
              <a:rPr lang="en-US" sz="1350" b="1" dirty="0">
                <a:solidFill>
                  <a:srgbClr val="34C759"/>
                </a:solidFill>
                <a:latin typeface="Liter" pitchFamily="34" charset="0"/>
                <a:ea typeface="Liter" pitchFamily="34" charset="-122"/>
                <a:cs typeface="Liter" pitchFamily="34" charset="-120"/>
              </a:rPr>
              <a:t>Visual Suggestion</a:t>
            </a:r>
            <a:endParaRPr lang="en-US" sz="1600" dirty="0"/>
          </a:p>
        </p:txBody>
      </p:sp>
      <p:sp>
        <p:nvSpPr>
          <p:cNvPr id="52" name="Shape 50"/>
          <p:cNvSpPr/>
          <p:nvPr/>
        </p:nvSpPr>
        <p:spPr>
          <a:xfrm>
            <a:off x="6419850" y="5791200"/>
            <a:ext cx="152400" cy="152400"/>
          </a:xfrm>
          <a:custGeom>
            <a:avLst/>
            <a:gdLst/>
            <a:ahLst/>
            <a:cxnLst/>
            <a:rect l="l" t="t" r="r" b="b"/>
            <a:pathLst>
              <a:path w="152400" h="152400">
                <a:moveTo>
                  <a:pt x="0" y="23813"/>
                </a:moveTo>
                <a:cubicBezTo>
                  <a:pt x="0" y="15925"/>
                  <a:pt x="6400" y="9525"/>
                  <a:pt x="14288" y="9525"/>
                </a:cubicBezTo>
                <a:lnTo>
                  <a:pt x="42863" y="9525"/>
                </a:lnTo>
                <a:cubicBezTo>
                  <a:pt x="50750" y="9525"/>
                  <a:pt x="57150" y="15925"/>
                  <a:pt x="57150" y="23813"/>
                </a:cubicBezTo>
                <a:lnTo>
                  <a:pt x="57150" y="28575"/>
                </a:lnTo>
                <a:lnTo>
                  <a:pt x="95250" y="28575"/>
                </a:lnTo>
                <a:lnTo>
                  <a:pt x="95250" y="23813"/>
                </a:lnTo>
                <a:cubicBezTo>
                  <a:pt x="95250" y="15925"/>
                  <a:pt x="101650" y="9525"/>
                  <a:pt x="109537" y="9525"/>
                </a:cubicBezTo>
                <a:lnTo>
                  <a:pt x="138113" y="9525"/>
                </a:lnTo>
                <a:cubicBezTo>
                  <a:pt x="146000" y="9525"/>
                  <a:pt x="152400" y="15925"/>
                  <a:pt x="152400" y="23813"/>
                </a:cubicBezTo>
                <a:lnTo>
                  <a:pt x="152400" y="52388"/>
                </a:lnTo>
                <a:cubicBezTo>
                  <a:pt x="152400" y="60275"/>
                  <a:pt x="146000" y="66675"/>
                  <a:pt x="138113" y="66675"/>
                </a:cubicBezTo>
                <a:lnTo>
                  <a:pt x="109537" y="66675"/>
                </a:lnTo>
                <a:cubicBezTo>
                  <a:pt x="101650" y="66675"/>
                  <a:pt x="95250" y="60275"/>
                  <a:pt x="95250" y="52388"/>
                </a:cubicBezTo>
                <a:lnTo>
                  <a:pt x="95250" y="47625"/>
                </a:lnTo>
                <a:lnTo>
                  <a:pt x="57150" y="47625"/>
                </a:lnTo>
                <a:lnTo>
                  <a:pt x="57150" y="52388"/>
                </a:lnTo>
                <a:cubicBezTo>
                  <a:pt x="57150" y="54560"/>
                  <a:pt x="56644" y="56644"/>
                  <a:pt x="55781" y="58489"/>
                </a:cubicBezTo>
                <a:lnTo>
                  <a:pt x="76200" y="85725"/>
                </a:lnTo>
                <a:lnTo>
                  <a:pt x="100013" y="85725"/>
                </a:lnTo>
                <a:cubicBezTo>
                  <a:pt x="107900" y="85725"/>
                  <a:pt x="114300" y="92125"/>
                  <a:pt x="114300" y="100013"/>
                </a:cubicBezTo>
                <a:lnTo>
                  <a:pt x="114300" y="128588"/>
                </a:lnTo>
                <a:cubicBezTo>
                  <a:pt x="114300" y="136475"/>
                  <a:pt x="107900" y="142875"/>
                  <a:pt x="100013" y="142875"/>
                </a:cubicBezTo>
                <a:lnTo>
                  <a:pt x="71438" y="142875"/>
                </a:lnTo>
                <a:cubicBezTo>
                  <a:pt x="63550" y="142875"/>
                  <a:pt x="57150" y="136475"/>
                  <a:pt x="57150" y="128588"/>
                </a:cubicBezTo>
                <a:lnTo>
                  <a:pt x="57150" y="100013"/>
                </a:lnTo>
                <a:cubicBezTo>
                  <a:pt x="57150" y="97840"/>
                  <a:pt x="57656" y="95756"/>
                  <a:pt x="58519" y="93911"/>
                </a:cubicBezTo>
                <a:lnTo>
                  <a:pt x="38100" y="66675"/>
                </a:lnTo>
                <a:lnTo>
                  <a:pt x="14288" y="66675"/>
                </a:lnTo>
                <a:cubicBezTo>
                  <a:pt x="6400" y="66675"/>
                  <a:pt x="0" y="60275"/>
                  <a:pt x="0" y="52388"/>
                </a:cubicBezTo>
                <a:lnTo>
                  <a:pt x="0" y="23813"/>
                </a:lnTo>
                <a:close/>
              </a:path>
            </a:pathLst>
          </a:custGeom>
          <a:solidFill>
            <a:srgbClr val="34C759"/>
          </a:solidFill>
          <a:ln/>
        </p:spPr>
      </p:sp>
      <p:sp>
        <p:nvSpPr>
          <p:cNvPr id="53" name="Text 51"/>
          <p:cNvSpPr/>
          <p:nvPr/>
        </p:nvSpPr>
        <p:spPr>
          <a:xfrm>
            <a:off x="6667500" y="5753100"/>
            <a:ext cx="3419475"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Global mobile usage statistics infographic</a:t>
            </a:r>
            <a:endParaRPr lang="en-US" sz="1600" dirty="0"/>
          </a:p>
        </p:txBody>
      </p:sp>
      <p:sp>
        <p:nvSpPr>
          <p:cNvPr id="54" name="Shape 52"/>
          <p:cNvSpPr/>
          <p:nvPr/>
        </p:nvSpPr>
        <p:spPr>
          <a:xfrm>
            <a:off x="6429375" y="6096000"/>
            <a:ext cx="133350" cy="152400"/>
          </a:xfrm>
          <a:custGeom>
            <a:avLst/>
            <a:gdLst/>
            <a:ahLst/>
            <a:cxnLst/>
            <a:rect l="l" t="t" r="r" b="b"/>
            <a:pathLst>
              <a:path w="133350" h="152400">
                <a:moveTo>
                  <a:pt x="19050" y="9525"/>
                </a:moveTo>
                <a:cubicBezTo>
                  <a:pt x="8543" y="9525"/>
                  <a:pt x="0" y="18068"/>
                  <a:pt x="0" y="28575"/>
                </a:cubicBezTo>
                <a:lnTo>
                  <a:pt x="0" y="123825"/>
                </a:lnTo>
                <a:cubicBezTo>
                  <a:pt x="0" y="134332"/>
                  <a:pt x="8543" y="142875"/>
                  <a:pt x="19050" y="142875"/>
                </a:cubicBezTo>
                <a:lnTo>
                  <a:pt x="114300" y="142875"/>
                </a:lnTo>
                <a:cubicBezTo>
                  <a:pt x="124807" y="142875"/>
                  <a:pt x="133350" y="134332"/>
                  <a:pt x="133350" y="123825"/>
                </a:cubicBezTo>
                <a:lnTo>
                  <a:pt x="133350" y="28575"/>
                </a:lnTo>
                <a:cubicBezTo>
                  <a:pt x="133350" y="18068"/>
                  <a:pt x="124807" y="9525"/>
                  <a:pt x="114300" y="9525"/>
                </a:cubicBezTo>
                <a:lnTo>
                  <a:pt x="19050" y="9525"/>
                </a:lnTo>
                <a:close/>
                <a:moveTo>
                  <a:pt x="38100" y="33338"/>
                </a:moveTo>
                <a:cubicBezTo>
                  <a:pt x="45985" y="33338"/>
                  <a:pt x="52388" y="39740"/>
                  <a:pt x="52388" y="47625"/>
                </a:cubicBezTo>
                <a:cubicBezTo>
                  <a:pt x="52388" y="55510"/>
                  <a:pt x="45985" y="61912"/>
                  <a:pt x="38100" y="61912"/>
                </a:cubicBezTo>
                <a:cubicBezTo>
                  <a:pt x="30215" y="61912"/>
                  <a:pt x="23813" y="55510"/>
                  <a:pt x="23813" y="47625"/>
                </a:cubicBezTo>
                <a:cubicBezTo>
                  <a:pt x="23813" y="39740"/>
                  <a:pt x="30215" y="33338"/>
                  <a:pt x="38100" y="33338"/>
                </a:cubicBezTo>
                <a:close/>
                <a:moveTo>
                  <a:pt x="80962" y="66675"/>
                </a:moveTo>
                <a:cubicBezTo>
                  <a:pt x="83463" y="66675"/>
                  <a:pt x="85755" y="67985"/>
                  <a:pt x="87064" y="70098"/>
                </a:cubicBezTo>
                <a:lnTo>
                  <a:pt x="113258" y="112961"/>
                </a:lnTo>
                <a:cubicBezTo>
                  <a:pt x="114598" y="115163"/>
                  <a:pt x="114657" y="117931"/>
                  <a:pt x="113407" y="120194"/>
                </a:cubicBezTo>
                <a:cubicBezTo>
                  <a:pt x="112157" y="122456"/>
                  <a:pt x="109746" y="123825"/>
                  <a:pt x="107156" y="123825"/>
                </a:cubicBezTo>
                <a:lnTo>
                  <a:pt x="26194" y="123825"/>
                </a:lnTo>
                <a:cubicBezTo>
                  <a:pt x="23545" y="123825"/>
                  <a:pt x="21074" y="122337"/>
                  <a:pt x="19854" y="119985"/>
                </a:cubicBezTo>
                <a:cubicBezTo>
                  <a:pt x="18633" y="117634"/>
                  <a:pt x="18812" y="114776"/>
                  <a:pt x="20330" y="112603"/>
                </a:cubicBezTo>
                <a:lnTo>
                  <a:pt x="36999" y="88791"/>
                </a:lnTo>
                <a:cubicBezTo>
                  <a:pt x="38338" y="86886"/>
                  <a:pt x="40511" y="85755"/>
                  <a:pt x="42863" y="85755"/>
                </a:cubicBezTo>
                <a:cubicBezTo>
                  <a:pt x="45214" y="85755"/>
                  <a:pt x="47387" y="86886"/>
                  <a:pt x="48726" y="88791"/>
                </a:cubicBezTo>
                <a:lnTo>
                  <a:pt x="56584" y="100042"/>
                </a:lnTo>
                <a:lnTo>
                  <a:pt x="74861" y="70128"/>
                </a:lnTo>
                <a:cubicBezTo>
                  <a:pt x="76170" y="68014"/>
                  <a:pt x="78462" y="66705"/>
                  <a:pt x="80962" y="66705"/>
                </a:cubicBezTo>
                <a:close/>
              </a:path>
            </a:pathLst>
          </a:custGeom>
          <a:solidFill>
            <a:srgbClr val="0A84FF"/>
          </a:solidFill>
          <a:ln/>
        </p:spPr>
      </p:sp>
      <p:sp>
        <p:nvSpPr>
          <p:cNvPr id="55" name="Text 53"/>
          <p:cNvSpPr/>
          <p:nvPr/>
        </p:nvSpPr>
        <p:spPr>
          <a:xfrm>
            <a:off x="6667500" y="6057900"/>
            <a:ext cx="3695700"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People using smartphones in different situations</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64757" y="419470"/>
            <a:ext cx="437708" cy="437708"/>
          </a:xfrm>
          <a:prstGeom prst="roundRect">
            <a:avLst>
              <a:gd name="adj" fmla="val 25000"/>
            </a:avLst>
          </a:prstGeom>
          <a:solidFill>
            <a:srgbClr val="FF9500"/>
          </a:solidFill>
          <a:ln/>
        </p:spPr>
      </p:sp>
      <p:sp>
        <p:nvSpPr>
          <p:cNvPr id="3" name="Text 1"/>
          <p:cNvSpPr/>
          <p:nvPr/>
        </p:nvSpPr>
        <p:spPr>
          <a:xfrm>
            <a:off x="496069" y="492422"/>
            <a:ext cx="282687" cy="291806"/>
          </a:xfrm>
          <a:prstGeom prst="rect">
            <a:avLst/>
          </a:prstGeom>
          <a:noFill/>
          <a:ln/>
        </p:spPr>
        <p:txBody>
          <a:bodyPr wrap="square" lIns="0" tIns="0" rIns="0" bIns="0" rtlCol="0" anchor="ctr"/>
          <a:lstStyle/>
          <a:p>
            <a:pPr>
              <a:lnSpc>
                <a:spcPct val="110000"/>
              </a:lnSpc>
            </a:pPr>
            <a:r>
              <a:rPr lang="en-US" sz="1723" b="1" dirty="0">
                <a:solidFill>
                  <a:srgbClr val="1D1D1F"/>
                </a:solidFill>
                <a:latin typeface="Liter" pitchFamily="34" charset="0"/>
                <a:ea typeface="Liter" pitchFamily="34" charset="-122"/>
                <a:cs typeface="Liter" pitchFamily="34" charset="-120"/>
              </a:rPr>
              <a:t>11</a:t>
            </a:r>
            <a:endParaRPr lang="en-US" sz="1600" dirty="0"/>
          </a:p>
        </p:txBody>
      </p:sp>
      <p:sp>
        <p:nvSpPr>
          <p:cNvPr id="4" name="Text 2"/>
          <p:cNvSpPr/>
          <p:nvPr/>
        </p:nvSpPr>
        <p:spPr>
          <a:xfrm>
            <a:off x="911892" y="364757"/>
            <a:ext cx="3611093" cy="182378"/>
          </a:xfrm>
          <a:prstGeom prst="rect">
            <a:avLst/>
          </a:prstGeom>
          <a:noFill/>
          <a:ln/>
        </p:spPr>
        <p:txBody>
          <a:bodyPr wrap="square" lIns="0" tIns="0" rIns="0" bIns="0" rtlCol="0" anchor="ctr"/>
          <a:lstStyle/>
          <a:p>
            <a:pPr>
              <a:lnSpc>
                <a:spcPct val="120000"/>
              </a:lnSpc>
            </a:pPr>
            <a:r>
              <a:rPr lang="en-US" sz="1005" b="1" spc="50" kern="0" dirty="0">
                <a:solidFill>
                  <a:srgbClr val="FF9500"/>
                </a:solidFill>
                <a:latin typeface="Quattrocento Sans" pitchFamily="34" charset="0"/>
                <a:ea typeface="Quattrocento Sans" pitchFamily="34" charset="-122"/>
                <a:cs typeface="Quattrocento Sans" pitchFamily="34" charset="-120"/>
              </a:rPr>
              <a:t>Importance of Mobile Development</a:t>
            </a:r>
            <a:endParaRPr lang="en-US" sz="1600" dirty="0"/>
          </a:p>
        </p:txBody>
      </p:sp>
      <p:sp>
        <p:nvSpPr>
          <p:cNvPr id="5" name="Text 3"/>
          <p:cNvSpPr/>
          <p:nvPr/>
        </p:nvSpPr>
        <p:spPr>
          <a:xfrm>
            <a:off x="911892" y="547135"/>
            <a:ext cx="3711402" cy="364757"/>
          </a:xfrm>
          <a:prstGeom prst="rect">
            <a:avLst/>
          </a:prstGeom>
          <a:noFill/>
          <a:ln/>
        </p:spPr>
        <p:txBody>
          <a:bodyPr wrap="square" lIns="0" tIns="0" rIns="0" bIns="0" rtlCol="0" anchor="ctr"/>
          <a:lstStyle/>
          <a:p>
            <a:pPr>
              <a:lnSpc>
                <a:spcPct val="90000"/>
              </a:lnSpc>
            </a:pPr>
            <a:r>
              <a:rPr lang="en-US" sz="2585" b="1" dirty="0">
                <a:solidFill>
                  <a:srgbClr val="F5F5F7"/>
                </a:solidFill>
                <a:latin typeface="Liter" pitchFamily="34" charset="0"/>
                <a:ea typeface="Liter" pitchFamily="34" charset="-122"/>
                <a:cs typeface="Liter" pitchFamily="34" charset="-120"/>
              </a:rPr>
              <a:t>Mobile Apps in Daily Life</a:t>
            </a:r>
            <a:endParaRPr lang="en-US" sz="1600" dirty="0"/>
          </a:p>
        </p:txBody>
      </p:sp>
      <p:sp>
        <p:nvSpPr>
          <p:cNvPr id="6" name="Shape 4"/>
          <p:cNvSpPr/>
          <p:nvPr/>
        </p:nvSpPr>
        <p:spPr>
          <a:xfrm>
            <a:off x="364757" y="1221936"/>
            <a:ext cx="2206779" cy="1477266"/>
          </a:xfrm>
          <a:custGeom>
            <a:avLst/>
            <a:gdLst/>
            <a:ahLst/>
            <a:cxnLst/>
            <a:rect l="l" t="t" r="r" b="b"/>
            <a:pathLst>
              <a:path w="2206779" h="1477266">
                <a:moveTo>
                  <a:pt x="36449" y="0"/>
                </a:moveTo>
                <a:lnTo>
                  <a:pt x="2170303" y="0"/>
                </a:lnTo>
                <a:cubicBezTo>
                  <a:pt x="2190433" y="0"/>
                  <a:pt x="2206752" y="16319"/>
                  <a:pt x="2206752" y="36449"/>
                </a:cubicBezTo>
                <a:lnTo>
                  <a:pt x="2206752" y="1331341"/>
                </a:lnTo>
                <a:cubicBezTo>
                  <a:pt x="2206752" y="1411932"/>
                  <a:pt x="2141420" y="1477264"/>
                  <a:pt x="2060829" y="1477264"/>
                </a:cubicBezTo>
                <a:lnTo>
                  <a:pt x="145923" y="1477264"/>
                </a:lnTo>
                <a:cubicBezTo>
                  <a:pt x="65332" y="1477264"/>
                  <a:pt x="0" y="1411932"/>
                  <a:pt x="0" y="1331341"/>
                </a:cubicBezTo>
                <a:lnTo>
                  <a:pt x="0" y="36449"/>
                </a:lnTo>
                <a:cubicBezTo>
                  <a:pt x="0" y="16319"/>
                  <a:pt x="16319" y="0"/>
                  <a:pt x="36449" y="0"/>
                </a:cubicBezTo>
                <a:close/>
              </a:path>
            </a:pathLst>
          </a:custGeom>
          <a:gradFill rotWithShape="1" flip="none">
            <a:gsLst>
              <a:gs pos="0">
                <a:srgbClr val="34C759">
                  <a:alpha val="20000"/>
                </a:srgbClr>
              </a:gs>
              <a:gs pos="100000">
                <a:srgbClr val="2C2C2E"/>
              </a:gs>
            </a:gsLst>
            <a:lin ang="2700000" scaled="1"/>
          </a:gradFill>
          <a:ln/>
        </p:spPr>
      </p:sp>
      <p:sp>
        <p:nvSpPr>
          <p:cNvPr id="7" name="Shape 5"/>
          <p:cNvSpPr/>
          <p:nvPr/>
        </p:nvSpPr>
        <p:spPr>
          <a:xfrm>
            <a:off x="364757" y="1221936"/>
            <a:ext cx="2206779" cy="36476"/>
          </a:xfrm>
          <a:custGeom>
            <a:avLst/>
            <a:gdLst/>
            <a:ahLst/>
            <a:cxnLst/>
            <a:rect l="l" t="t" r="r" b="b"/>
            <a:pathLst>
              <a:path w="2206779" h="36476">
                <a:moveTo>
                  <a:pt x="36449" y="0"/>
                </a:moveTo>
                <a:lnTo>
                  <a:pt x="2170303" y="0"/>
                </a:lnTo>
                <a:cubicBezTo>
                  <a:pt x="2190433" y="0"/>
                  <a:pt x="2206752" y="16319"/>
                  <a:pt x="2206752" y="36449"/>
                </a:cubicBezTo>
                <a:lnTo>
                  <a:pt x="2206752" y="36449"/>
                </a:lnTo>
                <a:lnTo>
                  <a:pt x="0" y="36449"/>
                </a:lnTo>
                <a:lnTo>
                  <a:pt x="0" y="36449"/>
                </a:lnTo>
                <a:cubicBezTo>
                  <a:pt x="0" y="16319"/>
                  <a:pt x="16319" y="0"/>
                  <a:pt x="36449" y="0"/>
                </a:cubicBezTo>
                <a:close/>
              </a:path>
            </a:pathLst>
          </a:custGeom>
          <a:solidFill>
            <a:srgbClr val="34C759"/>
          </a:solidFill>
          <a:ln/>
        </p:spPr>
      </p:sp>
      <p:sp>
        <p:nvSpPr>
          <p:cNvPr id="8" name="Shape 6"/>
          <p:cNvSpPr/>
          <p:nvPr/>
        </p:nvSpPr>
        <p:spPr>
          <a:xfrm>
            <a:off x="1211791" y="1386076"/>
            <a:ext cx="510660" cy="510660"/>
          </a:xfrm>
          <a:prstGeom prst="roundRect">
            <a:avLst>
              <a:gd name="adj" fmla="val 50000"/>
            </a:avLst>
          </a:prstGeom>
          <a:solidFill>
            <a:srgbClr val="34C759"/>
          </a:solidFill>
          <a:ln/>
        </p:spPr>
      </p:sp>
      <p:sp>
        <p:nvSpPr>
          <p:cNvPr id="9" name="Shape 7"/>
          <p:cNvSpPr/>
          <p:nvPr/>
        </p:nvSpPr>
        <p:spPr>
          <a:xfrm>
            <a:off x="1344015" y="1531979"/>
            <a:ext cx="246211" cy="218854"/>
          </a:xfrm>
          <a:custGeom>
            <a:avLst/>
            <a:gdLst/>
            <a:ahLst/>
            <a:cxnLst/>
            <a:rect l="l" t="t" r="r" b="b"/>
            <a:pathLst>
              <a:path w="246211" h="218854">
                <a:moveTo>
                  <a:pt x="164141" y="61553"/>
                </a:moveTo>
                <a:cubicBezTo>
                  <a:pt x="164141" y="103101"/>
                  <a:pt x="127380" y="136784"/>
                  <a:pt x="82070" y="136784"/>
                </a:cubicBezTo>
                <a:cubicBezTo>
                  <a:pt x="70657" y="136784"/>
                  <a:pt x="59800" y="134647"/>
                  <a:pt x="49926" y="130800"/>
                </a:cubicBezTo>
                <a:lnTo>
                  <a:pt x="15046" y="149265"/>
                </a:lnTo>
                <a:cubicBezTo>
                  <a:pt x="11071" y="151360"/>
                  <a:pt x="6198" y="150633"/>
                  <a:pt x="2992" y="147470"/>
                </a:cubicBezTo>
                <a:cubicBezTo>
                  <a:pt x="-214" y="144307"/>
                  <a:pt x="-940" y="139391"/>
                  <a:pt x="1197" y="135416"/>
                </a:cubicBezTo>
                <a:lnTo>
                  <a:pt x="16414" y="106691"/>
                </a:lnTo>
                <a:cubicBezTo>
                  <a:pt x="6113" y="94124"/>
                  <a:pt x="0" y="78480"/>
                  <a:pt x="0" y="61553"/>
                </a:cubicBezTo>
                <a:cubicBezTo>
                  <a:pt x="0" y="20005"/>
                  <a:pt x="36761" y="-13678"/>
                  <a:pt x="82070" y="-13678"/>
                </a:cubicBezTo>
                <a:cubicBezTo>
                  <a:pt x="127380" y="-13678"/>
                  <a:pt x="164141" y="20005"/>
                  <a:pt x="164141" y="61553"/>
                </a:cubicBezTo>
                <a:close/>
                <a:moveTo>
                  <a:pt x="164141" y="218854"/>
                </a:moveTo>
                <a:cubicBezTo>
                  <a:pt x="123918" y="218854"/>
                  <a:pt x="90448" y="192310"/>
                  <a:pt x="83438" y="157301"/>
                </a:cubicBezTo>
                <a:cubicBezTo>
                  <a:pt x="134732" y="156660"/>
                  <a:pt x="179315" y="120156"/>
                  <a:pt x="184231" y="70657"/>
                </a:cubicBezTo>
                <a:cubicBezTo>
                  <a:pt x="219837" y="78864"/>
                  <a:pt x="246211" y="108401"/>
                  <a:pt x="246211" y="143623"/>
                </a:cubicBezTo>
                <a:cubicBezTo>
                  <a:pt x="246211" y="160550"/>
                  <a:pt x="240098" y="176195"/>
                  <a:pt x="229797" y="188762"/>
                </a:cubicBezTo>
                <a:lnTo>
                  <a:pt x="245014" y="217486"/>
                </a:lnTo>
                <a:cubicBezTo>
                  <a:pt x="247109" y="221462"/>
                  <a:pt x="246382" y="226335"/>
                  <a:pt x="243219" y="229540"/>
                </a:cubicBezTo>
                <a:cubicBezTo>
                  <a:pt x="240056" y="232746"/>
                  <a:pt x="235140" y="233473"/>
                  <a:pt x="231165" y="231336"/>
                </a:cubicBezTo>
                <a:lnTo>
                  <a:pt x="196285" y="212870"/>
                </a:lnTo>
                <a:cubicBezTo>
                  <a:pt x="186411" y="216717"/>
                  <a:pt x="175554" y="218854"/>
                  <a:pt x="164141" y="218854"/>
                </a:cubicBezTo>
                <a:close/>
              </a:path>
            </a:pathLst>
          </a:custGeom>
          <a:solidFill>
            <a:srgbClr val="1D1D1F"/>
          </a:solidFill>
          <a:ln/>
        </p:spPr>
      </p:sp>
      <p:sp>
        <p:nvSpPr>
          <p:cNvPr id="10" name="Text 8"/>
          <p:cNvSpPr/>
          <p:nvPr/>
        </p:nvSpPr>
        <p:spPr>
          <a:xfrm>
            <a:off x="469625" y="2006163"/>
            <a:ext cx="1997044" cy="255330"/>
          </a:xfrm>
          <a:prstGeom prst="rect">
            <a:avLst/>
          </a:prstGeom>
          <a:noFill/>
          <a:ln/>
        </p:spPr>
        <p:txBody>
          <a:bodyPr wrap="square" lIns="0" tIns="0" rIns="0" bIns="0" rtlCol="0" anchor="ctr"/>
          <a:lstStyle/>
          <a:p>
            <a:pPr algn="ctr">
              <a:lnSpc>
                <a:spcPct val="130000"/>
              </a:lnSpc>
            </a:pPr>
            <a:r>
              <a:rPr lang="en-US" sz="1292" b="1" dirty="0">
                <a:solidFill>
                  <a:srgbClr val="34C759"/>
                </a:solidFill>
                <a:latin typeface="Liter" pitchFamily="34" charset="0"/>
                <a:ea typeface="Liter" pitchFamily="34" charset="-122"/>
                <a:cs typeface="Liter" pitchFamily="34" charset="-120"/>
              </a:rPr>
              <a:t>Communication</a:t>
            </a:r>
            <a:endParaRPr lang="en-US" sz="1600" dirty="0"/>
          </a:p>
        </p:txBody>
      </p:sp>
      <p:sp>
        <p:nvSpPr>
          <p:cNvPr id="11" name="Text 9"/>
          <p:cNvSpPr/>
          <p:nvPr/>
        </p:nvSpPr>
        <p:spPr>
          <a:xfrm>
            <a:off x="474184" y="2334444"/>
            <a:ext cx="1987925" cy="218854"/>
          </a:xfrm>
          <a:prstGeom prst="rect">
            <a:avLst/>
          </a:prstGeom>
          <a:noFill/>
          <a:ln/>
        </p:spPr>
        <p:txBody>
          <a:bodyPr wrap="square" lIns="0" tIns="0" rIns="0" bIns="0" rtlCol="0" anchor="ctr"/>
          <a:lstStyle/>
          <a:p>
            <a:pPr algn="ct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WhatsApp, Messenger</a:t>
            </a:r>
            <a:endParaRPr lang="en-US" sz="1600" dirty="0"/>
          </a:p>
        </p:txBody>
      </p:sp>
      <p:sp>
        <p:nvSpPr>
          <p:cNvPr id="12" name="Shape 10"/>
          <p:cNvSpPr/>
          <p:nvPr/>
        </p:nvSpPr>
        <p:spPr>
          <a:xfrm>
            <a:off x="2678912" y="1221936"/>
            <a:ext cx="2206779" cy="1477266"/>
          </a:xfrm>
          <a:custGeom>
            <a:avLst/>
            <a:gdLst/>
            <a:ahLst/>
            <a:cxnLst/>
            <a:rect l="l" t="t" r="r" b="b"/>
            <a:pathLst>
              <a:path w="2206779" h="1477266">
                <a:moveTo>
                  <a:pt x="36449" y="0"/>
                </a:moveTo>
                <a:lnTo>
                  <a:pt x="2170303" y="0"/>
                </a:lnTo>
                <a:cubicBezTo>
                  <a:pt x="2190433" y="0"/>
                  <a:pt x="2206752" y="16319"/>
                  <a:pt x="2206752" y="36449"/>
                </a:cubicBezTo>
                <a:lnTo>
                  <a:pt x="2206752" y="1331341"/>
                </a:lnTo>
                <a:cubicBezTo>
                  <a:pt x="2206752" y="1411932"/>
                  <a:pt x="2141420" y="1477264"/>
                  <a:pt x="2060829" y="1477264"/>
                </a:cubicBezTo>
                <a:lnTo>
                  <a:pt x="145923" y="1477264"/>
                </a:lnTo>
                <a:cubicBezTo>
                  <a:pt x="65332" y="1477264"/>
                  <a:pt x="0" y="1411932"/>
                  <a:pt x="0" y="1331341"/>
                </a:cubicBezTo>
                <a:lnTo>
                  <a:pt x="0" y="36449"/>
                </a:lnTo>
                <a:cubicBezTo>
                  <a:pt x="0" y="16319"/>
                  <a:pt x="16319" y="0"/>
                  <a:pt x="36449" y="0"/>
                </a:cubicBezTo>
                <a:close/>
              </a:path>
            </a:pathLst>
          </a:custGeom>
          <a:gradFill rotWithShape="1" flip="none">
            <a:gsLst>
              <a:gs pos="0">
                <a:srgbClr val="0A84FF">
                  <a:alpha val="20000"/>
                </a:srgbClr>
              </a:gs>
              <a:gs pos="100000">
                <a:srgbClr val="2C2C2E"/>
              </a:gs>
            </a:gsLst>
            <a:lin ang="2700000" scaled="1"/>
          </a:gradFill>
          <a:ln/>
        </p:spPr>
      </p:sp>
      <p:sp>
        <p:nvSpPr>
          <p:cNvPr id="13" name="Shape 11"/>
          <p:cNvSpPr/>
          <p:nvPr/>
        </p:nvSpPr>
        <p:spPr>
          <a:xfrm>
            <a:off x="2678912" y="1221936"/>
            <a:ext cx="2206779" cy="36476"/>
          </a:xfrm>
          <a:custGeom>
            <a:avLst/>
            <a:gdLst/>
            <a:ahLst/>
            <a:cxnLst/>
            <a:rect l="l" t="t" r="r" b="b"/>
            <a:pathLst>
              <a:path w="2206779" h="36476">
                <a:moveTo>
                  <a:pt x="36449" y="0"/>
                </a:moveTo>
                <a:lnTo>
                  <a:pt x="2170303" y="0"/>
                </a:lnTo>
                <a:cubicBezTo>
                  <a:pt x="2190433" y="0"/>
                  <a:pt x="2206752" y="16319"/>
                  <a:pt x="2206752" y="36449"/>
                </a:cubicBezTo>
                <a:lnTo>
                  <a:pt x="2206752" y="36449"/>
                </a:lnTo>
                <a:lnTo>
                  <a:pt x="0" y="36449"/>
                </a:lnTo>
                <a:lnTo>
                  <a:pt x="0" y="36449"/>
                </a:lnTo>
                <a:cubicBezTo>
                  <a:pt x="0" y="16319"/>
                  <a:pt x="16319" y="0"/>
                  <a:pt x="36449" y="0"/>
                </a:cubicBezTo>
                <a:close/>
              </a:path>
            </a:pathLst>
          </a:custGeom>
          <a:solidFill>
            <a:srgbClr val="0A84FF"/>
          </a:solidFill>
          <a:ln/>
        </p:spPr>
      </p:sp>
      <p:sp>
        <p:nvSpPr>
          <p:cNvPr id="14" name="Shape 12"/>
          <p:cNvSpPr/>
          <p:nvPr/>
        </p:nvSpPr>
        <p:spPr>
          <a:xfrm>
            <a:off x="3525946" y="1386076"/>
            <a:ext cx="510660" cy="510660"/>
          </a:xfrm>
          <a:prstGeom prst="roundRect">
            <a:avLst>
              <a:gd name="adj" fmla="val 50000"/>
            </a:avLst>
          </a:prstGeom>
          <a:solidFill>
            <a:srgbClr val="0A84FF"/>
          </a:solidFill>
          <a:ln/>
        </p:spPr>
      </p:sp>
      <p:sp>
        <p:nvSpPr>
          <p:cNvPr id="15" name="Shape 13"/>
          <p:cNvSpPr/>
          <p:nvPr/>
        </p:nvSpPr>
        <p:spPr>
          <a:xfrm>
            <a:off x="3685527" y="1531979"/>
            <a:ext cx="191497" cy="218854"/>
          </a:xfrm>
          <a:custGeom>
            <a:avLst/>
            <a:gdLst/>
            <a:ahLst/>
            <a:cxnLst/>
            <a:rect l="l" t="t" r="r" b="b"/>
            <a:pathLst>
              <a:path w="191497" h="218854">
                <a:moveTo>
                  <a:pt x="68392" y="34196"/>
                </a:moveTo>
                <a:cubicBezTo>
                  <a:pt x="68392" y="19107"/>
                  <a:pt x="80660" y="6839"/>
                  <a:pt x="95749" y="6839"/>
                </a:cubicBezTo>
                <a:cubicBezTo>
                  <a:pt x="110838" y="6839"/>
                  <a:pt x="123105" y="19107"/>
                  <a:pt x="123105" y="34196"/>
                </a:cubicBezTo>
                <a:lnTo>
                  <a:pt x="123105" y="54714"/>
                </a:lnTo>
                <a:lnTo>
                  <a:pt x="68392" y="54714"/>
                </a:lnTo>
                <a:lnTo>
                  <a:pt x="68392" y="34196"/>
                </a:lnTo>
                <a:close/>
                <a:moveTo>
                  <a:pt x="47874" y="54714"/>
                </a:moveTo>
                <a:lnTo>
                  <a:pt x="20518" y="54714"/>
                </a:lnTo>
                <a:cubicBezTo>
                  <a:pt x="9190" y="54714"/>
                  <a:pt x="0" y="63904"/>
                  <a:pt x="0" y="75231"/>
                </a:cubicBezTo>
                <a:lnTo>
                  <a:pt x="0" y="164141"/>
                </a:lnTo>
                <a:cubicBezTo>
                  <a:pt x="0" y="186795"/>
                  <a:pt x="18380" y="205176"/>
                  <a:pt x="41035" y="205176"/>
                </a:cubicBezTo>
                <a:lnTo>
                  <a:pt x="150462" y="205176"/>
                </a:lnTo>
                <a:cubicBezTo>
                  <a:pt x="173117" y="205176"/>
                  <a:pt x="191497" y="186795"/>
                  <a:pt x="191497" y="164141"/>
                </a:cubicBezTo>
                <a:lnTo>
                  <a:pt x="191497" y="75231"/>
                </a:lnTo>
                <a:cubicBezTo>
                  <a:pt x="191497" y="63904"/>
                  <a:pt x="182307" y="54714"/>
                  <a:pt x="170980" y="54714"/>
                </a:cubicBezTo>
                <a:lnTo>
                  <a:pt x="143623" y="54714"/>
                </a:lnTo>
                <a:lnTo>
                  <a:pt x="143623" y="34196"/>
                </a:lnTo>
                <a:cubicBezTo>
                  <a:pt x="143623" y="7737"/>
                  <a:pt x="122208" y="-13678"/>
                  <a:pt x="95749" y="-13678"/>
                </a:cubicBezTo>
                <a:cubicBezTo>
                  <a:pt x="69290" y="-13678"/>
                  <a:pt x="47874" y="7737"/>
                  <a:pt x="47874" y="34196"/>
                </a:cubicBezTo>
                <a:lnTo>
                  <a:pt x="47874" y="54714"/>
                </a:lnTo>
                <a:close/>
                <a:moveTo>
                  <a:pt x="58133" y="75231"/>
                </a:moveTo>
                <a:cubicBezTo>
                  <a:pt x="63795" y="75231"/>
                  <a:pt x="68392" y="79828"/>
                  <a:pt x="68392" y="85490"/>
                </a:cubicBezTo>
                <a:cubicBezTo>
                  <a:pt x="68392" y="91152"/>
                  <a:pt x="63795" y="95749"/>
                  <a:pt x="58133" y="95749"/>
                </a:cubicBezTo>
                <a:cubicBezTo>
                  <a:pt x="52471" y="95749"/>
                  <a:pt x="47874" y="91152"/>
                  <a:pt x="47874" y="85490"/>
                </a:cubicBezTo>
                <a:cubicBezTo>
                  <a:pt x="47874" y="79828"/>
                  <a:pt x="52471" y="75231"/>
                  <a:pt x="58133" y="75231"/>
                </a:cubicBezTo>
                <a:close/>
                <a:moveTo>
                  <a:pt x="123105" y="85490"/>
                </a:moveTo>
                <a:cubicBezTo>
                  <a:pt x="123105" y="79828"/>
                  <a:pt x="127702" y="75231"/>
                  <a:pt x="133364" y="75231"/>
                </a:cubicBezTo>
                <a:cubicBezTo>
                  <a:pt x="139026" y="75231"/>
                  <a:pt x="143623" y="79828"/>
                  <a:pt x="143623" y="85490"/>
                </a:cubicBezTo>
                <a:cubicBezTo>
                  <a:pt x="143623" y="91152"/>
                  <a:pt x="139026" y="95749"/>
                  <a:pt x="133364" y="95749"/>
                </a:cubicBezTo>
                <a:cubicBezTo>
                  <a:pt x="127702" y="95749"/>
                  <a:pt x="123105" y="91152"/>
                  <a:pt x="123105" y="85490"/>
                </a:cubicBezTo>
                <a:close/>
              </a:path>
            </a:pathLst>
          </a:custGeom>
          <a:solidFill>
            <a:srgbClr val="FFFFFF"/>
          </a:solidFill>
          <a:ln/>
        </p:spPr>
      </p:sp>
      <p:sp>
        <p:nvSpPr>
          <p:cNvPr id="16" name="Text 14"/>
          <p:cNvSpPr/>
          <p:nvPr/>
        </p:nvSpPr>
        <p:spPr>
          <a:xfrm>
            <a:off x="2783779" y="2006163"/>
            <a:ext cx="1997044" cy="255330"/>
          </a:xfrm>
          <a:prstGeom prst="rect">
            <a:avLst/>
          </a:prstGeom>
          <a:noFill/>
          <a:ln/>
        </p:spPr>
        <p:txBody>
          <a:bodyPr wrap="square" lIns="0" tIns="0" rIns="0" bIns="0" rtlCol="0" anchor="ctr"/>
          <a:lstStyle/>
          <a:p>
            <a:pPr algn="ctr">
              <a:lnSpc>
                <a:spcPct val="130000"/>
              </a:lnSpc>
            </a:pPr>
            <a:r>
              <a:rPr lang="en-US" sz="1292" b="1" dirty="0">
                <a:solidFill>
                  <a:srgbClr val="0A84FF"/>
                </a:solidFill>
                <a:latin typeface="Liter" pitchFamily="34" charset="0"/>
                <a:ea typeface="Liter" pitchFamily="34" charset="-122"/>
                <a:cs typeface="Liter" pitchFamily="34" charset="-120"/>
              </a:rPr>
              <a:t>Shopping</a:t>
            </a:r>
            <a:endParaRPr lang="en-US" sz="1600" dirty="0"/>
          </a:p>
        </p:txBody>
      </p:sp>
      <p:sp>
        <p:nvSpPr>
          <p:cNvPr id="17" name="Text 15"/>
          <p:cNvSpPr/>
          <p:nvPr/>
        </p:nvSpPr>
        <p:spPr>
          <a:xfrm>
            <a:off x="2788339" y="2334444"/>
            <a:ext cx="1987925" cy="218854"/>
          </a:xfrm>
          <a:prstGeom prst="rect">
            <a:avLst/>
          </a:prstGeom>
          <a:noFill/>
          <a:ln/>
        </p:spPr>
        <p:txBody>
          <a:bodyPr wrap="square" lIns="0" tIns="0" rIns="0" bIns="0" rtlCol="0" anchor="ctr"/>
          <a:lstStyle/>
          <a:p>
            <a:pPr algn="ct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Amazon, eBay</a:t>
            </a:r>
            <a:endParaRPr lang="en-US" sz="1600" dirty="0"/>
          </a:p>
        </p:txBody>
      </p:sp>
      <p:sp>
        <p:nvSpPr>
          <p:cNvPr id="18" name="Shape 16"/>
          <p:cNvSpPr/>
          <p:nvPr/>
        </p:nvSpPr>
        <p:spPr>
          <a:xfrm>
            <a:off x="4993066" y="1221936"/>
            <a:ext cx="2206779" cy="1477266"/>
          </a:xfrm>
          <a:custGeom>
            <a:avLst/>
            <a:gdLst/>
            <a:ahLst/>
            <a:cxnLst/>
            <a:rect l="l" t="t" r="r" b="b"/>
            <a:pathLst>
              <a:path w="2206779" h="1477266">
                <a:moveTo>
                  <a:pt x="36449" y="0"/>
                </a:moveTo>
                <a:lnTo>
                  <a:pt x="2170303" y="0"/>
                </a:lnTo>
                <a:cubicBezTo>
                  <a:pt x="2190433" y="0"/>
                  <a:pt x="2206752" y="16319"/>
                  <a:pt x="2206752" y="36449"/>
                </a:cubicBezTo>
                <a:lnTo>
                  <a:pt x="2206752" y="1331341"/>
                </a:lnTo>
                <a:cubicBezTo>
                  <a:pt x="2206752" y="1411932"/>
                  <a:pt x="2141420" y="1477264"/>
                  <a:pt x="2060829" y="1477264"/>
                </a:cubicBezTo>
                <a:lnTo>
                  <a:pt x="145923" y="1477264"/>
                </a:lnTo>
                <a:cubicBezTo>
                  <a:pt x="65332" y="1477264"/>
                  <a:pt x="0" y="1411932"/>
                  <a:pt x="0" y="1331341"/>
                </a:cubicBezTo>
                <a:lnTo>
                  <a:pt x="0" y="36449"/>
                </a:lnTo>
                <a:cubicBezTo>
                  <a:pt x="0" y="16319"/>
                  <a:pt x="16319" y="0"/>
                  <a:pt x="36449" y="0"/>
                </a:cubicBezTo>
                <a:close/>
              </a:path>
            </a:pathLst>
          </a:custGeom>
          <a:gradFill rotWithShape="1" flip="none">
            <a:gsLst>
              <a:gs pos="0">
                <a:srgbClr val="8E8E93">
                  <a:alpha val="20000"/>
                </a:srgbClr>
              </a:gs>
              <a:gs pos="100000">
                <a:srgbClr val="2C2C2E"/>
              </a:gs>
            </a:gsLst>
            <a:lin ang="2700000" scaled="1"/>
          </a:gradFill>
          <a:ln/>
        </p:spPr>
      </p:sp>
      <p:sp>
        <p:nvSpPr>
          <p:cNvPr id="19" name="Shape 17"/>
          <p:cNvSpPr/>
          <p:nvPr/>
        </p:nvSpPr>
        <p:spPr>
          <a:xfrm>
            <a:off x="4993066" y="1221936"/>
            <a:ext cx="2206779" cy="36476"/>
          </a:xfrm>
          <a:custGeom>
            <a:avLst/>
            <a:gdLst/>
            <a:ahLst/>
            <a:cxnLst/>
            <a:rect l="l" t="t" r="r" b="b"/>
            <a:pathLst>
              <a:path w="2206779" h="36476">
                <a:moveTo>
                  <a:pt x="36449" y="0"/>
                </a:moveTo>
                <a:lnTo>
                  <a:pt x="2170303" y="0"/>
                </a:lnTo>
                <a:cubicBezTo>
                  <a:pt x="2190433" y="0"/>
                  <a:pt x="2206752" y="16319"/>
                  <a:pt x="2206752" y="36449"/>
                </a:cubicBezTo>
                <a:lnTo>
                  <a:pt x="2206752" y="36449"/>
                </a:lnTo>
                <a:lnTo>
                  <a:pt x="0" y="36449"/>
                </a:lnTo>
                <a:lnTo>
                  <a:pt x="0" y="36449"/>
                </a:lnTo>
                <a:cubicBezTo>
                  <a:pt x="0" y="16319"/>
                  <a:pt x="16319" y="0"/>
                  <a:pt x="36449" y="0"/>
                </a:cubicBezTo>
                <a:close/>
              </a:path>
            </a:pathLst>
          </a:custGeom>
          <a:solidFill>
            <a:srgbClr val="8E8E93"/>
          </a:solidFill>
          <a:ln/>
        </p:spPr>
      </p:sp>
      <p:sp>
        <p:nvSpPr>
          <p:cNvPr id="20" name="Shape 18"/>
          <p:cNvSpPr/>
          <p:nvPr/>
        </p:nvSpPr>
        <p:spPr>
          <a:xfrm>
            <a:off x="5840100" y="1386076"/>
            <a:ext cx="510660" cy="510660"/>
          </a:xfrm>
          <a:prstGeom prst="roundRect">
            <a:avLst>
              <a:gd name="adj" fmla="val 50000"/>
            </a:avLst>
          </a:prstGeom>
          <a:solidFill>
            <a:srgbClr val="8E8E93"/>
          </a:solidFill>
          <a:ln/>
        </p:spPr>
      </p:sp>
      <p:sp>
        <p:nvSpPr>
          <p:cNvPr id="21" name="Shape 19"/>
          <p:cNvSpPr/>
          <p:nvPr/>
        </p:nvSpPr>
        <p:spPr>
          <a:xfrm>
            <a:off x="5986003" y="1531979"/>
            <a:ext cx="218854" cy="218854"/>
          </a:xfrm>
          <a:custGeom>
            <a:avLst/>
            <a:gdLst/>
            <a:ahLst/>
            <a:cxnLst/>
            <a:rect l="l" t="t" r="r" b="b"/>
            <a:pathLst>
              <a:path w="218854" h="218854">
                <a:moveTo>
                  <a:pt x="57791" y="50183"/>
                </a:moveTo>
                <a:lnTo>
                  <a:pt x="46635" y="82070"/>
                </a:lnTo>
                <a:lnTo>
                  <a:pt x="172219" y="82070"/>
                </a:lnTo>
                <a:lnTo>
                  <a:pt x="161063" y="50183"/>
                </a:lnTo>
                <a:cubicBezTo>
                  <a:pt x="159139" y="44711"/>
                  <a:pt x="153967" y="41035"/>
                  <a:pt x="148154" y="41035"/>
                </a:cubicBezTo>
                <a:lnTo>
                  <a:pt x="70700" y="41035"/>
                </a:lnTo>
                <a:cubicBezTo>
                  <a:pt x="64887" y="41035"/>
                  <a:pt x="59715" y="44711"/>
                  <a:pt x="57791" y="50183"/>
                </a:cubicBezTo>
                <a:close/>
                <a:moveTo>
                  <a:pt x="16927" y="84122"/>
                </a:moveTo>
                <a:lnTo>
                  <a:pt x="31973" y="41163"/>
                </a:lnTo>
                <a:cubicBezTo>
                  <a:pt x="37744" y="24707"/>
                  <a:pt x="53260" y="13678"/>
                  <a:pt x="70700" y="13678"/>
                </a:cubicBezTo>
                <a:lnTo>
                  <a:pt x="148154" y="13678"/>
                </a:lnTo>
                <a:cubicBezTo>
                  <a:pt x="165594" y="13678"/>
                  <a:pt x="181110" y="24707"/>
                  <a:pt x="186881" y="41163"/>
                </a:cubicBezTo>
                <a:lnTo>
                  <a:pt x="201927" y="84122"/>
                </a:lnTo>
                <a:cubicBezTo>
                  <a:pt x="211844" y="88226"/>
                  <a:pt x="218854" y="98014"/>
                  <a:pt x="218854" y="109427"/>
                </a:cubicBezTo>
                <a:lnTo>
                  <a:pt x="218854" y="191497"/>
                </a:lnTo>
                <a:cubicBezTo>
                  <a:pt x="218854" y="199063"/>
                  <a:pt x="212742" y="205176"/>
                  <a:pt x="205176" y="205176"/>
                </a:cubicBezTo>
                <a:lnTo>
                  <a:pt x="191497" y="205176"/>
                </a:lnTo>
                <a:cubicBezTo>
                  <a:pt x="183932" y="205176"/>
                  <a:pt x="177819" y="199063"/>
                  <a:pt x="177819" y="191497"/>
                </a:cubicBezTo>
                <a:lnTo>
                  <a:pt x="177819" y="177819"/>
                </a:lnTo>
                <a:lnTo>
                  <a:pt x="41035" y="177819"/>
                </a:lnTo>
                <a:lnTo>
                  <a:pt x="41035" y="191497"/>
                </a:lnTo>
                <a:cubicBezTo>
                  <a:pt x="41035" y="199063"/>
                  <a:pt x="34923" y="205176"/>
                  <a:pt x="27357" y="205176"/>
                </a:cubicBezTo>
                <a:lnTo>
                  <a:pt x="13678" y="205176"/>
                </a:lnTo>
                <a:cubicBezTo>
                  <a:pt x="6113" y="205176"/>
                  <a:pt x="0" y="199063"/>
                  <a:pt x="0" y="191497"/>
                </a:cubicBezTo>
                <a:lnTo>
                  <a:pt x="0" y="109427"/>
                </a:lnTo>
                <a:cubicBezTo>
                  <a:pt x="0" y="98014"/>
                  <a:pt x="7010" y="88226"/>
                  <a:pt x="16927" y="84122"/>
                </a:cubicBezTo>
                <a:close/>
                <a:moveTo>
                  <a:pt x="54714" y="129945"/>
                </a:moveTo>
                <a:cubicBezTo>
                  <a:pt x="54714" y="122395"/>
                  <a:pt x="48584" y="116266"/>
                  <a:pt x="41035" y="116266"/>
                </a:cubicBezTo>
                <a:cubicBezTo>
                  <a:pt x="33486" y="116266"/>
                  <a:pt x="27357" y="122395"/>
                  <a:pt x="27357" y="129945"/>
                </a:cubicBezTo>
                <a:cubicBezTo>
                  <a:pt x="27357" y="137494"/>
                  <a:pt x="33486" y="143623"/>
                  <a:pt x="41035" y="143623"/>
                </a:cubicBezTo>
                <a:cubicBezTo>
                  <a:pt x="48584" y="143623"/>
                  <a:pt x="54714" y="137494"/>
                  <a:pt x="54714" y="129945"/>
                </a:cubicBezTo>
                <a:close/>
                <a:moveTo>
                  <a:pt x="177819" y="143623"/>
                </a:moveTo>
                <a:cubicBezTo>
                  <a:pt x="185368" y="143623"/>
                  <a:pt x="191497" y="137494"/>
                  <a:pt x="191497" y="129945"/>
                </a:cubicBezTo>
                <a:cubicBezTo>
                  <a:pt x="191497" y="122395"/>
                  <a:pt x="185368" y="116266"/>
                  <a:pt x="177819" y="116266"/>
                </a:cubicBezTo>
                <a:cubicBezTo>
                  <a:pt x="170270" y="116266"/>
                  <a:pt x="164141" y="122395"/>
                  <a:pt x="164141" y="129945"/>
                </a:cubicBezTo>
                <a:cubicBezTo>
                  <a:pt x="164141" y="137494"/>
                  <a:pt x="170270" y="143623"/>
                  <a:pt x="177819" y="143623"/>
                </a:cubicBezTo>
                <a:close/>
              </a:path>
            </a:pathLst>
          </a:custGeom>
          <a:solidFill>
            <a:srgbClr val="FFFFFF"/>
          </a:solidFill>
          <a:ln/>
        </p:spPr>
      </p:sp>
      <p:sp>
        <p:nvSpPr>
          <p:cNvPr id="22" name="Text 20"/>
          <p:cNvSpPr/>
          <p:nvPr/>
        </p:nvSpPr>
        <p:spPr>
          <a:xfrm>
            <a:off x="5097934" y="2006163"/>
            <a:ext cx="1997044" cy="255330"/>
          </a:xfrm>
          <a:prstGeom prst="rect">
            <a:avLst/>
          </a:prstGeom>
          <a:noFill/>
          <a:ln/>
        </p:spPr>
        <p:txBody>
          <a:bodyPr wrap="square" lIns="0" tIns="0" rIns="0" bIns="0" rtlCol="0" anchor="ctr"/>
          <a:lstStyle/>
          <a:p>
            <a:pPr algn="ctr">
              <a:lnSpc>
                <a:spcPct val="130000"/>
              </a:lnSpc>
            </a:pPr>
            <a:r>
              <a:rPr lang="en-US" sz="1292" b="1" dirty="0">
                <a:solidFill>
                  <a:srgbClr val="8E8E93"/>
                </a:solidFill>
                <a:latin typeface="Liter" pitchFamily="34" charset="0"/>
                <a:ea typeface="Liter" pitchFamily="34" charset="-122"/>
                <a:cs typeface="Liter" pitchFamily="34" charset="-120"/>
              </a:rPr>
              <a:t>Transport</a:t>
            </a:r>
            <a:endParaRPr lang="en-US" sz="1600" dirty="0"/>
          </a:p>
        </p:txBody>
      </p:sp>
      <p:sp>
        <p:nvSpPr>
          <p:cNvPr id="23" name="Text 21"/>
          <p:cNvSpPr/>
          <p:nvPr/>
        </p:nvSpPr>
        <p:spPr>
          <a:xfrm>
            <a:off x="5102493" y="2334444"/>
            <a:ext cx="1987925" cy="218854"/>
          </a:xfrm>
          <a:prstGeom prst="rect">
            <a:avLst/>
          </a:prstGeom>
          <a:noFill/>
          <a:ln/>
        </p:spPr>
        <p:txBody>
          <a:bodyPr wrap="square" lIns="0" tIns="0" rIns="0" bIns="0" rtlCol="0" anchor="ctr"/>
          <a:lstStyle/>
          <a:p>
            <a:pPr algn="ct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Uber, Lyft</a:t>
            </a:r>
            <a:endParaRPr lang="en-US" sz="1600" dirty="0"/>
          </a:p>
        </p:txBody>
      </p:sp>
      <p:sp>
        <p:nvSpPr>
          <p:cNvPr id="24" name="Shape 22"/>
          <p:cNvSpPr/>
          <p:nvPr/>
        </p:nvSpPr>
        <p:spPr>
          <a:xfrm>
            <a:off x="7307221" y="1221936"/>
            <a:ext cx="2206779" cy="1477266"/>
          </a:xfrm>
          <a:custGeom>
            <a:avLst/>
            <a:gdLst/>
            <a:ahLst/>
            <a:cxnLst/>
            <a:rect l="l" t="t" r="r" b="b"/>
            <a:pathLst>
              <a:path w="2206779" h="1477266">
                <a:moveTo>
                  <a:pt x="36449" y="0"/>
                </a:moveTo>
                <a:lnTo>
                  <a:pt x="2170303" y="0"/>
                </a:lnTo>
                <a:cubicBezTo>
                  <a:pt x="2190433" y="0"/>
                  <a:pt x="2206752" y="16319"/>
                  <a:pt x="2206752" y="36449"/>
                </a:cubicBezTo>
                <a:lnTo>
                  <a:pt x="2206752" y="1331341"/>
                </a:lnTo>
                <a:cubicBezTo>
                  <a:pt x="2206752" y="1411932"/>
                  <a:pt x="2141420" y="1477264"/>
                  <a:pt x="2060829" y="1477264"/>
                </a:cubicBezTo>
                <a:lnTo>
                  <a:pt x="145923" y="1477264"/>
                </a:lnTo>
                <a:cubicBezTo>
                  <a:pt x="65332" y="1477264"/>
                  <a:pt x="0" y="1411932"/>
                  <a:pt x="0" y="1331341"/>
                </a:cubicBezTo>
                <a:lnTo>
                  <a:pt x="0" y="36449"/>
                </a:lnTo>
                <a:cubicBezTo>
                  <a:pt x="0" y="16319"/>
                  <a:pt x="16319" y="0"/>
                  <a:pt x="36449" y="0"/>
                </a:cubicBezTo>
                <a:close/>
              </a:path>
            </a:pathLst>
          </a:custGeom>
          <a:gradFill rotWithShape="1" flip="none">
            <a:gsLst>
              <a:gs pos="0">
                <a:srgbClr val="34C759">
                  <a:alpha val="20000"/>
                </a:srgbClr>
              </a:gs>
              <a:gs pos="100000">
                <a:srgbClr val="2C2C2E"/>
              </a:gs>
            </a:gsLst>
            <a:lin ang="2700000" scaled="1"/>
          </a:gradFill>
          <a:ln/>
        </p:spPr>
      </p:sp>
      <p:sp>
        <p:nvSpPr>
          <p:cNvPr id="25" name="Shape 23"/>
          <p:cNvSpPr/>
          <p:nvPr/>
        </p:nvSpPr>
        <p:spPr>
          <a:xfrm>
            <a:off x="7307221" y="1221936"/>
            <a:ext cx="2206779" cy="36476"/>
          </a:xfrm>
          <a:custGeom>
            <a:avLst/>
            <a:gdLst/>
            <a:ahLst/>
            <a:cxnLst/>
            <a:rect l="l" t="t" r="r" b="b"/>
            <a:pathLst>
              <a:path w="2206779" h="36476">
                <a:moveTo>
                  <a:pt x="36449" y="0"/>
                </a:moveTo>
                <a:lnTo>
                  <a:pt x="2170303" y="0"/>
                </a:lnTo>
                <a:cubicBezTo>
                  <a:pt x="2190433" y="0"/>
                  <a:pt x="2206752" y="16319"/>
                  <a:pt x="2206752" y="36449"/>
                </a:cubicBezTo>
                <a:lnTo>
                  <a:pt x="2206752" y="36449"/>
                </a:lnTo>
                <a:lnTo>
                  <a:pt x="0" y="36449"/>
                </a:lnTo>
                <a:lnTo>
                  <a:pt x="0" y="36449"/>
                </a:lnTo>
                <a:cubicBezTo>
                  <a:pt x="0" y="16319"/>
                  <a:pt x="16319" y="0"/>
                  <a:pt x="36449" y="0"/>
                </a:cubicBezTo>
                <a:close/>
              </a:path>
            </a:pathLst>
          </a:custGeom>
          <a:solidFill>
            <a:srgbClr val="34C759"/>
          </a:solidFill>
          <a:ln/>
        </p:spPr>
      </p:sp>
      <p:sp>
        <p:nvSpPr>
          <p:cNvPr id="26" name="Shape 24"/>
          <p:cNvSpPr/>
          <p:nvPr/>
        </p:nvSpPr>
        <p:spPr>
          <a:xfrm>
            <a:off x="8154255" y="1386076"/>
            <a:ext cx="510660" cy="510660"/>
          </a:xfrm>
          <a:prstGeom prst="roundRect">
            <a:avLst>
              <a:gd name="adj" fmla="val 50000"/>
            </a:avLst>
          </a:prstGeom>
          <a:solidFill>
            <a:srgbClr val="34C759"/>
          </a:solidFill>
          <a:ln/>
        </p:spPr>
      </p:sp>
      <p:sp>
        <p:nvSpPr>
          <p:cNvPr id="27" name="Shape 25"/>
          <p:cNvSpPr/>
          <p:nvPr/>
        </p:nvSpPr>
        <p:spPr>
          <a:xfrm>
            <a:off x="8313836" y="1531979"/>
            <a:ext cx="191497" cy="218854"/>
          </a:xfrm>
          <a:custGeom>
            <a:avLst/>
            <a:gdLst/>
            <a:ahLst/>
            <a:cxnLst/>
            <a:rect l="l" t="t" r="r" b="b"/>
            <a:pathLst>
              <a:path w="191497" h="218854">
                <a:moveTo>
                  <a:pt x="0" y="41035"/>
                </a:moveTo>
                <a:cubicBezTo>
                  <a:pt x="0" y="25946"/>
                  <a:pt x="12268" y="13678"/>
                  <a:pt x="27357" y="13678"/>
                </a:cubicBezTo>
                <a:lnTo>
                  <a:pt x="164141" y="13678"/>
                </a:lnTo>
                <a:cubicBezTo>
                  <a:pt x="179230" y="13678"/>
                  <a:pt x="191497" y="25946"/>
                  <a:pt x="191497" y="41035"/>
                </a:cubicBezTo>
                <a:lnTo>
                  <a:pt x="191497" y="177819"/>
                </a:lnTo>
                <a:cubicBezTo>
                  <a:pt x="191497" y="192908"/>
                  <a:pt x="179230" y="205176"/>
                  <a:pt x="164141" y="205176"/>
                </a:cubicBezTo>
                <a:lnTo>
                  <a:pt x="27357" y="205176"/>
                </a:lnTo>
                <a:cubicBezTo>
                  <a:pt x="12268" y="205176"/>
                  <a:pt x="0" y="192908"/>
                  <a:pt x="0" y="177819"/>
                </a:cubicBezTo>
                <a:lnTo>
                  <a:pt x="0" y="41035"/>
                </a:lnTo>
                <a:close/>
                <a:moveTo>
                  <a:pt x="20518" y="157301"/>
                </a:moveTo>
                <a:lnTo>
                  <a:pt x="20518" y="170980"/>
                </a:lnTo>
                <a:cubicBezTo>
                  <a:pt x="20518" y="174741"/>
                  <a:pt x="23595" y="177819"/>
                  <a:pt x="27357" y="177819"/>
                </a:cubicBezTo>
                <a:lnTo>
                  <a:pt x="41035" y="177819"/>
                </a:lnTo>
                <a:cubicBezTo>
                  <a:pt x="44797" y="177819"/>
                  <a:pt x="47874" y="174741"/>
                  <a:pt x="47874" y="170980"/>
                </a:cubicBezTo>
                <a:lnTo>
                  <a:pt x="47874" y="157301"/>
                </a:lnTo>
                <a:cubicBezTo>
                  <a:pt x="47874" y="153540"/>
                  <a:pt x="44797" y="150462"/>
                  <a:pt x="41035" y="150462"/>
                </a:cubicBezTo>
                <a:lnTo>
                  <a:pt x="27357" y="150462"/>
                </a:lnTo>
                <a:cubicBezTo>
                  <a:pt x="23595" y="150462"/>
                  <a:pt x="20518" y="153540"/>
                  <a:pt x="20518" y="157301"/>
                </a:cubicBezTo>
                <a:close/>
                <a:moveTo>
                  <a:pt x="150462" y="150462"/>
                </a:moveTo>
                <a:cubicBezTo>
                  <a:pt x="146701" y="150462"/>
                  <a:pt x="143623" y="153540"/>
                  <a:pt x="143623" y="157301"/>
                </a:cubicBezTo>
                <a:lnTo>
                  <a:pt x="143623" y="170980"/>
                </a:lnTo>
                <a:cubicBezTo>
                  <a:pt x="143623" y="174741"/>
                  <a:pt x="146701" y="177819"/>
                  <a:pt x="150462" y="177819"/>
                </a:cubicBezTo>
                <a:lnTo>
                  <a:pt x="164141" y="177819"/>
                </a:lnTo>
                <a:cubicBezTo>
                  <a:pt x="167902" y="177819"/>
                  <a:pt x="170980" y="174741"/>
                  <a:pt x="170980" y="170980"/>
                </a:cubicBezTo>
                <a:lnTo>
                  <a:pt x="170980" y="157301"/>
                </a:lnTo>
                <a:cubicBezTo>
                  <a:pt x="170980" y="153540"/>
                  <a:pt x="167902" y="150462"/>
                  <a:pt x="164141" y="150462"/>
                </a:cubicBezTo>
                <a:lnTo>
                  <a:pt x="150462" y="150462"/>
                </a:lnTo>
                <a:close/>
                <a:moveTo>
                  <a:pt x="20518" y="102588"/>
                </a:moveTo>
                <a:lnTo>
                  <a:pt x="20518" y="116266"/>
                </a:lnTo>
                <a:cubicBezTo>
                  <a:pt x="20518" y="120028"/>
                  <a:pt x="23595" y="123105"/>
                  <a:pt x="27357" y="123105"/>
                </a:cubicBezTo>
                <a:lnTo>
                  <a:pt x="41035" y="123105"/>
                </a:lnTo>
                <a:cubicBezTo>
                  <a:pt x="44797" y="123105"/>
                  <a:pt x="47874" y="120028"/>
                  <a:pt x="47874" y="116266"/>
                </a:cubicBezTo>
                <a:lnTo>
                  <a:pt x="47874" y="102588"/>
                </a:lnTo>
                <a:cubicBezTo>
                  <a:pt x="47874" y="98826"/>
                  <a:pt x="44797" y="95749"/>
                  <a:pt x="41035" y="95749"/>
                </a:cubicBezTo>
                <a:lnTo>
                  <a:pt x="27357" y="95749"/>
                </a:lnTo>
                <a:cubicBezTo>
                  <a:pt x="23595" y="95749"/>
                  <a:pt x="20518" y="98826"/>
                  <a:pt x="20518" y="102588"/>
                </a:cubicBezTo>
                <a:close/>
                <a:moveTo>
                  <a:pt x="150462" y="95749"/>
                </a:moveTo>
                <a:cubicBezTo>
                  <a:pt x="146701" y="95749"/>
                  <a:pt x="143623" y="98826"/>
                  <a:pt x="143623" y="102588"/>
                </a:cubicBezTo>
                <a:lnTo>
                  <a:pt x="143623" y="116266"/>
                </a:lnTo>
                <a:cubicBezTo>
                  <a:pt x="143623" y="120028"/>
                  <a:pt x="146701" y="123105"/>
                  <a:pt x="150462" y="123105"/>
                </a:cubicBezTo>
                <a:lnTo>
                  <a:pt x="164141" y="123105"/>
                </a:lnTo>
                <a:cubicBezTo>
                  <a:pt x="167902" y="123105"/>
                  <a:pt x="170980" y="120028"/>
                  <a:pt x="170980" y="116266"/>
                </a:cubicBezTo>
                <a:lnTo>
                  <a:pt x="170980" y="102588"/>
                </a:lnTo>
                <a:cubicBezTo>
                  <a:pt x="170980" y="98826"/>
                  <a:pt x="167902" y="95749"/>
                  <a:pt x="164141" y="95749"/>
                </a:cubicBezTo>
                <a:lnTo>
                  <a:pt x="150462" y="95749"/>
                </a:lnTo>
                <a:close/>
                <a:moveTo>
                  <a:pt x="20518" y="47874"/>
                </a:moveTo>
                <a:lnTo>
                  <a:pt x="20518" y="61553"/>
                </a:lnTo>
                <a:cubicBezTo>
                  <a:pt x="20518" y="65314"/>
                  <a:pt x="23595" y="68392"/>
                  <a:pt x="27357" y="68392"/>
                </a:cubicBezTo>
                <a:lnTo>
                  <a:pt x="41035" y="68392"/>
                </a:lnTo>
                <a:cubicBezTo>
                  <a:pt x="44797" y="68392"/>
                  <a:pt x="47874" y="65314"/>
                  <a:pt x="47874" y="61553"/>
                </a:cubicBezTo>
                <a:lnTo>
                  <a:pt x="47874" y="47874"/>
                </a:lnTo>
                <a:cubicBezTo>
                  <a:pt x="47874" y="44113"/>
                  <a:pt x="44797" y="41035"/>
                  <a:pt x="41035" y="41035"/>
                </a:cubicBezTo>
                <a:lnTo>
                  <a:pt x="27357" y="41035"/>
                </a:lnTo>
                <a:cubicBezTo>
                  <a:pt x="23595" y="41035"/>
                  <a:pt x="20518" y="44113"/>
                  <a:pt x="20518" y="47874"/>
                </a:cubicBezTo>
                <a:close/>
                <a:moveTo>
                  <a:pt x="150462" y="41035"/>
                </a:moveTo>
                <a:cubicBezTo>
                  <a:pt x="146701" y="41035"/>
                  <a:pt x="143623" y="44113"/>
                  <a:pt x="143623" y="47874"/>
                </a:cubicBezTo>
                <a:lnTo>
                  <a:pt x="143623" y="61553"/>
                </a:lnTo>
                <a:cubicBezTo>
                  <a:pt x="143623" y="65314"/>
                  <a:pt x="146701" y="68392"/>
                  <a:pt x="150462" y="68392"/>
                </a:cubicBezTo>
                <a:lnTo>
                  <a:pt x="164141" y="68392"/>
                </a:lnTo>
                <a:cubicBezTo>
                  <a:pt x="167902" y="68392"/>
                  <a:pt x="170980" y="65314"/>
                  <a:pt x="170980" y="61553"/>
                </a:cubicBezTo>
                <a:lnTo>
                  <a:pt x="170980" y="47874"/>
                </a:lnTo>
                <a:cubicBezTo>
                  <a:pt x="170980" y="44113"/>
                  <a:pt x="167902" y="41035"/>
                  <a:pt x="164141" y="41035"/>
                </a:cubicBezTo>
                <a:lnTo>
                  <a:pt x="150462" y="41035"/>
                </a:lnTo>
                <a:close/>
              </a:path>
            </a:pathLst>
          </a:custGeom>
          <a:solidFill>
            <a:srgbClr val="1D1D1F"/>
          </a:solidFill>
          <a:ln/>
        </p:spPr>
      </p:sp>
      <p:sp>
        <p:nvSpPr>
          <p:cNvPr id="28" name="Text 26"/>
          <p:cNvSpPr/>
          <p:nvPr/>
        </p:nvSpPr>
        <p:spPr>
          <a:xfrm>
            <a:off x="7412089" y="2006163"/>
            <a:ext cx="1997044" cy="255330"/>
          </a:xfrm>
          <a:prstGeom prst="rect">
            <a:avLst/>
          </a:prstGeom>
          <a:noFill/>
          <a:ln/>
        </p:spPr>
        <p:txBody>
          <a:bodyPr wrap="square" lIns="0" tIns="0" rIns="0" bIns="0" rtlCol="0" anchor="ctr"/>
          <a:lstStyle/>
          <a:p>
            <a:pPr algn="ctr">
              <a:lnSpc>
                <a:spcPct val="130000"/>
              </a:lnSpc>
            </a:pPr>
            <a:r>
              <a:rPr lang="en-US" sz="1292" b="1" dirty="0">
                <a:solidFill>
                  <a:srgbClr val="34C759"/>
                </a:solidFill>
                <a:latin typeface="Liter" pitchFamily="34" charset="0"/>
                <a:ea typeface="Liter" pitchFamily="34" charset="-122"/>
                <a:cs typeface="Liter" pitchFamily="34" charset="-120"/>
              </a:rPr>
              <a:t>Entertainment</a:t>
            </a:r>
            <a:endParaRPr lang="en-US" sz="1600" dirty="0"/>
          </a:p>
        </p:txBody>
      </p:sp>
      <p:sp>
        <p:nvSpPr>
          <p:cNvPr id="29" name="Text 27"/>
          <p:cNvSpPr/>
          <p:nvPr/>
        </p:nvSpPr>
        <p:spPr>
          <a:xfrm>
            <a:off x="7416648" y="2334444"/>
            <a:ext cx="1987925" cy="218854"/>
          </a:xfrm>
          <a:prstGeom prst="rect">
            <a:avLst/>
          </a:prstGeom>
          <a:noFill/>
          <a:ln/>
        </p:spPr>
        <p:txBody>
          <a:bodyPr wrap="square" lIns="0" tIns="0" rIns="0" bIns="0" rtlCol="0" anchor="ctr"/>
          <a:lstStyle/>
          <a:p>
            <a:pPr algn="ct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Netflix, Spotify</a:t>
            </a:r>
            <a:endParaRPr lang="en-US" sz="1600" dirty="0"/>
          </a:p>
        </p:txBody>
      </p:sp>
      <p:sp>
        <p:nvSpPr>
          <p:cNvPr id="30" name="Shape 28"/>
          <p:cNvSpPr/>
          <p:nvPr/>
        </p:nvSpPr>
        <p:spPr>
          <a:xfrm>
            <a:off x="9621375" y="1221936"/>
            <a:ext cx="2206779" cy="1477266"/>
          </a:xfrm>
          <a:custGeom>
            <a:avLst/>
            <a:gdLst/>
            <a:ahLst/>
            <a:cxnLst/>
            <a:rect l="l" t="t" r="r" b="b"/>
            <a:pathLst>
              <a:path w="2206779" h="1477266">
                <a:moveTo>
                  <a:pt x="36449" y="0"/>
                </a:moveTo>
                <a:lnTo>
                  <a:pt x="2170303" y="0"/>
                </a:lnTo>
                <a:cubicBezTo>
                  <a:pt x="2190433" y="0"/>
                  <a:pt x="2206752" y="16319"/>
                  <a:pt x="2206752" y="36449"/>
                </a:cubicBezTo>
                <a:lnTo>
                  <a:pt x="2206752" y="1331341"/>
                </a:lnTo>
                <a:cubicBezTo>
                  <a:pt x="2206752" y="1411932"/>
                  <a:pt x="2141420" y="1477264"/>
                  <a:pt x="2060829" y="1477264"/>
                </a:cubicBezTo>
                <a:lnTo>
                  <a:pt x="145923" y="1477264"/>
                </a:lnTo>
                <a:cubicBezTo>
                  <a:pt x="65332" y="1477264"/>
                  <a:pt x="0" y="1411932"/>
                  <a:pt x="0" y="1331341"/>
                </a:cubicBezTo>
                <a:lnTo>
                  <a:pt x="0" y="36449"/>
                </a:lnTo>
                <a:cubicBezTo>
                  <a:pt x="0" y="16319"/>
                  <a:pt x="16319" y="0"/>
                  <a:pt x="36449" y="0"/>
                </a:cubicBezTo>
                <a:close/>
              </a:path>
            </a:pathLst>
          </a:custGeom>
          <a:gradFill rotWithShape="1" flip="none">
            <a:gsLst>
              <a:gs pos="0">
                <a:srgbClr val="0A84FF">
                  <a:alpha val="20000"/>
                </a:srgbClr>
              </a:gs>
              <a:gs pos="100000">
                <a:srgbClr val="2C2C2E"/>
              </a:gs>
            </a:gsLst>
            <a:lin ang="2700000" scaled="1"/>
          </a:gradFill>
          <a:ln/>
        </p:spPr>
      </p:sp>
      <p:sp>
        <p:nvSpPr>
          <p:cNvPr id="31" name="Shape 29"/>
          <p:cNvSpPr/>
          <p:nvPr/>
        </p:nvSpPr>
        <p:spPr>
          <a:xfrm>
            <a:off x="9621375" y="1221936"/>
            <a:ext cx="2206779" cy="36476"/>
          </a:xfrm>
          <a:custGeom>
            <a:avLst/>
            <a:gdLst/>
            <a:ahLst/>
            <a:cxnLst/>
            <a:rect l="l" t="t" r="r" b="b"/>
            <a:pathLst>
              <a:path w="2206779" h="36476">
                <a:moveTo>
                  <a:pt x="36449" y="0"/>
                </a:moveTo>
                <a:lnTo>
                  <a:pt x="2170303" y="0"/>
                </a:lnTo>
                <a:cubicBezTo>
                  <a:pt x="2190433" y="0"/>
                  <a:pt x="2206752" y="16319"/>
                  <a:pt x="2206752" y="36449"/>
                </a:cubicBezTo>
                <a:lnTo>
                  <a:pt x="2206752" y="36449"/>
                </a:lnTo>
                <a:lnTo>
                  <a:pt x="0" y="36449"/>
                </a:lnTo>
                <a:lnTo>
                  <a:pt x="0" y="36449"/>
                </a:lnTo>
                <a:cubicBezTo>
                  <a:pt x="0" y="16319"/>
                  <a:pt x="16319" y="0"/>
                  <a:pt x="36449" y="0"/>
                </a:cubicBezTo>
                <a:close/>
              </a:path>
            </a:pathLst>
          </a:custGeom>
          <a:solidFill>
            <a:srgbClr val="0A84FF"/>
          </a:solidFill>
          <a:ln/>
        </p:spPr>
      </p:sp>
      <p:sp>
        <p:nvSpPr>
          <p:cNvPr id="32" name="Shape 30"/>
          <p:cNvSpPr/>
          <p:nvPr/>
        </p:nvSpPr>
        <p:spPr>
          <a:xfrm>
            <a:off x="10468410" y="1386076"/>
            <a:ext cx="510660" cy="510660"/>
          </a:xfrm>
          <a:prstGeom prst="roundRect">
            <a:avLst>
              <a:gd name="adj" fmla="val 50000"/>
            </a:avLst>
          </a:prstGeom>
          <a:solidFill>
            <a:srgbClr val="0A84FF"/>
          </a:solidFill>
          <a:ln/>
        </p:spPr>
      </p:sp>
      <p:sp>
        <p:nvSpPr>
          <p:cNvPr id="33" name="Shape 31"/>
          <p:cNvSpPr/>
          <p:nvPr/>
        </p:nvSpPr>
        <p:spPr>
          <a:xfrm>
            <a:off x="10614313" y="1531979"/>
            <a:ext cx="218854" cy="218854"/>
          </a:xfrm>
          <a:custGeom>
            <a:avLst/>
            <a:gdLst/>
            <a:ahLst/>
            <a:cxnLst/>
            <a:rect l="l" t="t" r="r" b="b"/>
            <a:pathLst>
              <a:path w="218854" h="218854">
                <a:moveTo>
                  <a:pt x="116224" y="8634"/>
                </a:moveTo>
                <a:cubicBezTo>
                  <a:pt x="112035" y="6241"/>
                  <a:pt x="106862" y="6241"/>
                  <a:pt x="102631" y="8634"/>
                </a:cubicBezTo>
                <a:lnTo>
                  <a:pt x="6882" y="63348"/>
                </a:lnTo>
                <a:cubicBezTo>
                  <a:pt x="1496" y="66426"/>
                  <a:pt x="-1154" y="72752"/>
                  <a:pt x="427" y="78736"/>
                </a:cubicBezTo>
                <a:cubicBezTo>
                  <a:pt x="2009" y="84720"/>
                  <a:pt x="7480" y="88909"/>
                  <a:pt x="13678" y="88909"/>
                </a:cubicBezTo>
                <a:lnTo>
                  <a:pt x="27357" y="88909"/>
                </a:lnTo>
                <a:lnTo>
                  <a:pt x="27357" y="177819"/>
                </a:lnTo>
                <a:lnTo>
                  <a:pt x="27357" y="177819"/>
                </a:lnTo>
                <a:lnTo>
                  <a:pt x="5471" y="194233"/>
                </a:lnTo>
                <a:cubicBezTo>
                  <a:pt x="2009" y="196798"/>
                  <a:pt x="0" y="200859"/>
                  <a:pt x="0" y="205176"/>
                </a:cubicBezTo>
                <a:cubicBezTo>
                  <a:pt x="0" y="212742"/>
                  <a:pt x="6113" y="218854"/>
                  <a:pt x="13678" y="218854"/>
                </a:cubicBezTo>
                <a:lnTo>
                  <a:pt x="205176" y="218854"/>
                </a:lnTo>
                <a:cubicBezTo>
                  <a:pt x="212742" y="218854"/>
                  <a:pt x="218854" y="212742"/>
                  <a:pt x="218854" y="205176"/>
                </a:cubicBezTo>
                <a:cubicBezTo>
                  <a:pt x="218854" y="200859"/>
                  <a:pt x="216845" y="196798"/>
                  <a:pt x="213383" y="194233"/>
                </a:cubicBezTo>
                <a:lnTo>
                  <a:pt x="191497" y="177819"/>
                </a:lnTo>
                <a:lnTo>
                  <a:pt x="191497" y="88909"/>
                </a:lnTo>
                <a:lnTo>
                  <a:pt x="205176" y="88909"/>
                </a:lnTo>
                <a:cubicBezTo>
                  <a:pt x="211374" y="88909"/>
                  <a:pt x="216802" y="84720"/>
                  <a:pt x="218384" y="78736"/>
                </a:cubicBezTo>
                <a:cubicBezTo>
                  <a:pt x="219966" y="72752"/>
                  <a:pt x="217315" y="66426"/>
                  <a:pt x="211929" y="63348"/>
                </a:cubicBezTo>
                <a:lnTo>
                  <a:pt x="116181" y="8634"/>
                </a:lnTo>
                <a:close/>
                <a:moveTo>
                  <a:pt x="170980" y="88909"/>
                </a:moveTo>
                <a:lnTo>
                  <a:pt x="170980" y="177819"/>
                </a:lnTo>
                <a:lnTo>
                  <a:pt x="143623" y="177819"/>
                </a:lnTo>
                <a:lnTo>
                  <a:pt x="143623" y="88909"/>
                </a:lnTo>
                <a:lnTo>
                  <a:pt x="170980" y="88909"/>
                </a:lnTo>
                <a:close/>
                <a:moveTo>
                  <a:pt x="123105" y="88909"/>
                </a:moveTo>
                <a:lnTo>
                  <a:pt x="123105" y="177819"/>
                </a:lnTo>
                <a:lnTo>
                  <a:pt x="95749" y="177819"/>
                </a:lnTo>
                <a:lnTo>
                  <a:pt x="95749" y="88909"/>
                </a:lnTo>
                <a:lnTo>
                  <a:pt x="123105" y="88909"/>
                </a:lnTo>
                <a:close/>
                <a:moveTo>
                  <a:pt x="75231" y="88909"/>
                </a:moveTo>
                <a:lnTo>
                  <a:pt x="75231" y="177819"/>
                </a:lnTo>
                <a:lnTo>
                  <a:pt x="47874" y="177819"/>
                </a:lnTo>
                <a:lnTo>
                  <a:pt x="47874" y="88909"/>
                </a:lnTo>
                <a:lnTo>
                  <a:pt x="75231" y="88909"/>
                </a:lnTo>
                <a:close/>
                <a:moveTo>
                  <a:pt x="109427" y="41035"/>
                </a:moveTo>
                <a:cubicBezTo>
                  <a:pt x="116976" y="41035"/>
                  <a:pt x="123105" y="47164"/>
                  <a:pt x="123105" y="54714"/>
                </a:cubicBezTo>
                <a:cubicBezTo>
                  <a:pt x="123105" y="62263"/>
                  <a:pt x="116976" y="68392"/>
                  <a:pt x="109427" y="68392"/>
                </a:cubicBezTo>
                <a:cubicBezTo>
                  <a:pt x="101878" y="68392"/>
                  <a:pt x="95749" y="62263"/>
                  <a:pt x="95749" y="54714"/>
                </a:cubicBezTo>
                <a:cubicBezTo>
                  <a:pt x="95749" y="47164"/>
                  <a:pt x="101878" y="41035"/>
                  <a:pt x="109427" y="41035"/>
                </a:cubicBezTo>
                <a:close/>
              </a:path>
            </a:pathLst>
          </a:custGeom>
          <a:solidFill>
            <a:srgbClr val="FFFFFF"/>
          </a:solidFill>
          <a:ln/>
        </p:spPr>
      </p:sp>
      <p:sp>
        <p:nvSpPr>
          <p:cNvPr id="34" name="Text 32"/>
          <p:cNvSpPr/>
          <p:nvPr/>
        </p:nvSpPr>
        <p:spPr>
          <a:xfrm>
            <a:off x="9726243" y="2006163"/>
            <a:ext cx="1997044" cy="255330"/>
          </a:xfrm>
          <a:prstGeom prst="rect">
            <a:avLst/>
          </a:prstGeom>
          <a:noFill/>
          <a:ln/>
        </p:spPr>
        <p:txBody>
          <a:bodyPr wrap="square" lIns="0" tIns="0" rIns="0" bIns="0" rtlCol="0" anchor="ctr"/>
          <a:lstStyle/>
          <a:p>
            <a:pPr algn="ctr">
              <a:lnSpc>
                <a:spcPct val="130000"/>
              </a:lnSpc>
            </a:pPr>
            <a:r>
              <a:rPr lang="en-US" sz="1292" b="1" dirty="0">
                <a:solidFill>
                  <a:srgbClr val="0A84FF"/>
                </a:solidFill>
                <a:latin typeface="Liter" pitchFamily="34" charset="0"/>
                <a:ea typeface="Liter" pitchFamily="34" charset="-122"/>
                <a:cs typeface="Liter" pitchFamily="34" charset="-120"/>
              </a:rPr>
              <a:t>Banking</a:t>
            </a:r>
            <a:endParaRPr lang="en-US" sz="1600" dirty="0"/>
          </a:p>
        </p:txBody>
      </p:sp>
      <p:sp>
        <p:nvSpPr>
          <p:cNvPr id="35" name="Text 33"/>
          <p:cNvSpPr/>
          <p:nvPr/>
        </p:nvSpPr>
        <p:spPr>
          <a:xfrm>
            <a:off x="9730802" y="2334444"/>
            <a:ext cx="1987925" cy="218854"/>
          </a:xfrm>
          <a:prstGeom prst="rect">
            <a:avLst/>
          </a:prstGeom>
          <a:noFill/>
          <a:ln/>
        </p:spPr>
        <p:txBody>
          <a:bodyPr wrap="square" lIns="0" tIns="0" rIns="0" bIns="0" rtlCol="0" anchor="ctr"/>
          <a:lstStyle/>
          <a:p>
            <a:pPr algn="ct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Mobile banking</a:t>
            </a:r>
            <a:endParaRPr lang="en-US" sz="1600" dirty="0"/>
          </a:p>
        </p:txBody>
      </p:sp>
      <p:sp>
        <p:nvSpPr>
          <p:cNvPr id="36" name="Shape 34"/>
          <p:cNvSpPr/>
          <p:nvPr/>
        </p:nvSpPr>
        <p:spPr>
          <a:xfrm>
            <a:off x="382995" y="2845104"/>
            <a:ext cx="5635494" cy="2407396"/>
          </a:xfrm>
          <a:custGeom>
            <a:avLst/>
            <a:gdLst/>
            <a:ahLst/>
            <a:cxnLst/>
            <a:rect l="l" t="t" r="r" b="b"/>
            <a:pathLst>
              <a:path w="5635494" h="2407396">
                <a:moveTo>
                  <a:pt x="36449" y="0"/>
                </a:moveTo>
                <a:lnTo>
                  <a:pt x="5489575" y="0"/>
                </a:lnTo>
                <a:cubicBezTo>
                  <a:pt x="5570166" y="0"/>
                  <a:pt x="5635498" y="65332"/>
                  <a:pt x="5635498" y="145923"/>
                </a:cubicBezTo>
                <a:lnTo>
                  <a:pt x="5635498" y="2261489"/>
                </a:lnTo>
                <a:cubicBezTo>
                  <a:pt x="5635498" y="2342080"/>
                  <a:pt x="5570166" y="2407412"/>
                  <a:pt x="5489575" y="2407412"/>
                </a:cubicBezTo>
                <a:lnTo>
                  <a:pt x="36449" y="2407412"/>
                </a:lnTo>
                <a:cubicBezTo>
                  <a:pt x="16319" y="2407412"/>
                  <a:pt x="0" y="2391093"/>
                  <a:pt x="0" y="2370963"/>
                </a:cubicBezTo>
                <a:lnTo>
                  <a:pt x="0" y="36449"/>
                </a:lnTo>
                <a:cubicBezTo>
                  <a:pt x="0" y="16319"/>
                  <a:pt x="16319" y="0"/>
                  <a:pt x="36449" y="0"/>
                </a:cubicBezTo>
                <a:close/>
              </a:path>
            </a:pathLst>
          </a:custGeom>
          <a:solidFill>
            <a:srgbClr val="2C2C2E"/>
          </a:solidFill>
          <a:ln/>
        </p:spPr>
      </p:sp>
      <p:sp>
        <p:nvSpPr>
          <p:cNvPr id="37" name="Shape 35"/>
          <p:cNvSpPr/>
          <p:nvPr/>
        </p:nvSpPr>
        <p:spPr>
          <a:xfrm>
            <a:off x="382995" y="2845104"/>
            <a:ext cx="36476" cy="2407396"/>
          </a:xfrm>
          <a:custGeom>
            <a:avLst/>
            <a:gdLst/>
            <a:ahLst/>
            <a:cxnLst/>
            <a:rect l="l" t="t" r="r" b="b"/>
            <a:pathLst>
              <a:path w="36476" h="2407396">
                <a:moveTo>
                  <a:pt x="36449" y="0"/>
                </a:moveTo>
                <a:lnTo>
                  <a:pt x="36449" y="0"/>
                </a:lnTo>
                <a:lnTo>
                  <a:pt x="36449" y="2407412"/>
                </a:lnTo>
                <a:lnTo>
                  <a:pt x="36449" y="2407412"/>
                </a:lnTo>
                <a:cubicBezTo>
                  <a:pt x="16319" y="2407412"/>
                  <a:pt x="0" y="2391093"/>
                  <a:pt x="0" y="2370963"/>
                </a:cubicBezTo>
                <a:lnTo>
                  <a:pt x="0" y="36449"/>
                </a:lnTo>
                <a:cubicBezTo>
                  <a:pt x="0" y="16319"/>
                  <a:pt x="16319" y="0"/>
                  <a:pt x="36449" y="0"/>
                </a:cubicBezTo>
                <a:close/>
              </a:path>
            </a:pathLst>
          </a:custGeom>
          <a:solidFill>
            <a:srgbClr val="34C759"/>
          </a:solidFill>
          <a:ln/>
        </p:spPr>
      </p:sp>
      <p:sp>
        <p:nvSpPr>
          <p:cNvPr id="38" name="Shape 36"/>
          <p:cNvSpPr/>
          <p:nvPr/>
        </p:nvSpPr>
        <p:spPr>
          <a:xfrm>
            <a:off x="665681" y="3100434"/>
            <a:ext cx="136784" cy="182378"/>
          </a:xfrm>
          <a:custGeom>
            <a:avLst/>
            <a:gdLst/>
            <a:ahLst/>
            <a:cxnLst/>
            <a:rect l="l" t="t" r="r" b="b"/>
            <a:pathLst>
              <a:path w="136784" h="182378">
                <a:moveTo>
                  <a:pt x="104333" y="136784"/>
                </a:moveTo>
                <a:cubicBezTo>
                  <a:pt x="106934" y="128840"/>
                  <a:pt x="112134" y="121645"/>
                  <a:pt x="118012" y="115447"/>
                </a:cubicBezTo>
                <a:cubicBezTo>
                  <a:pt x="129660" y="103193"/>
                  <a:pt x="136784" y="86630"/>
                  <a:pt x="136784" y="68392"/>
                </a:cubicBezTo>
                <a:cubicBezTo>
                  <a:pt x="136784" y="30634"/>
                  <a:pt x="106150" y="0"/>
                  <a:pt x="68392" y="0"/>
                </a:cubicBezTo>
                <a:cubicBezTo>
                  <a:pt x="30634" y="0"/>
                  <a:pt x="0" y="30634"/>
                  <a:pt x="0" y="68392"/>
                </a:cubicBezTo>
                <a:cubicBezTo>
                  <a:pt x="0" y="86630"/>
                  <a:pt x="7124" y="103193"/>
                  <a:pt x="18772" y="115447"/>
                </a:cubicBezTo>
                <a:cubicBezTo>
                  <a:pt x="24650" y="121645"/>
                  <a:pt x="29886" y="128840"/>
                  <a:pt x="32451" y="136784"/>
                </a:cubicBezTo>
                <a:lnTo>
                  <a:pt x="104298" y="136784"/>
                </a:lnTo>
                <a:close/>
                <a:moveTo>
                  <a:pt x="102588" y="153882"/>
                </a:moveTo>
                <a:lnTo>
                  <a:pt x="34196" y="153882"/>
                </a:lnTo>
                <a:lnTo>
                  <a:pt x="34196" y="159581"/>
                </a:lnTo>
                <a:cubicBezTo>
                  <a:pt x="34196" y="175326"/>
                  <a:pt x="46948" y="188078"/>
                  <a:pt x="62693" y="188078"/>
                </a:cubicBezTo>
                <a:lnTo>
                  <a:pt x="74091" y="188078"/>
                </a:lnTo>
                <a:cubicBezTo>
                  <a:pt x="89836" y="188078"/>
                  <a:pt x="102588" y="175326"/>
                  <a:pt x="102588" y="159581"/>
                </a:cubicBezTo>
                <a:lnTo>
                  <a:pt x="102588" y="153882"/>
                </a:lnTo>
                <a:close/>
                <a:moveTo>
                  <a:pt x="65542" y="39895"/>
                </a:moveTo>
                <a:cubicBezTo>
                  <a:pt x="51365" y="39895"/>
                  <a:pt x="39895" y="51365"/>
                  <a:pt x="39895" y="65542"/>
                </a:cubicBezTo>
                <a:cubicBezTo>
                  <a:pt x="39895" y="70280"/>
                  <a:pt x="36084" y="74091"/>
                  <a:pt x="31346" y="74091"/>
                </a:cubicBezTo>
                <a:cubicBezTo>
                  <a:pt x="26609" y="74091"/>
                  <a:pt x="22797" y="70280"/>
                  <a:pt x="22797" y="65542"/>
                </a:cubicBezTo>
                <a:cubicBezTo>
                  <a:pt x="22797" y="41926"/>
                  <a:pt x="41926" y="22797"/>
                  <a:pt x="65542" y="22797"/>
                </a:cubicBezTo>
                <a:cubicBezTo>
                  <a:pt x="70280" y="22797"/>
                  <a:pt x="74091" y="26609"/>
                  <a:pt x="74091" y="31346"/>
                </a:cubicBezTo>
                <a:cubicBezTo>
                  <a:pt x="74091" y="36084"/>
                  <a:pt x="70280" y="39895"/>
                  <a:pt x="65542" y="39895"/>
                </a:cubicBezTo>
                <a:close/>
              </a:path>
            </a:pathLst>
          </a:custGeom>
          <a:solidFill>
            <a:srgbClr val="34C759"/>
          </a:solidFill>
          <a:ln/>
        </p:spPr>
      </p:sp>
      <p:sp>
        <p:nvSpPr>
          <p:cNvPr id="39" name="Text 37"/>
          <p:cNvSpPr/>
          <p:nvPr/>
        </p:nvSpPr>
        <p:spPr>
          <a:xfrm>
            <a:off x="848060" y="3063958"/>
            <a:ext cx="5042764" cy="255330"/>
          </a:xfrm>
          <a:prstGeom prst="rect">
            <a:avLst/>
          </a:prstGeom>
          <a:noFill/>
          <a:ln/>
        </p:spPr>
        <p:txBody>
          <a:bodyPr wrap="square" lIns="0" tIns="0" rIns="0" bIns="0" rtlCol="0" anchor="ctr"/>
          <a:lstStyle/>
          <a:p>
            <a:pPr>
              <a:lnSpc>
                <a:spcPct val="120000"/>
              </a:lnSpc>
            </a:pPr>
            <a:r>
              <a:rPr lang="en-US" sz="1436" b="1" dirty="0">
                <a:solidFill>
                  <a:srgbClr val="34C759"/>
                </a:solidFill>
                <a:latin typeface="Liter" pitchFamily="34" charset="0"/>
                <a:ea typeface="Liter" pitchFamily="34" charset="-122"/>
                <a:cs typeface="Liter" pitchFamily="34" charset="-120"/>
              </a:rPr>
              <a:t>Key Points</a:t>
            </a:r>
            <a:endParaRPr lang="en-US" sz="1600" dirty="0"/>
          </a:p>
        </p:txBody>
      </p:sp>
      <p:sp>
        <p:nvSpPr>
          <p:cNvPr id="40" name="Text 38"/>
          <p:cNvSpPr/>
          <p:nvPr/>
        </p:nvSpPr>
        <p:spPr>
          <a:xfrm>
            <a:off x="620087" y="3465191"/>
            <a:ext cx="118546" cy="218854"/>
          </a:xfrm>
          <a:prstGeom prst="rect">
            <a:avLst/>
          </a:prstGeom>
          <a:noFill/>
          <a:ln/>
        </p:spPr>
        <p:txBody>
          <a:bodyPr wrap="square" lIns="0" tIns="0" rIns="0" bIns="0" rtlCol="0" anchor="ctr"/>
          <a:lstStyle/>
          <a:p>
            <a:pPr>
              <a:lnSpc>
                <a:spcPct val="130000"/>
              </a:lnSpc>
            </a:pPr>
            <a:r>
              <a:rPr lang="en-US" sz="1149"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1" name="Text 39"/>
          <p:cNvSpPr/>
          <p:nvPr/>
        </p:nvSpPr>
        <p:spPr>
          <a:xfrm>
            <a:off x="740912" y="3465191"/>
            <a:ext cx="2945412" cy="218854"/>
          </a:xfrm>
          <a:prstGeom prst="rect">
            <a:avLst/>
          </a:prstGeom>
          <a:noFill/>
          <a:ln/>
        </p:spPr>
        <p:txBody>
          <a:bodyPr wrap="square" lIns="0" tIns="0" rIns="0" bIns="0" rtlCol="0" anchor="ctr"/>
          <a:lstStyle/>
          <a:p>
            <a:pP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Apps are </a:t>
            </a:r>
            <a:pPr>
              <a:lnSpc>
                <a:spcPct val="130000"/>
              </a:lnSpc>
            </a:pPr>
            <a:r>
              <a:rPr lang="en-US" sz="1149" b="1" dirty="0">
                <a:solidFill>
                  <a:srgbClr val="34C759"/>
                </a:solidFill>
                <a:latin typeface="Quattrocento Sans" pitchFamily="34" charset="0"/>
                <a:ea typeface="Quattrocento Sans" pitchFamily="34" charset="-122"/>
                <a:cs typeface="Quattrocento Sans" pitchFamily="34" charset="-120"/>
              </a:rPr>
              <a:t>integrated into every part</a:t>
            </a:r>
            <a:pP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 of our day</a:t>
            </a:r>
            <a:endParaRPr lang="en-US" sz="1600" dirty="0"/>
          </a:p>
        </p:txBody>
      </p:sp>
      <p:sp>
        <p:nvSpPr>
          <p:cNvPr id="42" name="Text 40"/>
          <p:cNvSpPr/>
          <p:nvPr/>
        </p:nvSpPr>
        <p:spPr>
          <a:xfrm>
            <a:off x="620087" y="3793472"/>
            <a:ext cx="118546" cy="218854"/>
          </a:xfrm>
          <a:prstGeom prst="rect">
            <a:avLst/>
          </a:prstGeom>
          <a:noFill/>
          <a:ln/>
        </p:spPr>
        <p:txBody>
          <a:bodyPr wrap="square" lIns="0" tIns="0" rIns="0" bIns="0" rtlCol="0" anchor="ctr"/>
          <a:lstStyle/>
          <a:p>
            <a:pPr>
              <a:lnSpc>
                <a:spcPct val="130000"/>
              </a:lnSpc>
            </a:pPr>
            <a:r>
              <a:rPr lang="en-US" sz="1149"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3" name="Text 41"/>
          <p:cNvSpPr/>
          <p:nvPr/>
        </p:nvSpPr>
        <p:spPr>
          <a:xfrm>
            <a:off x="740912" y="3793472"/>
            <a:ext cx="2653607" cy="218854"/>
          </a:xfrm>
          <a:prstGeom prst="rect">
            <a:avLst/>
          </a:prstGeom>
          <a:noFill/>
          <a:ln/>
        </p:spPr>
        <p:txBody>
          <a:bodyPr wrap="square" lIns="0" tIns="0" rIns="0" bIns="0" rtlCol="0" anchor="ctr"/>
          <a:lstStyle/>
          <a:p>
            <a:pP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From </a:t>
            </a:r>
            <a:pPr>
              <a:lnSpc>
                <a:spcPct val="130000"/>
              </a:lnSpc>
            </a:pPr>
            <a:r>
              <a:rPr lang="en-US" sz="1149" b="1" dirty="0">
                <a:solidFill>
                  <a:srgbClr val="34C759"/>
                </a:solidFill>
                <a:latin typeface="Quattrocento Sans" pitchFamily="34" charset="0"/>
                <a:ea typeface="Quattrocento Sans" pitchFamily="34" charset="-122"/>
                <a:cs typeface="Quattrocento Sans" pitchFamily="34" charset="-120"/>
              </a:rPr>
              <a:t>morning alarm</a:t>
            </a:r>
            <a:pP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 to </a:t>
            </a:r>
            <a:pPr>
              <a:lnSpc>
                <a:spcPct val="130000"/>
              </a:lnSpc>
            </a:pPr>
            <a:r>
              <a:rPr lang="en-US" sz="1149" b="1" dirty="0">
                <a:solidFill>
                  <a:srgbClr val="34C759"/>
                </a:solidFill>
                <a:latin typeface="Quattrocento Sans" pitchFamily="34" charset="0"/>
                <a:ea typeface="Quattrocento Sans" pitchFamily="34" charset="-122"/>
                <a:cs typeface="Quattrocento Sans" pitchFamily="34" charset="-120"/>
              </a:rPr>
              <a:t>nighttime reading</a:t>
            </a:r>
            <a:endParaRPr lang="en-US" sz="1600" dirty="0"/>
          </a:p>
        </p:txBody>
      </p:sp>
      <p:sp>
        <p:nvSpPr>
          <p:cNvPr id="44" name="Text 42"/>
          <p:cNvSpPr/>
          <p:nvPr/>
        </p:nvSpPr>
        <p:spPr>
          <a:xfrm>
            <a:off x="620087" y="4121753"/>
            <a:ext cx="118546" cy="218854"/>
          </a:xfrm>
          <a:prstGeom prst="rect">
            <a:avLst/>
          </a:prstGeom>
          <a:noFill/>
          <a:ln/>
        </p:spPr>
        <p:txBody>
          <a:bodyPr wrap="square" lIns="0" tIns="0" rIns="0" bIns="0" rtlCol="0" anchor="ctr"/>
          <a:lstStyle/>
          <a:p>
            <a:pPr>
              <a:lnSpc>
                <a:spcPct val="130000"/>
              </a:lnSpc>
            </a:pPr>
            <a:r>
              <a:rPr lang="en-US" sz="1149"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5" name="Text 43"/>
          <p:cNvSpPr/>
          <p:nvPr/>
        </p:nvSpPr>
        <p:spPr>
          <a:xfrm>
            <a:off x="740912" y="4121753"/>
            <a:ext cx="2179423" cy="218854"/>
          </a:xfrm>
          <a:prstGeom prst="rect">
            <a:avLst/>
          </a:prstGeom>
          <a:noFill/>
          <a:ln/>
        </p:spPr>
        <p:txBody>
          <a:bodyPr wrap="square" lIns="0" tIns="0" rIns="0" bIns="0" rtlCol="0" anchor="ctr"/>
          <a:lstStyle/>
          <a:p>
            <a:pP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They make tasks </a:t>
            </a:r>
            <a:pPr>
              <a:lnSpc>
                <a:spcPct val="130000"/>
              </a:lnSpc>
            </a:pPr>
            <a:r>
              <a:rPr lang="en-US" sz="1149" b="1" dirty="0">
                <a:solidFill>
                  <a:srgbClr val="34C759"/>
                </a:solidFill>
                <a:latin typeface="Quattrocento Sans" pitchFamily="34" charset="0"/>
                <a:ea typeface="Quattrocento Sans" pitchFamily="34" charset="-122"/>
                <a:cs typeface="Quattrocento Sans" pitchFamily="34" charset="-120"/>
              </a:rPr>
              <a:t>faster and easier</a:t>
            </a:r>
            <a:endParaRPr lang="en-US" sz="1600" dirty="0"/>
          </a:p>
        </p:txBody>
      </p:sp>
      <p:sp>
        <p:nvSpPr>
          <p:cNvPr id="46" name="Text 44"/>
          <p:cNvSpPr/>
          <p:nvPr/>
        </p:nvSpPr>
        <p:spPr>
          <a:xfrm>
            <a:off x="620087" y="4450034"/>
            <a:ext cx="118546" cy="218854"/>
          </a:xfrm>
          <a:prstGeom prst="rect">
            <a:avLst/>
          </a:prstGeom>
          <a:noFill/>
          <a:ln/>
        </p:spPr>
        <p:txBody>
          <a:bodyPr wrap="square" lIns="0" tIns="0" rIns="0" bIns="0" rtlCol="0" anchor="ctr"/>
          <a:lstStyle/>
          <a:p>
            <a:pPr>
              <a:lnSpc>
                <a:spcPct val="130000"/>
              </a:lnSpc>
            </a:pPr>
            <a:r>
              <a:rPr lang="en-US" sz="1149"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7" name="Text 45"/>
          <p:cNvSpPr/>
          <p:nvPr/>
        </p:nvSpPr>
        <p:spPr>
          <a:xfrm>
            <a:off x="740912" y="4450034"/>
            <a:ext cx="2680963" cy="218854"/>
          </a:xfrm>
          <a:prstGeom prst="rect">
            <a:avLst/>
          </a:prstGeom>
          <a:noFill/>
          <a:ln/>
        </p:spPr>
        <p:txBody>
          <a:bodyPr wrap="square" lIns="0" tIns="0" rIns="0" bIns="0" rtlCol="0" anchor="ctr"/>
          <a:lstStyle/>
          <a:p>
            <a:pP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We </a:t>
            </a:r>
            <a:pPr>
              <a:lnSpc>
                <a:spcPct val="130000"/>
              </a:lnSpc>
            </a:pPr>
            <a:r>
              <a:rPr lang="en-US" sz="1149" b="1" dirty="0">
                <a:solidFill>
                  <a:srgbClr val="34C759"/>
                </a:solidFill>
                <a:latin typeface="Quattrocento Sans" pitchFamily="34" charset="0"/>
                <a:ea typeface="Quattrocento Sans" pitchFamily="34" charset="-122"/>
                <a:cs typeface="Quattrocento Sans" pitchFamily="34" charset="-120"/>
              </a:rPr>
              <a:t>depend on them</a:t>
            </a:r>
            <a:pP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 for work and leisure</a:t>
            </a:r>
            <a:endParaRPr lang="en-US" sz="1600" dirty="0"/>
          </a:p>
        </p:txBody>
      </p:sp>
      <p:sp>
        <p:nvSpPr>
          <p:cNvPr id="48" name="Text 46"/>
          <p:cNvSpPr/>
          <p:nvPr/>
        </p:nvSpPr>
        <p:spPr>
          <a:xfrm>
            <a:off x="620087" y="4778316"/>
            <a:ext cx="118546" cy="218854"/>
          </a:xfrm>
          <a:prstGeom prst="rect">
            <a:avLst/>
          </a:prstGeom>
          <a:noFill/>
          <a:ln/>
        </p:spPr>
        <p:txBody>
          <a:bodyPr wrap="square" lIns="0" tIns="0" rIns="0" bIns="0" rtlCol="0" anchor="ctr"/>
          <a:lstStyle/>
          <a:p>
            <a:pPr>
              <a:lnSpc>
                <a:spcPct val="130000"/>
              </a:lnSpc>
            </a:pPr>
            <a:r>
              <a:rPr lang="en-US" sz="1149"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9" name="Text 47"/>
          <p:cNvSpPr/>
          <p:nvPr/>
        </p:nvSpPr>
        <p:spPr>
          <a:xfrm>
            <a:off x="740912" y="4778316"/>
            <a:ext cx="2608012" cy="218854"/>
          </a:xfrm>
          <a:prstGeom prst="rect">
            <a:avLst/>
          </a:prstGeom>
          <a:noFill/>
          <a:ln/>
        </p:spPr>
        <p:txBody>
          <a:bodyPr wrap="square" lIns="0" tIns="0" rIns="0" bIns="0" rtlCol="0" anchor="ctr"/>
          <a:lstStyle/>
          <a:p>
            <a:pP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They </a:t>
            </a:r>
            <a:pPr>
              <a:lnSpc>
                <a:spcPct val="130000"/>
              </a:lnSpc>
            </a:pPr>
            <a:r>
              <a:rPr lang="en-US" sz="1149" b="1" dirty="0">
                <a:solidFill>
                  <a:srgbClr val="34C759"/>
                </a:solidFill>
                <a:latin typeface="Quattrocento Sans" pitchFamily="34" charset="0"/>
                <a:ea typeface="Quattrocento Sans" pitchFamily="34" charset="-122"/>
                <a:cs typeface="Quattrocento Sans" pitchFamily="34" charset="-120"/>
              </a:rPr>
              <a:t>connect us</a:t>
            </a:r>
            <a:pP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 with people worldwide</a:t>
            </a:r>
            <a:endParaRPr lang="en-US" sz="1600" dirty="0"/>
          </a:p>
        </p:txBody>
      </p:sp>
      <p:sp>
        <p:nvSpPr>
          <p:cNvPr id="50" name="Shape 48"/>
          <p:cNvSpPr/>
          <p:nvPr/>
        </p:nvSpPr>
        <p:spPr>
          <a:xfrm>
            <a:off x="368404" y="5405701"/>
            <a:ext cx="5651908" cy="1448085"/>
          </a:xfrm>
          <a:prstGeom prst="roundRect">
            <a:avLst>
              <a:gd name="adj" fmla="val 10076"/>
            </a:avLst>
          </a:prstGeom>
          <a:solidFill>
            <a:srgbClr val="0A84FF">
              <a:alpha val="10196"/>
            </a:srgbClr>
          </a:solidFill>
          <a:ln w="10160">
            <a:solidFill>
              <a:srgbClr val="0A84FF">
                <a:alpha val="30196"/>
              </a:srgbClr>
            </a:solidFill>
            <a:prstDash val="solid"/>
          </a:ln>
        </p:spPr>
      </p:sp>
      <p:sp>
        <p:nvSpPr>
          <p:cNvPr id="51" name="Shape 49"/>
          <p:cNvSpPr/>
          <p:nvPr/>
        </p:nvSpPr>
        <p:spPr>
          <a:xfrm>
            <a:off x="577228" y="5637320"/>
            <a:ext cx="164141" cy="164141"/>
          </a:xfrm>
          <a:custGeom>
            <a:avLst/>
            <a:gdLst/>
            <a:ahLst/>
            <a:cxnLst/>
            <a:rect l="l" t="t" r="r" b="b"/>
            <a:pathLst>
              <a:path w="164141" h="164141">
                <a:moveTo>
                  <a:pt x="82070" y="153882"/>
                </a:moveTo>
                <a:cubicBezTo>
                  <a:pt x="127401" y="153882"/>
                  <a:pt x="164141" y="119419"/>
                  <a:pt x="164141" y="76941"/>
                </a:cubicBezTo>
                <a:cubicBezTo>
                  <a:pt x="164141" y="34463"/>
                  <a:pt x="127401" y="0"/>
                  <a:pt x="82070" y="0"/>
                </a:cubicBezTo>
                <a:cubicBezTo>
                  <a:pt x="36739" y="0"/>
                  <a:pt x="0" y="34463"/>
                  <a:pt x="0" y="76941"/>
                </a:cubicBezTo>
                <a:cubicBezTo>
                  <a:pt x="0" y="94349"/>
                  <a:pt x="6155" y="110378"/>
                  <a:pt x="16542" y="123266"/>
                </a:cubicBezTo>
                <a:lnTo>
                  <a:pt x="898" y="152856"/>
                </a:lnTo>
                <a:cubicBezTo>
                  <a:pt x="-641" y="155741"/>
                  <a:pt x="-160" y="159268"/>
                  <a:pt x="2052" y="161672"/>
                </a:cubicBezTo>
                <a:cubicBezTo>
                  <a:pt x="4264" y="164076"/>
                  <a:pt x="7758" y="164814"/>
                  <a:pt x="10740" y="163531"/>
                </a:cubicBezTo>
                <a:lnTo>
                  <a:pt x="48697" y="147278"/>
                </a:lnTo>
                <a:cubicBezTo>
                  <a:pt x="58892" y="151509"/>
                  <a:pt x="70177" y="153882"/>
                  <a:pt x="82070" y="153882"/>
                </a:cubicBezTo>
                <a:close/>
                <a:moveTo>
                  <a:pt x="41035" y="66682"/>
                </a:moveTo>
                <a:cubicBezTo>
                  <a:pt x="46697" y="66682"/>
                  <a:pt x="51294" y="71279"/>
                  <a:pt x="51294" y="76941"/>
                </a:cubicBezTo>
                <a:cubicBezTo>
                  <a:pt x="51294" y="82603"/>
                  <a:pt x="46697" y="87200"/>
                  <a:pt x="41035" y="87200"/>
                </a:cubicBezTo>
                <a:cubicBezTo>
                  <a:pt x="35373" y="87200"/>
                  <a:pt x="30776" y="82603"/>
                  <a:pt x="30776" y="76941"/>
                </a:cubicBezTo>
                <a:cubicBezTo>
                  <a:pt x="30776" y="71279"/>
                  <a:pt x="35373" y="66682"/>
                  <a:pt x="41035" y="66682"/>
                </a:cubicBezTo>
                <a:close/>
                <a:moveTo>
                  <a:pt x="82070" y="66682"/>
                </a:moveTo>
                <a:cubicBezTo>
                  <a:pt x="87732" y="66682"/>
                  <a:pt x="92329" y="71279"/>
                  <a:pt x="92329" y="76941"/>
                </a:cubicBezTo>
                <a:cubicBezTo>
                  <a:pt x="92329" y="82603"/>
                  <a:pt x="87732" y="87200"/>
                  <a:pt x="82070" y="87200"/>
                </a:cubicBezTo>
                <a:cubicBezTo>
                  <a:pt x="76408" y="87200"/>
                  <a:pt x="71812" y="82603"/>
                  <a:pt x="71812" y="76941"/>
                </a:cubicBezTo>
                <a:cubicBezTo>
                  <a:pt x="71812" y="71279"/>
                  <a:pt x="76408" y="66682"/>
                  <a:pt x="82070" y="66682"/>
                </a:cubicBezTo>
                <a:close/>
                <a:moveTo>
                  <a:pt x="112847" y="76941"/>
                </a:moveTo>
                <a:cubicBezTo>
                  <a:pt x="112847" y="71279"/>
                  <a:pt x="117443" y="66682"/>
                  <a:pt x="123105" y="66682"/>
                </a:cubicBezTo>
                <a:cubicBezTo>
                  <a:pt x="128767" y="66682"/>
                  <a:pt x="133364" y="71279"/>
                  <a:pt x="133364" y="76941"/>
                </a:cubicBezTo>
                <a:cubicBezTo>
                  <a:pt x="133364" y="82603"/>
                  <a:pt x="128767" y="87200"/>
                  <a:pt x="123105" y="87200"/>
                </a:cubicBezTo>
                <a:cubicBezTo>
                  <a:pt x="117443" y="87200"/>
                  <a:pt x="112847" y="82603"/>
                  <a:pt x="112847" y="76941"/>
                </a:cubicBezTo>
                <a:close/>
              </a:path>
            </a:pathLst>
          </a:custGeom>
          <a:solidFill>
            <a:srgbClr val="0A84FF"/>
          </a:solidFill>
          <a:ln/>
        </p:spPr>
      </p:sp>
      <p:sp>
        <p:nvSpPr>
          <p:cNvPr id="52" name="Text 50"/>
          <p:cNvSpPr/>
          <p:nvPr/>
        </p:nvSpPr>
        <p:spPr>
          <a:xfrm>
            <a:off x="764166" y="5591725"/>
            <a:ext cx="5152191" cy="255330"/>
          </a:xfrm>
          <a:prstGeom prst="rect">
            <a:avLst/>
          </a:prstGeom>
          <a:noFill/>
          <a:ln/>
        </p:spPr>
        <p:txBody>
          <a:bodyPr wrap="square" lIns="0" tIns="0" rIns="0" bIns="0" rtlCol="0" anchor="ctr"/>
          <a:lstStyle/>
          <a:p>
            <a:pPr>
              <a:lnSpc>
                <a:spcPct val="130000"/>
              </a:lnSpc>
            </a:pPr>
            <a:r>
              <a:rPr lang="en-US" sz="1292"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53" name="Text 51"/>
          <p:cNvSpPr/>
          <p:nvPr/>
        </p:nvSpPr>
        <p:spPr>
          <a:xfrm>
            <a:off x="554431" y="5956482"/>
            <a:ext cx="5352808" cy="711276"/>
          </a:xfrm>
          <a:prstGeom prst="rect">
            <a:avLst/>
          </a:prstGeom>
          <a:noFill/>
          <a:ln/>
        </p:spPr>
        <p:txBody>
          <a:bodyPr wrap="square" lIns="0" tIns="0" rIns="0" bIns="0" rtlCol="0" anchor="ctr"/>
          <a:lstStyle/>
          <a:p>
            <a:pPr>
              <a:lnSpc>
                <a:spcPct val="140000"/>
              </a:lnSpc>
            </a:pPr>
            <a:r>
              <a:rPr lang="en-US" sz="1149" dirty="0">
                <a:solidFill>
                  <a:srgbClr val="F5F5F7"/>
                </a:solidFill>
                <a:latin typeface="Quattrocento Sans" pitchFamily="34" charset="0"/>
                <a:ea typeface="Quattrocento Sans" pitchFamily="34" charset="-122"/>
                <a:cs typeface="Quattrocento Sans" pitchFamily="34" charset="-120"/>
              </a:rPr>
              <a:t>Imagine your day </a:t>
            </a:r>
            <a:pPr>
              <a:lnSpc>
                <a:spcPct val="140000"/>
              </a:lnSpc>
            </a:pPr>
            <a:r>
              <a:rPr lang="en-US" sz="1149" b="1" dirty="0">
                <a:solidFill>
                  <a:srgbClr val="34C759"/>
                </a:solidFill>
                <a:latin typeface="Quattrocento Sans" pitchFamily="34" charset="0"/>
                <a:ea typeface="Quattrocento Sans" pitchFamily="34" charset="-122"/>
                <a:cs typeface="Quattrocento Sans" pitchFamily="34" charset="-120"/>
              </a:rPr>
              <a:t>without any apps</a:t>
            </a:r>
            <a:pPr>
              <a:lnSpc>
                <a:spcPct val="140000"/>
              </a:lnSpc>
            </a:pPr>
            <a:r>
              <a:rPr lang="en-US" sz="1149" dirty="0">
                <a:solidFill>
                  <a:srgbClr val="F5F5F7"/>
                </a:solidFill>
                <a:latin typeface="Quattrocento Sans" pitchFamily="34" charset="0"/>
                <a:ea typeface="Quattrocento Sans" pitchFamily="34" charset="-122"/>
                <a:cs typeface="Quattrocento Sans" pitchFamily="34" charset="-120"/>
              </a:rPr>
              <a:t>. No alarm, no WhatsApp messages, no Uber, no music. Apps have become as essential as </a:t>
            </a:r>
            <a:pPr>
              <a:lnSpc>
                <a:spcPct val="140000"/>
              </a:lnSpc>
            </a:pPr>
            <a:r>
              <a:rPr lang="en-US" sz="1149" b="1" dirty="0">
                <a:solidFill>
                  <a:srgbClr val="0A84FF"/>
                </a:solidFill>
                <a:latin typeface="Quattrocento Sans" pitchFamily="34" charset="0"/>
                <a:ea typeface="Quattrocento Sans" pitchFamily="34" charset="-122"/>
                <a:cs typeface="Quattrocento Sans" pitchFamily="34" charset="-120"/>
              </a:rPr>
              <a:t>electricity and water</a:t>
            </a:r>
            <a:pPr>
              <a:lnSpc>
                <a:spcPct val="140000"/>
              </a:lnSpc>
            </a:pPr>
            <a:r>
              <a:rPr lang="en-US" sz="1149" dirty="0">
                <a:solidFill>
                  <a:srgbClr val="F5F5F7"/>
                </a:solidFill>
                <a:latin typeface="Quattrocento Sans" pitchFamily="34" charset="0"/>
                <a:ea typeface="Quattrocento Sans" pitchFamily="34" charset="-122"/>
                <a:cs typeface="Quattrocento Sans" pitchFamily="34" charset="-120"/>
              </a:rPr>
              <a:t> in our modern lives.</a:t>
            </a:r>
            <a:endParaRPr lang="en-US" sz="1600" dirty="0"/>
          </a:p>
        </p:txBody>
      </p:sp>
      <p:sp>
        <p:nvSpPr>
          <p:cNvPr id="54" name="Shape 52"/>
          <p:cNvSpPr/>
          <p:nvPr/>
        </p:nvSpPr>
        <p:spPr>
          <a:xfrm>
            <a:off x="6168381" y="2845104"/>
            <a:ext cx="5653732" cy="2808628"/>
          </a:xfrm>
          <a:prstGeom prst="roundRect">
            <a:avLst>
              <a:gd name="adj" fmla="val 5195"/>
            </a:avLst>
          </a:prstGeom>
          <a:solidFill>
            <a:srgbClr val="2C2C2E"/>
          </a:solidFill>
          <a:ln/>
        </p:spPr>
      </p:sp>
      <p:sp>
        <p:nvSpPr>
          <p:cNvPr id="55" name="Shape 53"/>
          <p:cNvSpPr/>
          <p:nvPr/>
        </p:nvSpPr>
        <p:spPr>
          <a:xfrm>
            <a:off x="6398634" y="3100434"/>
            <a:ext cx="205176" cy="182378"/>
          </a:xfrm>
          <a:custGeom>
            <a:avLst/>
            <a:gdLst/>
            <a:ahLst/>
            <a:cxnLst/>
            <a:rect l="l" t="t" r="r" b="b"/>
            <a:pathLst>
              <a:path w="205176" h="182378">
                <a:moveTo>
                  <a:pt x="63476" y="-3598"/>
                </a:moveTo>
                <a:cubicBezTo>
                  <a:pt x="66112" y="-4702"/>
                  <a:pt x="69104" y="-4381"/>
                  <a:pt x="71491" y="-2814"/>
                </a:cubicBezTo>
                <a:lnTo>
                  <a:pt x="102766" y="17917"/>
                </a:lnTo>
                <a:lnTo>
                  <a:pt x="134041" y="-2814"/>
                </a:lnTo>
                <a:cubicBezTo>
                  <a:pt x="136428" y="-4381"/>
                  <a:pt x="139420" y="-4666"/>
                  <a:pt x="142056" y="-3598"/>
                </a:cubicBezTo>
                <a:cubicBezTo>
                  <a:pt x="144692" y="-2529"/>
                  <a:pt x="146544" y="-178"/>
                  <a:pt x="147114" y="2600"/>
                </a:cubicBezTo>
                <a:lnTo>
                  <a:pt x="154559" y="39361"/>
                </a:lnTo>
                <a:lnTo>
                  <a:pt x="191319" y="46806"/>
                </a:lnTo>
                <a:cubicBezTo>
                  <a:pt x="194098" y="47376"/>
                  <a:pt x="196449" y="49299"/>
                  <a:pt x="197517" y="51899"/>
                </a:cubicBezTo>
                <a:cubicBezTo>
                  <a:pt x="198586" y="54500"/>
                  <a:pt x="198301" y="57528"/>
                  <a:pt x="196734" y="59914"/>
                </a:cubicBezTo>
                <a:lnTo>
                  <a:pt x="176002" y="91189"/>
                </a:lnTo>
                <a:lnTo>
                  <a:pt x="196734" y="122464"/>
                </a:lnTo>
                <a:cubicBezTo>
                  <a:pt x="198301" y="124851"/>
                  <a:pt x="198586" y="127843"/>
                  <a:pt x="197517" y="130479"/>
                </a:cubicBezTo>
                <a:cubicBezTo>
                  <a:pt x="196449" y="133115"/>
                  <a:pt x="194098" y="135038"/>
                  <a:pt x="191319" y="135573"/>
                </a:cubicBezTo>
                <a:lnTo>
                  <a:pt x="154523" y="142982"/>
                </a:lnTo>
                <a:lnTo>
                  <a:pt x="147114" y="179778"/>
                </a:lnTo>
                <a:cubicBezTo>
                  <a:pt x="146544" y="182557"/>
                  <a:pt x="144620" y="184908"/>
                  <a:pt x="142020" y="185976"/>
                </a:cubicBezTo>
                <a:cubicBezTo>
                  <a:pt x="139420" y="187045"/>
                  <a:pt x="136392" y="186760"/>
                  <a:pt x="134005" y="185193"/>
                </a:cubicBezTo>
                <a:lnTo>
                  <a:pt x="102730" y="164461"/>
                </a:lnTo>
                <a:lnTo>
                  <a:pt x="71455" y="185193"/>
                </a:lnTo>
                <a:cubicBezTo>
                  <a:pt x="69069" y="186760"/>
                  <a:pt x="66077" y="187045"/>
                  <a:pt x="63441" y="185976"/>
                </a:cubicBezTo>
                <a:cubicBezTo>
                  <a:pt x="60805" y="184908"/>
                  <a:pt x="58881" y="182557"/>
                  <a:pt x="58347" y="179778"/>
                </a:cubicBezTo>
                <a:lnTo>
                  <a:pt x="50938" y="142982"/>
                </a:lnTo>
                <a:lnTo>
                  <a:pt x="14141" y="135537"/>
                </a:lnTo>
                <a:cubicBezTo>
                  <a:pt x="11363" y="134967"/>
                  <a:pt x="9012" y="133044"/>
                  <a:pt x="7943" y="130443"/>
                </a:cubicBezTo>
                <a:cubicBezTo>
                  <a:pt x="6875" y="127843"/>
                  <a:pt x="7160" y="124815"/>
                  <a:pt x="8727" y="122429"/>
                </a:cubicBezTo>
                <a:lnTo>
                  <a:pt x="29458" y="91189"/>
                </a:lnTo>
                <a:lnTo>
                  <a:pt x="8727" y="59914"/>
                </a:lnTo>
                <a:cubicBezTo>
                  <a:pt x="7160" y="57528"/>
                  <a:pt x="6875" y="54535"/>
                  <a:pt x="7943" y="51899"/>
                </a:cubicBezTo>
                <a:cubicBezTo>
                  <a:pt x="9012" y="49264"/>
                  <a:pt x="11363" y="47340"/>
                  <a:pt x="14141" y="46806"/>
                </a:cubicBezTo>
                <a:lnTo>
                  <a:pt x="50938" y="39397"/>
                </a:lnTo>
                <a:lnTo>
                  <a:pt x="58382" y="2600"/>
                </a:lnTo>
                <a:cubicBezTo>
                  <a:pt x="58952" y="-178"/>
                  <a:pt x="60876" y="-2529"/>
                  <a:pt x="63476" y="-3598"/>
                </a:cubicBezTo>
                <a:close/>
                <a:moveTo>
                  <a:pt x="73949" y="91189"/>
                </a:moveTo>
                <a:cubicBezTo>
                  <a:pt x="73949" y="80957"/>
                  <a:pt x="79407" y="71503"/>
                  <a:pt x="88268" y="66387"/>
                </a:cubicBezTo>
                <a:cubicBezTo>
                  <a:pt x="97129" y="61271"/>
                  <a:pt x="108046" y="61271"/>
                  <a:pt x="116907" y="66387"/>
                </a:cubicBezTo>
                <a:cubicBezTo>
                  <a:pt x="125768" y="71503"/>
                  <a:pt x="131227" y="80957"/>
                  <a:pt x="131227" y="91189"/>
                </a:cubicBezTo>
                <a:cubicBezTo>
                  <a:pt x="131227" y="106996"/>
                  <a:pt x="118394" y="119828"/>
                  <a:pt x="102588" y="119828"/>
                </a:cubicBezTo>
                <a:cubicBezTo>
                  <a:pt x="86782" y="119828"/>
                  <a:pt x="73949" y="106996"/>
                  <a:pt x="73949" y="91189"/>
                </a:cubicBezTo>
                <a:close/>
                <a:moveTo>
                  <a:pt x="148325" y="91189"/>
                </a:moveTo>
                <a:cubicBezTo>
                  <a:pt x="148325" y="65946"/>
                  <a:pt x="127831" y="45452"/>
                  <a:pt x="102588" y="45452"/>
                </a:cubicBezTo>
                <a:cubicBezTo>
                  <a:pt x="77345" y="45452"/>
                  <a:pt x="56851" y="65946"/>
                  <a:pt x="56851" y="91189"/>
                </a:cubicBezTo>
                <a:cubicBezTo>
                  <a:pt x="56851" y="107530"/>
                  <a:pt x="65568" y="122629"/>
                  <a:pt x="79719" y="130799"/>
                </a:cubicBezTo>
                <a:cubicBezTo>
                  <a:pt x="93870" y="138969"/>
                  <a:pt x="111305" y="138969"/>
                  <a:pt x="125456" y="130799"/>
                </a:cubicBezTo>
                <a:cubicBezTo>
                  <a:pt x="139608" y="122629"/>
                  <a:pt x="148325" y="107530"/>
                  <a:pt x="148325" y="91189"/>
                </a:cubicBezTo>
                <a:close/>
              </a:path>
            </a:pathLst>
          </a:custGeom>
          <a:solidFill>
            <a:srgbClr val="34C759"/>
          </a:solidFill>
          <a:ln/>
        </p:spPr>
      </p:sp>
      <p:sp>
        <p:nvSpPr>
          <p:cNvPr id="56" name="Text 54"/>
          <p:cNvSpPr/>
          <p:nvPr/>
        </p:nvSpPr>
        <p:spPr>
          <a:xfrm>
            <a:off x="6615209" y="3063958"/>
            <a:ext cx="5079240" cy="255330"/>
          </a:xfrm>
          <a:prstGeom prst="rect">
            <a:avLst/>
          </a:prstGeom>
          <a:noFill/>
          <a:ln/>
        </p:spPr>
        <p:txBody>
          <a:bodyPr wrap="square" lIns="0" tIns="0" rIns="0" bIns="0" rtlCol="0" anchor="ctr"/>
          <a:lstStyle/>
          <a:p>
            <a:pPr>
              <a:lnSpc>
                <a:spcPct val="120000"/>
              </a:lnSpc>
            </a:pPr>
            <a:r>
              <a:rPr lang="en-US" sz="1436" b="1" dirty="0">
                <a:solidFill>
                  <a:srgbClr val="34C759"/>
                </a:solidFill>
                <a:latin typeface="Liter" pitchFamily="34" charset="0"/>
                <a:ea typeface="Liter" pitchFamily="34" charset="-122"/>
                <a:cs typeface="Liter" pitchFamily="34" charset="-120"/>
              </a:rPr>
              <a:t>A Day with Mobile Apps</a:t>
            </a:r>
            <a:endParaRPr lang="en-US" sz="1600" dirty="0"/>
          </a:p>
        </p:txBody>
      </p:sp>
      <p:sp>
        <p:nvSpPr>
          <p:cNvPr id="57" name="Shape 55"/>
          <p:cNvSpPr/>
          <p:nvPr/>
        </p:nvSpPr>
        <p:spPr>
          <a:xfrm>
            <a:off x="6387236" y="3465191"/>
            <a:ext cx="5216024" cy="1969687"/>
          </a:xfrm>
          <a:prstGeom prst="roundRect">
            <a:avLst>
              <a:gd name="adj" fmla="val 5556"/>
            </a:avLst>
          </a:prstGeom>
          <a:solidFill>
            <a:srgbClr val="1A1D21"/>
          </a:solidFill>
          <a:ln/>
        </p:spPr>
      </p:sp>
      <p:sp>
        <p:nvSpPr>
          <p:cNvPr id="58" name="Shape 56"/>
          <p:cNvSpPr/>
          <p:nvPr/>
        </p:nvSpPr>
        <p:spPr>
          <a:xfrm>
            <a:off x="6569614" y="3665807"/>
            <a:ext cx="364757" cy="364757"/>
          </a:xfrm>
          <a:prstGeom prst="roundRect">
            <a:avLst>
              <a:gd name="adj" fmla="val 20000"/>
            </a:avLst>
          </a:prstGeom>
          <a:solidFill>
            <a:srgbClr val="FF9500"/>
          </a:solidFill>
          <a:ln/>
        </p:spPr>
      </p:sp>
      <p:sp>
        <p:nvSpPr>
          <p:cNvPr id="59" name="Shape 57"/>
          <p:cNvSpPr/>
          <p:nvPr/>
        </p:nvSpPr>
        <p:spPr>
          <a:xfrm>
            <a:off x="6669922" y="3775234"/>
            <a:ext cx="164141" cy="145903"/>
          </a:xfrm>
          <a:custGeom>
            <a:avLst/>
            <a:gdLst/>
            <a:ahLst/>
            <a:cxnLst/>
            <a:rect l="l" t="t" r="r" b="b"/>
            <a:pathLst>
              <a:path w="164141" h="145903">
                <a:moveTo>
                  <a:pt x="50781" y="-2878"/>
                </a:moveTo>
                <a:cubicBezTo>
                  <a:pt x="52890" y="-3762"/>
                  <a:pt x="55283" y="-3505"/>
                  <a:pt x="57193" y="-2251"/>
                </a:cubicBezTo>
                <a:lnTo>
                  <a:pt x="82213" y="14334"/>
                </a:lnTo>
                <a:lnTo>
                  <a:pt x="107233" y="-2251"/>
                </a:lnTo>
                <a:cubicBezTo>
                  <a:pt x="109142" y="-3505"/>
                  <a:pt x="111536" y="-3733"/>
                  <a:pt x="113645" y="-2878"/>
                </a:cubicBezTo>
                <a:cubicBezTo>
                  <a:pt x="115753" y="-2023"/>
                  <a:pt x="117235" y="-142"/>
                  <a:pt x="117691" y="2080"/>
                </a:cubicBezTo>
                <a:lnTo>
                  <a:pt x="123647" y="31489"/>
                </a:lnTo>
                <a:lnTo>
                  <a:pt x="153055" y="37445"/>
                </a:lnTo>
                <a:cubicBezTo>
                  <a:pt x="155278" y="37901"/>
                  <a:pt x="157159" y="39439"/>
                  <a:pt x="158014" y="41520"/>
                </a:cubicBezTo>
                <a:cubicBezTo>
                  <a:pt x="158869" y="43600"/>
                  <a:pt x="158641" y="46022"/>
                  <a:pt x="157387" y="47931"/>
                </a:cubicBezTo>
                <a:lnTo>
                  <a:pt x="140802" y="72951"/>
                </a:lnTo>
                <a:lnTo>
                  <a:pt x="157387" y="97971"/>
                </a:lnTo>
                <a:cubicBezTo>
                  <a:pt x="158641" y="99881"/>
                  <a:pt x="158869" y="102274"/>
                  <a:pt x="158014" y="104383"/>
                </a:cubicBezTo>
                <a:cubicBezTo>
                  <a:pt x="157159" y="106492"/>
                  <a:pt x="155278" y="108031"/>
                  <a:pt x="153055" y="108458"/>
                </a:cubicBezTo>
                <a:lnTo>
                  <a:pt x="123618" y="114385"/>
                </a:lnTo>
                <a:lnTo>
                  <a:pt x="117691" y="143823"/>
                </a:lnTo>
                <a:cubicBezTo>
                  <a:pt x="117235" y="146045"/>
                  <a:pt x="115696" y="147926"/>
                  <a:pt x="113616" y="148781"/>
                </a:cubicBezTo>
                <a:cubicBezTo>
                  <a:pt x="111536" y="149636"/>
                  <a:pt x="109114" y="149408"/>
                  <a:pt x="107204" y="148154"/>
                </a:cubicBezTo>
                <a:lnTo>
                  <a:pt x="82184" y="131569"/>
                </a:lnTo>
                <a:lnTo>
                  <a:pt x="57164" y="148154"/>
                </a:lnTo>
                <a:cubicBezTo>
                  <a:pt x="55255" y="149408"/>
                  <a:pt x="52861" y="149636"/>
                  <a:pt x="50753" y="148781"/>
                </a:cubicBezTo>
                <a:cubicBezTo>
                  <a:pt x="48644" y="147926"/>
                  <a:pt x="47105" y="146045"/>
                  <a:pt x="46677" y="143823"/>
                </a:cubicBezTo>
                <a:lnTo>
                  <a:pt x="40750" y="114385"/>
                </a:lnTo>
                <a:lnTo>
                  <a:pt x="11313" y="108430"/>
                </a:lnTo>
                <a:cubicBezTo>
                  <a:pt x="9090" y="107974"/>
                  <a:pt x="7210" y="106435"/>
                  <a:pt x="6355" y="104355"/>
                </a:cubicBezTo>
                <a:cubicBezTo>
                  <a:pt x="5500" y="102274"/>
                  <a:pt x="5728" y="99852"/>
                  <a:pt x="6982" y="97943"/>
                </a:cubicBezTo>
                <a:lnTo>
                  <a:pt x="23567" y="72951"/>
                </a:lnTo>
                <a:lnTo>
                  <a:pt x="6982" y="47931"/>
                </a:lnTo>
                <a:cubicBezTo>
                  <a:pt x="5728" y="46022"/>
                  <a:pt x="5500" y="43628"/>
                  <a:pt x="6355" y="41520"/>
                </a:cubicBezTo>
                <a:cubicBezTo>
                  <a:pt x="7210" y="39411"/>
                  <a:pt x="9090" y="37872"/>
                  <a:pt x="11313" y="37445"/>
                </a:cubicBezTo>
                <a:lnTo>
                  <a:pt x="40750" y="31517"/>
                </a:lnTo>
                <a:lnTo>
                  <a:pt x="46706" y="2080"/>
                </a:lnTo>
                <a:cubicBezTo>
                  <a:pt x="47162" y="-142"/>
                  <a:pt x="48701" y="-2023"/>
                  <a:pt x="50781" y="-2878"/>
                </a:cubicBezTo>
                <a:close/>
                <a:moveTo>
                  <a:pt x="59159" y="72951"/>
                </a:moveTo>
                <a:cubicBezTo>
                  <a:pt x="59159" y="64766"/>
                  <a:pt x="63526" y="57202"/>
                  <a:pt x="70615" y="53110"/>
                </a:cubicBezTo>
                <a:cubicBezTo>
                  <a:pt x="77703" y="49017"/>
                  <a:pt x="86437" y="49017"/>
                  <a:pt x="93526" y="53110"/>
                </a:cubicBezTo>
                <a:cubicBezTo>
                  <a:pt x="100615" y="57202"/>
                  <a:pt x="104982" y="64766"/>
                  <a:pt x="104982" y="72951"/>
                </a:cubicBezTo>
                <a:cubicBezTo>
                  <a:pt x="104982" y="85596"/>
                  <a:pt x="94715" y="95863"/>
                  <a:pt x="82070" y="95863"/>
                </a:cubicBezTo>
                <a:cubicBezTo>
                  <a:pt x="69425" y="95863"/>
                  <a:pt x="59159" y="85596"/>
                  <a:pt x="59159" y="72951"/>
                </a:cubicBezTo>
                <a:close/>
                <a:moveTo>
                  <a:pt x="118660" y="72951"/>
                </a:moveTo>
                <a:cubicBezTo>
                  <a:pt x="118660" y="52757"/>
                  <a:pt x="102265" y="36362"/>
                  <a:pt x="82070" y="36362"/>
                </a:cubicBezTo>
                <a:cubicBezTo>
                  <a:pt x="61876" y="36362"/>
                  <a:pt x="45481" y="52757"/>
                  <a:pt x="45481" y="72951"/>
                </a:cubicBezTo>
                <a:cubicBezTo>
                  <a:pt x="45481" y="86024"/>
                  <a:pt x="52455" y="98103"/>
                  <a:pt x="63775" y="104639"/>
                </a:cubicBezTo>
                <a:cubicBezTo>
                  <a:pt x="75096" y="111175"/>
                  <a:pt x="89044" y="111175"/>
                  <a:pt x="100365" y="104639"/>
                </a:cubicBezTo>
                <a:cubicBezTo>
                  <a:pt x="111686" y="98103"/>
                  <a:pt x="118660" y="86024"/>
                  <a:pt x="118660" y="72951"/>
                </a:cubicBezTo>
                <a:close/>
              </a:path>
            </a:pathLst>
          </a:custGeom>
          <a:solidFill>
            <a:srgbClr val="FFFFFF"/>
          </a:solidFill>
          <a:ln/>
        </p:spPr>
      </p:sp>
      <p:sp>
        <p:nvSpPr>
          <p:cNvPr id="60" name="Text 58"/>
          <p:cNvSpPr/>
          <p:nvPr/>
        </p:nvSpPr>
        <p:spPr>
          <a:xfrm>
            <a:off x="7043798" y="3647569"/>
            <a:ext cx="2316206" cy="218854"/>
          </a:xfrm>
          <a:prstGeom prst="rect">
            <a:avLst/>
          </a:prstGeom>
          <a:noFill/>
          <a:ln/>
        </p:spPr>
        <p:txBody>
          <a:bodyPr wrap="square" lIns="0" tIns="0" rIns="0" bIns="0" rtlCol="0" anchor="ctr"/>
          <a:lstStyle/>
          <a:p>
            <a:pPr>
              <a:lnSpc>
                <a:spcPct val="130000"/>
              </a:lnSpc>
            </a:pPr>
            <a:r>
              <a:rPr lang="en-US" sz="1149" b="1" dirty="0">
                <a:solidFill>
                  <a:srgbClr val="F5F5F7"/>
                </a:solidFill>
                <a:latin typeface="Quattrocento Sans" pitchFamily="34" charset="0"/>
                <a:ea typeface="Quattrocento Sans" pitchFamily="34" charset="-122"/>
                <a:cs typeface="Quattrocento Sans" pitchFamily="34" charset="-120"/>
              </a:rPr>
              <a:t>Morning</a:t>
            </a:r>
            <a:endParaRPr lang="en-US" sz="1600" dirty="0"/>
          </a:p>
        </p:txBody>
      </p:sp>
      <p:sp>
        <p:nvSpPr>
          <p:cNvPr id="61" name="Text 59"/>
          <p:cNvSpPr/>
          <p:nvPr/>
        </p:nvSpPr>
        <p:spPr>
          <a:xfrm>
            <a:off x="7043798" y="3866423"/>
            <a:ext cx="2307088" cy="182378"/>
          </a:xfrm>
          <a:prstGeom prst="rect">
            <a:avLst/>
          </a:prstGeom>
          <a:noFill/>
          <a:ln/>
        </p:spPr>
        <p:txBody>
          <a:bodyPr wrap="square" lIns="0" tIns="0" rIns="0" bIns="0" rtlCol="0" anchor="ctr"/>
          <a:lstStyle/>
          <a:p>
            <a:pPr>
              <a:lnSpc>
                <a:spcPct val="120000"/>
              </a:lnSpc>
            </a:pPr>
            <a:r>
              <a:rPr lang="en-US" sz="1005" dirty="0">
                <a:solidFill>
                  <a:srgbClr val="8E8E93"/>
                </a:solidFill>
                <a:latin typeface="Quattrocento Sans" pitchFamily="34" charset="0"/>
                <a:ea typeface="Quattrocento Sans" pitchFamily="34" charset="-122"/>
                <a:cs typeface="Quattrocento Sans" pitchFamily="34" charset="-120"/>
              </a:rPr>
              <a:t>Alarm app → Weather app → News app</a:t>
            </a:r>
            <a:endParaRPr lang="en-US" sz="1600" dirty="0"/>
          </a:p>
        </p:txBody>
      </p:sp>
      <p:sp>
        <p:nvSpPr>
          <p:cNvPr id="62" name="Shape 60"/>
          <p:cNvSpPr/>
          <p:nvPr/>
        </p:nvSpPr>
        <p:spPr>
          <a:xfrm>
            <a:off x="6569614" y="4067040"/>
            <a:ext cx="364757" cy="364757"/>
          </a:xfrm>
          <a:prstGeom prst="roundRect">
            <a:avLst>
              <a:gd name="adj" fmla="val 20000"/>
            </a:avLst>
          </a:prstGeom>
          <a:solidFill>
            <a:srgbClr val="34C759"/>
          </a:solidFill>
          <a:ln/>
        </p:spPr>
      </p:sp>
      <p:sp>
        <p:nvSpPr>
          <p:cNvPr id="63" name="Shape 61"/>
          <p:cNvSpPr/>
          <p:nvPr/>
        </p:nvSpPr>
        <p:spPr>
          <a:xfrm>
            <a:off x="6679041" y="4176467"/>
            <a:ext cx="145903" cy="145903"/>
          </a:xfrm>
          <a:custGeom>
            <a:avLst/>
            <a:gdLst/>
            <a:ahLst/>
            <a:cxnLst/>
            <a:rect l="l" t="t" r="r" b="b"/>
            <a:pathLst>
              <a:path w="145903" h="145903">
                <a:moveTo>
                  <a:pt x="56993" y="13678"/>
                </a:moveTo>
                <a:lnTo>
                  <a:pt x="88909" y="13678"/>
                </a:lnTo>
                <a:cubicBezTo>
                  <a:pt x="90163" y="13678"/>
                  <a:pt x="91189" y="14704"/>
                  <a:pt x="91189" y="15958"/>
                </a:cubicBezTo>
                <a:lnTo>
                  <a:pt x="91189" y="27357"/>
                </a:lnTo>
                <a:lnTo>
                  <a:pt x="54714" y="27357"/>
                </a:lnTo>
                <a:lnTo>
                  <a:pt x="54714" y="15958"/>
                </a:lnTo>
                <a:cubicBezTo>
                  <a:pt x="54714" y="14704"/>
                  <a:pt x="55739" y="13678"/>
                  <a:pt x="56993" y="13678"/>
                </a:cubicBezTo>
                <a:close/>
                <a:moveTo>
                  <a:pt x="41035" y="15958"/>
                </a:moveTo>
                <a:lnTo>
                  <a:pt x="41035" y="27357"/>
                </a:lnTo>
                <a:lnTo>
                  <a:pt x="18238" y="27357"/>
                </a:lnTo>
                <a:cubicBezTo>
                  <a:pt x="8179" y="27357"/>
                  <a:pt x="0" y="35535"/>
                  <a:pt x="0" y="45595"/>
                </a:cubicBezTo>
                <a:lnTo>
                  <a:pt x="0" y="72951"/>
                </a:lnTo>
                <a:lnTo>
                  <a:pt x="145903" y="72951"/>
                </a:lnTo>
                <a:lnTo>
                  <a:pt x="145903" y="45595"/>
                </a:lnTo>
                <a:cubicBezTo>
                  <a:pt x="145903" y="35535"/>
                  <a:pt x="137724" y="27357"/>
                  <a:pt x="127665" y="27357"/>
                </a:cubicBezTo>
                <a:lnTo>
                  <a:pt x="104868" y="27357"/>
                </a:lnTo>
                <a:lnTo>
                  <a:pt x="104868" y="15958"/>
                </a:lnTo>
                <a:cubicBezTo>
                  <a:pt x="104868" y="7153"/>
                  <a:pt x="97715" y="0"/>
                  <a:pt x="88909" y="0"/>
                </a:cubicBezTo>
                <a:lnTo>
                  <a:pt x="56993" y="0"/>
                </a:lnTo>
                <a:cubicBezTo>
                  <a:pt x="48188" y="0"/>
                  <a:pt x="41035" y="7153"/>
                  <a:pt x="41035" y="15958"/>
                </a:cubicBezTo>
                <a:close/>
                <a:moveTo>
                  <a:pt x="145903" y="86630"/>
                </a:moveTo>
                <a:lnTo>
                  <a:pt x="91189" y="86630"/>
                </a:lnTo>
                <a:lnTo>
                  <a:pt x="91189" y="91189"/>
                </a:lnTo>
                <a:cubicBezTo>
                  <a:pt x="91189" y="96233"/>
                  <a:pt x="87114" y="100308"/>
                  <a:pt x="82070" y="100308"/>
                </a:cubicBezTo>
                <a:lnTo>
                  <a:pt x="63832" y="100308"/>
                </a:lnTo>
                <a:cubicBezTo>
                  <a:pt x="58789" y="100308"/>
                  <a:pt x="54714" y="96233"/>
                  <a:pt x="54714" y="91189"/>
                </a:cubicBezTo>
                <a:lnTo>
                  <a:pt x="54714" y="86630"/>
                </a:lnTo>
                <a:lnTo>
                  <a:pt x="0" y="86630"/>
                </a:lnTo>
                <a:lnTo>
                  <a:pt x="0" y="118546"/>
                </a:lnTo>
                <a:cubicBezTo>
                  <a:pt x="0" y="128605"/>
                  <a:pt x="8179" y="136784"/>
                  <a:pt x="18238" y="136784"/>
                </a:cubicBezTo>
                <a:lnTo>
                  <a:pt x="127665" y="136784"/>
                </a:lnTo>
                <a:cubicBezTo>
                  <a:pt x="137724" y="136784"/>
                  <a:pt x="145903" y="128605"/>
                  <a:pt x="145903" y="118546"/>
                </a:cubicBezTo>
                <a:lnTo>
                  <a:pt x="145903" y="86630"/>
                </a:lnTo>
                <a:close/>
              </a:path>
            </a:pathLst>
          </a:custGeom>
          <a:solidFill>
            <a:srgbClr val="1D1D1F"/>
          </a:solidFill>
          <a:ln/>
        </p:spPr>
      </p:sp>
      <p:sp>
        <p:nvSpPr>
          <p:cNvPr id="64" name="Text 62"/>
          <p:cNvSpPr/>
          <p:nvPr/>
        </p:nvSpPr>
        <p:spPr>
          <a:xfrm>
            <a:off x="7043798" y="4048802"/>
            <a:ext cx="2088233" cy="218854"/>
          </a:xfrm>
          <a:prstGeom prst="rect">
            <a:avLst/>
          </a:prstGeom>
          <a:noFill/>
          <a:ln/>
        </p:spPr>
        <p:txBody>
          <a:bodyPr wrap="square" lIns="0" tIns="0" rIns="0" bIns="0" rtlCol="0" anchor="ctr"/>
          <a:lstStyle/>
          <a:p>
            <a:pPr>
              <a:lnSpc>
                <a:spcPct val="130000"/>
              </a:lnSpc>
            </a:pPr>
            <a:r>
              <a:rPr lang="en-US" sz="1149" b="1" dirty="0">
                <a:solidFill>
                  <a:srgbClr val="F5F5F7"/>
                </a:solidFill>
                <a:latin typeface="Quattrocento Sans" pitchFamily="34" charset="0"/>
                <a:ea typeface="Quattrocento Sans" pitchFamily="34" charset="-122"/>
                <a:cs typeface="Quattrocento Sans" pitchFamily="34" charset="-120"/>
              </a:rPr>
              <a:t>Work</a:t>
            </a:r>
            <a:endParaRPr lang="en-US" sz="1600" dirty="0"/>
          </a:p>
        </p:txBody>
      </p:sp>
      <p:sp>
        <p:nvSpPr>
          <p:cNvPr id="65" name="Text 63"/>
          <p:cNvSpPr/>
          <p:nvPr/>
        </p:nvSpPr>
        <p:spPr>
          <a:xfrm>
            <a:off x="7043798" y="4267656"/>
            <a:ext cx="2079114" cy="182378"/>
          </a:xfrm>
          <a:prstGeom prst="rect">
            <a:avLst/>
          </a:prstGeom>
          <a:noFill/>
          <a:ln/>
        </p:spPr>
        <p:txBody>
          <a:bodyPr wrap="square" lIns="0" tIns="0" rIns="0" bIns="0" rtlCol="0" anchor="ctr"/>
          <a:lstStyle/>
          <a:p>
            <a:pPr>
              <a:lnSpc>
                <a:spcPct val="120000"/>
              </a:lnSpc>
            </a:pPr>
            <a:r>
              <a:rPr lang="en-US" sz="1005" dirty="0">
                <a:solidFill>
                  <a:srgbClr val="8E8E93"/>
                </a:solidFill>
                <a:latin typeface="Quattrocento Sans" pitchFamily="34" charset="0"/>
                <a:ea typeface="Quattrocento Sans" pitchFamily="34" charset="-122"/>
                <a:cs typeface="Quattrocento Sans" pitchFamily="34" charset="-120"/>
              </a:rPr>
              <a:t>Email app → Calendar → Video calls</a:t>
            </a:r>
            <a:endParaRPr lang="en-US" sz="1600" dirty="0"/>
          </a:p>
        </p:txBody>
      </p:sp>
      <p:sp>
        <p:nvSpPr>
          <p:cNvPr id="66" name="Shape 64"/>
          <p:cNvSpPr/>
          <p:nvPr/>
        </p:nvSpPr>
        <p:spPr>
          <a:xfrm>
            <a:off x="6569614" y="4468272"/>
            <a:ext cx="364757" cy="364757"/>
          </a:xfrm>
          <a:prstGeom prst="roundRect">
            <a:avLst>
              <a:gd name="adj" fmla="val 20000"/>
            </a:avLst>
          </a:prstGeom>
          <a:solidFill>
            <a:srgbClr val="0A84FF"/>
          </a:solidFill>
          <a:ln/>
        </p:spPr>
      </p:sp>
      <p:sp>
        <p:nvSpPr>
          <p:cNvPr id="67" name="Shape 65"/>
          <p:cNvSpPr/>
          <p:nvPr/>
        </p:nvSpPr>
        <p:spPr>
          <a:xfrm>
            <a:off x="6679041" y="4577699"/>
            <a:ext cx="145903" cy="145903"/>
          </a:xfrm>
          <a:custGeom>
            <a:avLst/>
            <a:gdLst/>
            <a:ahLst/>
            <a:cxnLst/>
            <a:rect l="l" t="t" r="r" b="b"/>
            <a:pathLst>
              <a:path w="145903" h="145903">
                <a:moveTo>
                  <a:pt x="18209" y="4104"/>
                </a:moveTo>
                <a:cubicBezTo>
                  <a:pt x="17981" y="1767"/>
                  <a:pt x="16015" y="0"/>
                  <a:pt x="13678" y="0"/>
                </a:cubicBezTo>
                <a:cubicBezTo>
                  <a:pt x="11342" y="0"/>
                  <a:pt x="9375" y="1767"/>
                  <a:pt x="9119" y="4075"/>
                </a:cubicBezTo>
                <a:lnTo>
                  <a:pt x="5101" y="42659"/>
                </a:lnTo>
                <a:cubicBezTo>
                  <a:pt x="4730" y="44369"/>
                  <a:pt x="4559" y="46108"/>
                  <a:pt x="4559" y="47846"/>
                </a:cubicBezTo>
                <a:cubicBezTo>
                  <a:pt x="4559" y="60926"/>
                  <a:pt x="14562" y="71669"/>
                  <a:pt x="27357" y="72837"/>
                </a:cubicBezTo>
                <a:lnTo>
                  <a:pt x="27357" y="136784"/>
                </a:lnTo>
                <a:cubicBezTo>
                  <a:pt x="27357" y="141828"/>
                  <a:pt x="31432" y="145903"/>
                  <a:pt x="36476" y="145903"/>
                </a:cubicBezTo>
                <a:cubicBezTo>
                  <a:pt x="41520" y="145903"/>
                  <a:pt x="45595" y="141828"/>
                  <a:pt x="45595" y="136784"/>
                </a:cubicBezTo>
                <a:lnTo>
                  <a:pt x="45595" y="72837"/>
                </a:lnTo>
                <a:cubicBezTo>
                  <a:pt x="58390" y="71669"/>
                  <a:pt x="68392" y="60926"/>
                  <a:pt x="68392" y="47846"/>
                </a:cubicBezTo>
                <a:cubicBezTo>
                  <a:pt x="68392" y="46108"/>
                  <a:pt x="68221" y="44369"/>
                  <a:pt x="67850" y="42659"/>
                </a:cubicBezTo>
                <a:lnTo>
                  <a:pt x="63804" y="4075"/>
                </a:lnTo>
                <a:cubicBezTo>
                  <a:pt x="63576" y="1767"/>
                  <a:pt x="61610" y="0"/>
                  <a:pt x="59273" y="0"/>
                </a:cubicBezTo>
                <a:cubicBezTo>
                  <a:pt x="56936" y="0"/>
                  <a:pt x="54970" y="1767"/>
                  <a:pt x="54742" y="4104"/>
                </a:cubicBezTo>
                <a:lnTo>
                  <a:pt x="50866" y="42716"/>
                </a:lnTo>
                <a:cubicBezTo>
                  <a:pt x="50696" y="44341"/>
                  <a:pt x="49328" y="45595"/>
                  <a:pt x="47703" y="45595"/>
                </a:cubicBezTo>
                <a:cubicBezTo>
                  <a:pt x="46051" y="45595"/>
                  <a:pt x="44683" y="44341"/>
                  <a:pt x="44512" y="42688"/>
                </a:cubicBezTo>
                <a:lnTo>
                  <a:pt x="41007" y="4161"/>
                </a:lnTo>
                <a:cubicBezTo>
                  <a:pt x="40807" y="1795"/>
                  <a:pt x="38841" y="0"/>
                  <a:pt x="36476" y="0"/>
                </a:cubicBezTo>
                <a:cubicBezTo>
                  <a:pt x="34110" y="0"/>
                  <a:pt x="32144" y="1795"/>
                  <a:pt x="31945" y="4161"/>
                </a:cubicBezTo>
                <a:lnTo>
                  <a:pt x="28440" y="42688"/>
                </a:lnTo>
                <a:cubicBezTo>
                  <a:pt x="28297" y="44341"/>
                  <a:pt x="26901" y="45595"/>
                  <a:pt x="25248" y="45595"/>
                </a:cubicBezTo>
                <a:cubicBezTo>
                  <a:pt x="23595" y="45595"/>
                  <a:pt x="22227" y="44341"/>
                  <a:pt x="22085" y="42716"/>
                </a:cubicBezTo>
                <a:lnTo>
                  <a:pt x="18209" y="4104"/>
                </a:lnTo>
                <a:close/>
                <a:moveTo>
                  <a:pt x="127665" y="0"/>
                </a:moveTo>
                <a:cubicBezTo>
                  <a:pt x="123105" y="0"/>
                  <a:pt x="91189" y="9119"/>
                  <a:pt x="91189" y="50154"/>
                </a:cubicBezTo>
                <a:lnTo>
                  <a:pt x="91189" y="82070"/>
                </a:lnTo>
                <a:cubicBezTo>
                  <a:pt x="91189" y="92130"/>
                  <a:pt x="99368" y="100308"/>
                  <a:pt x="109427" y="100308"/>
                </a:cubicBezTo>
                <a:lnTo>
                  <a:pt x="118546" y="100308"/>
                </a:lnTo>
                <a:lnTo>
                  <a:pt x="118546" y="136784"/>
                </a:lnTo>
                <a:cubicBezTo>
                  <a:pt x="118546" y="141828"/>
                  <a:pt x="122621" y="145903"/>
                  <a:pt x="127665" y="145903"/>
                </a:cubicBezTo>
                <a:cubicBezTo>
                  <a:pt x="132709" y="145903"/>
                  <a:pt x="136784" y="141828"/>
                  <a:pt x="136784" y="136784"/>
                </a:cubicBezTo>
                <a:lnTo>
                  <a:pt x="136784" y="9119"/>
                </a:lnTo>
                <a:cubicBezTo>
                  <a:pt x="136784" y="4075"/>
                  <a:pt x="132709" y="0"/>
                  <a:pt x="127665" y="0"/>
                </a:cubicBezTo>
                <a:close/>
              </a:path>
            </a:pathLst>
          </a:custGeom>
          <a:solidFill>
            <a:srgbClr val="FFFFFF"/>
          </a:solidFill>
          <a:ln/>
        </p:spPr>
      </p:sp>
      <p:sp>
        <p:nvSpPr>
          <p:cNvPr id="68" name="Text 66"/>
          <p:cNvSpPr/>
          <p:nvPr/>
        </p:nvSpPr>
        <p:spPr>
          <a:xfrm>
            <a:off x="7043798" y="4450034"/>
            <a:ext cx="1978806" cy="218854"/>
          </a:xfrm>
          <a:prstGeom prst="rect">
            <a:avLst/>
          </a:prstGeom>
          <a:noFill/>
          <a:ln/>
        </p:spPr>
        <p:txBody>
          <a:bodyPr wrap="square" lIns="0" tIns="0" rIns="0" bIns="0" rtlCol="0" anchor="ctr"/>
          <a:lstStyle/>
          <a:p>
            <a:pPr>
              <a:lnSpc>
                <a:spcPct val="130000"/>
              </a:lnSpc>
            </a:pPr>
            <a:r>
              <a:rPr lang="en-US" sz="1149" b="1" dirty="0">
                <a:solidFill>
                  <a:srgbClr val="F5F5F7"/>
                </a:solidFill>
                <a:latin typeface="Quattrocento Sans" pitchFamily="34" charset="0"/>
                <a:ea typeface="Quattrocento Sans" pitchFamily="34" charset="-122"/>
                <a:cs typeface="Quattrocento Sans" pitchFamily="34" charset="-120"/>
              </a:rPr>
              <a:t>Lunch</a:t>
            </a:r>
            <a:endParaRPr lang="en-US" sz="1600" dirty="0"/>
          </a:p>
        </p:txBody>
      </p:sp>
      <p:sp>
        <p:nvSpPr>
          <p:cNvPr id="69" name="Text 67"/>
          <p:cNvSpPr/>
          <p:nvPr/>
        </p:nvSpPr>
        <p:spPr>
          <a:xfrm>
            <a:off x="7043798" y="4668889"/>
            <a:ext cx="1969687" cy="182378"/>
          </a:xfrm>
          <a:prstGeom prst="rect">
            <a:avLst/>
          </a:prstGeom>
          <a:noFill/>
          <a:ln/>
        </p:spPr>
        <p:txBody>
          <a:bodyPr wrap="square" lIns="0" tIns="0" rIns="0" bIns="0" rtlCol="0" anchor="ctr"/>
          <a:lstStyle/>
          <a:p>
            <a:pPr>
              <a:lnSpc>
                <a:spcPct val="120000"/>
              </a:lnSpc>
            </a:pPr>
            <a:r>
              <a:rPr lang="en-US" sz="1005" dirty="0">
                <a:solidFill>
                  <a:srgbClr val="8E8E93"/>
                </a:solidFill>
                <a:latin typeface="Quattrocento Sans" pitchFamily="34" charset="0"/>
                <a:ea typeface="Quattrocento Sans" pitchFamily="34" charset="-122"/>
                <a:cs typeface="Quattrocento Sans" pitchFamily="34" charset="-120"/>
              </a:rPr>
              <a:t>Food delivery app → Payment app</a:t>
            </a:r>
            <a:endParaRPr lang="en-US" sz="1600" dirty="0"/>
          </a:p>
        </p:txBody>
      </p:sp>
      <p:sp>
        <p:nvSpPr>
          <p:cNvPr id="70" name="Shape 68"/>
          <p:cNvSpPr/>
          <p:nvPr/>
        </p:nvSpPr>
        <p:spPr>
          <a:xfrm>
            <a:off x="6569614" y="4869505"/>
            <a:ext cx="364757" cy="364757"/>
          </a:xfrm>
          <a:prstGeom prst="roundRect">
            <a:avLst>
              <a:gd name="adj" fmla="val 20000"/>
            </a:avLst>
          </a:prstGeom>
          <a:solidFill>
            <a:srgbClr val="8E8E93"/>
          </a:solidFill>
          <a:ln/>
        </p:spPr>
      </p:sp>
      <p:sp>
        <p:nvSpPr>
          <p:cNvPr id="71" name="Shape 69"/>
          <p:cNvSpPr/>
          <p:nvPr/>
        </p:nvSpPr>
        <p:spPr>
          <a:xfrm>
            <a:off x="6679041" y="4978932"/>
            <a:ext cx="145903" cy="145903"/>
          </a:xfrm>
          <a:custGeom>
            <a:avLst/>
            <a:gdLst/>
            <a:ahLst/>
            <a:cxnLst/>
            <a:rect l="l" t="t" r="r" b="b"/>
            <a:pathLst>
              <a:path w="145903" h="145903">
                <a:moveTo>
                  <a:pt x="72951" y="0"/>
                </a:moveTo>
                <a:cubicBezTo>
                  <a:pt x="32657" y="0"/>
                  <a:pt x="0" y="32657"/>
                  <a:pt x="0" y="72951"/>
                </a:cubicBezTo>
                <a:cubicBezTo>
                  <a:pt x="0" y="113246"/>
                  <a:pt x="32657" y="145903"/>
                  <a:pt x="72951" y="145903"/>
                </a:cubicBezTo>
                <a:cubicBezTo>
                  <a:pt x="92557" y="145903"/>
                  <a:pt x="110367" y="138152"/>
                  <a:pt x="123476" y="125556"/>
                </a:cubicBezTo>
                <a:cubicBezTo>
                  <a:pt x="125556" y="123561"/>
                  <a:pt x="126155" y="120455"/>
                  <a:pt x="124986" y="117834"/>
                </a:cubicBezTo>
                <a:cubicBezTo>
                  <a:pt x="123818" y="115212"/>
                  <a:pt x="121082" y="113588"/>
                  <a:pt x="118204" y="113816"/>
                </a:cubicBezTo>
                <a:cubicBezTo>
                  <a:pt x="116808" y="113930"/>
                  <a:pt x="115411" y="113987"/>
                  <a:pt x="113987" y="113987"/>
                </a:cubicBezTo>
                <a:cubicBezTo>
                  <a:pt x="85034" y="113987"/>
                  <a:pt x="61553" y="90505"/>
                  <a:pt x="61553" y="61553"/>
                </a:cubicBezTo>
                <a:cubicBezTo>
                  <a:pt x="61553" y="41007"/>
                  <a:pt x="73379" y="23196"/>
                  <a:pt x="90648" y="14590"/>
                </a:cubicBezTo>
                <a:cubicBezTo>
                  <a:pt x="93241" y="13308"/>
                  <a:pt x="94723" y="10515"/>
                  <a:pt x="94381" y="7637"/>
                </a:cubicBezTo>
                <a:cubicBezTo>
                  <a:pt x="94039" y="4759"/>
                  <a:pt x="91930" y="2422"/>
                  <a:pt x="89109" y="1795"/>
                </a:cubicBezTo>
                <a:cubicBezTo>
                  <a:pt x="83894" y="627"/>
                  <a:pt x="78480" y="0"/>
                  <a:pt x="72951" y="0"/>
                </a:cubicBezTo>
                <a:close/>
              </a:path>
            </a:pathLst>
          </a:custGeom>
          <a:solidFill>
            <a:srgbClr val="FFFFFF"/>
          </a:solidFill>
          <a:ln/>
        </p:spPr>
      </p:sp>
      <p:sp>
        <p:nvSpPr>
          <p:cNvPr id="72" name="Text 70"/>
          <p:cNvSpPr/>
          <p:nvPr/>
        </p:nvSpPr>
        <p:spPr>
          <a:xfrm>
            <a:off x="7043798" y="4851267"/>
            <a:ext cx="2434752" cy="218854"/>
          </a:xfrm>
          <a:prstGeom prst="rect">
            <a:avLst/>
          </a:prstGeom>
          <a:noFill/>
          <a:ln/>
        </p:spPr>
        <p:txBody>
          <a:bodyPr wrap="square" lIns="0" tIns="0" rIns="0" bIns="0" rtlCol="0" anchor="ctr"/>
          <a:lstStyle/>
          <a:p>
            <a:pPr>
              <a:lnSpc>
                <a:spcPct val="130000"/>
              </a:lnSpc>
            </a:pPr>
            <a:r>
              <a:rPr lang="en-US" sz="1149" b="1" dirty="0">
                <a:solidFill>
                  <a:srgbClr val="F5F5F7"/>
                </a:solidFill>
                <a:latin typeface="Quattrocento Sans" pitchFamily="34" charset="0"/>
                <a:ea typeface="Quattrocento Sans" pitchFamily="34" charset="-122"/>
                <a:cs typeface="Quattrocento Sans" pitchFamily="34" charset="-120"/>
              </a:rPr>
              <a:t>Evening</a:t>
            </a:r>
            <a:endParaRPr lang="en-US" sz="1600" dirty="0"/>
          </a:p>
        </p:txBody>
      </p:sp>
      <p:sp>
        <p:nvSpPr>
          <p:cNvPr id="73" name="Text 71"/>
          <p:cNvSpPr/>
          <p:nvPr/>
        </p:nvSpPr>
        <p:spPr>
          <a:xfrm>
            <a:off x="7043798" y="5070121"/>
            <a:ext cx="2425634" cy="182378"/>
          </a:xfrm>
          <a:prstGeom prst="rect">
            <a:avLst/>
          </a:prstGeom>
          <a:noFill/>
          <a:ln/>
        </p:spPr>
        <p:txBody>
          <a:bodyPr wrap="square" lIns="0" tIns="0" rIns="0" bIns="0" rtlCol="0" anchor="ctr"/>
          <a:lstStyle/>
          <a:p>
            <a:pPr>
              <a:lnSpc>
                <a:spcPct val="120000"/>
              </a:lnSpc>
            </a:pPr>
            <a:r>
              <a:rPr lang="en-US" sz="1005" dirty="0">
                <a:solidFill>
                  <a:srgbClr val="8E8E93"/>
                </a:solidFill>
                <a:latin typeface="Quattrocento Sans" pitchFamily="34" charset="0"/>
                <a:ea typeface="Quattrocento Sans" pitchFamily="34" charset="-122"/>
                <a:cs typeface="Quattrocento Sans" pitchFamily="34" charset="-120"/>
              </a:rPr>
              <a:t>Social media → Streaming → Sleep tracker</a:t>
            </a:r>
            <a:endParaRPr lang="en-US" sz="1600" dirty="0"/>
          </a:p>
        </p:txBody>
      </p:sp>
      <p:sp>
        <p:nvSpPr>
          <p:cNvPr id="74" name="Shape 72"/>
          <p:cNvSpPr/>
          <p:nvPr/>
        </p:nvSpPr>
        <p:spPr>
          <a:xfrm>
            <a:off x="6168381" y="5799635"/>
            <a:ext cx="5653732" cy="1057795"/>
          </a:xfrm>
          <a:prstGeom prst="roundRect">
            <a:avLst>
              <a:gd name="adj" fmla="val 13793"/>
            </a:avLst>
          </a:prstGeom>
          <a:solidFill>
            <a:srgbClr val="2C2C2E"/>
          </a:solidFill>
          <a:ln/>
        </p:spPr>
      </p:sp>
      <p:sp>
        <p:nvSpPr>
          <p:cNvPr id="75" name="Shape 73"/>
          <p:cNvSpPr/>
          <p:nvPr/>
        </p:nvSpPr>
        <p:spPr>
          <a:xfrm>
            <a:off x="6341641" y="5982013"/>
            <a:ext cx="127665" cy="145903"/>
          </a:xfrm>
          <a:custGeom>
            <a:avLst/>
            <a:gdLst/>
            <a:ahLst/>
            <a:cxnLst/>
            <a:rect l="l" t="t" r="r" b="b"/>
            <a:pathLst>
              <a:path w="127665" h="145903">
                <a:moveTo>
                  <a:pt x="18238" y="9119"/>
                </a:moveTo>
                <a:cubicBezTo>
                  <a:pt x="8179" y="9119"/>
                  <a:pt x="0" y="17297"/>
                  <a:pt x="0" y="27357"/>
                </a:cubicBezTo>
                <a:lnTo>
                  <a:pt x="0" y="118546"/>
                </a:lnTo>
                <a:cubicBezTo>
                  <a:pt x="0" y="128605"/>
                  <a:pt x="8179" y="136784"/>
                  <a:pt x="18238" y="136784"/>
                </a:cubicBezTo>
                <a:lnTo>
                  <a:pt x="109427" y="136784"/>
                </a:lnTo>
                <a:cubicBezTo>
                  <a:pt x="119486" y="136784"/>
                  <a:pt x="127665" y="128605"/>
                  <a:pt x="127665" y="118546"/>
                </a:cubicBezTo>
                <a:lnTo>
                  <a:pt x="127665" y="27357"/>
                </a:lnTo>
                <a:cubicBezTo>
                  <a:pt x="127665" y="17297"/>
                  <a:pt x="119486" y="9119"/>
                  <a:pt x="109427" y="9119"/>
                </a:cubicBezTo>
                <a:lnTo>
                  <a:pt x="18238" y="9119"/>
                </a:lnTo>
                <a:close/>
                <a:moveTo>
                  <a:pt x="36476" y="31916"/>
                </a:moveTo>
                <a:cubicBezTo>
                  <a:pt x="44025" y="31916"/>
                  <a:pt x="50154" y="38045"/>
                  <a:pt x="50154" y="45595"/>
                </a:cubicBezTo>
                <a:cubicBezTo>
                  <a:pt x="50154" y="53144"/>
                  <a:pt x="44025" y="59273"/>
                  <a:pt x="36476" y="59273"/>
                </a:cubicBezTo>
                <a:cubicBezTo>
                  <a:pt x="28926" y="59273"/>
                  <a:pt x="22797" y="53144"/>
                  <a:pt x="22797" y="45595"/>
                </a:cubicBezTo>
                <a:cubicBezTo>
                  <a:pt x="22797" y="38045"/>
                  <a:pt x="28926" y="31916"/>
                  <a:pt x="36476" y="31916"/>
                </a:cubicBezTo>
                <a:close/>
                <a:moveTo>
                  <a:pt x="77511" y="63832"/>
                </a:moveTo>
                <a:cubicBezTo>
                  <a:pt x="79905" y="63832"/>
                  <a:pt x="82099" y="65086"/>
                  <a:pt x="83353" y="67110"/>
                </a:cubicBezTo>
                <a:lnTo>
                  <a:pt x="108430" y="108145"/>
                </a:lnTo>
                <a:cubicBezTo>
                  <a:pt x="109712" y="110253"/>
                  <a:pt x="109769" y="112904"/>
                  <a:pt x="108572" y="115069"/>
                </a:cubicBezTo>
                <a:cubicBezTo>
                  <a:pt x="107375" y="117235"/>
                  <a:pt x="105067" y="118546"/>
                  <a:pt x="102588" y="118546"/>
                </a:cubicBezTo>
                <a:lnTo>
                  <a:pt x="25077" y="118546"/>
                </a:lnTo>
                <a:cubicBezTo>
                  <a:pt x="22541" y="118546"/>
                  <a:pt x="20176" y="117121"/>
                  <a:pt x="19007" y="114870"/>
                </a:cubicBezTo>
                <a:cubicBezTo>
                  <a:pt x="17839" y="112619"/>
                  <a:pt x="18010" y="109883"/>
                  <a:pt x="19463" y="107803"/>
                </a:cubicBezTo>
                <a:lnTo>
                  <a:pt x="35421" y="85005"/>
                </a:lnTo>
                <a:cubicBezTo>
                  <a:pt x="36704" y="83182"/>
                  <a:pt x="38784" y="82099"/>
                  <a:pt x="41035" y="82099"/>
                </a:cubicBezTo>
                <a:cubicBezTo>
                  <a:pt x="43286" y="82099"/>
                  <a:pt x="45367" y="83182"/>
                  <a:pt x="46649" y="85005"/>
                </a:cubicBezTo>
                <a:lnTo>
                  <a:pt x="54172" y="95777"/>
                </a:lnTo>
                <a:lnTo>
                  <a:pt x="71669" y="67138"/>
                </a:lnTo>
                <a:cubicBezTo>
                  <a:pt x="72923" y="65115"/>
                  <a:pt x="75117" y="63861"/>
                  <a:pt x="77511" y="63861"/>
                </a:cubicBezTo>
                <a:close/>
              </a:path>
            </a:pathLst>
          </a:custGeom>
          <a:solidFill>
            <a:srgbClr val="8E8E93"/>
          </a:solidFill>
          <a:ln/>
        </p:spPr>
      </p:sp>
      <p:sp>
        <p:nvSpPr>
          <p:cNvPr id="76" name="Text 74"/>
          <p:cNvSpPr/>
          <p:nvPr/>
        </p:nvSpPr>
        <p:spPr>
          <a:xfrm>
            <a:off x="6496663" y="5945538"/>
            <a:ext cx="5252500" cy="218854"/>
          </a:xfrm>
          <a:prstGeom prst="rect">
            <a:avLst/>
          </a:prstGeom>
          <a:noFill/>
          <a:ln/>
        </p:spPr>
        <p:txBody>
          <a:bodyPr wrap="square" lIns="0" tIns="0" rIns="0" bIns="0" rtlCol="0" anchor="ctr"/>
          <a:lstStyle/>
          <a:p>
            <a:pPr>
              <a:lnSpc>
                <a:spcPct val="130000"/>
              </a:lnSpc>
            </a:pPr>
            <a:r>
              <a:rPr lang="en-US" sz="1149" b="1" dirty="0">
                <a:solidFill>
                  <a:srgbClr val="8E8E93"/>
                </a:solidFill>
                <a:latin typeface="Liter" pitchFamily="34" charset="0"/>
                <a:ea typeface="Liter" pitchFamily="34" charset="-122"/>
                <a:cs typeface="Liter" pitchFamily="34" charset="-120"/>
              </a:rPr>
              <a:t>Visual Suggestion</a:t>
            </a:r>
            <a:endParaRPr lang="en-US" sz="1600" dirty="0"/>
          </a:p>
        </p:txBody>
      </p:sp>
      <p:sp>
        <p:nvSpPr>
          <p:cNvPr id="77" name="Shape 75"/>
          <p:cNvSpPr/>
          <p:nvPr/>
        </p:nvSpPr>
        <p:spPr>
          <a:xfrm>
            <a:off x="6332522" y="6273819"/>
            <a:ext cx="145903" cy="145903"/>
          </a:xfrm>
          <a:custGeom>
            <a:avLst/>
            <a:gdLst/>
            <a:ahLst/>
            <a:cxnLst/>
            <a:rect l="l" t="t" r="r" b="b"/>
            <a:pathLst>
              <a:path w="145903" h="145903">
                <a:moveTo>
                  <a:pt x="0" y="22797"/>
                </a:moveTo>
                <a:cubicBezTo>
                  <a:pt x="0" y="15246"/>
                  <a:pt x="6127" y="9119"/>
                  <a:pt x="13678" y="9119"/>
                </a:cubicBezTo>
                <a:lnTo>
                  <a:pt x="41035" y="9119"/>
                </a:lnTo>
                <a:cubicBezTo>
                  <a:pt x="48587" y="9119"/>
                  <a:pt x="54714" y="15246"/>
                  <a:pt x="54714" y="22797"/>
                </a:cubicBezTo>
                <a:lnTo>
                  <a:pt x="54714" y="27357"/>
                </a:lnTo>
                <a:lnTo>
                  <a:pt x="91189" y="27357"/>
                </a:lnTo>
                <a:lnTo>
                  <a:pt x="91189" y="22797"/>
                </a:lnTo>
                <a:cubicBezTo>
                  <a:pt x="91189" y="15246"/>
                  <a:pt x="97316" y="9119"/>
                  <a:pt x="104868" y="9119"/>
                </a:cubicBezTo>
                <a:lnTo>
                  <a:pt x="132224" y="9119"/>
                </a:lnTo>
                <a:cubicBezTo>
                  <a:pt x="139776" y="9119"/>
                  <a:pt x="145903" y="15246"/>
                  <a:pt x="145903" y="22797"/>
                </a:cubicBezTo>
                <a:lnTo>
                  <a:pt x="145903" y="50154"/>
                </a:lnTo>
                <a:cubicBezTo>
                  <a:pt x="145903" y="57706"/>
                  <a:pt x="139776" y="63832"/>
                  <a:pt x="132224" y="63832"/>
                </a:cubicBezTo>
                <a:lnTo>
                  <a:pt x="104868" y="63832"/>
                </a:lnTo>
                <a:cubicBezTo>
                  <a:pt x="97316" y="63832"/>
                  <a:pt x="91189" y="57706"/>
                  <a:pt x="91189" y="50154"/>
                </a:cubicBezTo>
                <a:lnTo>
                  <a:pt x="91189" y="45595"/>
                </a:lnTo>
                <a:lnTo>
                  <a:pt x="54714" y="45595"/>
                </a:lnTo>
                <a:lnTo>
                  <a:pt x="54714" y="50154"/>
                </a:lnTo>
                <a:cubicBezTo>
                  <a:pt x="54714" y="52234"/>
                  <a:pt x="54229" y="54229"/>
                  <a:pt x="53403" y="55996"/>
                </a:cubicBezTo>
                <a:lnTo>
                  <a:pt x="72951" y="82070"/>
                </a:lnTo>
                <a:lnTo>
                  <a:pt x="95749" y="82070"/>
                </a:lnTo>
                <a:cubicBezTo>
                  <a:pt x="103300" y="82070"/>
                  <a:pt x="109427" y="88197"/>
                  <a:pt x="109427" y="95749"/>
                </a:cubicBezTo>
                <a:lnTo>
                  <a:pt x="109427" y="123105"/>
                </a:lnTo>
                <a:cubicBezTo>
                  <a:pt x="109427" y="130657"/>
                  <a:pt x="103300" y="136784"/>
                  <a:pt x="95749" y="136784"/>
                </a:cubicBezTo>
                <a:lnTo>
                  <a:pt x="68392" y="136784"/>
                </a:lnTo>
                <a:cubicBezTo>
                  <a:pt x="60840" y="136784"/>
                  <a:pt x="54714" y="130657"/>
                  <a:pt x="54714" y="123105"/>
                </a:cubicBezTo>
                <a:lnTo>
                  <a:pt x="54714" y="95749"/>
                </a:lnTo>
                <a:cubicBezTo>
                  <a:pt x="54714" y="93668"/>
                  <a:pt x="55198" y="91674"/>
                  <a:pt x="56024" y="89907"/>
                </a:cubicBezTo>
                <a:lnTo>
                  <a:pt x="36476" y="63832"/>
                </a:lnTo>
                <a:lnTo>
                  <a:pt x="13678" y="63832"/>
                </a:lnTo>
                <a:cubicBezTo>
                  <a:pt x="6127" y="63832"/>
                  <a:pt x="0" y="57706"/>
                  <a:pt x="0" y="50154"/>
                </a:cubicBezTo>
                <a:lnTo>
                  <a:pt x="0" y="22797"/>
                </a:lnTo>
                <a:close/>
              </a:path>
            </a:pathLst>
          </a:custGeom>
          <a:solidFill>
            <a:srgbClr val="34C759"/>
          </a:solidFill>
          <a:ln/>
        </p:spPr>
      </p:sp>
      <p:sp>
        <p:nvSpPr>
          <p:cNvPr id="78" name="Text 76"/>
          <p:cNvSpPr/>
          <p:nvPr/>
        </p:nvSpPr>
        <p:spPr>
          <a:xfrm>
            <a:off x="6569614" y="6237343"/>
            <a:ext cx="3693164" cy="218854"/>
          </a:xfrm>
          <a:prstGeom prst="rect">
            <a:avLst/>
          </a:prstGeom>
          <a:noFill/>
          <a:ln/>
        </p:spPr>
        <p:txBody>
          <a:bodyPr wrap="square" lIns="0" tIns="0" rIns="0" bIns="0" rtlCol="0" anchor="ctr"/>
          <a:lstStyle/>
          <a:p>
            <a:pPr>
              <a:lnSpc>
                <a:spcPct val="130000"/>
              </a:lnSpc>
            </a:pPr>
            <a:r>
              <a:rPr lang="en-US" sz="1149"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 Timeline showing app usage throughout the day</a:t>
            </a:r>
            <a:endParaRPr lang="en-US" sz="1600" dirty="0"/>
          </a:p>
        </p:txBody>
      </p:sp>
      <p:sp>
        <p:nvSpPr>
          <p:cNvPr id="79" name="Shape 77"/>
          <p:cNvSpPr/>
          <p:nvPr/>
        </p:nvSpPr>
        <p:spPr>
          <a:xfrm>
            <a:off x="6341641" y="6529149"/>
            <a:ext cx="127665" cy="145903"/>
          </a:xfrm>
          <a:custGeom>
            <a:avLst/>
            <a:gdLst/>
            <a:ahLst/>
            <a:cxnLst/>
            <a:rect l="l" t="t" r="r" b="b"/>
            <a:pathLst>
              <a:path w="127665" h="145903">
                <a:moveTo>
                  <a:pt x="18238" y="9119"/>
                </a:moveTo>
                <a:cubicBezTo>
                  <a:pt x="8179" y="9119"/>
                  <a:pt x="0" y="17297"/>
                  <a:pt x="0" y="27357"/>
                </a:cubicBezTo>
                <a:lnTo>
                  <a:pt x="0" y="118546"/>
                </a:lnTo>
                <a:cubicBezTo>
                  <a:pt x="0" y="128605"/>
                  <a:pt x="8179" y="136784"/>
                  <a:pt x="18238" y="136784"/>
                </a:cubicBezTo>
                <a:lnTo>
                  <a:pt x="109427" y="136784"/>
                </a:lnTo>
                <a:cubicBezTo>
                  <a:pt x="119486" y="136784"/>
                  <a:pt x="127665" y="128605"/>
                  <a:pt x="127665" y="118546"/>
                </a:cubicBezTo>
                <a:lnTo>
                  <a:pt x="127665" y="27357"/>
                </a:lnTo>
                <a:cubicBezTo>
                  <a:pt x="127665" y="17297"/>
                  <a:pt x="119486" y="9119"/>
                  <a:pt x="109427" y="9119"/>
                </a:cubicBezTo>
                <a:lnTo>
                  <a:pt x="18238" y="9119"/>
                </a:lnTo>
                <a:close/>
                <a:moveTo>
                  <a:pt x="36476" y="31916"/>
                </a:moveTo>
                <a:cubicBezTo>
                  <a:pt x="44025" y="31916"/>
                  <a:pt x="50154" y="38045"/>
                  <a:pt x="50154" y="45595"/>
                </a:cubicBezTo>
                <a:cubicBezTo>
                  <a:pt x="50154" y="53144"/>
                  <a:pt x="44025" y="59273"/>
                  <a:pt x="36476" y="59273"/>
                </a:cubicBezTo>
                <a:cubicBezTo>
                  <a:pt x="28926" y="59273"/>
                  <a:pt x="22797" y="53144"/>
                  <a:pt x="22797" y="45595"/>
                </a:cubicBezTo>
                <a:cubicBezTo>
                  <a:pt x="22797" y="38045"/>
                  <a:pt x="28926" y="31916"/>
                  <a:pt x="36476" y="31916"/>
                </a:cubicBezTo>
                <a:close/>
                <a:moveTo>
                  <a:pt x="77511" y="63832"/>
                </a:moveTo>
                <a:cubicBezTo>
                  <a:pt x="79905" y="63832"/>
                  <a:pt x="82099" y="65086"/>
                  <a:pt x="83353" y="67110"/>
                </a:cubicBezTo>
                <a:lnTo>
                  <a:pt x="108430" y="108145"/>
                </a:lnTo>
                <a:cubicBezTo>
                  <a:pt x="109712" y="110253"/>
                  <a:pt x="109769" y="112904"/>
                  <a:pt x="108572" y="115069"/>
                </a:cubicBezTo>
                <a:cubicBezTo>
                  <a:pt x="107375" y="117235"/>
                  <a:pt x="105067" y="118546"/>
                  <a:pt x="102588" y="118546"/>
                </a:cubicBezTo>
                <a:lnTo>
                  <a:pt x="25077" y="118546"/>
                </a:lnTo>
                <a:cubicBezTo>
                  <a:pt x="22541" y="118546"/>
                  <a:pt x="20176" y="117121"/>
                  <a:pt x="19007" y="114870"/>
                </a:cubicBezTo>
                <a:cubicBezTo>
                  <a:pt x="17839" y="112619"/>
                  <a:pt x="18010" y="109883"/>
                  <a:pt x="19463" y="107803"/>
                </a:cubicBezTo>
                <a:lnTo>
                  <a:pt x="35421" y="85005"/>
                </a:lnTo>
                <a:cubicBezTo>
                  <a:pt x="36704" y="83182"/>
                  <a:pt x="38784" y="82099"/>
                  <a:pt x="41035" y="82099"/>
                </a:cubicBezTo>
                <a:cubicBezTo>
                  <a:pt x="43286" y="82099"/>
                  <a:pt x="45367" y="83182"/>
                  <a:pt x="46649" y="85005"/>
                </a:cubicBezTo>
                <a:lnTo>
                  <a:pt x="54172" y="95777"/>
                </a:lnTo>
                <a:lnTo>
                  <a:pt x="71669" y="67138"/>
                </a:lnTo>
                <a:cubicBezTo>
                  <a:pt x="72923" y="65115"/>
                  <a:pt x="75117" y="63861"/>
                  <a:pt x="77511" y="63861"/>
                </a:cubicBezTo>
                <a:close/>
              </a:path>
            </a:pathLst>
          </a:custGeom>
          <a:solidFill>
            <a:srgbClr val="0A84FF"/>
          </a:solidFill>
          <a:ln/>
        </p:spPr>
      </p:sp>
      <p:sp>
        <p:nvSpPr>
          <p:cNvPr id="80" name="Text 78"/>
          <p:cNvSpPr/>
          <p:nvPr/>
        </p:nvSpPr>
        <p:spPr>
          <a:xfrm>
            <a:off x="6569614" y="6492673"/>
            <a:ext cx="2325325" cy="218854"/>
          </a:xfrm>
          <a:prstGeom prst="rect">
            <a:avLst/>
          </a:prstGeom>
          <a:noFill/>
          <a:ln/>
        </p:spPr>
        <p:txBody>
          <a:bodyPr wrap="square" lIns="0" tIns="0" rIns="0" bIns="0" rtlCol="0" anchor="ctr"/>
          <a:lstStyle/>
          <a:p>
            <a:pPr>
              <a:lnSpc>
                <a:spcPct val="130000"/>
              </a:lnSpc>
            </a:pPr>
            <a:r>
              <a:rPr lang="en-US" sz="1149"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149" dirty="0">
                <a:solidFill>
                  <a:srgbClr val="F5F5F7"/>
                </a:solidFill>
                <a:latin typeface="Quattrocento Sans" pitchFamily="34" charset="0"/>
                <a:ea typeface="Quattrocento Sans" pitchFamily="34" charset="-122"/>
                <a:cs typeface="Quattrocento Sans" pitchFamily="34" charset="-120"/>
              </a:rPr>
              <a:t> Collage of popular app icons</a:t>
            </a:r>
            <a:endParaRPr lang="en-US" sz="16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75716" y="432074"/>
            <a:ext cx="450860" cy="450860"/>
          </a:xfrm>
          <a:prstGeom prst="roundRect">
            <a:avLst>
              <a:gd name="adj" fmla="val 25000"/>
            </a:avLst>
          </a:prstGeom>
          <a:solidFill>
            <a:srgbClr val="FF9500"/>
          </a:solidFill>
          <a:ln/>
        </p:spPr>
      </p:sp>
      <p:sp>
        <p:nvSpPr>
          <p:cNvPr id="3" name="Text 1"/>
          <p:cNvSpPr/>
          <p:nvPr/>
        </p:nvSpPr>
        <p:spPr>
          <a:xfrm>
            <a:off x="490545" y="507217"/>
            <a:ext cx="338145" cy="300573"/>
          </a:xfrm>
          <a:prstGeom prst="rect">
            <a:avLst/>
          </a:prstGeom>
          <a:noFill/>
          <a:ln/>
        </p:spPr>
        <p:txBody>
          <a:bodyPr wrap="square" lIns="0" tIns="0" rIns="0" bIns="0" rtlCol="0" anchor="ctr"/>
          <a:lstStyle/>
          <a:p>
            <a:pPr>
              <a:lnSpc>
                <a:spcPct val="110000"/>
              </a:lnSpc>
            </a:pPr>
            <a:r>
              <a:rPr lang="en-US" sz="1775" b="1" dirty="0">
                <a:solidFill>
                  <a:srgbClr val="1D1D1F"/>
                </a:solidFill>
                <a:latin typeface="Liter" pitchFamily="34" charset="0"/>
                <a:ea typeface="Liter" pitchFamily="34" charset="-122"/>
                <a:cs typeface="Liter" pitchFamily="34" charset="-120"/>
              </a:rPr>
              <a:t>12</a:t>
            </a:r>
            <a:endParaRPr lang="en-US" sz="1600" dirty="0"/>
          </a:p>
        </p:txBody>
      </p:sp>
      <p:sp>
        <p:nvSpPr>
          <p:cNvPr id="4" name="Text 2"/>
          <p:cNvSpPr/>
          <p:nvPr/>
        </p:nvSpPr>
        <p:spPr>
          <a:xfrm>
            <a:off x="939291" y="375716"/>
            <a:ext cx="7016505" cy="187858"/>
          </a:xfrm>
          <a:prstGeom prst="rect">
            <a:avLst/>
          </a:prstGeom>
          <a:noFill/>
          <a:ln/>
        </p:spPr>
        <p:txBody>
          <a:bodyPr wrap="square" lIns="0" tIns="0" rIns="0" bIns="0" rtlCol="0" anchor="ctr"/>
          <a:lstStyle/>
          <a:p>
            <a:pPr>
              <a:lnSpc>
                <a:spcPct val="120000"/>
              </a:lnSpc>
            </a:pPr>
            <a:r>
              <a:rPr lang="en-US" sz="1035" b="1" spc="52" kern="0" dirty="0">
                <a:solidFill>
                  <a:srgbClr val="FF9500"/>
                </a:solidFill>
                <a:latin typeface="Quattrocento Sans" pitchFamily="34" charset="0"/>
                <a:ea typeface="Quattrocento Sans" pitchFamily="34" charset="-122"/>
                <a:cs typeface="Quattrocento Sans" pitchFamily="34" charset="-120"/>
              </a:rPr>
              <a:t>Importance of Mobile Development</a:t>
            </a:r>
            <a:endParaRPr lang="en-US" sz="1600" dirty="0"/>
          </a:p>
        </p:txBody>
      </p:sp>
      <p:sp>
        <p:nvSpPr>
          <p:cNvPr id="5" name="Text 3"/>
          <p:cNvSpPr/>
          <p:nvPr/>
        </p:nvSpPr>
        <p:spPr>
          <a:xfrm>
            <a:off x="939291" y="563575"/>
            <a:ext cx="7119827" cy="375716"/>
          </a:xfrm>
          <a:prstGeom prst="rect">
            <a:avLst/>
          </a:prstGeom>
          <a:noFill/>
          <a:ln/>
        </p:spPr>
        <p:txBody>
          <a:bodyPr wrap="square" lIns="0" tIns="0" rIns="0" bIns="0" rtlCol="0" anchor="ctr"/>
          <a:lstStyle/>
          <a:p>
            <a:pPr>
              <a:lnSpc>
                <a:spcPct val="90000"/>
              </a:lnSpc>
            </a:pPr>
            <a:r>
              <a:rPr lang="en-US" sz="2663" b="1" dirty="0">
                <a:solidFill>
                  <a:srgbClr val="F5F5F7"/>
                </a:solidFill>
                <a:latin typeface="Liter" pitchFamily="34" charset="0"/>
                <a:ea typeface="Liter" pitchFamily="34" charset="-122"/>
                <a:cs typeface="Liter" pitchFamily="34" charset="-120"/>
              </a:rPr>
              <a:t>Business Opportunities in Mobile Development</a:t>
            </a:r>
            <a:endParaRPr lang="en-US" sz="1600" dirty="0"/>
          </a:p>
        </p:txBody>
      </p:sp>
      <p:sp>
        <p:nvSpPr>
          <p:cNvPr id="6" name="Shape 4"/>
          <p:cNvSpPr/>
          <p:nvPr/>
        </p:nvSpPr>
        <p:spPr>
          <a:xfrm>
            <a:off x="394502" y="1239864"/>
            <a:ext cx="5626354" cy="2028869"/>
          </a:xfrm>
          <a:custGeom>
            <a:avLst/>
            <a:gdLst/>
            <a:ahLst/>
            <a:cxnLst/>
            <a:rect l="l" t="t" r="r" b="b"/>
            <a:pathLst>
              <a:path w="5626354" h="2028869">
                <a:moveTo>
                  <a:pt x="37592" y="0"/>
                </a:moveTo>
                <a:lnTo>
                  <a:pt x="5476113" y="0"/>
                </a:lnTo>
                <a:cubicBezTo>
                  <a:pt x="5559089" y="0"/>
                  <a:pt x="5626354" y="67265"/>
                  <a:pt x="5626354" y="150241"/>
                </a:cubicBezTo>
                <a:lnTo>
                  <a:pt x="5626354" y="1878584"/>
                </a:lnTo>
                <a:cubicBezTo>
                  <a:pt x="5626354" y="1961504"/>
                  <a:pt x="5559033" y="2028825"/>
                  <a:pt x="5476113" y="2028825"/>
                </a:cubicBezTo>
                <a:lnTo>
                  <a:pt x="37592" y="2028825"/>
                </a:lnTo>
                <a:cubicBezTo>
                  <a:pt x="16880" y="2028825"/>
                  <a:pt x="70" y="2012072"/>
                  <a:pt x="0" y="1991360"/>
                </a:cubicBezTo>
                <a:lnTo>
                  <a:pt x="0" y="37592"/>
                </a:lnTo>
                <a:cubicBezTo>
                  <a:pt x="0" y="16844"/>
                  <a:pt x="16844" y="0"/>
                  <a:pt x="37592" y="0"/>
                </a:cubicBezTo>
                <a:close/>
              </a:path>
            </a:pathLst>
          </a:custGeom>
          <a:gradFill rotWithShape="1" flip="none">
            <a:gsLst>
              <a:gs pos="0">
                <a:srgbClr val="34C759">
                  <a:alpha val="20000"/>
                </a:srgbClr>
              </a:gs>
              <a:gs pos="100000">
                <a:srgbClr val="2C2C2E"/>
              </a:gs>
            </a:gsLst>
            <a:lin ang="2700000" scaled="1"/>
          </a:gradFill>
          <a:ln/>
        </p:spPr>
      </p:sp>
      <p:sp>
        <p:nvSpPr>
          <p:cNvPr id="7" name="Shape 5"/>
          <p:cNvSpPr/>
          <p:nvPr/>
        </p:nvSpPr>
        <p:spPr>
          <a:xfrm>
            <a:off x="394502" y="1239864"/>
            <a:ext cx="37572" cy="2028869"/>
          </a:xfrm>
          <a:custGeom>
            <a:avLst/>
            <a:gdLst/>
            <a:ahLst/>
            <a:cxnLst/>
            <a:rect l="l" t="t" r="r" b="b"/>
            <a:pathLst>
              <a:path w="37572" h="2028869">
                <a:moveTo>
                  <a:pt x="37592" y="0"/>
                </a:moveTo>
                <a:lnTo>
                  <a:pt x="37592" y="0"/>
                </a:lnTo>
                <a:lnTo>
                  <a:pt x="37592" y="2028825"/>
                </a:lnTo>
                <a:lnTo>
                  <a:pt x="37592" y="2028825"/>
                </a:lnTo>
                <a:cubicBezTo>
                  <a:pt x="16880" y="2028825"/>
                  <a:pt x="70" y="2012072"/>
                  <a:pt x="0" y="1991360"/>
                </a:cubicBezTo>
                <a:lnTo>
                  <a:pt x="0" y="37592"/>
                </a:lnTo>
                <a:cubicBezTo>
                  <a:pt x="0" y="16844"/>
                  <a:pt x="16844" y="0"/>
                  <a:pt x="37592" y="0"/>
                </a:cubicBezTo>
                <a:close/>
              </a:path>
            </a:pathLst>
          </a:custGeom>
          <a:solidFill>
            <a:srgbClr val="34C759"/>
          </a:solidFill>
          <a:ln/>
        </p:spPr>
      </p:sp>
      <p:sp>
        <p:nvSpPr>
          <p:cNvPr id="8" name="Shape 6"/>
          <p:cNvSpPr/>
          <p:nvPr/>
        </p:nvSpPr>
        <p:spPr>
          <a:xfrm>
            <a:off x="638718" y="1465294"/>
            <a:ext cx="601146" cy="601146"/>
          </a:xfrm>
          <a:prstGeom prst="roundRect">
            <a:avLst>
              <a:gd name="adj" fmla="val 25000"/>
            </a:avLst>
          </a:prstGeom>
          <a:solidFill>
            <a:srgbClr val="34C759"/>
          </a:solidFill>
          <a:ln/>
        </p:spPr>
      </p:sp>
      <p:sp>
        <p:nvSpPr>
          <p:cNvPr id="9" name="Shape 7"/>
          <p:cNvSpPr/>
          <p:nvPr/>
        </p:nvSpPr>
        <p:spPr>
          <a:xfrm>
            <a:off x="800746" y="1624974"/>
            <a:ext cx="281787" cy="281787"/>
          </a:xfrm>
          <a:custGeom>
            <a:avLst/>
            <a:gdLst/>
            <a:ahLst/>
            <a:cxnLst/>
            <a:rect l="l" t="t" r="r" b="b"/>
            <a:pathLst>
              <a:path w="281787" h="281787">
                <a:moveTo>
                  <a:pt x="16896" y="39791"/>
                </a:moveTo>
                <a:cubicBezTo>
                  <a:pt x="20694" y="26638"/>
                  <a:pt x="32747" y="17612"/>
                  <a:pt x="46451" y="17612"/>
                </a:cubicBezTo>
                <a:lnTo>
                  <a:pt x="235777" y="17612"/>
                </a:lnTo>
                <a:cubicBezTo>
                  <a:pt x="249481" y="17612"/>
                  <a:pt x="261534" y="26638"/>
                  <a:pt x="265386" y="39791"/>
                </a:cubicBezTo>
                <a:lnTo>
                  <a:pt x="278265" y="83931"/>
                </a:lnTo>
                <a:cubicBezTo>
                  <a:pt x="285310" y="107982"/>
                  <a:pt x="267203" y="132088"/>
                  <a:pt x="242161" y="132088"/>
                </a:cubicBezTo>
                <a:cubicBezTo>
                  <a:pt x="227686" y="132088"/>
                  <a:pt x="214973" y="123887"/>
                  <a:pt x="208699" y="111669"/>
                </a:cubicBezTo>
                <a:cubicBezTo>
                  <a:pt x="202315" y="123722"/>
                  <a:pt x="189656" y="132088"/>
                  <a:pt x="174906" y="132088"/>
                </a:cubicBezTo>
                <a:cubicBezTo>
                  <a:pt x="160267" y="132088"/>
                  <a:pt x="147553" y="123832"/>
                  <a:pt x="141169" y="111724"/>
                </a:cubicBezTo>
                <a:cubicBezTo>
                  <a:pt x="134785" y="123832"/>
                  <a:pt x="122071" y="132088"/>
                  <a:pt x="107431" y="132088"/>
                </a:cubicBezTo>
                <a:cubicBezTo>
                  <a:pt x="92682" y="132088"/>
                  <a:pt x="80023" y="123777"/>
                  <a:pt x="73639" y="111669"/>
                </a:cubicBezTo>
                <a:cubicBezTo>
                  <a:pt x="67365" y="123832"/>
                  <a:pt x="54651" y="132088"/>
                  <a:pt x="40177" y="132088"/>
                </a:cubicBezTo>
                <a:cubicBezTo>
                  <a:pt x="15080" y="132088"/>
                  <a:pt x="-2972" y="108037"/>
                  <a:pt x="4073" y="83931"/>
                </a:cubicBezTo>
                <a:lnTo>
                  <a:pt x="16896" y="39791"/>
                </a:lnTo>
                <a:close/>
                <a:moveTo>
                  <a:pt x="53055" y="193729"/>
                </a:moveTo>
                <a:lnTo>
                  <a:pt x="229172" y="193729"/>
                </a:lnTo>
                <a:lnTo>
                  <a:pt x="229172" y="157185"/>
                </a:lnTo>
                <a:cubicBezTo>
                  <a:pt x="233355" y="158065"/>
                  <a:pt x="237703" y="158505"/>
                  <a:pt x="242106" y="158505"/>
                </a:cubicBezTo>
                <a:cubicBezTo>
                  <a:pt x="249976" y="158505"/>
                  <a:pt x="257516" y="157074"/>
                  <a:pt x="264396" y="154543"/>
                </a:cubicBezTo>
                <a:lnTo>
                  <a:pt x="264396" y="237758"/>
                </a:lnTo>
                <a:cubicBezTo>
                  <a:pt x="264396" y="252343"/>
                  <a:pt x="252563" y="264176"/>
                  <a:pt x="237978" y="264176"/>
                </a:cubicBezTo>
                <a:lnTo>
                  <a:pt x="44249" y="264176"/>
                </a:lnTo>
                <a:cubicBezTo>
                  <a:pt x="29665" y="264176"/>
                  <a:pt x="17832" y="252343"/>
                  <a:pt x="17832" y="237758"/>
                </a:cubicBezTo>
                <a:lnTo>
                  <a:pt x="17832" y="154543"/>
                </a:lnTo>
                <a:cubicBezTo>
                  <a:pt x="24711" y="157074"/>
                  <a:pt x="32196" y="158505"/>
                  <a:pt x="40122" y="158505"/>
                </a:cubicBezTo>
                <a:cubicBezTo>
                  <a:pt x="44580" y="158505"/>
                  <a:pt x="48872" y="158065"/>
                  <a:pt x="53055" y="157185"/>
                </a:cubicBezTo>
                <a:lnTo>
                  <a:pt x="53055" y="193729"/>
                </a:lnTo>
                <a:close/>
              </a:path>
            </a:pathLst>
          </a:custGeom>
          <a:solidFill>
            <a:srgbClr val="1D1D1F"/>
          </a:solidFill>
          <a:ln/>
        </p:spPr>
      </p:sp>
      <p:sp>
        <p:nvSpPr>
          <p:cNvPr id="10" name="Text 8"/>
          <p:cNvSpPr/>
          <p:nvPr/>
        </p:nvSpPr>
        <p:spPr>
          <a:xfrm>
            <a:off x="1390151" y="1615581"/>
            <a:ext cx="1756475" cy="300573"/>
          </a:xfrm>
          <a:prstGeom prst="rect">
            <a:avLst/>
          </a:prstGeom>
          <a:noFill/>
          <a:ln/>
        </p:spPr>
        <p:txBody>
          <a:bodyPr wrap="square" lIns="0" tIns="0" rIns="0" bIns="0" rtlCol="0" anchor="ctr"/>
          <a:lstStyle/>
          <a:p>
            <a:pPr>
              <a:lnSpc>
                <a:spcPct val="110000"/>
              </a:lnSpc>
            </a:pPr>
            <a:r>
              <a:rPr lang="en-US" sz="1775" b="1" dirty="0">
                <a:solidFill>
                  <a:srgbClr val="34C759"/>
                </a:solidFill>
                <a:latin typeface="Liter" pitchFamily="34" charset="0"/>
                <a:ea typeface="Liter" pitchFamily="34" charset="-122"/>
                <a:cs typeface="Liter" pitchFamily="34" charset="-120"/>
              </a:rPr>
              <a:t>Customer Reach</a:t>
            </a:r>
            <a:endParaRPr lang="en-US" sz="1600" dirty="0"/>
          </a:p>
        </p:txBody>
      </p:sp>
      <p:sp>
        <p:nvSpPr>
          <p:cNvPr id="11" name="Text 9"/>
          <p:cNvSpPr/>
          <p:nvPr/>
        </p:nvSpPr>
        <p:spPr>
          <a:xfrm>
            <a:off x="638718" y="2216727"/>
            <a:ext cx="122108" cy="225430"/>
          </a:xfrm>
          <a:prstGeom prst="rect">
            <a:avLst/>
          </a:prstGeom>
          <a:noFill/>
          <a:ln/>
        </p:spPr>
        <p:txBody>
          <a:bodyPr wrap="square" lIns="0" tIns="0" rIns="0" bIns="0" rtlCol="0" anchor="ctr"/>
          <a:lstStyle/>
          <a:p>
            <a:pPr>
              <a:lnSpc>
                <a:spcPct val="120000"/>
              </a:lnSpc>
            </a:pPr>
            <a:r>
              <a:rPr lang="en-US" sz="118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2" name="Text 10"/>
          <p:cNvSpPr/>
          <p:nvPr/>
        </p:nvSpPr>
        <p:spPr>
          <a:xfrm>
            <a:off x="763174" y="2216727"/>
            <a:ext cx="3043304" cy="225430"/>
          </a:xfrm>
          <a:prstGeom prst="rect">
            <a:avLst/>
          </a:prstGeom>
          <a:noFill/>
          <a:ln/>
        </p:spPr>
        <p:txBody>
          <a:bodyPr wrap="square" lIns="0" tIns="0" rIns="0" bIns="0" rtlCol="0" anchor="ctr"/>
          <a:lstStyle/>
          <a:p>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Apps put your business </a:t>
            </a:r>
            <a:pPr>
              <a:lnSpc>
                <a:spcPct val="120000"/>
              </a:lnSpc>
            </a:pPr>
            <a:r>
              <a:rPr lang="en-US" sz="1183" b="1" dirty="0">
                <a:solidFill>
                  <a:srgbClr val="34C759"/>
                </a:solidFill>
                <a:latin typeface="Quattrocento Sans" pitchFamily="34" charset="0"/>
                <a:ea typeface="Quattrocento Sans" pitchFamily="34" charset="-122"/>
                <a:cs typeface="Quattrocento Sans" pitchFamily="34" charset="-120"/>
              </a:rPr>
              <a:t>in customers' pockets</a:t>
            </a:r>
            <a:endParaRPr lang="en-US" sz="1600" dirty="0"/>
          </a:p>
        </p:txBody>
      </p:sp>
      <p:sp>
        <p:nvSpPr>
          <p:cNvPr id="13" name="Text 11"/>
          <p:cNvSpPr/>
          <p:nvPr/>
        </p:nvSpPr>
        <p:spPr>
          <a:xfrm>
            <a:off x="638718" y="2517300"/>
            <a:ext cx="122108" cy="225430"/>
          </a:xfrm>
          <a:prstGeom prst="rect">
            <a:avLst/>
          </a:prstGeom>
          <a:noFill/>
          <a:ln/>
        </p:spPr>
        <p:txBody>
          <a:bodyPr wrap="square" lIns="0" tIns="0" rIns="0" bIns="0" rtlCol="0" anchor="ctr"/>
          <a:lstStyle/>
          <a:p>
            <a:pPr>
              <a:lnSpc>
                <a:spcPct val="120000"/>
              </a:lnSpc>
            </a:pPr>
            <a:r>
              <a:rPr lang="en-US" sz="118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4" name="Text 12"/>
          <p:cNvSpPr/>
          <p:nvPr/>
        </p:nvSpPr>
        <p:spPr>
          <a:xfrm>
            <a:off x="763174" y="2517300"/>
            <a:ext cx="2564265" cy="225430"/>
          </a:xfrm>
          <a:prstGeom prst="rect">
            <a:avLst/>
          </a:prstGeom>
          <a:noFill/>
          <a:ln/>
        </p:spPr>
        <p:txBody>
          <a:bodyPr wrap="square" lIns="0" tIns="0" rIns="0" bIns="0" rtlCol="0" anchor="ctr"/>
          <a:lstStyle/>
          <a:p>
            <a:pPr>
              <a:lnSpc>
                <a:spcPct val="120000"/>
              </a:lnSpc>
            </a:pPr>
            <a:r>
              <a:rPr lang="en-US" sz="1183" b="1" dirty="0">
                <a:solidFill>
                  <a:srgbClr val="34C759"/>
                </a:solidFill>
                <a:latin typeface="Quattrocento Sans" pitchFamily="34" charset="0"/>
                <a:ea typeface="Quattrocento Sans" pitchFamily="34" charset="-122"/>
                <a:cs typeface="Quattrocento Sans" pitchFamily="34" charset="-120"/>
              </a:rPr>
              <a:t>24/7 accessibility</a:t>
            </a:r>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 to products/services</a:t>
            </a:r>
            <a:endParaRPr lang="en-US" sz="1600" dirty="0"/>
          </a:p>
        </p:txBody>
      </p:sp>
      <p:sp>
        <p:nvSpPr>
          <p:cNvPr id="15" name="Text 13"/>
          <p:cNvSpPr/>
          <p:nvPr/>
        </p:nvSpPr>
        <p:spPr>
          <a:xfrm>
            <a:off x="638718" y="2817874"/>
            <a:ext cx="122108" cy="225430"/>
          </a:xfrm>
          <a:prstGeom prst="rect">
            <a:avLst/>
          </a:prstGeom>
          <a:noFill/>
          <a:ln/>
        </p:spPr>
        <p:txBody>
          <a:bodyPr wrap="square" lIns="0" tIns="0" rIns="0" bIns="0" rtlCol="0" anchor="ctr"/>
          <a:lstStyle/>
          <a:p>
            <a:pPr>
              <a:lnSpc>
                <a:spcPct val="120000"/>
              </a:lnSpc>
            </a:pPr>
            <a:r>
              <a:rPr lang="en-US" sz="118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6" name="Text 14"/>
          <p:cNvSpPr/>
          <p:nvPr/>
        </p:nvSpPr>
        <p:spPr>
          <a:xfrm>
            <a:off x="763174" y="2817874"/>
            <a:ext cx="2770909" cy="225430"/>
          </a:xfrm>
          <a:prstGeom prst="rect">
            <a:avLst/>
          </a:prstGeom>
          <a:noFill/>
          <a:ln/>
        </p:spPr>
        <p:txBody>
          <a:bodyPr wrap="square" lIns="0" tIns="0" rIns="0" bIns="0" rtlCol="0" anchor="ctr"/>
          <a:lstStyle/>
          <a:p>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Direct </a:t>
            </a:r>
            <a:pPr>
              <a:lnSpc>
                <a:spcPct val="120000"/>
              </a:lnSpc>
            </a:pPr>
            <a:r>
              <a:rPr lang="en-US" sz="1183" b="1" dirty="0">
                <a:solidFill>
                  <a:srgbClr val="34C759"/>
                </a:solidFill>
                <a:latin typeface="Quattrocento Sans" pitchFamily="34" charset="0"/>
                <a:ea typeface="Quattrocento Sans" pitchFamily="34" charset="-122"/>
                <a:cs typeface="Quattrocento Sans" pitchFamily="34" charset="-120"/>
              </a:rPr>
              <a:t>communication channel</a:t>
            </a:r>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 with users</a:t>
            </a:r>
            <a:endParaRPr lang="en-US" sz="1600" dirty="0"/>
          </a:p>
        </p:txBody>
      </p:sp>
      <p:sp>
        <p:nvSpPr>
          <p:cNvPr id="17" name="Shape 15"/>
          <p:cNvSpPr/>
          <p:nvPr/>
        </p:nvSpPr>
        <p:spPr>
          <a:xfrm>
            <a:off x="6188873" y="1239864"/>
            <a:ext cx="5626354" cy="2028869"/>
          </a:xfrm>
          <a:custGeom>
            <a:avLst/>
            <a:gdLst/>
            <a:ahLst/>
            <a:cxnLst/>
            <a:rect l="l" t="t" r="r" b="b"/>
            <a:pathLst>
              <a:path w="5626354" h="2028869">
                <a:moveTo>
                  <a:pt x="37592" y="0"/>
                </a:moveTo>
                <a:lnTo>
                  <a:pt x="5476113" y="0"/>
                </a:lnTo>
                <a:cubicBezTo>
                  <a:pt x="5559089" y="0"/>
                  <a:pt x="5626354" y="67265"/>
                  <a:pt x="5626354" y="150241"/>
                </a:cubicBezTo>
                <a:lnTo>
                  <a:pt x="5626354" y="1878584"/>
                </a:lnTo>
                <a:cubicBezTo>
                  <a:pt x="5626354" y="1961504"/>
                  <a:pt x="5559033" y="2028825"/>
                  <a:pt x="5476113" y="2028825"/>
                </a:cubicBezTo>
                <a:lnTo>
                  <a:pt x="37592" y="2028825"/>
                </a:lnTo>
                <a:cubicBezTo>
                  <a:pt x="16880" y="2028825"/>
                  <a:pt x="70" y="2012072"/>
                  <a:pt x="0" y="1991360"/>
                </a:cubicBezTo>
                <a:lnTo>
                  <a:pt x="0" y="37592"/>
                </a:lnTo>
                <a:cubicBezTo>
                  <a:pt x="0" y="16844"/>
                  <a:pt x="16844" y="0"/>
                  <a:pt x="37592" y="0"/>
                </a:cubicBezTo>
                <a:close/>
              </a:path>
            </a:pathLst>
          </a:custGeom>
          <a:gradFill rotWithShape="1" flip="none">
            <a:gsLst>
              <a:gs pos="0">
                <a:srgbClr val="0A84FF">
                  <a:alpha val="20000"/>
                </a:srgbClr>
              </a:gs>
              <a:gs pos="100000">
                <a:srgbClr val="2C2C2E"/>
              </a:gs>
            </a:gsLst>
            <a:lin ang="2700000" scaled="1"/>
          </a:gradFill>
          <a:ln/>
        </p:spPr>
      </p:sp>
      <p:sp>
        <p:nvSpPr>
          <p:cNvPr id="18" name="Shape 16"/>
          <p:cNvSpPr/>
          <p:nvPr/>
        </p:nvSpPr>
        <p:spPr>
          <a:xfrm>
            <a:off x="6188873" y="1239864"/>
            <a:ext cx="37572" cy="2028869"/>
          </a:xfrm>
          <a:custGeom>
            <a:avLst/>
            <a:gdLst/>
            <a:ahLst/>
            <a:cxnLst/>
            <a:rect l="l" t="t" r="r" b="b"/>
            <a:pathLst>
              <a:path w="37572" h="2028869">
                <a:moveTo>
                  <a:pt x="37592" y="0"/>
                </a:moveTo>
                <a:lnTo>
                  <a:pt x="37592" y="0"/>
                </a:lnTo>
                <a:lnTo>
                  <a:pt x="37592" y="2028825"/>
                </a:lnTo>
                <a:lnTo>
                  <a:pt x="37592" y="2028825"/>
                </a:lnTo>
                <a:cubicBezTo>
                  <a:pt x="16880" y="2028825"/>
                  <a:pt x="70" y="2012072"/>
                  <a:pt x="0" y="1991360"/>
                </a:cubicBezTo>
                <a:lnTo>
                  <a:pt x="0" y="37592"/>
                </a:lnTo>
                <a:cubicBezTo>
                  <a:pt x="0" y="16844"/>
                  <a:pt x="16844" y="0"/>
                  <a:pt x="37592" y="0"/>
                </a:cubicBezTo>
                <a:close/>
              </a:path>
            </a:pathLst>
          </a:custGeom>
          <a:solidFill>
            <a:srgbClr val="0A84FF"/>
          </a:solidFill>
          <a:ln/>
        </p:spPr>
      </p:sp>
      <p:sp>
        <p:nvSpPr>
          <p:cNvPr id="19" name="Shape 17"/>
          <p:cNvSpPr/>
          <p:nvPr/>
        </p:nvSpPr>
        <p:spPr>
          <a:xfrm>
            <a:off x="6433088" y="1465294"/>
            <a:ext cx="601146" cy="601146"/>
          </a:xfrm>
          <a:prstGeom prst="roundRect">
            <a:avLst>
              <a:gd name="adj" fmla="val 25000"/>
            </a:avLst>
          </a:prstGeom>
          <a:solidFill>
            <a:srgbClr val="0A84FF"/>
          </a:solidFill>
          <a:ln/>
        </p:spPr>
      </p:sp>
      <p:sp>
        <p:nvSpPr>
          <p:cNvPr id="20" name="Shape 18"/>
          <p:cNvSpPr/>
          <p:nvPr/>
        </p:nvSpPr>
        <p:spPr>
          <a:xfrm>
            <a:off x="6647951" y="1624974"/>
            <a:ext cx="176117" cy="281787"/>
          </a:xfrm>
          <a:custGeom>
            <a:avLst/>
            <a:gdLst/>
            <a:ahLst/>
            <a:cxnLst/>
            <a:rect l="l" t="t" r="r" b="b"/>
            <a:pathLst>
              <a:path w="176117" h="281787">
                <a:moveTo>
                  <a:pt x="74850" y="13209"/>
                </a:moveTo>
                <a:cubicBezTo>
                  <a:pt x="74850" y="5889"/>
                  <a:pt x="80739" y="0"/>
                  <a:pt x="88059" y="0"/>
                </a:cubicBezTo>
                <a:cubicBezTo>
                  <a:pt x="95378" y="0"/>
                  <a:pt x="101267" y="5889"/>
                  <a:pt x="101267" y="13209"/>
                </a:cubicBezTo>
                <a:lnTo>
                  <a:pt x="101267" y="35223"/>
                </a:lnTo>
                <a:lnTo>
                  <a:pt x="132088" y="35223"/>
                </a:lnTo>
                <a:cubicBezTo>
                  <a:pt x="141829" y="35223"/>
                  <a:pt x="149700" y="43094"/>
                  <a:pt x="149700" y="52835"/>
                </a:cubicBezTo>
                <a:cubicBezTo>
                  <a:pt x="149700" y="62577"/>
                  <a:pt x="141829" y="70447"/>
                  <a:pt x="132088" y="70447"/>
                </a:cubicBezTo>
                <a:lnTo>
                  <a:pt x="68851" y="70447"/>
                </a:lnTo>
                <a:cubicBezTo>
                  <a:pt x="55147" y="70447"/>
                  <a:pt x="44029" y="81564"/>
                  <a:pt x="44029" y="95268"/>
                </a:cubicBezTo>
                <a:cubicBezTo>
                  <a:pt x="44029" y="107652"/>
                  <a:pt x="53110" y="118109"/>
                  <a:pt x="65328" y="119870"/>
                </a:cubicBezTo>
                <a:lnTo>
                  <a:pt x="115742" y="127079"/>
                </a:lnTo>
                <a:cubicBezTo>
                  <a:pt x="145352" y="131317"/>
                  <a:pt x="167311" y="156634"/>
                  <a:pt x="167311" y="186519"/>
                </a:cubicBezTo>
                <a:cubicBezTo>
                  <a:pt x="167311" y="219706"/>
                  <a:pt x="140398" y="246564"/>
                  <a:pt x="107266" y="246564"/>
                </a:cubicBezTo>
                <a:lnTo>
                  <a:pt x="101267" y="246564"/>
                </a:lnTo>
                <a:lnTo>
                  <a:pt x="101267" y="268579"/>
                </a:lnTo>
                <a:cubicBezTo>
                  <a:pt x="101267" y="275898"/>
                  <a:pt x="95378" y="281787"/>
                  <a:pt x="88059" y="281787"/>
                </a:cubicBezTo>
                <a:cubicBezTo>
                  <a:pt x="80739" y="281787"/>
                  <a:pt x="74850" y="275898"/>
                  <a:pt x="74850" y="268579"/>
                </a:cubicBezTo>
                <a:lnTo>
                  <a:pt x="74850" y="246564"/>
                </a:lnTo>
                <a:lnTo>
                  <a:pt x="35223" y="246564"/>
                </a:lnTo>
                <a:cubicBezTo>
                  <a:pt x="25482" y="246564"/>
                  <a:pt x="17612" y="238694"/>
                  <a:pt x="17612" y="228952"/>
                </a:cubicBezTo>
                <a:cubicBezTo>
                  <a:pt x="17612" y="219211"/>
                  <a:pt x="25482" y="211341"/>
                  <a:pt x="35223" y="211341"/>
                </a:cubicBezTo>
                <a:lnTo>
                  <a:pt x="107266" y="211341"/>
                </a:lnTo>
                <a:cubicBezTo>
                  <a:pt x="120970" y="211341"/>
                  <a:pt x="132088" y="200223"/>
                  <a:pt x="132088" y="186519"/>
                </a:cubicBezTo>
                <a:cubicBezTo>
                  <a:pt x="132088" y="174136"/>
                  <a:pt x="123007" y="163679"/>
                  <a:pt x="110789" y="161918"/>
                </a:cubicBezTo>
                <a:lnTo>
                  <a:pt x="60375" y="154708"/>
                </a:lnTo>
                <a:cubicBezTo>
                  <a:pt x="30765" y="150525"/>
                  <a:pt x="8806" y="125153"/>
                  <a:pt x="8806" y="95268"/>
                </a:cubicBezTo>
                <a:cubicBezTo>
                  <a:pt x="8806" y="62136"/>
                  <a:pt x="35719" y="35223"/>
                  <a:pt x="68851" y="35223"/>
                </a:cubicBezTo>
                <a:lnTo>
                  <a:pt x="74850" y="35223"/>
                </a:lnTo>
                <a:lnTo>
                  <a:pt x="74850" y="13209"/>
                </a:lnTo>
                <a:close/>
              </a:path>
            </a:pathLst>
          </a:custGeom>
          <a:solidFill>
            <a:srgbClr val="FFFFFF"/>
          </a:solidFill>
          <a:ln/>
        </p:spPr>
      </p:sp>
      <p:sp>
        <p:nvSpPr>
          <p:cNvPr id="21" name="Text 19"/>
          <p:cNvSpPr/>
          <p:nvPr/>
        </p:nvSpPr>
        <p:spPr>
          <a:xfrm>
            <a:off x="7184521" y="1615581"/>
            <a:ext cx="1850404" cy="300573"/>
          </a:xfrm>
          <a:prstGeom prst="rect">
            <a:avLst/>
          </a:prstGeom>
          <a:noFill/>
          <a:ln/>
        </p:spPr>
        <p:txBody>
          <a:bodyPr wrap="square" lIns="0" tIns="0" rIns="0" bIns="0" rtlCol="0" anchor="ctr"/>
          <a:lstStyle/>
          <a:p>
            <a:pPr>
              <a:lnSpc>
                <a:spcPct val="110000"/>
              </a:lnSpc>
            </a:pPr>
            <a:r>
              <a:rPr lang="en-US" sz="1775" b="1" dirty="0">
                <a:solidFill>
                  <a:srgbClr val="0A84FF"/>
                </a:solidFill>
                <a:latin typeface="Liter" pitchFamily="34" charset="0"/>
                <a:ea typeface="Liter" pitchFamily="34" charset="-122"/>
                <a:cs typeface="Liter" pitchFamily="34" charset="-120"/>
              </a:rPr>
              <a:t>Revenue Streams</a:t>
            </a:r>
            <a:endParaRPr lang="en-US" sz="1600" dirty="0"/>
          </a:p>
        </p:txBody>
      </p:sp>
      <p:sp>
        <p:nvSpPr>
          <p:cNvPr id="22" name="Text 20"/>
          <p:cNvSpPr/>
          <p:nvPr/>
        </p:nvSpPr>
        <p:spPr>
          <a:xfrm>
            <a:off x="6433088" y="2216727"/>
            <a:ext cx="122108" cy="225430"/>
          </a:xfrm>
          <a:prstGeom prst="rect">
            <a:avLst/>
          </a:prstGeom>
          <a:noFill/>
          <a:ln/>
        </p:spPr>
        <p:txBody>
          <a:bodyPr wrap="square" lIns="0" tIns="0" rIns="0" bIns="0" rtlCol="0" anchor="ctr"/>
          <a:lstStyle/>
          <a:p>
            <a:pPr>
              <a:lnSpc>
                <a:spcPct val="120000"/>
              </a:lnSpc>
            </a:pPr>
            <a:r>
              <a:rPr lang="en-US" sz="1183" dirty="0">
                <a:solidFill>
                  <a:srgbClr val="0A84FF"/>
                </a:solidFill>
                <a:latin typeface="Quattrocento Sans" pitchFamily="34" charset="0"/>
                <a:ea typeface="Quattrocento Sans" pitchFamily="34" charset="-122"/>
                <a:cs typeface="Quattrocento Sans" pitchFamily="34" charset="-120"/>
              </a:rPr>
              <a:t>•</a:t>
            </a:r>
            <a:endParaRPr lang="en-US" sz="1600" dirty="0"/>
          </a:p>
        </p:txBody>
      </p:sp>
      <p:sp>
        <p:nvSpPr>
          <p:cNvPr id="23" name="Text 21"/>
          <p:cNvSpPr/>
          <p:nvPr/>
        </p:nvSpPr>
        <p:spPr>
          <a:xfrm>
            <a:off x="6557544" y="2216727"/>
            <a:ext cx="2320049" cy="225430"/>
          </a:xfrm>
          <a:prstGeom prst="rect">
            <a:avLst/>
          </a:prstGeom>
          <a:noFill/>
          <a:ln/>
        </p:spPr>
        <p:txBody>
          <a:bodyPr wrap="square" lIns="0" tIns="0" rIns="0" bIns="0" rtlCol="0" anchor="ctr"/>
          <a:lstStyle/>
          <a:p>
            <a:pPr>
              <a:lnSpc>
                <a:spcPct val="120000"/>
              </a:lnSpc>
            </a:pPr>
            <a:r>
              <a:rPr lang="en-US" sz="1183" b="1" dirty="0">
                <a:solidFill>
                  <a:srgbClr val="0A84FF"/>
                </a:solidFill>
                <a:latin typeface="Quattrocento Sans" pitchFamily="34" charset="0"/>
                <a:ea typeface="Quattrocento Sans" pitchFamily="34" charset="-122"/>
                <a:cs typeface="Quattrocento Sans" pitchFamily="34" charset="-120"/>
              </a:rPr>
              <a:t>In-app purchases</a:t>
            </a:r>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 (buy within app)</a:t>
            </a:r>
            <a:endParaRPr lang="en-US" sz="1600" dirty="0"/>
          </a:p>
        </p:txBody>
      </p:sp>
      <p:sp>
        <p:nvSpPr>
          <p:cNvPr id="24" name="Text 22"/>
          <p:cNvSpPr/>
          <p:nvPr/>
        </p:nvSpPr>
        <p:spPr>
          <a:xfrm>
            <a:off x="6433088" y="2517300"/>
            <a:ext cx="122108" cy="225430"/>
          </a:xfrm>
          <a:prstGeom prst="rect">
            <a:avLst/>
          </a:prstGeom>
          <a:noFill/>
          <a:ln/>
        </p:spPr>
        <p:txBody>
          <a:bodyPr wrap="square" lIns="0" tIns="0" rIns="0" bIns="0" rtlCol="0" anchor="ctr"/>
          <a:lstStyle/>
          <a:p>
            <a:pPr>
              <a:lnSpc>
                <a:spcPct val="120000"/>
              </a:lnSpc>
            </a:pPr>
            <a:r>
              <a:rPr lang="en-US" sz="1183" dirty="0">
                <a:solidFill>
                  <a:srgbClr val="0A84FF"/>
                </a:solidFill>
                <a:latin typeface="Quattrocento Sans" pitchFamily="34" charset="0"/>
                <a:ea typeface="Quattrocento Sans" pitchFamily="34" charset="-122"/>
                <a:cs typeface="Quattrocento Sans" pitchFamily="34" charset="-120"/>
              </a:rPr>
              <a:t>•</a:t>
            </a:r>
            <a:endParaRPr lang="en-US" sz="1600" dirty="0"/>
          </a:p>
        </p:txBody>
      </p:sp>
      <p:sp>
        <p:nvSpPr>
          <p:cNvPr id="25" name="Text 23"/>
          <p:cNvSpPr/>
          <p:nvPr/>
        </p:nvSpPr>
        <p:spPr>
          <a:xfrm>
            <a:off x="6557544" y="2517300"/>
            <a:ext cx="2376407" cy="225430"/>
          </a:xfrm>
          <a:prstGeom prst="rect">
            <a:avLst/>
          </a:prstGeom>
          <a:noFill/>
          <a:ln/>
        </p:spPr>
        <p:txBody>
          <a:bodyPr wrap="square" lIns="0" tIns="0" rIns="0" bIns="0" rtlCol="0" anchor="ctr"/>
          <a:lstStyle/>
          <a:p>
            <a:pPr>
              <a:lnSpc>
                <a:spcPct val="120000"/>
              </a:lnSpc>
            </a:pPr>
            <a:r>
              <a:rPr lang="en-US" sz="1183" b="1" dirty="0">
                <a:solidFill>
                  <a:srgbClr val="0A84FF"/>
                </a:solidFill>
                <a:latin typeface="Quattrocento Sans" pitchFamily="34" charset="0"/>
                <a:ea typeface="Quattrocento Sans" pitchFamily="34" charset="-122"/>
                <a:cs typeface="Quattrocento Sans" pitchFamily="34" charset="-120"/>
              </a:rPr>
              <a:t>Subscription models</a:t>
            </a:r>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 (monthly fees)</a:t>
            </a:r>
            <a:endParaRPr lang="en-US" sz="1600" dirty="0"/>
          </a:p>
        </p:txBody>
      </p:sp>
      <p:sp>
        <p:nvSpPr>
          <p:cNvPr id="26" name="Text 24"/>
          <p:cNvSpPr/>
          <p:nvPr/>
        </p:nvSpPr>
        <p:spPr>
          <a:xfrm>
            <a:off x="6433088" y="2817874"/>
            <a:ext cx="122108" cy="225430"/>
          </a:xfrm>
          <a:prstGeom prst="rect">
            <a:avLst/>
          </a:prstGeom>
          <a:noFill/>
          <a:ln/>
        </p:spPr>
        <p:txBody>
          <a:bodyPr wrap="square" lIns="0" tIns="0" rIns="0" bIns="0" rtlCol="0" anchor="ctr"/>
          <a:lstStyle/>
          <a:p>
            <a:pPr>
              <a:lnSpc>
                <a:spcPct val="120000"/>
              </a:lnSpc>
            </a:pPr>
            <a:r>
              <a:rPr lang="en-US" sz="1183" dirty="0">
                <a:solidFill>
                  <a:srgbClr val="0A84FF"/>
                </a:solidFill>
                <a:latin typeface="Quattrocento Sans" pitchFamily="34" charset="0"/>
                <a:ea typeface="Quattrocento Sans" pitchFamily="34" charset="-122"/>
                <a:cs typeface="Quattrocento Sans" pitchFamily="34" charset="-120"/>
              </a:rPr>
              <a:t>•</a:t>
            </a:r>
            <a:endParaRPr lang="en-US" sz="1600" dirty="0"/>
          </a:p>
        </p:txBody>
      </p:sp>
      <p:sp>
        <p:nvSpPr>
          <p:cNvPr id="27" name="Text 25"/>
          <p:cNvSpPr/>
          <p:nvPr/>
        </p:nvSpPr>
        <p:spPr>
          <a:xfrm>
            <a:off x="6557544" y="2817874"/>
            <a:ext cx="2122798" cy="225430"/>
          </a:xfrm>
          <a:prstGeom prst="rect">
            <a:avLst/>
          </a:prstGeom>
          <a:noFill/>
          <a:ln/>
        </p:spPr>
        <p:txBody>
          <a:bodyPr wrap="square" lIns="0" tIns="0" rIns="0" bIns="0" rtlCol="0" anchor="ctr"/>
          <a:lstStyle/>
          <a:p>
            <a:pPr>
              <a:lnSpc>
                <a:spcPct val="120000"/>
              </a:lnSpc>
            </a:pPr>
            <a:r>
              <a:rPr lang="en-US" sz="1183" b="1" dirty="0">
                <a:solidFill>
                  <a:srgbClr val="0A84FF"/>
                </a:solidFill>
                <a:latin typeface="Quattrocento Sans" pitchFamily="34" charset="0"/>
                <a:ea typeface="Quattrocento Sans" pitchFamily="34" charset="-122"/>
                <a:cs typeface="Quattrocento Sans" pitchFamily="34" charset="-120"/>
              </a:rPr>
              <a:t>Advertising revenue</a:t>
            </a:r>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 (show ads)</a:t>
            </a:r>
            <a:endParaRPr lang="en-US" sz="1600" dirty="0"/>
          </a:p>
        </p:txBody>
      </p:sp>
      <p:sp>
        <p:nvSpPr>
          <p:cNvPr id="28" name="Shape 26"/>
          <p:cNvSpPr/>
          <p:nvPr/>
        </p:nvSpPr>
        <p:spPr>
          <a:xfrm>
            <a:off x="394502" y="3419020"/>
            <a:ext cx="5626354" cy="2028869"/>
          </a:xfrm>
          <a:custGeom>
            <a:avLst/>
            <a:gdLst/>
            <a:ahLst/>
            <a:cxnLst/>
            <a:rect l="l" t="t" r="r" b="b"/>
            <a:pathLst>
              <a:path w="5626354" h="2028869">
                <a:moveTo>
                  <a:pt x="37592" y="0"/>
                </a:moveTo>
                <a:lnTo>
                  <a:pt x="5476113" y="0"/>
                </a:lnTo>
                <a:cubicBezTo>
                  <a:pt x="5559089" y="0"/>
                  <a:pt x="5626354" y="67265"/>
                  <a:pt x="5626354" y="150241"/>
                </a:cubicBezTo>
                <a:lnTo>
                  <a:pt x="5626354" y="1878584"/>
                </a:lnTo>
                <a:cubicBezTo>
                  <a:pt x="5626354" y="1961504"/>
                  <a:pt x="5559033" y="2028825"/>
                  <a:pt x="5476113" y="2028825"/>
                </a:cubicBezTo>
                <a:lnTo>
                  <a:pt x="37592" y="2028825"/>
                </a:lnTo>
                <a:cubicBezTo>
                  <a:pt x="16880" y="2028825"/>
                  <a:pt x="70" y="2012072"/>
                  <a:pt x="0" y="1991360"/>
                </a:cubicBezTo>
                <a:lnTo>
                  <a:pt x="0" y="37592"/>
                </a:lnTo>
                <a:cubicBezTo>
                  <a:pt x="0" y="16844"/>
                  <a:pt x="16844" y="0"/>
                  <a:pt x="37592" y="0"/>
                </a:cubicBezTo>
                <a:close/>
              </a:path>
            </a:pathLst>
          </a:custGeom>
          <a:gradFill rotWithShape="1" flip="none">
            <a:gsLst>
              <a:gs pos="0">
                <a:srgbClr val="8E8E93">
                  <a:alpha val="20000"/>
                </a:srgbClr>
              </a:gs>
              <a:gs pos="100000">
                <a:srgbClr val="2C2C2E"/>
              </a:gs>
            </a:gsLst>
            <a:lin ang="2700000" scaled="1"/>
          </a:gradFill>
          <a:ln/>
        </p:spPr>
      </p:sp>
      <p:sp>
        <p:nvSpPr>
          <p:cNvPr id="29" name="Shape 27"/>
          <p:cNvSpPr/>
          <p:nvPr/>
        </p:nvSpPr>
        <p:spPr>
          <a:xfrm>
            <a:off x="394502" y="3419020"/>
            <a:ext cx="37572" cy="2028869"/>
          </a:xfrm>
          <a:custGeom>
            <a:avLst/>
            <a:gdLst/>
            <a:ahLst/>
            <a:cxnLst/>
            <a:rect l="l" t="t" r="r" b="b"/>
            <a:pathLst>
              <a:path w="37572" h="2028869">
                <a:moveTo>
                  <a:pt x="37592" y="0"/>
                </a:moveTo>
                <a:lnTo>
                  <a:pt x="37592" y="0"/>
                </a:lnTo>
                <a:lnTo>
                  <a:pt x="37592" y="2028825"/>
                </a:lnTo>
                <a:lnTo>
                  <a:pt x="37592" y="2028825"/>
                </a:lnTo>
                <a:cubicBezTo>
                  <a:pt x="16880" y="2028825"/>
                  <a:pt x="70" y="2012072"/>
                  <a:pt x="0" y="1991360"/>
                </a:cubicBezTo>
                <a:lnTo>
                  <a:pt x="0" y="37592"/>
                </a:lnTo>
                <a:cubicBezTo>
                  <a:pt x="0" y="16844"/>
                  <a:pt x="16844" y="0"/>
                  <a:pt x="37592" y="0"/>
                </a:cubicBezTo>
                <a:close/>
              </a:path>
            </a:pathLst>
          </a:custGeom>
          <a:solidFill>
            <a:srgbClr val="8E8E93"/>
          </a:solidFill>
          <a:ln/>
        </p:spPr>
      </p:sp>
      <p:sp>
        <p:nvSpPr>
          <p:cNvPr id="30" name="Shape 28"/>
          <p:cNvSpPr/>
          <p:nvPr/>
        </p:nvSpPr>
        <p:spPr>
          <a:xfrm>
            <a:off x="638718" y="3644450"/>
            <a:ext cx="601146" cy="601146"/>
          </a:xfrm>
          <a:prstGeom prst="roundRect">
            <a:avLst>
              <a:gd name="adj" fmla="val 25000"/>
            </a:avLst>
          </a:prstGeom>
          <a:solidFill>
            <a:srgbClr val="8E8E93"/>
          </a:solidFill>
          <a:ln/>
        </p:spPr>
      </p:sp>
      <p:sp>
        <p:nvSpPr>
          <p:cNvPr id="31" name="Shape 29"/>
          <p:cNvSpPr/>
          <p:nvPr/>
        </p:nvSpPr>
        <p:spPr>
          <a:xfrm>
            <a:off x="800746" y="3804129"/>
            <a:ext cx="281787" cy="281787"/>
          </a:xfrm>
          <a:custGeom>
            <a:avLst/>
            <a:gdLst/>
            <a:ahLst/>
            <a:cxnLst/>
            <a:rect l="l" t="t" r="r" b="b"/>
            <a:pathLst>
              <a:path w="281787" h="281787">
                <a:moveTo>
                  <a:pt x="70447" y="176117"/>
                </a:moveTo>
                <a:lnTo>
                  <a:pt x="13484" y="176117"/>
                </a:lnTo>
                <a:cubicBezTo>
                  <a:pt x="-220" y="176117"/>
                  <a:pt x="-8641" y="161202"/>
                  <a:pt x="-1596" y="149424"/>
                </a:cubicBezTo>
                <a:lnTo>
                  <a:pt x="27518" y="100882"/>
                </a:lnTo>
                <a:cubicBezTo>
                  <a:pt x="32306" y="92902"/>
                  <a:pt x="40892" y="88059"/>
                  <a:pt x="50193" y="88059"/>
                </a:cubicBezTo>
                <a:lnTo>
                  <a:pt x="102478" y="88059"/>
                </a:lnTo>
                <a:cubicBezTo>
                  <a:pt x="144361" y="17116"/>
                  <a:pt x="206828" y="13539"/>
                  <a:pt x="248600" y="19648"/>
                </a:cubicBezTo>
                <a:cubicBezTo>
                  <a:pt x="255645" y="20694"/>
                  <a:pt x="261149" y="26197"/>
                  <a:pt x="262139" y="33187"/>
                </a:cubicBezTo>
                <a:cubicBezTo>
                  <a:pt x="268248" y="74960"/>
                  <a:pt x="264671" y="137426"/>
                  <a:pt x="193729" y="179309"/>
                </a:cubicBezTo>
                <a:lnTo>
                  <a:pt x="193729" y="231594"/>
                </a:lnTo>
                <a:cubicBezTo>
                  <a:pt x="193729" y="240895"/>
                  <a:pt x="188886" y="249481"/>
                  <a:pt x="180905" y="254269"/>
                </a:cubicBezTo>
                <a:lnTo>
                  <a:pt x="132363" y="283383"/>
                </a:lnTo>
                <a:cubicBezTo>
                  <a:pt x="120640" y="290428"/>
                  <a:pt x="105670" y="281952"/>
                  <a:pt x="105670" y="268303"/>
                </a:cubicBezTo>
                <a:lnTo>
                  <a:pt x="105670" y="211341"/>
                </a:lnTo>
                <a:cubicBezTo>
                  <a:pt x="105670" y="191913"/>
                  <a:pt x="89875" y="176117"/>
                  <a:pt x="70447" y="176117"/>
                </a:cubicBezTo>
                <a:lnTo>
                  <a:pt x="70392" y="176117"/>
                </a:lnTo>
                <a:close/>
                <a:moveTo>
                  <a:pt x="220146" y="88059"/>
                </a:moveTo>
                <a:cubicBezTo>
                  <a:pt x="220146" y="73478"/>
                  <a:pt x="208309" y="61641"/>
                  <a:pt x="193729" y="61641"/>
                </a:cubicBezTo>
                <a:cubicBezTo>
                  <a:pt x="179149" y="61641"/>
                  <a:pt x="167311" y="73478"/>
                  <a:pt x="167311" y="88059"/>
                </a:cubicBezTo>
                <a:cubicBezTo>
                  <a:pt x="167311" y="102639"/>
                  <a:pt x="179149" y="114476"/>
                  <a:pt x="193729" y="114476"/>
                </a:cubicBezTo>
                <a:cubicBezTo>
                  <a:pt x="208309" y="114476"/>
                  <a:pt x="220146" y="102639"/>
                  <a:pt x="220146" y="88059"/>
                </a:cubicBezTo>
                <a:close/>
              </a:path>
            </a:pathLst>
          </a:custGeom>
          <a:solidFill>
            <a:srgbClr val="FFFFFF"/>
          </a:solidFill>
          <a:ln/>
        </p:spPr>
      </p:sp>
      <p:sp>
        <p:nvSpPr>
          <p:cNvPr id="32" name="Text 30"/>
          <p:cNvSpPr/>
          <p:nvPr/>
        </p:nvSpPr>
        <p:spPr>
          <a:xfrm>
            <a:off x="1390151" y="3794737"/>
            <a:ext cx="2169763" cy="300573"/>
          </a:xfrm>
          <a:prstGeom prst="rect">
            <a:avLst/>
          </a:prstGeom>
          <a:noFill/>
          <a:ln/>
        </p:spPr>
        <p:txBody>
          <a:bodyPr wrap="square" lIns="0" tIns="0" rIns="0" bIns="0" rtlCol="0" anchor="ctr"/>
          <a:lstStyle/>
          <a:p>
            <a:pPr>
              <a:lnSpc>
                <a:spcPct val="110000"/>
              </a:lnSpc>
            </a:pPr>
            <a:r>
              <a:rPr lang="en-US" sz="1775" b="1" dirty="0">
                <a:solidFill>
                  <a:srgbClr val="8E8E93"/>
                </a:solidFill>
                <a:latin typeface="Liter" pitchFamily="34" charset="0"/>
                <a:ea typeface="Liter" pitchFamily="34" charset="-122"/>
                <a:cs typeface="Liter" pitchFamily="34" charset="-120"/>
              </a:rPr>
              <a:t>App-Based Business</a:t>
            </a:r>
            <a:endParaRPr lang="en-US" sz="1600" dirty="0"/>
          </a:p>
        </p:txBody>
      </p:sp>
      <p:sp>
        <p:nvSpPr>
          <p:cNvPr id="33" name="Text 31"/>
          <p:cNvSpPr/>
          <p:nvPr/>
        </p:nvSpPr>
        <p:spPr>
          <a:xfrm>
            <a:off x="638718" y="4395883"/>
            <a:ext cx="122108" cy="225430"/>
          </a:xfrm>
          <a:prstGeom prst="rect">
            <a:avLst/>
          </a:prstGeom>
          <a:noFill/>
          <a:ln/>
        </p:spPr>
        <p:txBody>
          <a:bodyPr wrap="square" lIns="0" tIns="0" rIns="0" bIns="0" rtlCol="0" anchor="ctr"/>
          <a:lstStyle/>
          <a:p>
            <a:pPr>
              <a:lnSpc>
                <a:spcPct val="120000"/>
              </a:lnSpc>
            </a:pPr>
            <a:r>
              <a:rPr lang="en-US" sz="1183" dirty="0">
                <a:solidFill>
                  <a:srgbClr val="8E8E93"/>
                </a:solidFill>
                <a:latin typeface="Quattrocento Sans" pitchFamily="34" charset="0"/>
                <a:ea typeface="Quattrocento Sans" pitchFamily="34" charset="-122"/>
                <a:cs typeface="Quattrocento Sans" pitchFamily="34" charset="-120"/>
              </a:rPr>
              <a:t>•</a:t>
            </a:r>
            <a:endParaRPr lang="en-US" sz="1600" dirty="0"/>
          </a:p>
        </p:txBody>
      </p:sp>
      <p:sp>
        <p:nvSpPr>
          <p:cNvPr id="34" name="Text 32"/>
          <p:cNvSpPr/>
          <p:nvPr/>
        </p:nvSpPr>
        <p:spPr>
          <a:xfrm>
            <a:off x="763174" y="4395883"/>
            <a:ext cx="2648801" cy="225430"/>
          </a:xfrm>
          <a:prstGeom prst="rect">
            <a:avLst/>
          </a:prstGeom>
          <a:noFill/>
          <a:ln/>
        </p:spPr>
        <p:txBody>
          <a:bodyPr wrap="square" lIns="0" tIns="0" rIns="0" bIns="0" rtlCol="0" anchor="ctr"/>
          <a:lstStyle/>
          <a:p>
            <a:pPr>
              <a:lnSpc>
                <a:spcPct val="120000"/>
              </a:lnSpc>
            </a:pPr>
            <a:r>
              <a:rPr lang="en-US" sz="1183" b="1" dirty="0">
                <a:solidFill>
                  <a:srgbClr val="8E8E93"/>
                </a:solidFill>
                <a:latin typeface="Quattrocento Sans" pitchFamily="34" charset="0"/>
                <a:ea typeface="Quattrocento Sans" pitchFamily="34" charset="-122"/>
                <a:cs typeface="Quattrocento Sans" pitchFamily="34" charset="-120"/>
              </a:rPr>
              <a:t>Uber</a:t>
            </a:r>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 – taxi service without owning cars</a:t>
            </a:r>
            <a:endParaRPr lang="en-US" sz="1600" dirty="0"/>
          </a:p>
        </p:txBody>
      </p:sp>
      <p:sp>
        <p:nvSpPr>
          <p:cNvPr id="35" name="Text 33"/>
          <p:cNvSpPr/>
          <p:nvPr/>
        </p:nvSpPr>
        <p:spPr>
          <a:xfrm>
            <a:off x="638718" y="4696456"/>
            <a:ext cx="122108" cy="225430"/>
          </a:xfrm>
          <a:prstGeom prst="rect">
            <a:avLst/>
          </a:prstGeom>
          <a:noFill/>
          <a:ln/>
        </p:spPr>
        <p:txBody>
          <a:bodyPr wrap="square" lIns="0" tIns="0" rIns="0" bIns="0" rtlCol="0" anchor="ctr"/>
          <a:lstStyle/>
          <a:p>
            <a:pPr>
              <a:lnSpc>
                <a:spcPct val="120000"/>
              </a:lnSpc>
            </a:pPr>
            <a:r>
              <a:rPr lang="en-US" sz="1183" dirty="0">
                <a:solidFill>
                  <a:srgbClr val="8E8E93"/>
                </a:solidFill>
                <a:latin typeface="Quattrocento Sans" pitchFamily="34" charset="0"/>
                <a:ea typeface="Quattrocento Sans" pitchFamily="34" charset="-122"/>
                <a:cs typeface="Quattrocento Sans" pitchFamily="34" charset="-120"/>
              </a:rPr>
              <a:t>•</a:t>
            </a:r>
            <a:endParaRPr lang="en-US" sz="1600" dirty="0"/>
          </a:p>
        </p:txBody>
      </p:sp>
      <p:sp>
        <p:nvSpPr>
          <p:cNvPr id="36" name="Text 34"/>
          <p:cNvSpPr/>
          <p:nvPr/>
        </p:nvSpPr>
        <p:spPr>
          <a:xfrm>
            <a:off x="763174" y="4696456"/>
            <a:ext cx="3005732" cy="225430"/>
          </a:xfrm>
          <a:prstGeom prst="rect">
            <a:avLst/>
          </a:prstGeom>
          <a:noFill/>
          <a:ln/>
        </p:spPr>
        <p:txBody>
          <a:bodyPr wrap="square" lIns="0" tIns="0" rIns="0" bIns="0" rtlCol="0" anchor="ctr"/>
          <a:lstStyle/>
          <a:p>
            <a:pPr>
              <a:lnSpc>
                <a:spcPct val="120000"/>
              </a:lnSpc>
            </a:pPr>
            <a:r>
              <a:rPr lang="en-US" sz="1183" b="1" dirty="0">
                <a:solidFill>
                  <a:srgbClr val="8E8E93"/>
                </a:solidFill>
                <a:latin typeface="Quattrocento Sans" pitchFamily="34" charset="0"/>
                <a:ea typeface="Quattrocento Sans" pitchFamily="34" charset="-122"/>
                <a:cs typeface="Quattrocento Sans" pitchFamily="34" charset="-120"/>
              </a:rPr>
              <a:t>Airbnb</a:t>
            </a:r>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 – hotel service without owning rooms</a:t>
            </a:r>
            <a:endParaRPr lang="en-US" sz="1600" dirty="0"/>
          </a:p>
        </p:txBody>
      </p:sp>
      <p:sp>
        <p:nvSpPr>
          <p:cNvPr id="37" name="Text 35"/>
          <p:cNvSpPr/>
          <p:nvPr/>
        </p:nvSpPr>
        <p:spPr>
          <a:xfrm>
            <a:off x="638718" y="4997029"/>
            <a:ext cx="122108" cy="225430"/>
          </a:xfrm>
          <a:prstGeom prst="rect">
            <a:avLst/>
          </a:prstGeom>
          <a:noFill/>
          <a:ln/>
        </p:spPr>
        <p:txBody>
          <a:bodyPr wrap="square" lIns="0" tIns="0" rIns="0" bIns="0" rtlCol="0" anchor="ctr"/>
          <a:lstStyle/>
          <a:p>
            <a:pPr>
              <a:lnSpc>
                <a:spcPct val="120000"/>
              </a:lnSpc>
            </a:pPr>
            <a:r>
              <a:rPr lang="en-US" sz="1183" dirty="0">
                <a:solidFill>
                  <a:srgbClr val="8E8E93"/>
                </a:solidFill>
                <a:latin typeface="Quattrocento Sans" pitchFamily="34" charset="0"/>
                <a:ea typeface="Quattrocento Sans" pitchFamily="34" charset="-122"/>
                <a:cs typeface="Quattrocento Sans" pitchFamily="34" charset="-120"/>
              </a:rPr>
              <a:t>•</a:t>
            </a:r>
            <a:endParaRPr lang="en-US" sz="1600" dirty="0"/>
          </a:p>
        </p:txBody>
      </p:sp>
      <p:sp>
        <p:nvSpPr>
          <p:cNvPr id="38" name="Text 36"/>
          <p:cNvSpPr/>
          <p:nvPr/>
        </p:nvSpPr>
        <p:spPr>
          <a:xfrm>
            <a:off x="763174" y="4997029"/>
            <a:ext cx="3043304" cy="225430"/>
          </a:xfrm>
          <a:prstGeom prst="rect">
            <a:avLst/>
          </a:prstGeom>
          <a:noFill/>
          <a:ln/>
        </p:spPr>
        <p:txBody>
          <a:bodyPr wrap="square" lIns="0" tIns="0" rIns="0" bIns="0" rtlCol="0" anchor="ctr"/>
          <a:lstStyle/>
          <a:p>
            <a:pPr>
              <a:lnSpc>
                <a:spcPct val="120000"/>
              </a:lnSpc>
            </a:pPr>
            <a:r>
              <a:rPr lang="en-US" sz="1183" b="1" dirty="0">
                <a:solidFill>
                  <a:srgbClr val="8E8E93"/>
                </a:solidFill>
                <a:latin typeface="Quattrocento Sans" pitchFamily="34" charset="0"/>
                <a:ea typeface="Quattrocento Sans" pitchFamily="34" charset="-122"/>
                <a:cs typeface="Quattrocento Sans" pitchFamily="34" charset="-120"/>
              </a:rPr>
              <a:t>DoorDash</a:t>
            </a:r>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 – food delivery without restaurants</a:t>
            </a:r>
            <a:endParaRPr lang="en-US" sz="1600" dirty="0"/>
          </a:p>
        </p:txBody>
      </p:sp>
      <p:sp>
        <p:nvSpPr>
          <p:cNvPr id="39" name="Shape 37"/>
          <p:cNvSpPr/>
          <p:nvPr/>
        </p:nvSpPr>
        <p:spPr>
          <a:xfrm>
            <a:off x="6188873" y="3419020"/>
            <a:ext cx="5626354" cy="2028869"/>
          </a:xfrm>
          <a:custGeom>
            <a:avLst/>
            <a:gdLst/>
            <a:ahLst/>
            <a:cxnLst/>
            <a:rect l="l" t="t" r="r" b="b"/>
            <a:pathLst>
              <a:path w="5626354" h="2028869">
                <a:moveTo>
                  <a:pt x="37592" y="0"/>
                </a:moveTo>
                <a:lnTo>
                  <a:pt x="5476113" y="0"/>
                </a:lnTo>
                <a:cubicBezTo>
                  <a:pt x="5559089" y="0"/>
                  <a:pt x="5626354" y="67265"/>
                  <a:pt x="5626354" y="150241"/>
                </a:cubicBezTo>
                <a:lnTo>
                  <a:pt x="5626354" y="1878584"/>
                </a:lnTo>
                <a:cubicBezTo>
                  <a:pt x="5626354" y="1961504"/>
                  <a:pt x="5559033" y="2028825"/>
                  <a:pt x="5476113" y="2028825"/>
                </a:cubicBezTo>
                <a:lnTo>
                  <a:pt x="37592" y="2028825"/>
                </a:lnTo>
                <a:cubicBezTo>
                  <a:pt x="16880" y="2028825"/>
                  <a:pt x="70" y="2012072"/>
                  <a:pt x="0" y="1991360"/>
                </a:cubicBezTo>
                <a:lnTo>
                  <a:pt x="0" y="37592"/>
                </a:lnTo>
                <a:cubicBezTo>
                  <a:pt x="0" y="16844"/>
                  <a:pt x="16844" y="0"/>
                  <a:pt x="37592" y="0"/>
                </a:cubicBezTo>
                <a:close/>
              </a:path>
            </a:pathLst>
          </a:custGeom>
          <a:gradFill rotWithShape="1" flip="none">
            <a:gsLst>
              <a:gs pos="0">
                <a:srgbClr val="34C759">
                  <a:alpha val="20000"/>
                </a:srgbClr>
              </a:gs>
              <a:gs pos="100000">
                <a:srgbClr val="2C2C2E"/>
              </a:gs>
            </a:gsLst>
            <a:lin ang="2700000" scaled="1"/>
          </a:gradFill>
          <a:ln/>
        </p:spPr>
      </p:sp>
      <p:sp>
        <p:nvSpPr>
          <p:cNvPr id="40" name="Shape 38"/>
          <p:cNvSpPr/>
          <p:nvPr/>
        </p:nvSpPr>
        <p:spPr>
          <a:xfrm>
            <a:off x="6188873" y="3419020"/>
            <a:ext cx="37572" cy="2028869"/>
          </a:xfrm>
          <a:custGeom>
            <a:avLst/>
            <a:gdLst/>
            <a:ahLst/>
            <a:cxnLst/>
            <a:rect l="l" t="t" r="r" b="b"/>
            <a:pathLst>
              <a:path w="37572" h="2028869">
                <a:moveTo>
                  <a:pt x="37592" y="0"/>
                </a:moveTo>
                <a:lnTo>
                  <a:pt x="37592" y="0"/>
                </a:lnTo>
                <a:lnTo>
                  <a:pt x="37592" y="2028825"/>
                </a:lnTo>
                <a:lnTo>
                  <a:pt x="37592" y="2028825"/>
                </a:lnTo>
                <a:cubicBezTo>
                  <a:pt x="16880" y="2028825"/>
                  <a:pt x="70" y="2012072"/>
                  <a:pt x="0" y="1991360"/>
                </a:cubicBezTo>
                <a:lnTo>
                  <a:pt x="0" y="37592"/>
                </a:lnTo>
                <a:cubicBezTo>
                  <a:pt x="0" y="16844"/>
                  <a:pt x="16844" y="0"/>
                  <a:pt x="37592" y="0"/>
                </a:cubicBezTo>
                <a:close/>
              </a:path>
            </a:pathLst>
          </a:custGeom>
          <a:solidFill>
            <a:srgbClr val="34C759"/>
          </a:solidFill>
          <a:ln/>
        </p:spPr>
      </p:sp>
      <p:sp>
        <p:nvSpPr>
          <p:cNvPr id="41" name="Shape 39"/>
          <p:cNvSpPr/>
          <p:nvPr/>
        </p:nvSpPr>
        <p:spPr>
          <a:xfrm>
            <a:off x="6433088" y="3644450"/>
            <a:ext cx="601146" cy="601146"/>
          </a:xfrm>
          <a:prstGeom prst="roundRect">
            <a:avLst>
              <a:gd name="adj" fmla="val 25000"/>
            </a:avLst>
          </a:prstGeom>
          <a:solidFill>
            <a:srgbClr val="34C759"/>
          </a:solidFill>
          <a:ln/>
        </p:spPr>
      </p:sp>
      <p:sp>
        <p:nvSpPr>
          <p:cNvPr id="42" name="Shape 40"/>
          <p:cNvSpPr/>
          <p:nvPr/>
        </p:nvSpPr>
        <p:spPr>
          <a:xfrm>
            <a:off x="6595116" y="3804129"/>
            <a:ext cx="281787" cy="281787"/>
          </a:xfrm>
          <a:custGeom>
            <a:avLst/>
            <a:gdLst/>
            <a:ahLst/>
            <a:cxnLst/>
            <a:rect l="l" t="t" r="r" b="b"/>
            <a:pathLst>
              <a:path w="281787" h="281787">
                <a:moveTo>
                  <a:pt x="17612" y="17612"/>
                </a:moveTo>
                <a:cubicBezTo>
                  <a:pt x="27353" y="17612"/>
                  <a:pt x="35223" y="25482"/>
                  <a:pt x="35223" y="35223"/>
                </a:cubicBezTo>
                <a:lnTo>
                  <a:pt x="35223" y="220146"/>
                </a:lnTo>
                <a:cubicBezTo>
                  <a:pt x="35223" y="224990"/>
                  <a:pt x="39186" y="228952"/>
                  <a:pt x="44029" y="228952"/>
                </a:cubicBezTo>
                <a:lnTo>
                  <a:pt x="264176" y="228952"/>
                </a:lnTo>
                <a:cubicBezTo>
                  <a:pt x="273917" y="228952"/>
                  <a:pt x="281787" y="236822"/>
                  <a:pt x="281787" y="246564"/>
                </a:cubicBezTo>
                <a:cubicBezTo>
                  <a:pt x="281787" y="256305"/>
                  <a:pt x="273917" y="264176"/>
                  <a:pt x="264176" y="264176"/>
                </a:cubicBezTo>
                <a:lnTo>
                  <a:pt x="44029" y="264176"/>
                </a:lnTo>
                <a:cubicBezTo>
                  <a:pt x="19703" y="264176"/>
                  <a:pt x="0" y="244473"/>
                  <a:pt x="0" y="220146"/>
                </a:cubicBezTo>
                <a:lnTo>
                  <a:pt x="0" y="35223"/>
                </a:lnTo>
                <a:cubicBezTo>
                  <a:pt x="0" y="25482"/>
                  <a:pt x="7870" y="17612"/>
                  <a:pt x="17612" y="17612"/>
                </a:cubicBezTo>
                <a:close/>
                <a:moveTo>
                  <a:pt x="70447" y="52835"/>
                </a:moveTo>
                <a:cubicBezTo>
                  <a:pt x="70447" y="43094"/>
                  <a:pt x="78317" y="35223"/>
                  <a:pt x="88059" y="35223"/>
                </a:cubicBezTo>
                <a:lnTo>
                  <a:pt x="193729" y="35223"/>
                </a:lnTo>
                <a:cubicBezTo>
                  <a:pt x="203470" y="35223"/>
                  <a:pt x="211341" y="43094"/>
                  <a:pt x="211341" y="52835"/>
                </a:cubicBezTo>
                <a:cubicBezTo>
                  <a:pt x="211341" y="62577"/>
                  <a:pt x="203470" y="70447"/>
                  <a:pt x="193729" y="70447"/>
                </a:cubicBezTo>
                <a:lnTo>
                  <a:pt x="88059" y="70447"/>
                </a:lnTo>
                <a:cubicBezTo>
                  <a:pt x="78317" y="70447"/>
                  <a:pt x="70447" y="62577"/>
                  <a:pt x="70447" y="52835"/>
                </a:cubicBezTo>
                <a:close/>
                <a:moveTo>
                  <a:pt x="88059" y="96864"/>
                </a:moveTo>
                <a:lnTo>
                  <a:pt x="158505" y="96864"/>
                </a:lnTo>
                <a:cubicBezTo>
                  <a:pt x="168247" y="96864"/>
                  <a:pt x="176117" y="104735"/>
                  <a:pt x="176117" y="114476"/>
                </a:cubicBezTo>
                <a:cubicBezTo>
                  <a:pt x="176117" y="124218"/>
                  <a:pt x="168247" y="132088"/>
                  <a:pt x="158505" y="132088"/>
                </a:cubicBezTo>
                <a:lnTo>
                  <a:pt x="88059" y="132088"/>
                </a:lnTo>
                <a:cubicBezTo>
                  <a:pt x="78317" y="132088"/>
                  <a:pt x="70447" y="124218"/>
                  <a:pt x="70447" y="114476"/>
                </a:cubicBezTo>
                <a:cubicBezTo>
                  <a:pt x="70447" y="104735"/>
                  <a:pt x="78317" y="96864"/>
                  <a:pt x="88059" y="96864"/>
                </a:cubicBezTo>
                <a:close/>
                <a:moveTo>
                  <a:pt x="88059" y="158505"/>
                </a:moveTo>
                <a:lnTo>
                  <a:pt x="228952" y="158505"/>
                </a:lnTo>
                <a:cubicBezTo>
                  <a:pt x="238694" y="158505"/>
                  <a:pt x="246564" y="166376"/>
                  <a:pt x="246564" y="176117"/>
                </a:cubicBezTo>
                <a:cubicBezTo>
                  <a:pt x="246564" y="185859"/>
                  <a:pt x="238694" y="193729"/>
                  <a:pt x="228952" y="193729"/>
                </a:cubicBezTo>
                <a:lnTo>
                  <a:pt x="88059" y="193729"/>
                </a:lnTo>
                <a:cubicBezTo>
                  <a:pt x="78317" y="193729"/>
                  <a:pt x="70447" y="185859"/>
                  <a:pt x="70447" y="176117"/>
                </a:cubicBezTo>
                <a:cubicBezTo>
                  <a:pt x="70447" y="166376"/>
                  <a:pt x="78317" y="158505"/>
                  <a:pt x="88059" y="158505"/>
                </a:cubicBezTo>
                <a:close/>
              </a:path>
            </a:pathLst>
          </a:custGeom>
          <a:solidFill>
            <a:srgbClr val="1D1D1F"/>
          </a:solidFill>
          <a:ln/>
        </p:spPr>
      </p:sp>
      <p:sp>
        <p:nvSpPr>
          <p:cNvPr id="43" name="Text 41"/>
          <p:cNvSpPr/>
          <p:nvPr/>
        </p:nvSpPr>
        <p:spPr>
          <a:xfrm>
            <a:off x="7184521" y="3794737"/>
            <a:ext cx="2226120" cy="300573"/>
          </a:xfrm>
          <a:prstGeom prst="rect">
            <a:avLst/>
          </a:prstGeom>
          <a:noFill/>
          <a:ln/>
        </p:spPr>
        <p:txBody>
          <a:bodyPr wrap="square" lIns="0" tIns="0" rIns="0" bIns="0" rtlCol="0" anchor="ctr"/>
          <a:lstStyle/>
          <a:p>
            <a:pPr>
              <a:lnSpc>
                <a:spcPct val="110000"/>
              </a:lnSpc>
            </a:pPr>
            <a:r>
              <a:rPr lang="en-US" sz="1775" b="1" dirty="0">
                <a:solidFill>
                  <a:srgbClr val="34C759"/>
                </a:solidFill>
                <a:latin typeface="Liter" pitchFamily="34" charset="0"/>
                <a:ea typeface="Liter" pitchFamily="34" charset="-122"/>
                <a:cs typeface="Liter" pitchFamily="34" charset="-120"/>
              </a:rPr>
              <a:t>Mobile-First Strategy</a:t>
            </a:r>
            <a:endParaRPr lang="en-US" sz="1600" dirty="0"/>
          </a:p>
        </p:txBody>
      </p:sp>
      <p:sp>
        <p:nvSpPr>
          <p:cNvPr id="44" name="Text 42"/>
          <p:cNvSpPr/>
          <p:nvPr/>
        </p:nvSpPr>
        <p:spPr>
          <a:xfrm>
            <a:off x="6433088" y="4395883"/>
            <a:ext cx="122108" cy="225430"/>
          </a:xfrm>
          <a:prstGeom prst="rect">
            <a:avLst/>
          </a:prstGeom>
          <a:noFill/>
          <a:ln/>
        </p:spPr>
        <p:txBody>
          <a:bodyPr wrap="square" lIns="0" tIns="0" rIns="0" bIns="0" rtlCol="0" anchor="ctr"/>
          <a:lstStyle/>
          <a:p>
            <a:pPr>
              <a:lnSpc>
                <a:spcPct val="120000"/>
              </a:lnSpc>
            </a:pPr>
            <a:r>
              <a:rPr lang="en-US" sz="118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5" name="Text 43"/>
          <p:cNvSpPr/>
          <p:nvPr/>
        </p:nvSpPr>
        <p:spPr>
          <a:xfrm>
            <a:off x="6557544" y="4395883"/>
            <a:ext cx="2601837" cy="225430"/>
          </a:xfrm>
          <a:prstGeom prst="rect">
            <a:avLst/>
          </a:prstGeom>
          <a:noFill/>
          <a:ln/>
        </p:spPr>
        <p:txBody>
          <a:bodyPr wrap="square" lIns="0" tIns="0" rIns="0" bIns="0" rtlCol="0" anchor="ctr"/>
          <a:lstStyle/>
          <a:p>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Design for </a:t>
            </a:r>
            <a:pPr>
              <a:lnSpc>
                <a:spcPct val="120000"/>
              </a:lnSpc>
            </a:pPr>
            <a:r>
              <a:rPr lang="en-US" sz="1183" b="1" dirty="0">
                <a:solidFill>
                  <a:srgbClr val="34C759"/>
                </a:solidFill>
                <a:latin typeface="Quattrocento Sans" pitchFamily="34" charset="0"/>
                <a:ea typeface="Quattrocento Sans" pitchFamily="34" charset="-122"/>
                <a:cs typeface="Quattrocento Sans" pitchFamily="34" charset="-120"/>
              </a:rPr>
              <a:t>mobile first</a:t>
            </a:r>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 desktop second</a:t>
            </a:r>
            <a:endParaRPr lang="en-US" sz="1600" dirty="0"/>
          </a:p>
        </p:txBody>
      </p:sp>
      <p:sp>
        <p:nvSpPr>
          <p:cNvPr id="46" name="Text 44"/>
          <p:cNvSpPr/>
          <p:nvPr/>
        </p:nvSpPr>
        <p:spPr>
          <a:xfrm>
            <a:off x="6433088" y="4696456"/>
            <a:ext cx="122108" cy="225430"/>
          </a:xfrm>
          <a:prstGeom prst="rect">
            <a:avLst/>
          </a:prstGeom>
          <a:noFill/>
          <a:ln/>
        </p:spPr>
        <p:txBody>
          <a:bodyPr wrap="square" lIns="0" tIns="0" rIns="0" bIns="0" rtlCol="0" anchor="ctr"/>
          <a:lstStyle/>
          <a:p>
            <a:pPr>
              <a:lnSpc>
                <a:spcPct val="120000"/>
              </a:lnSpc>
            </a:pPr>
            <a:r>
              <a:rPr lang="en-US" sz="118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7" name="Text 45"/>
          <p:cNvSpPr/>
          <p:nvPr/>
        </p:nvSpPr>
        <p:spPr>
          <a:xfrm>
            <a:off x="6557544" y="4696456"/>
            <a:ext cx="2226120" cy="225430"/>
          </a:xfrm>
          <a:prstGeom prst="rect">
            <a:avLst/>
          </a:prstGeom>
          <a:noFill/>
          <a:ln/>
        </p:spPr>
        <p:txBody>
          <a:bodyPr wrap="square" lIns="0" tIns="0" rIns="0" bIns="0" rtlCol="0" anchor="ctr"/>
          <a:lstStyle/>
          <a:p>
            <a:pPr>
              <a:lnSpc>
                <a:spcPct val="120000"/>
              </a:lnSpc>
            </a:pPr>
            <a:r>
              <a:rPr lang="en-US" sz="1183" b="1" dirty="0">
                <a:solidFill>
                  <a:srgbClr val="34C759"/>
                </a:solidFill>
                <a:latin typeface="Quattrocento Sans" pitchFamily="34" charset="0"/>
                <a:ea typeface="Quattrocento Sans" pitchFamily="34" charset="-122"/>
                <a:cs typeface="Quattrocento Sans" pitchFamily="34" charset="-120"/>
              </a:rPr>
              <a:t>Better user experience</a:t>
            </a:r>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 on mobile</a:t>
            </a:r>
            <a:endParaRPr lang="en-US" sz="1600" dirty="0"/>
          </a:p>
        </p:txBody>
      </p:sp>
      <p:sp>
        <p:nvSpPr>
          <p:cNvPr id="48" name="Text 46"/>
          <p:cNvSpPr/>
          <p:nvPr/>
        </p:nvSpPr>
        <p:spPr>
          <a:xfrm>
            <a:off x="6433088" y="4997029"/>
            <a:ext cx="122108" cy="225430"/>
          </a:xfrm>
          <a:prstGeom prst="rect">
            <a:avLst/>
          </a:prstGeom>
          <a:noFill/>
          <a:ln/>
        </p:spPr>
        <p:txBody>
          <a:bodyPr wrap="square" lIns="0" tIns="0" rIns="0" bIns="0" rtlCol="0" anchor="ctr"/>
          <a:lstStyle/>
          <a:p>
            <a:pPr>
              <a:lnSpc>
                <a:spcPct val="120000"/>
              </a:lnSpc>
            </a:pPr>
            <a:r>
              <a:rPr lang="en-US" sz="1183"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9" name="Text 47"/>
          <p:cNvSpPr/>
          <p:nvPr/>
        </p:nvSpPr>
        <p:spPr>
          <a:xfrm>
            <a:off x="6557544" y="4997029"/>
            <a:ext cx="1775260" cy="225430"/>
          </a:xfrm>
          <a:prstGeom prst="rect">
            <a:avLst/>
          </a:prstGeom>
          <a:noFill/>
          <a:ln/>
        </p:spPr>
        <p:txBody>
          <a:bodyPr wrap="square" lIns="0" tIns="0" rIns="0" bIns="0" rtlCol="0" anchor="ctr"/>
          <a:lstStyle/>
          <a:p>
            <a:pPr>
              <a:lnSpc>
                <a:spcPct val="120000"/>
              </a:lnSpc>
            </a:pPr>
            <a:r>
              <a:rPr lang="en-US" sz="1183" dirty="0">
                <a:solidFill>
                  <a:srgbClr val="F5F5F7"/>
                </a:solidFill>
                <a:latin typeface="Quattrocento Sans" pitchFamily="34" charset="0"/>
                <a:ea typeface="Quattrocento Sans" pitchFamily="34" charset="-122"/>
                <a:cs typeface="Quattrocento Sans" pitchFamily="34" charset="-120"/>
              </a:rPr>
              <a:t>Stay </a:t>
            </a:r>
            <a:pPr>
              <a:lnSpc>
                <a:spcPct val="120000"/>
              </a:lnSpc>
            </a:pPr>
            <a:r>
              <a:rPr lang="en-US" sz="1183" b="1" dirty="0">
                <a:solidFill>
                  <a:srgbClr val="34C759"/>
                </a:solidFill>
                <a:latin typeface="Quattrocento Sans" pitchFamily="34" charset="0"/>
                <a:ea typeface="Quattrocento Sans" pitchFamily="34" charset="-122"/>
                <a:cs typeface="Quattrocento Sans" pitchFamily="34" charset="-120"/>
              </a:rPr>
              <a:t>ahead of competitors</a:t>
            </a:r>
            <a:endParaRPr lang="en-US" sz="1600" dirty="0"/>
          </a:p>
        </p:txBody>
      </p:sp>
      <p:sp>
        <p:nvSpPr>
          <p:cNvPr id="50" name="Shape 48"/>
          <p:cNvSpPr/>
          <p:nvPr/>
        </p:nvSpPr>
        <p:spPr>
          <a:xfrm>
            <a:off x="379474" y="5601933"/>
            <a:ext cx="11429296" cy="1247379"/>
          </a:xfrm>
          <a:prstGeom prst="roundRect">
            <a:avLst>
              <a:gd name="adj" fmla="val 12048"/>
            </a:avLst>
          </a:prstGeom>
          <a:solidFill>
            <a:srgbClr val="0A84FF">
              <a:alpha val="10196"/>
            </a:srgbClr>
          </a:solidFill>
          <a:ln w="10160">
            <a:solidFill>
              <a:srgbClr val="0A84FF">
                <a:alpha val="30196"/>
              </a:srgbClr>
            </a:solidFill>
            <a:prstDash val="solid"/>
          </a:ln>
        </p:spPr>
      </p:sp>
      <p:sp>
        <p:nvSpPr>
          <p:cNvPr id="51" name="Shape 49"/>
          <p:cNvSpPr/>
          <p:nvPr/>
        </p:nvSpPr>
        <p:spPr>
          <a:xfrm>
            <a:off x="594571" y="5840511"/>
            <a:ext cx="169072" cy="169072"/>
          </a:xfrm>
          <a:custGeom>
            <a:avLst/>
            <a:gdLst/>
            <a:ahLst/>
            <a:cxnLst/>
            <a:rect l="l" t="t" r="r" b="b"/>
            <a:pathLst>
              <a:path w="169072" h="169072">
                <a:moveTo>
                  <a:pt x="84536" y="158505"/>
                </a:moveTo>
                <a:cubicBezTo>
                  <a:pt x="131229" y="158505"/>
                  <a:pt x="169072" y="123007"/>
                  <a:pt x="169072" y="79253"/>
                </a:cubicBezTo>
                <a:cubicBezTo>
                  <a:pt x="169072" y="35499"/>
                  <a:pt x="131229" y="0"/>
                  <a:pt x="84536" y="0"/>
                </a:cubicBezTo>
                <a:cubicBezTo>
                  <a:pt x="37843" y="0"/>
                  <a:pt x="0" y="35499"/>
                  <a:pt x="0" y="79253"/>
                </a:cubicBezTo>
                <a:cubicBezTo>
                  <a:pt x="0" y="97184"/>
                  <a:pt x="6340" y="113695"/>
                  <a:pt x="17039" y="126969"/>
                </a:cubicBezTo>
                <a:lnTo>
                  <a:pt x="925" y="157449"/>
                </a:lnTo>
                <a:cubicBezTo>
                  <a:pt x="-660" y="160421"/>
                  <a:pt x="-165" y="164053"/>
                  <a:pt x="2113" y="166530"/>
                </a:cubicBezTo>
                <a:cubicBezTo>
                  <a:pt x="4392" y="169006"/>
                  <a:pt x="7991" y="169766"/>
                  <a:pt x="11062" y="168445"/>
                </a:cubicBezTo>
                <a:lnTo>
                  <a:pt x="50160" y="151703"/>
                </a:lnTo>
                <a:cubicBezTo>
                  <a:pt x="60661" y="156062"/>
                  <a:pt x="72285" y="158505"/>
                  <a:pt x="84536" y="158505"/>
                </a:cubicBezTo>
                <a:close/>
                <a:moveTo>
                  <a:pt x="42268" y="68686"/>
                </a:moveTo>
                <a:cubicBezTo>
                  <a:pt x="48100" y="68686"/>
                  <a:pt x="52835" y="73421"/>
                  <a:pt x="52835" y="79253"/>
                </a:cubicBezTo>
                <a:cubicBezTo>
                  <a:pt x="52835" y="85085"/>
                  <a:pt x="48100" y="89820"/>
                  <a:pt x="42268" y="89820"/>
                </a:cubicBezTo>
                <a:cubicBezTo>
                  <a:pt x="36436" y="89820"/>
                  <a:pt x="31701" y="85085"/>
                  <a:pt x="31701" y="79253"/>
                </a:cubicBezTo>
                <a:cubicBezTo>
                  <a:pt x="31701" y="73421"/>
                  <a:pt x="36436" y="68686"/>
                  <a:pt x="42268" y="68686"/>
                </a:cubicBezTo>
                <a:close/>
                <a:moveTo>
                  <a:pt x="84536" y="68686"/>
                </a:moveTo>
                <a:cubicBezTo>
                  <a:pt x="90368" y="68686"/>
                  <a:pt x="95103" y="73421"/>
                  <a:pt x="95103" y="79253"/>
                </a:cubicBezTo>
                <a:cubicBezTo>
                  <a:pt x="95103" y="85085"/>
                  <a:pt x="90368" y="89820"/>
                  <a:pt x="84536" y="89820"/>
                </a:cubicBezTo>
                <a:cubicBezTo>
                  <a:pt x="78704" y="89820"/>
                  <a:pt x="73969" y="85085"/>
                  <a:pt x="73969" y="79253"/>
                </a:cubicBezTo>
                <a:cubicBezTo>
                  <a:pt x="73969" y="73421"/>
                  <a:pt x="78704" y="68686"/>
                  <a:pt x="84536" y="68686"/>
                </a:cubicBezTo>
                <a:close/>
                <a:moveTo>
                  <a:pt x="116237" y="79253"/>
                </a:moveTo>
                <a:cubicBezTo>
                  <a:pt x="116237" y="73421"/>
                  <a:pt x="120972" y="68686"/>
                  <a:pt x="126804" y="68686"/>
                </a:cubicBezTo>
                <a:cubicBezTo>
                  <a:pt x="132636" y="68686"/>
                  <a:pt x="137371" y="73421"/>
                  <a:pt x="137371" y="79253"/>
                </a:cubicBezTo>
                <a:cubicBezTo>
                  <a:pt x="137371" y="85085"/>
                  <a:pt x="132636" y="89820"/>
                  <a:pt x="126804" y="89820"/>
                </a:cubicBezTo>
                <a:cubicBezTo>
                  <a:pt x="120972" y="89820"/>
                  <a:pt x="116237" y="85085"/>
                  <a:pt x="116237" y="79253"/>
                </a:cubicBezTo>
                <a:close/>
              </a:path>
            </a:pathLst>
          </a:custGeom>
          <a:solidFill>
            <a:srgbClr val="0A84FF"/>
          </a:solidFill>
          <a:ln/>
        </p:spPr>
      </p:sp>
      <p:sp>
        <p:nvSpPr>
          <p:cNvPr id="52" name="Text 50"/>
          <p:cNvSpPr/>
          <p:nvPr/>
        </p:nvSpPr>
        <p:spPr>
          <a:xfrm>
            <a:off x="787126" y="5793546"/>
            <a:ext cx="10914564" cy="263002"/>
          </a:xfrm>
          <a:prstGeom prst="rect">
            <a:avLst/>
          </a:prstGeom>
          <a:noFill/>
          <a:ln/>
        </p:spPr>
        <p:txBody>
          <a:bodyPr wrap="square" lIns="0" tIns="0" rIns="0" bIns="0" rtlCol="0" anchor="ctr"/>
          <a:lstStyle/>
          <a:p>
            <a:pPr>
              <a:lnSpc>
                <a:spcPct val="130000"/>
              </a:lnSpc>
            </a:pPr>
            <a:r>
              <a:rPr lang="en-US" sz="1331"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53" name="Text 51"/>
          <p:cNvSpPr/>
          <p:nvPr/>
        </p:nvSpPr>
        <p:spPr>
          <a:xfrm>
            <a:off x="571089" y="6169263"/>
            <a:ext cx="11121208" cy="488431"/>
          </a:xfrm>
          <a:prstGeom prst="rect">
            <a:avLst/>
          </a:prstGeom>
          <a:noFill/>
          <a:ln/>
        </p:spPr>
        <p:txBody>
          <a:bodyPr wrap="square" lIns="0" tIns="0" rIns="0" bIns="0" rtlCol="0" anchor="ctr"/>
          <a:lstStyle/>
          <a:p>
            <a:pPr>
              <a:lnSpc>
                <a:spcPct val="140000"/>
              </a:lnSpc>
            </a:pPr>
            <a:r>
              <a:rPr lang="en-US" sz="1183" dirty="0">
                <a:solidFill>
                  <a:srgbClr val="F5F5F7"/>
                </a:solidFill>
                <a:latin typeface="Quattrocento Sans" pitchFamily="34" charset="0"/>
                <a:ea typeface="Quattrocento Sans" pitchFamily="34" charset="-122"/>
                <a:cs typeface="Quattrocento Sans" pitchFamily="34" charset="-120"/>
              </a:rPr>
              <a:t>A mobile app is like having a </a:t>
            </a:r>
            <a:pPr>
              <a:lnSpc>
                <a:spcPct val="140000"/>
              </a:lnSpc>
            </a:pPr>
            <a:r>
              <a:rPr lang="en-US" sz="1183" b="1" dirty="0">
                <a:solidFill>
                  <a:srgbClr val="34C759"/>
                </a:solidFill>
                <a:latin typeface="Quattrocento Sans" pitchFamily="34" charset="0"/>
                <a:ea typeface="Quattrocento Sans" pitchFamily="34" charset="-122"/>
                <a:cs typeface="Quattrocento Sans" pitchFamily="34" charset="-120"/>
              </a:rPr>
              <a:t>store that never closes</a:t>
            </a:r>
            <a:pPr>
              <a:lnSpc>
                <a:spcPct val="140000"/>
              </a:lnSpc>
            </a:pPr>
            <a:r>
              <a:rPr lang="en-US" sz="1183" dirty="0">
                <a:solidFill>
                  <a:srgbClr val="F5F5F7"/>
                </a:solidFill>
                <a:latin typeface="Quattrocento Sans" pitchFamily="34" charset="0"/>
                <a:ea typeface="Quattrocento Sans" pitchFamily="34" charset="-122"/>
                <a:cs typeface="Quattrocento Sans" pitchFamily="34" charset="-120"/>
              </a:rPr>
              <a:t> and is accessible to billions of people. Whether you're a small coffee shop or a global brand, an app can dramatically increase your reach and revenue.</a:t>
            </a:r>
            <a:endParaRPr lang="en-US" sz="16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FF9500"/>
          </a:solidFill>
          <a:ln/>
        </p:spPr>
      </p:sp>
      <p:sp>
        <p:nvSpPr>
          <p:cNvPr id="3" name="Text 1"/>
          <p:cNvSpPr/>
          <p:nvPr/>
        </p:nvSpPr>
        <p:spPr>
          <a:xfrm>
            <a:off x="496372" y="514350"/>
            <a:ext cx="342900" cy="304800"/>
          </a:xfrm>
          <a:prstGeom prst="rect">
            <a:avLst/>
          </a:prstGeom>
          <a:noFill/>
          <a:ln/>
        </p:spPr>
        <p:txBody>
          <a:bodyPr wrap="square" lIns="0" tIns="0" rIns="0" bIns="0" rtlCol="0" anchor="ctr"/>
          <a:lstStyle/>
          <a:p>
            <a:pPr>
              <a:lnSpc>
                <a:spcPct val="110000"/>
              </a:lnSpc>
            </a:pPr>
            <a:r>
              <a:rPr lang="en-US" sz="1800" b="1" dirty="0">
                <a:solidFill>
                  <a:srgbClr val="1D1D1F"/>
                </a:solidFill>
                <a:latin typeface="Liter" pitchFamily="34" charset="0"/>
                <a:ea typeface="Liter" pitchFamily="34" charset="-122"/>
                <a:cs typeface="Liter" pitchFamily="34" charset="-120"/>
              </a:rPr>
              <a:t>13</a:t>
            </a:r>
            <a:endParaRPr lang="en-US" sz="1600" dirty="0"/>
          </a:p>
        </p:txBody>
      </p:sp>
      <p:sp>
        <p:nvSpPr>
          <p:cNvPr id="4" name="Text 2"/>
          <p:cNvSpPr/>
          <p:nvPr/>
        </p:nvSpPr>
        <p:spPr>
          <a:xfrm>
            <a:off x="952500" y="381000"/>
            <a:ext cx="7467600" cy="190500"/>
          </a:xfrm>
          <a:prstGeom prst="rect">
            <a:avLst/>
          </a:prstGeom>
          <a:noFill/>
          <a:ln/>
        </p:spPr>
        <p:txBody>
          <a:bodyPr wrap="square" lIns="0" tIns="0" rIns="0" bIns="0" rtlCol="0" anchor="ctr"/>
          <a:lstStyle/>
          <a:p>
            <a:pPr>
              <a:lnSpc>
                <a:spcPct val="120000"/>
              </a:lnSpc>
            </a:pPr>
            <a:r>
              <a:rPr lang="en-US" sz="1050" b="1" spc="53" kern="0" dirty="0">
                <a:solidFill>
                  <a:srgbClr val="FF9500"/>
                </a:solidFill>
                <a:latin typeface="Quattrocento Sans" pitchFamily="34" charset="0"/>
                <a:ea typeface="Quattrocento Sans" pitchFamily="34" charset="-122"/>
                <a:cs typeface="Quattrocento Sans" pitchFamily="34" charset="-120"/>
              </a:rPr>
              <a:t>Importance of Mobile Development</a:t>
            </a:r>
            <a:endParaRPr lang="en-US" sz="1600" dirty="0"/>
          </a:p>
        </p:txBody>
      </p:sp>
      <p:sp>
        <p:nvSpPr>
          <p:cNvPr id="5" name="Text 3"/>
          <p:cNvSpPr/>
          <p:nvPr/>
        </p:nvSpPr>
        <p:spPr>
          <a:xfrm>
            <a:off x="952500" y="571500"/>
            <a:ext cx="7572375" cy="381000"/>
          </a:xfrm>
          <a:prstGeom prst="rect">
            <a:avLst/>
          </a:prstGeom>
          <a:noFill/>
          <a:ln/>
        </p:spPr>
        <p:txBody>
          <a:bodyPr wrap="square" lIns="0" tIns="0" rIns="0" bIns="0" rtlCol="0" anchor="ctr"/>
          <a:lstStyle/>
          <a:p>
            <a:pPr>
              <a:lnSpc>
                <a:spcPct val="90000"/>
              </a:lnSpc>
            </a:pPr>
            <a:r>
              <a:rPr lang="en-US" sz="2700" b="1" dirty="0">
                <a:solidFill>
                  <a:srgbClr val="F5F5F7"/>
                </a:solidFill>
                <a:latin typeface="Liter" pitchFamily="34" charset="0"/>
                <a:ea typeface="Liter" pitchFamily="34" charset="-122"/>
                <a:cs typeface="Liter" pitchFamily="34" charset="-120"/>
              </a:rPr>
              <a:t>Career Opportunities in Mobile App Development</a:t>
            </a:r>
            <a:endParaRPr lang="en-US" sz="1600" dirty="0"/>
          </a:p>
        </p:txBody>
      </p:sp>
      <p:sp>
        <p:nvSpPr>
          <p:cNvPr id="6" name="Shape 4"/>
          <p:cNvSpPr/>
          <p:nvPr/>
        </p:nvSpPr>
        <p:spPr>
          <a:xfrm>
            <a:off x="400050" y="1257300"/>
            <a:ext cx="5581650" cy="3886200"/>
          </a:xfrm>
          <a:custGeom>
            <a:avLst/>
            <a:gdLst/>
            <a:ahLst/>
            <a:cxnLst/>
            <a:rect l="l" t="t" r="r" b="b"/>
            <a:pathLst>
              <a:path w="5581650" h="3886200">
                <a:moveTo>
                  <a:pt x="38100" y="0"/>
                </a:moveTo>
                <a:lnTo>
                  <a:pt x="5429250" y="0"/>
                </a:lnTo>
                <a:cubicBezTo>
                  <a:pt x="5513362" y="0"/>
                  <a:pt x="5581650" y="68288"/>
                  <a:pt x="5581650" y="152400"/>
                </a:cubicBezTo>
                <a:lnTo>
                  <a:pt x="5581650" y="3733800"/>
                </a:lnTo>
                <a:cubicBezTo>
                  <a:pt x="5581650" y="3817912"/>
                  <a:pt x="5513362" y="3886200"/>
                  <a:pt x="5429250" y="3886200"/>
                </a:cubicBezTo>
                <a:lnTo>
                  <a:pt x="38100" y="3886200"/>
                </a:lnTo>
                <a:cubicBezTo>
                  <a:pt x="17072" y="3886200"/>
                  <a:pt x="0" y="3869128"/>
                  <a:pt x="0" y="3848100"/>
                </a:cubicBezTo>
                <a:lnTo>
                  <a:pt x="0" y="38100"/>
                </a:lnTo>
                <a:cubicBezTo>
                  <a:pt x="0" y="17072"/>
                  <a:pt x="17072" y="0"/>
                  <a:pt x="38100" y="0"/>
                </a:cubicBezTo>
                <a:close/>
              </a:path>
            </a:pathLst>
          </a:custGeom>
          <a:solidFill>
            <a:srgbClr val="2C2C2E"/>
          </a:solidFill>
          <a:ln/>
        </p:spPr>
      </p:sp>
      <p:sp>
        <p:nvSpPr>
          <p:cNvPr id="7" name="Shape 5"/>
          <p:cNvSpPr/>
          <p:nvPr/>
        </p:nvSpPr>
        <p:spPr>
          <a:xfrm>
            <a:off x="400050" y="1257300"/>
            <a:ext cx="38100" cy="3886200"/>
          </a:xfrm>
          <a:custGeom>
            <a:avLst/>
            <a:gdLst/>
            <a:ahLst/>
            <a:cxnLst/>
            <a:rect l="l" t="t" r="r" b="b"/>
            <a:pathLst>
              <a:path w="38100" h="3886200">
                <a:moveTo>
                  <a:pt x="38100" y="0"/>
                </a:moveTo>
                <a:lnTo>
                  <a:pt x="38100" y="0"/>
                </a:lnTo>
                <a:lnTo>
                  <a:pt x="38100" y="3886200"/>
                </a:lnTo>
                <a:lnTo>
                  <a:pt x="38100" y="3886200"/>
                </a:lnTo>
                <a:cubicBezTo>
                  <a:pt x="17072" y="3886200"/>
                  <a:pt x="0" y="3869128"/>
                  <a:pt x="0" y="3848100"/>
                </a:cubicBezTo>
                <a:lnTo>
                  <a:pt x="0" y="38100"/>
                </a:lnTo>
                <a:cubicBezTo>
                  <a:pt x="0" y="17072"/>
                  <a:pt x="17072" y="0"/>
                  <a:pt x="38100" y="0"/>
                </a:cubicBezTo>
                <a:close/>
              </a:path>
            </a:pathLst>
          </a:custGeom>
          <a:solidFill>
            <a:srgbClr val="34C759"/>
          </a:solidFill>
          <a:ln/>
        </p:spPr>
      </p:sp>
      <p:sp>
        <p:nvSpPr>
          <p:cNvPr id="8" name="Shape 6"/>
          <p:cNvSpPr/>
          <p:nvPr/>
        </p:nvSpPr>
        <p:spPr>
          <a:xfrm>
            <a:off x="676275" y="1523879"/>
            <a:ext cx="228600" cy="228600"/>
          </a:xfrm>
          <a:custGeom>
            <a:avLst/>
            <a:gdLst/>
            <a:ahLst/>
            <a:cxnLst/>
            <a:rect l="l" t="t" r="r" b="b"/>
            <a:pathLst>
              <a:path w="228600" h="228600">
                <a:moveTo>
                  <a:pt x="89297" y="21431"/>
                </a:moveTo>
                <a:lnTo>
                  <a:pt x="139303" y="21431"/>
                </a:lnTo>
                <a:cubicBezTo>
                  <a:pt x="141268" y="21431"/>
                  <a:pt x="142875" y="23039"/>
                  <a:pt x="142875" y="25003"/>
                </a:cubicBezTo>
                <a:lnTo>
                  <a:pt x="142875" y="42863"/>
                </a:lnTo>
                <a:lnTo>
                  <a:pt x="85725" y="42863"/>
                </a:lnTo>
                <a:lnTo>
                  <a:pt x="85725" y="25003"/>
                </a:lnTo>
                <a:cubicBezTo>
                  <a:pt x="85725" y="23039"/>
                  <a:pt x="87332" y="21431"/>
                  <a:pt x="89297" y="21431"/>
                </a:cubicBezTo>
                <a:close/>
                <a:moveTo>
                  <a:pt x="64294" y="25003"/>
                </a:moveTo>
                <a:lnTo>
                  <a:pt x="64294" y="42863"/>
                </a:lnTo>
                <a:lnTo>
                  <a:pt x="28575" y="42863"/>
                </a:lnTo>
                <a:cubicBezTo>
                  <a:pt x="12814" y="42863"/>
                  <a:pt x="0" y="55677"/>
                  <a:pt x="0" y="71438"/>
                </a:cubicBezTo>
                <a:lnTo>
                  <a:pt x="0" y="114300"/>
                </a:lnTo>
                <a:lnTo>
                  <a:pt x="228600" y="114300"/>
                </a:lnTo>
                <a:lnTo>
                  <a:pt x="228600" y="71438"/>
                </a:lnTo>
                <a:cubicBezTo>
                  <a:pt x="228600" y="55677"/>
                  <a:pt x="215786" y="42863"/>
                  <a:pt x="200025" y="42863"/>
                </a:cubicBezTo>
                <a:lnTo>
                  <a:pt x="164306" y="42863"/>
                </a:lnTo>
                <a:lnTo>
                  <a:pt x="164306" y="25003"/>
                </a:lnTo>
                <a:cubicBezTo>
                  <a:pt x="164306" y="11207"/>
                  <a:pt x="153099" y="0"/>
                  <a:pt x="139303" y="0"/>
                </a:cubicBezTo>
                <a:lnTo>
                  <a:pt x="89297" y="0"/>
                </a:lnTo>
                <a:cubicBezTo>
                  <a:pt x="75501" y="0"/>
                  <a:pt x="64294" y="11207"/>
                  <a:pt x="64294" y="25003"/>
                </a:cubicBezTo>
                <a:close/>
                <a:moveTo>
                  <a:pt x="228600" y="135731"/>
                </a:moveTo>
                <a:lnTo>
                  <a:pt x="142875" y="135731"/>
                </a:lnTo>
                <a:lnTo>
                  <a:pt x="142875" y="142875"/>
                </a:lnTo>
                <a:cubicBezTo>
                  <a:pt x="142875" y="150778"/>
                  <a:pt x="136490" y="157163"/>
                  <a:pt x="128588" y="157163"/>
                </a:cubicBezTo>
                <a:lnTo>
                  <a:pt x="100013" y="157163"/>
                </a:lnTo>
                <a:cubicBezTo>
                  <a:pt x="92110" y="157163"/>
                  <a:pt x="85725" y="150778"/>
                  <a:pt x="85725" y="142875"/>
                </a:cubicBezTo>
                <a:lnTo>
                  <a:pt x="85725" y="135731"/>
                </a:lnTo>
                <a:lnTo>
                  <a:pt x="0" y="135731"/>
                </a:lnTo>
                <a:lnTo>
                  <a:pt x="0" y="185738"/>
                </a:lnTo>
                <a:cubicBezTo>
                  <a:pt x="0" y="201498"/>
                  <a:pt x="12814" y="214313"/>
                  <a:pt x="28575" y="214313"/>
                </a:cubicBezTo>
                <a:lnTo>
                  <a:pt x="200025" y="214313"/>
                </a:lnTo>
                <a:cubicBezTo>
                  <a:pt x="215786" y="214313"/>
                  <a:pt x="228600" y="201498"/>
                  <a:pt x="228600" y="185738"/>
                </a:cubicBezTo>
                <a:lnTo>
                  <a:pt x="228600" y="135731"/>
                </a:lnTo>
                <a:close/>
              </a:path>
            </a:pathLst>
          </a:custGeom>
          <a:solidFill>
            <a:srgbClr val="34C759"/>
          </a:solidFill>
          <a:ln/>
        </p:spPr>
      </p:sp>
      <p:sp>
        <p:nvSpPr>
          <p:cNvPr id="9" name="Text 7"/>
          <p:cNvSpPr/>
          <p:nvPr/>
        </p:nvSpPr>
        <p:spPr>
          <a:xfrm>
            <a:off x="933450" y="1485900"/>
            <a:ext cx="4933950" cy="304800"/>
          </a:xfrm>
          <a:prstGeom prst="rect">
            <a:avLst/>
          </a:prstGeom>
          <a:noFill/>
          <a:ln/>
        </p:spPr>
        <p:txBody>
          <a:bodyPr wrap="square" lIns="0" tIns="0" rIns="0" bIns="0" rtlCol="0" anchor="ctr"/>
          <a:lstStyle/>
          <a:p>
            <a:pPr>
              <a:lnSpc>
                <a:spcPct val="110000"/>
              </a:lnSpc>
            </a:pPr>
            <a:r>
              <a:rPr lang="en-US" sz="1800" b="1" dirty="0">
                <a:solidFill>
                  <a:srgbClr val="34C759"/>
                </a:solidFill>
                <a:latin typeface="Liter" pitchFamily="34" charset="0"/>
                <a:ea typeface="Liter" pitchFamily="34" charset="-122"/>
                <a:cs typeface="Liter" pitchFamily="34" charset="-120"/>
              </a:rPr>
              <a:t>Career Paths</a:t>
            </a:r>
            <a:endParaRPr lang="en-US" sz="1600" dirty="0"/>
          </a:p>
        </p:txBody>
      </p:sp>
      <p:sp>
        <p:nvSpPr>
          <p:cNvPr id="10" name="Shape 8"/>
          <p:cNvSpPr/>
          <p:nvPr/>
        </p:nvSpPr>
        <p:spPr>
          <a:xfrm>
            <a:off x="647700" y="1981079"/>
            <a:ext cx="5105400" cy="876300"/>
          </a:xfrm>
          <a:prstGeom prst="roundRect">
            <a:avLst>
              <a:gd name="adj" fmla="val 13043"/>
            </a:avLst>
          </a:prstGeom>
          <a:solidFill>
            <a:srgbClr val="1A1D21"/>
          </a:solidFill>
          <a:ln/>
        </p:spPr>
      </p:sp>
      <p:sp>
        <p:nvSpPr>
          <p:cNvPr id="11" name="Text 9"/>
          <p:cNvSpPr/>
          <p:nvPr/>
        </p:nvSpPr>
        <p:spPr>
          <a:xfrm>
            <a:off x="800100" y="2133479"/>
            <a:ext cx="1495425" cy="266700"/>
          </a:xfrm>
          <a:prstGeom prst="rect">
            <a:avLst/>
          </a:prstGeom>
          <a:noFill/>
          <a:ln/>
        </p:spPr>
        <p:txBody>
          <a:bodyPr wrap="square" lIns="0" tIns="0" rIns="0" bIns="0" rtlCol="0" anchor="ctr"/>
          <a:lstStyle/>
          <a:p>
            <a:pPr>
              <a:lnSpc>
                <a:spcPct val="130000"/>
              </a:lnSpc>
            </a:pPr>
            <a:r>
              <a:rPr lang="en-US" sz="1350" b="1" dirty="0">
                <a:solidFill>
                  <a:srgbClr val="34C759"/>
                </a:solidFill>
                <a:latin typeface="Liter" pitchFamily="34" charset="0"/>
                <a:ea typeface="Liter" pitchFamily="34" charset="-122"/>
                <a:cs typeface="Liter" pitchFamily="34" charset="-120"/>
              </a:rPr>
              <a:t>Android Developer</a:t>
            </a:r>
            <a:endParaRPr lang="en-US" sz="1600" dirty="0"/>
          </a:p>
        </p:txBody>
      </p:sp>
      <p:sp>
        <p:nvSpPr>
          <p:cNvPr id="12" name="Text 10"/>
          <p:cNvSpPr/>
          <p:nvPr/>
        </p:nvSpPr>
        <p:spPr>
          <a:xfrm>
            <a:off x="4715232" y="2152529"/>
            <a:ext cx="962025" cy="228600"/>
          </a:xfrm>
          <a:prstGeom prst="rect">
            <a:avLst/>
          </a:prstGeom>
          <a:noFill/>
          <a:ln/>
        </p:spPr>
        <p:txBody>
          <a:bodyPr wrap="square" lIns="0" tIns="0" rIns="0" bIns="0" rtlCol="0" anchor="ctr"/>
          <a:lstStyle/>
          <a:p>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$70K - $140K</a:t>
            </a:r>
            <a:endParaRPr lang="en-US" sz="1600" dirty="0"/>
          </a:p>
        </p:txBody>
      </p:sp>
      <p:sp>
        <p:nvSpPr>
          <p:cNvPr id="13" name="Text 11"/>
          <p:cNvSpPr/>
          <p:nvPr/>
        </p:nvSpPr>
        <p:spPr>
          <a:xfrm>
            <a:off x="800100" y="2476379"/>
            <a:ext cx="48768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Build apps for Android devices using Java or Kotlin</a:t>
            </a:r>
            <a:endParaRPr lang="en-US" sz="1600" dirty="0"/>
          </a:p>
        </p:txBody>
      </p:sp>
      <p:sp>
        <p:nvSpPr>
          <p:cNvPr id="14" name="Shape 12"/>
          <p:cNvSpPr/>
          <p:nvPr/>
        </p:nvSpPr>
        <p:spPr>
          <a:xfrm>
            <a:off x="647700" y="3009779"/>
            <a:ext cx="5105400" cy="876300"/>
          </a:xfrm>
          <a:prstGeom prst="roundRect">
            <a:avLst>
              <a:gd name="adj" fmla="val 13043"/>
            </a:avLst>
          </a:prstGeom>
          <a:solidFill>
            <a:srgbClr val="1A1D21"/>
          </a:solidFill>
          <a:ln/>
        </p:spPr>
      </p:sp>
      <p:sp>
        <p:nvSpPr>
          <p:cNvPr id="15" name="Text 13"/>
          <p:cNvSpPr/>
          <p:nvPr/>
        </p:nvSpPr>
        <p:spPr>
          <a:xfrm>
            <a:off x="800100" y="3162179"/>
            <a:ext cx="1162050" cy="266700"/>
          </a:xfrm>
          <a:prstGeom prst="rect">
            <a:avLst/>
          </a:prstGeom>
          <a:noFill/>
          <a:ln/>
        </p:spPr>
        <p:txBody>
          <a:bodyPr wrap="square" lIns="0" tIns="0" rIns="0" bIns="0" rtlCol="0" anchor="ctr"/>
          <a:lstStyle/>
          <a:p>
            <a:pPr>
              <a:lnSpc>
                <a:spcPct val="130000"/>
              </a:lnSpc>
            </a:pPr>
            <a:r>
              <a:rPr lang="en-US" sz="1350" b="1" dirty="0">
                <a:solidFill>
                  <a:srgbClr val="0A84FF"/>
                </a:solidFill>
                <a:latin typeface="Liter" pitchFamily="34" charset="0"/>
                <a:ea typeface="Liter" pitchFamily="34" charset="-122"/>
                <a:cs typeface="Liter" pitchFamily="34" charset="-120"/>
              </a:rPr>
              <a:t>iOS Developer</a:t>
            </a:r>
            <a:endParaRPr lang="en-US" sz="1600" dirty="0"/>
          </a:p>
        </p:txBody>
      </p:sp>
      <p:sp>
        <p:nvSpPr>
          <p:cNvPr id="16" name="Text 14"/>
          <p:cNvSpPr/>
          <p:nvPr/>
        </p:nvSpPr>
        <p:spPr>
          <a:xfrm>
            <a:off x="4695230" y="3181229"/>
            <a:ext cx="981075" cy="228600"/>
          </a:xfrm>
          <a:prstGeom prst="rect">
            <a:avLst/>
          </a:prstGeom>
          <a:noFill/>
          <a:ln/>
        </p:spPr>
        <p:txBody>
          <a:bodyPr wrap="square" lIns="0" tIns="0" rIns="0" bIns="0" rtlCol="0" anchor="ctr"/>
          <a:lstStyle/>
          <a:p>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$80K - $150K</a:t>
            </a:r>
            <a:endParaRPr lang="en-US" sz="1600" dirty="0"/>
          </a:p>
        </p:txBody>
      </p:sp>
      <p:sp>
        <p:nvSpPr>
          <p:cNvPr id="17" name="Text 15"/>
          <p:cNvSpPr/>
          <p:nvPr/>
        </p:nvSpPr>
        <p:spPr>
          <a:xfrm>
            <a:off x="800100" y="3505079"/>
            <a:ext cx="48768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Create apps for iPhone and iPad using Swift</a:t>
            </a:r>
            <a:endParaRPr lang="en-US" sz="1600" dirty="0"/>
          </a:p>
        </p:txBody>
      </p:sp>
      <p:sp>
        <p:nvSpPr>
          <p:cNvPr id="18" name="Shape 16"/>
          <p:cNvSpPr/>
          <p:nvPr/>
        </p:nvSpPr>
        <p:spPr>
          <a:xfrm>
            <a:off x="647700" y="4038479"/>
            <a:ext cx="5105400" cy="876300"/>
          </a:xfrm>
          <a:prstGeom prst="roundRect">
            <a:avLst>
              <a:gd name="adj" fmla="val 13043"/>
            </a:avLst>
          </a:prstGeom>
          <a:solidFill>
            <a:srgbClr val="1A1D21"/>
          </a:solidFill>
          <a:ln/>
        </p:spPr>
      </p:sp>
      <p:sp>
        <p:nvSpPr>
          <p:cNvPr id="19" name="Text 17"/>
          <p:cNvSpPr/>
          <p:nvPr/>
        </p:nvSpPr>
        <p:spPr>
          <a:xfrm>
            <a:off x="800100" y="4190879"/>
            <a:ext cx="2057400" cy="266700"/>
          </a:xfrm>
          <a:prstGeom prst="rect">
            <a:avLst/>
          </a:prstGeom>
          <a:noFill/>
          <a:ln/>
        </p:spPr>
        <p:txBody>
          <a:bodyPr wrap="square" lIns="0" tIns="0" rIns="0" bIns="0" rtlCol="0" anchor="ctr"/>
          <a:lstStyle/>
          <a:p>
            <a:pPr>
              <a:lnSpc>
                <a:spcPct val="130000"/>
              </a:lnSpc>
            </a:pPr>
            <a:r>
              <a:rPr lang="en-US" sz="1350" b="1" dirty="0">
                <a:solidFill>
                  <a:srgbClr val="8E8E93"/>
                </a:solidFill>
                <a:latin typeface="Liter" pitchFamily="34" charset="0"/>
                <a:ea typeface="Liter" pitchFamily="34" charset="-122"/>
                <a:cs typeface="Liter" pitchFamily="34" charset="-120"/>
              </a:rPr>
              <a:t>Cross-Platform Developer</a:t>
            </a:r>
            <a:endParaRPr lang="en-US" sz="1600" dirty="0"/>
          </a:p>
        </p:txBody>
      </p:sp>
      <p:sp>
        <p:nvSpPr>
          <p:cNvPr id="20" name="Text 18"/>
          <p:cNvSpPr/>
          <p:nvPr/>
        </p:nvSpPr>
        <p:spPr>
          <a:xfrm>
            <a:off x="4749046" y="4209929"/>
            <a:ext cx="923925" cy="228600"/>
          </a:xfrm>
          <a:prstGeom prst="rect">
            <a:avLst/>
          </a:prstGeom>
          <a:noFill/>
          <a:ln/>
        </p:spPr>
        <p:txBody>
          <a:bodyPr wrap="square" lIns="0" tIns="0" rIns="0" bIns="0" rtlCol="0" anchor="ctr"/>
          <a:lstStyle/>
          <a:p>
            <a:pPr>
              <a:lnSpc>
                <a:spcPct val="130000"/>
              </a:lnSpc>
            </a:pPr>
            <a:r>
              <a:rPr lang="en-US" sz="1200" b="1" dirty="0">
                <a:solidFill>
                  <a:srgbClr val="8E8E93"/>
                </a:solidFill>
                <a:latin typeface="Quattrocento Sans" pitchFamily="34" charset="0"/>
                <a:ea typeface="Quattrocento Sans" pitchFamily="34" charset="-122"/>
                <a:cs typeface="Quattrocento Sans" pitchFamily="34" charset="-120"/>
              </a:rPr>
              <a:t>$75K - $145K</a:t>
            </a:r>
            <a:endParaRPr lang="en-US" sz="1600" dirty="0"/>
          </a:p>
        </p:txBody>
      </p:sp>
      <p:sp>
        <p:nvSpPr>
          <p:cNvPr id="21" name="Text 19"/>
          <p:cNvSpPr/>
          <p:nvPr/>
        </p:nvSpPr>
        <p:spPr>
          <a:xfrm>
            <a:off x="800100" y="4533779"/>
            <a:ext cx="48768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Build apps for both platforms using Flutter or React Native</a:t>
            </a:r>
            <a:endParaRPr lang="en-US" sz="1600" dirty="0"/>
          </a:p>
        </p:txBody>
      </p:sp>
      <p:sp>
        <p:nvSpPr>
          <p:cNvPr id="22" name="Shape 20"/>
          <p:cNvSpPr/>
          <p:nvPr/>
        </p:nvSpPr>
        <p:spPr>
          <a:xfrm>
            <a:off x="384810" y="5299589"/>
            <a:ext cx="5589270" cy="1512570"/>
          </a:xfrm>
          <a:prstGeom prst="roundRect">
            <a:avLst>
              <a:gd name="adj" fmla="val 10076"/>
            </a:avLst>
          </a:prstGeom>
          <a:solidFill>
            <a:srgbClr val="0A84FF">
              <a:alpha val="10196"/>
            </a:srgbClr>
          </a:solidFill>
          <a:ln w="10160">
            <a:solidFill>
              <a:srgbClr val="0A84FF">
                <a:alpha val="30196"/>
              </a:srgbClr>
            </a:solidFill>
            <a:prstDash val="solid"/>
          </a:ln>
        </p:spPr>
      </p:sp>
      <p:sp>
        <p:nvSpPr>
          <p:cNvPr id="23" name="Shape 21"/>
          <p:cNvSpPr/>
          <p:nvPr/>
        </p:nvSpPr>
        <p:spPr>
          <a:xfrm>
            <a:off x="602932" y="5541532"/>
            <a:ext cx="171450" cy="171450"/>
          </a:xfrm>
          <a:custGeom>
            <a:avLst/>
            <a:gdLst/>
            <a:ahLst/>
            <a:cxnLst/>
            <a:rect l="l" t="t" r="r" b="b"/>
            <a:pathLst>
              <a:path w="171450" h="171450">
                <a:moveTo>
                  <a:pt x="85725" y="160734"/>
                </a:moveTo>
                <a:cubicBezTo>
                  <a:pt x="133075" y="160734"/>
                  <a:pt x="171450" y="124737"/>
                  <a:pt x="171450" y="80367"/>
                </a:cubicBezTo>
                <a:cubicBezTo>
                  <a:pt x="171450" y="35998"/>
                  <a:pt x="133075" y="0"/>
                  <a:pt x="85725" y="0"/>
                </a:cubicBezTo>
                <a:cubicBezTo>
                  <a:pt x="38375" y="0"/>
                  <a:pt x="0" y="35998"/>
                  <a:pt x="0" y="80367"/>
                </a:cubicBezTo>
                <a:cubicBezTo>
                  <a:pt x="0" y="98550"/>
                  <a:pt x="6429" y="115293"/>
                  <a:pt x="17279" y="128755"/>
                </a:cubicBezTo>
                <a:lnTo>
                  <a:pt x="938" y="159663"/>
                </a:lnTo>
                <a:cubicBezTo>
                  <a:pt x="-670" y="162677"/>
                  <a:pt x="-167" y="166360"/>
                  <a:pt x="2143" y="168872"/>
                </a:cubicBezTo>
                <a:cubicBezTo>
                  <a:pt x="4454" y="171383"/>
                  <a:pt x="8104" y="172153"/>
                  <a:pt x="11218" y="170814"/>
                </a:cubicBezTo>
                <a:lnTo>
                  <a:pt x="50866" y="153836"/>
                </a:lnTo>
                <a:cubicBezTo>
                  <a:pt x="61514" y="158256"/>
                  <a:pt x="73302" y="160734"/>
                  <a:pt x="85725" y="160734"/>
                </a:cubicBezTo>
                <a:close/>
                <a:moveTo>
                  <a:pt x="42863" y="69652"/>
                </a:moveTo>
                <a:cubicBezTo>
                  <a:pt x="48777" y="69652"/>
                  <a:pt x="53578" y="74453"/>
                  <a:pt x="53578" y="80367"/>
                </a:cubicBezTo>
                <a:cubicBezTo>
                  <a:pt x="53578" y="86281"/>
                  <a:pt x="48777" y="91083"/>
                  <a:pt x="42863" y="91083"/>
                </a:cubicBezTo>
                <a:cubicBezTo>
                  <a:pt x="36948" y="91083"/>
                  <a:pt x="32147" y="86281"/>
                  <a:pt x="32147" y="80367"/>
                </a:cubicBezTo>
                <a:cubicBezTo>
                  <a:pt x="32147" y="74453"/>
                  <a:pt x="36948" y="69652"/>
                  <a:pt x="42863" y="69652"/>
                </a:cubicBezTo>
                <a:close/>
                <a:moveTo>
                  <a:pt x="85725" y="69652"/>
                </a:moveTo>
                <a:cubicBezTo>
                  <a:pt x="91639" y="69652"/>
                  <a:pt x="96441" y="74453"/>
                  <a:pt x="96441" y="80367"/>
                </a:cubicBezTo>
                <a:cubicBezTo>
                  <a:pt x="96441" y="86281"/>
                  <a:pt x="91639" y="91083"/>
                  <a:pt x="85725" y="91083"/>
                </a:cubicBezTo>
                <a:cubicBezTo>
                  <a:pt x="79811" y="91083"/>
                  <a:pt x="75009" y="86281"/>
                  <a:pt x="75009" y="80367"/>
                </a:cubicBezTo>
                <a:cubicBezTo>
                  <a:pt x="75009" y="74453"/>
                  <a:pt x="79811" y="69652"/>
                  <a:pt x="85725" y="69652"/>
                </a:cubicBezTo>
                <a:close/>
                <a:moveTo>
                  <a:pt x="117872" y="80367"/>
                </a:moveTo>
                <a:cubicBezTo>
                  <a:pt x="117872" y="74453"/>
                  <a:pt x="122673" y="69652"/>
                  <a:pt x="128588" y="69652"/>
                </a:cubicBezTo>
                <a:cubicBezTo>
                  <a:pt x="134502" y="69652"/>
                  <a:pt x="139303" y="74453"/>
                  <a:pt x="139303" y="80367"/>
                </a:cubicBezTo>
                <a:cubicBezTo>
                  <a:pt x="139303" y="86281"/>
                  <a:pt x="134502" y="91083"/>
                  <a:pt x="128588" y="91083"/>
                </a:cubicBezTo>
                <a:cubicBezTo>
                  <a:pt x="122673" y="91083"/>
                  <a:pt x="117872" y="86281"/>
                  <a:pt x="117872" y="80367"/>
                </a:cubicBezTo>
                <a:close/>
              </a:path>
            </a:pathLst>
          </a:custGeom>
          <a:solidFill>
            <a:srgbClr val="0A84FF"/>
          </a:solidFill>
          <a:ln/>
        </p:spPr>
      </p:sp>
      <p:sp>
        <p:nvSpPr>
          <p:cNvPr id="24" name="Text 22"/>
          <p:cNvSpPr/>
          <p:nvPr/>
        </p:nvSpPr>
        <p:spPr>
          <a:xfrm>
            <a:off x="798195" y="5493907"/>
            <a:ext cx="5067300" cy="266700"/>
          </a:xfrm>
          <a:prstGeom prst="rect">
            <a:avLst/>
          </a:prstGeom>
          <a:noFill/>
          <a:ln/>
        </p:spPr>
        <p:txBody>
          <a:bodyPr wrap="square" lIns="0" tIns="0" rIns="0" bIns="0" rtlCol="0" anchor="ctr"/>
          <a:lstStyle/>
          <a:p>
            <a:pPr>
              <a:lnSpc>
                <a:spcPct val="130000"/>
              </a:lnSpc>
            </a:pPr>
            <a:r>
              <a:rPr lang="en-US" sz="1350"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25" name="Text 23"/>
          <p:cNvSpPr/>
          <p:nvPr/>
        </p:nvSpPr>
        <p:spPr>
          <a:xfrm>
            <a:off x="579120" y="5874907"/>
            <a:ext cx="5276850" cy="742950"/>
          </a:xfrm>
          <a:prstGeom prst="rect">
            <a:avLst/>
          </a:prstGeom>
          <a:noFill/>
          <a:ln/>
        </p:spPr>
        <p:txBody>
          <a:bodyPr wrap="square" lIns="0" tIns="0" rIns="0" bIns="0" rtlCol="0" anchor="ctr"/>
          <a:lstStyle/>
          <a:p>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Mobile development offers </a:t>
            </a:r>
            <a:pPr>
              <a:lnSpc>
                <a:spcPct val="140000"/>
              </a:lnSpc>
            </a:pPr>
            <a:r>
              <a:rPr lang="en-US" sz="1200" b="1" dirty="0">
                <a:solidFill>
                  <a:srgbClr val="34C759"/>
                </a:solidFill>
                <a:latin typeface="Quattrocento Sans" pitchFamily="34" charset="0"/>
                <a:ea typeface="Quattrocento Sans" pitchFamily="34" charset="-122"/>
                <a:cs typeface="Quattrocento Sans" pitchFamily="34" charset="-120"/>
              </a:rPr>
              <a:t>some of the highest-paying jobs</a:t>
            </a:r>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 in tech. Companies are desperate for skilled developers, and you can work from anywhere in the world.</a:t>
            </a:r>
            <a:endParaRPr lang="en-US" sz="1600" dirty="0"/>
          </a:p>
        </p:txBody>
      </p:sp>
      <p:sp>
        <p:nvSpPr>
          <p:cNvPr id="26" name="Shape 24"/>
          <p:cNvSpPr/>
          <p:nvPr/>
        </p:nvSpPr>
        <p:spPr>
          <a:xfrm>
            <a:off x="6229350" y="1257300"/>
            <a:ext cx="5581650" cy="4114800"/>
          </a:xfrm>
          <a:custGeom>
            <a:avLst/>
            <a:gdLst/>
            <a:ahLst/>
            <a:cxnLst/>
            <a:rect l="l" t="t" r="r" b="b"/>
            <a:pathLst>
              <a:path w="5581650" h="4114800">
                <a:moveTo>
                  <a:pt x="38100" y="0"/>
                </a:moveTo>
                <a:lnTo>
                  <a:pt x="5429250" y="0"/>
                </a:lnTo>
                <a:cubicBezTo>
                  <a:pt x="5513362" y="0"/>
                  <a:pt x="5581650" y="68288"/>
                  <a:pt x="5581650" y="152400"/>
                </a:cubicBezTo>
                <a:lnTo>
                  <a:pt x="5581650" y="3962400"/>
                </a:lnTo>
                <a:cubicBezTo>
                  <a:pt x="5581650" y="4046512"/>
                  <a:pt x="5513362" y="4114800"/>
                  <a:pt x="5429250" y="4114800"/>
                </a:cubicBezTo>
                <a:lnTo>
                  <a:pt x="38100" y="4114800"/>
                </a:lnTo>
                <a:cubicBezTo>
                  <a:pt x="17072" y="4114800"/>
                  <a:pt x="0" y="4097728"/>
                  <a:pt x="0" y="4076700"/>
                </a:cubicBezTo>
                <a:lnTo>
                  <a:pt x="0" y="38100"/>
                </a:lnTo>
                <a:cubicBezTo>
                  <a:pt x="0" y="17072"/>
                  <a:pt x="17072" y="0"/>
                  <a:pt x="38100" y="0"/>
                </a:cubicBezTo>
                <a:close/>
              </a:path>
            </a:pathLst>
          </a:custGeom>
          <a:solidFill>
            <a:srgbClr val="2C2C2E"/>
          </a:solidFill>
          <a:ln/>
        </p:spPr>
      </p:sp>
      <p:sp>
        <p:nvSpPr>
          <p:cNvPr id="27" name="Shape 25"/>
          <p:cNvSpPr/>
          <p:nvPr/>
        </p:nvSpPr>
        <p:spPr>
          <a:xfrm>
            <a:off x="6229350" y="1257300"/>
            <a:ext cx="38100" cy="4114800"/>
          </a:xfrm>
          <a:custGeom>
            <a:avLst/>
            <a:gdLst/>
            <a:ahLst/>
            <a:cxnLst/>
            <a:rect l="l" t="t" r="r" b="b"/>
            <a:pathLst>
              <a:path w="38100" h="4114800">
                <a:moveTo>
                  <a:pt x="38100" y="0"/>
                </a:moveTo>
                <a:lnTo>
                  <a:pt x="38100" y="0"/>
                </a:lnTo>
                <a:lnTo>
                  <a:pt x="38100" y="4114800"/>
                </a:lnTo>
                <a:lnTo>
                  <a:pt x="38100" y="4114800"/>
                </a:lnTo>
                <a:cubicBezTo>
                  <a:pt x="17072" y="4114800"/>
                  <a:pt x="0" y="4097728"/>
                  <a:pt x="0" y="4076700"/>
                </a:cubicBezTo>
                <a:lnTo>
                  <a:pt x="0" y="38100"/>
                </a:lnTo>
                <a:cubicBezTo>
                  <a:pt x="0" y="17072"/>
                  <a:pt x="17072" y="0"/>
                  <a:pt x="38100" y="0"/>
                </a:cubicBezTo>
                <a:close/>
              </a:path>
            </a:pathLst>
          </a:custGeom>
          <a:solidFill>
            <a:srgbClr val="FF9500"/>
          </a:solidFill>
          <a:ln/>
        </p:spPr>
      </p:sp>
      <p:sp>
        <p:nvSpPr>
          <p:cNvPr id="28" name="Shape 26"/>
          <p:cNvSpPr/>
          <p:nvPr/>
        </p:nvSpPr>
        <p:spPr>
          <a:xfrm>
            <a:off x="6505575" y="1523879"/>
            <a:ext cx="228600" cy="228600"/>
          </a:xfrm>
          <a:custGeom>
            <a:avLst/>
            <a:gdLst/>
            <a:ahLst/>
            <a:cxnLst/>
            <a:rect l="l" t="t" r="r" b="b"/>
            <a:pathLst>
              <a:path w="228600" h="228600">
                <a:moveTo>
                  <a:pt x="28575" y="28575"/>
                </a:moveTo>
                <a:cubicBezTo>
                  <a:pt x="28575" y="20672"/>
                  <a:pt x="22190" y="14288"/>
                  <a:pt x="14288" y="14288"/>
                </a:cubicBezTo>
                <a:cubicBezTo>
                  <a:pt x="6385" y="14288"/>
                  <a:pt x="0" y="20672"/>
                  <a:pt x="0" y="28575"/>
                </a:cubicBezTo>
                <a:lnTo>
                  <a:pt x="0" y="178594"/>
                </a:lnTo>
                <a:cubicBezTo>
                  <a:pt x="0" y="198328"/>
                  <a:pt x="15984" y="214313"/>
                  <a:pt x="35719" y="214313"/>
                </a:cubicBezTo>
                <a:lnTo>
                  <a:pt x="214313" y="214313"/>
                </a:lnTo>
                <a:cubicBezTo>
                  <a:pt x="222215" y="214313"/>
                  <a:pt x="228600" y="207928"/>
                  <a:pt x="228600" y="200025"/>
                </a:cubicBezTo>
                <a:cubicBezTo>
                  <a:pt x="228600" y="192122"/>
                  <a:pt x="222215" y="185738"/>
                  <a:pt x="214313" y="185738"/>
                </a:cubicBezTo>
                <a:lnTo>
                  <a:pt x="35719" y="185738"/>
                </a:lnTo>
                <a:cubicBezTo>
                  <a:pt x="31790" y="185738"/>
                  <a:pt x="28575" y="182523"/>
                  <a:pt x="28575" y="178594"/>
                </a:cubicBezTo>
                <a:lnTo>
                  <a:pt x="28575" y="28575"/>
                </a:lnTo>
                <a:close/>
                <a:moveTo>
                  <a:pt x="210116" y="67241"/>
                </a:moveTo>
                <a:cubicBezTo>
                  <a:pt x="215697" y="61659"/>
                  <a:pt x="215697" y="52596"/>
                  <a:pt x="210116" y="47015"/>
                </a:cubicBezTo>
                <a:cubicBezTo>
                  <a:pt x="204534" y="41434"/>
                  <a:pt x="195471" y="41434"/>
                  <a:pt x="189890" y="47015"/>
                </a:cubicBezTo>
                <a:lnTo>
                  <a:pt x="142875" y="94074"/>
                </a:lnTo>
                <a:lnTo>
                  <a:pt x="117247" y="68491"/>
                </a:lnTo>
                <a:cubicBezTo>
                  <a:pt x="111666" y="62910"/>
                  <a:pt x="102602" y="62910"/>
                  <a:pt x="97021" y="68491"/>
                </a:cubicBezTo>
                <a:lnTo>
                  <a:pt x="54159" y="111353"/>
                </a:lnTo>
                <a:cubicBezTo>
                  <a:pt x="48578" y="116934"/>
                  <a:pt x="48578" y="125998"/>
                  <a:pt x="54159" y="131579"/>
                </a:cubicBezTo>
                <a:cubicBezTo>
                  <a:pt x="59740" y="137160"/>
                  <a:pt x="68803" y="137160"/>
                  <a:pt x="74384" y="131579"/>
                </a:cubicBezTo>
                <a:lnTo>
                  <a:pt x="107156" y="98807"/>
                </a:lnTo>
                <a:lnTo>
                  <a:pt x="132784" y="124435"/>
                </a:lnTo>
                <a:cubicBezTo>
                  <a:pt x="138366" y="130016"/>
                  <a:pt x="147429" y="130016"/>
                  <a:pt x="153010" y="124435"/>
                </a:cubicBezTo>
                <a:lnTo>
                  <a:pt x="210160" y="67285"/>
                </a:lnTo>
                <a:close/>
              </a:path>
            </a:pathLst>
          </a:custGeom>
          <a:solidFill>
            <a:srgbClr val="FF9500"/>
          </a:solidFill>
          <a:ln/>
        </p:spPr>
      </p:sp>
      <p:sp>
        <p:nvSpPr>
          <p:cNvPr id="29" name="Text 27"/>
          <p:cNvSpPr/>
          <p:nvPr/>
        </p:nvSpPr>
        <p:spPr>
          <a:xfrm>
            <a:off x="6762750" y="1485900"/>
            <a:ext cx="4933950" cy="304800"/>
          </a:xfrm>
          <a:prstGeom prst="rect">
            <a:avLst/>
          </a:prstGeom>
          <a:noFill/>
          <a:ln/>
        </p:spPr>
        <p:txBody>
          <a:bodyPr wrap="square" lIns="0" tIns="0" rIns="0" bIns="0" rtlCol="0" anchor="ctr"/>
          <a:lstStyle/>
          <a:p>
            <a:pPr>
              <a:lnSpc>
                <a:spcPct val="110000"/>
              </a:lnSpc>
            </a:pPr>
            <a:r>
              <a:rPr lang="en-US" sz="1800" b="1" dirty="0">
                <a:solidFill>
                  <a:srgbClr val="FF9500"/>
                </a:solidFill>
                <a:latin typeface="Liter" pitchFamily="34" charset="0"/>
                <a:ea typeface="Liter" pitchFamily="34" charset="-122"/>
                <a:cs typeface="Liter" pitchFamily="34" charset="-120"/>
              </a:rPr>
              <a:t>Job Market Stats</a:t>
            </a:r>
            <a:endParaRPr lang="en-US" sz="1600" dirty="0"/>
          </a:p>
        </p:txBody>
      </p:sp>
      <p:sp>
        <p:nvSpPr>
          <p:cNvPr id="30" name="Shape 28"/>
          <p:cNvSpPr/>
          <p:nvPr/>
        </p:nvSpPr>
        <p:spPr>
          <a:xfrm>
            <a:off x="6477000" y="1981079"/>
            <a:ext cx="2476500" cy="1143000"/>
          </a:xfrm>
          <a:prstGeom prst="roundRect">
            <a:avLst>
              <a:gd name="adj" fmla="val 10000"/>
            </a:avLst>
          </a:prstGeom>
          <a:solidFill>
            <a:srgbClr val="1A1D21"/>
          </a:solidFill>
          <a:ln/>
        </p:spPr>
      </p:sp>
      <p:sp>
        <p:nvSpPr>
          <p:cNvPr id="31" name="Text 29"/>
          <p:cNvSpPr/>
          <p:nvPr/>
        </p:nvSpPr>
        <p:spPr>
          <a:xfrm>
            <a:off x="6557963" y="2133479"/>
            <a:ext cx="2314575" cy="342900"/>
          </a:xfrm>
          <a:prstGeom prst="rect">
            <a:avLst/>
          </a:prstGeom>
          <a:noFill/>
          <a:ln/>
        </p:spPr>
        <p:txBody>
          <a:bodyPr wrap="square" lIns="0" tIns="0" rIns="0" bIns="0" rtlCol="0" anchor="ctr"/>
          <a:lstStyle/>
          <a:p>
            <a:pPr algn="ctr">
              <a:lnSpc>
                <a:spcPct val="100000"/>
              </a:lnSpc>
            </a:pPr>
            <a:r>
              <a:rPr lang="en-US" sz="2250" b="1" dirty="0">
                <a:solidFill>
                  <a:srgbClr val="34C759"/>
                </a:solidFill>
                <a:latin typeface="Liter" pitchFamily="34" charset="0"/>
                <a:ea typeface="Liter" pitchFamily="34" charset="-122"/>
                <a:cs typeface="Liter" pitchFamily="34" charset="-120"/>
              </a:rPr>
              <a:t>25%</a:t>
            </a:r>
            <a:endParaRPr lang="en-US" sz="1600" dirty="0"/>
          </a:p>
        </p:txBody>
      </p:sp>
      <p:sp>
        <p:nvSpPr>
          <p:cNvPr id="32" name="Text 30"/>
          <p:cNvSpPr/>
          <p:nvPr/>
        </p:nvSpPr>
        <p:spPr>
          <a:xfrm>
            <a:off x="6591300" y="2552579"/>
            <a:ext cx="2247900" cy="228600"/>
          </a:xfrm>
          <a:prstGeom prst="rect">
            <a:avLst/>
          </a:prstGeom>
          <a:noFill/>
          <a:ln/>
        </p:spPr>
        <p:txBody>
          <a:bodyPr wrap="square" lIns="0" tIns="0" rIns="0" bIns="0" rtlCol="0" anchor="ctr"/>
          <a:lstStyle/>
          <a:p>
            <a:pPr algn="ct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Job Growth</a:t>
            </a:r>
            <a:endParaRPr lang="en-US" sz="1600" dirty="0"/>
          </a:p>
        </p:txBody>
      </p:sp>
      <p:sp>
        <p:nvSpPr>
          <p:cNvPr id="33" name="Text 31"/>
          <p:cNvSpPr/>
          <p:nvPr/>
        </p:nvSpPr>
        <p:spPr>
          <a:xfrm>
            <a:off x="6596063" y="2781179"/>
            <a:ext cx="2238375" cy="190500"/>
          </a:xfrm>
          <a:prstGeom prst="rect">
            <a:avLst/>
          </a:prstGeom>
          <a:noFill/>
          <a:ln/>
        </p:spPr>
        <p:txBody>
          <a:bodyPr wrap="square" lIns="0" tIns="0" rIns="0" bIns="0" rtlCol="0" anchor="ctr"/>
          <a:lstStyle/>
          <a:p>
            <a:pPr algn="ctr">
              <a:lnSpc>
                <a:spcPct val="120000"/>
              </a:lnSpc>
            </a:pPr>
            <a:r>
              <a:rPr lang="en-US" sz="1050" dirty="0">
                <a:solidFill>
                  <a:srgbClr val="8E8E93"/>
                </a:solidFill>
                <a:latin typeface="Quattrocento Sans" pitchFamily="34" charset="0"/>
                <a:ea typeface="Quattrocento Sans" pitchFamily="34" charset="-122"/>
                <a:cs typeface="Quattrocento Sans" pitchFamily="34" charset="-120"/>
              </a:rPr>
              <a:t>Next 5 years</a:t>
            </a:r>
            <a:endParaRPr lang="en-US" sz="1600" dirty="0"/>
          </a:p>
        </p:txBody>
      </p:sp>
      <p:sp>
        <p:nvSpPr>
          <p:cNvPr id="34" name="Shape 32"/>
          <p:cNvSpPr/>
          <p:nvPr/>
        </p:nvSpPr>
        <p:spPr>
          <a:xfrm>
            <a:off x="9105900" y="1981079"/>
            <a:ext cx="2476500" cy="1143000"/>
          </a:xfrm>
          <a:prstGeom prst="roundRect">
            <a:avLst>
              <a:gd name="adj" fmla="val 10000"/>
            </a:avLst>
          </a:prstGeom>
          <a:solidFill>
            <a:srgbClr val="1A1D21"/>
          </a:solidFill>
          <a:ln/>
        </p:spPr>
      </p:sp>
      <p:sp>
        <p:nvSpPr>
          <p:cNvPr id="35" name="Text 33"/>
          <p:cNvSpPr/>
          <p:nvPr/>
        </p:nvSpPr>
        <p:spPr>
          <a:xfrm>
            <a:off x="9186863" y="2133479"/>
            <a:ext cx="2314575" cy="342900"/>
          </a:xfrm>
          <a:prstGeom prst="rect">
            <a:avLst/>
          </a:prstGeom>
          <a:noFill/>
          <a:ln/>
        </p:spPr>
        <p:txBody>
          <a:bodyPr wrap="square" lIns="0" tIns="0" rIns="0" bIns="0" rtlCol="0" anchor="ctr"/>
          <a:lstStyle/>
          <a:p>
            <a:pPr algn="ctr">
              <a:lnSpc>
                <a:spcPct val="100000"/>
              </a:lnSpc>
            </a:pPr>
            <a:r>
              <a:rPr lang="en-US" sz="2250" b="1" dirty="0">
                <a:solidFill>
                  <a:srgbClr val="0A84FF"/>
                </a:solidFill>
                <a:latin typeface="Liter" pitchFamily="34" charset="0"/>
                <a:ea typeface="Liter" pitchFamily="34" charset="-122"/>
                <a:cs typeface="Liter" pitchFamily="34" charset="-120"/>
              </a:rPr>
              <a:t>500K+</a:t>
            </a:r>
            <a:endParaRPr lang="en-US" sz="1600" dirty="0"/>
          </a:p>
        </p:txBody>
      </p:sp>
      <p:sp>
        <p:nvSpPr>
          <p:cNvPr id="36" name="Text 34"/>
          <p:cNvSpPr/>
          <p:nvPr/>
        </p:nvSpPr>
        <p:spPr>
          <a:xfrm>
            <a:off x="9220200" y="2552579"/>
            <a:ext cx="2247900" cy="228600"/>
          </a:xfrm>
          <a:prstGeom prst="rect">
            <a:avLst/>
          </a:prstGeom>
          <a:noFill/>
          <a:ln/>
        </p:spPr>
        <p:txBody>
          <a:bodyPr wrap="square" lIns="0" tIns="0" rIns="0" bIns="0" rtlCol="0" anchor="ctr"/>
          <a:lstStyle/>
          <a:p>
            <a:pPr algn="ct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Open Positions</a:t>
            </a:r>
            <a:endParaRPr lang="en-US" sz="1600" dirty="0"/>
          </a:p>
        </p:txBody>
      </p:sp>
      <p:sp>
        <p:nvSpPr>
          <p:cNvPr id="37" name="Text 35"/>
          <p:cNvSpPr/>
          <p:nvPr/>
        </p:nvSpPr>
        <p:spPr>
          <a:xfrm>
            <a:off x="9224963" y="2781179"/>
            <a:ext cx="2238375" cy="190500"/>
          </a:xfrm>
          <a:prstGeom prst="rect">
            <a:avLst/>
          </a:prstGeom>
          <a:noFill/>
          <a:ln/>
        </p:spPr>
        <p:txBody>
          <a:bodyPr wrap="square" lIns="0" tIns="0" rIns="0" bIns="0" rtlCol="0" anchor="ctr"/>
          <a:lstStyle/>
          <a:p>
            <a:pPr algn="ctr">
              <a:lnSpc>
                <a:spcPct val="120000"/>
              </a:lnSpc>
            </a:pPr>
            <a:r>
              <a:rPr lang="en-US" sz="1050" dirty="0">
                <a:solidFill>
                  <a:srgbClr val="8E8E93"/>
                </a:solidFill>
                <a:latin typeface="Quattrocento Sans" pitchFamily="34" charset="0"/>
                <a:ea typeface="Quattrocento Sans" pitchFamily="34" charset="-122"/>
                <a:cs typeface="Quattrocento Sans" pitchFamily="34" charset="-120"/>
              </a:rPr>
              <a:t>Worldwide</a:t>
            </a:r>
            <a:endParaRPr lang="en-US" sz="1600" dirty="0"/>
          </a:p>
        </p:txBody>
      </p:sp>
      <p:sp>
        <p:nvSpPr>
          <p:cNvPr id="38" name="Shape 36"/>
          <p:cNvSpPr/>
          <p:nvPr/>
        </p:nvSpPr>
        <p:spPr>
          <a:xfrm>
            <a:off x="6477000" y="3276479"/>
            <a:ext cx="2476500" cy="1143000"/>
          </a:xfrm>
          <a:prstGeom prst="roundRect">
            <a:avLst>
              <a:gd name="adj" fmla="val 10000"/>
            </a:avLst>
          </a:prstGeom>
          <a:solidFill>
            <a:srgbClr val="1A1D21"/>
          </a:solidFill>
          <a:ln/>
        </p:spPr>
      </p:sp>
      <p:sp>
        <p:nvSpPr>
          <p:cNvPr id="39" name="Text 37"/>
          <p:cNvSpPr/>
          <p:nvPr/>
        </p:nvSpPr>
        <p:spPr>
          <a:xfrm>
            <a:off x="6557963" y="3428879"/>
            <a:ext cx="2314575" cy="342900"/>
          </a:xfrm>
          <a:prstGeom prst="rect">
            <a:avLst/>
          </a:prstGeom>
          <a:noFill/>
          <a:ln/>
        </p:spPr>
        <p:txBody>
          <a:bodyPr wrap="square" lIns="0" tIns="0" rIns="0" bIns="0" rtlCol="0" anchor="ctr"/>
          <a:lstStyle/>
          <a:p>
            <a:pPr algn="ctr">
              <a:lnSpc>
                <a:spcPct val="100000"/>
              </a:lnSpc>
            </a:pPr>
            <a:r>
              <a:rPr lang="en-US" sz="2250" b="1" dirty="0">
                <a:solidFill>
                  <a:srgbClr val="FF9500"/>
                </a:solidFill>
                <a:latin typeface="Liter" pitchFamily="34" charset="0"/>
                <a:ea typeface="Liter" pitchFamily="34" charset="-122"/>
                <a:cs typeface="Liter" pitchFamily="34" charset="-120"/>
              </a:rPr>
              <a:t>$100K</a:t>
            </a:r>
            <a:endParaRPr lang="en-US" sz="1600" dirty="0"/>
          </a:p>
        </p:txBody>
      </p:sp>
      <p:sp>
        <p:nvSpPr>
          <p:cNvPr id="40" name="Text 38"/>
          <p:cNvSpPr/>
          <p:nvPr/>
        </p:nvSpPr>
        <p:spPr>
          <a:xfrm>
            <a:off x="6591300" y="3847979"/>
            <a:ext cx="2247900" cy="228600"/>
          </a:xfrm>
          <a:prstGeom prst="rect">
            <a:avLst/>
          </a:prstGeom>
          <a:noFill/>
          <a:ln/>
        </p:spPr>
        <p:txBody>
          <a:bodyPr wrap="square" lIns="0" tIns="0" rIns="0" bIns="0" rtlCol="0" anchor="ctr"/>
          <a:lstStyle/>
          <a:p>
            <a:pPr algn="ct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Average Salary</a:t>
            </a:r>
            <a:endParaRPr lang="en-US" sz="1600" dirty="0"/>
          </a:p>
        </p:txBody>
      </p:sp>
      <p:sp>
        <p:nvSpPr>
          <p:cNvPr id="41" name="Text 39"/>
          <p:cNvSpPr/>
          <p:nvPr/>
        </p:nvSpPr>
        <p:spPr>
          <a:xfrm>
            <a:off x="6596063" y="4076579"/>
            <a:ext cx="2238375" cy="190500"/>
          </a:xfrm>
          <a:prstGeom prst="rect">
            <a:avLst/>
          </a:prstGeom>
          <a:noFill/>
          <a:ln/>
        </p:spPr>
        <p:txBody>
          <a:bodyPr wrap="square" lIns="0" tIns="0" rIns="0" bIns="0" rtlCol="0" anchor="ctr"/>
          <a:lstStyle/>
          <a:p>
            <a:pPr algn="ctr">
              <a:lnSpc>
                <a:spcPct val="120000"/>
              </a:lnSpc>
            </a:pPr>
            <a:r>
              <a:rPr lang="en-US" sz="1050" dirty="0">
                <a:solidFill>
                  <a:srgbClr val="8E8E93"/>
                </a:solidFill>
                <a:latin typeface="Quattrocento Sans" pitchFamily="34" charset="0"/>
                <a:ea typeface="Quattrocento Sans" pitchFamily="34" charset="-122"/>
                <a:cs typeface="Quattrocento Sans" pitchFamily="34" charset="-120"/>
              </a:rPr>
              <a:t>In the US</a:t>
            </a:r>
            <a:endParaRPr lang="en-US" sz="1600" dirty="0"/>
          </a:p>
        </p:txBody>
      </p:sp>
      <p:sp>
        <p:nvSpPr>
          <p:cNvPr id="42" name="Shape 40"/>
          <p:cNvSpPr/>
          <p:nvPr/>
        </p:nvSpPr>
        <p:spPr>
          <a:xfrm>
            <a:off x="9105900" y="3276479"/>
            <a:ext cx="2476500" cy="1143000"/>
          </a:xfrm>
          <a:prstGeom prst="roundRect">
            <a:avLst>
              <a:gd name="adj" fmla="val 10000"/>
            </a:avLst>
          </a:prstGeom>
          <a:solidFill>
            <a:srgbClr val="1A1D21"/>
          </a:solidFill>
          <a:ln/>
        </p:spPr>
      </p:sp>
      <p:sp>
        <p:nvSpPr>
          <p:cNvPr id="43" name="Text 41"/>
          <p:cNvSpPr/>
          <p:nvPr/>
        </p:nvSpPr>
        <p:spPr>
          <a:xfrm>
            <a:off x="9186863" y="3428879"/>
            <a:ext cx="2314575" cy="342900"/>
          </a:xfrm>
          <a:prstGeom prst="rect">
            <a:avLst/>
          </a:prstGeom>
          <a:noFill/>
          <a:ln/>
        </p:spPr>
        <p:txBody>
          <a:bodyPr wrap="square" lIns="0" tIns="0" rIns="0" bIns="0" rtlCol="0" anchor="ctr"/>
          <a:lstStyle/>
          <a:p>
            <a:pPr algn="ctr">
              <a:lnSpc>
                <a:spcPct val="100000"/>
              </a:lnSpc>
            </a:pPr>
            <a:r>
              <a:rPr lang="en-US" sz="2250" b="1" dirty="0">
                <a:solidFill>
                  <a:srgbClr val="34C759"/>
                </a:solidFill>
                <a:latin typeface="Liter" pitchFamily="34" charset="0"/>
                <a:ea typeface="Liter" pitchFamily="34" charset="-122"/>
                <a:cs typeface="Liter" pitchFamily="34" charset="-120"/>
              </a:rPr>
              <a:t>Remote</a:t>
            </a:r>
            <a:endParaRPr lang="en-US" sz="1600" dirty="0"/>
          </a:p>
        </p:txBody>
      </p:sp>
      <p:sp>
        <p:nvSpPr>
          <p:cNvPr id="44" name="Text 42"/>
          <p:cNvSpPr/>
          <p:nvPr/>
        </p:nvSpPr>
        <p:spPr>
          <a:xfrm>
            <a:off x="9220200" y="3847979"/>
            <a:ext cx="2247900" cy="228600"/>
          </a:xfrm>
          <a:prstGeom prst="rect">
            <a:avLst/>
          </a:prstGeom>
          <a:noFill/>
          <a:ln/>
        </p:spPr>
        <p:txBody>
          <a:bodyPr wrap="square" lIns="0" tIns="0" rIns="0" bIns="0" rtlCol="0" anchor="ctr"/>
          <a:lstStyle/>
          <a:p>
            <a:pPr algn="ct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Work Options</a:t>
            </a:r>
            <a:endParaRPr lang="en-US" sz="1600" dirty="0"/>
          </a:p>
        </p:txBody>
      </p:sp>
      <p:sp>
        <p:nvSpPr>
          <p:cNvPr id="45" name="Text 43"/>
          <p:cNvSpPr/>
          <p:nvPr/>
        </p:nvSpPr>
        <p:spPr>
          <a:xfrm>
            <a:off x="9224963" y="4076579"/>
            <a:ext cx="2238375" cy="190500"/>
          </a:xfrm>
          <a:prstGeom prst="rect">
            <a:avLst/>
          </a:prstGeom>
          <a:noFill/>
          <a:ln/>
        </p:spPr>
        <p:txBody>
          <a:bodyPr wrap="square" lIns="0" tIns="0" rIns="0" bIns="0" rtlCol="0" anchor="ctr"/>
          <a:lstStyle/>
          <a:p>
            <a:pPr algn="ctr">
              <a:lnSpc>
                <a:spcPct val="120000"/>
              </a:lnSpc>
            </a:pPr>
            <a:r>
              <a:rPr lang="en-US" sz="1050" dirty="0">
                <a:solidFill>
                  <a:srgbClr val="8E8E93"/>
                </a:solidFill>
                <a:latin typeface="Quattrocento Sans" pitchFamily="34" charset="0"/>
                <a:ea typeface="Quattrocento Sans" pitchFamily="34" charset="-122"/>
                <a:cs typeface="Quattrocento Sans" pitchFamily="34" charset="-120"/>
              </a:rPr>
              <a:t>80% of jobs</a:t>
            </a:r>
            <a:endParaRPr lang="en-US" sz="1600" dirty="0"/>
          </a:p>
        </p:txBody>
      </p:sp>
      <p:sp>
        <p:nvSpPr>
          <p:cNvPr id="46" name="Shape 44"/>
          <p:cNvSpPr/>
          <p:nvPr/>
        </p:nvSpPr>
        <p:spPr>
          <a:xfrm>
            <a:off x="6210300" y="5520575"/>
            <a:ext cx="5600700" cy="1295400"/>
          </a:xfrm>
          <a:prstGeom prst="roundRect">
            <a:avLst>
              <a:gd name="adj" fmla="val 11765"/>
            </a:avLst>
          </a:prstGeom>
          <a:solidFill>
            <a:srgbClr val="2C2C2E"/>
          </a:solidFill>
          <a:ln/>
        </p:spPr>
      </p:sp>
      <p:sp>
        <p:nvSpPr>
          <p:cNvPr id="47" name="Shape 45"/>
          <p:cNvSpPr/>
          <p:nvPr/>
        </p:nvSpPr>
        <p:spPr>
          <a:xfrm>
            <a:off x="6435328" y="5758700"/>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34C759"/>
          </a:solidFill>
          <a:ln/>
        </p:spPr>
      </p:sp>
      <p:sp>
        <p:nvSpPr>
          <p:cNvPr id="48" name="Text 46"/>
          <p:cNvSpPr/>
          <p:nvPr/>
        </p:nvSpPr>
        <p:spPr>
          <a:xfrm>
            <a:off x="6619875" y="5711075"/>
            <a:ext cx="5086350" cy="266700"/>
          </a:xfrm>
          <a:prstGeom prst="rect">
            <a:avLst/>
          </a:prstGeom>
          <a:noFill/>
          <a:ln/>
        </p:spPr>
        <p:txBody>
          <a:bodyPr wrap="square" lIns="0" tIns="0" rIns="0" bIns="0" rtlCol="0" anchor="ctr"/>
          <a:lstStyle/>
          <a:p>
            <a:pPr>
              <a:lnSpc>
                <a:spcPct val="130000"/>
              </a:lnSpc>
            </a:pPr>
            <a:r>
              <a:rPr lang="en-US" sz="1350" b="1" dirty="0">
                <a:solidFill>
                  <a:srgbClr val="34C759"/>
                </a:solidFill>
                <a:latin typeface="Liter" pitchFamily="34" charset="0"/>
                <a:ea typeface="Liter" pitchFamily="34" charset="-122"/>
                <a:cs typeface="Liter" pitchFamily="34" charset="-120"/>
              </a:rPr>
              <a:t>Visual Suggestion</a:t>
            </a:r>
            <a:endParaRPr lang="en-US" sz="1600" dirty="0"/>
          </a:p>
        </p:txBody>
      </p:sp>
      <p:sp>
        <p:nvSpPr>
          <p:cNvPr id="49" name="Shape 47"/>
          <p:cNvSpPr/>
          <p:nvPr/>
        </p:nvSpPr>
        <p:spPr>
          <a:xfrm>
            <a:off x="6419850" y="6130175"/>
            <a:ext cx="152400" cy="152400"/>
          </a:xfrm>
          <a:custGeom>
            <a:avLst/>
            <a:gdLst/>
            <a:ahLst/>
            <a:cxnLst/>
            <a:rect l="l" t="t" r="r" b="b"/>
            <a:pathLst>
              <a:path w="152400" h="152400">
                <a:moveTo>
                  <a:pt x="0" y="23813"/>
                </a:moveTo>
                <a:cubicBezTo>
                  <a:pt x="0" y="15925"/>
                  <a:pt x="6400" y="9525"/>
                  <a:pt x="14288" y="9525"/>
                </a:cubicBezTo>
                <a:lnTo>
                  <a:pt x="42863" y="9525"/>
                </a:lnTo>
                <a:cubicBezTo>
                  <a:pt x="50750" y="9525"/>
                  <a:pt x="57150" y="15925"/>
                  <a:pt x="57150" y="23813"/>
                </a:cubicBezTo>
                <a:lnTo>
                  <a:pt x="57150" y="28575"/>
                </a:lnTo>
                <a:lnTo>
                  <a:pt x="95250" y="28575"/>
                </a:lnTo>
                <a:lnTo>
                  <a:pt x="95250" y="23813"/>
                </a:lnTo>
                <a:cubicBezTo>
                  <a:pt x="95250" y="15925"/>
                  <a:pt x="101650" y="9525"/>
                  <a:pt x="109537" y="9525"/>
                </a:cubicBezTo>
                <a:lnTo>
                  <a:pt x="138113" y="9525"/>
                </a:lnTo>
                <a:cubicBezTo>
                  <a:pt x="146000" y="9525"/>
                  <a:pt x="152400" y="15925"/>
                  <a:pt x="152400" y="23813"/>
                </a:cubicBezTo>
                <a:lnTo>
                  <a:pt x="152400" y="52388"/>
                </a:lnTo>
                <a:cubicBezTo>
                  <a:pt x="152400" y="60275"/>
                  <a:pt x="146000" y="66675"/>
                  <a:pt x="138113" y="66675"/>
                </a:cubicBezTo>
                <a:lnTo>
                  <a:pt x="109537" y="66675"/>
                </a:lnTo>
                <a:cubicBezTo>
                  <a:pt x="101650" y="66675"/>
                  <a:pt x="95250" y="60275"/>
                  <a:pt x="95250" y="52388"/>
                </a:cubicBezTo>
                <a:lnTo>
                  <a:pt x="95250" y="47625"/>
                </a:lnTo>
                <a:lnTo>
                  <a:pt x="57150" y="47625"/>
                </a:lnTo>
                <a:lnTo>
                  <a:pt x="57150" y="52388"/>
                </a:lnTo>
                <a:cubicBezTo>
                  <a:pt x="57150" y="54560"/>
                  <a:pt x="56644" y="56644"/>
                  <a:pt x="55781" y="58489"/>
                </a:cubicBezTo>
                <a:lnTo>
                  <a:pt x="76200" y="85725"/>
                </a:lnTo>
                <a:lnTo>
                  <a:pt x="100013" y="85725"/>
                </a:lnTo>
                <a:cubicBezTo>
                  <a:pt x="107900" y="85725"/>
                  <a:pt x="114300" y="92125"/>
                  <a:pt x="114300" y="100013"/>
                </a:cubicBezTo>
                <a:lnTo>
                  <a:pt x="114300" y="128588"/>
                </a:lnTo>
                <a:cubicBezTo>
                  <a:pt x="114300" y="136475"/>
                  <a:pt x="107900" y="142875"/>
                  <a:pt x="100013" y="142875"/>
                </a:cubicBezTo>
                <a:lnTo>
                  <a:pt x="71438" y="142875"/>
                </a:lnTo>
                <a:cubicBezTo>
                  <a:pt x="63550" y="142875"/>
                  <a:pt x="57150" y="136475"/>
                  <a:pt x="57150" y="128588"/>
                </a:cubicBezTo>
                <a:lnTo>
                  <a:pt x="57150" y="100013"/>
                </a:lnTo>
                <a:cubicBezTo>
                  <a:pt x="57150" y="97840"/>
                  <a:pt x="57656" y="95756"/>
                  <a:pt x="58519" y="93911"/>
                </a:cubicBezTo>
                <a:lnTo>
                  <a:pt x="38100" y="66675"/>
                </a:lnTo>
                <a:lnTo>
                  <a:pt x="14288" y="66675"/>
                </a:lnTo>
                <a:cubicBezTo>
                  <a:pt x="6400" y="66675"/>
                  <a:pt x="0" y="60275"/>
                  <a:pt x="0" y="52388"/>
                </a:cubicBezTo>
                <a:lnTo>
                  <a:pt x="0" y="23813"/>
                </a:lnTo>
                <a:close/>
              </a:path>
            </a:pathLst>
          </a:custGeom>
          <a:solidFill>
            <a:srgbClr val="34C759"/>
          </a:solidFill>
          <a:ln/>
        </p:spPr>
      </p:sp>
      <p:sp>
        <p:nvSpPr>
          <p:cNvPr id="50" name="Text 48"/>
          <p:cNvSpPr/>
          <p:nvPr/>
        </p:nvSpPr>
        <p:spPr>
          <a:xfrm>
            <a:off x="6667500" y="6092075"/>
            <a:ext cx="3371850"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Career path flowchart with salary ranges</a:t>
            </a:r>
            <a:endParaRPr lang="en-US" sz="1600" dirty="0"/>
          </a:p>
        </p:txBody>
      </p:sp>
      <p:sp>
        <p:nvSpPr>
          <p:cNvPr id="51" name="Shape 49"/>
          <p:cNvSpPr/>
          <p:nvPr/>
        </p:nvSpPr>
        <p:spPr>
          <a:xfrm>
            <a:off x="6429375" y="6434975"/>
            <a:ext cx="133350" cy="152400"/>
          </a:xfrm>
          <a:custGeom>
            <a:avLst/>
            <a:gdLst/>
            <a:ahLst/>
            <a:cxnLst/>
            <a:rect l="l" t="t" r="r" b="b"/>
            <a:pathLst>
              <a:path w="133350" h="152400">
                <a:moveTo>
                  <a:pt x="19050" y="9525"/>
                </a:moveTo>
                <a:cubicBezTo>
                  <a:pt x="8543" y="9525"/>
                  <a:pt x="0" y="18068"/>
                  <a:pt x="0" y="28575"/>
                </a:cubicBezTo>
                <a:lnTo>
                  <a:pt x="0" y="123825"/>
                </a:lnTo>
                <a:cubicBezTo>
                  <a:pt x="0" y="134332"/>
                  <a:pt x="8543" y="142875"/>
                  <a:pt x="19050" y="142875"/>
                </a:cubicBezTo>
                <a:lnTo>
                  <a:pt x="114300" y="142875"/>
                </a:lnTo>
                <a:cubicBezTo>
                  <a:pt x="124807" y="142875"/>
                  <a:pt x="133350" y="134332"/>
                  <a:pt x="133350" y="123825"/>
                </a:cubicBezTo>
                <a:lnTo>
                  <a:pt x="133350" y="28575"/>
                </a:lnTo>
                <a:cubicBezTo>
                  <a:pt x="133350" y="18068"/>
                  <a:pt x="124807" y="9525"/>
                  <a:pt x="114300" y="9525"/>
                </a:cubicBezTo>
                <a:lnTo>
                  <a:pt x="19050" y="9525"/>
                </a:lnTo>
                <a:close/>
                <a:moveTo>
                  <a:pt x="38100" y="33338"/>
                </a:moveTo>
                <a:cubicBezTo>
                  <a:pt x="45985" y="33338"/>
                  <a:pt x="52388" y="39740"/>
                  <a:pt x="52388" y="47625"/>
                </a:cubicBezTo>
                <a:cubicBezTo>
                  <a:pt x="52388" y="55510"/>
                  <a:pt x="45985" y="61912"/>
                  <a:pt x="38100" y="61912"/>
                </a:cubicBezTo>
                <a:cubicBezTo>
                  <a:pt x="30215" y="61912"/>
                  <a:pt x="23813" y="55510"/>
                  <a:pt x="23813" y="47625"/>
                </a:cubicBezTo>
                <a:cubicBezTo>
                  <a:pt x="23813" y="39740"/>
                  <a:pt x="30215" y="33338"/>
                  <a:pt x="38100" y="33338"/>
                </a:cubicBezTo>
                <a:close/>
                <a:moveTo>
                  <a:pt x="80962" y="66675"/>
                </a:moveTo>
                <a:cubicBezTo>
                  <a:pt x="83463" y="66675"/>
                  <a:pt x="85755" y="67985"/>
                  <a:pt x="87064" y="70098"/>
                </a:cubicBezTo>
                <a:lnTo>
                  <a:pt x="113258" y="112961"/>
                </a:lnTo>
                <a:cubicBezTo>
                  <a:pt x="114598" y="115163"/>
                  <a:pt x="114657" y="117931"/>
                  <a:pt x="113407" y="120194"/>
                </a:cubicBezTo>
                <a:cubicBezTo>
                  <a:pt x="112157" y="122456"/>
                  <a:pt x="109746" y="123825"/>
                  <a:pt x="107156" y="123825"/>
                </a:cubicBezTo>
                <a:lnTo>
                  <a:pt x="26194" y="123825"/>
                </a:lnTo>
                <a:cubicBezTo>
                  <a:pt x="23545" y="123825"/>
                  <a:pt x="21074" y="122337"/>
                  <a:pt x="19854" y="119985"/>
                </a:cubicBezTo>
                <a:cubicBezTo>
                  <a:pt x="18633" y="117634"/>
                  <a:pt x="18812" y="114776"/>
                  <a:pt x="20330" y="112603"/>
                </a:cubicBezTo>
                <a:lnTo>
                  <a:pt x="36999" y="88791"/>
                </a:lnTo>
                <a:cubicBezTo>
                  <a:pt x="38338" y="86886"/>
                  <a:pt x="40511" y="85755"/>
                  <a:pt x="42863" y="85755"/>
                </a:cubicBezTo>
                <a:cubicBezTo>
                  <a:pt x="45214" y="85755"/>
                  <a:pt x="47387" y="86886"/>
                  <a:pt x="48726" y="88791"/>
                </a:cubicBezTo>
                <a:lnTo>
                  <a:pt x="56584" y="100042"/>
                </a:lnTo>
                <a:lnTo>
                  <a:pt x="74861" y="70128"/>
                </a:lnTo>
                <a:cubicBezTo>
                  <a:pt x="76170" y="68014"/>
                  <a:pt x="78462" y="66705"/>
                  <a:pt x="80962" y="66705"/>
                </a:cubicBezTo>
                <a:close/>
              </a:path>
            </a:pathLst>
          </a:custGeom>
          <a:solidFill>
            <a:srgbClr val="0A84FF"/>
          </a:solidFill>
          <a:ln/>
        </p:spPr>
      </p:sp>
      <p:sp>
        <p:nvSpPr>
          <p:cNvPr id="52" name="Text 50"/>
          <p:cNvSpPr/>
          <p:nvPr/>
        </p:nvSpPr>
        <p:spPr>
          <a:xfrm>
            <a:off x="6667500" y="6396875"/>
            <a:ext cx="3676650"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Job listings showing mobile developer positions</a:t>
            </a:r>
            <a:endParaRPr lang="en-US" sz="16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17500" y="365125"/>
            <a:ext cx="381000" cy="381000"/>
          </a:xfrm>
          <a:prstGeom prst="roundRect">
            <a:avLst>
              <a:gd name="adj" fmla="val 25000"/>
            </a:avLst>
          </a:prstGeom>
          <a:solidFill>
            <a:srgbClr val="FF9500"/>
          </a:solidFill>
          <a:ln/>
        </p:spPr>
      </p:sp>
      <p:sp>
        <p:nvSpPr>
          <p:cNvPr id="3" name="Text 1"/>
          <p:cNvSpPr/>
          <p:nvPr/>
        </p:nvSpPr>
        <p:spPr>
          <a:xfrm>
            <a:off x="413742" y="428625"/>
            <a:ext cx="285750" cy="254000"/>
          </a:xfrm>
          <a:prstGeom prst="rect">
            <a:avLst/>
          </a:prstGeom>
          <a:noFill/>
          <a:ln/>
        </p:spPr>
        <p:txBody>
          <a:bodyPr wrap="square" lIns="0" tIns="0" rIns="0" bIns="0" rtlCol="0" anchor="ctr"/>
          <a:lstStyle/>
          <a:p>
            <a:pPr>
              <a:lnSpc>
                <a:spcPct val="110000"/>
              </a:lnSpc>
            </a:pPr>
            <a:r>
              <a:rPr lang="en-US" sz="1500" b="1" dirty="0">
                <a:solidFill>
                  <a:srgbClr val="1D1D1F"/>
                </a:solidFill>
                <a:latin typeface="Liter" pitchFamily="34" charset="0"/>
                <a:ea typeface="Liter" pitchFamily="34" charset="-122"/>
                <a:cs typeface="Liter" pitchFamily="34" charset="-120"/>
              </a:rPr>
              <a:t>14</a:t>
            </a:r>
            <a:endParaRPr lang="en-US" sz="1600" dirty="0"/>
          </a:p>
        </p:txBody>
      </p:sp>
      <p:sp>
        <p:nvSpPr>
          <p:cNvPr id="4" name="Text 2"/>
          <p:cNvSpPr/>
          <p:nvPr/>
        </p:nvSpPr>
        <p:spPr>
          <a:xfrm>
            <a:off x="793750" y="317500"/>
            <a:ext cx="3373438" cy="158750"/>
          </a:xfrm>
          <a:prstGeom prst="rect">
            <a:avLst/>
          </a:prstGeom>
          <a:noFill/>
          <a:ln/>
        </p:spPr>
        <p:txBody>
          <a:bodyPr wrap="square" lIns="0" tIns="0" rIns="0" bIns="0" rtlCol="0" anchor="ctr"/>
          <a:lstStyle/>
          <a:p>
            <a:pPr>
              <a:lnSpc>
                <a:spcPct val="120000"/>
              </a:lnSpc>
            </a:pPr>
            <a:r>
              <a:rPr lang="en-US" sz="875" b="1" spc="44" kern="0" dirty="0">
                <a:solidFill>
                  <a:srgbClr val="FF9500"/>
                </a:solidFill>
                <a:latin typeface="Quattrocento Sans" pitchFamily="34" charset="0"/>
                <a:ea typeface="Quattrocento Sans" pitchFamily="34" charset="-122"/>
                <a:cs typeface="Quattrocento Sans" pitchFamily="34" charset="-120"/>
              </a:rPr>
              <a:t>Importance of Mobile Development</a:t>
            </a:r>
            <a:endParaRPr lang="en-US" sz="1600" dirty="0"/>
          </a:p>
        </p:txBody>
      </p:sp>
      <p:sp>
        <p:nvSpPr>
          <p:cNvPr id="5" name="Text 3"/>
          <p:cNvSpPr/>
          <p:nvPr/>
        </p:nvSpPr>
        <p:spPr>
          <a:xfrm>
            <a:off x="793750" y="476250"/>
            <a:ext cx="3460750" cy="317500"/>
          </a:xfrm>
          <a:prstGeom prst="rect">
            <a:avLst/>
          </a:prstGeom>
          <a:noFill/>
          <a:ln/>
        </p:spPr>
        <p:txBody>
          <a:bodyPr wrap="square" lIns="0" tIns="0" rIns="0" bIns="0" rtlCol="0" anchor="ctr"/>
          <a:lstStyle/>
          <a:p>
            <a:pPr>
              <a:lnSpc>
                <a:spcPct val="90000"/>
              </a:lnSpc>
            </a:pPr>
            <a:r>
              <a:rPr lang="en-US" sz="2250" b="1" dirty="0">
                <a:solidFill>
                  <a:srgbClr val="F5F5F7"/>
                </a:solidFill>
                <a:latin typeface="Liter" pitchFamily="34" charset="0"/>
                <a:ea typeface="Liter" pitchFamily="34" charset="-122"/>
                <a:cs typeface="Liter" pitchFamily="34" charset="-120"/>
              </a:rPr>
              <a:t>The Future of Mobile Apps</a:t>
            </a:r>
            <a:endParaRPr lang="en-US" sz="1600" dirty="0"/>
          </a:p>
        </p:txBody>
      </p:sp>
      <p:sp>
        <p:nvSpPr>
          <p:cNvPr id="6" name="Shape 4"/>
          <p:cNvSpPr/>
          <p:nvPr/>
        </p:nvSpPr>
        <p:spPr>
          <a:xfrm>
            <a:off x="317500" y="1063625"/>
            <a:ext cx="3770313" cy="1984375"/>
          </a:xfrm>
          <a:custGeom>
            <a:avLst/>
            <a:gdLst/>
            <a:ahLst/>
            <a:cxnLst/>
            <a:rect l="l" t="t" r="r" b="b"/>
            <a:pathLst>
              <a:path w="3770313" h="1984375">
                <a:moveTo>
                  <a:pt x="31750" y="0"/>
                </a:moveTo>
                <a:lnTo>
                  <a:pt x="3738626" y="0"/>
                </a:lnTo>
                <a:cubicBezTo>
                  <a:pt x="3756149" y="0"/>
                  <a:pt x="3770376" y="14227"/>
                  <a:pt x="3770376" y="31750"/>
                </a:cubicBezTo>
                <a:lnTo>
                  <a:pt x="3770376" y="1857375"/>
                </a:lnTo>
                <a:cubicBezTo>
                  <a:pt x="3770376" y="1927468"/>
                  <a:pt x="3713469" y="1984375"/>
                  <a:pt x="3643376" y="1984375"/>
                </a:cubicBezTo>
                <a:lnTo>
                  <a:pt x="127000" y="1984375"/>
                </a:lnTo>
                <a:cubicBezTo>
                  <a:pt x="56907" y="1984375"/>
                  <a:pt x="0" y="1927468"/>
                  <a:pt x="0" y="1857375"/>
                </a:cubicBezTo>
                <a:lnTo>
                  <a:pt x="0" y="31750"/>
                </a:lnTo>
                <a:cubicBezTo>
                  <a:pt x="0" y="14227"/>
                  <a:pt x="14227" y="0"/>
                  <a:pt x="31750" y="0"/>
                </a:cubicBezTo>
                <a:close/>
              </a:path>
            </a:pathLst>
          </a:custGeom>
          <a:gradFill rotWithShape="1" flip="none">
            <a:gsLst>
              <a:gs pos="0">
                <a:srgbClr val="34C759">
                  <a:alpha val="20000"/>
                </a:srgbClr>
              </a:gs>
              <a:gs pos="100000">
                <a:srgbClr val="2C2C2E"/>
              </a:gs>
            </a:gsLst>
            <a:lin ang="2700000" scaled="1"/>
          </a:gradFill>
          <a:ln/>
        </p:spPr>
      </p:sp>
      <p:sp>
        <p:nvSpPr>
          <p:cNvPr id="7" name="Shape 5"/>
          <p:cNvSpPr/>
          <p:nvPr/>
        </p:nvSpPr>
        <p:spPr>
          <a:xfrm>
            <a:off x="317500" y="1063625"/>
            <a:ext cx="3770313" cy="31750"/>
          </a:xfrm>
          <a:custGeom>
            <a:avLst/>
            <a:gdLst/>
            <a:ahLst/>
            <a:cxnLst/>
            <a:rect l="l" t="t" r="r" b="b"/>
            <a:pathLst>
              <a:path w="3770313" h="31750">
                <a:moveTo>
                  <a:pt x="31750" y="0"/>
                </a:moveTo>
                <a:lnTo>
                  <a:pt x="3738626" y="0"/>
                </a:lnTo>
                <a:cubicBezTo>
                  <a:pt x="3756149" y="0"/>
                  <a:pt x="3770376" y="14227"/>
                  <a:pt x="3770376" y="31750"/>
                </a:cubicBezTo>
                <a:lnTo>
                  <a:pt x="3770376" y="31750"/>
                </a:lnTo>
                <a:lnTo>
                  <a:pt x="0" y="31750"/>
                </a:lnTo>
                <a:lnTo>
                  <a:pt x="0" y="31750"/>
                </a:lnTo>
                <a:cubicBezTo>
                  <a:pt x="0" y="14227"/>
                  <a:pt x="14227" y="0"/>
                  <a:pt x="31750" y="0"/>
                </a:cubicBezTo>
                <a:close/>
              </a:path>
            </a:pathLst>
          </a:custGeom>
          <a:solidFill>
            <a:srgbClr val="34C759"/>
          </a:solidFill>
          <a:ln/>
        </p:spPr>
      </p:sp>
      <p:sp>
        <p:nvSpPr>
          <p:cNvPr id="8" name="Shape 6"/>
          <p:cNvSpPr/>
          <p:nvPr/>
        </p:nvSpPr>
        <p:spPr>
          <a:xfrm>
            <a:off x="476250" y="1238250"/>
            <a:ext cx="508000" cy="508000"/>
          </a:xfrm>
          <a:prstGeom prst="roundRect">
            <a:avLst>
              <a:gd name="adj" fmla="val 25000"/>
            </a:avLst>
          </a:prstGeom>
          <a:solidFill>
            <a:srgbClr val="34C759"/>
          </a:solidFill>
          <a:ln/>
        </p:spPr>
      </p:sp>
      <p:sp>
        <p:nvSpPr>
          <p:cNvPr id="9" name="Shape 7"/>
          <p:cNvSpPr/>
          <p:nvPr/>
        </p:nvSpPr>
        <p:spPr>
          <a:xfrm>
            <a:off x="613172" y="1373188"/>
            <a:ext cx="238125" cy="238125"/>
          </a:xfrm>
          <a:custGeom>
            <a:avLst/>
            <a:gdLst/>
            <a:ahLst/>
            <a:cxnLst/>
            <a:rect l="l" t="t" r="r" b="b"/>
            <a:pathLst>
              <a:path w="238125" h="238125">
                <a:moveTo>
                  <a:pt x="55811" y="26045"/>
                </a:moveTo>
                <a:cubicBezTo>
                  <a:pt x="55811" y="11674"/>
                  <a:pt x="67484" y="0"/>
                  <a:pt x="81855" y="0"/>
                </a:cubicBezTo>
                <a:lnTo>
                  <a:pt x="93018" y="0"/>
                </a:lnTo>
                <a:cubicBezTo>
                  <a:pt x="101250" y="0"/>
                  <a:pt x="107900" y="6651"/>
                  <a:pt x="107900" y="14883"/>
                </a:cubicBezTo>
                <a:lnTo>
                  <a:pt x="107900" y="223242"/>
                </a:lnTo>
                <a:cubicBezTo>
                  <a:pt x="107900" y="231474"/>
                  <a:pt x="101250" y="238125"/>
                  <a:pt x="93018" y="238125"/>
                </a:cubicBezTo>
                <a:lnTo>
                  <a:pt x="78135" y="238125"/>
                </a:lnTo>
                <a:cubicBezTo>
                  <a:pt x="64275" y="238125"/>
                  <a:pt x="52601" y="228637"/>
                  <a:pt x="49299" y="215801"/>
                </a:cubicBezTo>
                <a:cubicBezTo>
                  <a:pt x="48974" y="215801"/>
                  <a:pt x="48695" y="215801"/>
                  <a:pt x="48369" y="215801"/>
                </a:cubicBezTo>
                <a:cubicBezTo>
                  <a:pt x="27812" y="215801"/>
                  <a:pt x="11162" y="199151"/>
                  <a:pt x="11162" y="178594"/>
                </a:cubicBezTo>
                <a:cubicBezTo>
                  <a:pt x="11162" y="170222"/>
                  <a:pt x="13953" y="162502"/>
                  <a:pt x="18604" y="156270"/>
                </a:cubicBezTo>
                <a:cubicBezTo>
                  <a:pt x="9581" y="149479"/>
                  <a:pt x="3721" y="138689"/>
                  <a:pt x="3721" y="126504"/>
                </a:cubicBezTo>
                <a:cubicBezTo>
                  <a:pt x="3721" y="112133"/>
                  <a:pt x="11906" y="99622"/>
                  <a:pt x="23813" y="93436"/>
                </a:cubicBezTo>
                <a:cubicBezTo>
                  <a:pt x="20510" y="87855"/>
                  <a:pt x="18604" y="81344"/>
                  <a:pt x="18604" y="74414"/>
                </a:cubicBezTo>
                <a:cubicBezTo>
                  <a:pt x="18604" y="53857"/>
                  <a:pt x="35254" y="37207"/>
                  <a:pt x="55811" y="37207"/>
                </a:cubicBezTo>
                <a:lnTo>
                  <a:pt x="55811" y="26045"/>
                </a:lnTo>
                <a:close/>
                <a:moveTo>
                  <a:pt x="182314" y="26045"/>
                </a:moveTo>
                <a:lnTo>
                  <a:pt x="182314" y="37207"/>
                </a:lnTo>
                <a:cubicBezTo>
                  <a:pt x="202871" y="37207"/>
                  <a:pt x="219521" y="53857"/>
                  <a:pt x="219521" y="74414"/>
                </a:cubicBezTo>
                <a:cubicBezTo>
                  <a:pt x="219521" y="81390"/>
                  <a:pt x="217615" y="87902"/>
                  <a:pt x="214313" y="93436"/>
                </a:cubicBezTo>
                <a:cubicBezTo>
                  <a:pt x="226265" y="99622"/>
                  <a:pt x="234404" y="112086"/>
                  <a:pt x="234404" y="126504"/>
                </a:cubicBezTo>
                <a:cubicBezTo>
                  <a:pt x="234404" y="138689"/>
                  <a:pt x="228544" y="149479"/>
                  <a:pt x="219521" y="156270"/>
                </a:cubicBezTo>
                <a:cubicBezTo>
                  <a:pt x="224172" y="162502"/>
                  <a:pt x="226963" y="170222"/>
                  <a:pt x="226963" y="178594"/>
                </a:cubicBezTo>
                <a:cubicBezTo>
                  <a:pt x="226963" y="199151"/>
                  <a:pt x="210313" y="215801"/>
                  <a:pt x="189756" y="215801"/>
                </a:cubicBezTo>
                <a:cubicBezTo>
                  <a:pt x="189430" y="215801"/>
                  <a:pt x="189151" y="215801"/>
                  <a:pt x="188826" y="215801"/>
                </a:cubicBezTo>
                <a:cubicBezTo>
                  <a:pt x="185524" y="228637"/>
                  <a:pt x="173850" y="238125"/>
                  <a:pt x="159990" y="238125"/>
                </a:cubicBezTo>
                <a:lnTo>
                  <a:pt x="145107" y="238125"/>
                </a:lnTo>
                <a:cubicBezTo>
                  <a:pt x="136875" y="238125"/>
                  <a:pt x="130225" y="231474"/>
                  <a:pt x="130225" y="223242"/>
                </a:cubicBezTo>
                <a:lnTo>
                  <a:pt x="130225" y="14883"/>
                </a:lnTo>
                <a:cubicBezTo>
                  <a:pt x="130225" y="6651"/>
                  <a:pt x="136875" y="0"/>
                  <a:pt x="145107" y="0"/>
                </a:cubicBezTo>
                <a:lnTo>
                  <a:pt x="156270" y="0"/>
                </a:lnTo>
                <a:cubicBezTo>
                  <a:pt x="170641" y="0"/>
                  <a:pt x="182314" y="11674"/>
                  <a:pt x="182314" y="26045"/>
                </a:cubicBezTo>
                <a:close/>
              </a:path>
            </a:pathLst>
          </a:custGeom>
          <a:solidFill>
            <a:srgbClr val="1D1D1F"/>
          </a:solidFill>
          <a:ln/>
        </p:spPr>
      </p:sp>
      <p:sp>
        <p:nvSpPr>
          <p:cNvPr id="10" name="Text 8"/>
          <p:cNvSpPr/>
          <p:nvPr/>
        </p:nvSpPr>
        <p:spPr>
          <a:xfrm>
            <a:off x="476250" y="1873250"/>
            <a:ext cx="3532188" cy="222250"/>
          </a:xfrm>
          <a:prstGeom prst="rect">
            <a:avLst/>
          </a:prstGeom>
          <a:noFill/>
          <a:ln/>
        </p:spPr>
        <p:txBody>
          <a:bodyPr wrap="square" lIns="0" tIns="0" rIns="0" bIns="0" rtlCol="0" anchor="ctr"/>
          <a:lstStyle/>
          <a:p>
            <a:pPr>
              <a:lnSpc>
                <a:spcPct val="120000"/>
              </a:lnSpc>
            </a:pPr>
            <a:r>
              <a:rPr lang="en-US" sz="1250" b="1" dirty="0">
                <a:solidFill>
                  <a:srgbClr val="34C759"/>
                </a:solidFill>
                <a:latin typeface="Liter" pitchFamily="34" charset="0"/>
                <a:ea typeface="Liter" pitchFamily="34" charset="-122"/>
                <a:cs typeface="Liter" pitchFamily="34" charset="-120"/>
              </a:rPr>
              <a:t>AI-Powered Apps</a:t>
            </a:r>
            <a:endParaRPr lang="en-US" sz="1600" dirty="0"/>
          </a:p>
        </p:txBody>
      </p:sp>
      <p:sp>
        <p:nvSpPr>
          <p:cNvPr id="11" name="Text 9"/>
          <p:cNvSpPr/>
          <p:nvPr/>
        </p:nvSpPr>
        <p:spPr>
          <a:xfrm>
            <a:off x="476250" y="2190750"/>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2" name="Text 10"/>
          <p:cNvSpPr/>
          <p:nvPr/>
        </p:nvSpPr>
        <p:spPr>
          <a:xfrm>
            <a:off x="581422" y="2190750"/>
            <a:ext cx="1944688"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Smart assistants</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like Siri and Alexa</a:t>
            </a:r>
            <a:endParaRPr lang="en-US" sz="1600" dirty="0"/>
          </a:p>
        </p:txBody>
      </p:sp>
      <p:sp>
        <p:nvSpPr>
          <p:cNvPr id="13" name="Text 11"/>
          <p:cNvSpPr/>
          <p:nvPr/>
        </p:nvSpPr>
        <p:spPr>
          <a:xfrm>
            <a:off x="476250" y="2444750"/>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4" name="Text 12"/>
          <p:cNvSpPr/>
          <p:nvPr/>
        </p:nvSpPr>
        <p:spPr>
          <a:xfrm>
            <a:off x="581422" y="2470152"/>
            <a:ext cx="1783159" cy="1397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Personalized recommendations</a:t>
            </a:r>
            <a:endParaRPr lang="en-US" sz="1600" dirty="0"/>
          </a:p>
        </p:txBody>
      </p:sp>
      <p:sp>
        <p:nvSpPr>
          <p:cNvPr id="15" name="Text 13"/>
          <p:cNvSpPr/>
          <p:nvPr/>
        </p:nvSpPr>
        <p:spPr>
          <a:xfrm>
            <a:off x="476250" y="2698750"/>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16" name="Text 14"/>
          <p:cNvSpPr/>
          <p:nvPr/>
        </p:nvSpPr>
        <p:spPr>
          <a:xfrm>
            <a:off x="581422" y="2698750"/>
            <a:ext cx="1809750"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Automated tasks</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and responses</a:t>
            </a:r>
            <a:endParaRPr lang="en-US" sz="1600" dirty="0"/>
          </a:p>
        </p:txBody>
      </p:sp>
      <p:sp>
        <p:nvSpPr>
          <p:cNvPr id="17" name="Shape 15"/>
          <p:cNvSpPr/>
          <p:nvPr/>
        </p:nvSpPr>
        <p:spPr>
          <a:xfrm>
            <a:off x="4212134" y="1063625"/>
            <a:ext cx="3770313" cy="1984375"/>
          </a:xfrm>
          <a:custGeom>
            <a:avLst/>
            <a:gdLst/>
            <a:ahLst/>
            <a:cxnLst/>
            <a:rect l="l" t="t" r="r" b="b"/>
            <a:pathLst>
              <a:path w="3770313" h="1984375">
                <a:moveTo>
                  <a:pt x="31750" y="0"/>
                </a:moveTo>
                <a:lnTo>
                  <a:pt x="3738626" y="0"/>
                </a:lnTo>
                <a:cubicBezTo>
                  <a:pt x="3756149" y="0"/>
                  <a:pt x="3770376" y="14227"/>
                  <a:pt x="3770376" y="31750"/>
                </a:cubicBezTo>
                <a:lnTo>
                  <a:pt x="3770376" y="1857375"/>
                </a:lnTo>
                <a:cubicBezTo>
                  <a:pt x="3770376" y="1927468"/>
                  <a:pt x="3713469" y="1984375"/>
                  <a:pt x="3643376" y="1984375"/>
                </a:cubicBezTo>
                <a:lnTo>
                  <a:pt x="127000" y="1984375"/>
                </a:lnTo>
                <a:cubicBezTo>
                  <a:pt x="56907" y="1984375"/>
                  <a:pt x="0" y="1927468"/>
                  <a:pt x="0" y="1857375"/>
                </a:cubicBezTo>
                <a:lnTo>
                  <a:pt x="0" y="31750"/>
                </a:lnTo>
                <a:cubicBezTo>
                  <a:pt x="0" y="14227"/>
                  <a:pt x="14227" y="0"/>
                  <a:pt x="31750" y="0"/>
                </a:cubicBezTo>
                <a:close/>
              </a:path>
            </a:pathLst>
          </a:custGeom>
          <a:gradFill rotWithShape="1" flip="none">
            <a:gsLst>
              <a:gs pos="0">
                <a:srgbClr val="0A84FF">
                  <a:alpha val="20000"/>
                </a:srgbClr>
              </a:gs>
              <a:gs pos="100000">
                <a:srgbClr val="2C2C2E"/>
              </a:gs>
            </a:gsLst>
            <a:lin ang="2700000" scaled="1"/>
          </a:gradFill>
          <a:ln/>
        </p:spPr>
      </p:sp>
      <p:sp>
        <p:nvSpPr>
          <p:cNvPr id="18" name="Shape 16"/>
          <p:cNvSpPr/>
          <p:nvPr/>
        </p:nvSpPr>
        <p:spPr>
          <a:xfrm>
            <a:off x="4212134" y="1063625"/>
            <a:ext cx="3770313" cy="31750"/>
          </a:xfrm>
          <a:custGeom>
            <a:avLst/>
            <a:gdLst/>
            <a:ahLst/>
            <a:cxnLst/>
            <a:rect l="l" t="t" r="r" b="b"/>
            <a:pathLst>
              <a:path w="3770313" h="31750">
                <a:moveTo>
                  <a:pt x="31750" y="0"/>
                </a:moveTo>
                <a:lnTo>
                  <a:pt x="3738626" y="0"/>
                </a:lnTo>
                <a:cubicBezTo>
                  <a:pt x="3756149" y="0"/>
                  <a:pt x="3770376" y="14227"/>
                  <a:pt x="3770376" y="31750"/>
                </a:cubicBezTo>
                <a:lnTo>
                  <a:pt x="3770376" y="31750"/>
                </a:lnTo>
                <a:lnTo>
                  <a:pt x="0" y="31750"/>
                </a:lnTo>
                <a:lnTo>
                  <a:pt x="0" y="31750"/>
                </a:lnTo>
                <a:cubicBezTo>
                  <a:pt x="0" y="14227"/>
                  <a:pt x="14227" y="0"/>
                  <a:pt x="31750" y="0"/>
                </a:cubicBezTo>
                <a:close/>
              </a:path>
            </a:pathLst>
          </a:custGeom>
          <a:solidFill>
            <a:srgbClr val="0A84FF"/>
          </a:solidFill>
          <a:ln/>
        </p:spPr>
      </p:sp>
      <p:sp>
        <p:nvSpPr>
          <p:cNvPr id="19" name="Shape 17"/>
          <p:cNvSpPr/>
          <p:nvPr/>
        </p:nvSpPr>
        <p:spPr>
          <a:xfrm>
            <a:off x="4370884" y="1238250"/>
            <a:ext cx="508000" cy="508000"/>
          </a:xfrm>
          <a:prstGeom prst="roundRect">
            <a:avLst>
              <a:gd name="adj" fmla="val 25000"/>
            </a:avLst>
          </a:prstGeom>
          <a:solidFill>
            <a:srgbClr val="0A84FF"/>
          </a:solidFill>
          <a:ln/>
        </p:spPr>
      </p:sp>
      <p:sp>
        <p:nvSpPr>
          <p:cNvPr id="20" name="Shape 18"/>
          <p:cNvSpPr/>
          <p:nvPr/>
        </p:nvSpPr>
        <p:spPr>
          <a:xfrm>
            <a:off x="4492923" y="1373188"/>
            <a:ext cx="267891" cy="238125"/>
          </a:xfrm>
          <a:custGeom>
            <a:avLst/>
            <a:gdLst/>
            <a:ahLst/>
            <a:cxnLst/>
            <a:rect l="l" t="t" r="r" b="b"/>
            <a:pathLst>
              <a:path w="267891" h="238125">
                <a:moveTo>
                  <a:pt x="238125" y="44648"/>
                </a:moveTo>
                <a:lnTo>
                  <a:pt x="29766" y="44648"/>
                </a:lnTo>
                <a:cubicBezTo>
                  <a:pt x="13348" y="44648"/>
                  <a:pt x="0" y="57996"/>
                  <a:pt x="0" y="74414"/>
                </a:cubicBezTo>
                <a:lnTo>
                  <a:pt x="0" y="163711"/>
                </a:lnTo>
                <a:cubicBezTo>
                  <a:pt x="0" y="180129"/>
                  <a:pt x="13348" y="193477"/>
                  <a:pt x="29766" y="193477"/>
                </a:cubicBezTo>
                <a:lnTo>
                  <a:pt x="84413" y="193477"/>
                </a:lnTo>
                <a:cubicBezTo>
                  <a:pt x="92320" y="193477"/>
                  <a:pt x="99901" y="190360"/>
                  <a:pt x="105482" y="184779"/>
                </a:cubicBezTo>
                <a:lnTo>
                  <a:pt x="121248" y="169013"/>
                </a:lnTo>
                <a:cubicBezTo>
                  <a:pt x="124597" y="165664"/>
                  <a:pt x="129201" y="163757"/>
                  <a:pt x="133945" y="163757"/>
                </a:cubicBezTo>
                <a:cubicBezTo>
                  <a:pt x="138689" y="163757"/>
                  <a:pt x="143294" y="165664"/>
                  <a:pt x="146642" y="169013"/>
                </a:cubicBezTo>
                <a:lnTo>
                  <a:pt x="162409" y="184779"/>
                </a:lnTo>
                <a:cubicBezTo>
                  <a:pt x="167990" y="190360"/>
                  <a:pt x="175571" y="193477"/>
                  <a:pt x="183477" y="193477"/>
                </a:cubicBezTo>
                <a:lnTo>
                  <a:pt x="238125" y="193477"/>
                </a:lnTo>
                <a:cubicBezTo>
                  <a:pt x="254543" y="193477"/>
                  <a:pt x="267891" y="180129"/>
                  <a:pt x="267891" y="163711"/>
                </a:cubicBezTo>
                <a:lnTo>
                  <a:pt x="267891" y="74414"/>
                </a:lnTo>
                <a:cubicBezTo>
                  <a:pt x="267891" y="57996"/>
                  <a:pt x="254543" y="44648"/>
                  <a:pt x="238125" y="44648"/>
                </a:cubicBezTo>
                <a:close/>
                <a:moveTo>
                  <a:pt x="37207" y="111621"/>
                </a:moveTo>
                <a:cubicBezTo>
                  <a:pt x="37207" y="95193"/>
                  <a:pt x="50545" y="81855"/>
                  <a:pt x="66973" y="81855"/>
                </a:cubicBezTo>
                <a:cubicBezTo>
                  <a:pt x="83401" y="81855"/>
                  <a:pt x="96738" y="95193"/>
                  <a:pt x="96738" y="111621"/>
                </a:cubicBezTo>
                <a:cubicBezTo>
                  <a:pt x="96738" y="128049"/>
                  <a:pt x="83401" y="141387"/>
                  <a:pt x="66973" y="141387"/>
                </a:cubicBezTo>
                <a:cubicBezTo>
                  <a:pt x="50545" y="141387"/>
                  <a:pt x="37207" y="128049"/>
                  <a:pt x="37207" y="111621"/>
                </a:cubicBezTo>
                <a:close/>
                <a:moveTo>
                  <a:pt x="200918" y="81855"/>
                </a:moveTo>
                <a:cubicBezTo>
                  <a:pt x="217346" y="81855"/>
                  <a:pt x="230684" y="95193"/>
                  <a:pt x="230684" y="111621"/>
                </a:cubicBezTo>
                <a:cubicBezTo>
                  <a:pt x="230684" y="128049"/>
                  <a:pt x="217346" y="141387"/>
                  <a:pt x="200918" y="141387"/>
                </a:cubicBezTo>
                <a:cubicBezTo>
                  <a:pt x="184490" y="141387"/>
                  <a:pt x="171152" y="128049"/>
                  <a:pt x="171152" y="111621"/>
                </a:cubicBezTo>
                <a:cubicBezTo>
                  <a:pt x="171152" y="95193"/>
                  <a:pt x="184490" y="81855"/>
                  <a:pt x="200918" y="81855"/>
                </a:cubicBezTo>
                <a:close/>
              </a:path>
            </a:pathLst>
          </a:custGeom>
          <a:solidFill>
            <a:srgbClr val="FFFFFF"/>
          </a:solidFill>
          <a:ln/>
        </p:spPr>
      </p:sp>
      <p:sp>
        <p:nvSpPr>
          <p:cNvPr id="21" name="Text 19"/>
          <p:cNvSpPr/>
          <p:nvPr/>
        </p:nvSpPr>
        <p:spPr>
          <a:xfrm>
            <a:off x="4370884" y="1873250"/>
            <a:ext cx="3532188" cy="222250"/>
          </a:xfrm>
          <a:prstGeom prst="rect">
            <a:avLst/>
          </a:prstGeom>
          <a:noFill/>
          <a:ln/>
        </p:spPr>
        <p:txBody>
          <a:bodyPr wrap="square" lIns="0" tIns="0" rIns="0" bIns="0" rtlCol="0" anchor="ctr"/>
          <a:lstStyle/>
          <a:p>
            <a:pPr>
              <a:lnSpc>
                <a:spcPct val="120000"/>
              </a:lnSpc>
            </a:pPr>
            <a:r>
              <a:rPr lang="en-US" sz="1250" b="1" dirty="0">
                <a:solidFill>
                  <a:srgbClr val="0A84FF"/>
                </a:solidFill>
                <a:latin typeface="Liter" pitchFamily="34" charset="0"/>
                <a:ea typeface="Liter" pitchFamily="34" charset="-122"/>
                <a:cs typeface="Liter" pitchFamily="34" charset="-120"/>
              </a:rPr>
              <a:t>Augmented Reality</a:t>
            </a:r>
            <a:endParaRPr lang="en-US" sz="1600" dirty="0"/>
          </a:p>
        </p:txBody>
      </p:sp>
      <p:sp>
        <p:nvSpPr>
          <p:cNvPr id="22" name="Text 20"/>
          <p:cNvSpPr/>
          <p:nvPr/>
        </p:nvSpPr>
        <p:spPr>
          <a:xfrm>
            <a:off x="4370884" y="2190750"/>
            <a:ext cx="103188" cy="190500"/>
          </a:xfrm>
          <a:prstGeom prst="rect">
            <a:avLst/>
          </a:prstGeom>
          <a:noFill/>
          <a:ln/>
        </p:spPr>
        <p:txBody>
          <a:bodyPr wrap="square" lIns="0" tIns="0" rIns="0" bIns="0" rtlCol="0" anchor="ctr"/>
          <a:lstStyle/>
          <a:p>
            <a:pPr>
              <a:lnSpc>
                <a:spcPct val="130000"/>
              </a:lnSpc>
            </a:pPr>
            <a:r>
              <a:rPr lang="en-US" sz="1000" dirty="0">
                <a:solidFill>
                  <a:srgbClr val="0A84FF"/>
                </a:solidFill>
                <a:latin typeface="Quattrocento Sans" pitchFamily="34" charset="0"/>
                <a:ea typeface="Quattrocento Sans" pitchFamily="34" charset="-122"/>
                <a:cs typeface="Quattrocento Sans" pitchFamily="34" charset="-120"/>
              </a:rPr>
              <a:t>•</a:t>
            </a:r>
            <a:endParaRPr lang="en-US" sz="1600" dirty="0"/>
          </a:p>
        </p:txBody>
      </p:sp>
      <p:sp>
        <p:nvSpPr>
          <p:cNvPr id="23" name="Text 21"/>
          <p:cNvSpPr/>
          <p:nvPr/>
        </p:nvSpPr>
        <p:spPr>
          <a:xfrm>
            <a:off x="4476056" y="2190750"/>
            <a:ext cx="1468438" cy="190500"/>
          </a:xfrm>
          <a:prstGeom prst="rect">
            <a:avLst/>
          </a:prstGeom>
          <a:noFill/>
          <a:ln/>
        </p:spPr>
        <p:txBody>
          <a:bodyPr wrap="square" lIns="0" tIns="0" rIns="0" bIns="0" rtlCol="0" anchor="ctr"/>
          <a:lstStyle/>
          <a:p>
            <a:pPr>
              <a:lnSpc>
                <a:spcPct val="130000"/>
              </a:lnSpc>
            </a:pPr>
            <a:r>
              <a:rPr lang="en-US" sz="1000" b="1" dirty="0">
                <a:solidFill>
                  <a:srgbClr val="0A84FF"/>
                </a:solidFill>
                <a:latin typeface="Quattrocento Sans" pitchFamily="34" charset="0"/>
                <a:ea typeface="Quattrocento Sans" pitchFamily="34" charset="-122"/>
                <a:cs typeface="Quattrocento Sans" pitchFamily="34" charset="-120"/>
              </a:rPr>
              <a:t>Pokemon GO</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style games</a:t>
            </a:r>
            <a:endParaRPr lang="en-US" sz="1600" dirty="0"/>
          </a:p>
        </p:txBody>
      </p:sp>
      <p:sp>
        <p:nvSpPr>
          <p:cNvPr id="24" name="Text 22"/>
          <p:cNvSpPr/>
          <p:nvPr/>
        </p:nvSpPr>
        <p:spPr>
          <a:xfrm>
            <a:off x="4370884" y="2444750"/>
            <a:ext cx="103188" cy="190500"/>
          </a:xfrm>
          <a:prstGeom prst="rect">
            <a:avLst/>
          </a:prstGeom>
          <a:noFill/>
          <a:ln/>
        </p:spPr>
        <p:txBody>
          <a:bodyPr wrap="square" lIns="0" tIns="0" rIns="0" bIns="0" rtlCol="0" anchor="ctr"/>
          <a:lstStyle/>
          <a:p>
            <a:pPr>
              <a:lnSpc>
                <a:spcPct val="130000"/>
              </a:lnSpc>
            </a:pPr>
            <a:r>
              <a:rPr lang="en-US" sz="1000" dirty="0">
                <a:solidFill>
                  <a:srgbClr val="0A84FF"/>
                </a:solidFill>
                <a:latin typeface="Quattrocento Sans" pitchFamily="34" charset="0"/>
                <a:ea typeface="Quattrocento Sans" pitchFamily="34" charset="-122"/>
                <a:cs typeface="Quattrocento Sans" pitchFamily="34" charset="-120"/>
              </a:rPr>
              <a:t>•</a:t>
            </a:r>
            <a:endParaRPr lang="en-US" sz="1600" dirty="0"/>
          </a:p>
        </p:txBody>
      </p:sp>
      <p:sp>
        <p:nvSpPr>
          <p:cNvPr id="25" name="Text 23"/>
          <p:cNvSpPr/>
          <p:nvPr/>
        </p:nvSpPr>
        <p:spPr>
          <a:xfrm>
            <a:off x="4476056" y="2444750"/>
            <a:ext cx="1524000" cy="190500"/>
          </a:xfrm>
          <a:prstGeom prst="rect">
            <a:avLst/>
          </a:prstGeom>
          <a:noFill/>
          <a:ln/>
        </p:spPr>
        <p:txBody>
          <a:bodyPr wrap="square" lIns="0" tIns="0" rIns="0" bIns="0" rtlCol="0" anchor="ctr"/>
          <a:lstStyle/>
          <a:p>
            <a:pPr>
              <a:lnSpc>
                <a:spcPct val="130000"/>
              </a:lnSpc>
            </a:pPr>
            <a:r>
              <a:rPr lang="en-US" sz="1000" b="1" dirty="0">
                <a:solidFill>
                  <a:srgbClr val="0A84FF"/>
                </a:solidFill>
                <a:latin typeface="Quattrocento Sans" pitchFamily="34" charset="0"/>
                <a:ea typeface="Quattrocento Sans" pitchFamily="34" charset="-122"/>
                <a:cs typeface="Quattrocento Sans" pitchFamily="34" charset="-120"/>
              </a:rPr>
              <a:t>Virtual try-on</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for shopping</a:t>
            </a:r>
            <a:endParaRPr lang="en-US" sz="1600" dirty="0"/>
          </a:p>
        </p:txBody>
      </p:sp>
      <p:sp>
        <p:nvSpPr>
          <p:cNvPr id="26" name="Text 24"/>
          <p:cNvSpPr/>
          <p:nvPr/>
        </p:nvSpPr>
        <p:spPr>
          <a:xfrm>
            <a:off x="4370884" y="2698750"/>
            <a:ext cx="103188" cy="190500"/>
          </a:xfrm>
          <a:prstGeom prst="rect">
            <a:avLst/>
          </a:prstGeom>
          <a:noFill/>
          <a:ln/>
        </p:spPr>
        <p:txBody>
          <a:bodyPr wrap="square" lIns="0" tIns="0" rIns="0" bIns="0" rtlCol="0" anchor="ctr"/>
          <a:lstStyle/>
          <a:p>
            <a:pPr>
              <a:lnSpc>
                <a:spcPct val="130000"/>
              </a:lnSpc>
            </a:pPr>
            <a:r>
              <a:rPr lang="en-US" sz="1000" dirty="0">
                <a:solidFill>
                  <a:srgbClr val="0A84FF"/>
                </a:solidFill>
                <a:latin typeface="Quattrocento Sans" pitchFamily="34" charset="0"/>
                <a:ea typeface="Quattrocento Sans" pitchFamily="34" charset="-122"/>
                <a:cs typeface="Quattrocento Sans" pitchFamily="34" charset="-120"/>
              </a:rPr>
              <a:t>•</a:t>
            </a:r>
            <a:endParaRPr lang="en-US" sz="1600" dirty="0"/>
          </a:p>
        </p:txBody>
      </p:sp>
      <p:sp>
        <p:nvSpPr>
          <p:cNvPr id="27" name="Text 25"/>
          <p:cNvSpPr/>
          <p:nvPr/>
        </p:nvSpPr>
        <p:spPr>
          <a:xfrm>
            <a:off x="4476056" y="2698750"/>
            <a:ext cx="1809750" cy="190500"/>
          </a:xfrm>
          <a:prstGeom prst="rect">
            <a:avLst/>
          </a:prstGeom>
          <a:noFill/>
          <a:ln/>
        </p:spPr>
        <p:txBody>
          <a:bodyPr wrap="square" lIns="0" tIns="0" rIns="0" bIns="0" rtlCol="0" anchor="ctr"/>
          <a:lstStyle/>
          <a:p>
            <a:pPr>
              <a:lnSpc>
                <a:spcPct val="130000"/>
              </a:lnSpc>
            </a:pPr>
            <a:r>
              <a:rPr lang="en-US" sz="1000" b="1" dirty="0">
                <a:solidFill>
                  <a:srgbClr val="0A84FF"/>
                </a:solidFill>
                <a:latin typeface="Quattrocento Sans" pitchFamily="34" charset="0"/>
                <a:ea typeface="Quattrocento Sans" pitchFamily="34" charset="-122"/>
                <a:cs typeface="Quattrocento Sans" pitchFamily="34" charset="-120"/>
              </a:rPr>
              <a:t>Interactive learning</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experiences</a:t>
            </a:r>
            <a:endParaRPr lang="en-US" sz="1600" dirty="0"/>
          </a:p>
        </p:txBody>
      </p:sp>
      <p:sp>
        <p:nvSpPr>
          <p:cNvPr id="28" name="Shape 26"/>
          <p:cNvSpPr/>
          <p:nvPr/>
        </p:nvSpPr>
        <p:spPr>
          <a:xfrm>
            <a:off x="8106767" y="1063625"/>
            <a:ext cx="3770313" cy="1984375"/>
          </a:xfrm>
          <a:custGeom>
            <a:avLst/>
            <a:gdLst/>
            <a:ahLst/>
            <a:cxnLst/>
            <a:rect l="l" t="t" r="r" b="b"/>
            <a:pathLst>
              <a:path w="3770313" h="1984375">
                <a:moveTo>
                  <a:pt x="31750" y="0"/>
                </a:moveTo>
                <a:lnTo>
                  <a:pt x="3738626" y="0"/>
                </a:lnTo>
                <a:cubicBezTo>
                  <a:pt x="3756149" y="0"/>
                  <a:pt x="3770376" y="14227"/>
                  <a:pt x="3770376" y="31750"/>
                </a:cubicBezTo>
                <a:lnTo>
                  <a:pt x="3770376" y="1857375"/>
                </a:lnTo>
                <a:cubicBezTo>
                  <a:pt x="3770376" y="1927468"/>
                  <a:pt x="3713469" y="1984375"/>
                  <a:pt x="3643376" y="1984375"/>
                </a:cubicBezTo>
                <a:lnTo>
                  <a:pt x="127000" y="1984375"/>
                </a:lnTo>
                <a:cubicBezTo>
                  <a:pt x="56907" y="1984375"/>
                  <a:pt x="0" y="1927468"/>
                  <a:pt x="0" y="1857375"/>
                </a:cubicBezTo>
                <a:lnTo>
                  <a:pt x="0" y="31750"/>
                </a:lnTo>
                <a:cubicBezTo>
                  <a:pt x="0" y="14227"/>
                  <a:pt x="14227" y="0"/>
                  <a:pt x="31750" y="0"/>
                </a:cubicBezTo>
                <a:close/>
              </a:path>
            </a:pathLst>
          </a:custGeom>
          <a:gradFill rotWithShape="1" flip="none">
            <a:gsLst>
              <a:gs pos="0">
                <a:srgbClr val="8E8E93">
                  <a:alpha val="20000"/>
                </a:srgbClr>
              </a:gs>
              <a:gs pos="100000">
                <a:srgbClr val="2C2C2E"/>
              </a:gs>
            </a:gsLst>
            <a:lin ang="2700000" scaled="1"/>
          </a:gradFill>
          <a:ln/>
        </p:spPr>
      </p:sp>
      <p:sp>
        <p:nvSpPr>
          <p:cNvPr id="29" name="Shape 27"/>
          <p:cNvSpPr/>
          <p:nvPr/>
        </p:nvSpPr>
        <p:spPr>
          <a:xfrm>
            <a:off x="8106767" y="1063625"/>
            <a:ext cx="3770313" cy="31750"/>
          </a:xfrm>
          <a:custGeom>
            <a:avLst/>
            <a:gdLst/>
            <a:ahLst/>
            <a:cxnLst/>
            <a:rect l="l" t="t" r="r" b="b"/>
            <a:pathLst>
              <a:path w="3770313" h="31750">
                <a:moveTo>
                  <a:pt x="31750" y="0"/>
                </a:moveTo>
                <a:lnTo>
                  <a:pt x="3738626" y="0"/>
                </a:lnTo>
                <a:cubicBezTo>
                  <a:pt x="3756149" y="0"/>
                  <a:pt x="3770376" y="14227"/>
                  <a:pt x="3770376" y="31750"/>
                </a:cubicBezTo>
                <a:lnTo>
                  <a:pt x="3770376" y="31750"/>
                </a:lnTo>
                <a:lnTo>
                  <a:pt x="0" y="31750"/>
                </a:lnTo>
                <a:lnTo>
                  <a:pt x="0" y="31750"/>
                </a:lnTo>
                <a:cubicBezTo>
                  <a:pt x="0" y="14227"/>
                  <a:pt x="14227" y="0"/>
                  <a:pt x="31750" y="0"/>
                </a:cubicBezTo>
                <a:close/>
              </a:path>
            </a:pathLst>
          </a:custGeom>
          <a:solidFill>
            <a:srgbClr val="8E8E93"/>
          </a:solidFill>
          <a:ln/>
        </p:spPr>
      </p:sp>
      <p:sp>
        <p:nvSpPr>
          <p:cNvPr id="30" name="Shape 28"/>
          <p:cNvSpPr/>
          <p:nvPr/>
        </p:nvSpPr>
        <p:spPr>
          <a:xfrm>
            <a:off x="8265518" y="1238250"/>
            <a:ext cx="508000" cy="508000"/>
          </a:xfrm>
          <a:prstGeom prst="roundRect">
            <a:avLst>
              <a:gd name="adj" fmla="val 25000"/>
            </a:avLst>
          </a:prstGeom>
          <a:solidFill>
            <a:srgbClr val="8E8E93"/>
          </a:solidFill>
          <a:ln/>
        </p:spPr>
      </p:sp>
      <p:sp>
        <p:nvSpPr>
          <p:cNvPr id="31" name="Shape 29"/>
          <p:cNvSpPr/>
          <p:nvPr/>
        </p:nvSpPr>
        <p:spPr>
          <a:xfrm>
            <a:off x="8387557" y="1373188"/>
            <a:ext cx="267891" cy="238125"/>
          </a:xfrm>
          <a:custGeom>
            <a:avLst/>
            <a:gdLst/>
            <a:ahLst/>
            <a:cxnLst/>
            <a:rect l="l" t="t" r="r" b="b"/>
            <a:pathLst>
              <a:path w="267891" h="238125">
                <a:moveTo>
                  <a:pt x="115342" y="40928"/>
                </a:moveTo>
                <a:lnTo>
                  <a:pt x="152549" y="40928"/>
                </a:lnTo>
                <a:lnTo>
                  <a:pt x="152549" y="63252"/>
                </a:lnTo>
                <a:lnTo>
                  <a:pt x="115342" y="63252"/>
                </a:lnTo>
                <a:lnTo>
                  <a:pt x="115342" y="40928"/>
                </a:lnTo>
                <a:close/>
                <a:moveTo>
                  <a:pt x="111621" y="14883"/>
                </a:moveTo>
                <a:cubicBezTo>
                  <a:pt x="99296" y="14883"/>
                  <a:pt x="89297" y="24882"/>
                  <a:pt x="89297" y="37207"/>
                </a:cubicBezTo>
                <a:lnTo>
                  <a:pt x="89297" y="66973"/>
                </a:lnTo>
                <a:cubicBezTo>
                  <a:pt x="89297" y="79297"/>
                  <a:pt x="99296" y="89297"/>
                  <a:pt x="111621" y="89297"/>
                </a:cubicBezTo>
                <a:lnTo>
                  <a:pt x="119062" y="89297"/>
                </a:lnTo>
                <a:lnTo>
                  <a:pt x="119062" y="104180"/>
                </a:lnTo>
                <a:lnTo>
                  <a:pt x="14883" y="104180"/>
                </a:lnTo>
                <a:cubicBezTo>
                  <a:pt x="6651" y="104180"/>
                  <a:pt x="0" y="110830"/>
                  <a:pt x="0" y="119062"/>
                </a:cubicBezTo>
                <a:cubicBezTo>
                  <a:pt x="0" y="127295"/>
                  <a:pt x="6651" y="133945"/>
                  <a:pt x="14883" y="133945"/>
                </a:cubicBezTo>
                <a:lnTo>
                  <a:pt x="59531" y="133945"/>
                </a:lnTo>
                <a:lnTo>
                  <a:pt x="59531" y="148828"/>
                </a:lnTo>
                <a:lnTo>
                  <a:pt x="52090" y="148828"/>
                </a:lnTo>
                <a:cubicBezTo>
                  <a:pt x="39765" y="148828"/>
                  <a:pt x="29766" y="158828"/>
                  <a:pt x="29766" y="171152"/>
                </a:cubicBezTo>
                <a:lnTo>
                  <a:pt x="29766" y="200918"/>
                </a:lnTo>
                <a:cubicBezTo>
                  <a:pt x="29766" y="213243"/>
                  <a:pt x="39765" y="223242"/>
                  <a:pt x="52090" y="223242"/>
                </a:cubicBezTo>
                <a:lnTo>
                  <a:pt x="96738" y="223242"/>
                </a:lnTo>
                <a:cubicBezTo>
                  <a:pt x="109063" y="223242"/>
                  <a:pt x="119062" y="213243"/>
                  <a:pt x="119062" y="200918"/>
                </a:cubicBezTo>
                <a:lnTo>
                  <a:pt x="119062" y="171152"/>
                </a:lnTo>
                <a:cubicBezTo>
                  <a:pt x="119062" y="158828"/>
                  <a:pt x="109063" y="148828"/>
                  <a:pt x="96738" y="148828"/>
                </a:cubicBezTo>
                <a:lnTo>
                  <a:pt x="89297" y="148828"/>
                </a:lnTo>
                <a:lnTo>
                  <a:pt x="89297" y="133945"/>
                </a:lnTo>
                <a:lnTo>
                  <a:pt x="178594" y="133945"/>
                </a:lnTo>
                <a:lnTo>
                  <a:pt x="178594" y="148828"/>
                </a:lnTo>
                <a:lnTo>
                  <a:pt x="171152" y="148828"/>
                </a:lnTo>
                <a:cubicBezTo>
                  <a:pt x="158828" y="148828"/>
                  <a:pt x="148828" y="158828"/>
                  <a:pt x="148828" y="171152"/>
                </a:cubicBezTo>
                <a:lnTo>
                  <a:pt x="148828" y="200918"/>
                </a:lnTo>
                <a:cubicBezTo>
                  <a:pt x="148828" y="213243"/>
                  <a:pt x="158828" y="223242"/>
                  <a:pt x="171152" y="223242"/>
                </a:cubicBezTo>
                <a:lnTo>
                  <a:pt x="215801" y="223242"/>
                </a:lnTo>
                <a:cubicBezTo>
                  <a:pt x="228126" y="223242"/>
                  <a:pt x="238125" y="213243"/>
                  <a:pt x="238125" y="200918"/>
                </a:cubicBezTo>
                <a:lnTo>
                  <a:pt x="238125" y="171152"/>
                </a:lnTo>
                <a:cubicBezTo>
                  <a:pt x="238125" y="158828"/>
                  <a:pt x="228126" y="148828"/>
                  <a:pt x="215801" y="148828"/>
                </a:cubicBezTo>
                <a:lnTo>
                  <a:pt x="208359" y="148828"/>
                </a:lnTo>
                <a:lnTo>
                  <a:pt x="208359" y="133945"/>
                </a:lnTo>
                <a:lnTo>
                  <a:pt x="253008" y="133945"/>
                </a:lnTo>
                <a:cubicBezTo>
                  <a:pt x="261240" y="133945"/>
                  <a:pt x="267891" y="127295"/>
                  <a:pt x="267891" y="119062"/>
                </a:cubicBezTo>
                <a:cubicBezTo>
                  <a:pt x="267891" y="110830"/>
                  <a:pt x="261240" y="104180"/>
                  <a:pt x="253008" y="104180"/>
                </a:cubicBezTo>
                <a:lnTo>
                  <a:pt x="148828" y="104180"/>
                </a:lnTo>
                <a:lnTo>
                  <a:pt x="148828" y="89297"/>
                </a:lnTo>
                <a:lnTo>
                  <a:pt x="156270" y="89297"/>
                </a:lnTo>
                <a:cubicBezTo>
                  <a:pt x="168594" y="89297"/>
                  <a:pt x="178594" y="79297"/>
                  <a:pt x="178594" y="66973"/>
                </a:cubicBezTo>
                <a:lnTo>
                  <a:pt x="178594" y="37207"/>
                </a:lnTo>
                <a:cubicBezTo>
                  <a:pt x="178594" y="24882"/>
                  <a:pt x="168594" y="14883"/>
                  <a:pt x="156270" y="14883"/>
                </a:cubicBezTo>
                <a:lnTo>
                  <a:pt x="111621" y="14883"/>
                </a:lnTo>
                <a:close/>
                <a:moveTo>
                  <a:pt x="208359" y="174873"/>
                </a:moveTo>
                <a:lnTo>
                  <a:pt x="212080" y="174873"/>
                </a:lnTo>
                <a:lnTo>
                  <a:pt x="212080" y="197197"/>
                </a:lnTo>
                <a:lnTo>
                  <a:pt x="174873" y="197197"/>
                </a:lnTo>
                <a:lnTo>
                  <a:pt x="174873" y="174873"/>
                </a:lnTo>
                <a:lnTo>
                  <a:pt x="208359" y="174873"/>
                </a:lnTo>
                <a:close/>
                <a:moveTo>
                  <a:pt x="89297" y="174873"/>
                </a:moveTo>
                <a:lnTo>
                  <a:pt x="93018" y="174873"/>
                </a:lnTo>
                <a:lnTo>
                  <a:pt x="93018" y="197197"/>
                </a:lnTo>
                <a:lnTo>
                  <a:pt x="55811" y="197197"/>
                </a:lnTo>
                <a:lnTo>
                  <a:pt x="55811" y="174873"/>
                </a:lnTo>
                <a:lnTo>
                  <a:pt x="89297" y="174873"/>
                </a:lnTo>
                <a:close/>
              </a:path>
            </a:pathLst>
          </a:custGeom>
          <a:solidFill>
            <a:srgbClr val="FFFFFF"/>
          </a:solidFill>
          <a:ln/>
        </p:spPr>
      </p:sp>
      <p:sp>
        <p:nvSpPr>
          <p:cNvPr id="32" name="Text 30"/>
          <p:cNvSpPr/>
          <p:nvPr/>
        </p:nvSpPr>
        <p:spPr>
          <a:xfrm>
            <a:off x="8265518" y="1873250"/>
            <a:ext cx="3532188" cy="222250"/>
          </a:xfrm>
          <a:prstGeom prst="rect">
            <a:avLst/>
          </a:prstGeom>
          <a:noFill/>
          <a:ln/>
        </p:spPr>
        <p:txBody>
          <a:bodyPr wrap="square" lIns="0" tIns="0" rIns="0" bIns="0" rtlCol="0" anchor="ctr"/>
          <a:lstStyle/>
          <a:p>
            <a:pPr>
              <a:lnSpc>
                <a:spcPct val="120000"/>
              </a:lnSpc>
            </a:pPr>
            <a:r>
              <a:rPr lang="en-US" sz="1250" b="1" dirty="0">
                <a:solidFill>
                  <a:srgbClr val="8E8E93"/>
                </a:solidFill>
                <a:latin typeface="Liter" pitchFamily="34" charset="0"/>
                <a:ea typeface="Liter" pitchFamily="34" charset="-122"/>
                <a:cs typeface="Liter" pitchFamily="34" charset="-120"/>
              </a:rPr>
              <a:t>Internet of Things</a:t>
            </a:r>
            <a:endParaRPr lang="en-US" sz="1600" dirty="0"/>
          </a:p>
        </p:txBody>
      </p:sp>
      <p:sp>
        <p:nvSpPr>
          <p:cNvPr id="33" name="Text 31"/>
          <p:cNvSpPr/>
          <p:nvPr/>
        </p:nvSpPr>
        <p:spPr>
          <a:xfrm>
            <a:off x="8265518" y="2190750"/>
            <a:ext cx="103188" cy="190500"/>
          </a:xfrm>
          <a:prstGeom prst="rect">
            <a:avLst/>
          </a:prstGeom>
          <a:noFill/>
          <a:ln/>
        </p:spPr>
        <p:txBody>
          <a:bodyPr wrap="square" lIns="0" tIns="0" rIns="0" bIns="0" rtlCol="0" anchor="ctr"/>
          <a:lstStyle/>
          <a:p>
            <a:pPr>
              <a:lnSpc>
                <a:spcPct val="130000"/>
              </a:lnSpc>
            </a:pPr>
            <a:r>
              <a:rPr lang="en-US" sz="1000" dirty="0">
                <a:solidFill>
                  <a:srgbClr val="8E8E93"/>
                </a:solidFill>
                <a:latin typeface="Quattrocento Sans" pitchFamily="34" charset="0"/>
                <a:ea typeface="Quattrocento Sans" pitchFamily="34" charset="-122"/>
                <a:cs typeface="Quattrocento Sans" pitchFamily="34" charset="-120"/>
              </a:rPr>
              <a:t>•</a:t>
            </a:r>
            <a:endParaRPr lang="en-US" sz="1600" dirty="0"/>
          </a:p>
        </p:txBody>
      </p:sp>
      <p:sp>
        <p:nvSpPr>
          <p:cNvPr id="34" name="Text 32"/>
          <p:cNvSpPr/>
          <p:nvPr/>
        </p:nvSpPr>
        <p:spPr>
          <a:xfrm>
            <a:off x="8370690" y="2190750"/>
            <a:ext cx="1452563" cy="190500"/>
          </a:xfrm>
          <a:prstGeom prst="rect">
            <a:avLst/>
          </a:prstGeom>
          <a:noFill/>
          <a:ln/>
        </p:spPr>
        <p:txBody>
          <a:bodyPr wrap="square" lIns="0" tIns="0" rIns="0" bIns="0" rtlCol="0" anchor="ctr"/>
          <a:lstStyle/>
          <a:p>
            <a:pPr>
              <a:lnSpc>
                <a:spcPct val="130000"/>
              </a:lnSpc>
            </a:pPr>
            <a:r>
              <a:rPr lang="en-US" sz="1000" b="1" dirty="0">
                <a:solidFill>
                  <a:srgbClr val="8E8E93"/>
                </a:solidFill>
                <a:latin typeface="Quattrocento Sans" pitchFamily="34" charset="0"/>
                <a:ea typeface="Quattrocento Sans" pitchFamily="34" charset="-122"/>
                <a:cs typeface="Quattrocento Sans" pitchFamily="34" charset="-120"/>
              </a:rPr>
              <a:t>Smart home</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control apps</a:t>
            </a:r>
            <a:endParaRPr lang="en-US" sz="1600" dirty="0"/>
          </a:p>
        </p:txBody>
      </p:sp>
      <p:sp>
        <p:nvSpPr>
          <p:cNvPr id="35" name="Text 33"/>
          <p:cNvSpPr/>
          <p:nvPr/>
        </p:nvSpPr>
        <p:spPr>
          <a:xfrm>
            <a:off x="8265518" y="2444750"/>
            <a:ext cx="103188" cy="190500"/>
          </a:xfrm>
          <a:prstGeom prst="rect">
            <a:avLst/>
          </a:prstGeom>
          <a:noFill/>
          <a:ln/>
        </p:spPr>
        <p:txBody>
          <a:bodyPr wrap="square" lIns="0" tIns="0" rIns="0" bIns="0" rtlCol="0" anchor="ctr"/>
          <a:lstStyle/>
          <a:p>
            <a:pPr>
              <a:lnSpc>
                <a:spcPct val="130000"/>
              </a:lnSpc>
            </a:pPr>
            <a:r>
              <a:rPr lang="en-US" sz="1000" dirty="0">
                <a:solidFill>
                  <a:srgbClr val="8E8E93"/>
                </a:solidFill>
                <a:latin typeface="Quattrocento Sans" pitchFamily="34" charset="0"/>
                <a:ea typeface="Quattrocento Sans" pitchFamily="34" charset="-122"/>
                <a:cs typeface="Quattrocento Sans" pitchFamily="34" charset="-120"/>
              </a:rPr>
              <a:t>•</a:t>
            </a:r>
            <a:endParaRPr lang="en-US" sz="1600" dirty="0"/>
          </a:p>
        </p:txBody>
      </p:sp>
      <p:sp>
        <p:nvSpPr>
          <p:cNvPr id="36" name="Text 34"/>
          <p:cNvSpPr/>
          <p:nvPr/>
        </p:nvSpPr>
        <p:spPr>
          <a:xfrm>
            <a:off x="8370690" y="2444750"/>
            <a:ext cx="1619250" cy="190500"/>
          </a:xfrm>
          <a:prstGeom prst="rect">
            <a:avLst/>
          </a:prstGeom>
          <a:noFill/>
          <a:ln/>
        </p:spPr>
        <p:txBody>
          <a:bodyPr wrap="square" lIns="0" tIns="0" rIns="0" bIns="0" rtlCol="0" anchor="ctr"/>
          <a:lstStyle/>
          <a:p>
            <a:pPr>
              <a:lnSpc>
                <a:spcPct val="130000"/>
              </a:lnSpc>
            </a:pPr>
            <a:r>
              <a:rPr lang="en-US" sz="1000" b="1" dirty="0">
                <a:solidFill>
                  <a:srgbClr val="8E8E93"/>
                </a:solidFill>
                <a:latin typeface="Quattrocento Sans" pitchFamily="34" charset="0"/>
                <a:ea typeface="Quattrocento Sans" pitchFamily="34" charset="-122"/>
                <a:cs typeface="Quattrocento Sans" pitchFamily="34" charset="-120"/>
              </a:rPr>
              <a:t>Wearable device</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integration</a:t>
            </a:r>
            <a:endParaRPr lang="en-US" sz="1600" dirty="0"/>
          </a:p>
        </p:txBody>
      </p:sp>
      <p:sp>
        <p:nvSpPr>
          <p:cNvPr id="37" name="Text 35"/>
          <p:cNvSpPr/>
          <p:nvPr/>
        </p:nvSpPr>
        <p:spPr>
          <a:xfrm>
            <a:off x="8265518" y="2698750"/>
            <a:ext cx="103188" cy="190500"/>
          </a:xfrm>
          <a:prstGeom prst="rect">
            <a:avLst/>
          </a:prstGeom>
          <a:noFill/>
          <a:ln/>
        </p:spPr>
        <p:txBody>
          <a:bodyPr wrap="square" lIns="0" tIns="0" rIns="0" bIns="0" rtlCol="0" anchor="ctr"/>
          <a:lstStyle/>
          <a:p>
            <a:pPr>
              <a:lnSpc>
                <a:spcPct val="130000"/>
              </a:lnSpc>
            </a:pPr>
            <a:r>
              <a:rPr lang="en-US" sz="1000" dirty="0">
                <a:solidFill>
                  <a:srgbClr val="8E8E93"/>
                </a:solidFill>
                <a:latin typeface="Quattrocento Sans" pitchFamily="34" charset="0"/>
                <a:ea typeface="Quattrocento Sans" pitchFamily="34" charset="-122"/>
                <a:cs typeface="Quattrocento Sans" pitchFamily="34" charset="-120"/>
              </a:rPr>
              <a:t>•</a:t>
            </a:r>
            <a:endParaRPr lang="en-US" sz="1600" dirty="0"/>
          </a:p>
        </p:txBody>
      </p:sp>
      <p:sp>
        <p:nvSpPr>
          <p:cNvPr id="38" name="Text 36"/>
          <p:cNvSpPr/>
          <p:nvPr/>
        </p:nvSpPr>
        <p:spPr>
          <a:xfrm>
            <a:off x="8370690" y="2698750"/>
            <a:ext cx="1976438" cy="190500"/>
          </a:xfrm>
          <a:prstGeom prst="rect">
            <a:avLst/>
          </a:prstGeom>
          <a:noFill/>
          <a:ln/>
        </p:spPr>
        <p:txBody>
          <a:bodyPr wrap="square" lIns="0" tIns="0" rIns="0" bIns="0" rtlCol="0" anchor="ctr"/>
          <a:lstStyle/>
          <a:p>
            <a:pPr>
              <a:lnSpc>
                <a:spcPct val="130000"/>
              </a:lnSpc>
            </a:pPr>
            <a:r>
              <a:rPr lang="en-US" sz="1000" b="1" dirty="0">
                <a:solidFill>
                  <a:srgbClr val="8E8E93"/>
                </a:solidFill>
                <a:latin typeface="Quattrocento Sans" pitchFamily="34" charset="0"/>
                <a:ea typeface="Quattrocento Sans" pitchFamily="34" charset="-122"/>
                <a:cs typeface="Quattrocento Sans" pitchFamily="34" charset="-120"/>
              </a:rPr>
              <a:t>Connected cars</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and health devices</a:t>
            </a:r>
            <a:endParaRPr lang="en-US" sz="1600" dirty="0"/>
          </a:p>
        </p:txBody>
      </p:sp>
      <p:sp>
        <p:nvSpPr>
          <p:cNvPr id="39" name="Shape 37"/>
          <p:cNvSpPr/>
          <p:nvPr/>
        </p:nvSpPr>
        <p:spPr>
          <a:xfrm>
            <a:off x="333375" y="3175000"/>
            <a:ext cx="5699125" cy="2428875"/>
          </a:xfrm>
          <a:custGeom>
            <a:avLst/>
            <a:gdLst/>
            <a:ahLst/>
            <a:cxnLst/>
            <a:rect l="l" t="t" r="r" b="b"/>
            <a:pathLst>
              <a:path w="5699125" h="2428875">
                <a:moveTo>
                  <a:pt x="31750" y="0"/>
                </a:moveTo>
                <a:lnTo>
                  <a:pt x="5572125" y="0"/>
                </a:lnTo>
                <a:cubicBezTo>
                  <a:pt x="5642218" y="0"/>
                  <a:pt x="5699125" y="56907"/>
                  <a:pt x="5699125" y="127000"/>
                </a:cubicBezTo>
                <a:lnTo>
                  <a:pt x="5699125" y="2301875"/>
                </a:lnTo>
                <a:cubicBezTo>
                  <a:pt x="5699125" y="2371968"/>
                  <a:pt x="5642218" y="2428875"/>
                  <a:pt x="5572125" y="2428875"/>
                </a:cubicBezTo>
                <a:lnTo>
                  <a:pt x="31750" y="2428875"/>
                </a:lnTo>
                <a:cubicBezTo>
                  <a:pt x="14227" y="2428875"/>
                  <a:pt x="0" y="2414648"/>
                  <a:pt x="0" y="2397125"/>
                </a:cubicBezTo>
                <a:lnTo>
                  <a:pt x="0" y="31750"/>
                </a:lnTo>
                <a:cubicBezTo>
                  <a:pt x="0" y="14227"/>
                  <a:pt x="14227" y="0"/>
                  <a:pt x="31750" y="0"/>
                </a:cubicBezTo>
                <a:close/>
              </a:path>
            </a:pathLst>
          </a:custGeom>
          <a:solidFill>
            <a:srgbClr val="2C2C2E"/>
          </a:solidFill>
          <a:ln/>
        </p:spPr>
      </p:sp>
      <p:sp>
        <p:nvSpPr>
          <p:cNvPr id="40" name="Shape 38"/>
          <p:cNvSpPr/>
          <p:nvPr/>
        </p:nvSpPr>
        <p:spPr>
          <a:xfrm>
            <a:off x="333375" y="3175000"/>
            <a:ext cx="31750" cy="2428875"/>
          </a:xfrm>
          <a:custGeom>
            <a:avLst/>
            <a:gdLst/>
            <a:ahLst/>
            <a:cxnLst/>
            <a:rect l="l" t="t" r="r" b="b"/>
            <a:pathLst>
              <a:path w="31750" h="2428875">
                <a:moveTo>
                  <a:pt x="31750" y="0"/>
                </a:moveTo>
                <a:lnTo>
                  <a:pt x="31750" y="0"/>
                </a:lnTo>
                <a:lnTo>
                  <a:pt x="31750" y="2428875"/>
                </a:lnTo>
                <a:lnTo>
                  <a:pt x="31750" y="2428875"/>
                </a:lnTo>
                <a:cubicBezTo>
                  <a:pt x="14227" y="2428875"/>
                  <a:pt x="0" y="2414648"/>
                  <a:pt x="0" y="2397125"/>
                </a:cubicBezTo>
                <a:lnTo>
                  <a:pt x="0" y="31750"/>
                </a:lnTo>
                <a:cubicBezTo>
                  <a:pt x="0" y="14227"/>
                  <a:pt x="14227" y="0"/>
                  <a:pt x="31750" y="0"/>
                </a:cubicBezTo>
                <a:close/>
              </a:path>
            </a:pathLst>
          </a:custGeom>
          <a:solidFill>
            <a:srgbClr val="34C759"/>
          </a:solidFill>
          <a:ln/>
        </p:spPr>
      </p:sp>
      <p:sp>
        <p:nvSpPr>
          <p:cNvPr id="41" name="Shape 39"/>
          <p:cNvSpPr/>
          <p:nvPr/>
        </p:nvSpPr>
        <p:spPr>
          <a:xfrm>
            <a:off x="579438" y="3397250"/>
            <a:ext cx="119063" cy="1587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rgbClr val="34C759"/>
          </a:solidFill>
          <a:ln/>
        </p:spPr>
      </p:sp>
      <p:sp>
        <p:nvSpPr>
          <p:cNvPr id="42" name="Text 40"/>
          <p:cNvSpPr/>
          <p:nvPr/>
        </p:nvSpPr>
        <p:spPr>
          <a:xfrm>
            <a:off x="738188" y="3365500"/>
            <a:ext cx="5183188" cy="222250"/>
          </a:xfrm>
          <a:prstGeom prst="rect">
            <a:avLst/>
          </a:prstGeom>
          <a:noFill/>
          <a:ln/>
        </p:spPr>
        <p:txBody>
          <a:bodyPr wrap="square" lIns="0" tIns="0" rIns="0" bIns="0" rtlCol="0" anchor="ctr"/>
          <a:lstStyle/>
          <a:p>
            <a:pPr>
              <a:lnSpc>
                <a:spcPct val="120000"/>
              </a:lnSpc>
            </a:pPr>
            <a:r>
              <a:rPr lang="en-US" sz="1250" b="1" dirty="0">
                <a:solidFill>
                  <a:srgbClr val="34C759"/>
                </a:solidFill>
                <a:latin typeface="Liter" pitchFamily="34" charset="0"/>
                <a:ea typeface="Liter" pitchFamily="34" charset="-122"/>
                <a:cs typeface="Liter" pitchFamily="34" charset="-120"/>
              </a:rPr>
              <a:t>Key Points</a:t>
            </a:r>
            <a:endParaRPr lang="en-US" sz="1600" dirty="0"/>
          </a:p>
        </p:txBody>
      </p:sp>
      <p:sp>
        <p:nvSpPr>
          <p:cNvPr id="43" name="Text 41"/>
          <p:cNvSpPr/>
          <p:nvPr/>
        </p:nvSpPr>
        <p:spPr>
          <a:xfrm>
            <a:off x="539750" y="3714750"/>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4" name="Text 42"/>
          <p:cNvSpPr/>
          <p:nvPr/>
        </p:nvSpPr>
        <p:spPr>
          <a:xfrm>
            <a:off x="644922" y="3714750"/>
            <a:ext cx="2325688"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5G technology</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enables faster, richer apps</a:t>
            </a:r>
            <a:endParaRPr lang="en-US" sz="1600" dirty="0"/>
          </a:p>
        </p:txBody>
      </p:sp>
      <p:sp>
        <p:nvSpPr>
          <p:cNvPr id="45" name="Text 43"/>
          <p:cNvSpPr/>
          <p:nvPr/>
        </p:nvSpPr>
        <p:spPr>
          <a:xfrm>
            <a:off x="539750" y="4000500"/>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6" name="Text 44"/>
          <p:cNvSpPr/>
          <p:nvPr/>
        </p:nvSpPr>
        <p:spPr>
          <a:xfrm>
            <a:off x="644922" y="4000500"/>
            <a:ext cx="2238375"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Wearable apps</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for watches and glasses</a:t>
            </a:r>
            <a:endParaRPr lang="en-US" sz="1600" dirty="0"/>
          </a:p>
        </p:txBody>
      </p:sp>
      <p:sp>
        <p:nvSpPr>
          <p:cNvPr id="47" name="Text 45"/>
          <p:cNvSpPr/>
          <p:nvPr/>
        </p:nvSpPr>
        <p:spPr>
          <a:xfrm>
            <a:off x="539750" y="4286250"/>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8" name="Text 46"/>
          <p:cNvSpPr/>
          <p:nvPr/>
        </p:nvSpPr>
        <p:spPr>
          <a:xfrm>
            <a:off x="644922" y="4286250"/>
            <a:ext cx="1563688"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Voice-controlled</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interfaces</a:t>
            </a:r>
            <a:endParaRPr lang="en-US" sz="1600" dirty="0"/>
          </a:p>
        </p:txBody>
      </p:sp>
      <p:sp>
        <p:nvSpPr>
          <p:cNvPr id="49" name="Text 47"/>
          <p:cNvSpPr/>
          <p:nvPr/>
        </p:nvSpPr>
        <p:spPr>
          <a:xfrm>
            <a:off x="539750" y="4572000"/>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50" name="Text 48"/>
          <p:cNvSpPr/>
          <p:nvPr/>
        </p:nvSpPr>
        <p:spPr>
          <a:xfrm>
            <a:off x="644922" y="4572000"/>
            <a:ext cx="1920875"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Blockchain integration</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for security</a:t>
            </a:r>
            <a:endParaRPr lang="en-US" sz="1600" dirty="0"/>
          </a:p>
        </p:txBody>
      </p:sp>
      <p:sp>
        <p:nvSpPr>
          <p:cNvPr id="51" name="Text 49"/>
          <p:cNvSpPr/>
          <p:nvPr/>
        </p:nvSpPr>
        <p:spPr>
          <a:xfrm>
            <a:off x="539750" y="4857750"/>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52" name="Text 50"/>
          <p:cNvSpPr/>
          <p:nvPr/>
        </p:nvSpPr>
        <p:spPr>
          <a:xfrm>
            <a:off x="644922" y="4857750"/>
            <a:ext cx="1381125"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Foldable device</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support</a:t>
            </a:r>
            <a:endParaRPr lang="en-US" sz="1600" dirty="0"/>
          </a:p>
        </p:txBody>
      </p:sp>
      <p:sp>
        <p:nvSpPr>
          <p:cNvPr id="53" name="Shape 51"/>
          <p:cNvSpPr/>
          <p:nvPr/>
        </p:nvSpPr>
        <p:spPr>
          <a:xfrm>
            <a:off x="320675" y="5737228"/>
            <a:ext cx="5705475" cy="1260475"/>
          </a:xfrm>
          <a:prstGeom prst="roundRect">
            <a:avLst>
              <a:gd name="adj" fmla="val 10076"/>
            </a:avLst>
          </a:prstGeom>
          <a:solidFill>
            <a:srgbClr val="0A84FF">
              <a:alpha val="10196"/>
            </a:srgbClr>
          </a:solidFill>
          <a:ln w="10160">
            <a:solidFill>
              <a:srgbClr val="0A84FF">
                <a:alpha val="30196"/>
              </a:srgbClr>
            </a:solidFill>
            <a:prstDash val="solid"/>
          </a:ln>
        </p:spPr>
      </p:sp>
      <p:sp>
        <p:nvSpPr>
          <p:cNvPr id="54" name="Shape 52"/>
          <p:cNvSpPr/>
          <p:nvPr/>
        </p:nvSpPr>
        <p:spPr>
          <a:xfrm>
            <a:off x="502444" y="5938839"/>
            <a:ext cx="142875" cy="142875"/>
          </a:xfrm>
          <a:custGeom>
            <a:avLst/>
            <a:gdLst/>
            <a:ahLst/>
            <a:cxnLst/>
            <a:rect l="l" t="t" r="r" b="b"/>
            <a:pathLst>
              <a:path w="142875" h="142875">
                <a:moveTo>
                  <a:pt x="71438" y="133945"/>
                </a:moveTo>
                <a:cubicBezTo>
                  <a:pt x="110896" y="133945"/>
                  <a:pt x="142875" y="103947"/>
                  <a:pt x="142875" y="66973"/>
                </a:cubicBezTo>
                <a:cubicBezTo>
                  <a:pt x="142875" y="29998"/>
                  <a:pt x="110896" y="0"/>
                  <a:pt x="71438" y="0"/>
                </a:cubicBezTo>
                <a:cubicBezTo>
                  <a:pt x="31979" y="0"/>
                  <a:pt x="0" y="29998"/>
                  <a:pt x="0" y="66973"/>
                </a:cubicBezTo>
                <a:cubicBezTo>
                  <a:pt x="0" y="82125"/>
                  <a:pt x="5358" y="96078"/>
                  <a:pt x="14399" y="107296"/>
                </a:cubicBezTo>
                <a:lnTo>
                  <a:pt x="781" y="133052"/>
                </a:lnTo>
                <a:cubicBezTo>
                  <a:pt x="-558" y="135564"/>
                  <a:pt x="-140" y="138633"/>
                  <a:pt x="1786" y="140726"/>
                </a:cubicBezTo>
                <a:cubicBezTo>
                  <a:pt x="3711" y="142819"/>
                  <a:pt x="6753" y="143461"/>
                  <a:pt x="9348" y="142345"/>
                </a:cubicBezTo>
                <a:lnTo>
                  <a:pt x="42388" y="128197"/>
                </a:lnTo>
                <a:cubicBezTo>
                  <a:pt x="51262" y="131880"/>
                  <a:pt x="61085" y="133945"/>
                  <a:pt x="71438" y="133945"/>
                </a:cubicBezTo>
                <a:close/>
                <a:moveTo>
                  <a:pt x="35719" y="58043"/>
                </a:moveTo>
                <a:cubicBezTo>
                  <a:pt x="40647" y="58043"/>
                  <a:pt x="44648" y="62044"/>
                  <a:pt x="44648" y="66973"/>
                </a:cubicBezTo>
                <a:cubicBezTo>
                  <a:pt x="44648" y="71901"/>
                  <a:pt x="40647" y="75902"/>
                  <a:pt x="35719" y="75902"/>
                </a:cubicBezTo>
                <a:cubicBezTo>
                  <a:pt x="30790" y="75902"/>
                  <a:pt x="26789" y="71901"/>
                  <a:pt x="26789" y="66973"/>
                </a:cubicBezTo>
                <a:cubicBezTo>
                  <a:pt x="26789" y="62044"/>
                  <a:pt x="30790" y="58043"/>
                  <a:pt x="35719" y="58043"/>
                </a:cubicBezTo>
                <a:close/>
                <a:moveTo>
                  <a:pt x="71438" y="58043"/>
                </a:moveTo>
                <a:cubicBezTo>
                  <a:pt x="76366" y="58043"/>
                  <a:pt x="80367" y="62044"/>
                  <a:pt x="80367" y="66973"/>
                </a:cubicBezTo>
                <a:cubicBezTo>
                  <a:pt x="80367" y="71901"/>
                  <a:pt x="76366" y="75902"/>
                  <a:pt x="71438" y="75902"/>
                </a:cubicBezTo>
                <a:cubicBezTo>
                  <a:pt x="66509" y="75902"/>
                  <a:pt x="62508" y="71901"/>
                  <a:pt x="62508" y="66973"/>
                </a:cubicBezTo>
                <a:cubicBezTo>
                  <a:pt x="62508" y="62044"/>
                  <a:pt x="66509" y="58043"/>
                  <a:pt x="71438" y="58043"/>
                </a:cubicBezTo>
                <a:close/>
                <a:moveTo>
                  <a:pt x="98227" y="66973"/>
                </a:moveTo>
                <a:cubicBezTo>
                  <a:pt x="98227" y="62044"/>
                  <a:pt x="102228" y="58043"/>
                  <a:pt x="107156" y="58043"/>
                </a:cubicBezTo>
                <a:cubicBezTo>
                  <a:pt x="112085" y="58043"/>
                  <a:pt x="116086" y="62044"/>
                  <a:pt x="116086" y="66973"/>
                </a:cubicBezTo>
                <a:cubicBezTo>
                  <a:pt x="116086" y="71901"/>
                  <a:pt x="112085" y="75902"/>
                  <a:pt x="107156" y="75902"/>
                </a:cubicBezTo>
                <a:cubicBezTo>
                  <a:pt x="102228" y="75902"/>
                  <a:pt x="98227" y="71901"/>
                  <a:pt x="98227" y="66973"/>
                </a:cubicBezTo>
                <a:close/>
              </a:path>
            </a:pathLst>
          </a:custGeom>
          <a:solidFill>
            <a:srgbClr val="0A84FF"/>
          </a:solidFill>
          <a:ln/>
        </p:spPr>
      </p:sp>
      <p:sp>
        <p:nvSpPr>
          <p:cNvPr id="55" name="Text 53"/>
          <p:cNvSpPr/>
          <p:nvPr/>
        </p:nvSpPr>
        <p:spPr>
          <a:xfrm>
            <a:off x="665162" y="5899152"/>
            <a:ext cx="5270500" cy="222250"/>
          </a:xfrm>
          <a:prstGeom prst="rect">
            <a:avLst/>
          </a:prstGeom>
          <a:noFill/>
          <a:ln/>
        </p:spPr>
        <p:txBody>
          <a:bodyPr wrap="square" lIns="0" tIns="0" rIns="0" bIns="0" rtlCol="0" anchor="ctr"/>
          <a:lstStyle/>
          <a:p>
            <a:pPr>
              <a:lnSpc>
                <a:spcPct val="130000"/>
              </a:lnSpc>
            </a:pPr>
            <a:r>
              <a:rPr lang="en-US" sz="1125"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56" name="Text 54"/>
          <p:cNvSpPr/>
          <p:nvPr/>
        </p:nvSpPr>
        <p:spPr>
          <a:xfrm>
            <a:off x="482600" y="6216652"/>
            <a:ext cx="5445125" cy="619125"/>
          </a:xfrm>
          <a:prstGeom prst="rect">
            <a:avLst/>
          </a:prstGeom>
          <a:noFill/>
          <a:ln/>
        </p:spPr>
        <p:txBody>
          <a:bodyPr wrap="square" lIns="0" tIns="0" rIns="0" bIns="0" rtlCol="0" anchor="ctr"/>
          <a:lstStyle/>
          <a:p>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The future of mobile apps is like </a:t>
            </a:r>
            <a:pPr>
              <a:lnSpc>
                <a:spcPct val="140000"/>
              </a:lnSpc>
            </a:pPr>
            <a:r>
              <a:rPr lang="en-US" sz="1000" b="1" dirty="0">
                <a:solidFill>
                  <a:srgbClr val="34C759"/>
                </a:solidFill>
                <a:latin typeface="Quattrocento Sans" pitchFamily="34" charset="0"/>
                <a:ea typeface="Quattrocento Sans" pitchFamily="34" charset="-122"/>
                <a:cs typeface="Quattrocento Sans" pitchFamily="34" charset="-120"/>
              </a:rPr>
              <a:t>science fiction becoming reality</a:t>
            </a:r>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 Your phone will become a magic wand that controls your home, shows you virtual worlds, and understands your needs before you do.</a:t>
            </a:r>
            <a:endParaRPr lang="en-US" sz="1600" dirty="0"/>
          </a:p>
        </p:txBody>
      </p:sp>
      <p:sp>
        <p:nvSpPr>
          <p:cNvPr id="57" name="Shape 55"/>
          <p:cNvSpPr/>
          <p:nvPr/>
        </p:nvSpPr>
        <p:spPr>
          <a:xfrm>
            <a:off x="6159500" y="3175000"/>
            <a:ext cx="5715000" cy="2778125"/>
          </a:xfrm>
          <a:prstGeom prst="roundRect">
            <a:avLst>
              <a:gd name="adj" fmla="val 4571"/>
            </a:avLst>
          </a:prstGeom>
          <a:solidFill>
            <a:srgbClr val="2C2C2E"/>
          </a:solidFill>
          <a:ln/>
        </p:spPr>
      </p:sp>
      <p:sp>
        <p:nvSpPr>
          <p:cNvPr id="58" name="Shape 56"/>
          <p:cNvSpPr/>
          <p:nvPr/>
        </p:nvSpPr>
        <p:spPr>
          <a:xfrm>
            <a:off x="6350000" y="3397250"/>
            <a:ext cx="198438" cy="158750"/>
          </a:xfrm>
          <a:custGeom>
            <a:avLst/>
            <a:gdLst/>
            <a:ahLst/>
            <a:cxnLst/>
            <a:rect l="l" t="t" r="r" b="b"/>
            <a:pathLst>
              <a:path w="198438" h="158750">
                <a:moveTo>
                  <a:pt x="138906" y="19844"/>
                </a:moveTo>
                <a:cubicBezTo>
                  <a:pt x="171772" y="19844"/>
                  <a:pt x="198438" y="46509"/>
                  <a:pt x="198438" y="79375"/>
                </a:cubicBezTo>
                <a:cubicBezTo>
                  <a:pt x="198438" y="112241"/>
                  <a:pt x="171772" y="138906"/>
                  <a:pt x="138906" y="138906"/>
                </a:cubicBezTo>
                <a:lnTo>
                  <a:pt x="59531" y="138906"/>
                </a:lnTo>
                <a:cubicBezTo>
                  <a:pt x="26665" y="138906"/>
                  <a:pt x="0" y="112241"/>
                  <a:pt x="0" y="79375"/>
                </a:cubicBezTo>
                <a:cubicBezTo>
                  <a:pt x="0" y="46509"/>
                  <a:pt x="26665" y="19844"/>
                  <a:pt x="59531" y="19844"/>
                </a:cubicBezTo>
                <a:lnTo>
                  <a:pt x="138906" y="19844"/>
                </a:lnTo>
                <a:close/>
                <a:moveTo>
                  <a:pt x="59531" y="54570"/>
                </a:moveTo>
                <a:cubicBezTo>
                  <a:pt x="55407" y="54570"/>
                  <a:pt x="52090" y="57888"/>
                  <a:pt x="52090" y="62012"/>
                </a:cubicBezTo>
                <a:lnTo>
                  <a:pt x="52090" y="71934"/>
                </a:lnTo>
                <a:lnTo>
                  <a:pt x="42168" y="71934"/>
                </a:lnTo>
                <a:cubicBezTo>
                  <a:pt x="38044" y="71934"/>
                  <a:pt x="34727" y="75251"/>
                  <a:pt x="34727" y="79375"/>
                </a:cubicBezTo>
                <a:cubicBezTo>
                  <a:pt x="34727" y="83499"/>
                  <a:pt x="38044" y="86816"/>
                  <a:pt x="42168" y="86816"/>
                </a:cubicBezTo>
                <a:lnTo>
                  <a:pt x="52090" y="86816"/>
                </a:lnTo>
                <a:lnTo>
                  <a:pt x="52090" y="96738"/>
                </a:lnTo>
                <a:cubicBezTo>
                  <a:pt x="52090" y="100862"/>
                  <a:pt x="55407" y="104180"/>
                  <a:pt x="59531" y="104180"/>
                </a:cubicBezTo>
                <a:cubicBezTo>
                  <a:pt x="63655" y="104180"/>
                  <a:pt x="66973" y="100862"/>
                  <a:pt x="66973" y="96738"/>
                </a:cubicBezTo>
                <a:lnTo>
                  <a:pt x="66973" y="86816"/>
                </a:lnTo>
                <a:lnTo>
                  <a:pt x="76895" y="86816"/>
                </a:lnTo>
                <a:cubicBezTo>
                  <a:pt x="81018" y="86816"/>
                  <a:pt x="84336" y="83499"/>
                  <a:pt x="84336" y="79375"/>
                </a:cubicBezTo>
                <a:cubicBezTo>
                  <a:pt x="84336" y="75251"/>
                  <a:pt x="81018" y="71934"/>
                  <a:pt x="76895" y="71934"/>
                </a:cubicBezTo>
                <a:lnTo>
                  <a:pt x="66973" y="71934"/>
                </a:lnTo>
                <a:lnTo>
                  <a:pt x="66973" y="62012"/>
                </a:lnTo>
                <a:cubicBezTo>
                  <a:pt x="66973" y="57888"/>
                  <a:pt x="63655" y="54570"/>
                  <a:pt x="59531" y="54570"/>
                </a:cubicBezTo>
                <a:close/>
                <a:moveTo>
                  <a:pt x="133945" y="84336"/>
                </a:moveTo>
                <a:cubicBezTo>
                  <a:pt x="128469" y="84336"/>
                  <a:pt x="124023" y="88782"/>
                  <a:pt x="124023" y="94258"/>
                </a:cubicBezTo>
                <a:cubicBezTo>
                  <a:pt x="124023" y="99734"/>
                  <a:pt x="128469" y="104180"/>
                  <a:pt x="133945" y="104180"/>
                </a:cubicBezTo>
                <a:cubicBezTo>
                  <a:pt x="139421" y="104180"/>
                  <a:pt x="143867" y="99734"/>
                  <a:pt x="143867" y="94258"/>
                </a:cubicBezTo>
                <a:cubicBezTo>
                  <a:pt x="143867" y="88782"/>
                  <a:pt x="139421" y="84336"/>
                  <a:pt x="133945" y="84336"/>
                </a:cubicBezTo>
                <a:close/>
                <a:moveTo>
                  <a:pt x="153789" y="54570"/>
                </a:moveTo>
                <a:cubicBezTo>
                  <a:pt x="148313" y="54570"/>
                  <a:pt x="143867" y="59016"/>
                  <a:pt x="143867" y="64492"/>
                </a:cubicBezTo>
                <a:cubicBezTo>
                  <a:pt x="143867" y="69968"/>
                  <a:pt x="148313" y="74414"/>
                  <a:pt x="153789" y="74414"/>
                </a:cubicBezTo>
                <a:cubicBezTo>
                  <a:pt x="159265" y="74414"/>
                  <a:pt x="163711" y="69968"/>
                  <a:pt x="163711" y="64492"/>
                </a:cubicBezTo>
                <a:cubicBezTo>
                  <a:pt x="163711" y="59016"/>
                  <a:pt x="159265" y="54570"/>
                  <a:pt x="153789" y="54570"/>
                </a:cubicBezTo>
                <a:close/>
              </a:path>
            </a:pathLst>
          </a:custGeom>
          <a:solidFill>
            <a:srgbClr val="34C759"/>
          </a:solidFill>
          <a:ln/>
        </p:spPr>
      </p:sp>
      <p:sp>
        <p:nvSpPr>
          <p:cNvPr id="59" name="Text 57"/>
          <p:cNvSpPr/>
          <p:nvPr/>
        </p:nvSpPr>
        <p:spPr>
          <a:xfrm>
            <a:off x="6548438" y="3365500"/>
            <a:ext cx="5214938" cy="222250"/>
          </a:xfrm>
          <a:prstGeom prst="rect">
            <a:avLst/>
          </a:prstGeom>
          <a:noFill/>
          <a:ln/>
        </p:spPr>
        <p:txBody>
          <a:bodyPr wrap="square" lIns="0" tIns="0" rIns="0" bIns="0" rtlCol="0" anchor="ctr"/>
          <a:lstStyle/>
          <a:p>
            <a:pPr>
              <a:lnSpc>
                <a:spcPct val="120000"/>
              </a:lnSpc>
            </a:pPr>
            <a:r>
              <a:rPr lang="en-US" sz="1250" b="1" dirty="0">
                <a:solidFill>
                  <a:srgbClr val="34C759"/>
                </a:solidFill>
                <a:latin typeface="Liter" pitchFamily="34" charset="0"/>
                <a:ea typeface="Liter" pitchFamily="34" charset="-122"/>
                <a:cs typeface="Liter" pitchFamily="34" charset="-120"/>
              </a:rPr>
              <a:t>Real-World Example</a:t>
            </a:r>
            <a:endParaRPr lang="en-US" sz="1600" dirty="0"/>
          </a:p>
        </p:txBody>
      </p:sp>
      <p:sp>
        <p:nvSpPr>
          <p:cNvPr id="60" name="Shape 58"/>
          <p:cNvSpPr/>
          <p:nvPr/>
        </p:nvSpPr>
        <p:spPr>
          <a:xfrm>
            <a:off x="6350000" y="3714750"/>
            <a:ext cx="5334000" cy="2047875"/>
          </a:xfrm>
          <a:prstGeom prst="roundRect">
            <a:avLst>
              <a:gd name="adj" fmla="val 4651"/>
            </a:avLst>
          </a:prstGeom>
          <a:solidFill>
            <a:srgbClr val="1A1D21"/>
          </a:solidFill>
          <a:ln/>
        </p:spPr>
      </p:sp>
      <p:sp>
        <p:nvSpPr>
          <p:cNvPr id="61" name="Shape 59"/>
          <p:cNvSpPr/>
          <p:nvPr/>
        </p:nvSpPr>
        <p:spPr>
          <a:xfrm>
            <a:off x="6508750" y="3873500"/>
            <a:ext cx="508000" cy="508000"/>
          </a:xfrm>
          <a:prstGeom prst="roundRect">
            <a:avLst>
              <a:gd name="adj" fmla="val 25000"/>
            </a:avLst>
          </a:prstGeom>
          <a:solidFill>
            <a:srgbClr val="FF3B30"/>
          </a:solidFill>
          <a:ln/>
        </p:spPr>
      </p:sp>
      <p:sp>
        <p:nvSpPr>
          <p:cNvPr id="62" name="Shape 60"/>
          <p:cNvSpPr/>
          <p:nvPr/>
        </p:nvSpPr>
        <p:spPr>
          <a:xfrm>
            <a:off x="6615906" y="4008438"/>
            <a:ext cx="297656" cy="238125"/>
          </a:xfrm>
          <a:custGeom>
            <a:avLst/>
            <a:gdLst/>
            <a:ahLst/>
            <a:cxnLst/>
            <a:rect l="l" t="t" r="r" b="b"/>
            <a:pathLst>
              <a:path w="297656" h="238125">
                <a:moveTo>
                  <a:pt x="163711" y="57903"/>
                </a:moveTo>
                <a:lnTo>
                  <a:pt x="139573" y="51857"/>
                </a:lnTo>
                <a:cubicBezTo>
                  <a:pt x="136550" y="51113"/>
                  <a:pt x="134317" y="48555"/>
                  <a:pt x="133992" y="45439"/>
                </a:cubicBezTo>
                <a:cubicBezTo>
                  <a:pt x="133666" y="42323"/>
                  <a:pt x="135294" y="39346"/>
                  <a:pt x="138038" y="37951"/>
                </a:cubicBezTo>
                <a:lnTo>
                  <a:pt x="157014" y="28463"/>
                </a:lnTo>
                <a:lnTo>
                  <a:pt x="136875" y="13348"/>
                </a:lnTo>
                <a:cubicBezTo>
                  <a:pt x="134317" y="11441"/>
                  <a:pt x="133248" y="8093"/>
                  <a:pt x="134271" y="5023"/>
                </a:cubicBezTo>
                <a:cubicBezTo>
                  <a:pt x="135294" y="1953"/>
                  <a:pt x="138178" y="0"/>
                  <a:pt x="141387" y="0"/>
                </a:cubicBezTo>
                <a:lnTo>
                  <a:pt x="215801" y="0"/>
                </a:lnTo>
                <a:cubicBezTo>
                  <a:pt x="229846" y="0"/>
                  <a:pt x="243101" y="6604"/>
                  <a:pt x="251520" y="17859"/>
                </a:cubicBezTo>
                <a:lnTo>
                  <a:pt x="278309" y="53578"/>
                </a:lnTo>
                <a:cubicBezTo>
                  <a:pt x="281192" y="57438"/>
                  <a:pt x="282773" y="62136"/>
                  <a:pt x="282773" y="66973"/>
                </a:cubicBezTo>
                <a:cubicBezTo>
                  <a:pt x="282773" y="79297"/>
                  <a:pt x="272774" y="89297"/>
                  <a:pt x="260449" y="89297"/>
                </a:cubicBezTo>
                <a:lnTo>
                  <a:pt x="250450" y="89297"/>
                </a:lnTo>
                <a:cubicBezTo>
                  <a:pt x="242543" y="89297"/>
                  <a:pt x="234962" y="86181"/>
                  <a:pt x="229381" y="80600"/>
                </a:cubicBezTo>
                <a:lnTo>
                  <a:pt x="223196" y="74414"/>
                </a:lnTo>
                <a:lnTo>
                  <a:pt x="208313" y="74414"/>
                </a:lnTo>
                <a:lnTo>
                  <a:pt x="208313" y="84413"/>
                </a:lnTo>
                <a:cubicBezTo>
                  <a:pt x="208313" y="95948"/>
                  <a:pt x="214266" y="106691"/>
                  <a:pt x="224033" y="112830"/>
                </a:cubicBezTo>
                <a:lnTo>
                  <a:pt x="273611" y="143805"/>
                </a:lnTo>
                <a:cubicBezTo>
                  <a:pt x="288541" y="153153"/>
                  <a:pt x="297610" y="169478"/>
                  <a:pt x="297610" y="187105"/>
                </a:cubicBezTo>
                <a:cubicBezTo>
                  <a:pt x="297610" y="215289"/>
                  <a:pt x="274774" y="238172"/>
                  <a:pt x="246543" y="238172"/>
                </a:cubicBezTo>
                <a:lnTo>
                  <a:pt x="15022" y="238125"/>
                </a:lnTo>
                <a:cubicBezTo>
                  <a:pt x="13488" y="238125"/>
                  <a:pt x="11953" y="237939"/>
                  <a:pt x="10557" y="237474"/>
                </a:cubicBezTo>
                <a:cubicBezTo>
                  <a:pt x="6279" y="236172"/>
                  <a:pt x="2791" y="233009"/>
                  <a:pt x="1070" y="228823"/>
                </a:cubicBezTo>
                <a:cubicBezTo>
                  <a:pt x="465" y="227288"/>
                  <a:pt x="47" y="225614"/>
                  <a:pt x="0" y="223847"/>
                </a:cubicBezTo>
                <a:cubicBezTo>
                  <a:pt x="-93" y="222126"/>
                  <a:pt x="140" y="220452"/>
                  <a:pt x="605" y="218870"/>
                </a:cubicBezTo>
                <a:cubicBezTo>
                  <a:pt x="1907" y="214592"/>
                  <a:pt x="5069" y="211103"/>
                  <a:pt x="9255" y="209383"/>
                </a:cubicBezTo>
                <a:cubicBezTo>
                  <a:pt x="10651" y="208824"/>
                  <a:pt x="12139" y="208452"/>
                  <a:pt x="13674" y="208359"/>
                </a:cubicBezTo>
                <a:lnTo>
                  <a:pt x="201523" y="191616"/>
                </a:lnTo>
                <a:cubicBezTo>
                  <a:pt x="205383" y="191291"/>
                  <a:pt x="208359" y="188035"/>
                  <a:pt x="208359" y="184128"/>
                </a:cubicBezTo>
                <a:cubicBezTo>
                  <a:pt x="208359" y="182128"/>
                  <a:pt x="207569" y="180222"/>
                  <a:pt x="206173" y="178826"/>
                </a:cubicBezTo>
                <a:lnTo>
                  <a:pt x="185524" y="158176"/>
                </a:lnTo>
                <a:cubicBezTo>
                  <a:pt x="171571" y="144224"/>
                  <a:pt x="163711" y="125295"/>
                  <a:pt x="163711" y="105575"/>
                </a:cubicBezTo>
                <a:lnTo>
                  <a:pt x="163711" y="57903"/>
                </a:lnTo>
                <a:close/>
                <a:moveTo>
                  <a:pt x="238125" y="33626"/>
                </a:moveTo>
                <a:cubicBezTo>
                  <a:pt x="238125" y="33579"/>
                  <a:pt x="238125" y="33533"/>
                  <a:pt x="238125" y="33486"/>
                </a:cubicBezTo>
                <a:cubicBezTo>
                  <a:pt x="238125" y="33440"/>
                  <a:pt x="238125" y="33393"/>
                  <a:pt x="238125" y="33347"/>
                </a:cubicBezTo>
                <a:lnTo>
                  <a:pt x="238125" y="33626"/>
                </a:lnTo>
                <a:close/>
                <a:moveTo>
                  <a:pt x="237520" y="37068"/>
                </a:moveTo>
                <a:lnTo>
                  <a:pt x="215940" y="31672"/>
                </a:lnTo>
                <a:cubicBezTo>
                  <a:pt x="215847" y="32277"/>
                  <a:pt x="215801" y="32882"/>
                  <a:pt x="215801" y="33486"/>
                </a:cubicBezTo>
                <a:cubicBezTo>
                  <a:pt x="215801" y="39672"/>
                  <a:pt x="220777" y="44648"/>
                  <a:pt x="226963" y="44648"/>
                </a:cubicBezTo>
                <a:cubicBezTo>
                  <a:pt x="231893" y="44648"/>
                  <a:pt x="236032" y="41486"/>
                  <a:pt x="237520" y="37068"/>
                </a:cubicBezTo>
                <a:close/>
                <a:moveTo>
                  <a:pt x="60880" y="54183"/>
                </a:moveTo>
                <a:cubicBezTo>
                  <a:pt x="68461" y="47439"/>
                  <a:pt x="79670" y="46648"/>
                  <a:pt x="88088" y="52276"/>
                </a:cubicBezTo>
                <a:lnTo>
                  <a:pt x="148828" y="92739"/>
                </a:lnTo>
                <a:lnTo>
                  <a:pt x="148828" y="105528"/>
                </a:lnTo>
                <a:cubicBezTo>
                  <a:pt x="148828" y="120783"/>
                  <a:pt x="152735" y="135666"/>
                  <a:pt x="159990" y="148782"/>
                </a:cubicBezTo>
                <a:lnTo>
                  <a:pt x="52090" y="148782"/>
                </a:lnTo>
                <a:cubicBezTo>
                  <a:pt x="48974" y="148782"/>
                  <a:pt x="46183" y="146828"/>
                  <a:pt x="45114" y="143945"/>
                </a:cubicBezTo>
                <a:cubicBezTo>
                  <a:pt x="44044" y="141061"/>
                  <a:pt x="44881" y="137759"/>
                  <a:pt x="47253" y="135713"/>
                </a:cubicBezTo>
                <a:lnTo>
                  <a:pt x="79530" y="108040"/>
                </a:lnTo>
                <a:lnTo>
                  <a:pt x="8558" y="118969"/>
                </a:lnTo>
                <a:cubicBezTo>
                  <a:pt x="5302" y="119481"/>
                  <a:pt x="2093" y="117760"/>
                  <a:pt x="698" y="114784"/>
                </a:cubicBezTo>
                <a:cubicBezTo>
                  <a:pt x="-698" y="111807"/>
                  <a:pt x="47" y="108272"/>
                  <a:pt x="2511" y="106040"/>
                </a:cubicBezTo>
                <a:lnTo>
                  <a:pt x="60880" y="54183"/>
                </a:lnTo>
                <a:close/>
              </a:path>
            </a:pathLst>
          </a:custGeom>
          <a:solidFill>
            <a:srgbClr val="FFFFFF"/>
          </a:solidFill>
          <a:ln/>
        </p:spPr>
      </p:sp>
      <p:sp>
        <p:nvSpPr>
          <p:cNvPr id="63" name="Text 61"/>
          <p:cNvSpPr/>
          <p:nvPr/>
        </p:nvSpPr>
        <p:spPr>
          <a:xfrm>
            <a:off x="7143750" y="3905250"/>
            <a:ext cx="1325563" cy="254000"/>
          </a:xfrm>
          <a:prstGeom prst="rect">
            <a:avLst/>
          </a:prstGeom>
          <a:noFill/>
          <a:ln/>
        </p:spPr>
        <p:txBody>
          <a:bodyPr wrap="square" lIns="0" tIns="0" rIns="0" bIns="0" rtlCol="0" anchor="ctr"/>
          <a:lstStyle/>
          <a:p>
            <a:pPr>
              <a:lnSpc>
                <a:spcPct val="110000"/>
              </a:lnSpc>
            </a:pPr>
            <a:r>
              <a:rPr lang="en-US" sz="1500" b="1" dirty="0">
                <a:solidFill>
                  <a:srgbClr val="FF3B30"/>
                </a:solidFill>
                <a:latin typeface="Liter" pitchFamily="34" charset="0"/>
                <a:ea typeface="Liter" pitchFamily="34" charset="-122"/>
                <a:cs typeface="Liter" pitchFamily="34" charset="-120"/>
              </a:rPr>
              <a:t>Pokemon GO</a:t>
            </a:r>
            <a:endParaRPr lang="en-US" sz="1600" dirty="0"/>
          </a:p>
        </p:txBody>
      </p:sp>
      <p:sp>
        <p:nvSpPr>
          <p:cNvPr id="64" name="Text 62"/>
          <p:cNvSpPr/>
          <p:nvPr/>
        </p:nvSpPr>
        <p:spPr>
          <a:xfrm>
            <a:off x="7143750" y="4159149"/>
            <a:ext cx="1293813" cy="190500"/>
          </a:xfrm>
          <a:prstGeom prst="rect">
            <a:avLst/>
          </a:prstGeom>
          <a:noFill/>
          <a:ln/>
        </p:spPr>
        <p:txBody>
          <a:bodyPr wrap="square" lIns="0" tIns="0" rIns="0" bIns="0" rtlCol="0" anchor="ctr"/>
          <a:lstStyle/>
          <a:p>
            <a:pPr>
              <a:lnSpc>
                <a:spcPct val="130000"/>
              </a:lnSpc>
            </a:pPr>
            <a:r>
              <a:rPr lang="en-US" sz="1000" dirty="0">
                <a:solidFill>
                  <a:srgbClr val="8E8E93"/>
                </a:solidFill>
                <a:latin typeface="Quattrocento Sans" pitchFamily="34" charset="0"/>
                <a:ea typeface="Quattrocento Sans" pitchFamily="34" charset="-122"/>
                <a:cs typeface="Quattrocento Sans" pitchFamily="34" charset="-120"/>
              </a:rPr>
              <a:t>AR Gaming Revolution</a:t>
            </a:r>
            <a:endParaRPr lang="en-US" sz="1600" dirty="0"/>
          </a:p>
        </p:txBody>
      </p:sp>
      <p:sp>
        <p:nvSpPr>
          <p:cNvPr id="65" name="Text 63"/>
          <p:cNvSpPr/>
          <p:nvPr/>
        </p:nvSpPr>
        <p:spPr>
          <a:xfrm>
            <a:off x="6508750" y="4508500"/>
            <a:ext cx="5080000" cy="619125"/>
          </a:xfrm>
          <a:prstGeom prst="rect">
            <a:avLst/>
          </a:prstGeom>
          <a:noFill/>
          <a:ln/>
        </p:spPr>
        <p:txBody>
          <a:bodyPr wrap="square" lIns="0" tIns="0" rIns="0" bIns="0" rtlCol="0" anchor="ctr"/>
          <a:lstStyle/>
          <a:p>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Pokemon GO used </a:t>
            </a:r>
            <a:pPr>
              <a:lnSpc>
                <a:spcPct val="140000"/>
              </a:lnSpc>
            </a:pPr>
            <a:r>
              <a:rPr lang="en-US" sz="1000" b="1" dirty="0">
                <a:solidFill>
                  <a:srgbClr val="34C759"/>
                </a:solidFill>
                <a:latin typeface="Quattrocento Sans" pitchFamily="34" charset="0"/>
                <a:ea typeface="Quattrocento Sans" pitchFamily="34" charset="-122"/>
                <a:cs typeface="Quattrocento Sans" pitchFamily="34" charset="-120"/>
              </a:rPr>
              <a:t>augmented reality</a:t>
            </a:r>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 to overlay Pokemon characters onto the real world through your phone camera. Players walked around their neighborhoods catching virtual creatures.</a:t>
            </a:r>
            <a:endParaRPr lang="en-US" sz="1600" dirty="0"/>
          </a:p>
        </p:txBody>
      </p:sp>
      <p:sp>
        <p:nvSpPr>
          <p:cNvPr id="66" name="Shape 64"/>
          <p:cNvSpPr/>
          <p:nvPr/>
        </p:nvSpPr>
        <p:spPr>
          <a:xfrm>
            <a:off x="6508750" y="5222875"/>
            <a:ext cx="5016500" cy="381000"/>
          </a:xfrm>
          <a:prstGeom prst="roundRect">
            <a:avLst>
              <a:gd name="adj" fmla="val 16667"/>
            </a:avLst>
          </a:prstGeom>
          <a:solidFill>
            <a:srgbClr val="2C2C2E"/>
          </a:solidFill>
          <a:ln/>
        </p:spPr>
      </p:sp>
      <p:sp>
        <p:nvSpPr>
          <p:cNvPr id="67" name="Text 65"/>
          <p:cNvSpPr/>
          <p:nvPr/>
        </p:nvSpPr>
        <p:spPr>
          <a:xfrm>
            <a:off x="6604000" y="5318125"/>
            <a:ext cx="4889500"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Result:</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1 billion+ downloads, $6 billion revenue</a:t>
            </a:r>
            <a:endParaRPr lang="en-US" sz="1600" dirty="0"/>
          </a:p>
        </p:txBody>
      </p:sp>
      <p:sp>
        <p:nvSpPr>
          <p:cNvPr id="68" name="Shape 66"/>
          <p:cNvSpPr/>
          <p:nvPr/>
        </p:nvSpPr>
        <p:spPr>
          <a:xfrm>
            <a:off x="6159500" y="6080125"/>
            <a:ext cx="5715000" cy="920750"/>
          </a:xfrm>
          <a:prstGeom prst="roundRect">
            <a:avLst>
              <a:gd name="adj" fmla="val 13793"/>
            </a:avLst>
          </a:prstGeom>
          <a:solidFill>
            <a:srgbClr val="2C2C2E"/>
          </a:solidFill>
          <a:ln/>
        </p:spPr>
      </p:sp>
      <p:sp>
        <p:nvSpPr>
          <p:cNvPr id="69" name="Shape 67"/>
          <p:cNvSpPr/>
          <p:nvPr/>
        </p:nvSpPr>
        <p:spPr>
          <a:xfrm>
            <a:off x="6310313" y="6238875"/>
            <a:ext cx="111125" cy="127000"/>
          </a:xfrm>
          <a:custGeom>
            <a:avLst/>
            <a:gdLst/>
            <a:ahLst/>
            <a:cxnLst/>
            <a:rect l="l" t="t" r="r" b="b"/>
            <a:pathLst>
              <a:path w="111125" h="127000">
                <a:moveTo>
                  <a:pt x="15875" y="7938"/>
                </a:moveTo>
                <a:cubicBezTo>
                  <a:pt x="7119" y="7938"/>
                  <a:pt x="0" y="15056"/>
                  <a:pt x="0" y="23812"/>
                </a:cubicBezTo>
                <a:lnTo>
                  <a:pt x="0" y="103188"/>
                </a:lnTo>
                <a:cubicBezTo>
                  <a:pt x="0" y="111944"/>
                  <a:pt x="7119" y="119063"/>
                  <a:pt x="15875" y="119063"/>
                </a:cubicBezTo>
                <a:lnTo>
                  <a:pt x="95250" y="119063"/>
                </a:lnTo>
                <a:cubicBezTo>
                  <a:pt x="104006" y="119063"/>
                  <a:pt x="111125" y="111944"/>
                  <a:pt x="111125" y="103188"/>
                </a:cubicBezTo>
                <a:lnTo>
                  <a:pt x="111125" y="23812"/>
                </a:lnTo>
                <a:cubicBezTo>
                  <a:pt x="111125" y="15056"/>
                  <a:pt x="104006" y="7938"/>
                  <a:pt x="95250" y="7938"/>
                </a:cubicBezTo>
                <a:lnTo>
                  <a:pt x="15875" y="7938"/>
                </a:lnTo>
                <a:close/>
                <a:moveTo>
                  <a:pt x="31750" y="27781"/>
                </a:moveTo>
                <a:cubicBezTo>
                  <a:pt x="38321" y="27781"/>
                  <a:pt x="43656" y="33116"/>
                  <a:pt x="43656" y="39688"/>
                </a:cubicBezTo>
                <a:cubicBezTo>
                  <a:pt x="43656" y="46259"/>
                  <a:pt x="38321" y="51594"/>
                  <a:pt x="31750" y="51594"/>
                </a:cubicBezTo>
                <a:cubicBezTo>
                  <a:pt x="25179" y="51594"/>
                  <a:pt x="19844" y="46259"/>
                  <a:pt x="19844" y="39688"/>
                </a:cubicBezTo>
                <a:cubicBezTo>
                  <a:pt x="19844" y="33116"/>
                  <a:pt x="25179" y="27781"/>
                  <a:pt x="31750" y="27781"/>
                </a:cubicBezTo>
                <a:close/>
                <a:moveTo>
                  <a:pt x="67469" y="55563"/>
                </a:moveTo>
                <a:cubicBezTo>
                  <a:pt x="69552" y="55563"/>
                  <a:pt x="71462" y="56654"/>
                  <a:pt x="72554" y="58415"/>
                </a:cubicBezTo>
                <a:lnTo>
                  <a:pt x="94382" y="94134"/>
                </a:lnTo>
                <a:cubicBezTo>
                  <a:pt x="95498" y="95969"/>
                  <a:pt x="95548" y="98276"/>
                  <a:pt x="94506" y="100161"/>
                </a:cubicBezTo>
                <a:cubicBezTo>
                  <a:pt x="93464" y="102046"/>
                  <a:pt x="91455" y="103188"/>
                  <a:pt x="89297" y="103188"/>
                </a:cubicBezTo>
                <a:lnTo>
                  <a:pt x="21828" y="103188"/>
                </a:lnTo>
                <a:cubicBezTo>
                  <a:pt x="19621" y="103188"/>
                  <a:pt x="17562" y="101947"/>
                  <a:pt x="16545" y="99988"/>
                </a:cubicBezTo>
                <a:cubicBezTo>
                  <a:pt x="15528" y="98028"/>
                  <a:pt x="15677" y="95647"/>
                  <a:pt x="16942" y="93836"/>
                </a:cubicBezTo>
                <a:lnTo>
                  <a:pt x="30832" y="73992"/>
                </a:lnTo>
                <a:cubicBezTo>
                  <a:pt x="31948" y="72405"/>
                  <a:pt x="33759" y="71462"/>
                  <a:pt x="35719" y="71462"/>
                </a:cubicBezTo>
                <a:cubicBezTo>
                  <a:pt x="37678" y="71462"/>
                  <a:pt x="39489" y="72405"/>
                  <a:pt x="40605" y="73992"/>
                </a:cubicBezTo>
                <a:lnTo>
                  <a:pt x="47154" y="83369"/>
                </a:lnTo>
                <a:lnTo>
                  <a:pt x="62384" y="58440"/>
                </a:lnTo>
                <a:cubicBezTo>
                  <a:pt x="63475" y="56679"/>
                  <a:pt x="65385" y="55587"/>
                  <a:pt x="67469" y="55587"/>
                </a:cubicBezTo>
                <a:close/>
              </a:path>
            </a:pathLst>
          </a:custGeom>
          <a:solidFill>
            <a:srgbClr val="8E8E93"/>
          </a:solidFill>
          <a:ln/>
        </p:spPr>
      </p:sp>
      <p:sp>
        <p:nvSpPr>
          <p:cNvPr id="70" name="Text 68"/>
          <p:cNvSpPr/>
          <p:nvPr/>
        </p:nvSpPr>
        <p:spPr>
          <a:xfrm>
            <a:off x="6445250" y="6207125"/>
            <a:ext cx="5365750" cy="190500"/>
          </a:xfrm>
          <a:prstGeom prst="rect">
            <a:avLst/>
          </a:prstGeom>
          <a:noFill/>
          <a:ln/>
        </p:spPr>
        <p:txBody>
          <a:bodyPr wrap="square" lIns="0" tIns="0" rIns="0" bIns="0" rtlCol="0" anchor="ctr"/>
          <a:lstStyle/>
          <a:p>
            <a:pPr>
              <a:lnSpc>
                <a:spcPct val="130000"/>
              </a:lnSpc>
            </a:pPr>
            <a:r>
              <a:rPr lang="en-US" sz="1000" b="1" dirty="0">
                <a:solidFill>
                  <a:srgbClr val="8E8E93"/>
                </a:solidFill>
                <a:latin typeface="Liter" pitchFamily="34" charset="0"/>
                <a:ea typeface="Liter" pitchFamily="34" charset="-122"/>
                <a:cs typeface="Liter" pitchFamily="34" charset="-120"/>
              </a:rPr>
              <a:t>Visual Suggestion</a:t>
            </a:r>
            <a:endParaRPr lang="en-US" sz="1600" dirty="0"/>
          </a:p>
        </p:txBody>
      </p:sp>
      <p:sp>
        <p:nvSpPr>
          <p:cNvPr id="71" name="Shape 69"/>
          <p:cNvSpPr/>
          <p:nvPr/>
        </p:nvSpPr>
        <p:spPr>
          <a:xfrm>
            <a:off x="6302375" y="6492875"/>
            <a:ext cx="127000" cy="127000"/>
          </a:xfrm>
          <a:custGeom>
            <a:avLst/>
            <a:gdLst/>
            <a:ahLst/>
            <a:cxnLst/>
            <a:rect l="l" t="t" r="r" b="b"/>
            <a:pathLst>
              <a:path w="127000" h="127000">
                <a:moveTo>
                  <a:pt x="0" y="19844"/>
                </a:moveTo>
                <a:cubicBezTo>
                  <a:pt x="0" y="13271"/>
                  <a:pt x="5333" y="7938"/>
                  <a:pt x="11906" y="7938"/>
                </a:cubicBezTo>
                <a:lnTo>
                  <a:pt x="35719" y="7938"/>
                </a:lnTo>
                <a:cubicBezTo>
                  <a:pt x="42292" y="7938"/>
                  <a:pt x="47625" y="13271"/>
                  <a:pt x="47625" y="19844"/>
                </a:cubicBezTo>
                <a:lnTo>
                  <a:pt x="47625" y="23812"/>
                </a:lnTo>
                <a:lnTo>
                  <a:pt x="79375" y="23812"/>
                </a:lnTo>
                <a:lnTo>
                  <a:pt x="79375" y="19844"/>
                </a:lnTo>
                <a:cubicBezTo>
                  <a:pt x="79375" y="13271"/>
                  <a:pt x="84708" y="7938"/>
                  <a:pt x="91281" y="7938"/>
                </a:cubicBezTo>
                <a:lnTo>
                  <a:pt x="115094" y="7938"/>
                </a:lnTo>
                <a:cubicBezTo>
                  <a:pt x="121667" y="7938"/>
                  <a:pt x="127000" y="13271"/>
                  <a:pt x="127000" y="19844"/>
                </a:cubicBezTo>
                <a:lnTo>
                  <a:pt x="127000" y="43656"/>
                </a:lnTo>
                <a:cubicBezTo>
                  <a:pt x="127000" y="50229"/>
                  <a:pt x="121667" y="55563"/>
                  <a:pt x="115094" y="55563"/>
                </a:cubicBezTo>
                <a:lnTo>
                  <a:pt x="91281" y="55563"/>
                </a:lnTo>
                <a:cubicBezTo>
                  <a:pt x="84708" y="55563"/>
                  <a:pt x="79375" y="50229"/>
                  <a:pt x="79375" y="43656"/>
                </a:cubicBezTo>
                <a:lnTo>
                  <a:pt x="79375" y="39688"/>
                </a:lnTo>
                <a:lnTo>
                  <a:pt x="47625" y="39688"/>
                </a:lnTo>
                <a:lnTo>
                  <a:pt x="47625" y="43656"/>
                </a:lnTo>
                <a:cubicBezTo>
                  <a:pt x="47625" y="45467"/>
                  <a:pt x="47203" y="47203"/>
                  <a:pt x="46484" y="48741"/>
                </a:cubicBezTo>
                <a:lnTo>
                  <a:pt x="63500" y="71438"/>
                </a:lnTo>
                <a:lnTo>
                  <a:pt x="83344" y="71438"/>
                </a:lnTo>
                <a:cubicBezTo>
                  <a:pt x="89917" y="71438"/>
                  <a:pt x="95250" y="76771"/>
                  <a:pt x="95250" y="83344"/>
                </a:cubicBezTo>
                <a:lnTo>
                  <a:pt x="95250" y="107156"/>
                </a:lnTo>
                <a:cubicBezTo>
                  <a:pt x="95250" y="113729"/>
                  <a:pt x="89917" y="119063"/>
                  <a:pt x="83344" y="119063"/>
                </a:cubicBezTo>
                <a:lnTo>
                  <a:pt x="59531" y="119063"/>
                </a:lnTo>
                <a:cubicBezTo>
                  <a:pt x="52958" y="119063"/>
                  <a:pt x="47625" y="113729"/>
                  <a:pt x="47625" y="107156"/>
                </a:cubicBezTo>
                <a:lnTo>
                  <a:pt x="47625" y="83344"/>
                </a:lnTo>
                <a:cubicBezTo>
                  <a:pt x="47625" y="81533"/>
                  <a:pt x="48047" y="79797"/>
                  <a:pt x="48766" y="78259"/>
                </a:cubicBezTo>
                <a:lnTo>
                  <a:pt x="31750" y="55563"/>
                </a:lnTo>
                <a:lnTo>
                  <a:pt x="11906" y="55563"/>
                </a:lnTo>
                <a:cubicBezTo>
                  <a:pt x="5333" y="55563"/>
                  <a:pt x="0" y="50229"/>
                  <a:pt x="0" y="43656"/>
                </a:cubicBezTo>
                <a:lnTo>
                  <a:pt x="0" y="19844"/>
                </a:lnTo>
                <a:close/>
              </a:path>
            </a:pathLst>
          </a:custGeom>
          <a:solidFill>
            <a:srgbClr val="34C759"/>
          </a:solidFill>
          <a:ln/>
        </p:spPr>
      </p:sp>
      <p:sp>
        <p:nvSpPr>
          <p:cNvPr id="72" name="Text 70"/>
          <p:cNvSpPr/>
          <p:nvPr/>
        </p:nvSpPr>
        <p:spPr>
          <a:xfrm>
            <a:off x="6508750" y="6461125"/>
            <a:ext cx="2055813" cy="190500"/>
          </a:xfrm>
          <a:prstGeom prst="rect">
            <a:avLst/>
          </a:prstGeom>
          <a:noFill/>
          <a:ln/>
        </p:spPr>
        <p:txBody>
          <a:bodyPr wrap="square" lIns="0" tIns="0" rIns="0" bIns="0" rtlCol="0" anchor="ctr"/>
          <a:lstStyle/>
          <a:p>
            <a:pP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Future tech trends timeline</a:t>
            </a:r>
            <a:endParaRPr lang="en-US" sz="1600" dirty="0"/>
          </a:p>
        </p:txBody>
      </p:sp>
      <p:sp>
        <p:nvSpPr>
          <p:cNvPr id="73" name="Shape 71"/>
          <p:cNvSpPr/>
          <p:nvPr/>
        </p:nvSpPr>
        <p:spPr>
          <a:xfrm>
            <a:off x="6310313" y="6715125"/>
            <a:ext cx="111125" cy="127000"/>
          </a:xfrm>
          <a:custGeom>
            <a:avLst/>
            <a:gdLst/>
            <a:ahLst/>
            <a:cxnLst/>
            <a:rect l="l" t="t" r="r" b="b"/>
            <a:pathLst>
              <a:path w="111125" h="127000">
                <a:moveTo>
                  <a:pt x="15875" y="7938"/>
                </a:moveTo>
                <a:cubicBezTo>
                  <a:pt x="7119" y="7938"/>
                  <a:pt x="0" y="15056"/>
                  <a:pt x="0" y="23812"/>
                </a:cubicBezTo>
                <a:lnTo>
                  <a:pt x="0" y="103188"/>
                </a:lnTo>
                <a:cubicBezTo>
                  <a:pt x="0" y="111944"/>
                  <a:pt x="7119" y="119063"/>
                  <a:pt x="15875" y="119063"/>
                </a:cubicBezTo>
                <a:lnTo>
                  <a:pt x="95250" y="119063"/>
                </a:lnTo>
                <a:cubicBezTo>
                  <a:pt x="104006" y="119063"/>
                  <a:pt x="111125" y="111944"/>
                  <a:pt x="111125" y="103188"/>
                </a:cubicBezTo>
                <a:lnTo>
                  <a:pt x="111125" y="23812"/>
                </a:lnTo>
                <a:cubicBezTo>
                  <a:pt x="111125" y="15056"/>
                  <a:pt x="104006" y="7938"/>
                  <a:pt x="95250" y="7938"/>
                </a:cubicBezTo>
                <a:lnTo>
                  <a:pt x="15875" y="7938"/>
                </a:lnTo>
                <a:close/>
                <a:moveTo>
                  <a:pt x="31750" y="27781"/>
                </a:moveTo>
                <a:cubicBezTo>
                  <a:pt x="38321" y="27781"/>
                  <a:pt x="43656" y="33116"/>
                  <a:pt x="43656" y="39688"/>
                </a:cubicBezTo>
                <a:cubicBezTo>
                  <a:pt x="43656" y="46259"/>
                  <a:pt x="38321" y="51594"/>
                  <a:pt x="31750" y="51594"/>
                </a:cubicBezTo>
                <a:cubicBezTo>
                  <a:pt x="25179" y="51594"/>
                  <a:pt x="19844" y="46259"/>
                  <a:pt x="19844" y="39688"/>
                </a:cubicBezTo>
                <a:cubicBezTo>
                  <a:pt x="19844" y="33116"/>
                  <a:pt x="25179" y="27781"/>
                  <a:pt x="31750" y="27781"/>
                </a:cubicBezTo>
                <a:close/>
                <a:moveTo>
                  <a:pt x="67469" y="55563"/>
                </a:moveTo>
                <a:cubicBezTo>
                  <a:pt x="69552" y="55563"/>
                  <a:pt x="71462" y="56654"/>
                  <a:pt x="72554" y="58415"/>
                </a:cubicBezTo>
                <a:lnTo>
                  <a:pt x="94382" y="94134"/>
                </a:lnTo>
                <a:cubicBezTo>
                  <a:pt x="95498" y="95969"/>
                  <a:pt x="95548" y="98276"/>
                  <a:pt x="94506" y="100161"/>
                </a:cubicBezTo>
                <a:cubicBezTo>
                  <a:pt x="93464" y="102046"/>
                  <a:pt x="91455" y="103188"/>
                  <a:pt x="89297" y="103188"/>
                </a:cubicBezTo>
                <a:lnTo>
                  <a:pt x="21828" y="103188"/>
                </a:lnTo>
                <a:cubicBezTo>
                  <a:pt x="19621" y="103188"/>
                  <a:pt x="17562" y="101947"/>
                  <a:pt x="16545" y="99988"/>
                </a:cubicBezTo>
                <a:cubicBezTo>
                  <a:pt x="15528" y="98028"/>
                  <a:pt x="15677" y="95647"/>
                  <a:pt x="16942" y="93836"/>
                </a:cubicBezTo>
                <a:lnTo>
                  <a:pt x="30832" y="73992"/>
                </a:lnTo>
                <a:cubicBezTo>
                  <a:pt x="31948" y="72405"/>
                  <a:pt x="33759" y="71462"/>
                  <a:pt x="35719" y="71462"/>
                </a:cubicBezTo>
                <a:cubicBezTo>
                  <a:pt x="37678" y="71462"/>
                  <a:pt x="39489" y="72405"/>
                  <a:pt x="40605" y="73992"/>
                </a:cubicBezTo>
                <a:lnTo>
                  <a:pt x="47154" y="83369"/>
                </a:lnTo>
                <a:lnTo>
                  <a:pt x="62384" y="58440"/>
                </a:lnTo>
                <a:cubicBezTo>
                  <a:pt x="63475" y="56679"/>
                  <a:pt x="65385" y="55587"/>
                  <a:pt x="67469" y="55587"/>
                </a:cubicBezTo>
                <a:close/>
              </a:path>
            </a:pathLst>
          </a:custGeom>
          <a:solidFill>
            <a:srgbClr val="0A84FF"/>
          </a:solidFill>
          <a:ln/>
        </p:spPr>
      </p:sp>
      <p:sp>
        <p:nvSpPr>
          <p:cNvPr id="74" name="Text 72"/>
          <p:cNvSpPr/>
          <p:nvPr/>
        </p:nvSpPr>
        <p:spPr>
          <a:xfrm>
            <a:off x="6508750" y="6683375"/>
            <a:ext cx="2579688" cy="190500"/>
          </a:xfrm>
          <a:prstGeom prst="rect">
            <a:avLst/>
          </a:prstGeom>
          <a:noFill/>
          <a:ln/>
        </p:spPr>
        <p:txBody>
          <a:bodyPr wrap="square" lIns="0" tIns="0" rIns="0" bIns="0" rtlCol="0" anchor="ctr"/>
          <a:lstStyle/>
          <a:p>
            <a:pP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Pokemon GO AR gameplay screenshot</a:t>
            </a:r>
            <a:endParaRPr lang="en-US" sz="16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17500" y="365125"/>
            <a:ext cx="381000" cy="381000"/>
          </a:xfrm>
          <a:prstGeom prst="roundRect">
            <a:avLst>
              <a:gd name="adj" fmla="val 25000"/>
            </a:avLst>
          </a:prstGeom>
          <a:solidFill>
            <a:srgbClr val="34C759"/>
          </a:solidFill>
          <a:ln/>
        </p:spPr>
      </p:sp>
      <p:sp>
        <p:nvSpPr>
          <p:cNvPr id="3" name="Text 1"/>
          <p:cNvSpPr/>
          <p:nvPr/>
        </p:nvSpPr>
        <p:spPr>
          <a:xfrm>
            <a:off x="415032" y="428625"/>
            <a:ext cx="277813" cy="254000"/>
          </a:xfrm>
          <a:prstGeom prst="rect">
            <a:avLst/>
          </a:prstGeom>
          <a:noFill/>
          <a:ln/>
        </p:spPr>
        <p:txBody>
          <a:bodyPr wrap="square" lIns="0" tIns="0" rIns="0" bIns="0" rtlCol="0" anchor="ctr"/>
          <a:lstStyle/>
          <a:p>
            <a:pPr>
              <a:lnSpc>
                <a:spcPct val="110000"/>
              </a:lnSpc>
            </a:pPr>
            <a:r>
              <a:rPr lang="en-US" sz="1500" b="1" dirty="0">
                <a:solidFill>
                  <a:srgbClr val="1D1D1F"/>
                </a:solidFill>
                <a:latin typeface="Liter" pitchFamily="34" charset="0"/>
                <a:ea typeface="Liter" pitchFamily="34" charset="-122"/>
                <a:cs typeface="Liter" pitchFamily="34" charset="-120"/>
              </a:rPr>
              <a:t>15</a:t>
            </a:r>
            <a:endParaRPr lang="en-US" sz="1600" dirty="0"/>
          </a:p>
        </p:txBody>
      </p:sp>
      <p:sp>
        <p:nvSpPr>
          <p:cNvPr id="4" name="Text 2"/>
          <p:cNvSpPr/>
          <p:nvPr/>
        </p:nvSpPr>
        <p:spPr>
          <a:xfrm>
            <a:off x="793750" y="317500"/>
            <a:ext cx="3770313" cy="158750"/>
          </a:xfrm>
          <a:prstGeom prst="rect">
            <a:avLst/>
          </a:prstGeom>
          <a:noFill/>
          <a:ln/>
        </p:spPr>
        <p:txBody>
          <a:bodyPr wrap="square" lIns="0" tIns="0" rIns="0" bIns="0" rtlCol="0" anchor="ctr"/>
          <a:lstStyle/>
          <a:p>
            <a:pPr>
              <a:lnSpc>
                <a:spcPct val="120000"/>
              </a:lnSpc>
            </a:pPr>
            <a:r>
              <a:rPr lang="en-US" sz="875" b="1" spc="44" kern="0" dirty="0">
                <a:solidFill>
                  <a:srgbClr val="34C759"/>
                </a:solidFill>
                <a:latin typeface="Quattrocento Sans" pitchFamily="34" charset="0"/>
                <a:ea typeface="Quattrocento Sans" pitchFamily="34" charset="-122"/>
                <a:cs typeface="Quattrocento Sans" pitchFamily="34" charset="-120"/>
              </a:rPr>
              <a:t>Mobile Platforms</a:t>
            </a:r>
            <a:endParaRPr lang="en-US" sz="1600" dirty="0"/>
          </a:p>
        </p:txBody>
      </p:sp>
      <p:sp>
        <p:nvSpPr>
          <p:cNvPr id="5" name="Text 3"/>
          <p:cNvSpPr/>
          <p:nvPr/>
        </p:nvSpPr>
        <p:spPr>
          <a:xfrm>
            <a:off x="793750" y="476250"/>
            <a:ext cx="3857625" cy="317500"/>
          </a:xfrm>
          <a:prstGeom prst="rect">
            <a:avLst/>
          </a:prstGeom>
          <a:noFill/>
          <a:ln/>
        </p:spPr>
        <p:txBody>
          <a:bodyPr wrap="square" lIns="0" tIns="0" rIns="0" bIns="0" rtlCol="0" anchor="ctr"/>
          <a:lstStyle/>
          <a:p>
            <a:pPr>
              <a:lnSpc>
                <a:spcPct val="90000"/>
              </a:lnSpc>
            </a:pPr>
            <a:r>
              <a:rPr lang="en-US" sz="2250" b="1" dirty="0">
                <a:solidFill>
                  <a:srgbClr val="F5F5F7"/>
                </a:solidFill>
                <a:latin typeface="Liter" pitchFamily="34" charset="0"/>
                <a:ea typeface="Liter" pitchFamily="34" charset="-122"/>
                <a:cs typeface="Liter" pitchFamily="34" charset="-120"/>
              </a:rPr>
              <a:t>Overview of Mobile Platforms</a:t>
            </a:r>
            <a:endParaRPr lang="en-US" sz="1600" dirty="0"/>
          </a:p>
        </p:txBody>
      </p:sp>
      <p:sp>
        <p:nvSpPr>
          <p:cNvPr id="6" name="Shape 4"/>
          <p:cNvSpPr/>
          <p:nvPr/>
        </p:nvSpPr>
        <p:spPr>
          <a:xfrm>
            <a:off x="317500" y="1063625"/>
            <a:ext cx="3770313" cy="2428875"/>
          </a:xfrm>
          <a:custGeom>
            <a:avLst/>
            <a:gdLst/>
            <a:ahLst/>
            <a:cxnLst/>
            <a:rect l="l" t="t" r="r" b="b"/>
            <a:pathLst>
              <a:path w="3770313" h="2428875">
                <a:moveTo>
                  <a:pt x="31750" y="0"/>
                </a:moveTo>
                <a:lnTo>
                  <a:pt x="3738626" y="0"/>
                </a:lnTo>
                <a:cubicBezTo>
                  <a:pt x="3756149" y="0"/>
                  <a:pt x="3770376" y="14227"/>
                  <a:pt x="3770376" y="31750"/>
                </a:cubicBezTo>
                <a:lnTo>
                  <a:pt x="3770376" y="2301875"/>
                </a:lnTo>
                <a:cubicBezTo>
                  <a:pt x="3770376" y="2335580"/>
                  <a:pt x="3756978" y="2367902"/>
                  <a:pt x="3733134" y="2391722"/>
                </a:cubicBezTo>
                <a:cubicBezTo>
                  <a:pt x="3709289" y="2415543"/>
                  <a:pt x="3676953" y="2428909"/>
                  <a:pt x="3643249" y="2428875"/>
                </a:cubicBezTo>
                <a:lnTo>
                  <a:pt x="127000" y="2428875"/>
                </a:lnTo>
                <a:cubicBezTo>
                  <a:pt x="56907" y="2428875"/>
                  <a:pt x="0" y="2371968"/>
                  <a:pt x="0" y="2301875"/>
                </a:cubicBezTo>
                <a:lnTo>
                  <a:pt x="0" y="31750"/>
                </a:lnTo>
                <a:cubicBezTo>
                  <a:pt x="0" y="14227"/>
                  <a:pt x="14227" y="0"/>
                  <a:pt x="31750" y="0"/>
                </a:cubicBezTo>
                <a:close/>
              </a:path>
            </a:pathLst>
          </a:custGeom>
          <a:gradFill rotWithShape="1" flip="none">
            <a:gsLst>
              <a:gs pos="0">
                <a:srgbClr val="34C759">
                  <a:alpha val="20000"/>
                </a:srgbClr>
              </a:gs>
              <a:gs pos="100000">
                <a:srgbClr val="2C2C2E"/>
              </a:gs>
            </a:gsLst>
            <a:lin ang="2700000" scaled="1"/>
          </a:gradFill>
          <a:ln/>
        </p:spPr>
      </p:sp>
      <p:sp>
        <p:nvSpPr>
          <p:cNvPr id="7" name="Shape 5"/>
          <p:cNvSpPr/>
          <p:nvPr/>
        </p:nvSpPr>
        <p:spPr>
          <a:xfrm>
            <a:off x="317500" y="1063625"/>
            <a:ext cx="3770313" cy="31750"/>
          </a:xfrm>
          <a:custGeom>
            <a:avLst/>
            <a:gdLst/>
            <a:ahLst/>
            <a:cxnLst/>
            <a:rect l="l" t="t" r="r" b="b"/>
            <a:pathLst>
              <a:path w="3770313" h="31750">
                <a:moveTo>
                  <a:pt x="31750" y="0"/>
                </a:moveTo>
                <a:lnTo>
                  <a:pt x="3738626" y="0"/>
                </a:lnTo>
                <a:cubicBezTo>
                  <a:pt x="3756149" y="0"/>
                  <a:pt x="3770376" y="14227"/>
                  <a:pt x="3770376" y="31750"/>
                </a:cubicBezTo>
                <a:lnTo>
                  <a:pt x="3770376" y="31750"/>
                </a:lnTo>
                <a:lnTo>
                  <a:pt x="0" y="31750"/>
                </a:lnTo>
                <a:lnTo>
                  <a:pt x="0" y="31750"/>
                </a:lnTo>
                <a:cubicBezTo>
                  <a:pt x="0" y="14227"/>
                  <a:pt x="14227" y="0"/>
                  <a:pt x="31750" y="0"/>
                </a:cubicBezTo>
                <a:close/>
              </a:path>
            </a:pathLst>
          </a:custGeom>
          <a:solidFill>
            <a:srgbClr val="34C759"/>
          </a:solidFill>
          <a:ln/>
        </p:spPr>
      </p:sp>
      <p:sp>
        <p:nvSpPr>
          <p:cNvPr id="8" name="Shape 6"/>
          <p:cNvSpPr/>
          <p:nvPr/>
        </p:nvSpPr>
        <p:spPr>
          <a:xfrm>
            <a:off x="1883767" y="1270000"/>
            <a:ext cx="635000" cy="635000"/>
          </a:xfrm>
          <a:prstGeom prst="roundRect">
            <a:avLst>
              <a:gd name="adj" fmla="val 50000"/>
            </a:avLst>
          </a:prstGeom>
          <a:solidFill>
            <a:srgbClr val="34C759"/>
          </a:solidFill>
          <a:ln/>
        </p:spPr>
      </p:sp>
      <p:sp>
        <p:nvSpPr>
          <p:cNvPr id="9" name="Shape 7"/>
          <p:cNvSpPr/>
          <p:nvPr/>
        </p:nvSpPr>
        <p:spPr>
          <a:xfrm>
            <a:off x="2040533" y="1444625"/>
            <a:ext cx="321469" cy="285750"/>
          </a:xfrm>
          <a:custGeom>
            <a:avLst/>
            <a:gdLst/>
            <a:ahLst/>
            <a:cxnLst/>
            <a:rect l="l" t="t" r="r" b="b"/>
            <a:pathLst>
              <a:path w="321469" h="285750">
                <a:moveTo>
                  <a:pt x="234683" y="141703"/>
                </a:moveTo>
                <a:cubicBezTo>
                  <a:pt x="239469" y="141703"/>
                  <a:pt x="243891" y="144256"/>
                  <a:pt x="246283" y="148400"/>
                </a:cubicBezTo>
                <a:cubicBezTo>
                  <a:pt x="248676" y="152545"/>
                  <a:pt x="248676" y="157650"/>
                  <a:pt x="246283" y="161795"/>
                </a:cubicBezTo>
                <a:cubicBezTo>
                  <a:pt x="243891" y="165939"/>
                  <a:pt x="239469" y="168492"/>
                  <a:pt x="234683" y="168492"/>
                </a:cubicBezTo>
                <a:cubicBezTo>
                  <a:pt x="227291" y="168492"/>
                  <a:pt x="221289" y="162490"/>
                  <a:pt x="221289" y="155098"/>
                </a:cubicBezTo>
                <a:cubicBezTo>
                  <a:pt x="221289" y="147705"/>
                  <a:pt x="227291" y="141703"/>
                  <a:pt x="234683" y="141703"/>
                </a:cubicBezTo>
                <a:close/>
                <a:moveTo>
                  <a:pt x="86730" y="141703"/>
                </a:moveTo>
                <a:cubicBezTo>
                  <a:pt x="91515" y="141703"/>
                  <a:pt x="95937" y="144256"/>
                  <a:pt x="98330" y="148400"/>
                </a:cubicBezTo>
                <a:cubicBezTo>
                  <a:pt x="100722" y="152545"/>
                  <a:pt x="100722" y="157650"/>
                  <a:pt x="98330" y="161795"/>
                </a:cubicBezTo>
                <a:cubicBezTo>
                  <a:pt x="95937" y="165939"/>
                  <a:pt x="91515" y="168492"/>
                  <a:pt x="86730" y="168492"/>
                </a:cubicBezTo>
                <a:cubicBezTo>
                  <a:pt x="79337" y="168492"/>
                  <a:pt x="73335" y="162490"/>
                  <a:pt x="73335" y="155098"/>
                </a:cubicBezTo>
                <a:cubicBezTo>
                  <a:pt x="73335" y="147705"/>
                  <a:pt x="79337" y="141703"/>
                  <a:pt x="86730" y="141703"/>
                </a:cubicBezTo>
                <a:close/>
                <a:moveTo>
                  <a:pt x="239483" y="87846"/>
                </a:moveTo>
                <a:lnTo>
                  <a:pt x="266216" y="41523"/>
                </a:lnTo>
                <a:cubicBezTo>
                  <a:pt x="266663" y="40909"/>
                  <a:pt x="266942" y="40184"/>
                  <a:pt x="267053" y="39402"/>
                </a:cubicBezTo>
                <a:cubicBezTo>
                  <a:pt x="267165" y="38621"/>
                  <a:pt x="267165" y="37895"/>
                  <a:pt x="266998" y="37114"/>
                </a:cubicBezTo>
                <a:cubicBezTo>
                  <a:pt x="266830" y="36333"/>
                  <a:pt x="266495" y="35663"/>
                  <a:pt x="266049" y="35049"/>
                </a:cubicBezTo>
                <a:cubicBezTo>
                  <a:pt x="265602" y="34435"/>
                  <a:pt x="265044" y="33933"/>
                  <a:pt x="264375" y="33542"/>
                </a:cubicBezTo>
                <a:cubicBezTo>
                  <a:pt x="263705" y="33151"/>
                  <a:pt x="262979" y="32928"/>
                  <a:pt x="262198" y="32817"/>
                </a:cubicBezTo>
                <a:cubicBezTo>
                  <a:pt x="261417" y="32705"/>
                  <a:pt x="260691" y="32817"/>
                  <a:pt x="259966" y="33040"/>
                </a:cubicBezTo>
                <a:cubicBezTo>
                  <a:pt x="259240" y="33263"/>
                  <a:pt x="258570" y="33654"/>
                  <a:pt x="257956" y="34100"/>
                </a:cubicBezTo>
                <a:cubicBezTo>
                  <a:pt x="257342" y="34547"/>
                  <a:pt x="256896" y="35216"/>
                  <a:pt x="256561" y="35886"/>
                </a:cubicBezTo>
                <a:lnTo>
                  <a:pt x="229493" y="82823"/>
                </a:lnTo>
                <a:cubicBezTo>
                  <a:pt x="207838" y="73112"/>
                  <a:pt x="184398" y="68089"/>
                  <a:pt x="160679" y="68089"/>
                </a:cubicBezTo>
                <a:cubicBezTo>
                  <a:pt x="136959" y="68089"/>
                  <a:pt x="113519" y="73112"/>
                  <a:pt x="91864" y="82823"/>
                </a:cubicBezTo>
                <a:lnTo>
                  <a:pt x="64852" y="35942"/>
                </a:lnTo>
                <a:cubicBezTo>
                  <a:pt x="64517" y="35272"/>
                  <a:pt x="64015" y="34658"/>
                  <a:pt x="63457" y="34156"/>
                </a:cubicBezTo>
                <a:cubicBezTo>
                  <a:pt x="62898" y="33654"/>
                  <a:pt x="62173" y="33319"/>
                  <a:pt x="61447" y="33096"/>
                </a:cubicBezTo>
                <a:cubicBezTo>
                  <a:pt x="60722" y="32872"/>
                  <a:pt x="59941" y="32817"/>
                  <a:pt x="59215" y="32872"/>
                </a:cubicBezTo>
                <a:cubicBezTo>
                  <a:pt x="58489" y="32928"/>
                  <a:pt x="57708" y="33207"/>
                  <a:pt x="57038" y="33598"/>
                </a:cubicBezTo>
                <a:cubicBezTo>
                  <a:pt x="56369" y="33989"/>
                  <a:pt x="55811" y="34491"/>
                  <a:pt x="55364" y="35105"/>
                </a:cubicBezTo>
                <a:cubicBezTo>
                  <a:pt x="54918" y="35719"/>
                  <a:pt x="54583" y="36444"/>
                  <a:pt x="54415" y="37170"/>
                </a:cubicBezTo>
                <a:cubicBezTo>
                  <a:pt x="54248" y="37895"/>
                  <a:pt x="54248" y="38677"/>
                  <a:pt x="54359" y="39458"/>
                </a:cubicBezTo>
                <a:cubicBezTo>
                  <a:pt x="54471" y="40239"/>
                  <a:pt x="54806" y="40909"/>
                  <a:pt x="55197" y="41579"/>
                </a:cubicBezTo>
                <a:lnTo>
                  <a:pt x="81930" y="87902"/>
                </a:lnTo>
                <a:cubicBezTo>
                  <a:pt x="35998" y="112849"/>
                  <a:pt x="4576" y="159339"/>
                  <a:pt x="0" y="214313"/>
                </a:cubicBezTo>
                <a:lnTo>
                  <a:pt x="321469" y="214313"/>
                </a:lnTo>
                <a:cubicBezTo>
                  <a:pt x="316892" y="159339"/>
                  <a:pt x="285471" y="112849"/>
                  <a:pt x="239483" y="87846"/>
                </a:cubicBezTo>
                <a:close/>
              </a:path>
            </a:pathLst>
          </a:custGeom>
          <a:solidFill>
            <a:srgbClr val="1D1D1F"/>
          </a:solidFill>
          <a:ln/>
        </p:spPr>
      </p:sp>
      <p:sp>
        <p:nvSpPr>
          <p:cNvPr id="10" name="Text 8"/>
          <p:cNvSpPr/>
          <p:nvPr/>
        </p:nvSpPr>
        <p:spPr>
          <a:xfrm>
            <a:off x="460375" y="2032000"/>
            <a:ext cx="3484563" cy="254000"/>
          </a:xfrm>
          <a:prstGeom prst="rect">
            <a:avLst/>
          </a:prstGeom>
          <a:noFill/>
          <a:ln/>
        </p:spPr>
        <p:txBody>
          <a:bodyPr wrap="square" lIns="0" tIns="0" rIns="0" bIns="0" rtlCol="0" anchor="ctr"/>
          <a:lstStyle/>
          <a:p>
            <a:pPr algn="ctr">
              <a:lnSpc>
                <a:spcPct val="110000"/>
              </a:lnSpc>
            </a:pPr>
            <a:r>
              <a:rPr lang="en-US" sz="1500" b="1" dirty="0">
                <a:solidFill>
                  <a:srgbClr val="34C759"/>
                </a:solidFill>
                <a:latin typeface="Liter" pitchFamily="34" charset="0"/>
                <a:ea typeface="Liter" pitchFamily="34" charset="-122"/>
                <a:cs typeface="Liter" pitchFamily="34" charset="-120"/>
              </a:rPr>
              <a:t>Android</a:t>
            </a:r>
            <a:endParaRPr lang="en-US" sz="1600" dirty="0"/>
          </a:p>
        </p:txBody>
      </p:sp>
      <p:sp>
        <p:nvSpPr>
          <p:cNvPr id="11" name="Text 9"/>
          <p:cNvSpPr/>
          <p:nvPr/>
        </p:nvSpPr>
        <p:spPr>
          <a:xfrm>
            <a:off x="476250" y="2381149"/>
            <a:ext cx="3452813" cy="190500"/>
          </a:xfrm>
          <a:prstGeom prst="rect">
            <a:avLst/>
          </a:prstGeom>
          <a:noFill/>
          <a:ln/>
        </p:spPr>
        <p:txBody>
          <a:bodyPr wrap="square" lIns="0" tIns="0" rIns="0" bIns="0" rtlCol="0" anchor="ctr"/>
          <a:lstStyle/>
          <a:p>
            <a:pPr algn="ct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Google's open-source platform</a:t>
            </a:r>
            <a:endParaRPr lang="en-US" sz="1600" dirty="0"/>
          </a:p>
        </p:txBody>
      </p:sp>
      <p:sp>
        <p:nvSpPr>
          <p:cNvPr id="12" name="Shape 10"/>
          <p:cNvSpPr/>
          <p:nvPr/>
        </p:nvSpPr>
        <p:spPr>
          <a:xfrm>
            <a:off x="508000" y="2666899"/>
            <a:ext cx="3389313" cy="635000"/>
          </a:xfrm>
          <a:prstGeom prst="roundRect">
            <a:avLst>
              <a:gd name="adj" fmla="val 15000"/>
            </a:avLst>
          </a:prstGeom>
          <a:solidFill>
            <a:srgbClr val="1A1D21"/>
          </a:solidFill>
          <a:ln/>
        </p:spPr>
      </p:sp>
      <p:sp>
        <p:nvSpPr>
          <p:cNvPr id="13" name="Text 11"/>
          <p:cNvSpPr/>
          <p:nvPr/>
        </p:nvSpPr>
        <p:spPr>
          <a:xfrm>
            <a:off x="543719" y="2762149"/>
            <a:ext cx="3317875" cy="285750"/>
          </a:xfrm>
          <a:prstGeom prst="rect">
            <a:avLst/>
          </a:prstGeom>
          <a:noFill/>
          <a:ln/>
        </p:spPr>
        <p:txBody>
          <a:bodyPr wrap="square" lIns="0" tIns="0" rIns="0" bIns="0" rtlCol="0" anchor="ctr"/>
          <a:lstStyle/>
          <a:p>
            <a:pPr algn="ctr">
              <a:lnSpc>
                <a:spcPct val="100000"/>
              </a:lnSpc>
            </a:pPr>
            <a:r>
              <a:rPr lang="en-US" sz="1875" b="1" dirty="0">
                <a:solidFill>
                  <a:srgbClr val="34C759"/>
                </a:solidFill>
                <a:latin typeface="Liter" pitchFamily="34" charset="0"/>
                <a:ea typeface="Liter" pitchFamily="34" charset="-122"/>
                <a:cs typeface="Liter" pitchFamily="34" charset="-120"/>
              </a:rPr>
              <a:t>71%</a:t>
            </a:r>
            <a:endParaRPr lang="en-US" sz="1600" dirty="0"/>
          </a:p>
        </p:txBody>
      </p:sp>
      <p:sp>
        <p:nvSpPr>
          <p:cNvPr id="14" name="Text 12"/>
          <p:cNvSpPr/>
          <p:nvPr/>
        </p:nvSpPr>
        <p:spPr>
          <a:xfrm>
            <a:off x="575469" y="3047899"/>
            <a:ext cx="3254375" cy="158750"/>
          </a:xfrm>
          <a:prstGeom prst="rect">
            <a:avLst/>
          </a:prstGeom>
          <a:noFill/>
          <a:ln/>
        </p:spPr>
        <p:txBody>
          <a:bodyPr wrap="square" lIns="0" tIns="0" rIns="0" bIns="0" rtlCol="0" anchor="ctr"/>
          <a:lstStyle/>
          <a:p>
            <a:pPr algn="ctr">
              <a:lnSpc>
                <a:spcPct val="120000"/>
              </a:lnSpc>
            </a:pPr>
            <a:r>
              <a:rPr lang="en-US" sz="875" dirty="0">
                <a:solidFill>
                  <a:srgbClr val="8E8E93"/>
                </a:solidFill>
                <a:latin typeface="Quattrocento Sans" pitchFamily="34" charset="0"/>
                <a:ea typeface="Quattrocento Sans" pitchFamily="34" charset="-122"/>
                <a:cs typeface="Quattrocento Sans" pitchFamily="34" charset="-120"/>
              </a:rPr>
              <a:t>Global market share</a:t>
            </a:r>
            <a:endParaRPr lang="en-US" sz="1600" dirty="0"/>
          </a:p>
        </p:txBody>
      </p:sp>
      <p:sp>
        <p:nvSpPr>
          <p:cNvPr id="15" name="Shape 13"/>
          <p:cNvSpPr/>
          <p:nvPr/>
        </p:nvSpPr>
        <p:spPr>
          <a:xfrm>
            <a:off x="4212134" y="1063625"/>
            <a:ext cx="3770313" cy="2428875"/>
          </a:xfrm>
          <a:custGeom>
            <a:avLst/>
            <a:gdLst/>
            <a:ahLst/>
            <a:cxnLst/>
            <a:rect l="l" t="t" r="r" b="b"/>
            <a:pathLst>
              <a:path w="3770313" h="2428875">
                <a:moveTo>
                  <a:pt x="31750" y="0"/>
                </a:moveTo>
                <a:lnTo>
                  <a:pt x="3738626" y="0"/>
                </a:lnTo>
                <a:cubicBezTo>
                  <a:pt x="3756149" y="0"/>
                  <a:pt x="3770376" y="14227"/>
                  <a:pt x="3770376" y="31750"/>
                </a:cubicBezTo>
                <a:lnTo>
                  <a:pt x="3770376" y="2301875"/>
                </a:lnTo>
                <a:cubicBezTo>
                  <a:pt x="3770376" y="2335580"/>
                  <a:pt x="3756978" y="2367902"/>
                  <a:pt x="3733134" y="2391722"/>
                </a:cubicBezTo>
                <a:cubicBezTo>
                  <a:pt x="3709289" y="2415543"/>
                  <a:pt x="3676953" y="2428909"/>
                  <a:pt x="3643249" y="2428875"/>
                </a:cubicBezTo>
                <a:lnTo>
                  <a:pt x="127000" y="2428875"/>
                </a:lnTo>
                <a:cubicBezTo>
                  <a:pt x="56907" y="2428875"/>
                  <a:pt x="0" y="2371968"/>
                  <a:pt x="0" y="2301875"/>
                </a:cubicBezTo>
                <a:lnTo>
                  <a:pt x="0" y="31750"/>
                </a:lnTo>
                <a:cubicBezTo>
                  <a:pt x="0" y="14227"/>
                  <a:pt x="14227" y="0"/>
                  <a:pt x="31750" y="0"/>
                </a:cubicBezTo>
                <a:close/>
              </a:path>
            </a:pathLst>
          </a:custGeom>
          <a:gradFill rotWithShape="1" flip="none">
            <a:gsLst>
              <a:gs pos="0">
                <a:srgbClr val="0A84FF">
                  <a:alpha val="20000"/>
                </a:srgbClr>
              </a:gs>
              <a:gs pos="100000">
                <a:srgbClr val="2C2C2E"/>
              </a:gs>
            </a:gsLst>
            <a:lin ang="2700000" scaled="1"/>
          </a:gradFill>
          <a:ln/>
        </p:spPr>
      </p:sp>
      <p:sp>
        <p:nvSpPr>
          <p:cNvPr id="16" name="Shape 14"/>
          <p:cNvSpPr/>
          <p:nvPr/>
        </p:nvSpPr>
        <p:spPr>
          <a:xfrm>
            <a:off x="4212134" y="1063625"/>
            <a:ext cx="3770313" cy="31750"/>
          </a:xfrm>
          <a:custGeom>
            <a:avLst/>
            <a:gdLst/>
            <a:ahLst/>
            <a:cxnLst/>
            <a:rect l="l" t="t" r="r" b="b"/>
            <a:pathLst>
              <a:path w="3770313" h="31750">
                <a:moveTo>
                  <a:pt x="31750" y="0"/>
                </a:moveTo>
                <a:lnTo>
                  <a:pt x="3738626" y="0"/>
                </a:lnTo>
                <a:cubicBezTo>
                  <a:pt x="3756149" y="0"/>
                  <a:pt x="3770376" y="14227"/>
                  <a:pt x="3770376" y="31750"/>
                </a:cubicBezTo>
                <a:lnTo>
                  <a:pt x="3770376" y="31750"/>
                </a:lnTo>
                <a:lnTo>
                  <a:pt x="0" y="31750"/>
                </a:lnTo>
                <a:lnTo>
                  <a:pt x="0" y="31750"/>
                </a:lnTo>
                <a:cubicBezTo>
                  <a:pt x="0" y="14227"/>
                  <a:pt x="14227" y="0"/>
                  <a:pt x="31750" y="0"/>
                </a:cubicBezTo>
                <a:close/>
              </a:path>
            </a:pathLst>
          </a:custGeom>
          <a:solidFill>
            <a:srgbClr val="0A84FF"/>
          </a:solidFill>
          <a:ln/>
        </p:spPr>
      </p:sp>
      <p:sp>
        <p:nvSpPr>
          <p:cNvPr id="17" name="Shape 15"/>
          <p:cNvSpPr/>
          <p:nvPr/>
        </p:nvSpPr>
        <p:spPr>
          <a:xfrm>
            <a:off x="5778401" y="1270000"/>
            <a:ext cx="635000" cy="635000"/>
          </a:xfrm>
          <a:prstGeom prst="roundRect">
            <a:avLst>
              <a:gd name="adj" fmla="val 50000"/>
            </a:avLst>
          </a:prstGeom>
          <a:solidFill>
            <a:srgbClr val="0A84FF"/>
          </a:solidFill>
          <a:ln/>
        </p:spPr>
      </p:sp>
      <p:sp>
        <p:nvSpPr>
          <p:cNvPr id="18" name="Shape 16"/>
          <p:cNvSpPr/>
          <p:nvPr/>
        </p:nvSpPr>
        <p:spPr>
          <a:xfrm>
            <a:off x="5988744" y="1444625"/>
            <a:ext cx="214313" cy="285750"/>
          </a:xfrm>
          <a:custGeom>
            <a:avLst/>
            <a:gdLst/>
            <a:ahLst/>
            <a:cxnLst/>
            <a:rect l="l" t="t" r="r" b="b"/>
            <a:pathLst>
              <a:path w="214313" h="285750">
                <a:moveTo>
                  <a:pt x="178091" y="149963"/>
                </a:moveTo>
                <a:cubicBezTo>
                  <a:pt x="177980" y="129480"/>
                  <a:pt x="187244" y="114021"/>
                  <a:pt x="205997" y="102636"/>
                </a:cubicBezTo>
                <a:cubicBezTo>
                  <a:pt x="195504" y="87623"/>
                  <a:pt x="179654" y="79363"/>
                  <a:pt x="158725" y="77744"/>
                </a:cubicBezTo>
                <a:cubicBezTo>
                  <a:pt x="138912" y="76181"/>
                  <a:pt x="117258" y="89297"/>
                  <a:pt x="109333" y="89297"/>
                </a:cubicBezTo>
                <a:cubicBezTo>
                  <a:pt x="100961" y="89297"/>
                  <a:pt x="81762" y="78302"/>
                  <a:pt x="66694" y="78302"/>
                </a:cubicBezTo>
                <a:cubicBezTo>
                  <a:pt x="35551" y="78804"/>
                  <a:pt x="2456" y="103138"/>
                  <a:pt x="2456" y="152642"/>
                </a:cubicBezTo>
                <a:cubicBezTo>
                  <a:pt x="2456" y="167264"/>
                  <a:pt x="5135" y="182389"/>
                  <a:pt x="10492" y="197960"/>
                </a:cubicBezTo>
                <a:cubicBezTo>
                  <a:pt x="17636" y="218442"/>
                  <a:pt x="43421" y="268672"/>
                  <a:pt x="70321" y="267835"/>
                </a:cubicBezTo>
                <a:cubicBezTo>
                  <a:pt x="84386" y="267500"/>
                  <a:pt x="94320" y="257845"/>
                  <a:pt x="112626" y="257845"/>
                </a:cubicBezTo>
                <a:cubicBezTo>
                  <a:pt x="130373" y="257845"/>
                  <a:pt x="139582" y="267835"/>
                  <a:pt x="155265" y="267835"/>
                </a:cubicBezTo>
                <a:cubicBezTo>
                  <a:pt x="182389" y="267444"/>
                  <a:pt x="205718" y="221791"/>
                  <a:pt x="212527" y="201253"/>
                </a:cubicBezTo>
                <a:cubicBezTo>
                  <a:pt x="176138" y="184119"/>
                  <a:pt x="178091" y="151023"/>
                  <a:pt x="178091" y="149963"/>
                </a:cubicBezTo>
                <a:close/>
                <a:moveTo>
                  <a:pt x="146503" y="58322"/>
                </a:moveTo>
                <a:cubicBezTo>
                  <a:pt x="161739" y="40239"/>
                  <a:pt x="160344" y="23775"/>
                  <a:pt x="159897" y="17859"/>
                </a:cubicBezTo>
                <a:cubicBezTo>
                  <a:pt x="146447" y="18641"/>
                  <a:pt x="130876" y="27012"/>
                  <a:pt x="122002" y="37337"/>
                </a:cubicBezTo>
                <a:cubicBezTo>
                  <a:pt x="112235" y="48388"/>
                  <a:pt x="106487" y="62061"/>
                  <a:pt x="107714" y="77465"/>
                </a:cubicBezTo>
                <a:cubicBezTo>
                  <a:pt x="122281" y="78581"/>
                  <a:pt x="135564" y="71103"/>
                  <a:pt x="146503" y="58322"/>
                </a:cubicBezTo>
                <a:close/>
              </a:path>
            </a:pathLst>
          </a:custGeom>
          <a:solidFill>
            <a:srgbClr val="FFFFFF"/>
          </a:solidFill>
          <a:ln/>
        </p:spPr>
      </p:sp>
      <p:sp>
        <p:nvSpPr>
          <p:cNvPr id="19" name="Text 17"/>
          <p:cNvSpPr/>
          <p:nvPr/>
        </p:nvSpPr>
        <p:spPr>
          <a:xfrm>
            <a:off x="4355009" y="2032000"/>
            <a:ext cx="3484563" cy="254000"/>
          </a:xfrm>
          <a:prstGeom prst="rect">
            <a:avLst/>
          </a:prstGeom>
          <a:noFill/>
          <a:ln/>
        </p:spPr>
        <p:txBody>
          <a:bodyPr wrap="square" lIns="0" tIns="0" rIns="0" bIns="0" rtlCol="0" anchor="ctr"/>
          <a:lstStyle/>
          <a:p>
            <a:pPr algn="ctr">
              <a:lnSpc>
                <a:spcPct val="110000"/>
              </a:lnSpc>
            </a:pPr>
            <a:r>
              <a:rPr lang="en-US" sz="1500" b="1" dirty="0">
                <a:solidFill>
                  <a:srgbClr val="0A84FF"/>
                </a:solidFill>
                <a:latin typeface="Liter" pitchFamily="34" charset="0"/>
                <a:ea typeface="Liter" pitchFamily="34" charset="-122"/>
                <a:cs typeface="Liter" pitchFamily="34" charset="-120"/>
              </a:rPr>
              <a:t>iOS</a:t>
            </a:r>
            <a:endParaRPr lang="en-US" sz="1600" dirty="0"/>
          </a:p>
        </p:txBody>
      </p:sp>
      <p:sp>
        <p:nvSpPr>
          <p:cNvPr id="20" name="Text 18"/>
          <p:cNvSpPr/>
          <p:nvPr/>
        </p:nvSpPr>
        <p:spPr>
          <a:xfrm>
            <a:off x="4370884" y="2381149"/>
            <a:ext cx="3452813" cy="190500"/>
          </a:xfrm>
          <a:prstGeom prst="rect">
            <a:avLst/>
          </a:prstGeom>
          <a:noFill/>
          <a:ln/>
        </p:spPr>
        <p:txBody>
          <a:bodyPr wrap="square" lIns="0" tIns="0" rIns="0" bIns="0" rtlCol="0" anchor="ctr"/>
          <a:lstStyle/>
          <a:p>
            <a:pPr algn="ct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Apple's closed ecosystem</a:t>
            </a:r>
            <a:endParaRPr lang="en-US" sz="1600" dirty="0"/>
          </a:p>
        </p:txBody>
      </p:sp>
      <p:sp>
        <p:nvSpPr>
          <p:cNvPr id="21" name="Shape 19"/>
          <p:cNvSpPr/>
          <p:nvPr/>
        </p:nvSpPr>
        <p:spPr>
          <a:xfrm>
            <a:off x="4402634" y="2666899"/>
            <a:ext cx="3389313" cy="635000"/>
          </a:xfrm>
          <a:prstGeom prst="roundRect">
            <a:avLst>
              <a:gd name="adj" fmla="val 15000"/>
            </a:avLst>
          </a:prstGeom>
          <a:solidFill>
            <a:srgbClr val="1A1D21"/>
          </a:solidFill>
          <a:ln/>
        </p:spPr>
      </p:sp>
      <p:sp>
        <p:nvSpPr>
          <p:cNvPr id="22" name="Text 20"/>
          <p:cNvSpPr/>
          <p:nvPr/>
        </p:nvSpPr>
        <p:spPr>
          <a:xfrm>
            <a:off x="4438353" y="2762149"/>
            <a:ext cx="3317875" cy="285750"/>
          </a:xfrm>
          <a:prstGeom prst="rect">
            <a:avLst/>
          </a:prstGeom>
          <a:noFill/>
          <a:ln/>
        </p:spPr>
        <p:txBody>
          <a:bodyPr wrap="square" lIns="0" tIns="0" rIns="0" bIns="0" rtlCol="0" anchor="ctr"/>
          <a:lstStyle/>
          <a:p>
            <a:pPr algn="ctr">
              <a:lnSpc>
                <a:spcPct val="100000"/>
              </a:lnSpc>
            </a:pPr>
            <a:r>
              <a:rPr lang="en-US" sz="1875" b="1" dirty="0">
                <a:solidFill>
                  <a:srgbClr val="0A84FF"/>
                </a:solidFill>
                <a:latin typeface="Liter" pitchFamily="34" charset="0"/>
                <a:ea typeface="Liter" pitchFamily="34" charset="-122"/>
                <a:cs typeface="Liter" pitchFamily="34" charset="-120"/>
              </a:rPr>
              <a:t>28%</a:t>
            </a:r>
            <a:endParaRPr lang="en-US" sz="1600" dirty="0"/>
          </a:p>
        </p:txBody>
      </p:sp>
      <p:sp>
        <p:nvSpPr>
          <p:cNvPr id="23" name="Text 21"/>
          <p:cNvSpPr/>
          <p:nvPr/>
        </p:nvSpPr>
        <p:spPr>
          <a:xfrm>
            <a:off x="4470103" y="3047899"/>
            <a:ext cx="3254375" cy="158750"/>
          </a:xfrm>
          <a:prstGeom prst="rect">
            <a:avLst/>
          </a:prstGeom>
          <a:noFill/>
          <a:ln/>
        </p:spPr>
        <p:txBody>
          <a:bodyPr wrap="square" lIns="0" tIns="0" rIns="0" bIns="0" rtlCol="0" anchor="ctr"/>
          <a:lstStyle/>
          <a:p>
            <a:pPr algn="ctr">
              <a:lnSpc>
                <a:spcPct val="120000"/>
              </a:lnSpc>
            </a:pPr>
            <a:r>
              <a:rPr lang="en-US" sz="875" dirty="0">
                <a:solidFill>
                  <a:srgbClr val="8E8E93"/>
                </a:solidFill>
                <a:latin typeface="Quattrocento Sans" pitchFamily="34" charset="0"/>
                <a:ea typeface="Quattrocento Sans" pitchFamily="34" charset="-122"/>
                <a:cs typeface="Quattrocento Sans" pitchFamily="34" charset="-120"/>
              </a:rPr>
              <a:t>Global market share</a:t>
            </a:r>
            <a:endParaRPr lang="en-US" sz="1600" dirty="0"/>
          </a:p>
        </p:txBody>
      </p:sp>
      <p:sp>
        <p:nvSpPr>
          <p:cNvPr id="24" name="Shape 22"/>
          <p:cNvSpPr/>
          <p:nvPr/>
        </p:nvSpPr>
        <p:spPr>
          <a:xfrm>
            <a:off x="8106767" y="1063625"/>
            <a:ext cx="3770313" cy="2428875"/>
          </a:xfrm>
          <a:custGeom>
            <a:avLst/>
            <a:gdLst/>
            <a:ahLst/>
            <a:cxnLst/>
            <a:rect l="l" t="t" r="r" b="b"/>
            <a:pathLst>
              <a:path w="3770313" h="2428875">
                <a:moveTo>
                  <a:pt x="31750" y="0"/>
                </a:moveTo>
                <a:lnTo>
                  <a:pt x="3738626" y="0"/>
                </a:lnTo>
                <a:cubicBezTo>
                  <a:pt x="3756149" y="0"/>
                  <a:pt x="3770376" y="14227"/>
                  <a:pt x="3770376" y="31750"/>
                </a:cubicBezTo>
                <a:lnTo>
                  <a:pt x="3770376" y="2301875"/>
                </a:lnTo>
                <a:cubicBezTo>
                  <a:pt x="3770376" y="2335580"/>
                  <a:pt x="3756978" y="2367902"/>
                  <a:pt x="3733134" y="2391722"/>
                </a:cubicBezTo>
                <a:cubicBezTo>
                  <a:pt x="3709289" y="2415543"/>
                  <a:pt x="3676953" y="2428909"/>
                  <a:pt x="3643249" y="2428875"/>
                </a:cubicBezTo>
                <a:lnTo>
                  <a:pt x="127000" y="2428875"/>
                </a:lnTo>
                <a:cubicBezTo>
                  <a:pt x="56907" y="2428875"/>
                  <a:pt x="0" y="2371968"/>
                  <a:pt x="0" y="2301875"/>
                </a:cubicBezTo>
                <a:lnTo>
                  <a:pt x="0" y="31750"/>
                </a:lnTo>
                <a:cubicBezTo>
                  <a:pt x="0" y="14227"/>
                  <a:pt x="14227" y="0"/>
                  <a:pt x="31750" y="0"/>
                </a:cubicBezTo>
                <a:close/>
              </a:path>
            </a:pathLst>
          </a:custGeom>
          <a:gradFill rotWithShape="1" flip="none">
            <a:gsLst>
              <a:gs pos="0">
                <a:srgbClr val="8E8E93">
                  <a:alpha val="20000"/>
                </a:srgbClr>
              </a:gs>
              <a:gs pos="100000">
                <a:srgbClr val="2C2C2E"/>
              </a:gs>
            </a:gsLst>
            <a:lin ang="2700000" scaled="1"/>
          </a:gradFill>
          <a:ln/>
        </p:spPr>
      </p:sp>
      <p:sp>
        <p:nvSpPr>
          <p:cNvPr id="25" name="Shape 23"/>
          <p:cNvSpPr/>
          <p:nvPr/>
        </p:nvSpPr>
        <p:spPr>
          <a:xfrm>
            <a:off x="8106767" y="1063625"/>
            <a:ext cx="3770313" cy="31750"/>
          </a:xfrm>
          <a:custGeom>
            <a:avLst/>
            <a:gdLst/>
            <a:ahLst/>
            <a:cxnLst/>
            <a:rect l="l" t="t" r="r" b="b"/>
            <a:pathLst>
              <a:path w="3770313" h="31750">
                <a:moveTo>
                  <a:pt x="31750" y="0"/>
                </a:moveTo>
                <a:lnTo>
                  <a:pt x="3738626" y="0"/>
                </a:lnTo>
                <a:cubicBezTo>
                  <a:pt x="3756149" y="0"/>
                  <a:pt x="3770376" y="14227"/>
                  <a:pt x="3770376" y="31750"/>
                </a:cubicBezTo>
                <a:lnTo>
                  <a:pt x="3770376" y="31750"/>
                </a:lnTo>
                <a:lnTo>
                  <a:pt x="0" y="31750"/>
                </a:lnTo>
                <a:lnTo>
                  <a:pt x="0" y="31750"/>
                </a:lnTo>
                <a:cubicBezTo>
                  <a:pt x="0" y="14227"/>
                  <a:pt x="14227" y="0"/>
                  <a:pt x="31750" y="0"/>
                </a:cubicBezTo>
                <a:close/>
              </a:path>
            </a:pathLst>
          </a:custGeom>
          <a:solidFill>
            <a:srgbClr val="8E8E93"/>
          </a:solidFill>
          <a:ln/>
        </p:spPr>
      </p:sp>
      <p:sp>
        <p:nvSpPr>
          <p:cNvPr id="26" name="Shape 24"/>
          <p:cNvSpPr/>
          <p:nvPr/>
        </p:nvSpPr>
        <p:spPr>
          <a:xfrm>
            <a:off x="9673035" y="1270000"/>
            <a:ext cx="635000" cy="635000"/>
          </a:xfrm>
          <a:prstGeom prst="roundRect">
            <a:avLst>
              <a:gd name="adj" fmla="val 50000"/>
            </a:avLst>
          </a:prstGeom>
          <a:solidFill>
            <a:srgbClr val="8E8E93"/>
          </a:solidFill>
          <a:ln/>
        </p:spPr>
      </p:sp>
      <p:sp>
        <p:nvSpPr>
          <p:cNvPr id="27" name="Shape 25"/>
          <p:cNvSpPr/>
          <p:nvPr/>
        </p:nvSpPr>
        <p:spPr>
          <a:xfrm>
            <a:off x="9847660" y="1444625"/>
            <a:ext cx="285750" cy="285750"/>
          </a:xfrm>
          <a:custGeom>
            <a:avLst/>
            <a:gdLst/>
            <a:ahLst/>
            <a:cxnLst/>
            <a:rect l="l" t="t" r="r" b="b"/>
            <a:pathLst>
              <a:path w="285750" h="285750">
                <a:moveTo>
                  <a:pt x="129760" y="2902"/>
                </a:moveTo>
                <a:cubicBezTo>
                  <a:pt x="138075" y="-949"/>
                  <a:pt x="147675" y="-949"/>
                  <a:pt x="155990" y="2902"/>
                </a:cubicBezTo>
                <a:lnTo>
                  <a:pt x="277992" y="59271"/>
                </a:lnTo>
                <a:cubicBezTo>
                  <a:pt x="282736" y="61447"/>
                  <a:pt x="285750" y="66191"/>
                  <a:pt x="285750" y="71438"/>
                </a:cubicBezTo>
                <a:cubicBezTo>
                  <a:pt x="285750" y="76684"/>
                  <a:pt x="282736" y="81428"/>
                  <a:pt x="277992" y="83604"/>
                </a:cubicBezTo>
                <a:lnTo>
                  <a:pt x="155990" y="139973"/>
                </a:lnTo>
                <a:cubicBezTo>
                  <a:pt x="147675" y="143824"/>
                  <a:pt x="138075" y="143824"/>
                  <a:pt x="129760" y="139973"/>
                </a:cubicBezTo>
                <a:lnTo>
                  <a:pt x="7758" y="83604"/>
                </a:lnTo>
                <a:cubicBezTo>
                  <a:pt x="3014" y="81372"/>
                  <a:pt x="0" y="76628"/>
                  <a:pt x="0" y="71438"/>
                </a:cubicBezTo>
                <a:cubicBezTo>
                  <a:pt x="0" y="66247"/>
                  <a:pt x="3014" y="61447"/>
                  <a:pt x="7758" y="59271"/>
                </a:cubicBezTo>
                <a:lnTo>
                  <a:pt x="129760" y="2902"/>
                </a:lnTo>
                <a:close/>
                <a:moveTo>
                  <a:pt x="26845" y="121890"/>
                </a:moveTo>
                <a:lnTo>
                  <a:pt x="118542" y="164250"/>
                </a:lnTo>
                <a:cubicBezTo>
                  <a:pt x="134001" y="171394"/>
                  <a:pt x="151805" y="171394"/>
                  <a:pt x="167264" y="164250"/>
                </a:cubicBezTo>
                <a:lnTo>
                  <a:pt x="258961" y="121890"/>
                </a:lnTo>
                <a:lnTo>
                  <a:pt x="277992" y="130708"/>
                </a:lnTo>
                <a:cubicBezTo>
                  <a:pt x="282736" y="132885"/>
                  <a:pt x="285750" y="137629"/>
                  <a:pt x="285750" y="142875"/>
                </a:cubicBezTo>
                <a:cubicBezTo>
                  <a:pt x="285750" y="148121"/>
                  <a:pt x="282736" y="152865"/>
                  <a:pt x="277992" y="155042"/>
                </a:cubicBezTo>
                <a:lnTo>
                  <a:pt x="155990" y="211410"/>
                </a:lnTo>
                <a:cubicBezTo>
                  <a:pt x="147675" y="215261"/>
                  <a:pt x="138075" y="215261"/>
                  <a:pt x="129760" y="211410"/>
                </a:cubicBezTo>
                <a:lnTo>
                  <a:pt x="7758" y="155042"/>
                </a:lnTo>
                <a:cubicBezTo>
                  <a:pt x="3014" y="152809"/>
                  <a:pt x="0" y="148065"/>
                  <a:pt x="0" y="142875"/>
                </a:cubicBezTo>
                <a:cubicBezTo>
                  <a:pt x="0" y="137685"/>
                  <a:pt x="3014" y="132885"/>
                  <a:pt x="7758" y="130708"/>
                </a:cubicBezTo>
                <a:lnTo>
                  <a:pt x="26789" y="121890"/>
                </a:lnTo>
                <a:close/>
                <a:moveTo>
                  <a:pt x="7758" y="202146"/>
                </a:moveTo>
                <a:lnTo>
                  <a:pt x="26789" y="193328"/>
                </a:lnTo>
                <a:lnTo>
                  <a:pt x="118486" y="235688"/>
                </a:lnTo>
                <a:cubicBezTo>
                  <a:pt x="133945" y="242832"/>
                  <a:pt x="151749" y="242832"/>
                  <a:pt x="167208" y="235688"/>
                </a:cubicBezTo>
                <a:lnTo>
                  <a:pt x="258905" y="193328"/>
                </a:lnTo>
                <a:lnTo>
                  <a:pt x="277937" y="202146"/>
                </a:lnTo>
                <a:cubicBezTo>
                  <a:pt x="282680" y="204322"/>
                  <a:pt x="285694" y="209066"/>
                  <a:pt x="285694" y="214313"/>
                </a:cubicBezTo>
                <a:cubicBezTo>
                  <a:pt x="285694" y="219559"/>
                  <a:pt x="282680" y="224303"/>
                  <a:pt x="277937" y="226479"/>
                </a:cubicBezTo>
                <a:lnTo>
                  <a:pt x="155935" y="282848"/>
                </a:lnTo>
                <a:cubicBezTo>
                  <a:pt x="147619" y="286699"/>
                  <a:pt x="138019" y="286699"/>
                  <a:pt x="129704" y="282848"/>
                </a:cubicBezTo>
                <a:lnTo>
                  <a:pt x="7758" y="226479"/>
                </a:lnTo>
                <a:cubicBezTo>
                  <a:pt x="3014" y="224247"/>
                  <a:pt x="0" y="219503"/>
                  <a:pt x="0" y="214313"/>
                </a:cubicBezTo>
                <a:cubicBezTo>
                  <a:pt x="0" y="209122"/>
                  <a:pt x="3014" y="204322"/>
                  <a:pt x="7758" y="202146"/>
                </a:cubicBezTo>
                <a:close/>
              </a:path>
            </a:pathLst>
          </a:custGeom>
          <a:solidFill>
            <a:srgbClr val="FFFFFF"/>
          </a:solidFill>
          <a:ln/>
        </p:spPr>
      </p:sp>
      <p:sp>
        <p:nvSpPr>
          <p:cNvPr id="28" name="Text 26"/>
          <p:cNvSpPr/>
          <p:nvPr/>
        </p:nvSpPr>
        <p:spPr>
          <a:xfrm>
            <a:off x="8249643" y="2032000"/>
            <a:ext cx="3484563" cy="254000"/>
          </a:xfrm>
          <a:prstGeom prst="rect">
            <a:avLst/>
          </a:prstGeom>
          <a:noFill/>
          <a:ln/>
        </p:spPr>
        <p:txBody>
          <a:bodyPr wrap="square" lIns="0" tIns="0" rIns="0" bIns="0" rtlCol="0" anchor="ctr"/>
          <a:lstStyle/>
          <a:p>
            <a:pPr algn="ctr">
              <a:lnSpc>
                <a:spcPct val="110000"/>
              </a:lnSpc>
            </a:pPr>
            <a:r>
              <a:rPr lang="en-US" sz="1500" b="1" dirty="0">
                <a:solidFill>
                  <a:srgbClr val="8E8E93"/>
                </a:solidFill>
                <a:latin typeface="Liter" pitchFamily="34" charset="0"/>
                <a:ea typeface="Liter" pitchFamily="34" charset="-122"/>
                <a:cs typeface="Liter" pitchFamily="34" charset="-120"/>
              </a:rPr>
              <a:t>Cross-Platform</a:t>
            </a:r>
            <a:endParaRPr lang="en-US" sz="1600" dirty="0"/>
          </a:p>
        </p:txBody>
      </p:sp>
      <p:sp>
        <p:nvSpPr>
          <p:cNvPr id="29" name="Text 27"/>
          <p:cNvSpPr/>
          <p:nvPr/>
        </p:nvSpPr>
        <p:spPr>
          <a:xfrm>
            <a:off x="8265518" y="2381149"/>
            <a:ext cx="3452813" cy="190500"/>
          </a:xfrm>
          <a:prstGeom prst="rect">
            <a:avLst/>
          </a:prstGeom>
          <a:noFill/>
          <a:ln/>
        </p:spPr>
        <p:txBody>
          <a:bodyPr wrap="square" lIns="0" tIns="0" rIns="0" bIns="0" rtlCol="0" anchor="ctr"/>
          <a:lstStyle/>
          <a:p>
            <a:pPr algn="ct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One code, multiple platforms</a:t>
            </a:r>
            <a:endParaRPr lang="en-US" sz="1600" dirty="0"/>
          </a:p>
        </p:txBody>
      </p:sp>
      <p:sp>
        <p:nvSpPr>
          <p:cNvPr id="30" name="Shape 28"/>
          <p:cNvSpPr/>
          <p:nvPr/>
        </p:nvSpPr>
        <p:spPr>
          <a:xfrm>
            <a:off x="8297268" y="2666899"/>
            <a:ext cx="3389313" cy="635000"/>
          </a:xfrm>
          <a:prstGeom prst="roundRect">
            <a:avLst>
              <a:gd name="adj" fmla="val 15000"/>
            </a:avLst>
          </a:prstGeom>
          <a:solidFill>
            <a:srgbClr val="1A1D21"/>
          </a:solidFill>
          <a:ln/>
        </p:spPr>
      </p:sp>
      <p:sp>
        <p:nvSpPr>
          <p:cNvPr id="31" name="Text 29"/>
          <p:cNvSpPr/>
          <p:nvPr/>
        </p:nvSpPr>
        <p:spPr>
          <a:xfrm>
            <a:off x="8332987" y="2762149"/>
            <a:ext cx="3317875" cy="285750"/>
          </a:xfrm>
          <a:prstGeom prst="rect">
            <a:avLst/>
          </a:prstGeom>
          <a:noFill/>
          <a:ln/>
        </p:spPr>
        <p:txBody>
          <a:bodyPr wrap="square" lIns="0" tIns="0" rIns="0" bIns="0" rtlCol="0" anchor="ctr"/>
          <a:lstStyle/>
          <a:p>
            <a:pPr algn="ctr">
              <a:lnSpc>
                <a:spcPct val="100000"/>
              </a:lnSpc>
            </a:pPr>
            <a:r>
              <a:rPr lang="en-US" sz="1875" b="1" dirty="0">
                <a:solidFill>
                  <a:srgbClr val="8E8E93"/>
                </a:solidFill>
                <a:latin typeface="Liter" pitchFamily="34" charset="0"/>
                <a:ea typeface="Liter" pitchFamily="34" charset="-122"/>
                <a:cs typeface="Liter" pitchFamily="34" charset="-120"/>
              </a:rPr>
              <a:t>~1%</a:t>
            </a:r>
            <a:endParaRPr lang="en-US" sz="1600" dirty="0"/>
          </a:p>
        </p:txBody>
      </p:sp>
      <p:sp>
        <p:nvSpPr>
          <p:cNvPr id="32" name="Text 30"/>
          <p:cNvSpPr/>
          <p:nvPr/>
        </p:nvSpPr>
        <p:spPr>
          <a:xfrm>
            <a:off x="8364737" y="3047899"/>
            <a:ext cx="3254375" cy="158750"/>
          </a:xfrm>
          <a:prstGeom prst="rect">
            <a:avLst/>
          </a:prstGeom>
          <a:noFill/>
          <a:ln/>
        </p:spPr>
        <p:txBody>
          <a:bodyPr wrap="square" lIns="0" tIns="0" rIns="0" bIns="0" rtlCol="0" anchor="ctr"/>
          <a:lstStyle/>
          <a:p>
            <a:pPr algn="ctr">
              <a:lnSpc>
                <a:spcPct val="120000"/>
              </a:lnSpc>
            </a:pPr>
            <a:r>
              <a:rPr lang="en-US" sz="875" dirty="0">
                <a:solidFill>
                  <a:srgbClr val="8E8E93"/>
                </a:solidFill>
                <a:latin typeface="Quattrocento Sans" pitchFamily="34" charset="0"/>
                <a:ea typeface="Quattrocento Sans" pitchFamily="34" charset="-122"/>
                <a:cs typeface="Quattrocento Sans" pitchFamily="34" charset="-120"/>
              </a:rPr>
              <a:t>Other platforms</a:t>
            </a:r>
            <a:endParaRPr lang="en-US" sz="1600" dirty="0"/>
          </a:p>
        </p:txBody>
      </p:sp>
      <p:sp>
        <p:nvSpPr>
          <p:cNvPr id="33" name="Shape 31"/>
          <p:cNvSpPr/>
          <p:nvPr/>
        </p:nvSpPr>
        <p:spPr>
          <a:xfrm>
            <a:off x="333375" y="3619399"/>
            <a:ext cx="5699125" cy="2889250"/>
          </a:xfrm>
          <a:custGeom>
            <a:avLst/>
            <a:gdLst/>
            <a:ahLst/>
            <a:cxnLst/>
            <a:rect l="l" t="t" r="r" b="b"/>
            <a:pathLst>
              <a:path w="5699125" h="2889250">
                <a:moveTo>
                  <a:pt x="31750" y="0"/>
                </a:moveTo>
                <a:lnTo>
                  <a:pt x="5572125" y="0"/>
                </a:lnTo>
                <a:cubicBezTo>
                  <a:pt x="5642218" y="0"/>
                  <a:pt x="5699125" y="56907"/>
                  <a:pt x="5699125" y="127000"/>
                </a:cubicBezTo>
                <a:lnTo>
                  <a:pt x="5699125" y="2762250"/>
                </a:lnTo>
                <a:cubicBezTo>
                  <a:pt x="5699125" y="2832343"/>
                  <a:pt x="5642218" y="2889250"/>
                  <a:pt x="5572125" y="2889250"/>
                </a:cubicBezTo>
                <a:lnTo>
                  <a:pt x="31750" y="2889250"/>
                </a:lnTo>
                <a:cubicBezTo>
                  <a:pt x="14227" y="2889250"/>
                  <a:pt x="0" y="2875023"/>
                  <a:pt x="0" y="2857500"/>
                </a:cubicBezTo>
                <a:lnTo>
                  <a:pt x="0" y="31750"/>
                </a:lnTo>
                <a:cubicBezTo>
                  <a:pt x="0" y="14227"/>
                  <a:pt x="14227" y="0"/>
                  <a:pt x="31750" y="0"/>
                </a:cubicBezTo>
                <a:close/>
              </a:path>
            </a:pathLst>
          </a:custGeom>
          <a:solidFill>
            <a:srgbClr val="2C2C2E"/>
          </a:solidFill>
          <a:ln/>
        </p:spPr>
      </p:sp>
      <p:sp>
        <p:nvSpPr>
          <p:cNvPr id="34" name="Shape 32"/>
          <p:cNvSpPr/>
          <p:nvPr/>
        </p:nvSpPr>
        <p:spPr>
          <a:xfrm>
            <a:off x="333375" y="3619399"/>
            <a:ext cx="31750" cy="2889250"/>
          </a:xfrm>
          <a:custGeom>
            <a:avLst/>
            <a:gdLst/>
            <a:ahLst/>
            <a:cxnLst/>
            <a:rect l="l" t="t" r="r" b="b"/>
            <a:pathLst>
              <a:path w="31750" h="2889250">
                <a:moveTo>
                  <a:pt x="31750" y="0"/>
                </a:moveTo>
                <a:lnTo>
                  <a:pt x="31750" y="0"/>
                </a:lnTo>
                <a:lnTo>
                  <a:pt x="31750" y="2889250"/>
                </a:lnTo>
                <a:lnTo>
                  <a:pt x="31750" y="2889250"/>
                </a:lnTo>
                <a:cubicBezTo>
                  <a:pt x="14227" y="2889250"/>
                  <a:pt x="0" y="2875023"/>
                  <a:pt x="0" y="2857500"/>
                </a:cubicBezTo>
                <a:lnTo>
                  <a:pt x="0" y="31750"/>
                </a:lnTo>
                <a:cubicBezTo>
                  <a:pt x="0" y="14227"/>
                  <a:pt x="14227" y="0"/>
                  <a:pt x="31750" y="0"/>
                </a:cubicBezTo>
                <a:close/>
              </a:path>
            </a:pathLst>
          </a:custGeom>
          <a:solidFill>
            <a:srgbClr val="34C759"/>
          </a:solidFill>
          <a:ln/>
        </p:spPr>
      </p:sp>
      <p:sp>
        <p:nvSpPr>
          <p:cNvPr id="35" name="Shape 33"/>
          <p:cNvSpPr/>
          <p:nvPr/>
        </p:nvSpPr>
        <p:spPr>
          <a:xfrm>
            <a:off x="579438" y="3841649"/>
            <a:ext cx="119063" cy="1587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rgbClr val="34C759"/>
          </a:solidFill>
          <a:ln/>
        </p:spPr>
      </p:sp>
      <p:sp>
        <p:nvSpPr>
          <p:cNvPr id="36" name="Text 34"/>
          <p:cNvSpPr/>
          <p:nvPr/>
        </p:nvSpPr>
        <p:spPr>
          <a:xfrm>
            <a:off x="738188" y="3809899"/>
            <a:ext cx="5183188" cy="222250"/>
          </a:xfrm>
          <a:prstGeom prst="rect">
            <a:avLst/>
          </a:prstGeom>
          <a:noFill/>
          <a:ln/>
        </p:spPr>
        <p:txBody>
          <a:bodyPr wrap="square" lIns="0" tIns="0" rIns="0" bIns="0" rtlCol="0" anchor="ctr"/>
          <a:lstStyle/>
          <a:p>
            <a:pPr>
              <a:lnSpc>
                <a:spcPct val="120000"/>
              </a:lnSpc>
            </a:pPr>
            <a:r>
              <a:rPr lang="en-US" sz="1250" b="1" dirty="0">
                <a:solidFill>
                  <a:srgbClr val="34C759"/>
                </a:solidFill>
                <a:latin typeface="Liter" pitchFamily="34" charset="0"/>
                <a:ea typeface="Liter" pitchFamily="34" charset="-122"/>
                <a:cs typeface="Liter" pitchFamily="34" charset="-120"/>
              </a:rPr>
              <a:t>Key Points</a:t>
            </a:r>
            <a:endParaRPr lang="en-US" sz="1600" dirty="0"/>
          </a:p>
        </p:txBody>
      </p:sp>
      <p:sp>
        <p:nvSpPr>
          <p:cNvPr id="37" name="Text 35"/>
          <p:cNvSpPr/>
          <p:nvPr/>
        </p:nvSpPr>
        <p:spPr>
          <a:xfrm>
            <a:off x="539750" y="4159149"/>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38" name="Text 36"/>
          <p:cNvSpPr/>
          <p:nvPr/>
        </p:nvSpPr>
        <p:spPr>
          <a:xfrm>
            <a:off x="644922" y="4159149"/>
            <a:ext cx="2413000"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Android dominates</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globally with 71% share</a:t>
            </a:r>
            <a:endParaRPr lang="en-US" sz="1600" dirty="0"/>
          </a:p>
        </p:txBody>
      </p:sp>
      <p:sp>
        <p:nvSpPr>
          <p:cNvPr id="39" name="Text 37"/>
          <p:cNvSpPr/>
          <p:nvPr/>
        </p:nvSpPr>
        <p:spPr>
          <a:xfrm>
            <a:off x="539750" y="4444899"/>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0" name="Text 38"/>
          <p:cNvSpPr/>
          <p:nvPr/>
        </p:nvSpPr>
        <p:spPr>
          <a:xfrm>
            <a:off x="644922" y="4444899"/>
            <a:ext cx="2794000"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iOS is strong</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in US, Europe, and premium markets</a:t>
            </a:r>
            <a:endParaRPr lang="en-US" sz="1600" dirty="0"/>
          </a:p>
        </p:txBody>
      </p:sp>
      <p:sp>
        <p:nvSpPr>
          <p:cNvPr id="41" name="Text 39"/>
          <p:cNvSpPr/>
          <p:nvPr/>
        </p:nvSpPr>
        <p:spPr>
          <a:xfrm>
            <a:off x="539750" y="4730649"/>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2" name="Text 40"/>
          <p:cNvSpPr/>
          <p:nvPr/>
        </p:nvSpPr>
        <p:spPr>
          <a:xfrm>
            <a:off x="644922" y="4730649"/>
            <a:ext cx="2166938"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Cross-platform</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saves time and money</a:t>
            </a:r>
            <a:endParaRPr lang="en-US" sz="1600" dirty="0"/>
          </a:p>
        </p:txBody>
      </p:sp>
      <p:sp>
        <p:nvSpPr>
          <p:cNvPr id="43" name="Text 41"/>
          <p:cNvSpPr/>
          <p:nvPr/>
        </p:nvSpPr>
        <p:spPr>
          <a:xfrm>
            <a:off x="539750" y="5016399"/>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4" name="Text 42"/>
          <p:cNvSpPr/>
          <p:nvPr/>
        </p:nvSpPr>
        <p:spPr>
          <a:xfrm>
            <a:off x="644922" y="5016399"/>
            <a:ext cx="2079625"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Each platform has </a:t>
            </a:r>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different strengths</a:t>
            </a:r>
            <a:endParaRPr lang="en-US" sz="1600" dirty="0"/>
          </a:p>
        </p:txBody>
      </p:sp>
      <p:sp>
        <p:nvSpPr>
          <p:cNvPr id="45" name="Text 43"/>
          <p:cNvSpPr/>
          <p:nvPr/>
        </p:nvSpPr>
        <p:spPr>
          <a:xfrm>
            <a:off x="539750" y="5302149"/>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6" name="Text 44"/>
          <p:cNvSpPr/>
          <p:nvPr/>
        </p:nvSpPr>
        <p:spPr>
          <a:xfrm>
            <a:off x="644922" y="5302149"/>
            <a:ext cx="2000250"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Choice depends on </a:t>
            </a:r>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target audience</a:t>
            </a:r>
            <a:endParaRPr lang="en-US" sz="1600" dirty="0"/>
          </a:p>
        </p:txBody>
      </p:sp>
      <p:sp>
        <p:nvSpPr>
          <p:cNvPr id="47" name="Shape 45"/>
          <p:cNvSpPr/>
          <p:nvPr/>
        </p:nvSpPr>
        <p:spPr>
          <a:xfrm>
            <a:off x="320675" y="6642002"/>
            <a:ext cx="5705475" cy="1054100"/>
          </a:xfrm>
          <a:prstGeom prst="roundRect">
            <a:avLst>
              <a:gd name="adj" fmla="val 12048"/>
            </a:avLst>
          </a:prstGeom>
          <a:solidFill>
            <a:srgbClr val="0A84FF">
              <a:alpha val="10196"/>
            </a:srgbClr>
          </a:solidFill>
          <a:ln w="10160">
            <a:solidFill>
              <a:srgbClr val="0A84FF">
                <a:alpha val="30196"/>
              </a:srgbClr>
            </a:solidFill>
            <a:prstDash val="solid"/>
          </a:ln>
        </p:spPr>
      </p:sp>
      <p:sp>
        <p:nvSpPr>
          <p:cNvPr id="48" name="Shape 46"/>
          <p:cNvSpPr/>
          <p:nvPr/>
        </p:nvSpPr>
        <p:spPr>
          <a:xfrm>
            <a:off x="502444" y="6843613"/>
            <a:ext cx="142875" cy="142875"/>
          </a:xfrm>
          <a:custGeom>
            <a:avLst/>
            <a:gdLst/>
            <a:ahLst/>
            <a:cxnLst/>
            <a:rect l="l" t="t" r="r" b="b"/>
            <a:pathLst>
              <a:path w="142875" h="142875">
                <a:moveTo>
                  <a:pt x="71438" y="133945"/>
                </a:moveTo>
                <a:cubicBezTo>
                  <a:pt x="110896" y="133945"/>
                  <a:pt x="142875" y="103947"/>
                  <a:pt x="142875" y="66973"/>
                </a:cubicBezTo>
                <a:cubicBezTo>
                  <a:pt x="142875" y="29998"/>
                  <a:pt x="110896" y="0"/>
                  <a:pt x="71438" y="0"/>
                </a:cubicBezTo>
                <a:cubicBezTo>
                  <a:pt x="31979" y="0"/>
                  <a:pt x="0" y="29998"/>
                  <a:pt x="0" y="66973"/>
                </a:cubicBezTo>
                <a:cubicBezTo>
                  <a:pt x="0" y="82125"/>
                  <a:pt x="5358" y="96078"/>
                  <a:pt x="14399" y="107296"/>
                </a:cubicBezTo>
                <a:lnTo>
                  <a:pt x="781" y="133052"/>
                </a:lnTo>
                <a:cubicBezTo>
                  <a:pt x="-558" y="135564"/>
                  <a:pt x="-140" y="138633"/>
                  <a:pt x="1786" y="140726"/>
                </a:cubicBezTo>
                <a:cubicBezTo>
                  <a:pt x="3711" y="142819"/>
                  <a:pt x="6753" y="143461"/>
                  <a:pt x="9348" y="142345"/>
                </a:cubicBezTo>
                <a:lnTo>
                  <a:pt x="42388" y="128197"/>
                </a:lnTo>
                <a:cubicBezTo>
                  <a:pt x="51262" y="131880"/>
                  <a:pt x="61085" y="133945"/>
                  <a:pt x="71438" y="133945"/>
                </a:cubicBezTo>
                <a:close/>
                <a:moveTo>
                  <a:pt x="35719" y="58043"/>
                </a:moveTo>
                <a:cubicBezTo>
                  <a:pt x="40647" y="58043"/>
                  <a:pt x="44648" y="62044"/>
                  <a:pt x="44648" y="66973"/>
                </a:cubicBezTo>
                <a:cubicBezTo>
                  <a:pt x="44648" y="71901"/>
                  <a:pt x="40647" y="75902"/>
                  <a:pt x="35719" y="75902"/>
                </a:cubicBezTo>
                <a:cubicBezTo>
                  <a:pt x="30790" y="75902"/>
                  <a:pt x="26789" y="71901"/>
                  <a:pt x="26789" y="66973"/>
                </a:cubicBezTo>
                <a:cubicBezTo>
                  <a:pt x="26789" y="62044"/>
                  <a:pt x="30790" y="58043"/>
                  <a:pt x="35719" y="58043"/>
                </a:cubicBezTo>
                <a:close/>
                <a:moveTo>
                  <a:pt x="71438" y="58043"/>
                </a:moveTo>
                <a:cubicBezTo>
                  <a:pt x="76366" y="58043"/>
                  <a:pt x="80367" y="62044"/>
                  <a:pt x="80367" y="66973"/>
                </a:cubicBezTo>
                <a:cubicBezTo>
                  <a:pt x="80367" y="71901"/>
                  <a:pt x="76366" y="75902"/>
                  <a:pt x="71438" y="75902"/>
                </a:cubicBezTo>
                <a:cubicBezTo>
                  <a:pt x="66509" y="75902"/>
                  <a:pt x="62508" y="71901"/>
                  <a:pt x="62508" y="66973"/>
                </a:cubicBezTo>
                <a:cubicBezTo>
                  <a:pt x="62508" y="62044"/>
                  <a:pt x="66509" y="58043"/>
                  <a:pt x="71438" y="58043"/>
                </a:cubicBezTo>
                <a:close/>
                <a:moveTo>
                  <a:pt x="98227" y="66973"/>
                </a:moveTo>
                <a:cubicBezTo>
                  <a:pt x="98227" y="62044"/>
                  <a:pt x="102228" y="58043"/>
                  <a:pt x="107156" y="58043"/>
                </a:cubicBezTo>
                <a:cubicBezTo>
                  <a:pt x="112085" y="58043"/>
                  <a:pt x="116086" y="62044"/>
                  <a:pt x="116086" y="66973"/>
                </a:cubicBezTo>
                <a:cubicBezTo>
                  <a:pt x="116086" y="71901"/>
                  <a:pt x="112085" y="75902"/>
                  <a:pt x="107156" y="75902"/>
                </a:cubicBezTo>
                <a:cubicBezTo>
                  <a:pt x="102228" y="75902"/>
                  <a:pt x="98227" y="71901"/>
                  <a:pt x="98227" y="66973"/>
                </a:cubicBezTo>
                <a:close/>
              </a:path>
            </a:pathLst>
          </a:custGeom>
          <a:solidFill>
            <a:srgbClr val="0A84FF"/>
          </a:solidFill>
          <a:ln/>
        </p:spPr>
      </p:sp>
      <p:sp>
        <p:nvSpPr>
          <p:cNvPr id="49" name="Text 47"/>
          <p:cNvSpPr/>
          <p:nvPr/>
        </p:nvSpPr>
        <p:spPr>
          <a:xfrm>
            <a:off x="665162" y="6803926"/>
            <a:ext cx="5270500" cy="222250"/>
          </a:xfrm>
          <a:prstGeom prst="rect">
            <a:avLst/>
          </a:prstGeom>
          <a:noFill/>
          <a:ln/>
        </p:spPr>
        <p:txBody>
          <a:bodyPr wrap="square" lIns="0" tIns="0" rIns="0" bIns="0" rtlCol="0" anchor="ctr"/>
          <a:lstStyle/>
          <a:p>
            <a:pPr>
              <a:lnSpc>
                <a:spcPct val="130000"/>
              </a:lnSpc>
            </a:pPr>
            <a:r>
              <a:rPr lang="en-US" sz="1125"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50" name="Text 48"/>
          <p:cNvSpPr/>
          <p:nvPr/>
        </p:nvSpPr>
        <p:spPr>
          <a:xfrm>
            <a:off x="482600" y="7121426"/>
            <a:ext cx="5445125" cy="412750"/>
          </a:xfrm>
          <a:prstGeom prst="rect">
            <a:avLst/>
          </a:prstGeom>
          <a:noFill/>
          <a:ln/>
        </p:spPr>
        <p:txBody>
          <a:bodyPr wrap="square" lIns="0" tIns="0" rIns="0" bIns="0" rtlCol="0" anchor="ctr"/>
          <a:lstStyle/>
          <a:p>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Think of mobile platforms like </a:t>
            </a:r>
            <a:pPr>
              <a:lnSpc>
                <a:spcPct val="140000"/>
              </a:lnSpc>
            </a:pPr>
            <a:r>
              <a:rPr lang="en-US" sz="1000" b="1" dirty="0">
                <a:solidFill>
                  <a:srgbClr val="34C759"/>
                </a:solidFill>
                <a:latin typeface="Quattrocento Sans" pitchFamily="34" charset="0"/>
                <a:ea typeface="Quattrocento Sans" pitchFamily="34" charset="-122"/>
                <a:cs typeface="Quattrocento Sans" pitchFamily="34" charset="-120"/>
              </a:rPr>
              <a:t>different car brands</a:t>
            </a:r>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 Android is like Toyota – popular worldwide. iOS is like BMW – premium and exclusive. Cross-platform is like a car that can drive on any road.</a:t>
            </a:r>
            <a:endParaRPr lang="en-US" sz="1600" dirty="0"/>
          </a:p>
        </p:txBody>
      </p:sp>
      <p:sp>
        <p:nvSpPr>
          <p:cNvPr id="51" name="Shape 49"/>
          <p:cNvSpPr/>
          <p:nvPr/>
        </p:nvSpPr>
        <p:spPr>
          <a:xfrm>
            <a:off x="6159500" y="3619399"/>
            <a:ext cx="5715000" cy="3032125"/>
          </a:xfrm>
          <a:prstGeom prst="roundRect">
            <a:avLst>
              <a:gd name="adj" fmla="val 4188"/>
            </a:avLst>
          </a:prstGeom>
          <a:solidFill>
            <a:srgbClr val="2C2C2E"/>
          </a:solidFill>
          <a:ln/>
        </p:spPr>
      </p:sp>
      <p:sp>
        <p:nvSpPr>
          <p:cNvPr id="52" name="Shape 50"/>
          <p:cNvSpPr/>
          <p:nvPr/>
        </p:nvSpPr>
        <p:spPr>
          <a:xfrm>
            <a:off x="6359922" y="3841649"/>
            <a:ext cx="178594" cy="158750"/>
          </a:xfrm>
          <a:custGeom>
            <a:avLst/>
            <a:gdLst/>
            <a:ahLst/>
            <a:cxnLst/>
            <a:rect l="l" t="t" r="r" b="b"/>
            <a:pathLst>
              <a:path w="178594" h="158750">
                <a:moveTo>
                  <a:pt x="158874" y="74414"/>
                </a:moveTo>
                <a:lnTo>
                  <a:pt x="104304" y="74414"/>
                </a:lnTo>
                <a:cubicBezTo>
                  <a:pt x="98816" y="74414"/>
                  <a:pt x="94382" y="69980"/>
                  <a:pt x="94382" y="64492"/>
                </a:cubicBezTo>
                <a:lnTo>
                  <a:pt x="94382" y="9922"/>
                </a:lnTo>
                <a:cubicBezTo>
                  <a:pt x="94382" y="4434"/>
                  <a:pt x="98847" y="-62"/>
                  <a:pt x="104273" y="651"/>
                </a:cubicBezTo>
                <a:cubicBezTo>
                  <a:pt x="137449" y="5054"/>
                  <a:pt x="163742" y="31347"/>
                  <a:pt x="168145" y="64523"/>
                </a:cubicBezTo>
                <a:cubicBezTo>
                  <a:pt x="168858" y="69949"/>
                  <a:pt x="164362" y="74414"/>
                  <a:pt x="158874" y="74414"/>
                </a:cubicBezTo>
                <a:close/>
                <a:moveTo>
                  <a:pt x="69019" y="11534"/>
                </a:moveTo>
                <a:cubicBezTo>
                  <a:pt x="74631" y="10356"/>
                  <a:pt x="79499" y="14945"/>
                  <a:pt x="79499" y="20681"/>
                </a:cubicBezTo>
                <a:lnTo>
                  <a:pt x="79499" y="81855"/>
                </a:lnTo>
                <a:cubicBezTo>
                  <a:pt x="79499" y="83592"/>
                  <a:pt x="80119" y="85266"/>
                  <a:pt x="81204" y="86599"/>
                </a:cubicBezTo>
                <a:lnTo>
                  <a:pt x="122163" y="136023"/>
                </a:lnTo>
                <a:cubicBezTo>
                  <a:pt x="125791" y="140395"/>
                  <a:pt x="125016" y="146999"/>
                  <a:pt x="120024" y="149696"/>
                </a:cubicBezTo>
                <a:cubicBezTo>
                  <a:pt x="109451" y="155463"/>
                  <a:pt x="97327" y="158750"/>
                  <a:pt x="84460" y="158750"/>
                </a:cubicBezTo>
                <a:cubicBezTo>
                  <a:pt x="43377" y="158750"/>
                  <a:pt x="10046" y="125419"/>
                  <a:pt x="10046" y="84336"/>
                </a:cubicBezTo>
                <a:cubicBezTo>
                  <a:pt x="10046" y="48524"/>
                  <a:pt x="35316" y="18635"/>
                  <a:pt x="69019" y="11534"/>
                </a:cubicBezTo>
                <a:close/>
                <a:moveTo>
                  <a:pt x="148146" y="89297"/>
                </a:moveTo>
                <a:lnTo>
                  <a:pt x="167990" y="89297"/>
                </a:lnTo>
                <a:cubicBezTo>
                  <a:pt x="173726" y="89297"/>
                  <a:pt x="178315" y="94165"/>
                  <a:pt x="177136" y="99777"/>
                </a:cubicBezTo>
                <a:cubicBezTo>
                  <a:pt x="173974" y="114784"/>
                  <a:pt x="166284" y="128116"/>
                  <a:pt x="155556" y="138286"/>
                </a:cubicBezTo>
                <a:cubicBezTo>
                  <a:pt x="151743" y="141914"/>
                  <a:pt x="145759" y="141139"/>
                  <a:pt x="142410" y="137077"/>
                </a:cubicBezTo>
                <a:lnTo>
                  <a:pt x="116241" y="105544"/>
                </a:lnTo>
                <a:cubicBezTo>
                  <a:pt x="110877" y="99064"/>
                  <a:pt x="115497" y="89297"/>
                  <a:pt x="123868" y="89297"/>
                </a:cubicBezTo>
                <a:lnTo>
                  <a:pt x="148115" y="89297"/>
                </a:lnTo>
                <a:close/>
              </a:path>
            </a:pathLst>
          </a:custGeom>
          <a:solidFill>
            <a:srgbClr val="34C759"/>
          </a:solidFill>
          <a:ln/>
        </p:spPr>
      </p:sp>
      <p:sp>
        <p:nvSpPr>
          <p:cNvPr id="53" name="Text 51"/>
          <p:cNvSpPr/>
          <p:nvPr/>
        </p:nvSpPr>
        <p:spPr>
          <a:xfrm>
            <a:off x="6548438" y="3809899"/>
            <a:ext cx="5214938" cy="222250"/>
          </a:xfrm>
          <a:prstGeom prst="rect">
            <a:avLst/>
          </a:prstGeom>
          <a:noFill/>
          <a:ln/>
        </p:spPr>
        <p:txBody>
          <a:bodyPr wrap="square" lIns="0" tIns="0" rIns="0" bIns="0" rtlCol="0" anchor="ctr"/>
          <a:lstStyle/>
          <a:p>
            <a:pPr>
              <a:lnSpc>
                <a:spcPct val="120000"/>
              </a:lnSpc>
            </a:pPr>
            <a:r>
              <a:rPr lang="en-US" sz="1250" b="1" dirty="0">
                <a:solidFill>
                  <a:srgbClr val="34C759"/>
                </a:solidFill>
                <a:latin typeface="Liter" pitchFamily="34" charset="0"/>
                <a:ea typeface="Liter" pitchFamily="34" charset="-122"/>
                <a:cs typeface="Liter" pitchFamily="34" charset="-120"/>
              </a:rPr>
              <a:t>Market Share Visualization</a:t>
            </a:r>
            <a:endParaRPr lang="en-US" sz="1600" dirty="0"/>
          </a:p>
        </p:txBody>
      </p:sp>
      <p:sp>
        <p:nvSpPr>
          <p:cNvPr id="54" name="Shape 52"/>
          <p:cNvSpPr/>
          <p:nvPr/>
        </p:nvSpPr>
        <p:spPr>
          <a:xfrm>
            <a:off x="6350000" y="4159149"/>
            <a:ext cx="5334000" cy="2301875"/>
          </a:xfrm>
          <a:prstGeom prst="roundRect">
            <a:avLst>
              <a:gd name="adj" fmla="val 4138"/>
            </a:avLst>
          </a:prstGeom>
          <a:solidFill>
            <a:srgbClr val="1A1D21"/>
          </a:solidFill>
          <a:ln/>
        </p:spPr>
      </p:sp>
      <p:pic>
        <p:nvPicPr>
          <p:cNvPr id="55" name="Image 0" descr="https://kimi-img.moonshot.cn/pub/slides/26-04-27-02:56:40-d7n5vq7826pkedleabk0.png">    </p:cNvPr>
          <p:cNvPicPr>
            <a:picLocks noChangeAspect="1"/>
          </p:cNvPicPr>
          <p:nvPr/>
        </p:nvPicPr>
        <p:blipFill>
          <a:blip r:embed="rId1"/>
          <a:srcRect l="80" r="80" t="0" b="0"/>
          <a:stretch/>
        </p:blipFill>
        <p:spPr>
          <a:xfrm>
            <a:off x="6508750" y="4317899"/>
            <a:ext cx="4000500" cy="1984375"/>
          </a:xfrm>
          <a:prstGeom prst="roundRect">
            <a:avLst>
              <a:gd name="adj" fmla="val 0"/>
            </a:avLst>
          </a:prstGeom>
        </p:spPr>
      </p:pic>
      <p:sp>
        <p:nvSpPr>
          <p:cNvPr id="56" name="Shape 53"/>
          <p:cNvSpPr/>
          <p:nvPr/>
        </p:nvSpPr>
        <p:spPr>
          <a:xfrm>
            <a:off x="6159500" y="6778524"/>
            <a:ext cx="5715000" cy="920750"/>
          </a:xfrm>
          <a:prstGeom prst="roundRect">
            <a:avLst>
              <a:gd name="adj" fmla="val 13793"/>
            </a:avLst>
          </a:prstGeom>
          <a:solidFill>
            <a:srgbClr val="2C2C2E"/>
          </a:solidFill>
          <a:ln/>
        </p:spPr>
      </p:sp>
      <p:sp>
        <p:nvSpPr>
          <p:cNvPr id="57" name="Shape 54"/>
          <p:cNvSpPr/>
          <p:nvPr/>
        </p:nvSpPr>
        <p:spPr>
          <a:xfrm>
            <a:off x="6310313" y="6937274"/>
            <a:ext cx="111125" cy="127000"/>
          </a:xfrm>
          <a:custGeom>
            <a:avLst/>
            <a:gdLst/>
            <a:ahLst/>
            <a:cxnLst/>
            <a:rect l="l" t="t" r="r" b="b"/>
            <a:pathLst>
              <a:path w="111125" h="127000">
                <a:moveTo>
                  <a:pt x="15875" y="7938"/>
                </a:moveTo>
                <a:cubicBezTo>
                  <a:pt x="7119" y="7938"/>
                  <a:pt x="0" y="15056"/>
                  <a:pt x="0" y="23812"/>
                </a:cubicBezTo>
                <a:lnTo>
                  <a:pt x="0" y="103188"/>
                </a:lnTo>
                <a:cubicBezTo>
                  <a:pt x="0" y="111944"/>
                  <a:pt x="7119" y="119063"/>
                  <a:pt x="15875" y="119063"/>
                </a:cubicBezTo>
                <a:lnTo>
                  <a:pt x="95250" y="119063"/>
                </a:lnTo>
                <a:cubicBezTo>
                  <a:pt x="104006" y="119063"/>
                  <a:pt x="111125" y="111944"/>
                  <a:pt x="111125" y="103188"/>
                </a:cubicBezTo>
                <a:lnTo>
                  <a:pt x="111125" y="23812"/>
                </a:lnTo>
                <a:cubicBezTo>
                  <a:pt x="111125" y="15056"/>
                  <a:pt x="104006" y="7938"/>
                  <a:pt x="95250" y="7938"/>
                </a:cubicBezTo>
                <a:lnTo>
                  <a:pt x="15875" y="7938"/>
                </a:lnTo>
                <a:close/>
                <a:moveTo>
                  <a:pt x="31750" y="27781"/>
                </a:moveTo>
                <a:cubicBezTo>
                  <a:pt x="38321" y="27781"/>
                  <a:pt x="43656" y="33116"/>
                  <a:pt x="43656" y="39688"/>
                </a:cubicBezTo>
                <a:cubicBezTo>
                  <a:pt x="43656" y="46259"/>
                  <a:pt x="38321" y="51594"/>
                  <a:pt x="31750" y="51594"/>
                </a:cubicBezTo>
                <a:cubicBezTo>
                  <a:pt x="25179" y="51594"/>
                  <a:pt x="19844" y="46259"/>
                  <a:pt x="19844" y="39688"/>
                </a:cubicBezTo>
                <a:cubicBezTo>
                  <a:pt x="19844" y="33116"/>
                  <a:pt x="25179" y="27781"/>
                  <a:pt x="31750" y="27781"/>
                </a:cubicBezTo>
                <a:close/>
                <a:moveTo>
                  <a:pt x="67469" y="55563"/>
                </a:moveTo>
                <a:cubicBezTo>
                  <a:pt x="69552" y="55563"/>
                  <a:pt x="71462" y="56654"/>
                  <a:pt x="72554" y="58415"/>
                </a:cubicBezTo>
                <a:lnTo>
                  <a:pt x="94382" y="94134"/>
                </a:lnTo>
                <a:cubicBezTo>
                  <a:pt x="95498" y="95969"/>
                  <a:pt x="95548" y="98276"/>
                  <a:pt x="94506" y="100161"/>
                </a:cubicBezTo>
                <a:cubicBezTo>
                  <a:pt x="93464" y="102046"/>
                  <a:pt x="91455" y="103188"/>
                  <a:pt x="89297" y="103188"/>
                </a:cubicBezTo>
                <a:lnTo>
                  <a:pt x="21828" y="103188"/>
                </a:lnTo>
                <a:cubicBezTo>
                  <a:pt x="19621" y="103188"/>
                  <a:pt x="17562" y="101947"/>
                  <a:pt x="16545" y="99988"/>
                </a:cubicBezTo>
                <a:cubicBezTo>
                  <a:pt x="15528" y="98028"/>
                  <a:pt x="15677" y="95647"/>
                  <a:pt x="16942" y="93836"/>
                </a:cubicBezTo>
                <a:lnTo>
                  <a:pt x="30832" y="73992"/>
                </a:lnTo>
                <a:cubicBezTo>
                  <a:pt x="31948" y="72405"/>
                  <a:pt x="33759" y="71462"/>
                  <a:pt x="35719" y="71462"/>
                </a:cubicBezTo>
                <a:cubicBezTo>
                  <a:pt x="37678" y="71462"/>
                  <a:pt x="39489" y="72405"/>
                  <a:pt x="40605" y="73992"/>
                </a:cubicBezTo>
                <a:lnTo>
                  <a:pt x="47154" y="83369"/>
                </a:lnTo>
                <a:lnTo>
                  <a:pt x="62384" y="58440"/>
                </a:lnTo>
                <a:cubicBezTo>
                  <a:pt x="63475" y="56679"/>
                  <a:pt x="65385" y="55587"/>
                  <a:pt x="67469" y="55587"/>
                </a:cubicBezTo>
                <a:close/>
              </a:path>
            </a:pathLst>
          </a:custGeom>
          <a:solidFill>
            <a:srgbClr val="8E8E93"/>
          </a:solidFill>
          <a:ln/>
        </p:spPr>
      </p:sp>
      <p:sp>
        <p:nvSpPr>
          <p:cNvPr id="58" name="Text 55"/>
          <p:cNvSpPr/>
          <p:nvPr/>
        </p:nvSpPr>
        <p:spPr>
          <a:xfrm>
            <a:off x="6445250" y="6905524"/>
            <a:ext cx="5365750" cy="190500"/>
          </a:xfrm>
          <a:prstGeom prst="rect">
            <a:avLst/>
          </a:prstGeom>
          <a:noFill/>
          <a:ln/>
        </p:spPr>
        <p:txBody>
          <a:bodyPr wrap="square" lIns="0" tIns="0" rIns="0" bIns="0" rtlCol="0" anchor="ctr"/>
          <a:lstStyle/>
          <a:p>
            <a:pPr>
              <a:lnSpc>
                <a:spcPct val="130000"/>
              </a:lnSpc>
            </a:pPr>
            <a:r>
              <a:rPr lang="en-US" sz="1000" b="1" dirty="0">
                <a:solidFill>
                  <a:srgbClr val="8E8E93"/>
                </a:solidFill>
                <a:latin typeface="Liter" pitchFamily="34" charset="0"/>
                <a:ea typeface="Liter" pitchFamily="34" charset="-122"/>
                <a:cs typeface="Liter" pitchFamily="34" charset="-120"/>
              </a:rPr>
              <a:t>Visual Suggestion</a:t>
            </a:r>
            <a:endParaRPr lang="en-US" sz="1600" dirty="0"/>
          </a:p>
        </p:txBody>
      </p:sp>
      <p:sp>
        <p:nvSpPr>
          <p:cNvPr id="59" name="Shape 56"/>
          <p:cNvSpPr/>
          <p:nvPr/>
        </p:nvSpPr>
        <p:spPr>
          <a:xfrm>
            <a:off x="6302375" y="7191274"/>
            <a:ext cx="127000" cy="127000"/>
          </a:xfrm>
          <a:custGeom>
            <a:avLst/>
            <a:gdLst/>
            <a:ahLst/>
            <a:cxnLst/>
            <a:rect l="l" t="t" r="r" b="b"/>
            <a:pathLst>
              <a:path w="127000" h="127000">
                <a:moveTo>
                  <a:pt x="0" y="19844"/>
                </a:moveTo>
                <a:cubicBezTo>
                  <a:pt x="0" y="13271"/>
                  <a:pt x="5333" y="7938"/>
                  <a:pt x="11906" y="7938"/>
                </a:cubicBezTo>
                <a:lnTo>
                  <a:pt x="35719" y="7938"/>
                </a:lnTo>
                <a:cubicBezTo>
                  <a:pt x="42292" y="7938"/>
                  <a:pt x="47625" y="13271"/>
                  <a:pt x="47625" y="19844"/>
                </a:cubicBezTo>
                <a:lnTo>
                  <a:pt x="47625" y="23812"/>
                </a:lnTo>
                <a:lnTo>
                  <a:pt x="79375" y="23812"/>
                </a:lnTo>
                <a:lnTo>
                  <a:pt x="79375" y="19844"/>
                </a:lnTo>
                <a:cubicBezTo>
                  <a:pt x="79375" y="13271"/>
                  <a:pt x="84708" y="7938"/>
                  <a:pt x="91281" y="7938"/>
                </a:cubicBezTo>
                <a:lnTo>
                  <a:pt x="115094" y="7938"/>
                </a:lnTo>
                <a:cubicBezTo>
                  <a:pt x="121667" y="7938"/>
                  <a:pt x="127000" y="13271"/>
                  <a:pt x="127000" y="19844"/>
                </a:cubicBezTo>
                <a:lnTo>
                  <a:pt x="127000" y="43656"/>
                </a:lnTo>
                <a:cubicBezTo>
                  <a:pt x="127000" y="50229"/>
                  <a:pt x="121667" y="55563"/>
                  <a:pt x="115094" y="55563"/>
                </a:cubicBezTo>
                <a:lnTo>
                  <a:pt x="91281" y="55563"/>
                </a:lnTo>
                <a:cubicBezTo>
                  <a:pt x="84708" y="55563"/>
                  <a:pt x="79375" y="50229"/>
                  <a:pt x="79375" y="43656"/>
                </a:cubicBezTo>
                <a:lnTo>
                  <a:pt x="79375" y="39688"/>
                </a:lnTo>
                <a:lnTo>
                  <a:pt x="47625" y="39688"/>
                </a:lnTo>
                <a:lnTo>
                  <a:pt x="47625" y="43656"/>
                </a:lnTo>
                <a:cubicBezTo>
                  <a:pt x="47625" y="45467"/>
                  <a:pt x="47203" y="47203"/>
                  <a:pt x="46484" y="48741"/>
                </a:cubicBezTo>
                <a:lnTo>
                  <a:pt x="63500" y="71438"/>
                </a:lnTo>
                <a:lnTo>
                  <a:pt x="83344" y="71438"/>
                </a:lnTo>
                <a:cubicBezTo>
                  <a:pt x="89917" y="71438"/>
                  <a:pt x="95250" y="76771"/>
                  <a:pt x="95250" y="83344"/>
                </a:cubicBezTo>
                <a:lnTo>
                  <a:pt x="95250" y="107156"/>
                </a:lnTo>
                <a:cubicBezTo>
                  <a:pt x="95250" y="113729"/>
                  <a:pt x="89917" y="119063"/>
                  <a:pt x="83344" y="119063"/>
                </a:cubicBezTo>
                <a:lnTo>
                  <a:pt x="59531" y="119063"/>
                </a:lnTo>
                <a:cubicBezTo>
                  <a:pt x="52958" y="119063"/>
                  <a:pt x="47625" y="113729"/>
                  <a:pt x="47625" y="107156"/>
                </a:cubicBezTo>
                <a:lnTo>
                  <a:pt x="47625" y="83344"/>
                </a:lnTo>
                <a:cubicBezTo>
                  <a:pt x="47625" y="81533"/>
                  <a:pt x="48047" y="79797"/>
                  <a:pt x="48766" y="78259"/>
                </a:cubicBezTo>
                <a:lnTo>
                  <a:pt x="31750" y="55563"/>
                </a:lnTo>
                <a:lnTo>
                  <a:pt x="11906" y="55563"/>
                </a:lnTo>
                <a:cubicBezTo>
                  <a:pt x="5333" y="55563"/>
                  <a:pt x="0" y="50229"/>
                  <a:pt x="0" y="43656"/>
                </a:cubicBezTo>
                <a:lnTo>
                  <a:pt x="0" y="19844"/>
                </a:lnTo>
                <a:close/>
              </a:path>
            </a:pathLst>
          </a:custGeom>
          <a:solidFill>
            <a:srgbClr val="34C759"/>
          </a:solidFill>
          <a:ln/>
        </p:spPr>
      </p:sp>
      <p:sp>
        <p:nvSpPr>
          <p:cNvPr id="60" name="Text 57"/>
          <p:cNvSpPr/>
          <p:nvPr/>
        </p:nvSpPr>
        <p:spPr>
          <a:xfrm>
            <a:off x="6508750" y="7159524"/>
            <a:ext cx="2754313" cy="190500"/>
          </a:xfrm>
          <a:prstGeom prst="rect">
            <a:avLst/>
          </a:prstGeom>
          <a:noFill/>
          <a:ln/>
        </p:spPr>
        <p:txBody>
          <a:bodyPr wrap="square" lIns="0" tIns="0" rIns="0" bIns="0" rtlCol="0" anchor="ctr"/>
          <a:lstStyle/>
          <a:p>
            <a:pP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Platform comparison with market share</a:t>
            </a:r>
            <a:endParaRPr lang="en-US" sz="1600" dirty="0"/>
          </a:p>
        </p:txBody>
      </p:sp>
      <p:sp>
        <p:nvSpPr>
          <p:cNvPr id="61" name="Shape 58"/>
          <p:cNvSpPr/>
          <p:nvPr/>
        </p:nvSpPr>
        <p:spPr>
          <a:xfrm>
            <a:off x="6310313" y="7413524"/>
            <a:ext cx="111125" cy="127000"/>
          </a:xfrm>
          <a:custGeom>
            <a:avLst/>
            <a:gdLst/>
            <a:ahLst/>
            <a:cxnLst/>
            <a:rect l="l" t="t" r="r" b="b"/>
            <a:pathLst>
              <a:path w="111125" h="127000">
                <a:moveTo>
                  <a:pt x="15875" y="7938"/>
                </a:moveTo>
                <a:cubicBezTo>
                  <a:pt x="7119" y="7938"/>
                  <a:pt x="0" y="15056"/>
                  <a:pt x="0" y="23812"/>
                </a:cubicBezTo>
                <a:lnTo>
                  <a:pt x="0" y="103188"/>
                </a:lnTo>
                <a:cubicBezTo>
                  <a:pt x="0" y="111944"/>
                  <a:pt x="7119" y="119063"/>
                  <a:pt x="15875" y="119063"/>
                </a:cubicBezTo>
                <a:lnTo>
                  <a:pt x="95250" y="119063"/>
                </a:lnTo>
                <a:cubicBezTo>
                  <a:pt x="104006" y="119063"/>
                  <a:pt x="111125" y="111944"/>
                  <a:pt x="111125" y="103188"/>
                </a:cubicBezTo>
                <a:lnTo>
                  <a:pt x="111125" y="23812"/>
                </a:lnTo>
                <a:cubicBezTo>
                  <a:pt x="111125" y="15056"/>
                  <a:pt x="104006" y="7938"/>
                  <a:pt x="95250" y="7938"/>
                </a:cubicBezTo>
                <a:lnTo>
                  <a:pt x="15875" y="7938"/>
                </a:lnTo>
                <a:close/>
                <a:moveTo>
                  <a:pt x="31750" y="27781"/>
                </a:moveTo>
                <a:cubicBezTo>
                  <a:pt x="38321" y="27781"/>
                  <a:pt x="43656" y="33116"/>
                  <a:pt x="43656" y="39688"/>
                </a:cubicBezTo>
                <a:cubicBezTo>
                  <a:pt x="43656" y="46259"/>
                  <a:pt x="38321" y="51594"/>
                  <a:pt x="31750" y="51594"/>
                </a:cubicBezTo>
                <a:cubicBezTo>
                  <a:pt x="25179" y="51594"/>
                  <a:pt x="19844" y="46259"/>
                  <a:pt x="19844" y="39688"/>
                </a:cubicBezTo>
                <a:cubicBezTo>
                  <a:pt x="19844" y="33116"/>
                  <a:pt x="25179" y="27781"/>
                  <a:pt x="31750" y="27781"/>
                </a:cubicBezTo>
                <a:close/>
                <a:moveTo>
                  <a:pt x="67469" y="55563"/>
                </a:moveTo>
                <a:cubicBezTo>
                  <a:pt x="69552" y="55563"/>
                  <a:pt x="71462" y="56654"/>
                  <a:pt x="72554" y="58415"/>
                </a:cubicBezTo>
                <a:lnTo>
                  <a:pt x="94382" y="94134"/>
                </a:lnTo>
                <a:cubicBezTo>
                  <a:pt x="95498" y="95969"/>
                  <a:pt x="95548" y="98276"/>
                  <a:pt x="94506" y="100161"/>
                </a:cubicBezTo>
                <a:cubicBezTo>
                  <a:pt x="93464" y="102046"/>
                  <a:pt x="91455" y="103188"/>
                  <a:pt x="89297" y="103188"/>
                </a:cubicBezTo>
                <a:lnTo>
                  <a:pt x="21828" y="103188"/>
                </a:lnTo>
                <a:cubicBezTo>
                  <a:pt x="19621" y="103188"/>
                  <a:pt x="17562" y="101947"/>
                  <a:pt x="16545" y="99988"/>
                </a:cubicBezTo>
                <a:cubicBezTo>
                  <a:pt x="15528" y="98028"/>
                  <a:pt x="15677" y="95647"/>
                  <a:pt x="16942" y="93836"/>
                </a:cubicBezTo>
                <a:lnTo>
                  <a:pt x="30832" y="73992"/>
                </a:lnTo>
                <a:cubicBezTo>
                  <a:pt x="31948" y="72405"/>
                  <a:pt x="33759" y="71462"/>
                  <a:pt x="35719" y="71462"/>
                </a:cubicBezTo>
                <a:cubicBezTo>
                  <a:pt x="37678" y="71462"/>
                  <a:pt x="39489" y="72405"/>
                  <a:pt x="40605" y="73992"/>
                </a:cubicBezTo>
                <a:lnTo>
                  <a:pt x="47154" y="83369"/>
                </a:lnTo>
                <a:lnTo>
                  <a:pt x="62384" y="58440"/>
                </a:lnTo>
                <a:cubicBezTo>
                  <a:pt x="63475" y="56679"/>
                  <a:pt x="65385" y="55587"/>
                  <a:pt x="67469" y="55587"/>
                </a:cubicBezTo>
                <a:close/>
              </a:path>
            </a:pathLst>
          </a:custGeom>
          <a:solidFill>
            <a:srgbClr val="0A84FF"/>
          </a:solidFill>
          <a:ln/>
        </p:spPr>
      </p:sp>
      <p:sp>
        <p:nvSpPr>
          <p:cNvPr id="62" name="Text 59"/>
          <p:cNvSpPr/>
          <p:nvPr/>
        </p:nvSpPr>
        <p:spPr>
          <a:xfrm>
            <a:off x="6508750" y="7381774"/>
            <a:ext cx="2492375" cy="190500"/>
          </a:xfrm>
          <a:prstGeom prst="rect">
            <a:avLst/>
          </a:prstGeom>
          <a:noFill/>
          <a:ln/>
        </p:spPr>
        <p:txBody>
          <a:bodyPr wrap="square" lIns="0" tIns="0" rIns="0" bIns="0" rtlCol="0" anchor="ctr"/>
          <a:lstStyle/>
          <a:p>
            <a:pP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Android and iOS devices side by side</a:t>
            </a:r>
            <a:endParaRPr lang="en-US" sz="16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34C759"/>
          </a:solidFill>
          <a:ln/>
        </p:spPr>
      </p:sp>
      <p:sp>
        <p:nvSpPr>
          <p:cNvPr id="3" name="Text 1"/>
          <p:cNvSpPr/>
          <p:nvPr/>
        </p:nvSpPr>
        <p:spPr>
          <a:xfrm>
            <a:off x="495419" y="514350"/>
            <a:ext cx="342900" cy="304800"/>
          </a:xfrm>
          <a:prstGeom prst="rect">
            <a:avLst/>
          </a:prstGeom>
          <a:noFill/>
          <a:ln/>
        </p:spPr>
        <p:txBody>
          <a:bodyPr wrap="square" lIns="0" tIns="0" rIns="0" bIns="0" rtlCol="0" anchor="ctr"/>
          <a:lstStyle/>
          <a:p>
            <a:pPr>
              <a:lnSpc>
                <a:spcPct val="110000"/>
              </a:lnSpc>
            </a:pPr>
            <a:r>
              <a:rPr lang="en-US" sz="1800" b="1" dirty="0">
                <a:solidFill>
                  <a:srgbClr val="1D1D1F"/>
                </a:solidFill>
                <a:latin typeface="Liter" pitchFamily="34" charset="0"/>
                <a:ea typeface="Liter" pitchFamily="34" charset="-122"/>
                <a:cs typeface="Liter" pitchFamily="34" charset="-120"/>
              </a:rPr>
              <a:t>16</a:t>
            </a:r>
            <a:endParaRPr lang="en-US" sz="1600" dirty="0"/>
          </a:p>
        </p:txBody>
      </p:sp>
      <p:sp>
        <p:nvSpPr>
          <p:cNvPr id="4" name="Text 2"/>
          <p:cNvSpPr/>
          <p:nvPr/>
        </p:nvSpPr>
        <p:spPr>
          <a:xfrm>
            <a:off x="952500" y="381000"/>
            <a:ext cx="5353050" cy="190500"/>
          </a:xfrm>
          <a:prstGeom prst="rect">
            <a:avLst/>
          </a:prstGeom>
          <a:noFill/>
          <a:ln/>
        </p:spPr>
        <p:txBody>
          <a:bodyPr wrap="square" lIns="0" tIns="0" rIns="0" bIns="0" rtlCol="0" anchor="ctr"/>
          <a:lstStyle/>
          <a:p>
            <a:pPr>
              <a:lnSpc>
                <a:spcPct val="120000"/>
              </a:lnSpc>
            </a:pPr>
            <a:r>
              <a:rPr lang="en-US" sz="1050" b="1" spc="53" kern="0" dirty="0">
                <a:solidFill>
                  <a:srgbClr val="34C759"/>
                </a:solidFill>
                <a:latin typeface="Quattrocento Sans" pitchFamily="34" charset="0"/>
                <a:ea typeface="Quattrocento Sans" pitchFamily="34" charset="-122"/>
                <a:cs typeface="Quattrocento Sans" pitchFamily="34" charset="-120"/>
              </a:rPr>
              <a:t>Mobile Platforms</a:t>
            </a:r>
            <a:endParaRPr lang="en-US" sz="1600" dirty="0"/>
          </a:p>
        </p:txBody>
      </p:sp>
      <p:sp>
        <p:nvSpPr>
          <p:cNvPr id="5" name="Text 3"/>
          <p:cNvSpPr/>
          <p:nvPr/>
        </p:nvSpPr>
        <p:spPr>
          <a:xfrm>
            <a:off x="952500" y="571500"/>
            <a:ext cx="5457825" cy="381000"/>
          </a:xfrm>
          <a:prstGeom prst="rect">
            <a:avLst/>
          </a:prstGeom>
          <a:noFill/>
          <a:ln/>
        </p:spPr>
        <p:txBody>
          <a:bodyPr wrap="square" lIns="0" tIns="0" rIns="0" bIns="0" rtlCol="0" anchor="ctr"/>
          <a:lstStyle/>
          <a:p>
            <a:pPr>
              <a:lnSpc>
                <a:spcPct val="90000"/>
              </a:lnSpc>
            </a:pPr>
            <a:r>
              <a:rPr lang="en-US" sz="2700" b="1" dirty="0">
                <a:solidFill>
                  <a:srgbClr val="F5F5F7"/>
                </a:solidFill>
                <a:latin typeface="Liter" pitchFamily="34" charset="0"/>
                <a:ea typeface="Liter" pitchFamily="34" charset="-122"/>
                <a:cs typeface="Liter" pitchFamily="34" charset="-120"/>
              </a:rPr>
              <a:t>Android Platform: Open Ecosystem</a:t>
            </a:r>
            <a:endParaRPr lang="en-US" sz="1600" dirty="0"/>
          </a:p>
        </p:txBody>
      </p:sp>
      <p:sp>
        <p:nvSpPr>
          <p:cNvPr id="6" name="Shape 4"/>
          <p:cNvSpPr/>
          <p:nvPr/>
        </p:nvSpPr>
        <p:spPr>
          <a:xfrm>
            <a:off x="400050" y="1257300"/>
            <a:ext cx="5581650" cy="3543300"/>
          </a:xfrm>
          <a:custGeom>
            <a:avLst/>
            <a:gdLst/>
            <a:ahLst/>
            <a:cxnLst/>
            <a:rect l="l" t="t" r="r" b="b"/>
            <a:pathLst>
              <a:path w="5581650" h="3543300">
                <a:moveTo>
                  <a:pt x="38100" y="0"/>
                </a:moveTo>
                <a:lnTo>
                  <a:pt x="5429250" y="0"/>
                </a:lnTo>
                <a:cubicBezTo>
                  <a:pt x="5513362" y="0"/>
                  <a:pt x="5581650" y="68288"/>
                  <a:pt x="5581650" y="152400"/>
                </a:cubicBezTo>
                <a:lnTo>
                  <a:pt x="5581650" y="3390900"/>
                </a:lnTo>
                <a:cubicBezTo>
                  <a:pt x="5581650" y="3475012"/>
                  <a:pt x="5513362" y="3543300"/>
                  <a:pt x="5429250" y="3543300"/>
                </a:cubicBezTo>
                <a:lnTo>
                  <a:pt x="38100" y="3543300"/>
                </a:lnTo>
                <a:cubicBezTo>
                  <a:pt x="17072" y="3543300"/>
                  <a:pt x="0" y="3526228"/>
                  <a:pt x="0" y="3505200"/>
                </a:cubicBezTo>
                <a:lnTo>
                  <a:pt x="0" y="38100"/>
                </a:lnTo>
                <a:cubicBezTo>
                  <a:pt x="0" y="17072"/>
                  <a:pt x="17072" y="0"/>
                  <a:pt x="38100" y="0"/>
                </a:cubicBezTo>
                <a:close/>
              </a:path>
            </a:pathLst>
          </a:custGeom>
          <a:solidFill>
            <a:srgbClr val="2C2C2E"/>
          </a:solidFill>
          <a:ln/>
        </p:spPr>
      </p:sp>
      <p:sp>
        <p:nvSpPr>
          <p:cNvPr id="7" name="Shape 5"/>
          <p:cNvSpPr/>
          <p:nvPr/>
        </p:nvSpPr>
        <p:spPr>
          <a:xfrm>
            <a:off x="400050" y="1257300"/>
            <a:ext cx="38100" cy="3543300"/>
          </a:xfrm>
          <a:custGeom>
            <a:avLst/>
            <a:gdLst/>
            <a:ahLst/>
            <a:cxnLst/>
            <a:rect l="l" t="t" r="r" b="b"/>
            <a:pathLst>
              <a:path w="38100" h="3543300">
                <a:moveTo>
                  <a:pt x="38100" y="0"/>
                </a:moveTo>
                <a:lnTo>
                  <a:pt x="38100" y="0"/>
                </a:lnTo>
                <a:lnTo>
                  <a:pt x="38100" y="3543300"/>
                </a:lnTo>
                <a:lnTo>
                  <a:pt x="38100" y="3543300"/>
                </a:lnTo>
                <a:cubicBezTo>
                  <a:pt x="17072" y="3543300"/>
                  <a:pt x="0" y="3526228"/>
                  <a:pt x="0" y="3505200"/>
                </a:cubicBezTo>
                <a:lnTo>
                  <a:pt x="0" y="38100"/>
                </a:lnTo>
                <a:cubicBezTo>
                  <a:pt x="0" y="17072"/>
                  <a:pt x="17072" y="0"/>
                  <a:pt x="38100" y="0"/>
                </a:cubicBezTo>
                <a:close/>
              </a:path>
            </a:pathLst>
          </a:custGeom>
          <a:solidFill>
            <a:srgbClr val="34C759"/>
          </a:solidFill>
          <a:ln/>
        </p:spPr>
      </p:sp>
      <p:sp>
        <p:nvSpPr>
          <p:cNvPr id="8" name="Shape 6"/>
          <p:cNvSpPr/>
          <p:nvPr/>
        </p:nvSpPr>
        <p:spPr>
          <a:xfrm>
            <a:off x="661988" y="1523879"/>
            <a:ext cx="257175" cy="228600"/>
          </a:xfrm>
          <a:custGeom>
            <a:avLst/>
            <a:gdLst/>
            <a:ahLst/>
            <a:cxnLst/>
            <a:rect l="l" t="t" r="r" b="b"/>
            <a:pathLst>
              <a:path w="257175" h="228600">
                <a:moveTo>
                  <a:pt x="187747" y="113362"/>
                </a:moveTo>
                <a:cubicBezTo>
                  <a:pt x="191575" y="113362"/>
                  <a:pt x="195113" y="115405"/>
                  <a:pt x="197027" y="118720"/>
                </a:cubicBezTo>
                <a:cubicBezTo>
                  <a:pt x="198941" y="122036"/>
                  <a:pt x="198941" y="126120"/>
                  <a:pt x="197027" y="129436"/>
                </a:cubicBezTo>
                <a:cubicBezTo>
                  <a:pt x="195113" y="132751"/>
                  <a:pt x="191575" y="134794"/>
                  <a:pt x="187747" y="134794"/>
                </a:cubicBezTo>
                <a:cubicBezTo>
                  <a:pt x="181833" y="134794"/>
                  <a:pt x="177031" y="129992"/>
                  <a:pt x="177031" y="124078"/>
                </a:cubicBezTo>
                <a:cubicBezTo>
                  <a:pt x="177031" y="118164"/>
                  <a:pt x="181833" y="113362"/>
                  <a:pt x="187747" y="113362"/>
                </a:cubicBezTo>
                <a:close/>
                <a:moveTo>
                  <a:pt x="69384" y="113362"/>
                </a:moveTo>
                <a:cubicBezTo>
                  <a:pt x="73212" y="113362"/>
                  <a:pt x="76750" y="115405"/>
                  <a:pt x="78664" y="118720"/>
                </a:cubicBezTo>
                <a:cubicBezTo>
                  <a:pt x="80578" y="122036"/>
                  <a:pt x="80578" y="126120"/>
                  <a:pt x="78664" y="129436"/>
                </a:cubicBezTo>
                <a:cubicBezTo>
                  <a:pt x="76750" y="132751"/>
                  <a:pt x="73212" y="134794"/>
                  <a:pt x="69384" y="134794"/>
                </a:cubicBezTo>
                <a:cubicBezTo>
                  <a:pt x="63470" y="134794"/>
                  <a:pt x="58668" y="129992"/>
                  <a:pt x="58668" y="124078"/>
                </a:cubicBezTo>
                <a:cubicBezTo>
                  <a:pt x="58668" y="118164"/>
                  <a:pt x="63470" y="113362"/>
                  <a:pt x="69384" y="113362"/>
                </a:cubicBezTo>
                <a:close/>
                <a:moveTo>
                  <a:pt x="191586" y="70277"/>
                </a:moveTo>
                <a:lnTo>
                  <a:pt x="212973" y="33218"/>
                </a:lnTo>
                <a:cubicBezTo>
                  <a:pt x="213330" y="32727"/>
                  <a:pt x="213553" y="32147"/>
                  <a:pt x="213643" y="31522"/>
                </a:cubicBezTo>
                <a:cubicBezTo>
                  <a:pt x="213732" y="30897"/>
                  <a:pt x="213732" y="30316"/>
                  <a:pt x="213598" y="29691"/>
                </a:cubicBezTo>
                <a:cubicBezTo>
                  <a:pt x="213464" y="29066"/>
                  <a:pt x="213196" y="28530"/>
                  <a:pt x="212839" y="28039"/>
                </a:cubicBezTo>
                <a:cubicBezTo>
                  <a:pt x="212482" y="27548"/>
                  <a:pt x="212035" y="27146"/>
                  <a:pt x="211500" y="26834"/>
                </a:cubicBezTo>
                <a:cubicBezTo>
                  <a:pt x="210964" y="26521"/>
                  <a:pt x="210383" y="26343"/>
                  <a:pt x="209758" y="26253"/>
                </a:cubicBezTo>
                <a:cubicBezTo>
                  <a:pt x="209133" y="26164"/>
                  <a:pt x="208553" y="26253"/>
                  <a:pt x="207972" y="26432"/>
                </a:cubicBezTo>
                <a:cubicBezTo>
                  <a:pt x="207392" y="26610"/>
                  <a:pt x="206856" y="26923"/>
                  <a:pt x="206365" y="27280"/>
                </a:cubicBezTo>
                <a:cubicBezTo>
                  <a:pt x="205874" y="27637"/>
                  <a:pt x="205517" y="28173"/>
                  <a:pt x="205249" y="28709"/>
                </a:cubicBezTo>
                <a:lnTo>
                  <a:pt x="183594" y="66258"/>
                </a:lnTo>
                <a:cubicBezTo>
                  <a:pt x="166271" y="58489"/>
                  <a:pt x="147518" y="54471"/>
                  <a:pt x="128543" y="54471"/>
                </a:cubicBezTo>
                <a:cubicBezTo>
                  <a:pt x="109567" y="54471"/>
                  <a:pt x="90815" y="58489"/>
                  <a:pt x="73491" y="66258"/>
                </a:cubicBezTo>
                <a:lnTo>
                  <a:pt x="51881" y="28754"/>
                </a:lnTo>
                <a:cubicBezTo>
                  <a:pt x="51614" y="28218"/>
                  <a:pt x="51212" y="27727"/>
                  <a:pt x="50765" y="27325"/>
                </a:cubicBezTo>
                <a:cubicBezTo>
                  <a:pt x="50319" y="26923"/>
                  <a:pt x="49738" y="26655"/>
                  <a:pt x="49158" y="26477"/>
                </a:cubicBezTo>
                <a:cubicBezTo>
                  <a:pt x="48578" y="26298"/>
                  <a:pt x="47952" y="26253"/>
                  <a:pt x="47372" y="26298"/>
                </a:cubicBezTo>
                <a:cubicBezTo>
                  <a:pt x="46792" y="26343"/>
                  <a:pt x="46166" y="26566"/>
                  <a:pt x="45631" y="26878"/>
                </a:cubicBezTo>
                <a:cubicBezTo>
                  <a:pt x="45095" y="27191"/>
                  <a:pt x="44648" y="27593"/>
                  <a:pt x="44291" y="28084"/>
                </a:cubicBezTo>
                <a:cubicBezTo>
                  <a:pt x="43934" y="28575"/>
                  <a:pt x="43666" y="29155"/>
                  <a:pt x="43532" y="29736"/>
                </a:cubicBezTo>
                <a:cubicBezTo>
                  <a:pt x="43398" y="30316"/>
                  <a:pt x="43398" y="30941"/>
                  <a:pt x="43488" y="31566"/>
                </a:cubicBezTo>
                <a:cubicBezTo>
                  <a:pt x="43577" y="32192"/>
                  <a:pt x="43845" y="32727"/>
                  <a:pt x="44157" y="33263"/>
                </a:cubicBezTo>
                <a:lnTo>
                  <a:pt x="65544" y="70321"/>
                </a:lnTo>
                <a:cubicBezTo>
                  <a:pt x="28798" y="90279"/>
                  <a:pt x="3661" y="127471"/>
                  <a:pt x="0" y="171450"/>
                </a:cubicBezTo>
                <a:lnTo>
                  <a:pt x="257175" y="171450"/>
                </a:lnTo>
                <a:cubicBezTo>
                  <a:pt x="253514" y="127471"/>
                  <a:pt x="228377" y="90279"/>
                  <a:pt x="191586" y="70277"/>
                </a:cubicBezTo>
                <a:close/>
              </a:path>
            </a:pathLst>
          </a:custGeom>
          <a:solidFill>
            <a:srgbClr val="34C759"/>
          </a:solidFill>
          <a:ln/>
        </p:spPr>
      </p:sp>
      <p:sp>
        <p:nvSpPr>
          <p:cNvPr id="9" name="Text 7"/>
          <p:cNvSpPr/>
          <p:nvPr/>
        </p:nvSpPr>
        <p:spPr>
          <a:xfrm>
            <a:off x="933450" y="1485900"/>
            <a:ext cx="4933950" cy="304800"/>
          </a:xfrm>
          <a:prstGeom prst="rect">
            <a:avLst/>
          </a:prstGeom>
          <a:noFill/>
          <a:ln/>
        </p:spPr>
        <p:txBody>
          <a:bodyPr wrap="square" lIns="0" tIns="0" rIns="0" bIns="0" rtlCol="0" anchor="ctr"/>
          <a:lstStyle/>
          <a:p>
            <a:pPr>
              <a:lnSpc>
                <a:spcPct val="110000"/>
              </a:lnSpc>
            </a:pPr>
            <a:r>
              <a:rPr lang="en-US" sz="1800" b="1" dirty="0">
                <a:solidFill>
                  <a:srgbClr val="34C759"/>
                </a:solidFill>
                <a:latin typeface="Liter" pitchFamily="34" charset="0"/>
                <a:ea typeface="Liter" pitchFamily="34" charset="-122"/>
                <a:cs typeface="Liter" pitchFamily="34" charset="-120"/>
              </a:rPr>
              <a:t>What is Android?</a:t>
            </a:r>
            <a:endParaRPr lang="en-US" sz="1600" dirty="0"/>
          </a:p>
        </p:txBody>
      </p:sp>
      <p:sp>
        <p:nvSpPr>
          <p:cNvPr id="10" name="Shape 8"/>
          <p:cNvSpPr/>
          <p:nvPr/>
        </p:nvSpPr>
        <p:spPr>
          <a:xfrm>
            <a:off x="647700" y="2000129"/>
            <a:ext cx="304800" cy="304800"/>
          </a:xfrm>
          <a:prstGeom prst="roundRect">
            <a:avLst>
              <a:gd name="adj" fmla="val 25000"/>
            </a:avLst>
          </a:prstGeom>
          <a:solidFill>
            <a:srgbClr val="34C759"/>
          </a:solidFill>
          <a:ln/>
        </p:spPr>
      </p:sp>
      <p:sp>
        <p:nvSpPr>
          <p:cNvPr id="11" name="Shape 9"/>
          <p:cNvSpPr/>
          <p:nvPr/>
        </p:nvSpPr>
        <p:spPr>
          <a:xfrm>
            <a:off x="735806" y="2085854"/>
            <a:ext cx="133350" cy="133350"/>
          </a:xfrm>
          <a:custGeom>
            <a:avLst/>
            <a:gdLst/>
            <a:ahLst/>
            <a:cxnLst/>
            <a:rect l="l" t="t" r="r" b="b"/>
            <a:pathLst>
              <a:path w="133350" h="133350">
                <a:moveTo>
                  <a:pt x="130225" y="68186"/>
                </a:moveTo>
                <a:cubicBezTo>
                  <a:pt x="130225" y="105039"/>
                  <a:pt x="104987" y="131266"/>
                  <a:pt x="67717" y="131266"/>
                </a:cubicBezTo>
                <a:cubicBezTo>
                  <a:pt x="31983" y="131266"/>
                  <a:pt x="3125" y="102409"/>
                  <a:pt x="3125" y="66675"/>
                </a:cubicBezTo>
                <a:cubicBezTo>
                  <a:pt x="3125" y="30941"/>
                  <a:pt x="31983" y="2084"/>
                  <a:pt x="67717" y="2084"/>
                </a:cubicBezTo>
                <a:cubicBezTo>
                  <a:pt x="85115" y="2084"/>
                  <a:pt x="99752" y="8465"/>
                  <a:pt x="111030" y="18987"/>
                </a:cubicBezTo>
                <a:lnTo>
                  <a:pt x="93449" y="35890"/>
                </a:lnTo>
                <a:cubicBezTo>
                  <a:pt x="70452" y="13700"/>
                  <a:pt x="27686" y="30368"/>
                  <a:pt x="27686" y="66675"/>
                </a:cubicBezTo>
                <a:cubicBezTo>
                  <a:pt x="27686" y="89204"/>
                  <a:pt x="45683" y="107461"/>
                  <a:pt x="67717" y="107461"/>
                </a:cubicBezTo>
                <a:cubicBezTo>
                  <a:pt x="93293" y="107461"/>
                  <a:pt x="102877" y="89126"/>
                  <a:pt x="104388" y="79619"/>
                </a:cubicBezTo>
                <a:lnTo>
                  <a:pt x="67717" y="79619"/>
                </a:lnTo>
                <a:lnTo>
                  <a:pt x="67717" y="57403"/>
                </a:lnTo>
                <a:lnTo>
                  <a:pt x="129209" y="57403"/>
                </a:lnTo>
                <a:cubicBezTo>
                  <a:pt x="129808" y="60711"/>
                  <a:pt x="130225" y="63888"/>
                  <a:pt x="130225" y="68186"/>
                </a:cubicBezTo>
                <a:close/>
              </a:path>
            </a:pathLst>
          </a:custGeom>
          <a:solidFill>
            <a:srgbClr val="1D1D1F"/>
          </a:solidFill>
          <a:ln/>
        </p:spPr>
      </p:sp>
      <p:sp>
        <p:nvSpPr>
          <p:cNvPr id="12" name="Text 10"/>
          <p:cNvSpPr/>
          <p:nvPr/>
        </p:nvSpPr>
        <p:spPr>
          <a:xfrm>
            <a:off x="1066800" y="1981079"/>
            <a:ext cx="20574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Developed by </a:t>
            </a:r>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Google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in 2008</a:t>
            </a:r>
            <a:endParaRPr lang="en-US" sz="1600" dirty="0"/>
          </a:p>
        </p:txBody>
      </p:sp>
      <p:sp>
        <p:nvSpPr>
          <p:cNvPr id="13" name="Shape 11"/>
          <p:cNvSpPr/>
          <p:nvPr/>
        </p:nvSpPr>
        <p:spPr>
          <a:xfrm>
            <a:off x="647700" y="2438279"/>
            <a:ext cx="304800" cy="304800"/>
          </a:xfrm>
          <a:prstGeom prst="roundRect">
            <a:avLst>
              <a:gd name="adj" fmla="val 25000"/>
            </a:avLst>
          </a:prstGeom>
          <a:solidFill>
            <a:srgbClr val="34C759"/>
          </a:solidFill>
          <a:ln/>
        </p:spPr>
      </p:sp>
      <p:sp>
        <p:nvSpPr>
          <p:cNvPr id="14" name="Shape 12"/>
          <p:cNvSpPr/>
          <p:nvPr/>
        </p:nvSpPr>
        <p:spPr>
          <a:xfrm>
            <a:off x="744141" y="2524004"/>
            <a:ext cx="116681" cy="133350"/>
          </a:xfrm>
          <a:custGeom>
            <a:avLst/>
            <a:gdLst/>
            <a:ahLst/>
            <a:cxnLst/>
            <a:rect l="l" t="t" r="r" b="b"/>
            <a:pathLst>
              <a:path w="116681" h="133350">
                <a:moveTo>
                  <a:pt x="20836" y="27087"/>
                </a:moveTo>
                <a:cubicBezTo>
                  <a:pt x="24286" y="27087"/>
                  <a:pt x="27087" y="24286"/>
                  <a:pt x="27087" y="20836"/>
                </a:cubicBezTo>
                <a:cubicBezTo>
                  <a:pt x="27087" y="17386"/>
                  <a:pt x="24286" y="14585"/>
                  <a:pt x="20836" y="14585"/>
                </a:cubicBezTo>
                <a:cubicBezTo>
                  <a:pt x="17386" y="14585"/>
                  <a:pt x="14585" y="17386"/>
                  <a:pt x="14585" y="20836"/>
                </a:cubicBezTo>
                <a:cubicBezTo>
                  <a:pt x="14585" y="24286"/>
                  <a:pt x="17386" y="27087"/>
                  <a:pt x="20836" y="27087"/>
                </a:cubicBezTo>
                <a:close/>
                <a:moveTo>
                  <a:pt x="41672" y="20836"/>
                </a:moveTo>
                <a:cubicBezTo>
                  <a:pt x="41672" y="29379"/>
                  <a:pt x="36541" y="36723"/>
                  <a:pt x="29170" y="39927"/>
                </a:cubicBezTo>
                <a:lnTo>
                  <a:pt x="29170" y="58341"/>
                </a:lnTo>
                <a:lnTo>
                  <a:pt x="75009" y="58341"/>
                </a:lnTo>
                <a:cubicBezTo>
                  <a:pt x="81911" y="58341"/>
                  <a:pt x="87511" y="52741"/>
                  <a:pt x="87511" y="45839"/>
                </a:cubicBezTo>
                <a:lnTo>
                  <a:pt x="87511" y="39927"/>
                </a:lnTo>
                <a:cubicBezTo>
                  <a:pt x="80140" y="36723"/>
                  <a:pt x="75009" y="29379"/>
                  <a:pt x="75009" y="20836"/>
                </a:cubicBezTo>
                <a:cubicBezTo>
                  <a:pt x="75009" y="9324"/>
                  <a:pt x="84333" y="0"/>
                  <a:pt x="95845" y="0"/>
                </a:cubicBezTo>
                <a:cubicBezTo>
                  <a:pt x="107357" y="0"/>
                  <a:pt x="116681" y="9324"/>
                  <a:pt x="116681" y="20836"/>
                </a:cubicBezTo>
                <a:cubicBezTo>
                  <a:pt x="116681" y="29379"/>
                  <a:pt x="111550" y="36723"/>
                  <a:pt x="104180" y="39927"/>
                </a:cubicBezTo>
                <a:lnTo>
                  <a:pt x="104180" y="45839"/>
                </a:lnTo>
                <a:cubicBezTo>
                  <a:pt x="104180" y="61961"/>
                  <a:pt x="91131" y="75009"/>
                  <a:pt x="75009" y="75009"/>
                </a:cubicBezTo>
                <a:lnTo>
                  <a:pt x="29170" y="75009"/>
                </a:lnTo>
                <a:lnTo>
                  <a:pt x="29170" y="93423"/>
                </a:lnTo>
                <a:cubicBezTo>
                  <a:pt x="36541" y="96627"/>
                  <a:pt x="41672" y="103971"/>
                  <a:pt x="41672" y="112514"/>
                </a:cubicBezTo>
                <a:cubicBezTo>
                  <a:pt x="41672" y="124026"/>
                  <a:pt x="32348" y="133350"/>
                  <a:pt x="20836" y="133350"/>
                </a:cubicBezTo>
                <a:cubicBezTo>
                  <a:pt x="9324" y="133350"/>
                  <a:pt x="0" y="124026"/>
                  <a:pt x="0" y="112514"/>
                </a:cubicBezTo>
                <a:cubicBezTo>
                  <a:pt x="0" y="103971"/>
                  <a:pt x="5131" y="96627"/>
                  <a:pt x="12502" y="93423"/>
                </a:cubicBezTo>
                <a:lnTo>
                  <a:pt x="12502" y="39953"/>
                </a:lnTo>
                <a:cubicBezTo>
                  <a:pt x="5131" y="36723"/>
                  <a:pt x="0" y="29379"/>
                  <a:pt x="0" y="20836"/>
                </a:cubicBezTo>
                <a:cubicBezTo>
                  <a:pt x="0" y="9324"/>
                  <a:pt x="9324" y="0"/>
                  <a:pt x="20836" y="0"/>
                </a:cubicBezTo>
                <a:cubicBezTo>
                  <a:pt x="32348" y="0"/>
                  <a:pt x="41672" y="9324"/>
                  <a:pt x="41672" y="20836"/>
                </a:cubicBezTo>
                <a:close/>
                <a:moveTo>
                  <a:pt x="102096" y="20836"/>
                </a:moveTo>
                <a:cubicBezTo>
                  <a:pt x="102096" y="17386"/>
                  <a:pt x="99295" y="14585"/>
                  <a:pt x="95845" y="14585"/>
                </a:cubicBezTo>
                <a:cubicBezTo>
                  <a:pt x="92395" y="14585"/>
                  <a:pt x="89595" y="17386"/>
                  <a:pt x="89595" y="20836"/>
                </a:cubicBezTo>
                <a:cubicBezTo>
                  <a:pt x="89595" y="24286"/>
                  <a:pt x="92395" y="27087"/>
                  <a:pt x="95845" y="27087"/>
                </a:cubicBezTo>
                <a:cubicBezTo>
                  <a:pt x="99295" y="27087"/>
                  <a:pt x="102096" y="24286"/>
                  <a:pt x="102096" y="20836"/>
                </a:cubicBezTo>
                <a:close/>
                <a:moveTo>
                  <a:pt x="20836" y="118765"/>
                </a:moveTo>
                <a:cubicBezTo>
                  <a:pt x="24286" y="118765"/>
                  <a:pt x="27087" y="115964"/>
                  <a:pt x="27087" y="112514"/>
                </a:cubicBezTo>
                <a:cubicBezTo>
                  <a:pt x="27087" y="109064"/>
                  <a:pt x="24286" y="106263"/>
                  <a:pt x="20836" y="106263"/>
                </a:cubicBezTo>
                <a:cubicBezTo>
                  <a:pt x="17386" y="106263"/>
                  <a:pt x="14585" y="109064"/>
                  <a:pt x="14585" y="112514"/>
                </a:cubicBezTo>
                <a:cubicBezTo>
                  <a:pt x="14585" y="115964"/>
                  <a:pt x="17386" y="118765"/>
                  <a:pt x="20836" y="118765"/>
                </a:cubicBezTo>
                <a:close/>
              </a:path>
            </a:pathLst>
          </a:custGeom>
          <a:solidFill>
            <a:srgbClr val="1D1D1F"/>
          </a:solidFill>
          <a:ln/>
        </p:spPr>
      </p:sp>
      <p:sp>
        <p:nvSpPr>
          <p:cNvPr id="15" name="Text 13"/>
          <p:cNvSpPr/>
          <p:nvPr/>
        </p:nvSpPr>
        <p:spPr>
          <a:xfrm>
            <a:off x="1066800" y="2419229"/>
            <a:ext cx="2924175" cy="228600"/>
          </a:xfrm>
          <a:prstGeom prst="rect">
            <a:avLst/>
          </a:prstGeom>
          <a:noFill/>
          <a:ln/>
        </p:spPr>
        <p:txBody>
          <a:bodyPr wrap="square" lIns="0" tIns="0" rIns="0" bIns="0" rtlCol="0" anchor="ctr"/>
          <a:lstStyle/>
          <a:p>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Open-source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 anyone can use and modify</a:t>
            </a:r>
            <a:endParaRPr lang="en-US" sz="1600" dirty="0"/>
          </a:p>
        </p:txBody>
      </p:sp>
      <p:sp>
        <p:nvSpPr>
          <p:cNvPr id="16" name="Shape 14"/>
          <p:cNvSpPr/>
          <p:nvPr/>
        </p:nvSpPr>
        <p:spPr>
          <a:xfrm>
            <a:off x="647700" y="2876429"/>
            <a:ext cx="304800" cy="304800"/>
          </a:xfrm>
          <a:prstGeom prst="roundRect">
            <a:avLst>
              <a:gd name="adj" fmla="val 25000"/>
            </a:avLst>
          </a:prstGeom>
          <a:solidFill>
            <a:srgbClr val="34C759"/>
          </a:solidFill>
          <a:ln/>
        </p:spPr>
      </p:sp>
      <p:sp>
        <p:nvSpPr>
          <p:cNvPr id="17" name="Shape 15"/>
          <p:cNvSpPr/>
          <p:nvPr/>
        </p:nvSpPr>
        <p:spPr>
          <a:xfrm>
            <a:off x="752475" y="2962154"/>
            <a:ext cx="100013" cy="133350"/>
          </a:xfrm>
          <a:custGeom>
            <a:avLst/>
            <a:gdLst/>
            <a:ahLst/>
            <a:cxnLst/>
            <a:rect l="l" t="t" r="r" b="b"/>
            <a:pathLst>
              <a:path w="100013" h="133350">
                <a:moveTo>
                  <a:pt x="4167" y="16669"/>
                </a:moveTo>
                <a:cubicBezTo>
                  <a:pt x="4167" y="7475"/>
                  <a:pt x="11642" y="0"/>
                  <a:pt x="20836" y="0"/>
                </a:cubicBezTo>
                <a:lnTo>
                  <a:pt x="79177" y="0"/>
                </a:lnTo>
                <a:cubicBezTo>
                  <a:pt x="88370" y="0"/>
                  <a:pt x="95845" y="7475"/>
                  <a:pt x="95845" y="16669"/>
                </a:cubicBezTo>
                <a:lnTo>
                  <a:pt x="95845" y="116681"/>
                </a:lnTo>
                <a:cubicBezTo>
                  <a:pt x="95845" y="125875"/>
                  <a:pt x="88370" y="133350"/>
                  <a:pt x="79177" y="133350"/>
                </a:cubicBezTo>
                <a:lnTo>
                  <a:pt x="20836" y="133350"/>
                </a:lnTo>
                <a:cubicBezTo>
                  <a:pt x="11642" y="133350"/>
                  <a:pt x="4167" y="125875"/>
                  <a:pt x="4167" y="116681"/>
                </a:cubicBezTo>
                <a:lnTo>
                  <a:pt x="4167" y="16669"/>
                </a:lnTo>
                <a:close/>
                <a:moveTo>
                  <a:pt x="20836" y="16669"/>
                </a:moveTo>
                <a:lnTo>
                  <a:pt x="20836" y="95845"/>
                </a:lnTo>
                <a:lnTo>
                  <a:pt x="79177" y="95845"/>
                </a:lnTo>
                <a:lnTo>
                  <a:pt x="79177" y="16669"/>
                </a:lnTo>
                <a:lnTo>
                  <a:pt x="20836" y="16669"/>
                </a:lnTo>
                <a:close/>
                <a:moveTo>
                  <a:pt x="50006" y="122932"/>
                </a:moveTo>
                <a:cubicBezTo>
                  <a:pt x="54616" y="122932"/>
                  <a:pt x="58341" y="119208"/>
                  <a:pt x="58341" y="114598"/>
                </a:cubicBezTo>
                <a:cubicBezTo>
                  <a:pt x="58341" y="109988"/>
                  <a:pt x="54616" y="106263"/>
                  <a:pt x="50006" y="106263"/>
                </a:cubicBezTo>
                <a:cubicBezTo>
                  <a:pt x="45396" y="106263"/>
                  <a:pt x="41672" y="109988"/>
                  <a:pt x="41672" y="114598"/>
                </a:cubicBezTo>
                <a:cubicBezTo>
                  <a:pt x="41672" y="119208"/>
                  <a:pt x="45396" y="122932"/>
                  <a:pt x="50006" y="122932"/>
                </a:cubicBezTo>
                <a:close/>
              </a:path>
            </a:pathLst>
          </a:custGeom>
          <a:solidFill>
            <a:srgbClr val="1D1D1F"/>
          </a:solidFill>
          <a:ln/>
        </p:spPr>
      </p:sp>
      <p:sp>
        <p:nvSpPr>
          <p:cNvPr id="18" name="Text 16"/>
          <p:cNvSpPr/>
          <p:nvPr/>
        </p:nvSpPr>
        <p:spPr>
          <a:xfrm>
            <a:off x="1066800" y="2857379"/>
            <a:ext cx="38481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Used by </a:t>
            </a:r>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many manufacturers</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Samsung, Xiaomi, OnePlus</a:t>
            </a:r>
            <a:endParaRPr lang="en-US" sz="1600" dirty="0"/>
          </a:p>
        </p:txBody>
      </p:sp>
      <p:sp>
        <p:nvSpPr>
          <p:cNvPr id="19" name="Shape 17"/>
          <p:cNvSpPr/>
          <p:nvPr/>
        </p:nvSpPr>
        <p:spPr>
          <a:xfrm>
            <a:off x="647700" y="3314579"/>
            <a:ext cx="304800" cy="304800"/>
          </a:xfrm>
          <a:prstGeom prst="roundRect">
            <a:avLst>
              <a:gd name="adj" fmla="val 25000"/>
            </a:avLst>
          </a:prstGeom>
          <a:solidFill>
            <a:srgbClr val="34C759"/>
          </a:solidFill>
          <a:ln/>
        </p:spPr>
      </p:sp>
      <p:sp>
        <p:nvSpPr>
          <p:cNvPr id="20" name="Shape 18"/>
          <p:cNvSpPr/>
          <p:nvPr/>
        </p:nvSpPr>
        <p:spPr>
          <a:xfrm>
            <a:off x="735806" y="3400304"/>
            <a:ext cx="133350" cy="133350"/>
          </a:xfrm>
          <a:custGeom>
            <a:avLst/>
            <a:gdLst/>
            <a:ahLst/>
            <a:cxnLst/>
            <a:rect l="l" t="t" r="r" b="b"/>
            <a:pathLst>
              <a:path w="133350" h="133350">
                <a:moveTo>
                  <a:pt x="91652" y="72926"/>
                </a:moveTo>
                <a:lnTo>
                  <a:pt x="41932" y="72926"/>
                </a:lnTo>
                <a:cubicBezTo>
                  <a:pt x="42688" y="89725"/>
                  <a:pt x="46412" y="105195"/>
                  <a:pt x="51699" y="116525"/>
                </a:cubicBezTo>
                <a:cubicBezTo>
                  <a:pt x="54668" y="122906"/>
                  <a:pt x="57872" y="127412"/>
                  <a:pt x="60841" y="130173"/>
                </a:cubicBezTo>
                <a:cubicBezTo>
                  <a:pt x="63758" y="132907"/>
                  <a:pt x="65763" y="133350"/>
                  <a:pt x="66805" y="133350"/>
                </a:cubicBezTo>
                <a:cubicBezTo>
                  <a:pt x="67847" y="133350"/>
                  <a:pt x="69852" y="132907"/>
                  <a:pt x="72770" y="130173"/>
                </a:cubicBezTo>
                <a:cubicBezTo>
                  <a:pt x="75739" y="127412"/>
                  <a:pt x="78942" y="122880"/>
                  <a:pt x="81911" y="116525"/>
                </a:cubicBezTo>
                <a:cubicBezTo>
                  <a:pt x="87198" y="105195"/>
                  <a:pt x="90923" y="89725"/>
                  <a:pt x="91678" y="72926"/>
                </a:cubicBezTo>
                <a:close/>
                <a:moveTo>
                  <a:pt x="41906" y="60424"/>
                </a:moveTo>
                <a:lnTo>
                  <a:pt x="91626" y="60424"/>
                </a:lnTo>
                <a:cubicBezTo>
                  <a:pt x="90897" y="43625"/>
                  <a:pt x="87172" y="28155"/>
                  <a:pt x="81885" y="16825"/>
                </a:cubicBezTo>
                <a:cubicBezTo>
                  <a:pt x="78916" y="10470"/>
                  <a:pt x="75713" y="5938"/>
                  <a:pt x="72743" y="3177"/>
                </a:cubicBezTo>
                <a:cubicBezTo>
                  <a:pt x="69826" y="443"/>
                  <a:pt x="67821" y="0"/>
                  <a:pt x="66779" y="0"/>
                </a:cubicBezTo>
                <a:cubicBezTo>
                  <a:pt x="65737" y="0"/>
                  <a:pt x="63732" y="443"/>
                  <a:pt x="60815" y="3177"/>
                </a:cubicBezTo>
                <a:cubicBezTo>
                  <a:pt x="57846" y="5938"/>
                  <a:pt x="54642" y="10470"/>
                  <a:pt x="51673" y="16825"/>
                </a:cubicBezTo>
                <a:cubicBezTo>
                  <a:pt x="46386" y="28155"/>
                  <a:pt x="42662" y="43625"/>
                  <a:pt x="41906" y="60424"/>
                </a:cubicBezTo>
                <a:close/>
                <a:moveTo>
                  <a:pt x="29405" y="60424"/>
                </a:moveTo>
                <a:cubicBezTo>
                  <a:pt x="30316" y="38130"/>
                  <a:pt x="36072" y="17424"/>
                  <a:pt x="44485" y="3829"/>
                </a:cubicBezTo>
                <a:cubicBezTo>
                  <a:pt x="20497" y="12319"/>
                  <a:pt x="2839" y="34171"/>
                  <a:pt x="391" y="60424"/>
                </a:cubicBezTo>
                <a:lnTo>
                  <a:pt x="29405" y="60424"/>
                </a:lnTo>
                <a:close/>
                <a:moveTo>
                  <a:pt x="391" y="72926"/>
                </a:moveTo>
                <a:cubicBezTo>
                  <a:pt x="2839" y="99179"/>
                  <a:pt x="20497" y="121031"/>
                  <a:pt x="44485" y="129521"/>
                </a:cubicBezTo>
                <a:cubicBezTo>
                  <a:pt x="36072" y="115926"/>
                  <a:pt x="30316" y="95220"/>
                  <a:pt x="29405" y="72926"/>
                </a:cubicBezTo>
                <a:lnTo>
                  <a:pt x="391" y="72926"/>
                </a:lnTo>
                <a:close/>
                <a:moveTo>
                  <a:pt x="104154" y="72926"/>
                </a:moveTo>
                <a:cubicBezTo>
                  <a:pt x="103242" y="95220"/>
                  <a:pt x="97486" y="115926"/>
                  <a:pt x="89074" y="129521"/>
                </a:cubicBezTo>
                <a:cubicBezTo>
                  <a:pt x="113061" y="121005"/>
                  <a:pt x="130719" y="99179"/>
                  <a:pt x="133168" y="72926"/>
                </a:cubicBezTo>
                <a:lnTo>
                  <a:pt x="104154" y="72926"/>
                </a:lnTo>
                <a:close/>
                <a:moveTo>
                  <a:pt x="133168" y="60424"/>
                </a:moveTo>
                <a:cubicBezTo>
                  <a:pt x="130719" y="34171"/>
                  <a:pt x="113061" y="12319"/>
                  <a:pt x="89074" y="3829"/>
                </a:cubicBezTo>
                <a:cubicBezTo>
                  <a:pt x="97486" y="17424"/>
                  <a:pt x="103242" y="38130"/>
                  <a:pt x="104154" y="60424"/>
                </a:cubicBezTo>
                <a:lnTo>
                  <a:pt x="133168" y="60424"/>
                </a:lnTo>
                <a:close/>
              </a:path>
            </a:pathLst>
          </a:custGeom>
          <a:solidFill>
            <a:srgbClr val="1D1D1F"/>
          </a:solidFill>
          <a:ln/>
        </p:spPr>
      </p:sp>
      <p:sp>
        <p:nvSpPr>
          <p:cNvPr id="21" name="Text 19"/>
          <p:cNvSpPr/>
          <p:nvPr/>
        </p:nvSpPr>
        <p:spPr>
          <a:xfrm>
            <a:off x="1066800" y="3295529"/>
            <a:ext cx="2257425" cy="228600"/>
          </a:xfrm>
          <a:prstGeom prst="rect">
            <a:avLst/>
          </a:prstGeom>
          <a:noFill/>
          <a:ln/>
        </p:spPr>
        <p:txBody>
          <a:bodyPr wrap="square" lIns="0" tIns="0" rIns="0" bIns="0" rtlCol="0" anchor="ctr"/>
          <a:lstStyle/>
          <a:p>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Largest global market share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(71%)</a:t>
            </a:r>
            <a:endParaRPr lang="en-US" sz="1600" dirty="0"/>
          </a:p>
        </p:txBody>
      </p:sp>
      <p:sp>
        <p:nvSpPr>
          <p:cNvPr id="22" name="Shape 20"/>
          <p:cNvSpPr/>
          <p:nvPr/>
        </p:nvSpPr>
        <p:spPr>
          <a:xfrm>
            <a:off x="647700" y="3752729"/>
            <a:ext cx="304800" cy="304800"/>
          </a:xfrm>
          <a:prstGeom prst="roundRect">
            <a:avLst>
              <a:gd name="adj" fmla="val 25000"/>
            </a:avLst>
          </a:prstGeom>
          <a:solidFill>
            <a:srgbClr val="34C759"/>
          </a:solidFill>
          <a:ln/>
        </p:spPr>
      </p:sp>
      <p:sp>
        <p:nvSpPr>
          <p:cNvPr id="23" name="Shape 21"/>
          <p:cNvSpPr/>
          <p:nvPr/>
        </p:nvSpPr>
        <p:spPr>
          <a:xfrm>
            <a:off x="735806" y="3838454"/>
            <a:ext cx="133350" cy="133350"/>
          </a:xfrm>
          <a:custGeom>
            <a:avLst/>
            <a:gdLst/>
            <a:ahLst/>
            <a:cxnLst/>
            <a:rect l="l" t="t" r="r" b="b"/>
            <a:pathLst>
              <a:path w="133350" h="133350">
                <a:moveTo>
                  <a:pt x="7996" y="18830"/>
                </a:moveTo>
                <a:cubicBezTo>
                  <a:pt x="9793" y="12606"/>
                  <a:pt x="15497" y="8334"/>
                  <a:pt x="21982" y="8334"/>
                </a:cubicBezTo>
                <a:lnTo>
                  <a:pt x="111576" y="8334"/>
                </a:lnTo>
                <a:cubicBezTo>
                  <a:pt x="118062" y="8334"/>
                  <a:pt x="123765" y="12606"/>
                  <a:pt x="125589" y="18830"/>
                </a:cubicBezTo>
                <a:lnTo>
                  <a:pt x="131683" y="39719"/>
                </a:lnTo>
                <a:cubicBezTo>
                  <a:pt x="135017" y="51100"/>
                  <a:pt x="126448" y="62508"/>
                  <a:pt x="114598" y="62508"/>
                </a:cubicBezTo>
                <a:cubicBezTo>
                  <a:pt x="107748" y="62508"/>
                  <a:pt x="101731" y="58627"/>
                  <a:pt x="98762" y="52845"/>
                </a:cubicBezTo>
                <a:cubicBezTo>
                  <a:pt x="95741" y="58549"/>
                  <a:pt x="89751" y="62508"/>
                  <a:pt x="82771" y="62508"/>
                </a:cubicBezTo>
                <a:cubicBezTo>
                  <a:pt x="75843" y="62508"/>
                  <a:pt x="69826" y="58601"/>
                  <a:pt x="66805" y="52871"/>
                </a:cubicBezTo>
                <a:cubicBezTo>
                  <a:pt x="63784" y="58601"/>
                  <a:pt x="57768" y="62508"/>
                  <a:pt x="50840" y="62508"/>
                </a:cubicBezTo>
                <a:cubicBezTo>
                  <a:pt x="43860" y="62508"/>
                  <a:pt x="37869" y="58575"/>
                  <a:pt x="34848" y="52845"/>
                </a:cubicBezTo>
                <a:cubicBezTo>
                  <a:pt x="31879" y="58601"/>
                  <a:pt x="25863" y="62508"/>
                  <a:pt x="19013" y="62508"/>
                </a:cubicBezTo>
                <a:cubicBezTo>
                  <a:pt x="7136" y="62508"/>
                  <a:pt x="-1406" y="51126"/>
                  <a:pt x="1927" y="39719"/>
                </a:cubicBezTo>
                <a:lnTo>
                  <a:pt x="7996" y="18830"/>
                </a:lnTo>
                <a:close/>
                <a:moveTo>
                  <a:pt x="25107" y="91678"/>
                </a:moveTo>
                <a:lnTo>
                  <a:pt x="108451" y="91678"/>
                </a:lnTo>
                <a:lnTo>
                  <a:pt x="108451" y="74384"/>
                </a:lnTo>
                <a:cubicBezTo>
                  <a:pt x="110430" y="74801"/>
                  <a:pt x="112488" y="75009"/>
                  <a:pt x="114572" y="75009"/>
                </a:cubicBezTo>
                <a:cubicBezTo>
                  <a:pt x="118296" y="75009"/>
                  <a:pt x="121864" y="74332"/>
                  <a:pt x="125120" y="73134"/>
                </a:cubicBezTo>
                <a:lnTo>
                  <a:pt x="125120" y="112514"/>
                </a:lnTo>
                <a:cubicBezTo>
                  <a:pt x="125120" y="119416"/>
                  <a:pt x="119520" y="125016"/>
                  <a:pt x="112618" y="125016"/>
                </a:cubicBezTo>
                <a:lnTo>
                  <a:pt x="20940" y="125016"/>
                </a:lnTo>
                <a:cubicBezTo>
                  <a:pt x="14038" y="125016"/>
                  <a:pt x="8439" y="119416"/>
                  <a:pt x="8439" y="112514"/>
                </a:cubicBezTo>
                <a:lnTo>
                  <a:pt x="8439" y="73134"/>
                </a:lnTo>
                <a:cubicBezTo>
                  <a:pt x="11694" y="74332"/>
                  <a:pt x="15236" y="75009"/>
                  <a:pt x="18987" y="75009"/>
                </a:cubicBezTo>
                <a:cubicBezTo>
                  <a:pt x="21096" y="75009"/>
                  <a:pt x="23128" y="74801"/>
                  <a:pt x="25107" y="74384"/>
                </a:cubicBezTo>
                <a:lnTo>
                  <a:pt x="25107" y="91678"/>
                </a:lnTo>
                <a:close/>
              </a:path>
            </a:pathLst>
          </a:custGeom>
          <a:solidFill>
            <a:srgbClr val="1D1D1F"/>
          </a:solidFill>
          <a:ln/>
        </p:spPr>
      </p:sp>
      <p:sp>
        <p:nvSpPr>
          <p:cNvPr id="24" name="Text 22"/>
          <p:cNvSpPr/>
          <p:nvPr/>
        </p:nvSpPr>
        <p:spPr>
          <a:xfrm>
            <a:off x="1066800" y="3733679"/>
            <a:ext cx="25908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Apps distributed via </a:t>
            </a:r>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Google Play Store</a:t>
            </a:r>
            <a:endParaRPr lang="en-US" sz="1600" dirty="0"/>
          </a:p>
        </p:txBody>
      </p:sp>
      <p:sp>
        <p:nvSpPr>
          <p:cNvPr id="25" name="Shape 23"/>
          <p:cNvSpPr/>
          <p:nvPr/>
        </p:nvSpPr>
        <p:spPr>
          <a:xfrm>
            <a:off x="384810" y="4960624"/>
            <a:ext cx="5589270" cy="1512570"/>
          </a:xfrm>
          <a:prstGeom prst="roundRect">
            <a:avLst>
              <a:gd name="adj" fmla="val 10076"/>
            </a:avLst>
          </a:prstGeom>
          <a:solidFill>
            <a:srgbClr val="0A84FF">
              <a:alpha val="10196"/>
            </a:srgbClr>
          </a:solidFill>
          <a:ln w="10160">
            <a:solidFill>
              <a:srgbClr val="0A84FF">
                <a:alpha val="30196"/>
              </a:srgbClr>
            </a:solidFill>
            <a:prstDash val="solid"/>
          </a:ln>
        </p:spPr>
      </p:sp>
      <p:sp>
        <p:nvSpPr>
          <p:cNvPr id="26" name="Shape 24"/>
          <p:cNvSpPr/>
          <p:nvPr/>
        </p:nvSpPr>
        <p:spPr>
          <a:xfrm>
            <a:off x="602932" y="5202557"/>
            <a:ext cx="171450" cy="171450"/>
          </a:xfrm>
          <a:custGeom>
            <a:avLst/>
            <a:gdLst/>
            <a:ahLst/>
            <a:cxnLst/>
            <a:rect l="l" t="t" r="r" b="b"/>
            <a:pathLst>
              <a:path w="171450" h="171450">
                <a:moveTo>
                  <a:pt x="85725" y="160734"/>
                </a:moveTo>
                <a:cubicBezTo>
                  <a:pt x="133075" y="160734"/>
                  <a:pt x="171450" y="124737"/>
                  <a:pt x="171450" y="80367"/>
                </a:cubicBezTo>
                <a:cubicBezTo>
                  <a:pt x="171450" y="35998"/>
                  <a:pt x="133075" y="0"/>
                  <a:pt x="85725" y="0"/>
                </a:cubicBezTo>
                <a:cubicBezTo>
                  <a:pt x="38375" y="0"/>
                  <a:pt x="0" y="35998"/>
                  <a:pt x="0" y="80367"/>
                </a:cubicBezTo>
                <a:cubicBezTo>
                  <a:pt x="0" y="98550"/>
                  <a:pt x="6429" y="115293"/>
                  <a:pt x="17279" y="128755"/>
                </a:cubicBezTo>
                <a:lnTo>
                  <a:pt x="938" y="159663"/>
                </a:lnTo>
                <a:cubicBezTo>
                  <a:pt x="-670" y="162677"/>
                  <a:pt x="-167" y="166360"/>
                  <a:pt x="2143" y="168872"/>
                </a:cubicBezTo>
                <a:cubicBezTo>
                  <a:pt x="4454" y="171383"/>
                  <a:pt x="8104" y="172153"/>
                  <a:pt x="11218" y="170814"/>
                </a:cubicBezTo>
                <a:lnTo>
                  <a:pt x="50866" y="153836"/>
                </a:lnTo>
                <a:cubicBezTo>
                  <a:pt x="61514" y="158256"/>
                  <a:pt x="73302" y="160734"/>
                  <a:pt x="85725" y="160734"/>
                </a:cubicBezTo>
                <a:close/>
                <a:moveTo>
                  <a:pt x="42863" y="69652"/>
                </a:moveTo>
                <a:cubicBezTo>
                  <a:pt x="48777" y="69652"/>
                  <a:pt x="53578" y="74453"/>
                  <a:pt x="53578" y="80367"/>
                </a:cubicBezTo>
                <a:cubicBezTo>
                  <a:pt x="53578" y="86281"/>
                  <a:pt x="48777" y="91083"/>
                  <a:pt x="42863" y="91083"/>
                </a:cubicBezTo>
                <a:cubicBezTo>
                  <a:pt x="36948" y="91083"/>
                  <a:pt x="32147" y="86281"/>
                  <a:pt x="32147" y="80367"/>
                </a:cubicBezTo>
                <a:cubicBezTo>
                  <a:pt x="32147" y="74453"/>
                  <a:pt x="36948" y="69652"/>
                  <a:pt x="42863" y="69652"/>
                </a:cubicBezTo>
                <a:close/>
                <a:moveTo>
                  <a:pt x="85725" y="69652"/>
                </a:moveTo>
                <a:cubicBezTo>
                  <a:pt x="91639" y="69652"/>
                  <a:pt x="96441" y="74453"/>
                  <a:pt x="96441" y="80367"/>
                </a:cubicBezTo>
                <a:cubicBezTo>
                  <a:pt x="96441" y="86281"/>
                  <a:pt x="91639" y="91083"/>
                  <a:pt x="85725" y="91083"/>
                </a:cubicBezTo>
                <a:cubicBezTo>
                  <a:pt x="79811" y="91083"/>
                  <a:pt x="75009" y="86281"/>
                  <a:pt x="75009" y="80367"/>
                </a:cubicBezTo>
                <a:cubicBezTo>
                  <a:pt x="75009" y="74453"/>
                  <a:pt x="79811" y="69652"/>
                  <a:pt x="85725" y="69652"/>
                </a:cubicBezTo>
                <a:close/>
                <a:moveTo>
                  <a:pt x="117872" y="80367"/>
                </a:moveTo>
                <a:cubicBezTo>
                  <a:pt x="117872" y="74453"/>
                  <a:pt x="122673" y="69652"/>
                  <a:pt x="128588" y="69652"/>
                </a:cubicBezTo>
                <a:cubicBezTo>
                  <a:pt x="134502" y="69652"/>
                  <a:pt x="139303" y="74453"/>
                  <a:pt x="139303" y="80367"/>
                </a:cubicBezTo>
                <a:cubicBezTo>
                  <a:pt x="139303" y="86281"/>
                  <a:pt x="134502" y="91083"/>
                  <a:pt x="128588" y="91083"/>
                </a:cubicBezTo>
                <a:cubicBezTo>
                  <a:pt x="122673" y="91083"/>
                  <a:pt x="117872" y="86281"/>
                  <a:pt x="117872" y="80367"/>
                </a:cubicBezTo>
                <a:close/>
              </a:path>
            </a:pathLst>
          </a:custGeom>
          <a:solidFill>
            <a:srgbClr val="0A84FF"/>
          </a:solidFill>
          <a:ln/>
        </p:spPr>
      </p:sp>
      <p:sp>
        <p:nvSpPr>
          <p:cNvPr id="27" name="Text 25"/>
          <p:cNvSpPr/>
          <p:nvPr/>
        </p:nvSpPr>
        <p:spPr>
          <a:xfrm>
            <a:off x="798195" y="5154932"/>
            <a:ext cx="5067300" cy="266700"/>
          </a:xfrm>
          <a:prstGeom prst="rect">
            <a:avLst/>
          </a:prstGeom>
          <a:noFill/>
          <a:ln/>
        </p:spPr>
        <p:txBody>
          <a:bodyPr wrap="square" lIns="0" tIns="0" rIns="0" bIns="0" rtlCol="0" anchor="ctr"/>
          <a:lstStyle/>
          <a:p>
            <a:pPr>
              <a:lnSpc>
                <a:spcPct val="130000"/>
              </a:lnSpc>
            </a:pPr>
            <a:r>
              <a:rPr lang="en-US" sz="1350"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28" name="Text 26"/>
          <p:cNvSpPr/>
          <p:nvPr/>
        </p:nvSpPr>
        <p:spPr>
          <a:xfrm>
            <a:off x="579120" y="5535932"/>
            <a:ext cx="5276850" cy="742950"/>
          </a:xfrm>
          <a:prstGeom prst="rect">
            <a:avLst/>
          </a:prstGeom>
          <a:noFill/>
          <a:ln/>
        </p:spPr>
        <p:txBody>
          <a:bodyPr wrap="square" lIns="0" tIns="0" rIns="0" bIns="0" rtlCol="0" anchor="ctr"/>
          <a:lstStyle/>
          <a:p>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Android is like </a:t>
            </a:r>
            <a:pPr>
              <a:lnSpc>
                <a:spcPct val="140000"/>
              </a:lnSpc>
            </a:pPr>
            <a:r>
              <a:rPr lang="en-US" sz="1200" b="1" dirty="0">
                <a:solidFill>
                  <a:srgbClr val="34C759"/>
                </a:solidFill>
                <a:latin typeface="Quattrocento Sans" pitchFamily="34" charset="0"/>
                <a:ea typeface="Quattrocento Sans" pitchFamily="34" charset="-122"/>
                <a:cs typeface="Quattrocento Sans" pitchFamily="34" charset="-120"/>
              </a:rPr>
              <a:t>a public park</a:t>
            </a:r>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 – everyone can visit, play, and even help maintain it. Because it's open-source, many companies use it to create their own versions.</a:t>
            </a:r>
            <a:endParaRPr lang="en-US" sz="1600" dirty="0"/>
          </a:p>
        </p:txBody>
      </p:sp>
      <p:sp>
        <p:nvSpPr>
          <p:cNvPr id="29" name="Shape 27"/>
          <p:cNvSpPr/>
          <p:nvPr/>
        </p:nvSpPr>
        <p:spPr>
          <a:xfrm>
            <a:off x="6210300" y="1257300"/>
            <a:ext cx="5600700" cy="3962400"/>
          </a:xfrm>
          <a:prstGeom prst="roundRect">
            <a:avLst>
              <a:gd name="adj" fmla="val 3846"/>
            </a:avLst>
          </a:prstGeom>
          <a:solidFill>
            <a:srgbClr val="2C2C2E"/>
          </a:solidFill>
          <a:ln/>
        </p:spPr>
      </p:sp>
      <p:sp>
        <p:nvSpPr>
          <p:cNvPr id="30" name="Shape 28"/>
          <p:cNvSpPr/>
          <p:nvPr/>
        </p:nvSpPr>
        <p:spPr>
          <a:xfrm>
            <a:off x="6453188" y="1523879"/>
            <a:ext cx="257175" cy="228600"/>
          </a:xfrm>
          <a:custGeom>
            <a:avLst/>
            <a:gdLst/>
            <a:ahLst/>
            <a:cxnLst/>
            <a:rect l="l" t="t" r="r" b="b"/>
            <a:pathLst>
              <a:path w="257175" h="228600">
                <a:moveTo>
                  <a:pt x="138187" y="-8439"/>
                </a:moveTo>
                <a:cubicBezTo>
                  <a:pt x="136356" y="-12010"/>
                  <a:pt x="132651" y="-14287"/>
                  <a:pt x="128632" y="-14287"/>
                </a:cubicBezTo>
                <a:cubicBezTo>
                  <a:pt x="124614" y="-14287"/>
                  <a:pt x="120908" y="-12010"/>
                  <a:pt x="119077" y="-8439"/>
                </a:cubicBezTo>
                <a:lnTo>
                  <a:pt x="86216" y="55944"/>
                </a:lnTo>
                <a:lnTo>
                  <a:pt x="14823" y="67285"/>
                </a:lnTo>
                <a:cubicBezTo>
                  <a:pt x="10850" y="67910"/>
                  <a:pt x="7546" y="70723"/>
                  <a:pt x="6295" y="74563"/>
                </a:cubicBezTo>
                <a:cubicBezTo>
                  <a:pt x="5045" y="78403"/>
                  <a:pt x="6072" y="82600"/>
                  <a:pt x="8885" y="85457"/>
                </a:cubicBezTo>
                <a:lnTo>
                  <a:pt x="59963" y="136580"/>
                </a:lnTo>
                <a:lnTo>
                  <a:pt x="48711" y="207972"/>
                </a:lnTo>
                <a:cubicBezTo>
                  <a:pt x="48086" y="211946"/>
                  <a:pt x="49738" y="215964"/>
                  <a:pt x="52998" y="218331"/>
                </a:cubicBezTo>
                <a:cubicBezTo>
                  <a:pt x="56257" y="220697"/>
                  <a:pt x="60543" y="221054"/>
                  <a:pt x="64160" y="219224"/>
                </a:cubicBezTo>
                <a:lnTo>
                  <a:pt x="128632" y="186452"/>
                </a:lnTo>
                <a:lnTo>
                  <a:pt x="193060" y="219224"/>
                </a:lnTo>
                <a:cubicBezTo>
                  <a:pt x="196632" y="221054"/>
                  <a:pt x="200963" y="220697"/>
                  <a:pt x="204222" y="218331"/>
                </a:cubicBezTo>
                <a:cubicBezTo>
                  <a:pt x="207481" y="215964"/>
                  <a:pt x="209133" y="211991"/>
                  <a:pt x="208508" y="207972"/>
                </a:cubicBezTo>
                <a:lnTo>
                  <a:pt x="197212" y="136580"/>
                </a:lnTo>
                <a:lnTo>
                  <a:pt x="248290" y="85457"/>
                </a:lnTo>
                <a:cubicBezTo>
                  <a:pt x="251147" y="82600"/>
                  <a:pt x="252130" y="78403"/>
                  <a:pt x="250880" y="74563"/>
                </a:cubicBezTo>
                <a:cubicBezTo>
                  <a:pt x="249629" y="70723"/>
                  <a:pt x="246370" y="67910"/>
                  <a:pt x="242352" y="67285"/>
                </a:cubicBezTo>
                <a:lnTo>
                  <a:pt x="171004" y="55944"/>
                </a:lnTo>
                <a:lnTo>
                  <a:pt x="138187" y="-8439"/>
                </a:lnTo>
                <a:close/>
              </a:path>
            </a:pathLst>
          </a:custGeom>
          <a:solidFill>
            <a:srgbClr val="34C759"/>
          </a:solidFill>
          <a:ln/>
        </p:spPr>
      </p:sp>
      <p:sp>
        <p:nvSpPr>
          <p:cNvPr id="31" name="Text 29"/>
          <p:cNvSpPr/>
          <p:nvPr/>
        </p:nvSpPr>
        <p:spPr>
          <a:xfrm>
            <a:off x="6724650" y="1485900"/>
            <a:ext cx="4972050" cy="304800"/>
          </a:xfrm>
          <a:prstGeom prst="rect">
            <a:avLst/>
          </a:prstGeom>
          <a:noFill/>
          <a:ln/>
        </p:spPr>
        <p:txBody>
          <a:bodyPr wrap="square" lIns="0" tIns="0" rIns="0" bIns="0" rtlCol="0" anchor="ctr"/>
          <a:lstStyle/>
          <a:p>
            <a:pPr>
              <a:lnSpc>
                <a:spcPct val="110000"/>
              </a:lnSpc>
            </a:pPr>
            <a:r>
              <a:rPr lang="en-US" sz="1800" b="1" dirty="0">
                <a:solidFill>
                  <a:srgbClr val="34C759"/>
                </a:solidFill>
                <a:latin typeface="Liter" pitchFamily="34" charset="0"/>
                <a:ea typeface="Liter" pitchFamily="34" charset="-122"/>
                <a:cs typeface="Liter" pitchFamily="34" charset="-120"/>
              </a:rPr>
              <a:t>Android Strengths</a:t>
            </a:r>
            <a:endParaRPr lang="en-US" sz="1600" dirty="0"/>
          </a:p>
        </p:txBody>
      </p:sp>
      <p:sp>
        <p:nvSpPr>
          <p:cNvPr id="32" name="Shape 30"/>
          <p:cNvSpPr/>
          <p:nvPr/>
        </p:nvSpPr>
        <p:spPr>
          <a:xfrm>
            <a:off x="6438900" y="1987395"/>
            <a:ext cx="5143500" cy="990600"/>
          </a:xfrm>
          <a:prstGeom prst="roundRect">
            <a:avLst>
              <a:gd name="adj" fmla="val 11538"/>
            </a:avLst>
          </a:prstGeom>
          <a:solidFill>
            <a:srgbClr val="1A1D21"/>
          </a:solidFill>
          <a:ln/>
        </p:spPr>
      </p:sp>
      <p:sp>
        <p:nvSpPr>
          <p:cNvPr id="33" name="Shape 31"/>
          <p:cNvSpPr/>
          <p:nvPr/>
        </p:nvSpPr>
        <p:spPr>
          <a:xfrm>
            <a:off x="6591300" y="2139795"/>
            <a:ext cx="381000" cy="381000"/>
          </a:xfrm>
          <a:prstGeom prst="roundRect">
            <a:avLst>
              <a:gd name="adj" fmla="val 20000"/>
            </a:avLst>
          </a:prstGeom>
          <a:solidFill>
            <a:srgbClr val="34C759"/>
          </a:solidFill>
          <a:ln/>
        </p:spPr>
      </p:sp>
      <p:sp>
        <p:nvSpPr>
          <p:cNvPr id="34" name="Shape 32"/>
          <p:cNvSpPr/>
          <p:nvPr/>
        </p:nvSpPr>
        <p:spPr>
          <a:xfrm>
            <a:off x="6734175" y="2254095"/>
            <a:ext cx="95250" cy="152400"/>
          </a:xfrm>
          <a:custGeom>
            <a:avLst/>
            <a:gdLst/>
            <a:ahLst/>
            <a:cxnLst/>
            <a:rect l="l" t="t" r="r" b="b"/>
            <a:pathLst>
              <a:path w="95250" h="152400">
                <a:moveTo>
                  <a:pt x="40481" y="7144"/>
                </a:moveTo>
                <a:cubicBezTo>
                  <a:pt x="40481" y="3185"/>
                  <a:pt x="43666" y="0"/>
                  <a:pt x="47625" y="0"/>
                </a:cubicBezTo>
                <a:cubicBezTo>
                  <a:pt x="51584" y="0"/>
                  <a:pt x="54769" y="3185"/>
                  <a:pt x="54769" y="7144"/>
                </a:cubicBezTo>
                <a:lnTo>
                  <a:pt x="54769" y="19050"/>
                </a:lnTo>
                <a:lnTo>
                  <a:pt x="71438" y="19050"/>
                </a:lnTo>
                <a:cubicBezTo>
                  <a:pt x="76706" y="19050"/>
                  <a:pt x="80962" y="23306"/>
                  <a:pt x="80962" y="28575"/>
                </a:cubicBezTo>
                <a:cubicBezTo>
                  <a:pt x="80962" y="33844"/>
                  <a:pt x="76706" y="38100"/>
                  <a:pt x="71438" y="38100"/>
                </a:cubicBezTo>
                <a:lnTo>
                  <a:pt x="37237" y="38100"/>
                </a:lnTo>
                <a:cubicBezTo>
                  <a:pt x="29825" y="38100"/>
                  <a:pt x="23813" y="44113"/>
                  <a:pt x="23813" y="51524"/>
                </a:cubicBezTo>
                <a:cubicBezTo>
                  <a:pt x="23813" y="58222"/>
                  <a:pt x="28724" y="63877"/>
                  <a:pt x="35332" y="64830"/>
                </a:cubicBezTo>
                <a:lnTo>
                  <a:pt x="62597" y="68729"/>
                </a:lnTo>
                <a:cubicBezTo>
                  <a:pt x="78611" y="71021"/>
                  <a:pt x="90488" y="84713"/>
                  <a:pt x="90488" y="100876"/>
                </a:cubicBezTo>
                <a:cubicBezTo>
                  <a:pt x="90488" y="118824"/>
                  <a:pt x="75932" y="133350"/>
                  <a:pt x="58013" y="133350"/>
                </a:cubicBezTo>
                <a:lnTo>
                  <a:pt x="54769" y="133350"/>
                </a:lnTo>
                <a:lnTo>
                  <a:pt x="54769" y="145256"/>
                </a:lnTo>
                <a:cubicBezTo>
                  <a:pt x="54769" y="149215"/>
                  <a:pt x="51584" y="152400"/>
                  <a:pt x="47625" y="152400"/>
                </a:cubicBezTo>
                <a:cubicBezTo>
                  <a:pt x="43666" y="152400"/>
                  <a:pt x="40481" y="149215"/>
                  <a:pt x="40481" y="145256"/>
                </a:cubicBezTo>
                <a:lnTo>
                  <a:pt x="40481" y="133350"/>
                </a:lnTo>
                <a:lnTo>
                  <a:pt x="19050" y="133350"/>
                </a:lnTo>
                <a:cubicBezTo>
                  <a:pt x="13781" y="133350"/>
                  <a:pt x="9525" y="129094"/>
                  <a:pt x="9525" y="123825"/>
                </a:cubicBezTo>
                <a:cubicBezTo>
                  <a:pt x="9525" y="118556"/>
                  <a:pt x="13781" y="114300"/>
                  <a:pt x="19050" y="114300"/>
                </a:cubicBezTo>
                <a:lnTo>
                  <a:pt x="58013" y="114300"/>
                </a:lnTo>
                <a:cubicBezTo>
                  <a:pt x="65425" y="114300"/>
                  <a:pt x="71438" y="108287"/>
                  <a:pt x="71438" y="100876"/>
                </a:cubicBezTo>
                <a:cubicBezTo>
                  <a:pt x="71438" y="94178"/>
                  <a:pt x="66526" y="88523"/>
                  <a:pt x="59918" y="87570"/>
                </a:cubicBezTo>
                <a:lnTo>
                  <a:pt x="32653" y="83671"/>
                </a:lnTo>
                <a:cubicBezTo>
                  <a:pt x="16639" y="81409"/>
                  <a:pt x="4763" y="67687"/>
                  <a:pt x="4763" y="51524"/>
                </a:cubicBezTo>
                <a:cubicBezTo>
                  <a:pt x="4763" y="33605"/>
                  <a:pt x="19318" y="19050"/>
                  <a:pt x="37237" y="19050"/>
                </a:cubicBezTo>
                <a:lnTo>
                  <a:pt x="40481" y="19050"/>
                </a:lnTo>
                <a:lnTo>
                  <a:pt x="40481" y="7144"/>
                </a:lnTo>
                <a:close/>
              </a:path>
            </a:pathLst>
          </a:custGeom>
          <a:solidFill>
            <a:srgbClr val="1D1D1F"/>
          </a:solidFill>
          <a:ln/>
        </p:spPr>
      </p:sp>
      <p:sp>
        <p:nvSpPr>
          <p:cNvPr id="35" name="Text 33"/>
          <p:cNvSpPr/>
          <p:nvPr/>
        </p:nvSpPr>
        <p:spPr>
          <a:xfrm>
            <a:off x="7086600" y="2196945"/>
            <a:ext cx="1533525" cy="266700"/>
          </a:xfrm>
          <a:prstGeom prst="rect">
            <a:avLst/>
          </a:prstGeom>
          <a:noFill/>
          <a:ln/>
        </p:spPr>
        <p:txBody>
          <a:bodyPr wrap="square" lIns="0" tIns="0" rIns="0" bIns="0" rtlCol="0" anchor="ctr"/>
          <a:lstStyle/>
          <a:p>
            <a:pPr>
              <a:lnSpc>
                <a:spcPct val="130000"/>
              </a:lnSpc>
            </a:pPr>
            <a:r>
              <a:rPr lang="en-US" sz="1350" b="1" dirty="0">
                <a:solidFill>
                  <a:srgbClr val="34C759"/>
                </a:solidFill>
                <a:latin typeface="Liter" pitchFamily="34" charset="0"/>
                <a:ea typeface="Liter" pitchFamily="34" charset="-122"/>
                <a:cs typeface="Liter" pitchFamily="34" charset="-120"/>
              </a:rPr>
              <a:t>Affordable Devices</a:t>
            </a:r>
            <a:endParaRPr lang="en-US" sz="1600" dirty="0"/>
          </a:p>
        </p:txBody>
      </p:sp>
      <p:sp>
        <p:nvSpPr>
          <p:cNvPr id="36" name="Text 34"/>
          <p:cNvSpPr/>
          <p:nvPr/>
        </p:nvSpPr>
        <p:spPr>
          <a:xfrm>
            <a:off x="6591300" y="2596995"/>
            <a:ext cx="49149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Phones range from $50 to $2000, making it accessible to everyone</a:t>
            </a:r>
            <a:endParaRPr lang="en-US" sz="1600" dirty="0"/>
          </a:p>
        </p:txBody>
      </p:sp>
      <p:sp>
        <p:nvSpPr>
          <p:cNvPr id="37" name="Shape 35"/>
          <p:cNvSpPr/>
          <p:nvPr/>
        </p:nvSpPr>
        <p:spPr>
          <a:xfrm>
            <a:off x="6438900" y="2990729"/>
            <a:ext cx="5143500" cy="990600"/>
          </a:xfrm>
          <a:prstGeom prst="roundRect">
            <a:avLst>
              <a:gd name="adj" fmla="val 11538"/>
            </a:avLst>
          </a:prstGeom>
          <a:solidFill>
            <a:srgbClr val="1A1D21"/>
          </a:solidFill>
          <a:ln/>
        </p:spPr>
      </p:sp>
      <p:sp>
        <p:nvSpPr>
          <p:cNvPr id="38" name="Shape 36"/>
          <p:cNvSpPr/>
          <p:nvPr/>
        </p:nvSpPr>
        <p:spPr>
          <a:xfrm>
            <a:off x="6591300" y="3143129"/>
            <a:ext cx="381000" cy="381000"/>
          </a:xfrm>
          <a:prstGeom prst="roundRect">
            <a:avLst>
              <a:gd name="adj" fmla="val 20000"/>
            </a:avLst>
          </a:prstGeom>
          <a:solidFill>
            <a:srgbClr val="0A84FF"/>
          </a:solidFill>
          <a:ln/>
        </p:spPr>
      </p:sp>
      <p:sp>
        <p:nvSpPr>
          <p:cNvPr id="39" name="Shape 37"/>
          <p:cNvSpPr/>
          <p:nvPr/>
        </p:nvSpPr>
        <p:spPr>
          <a:xfrm>
            <a:off x="6686550" y="3257429"/>
            <a:ext cx="190500" cy="152400"/>
          </a:xfrm>
          <a:custGeom>
            <a:avLst/>
            <a:gdLst/>
            <a:ahLst/>
            <a:cxnLst/>
            <a:rect l="l" t="t" r="r" b="b"/>
            <a:pathLst>
              <a:path w="190500" h="152400">
                <a:moveTo>
                  <a:pt x="123795" y="62657"/>
                </a:moveTo>
                <a:cubicBezTo>
                  <a:pt x="127427" y="61674"/>
                  <a:pt x="131237" y="63401"/>
                  <a:pt x="132874" y="66764"/>
                </a:cubicBezTo>
                <a:lnTo>
                  <a:pt x="138410" y="77956"/>
                </a:lnTo>
                <a:cubicBezTo>
                  <a:pt x="141476" y="78373"/>
                  <a:pt x="144482" y="79206"/>
                  <a:pt x="147310" y="80367"/>
                </a:cubicBezTo>
                <a:lnTo>
                  <a:pt x="157728" y="73432"/>
                </a:lnTo>
                <a:cubicBezTo>
                  <a:pt x="160853" y="71348"/>
                  <a:pt x="164991" y="71765"/>
                  <a:pt x="167640" y="74414"/>
                </a:cubicBezTo>
                <a:lnTo>
                  <a:pt x="173355" y="80129"/>
                </a:lnTo>
                <a:cubicBezTo>
                  <a:pt x="176004" y="82778"/>
                  <a:pt x="176421" y="86945"/>
                  <a:pt x="174337" y="90041"/>
                </a:cubicBezTo>
                <a:lnTo>
                  <a:pt x="167402" y="100429"/>
                </a:lnTo>
                <a:cubicBezTo>
                  <a:pt x="167967" y="101828"/>
                  <a:pt x="168473" y="103287"/>
                  <a:pt x="168890" y="104805"/>
                </a:cubicBezTo>
                <a:cubicBezTo>
                  <a:pt x="169307" y="106323"/>
                  <a:pt x="169575" y="107811"/>
                  <a:pt x="169783" y="109329"/>
                </a:cubicBezTo>
                <a:lnTo>
                  <a:pt x="181005" y="114866"/>
                </a:lnTo>
                <a:cubicBezTo>
                  <a:pt x="184368" y="116532"/>
                  <a:pt x="186095" y="120342"/>
                  <a:pt x="185112" y="123944"/>
                </a:cubicBezTo>
                <a:lnTo>
                  <a:pt x="183029" y="131743"/>
                </a:lnTo>
                <a:cubicBezTo>
                  <a:pt x="182047" y="135344"/>
                  <a:pt x="178683" y="137785"/>
                  <a:pt x="174933" y="137547"/>
                </a:cubicBezTo>
                <a:lnTo>
                  <a:pt x="162431" y="136743"/>
                </a:lnTo>
                <a:cubicBezTo>
                  <a:pt x="160556" y="139154"/>
                  <a:pt x="158383" y="141387"/>
                  <a:pt x="155912" y="143292"/>
                </a:cubicBezTo>
                <a:lnTo>
                  <a:pt x="156716" y="155764"/>
                </a:lnTo>
                <a:cubicBezTo>
                  <a:pt x="156954" y="159514"/>
                  <a:pt x="154513" y="162907"/>
                  <a:pt x="150912" y="163860"/>
                </a:cubicBezTo>
                <a:lnTo>
                  <a:pt x="143113" y="165943"/>
                </a:lnTo>
                <a:cubicBezTo>
                  <a:pt x="139482" y="166926"/>
                  <a:pt x="135701" y="165199"/>
                  <a:pt x="134035" y="161836"/>
                </a:cubicBezTo>
                <a:lnTo>
                  <a:pt x="128498" y="150644"/>
                </a:lnTo>
                <a:cubicBezTo>
                  <a:pt x="125432" y="150227"/>
                  <a:pt x="122426" y="149394"/>
                  <a:pt x="119598" y="148233"/>
                </a:cubicBezTo>
                <a:lnTo>
                  <a:pt x="109180" y="155168"/>
                </a:lnTo>
                <a:cubicBezTo>
                  <a:pt x="106055" y="157252"/>
                  <a:pt x="101918" y="156835"/>
                  <a:pt x="99268" y="154186"/>
                </a:cubicBezTo>
                <a:lnTo>
                  <a:pt x="93553" y="148471"/>
                </a:lnTo>
                <a:cubicBezTo>
                  <a:pt x="90904" y="145822"/>
                  <a:pt x="90488" y="141684"/>
                  <a:pt x="92571" y="138559"/>
                </a:cubicBezTo>
                <a:lnTo>
                  <a:pt x="99506" y="128141"/>
                </a:lnTo>
                <a:cubicBezTo>
                  <a:pt x="98941" y="126742"/>
                  <a:pt x="98435" y="125284"/>
                  <a:pt x="98018" y="123765"/>
                </a:cubicBezTo>
                <a:cubicBezTo>
                  <a:pt x="97601" y="122247"/>
                  <a:pt x="97334" y="120729"/>
                  <a:pt x="97125" y="119241"/>
                </a:cubicBezTo>
                <a:lnTo>
                  <a:pt x="85904" y="113705"/>
                </a:lnTo>
                <a:cubicBezTo>
                  <a:pt x="82540" y="112038"/>
                  <a:pt x="80843" y="108228"/>
                  <a:pt x="81796" y="104626"/>
                </a:cubicBezTo>
                <a:lnTo>
                  <a:pt x="83880" y="96828"/>
                </a:lnTo>
                <a:cubicBezTo>
                  <a:pt x="84862" y="93226"/>
                  <a:pt x="88225" y="90785"/>
                  <a:pt x="91976" y="91023"/>
                </a:cubicBezTo>
                <a:lnTo>
                  <a:pt x="104448" y="91827"/>
                </a:lnTo>
                <a:cubicBezTo>
                  <a:pt x="106323" y="89416"/>
                  <a:pt x="108496" y="87184"/>
                  <a:pt x="110966" y="85279"/>
                </a:cubicBezTo>
                <a:lnTo>
                  <a:pt x="110163" y="72836"/>
                </a:lnTo>
                <a:cubicBezTo>
                  <a:pt x="109924" y="69086"/>
                  <a:pt x="112365" y="65693"/>
                  <a:pt x="115967" y="64740"/>
                </a:cubicBezTo>
                <a:lnTo>
                  <a:pt x="123765" y="62657"/>
                </a:lnTo>
                <a:close/>
                <a:moveTo>
                  <a:pt x="133469" y="101203"/>
                </a:moveTo>
                <a:cubicBezTo>
                  <a:pt x="126241" y="101211"/>
                  <a:pt x="120379" y="107087"/>
                  <a:pt x="120387" y="114315"/>
                </a:cubicBezTo>
                <a:cubicBezTo>
                  <a:pt x="120395" y="121543"/>
                  <a:pt x="126270" y="127405"/>
                  <a:pt x="133499" y="127397"/>
                </a:cubicBezTo>
                <a:cubicBezTo>
                  <a:pt x="140727" y="127389"/>
                  <a:pt x="146589" y="121513"/>
                  <a:pt x="146581" y="114285"/>
                </a:cubicBezTo>
                <a:cubicBezTo>
                  <a:pt x="146573" y="107057"/>
                  <a:pt x="140697" y="101195"/>
                  <a:pt x="133469" y="101203"/>
                </a:cubicBezTo>
                <a:close/>
                <a:moveTo>
                  <a:pt x="66943" y="-13543"/>
                </a:moveTo>
                <a:lnTo>
                  <a:pt x="74741" y="-11460"/>
                </a:lnTo>
                <a:cubicBezTo>
                  <a:pt x="78343" y="-10477"/>
                  <a:pt x="80784" y="-7084"/>
                  <a:pt x="80546" y="-3364"/>
                </a:cubicBezTo>
                <a:lnTo>
                  <a:pt x="79742" y="9079"/>
                </a:lnTo>
                <a:cubicBezTo>
                  <a:pt x="82213" y="10984"/>
                  <a:pt x="84386" y="13186"/>
                  <a:pt x="86261" y="15627"/>
                </a:cubicBezTo>
                <a:lnTo>
                  <a:pt x="98762" y="14823"/>
                </a:lnTo>
                <a:cubicBezTo>
                  <a:pt x="102483" y="14585"/>
                  <a:pt x="105876" y="17026"/>
                  <a:pt x="106859" y="20628"/>
                </a:cubicBezTo>
                <a:lnTo>
                  <a:pt x="108942" y="28426"/>
                </a:lnTo>
                <a:cubicBezTo>
                  <a:pt x="109895" y="32028"/>
                  <a:pt x="108198" y="35838"/>
                  <a:pt x="104835" y="37505"/>
                </a:cubicBezTo>
                <a:lnTo>
                  <a:pt x="93613" y="43041"/>
                </a:lnTo>
                <a:cubicBezTo>
                  <a:pt x="93405" y="44559"/>
                  <a:pt x="93107" y="46077"/>
                  <a:pt x="92720" y="47565"/>
                </a:cubicBezTo>
                <a:cubicBezTo>
                  <a:pt x="92333" y="49054"/>
                  <a:pt x="91797" y="50542"/>
                  <a:pt x="91232" y="51941"/>
                </a:cubicBezTo>
                <a:lnTo>
                  <a:pt x="98167" y="62359"/>
                </a:lnTo>
                <a:cubicBezTo>
                  <a:pt x="100251" y="65484"/>
                  <a:pt x="99834" y="69622"/>
                  <a:pt x="97185" y="72271"/>
                </a:cubicBezTo>
                <a:lnTo>
                  <a:pt x="91470" y="77986"/>
                </a:lnTo>
                <a:cubicBezTo>
                  <a:pt x="88821" y="80635"/>
                  <a:pt x="84683" y="81052"/>
                  <a:pt x="81558" y="78968"/>
                </a:cubicBezTo>
                <a:lnTo>
                  <a:pt x="71140" y="72033"/>
                </a:lnTo>
                <a:cubicBezTo>
                  <a:pt x="68312" y="73194"/>
                  <a:pt x="65306" y="74027"/>
                  <a:pt x="62240" y="74444"/>
                </a:cubicBezTo>
                <a:lnTo>
                  <a:pt x="56704" y="85636"/>
                </a:lnTo>
                <a:cubicBezTo>
                  <a:pt x="55037" y="88999"/>
                  <a:pt x="51227" y="90696"/>
                  <a:pt x="47625" y="89743"/>
                </a:cubicBezTo>
                <a:lnTo>
                  <a:pt x="39826" y="87660"/>
                </a:lnTo>
                <a:cubicBezTo>
                  <a:pt x="36195" y="86678"/>
                  <a:pt x="33784" y="83284"/>
                  <a:pt x="34022" y="79564"/>
                </a:cubicBezTo>
                <a:lnTo>
                  <a:pt x="34826" y="67092"/>
                </a:lnTo>
                <a:cubicBezTo>
                  <a:pt x="32355" y="65187"/>
                  <a:pt x="30182" y="62984"/>
                  <a:pt x="28307" y="60543"/>
                </a:cubicBezTo>
                <a:lnTo>
                  <a:pt x="15806" y="61347"/>
                </a:lnTo>
                <a:cubicBezTo>
                  <a:pt x="12085" y="61585"/>
                  <a:pt x="8692" y="59144"/>
                  <a:pt x="7709" y="55543"/>
                </a:cubicBezTo>
                <a:lnTo>
                  <a:pt x="5626" y="47744"/>
                </a:lnTo>
                <a:cubicBezTo>
                  <a:pt x="4673" y="44142"/>
                  <a:pt x="6370" y="40332"/>
                  <a:pt x="9733" y="38666"/>
                </a:cubicBezTo>
                <a:lnTo>
                  <a:pt x="20955" y="33129"/>
                </a:lnTo>
                <a:cubicBezTo>
                  <a:pt x="21163" y="31611"/>
                  <a:pt x="21461" y="30123"/>
                  <a:pt x="21848" y="28605"/>
                </a:cubicBezTo>
                <a:cubicBezTo>
                  <a:pt x="22265" y="27087"/>
                  <a:pt x="22741" y="25628"/>
                  <a:pt x="23336" y="24229"/>
                </a:cubicBezTo>
                <a:lnTo>
                  <a:pt x="16401" y="13841"/>
                </a:lnTo>
                <a:cubicBezTo>
                  <a:pt x="14317" y="10716"/>
                  <a:pt x="14734" y="6578"/>
                  <a:pt x="17383" y="3929"/>
                </a:cubicBezTo>
                <a:lnTo>
                  <a:pt x="23098" y="-1786"/>
                </a:lnTo>
                <a:cubicBezTo>
                  <a:pt x="25747" y="-4435"/>
                  <a:pt x="29885" y="-4852"/>
                  <a:pt x="33010" y="-2768"/>
                </a:cubicBezTo>
                <a:lnTo>
                  <a:pt x="43428" y="4167"/>
                </a:lnTo>
                <a:cubicBezTo>
                  <a:pt x="46256" y="3006"/>
                  <a:pt x="49262" y="2173"/>
                  <a:pt x="52328" y="1756"/>
                </a:cubicBezTo>
                <a:lnTo>
                  <a:pt x="57864" y="-9436"/>
                </a:lnTo>
                <a:cubicBezTo>
                  <a:pt x="59531" y="-12799"/>
                  <a:pt x="63311" y="-14496"/>
                  <a:pt x="66943" y="-13543"/>
                </a:cubicBezTo>
                <a:close/>
                <a:moveTo>
                  <a:pt x="57269" y="25003"/>
                </a:moveTo>
                <a:cubicBezTo>
                  <a:pt x="50041" y="25003"/>
                  <a:pt x="44172" y="30872"/>
                  <a:pt x="44172" y="38100"/>
                </a:cubicBezTo>
                <a:cubicBezTo>
                  <a:pt x="44172" y="45328"/>
                  <a:pt x="50041" y="51197"/>
                  <a:pt x="57269" y="51197"/>
                </a:cubicBezTo>
                <a:cubicBezTo>
                  <a:pt x="64497" y="51197"/>
                  <a:pt x="70366" y="45328"/>
                  <a:pt x="70366" y="38100"/>
                </a:cubicBezTo>
                <a:cubicBezTo>
                  <a:pt x="70366" y="30872"/>
                  <a:pt x="64497" y="25003"/>
                  <a:pt x="57269" y="25003"/>
                </a:cubicBezTo>
                <a:close/>
              </a:path>
            </a:pathLst>
          </a:custGeom>
          <a:solidFill>
            <a:srgbClr val="FFFFFF"/>
          </a:solidFill>
          <a:ln/>
        </p:spPr>
      </p:sp>
      <p:sp>
        <p:nvSpPr>
          <p:cNvPr id="40" name="Text 38"/>
          <p:cNvSpPr/>
          <p:nvPr/>
        </p:nvSpPr>
        <p:spPr>
          <a:xfrm>
            <a:off x="7086600" y="3200279"/>
            <a:ext cx="1181100" cy="266700"/>
          </a:xfrm>
          <a:prstGeom prst="rect">
            <a:avLst/>
          </a:prstGeom>
          <a:noFill/>
          <a:ln/>
        </p:spPr>
        <p:txBody>
          <a:bodyPr wrap="square" lIns="0" tIns="0" rIns="0" bIns="0" rtlCol="0" anchor="ctr"/>
          <a:lstStyle/>
          <a:p>
            <a:pPr>
              <a:lnSpc>
                <a:spcPct val="130000"/>
              </a:lnSpc>
            </a:pPr>
            <a:r>
              <a:rPr lang="en-US" sz="1350" b="1" dirty="0">
                <a:solidFill>
                  <a:srgbClr val="0A84FF"/>
                </a:solidFill>
                <a:latin typeface="Liter" pitchFamily="34" charset="0"/>
                <a:ea typeface="Liter" pitchFamily="34" charset="-122"/>
                <a:cs typeface="Liter" pitchFamily="34" charset="-120"/>
              </a:rPr>
              <a:t>Customization</a:t>
            </a:r>
            <a:endParaRPr lang="en-US" sz="1600" dirty="0"/>
          </a:p>
        </p:txBody>
      </p:sp>
      <p:sp>
        <p:nvSpPr>
          <p:cNvPr id="41" name="Text 39"/>
          <p:cNvSpPr/>
          <p:nvPr/>
        </p:nvSpPr>
        <p:spPr>
          <a:xfrm>
            <a:off x="6591300" y="3600329"/>
            <a:ext cx="49149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Users can change almost everything – home screen, default apps, etc.</a:t>
            </a:r>
            <a:endParaRPr lang="en-US" sz="1600" dirty="0"/>
          </a:p>
        </p:txBody>
      </p:sp>
      <p:sp>
        <p:nvSpPr>
          <p:cNvPr id="42" name="Shape 40"/>
          <p:cNvSpPr/>
          <p:nvPr/>
        </p:nvSpPr>
        <p:spPr>
          <a:xfrm>
            <a:off x="6438900" y="3994072"/>
            <a:ext cx="5143500" cy="990600"/>
          </a:xfrm>
          <a:prstGeom prst="roundRect">
            <a:avLst>
              <a:gd name="adj" fmla="val 11538"/>
            </a:avLst>
          </a:prstGeom>
          <a:solidFill>
            <a:srgbClr val="1A1D21"/>
          </a:solidFill>
          <a:ln/>
        </p:spPr>
      </p:sp>
      <p:sp>
        <p:nvSpPr>
          <p:cNvPr id="43" name="Shape 41"/>
          <p:cNvSpPr/>
          <p:nvPr/>
        </p:nvSpPr>
        <p:spPr>
          <a:xfrm>
            <a:off x="6591300" y="4146472"/>
            <a:ext cx="381000" cy="381000"/>
          </a:xfrm>
          <a:prstGeom prst="roundRect">
            <a:avLst>
              <a:gd name="adj" fmla="val 20000"/>
            </a:avLst>
          </a:prstGeom>
          <a:solidFill>
            <a:srgbClr val="8E8E93"/>
          </a:solidFill>
          <a:ln/>
        </p:spPr>
      </p:sp>
      <p:sp>
        <p:nvSpPr>
          <p:cNvPr id="44" name="Shape 42"/>
          <p:cNvSpPr/>
          <p:nvPr/>
        </p:nvSpPr>
        <p:spPr>
          <a:xfrm>
            <a:off x="6686550" y="4260772"/>
            <a:ext cx="190500" cy="152400"/>
          </a:xfrm>
          <a:custGeom>
            <a:avLst/>
            <a:gdLst/>
            <a:ahLst/>
            <a:cxnLst/>
            <a:rect l="l" t="t" r="r" b="b"/>
            <a:pathLst>
              <a:path w="190500" h="152400">
                <a:moveTo>
                  <a:pt x="95250" y="4763"/>
                </a:moveTo>
                <a:cubicBezTo>
                  <a:pt x="112335" y="4763"/>
                  <a:pt x="126206" y="18634"/>
                  <a:pt x="126206" y="35719"/>
                </a:cubicBezTo>
                <a:cubicBezTo>
                  <a:pt x="126206" y="52804"/>
                  <a:pt x="112335" y="66675"/>
                  <a:pt x="95250" y="66675"/>
                </a:cubicBezTo>
                <a:cubicBezTo>
                  <a:pt x="78165" y="66675"/>
                  <a:pt x="64294" y="52804"/>
                  <a:pt x="64294" y="35719"/>
                </a:cubicBezTo>
                <a:cubicBezTo>
                  <a:pt x="64294" y="18634"/>
                  <a:pt x="78165" y="4763"/>
                  <a:pt x="95250" y="4763"/>
                </a:cubicBezTo>
                <a:close/>
                <a:moveTo>
                  <a:pt x="28575" y="26194"/>
                </a:moveTo>
                <a:cubicBezTo>
                  <a:pt x="40403" y="26194"/>
                  <a:pt x="50006" y="35797"/>
                  <a:pt x="50006" y="47625"/>
                </a:cubicBezTo>
                <a:cubicBezTo>
                  <a:pt x="50006" y="59453"/>
                  <a:pt x="40403" y="69056"/>
                  <a:pt x="28575" y="69056"/>
                </a:cubicBezTo>
                <a:cubicBezTo>
                  <a:pt x="16747" y="69056"/>
                  <a:pt x="7144" y="59453"/>
                  <a:pt x="7144" y="47625"/>
                </a:cubicBezTo>
                <a:cubicBezTo>
                  <a:pt x="7144" y="35797"/>
                  <a:pt x="16747" y="26194"/>
                  <a:pt x="28575" y="26194"/>
                </a:cubicBezTo>
                <a:close/>
                <a:moveTo>
                  <a:pt x="0" y="123825"/>
                </a:moveTo>
                <a:cubicBezTo>
                  <a:pt x="0" y="102781"/>
                  <a:pt x="17056" y="85725"/>
                  <a:pt x="38100" y="85725"/>
                </a:cubicBezTo>
                <a:cubicBezTo>
                  <a:pt x="41910" y="85725"/>
                  <a:pt x="45601" y="86291"/>
                  <a:pt x="49084" y="87332"/>
                </a:cubicBezTo>
                <a:cubicBezTo>
                  <a:pt x="39291" y="98286"/>
                  <a:pt x="33338" y="112752"/>
                  <a:pt x="33338" y="128588"/>
                </a:cubicBezTo>
                <a:lnTo>
                  <a:pt x="33338" y="133350"/>
                </a:lnTo>
                <a:cubicBezTo>
                  <a:pt x="33338" y="136743"/>
                  <a:pt x="34052" y="139958"/>
                  <a:pt x="35332" y="142875"/>
                </a:cubicBezTo>
                <a:lnTo>
                  <a:pt x="9525" y="142875"/>
                </a:lnTo>
                <a:cubicBezTo>
                  <a:pt x="4256" y="142875"/>
                  <a:pt x="0" y="138619"/>
                  <a:pt x="0" y="133350"/>
                </a:cubicBezTo>
                <a:lnTo>
                  <a:pt x="0" y="123825"/>
                </a:lnTo>
                <a:close/>
                <a:moveTo>
                  <a:pt x="155168" y="142875"/>
                </a:moveTo>
                <a:cubicBezTo>
                  <a:pt x="156448" y="139958"/>
                  <a:pt x="157163" y="136743"/>
                  <a:pt x="157163" y="133350"/>
                </a:cubicBezTo>
                <a:lnTo>
                  <a:pt x="157163" y="128588"/>
                </a:lnTo>
                <a:cubicBezTo>
                  <a:pt x="157163" y="112752"/>
                  <a:pt x="151209" y="98286"/>
                  <a:pt x="141416" y="87332"/>
                </a:cubicBezTo>
                <a:cubicBezTo>
                  <a:pt x="144899" y="86291"/>
                  <a:pt x="148590" y="85725"/>
                  <a:pt x="152400" y="85725"/>
                </a:cubicBezTo>
                <a:cubicBezTo>
                  <a:pt x="173444" y="85725"/>
                  <a:pt x="190500" y="102781"/>
                  <a:pt x="190500" y="123825"/>
                </a:cubicBezTo>
                <a:lnTo>
                  <a:pt x="190500" y="133350"/>
                </a:lnTo>
                <a:cubicBezTo>
                  <a:pt x="190500" y="138619"/>
                  <a:pt x="186244" y="142875"/>
                  <a:pt x="180975" y="142875"/>
                </a:cubicBezTo>
                <a:lnTo>
                  <a:pt x="155168" y="142875"/>
                </a:lnTo>
                <a:close/>
                <a:moveTo>
                  <a:pt x="140494" y="47625"/>
                </a:moveTo>
                <a:cubicBezTo>
                  <a:pt x="140494" y="35797"/>
                  <a:pt x="150097" y="26194"/>
                  <a:pt x="161925" y="26194"/>
                </a:cubicBezTo>
                <a:cubicBezTo>
                  <a:pt x="173753" y="26194"/>
                  <a:pt x="183356" y="35797"/>
                  <a:pt x="183356" y="47625"/>
                </a:cubicBezTo>
                <a:cubicBezTo>
                  <a:pt x="183356" y="59453"/>
                  <a:pt x="173753" y="69056"/>
                  <a:pt x="161925" y="69056"/>
                </a:cubicBezTo>
                <a:cubicBezTo>
                  <a:pt x="150097" y="69056"/>
                  <a:pt x="140494" y="59453"/>
                  <a:pt x="140494" y="47625"/>
                </a:cubicBezTo>
                <a:close/>
                <a:moveTo>
                  <a:pt x="47625" y="128588"/>
                </a:moveTo>
                <a:cubicBezTo>
                  <a:pt x="47625" y="102275"/>
                  <a:pt x="68937" y="80962"/>
                  <a:pt x="95250" y="80962"/>
                </a:cubicBezTo>
                <a:cubicBezTo>
                  <a:pt x="121563" y="80962"/>
                  <a:pt x="142875" y="102275"/>
                  <a:pt x="142875" y="128588"/>
                </a:cubicBezTo>
                <a:lnTo>
                  <a:pt x="142875" y="133350"/>
                </a:lnTo>
                <a:cubicBezTo>
                  <a:pt x="142875" y="138619"/>
                  <a:pt x="138619" y="142875"/>
                  <a:pt x="133350" y="142875"/>
                </a:cubicBezTo>
                <a:lnTo>
                  <a:pt x="57150" y="142875"/>
                </a:lnTo>
                <a:cubicBezTo>
                  <a:pt x="51881" y="142875"/>
                  <a:pt x="47625" y="138619"/>
                  <a:pt x="47625" y="133350"/>
                </a:cubicBezTo>
                <a:lnTo>
                  <a:pt x="47625" y="128588"/>
                </a:lnTo>
                <a:close/>
              </a:path>
            </a:pathLst>
          </a:custGeom>
          <a:solidFill>
            <a:srgbClr val="FFFFFF"/>
          </a:solidFill>
          <a:ln/>
        </p:spPr>
      </p:sp>
      <p:sp>
        <p:nvSpPr>
          <p:cNvPr id="45" name="Text 43"/>
          <p:cNvSpPr/>
          <p:nvPr/>
        </p:nvSpPr>
        <p:spPr>
          <a:xfrm>
            <a:off x="7086600" y="4203622"/>
            <a:ext cx="1285875" cy="266700"/>
          </a:xfrm>
          <a:prstGeom prst="rect">
            <a:avLst/>
          </a:prstGeom>
          <a:noFill/>
          <a:ln/>
        </p:spPr>
        <p:txBody>
          <a:bodyPr wrap="square" lIns="0" tIns="0" rIns="0" bIns="0" rtlCol="0" anchor="ctr"/>
          <a:lstStyle/>
          <a:p>
            <a:pPr>
              <a:lnSpc>
                <a:spcPct val="130000"/>
              </a:lnSpc>
            </a:pPr>
            <a:r>
              <a:rPr lang="en-US" sz="1350" b="1" dirty="0">
                <a:solidFill>
                  <a:srgbClr val="8E8E93"/>
                </a:solidFill>
                <a:latin typeface="Liter" pitchFamily="34" charset="0"/>
                <a:ea typeface="Liter" pitchFamily="34" charset="-122"/>
                <a:cs typeface="Liter" pitchFamily="34" charset="-120"/>
              </a:rPr>
              <a:t>Huge User Base</a:t>
            </a:r>
            <a:endParaRPr lang="en-US" sz="1600" dirty="0"/>
          </a:p>
        </p:txBody>
      </p:sp>
      <p:sp>
        <p:nvSpPr>
          <p:cNvPr id="46" name="Text 44"/>
          <p:cNvSpPr/>
          <p:nvPr/>
        </p:nvSpPr>
        <p:spPr>
          <a:xfrm>
            <a:off x="6591300" y="4603672"/>
            <a:ext cx="49149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More potential customers for your apps worldwide</a:t>
            </a:r>
            <a:endParaRPr lang="en-US" sz="1600" dirty="0"/>
          </a:p>
        </p:txBody>
      </p:sp>
      <p:sp>
        <p:nvSpPr>
          <p:cNvPr id="47" name="Shape 45"/>
          <p:cNvSpPr/>
          <p:nvPr/>
        </p:nvSpPr>
        <p:spPr>
          <a:xfrm>
            <a:off x="6210300" y="5372100"/>
            <a:ext cx="5600700" cy="1104900"/>
          </a:xfrm>
          <a:prstGeom prst="roundRect">
            <a:avLst>
              <a:gd name="adj" fmla="val 13793"/>
            </a:avLst>
          </a:prstGeom>
          <a:solidFill>
            <a:srgbClr val="2C2C2E"/>
          </a:solidFill>
          <a:ln/>
        </p:spPr>
      </p:sp>
      <p:sp>
        <p:nvSpPr>
          <p:cNvPr id="48" name="Shape 46"/>
          <p:cNvSpPr/>
          <p:nvPr/>
        </p:nvSpPr>
        <p:spPr>
          <a:xfrm>
            <a:off x="6391275" y="5562600"/>
            <a:ext cx="133350" cy="152400"/>
          </a:xfrm>
          <a:custGeom>
            <a:avLst/>
            <a:gdLst/>
            <a:ahLst/>
            <a:cxnLst/>
            <a:rect l="l" t="t" r="r" b="b"/>
            <a:pathLst>
              <a:path w="133350" h="152400">
                <a:moveTo>
                  <a:pt x="19050" y="9525"/>
                </a:moveTo>
                <a:cubicBezTo>
                  <a:pt x="8543" y="9525"/>
                  <a:pt x="0" y="18068"/>
                  <a:pt x="0" y="28575"/>
                </a:cubicBezTo>
                <a:lnTo>
                  <a:pt x="0" y="123825"/>
                </a:lnTo>
                <a:cubicBezTo>
                  <a:pt x="0" y="134332"/>
                  <a:pt x="8543" y="142875"/>
                  <a:pt x="19050" y="142875"/>
                </a:cubicBezTo>
                <a:lnTo>
                  <a:pt x="114300" y="142875"/>
                </a:lnTo>
                <a:cubicBezTo>
                  <a:pt x="124807" y="142875"/>
                  <a:pt x="133350" y="134332"/>
                  <a:pt x="133350" y="123825"/>
                </a:cubicBezTo>
                <a:lnTo>
                  <a:pt x="133350" y="28575"/>
                </a:lnTo>
                <a:cubicBezTo>
                  <a:pt x="133350" y="18068"/>
                  <a:pt x="124807" y="9525"/>
                  <a:pt x="114300" y="9525"/>
                </a:cubicBezTo>
                <a:lnTo>
                  <a:pt x="19050" y="9525"/>
                </a:lnTo>
                <a:close/>
                <a:moveTo>
                  <a:pt x="38100" y="33338"/>
                </a:moveTo>
                <a:cubicBezTo>
                  <a:pt x="45985" y="33338"/>
                  <a:pt x="52388" y="39740"/>
                  <a:pt x="52388" y="47625"/>
                </a:cubicBezTo>
                <a:cubicBezTo>
                  <a:pt x="52388" y="55510"/>
                  <a:pt x="45985" y="61912"/>
                  <a:pt x="38100" y="61912"/>
                </a:cubicBezTo>
                <a:cubicBezTo>
                  <a:pt x="30215" y="61912"/>
                  <a:pt x="23813" y="55510"/>
                  <a:pt x="23813" y="47625"/>
                </a:cubicBezTo>
                <a:cubicBezTo>
                  <a:pt x="23813" y="39740"/>
                  <a:pt x="30215" y="33338"/>
                  <a:pt x="38100" y="33338"/>
                </a:cubicBezTo>
                <a:close/>
                <a:moveTo>
                  <a:pt x="80962" y="66675"/>
                </a:moveTo>
                <a:cubicBezTo>
                  <a:pt x="83463" y="66675"/>
                  <a:pt x="85755" y="67985"/>
                  <a:pt x="87064" y="70098"/>
                </a:cubicBezTo>
                <a:lnTo>
                  <a:pt x="113258" y="112961"/>
                </a:lnTo>
                <a:cubicBezTo>
                  <a:pt x="114598" y="115163"/>
                  <a:pt x="114657" y="117931"/>
                  <a:pt x="113407" y="120194"/>
                </a:cubicBezTo>
                <a:cubicBezTo>
                  <a:pt x="112157" y="122456"/>
                  <a:pt x="109746" y="123825"/>
                  <a:pt x="107156" y="123825"/>
                </a:cubicBezTo>
                <a:lnTo>
                  <a:pt x="26194" y="123825"/>
                </a:lnTo>
                <a:cubicBezTo>
                  <a:pt x="23545" y="123825"/>
                  <a:pt x="21074" y="122337"/>
                  <a:pt x="19854" y="119985"/>
                </a:cubicBezTo>
                <a:cubicBezTo>
                  <a:pt x="18633" y="117634"/>
                  <a:pt x="18812" y="114776"/>
                  <a:pt x="20330" y="112603"/>
                </a:cubicBezTo>
                <a:lnTo>
                  <a:pt x="36999" y="88791"/>
                </a:lnTo>
                <a:cubicBezTo>
                  <a:pt x="38338" y="86886"/>
                  <a:pt x="40511" y="85755"/>
                  <a:pt x="42863" y="85755"/>
                </a:cubicBezTo>
                <a:cubicBezTo>
                  <a:pt x="45214" y="85755"/>
                  <a:pt x="47387" y="86886"/>
                  <a:pt x="48726" y="88791"/>
                </a:cubicBezTo>
                <a:lnTo>
                  <a:pt x="56584" y="100042"/>
                </a:lnTo>
                <a:lnTo>
                  <a:pt x="74861" y="70128"/>
                </a:lnTo>
                <a:cubicBezTo>
                  <a:pt x="76170" y="68014"/>
                  <a:pt x="78462" y="66705"/>
                  <a:pt x="80962" y="66705"/>
                </a:cubicBezTo>
                <a:close/>
              </a:path>
            </a:pathLst>
          </a:custGeom>
          <a:solidFill>
            <a:srgbClr val="8E8E93"/>
          </a:solidFill>
          <a:ln/>
        </p:spPr>
      </p:sp>
      <p:sp>
        <p:nvSpPr>
          <p:cNvPr id="49" name="Text 47"/>
          <p:cNvSpPr/>
          <p:nvPr/>
        </p:nvSpPr>
        <p:spPr>
          <a:xfrm>
            <a:off x="6553200" y="5524500"/>
            <a:ext cx="5181600" cy="228600"/>
          </a:xfrm>
          <a:prstGeom prst="rect">
            <a:avLst/>
          </a:prstGeom>
          <a:noFill/>
          <a:ln/>
        </p:spPr>
        <p:txBody>
          <a:bodyPr wrap="square" lIns="0" tIns="0" rIns="0" bIns="0" rtlCol="0" anchor="ctr"/>
          <a:lstStyle/>
          <a:p>
            <a:pPr>
              <a:lnSpc>
                <a:spcPct val="130000"/>
              </a:lnSpc>
            </a:pPr>
            <a:r>
              <a:rPr lang="en-US" sz="1200" b="1" dirty="0">
                <a:solidFill>
                  <a:srgbClr val="8E8E93"/>
                </a:solidFill>
                <a:latin typeface="Liter" pitchFamily="34" charset="0"/>
                <a:ea typeface="Liter" pitchFamily="34" charset="-122"/>
                <a:cs typeface="Liter" pitchFamily="34" charset="-120"/>
              </a:rPr>
              <a:t>Visual Suggestion</a:t>
            </a:r>
            <a:endParaRPr lang="en-US" sz="1600" dirty="0"/>
          </a:p>
        </p:txBody>
      </p:sp>
      <p:sp>
        <p:nvSpPr>
          <p:cNvPr id="50" name="Shape 48"/>
          <p:cNvSpPr/>
          <p:nvPr/>
        </p:nvSpPr>
        <p:spPr>
          <a:xfrm>
            <a:off x="6381750" y="5867400"/>
            <a:ext cx="152400" cy="152400"/>
          </a:xfrm>
          <a:custGeom>
            <a:avLst/>
            <a:gdLst/>
            <a:ahLst/>
            <a:cxnLst/>
            <a:rect l="l" t="t" r="r" b="b"/>
            <a:pathLst>
              <a:path w="152400" h="152400">
                <a:moveTo>
                  <a:pt x="0" y="23813"/>
                </a:moveTo>
                <a:cubicBezTo>
                  <a:pt x="0" y="15925"/>
                  <a:pt x="6400" y="9525"/>
                  <a:pt x="14288" y="9525"/>
                </a:cubicBezTo>
                <a:lnTo>
                  <a:pt x="42863" y="9525"/>
                </a:lnTo>
                <a:cubicBezTo>
                  <a:pt x="50750" y="9525"/>
                  <a:pt x="57150" y="15925"/>
                  <a:pt x="57150" y="23813"/>
                </a:cubicBezTo>
                <a:lnTo>
                  <a:pt x="57150" y="28575"/>
                </a:lnTo>
                <a:lnTo>
                  <a:pt x="95250" y="28575"/>
                </a:lnTo>
                <a:lnTo>
                  <a:pt x="95250" y="23813"/>
                </a:lnTo>
                <a:cubicBezTo>
                  <a:pt x="95250" y="15925"/>
                  <a:pt x="101650" y="9525"/>
                  <a:pt x="109537" y="9525"/>
                </a:cubicBezTo>
                <a:lnTo>
                  <a:pt x="138113" y="9525"/>
                </a:lnTo>
                <a:cubicBezTo>
                  <a:pt x="146000" y="9525"/>
                  <a:pt x="152400" y="15925"/>
                  <a:pt x="152400" y="23813"/>
                </a:cubicBezTo>
                <a:lnTo>
                  <a:pt x="152400" y="52388"/>
                </a:lnTo>
                <a:cubicBezTo>
                  <a:pt x="152400" y="60275"/>
                  <a:pt x="146000" y="66675"/>
                  <a:pt x="138113" y="66675"/>
                </a:cubicBezTo>
                <a:lnTo>
                  <a:pt x="109537" y="66675"/>
                </a:lnTo>
                <a:cubicBezTo>
                  <a:pt x="101650" y="66675"/>
                  <a:pt x="95250" y="60275"/>
                  <a:pt x="95250" y="52388"/>
                </a:cubicBezTo>
                <a:lnTo>
                  <a:pt x="95250" y="47625"/>
                </a:lnTo>
                <a:lnTo>
                  <a:pt x="57150" y="47625"/>
                </a:lnTo>
                <a:lnTo>
                  <a:pt x="57150" y="52388"/>
                </a:lnTo>
                <a:cubicBezTo>
                  <a:pt x="57150" y="54560"/>
                  <a:pt x="56644" y="56644"/>
                  <a:pt x="55781" y="58489"/>
                </a:cubicBezTo>
                <a:lnTo>
                  <a:pt x="76200" y="85725"/>
                </a:lnTo>
                <a:lnTo>
                  <a:pt x="100013" y="85725"/>
                </a:lnTo>
                <a:cubicBezTo>
                  <a:pt x="107900" y="85725"/>
                  <a:pt x="114300" y="92125"/>
                  <a:pt x="114300" y="100013"/>
                </a:cubicBezTo>
                <a:lnTo>
                  <a:pt x="114300" y="128588"/>
                </a:lnTo>
                <a:cubicBezTo>
                  <a:pt x="114300" y="136475"/>
                  <a:pt x="107900" y="142875"/>
                  <a:pt x="100013" y="142875"/>
                </a:cubicBezTo>
                <a:lnTo>
                  <a:pt x="71438" y="142875"/>
                </a:lnTo>
                <a:cubicBezTo>
                  <a:pt x="63550" y="142875"/>
                  <a:pt x="57150" y="136475"/>
                  <a:pt x="57150" y="128588"/>
                </a:cubicBezTo>
                <a:lnTo>
                  <a:pt x="57150" y="100013"/>
                </a:lnTo>
                <a:cubicBezTo>
                  <a:pt x="57150" y="97840"/>
                  <a:pt x="57656" y="95756"/>
                  <a:pt x="58519" y="93911"/>
                </a:cubicBezTo>
                <a:lnTo>
                  <a:pt x="38100" y="66675"/>
                </a:lnTo>
                <a:lnTo>
                  <a:pt x="14288" y="66675"/>
                </a:lnTo>
                <a:cubicBezTo>
                  <a:pt x="6400" y="66675"/>
                  <a:pt x="0" y="60275"/>
                  <a:pt x="0" y="52388"/>
                </a:cubicBezTo>
                <a:lnTo>
                  <a:pt x="0" y="23813"/>
                </a:lnTo>
                <a:close/>
              </a:path>
            </a:pathLst>
          </a:custGeom>
          <a:solidFill>
            <a:srgbClr val="34C759"/>
          </a:solidFill>
          <a:ln/>
        </p:spPr>
      </p:sp>
      <p:sp>
        <p:nvSpPr>
          <p:cNvPr id="51" name="Text 49"/>
          <p:cNvSpPr/>
          <p:nvPr/>
        </p:nvSpPr>
        <p:spPr>
          <a:xfrm>
            <a:off x="6629400" y="5829300"/>
            <a:ext cx="3571875"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Android ecosystem showing manufacturers</a:t>
            </a:r>
            <a:endParaRPr lang="en-US" sz="1600" dirty="0"/>
          </a:p>
        </p:txBody>
      </p:sp>
      <p:sp>
        <p:nvSpPr>
          <p:cNvPr id="52" name="Shape 50"/>
          <p:cNvSpPr/>
          <p:nvPr/>
        </p:nvSpPr>
        <p:spPr>
          <a:xfrm>
            <a:off x="6391275" y="6134100"/>
            <a:ext cx="133350" cy="152400"/>
          </a:xfrm>
          <a:custGeom>
            <a:avLst/>
            <a:gdLst/>
            <a:ahLst/>
            <a:cxnLst/>
            <a:rect l="l" t="t" r="r" b="b"/>
            <a:pathLst>
              <a:path w="133350" h="152400">
                <a:moveTo>
                  <a:pt x="19050" y="9525"/>
                </a:moveTo>
                <a:cubicBezTo>
                  <a:pt x="8543" y="9525"/>
                  <a:pt x="0" y="18068"/>
                  <a:pt x="0" y="28575"/>
                </a:cubicBezTo>
                <a:lnTo>
                  <a:pt x="0" y="123825"/>
                </a:lnTo>
                <a:cubicBezTo>
                  <a:pt x="0" y="134332"/>
                  <a:pt x="8543" y="142875"/>
                  <a:pt x="19050" y="142875"/>
                </a:cubicBezTo>
                <a:lnTo>
                  <a:pt x="114300" y="142875"/>
                </a:lnTo>
                <a:cubicBezTo>
                  <a:pt x="124807" y="142875"/>
                  <a:pt x="133350" y="134332"/>
                  <a:pt x="133350" y="123825"/>
                </a:cubicBezTo>
                <a:lnTo>
                  <a:pt x="133350" y="28575"/>
                </a:lnTo>
                <a:cubicBezTo>
                  <a:pt x="133350" y="18068"/>
                  <a:pt x="124807" y="9525"/>
                  <a:pt x="114300" y="9525"/>
                </a:cubicBezTo>
                <a:lnTo>
                  <a:pt x="19050" y="9525"/>
                </a:lnTo>
                <a:close/>
                <a:moveTo>
                  <a:pt x="38100" y="33338"/>
                </a:moveTo>
                <a:cubicBezTo>
                  <a:pt x="45985" y="33338"/>
                  <a:pt x="52388" y="39740"/>
                  <a:pt x="52388" y="47625"/>
                </a:cubicBezTo>
                <a:cubicBezTo>
                  <a:pt x="52388" y="55510"/>
                  <a:pt x="45985" y="61912"/>
                  <a:pt x="38100" y="61912"/>
                </a:cubicBezTo>
                <a:cubicBezTo>
                  <a:pt x="30215" y="61912"/>
                  <a:pt x="23813" y="55510"/>
                  <a:pt x="23813" y="47625"/>
                </a:cubicBezTo>
                <a:cubicBezTo>
                  <a:pt x="23813" y="39740"/>
                  <a:pt x="30215" y="33338"/>
                  <a:pt x="38100" y="33338"/>
                </a:cubicBezTo>
                <a:close/>
                <a:moveTo>
                  <a:pt x="80962" y="66675"/>
                </a:moveTo>
                <a:cubicBezTo>
                  <a:pt x="83463" y="66675"/>
                  <a:pt x="85755" y="67985"/>
                  <a:pt x="87064" y="70098"/>
                </a:cubicBezTo>
                <a:lnTo>
                  <a:pt x="113258" y="112961"/>
                </a:lnTo>
                <a:cubicBezTo>
                  <a:pt x="114598" y="115163"/>
                  <a:pt x="114657" y="117931"/>
                  <a:pt x="113407" y="120194"/>
                </a:cubicBezTo>
                <a:cubicBezTo>
                  <a:pt x="112157" y="122456"/>
                  <a:pt x="109746" y="123825"/>
                  <a:pt x="107156" y="123825"/>
                </a:cubicBezTo>
                <a:lnTo>
                  <a:pt x="26194" y="123825"/>
                </a:lnTo>
                <a:cubicBezTo>
                  <a:pt x="23545" y="123825"/>
                  <a:pt x="21074" y="122337"/>
                  <a:pt x="19854" y="119985"/>
                </a:cubicBezTo>
                <a:cubicBezTo>
                  <a:pt x="18633" y="117634"/>
                  <a:pt x="18812" y="114776"/>
                  <a:pt x="20330" y="112603"/>
                </a:cubicBezTo>
                <a:lnTo>
                  <a:pt x="36999" y="88791"/>
                </a:lnTo>
                <a:cubicBezTo>
                  <a:pt x="38338" y="86886"/>
                  <a:pt x="40511" y="85755"/>
                  <a:pt x="42863" y="85755"/>
                </a:cubicBezTo>
                <a:cubicBezTo>
                  <a:pt x="45214" y="85755"/>
                  <a:pt x="47387" y="86886"/>
                  <a:pt x="48726" y="88791"/>
                </a:cubicBezTo>
                <a:lnTo>
                  <a:pt x="56584" y="100042"/>
                </a:lnTo>
                <a:lnTo>
                  <a:pt x="74861" y="70128"/>
                </a:lnTo>
                <a:cubicBezTo>
                  <a:pt x="76170" y="68014"/>
                  <a:pt x="78462" y="66705"/>
                  <a:pt x="80962" y="66705"/>
                </a:cubicBezTo>
                <a:close/>
              </a:path>
            </a:pathLst>
          </a:custGeom>
          <a:solidFill>
            <a:srgbClr val="0A84FF"/>
          </a:solidFill>
          <a:ln/>
        </p:spPr>
      </p:sp>
      <p:sp>
        <p:nvSpPr>
          <p:cNvPr id="53" name="Text 51"/>
          <p:cNvSpPr/>
          <p:nvPr/>
        </p:nvSpPr>
        <p:spPr>
          <a:xfrm>
            <a:off x="6629400" y="6096000"/>
            <a:ext cx="3581400"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Various Android phones from different brands</a:t>
            </a:r>
            <a:endParaRPr lang="en-US" sz="16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34C759"/>
          </a:solidFill>
          <a:ln/>
        </p:spPr>
      </p:sp>
      <p:sp>
        <p:nvSpPr>
          <p:cNvPr id="3" name="Text 1"/>
          <p:cNvSpPr/>
          <p:nvPr/>
        </p:nvSpPr>
        <p:spPr>
          <a:xfrm>
            <a:off x="505301" y="514350"/>
            <a:ext cx="323850" cy="304800"/>
          </a:xfrm>
          <a:prstGeom prst="rect">
            <a:avLst/>
          </a:prstGeom>
          <a:noFill/>
          <a:ln/>
        </p:spPr>
        <p:txBody>
          <a:bodyPr wrap="square" lIns="0" tIns="0" rIns="0" bIns="0" rtlCol="0" anchor="ctr"/>
          <a:lstStyle/>
          <a:p>
            <a:pPr>
              <a:lnSpc>
                <a:spcPct val="110000"/>
              </a:lnSpc>
            </a:pPr>
            <a:r>
              <a:rPr lang="en-US" sz="1800" b="1" dirty="0">
                <a:solidFill>
                  <a:srgbClr val="1D1D1F"/>
                </a:solidFill>
                <a:latin typeface="Liter" pitchFamily="34" charset="0"/>
                <a:ea typeface="Liter" pitchFamily="34" charset="-122"/>
                <a:cs typeface="Liter" pitchFamily="34" charset="-120"/>
              </a:rPr>
              <a:t>17</a:t>
            </a:r>
            <a:endParaRPr lang="en-US" sz="1600" dirty="0"/>
          </a:p>
        </p:txBody>
      </p:sp>
      <p:sp>
        <p:nvSpPr>
          <p:cNvPr id="4" name="Text 2"/>
          <p:cNvSpPr/>
          <p:nvPr/>
        </p:nvSpPr>
        <p:spPr>
          <a:xfrm>
            <a:off x="952500" y="381000"/>
            <a:ext cx="4762500" cy="190500"/>
          </a:xfrm>
          <a:prstGeom prst="rect">
            <a:avLst/>
          </a:prstGeom>
          <a:noFill/>
          <a:ln/>
        </p:spPr>
        <p:txBody>
          <a:bodyPr wrap="square" lIns="0" tIns="0" rIns="0" bIns="0" rtlCol="0" anchor="ctr"/>
          <a:lstStyle/>
          <a:p>
            <a:pPr>
              <a:lnSpc>
                <a:spcPct val="120000"/>
              </a:lnSpc>
            </a:pPr>
            <a:r>
              <a:rPr lang="en-US" sz="1050" b="1" spc="53" kern="0" dirty="0">
                <a:solidFill>
                  <a:srgbClr val="34C759"/>
                </a:solidFill>
                <a:latin typeface="Quattrocento Sans" pitchFamily="34" charset="0"/>
                <a:ea typeface="Quattrocento Sans" pitchFamily="34" charset="-122"/>
                <a:cs typeface="Quattrocento Sans" pitchFamily="34" charset="-120"/>
              </a:rPr>
              <a:t>Mobile Platforms</a:t>
            </a:r>
            <a:endParaRPr lang="en-US" sz="1600" dirty="0"/>
          </a:p>
        </p:txBody>
      </p:sp>
      <p:sp>
        <p:nvSpPr>
          <p:cNvPr id="5" name="Text 3"/>
          <p:cNvSpPr/>
          <p:nvPr/>
        </p:nvSpPr>
        <p:spPr>
          <a:xfrm>
            <a:off x="952500" y="571500"/>
            <a:ext cx="4867275" cy="381000"/>
          </a:xfrm>
          <a:prstGeom prst="rect">
            <a:avLst/>
          </a:prstGeom>
          <a:noFill/>
          <a:ln/>
        </p:spPr>
        <p:txBody>
          <a:bodyPr wrap="square" lIns="0" tIns="0" rIns="0" bIns="0" rtlCol="0" anchor="ctr"/>
          <a:lstStyle/>
          <a:p>
            <a:pPr>
              <a:lnSpc>
                <a:spcPct val="90000"/>
              </a:lnSpc>
            </a:pPr>
            <a:r>
              <a:rPr lang="en-US" sz="2700" b="1" dirty="0">
                <a:solidFill>
                  <a:srgbClr val="F5F5F7"/>
                </a:solidFill>
                <a:latin typeface="Liter" pitchFamily="34" charset="0"/>
                <a:ea typeface="Liter" pitchFamily="34" charset="-122"/>
                <a:cs typeface="Liter" pitchFamily="34" charset="-120"/>
              </a:rPr>
              <a:t>iOS Platform: Apple Ecosystem</a:t>
            </a:r>
            <a:endParaRPr lang="en-US" sz="1600" dirty="0"/>
          </a:p>
        </p:txBody>
      </p:sp>
      <p:sp>
        <p:nvSpPr>
          <p:cNvPr id="6" name="Shape 4"/>
          <p:cNvSpPr/>
          <p:nvPr/>
        </p:nvSpPr>
        <p:spPr>
          <a:xfrm>
            <a:off x="400050" y="1257300"/>
            <a:ext cx="5581650" cy="3543300"/>
          </a:xfrm>
          <a:custGeom>
            <a:avLst/>
            <a:gdLst/>
            <a:ahLst/>
            <a:cxnLst/>
            <a:rect l="l" t="t" r="r" b="b"/>
            <a:pathLst>
              <a:path w="5581650" h="3543300">
                <a:moveTo>
                  <a:pt x="38100" y="0"/>
                </a:moveTo>
                <a:lnTo>
                  <a:pt x="5429250" y="0"/>
                </a:lnTo>
                <a:cubicBezTo>
                  <a:pt x="5513362" y="0"/>
                  <a:pt x="5581650" y="68288"/>
                  <a:pt x="5581650" y="152400"/>
                </a:cubicBezTo>
                <a:lnTo>
                  <a:pt x="5581650" y="3390900"/>
                </a:lnTo>
                <a:cubicBezTo>
                  <a:pt x="5581650" y="3475012"/>
                  <a:pt x="5513362" y="3543300"/>
                  <a:pt x="5429250" y="3543300"/>
                </a:cubicBezTo>
                <a:lnTo>
                  <a:pt x="38100" y="3543300"/>
                </a:lnTo>
                <a:cubicBezTo>
                  <a:pt x="17072" y="3543300"/>
                  <a:pt x="0" y="3526228"/>
                  <a:pt x="0" y="3505200"/>
                </a:cubicBezTo>
                <a:lnTo>
                  <a:pt x="0" y="38100"/>
                </a:lnTo>
                <a:cubicBezTo>
                  <a:pt x="0" y="17072"/>
                  <a:pt x="17072" y="0"/>
                  <a:pt x="38100" y="0"/>
                </a:cubicBezTo>
                <a:close/>
              </a:path>
            </a:pathLst>
          </a:custGeom>
          <a:solidFill>
            <a:srgbClr val="2C2C2E"/>
          </a:solidFill>
          <a:ln/>
        </p:spPr>
      </p:sp>
      <p:sp>
        <p:nvSpPr>
          <p:cNvPr id="7" name="Shape 5"/>
          <p:cNvSpPr/>
          <p:nvPr/>
        </p:nvSpPr>
        <p:spPr>
          <a:xfrm>
            <a:off x="400050" y="1257300"/>
            <a:ext cx="38100" cy="3543300"/>
          </a:xfrm>
          <a:custGeom>
            <a:avLst/>
            <a:gdLst/>
            <a:ahLst/>
            <a:cxnLst/>
            <a:rect l="l" t="t" r="r" b="b"/>
            <a:pathLst>
              <a:path w="38100" h="3543300">
                <a:moveTo>
                  <a:pt x="38100" y="0"/>
                </a:moveTo>
                <a:lnTo>
                  <a:pt x="38100" y="0"/>
                </a:lnTo>
                <a:lnTo>
                  <a:pt x="38100" y="3543300"/>
                </a:lnTo>
                <a:lnTo>
                  <a:pt x="38100" y="3543300"/>
                </a:lnTo>
                <a:cubicBezTo>
                  <a:pt x="17072" y="3543300"/>
                  <a:pt x="0" y="3526228"/>
                  <a:pt x="0" y="3505200"/>
                </a:cubicBezTo>
                <a:lnTo>
                  <a:pt x="0" y="38100"/>
                </a:lnTo>
                <a:cubicBezTo>
                  <a:pt x="0" y="17072"/>
                  <a:pt x="17072" y="0"/>
                  <a:pt x="38100" y="0"/>
                </a:cubicBezTo>
                <a:close/>
              </a:path>
            </a:pathLst>
          </a:custGeom>
          <a:solidFill>
            <a:srgbClr val="0A84FF"/>
          </a:solidFill>
          <a:ln/>
        </p:spPr>
      </p:sp>
      <p:sp>
        <p:nvSpPr>
          <p:cNvPr id="8" name="Shape 6"/>
          <p:cNvSpPr/>
          <p:nvPr/>
        </p:nvSpPr>
        <p:spPr>
          <a:xfrm>
            <a:off x="704850" y="1523879"/>
            <a:ext cx="171450" cy="228600"/>
          </a:xfrm>
          <a:custGeom>
            <a:avLst/>
            <a:gdLst/>
            <a:ahLst/>
            <a:cxnLst/>
            <a:rect l="l" t="t" r="r" b="b"/>
            <a:pathLst>
              <a:path w="171450" h="228600">
                <a:moveTo>
                  <a:pt x="142473" y="119970"/>
                </a:moveTo>
                <a:cubicBezTo>
                  <a:pt x="142384" y="103584"/>
                  <a:pt x="149796" y="91217"/>
                  <a:pt x="164797" y="82108"/>
                </a:cubicBezTo>
                <a:cubicBezTo>
                  <a:pt x="156403" y="70098"/>
                  <a:pt x="143723" y="63490"/>
                  <a:pt x="126980" y="62195"/>
                </a:cubicBezTo>
                <a:cubicBezTo>
                  <a:pt x="111130" y="60945"/>
                  <a:pt x="93806" y="71437"/>
                  <a:pt x="87466" y="71437"/>
                </a:cubicBezTo>
                <a:cubicBezTo>
                  <a:pt x="80769" y="71437"/>
                  <a:pt x="65410" y="62642"/>
                  <a:pt x="53355" y="62642"/>
                </a:cubicBezTo>
                <a:cubicBezTo>
                  <a:pt x="28441" y="63044"/>
                  <a:pt x="1965" y="82510"/>
                  <a:pt x="1965" y="122113"/>
                </a:cubicBezTo>
                <a:cubicBezTo>
                  <a:pt x="1965" y="133811"/>
                  <a:pt x="4108" y="145911"/>
                  <a:pt x="8394" y="158368"/>
                </a:cubicBezTo>
                <a:cubicBezTo>
                  <a:pt x="14109" y="174754"/>
                  <a:pt x="34736" y="214938"/>
                  <a:pt x="56257" y="214268"/>
                </a:cubicBezTo>
                <a:cubicBezTo>
                  <a:pt x="67508" y="214000"/>
                  <a:pt x="75456" y="206276"/>
                  <a:pt x="90101" y="206276"/>
                </a:cubicBezTo>
                <a:cubicBezTo>
                  <a:pt x="104299" y="206276"/>
                  <a:pt x="111666" y="214268"/>
                  <a:pt x="124212" y="214268"/>
                </a:cubicBezTo>
                <a:cubicBezTo>
                  <a:pt x="145911" y="213955"/>
                  <a:pt x="164574" y="177433"/>
                  <a:pt x="170021" y="161002"/>
                </a:cubicBezTo>
                <a:cubicBezTo>
                  <a:pt x="140910" y="147295"/>
                  <a:pt x="142473" y="120819"/>
                  <a:pt x="142473" y="119970"/>
                </a:cubicBezTo>
                <a:close/>
                <a:moveTo>
                  <a:pt x="117202" y="46658"/>
                </a:moveTo>
                <a:cubicBezTo>
                  <a:pt x="129391" y="32192"/>
                  <a:pt x="128275" y="19020"/>
                  <a:pt x="127918" y="14288"/>
                </a:cubicBezTo>
                <a:cubicBezTo>
                  <a:pt x="117157" y="14913"/>
                  <a:pt x="104701" y="21610"/>
                  <a:pt x="97601" y="29870"/>
                </a:cubicBezTo>
                <a:cubicBezTo>
                  <a:pt x="89788" y="38710"/>
                  <a:pt x="85189" y="49649"/>
                  <a:pt x="86171" y="61972"/>
                </a:cubicBezTo>
                <a:cubicBezTo>
                  <a:pt x="97825" y="62865"/>
                  <a:pt x="108451" y="56882"/>
                  <a:pt x="117202" y="46658"/>
                </a:cubicBezTo>
                <a:close/>
              </a:path>
            </a:pathLst>
          </a:custGeom>
          <a:solidFill>
            <a:srgbClr val="0A84FF"/>
          </a:solidFill>
          <a:ln/>
        </p:spPr>
      </p:sp>
      <p:sp>
        <p:nvSpPr>
          <p:cNvPr id="9" name="Text 7"/>
          <p:cNvSpPr/>
          <p:nvPr/>
        </p:nvSpPr>
        <p:spPr>
          <a:xfrm>
            <a:off x="933450" y="1485900"/>
            <a:ext cx="4933950" cy="304800"/>
          </a:xfrm>
          <a:prstGeom prst="rect">
            <a:avLst/>
          </a:prstGeom>
          <a:noFill/>
          <a:ln/>
        </p:spPr>
        <p:txBody>
          <a:bodyPr wrap="square" lIns="0" tIns="0" rIns="0" bIns="0" rtlCol="0" anchor="ctr"/>
          <a:lstStyle/>
          <a:p>
            <a:pPr>
              <a:lnSpc>
                <a:spcPct val="110000"/>
              </a:lnSpc>
            </a:pPr>
            <a:r>
              <a:rPr lang="en-US" sz="1800" b="1" dirty="0">
                <a:solidFill>
                  <a:srgbClr val="0A84FF"/>
                </a:solidFill>
                <a:latin typeface="Liter" pitchFamily="34" charset="0"/>
                <a:ea typeface="Liter" pitchFamily="34" charset="-122"/>
                <a:cs typeface="Liter" pitchFamily="34" charset="-120"/>
              </a:rPr>
              <a:t>What is iOS?</a:t>
            </a:r>
            <a:endParaRPr lang="en-US" sz="1600" dirty="0"/>
          </a:p>
        </p:txBody>
      </p:sp>
      <p:sp>
        <p:nvSpPr>
          <p:cNvPr id="10" name="Shape 8"/>
          <p:cNvSpPr/>
          <p:nvPr/>
        </p:nvSpPr>
        <p:spPr>
          <a:xfrm>
            <a:off x="647700" y="2000129"/>
            <a:ext cx="304800" cy="304800"/>
          </a:xfrm>
          <a:prstGeom prst="roundRect">
            <a:avLst>
              <a:gd name="adj" fmla="val 25000"/>
            </a:avLst>
          </a:prstGeom>
          <a:solidFill>
            <a:srgbClr val="0A84FF"/>
          </a:solidFill>
          <a:ln/>
        </p:spPr>
      </p:sp>
      <p:sp>
        <p:nvSpPr>
          <p:cNvPr id="11" name="Shape 9"/>
          <p:cNvSpPr/>
          <p:nvPr/>
        </p:nvSpPr>
        <p:spPr>
          <a:xfrm>
            <a:off x="752475" y="2085854"/>
            <a:ext cx="100013" cy="133350"/>
          </a:xfrm>
          <a:custGeom>
            <a:avLst/>
            <a:gdLst/>
            <a:ahLst/>
            <a:cxnLst/>
            <a:rect l="l" t="t" r="r" b="b"/>
            <a:pathLst>
              <a:path w="100013" h="133350">
                <a:moveTo>
                  <a:pt x="83109" y="69983"/>
                </a:moveTo>
                <a:cubicBezTo>
                  <a:pt x="83057" y="60424"/>
                  <a:pt x="87381" y="53210"/>
                  <a:pt x="96132" y="47897"/>
                </a:cubicBezTo>
                <a:cubicBezTo>
                  <a:pt x="91235" y="40891"/>
                  <a:pt x="83839" y="37036"/>
                  <a:pt x="74072" y="36281"/>
                </a:cubicBezTo>
                <a:cubicBezTo>
                  <a:pt x="64826" y="35551"/>
                  <a:pt x="54720" y="41672"/>
                  <a:pt x="51022" y="41672"/>
                </a:cubicBezTo>
                <a:cubicBezTo>
                  <a:pt x="47115" y="41672"/>
                  <a:pt x="38156" y="36541"/>
                  <a:pt x="31124" y="36541"/>
                </a:cubicBezTo>
                <a:cubicBezTo>
                  <a:pt x="16591" y="36775"/>
                  <a:pt x="1146" y="48131"/>
                  <a:pt x="1146" y="71233"/>
                </a:cubicBezTo>
                <a:cubicBezTo>
                  <a:pt x="1146" y="78057"/>
                  <a:pt x="2396" y="85115"/>
                  <a:pt x="4896" y="92381"/>
                </a:cubicBezTo>
                <a:cubicBezTo>
                  <a:pt x="8230" y="101940"/>
                  <a:pt x="20263" y="125380"/>
                  <a:pt x="32817" y="124990"/>
                </a:cubicBezTo>
                <a:cubicBezTo>
                  <a:pt x="39380" y="124833"/>
                  <a:pt x="44016" y="120328"/>
                  <a:pt x="52559" y="120328"/>
                </a:cubicBezTo>
                <a:cubicBezTo>
                  <a:pt x="60841" y="120328"/>
                  <a:pt x="65138" y="124990"/>
                  <a:pt x="72457" y="124990"/>
                </a:cubicBezTo>
                <a:cubicBezTo>
                  <a:pt x="85115" y="124807"/>
                  <a:pt x="96002" y="103503"/>
                  <a:pt x="99179" y="93918"/>
                </a:cubicBezTo>
                <a:cubicBezTo>
                  <a:pt x="82198" y="85922"/>
                  <a:pt x="83109" y="70478"/>
                  <a:pt x="83109" y="69983"/>
                </a:cubicBezTo>
                <a:close/>
                <a:moveTo>
                  <a:pt x="68368" y="27217"/>
                </a:moveTo>
                <a:cubicBezTo>
                  <a:pt x="75478" y="18778"/>
                  <a:pt x="74827" y="11095"/>
                  <a:pt x="74619" y="8334"/>
                </a:cubicBezTo>
                <a:cubicBezTo>
                  <a:pt x="68342" y="8699"/>
                  <a:pt x="61075" y="12606"/>
                  <a:pt x="56934" y="17424"/>
                </a:cubicBezTo>
                <a:cubicBezTo>
                  <a:pt x="52376" y="22581"/>
                  <a:pt x="49694" y="28962"/>
                  <a:pt x="50267" y="36150"/>
                </a:cubicBezTo>
                <a:cubicBezTo>
                  <a:pt x="57064" y="36671"/>
                  <a:pt x="63263" y="33181"/>
                  <a:pt x="68368" y="27217"/>
                </a:cubicBezTo>
                <a:close/>
              </a:path>
            </a:pathLst>
          </a:custGeom>
          <a:solidFill>
            <a:srgbClr val="FFFFFF"/>
          </a:solidFill>
          <a:ln/>
        </p:spPr>
      </p:sp>
      <p:sp>
        <p:nvSpPr>
          <p:cNvPr id="12" name="Text 10"/>
          <p:cNvSpPr/>
          <p:nvPr/>
        </p:nvSpPr>
        <p:spPr>
          <a:xfrm>
            <a:off x="1066800" y="1981079"/>
            <a:ext cx="196215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Developed by </a:t>
            </a:r>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Apple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in 2007</a:t>
            </a:r>
            <a:endParaRPr lang="en-US" sz="1600" dirty="0"/>
          </a:p>
        </p:txBody>
      </p:sp>
      <p:sp>
        <p:nvSpPr>
          <p:cNvPr id="13" name="Shape 11"/>
          <p:cNvSpPr/>
          <p:nvPr/>
        </p:nvSpPr>
        <p:spPr>
          <a:xfrm>
            <a:off x="647700" y="2438279"/>
            <a:ext cx="304800" cy="304800"/>
          </a:xfrm>
          <a:prstGeom prst="roundRect">
            <a:avLst>
              <a:gd name="adj" fmla="val 25000"/>
            </a:avLst>
          </a:prstGeom>
          <a:solidFill>
            <a:srgbClr val="0A84FF"/>
          </a:solidFill>
          <a:ln/>
        </p:spPr>
      </p:sp>
      <p:sp>
        <p:nvSpPr>
          <p:cNvPr id="14" name="Shape 12"/>
          <p:cNvSpPr/>
          <p:nvPr/>
        </p:nvSpPr>
        <p:spPr>
          <a:xfrm>
            <a:off x="752475" y="2524004"/>
            <a:ext cx="100013" cy="133350"/>
          </a:xfrm>
          <a:custGeom>
            <a:avLst/>
            <a:gdLst/>
            <a:ahLst/>
            <a:cxnLst/>
            <a:rect l="l" t="t" r="r" b="b"/>
            <a:pathLst>
              <a:path w="100013" h="133350">
                <a:moveTo>
                  <a:pt x="33337" y="25003"/>
                </a:moveTo>
                <a:lnTo>
                  <a:pt x="33337" y="41672"/>
                </a:lnTo>
                <a:lnTo>
                  <a:pt x="66675" y="41672"/>
                </a:lnTo>
                <a:lnTo>
                  <a:pt x="66675" y="25003"/>
                </a:lnTo>
                <a:cubicBezTo>
                  <a:pt x="66675" y="15809"/>
                  <a:pt x="59200" y="8334"/>
                  <a:pt x="50006" y="8334"/>
                </a:cubicBezTo>
                <a:cubicBezTo>
                  <a:pt x="40812" y="8334"/>
                  <a:pt x="33337" y="15809"/>
                  <a:pt x="33337" y="25003"/>
                </a:cubicBezTo>
                <a:close/>
                <a:moveTo>
                  <a:pt x="16669" y="41672"/>
                </a:moveTo>
                <a:lnTo>
                  <a:pt x="16669" y="25003"/>
                </a:lnTo>
                <a:cubicBezTo>
                  <a:pt x="16669" y="6589"/>
                  <a:pt x="31592" y="-8334"/>
                  <a:pt x="50006" y="-8334"/>
                </a:cubicBezTo>
                <a:cubicBezTo>
                  <a:pt x="68420" y="-8334"/>
                  <a:pt x="83344" y="6589"/>
                  <a:pt x="83344" y="25003"/>
                </a:cubicBezTo>
                <a:lnTo>
                  <a:pt x="83344" y="41672"/>
                </a:lnTo>
                <a:cubicBezTo>
                  <a:pt x="92538" y="41672"/>
                  <a:pt x="100013" y="49147"/>
                  <a:pt x="100013" y="58341"/>
                </a:cubicBezTo>
                <a:lnTo>
                  <a:pt x="100013" y="116681"/>
                </a:lnTo>
                <a:cubicBezTo>
                  <a:pt x="100013" y="125875"/>
                  <a:pt x="92538" y="133350"/>
                  <a:pt x="83344" y="133350"/>
                </a:cubicBezTo>
                <a:lnTo>
                  <a:pt x="16669" y="133350"/>
                </a:lnTo>
                <a:cubicBezTo>
                  <a:pt x="7475" y="133350"/>
                  <a:pt x="0" y="125875"/>
                  <a:pt x="0" y="116681"/>
                </a:cubicBezTo>
                <a:lnTo>
                  <a:pt x="0" y="58341"/>
                </a:lnTo>
                <a:cubicBezTo>
                  <a:pt x="0" y="49147"/>
                  <a:pt x="7475" y="41672"/>
                  <a:pt x="16669" y="41672"/>
                </a:cubicBezTo>
                <a:close/>
              </a:path>
            </a:pathLst>
          </a:custGeom>
          <a:solidFill>
            <a:srgbClr val="FFFFFF"/>
          </a:solidFill>
          <a:ln/>
        </p:spPr>
      </p:sp>
      <p:sp>
        <p:nvSpPr>
          <p:cNvPr id="15" name="Text 13"/>
          <p:cNvSpPr/>
          <p:nvPr/>
        </p:nvSpPr>
        <p:spPr>
          <a:xfrm>
            <a:off x="1066800" y="2419229"/>
            <a:ext cx="2809875" cy="228600"/>
          </a:xfrm>
          <a:prstGeom prst="rect">
            <a:avLst/>
          </a:prstGeom>
          <a:noFill/>
          <a:ln/>
        </p:spPr>
        <p:txBody>
          <a:bodyPr wrap="square" lIns="0" tIns="0" rIns="0" bIns="0" rtlCol="0" anchor="ctr"/>
          <a:lstStyle/>
          <a:p>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Closed ecosystem</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 only Apple can use it</a:t>
            </a:r>
            <a:endParaRPr lang="en-US" sz="1600" dirty="0"/>
          </a:p>
        </p:txBody>
      </p:sp>
      <p:sp>
        <p:nvSpPr>
          <p:cNvPr id="16" name="Shape 14"/>
          <p:cNvSpPr/>
          <p:nvPr/>
        </p:nvSpPr>
        <p:spPr>
          <a:xfrm>
            <a:off x="647700" y="2876429"/>
            <a:ext cx="304800" cy="304800"/>
          </a:xfrm>
          <a:prstGeom prst="roundRect">
            <a:avLst>
              <a:gd name="adj" fmla="val 25000"/>
            </a:avLst>
          </a:prstGeom>
          <a:solidFill>
            <a:srgbClr val="0A84FF"/>
          </a:solidFill>
          <a:ln/>
        </p:spPr>
      </p:sp>
      <p:sp>
        <p:nvSpPr>
          <p:cNvPr id="17" name="Shape 15"/>
          <p:cNvSpPr/>
          <p:nvPr/>
        </p:nvSpPr>
        <p:spPr>
          <a:xfrm>
            <a:off x="752475" y="2962154"/>
            <a:ext cx="100013" cy="133350"/>
          </a:xfrm>
          <a:custGeom>
            <a:avLst/>
            <a:gdLst/>
            <a:ahLst/>
            <a:cxnLst/>
            <a:rect l="l" t="t" r="r" b="b"/>
            <a:pathLst>
              <a:path w="100013" h="133350">
                <a:moveTo>
                  <a:pt x="4167" y="16669"/>
                </a:moveTo>
                <a:cubicBezTo>
                  <a:pt x="4167" y="7475"/>
                  <a:pt x="11642" y="0"/>
                  <a:pt x="20836" y="0"/>
                </a:cubicBezTo>
                <a:lnTo>
                  <a:pt x="79177" y="0"/>
                </a:lnTo>
                <a:cubicBezTo>
                  <a:pt x="88370" y="0"/>
                  <a:pt x="95845" y="7475"/>
                  <a:pt x="95845" y="16669"/>
                </a:cubicBezTo>
                <a:lnTo>
                  <a:pt x="95845" y="116681"/>
                </a:lnTo>
                <a:cubicBezTo>
                  <a:pt x="95845" y="125875"/>
                  <a:pt x="88370" y="133350"/>
                  <a:pt x="79177" y="133350"/>
                </a:cubicBezTo>
                <a:lnTo>
                  <a:pt x="20836" y="133350"/>
                </a:lnTo>
                <a:cubicBezTo>
                  <a:pt x="11642" y="133350"/>
                  <a:pt x="4167" y="125875"/>
                  <a:pt x="4167" y="116681"/>
                </a:cubicBezTo>
                <a:lnTo>
                  <a:pt x="4167" y="16669"/>
                </a:lnTo>
                <a:close/>
                <a:moveTo>
                  <a:pt x="20836" y="16669"/>
                </a:moveTo>
                <a:lnTo>
                  <a:pt x="20836" y="95845"/>
                </a:lnTo>
                <a:lnTo>
                  <a:pt x="79177" y="95845"/>
                </a:lnTo>
                <a:lnTo>
                  <a:pt x="79177" y="16669"/>
                </a:lnTo>
                <a:lnTo>
                  <a:pt x="20836" y="16669"/>
                </a:lnTo>
                <a:close/>
                <a:moveTo>
                  <a:pt x="50006" y="122932"/>
                </a:moveTo>
                <a:cubicBezTo>
                  <a:pt x="54616" y="122932"/>
                  <a:pt x="58341" y="119208"/>
                  <a:pt x="58341" y="114598"/>
                </a:cubicBezTo>
                <a:cubicBezTo>
                  <a:pt x="58341" y="109988"/>
                  <a:pt x="54616" y="106263"/>
                  <a:pt x="50006" y="106263"/>
                </a:cubicBezTo>
                <a:cubicBezTo>
                  <a:pt x="45396" y="106263"/>
                  <a:pt x="41672" y="109988"/>
                  <a:pt x="41672" y="114598"/>
                </a:cubicBezTo>
                <a:cubicBezTo>
                  <a:pt x="41672" y="119208"/>
                  <a:pt x="45396" y="122932"/>
                  <a:pt x="50006" y="122932"/>
                </a:cubicBezTo>
                <a:close/>
              </a:path>
            </a:pathLst>
          </a:custGeom>
          <a:solidFill>
            <a:srgbClr val="FFFFFF"/>
          </a:solidFill>
          <a:ln/>
        </p:spPr>
      </p:sp>
      <p:sp>
        <p:nvSpPr>
          <p:cNvPr id="18" name="Text 16"/>
          <p:cNvSpPr/>
          <p:nvPr/>
        </p:nvSpPr>
        <p:spPr>
          <a:xfrm>
            <a:off x="1066800" y="2857379"/>
            <a:ext cx="276225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Runs only on </a:t>
            </a:r>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Apple devices</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iPhone, iPad</a:t>
            </a:r>
            <a:endParaRPr lang="en-US" sz="1600" dirty="0"/>
          </a:p>
        </p:txBody>
      </p:sp>
      <p:sp>
        <p:nvSpPr>
          <p:cNvPr id="19" name="Shape 17"/>
          <p:cNvSpPr/>
          <p:nvPr/>
        </p:nvSpPr>
        <p:spPr>
          <a:xfrm>
            <a:off x="647700" y="3314579"/>
            <a:ext cx="304800" cy="304800"/>
          </a:xfrm>
          <a:prstGeom prst="roundRect">
            <a:avLst>
              <a:gd name="adj" fmla="val 25000"/>
            </a:avLst>
          </a:prstGeom>
          <a:solidFill>
            <a:srgbClr val="0A84FF"/>
          </a:solidFill>
          <a:ln/>
        </p:spPr>
      </p:sp>
      <p:sp>
        <p:nvSpPr>
          <p:cNvPr id="20" name="Shape 18"/>
          <p:cNvSpPr/>
          <p:nvPr/>
        </p:nvSpPr>
        <p:spPr>
          <a:xfrm>
            <a:off x="735806" y="3400304"/>
            <a:ext cx="133350" cy="133350"/>
          </a:xfrm>
          <a:custGeom>
            <a:avLst/>
            <a:gdLst/>
            <a:ahLst/>
            <a:cxnLst/>
            <a:rect l="l" t="t" r="r" b="b"/>
            <a:pathLst>
              <a:path w="133350" h="133350">
                <a:moveTo>
                  <a:pt x="66675" y="0"/>
                </a:moveTo>
                <a:cubicBezTo>
                  <a:pt x="67873" y="0"/>
                  <a:pt x="69071" y="260"/>
                  <a:pt x="70165" y="755"/>
                </a:cubicBezTo>
                <a:lnTo>
                  <a:pt x="119234" y="21565"/>
                </a:lnTo>
                <a:cubicBezTo>
                  <a:pt x="124964" y="23987"/>
                  <a:pt x="129235" y="29639"/>
                  <a:pt x="129209" y="36463"/>
                </a:cubicBezTo>
                <a:cubicBezTo>
                  <a:pt x="129079" y="62299"/>
                  <a:pt x="118452" y="109571"/>
                  <a:pt x="73577" y="131058"/>
                </a:cubicBezTo>
                <a:cubicBezTo>
                  <a:pt x="69227" y="133142"/>
                  <a:pt x="64175" y="133142"/>
                  <a:pt x="59825" y="131058"/>
                </a:cubicBezTo>
                <a:cubicBezTo>
                  <a:pt x="14924" y="109571"/>
                  <a:pt x="4323" y="62299"/>
                  <a:pt x="4193" y="36463"/>
                </a:cubicBezTo>
                <a:cubicBezTo>
                  <a:pt x="4167" y="29639"/>
                  <a:pt x="8439" y="23987"/>
                  <a:pt x="14168" y="21565"/>
                </a:cubicBezTo>
                <a:lnTo>
                  <a:pt x="63211" y="755"/>
                </a:lnTo>
                <a:cubicBezTo>
                  <a:pt x="64305" y="260"/>
                  <a:pt x="65477" y="0"/>
                  <a:pt x="66675" y="0"/>
                </a:cubicBezTo>
                <a:close/>
                <a:moveTo>
                  <a:pt x="66675" y="17398"/>
                </a:moveTo>
                <a:lnTo>
                  <a:pt x="66675" y="115874"/>
                </a:lnTo>
                <a:cubicBezTo>
                  <a:pt x="102617" y="98476"/>
                  <a:pt x="112280" y="59929"/>
                  <a:pt x="112514" y="36854"/>
                </a:cubicBezTo>
                <a:lnTo>
                  <a:pt x="66675" y="17424"/>
                </a:lnTo>
                <a:lnTo>
                  <a:pt x="66675" y="17424"/>
                </a:lnTo>
                <a:close/>
              </a:path>
            </a:pathLst>
          </a:custGeom>
          <a:solidFill>
            <a:srgbClr val="FFFFFF"/>
          </a:solidFill>
          <a:ln/>
        </p:spPr>
      </p:sp>
      <p:sp>
        <p:nvSpPr>
          <p:cNvPr id="21" name="Text 19"/>
          <p:cNvSpPr/>
          <p:nvPr/>
        </p:nvSpPr>
        <p:spPr>
          <a:xfrm>
            <a:off x="1066800" y="3295529"/>
            <a:ext cx="2085975"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Known for </a:t>
            </a:r>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security and quality</a:t>
            </a:r>
            <a:endParaRPr lang="en-US" sz="1600" dirty="0"/>
          </a:p>
        </p:txBody>
      </p:sp>
      <p:sp>
        <p:nvSpPr>
          <p:cNvPr id="22" name="Shape 20"/>
          <p:cNvSpPr/>
          <p:nvPr/>
        </p:nvSpPr>
        <p:spPr>
          <a:xfrm>
            <a:off x="647700" y="3752729"/>
            <a:ext cx="304800" cy="304800"/>
          </a:xfrm>
          <a:prstGeom prst="roundRect">
            <a:avLst>
              <a:gd name="adj" fmla="val 25000"/>
            </a:avLst>
          </a:prstGeom>
          <a:solidFill>
            <a:srgbClr val="0A84FF"/>
          </a:solidFill>
          <a:ln/>
        </p:spPr>
      </p:sp>
      <p:sp>
        <p:nvSpPr>
          <p:cNvPr id="23" name="Shape 21"/>
          <p:cNvSpPr/>
          <p:nvPr/>
        </p:nvSpPr>
        <p:spPr>
          <a:xfrm>
            <a:off x="735806" y="3838454"/>
            <a:ext cx="133350" cy="133350"/>
          </a:xfrm>
          <a:custGeom>
            <a:avLst/>
            <a:gdLst/>
            <a:ahLst/>
            <a:cxnLst/>
            <a:rect l="l" t="t" r="r" b="b"/>
            <a:pathLst>
              <a:path w="133350" h="133350">
                <a:moveTo>
                  <a:pt x="7996" y="18830"/>
                </a:moveTo>
                <a:cubicBezTo>
                  <a:pt x="9793" y="12606"/>
                  <a:pt x="15497" y="8334"/>
                  <a:pt x="21982" y="8334"/>
                </a:cubicBezTo>
                <a:lnTo>
                  <a:pt x="111576" y="8334"/>
                </a:lnTo>
                <a:cubicBezTo>
                  <a:pt x="118062" y="8334"/>
                  <a:pt x="123765" y="12606"/>
                  <a:pt x="125589" y="18830"/>
                </a:cubicBezTo>
                <a:lnTo>
                  <a:pt x="131683" y="39719"/>
                </a:lnTo>
                <a:cubicBezTo>
                  <a:pt x="135017" y="51100"/>
                  <a:pt x="126448" y="62508"/>
                  <a:pt x="114598" y="62508"/>
                </a:cubicBezTo>
                <a:cubicBezTo>
                  <a:pt x="107748" y="62508"/>
                  <a:pt x="101731" y="58627"/>
                  <a:pt x="98762" y="52845"/>
                </a:cubicBezTo>
                <a:cubicBezTo>
                  <a:pt x="95741" y="58549"/>
                  <a:pt x="89751" y="62508"/>
                  <a:pt x="82771" y="62508"/>
                </a:cubicBezTo>
                <a:cubicBezTo>
                  <a:pt x="75843" y="62508"/>
                  <a:pt x="69826" y="58601"/>
                  <a:pt x="66805" y="52871"/>
                </a:cubicBezTo>
                <a:cubicBezTo>
                  <a:pt x="63784" y="58601"/>
                  <a:pt x="57768" y="62508"/>
                  <a:pt x="50840" y="62508"/>
                </a:cubicBezTo>
                <a:cubicBezTo>
                  <a:pt x="43860" y="62508"/>
                  <a:pt x="37869" y="58575"/>
                  <a:pt x="34848" y="52845"/>
                </a:cubicBezTo>
                <a:cubicBezTo>
                  <a:pt x="31879" y="58601"/>
                  <a:pt x="25863" y="62508"/>
                  <a:pt x="19013" y="62508"/>
                </a:cubicBezTo>
                <a:cubicBezTo>
                  <a:pt x="7136" y="62508"/>
                  <a:pt x="-1406" y="51126"/>
                  <a:pt x="1927" y="39719"/>
                </a:cubicBezTo>
                <a:lnTo>
                  <a:pt x="7996" y="18830"/>
                </a:lnTo>
                <a:close/>
                <a:moveTo>
                  <a:pt x="25107" y="91678"/>
                </a:moveTo>
                <a:lnTo>
                  <a:pt x="108451" y="91678"/>
                </a:lnTo>
                <a:lnTo>
                  <a:pt x="108451" y="74384"/>
                </a:lnTo>
                <a:cubicBezTo>
                  <a:pt x="110430" y="74801"/>
                  <a:pt x="112488" y="75009"/>
                  <a:pt x="114572" y="75009"/>
                </a:cubicBezTo>
                <a:cubicBezTo>
                  <a:pt x="118296" y="75009"/>
                  <a:pt x="121864" y="74332"/>
                  <a:pt x="125120" y="73134"/>
                </a:cubicBezTo>
                <a:lnTo>
                  <a:pt x="125120" y="112514"/>
                </a:lnTo>
                <a:cubicBezTo>
                  <a:pt x="125120" y="119416"/>
                  <a:pt x="119520" y="125016"/>
                  <a:pt x="112618" y="125016"/>
                </a:cubicBezTo>
                <a:lnTo>
                  <a:pt x="20940" y="125016"/>
                </a:lnTo>
                <a:cubicBezTo>
                  <a:pt x="14038" y="125016"/>
                  <a:pt x="8439" y="119416"/>
                  <a:pt x="8439" y="112514"/>
                </a:cubicBezTo>
                <a:lnTo>
                  <a:pt x="8439" y="73134"/>
                </a:lnTo>
                <a:cubicBezTo>
                  <a:pt x="11694" y="74332"/>
                  <a:pt x="15236" y="75009"/>
                  <a:pt x="18987" y="75009"/>
                </a:cubicBezTo>
                <a:cubicBezTo>
                  <a:pt x="21096" y="75009"/>
                  <a:pt x="23128" y="74801"/>
                  <a:pt x="25107" y="74384"/>
                </a:cubicBezTo>
                <a:lnTo>
                  <a:pt x="25107" y="91678"/>
                </a:lnTo>
                <a:close/>
              </a:path>
            </a:pathLst>
          </a:custGeom>
          <a:solidFill>
            <a:srgbClr val="FFFFFF"/>
          </a:solidFill>
          <a:ln/>
        </p:spPr>
      </p:sp>
      <p:sp>
        <p:nvSpPr>
          <p:cNvPr id="24" name="Text 22"/>
          <p:cNvSpPr/>
          <p:nvPr/>
        </p:nvSpPr>
        <p:spPr>
          <a:xfrm>
            <a:off x="1066800" y="3733679"/>
            <a:ext cx="2085975"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Apps distributed via </a:t>
            </a:r>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App Store</a:t>
            </a:r>
            <a:endParaRPr lang="en-US" sz="1600" dirty="0"/>
          </a:p>
        </p:txBody>
      </p:sp>
      <p:sp>
        <p:nvSpPr>
          <p:cNvPr id="25" name="Shape 23"/>
          <p:cNvSpPr/>
          <p:nvPr/>
        </p:nvSpPr>
        <p:spPr>
          <a:xfrm>
            <a:off x="384810" y="4960624"/>
            <a:ext cx="5589270" cy="1512570"/>
          </a:xfrm>
          <a:prstGeom prst="roundRect">
            <a:avLst>
              <a:gd name="adj" fmla="val 10076"/>
            </a:avLst>
          </a:prstGeom>
          <a:solidFill>
            <a:srgbClr val="0A84FF">
              <a:alpha val="10196"/>
            </a:srgbClr>
          </a:solidFill>
          <a:ln w="10160">
            <a:solidFill>
              <a:srgbClr val="0A84FF">
                <a:alpha val="30196"/>
              </a:srgbClr>
            </a:solidFill>
            <a:prstDash val="solid"/>
          </a:ln>
        </p:spPr>
      </p:sp>
      <p:sp>
        <p:nvSpPr>
          <p:cNvPr id="26" name="Shape 24"/>
          <p:cNvSpPr/>
          <p:nvPr/>
        </p:nvSpPr>
        <p:spPr>
          <a:xfrm>
            <a:off x="602932" y="5202557"/>
            <a:ext cx="171450" cy="171450"/>
          </a:xfrm>
          <a:custGeom>
            <a:avLst/>
            <a:gdLst/>
            <a:ahLst/>
            <a:cxnLst/>
            <a:rect l="l" t="t" r="r" b="b"/>
            <a:pathLst>
              <a:path w="171450" h="171450">
                <a:moveTo>
                  <a:pt x="85725" y="160734"/>
                </a:moveTo>
                <a:cubicBezTo>
                  <a:pt x="133075" y="160734"/>
                  <a:pt x="171450" y="124737"/>
                  <a:pt x="171450" y="80367"/>
                </a:cubicBezTo>
                <a:cubicBezTo>
                  <a:pt x="171450" y="35998"/>
                  <a:pt x="133075" y="0"/>
                  <a:pt x="85725" y="0"/>
                </a:cubicBezTo>
                <a:cubicBezTo>
                  <a:pt x="38375" y="0"/>
                  <a:pt x="0" y="35998"/>
                  <a:pt x="0" y="80367"/>
                </a:cubicBezTo>
                <a:cubicBezTo>
                  <a:pt x="0" y="98550"/>
                  <a:pt x="6429" y="115293"/>
                  <a:pt x="17279" y="128755"/>
                </a:cubicBezTo>
                <a:lnTo>
                  <a:pt x="938" y="159663"/>
                </a:lnTo>
                <a:cubicBezTo>
                  <a:pt x="-670" y="162677"/>
                  <a:pt x="-167" y="166360"/>
                  <a:pt x="2143" y="168872"/>
                </a:cubicBezTo>
                <a:cubicBezTo>
                  <a:pt x="4454" y="171383"/>
                  <a:pt x="8104" y="172153"/>
                  <a:pt x="11218" y="170814"/>
                </a:cubicBezTo>
                <a:lnTo>
                  <a:pt x="50866" y="153836"/>
                </a:lnTo>
                <a:cubicBezTo>
                  <a:pt x="61514" y="158256"/>
                  <a:pt x="73302" y="160734"/>
                  <a:pt x="85725" y="160734"/>
                </a:cubicBezTo>
                <a:close/>
                <a:moveTo>
                  <a:pt x="42863" y="69652"/>
                </a:moveTo>
                <a:cubicBezTo>
                  <a:pt x="48777" y="69652"/>
                  <a:pt x="53578" y="74453"/>
                  <a:pt x="53578" y="80367"/>
                </a:cubicBezTo>
                <a:cubicBezTo>
                  <a:pt x="53578" y="86281"/>
                  <a:pt x="48777" y="91083"/>
                  <a:pt x="42863" y="91083"/>
                </a:cubicBezTo>
                <a:cubicBezTo>
                  <a:pt x="36948" y="91083"/>
                  <a:pt x="32147" y="86281"/>
                  <a:pt x="32147" y="80367"/>
                </a:cubicBezTo>
                <a:cubicBezTo>
                  <a:pt x="32147" y="74453"/>
                  <a:pt x="36948" y="69652"/>
                  <a:pt x="42863" y="69652"/>
                </a:cubicBezTo>
                <a:close/>
                <a:moveTo>
                  <a:pt x="85725" y="69652"/>
                </a:moveTo>
                <a:cubicBezTo>
                  <a:pt x="91639" y="69652"/>
                  <a:pt x="96441" y="74453"/>
                  <a:pt x="96441" y="80367"/>
                </a:cubicBezTo>
                <a:cubicBezTo>
                  <a:pt x="96441" y="86281"/>
                  <a:pt x="91639" y="91083"/>
                  <a:pt x="85725" y="91083"/>
                </a:cubicBezTo>
                <a:cubicBezTo>
                  <a:pt x="79811" y="91083"/>
                  <a:pt x="75009" y="86281"/>
                  <a:pt x="75009" y="80367"/>
                </a:cubicBezTo>
                <a:cubicBezTo>
                  <a:pt x="75009" y="74453"/>
                  <a:pt x="79811" y="69652"/>
                  <a:pt x="85725" y="69652"/>
                </a:cubicBezTo>
                <a:close/>
                <a:moveTo>
                  <a:pt x="117872" y="80367"/>
                </a:moveTo>
                <a:cubicBezTo>
                  <a:pt x="117872" y="74453"/>
                  <a:pt x="122673" y="69652"/>
                  <a:pt x="128588" y="69652"/>
                </a:cubicBezTo>
                <a:cubicBezTo>
                  <a:pt x="134502" y="69652"/>
                  <a:pt x="139303" y="74453"/>
                  <a:pt x="139303" y="80367"/>
                </a:cubicBezTo>
                <a:cubicBezTo>
                  <a:pt x="139303" y="86281"/>
                  <a:pt x="134502" y="91083"/>
                  <a:pt x="128588" y="91083"/>
                </a:cubicBezTo>
                <a:cubicBezTo>
                  <a:pt x="122673" y="91083"/>
                  <a:pt x="117872" y="86281"/>
                  <a:pt x="117872" y="80367"/>
                </a:cubicBezTo>
                <a:close/>
              </a:path>
            </a:pathLst>
          </a:custGeom>
          <a:solidFill>
            <a:srgbClr val="0A84FF"/>
          </a:solidFill>
          <a:ln/>
        </p:spPr>
      </p:sp>
      <p:sp>
        <p:nvSpPr>
          <p:cNvPr id="27" name="Text 25"/>
          <p:cNvSpPr/>
          <p:nvPr/>
        </p:nvSpPr>
        <p:spPr>
          <a:xfrm>
            <a:off x="798195" y="5154932"/>
            <a:ext cx="5067300" cy="266700"/>
          </a:xfrm>
          <a:prstGeom prst="rect">
            <a:avLst/>
          </a:prstGeom>
          <a:noFill/>
          <a:ln/>
        </p:spPr>
        <p:txBody>
          <a:bodyPr wrap="square" lIns="0" tIns="0" rIns="0" bIns="0" rtlCol="0" anchor="ctr"/>
          <a:lstStyle/>
          <a:p>
            <a:pPr>
              <a:lnSpc>
                <a:spcPct val="130000"/>
              </a:lnSpc>
            </a:pPr>
            <a:r>
              <a:rPr lang="en-US" sz="1350"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28" name="Text 26"/>
          <p:cNvSpPr/>
          <p:nvPr/>
        </p:nvSpPr>
        <p:spPr>
          <a:xfrm>
            <a:off x="579120" y="5535932"/>
            <a:ext cx="5276850" cy="742950"/>
          </a:xfrm>
          <a:prstGeom prst="rect">
            <a:avLst/>
          </a:prstGeom>
          <a:noFill/>
          <a:ln/>
        </p:spPr>
        <p:txBody>
          <a:bodyPr wrap="square" lIns="0" tIns="0" rIns="0" bIns="0" rtlCol="0" anchor="ctr"/>
          <a:lstStyle/>
          <a:p>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iOS is like </a:t>
            </a:r>
            <a:pPr>
              <a:lnSpc>
                <a:spcPct val="140000"/>
              </a:lnSpc>
            </a:pPr>
            <a:r>
              <a:rPr lang="en-US" sz="1200" b="1" dirty="0">
                <a:solidFill>
                  <a:srgbClr val="0A84FF"/>
                </a:solidFill>
                <a:latin typeface="Quattrocento Sans" pitchFamily="34" charset="0"/>
                <a:ea typeface="Quattrocento Sans" pitchFamily="34" charset="-122"/>
                <a:cs typeface="Quattrocento Sans" pitchFamily="34" charset="-120"/>
              </a:rPr>
              <a:t>an exclusive club</a:t>
            </a:r>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 – only Apple members can enter. This control means everything works smoothly together, but you have less freedom to customize.</a:t>
            </a:r>
            <a:endParaRPr lang="en-US" sz="1600" dirty="0"/>
          </a:p>
        </p:txBody>
      </p:sp>
      <p:sp>
        <p:nvSpPr>
          <p:cNvPr id="29" name="Shape 27"/>
          <p:cNvSpPr/>
          <p:nvPr/>
        </p:nvSpPr>
        <p:spPr>
          <a:xfrm>
            <a:off x="6210300" y="1257300"/>
            <a:ext cx="5600700" cy="3962400"/>
          </a:xfrm>
          <a:prstGeom prst="roundRect">
            <a:avLst>
              <a:gd name="adj" fmla="val 3846"/>
            </a:avLst>
          </a:prstGeom>
          <a:solidFill>
            <a:srgbClr val="2C2C2E"/>
          </a:solidFill>
          <a:ln/>
        </p:spPr>
      </p:sp>
      <p:sp>
        <p:nvSpPr>
          <p:cNvPr id="30" name="Shape 28"/>
          <p:cNvSpPr/>
          <p:nvPr/>
        </p:nvSpPr>
        <p:spPr>
          <a:xfrm>
            <a:off x="6453188" y="1523879"/>
            <a:ext cx="257175" cy="228600"/>
          </a:xfrm>
          <a:custGeom>
            <a:avLst/>
            <a:gdLst/>
            <a:ahLst/>
            <a:cxnLst/>
            <a:rect l="l" t="t" r="r" b="b"/>
            <a:pathLst>
              <a:path w="257175" h="228600">
                <a:moveTo>
                  <a:pt x="138187" y="-8439"/>
                </a:moveTo>
                <a:cubicBezTo>
                  <a:pt x="136356" y="-12010"/>
                  <a:pt x="132651" y="-14287"/>
                  <a:pt x="128632" y="-14287"/>
                </a:cubicBezTo>
                <a:cubicBezTo>
                  <a:pt x="124614" y="-14287"/>
                  <a:pt x="120908" y="-12010"/>
                  <a:pt x="119077" y="-8439"/>
                </a:cubicBezTo>
                <a:lnTo>
                  <a:pt x="86216" y="55944"/>
                </a:lnTo>
                <a:lnTo>
                  <a:pt x="14823" y="67285"/>
                </a:lnTo>
                <a:cubicBezTo>
                  <a:pt x="10850" y="67910"/>
                  <a:pt x="7546" y="70723"/>
                  <a:pt x="6295" y="74563"/>
                </a:cubicBezTo>
                <a:cubicBezTo>
                  <a:pt x="5045" y="78403"/>
                  <a:pt x="6072" y="82600"/>
                  <a:pt x="8885" y="85457"/>
                </a:cubicBezTo>
                <a:lnTo>
                  <a:pt x="59963" y="136580"/>
                </a:lnTo>
                <a:lnTo>
                  <a:pt x="48711" y="207972"/>
                </a:lnTo>
                <a:cubicBezTo>
                  <a:pt x="48086" y="211946"/>
                  <a:pt x="49738" y="215964"/>
                  <a:pt x="52998" y="218331"/>
                </a:cubicBezTo>
                <a:cubicBezTo>
                  <a:pt x="56257" y="220697"/>
                  <a:pt x="60543" y="221054"/>
                  <a:pt x="64160" y="219224"/>
                </a:cubicBezTo>
                <a:lnTo>
                  <a:pt x="128632" y="186452"/>
                </a:lnTo>
                <a:lnTo>
                  <a:pt x="193060" y="219224"/>
                </a:lnTo>
                <a:cubicBezTo>
                  <a:pt x="196632" y="221054"/>
                  <a:pt x="200963" y="220697"/>
                  <a:pt x="204222" y="218331"/>
                </a:cubicBezTo>
                <a:cubicBezTo>
                  <a:pt x="207481" y="215964"/>
                  <a:pt x="209133" y="211991"/>
                  <a:pt x="208508" y="207972"/>
                </a:cubicBezTo>
                <a:lnTo>
                  <a:pt x="197212" y="136580"/>
                </a:lnTo>
                <a:lnTo>
                  <a:pt x="248290" y="85457"/>
                </a:lnTo>
                <a:cubicBezTo>
                  <a:pt x="251147" y="82600"/>
                  <a:pt x="252130" y="78403"/>
                  <a:pt x="250880" y="74563"/>
                </a:cubicBezTo>
                <a:cubicBezTo>
                  <a:pt x="249629" y="70723"/>
                  <a:pt x="246370" y="67910"/>
                  <a:pt x="242352" y="67285"/>
                </a:cubicBezTo>
                <a:lnTo>
                  <a:pt x="171004" y="55944"/>
                </a:lnTo>
                <a:lnTo>
                  <a:pt x="138187" y="-8439"/>
                </a:lnTo>
                <a:close/>
              </a:path>
            </a:pathLst>
          </a:custGeom>
          <a:solidFill>
            <a:srgbClr val="0A84FF"/>
          </a:solidFill>
          <a:ln/>
        </p:spPr>
      </p:sp>
      <p:sp>
        <p:nvSpPr>
          <p:cNvPr id="31" name="Text 29"/>
          <p:cNvSpPr/>
          <p:nvPr/>
        </p:nvSpPr>
        <p:spPr>
          <a:xfrm>
            <a:off x="6724650" y="1485900"/>
            <a:ext cx="4972050" cy="304800"/>
          </a:xfrm>
          <a:prstGeom prst="rect">
            <a:avLst/>
          </a:prstGeom>
          <a:noFill/>
          <a:ln/>
        </p:spPr>
        <p:txBody>
          <a:bodyPr wrap="square" lIns="0" tIns="0" rIns="0" bIns="0" rtlCol="0" anchor="ctr"/>
          <a:lstStyle/>
          <a:p>
            <a:pPr>
              <a:lnSpc>
                <a:spcPct val="110000"/>
              </a:lnSpc>
            </a:pPr>
            <a:r>
              <a:rPr lang="en-US" sz="1800" b="1" dirty="0">
                <a:solidFill>
                  <a:srgbClr val="0A84FF"/>
                </a:solidFill>
                <a:latin typeface="Liter" pitchFamily="34" charset="0"/>
                <a:ea typeface="Liter" pitchFamily="34" charset="-122"/>
                <a:cs typeface="Liter" pitchFamily="34" charset="-120"/>
              </a:rPr>
              <a:t>iOS Strengths</a:t>
            </a:r>
            <a:endParaRPr lang="en-US" sz="1600" dirty="0"/>
          </a:p>
        </p:txBody>
      </p:sp>
      <p:sp>
        <p:nvSpPr>
          <p:cNvPr id="32" name="Shape 30"/>
          <p:cNvSpPr/>
          <p:nvPr/>
        </p:nvSpPr>
        <p:spPr>
          <a:xfrm>
            <a:off x="6438900" y="1987395"/>
            <a:ext cx="5143500" cy="990600"/>
          </a:xfrm>
          <a:prstGeom prst="roundRect">
            <a:avLst>
              <a:gd name="adj" fmla="val 11538"/>
            </a:avLst>
          </a:prstGeom>
          <a:solidFill>
            <a:srgbClr val="1A1D21"/>
          </a:solidFill>
          <a:ln/>
        </p:spPr>
      </p:sp>
      <p:sp>
        <p:nvSpPr>
          <p:cNvPr id="33" name="Shape 31"/>
          <p:cNvSpPr/>
          <p:nvPr/>
        </p:nvSpPr>
        <p:spPr>
          <a:xfrm>
            <a:off x="6591300" y="2139795"/>
            <a:ext cx="381000" cy="381000"/>
          </a:xfrm>
          <a:prstGeom prst="roundRect">
            <a:avLst>
              <a:gd name="adj" fmla="val 20000"/>
            </a:avLst>
          </a:prstGeom>
          <a:solidFill>
            <a:srgbClr val="0A84FF"/>
          </a:solidFill>
          <a:ln/>
        </p:spPr>
      </p:sp>
      <p:sp>
        <p:nvSpPr>
          <p:cNvPr id="34" name="Shape 32"/>
          <p:cNvSpPr/>
          <p:nvPr/>
        </p:nvSpPr>
        <p:spPr>
          <a:xfrm>
            <a:off x="6705600" y="2254095"/>
            <a:ext cx="152400" cy="152400"/>
          </a:xfrm>
          <a:custGeom>
            <a:avLst/>
            <a:gdLst/>
            <a:ahLst/>
            <a:cxnLst/>
            <a:rect l="l" t="t" r="r" b="b"/>
            <a:pathLst>
              <a:path w="152400" h="152400">
                <a:moveTo>
                  <a:pt x="76200" y="0"/>
                </a:moveTo>
                <a:cubicBezTo>
                  <a:pt x="77569" y="0"/>
                  <a:pt x="78938" y="298"/>
                  <a:pt x="80189" y="863"/>
                </a:cubicBezTo>
                <a:lnTo>
                  <a:pt x="136267" y="24646"/>
                </a:lnTo>
                <a:cubicBezTo>
                  <a:pt x="142815" y="27414"/>
                  <a:pt x="147697" y="33873"/>
                  <a:pt x="147667" y="41672"/>
                </a:cubicBezTo>
                <a:cubicBezTo>
                  <a:pt x="147518" y="71199"/>
                  <a:pt x="135374" y="125224"/>
                  <a:pt x="84088" y="149781"/>
                </a:cubicBezTo>
                <a:cubicBezTo>
                  <a:pt x="79117" y="152162"/>
                  <a:pt x="73343" y="152162"/>
                  <a:pt x="68372" y="149781"/>
                </a:cubicBezTo>
                <a:cubicBezTo>
                  <a:pt x="17056" y="125224"/>
                  <a:pt x="4941" y="71199"/>
                  <a:pt x="4792" y="41672"/>
                </a:cubicBezTo>
                <a:cubicBezTo>
                  <a:pt x="4762" y="33873"/>
                  <a:pt x="9644" y="27414"/>
                  <a:pt x="16192" y="24646"/>
                </a:cubicBezTo>
                <a:lnTo>
                  <a:pt x="72241" y="863"/>
                </a:lnTo>
                <a:cubicBezTo>
                  <a:pt x="73491" y="298"/>
                  <a:pt x="74831" y="0"/>
                  <a:pt x="76200" y="0"/>
                </a:cubicBezTo>
                <a:close/>
                <a:moveTo>
                  <a:pt x="76200" y="19883"/>
                </a:moveTo>
                <a:lnTo>
                  <a:pt x="76200" y="132427"/>
                </a:lnTo>
                <a:cubicBezTo>
                  <a:pt x="117277" y="112544"/>
                  <a:pt x="128320" y="68491"/>
                  <a:pt x="128588" y="42118"/>
                </a:cubicBezTo>
                <a:lnTo>
                  <a:pt x="76200" y="19913"/>
                </a:lnTo>
                <a:lnTo>
                  <a:pt x="76200" y="19913"/>
                </a:lnTo>
                <a:close/>
              </a:path>
            </a:pathLst>
          </a:custGeom>
          <a:solidFill>
            <a:srgbClr val="FFFFFF"/>
          </a:solidFill>
          <a:ln/>
        </p:spPr>
      </p:sp>
      <p:sp>
        <p:nvSpPr>
          <p:cNvPr id="35" name="Text 33"/>
          <p:cNvSpPr/>
          <p:nvPr/>
        </p:nvSpPr>
        <p:spPr>
          <a:xfrm>
            <a:off x="7086600" y="2196945"/>
            <a:ext cx="1209675" cy="266700"/>
          </a:xfrm>
          <a:prstGeom prst="rect">
            <a:avLst/>
          </a:prstGeom>
          <a:noFill/>
          <a:ln/>
        </p:spPr>
        <p:txBody>
          <a:bodyPr wrap="square" lIns="0" tIns="0" rIns="0" bIns="0" rtlCol="0" anchor="ctr"/>
          <a:lstStyle/>
          <a:p>
            <a:pPr>
              <a:lnSpc>
                <a:spcPct val="130000"/>
              </a:lnSpc>
            </a:pPr>
            <a:r>
              <a:rPr lang="en-US" sz="1350" b="1" dirty="0">
                <a:solidFill>
                  <a:srgbClr val="0A84FF"/>
                </a:solidFill>
                <a:latin typeface="Liter" pitchFamily="34" charset="0"/>
                <a:ea typeface="Liter" pitchFamily="34" charset="-122"/>
                <a:cs typeface="Liter" pitchFamily="34" charset="-120"/>
              </a:rPr>
              <a:t>Better Security</a:t>
            </a:r>
            <a:endParaRPr lang="en-US" sz="1600" dirty="0"/>
          </a:p>
        </p:txBody>
      </p:sp>
      <p:sp>
        <p:nvSpPr>
          <p:cNvPr id="36" name="Text 34"/>
          <p:cNvSpPr/>
          <p:nvPr/>
        </p:nvSpPr>
        <p:spPr>
          <a:xfrm>
            <a:off x="6591300" y="2596995"/>
            <a:ext cx="49149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Strict app review process keeps malware out. Users trust iOS apps more.</a:t>
            </a:r>
            <a:endParaRPr lang="en-US" sz="1600" dirty="0"/>
          </a:p>
        </p:txBody>
      </p:sp>
      <p:sp>
        <p:nvSpPr>
          <p:cNvPr id="37" name="Shape 35"/>
          <p:cNvSpPr/>
          <p:nvPr/>
        </p:nvSpPr>
        <p:spPr>
          <a:xfrm>
            <a:off x="6438900" y="2990729"/>
            <a:ext cx="5143500" cy="990600"/>
          </a:xfrm>
          <a:prstGeom prst="roundRect">
            <a:avLst>
              <a:gd name="adj" fmla="val 11538"/>
            </a:avLst>
          </a:prstGeom>
          <a:solidFill>
            <a:srgbClr val="1A1D21"/>
          </a:solidFill>
          <a:ln/>
        </p:spPr>
      </p:sp>
      <p:sp>
        <p:nvSpPr>
          <p:cNvPr id="38" name="Shape 36"/>
          <p:cNvSpPr/>
          <p:nvPr/>
        </p:nvSpPr>
        <p:spPr>
          <a:xfrm>
            <a:off x="6591300" y="3143129"/>
            <a:ext cx="381000" cy="381000"/>
          </a:xfrm>
          <a:prstGeom prst="roundRect">
            <a:avLst>
              <a:gd name="adj" fmla="val 20000"/>
            </a:avLst>
          </a:prstGeom>
          <a:solidFill>
            <a:srgbClr val="34C759"/>
          </a:solidFill>
          <a:ln/>
        </p:spPr>
      </p:sp>
      <p:sp>
        <p:nvSpPr>
          <p:cNvPr id="39" name="Shape 37"/>
          <p:cNvSpPr/>
          <p:nvPr/>
        </p:nvSpPr>
        <p:spPr>
          <a:xfrm>
            <a:off x="6734175" y="3257429"/>
            <a:ext cx="95250" cy="152400"/>
          </a:xfrm>
          <a:custGeom>
            <a:avLst/>
            <a:gdLst/>
            <a:ahLst/>
            <a:cxnLst/>
            <a:rect l="l" t="t" r="r" b="b"/>
            <a:pathLst>
              <a:path w="95250" h="152400">
                <a:moveTo>
                  <a:pt x="40481" y="7144"/>
                </a:moveTo>
                <a:cubicBezTo>
                  <a:pt x="40481" y="3185"/>
                  <a:pt x="43666" y="0"/>
                  <a:pt x="47625" y="0"/>
                </a:cubicBezTo>
                <a:cubicBezTo>
                  <a:pt x="51584" y="0"/>
                  <a:pt x="54769" y="3185"/>
                  <a:pt x="54769" y="7144"/>
                </a:cubicBezTo>
                <a:lnTo>
                  <a:pt x="54769" y="19050"/>
                </a:lnTo>
                <a:lnTo>
                  <a:pt x="71438" y="19050"/>
                </a:lnTo>
                <a:cubicBezTo>
                  <a:pt x="76706" y="19050"/>
                  <a:pt x="80962" y="23306"/>
                  <a:pt x="80962" y="28575"/>
                </a:cubicBezTo>
                <a:cubicBezTo>
                  <a:pt x="80962" y="33844"/>
                  <a:pt x="76706" y="38100"/>
                  <a:pt x="71438" y="38100"/>
                </a:cubicBezTo>
                <a:lnTo>
                  <a:pt x="37237" y="38100"/>
                </a:lnTo>
                <a:cubicBezTo>
                  <a:pt x="29825" y="38100"/>
                  <a:pt x="23813" y="44113"/>
                  <a:pt x="23813" y="51524"/>
                </a:cubicBezTo>
                <a:cubicBezTo>
                  <a:pt x="23813" y="58222"/>
                  <a:pt x="28724" y="63877"/>
                  <a:pt x="35332" y="64830"/>
                </a:cubicBezTo>
                <a:lnTo>
                  <a:pt x="62597" y="68729"/>
                </a:lnTo>
                <a:cubicBezTo>
                  <a:pt x="78611" y="71021"/>
                  <a:pt x="90488" y="84713"/>
                  <a:pt x="90488" y="100876"/>
                </a:cubicBezTo>
                <a:cubicBezTo>
                  <a:pt x="90488" y="118824"/>
                  <a:pt x="75932" y="133350"/>
                  <a:pt x="58013" y="133350"/>
                </a:cubicBezTo>
                <a:lnTo>
                  <a:pt x="54769" y="133350"/>
                </a:lnTo>
                <a:lnTo>
                  <a:pt x="54769" y="145256"/>
                </a:lnTo>
                <a:cubicBezTo>
                  <a:pt x="54769" y="149215"/>
                  <a:pt x="51584" y="152400"/>
                  <a:pt x="47625" y="152400"/>
                </a:cubicBezTo>
                <a:cubicBezTo>
                  <a:pt x="43666" y="152400"/>
                  <a:pt x="40481" y="149215"/>
                  <a:pt x="40481" y="145256"/>
                </a:cubicBezTo>
                <a:lnTo>
                  <a:pt x="40481" y="133350"/>
                </a:lnTo>
                <a:lnTo>
                  <a:pt x="19050" y="133350"/>
                </a:lnTo>
                <a:cubicBezTo>
                  <a:pt x="13781" y="133350"/>
                  <a:pt x="9525" y="129094"/>
                  <a:pt x="9525" y="123825"/>
                </a:cubicBezTo>
                <a:cubicBezTo>
                  <a:pt x="9525" y="118556"/>
                  <a:pt x="13781" y="114300"/>
                  <a:pt x="19050" y="114300"/>
                </a:cubicBezTo>
                <a:lnTo>
                  <a:pt x="58013" y="114300"/>
                </a:lnTo>
                <a:cubicBezTo>
                  <a:pt x="65425" y="114300"/>
                  <a:pt x="71438" y="108287"/>
                  <a:pt x="71438" y="100876"/>
                </a:cubicBezTo>
                <a:cubicBezTo>
                  <a:pt x="71438" y="94178"/>
                  <a:pt x="66526" y="88523"/>
                  <a:pt x="59918" y="87570"/>
                </a:cubicBezTo>
                <a:lnTo>
                  <a:pt x="32653" y="83671"/>
                </a:lnTo>
                <a:cubicBezTo>
                  <a:pt x="16639" y="81409"/>
                  <a:pt x="4763" y="67687"/>
                  <a:pt x="4763" y="51524"/>
                </a:cubicBezTo>
                <a:cubicBezTo>
                  <a:pt x="4763" y="33605"/>
                  <a:pt x="19318" y="19050"/>
                  <a:pt x="37237" y="19050"/>
                </a:cubicBezTo>
                <a:lnTo>
                  <a:pt x="40481" y="19050"/>
                </a:lnTo>
                <a:lnTo>
                  <a:pt x="40481" y="7144"/>
                </a:lnTo>
                <a:close/>
              </a:path>
            </a:pathLst>
          </a:custGeom>
          <a:solidFill>
            <a:srgbClr val="1D1D1F"/>
          </a:solidFill>
          <a:ln/>
        </p:spPr>
      </p:sp>
      <p:sp>
        <p:nvSpPr>
          <p:cNvPr id="40" name="Text 38"/>
          <p:cNvSpPr/>
          <p:nvPr/>
        </p:nvSpPr>
        <p:spPr>
          <a:xfrm>
            <a:off x="7086600" y="3200279"/>
            <a:ext cx="1285875" cy="266700"/>
          </a:xfrm>
          <a:prstGeom prst="rect">
            <a:avLst/>
          </a:prstGeom>
          <a:noFill/>
          <a:ln/>
        </p:spPr>
        <p:txBody>
          <a:bodyPr wrap="square" lIns="0" tIns="0" rIns="0" bIns="0" rtlCol="0" anchor="ctr"/>
          <a:lstStyle/>
          <a:p>
            <a:pPr>
              <a:lnSpc>
                <a:spcPct val="130000"/>
              </a:lnSpc>
            </a:pPr>
            <a:r>
              <a:rPr lang="en-US" sz="1350" b="1" dirty="0">
                <a:solidFill>
                  <a:srgbClr val="34C759"/>
                </a:solidFill>
                <a:latin typeface="Liter" pitchFamily="34" charset="0"/>
                <a:ea typeface="Liter" pitchFamily="34" charset="-122"/>
                <a:cs typeface="Liter" pitchFamily="34" charset="-120"/>
              </a:rPr>
              <a:t>Higher Revenue</a:t>
            </a:r>
            <a:endParaRPr lang="en-US" sz="1600" dirty="0"/>
          </a:p>
        </p:txBody>
      </p:sp>
      <p:sp>
        <p:nvSpPr>
          <p:cNvPr id="41" name="Text 39"/>
          <p:cNvSpPr/>
          <p:nvPr/>
        </p:nvSpPr>
        <p:spPr>
          <a:xfrm>
            <a:off x="6591300" y="3600329"/>
            <a:ext cx="49149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iOS users spend 2.5x more on apps than Android users</a:t>
            </a:r>
            <a:endParaRPr lang="en-US" sz="1600" dirty="0"/>
          </a:p>
        </p:txBody>
      </p:sp>
      <p:sp>
        <p:nvSpPr>
          <p:cNvPr id="42" name="Shape 40"/>
          <p:cNvSpPr/>
          <p:nvPr/>
        </p:nvSpPr>
        <p:spPr>
          <a:xfrm>
            <a:off x="6438900" y="3994072"/>
            <a:ext cx="5143500" cy="990600"/>
          </a:xfrm>
          <a:prstGeom prst="roundRect">
            <a:avLst>
              <a:gd name="adj" fmla="val 11538"/>
            </a:avLst>
          </a:prstGeom>
          <a:solidFill>
            <a:srgbClr val="1A1D21"/>
          </a:solidFill>
          <a:ln/>
        </p:spPr>
      </p:sp>
      <p:sp>
        <p:nvSpPr>
          <p:cNvPr id="43" name="Shape 41"/>
          <p:cNvSpPr/>
          <p:nvPr/>
        </p:nvSpPr>
        <p:spPr>
          <a:xfrm>
            <a:off x="6591300" y="4146472"/>
            <a:ext cx="381000" cy="381000"/>
          </a:xfrm>
          <a:prstGeom prst="roundRect">
            <a:avLst>
              <a:gd name="adj" fmla="val 20000"/>
            </a:avLst>
          </a:prstGeom>
          <a:solidFill>
            <a:srgbClr val="8E8E93"/>
          </a:solidFill>
          <a:ln/>
        </p:spPr>
      </p:sp>
      <p:sp>
        <p:nvSpPr>
          <p:cNvPr id="44" name="Shape 42"/>
          <p:cNvSpPr/>
          <p:nvPr/>
        </p:nvSpPr>
        <p:spPr>
          <a:xfrm>
            <a:off x="6705600" y="4260772"/>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232" y="95816"/>
                </a:moveTo>
                <a:cubicBezTo>
                  <a:pt x="55305" y="104150"/>
                  <a:pt x="65127" y="109537"/>
                  <a:pt x="76200" y="109537"/>
                </a:cubicBezTo>
                <a:cubicBezTo>
                  <a:pt x="87273" y="109537"/>
                  <a:pt x="97095" y="104150"/>
                  <a:pt x="103168" y="95816"/>
                </a:cubicBezTo>
                <a:cubicBezTo>
                  <a:pt x="105489" y="92631"/>
                  <a:pt x="109954" y="91916"/>
                  <a:pt x="113139" y="94238"/>
                </a:cubicBezTo>
                <a:cubicBezTo>
                  <a:pt x="116324" y="96560"/>
                  <a:pt x="117038" y="101025"/>
                  <a:pt x="114717" y="104209"/>
                </a:cubicBezTo>
                <a:cubicBezTo>
                  <a:pt x="106055" y="116086"/>
                  <a:pt x="92035" y="123825"/>
                  <a:pt x="76200" y="123825"/>
                </a:cubicBezTo>
                <a:cubicBezTo>
                  <a:pt x="60365" y="123825"/>
                  <a:pt x="46345" y="116086"/>
                  <a:pt x="37683" y="104209"/>
                </a:cubicBezTo>
                <a:cubicBezTo>
                  <a:pt x="35362" y="101025"/>
                  <a:pt x="36076" y="96560"/>
                  <a:pt x="39261" y="94238"/>
                </a:cubicBezTo>
                <a:cubicBezTo>
                  <a:pt x="42446" y="91916"/>
                  <a:pt x="46911" y="92631"/>
                  <a:pt x="49232" y="95816"/>
                </a:cubicBezTo>
                <a:close/>
                <a:moveTo>
                  <a:pt x="42863" y="61912"/>
                </a:moveTo>
                <a:cubicBezTo>
                  <a:pt x="42863" y="56656"/>
                  <a:pt x="47131" y="52388"/>
                  <a:pt x="52388" y="52388"/>
                </a:cubicBezTo>
                <a:cubicBezTo>
                  <a:pt x="57644" y="52388"/>
                  <a:pt x="61912" y="56656"/>
                  <a:pt x="61912" y="61912"/>
                </a:cubicBezTo>
                <a:cubicBezTo>
                  <a:pt x="61912" y="67169"/>
                  <a:pt x="57644" y="71438"/>
                  <a:pt x="52388" y="71438"/>
                </a:cubicBezTo>
                <a:cubicBezTo>
                  <a:pt x="47131" y="71438"/>
                  <a:pt x="42863" y="67169"/>
                  <a:pt x="42863" y="61912"/>
                </a:cubicBezTo>
                <a:close/>
                <a:moveTo>
                  <a:pt x="100013" y="52388"/>
                </a:moveTo>
                <a:cubicBezTo>
                  <a:pt x="105269" y="52388"/>
                  <a:pt x="109537" y="56656"/>
                  <a:pt x="109537" y="61912"/>
                </a:cubicBezTo>
                <a:cubicBezTo>
                  <a:pt x="109537" y="67169"/>
                  <a:pt x="105269" y="71438"/>
                  <a:pt x="100013" y="71438"/>
                </a:cubicBezTo>
                <a:cubicBezTo>
                  <a:pt x="94756" y="71438"/>
                  <a:pt x="90488" y="67169"/>
                  <a:pt x="90488" y="61912"/>
                </a:cubicBezTo>
                <a:cubicBezTo>
                  <a:pt x="90488" y="56656"/>
                  <a:pt x="94756" y="52388"/>
                  <a:pt x="100013" y="52388"/>
                </a:cubicBezTo>
                <a:close/>
              </a:path>
            </a:pathLst>
          </a:custGeom>
          <a:solidFill>
            <a:srgbClr val="FFFFFF"/>
          </a:solidFill>
          <a:ln/>
        </p:spPr>
      </p:sp>
      <p:sp>
        <p:nvSpPr>
          <p:cNvPr id="45" name="Text 43"/>
          <p:cNvSpPr/>
          <p:nvPr/>
        </p:nvSpPr>
        <p:spPr>
          <a:xfrm>
            <a:off x="7086600" y="4203622"/>
            <a:ext cx="1323975" cy="266700"/>
          </a:xfrm>
          <a:prstGeom prst="rect">
            <a:avLst/>
          </a:prstGeom>
          <a:noFill/>
          <a:ln/>
        </p:spPr>
        <p:txBody>
          <a:bodyPr wrap="square" lIns="0" tIns="0" rIns="0" bIns="0" rtlCol="0" anchor="ctr"/>
          <a:lstStyle/>
          <a:p>
            <a:pPr>
              <a:lnSpc>
                <a:spcPct val="130000"/>
              </a:lnSpc>
            </a:pPr>
            <a:r>
              <a:rPr lang="en-US" sz="1350" b="1" dirty="0">
                <a:solidFill>
                  <a:srgbClr val="8E8E93"/>
                </a:solidFill>
                <a:latin typeface="Liter" pitchFamily="34" charset="0"/>
                <a:ea typeface="Liter" pitchFamily="34" charset="-122"/>
                <a:cs typeface="Liter" pitchFamily="34" charset="-120"/>
              </a:rPr>
              <a:t>User Experience</a:t>
            </a:r>
            <a:endParaRPr lang="en-US" sz="1600" dirty="0"/>
          </a:p>
        </p:txBody>
      </p:sp>
      <p:sp>
        <p:nvSpPr>
          <p:cNvPr id="46" name="Text 44"/>
          <p:cNvSpPr/>
          <p:nvPr/>
        </p:nvSpPr>
        <p:spPr>
          <a:xfrm>
            <a:off x="6591300" y="4603672"/>
            <a:ext cx="49149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Consistent design and smooth performance across all devices</a:t>
            </a:r>
            <a:endParaRPr lang="en-US" sz="1600" dirty="0"/>
          </a:p>
        </p:txBody>
      </p:sp>
      <p:sp>
        <p:nvSpPr>
          <p:cNvPr id="47" name="Shape 45"/>
          <p:cNvSpPr/>
          <p:nvPr/>
        </p:nvSpPr>
        <p:spPr>
          <a:xfrm>
            <a:off x="6210300" y="5372100"/>
            <a:ext cx="5600700" cy="1104900"/>
          </a:xfrm>
          <a:prstGeom prst="roundRect">
            <a:avLst>
              <a:gd name="adj" fmla="val 13793"/>
            </a:avLst>
          </a:prstGeom>
          <a:solidFill>
            <a:srgbClr val="2C2C2E"/>
          </a:solidFill>
          <a:ln/>
        </p:spPr>
      </p:sp>
      <p:sp>
        <p:nvSpPr>
          <p:cNvPr id="48" name="Shape 46"/>
          <p:cNvSpPr/>
          <p:nvPr/>
        </p:nvSpPr>
        <p:spPr>
          <a:xfrm>
            <a:off x="6391275" y="5562600"/>
            <a:ext cx="133350" cy="152400"/>
          </a:xfrm>
          <a:custGeom>
            <a:avLst/>
            <a:gdLst/>
            <a:ahLst/>
            <a:cxnLst/>
            <a:rect l="l" t="t" r="r" b="b"/>
            <a:pathLst>
              <a:path w="133350" h="152400">
                <a:moveTo>
                  <a:pt x="19050" y="9525"/>
                </a:moveTo>
                <a:cubicBezTo>
                  <a:pt x="8543" y="9525"/>
                  <a:pt x="0" y="18068"/>
                  <a:pt x="0" y="28575"/>
                </a:cubicBezTo>
                <a:lnTo>
                  <a:pt x="0" y="123825"/>
                </a:lnTo>
                <a:cubicBezTo>
                  <a:pt x="0" y="134332"/>
                  <a:pt x="8543" y="142875"/>
                  <a:pt x="19050" y="142875"/>
                </a:cubicBezTo>
                <a:lnTo>
                  <a:pt x="114300" y="142875"/>
                </a:lnTo>
                <a:cubicBezTo>
                  <a:pt x="124807" y="142875"/>
                  <a:pt x="133350" y="134332"/>
                  <a:pt x="133350" y="123825"/>
                </a:cubicBezTo>
                <a:lnTo>
                  <a:pt x="133350" y="28575"/>
                </a:lnTo>
                <a:cubicBezTo>
                  <a:pt x="133350" y="18068"/>
                  <a:pt x="124807" y="9525"/>
                  <a:pt x="114300" y="9525"/>
                </a:cubicBezTo>
                <a:lnTo>
                  <a:pt x="19050" y="9525"/>
                </a:lnTo>
                <a:close/>
                <a:moveTo>
                  <a:pt x="38100" y="33338"/>
                </a:moveTo>
                <a:cubicBezTo>
                  <a:pt x="45985" y="33338"/>
                  <a:pt x="52388" y="39740"/>
                  <a:pt x="52388" y="47625"/>
                </a:cubicBezTo>
                <a:cubicBezTo>
                  <a:pt x="52388" y="55510"/>
                  <a:pt x="45985" y="61912"/>
                  <a:pt x="38100" y="61912"/>
                </a:cubicBezTo>
                <a:cubicBezTo>
                  <a:pt x="30215" y="61912"/>
                  <a:pt x="23813" y="55510"/>
                  <a:pt x="23813" y="47625"/>
                </a:cubicBezTo>
                <a:cubicBezTo>
                  <a:pt x="23813" y="39740"/>
                  <a:pt x="30215" y="33338"/>
                  <a:pt x="38100" y="33338"/>
                </a:cubicBezTo>
                <a:close/>
                <a:moveTo>
                  <a:pt x="80962" y="66675"/>
                </a:moveTo>
                <a:cubicBezTo>
                  <a:pt x="83463" y="66675"/>
                  <a:pt x="85755" y="67985"/>
                  <a:pt x="87064" y="70098"/>
                </a:cubicBezTo>
                <a:lnTo>
                  <a:pt x="113258" y="112961"/>
                </a:lnTo>
                <a:cubicBezTo>
                  <a:pt x="114598" y="115163"/>
                  <a:pt x="114657" y="117931"/>
                  <a:pt x="113407" y="120194"/>
                </a:cubicBezTo>
                <a:cubicBezTo>
                  <a:pt x="112157" y="122456"/>
                  <a:pt x="109746" y="123825"/>
                  <a:pt x="107156" y="123825"/>
                </a:cubicBezTo>
                <a:lnTo>
                  <a:pt x="26194" y="123825"/>
                </a:lnTo>
                <a:cubicBezTo>
                  <a:pt x="23545" y="123825"/>
                  <a:pt x="21074" y="122337"/>
                  <a:pt x="19854" y="119985"/>
                </a:cubicBezTo>
                <a:cubicBezTo>
                  <a:pt x="18633" y="117634"/>
                  <a:pt x="18812" y="114776"/>
                  <a:pt x="20330" y="112603"/>
                </a:cubicBezTo>
                <a:lnTo>
                  <a:pt x="36999" y="88791"/>
                </a:lnTo>
                <a:cubicBezTo>
                  <a:pt x="38338" y="86886"/>
                  <a:pt x="40511" y="85755"/>
                  <a:pt x="42863" y="85755"/>
                </a:cubicBezTo>
                <a:cubicBezTo>
                  <a:pt x="45214" y="85755"/>
                  <a:pt x="47387" y="86886"/>
                  <a:pt x="48726" y="88791"/>
                </a:cubicBezTo>
                <a:lnTo>
                  <a:pt x="56584" y="100042"/>
                </a:lnTo>
                <a:lnTo>
                  <a:pt x="74861" y="70128"/>
                </a:lnTo>
                <a:cubicBezTo>
                  <a:pt x="76170" y="68014"/>
                  <a:pt x="78462" y="66705"/>
                  <a:pt x="80962" y="66705"/>
                </a:cubicBezTo>
                <a:close/>
              </a:path>
            </a:pathLst>
          </a:custGeom>
          <a:solidFill>
            <a:srgbClr val="8E8E93"/>
          </a:solidFill>
          <a:ln/>
        </p:spPr>
      </p:sp>
      <p:sp>
        <p:nvSpPr>
          <p:cNvPr id="49" name="Text 47"/>
          <p:cNvSpPr/>
          <p:nvPr/>
        </p:nvSpPr>
        <p:spPr>
          <a:xfrm>
            <a:off x="6553200" y="5524500"/>
            <a:ext cx="5181600" cy="228600"/>
          </a:xfrm>
          <a:prstGeom prst="rect">
            <a:avLst/>
          </a:prstGeom>
          <a:noFill/>
          <a:ln/>
        </p:spPr>
        <p:txBody>
          <a:bodyPr wrap="square" lIns="0" tIns="0" rIns="0" bIns="0" rtlCol="0" anchor="ctr"/>
          <a:lstStyle/>
          <a:p>
            <a:pPr>
              <a:lnSpc>
                <a:spcPct val="130000"/>
              </a:lnSpc>
            </a:pPr>
            <a:r>
              <a:rPr lang="en-US" sz="1200" b="1" dirty="0">
                <a:solidFill>
                  <a:srgbClr val="8E8E93"/>
                </a:solidFill>
                <a:latin typeface="Liter" pitchFamily="34" charset="0"/>
                <a:ea typeface="Liter" pitchFamily="34" charset="-122"/>
                <a:cs typeface="Liter" pitchFamily="34" charset="-120"/>
              </a:rPr>
              <a:t>Visual Suggestion</a:t>
            </a:r>
            <a:endParaRPr lang="en-US" sz="1600" dirty="0"/>
          </a:p>
        </p:txBody>
      </p:sp>
      <p:sp>
        <p:nvSpPr>
          <p:cNvPr id="50" name="Shape 48"/>
          <p:cNvSpPr/>
          <p:nvPr/>
        </p:nvSpPr>
        <p:spPr>
          <a:xfrm>
            <a:off x="6381750" y="5867400"/>
            <a:ext cx="152400" cy="152400"/>
          </a:xfrm>
          <a:custGeom>
            <a:avLst/>
            <a:gdLst/>
            <a:ahLst/>
            <a:cxnLst/>
            <a:rect l="l" t="t" r="r" b="b"/>
            <a:pathLst>
              <a:path w="152400" h="152400">
                <a:moveTo>
                  <a:pt x="0" y="23813"/>
                </a:moveTo>
                <a:cubicBezTo>
                  <a:pt x="0" y="15925"/>
                  <a:pt x="6400" y="9525"/>
                  <a:pt x="14288" y="9525"/>
                </a:cubicBezTo>
                <a:lnTo>
                  <a:pt x="42863" y="9525"/>
                </a:lnTo>
                <a:cubicBezTo>
                  <a:pt x="50750" y="9525"/>
                  <a:pt x="57150" y="15925"/>
                  <a:pt x="57150" y="23813"/>
                </a:cubicBezTo>
                <a:lnTo>
                  <a:pt x="57150" y="28575"/>
                </a:lnTo>
                <a:lnTo>
                  <a:pt x="95250" y="28575"/>
                </a:lnTo>
                <a:lnTo>
                  <a:pt x="95250" y="23813"/>
                </a:lnTo>
                <a:cubicBezTo>
                  <a:pt x="95250" y="15925"/>
                  <a:pt x="101650" y="9525"/>
                  <a:pt x="109537" y="9525"/>
                </a:cubicBezTo>
                <a:lnTo>
                  <a:pt x="138113" y="9525"/>
                </a:lnTo>
                <a:cubicBezTo>
                  <a:pt x="146000" y="9525"/>
                  <a:pt x="152400" y="15925"/>
                  <a:pt x="152400" y="23813"/>
                </a:cubicBezTo>
                <a:lnTo>
                  <a:pt x="152400" y="52388"/>
                </a:lnTo>
                <a:cubicBezTo>
                  <a:pt x="152400" y="60275"/>
                  <a:pt x="146000" y="66675"/>
                  <a:pt x="138113" y="66675"/>
                </a:cubicBezTo>
                <a:lnTo>
                  <a:pt x="109537" y="66675"/>
                </a:lnTo>
                <a:cubicBezTo>
                  <a:pt x="101650" y="66675"/>
                  <a:pt x="95250" y="60275"/>
                  <a:pt x="95250" y="52388"/>
                </a:cubicBezTo>
                <a:lnTo>
                  <a:pt x="95250" y="47625"/>
                </a:lnTo>
                <a:lnTo>
                  <a:pt x="57150" y="47625"/>
                </a:lnTo>
                <a:lnTo>
                  <a:pt x="57150" y="52388"/>
                </a:lnTo>
                <a:cubicBezTo>
                  <a:pt x="57150" y="54560"/>
                  <a:pt x="56644" y="56644"/>
                  <a:pt x="55781" y="58489"/>
                </a:cubicBezTo>
                <a:lnTo>
                  <a:pt x="76200" y="85725"/>
                </a:lnTo>
                <a:lnTo>
                  <a:pt x="100013" y="85725"/>
                </a:lnTo>
                <a:cubicBezTo>
                  <a:pt x="107900" y="85725"/>
                  <a:pt x="114300" y="92125"/>
                  <a:pt x="114300" y="100013"/>
                </a:cubicBezTo>
                <a:lnTo>
                  <a:pt x="114300" y="128588"/>
                </a:lnTo>
                <a:cubicBezTo>
                  <a:pt x="114300" y="136475"/>
                  <a:pt x="107900" y="142875"/>
                  <a:pt x="100013" y="142875"/>
                </a:cubicBezTo>
                <a:lnTo>
                  <a:pt x="71438" y="142875"/>
                </a:lnTo>
                <a:cubicBezTo>
                  <a:pt x="63550" y="142875"/>
                  <a:pt x="57150" y="136475"/>
                  <a:pt x="57150" y="128588"/>
                </a:cubicBezTo>
                <a:lnTo>
                  <a:pt x="57150" y="100013"/>
                </a:lnTo>
                <a:cubicBezTo>
                  <a:pt x="57150" y="97840"/>
                  <a:pt x="57656" y="95756"/>
                  <a:pt x="58519" y="93911"/>
                </a:cubicBezTo>
                <a:lnTo>
                  <a:pt x="38100" y="66675"/>
                </a:lnTo>
                <a:lnTo>
                  <a:pt x="14288" y="66675"/>
                </a:lnTo>
                <a:cubicBezTo>
                  <a:pt x="6400" y="66675"/>
                  <a:pt x="0" y="60275"/>
                  <a:pt x="0" y="52388"/>
                </a:cubicBezTo>
                <a:lnTo>
                  <a:pt x="0" y="23813"/>
                </a:lnTo>
                <a:close/>
              </a:path>
            </a:pathLst>
          </a:custGeom>
          <a:solidFill>
            <a:srgbClr val="0A84FF"/>
          </a:solidFill>
          <a:ln/>
        </p:spPr>
      </p:sp>
      <p:sp>
        <p:nvSpPr>
          <p:cNvPr id="51" name="Text 49"/>
          <p:cNvSpPr/>
          <p:nvPr/>
        </p:nvSpPr>
        <p:spPr>
          <a:xfrm>
            <a:off x="6629400" y="5829300"/>
            <a:ext cx="3648075"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Apple ecosystem showing device integration</a:t>
            </a:r>
            <a:endParaRPr lang="en-US" sz="1600" dirty="0"/>
          </a:p>
        </p:txBody>
      </p:sp>
      <p:sp>
        <p:nvSpPr>
          <p:cNvPr id="52" name="Shape 50"/>
          <p:cNvSpPr/>
          <p:nvPr/>
        </p:nvSpPr>
        <p:spPr>
          <a:xfrm>
            <a:off x="6391275" y="6134100"/>
            <a:ext cx="133350" cy="152400"/>
          </a:xfrm>
          <a:custGeom>
            <a:avLst/>
            <a:gdLst/>
            <a:ahLst/>
            <a:cxnLst/>
            <a:rect l="l" t="t" r="r" b="b"/>
            <a:pathLst>
              <a:path w="133350" h="152400">
                <a:moveTo>
                  <a:pt x="19050" y="9525"/>
                </a:moveTo>
                <a:cubicBezTo>
                  <a:pt x="8543" y="9525"/>
                  <a:pt x="0" y="18068"/>
                  <a:pt x="0" y="28575"/>
                </a:cubicBezTo>
                <a:lnTo>
                  <a:pt x="0" y="123825"/>
                </a:lnTo>
                <a:cubicBezTo>
                  <a:pt x="0" y="134332"/>
                  <a:pt x="8543" y="142875"/>
                  <a:pt x="19050" y="142875"/>
                </a:cubicBezTo>
                <a:lnTo>
                  <a:pt x="114300" y="142875"/>
                </a:lnTo>
                <a:cubicBezTo>
                  <a:pt x="124807" y="142875"/>
                  <a:pt x="133350" y="134332"/>
                  <a:pt x="133350" y="123825"/>
                </a:cubicBezTo>
                <a:lnTo>
                  <a:pt x="133350" y="28575"/>
                </a:lnTo>
                <a:cubicBezTo>
                  <a:pt x="133350" y="18068"/>
                  <a:pt x="124807" y="9525"/>
                  <a:pt x="114300" y="9525"/>
                </a:cubicBezTo>
                <a:lnTo>
                  <a:pt x="19050" y="9525"/>
                </a:lnTo>
                <a:close/>
                <a:moveTo>
                  <a:pt x="38100" y="33338"/>
                </a:moveTo>
                <a:cubicBezTo>
                  <a:pt x="45985" y="33338"/>
                  <a:pt x="52388" y="39740"/>
                  <a:pt x="52388" y="47625"/>
                </a:cubicBezTo>
                <a:cubicBezTo>
                  <a:pt x="52388" y="55510"/>
                  <a:pt x="45985" y="61912"/>
                  <a:pt x="38100" y="61912"/>
                </a:cubicBezTo>
                <a:cubicBezTo>
                  <a:pt x="30215" y="61912"/>
                  <a:pt x="23813" y="55510"/>
                  <a:pt x="23813" y="47625"/>
                </a:cubicBezTo>
                <a:cubicBezTo>
                  <a:pt x="23813" y="39740"/>
                  <a:pt x="30215" y="33338"/>
                  <a:pt x="38100" y="33338"/>
                </a:cubicBezTo>
                <a:close/>
                <a:moveTo>
                  <a:pt x="80962" y="66675"/>
                </a:moveTo>
                <a:cubicBezTo>
                  <a:pt x="83463" y="66675"/>
                  <a:pt x="85755" y="67985"/>
                  <a:pt x="87064" y="70098"/>
                </a:cubicBezTo>
                <a:lnTo>
                  <a:pt x="113258" y="112961"/>
                </a:lnTo>
                <a:cubicBezTo>
                  <a:pt x="114598" y="115163"/>
                  <a:pt x="114657" y="117931"/>
                  <a:pt x="113407" y="120194"/>
                </a:cubicBezTo>
                <a:cubicBezTo>
                  <a:pt x="112157" y="122456"/>
                  <a:pt x="109746" y="123825"/>
                  <a:pt x="107156" y="123825"/>
                </a:cubicBezTo>
                <a:lnTo>
                  <a:pt x="26194" y="123825"/>
                </a:lnTo>
                <a:cubicBezTo>
                  <a:pt x="23545" y="123825"/>
                  <a:pt x="21074" y="122337"/>
                  <a:pt x="19854" y="119985"/>
                </a:cubicBezTo>
                <a:cubicBezTo>
                  <a:pt x="18633" y="117634"/>
                  <a:pt x="18812" y="114776"/>
                  <a:pt x="20330" y="112603"/>
                </a:cubicBezTo>
                <a:lnTo>
                  <a:pt x="36999" y="88791"/>
                </a:lnTo>
                <a:cubicBezTo>
                  <a:pt x="38338" y="86886"/>
                  <a:pt x="40511" y="85755"/>
                  <a:pt x="42863" y="85755"/>
                </a:cubicBezTo>
                <a:cubicBezTo>
                  <a:pt x="45214" y="85755"/>
                  <a:pt x="47387" y="86886"/>
                  <a:pt x="48726" y="88791"/>
                </a:cubicBezTo>
                <a:lnTo>
                  <a:pt x="56584" y="100042"/>
                </a:lnTo>
                <a:lnTo>
                  <a:pt x="74861" y="70128"/>
                </a:lnTo>
                <a:cubicBezTo>
                  <a:pt x="76170" y="68014"/>
                  <a:pt x="78462" y="66705"/>
                  <a:pt x="80962" y="66705"/>
                </a:cubicBezTo>
                <a:close/>
              </a:path>
            </a:pathLst>
          </a:custGeom>
          <a:solidFill>
            <a:srgbClr val="34C759"/>
          </a:solidFill>
          <a:ln/>
        </p:spPr>
      </p:sp>
      <p:sp>
        <p:nvSpPr>
          <p:cNvPr id="53" name="Text 51"/>
          <p:cNvSpPr/>
          <p:nvPr/>
        </p:nvSpPr>
        <p:spPr>
          <a:xfrm>
            <a:off x="6629400" y="6096000"/>
            <a:ext cx="3076575"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iPhone and iPad showing iOS interface</a:t>
            </a:r>
            <a:endParaRPr lang="en-US" sz="16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17500" y="365125"/>
            <a:ext cx="381000" cy="381000"/>
          </a:xfrm>
          <a:prstGeom prst="roundRect">
            <a:avLst>
              <a:gd name="adj" fmla="val 25000"/>
            </a:avLst>
          </a:prstGeom>
          <a:solidFill>
            <a:srgbClr val="34C759"/>
          </a:solidFill>
          <a:ln/>
        </p:spPr>
      </p:sp>
      <p:sp>
        <p:nvSpPr>
          <p:cNvPr id="3" name="Text 1"/>
          <p:cNvSpPr/>
          <p:nvPr/>
        </p:nvSpPr>
        <p:spPr>
          <a:xfrm>
            <a:off x="411361" y="428625"/>
            <a:ext cx="285750" cy="254000"/>
          </a:xfrm>
          <a:prstGeom prst="rect">
            <a:avLst/>
          </a:prstGeom>
          <a:noFill/>
          <a:ln/>
        </p:spPr>
        <p:txBody>
          <a:bodyPr wrap="square" lIns="0" tIns="0" rIns="0" bIns="0" rtlCol="0" anchor="ctr"/>
          <a:lstStyle/>
          <a:p>
            <a:pPr>
              <a:lnSpc>
                <a:spcPct val="110000"/>
              </a:lnSpc>
            </a:pPr>
            <a:r>
              <a:rPr lang="en-US" sz="1500" b="1" dirty="0">
                <a:solidFill>
                  <a:srgbClr val="1D1D1F"/>
                </a:solidFill>
                <a:latin typeface="Liter" pitchFamily="34" charset="0"/>
                <a:ea typeface="Liter" pitchFamily="34" charset="-122"/>
                <a:cs typeface="Liter" pitchFamily="34" charset="-120"/>
              </a:rPr>
              <a:t>18</a:t>
            </a:r>
            <a:endParaRPr lang="en-US" sz="1600" dirty="0"/>
          </a:p>
        </p:txBody>
      </p:sp>
      <p:sp>
        <p:nvSpPr>
          <p:cNvPr id="4" name="Text 2"/>
          <p:cNvSpPr/>
          <p:nvPr/>
        </p:nvSpPr>
        <p:spPr>
          <a:xfrm>
            <a:off x="793750" y="317500"/>
            <a:ext cx="5230813" cy="158750"/>
          </a:xfrm>
          <a:prstGeom prst="rect">
            <a:avLst/>
          </a:prstGeom>
          <a:noFill/>
          <a:ln/>
        </p:spPr>
        <p:txBody>
          <a:bodyPr wrap="square" lIns="0" tIns="0" rIns="0" bIns="0" rtlCol="0" anchor="ctr"/>
          <a:lstStyle/>
          <a:p>
            <a:pPr>
              <a:lnSpc>
                <a:spcPct val="120000"/>
              </a:lnSpc>
            </a:pPr>
            <a:r>
              <a:rPr lang="en-US" sz="875" b="1" spc="44" kern="0" dirty="0">
                <a:solidFill>
                  <a:srgbClr val="34C759"/>
                </a:solidFill>
                <a:latin typeface="Quattrocento Sans" pitchFamily="34" charset="0"/>
                <a:ea typeface="Quattrocento Sans" pitchFamily="34" charset="-122"/>
                <a:cs typeface="Quattrocento Sans" pitchFamily="34" charset="-120"/>
              </a:rPr>
              <a:t>Mobile Platforms</a:t>
            </a:r>
            <a:endParaRPr lang="en-US" sz="1600" dirty="0"/>
          </a:p>
        </p:txBody>
      </p:sp>
      <p:sp>
        <p:nvSpPr>
          <p:cNvPr id="5" name="Text 3"/>
          <p:cNvSpPr/>
          <p:nvPr/>
        </p:nvSpPr>
        <p:spPr>
          <a:xfrm>
            <a:off x="793750" y="476250"/>
            <a:ext cx="5318125" cy="317500"/>
          </a:xfrm>
          <a:prstGeom prst="rect">
            <a:avLst/>
          </a:prstGeom>
          <a:noFill/>
          <a:ln/>
        </p:spPr>
        <p:txBody>
          <a:bodyPr wrap="square" lIns="0" tIns="0" rIns="0" bIns="0" rtlCol="0" anchor="ctr"/>
          <a:lstStyle/>
          <a:p>
            <a:pPr>
              <a:lnSpc>
                <a:spcPct val="90000"/>
              </a:lnSpc>
            </a:pPr>
            <a:r>
              <a:rPr lang="en-US" sz="2250" b="1" dirty="0">
                <a:solidFill>
                  <a:srgbClr val="F5F5F7"/>
                </a:solidFill>
                <a:latin typeface="Liter" pitchFamily="34" charset="0"/>
                <a:ea typeface="Liter" pitchFamily="34" charset="-122"/>
                <a:cs typeface="Liter" pitchFamily="34" charset="-120"/>
              </a:rPr>
              <a:t>Cross-Platform: One Code, Multiple Apps</a:t>
            </a:r>
            <a:endParaRPr lang="en-US" sz="1600" dirty="0"/>
          </a:p>
        </p:txBody>
      </p:sp>
      <p:sp>
        <p:nvSpPr>
          <p:cNvPr id="6" name="Shape 4"/>
          <p:cNvSpPr/>
          <p:nvPr/>
        </p:nvSpPr>
        <p:spPr>
          <a:xfrm>
            <a:off x="317500" y="1047750"/>
            <a:ext cx="11557000" cy="2214563"/>
          </a:xfrm>
          <a:prstGeom prst="roundRect">
            <a:avLst>
              <a:gd name="adj" fmla="val 5735"/>
            </a:avLst>
          </a:prstGeom>
          <a:solidFill>
            <a:srgbClr val="2C2C2E"/>
          </a:solidFill>
          <a:ln/>
        </p:spPr>
      </p:sp>
      <p:sp>
        <p:nvSpPr>
          <p:cNvPr id="7" name="Shape 5"/>
          <p:cNvSpPr/>
          <p:nvPr/>
        </p:nvSpPr>
        <p:spPr>
          <a:xfrm>
            <a:off x="531813" y="1269899"/>
            <a:ext cx="190500" cy="190500"/>
          </a:xfrm>
          <a:custGeom>
            <a:avLst/>
            <a:gdLst/>
            <a:ahLst/>
            <a:cxnLst/>
            <a:rect l="l" t="t" r="r" b="b"/>
            <a:pathLst>
              <a:path w="190500" h="190500">
                <a:moveTo>
                  <a:pt x="148270" y="4539"/>
                </a:moveTo>
                <a:lnTo>
                  <a:pt x="115453" y="37356"/>
                </a:lnTo>
                <a:lnTo>
                  <a:pt x="153144" y="75047"/>
                </a:lnTo>
                <a:lnTo>
                  <a:pt x="185961" y="42230"/>
                </a:lnTo>
                <a:cubicBezTo>
                  <a:pt x="188863" y="39291"/>
                  <a:pt x="190500" y="35347"/>
                  <a:pt x="190500" y="31254"/>
                </a:cubicBezTo>
                <a:cubicBezTo>
                  <a:pt x="190500" y="27161"/>
                  <a:pt x="188863" y="23217"/>
                  <a:pt x="185961" y="20278"/>
                </a:cubicBezTo>
                <a:lnTo>
                  <a:pt x="170222" y="4539"/>
                </a:lnTo>
                <a:cubicBezTo>
                  <a:pt x="167283" y="1637"/>
                  <a:pt x="163339" y="0"/>
                  <a:pt x="159246" y="0"/>
                </a:cubicBezTo>
                <a:cubicBezTo>
                  <a:pt x="155153" y="0"/>
                  <a:pt x="151209" y="1637"/>
                  <a:pt x="148270" y="4539"/>
                </a:cubicBezTo>
                <a:close/>
                <a:moveTo>
                  <a:pt x="102840" y="49969"/>
                </a:moveTo>
                <a:lnTo>
                  <a:pt x="4539" y="148270"/>
                </a:lnTo>
                <a:cubicBezTo>
                  <a:pt x="1637" y="151209"/>
                  <a:pt x="0" y="155153"/>
                  <a:pt x="0" y="159246"/>
                </a:cubicBezTo>
                <a:cubicBezTo>
                  <a:pt x="0" y="163339"/>
                  <a:pt x="1637" y="167283"/>
                  <a:pt x="4539" y="170222"/>
                </a:cubicBezTo>
                <a:lnTo>
                  <a:pt x="20278" y="185961"/>
                </a:lnTo>
                <a:cubicBezTo>
                  <a:pt x="23217" y="188863"/>
                  <a:pt x="27161" y="190500"/>
                  <a:pt x="31254" y="190500"/>
                </a:cubicBezTo>
                <a:cubicBezTo>
                  <a:pt x="35347" y="190500"/>
                  <a:pt x="39291" y="188863"/>
                  <a:pt x="42230" y="185961"/>
                </a:cubicBezTo>
                <a:lnTo>
                  <a:pt x="140531" y="87660"/>
                </a:lnTo>
                <a:lnTo>
                  <a:pt x="102840" y="49969"/>
                </a:lnTo>
                <a:close/>
              </a:path>
            </a:pathLst>
          </a:custGeom>
          <a:solidFill>
            <a:srgbClr val="34C759"/>
          </a:solidFill>
          <a:ln/>
        </p:spPr>
      </p:sp>
      <p:sp>
        <p:nvSpPr>
          <p:cNvPr id="8" name="Text 6"/>
          <p:cNvSpPr/>
          <p:nvPr/>
        </p:nvSpPr>
        <p:spPr>
          <a:xfrm>
            <a:off x="746125" y="1238250"/>
            <a:ext cx="11033125" cy="254000"/>
          </a:xfrm>
          <a:prstGeom prst="rect">
            <a:avLst/>
          </a:prstGeom>
          <a:noFill/>
          <a:ln/>
        </p:spPr>
        <p:txBody>
          <a:bodyPr wrap="square" lIns="0" tIns="0" rIns="0" bIns="0" rtlCol="0" anchor="ctr"/>
          <a:lstStyle/>
          <a:p>
            <a:pPr>
              <a:lnSpc>
                <a:spcPct val="110000"/>
              </a:lnSpc>
            </a:pPr>
            <a:r>
              <a:rPr lang="en-US" sz="1500" b="1" dirty="0">
                <a:solidFill>
                  <a:srgbClr val="34C759"/>
                </a:solidFill>
                <a:latin typeface="Liter" pitchFamily="34" charset="0"/>
                <a:ea typeface="Liter" pitchFamily="34" charset="-122"/>
                <a:cs typeface="Liter" pitchFamily="34" charset="-120"/>
              </a:rPr>
              <a:t>How It Works</a:t>
            </a:r>
            <a:endParaRPr lang="en-US" sz="1600" dirty="0"/>
          </a:p>
        </p:txBody>
      </p:sp>
      <p:sp>
        <p:nvSpPr>
          <p:cNvPr id="9" name="Shape 7"/>
          <p:cNvSpPr/>
          <p:nvPr/>
        </p:nvSpPr>
        <p:spPr>
          <a:xfrm>
            <a:off x="514350" y="1657249"/>
            <a:ext cx="3306763" cy="1409700"/>
          </a:xfrm>
          <a:prstGeom prst="roundRect">
            <a:avLst>
              <a:gd name="adj" fmla="val 6757"/>
            </a:avLst>
          </a:prstGeom>
          <a:solidFill>
            <a:srgbClr val="1A1D21"/>
          </a:solidFill>
          <a:ln w="20320">
            <a:solidFill>
              <a:srgbClr val="34C759"/>
            </a:solidFill>
            <a:prstDash val="solid"/>
          </a:ln>
        </p:spPr>
      </p:sp>
      <p:sp>
        <p:nvSpPr>
          <p:cNvPr id="10" name="Shape 8"/>
          <p:cNvSpPr/>
          <p:nvPr/>
        </p:nvSpPr>
        <p:spPr>
          <a:xfrm>
            <a:off x="1912938" y="1822354"/>
            <a:ext cx="508000" cy="508000"/>
          </a:xfrm>
          <a:prstGeom prst="roundRect">
            <a:avLst>
              <a:gd name="adj" fmla="val 50000"/>
            </a:avLst>
          </a:prstGeom>
          <a:solidFill>
            <a:srgbClr val="34C759"/>
          </a:solidFill>
          <a:ln/>
        </p:spPr>
      </p:sp>
      <p:sp>
        <p:nvSpPr>
          <p:cNvPr id="11" name="Shape 9"/>
          <p:cNvSpPr/>
          <p:nvPr/>
        </p:nvSpPr>
        <p:spPr>
          <a:xfrm>
            <a:off x="2059781" y="1981104"/>
            <a:ext cx="214313" cy="190500"/>
          </a:xfrm>
          <a:custGeom>
            <a:avLst/>
            <a:gdLst/>
            <a:ahLst/>
            <a:cxnLst/>
            <a:rect l="l" t="t" r="r" b="b"/>
            <a:pathLst>
              <a:path w="214313" h="190500">
                <a:moveTo>
                  <a:pt x="134243" y="446"/>
                </a:moveTo>
                <a:cubicBezTo>
                  <a:pt x="127918" y="-1377"/>
                  <a:pt x="121332" y="2307"/>
                  <a:pt x="119509" y="8632"/>
                </a:cubicBezTo>
                <a:lnTo>
                  <a:pt x="71884" y="175320"/>
                </a:lnTo>
                <a:cubicBezTo>
                  <a:pt x="70061" y="181645"/>
                  <a:pt x="73744" y="188230"/>
                  <a:pt x="80070" y="190054"/>
                </a:cubicBezTo>
                <a:cubicBezTo>
                  <a:pt x="86395" y="191877"/>
                  <a:pt x="92980" y="188193"/>
                  <a:pt x="94804" y="181868"/>
                </a:cubicBezTo>
                <a:lnTo>
                  <a:pt x="142429" y="15180"/>
                </a:lnTo>
                <a:cubicBezTo>
                  <a:pt x="144252" y="8855"/>
                  <a:pt x="140568" y="2270"/>
                  <a:pt x="134243" y="446"/>
                </a:cubicBezTo>
                <a:close/>
                <a:moveTo>
                  <a:pt x="158279" y="51085"/>
                </a:moveTo>
                <a:cubicBezTo>
                  <a:pt x="153628" y="55736"/>
                  <a:pt x="153628" y="63289"/>
                  <a:pt x="158279" y="67940"/>
                </a:cubicBezTo>
                <a:lnTo>
                  <a:pt x="185589" y="95250"/>
                </a:lnTo>
                <a:lnTo>
                  <a:pt x="158279" y="122560"/>
                </a:lnTo>
                <a:cubicBezTo>
                  <a:pt x="153628" y="127211"/>
                  <a:pt x="153628" y="134764"/>
                  <a:pt x="158279" y="139415"/>
                </a:cubicBezTo>
                <a:cubicBezTo>
                  <a:pt x="162930" y="144066"/>
                  <a:pt x="170483" y="144066"/>
                  <a:pt x="175133" y="139415"/>
                </a:cubicBezTo>
                <a:lnTo>
                  <a:pt x="210852" y="103696"/>
                </a:lnTo>
                <a:cubicBezTo>
                  <a:pt x="215503" y="99045"/>
                  <a:pt x="215503" y="91492"/>
                  <a:pt x="210852" y="86841"/>
                </a:cubicBezTo>
                <a:lnTo>
                  <a:pt x="175133" y="51122"/>
                </a:lnTo>
                <a:cubicBezTo>
                  <a:pt x="170483" y="46472"/>
                  <a:pt x="162930" y="46472"/>
                  <a:pt x="158279" y="51122"/>
                </a:cubicBezTo>
                <a:close/>
                <a:moveTo>
                  <a:pt x="56071" y="51085"/>
                </a:moveTo>
                <a:cubicBezTo>
                  <a:pt x="51420" y="46434"/>
                  <a:pt x="43867" y="46434"/>
                  <a:pt x="39216" y="51085"/>
                </a:cubicBezTo>
                <a:lnTo>
                  <a:pt x="3497" y="86804"/>
                </a:lnTo>
                <a:cubicBezTo>
                  <a:pt x="-1153" y="91455"/>
                  <a:pt x="-1153" y="99008"/>
                  <a:pt x="3497" y="103659"/>
                </a:cubicBezTo>
                <a:lnTo>
                  <a:pt x="39216" y="139378"/>
                </a:lnTo>
                <a:cubicBezTo>
                  <a:pt x="43867" y="144028"/>
                  <a:pt x="51420" y="144028"/>
                  <a:pt x="56071" y="139378"/>
                </a:cubicBezTo>
                <a:cubicBezTo>
                  <a:pt x="60722" y="134727"/>
                  <a:pt x="60722" y="127174"/>
                  <a:pt x="56071" y="122523"/>
                </a:cubicBezTo>
                <a:lnTo>
                  <a:pt x="28761" y="95250"/>
                </a:lnTo>
                <a:lnTo>
                  <a:pt x="56034" y="67940"/>
                </a:lnTo>
                <a:cubicBezTo>
                  <a:pt x="60685" y="63289"/>
                  <a:pt x="60685" y="55736"/>
                  <a:pt x="56034" y="51085"/>
                </a:cubicBezTo>
                <a:close/>
              </a:path>
            </a:pathLst>
          </a:custGeom>
          <a:solidFill>
            <a:srgbClr val="1D1D1F"/>
          </a:solidFill>
          <a:ln/>
        </p:spPr>
      </p:sp>
      <p:sp>
        <p:nvSpPr>
          <p:cNvPr id="12" name="Text 10"/>
          <p:cNvSpPr/>
          <p:nvPr/>
        </p:nvSpPr>
        <p:spPr>
          <a:xfrm>
            <a:off x="639762" y="2425604"/>
            <a:ext cx="3055938" cy="222250"/>
          </a:xfrm>
          <a:prstGeom prst="rect">
            <a:avLst/>
          </a:prstGeom>
          <a:noFill/>
          <a:ln/>
        </p:spPr>
        <p:txBody>
          <a:bodyPr wrap="square" lIns="0" tIns="0" rIns="0" bIns="0" rtlCol="0" anchor="ctr"/>
          <a:lstStyle/>
          <a:p>
            <a:pPr algn="ctr">
              <a:lnSpc>
                <a:spcPct val="120000"/>
              </a:lnSpc>
            </a:pPr>
            <a:r>
              <a:rPr lang="en-US" sz="1250" b="1" dirty="0">
                <a:solidFill>
                  <a:srgbClr val="34C759"/>
                </a:solidFill>
                <a:latin typeface="Liter" pitchFamily="34" charset="0"/>
                <a:ea typeface="Liter" pitchFamily="34" charset="-122"/>
                <a:cs typeface="Liter" pitchFamily="34" charset="-120"/>
              </a:rPr>
              <a:t>Write Code Once</a:t>
            </a:r>
            <a:endParaRPr lang="en-US" sz="1600" dirty="0"/>
          </a:p>
        </p:txBody>
      </p:sp>
      <p:sp>
        <p:nvSpPr>
          <p:cNvPr id="13" name="Text 11"/>
          <p:cNvSpPr/>
          <p:nvPr/>
        </p:nvSpPr>
        <p:spPr>
          <a:xfrm>
            <a:off x="647700" y="2711354"/>
            <a:ext cx="3040063" cy="190500"/>
          </a:xfrm>
          <a:prstGeom prst="rect">
            <a:avLst/>
          </a:prstGeom>
          <a:noFill/>
          <a:ln/>
        </p:spPr>
        <p:txBody>
          <a:bodyPr wrap="square" lIns="0" tIns="0" rIns="0" bIns="0" rtlCol="0" anchor="ctr"/>
          <a:lstStyle/>
          <a:p>
            <a:pPr algn="ct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Use one programming language</a:t>
            </a:r>
            <a:endParaRPr lang="en-US" sz="1600" dirty="0"/>
          </a:p>
        </p:txBody>
      </p:sp>
      <p:sp>
        <p:nvSpPr>
          <p:cNvPr id="14" name="Shape 12"/>
          <p:cNvSpPr/>
          <p:nvPr/>
        </p:nvSpPr>
        <p:spPr>
          <a:xfrm>
            <a:off x="3988594" y="2209702"/>
            <a:ext cx="285750" cy="285750"/>
          </a:xfrm>
          <a:custGeom>
            <a:avLst/>
            <a:gdLst/>
            <a:ahLst/>
            <a:cxnLst/>
            <a:rect l="l" t="t" r="r" b="b"/>
            <a:pathLst>
              <a:path w="285750" h="285750">
                <a:moveTo>
                  <a:pt x="280504" y="155488"/>
                </a:moveTo>
                <a:cubicBezTo>
                  <a:pt x="287480" y="148512"/>
                  <a:pt x="287480" y="137182"/>
                  <a:pt x="280504" y="130206"/>
                </a:cubicBezTo>
                <a:lnTo>
                  <a:pt x="191207" y="40909"/>
                </a:lnTo>
                <a:cubicBezTo>
                  <a:pt x="184231" y="33933"/>
                  <a:pt x="172901" y="33933"/>
                  <a:pt x="165925" y="40909"/>
                </a:cubicBezTo>
                <a:cubicBezTo>
                  <a:pt x="158948" y="47885"/>
                  <a:pt x="158948" y="59215"/>
                  <a:pt x="165925" y="66191"/>
                </a:cubicBezTo>
                <a:lnTo>
                  <a:pt x="224749" y="125016"/>
                </a:lnTo>
                <a:lnTo>
                  <a:pt x="17859" y="125016"/>
                </a:lnTo>
                <a:cubicBezTo>
                  <a:pt x="7981" y="125016"/>
                  <a:pt x="0" y="132997"/>
                  <a:pt x="0" y="142875"/>
                </a:cubicBezTo>
                <a:cubicBezTo>
                  <a:pt x="0" y="152753"/>
                  <a:pt x="7981" y="160734"/>
                  <a:pt x="17859" y="160734"/>
                </a:cubicBezTo>
                <a:lnTo>
                  <a:pt x="224749" y="160734"/>
                </a:lnTo>
                <a:lnTo>
                  <a:pt x="165925" y="219559"/>
                </a:lnTo>
                <a:cubicBezTo>
                  <a:pt x="158948" y="226535"/>
                  <a:pt x="158948" y="237865"/>
                  <a:pt x="165925" y="244841"/>
                </a:cubicBezTo>
                <a:cubicBezTo>
                  <a:pt x="172901" y="251817"/>
                  <a:pt x="184231" y="251817"/>
                  <a:pt x="191207" y="244841"/>
                </a:cubicBezTo>
                <a:lnTo>
                  <a:pt x="280504" y="155544"/>
                </a:lnTo>
                <a:close/>
              </a:path>
            </a:pathLst>
          </a:custGeom>
          <a:solidFill>
            <a:srgbClr val="34C759"/>
          </a:solidFill>
          <a:ln/>
        </p:spPr>
      </p:sp>
      <p:sp>
        <p:nvSpPr>
          <p:cNvPr id="15" name="Shape 13"/>
          <p:cNvSpPr/>
          <p:nvPr/>
        </p:nvSpPr>
        <p:spPr>
          <a:xfrm>
            <a:off x="4443413" y="1657249"/>
            <a:ext cx="3306763" cy="1409700"/>
          </a:xfrm>
          <a:prstGeom prst="roundRect">
            <a:avLst>
              <a:gd name="adj" fmla="val 6757"/>
            </a:avLst>
          </a:prstGeom>
          <a:solidFill>
            <a:srgbClr val="1A1D21"/>
          </a:solidFill>
          <a:ln w="20320">
            <a:solidFill>
              <a:srgbClr val="0A84FF"/>
            </a:solidFill>
            <a:prstDash val="solid"/>
          </a:ln>
        </p:spPr>
      </p:sp>
      <p:sp>
        <p:nvSpPr>
          <p:cNvPr id="16" name="Shape 14"/>
          <p:cNvSpPr/>
          <p:nvPr/>
        </p:nvSpPr>
        <p:spPr>
          <a:xfrm>
            <a:off x="5842000" y="1822354"/>
            <a:ext cx="508000" cy="508000"/>
          </a:xfrm>
          <a:prstGeom prst="roundRect">
            <a:avLst>
              <a:gd name="adj" fmla="val 50000"/>
            </a:avLst>
          </a:prstGeom>
          <a:solidFill>
            <a:srgbClr val="0A84FF"/>
          </a:solidFill>
          <a:ln/>
        </p:spPr>
      </p:sp>
      <p:sp>
        <p:nvSpPr>
          <p:cNvPr id="17" name="Shape 15"/>
          <p:cNvSpPr/>
          <p:nvPr/>
        </p:nvSpPr>
        <p:spPr>
          <a:xfrm>
            <a:off x="5976938" y="1981104"/>
            <a:ext cx="238125" cy="190500"/>
          </a:xfrm>
          <a:custGeom>
            <a:avLst/>
            <a:gdLst/>
            <a:ahLst/>
            <a:cxnLst/>
            <a:rect l="l" t="t" r="r" b="b"/>
            <a:pathLst>
              <a:path w="238125" h="190500">
                <a:moveTo>
                  <a:pt x="154744" y="78321"/>
                </a:moveTo>
                <a:cubicBezTo>
                  <a:pt x="159283" y="77093"/>
                  <a:pt x="164046" y="79251"/>
                  <a:pt x="166092" y="83455"/>
                </a:cubicBezTo>
                <a:lnTo>
                  <a:pt x="173013" y="97445"/>
                </a:lnTo>
                <a:cubicBezTo>
                  <a:pt x="176845" y="97966"/>
                  <a:pt x="180603" y="99008"/>
                  <a:pt x="184138" y="100459"/>
                </a:cubicBezTo>
                <a:lnTo>
                  <a:pt x="197160" y="91790"/>
                </a:lnTo>
                <a:cubicBezTo>
                  <a:pt x="201067" y="89185"/>
                  <a:pt x="206239" y="89706"/>
                  <a:pt x="209550" y="93018"/>
                </a:cubicBezTo>
                <a:lnTo>
                  <a:pt x="216694" y="100161"/>
                </a:lnTo>
                <a:cubicBezTo>
                  <a:pt x="220005" y="103473"/>
                  <a:pt x="220526" y="108682"/>
                  <a:pt x="217922" y="112551"/>
                </a:cubicBezTo>
                <a:lnTo>
                  <a:pt x="209252" y="125537"/>
                </a:lnTo>
                <a:cubicBezTo>
                  <a:pt x="209959" y="127285"/>
                  <a:pt x="210592" y="129108"/>
                  <a:pt x="211113" y="131006"/>
                </a:cubicBezTo>
                <a:cubicBezTo>
                  <a:pt x="211634" y="132904"/>
                  <a:pt x="211968" y="134764"/>
                  <a:pt x="212229" y="136661"/>
                </a:cubicBezTo>
                <a:lnTo>
                  <a:pt x="226256" y="143582"/>
                </a:lnTo>
                <a:cubicBezTo>
                  <a:pt x="230460" y="145666"/>
                  <a:pt x="232618" y="150428"/>
                  <a:pt x="231391" y="154930"/>
                </a:cubicBezTo>
                <a:lnTo>
                  <a:pt x="228786" y="164678"/>
                </a:lnTo>
                <a:cubicBezTo>
                  <a:pt x="227558" y="169180"/>
                  <a:pt x="223354" y="172231"/>
                  <a:pt x="218666" y="171934"/>
                </a:cubicBezTo>
                <a:lnTo>
                  <a:pt x="203039" y="170929"/>
                </a:lnTo>
                <a:cubicBezTo>
                  <a:pt x="200695" y="173943"/>
                  <a:pt x="197979" y="176733"/>
                  <a:pt x="194890" y="179115"/>
                </a:cubicBezTo>
                <a:lnTo>
                  <a:pt x="195895" y="194704"/>
                </a:lnTo>
                <a:cubicBezTo>
                  <a:pt x="196193" y="199392"/>
                  <a:pt x="193142" y="203634"/>
                  <a:pt x="188640" y="204825"/>
                </a:cubicBezTo>
                <a:lnTo>
                  <a:pt x="178891" y="207429"/>
                </a:lnTo>
                <a:cubicBezTo>
                  <a:pt x="174352" y="208657"/>
                  <a:pt x="169627" y="206499"/>
                  <a:pt x="167543" y="202295"/>
                </a:cubicBezTo>
                <a:lnTo>
                  <a:pt x="160623" y="188305"/>
                </a:lnTo>
                <a:cubicBezTo>
                  <a:pt x="156790" y="187784"/>
                  <a:pt x="153033" y="186742"/>
                  <a:pt x="149498" y="185291"/>
                </a:cubicBezTo>
                <a:lnTo>
                  <a:pt x="136475" y="193960"/>
                </a:lnTo>
                <a:cubicBezTo>
                  <a:pt x="132569" y="196565"/>
                  <a:pt x="127397" y="196044"/>
                  <a:pt x="124085" y="192732"/>
                </a:cubicBezTo>
                <a:lnTo>
                  <a:pt x="116942" y="185589"/>
                </a:lnTo>
                <a:cubicBezTo>
                  <a:pt x="113630" y="182277"/>
                  <a:pt x="113109" y="177105"/>
                  <a:pt x="115714" y="173199"/>
                </a:cubicBezTo>
                <a:lnTo>
                  <a:pt x="124383" y="160176"/>
                </a:lnTo>
                <a:cubicBezTo>
                  <a:pt x="123676" y="158428"/>
                  <a:pt x="123044" y="156604"/>
                  <a:pt x="122523" y="154707"/>
                </a:cubicBezTo>
                <a:cubicBezTo>
                  <a:pt x="122002" y="152809"/>
                  <a:pt x="121667" y="150912"/>
                  <a:pt x="121407" y="149051"/>
                </a:cubicBezTo>
                <a:lnTo>
                  <a:pt x="107379" y="142131"/>
                </a:lnTo>
                <a:cubicBezTo>
                  <a:pt x="103175" y="140047"/>
                  <a:pt x="101054" y="135285"/>
                  <a:pt x="102245" y="130783"/>
                </a:cubicBezTo>
                <a:lnTo>
                  <a:pt x="104849" y="121034"/>
                </a:lnTo>
                <a:cubicBezTo>
                  <a:pt x="106077" y="116532"/>
                  <a:pt x="110282" y="113481"/>
                  <a:pt x="114970" y="113779"/>
                </a:cubicBezTo>
                <a:lnTo>
                  <a:pt x="130559" y="114784"/>
                </a:lnTo>
                <a:cubicBezTo>
                  <a:pt x="132904" y="111770"/>
                  <a:pt x="135620" y="108979"/>
                  <a:pt x="138708" y="106598"/>
                </a:cubicBezTo>
                <a:lnTo>
                  <a:pt x="137703" y="91046"/>
                </a:lnTo>
                <a:cubicBezTo>
                  <a:pt x="137406" y="86358"/>
                  <a:pt x="140457" y="82116"/>
                  <a:pt x="144959" y="80925"/>
                </a:cubicBezTo>
                <a:lnTo>
                  <a:pt x="154707" y="78321"/>
                </a:lnTo>
                <a:close/>
                <a:moveTo>
                  <a:pt x="166836" y="126504"/>
                </a:moveTo>
                <a:cubicBezTo>
                  <a:pt x="157801" y="126514"/>
                  <a:pt x="150474" y="133858"/>
                  <a:pt x="150484" y="142894"/>
                </a:cubicBezTo>
                <a:cubicBezTo>
                  <a:pt x="150494" y="151929"/>
                  <a:pt x="157838" y="159256"/>
                  <a:pt x="166874" y="159246"/>
                </a:cubicBezTo>
                <a:cubicBezTo>
                  <a:pt x="175909" y="159236"/>
                  <a:pt x="183236" y="151892"/>
                  <a:pt x="183226" y="142856"/>
                </a:cubicBezTo>
                <a:cubicBezTo>
                  <a:pt x="183216" y="133821"/>
                  <a:pt x="175872" y="126494"/>
                  <a:pt x="166836" y="126504"/>
                </a:cubicBezTo>
                <a:close/>
                <a:moveTo>
                  <a:pt x="83679" y="-16929"/>
                </a:moveTo>
                <a:lnTo>
                  <a:pt x="93427" y="-14325"/>
                </a:lnTo>
                <a:cubicBezTo>
                  <a:pt x="97929" y="-13097"/>
                  <a:pt x="100980" y="-8855"/>
                  <a:pt x="100682" y="-4204"/>
                </a:cubicBezTo>
                <a:lnTo>
                  <a:pt x="99678" y="11348"/>
                </a:lnTo>
                <a:cubicBezTo>
                  <a:pt x="102766" y="13729"/>
                  <a:pt x="105482" y="16483"/>
                  <a:pt x="107826" y="19534"/>
                </a:cubicBezTo>
                <a:lnTo>
                  <a:pt x="123453" y="18529"/>
                </a:lnTo>
                <a:cubicBezTo>
                  <a:pt x="128104" y="18231"/>
                  <a:pt x="132345" y="21282"/>
                  <a:pt x="133573" y="25784"/>
                </a:cubicBezTo>
                <a:lnTo>
                  <a:pt x="136178" y="35533"/>
                </a:lnTo>
                <a:cubicBezTo>
                  <a:pt x="137368" y="40035"/>
                  <a:pt x="135248" y="44797"/>
                  <a:pt x="131043" y="46881"/>
                </a:cubicBezTo>
                <a:lnTo>
                  <a:pt x="117016" y="53801"/>
                </a:lnTo>
                <a:cubicBezTo>
                  <a:pt x="116756" y="55699"/>
                  <a:pt x="116384" y="57596"/>
                  <a:pt x="115900" y="59457"/>
                </a:cubicBezTo>
                <a:cubicBezTo>
                  <a:pt x="115416" y="61317"/>
                  <a:pt x="114746" y="63178"/>
                  <a:pt x="114040" y="64926"/>
                </a:cubicBezTo>
                <a:lnTo>
                  <a:pt x="122709" y="77949"/>
                </a:lnTo>
                <a:cubicBezTo>
                  <a:pt x="125313" y="81855"/>
                  <a:pt x="124792" y="87027"/>
                  <a:pt x="121481" y="90339"/>
                </a:cubicBezTo>
                <a:lnTo>
                  <a:pt x="114337" y="97482"/>
                </a:lnTo>
                <a:cubicBezTo>
                  <a:pt x="111026" y="100794"/>
                  <a:pt x="105854" y="101315"/>
                  <a:pt x="101947" y="98710"/>
                </a:cubicBezTo>
                <a:lnTo>
                  <a:pt x="88925" y="90041"/>
                </a:lnTo>
                <a:cubicBezTo>
                  <a:pt x="85390" y="91492"/>
                  <a:pt x="81632" y="92534"/>
                  <a:pt x="77800" y="93055"/>
                </a:cubicBezTo>
                <a:lnTo>
                  <a:pt x="70879" y="107045"/>
                </a:lnTo>
                <a:cubicBezTo>
                  <a:pt x="68796" y="111249"/>
                  <a:pt x="64033" y="113370"/>
                  <a:pt x="59531" y="112179"/>
                </a:cubicBezTo>
                <a:lnTo>
                  <a:pt x="49783" y="109575"/>
                </a:lnTo>
                <a:cubicBezTo>
                  <a:pt x="45244" y="108347"/>
                  <a:pt x="42230" y="104105"/>
                  <a:pt x="42528" y="99454"/>
                </a:cubicBezTo>
                <a:lnTo>
                  <a:pt x="43532" y="83865"/>
                </a:lnTo>
                <a:cubicBezTo>
                  <a:pt x="40444" y="81483"/>
                  <a:pt x="37728" y="78730"/>
                  <a:pt x="35384" y="75679"/>
                </a:cubicBezTo>
                <a:lnTo>
                  <a:pt x="19757" y="76684"/>
                </a:lnTo>
                <a:cubicBezTo>
                  <a:pt x="15106" y="76981"/>
                  <a:pt x="10864" y="73930"/>
                  <a:pt x="9637" y="69428"/>
                </a:cubicBezTo>
                <a:lnTo>
                  <a:pt x="7032" y="59680"/>
                </a:lnTo>
                <a:cubicBezTo>
                  <a:pt x="5842" y="55178"/>
                  <a:pt x="7962" y="50416"/>
                  <a:pt x="12167" y="48332"/>
                </a:cubicBezTo>
                <a:lnTo>
                  <a:pt x="26194" y="41411"/>
                </a:lnTo>
                <a:cubicBezTo>
                  <a:pt x="26454" y="39514"/>
                  <a:pt x="26826" y="37654"/>
                  <a:pt x="27310" y="35756"/>
                </a:cubicBezTo>
                <a:cubicBezTo>
                  <a:pt x="27831" y="33858"/>
                  <a:pt x="28426" y="32035"/>
                  <a:pt x="29170" y="30287"/>
                </a:cubicBezTo>
                <a:lnTo>
                  <a:pt x="20501" y="17301"/>
                </a:lnTo>
                <a:cubicBezTo>
                  <a:pt x="17897" y="13395"/>
                  <a:pt x="18417" y="8223"/>
                  <a:pt x="21729" y="4911"/>
                </a:cubicBezTo>
                <a:lnTo>
                  <a:pt x="28873" y="-2232"/>
                </a:lnTo>
                <a:cubicBezTo>
                  <a:pt x="32184" y="-5544"/>
                  <a:pt x="37356" y="-6065"/>
                  <a:pt x="41263" y="-3460"/>
                </a:cubicBezTo>
                <a:lnTo>
                  <a:pt x="54285" y="5209"/>
                </a:lnTo>
                <a:cubicBezTo>
                  <a:pt x="57820" y="3758"/>
                  <a:pt x="61578" y="2716"/>
                  <a:pt x="65410" y="2195"/>
                </a:cubicBezTo>
                <a:lnTo>
                  <a:pt x="72330" y="-11795"/>
                </a:lnTo>
                <a:cubicBezTo>
                  <a:pt x="74414" y="-15999"/>
                  <a:pt x="79139" y="-18120"/>
                  <a:pt x="83679" y="-16929"/>
                </a:cubicBezTo>
                <a:close/>
                <a:moveTo>
                  <a:pt x="71586" y="31254"/>
                </a:moveTo>
                <a:cubicBezTo>
                  <a:pt x="62551" y="31254"/>
                  <a:pt x="55215" y="38590"/>
                  <a:pt x="55215" y="47625"/>
                </a:cubicBezTo>
                <a:cubicBezTo>
                  <a:pt x="55215" y="56660"/>
                  <a:pt x="62551" y="63996"/>
                  <a:pt x="71586" y="63996"/>
                </a:cubicBezTo>
                <a:cubicBezTo>
                  <a:pt x="80622" y="63996"/>
                  <a:pt x="87957" y="56660"/>
                  <a:pt x="87957" y="47625"/>
                </a:cubicBezTo>
                <a:cubicBezTo>
                  <a:pt x="87957" y="38590"/>
                  <a:pt x="80622" y="31254"/>
                  <a:pt x="71586" y="31254"/>
                </a:cubicBezTo>
                <a:close/>
              </a:path>
            </a:pathLst>
          </a:custGeom>
          <a:solidFill>
            <a:srgbClr val="FFFFFF"/>
          </a:solidFill>
          <a:ln/>
        </p:spPr>
      </p:sp>
      <p:sp>
        <p:nvSpPr>
          <p:cNvPr id="18" name="Text 16"/>
          <p:cNvSpPr/>
          <p:nvPr/>
        </p:nvSpPr>
        <p:spPr>
          <a:xfrm>
            <a:off x="4568825" y="2425604"/>
            <a:ext cx="3055938" cy="222250"/>
          </a:xfrm>
          <a:prstGeom prst="rect">
            <a:avLst/>
          </a:prstGeom>
          <a:noFill/>
          <a:ln/>
        </p:spPr>
        <p:txBody>
          <a:bodyPr wrap="square" lIns="0" tIns="0" rIns="0" bIns="0" rtlCol="0" anchor="ctr"/>
          <a:lstStyle/>
          <a:p>
            <a:pPr algn="ctr">
              <a:lnSpc>
                <a:spcPct val="120000"/>
              </a:lnSpc>
            </a:pPr>
            <a:r>
              <a:rPr lang="en-US" sz="1250" b="1" dirty="0">
                <a:solidFill>
                  <a:srgbClr val="0A84FF"/>
                </a:solidFill>
                <a:latin typeface="Liter" pitchFamily="34" charset="0"/>
                <a:ea typeface="Liter" pitchFamily="34" charset="-122"/>
                <a:cs typeface="Liter" pitchFamily="34" charset="-120"/>
              </a:rPr>
              <a:t>Framework Converts</a:t>
            </a:r>
            <a:endParaRPr lang="en-US" sz="1600" dirty="0"/>
          </a:p>
        </p:txBody>
      </p:sp>
      <p:sp>
        <p:nvSpPr>
          <p:cNvPr id="19" name="Text 17"/>
          <p:cNvSpPr/>
          <p:nvPr/>
        </p:nvSpPr>
        <p:spPr>
          <a:xfrm>
            <a:off x="4576763" y="2711354"/>
            <a:ext cx="3040063" cy="190500"/>
          </a:xfrm>
          <a:prstGeom prst="rect">
            <a:avLst/>
          </a:prstGeom>
          <a:noFill/>
          <a:ln/>
        </p:spPr>
        <p:txBody>
          <a:bodyPr wrap="square" lIns="0" tIns="0" rIns="0" bIns="0" rtlCol="0" anchor="ctr"/>
          <a:lstStyle/>
          <a:p>
            <a:pPr algn="ct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Transforms to native code</a:t>
            </a:r>
            <a:endParaRPr lang="en-US" sz="1600" dirty="0"/>
          </a:p>
        </p:txBody>
      </p:sp>
      <p:sp>
        <p:nvSpPr>
          <p:cNvPr id="20" name="Shape 18"/>
          <p:cNvSpPr/>
          <p:nvPr/>
        </p:nvSpPr>
        <p:spPr>
          <a:xfrm>
            <a:off x="7917656" y="2209702"/>
            <a:ext cx="285750" cy="285750"/>
          </a:xfrm>
          <a:custGeom>
            <a:avLst/>
            <a:gdLst/>
            <a:ahLst/>
            <a:cxnLst/>
            <a:rect l="l" t="t" r="r" b="b"/>
            <a:pathLst>
              <a:path w="285750" h="285750">
                <a:moveTo>
                  <a:pt x="280504" y="155488"/>
                </a:moveTo>
                <a:cubicBezTo>
                  <a:pt x="287480" y="148512"/>
                  <a:pt x="287480" y="137182"/>
                  <a:pt x="280504" y="130206"/>
                </a:cubicBezTo>
                <a:lnTo>
                  <a:pt x="191207" y="40909"/>
                </a:lnTo>
                <a:cubicBezTo>
                  <a:pt x="184231" y="33933"/>
                  <a:pt x="172901" y="33933"/>
                  <a:pt x="165925" y="40909"/>
                </a:cubicBezTo>
                <a:cubicBezTo>
                  <a:pt x="158948" y="47885"/>
                  <a:pt x="158948" y="59215"/>
                  <a:pt x="165925" y="66191"/>
                </a:cubicBezTo>
                <a:lnTo>
                  <a:pt x="224749" y="125016"/>
                </a:lnTo>
                <a:lnTo>
                  <a:pt x="17859" y="125016"/>
                </a:lnTo>
                <a:cubicBezTo>
                  <a:pt x="7981" y="125016"/>
                  <a:pt x="0" y="132997"/>
                  <a:pt x="0" y="142875"/>
                </a:cubicBezTo>
                <a:cubicBezTo>
                  <a:pt x="0" y="152753"/>
                  <a:pt x="7981" y="160734"/>
                  <a:pt x="17859" y="160734"/>
                </a:cubicBezTo>
                <a:lnTo>
                  <a:pt x="224749" y="160734"/>
                </a:lnTo>
                <a:lnTo>
                  <a:pt x="165925" y="219559"/>
                </a:lnTo>
                <a:cubicBezTo>
                  <a:pt x="158948" y="226535"/>
                  <a:pt x="158948" y="237865"/>
                  <a:pt x="165925" y="244841"/>
                </a:cubicBezTo>
                <a:cubicBezTo>
                  <a:pt x="172901" y="251817"/>
                  <a:pt x="184231" y="251817"/>
                  <a:pt x="191207" y="244841"/>
                </a:cubicBezTo>
                <a:lnTo>
                  <a:pt x="280504" y="155544"/>
                </a:lnTo>
                <a:close/>
              </a:path>
            </a:pathLst>
          </a:custGeom>
          <a:solidFill>
            <a:srgbClr val="0A84FF"/>
          </a:solidFill>
          <a:ln/>
        </p:spPr>
      </p:sp>
      <p:sp>
        <p:nvSpPr>
          <p:cNvPr id="21" name="Shape 19"/>
          <p:cNvSpPr/>
          <p:nvPr/>
        </p:nvSpPr>
        <p:spPr>
          <a:xfrm>
            <a:off x="8372475" y="1657249"/>
            <a:ext cx="3306763" cy="1409700"/>
          </a:xfrm>
          <a:prstGeom prst="roundRect">
            <a:avLst>
              <a:gd name="adj" fmla="val 6757"/>
            </a:avLst>
          </a:prstGeom>
          <a:solidFill>
            <a:srgbClr val="1A1D21"/>
          </a:solidFill>
          <a:ln w="20320">
            <a:solidFill>
              <a:srgbClr val="8E8E93"/>
            </a:solidFill>
            <a:prstDash val="solid"/>
          </a:ln>
        </p:spPr>
      </p:sp>
      <p:sp>
        <p:nvSpPr>
          <p:cNvPr id="22" name="Shape 20"/>
          <p:cNvSpPr/>
          <p:nvPr/>
        </p:nvSpPr>
        <p:spPr>
          <a:xfrm>
            <a:off x="9771063" y="1822354"/>
            <a:ext cx="508000" cy="508000"/>
          </a:xfrm>
          <a:prstGeom prst="roundRect">
            <a:avLst>
              <a:gd name="adj" fmla="val 50000"/>
            </a:avLst>
          </a:prstGeom>
          <a:solidFill>
            <a:srgbClr val="8E8E93"/>
          </a:solidFill>
          <a:ln/>
        </p:spPr>
      </p:sp>
      <p:sp>
        <p:nvSpPr>
          <p:cNvPr id="23" name="Shape 21"/>
          <p:cNvSpPr/>
          <p:nvPr/>
        </p:nvSpPr>
        <p:spPr>
          <a:xfrm>
            <a:off x="9953625" y="1981104"/>
            <a:ext cx="142875" cy="190500"/>
          </a:xfrm>
          <a:custGeom>
            <a:avLst/>
            <a:gdLst/>
            <a:ahLst/>
            <a:cxnLst/>
            <a:rect l="l" t="t" r="r" b="b"/>
            <a:pathLst>
              <a:path w="142875" h="190500">
                <a:moveTo>
                  <a:pt x="5953" y="23812"/>
                </a:moveTo>
                <a:cubicBezTo>
                  <a:pt x="5953" y="10678"/>
                  <a:pt x="16632" y="0"/>
                  <a:pt x="29766" y="0"/>
                </a:cubicBezTo>
                <a:lnTo>
                  <a:pt x="113109" y="0"/>
                </a:lnTo>
                <a:cubicBezTo>
                  <a:pt x="126243" y="0"/>
                  <a:pt x="136922" y="10678"/>
                  <a:pt x="136922" y="23812"/>
                </a:cubicBezTo>
                <a:lnTo>
                  <a:pt x="136922" y="166688"/>
                </a:lnTo>
                <a:cubicBezTo>
                  <a:pt x="136922" y="179822"/>
                  <a:pt x="126243" y="190500"/>
                  <a:pt x="113109" y="190500"/>
                </a:cubicBezTo>
                <a:lnTo>
                  <a:pt x="29766" y="190500"/>
                </a:lnTo>
                <a:cubicBezTo>
                  <a:pt x="16632" y="190500"/>
                  <a:pt x="5953" y="179822"/>
                  <a:pt x="5953" y="166688"/>
                </a:cubicBezTo>
                <a:lnTo>
                  <a:pt x="5953" y="23812"/>
                </a:lnTo>
                <a:close/>
                <a:moveTo>
                  <a:pt x="29766" y="23812"/>
                </a:moveTo>
                <a:lnTo>
                  <a:pt x="29766" y="136922"/>
                </a:lnTo>
                <a:lnTo>
                  <a:pt x="113109" y="136922"/>
                </a:lnTo>
                <a:lnTo>
                  <a:pt x="113109" y="23812"/>
                </a:lnTo>
                <a:lnTo>
                  <a:pt x="29766" y="23812"/>
                </a:lnTo>
                <a:close/>
                <a:moveTo>
                  <a:pt x="71438" y="175617"/>
                </a:moveTo>
                <a:cubicBezTo>
                  <a:pt x="78023" y="175617"/>
                  <a:pt x="83344" y="170297"/>
                  <a:pt x="83344" y="163711"/>
                </a:cubicBezTo>
                <a:cubicBezTo>
                  <a:pt x="83344" y="157125"/>
                  <a:pt x="78023" y="151805"/>
                  <a:pt x="71438" y="151805"/>
                </a:cubicBezTo>
                <a:cubicBezTo>
                  <a:pt x="64852" y="151805"/>
                  <a:pt x="59531" y="157125"/>
                  <a:pt x="59531" y="163711"/>
                </a:cubicBezTo>
                <a:cubicBezTo>
                  <a:pt x="59531" y="170297"/>
                  <a:pt x="64852" y="175617"/>
                  <a:pt x="71438" y="175617"/>
                </a:cubicBezTo>
                <a:close/>
              </a:path>
            </a:pathLst>
          </a:custGeom>
          <a:solidFill>
            <a:srgbClr val="FFFFFF"/>
          </a:solidFill>
          <a:ln/>
        </p:spPr>
      </p:sp>
      <p:sp>
        <p:nvSpPr>
          <p:cNvPr id="24" name="Text 22"/>
          <p:cNvSpPr/>
          <p:nvPr/>
        </p:nvSpPr>
        <p:spPr>
          <a:xfrm>
            <a:off x="8497887" y="2425604"/>
            <a:ext cx="3055938" cy="222250"/>
          </a:xfrm>
          <a:prstGeom prst="rect">
            <a:avLst/>
          </a:prstGeom>
          <a:noFill/>
          <a:ln/>
        </p:spPr>
        <p:txBody>
          <a:bodyPr wrap="square" lIns="0" tIns="0" rIns="0" bIns="0" rtlCol="0" anchor="ctr"/>
          <a:lstStyle/>
          <a:p>
            <a:pPr algn="ctr">
              <a:lnSpc>
                <a:spcPct val="120000"/>
              </a:lnSpc>
            </a:pPr>
            <a:r>
              <a:rPr lang="en-US" sz="1250" b="1" dirty="0">
                <a:solidFill>
                  <a:srgbClr val="8E8E93"/>
                </a:solidFill>
                <a:latin typeface="Liter" pitchFamily="34" charset="0"/>
                <a:ea typeface="Liter" pitchFamily="34" charset="-122"/>
                <a:cs typeface="Liter" pitchFamily="34" charset="-120"/>
              </a:rPr>
              <a:t>Runs Everywhere</a:t>
            </a:r>
            <a:endParaRPr lang="en-US" sz="1600" dirty="0"/>
          </a:p>
        </p:txBody>
      </p:sp>
      <p:sp>
        <p:nvSpPr>
          <p:cNvPr id="25" name="Text 23"/>
          <p:cNvSpPr/>
          <p:nvPr/>
        </p:nvSpPr>
        <p:spPr>
          <a:xfrm>
            <a:off x="8505825" y="2711354"/>
            <a:ext cx="3040063" cy="190500"/>
          </a:xfrm>
          <a:prstGeom prst="rect">
            <a:avLst/>
          </a:prstGeom>
          <a:noFill/>
          <a:ln/>
        </p:spPr>
        <p:txBody>
          <a:bodyPr wrap="square" lIns="0" tIns="0" rIns="0" bIns="0" rtlCol="0" anchor="ctr"/>
          <a:lstStyle/>
          <a:p>
            <a:pPr algn="ct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Android + iOS apps</a:t>
            </a:r>
            <a:endParaRPr lang="en-US" sz="1600" dirty="0"/>
          </a:p>
        </p:txBody>
      </p:sp>
      <p:sp>
        <p:nvSpPr>
          <p:cNvPr id="26" name="Shape 24"/>
          <p:cNvSpPr/>
          <p:nvPr/>
        </p:nvSpPr>
        <p:spPr>
          <a:xfrm>
            <a:off x="333375" y="3390801"/>
            <a:ext cx="5699125" cy="2317750"/>
          </a:xfrm>
          <a:custGeom>
            <a:avLst/>
            <a:gdLst/>
            <a:ahLst/>
            <a:cxnLst/>
            <a:rect l="l" t="t" r="r" b="b"/>
            <a:pathLst>
              <a:path w="5699125" h="2317750">
                <a:moveTo>
                  <a:pt x="31750" y="0"/>
                </a:moveTo>
                <a:lnTo>
                  <a:pt x="5572125" y="0"/>
                </a:lnTo>
                <a:cubicBezTo>
                  <a:pt x="5642218" y="0"/>
                  <a:pt x="5699125" y="56907"/>
                  <a:pt x="5699125" y="127000"/>
                </a:cubicBezTo>
                <a:lnTo>
                  <a:pt x="5699125" y="2190750"/>
                </a:lnTo>
                <a:cubicBezTo>
                  <a:pt x="5699125" y="2260843"/>
                  <a:pt x="5642218" y="2317750"/>
                  <a:pt x="5572125" y="2317750"/>
                </a:cubicBezTo>
                <a:lnTo>
                  <a:pt x="31750" y="2317750"/>
                </a:lnTo>
                <a:cubicBezTo>
                  <a:pt x="14227" y="2317750"/>
                  <a:pt x="0" y="2303523"/>
                  <a:pt x="0" y="2286000"/>
                </a:cubicBezTo>
                <a:lnTo>
                  <a:pt x="0" y="31750"/>
                </a:lnTo>
                <a:cubicBezTo>
                  <a:pt x="0" y="14227"/>
                  <a:pt x="14227" y="0"/>
                  <a:pt x="31750" y="0"/>
                </a:cubicBezTo>
                <a:close/>
              </a:path>
            </a:pathLst>
          </a:custGeom>
          <a:solidFill>
            <a:srgbClr val="2C2C2E"/>
          </a:solidFill>
          <a:ln/>
        </p:spPr>
      </p:sp>
      <p:sp>
        <p:nvSpPr>
          <p:cNvPr id="27" name="Shape 25"/>
          <p:cNvSpPr/>
          <p:nvPr/>
        </p:nvSpPr>
        <p:spPr>
          <a:xfrm>
            <a:off x="333375" y="3390801"/>
            <a:ext cx="31750" cy="2317750"/>
          </a:xfrm>
          <a:custGeom>
            <a:avLst/>
            <a:gdLst/>
            <a:ahLst/>
            <a:cxnLst/>
            <a:rect l="l" t="t" r="r" b="b"/>
            <a:pathLst>
              <a:path w="31750" h="2317750">
                <a:moveTo>
                  <a:pt x="31750" y="0"/>
                </a:moveTo>
                <a:lnTo>
                  <a:pt x="31750" y="0"/>
                </a:lnTo>
                <a:lnTo>
                  <a:pt x="31750" y="2317750"/>
                </a:lnTo>
                <a:lnTo>
                  <a:pt x="31750" y="2317750"/>
                </a:lnTo>
                <a:cubicBezTo>
                  <a:pt x="14227" y="2317750"/>
                  <a:pt x="0" y="2303523"/>
                  <a:pt x="0" y="2286000"/>
                </a:cubicBezTo>
                <a:lnTo>
                  <a:pt x="0" y="31750"/>
                </a:lnTo>
                <a:cubicBezTo>
                  <a:pt x="0" y="14227"/>
                  <a:pt x="14227" y="0"/>
                  <a:pt x="31750" y="0"/>
                </a:cubicBezTo>
                <a:close/>
              </a:path>
            </a:pathLst>
          </a:custGeom>
          <a:solidFill>
            <a:srgbClr val="34C759"/>
          </a:solidFill>
          <a:ln/>
        </p:spPr>
      </p:sp>
      <p:sp>
        <p:nvSpPr>
          <p:cNvPr id="28" name="Shape 26"/>
          <p:cNvSpPr/>
          <p:nvPr/>
        </p:nvSpPr>
        <p:spPr>
          <a:xfrm>
            <a:off x="579438" y="3613051"/>
            <a:ext cx="119063" cy="1587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rgbClr val="34C759"/>
          </a:solidFill>
          <a:ln/>
        </p:spPr>
      </p:sp>
      <p:sp>
        <p:nvSpPr>
          <p:cNvPr id="29" name="Text 27"/>
          <p:cNvSpPr/>
          <p:nvPr/>
        </p:nvSpPr>
        <p:spPr>
          <a:xfrm>
            <a:off x="738188" y="3581301"/>
            <a:ext cx="5183188" cy="222250"/>
          </a:xfrm>
          <a:prstGeom prst="rect">
            <a:avLst/>
          </a:prstGeom>
          <a:noFill/>
          <a:ln/>
        </p:spPr>
        <p:txBody>
          <a:bodyPr wrap="square" lIns="0" tIns="0" rIns="0" bIns="0" rtlCol="0" anchor="ctr"/>
          <a:lstStyle/>
          <a:p>
            <a:pPr>
              <a:lnSpc>
                <a:spcPct val="120000"/>
              </a:lnSpc>
            </a:pPr>
            <a:r>
              <a:rPr lang="en-US" sz="1250" b="1" dirty="0">
                <a:solidFill>
                  <a:srgbClr val="34C759"/>
                </a:solidFill>
                <a:latin typeface="Liter" pitchFamily="34" charset="0"/>
                <a:ea typeface="Liter" pitchFamily="34" charset="-122"/>
                <a:cs typeface="Liter" pitchFamily="34" charset="-120"/>
              </a:rPr>
              <a:t>Key Points</a:t>
            </a:r>
            <a:endParaRPr lang="en-US" sz="1600" dirty="0"/>
          </a:p>
        </p:txBody>
      </p:sp>
      <p:sp>
        <p:nvSpPr>
          <p:cNvPr id="30" name="Text 28"/>
          <p:cNvSpPr/>
          <p:nvPr/>
        </p:nvSpPr>
        <p:spPr>
          <a:xfrm>
            <a:off x="539750" y="3930551"/>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31" name="Text 29"/>
          <p:cNvSpPr/>
          <p:nvPr/>
        </p:nvSpPr>
        <p:spPr>
          <a:xfrm>
            <a:off x="644922" y="3930551"/>
            <a:ext cx="2095500"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Save time</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 write once, deploy twice</a:t>
            </a:r>
            <a:endParaRPr lang="en-US" sz="1600" dirty="0"/>
          </a:p>
        </p:txBody>
      </p:sp>
      <p:sp>
        <p:nvSpPr>
          <p:cNvPr id="32" name="Text 30"/>
          <p:cNvSpPr/>
          <p:nvPr/>
        </p:nvSpPr>
        <p:spPr>
          <a:xfrm>
            <a:off x="539750" y="4216301"/>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33" name="Text 31"/>
          <p:cNvSpPr/>
          <p:nvPr/>
        </p:nvSpPr>
        <p:spPr>
          <a:xfrm>
            <a:off x="644922" y="4216301"/>
            <a:ext cx="2206625"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Save money</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 one team instead of two</a:t>
            </a:r>
            <a:endParaRPr lang="en-US" sz="1600" dirty="0"/>
          </a:p>
        </p:txBody>
      </p:sp>
      <p:sp>
        <p:nvSpPr>
          <p:cNvPr id="34" name="Text 32"/>
          <p:cNvSpPr/>
          <p:nvPr/>
        </p:nvSpPr>
        <p:spPr>
          <a:xfrm>
            <a:off x="539750" y="4502051"/>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35" name="Text 33"/>
          <p:cNvSpPr/>
          <p:nvPr/>
        </p:nvSpPr>
        <p:spPr>
          <a:xfrm>
            <a:off x="644922" y="4502051"/>
            <a:ext cx="2222500"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Consistent experience</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across platforms</a:t>
            </a:r>
            <a:endParaRPr lang="en-US" sz="1600" dirty="0"/>
          </a:p>
        </p:txBody>
      </p:sp>
      <p:sp>
        <p:nvSpPr>
          <p:cNvPr id="36" name="Text 34"/>
          <p:cNvSpPr/>
          <p:nvPr/>
        </p:nvSpPr>
        <p:spPr>
          <a:xfrm>
            <a:off x="539750" y="4787801"/>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37" name="Text 35"/>
          <p:cNvSpPr/>
          <p:nvPr/>
        </p:nvSpPr>
        <p:spPr>
          <a:xfrm>
            <a:off x="644922" y="4787801"/>
            <a:ext cx="2293938"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Faster updates</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 change once, update all</a:t>
            </a:r>
            <a:endParaRPr lang="en-US" sz="1600" dirty="0"/>
          </a:p>
        </p:txBody>
      </p:sp>
      <p:sp>
        <p:nvSpPr>
          <p:cNvPr id="38" name="Text 36"/>
          <p:cNvSpPr/>
          <p:nvPr/>
        </p:nvSpPr>
        <p:spPr>
          <a:xfrm>
            <a:off x="539750" y="5073551"/>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39" name="Text 37"/>
          <p:cNvSpPr/>
          <p:nvPr/>
        </p:nvSpPr>
        <p:spPr>
          <a:xfrm>
            <a:off x="644922" y="5073551"/>
            <a:ext cx="2341563"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Popular frameworks: </a:t>
            </a:r>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Flutter, React Native</a:t>
            </a:r>
            <a:endParaRPr lang="en-US" sz="1600" dirty="0"/>
          </a:p>
        </p:txBody>
      </p:sp>
      <p:sp>
        <p:nvSpPr>
          <p:cNvPr id="40" name="Shape 38"/>
          <p:cNvSpPr/>
          <p:nvPr/>
        </p:nvSpPr>
        <p:spPr>
          <a:xfrm>
            <a:off x="320675" y="5838726"/>
            <a:ext cx="5705475" cy="1054100"/>
          </a:xfrm>
          <a:prstGeom prst="roundRect">
            <a:avLst>
              <a:gd name="adj" fmla="val 12048"/>
            </a:avLst>
          </a:prstGeom>
          <a:solidFill>
            <a:srgbClr val="0A84FF">
              <a:alpha val="10196"/>
            </a:srgbClr>
          </a:solidFill>
          <a:ln w="10160">
            <a:solidFill>
              <a:srgbClr val="0A84FF">
                <a:alpha val="30196"/>
              </a:srgbClr>
            </a:solidFill>
            <a:prstDash val="solid"/>
          </a:ln>
        </p:spPr>
      </p:sp>
      <p:sp>
        <p:nvSpPr>
          <p:cNvPr id="41" name="Shape 39"/>
          <p:cNvSpPr/>
          <p:nvPr/>
        </p:nvSpPr>
        <p:spPr>
          <a:xfrm>
            <a:off x="502444" y="6040337"/>
            <a:ext cx="142875" cy="142875"/>
          </a:xfrm>
          <a:custGeom>
            <a:avLst/>
            <a:gdLst/>
            <a:ahLst/>
            <a:cxnLst/>
            <a:rect l="l" t="t" r="r" b="b"/>
            <a:pathLst>
              <a:path w="142875" h="142875">
                <a:moveTo>
                  <a:pt x="71438" y="133945"/>
                </a:moveTo>
                <a:cubicBezTo>
                  <a:pt x="110896" y="133945"/>
                  <a:pt x="142875" y="103947"/>
                  <a:pt x="142875" y="66973"/>
                </a:cubicBezTo>
                <a:cubicBezTo>
                  <a:pt x="142875" y="29998"/>
                  <a:pt x="110896" y="0"/>
                  <a:pt x="71438" y="0"/>
                </a:cubicBezTo>
                <a:cubicBezTo>
                  <a:pt x="31979" y="0"/>
                  <a:pt x="0" y="29998"/>
                  <a:pt x="0" y="66973"/>
                </a:cubicBezTo>
                <a:cubicBezTo>
                  <a:pt x="0" y="82125"/>
                  <a:pt x="5358" y="96078"/>
                  <a:pt x="14399" y="107296"/>
                </a:cubicBezTo>
                <a:lnTo>
                  <a:pt x="781" y="133052"/>
                </a:lnTo>
                <a:cubicBezTo>
                  <a:pt x="-558" y="135564"/>
                  <a:pt x="-140" y="138633"/>
                  <a:pt x="1786" y="140726"/>
                </a:cubicBezTo>
                <a:cubicBezTo>
                  <a:pt x="3711" y="142819"/>
                  <a:pt x="6753" y="143461"/>
                  <a:pt x="9348" y="142345"/>
                </a:cubicBezTo>
                <a:lnTo>
                  <a:pt x="42388" y="128197"/>
                </a:lnTo>
                <a:cubicBezTo>
                  <a:pt x="51262" y="131880"/>
                  <a:pt x="61085" y="133945"/>
                  <a:pt x="71438" y="133945"/>
                </a:cubicBezTo>
                <a:close/>
                <a:moveTo>
                  <a:pt x="35719" y="58043"/>
                </a:moveTo>
                <a:cubicBezTo>
                  <a:pt x="40647" y="58043"/>
                  <a:pt x="44648" y="62044"/>
                  <a:pt x="44648" y="66973"/>
                </a:cubicBezTo>
                <a:cubicBezTo>
                  <a:pt x="44648" y="71901"/>
                  <a:pt x="40647" y="75902"/>
                  <a:pt x="35719" y="75902"/>
                </a:cubicBezTo>
                <a:cubicBezTo>
                  <a:pt x="30790" y="75902"/>
                  <a:pt x="26789" y="71901"/>
                  <a:pt x="26789" y="66973"/>
                </a:cubicBezTo>
                <a:cubicBezTo>
                  <a:pt x="26789" y="62044"/>
                  <a:pt x="30790" y="58043"/>
                  <a:pt x="35719" y="58043"/>
                </a:cubicBezTo>
                <a:close/>
                <a:moveTo>
                  <a:pt x="71438" y="58043"/>
                </a:moveTo>
                <a:cubicBezTo>
                  <a:pt x="76366" y="58043"/>
                  <a:pt x="80367" y="62044"/>
                  <a:pt x="80367" y="66973"/>
                </a:cubicBezTo>
                <a:cubicBezTo>
                  <a:pt x="80367" y="71901"/>
                  <a:pt x="76366" y="75902"/>
                  <a:pt x="71438" y="75902"/>
                </a:cubicBezTo>
                <a:cubicBezTo>
                  <a:pt x="66509" y="75902"/>
                  <a:pt x="62508" y="71901"/>
                  <a:pt x="62508" y="66973"/>
                </a:cubicBezTo>
                <a:cubicBezTo>
                  <a:pt x="62508" y="62044"/>
                  <a:pt x="66509" y="58043"/>
                  <a:pt x="71438" y="58043"/>
                </a:cubicBezTo>
                <a:close/>
                <a:moveTo>
                  <a:pt x="98227" y="66973"/>
                </a:moveTo>
                <a:cubicBezTo>
                  <a:pt x="98227" y="62044"/>
                  <a:pt x="102228" y="58043"/>
                  <a:pt x="107156" y="58043"/>
                </a:cubicBezTo>
                <a:cubicBezTo>
                  <a:pt x="112085" y="58043"/>
                  <a:pt x="116086" y="62044"/>
                  <a:pt x="116086" y="66973"/>
                </a:cubicBezTo>
                <a:cubicBezTo>
                  <a:pt x="116086" y="71901"/>
                  <a:pt x="112085" y="75902"/>
                  <a:pt x="107156" y="75902"/>
                </a:cubicBezTo>
                <a:cubicBezTo>
                  <a:pt x="102228" y="75902"/>
                  <a:pt x="98227" y="71901"/>
                  <a:pt x="98227" y="66973"/>
                </a:cubicBezTo>
                <a:close/>
              </a:path>
            </a:pathLst>
          </a:custGeom>
          <a:solidFill>
            <a:srgbClr val="0A84FF"/>
          </a:solidFill>
          <a:ln/>
        </p:spPr>
      </p:sp>
      <p:sp>
        <p:nvSpPr>
          <p:cNvPr id="42" name="Text 40"/>
          <p:cNvSpPr/>
          <p:nvPr/>
        </p:nvSpPr>
        <p:spPr>
          <a:xfrm>
            <a:off x="665162" y="6000649"/>
            <a:ext cx="5270500" cy="222250"/>
          </a:xfrm>
          <a:prstGeom prst="rect">
            <a:avLst/>
          </a:prstGeom>
          <a:noFill/>
          <a:ln/>
        </p:spPr>
        <p:txBody>
          <a:bodyPr wrap="square" lIns="0" tIns="0" rIns="0" bIns="0" rtlCol="0" anchor="ctr"/>
          <a:lstStyle/>
          <a:p>
            <a:pPr>
              <a:lnSpc>
                <a:spcPct val="130000"/>
              </a:lnSpc>
            </a:pPr>
            <a:r>
              <a:rPr lang="en-US" sz="1125"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43" name="Text 41"/>
          <p:cNvSpPr/>
          <p:nvPr/>
        </p:nvSpPr>
        <p:spPr>
          <a:xfrm>
            <a:off x="482600" y="6318149"/>
            <a:ext cx="5445125" cy="412750"/>
          </a:xfrm>
          <a:prstGeom prst="rect">
            <a:avLst/>
          </a:prstGeom>
          <a:noFill/>
          <a:ln/>
        </p:spPr>
        <p:txBody>
          <a:bodyPr wrap="square" lIns="0" tIns="0" rIns="0" bIns="0" rtlCol="0" anchor="ctr"/>
          <a:lstStyle/>
          <a:p>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Cross-platform development is like </a:t>
            </a:r>
            <a:pPr>
              <a:lnSpc>
                <a:spcPct val="140000"/>
              </a:lnSpc>
            </a:pPr>
            <a:r>
              <a:rPr lang="en-US" sz="1000" b="1" dirty="0">
                <a:solidFill>
                  <a:srgbClr val="34C759"/>
                </a:solidFill>
                <a:latin typeface="Quattrocento Sans" pitchFamily="34" charset="0"/>
                <a:ea typeface="Quattrocento Sans" pitchFamily="34" charset="-122"/>
                <a:cs typeface="Quattrocento Sans" pitchFamily="34" charset="-120"/>
              </a:rPr>
              <a:t>speaking a universal language</a:t>
            </a:r>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 Instead of learning English and French separately, you learn one language that both groups understand.</a:t>
            </a:r>
            <a:endParaRPr lang="en-US" sz="1600" dirty="0"/>
          </a:p>
        </p:txBody>
      </p:sp>
      <p:sp>
        <p:nvSpPr>
          <p:cNvPr id="44" name="Shape 42"/>
          <p:cNvSpPr/>
          <p:nvPr/>
        </p:nvSpPr>
        <p:spPr>
          <a:xfrm>
            <a:off x="6159500" y="3390801"/>
            <a:ext cx="5715000" cy="2460625"/>
          </a:xfrm>
          <a:prstGeom prst="roundRect">
            <a:avLst>
              <a:gd name="adj" fmla="val 5161"/>
            </a:avLst>
          </a:prstGeom>
          <a:solidFill>
            <a:srgbClr val="2C2C2E"/>
          </a:solidFill>
          <a:ln/>
        </p:spPr>
      </p:sp>
      <p:sp>
        <p:nvSpPr>
          <p:cNvPr id="45" name="Shape 43"/>
          <p:cNvSpPr/>
          <p:nvPr/>
        </p:nvSpPr>
        <p:spPr>
          <a:xfrm>
            <a:off x="6350000" y="3613051"/>
            <a:ext cx="198438" cy="158750"/>
          </a:xfrm>
          <a:custGeom>
            <a:avLst/>
            <a:gdLst/>
            <a:ahLst/>
            <a:cxnLst/>
            <a:rect l="l" t="t" r="r" b="b"/>
            <a:pathLst>
              <a:path w="198438" h="158750">
                <a:moveTo>
                  <a:pt x="119062" y="9922"/>
                </a:moveTo>
                <a:lnTo>
                  <a:pt x="158750" y="9922"/>
                </a:lnTo>
                <a:cubicBezTo>
                  <a:pt x="164238" y="9922"/>
                  <a:pt x="168672" y="14356"/>
                  <a:pt x="168672" y="19844"/>
                </a:cubicBezTo>
                <a:cubicBezTo>
                  <a:pt x="168672" y="25332"/>
                  <a:pt x="164238" y="29766"/>
                  <a:pt x="158750" y="29766"/>
                </a:cubicBezTo>
                <a:lnTo>
                  <a:pt x="123527" y="29766"/>
                </a:lnTo>
                <a:cubicBezTo>
                  <a:pt x="121915" y="37765"/>
                  <a:pt x="116427" y="44369"/>
                  <a:pt x="109141" y="47532"/>
                </a:cubicBezTo>
                <a:lnTo>
                  <a:pt x="109141" y="138906"/>
                </a:lnTo>
                <a:lnTo>
                  <a:pt x="158750" y="138906"/>
                </a:lnTo>
                <a:cubicBezTo>
                  <a:pt x="164238" y="138906"/>
                  <a:pt x="168672" y="143340"/>
                  <a:pt x="168672" y="148828"/>
                </a:cubicBezTo>
                <a:cubicBezTo>
                  <a:pt x="168672" y="154316"/>
                  <a:pt x="164238" y="158750"/>
                  <a:pt x="158750" y="158750"/>
                </a:cubicBezTo>
                <a:lnTo>
                  <a:pt x="39688" y="158750"/>
                </a:lnTo>
                <a:cubicBezTo>
                  <a:pt x="34199" y="158750"/>
                  <a:pt x="29766" y="154316"/>
                  <a:pt x="29766" y="148828"/>
                </a:cubicBezTo>
                <a:cubicBezTo>
                  <a:pt x="29766" y="143340"/>
                  <a:pt x="34199" y="138906"/>
                  <a:pt x="39688" y="138906"/>
                </a:cubicBezTo>
                <a:lnTo>
                  <a:pt x="89297" y="138906"/>
                </a:lnTo>
                <a:lnTo>
                  <a:pt x="89297" y="47532"/>
                </a:lnTo>
                <a:cubicBezTo>
                  <a:pt x="82010" y="44338"/>
                  <a:pt x="76522" y="37734"/>
                  <a:pt x="74910" y="29766"/>
                </a:cubicBezTo>
                <a:lnTo>
                  <a:pt x="39688" y="29766"/>
                </a:lnTo>
                <a:cubicBezTo>
                  <a:pt x="34199" y="29766"/>
                  <a:pt x="29766" y="25332"/>
                  <a:pt x="29766" y="19844"/>
                </a:cubicBezTo>
                <a:cubicBezTo>
                  <a:pt x="29766" y="14356"/>
                  <a:pt x="34199" y="9922"/>
                  <a:pt x="39688" y="9922"/>
                </a:cubicBezTo>
                <a:lnTo>
                  <a:pt x="79375" y="9922"/>
                </a:lnTo>
                <a:cubicBezTo>
                  <a:pt x="83902" y="3907"/>
                  <a:pt x="91095" y="0"/>
                  <a:pt x="99219" y="0"/>
                </a:cubicBezTo>
                <a:cubicBezTo>
                  <a:pt x="107342" y="0"/>
                  <a:pt x="114536" y="3907"/>
                  <a:pt x="119062" y="9922"/>
                </a:cubicBezTo>
                <a:close/>
                <a:moveTo>
                  <a:pt x="136302" y="99219"/>
                </a:moveTo>
                <a:lnTo>
                  <a:pt x="181198" y="99219"/>
                </a:lnTo>
                <a:lnTo>
                  <a:pt x="158750" y="60709"/>
                </a:lnTo>
                <a:lnTo>
                  <a:pt x="136302" y="99219"/>
                </a:lnTo>
                <a:close/>
                <a:moveTo>
                  <a:pt x="158750" y="128984"/>
                </a:moveTo>
                <a:cubicBezTo>
                  <a:pt x="139247" y="128984"/>
                  <a:pt x="123031" y="118442"/>
                  <a:pt x="119683" y="104521"/>
                </a:cubicBezTo>
                <a:cubicBezTo>
                  <a:pt x="118876" y="101110"/>
                  <a:pt x="119993" y="97606"/>
                  <a:pt x="121760" y="94568"/>
                </a:cubicBezTo>
                <a:lnTo>
                  <a:pt x="151278" y="43966"/>
                </a:lnTo>
                <a:cubicBezTo>
                  <a:pt x="152828" y="41300"/>
                  <a:pt x="155680" y="39688"/>
                  <a:pt x="158750" y="39688"/>
                </a:cubicBezTo>
                <a:cubicBezTo>
                  <a:pt x="161820" y="39688"/>
                  <a:pt x="164672" y="41331"/>
                  <a:pt x="166222" y="43966"/>
                </a:cubicBezTo>
                <a:lnTo>
                  <a:pt x="195740" y="94568"/>
                </a:lnTo>
                <a:cubicBezTo>
                  <a:pt x="197507" y="97606"/>
                  <a:pt x="198624" y="101110"/>
                  <a:pt x="197817" y="104521"/>
                </a:cubicBezTo>
                <a:cubicBezTo>
                  <a:pt x="194469" y="118411"/>
                  <a:pt x="178253" y="128984"/>
                  <a:pt x="158750" y="128984"/>
                </a:cubicBezTo>
                <a:close/>
                <a:moveTo>
                  <a:pt x="39315" y="60709"/>
                </a:moveTo>
                <a:lnTo>
                  <a:pt x="16867" y="99219"/>
                </a:lnTo>
                <a:lnTo>
                  <a:pt x="61795" y="99219"/>
                </a:lnTo>
                <a:lnTo>
                  <a:pt x="39315" y="60709"/>
                </a:lnTo>
                <a:close/>
                <a:moveTo>
                  <a:pt x="279" y="104521"/>
                </a:moveTo>
                <a:cubicBezTo>
                  <a:pt x="-527" y="101110"/>
                  <a:pt x="589" y="97606"/>
                  <a:pt x="2356" y="94568"/>
                </a:cubicBezTo>
                <a:lnTo>
                  <a:pt x="31874" y="43966"/>
                </a:lnTo>
                <a:cubicBezTo>
                  <a:pt x="33424" y="41300"/>
                  <a:pt x="36277" y="39688"/>
                  <a:pt x="39346" y="39688"/>
                </a:cubicBezTo>
                <a:cubicBezTo>
                  <a:pt x="42416" y="39688"/>
                  <a:pt x="45269" y="41331"/>
                  <a:pt x="46819" y="43966"/>
                </a:cubicBezTo>
                <a:lnTo>
                  <a:pt x="76336" y="94568"/>
                </a:lnTo>
                <a:cubicBezTo>
                  <a:pt x="78104" y="97606"/>
                  <a:pt x="79220" y="101110"/>
                  <a:pt x="78414" y="104521"/>
                </a:cubicBezTo>
                <a:cubicBezTo>
                  <a:pt x="75065" y="118411"/>
                  <a:pt x="58849" y="128984"/>
                  <a:pt x="39346" y="128984"/>
                </a:cubicBezTo>
                <a:cubicBezTo>
                  <a:pt x="19844" y="128984"/>
                  <a:pt x="3628" y="118442"/>
                  <a:pt x="279" y="104521"/>
                </a:cubicBezTo>
                <a:close/>
              </a:path>
            </a:pathLst>
          </a:custGeom>
          <a:solidFill>
            <a:srgbClr val="34C759"/>
          </a:solidFill>
          <a:ln/>
        </p:spPr>
      </p:sp>
      <p:sp>
        <p:nvSpPr>
          <p:cNvPr id="46" name="Text 44"/>
          <p:cNvSpPr/>
          <p:nvPr/>
        </p:nvSpPr>
        <p:spPr>
          <a:xfrm>
            <a:off x="6548438" y="3581301"/>
            <a:ext cx="5214938" cy="222250"/>
          </a:xfrm>
          <a:prstGeom prst="rect">
            <a:avLst/>
          </a:prstGeom>
          <a:noFill/>
          <a:ln/>
        </p:spPr>
        <p:txBody>
          <a:bodyPr wrap="square" lIns="0" tIns="0" rIns="0" bIns="0" rtlCol="0" anchor="ctr"/>
          <a:lstStyle/>
          <a:p>
            <a:pPr>
              <a:lnSpc>
                <a:spcPct val="120000"/>
              </a:lnSpc>
            </a:pPr>
            <a:r>
              <a:rPr lang="en-US" sz="1250" b="1" dirty="0">
                <a:solidFill>
                  <a:srgbClr val="34C759"/>
                </a:solidFill>
                <a:latin typeface="Liter" pitchFamily="34" charset="0"/>
                <a:ea typeface="Liter" pitchFamily="34" charset="-122"/>
                <a:cs typeface="Liter" pitchFamily="34" charset="-120"/>
              </a:rPr>
              <a:t>Cost &amp; Time Comparison</a:t>
            </a:r>
            <a:endParaRPr lang="en-US" sz="1600" dirty="0"/>
          </a:p>
        </p:txBody>
      </p:sp>
      <p:sp>
        <p:nvSpPr>
          <p:cNvPr id="47" name="Shape 45"/>
          <p:cNvSpPr/>
          <p:nvPr/>
        </p:nvSpPr>
        <p:spPr>
          <a:xfrm>
            <a:off x="6350000" y="3930551"/>
            <a:ext cx="5334000" cy="1730375"/>
          </a:xfrm>
          <a:prstGeom prst="roundRect">
            <a:avLst>
              <a:gd name="adj" fmla="val 5505"/>
            </a:avLst>
          </a:prstGeom>
          <a:solidFill>
            <a:srgbClr val="1A1D21"/>
          </a:solidFill>
          <a:ln/>
        </p:spPr>
      </p:sp>
      <p:sp>
        <p:nvSpPr>
          <p:cNvPr id="48" name="Text 46"/>
          <p:cNvSpPr/>
          <p:nvPr/>
        </p:nvSpPr>
        <p:spPr>
          <a:xfrm>
            <a:off x="6508750" y="4089301"/>
            <a:ext cx="1190625" cy="190500"/>
          </a:xfrm>
          <a:prstGeom prst="rect">
            <a:avLst/>
          </a:prstGeom>
          <a:noFill/>
          <a:ln/>
        </p:spPr>
        <p:txBody>
          <a:bodyPr wrap="square" lIns="0" tIns="0" rIns="0" bIns="0" rtlCol="0" anchor="ctr"/>
          <a:lstStyle/>
          <a:p>
            <a:pP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Native Development</a:t>
            </a:r>
            <a:endParaRPr lang="en-US" sz="1600" dirty="0"/>
          </a:p>
        </p:txBody>
      </p:sp>
      <p:sp>
        <p:nvSpPr>
          <p:cNvPr id="49" name="Text 47"/>
          <p:cNvSpPr/>
          <p:nvPr/>
        </p:nvSpPr>
        <p:spPr>
          <a:xfrm>
            <a:off x="10738843" y="4089301"/>
            <a:ext cx="849313" cy="190500"/>
          </a:xfrm>
          <a:prstGeom prst="rect">
            <a:avLst/>
          </a:prstGeom>
          <a:noFill/>
          <a:ln/>
        </p:spPr>
        <p:txBody>
          <a:bodyPr wrap="square" lIns="0" tIns="0" rIns="0" bIns="0" rtlCol="0" anchor="ctr"/>
          <a:lstStyle/>
          <a:p>
            <a:pPr>
              <a:lnSpc>
                <a:spcPct val="130000"/>
              </a:lnSpc>
            </a:pPr>
            <a:r>
              <a:rPr lang="en-US" sz="1000" b="1" dirty="0">
                <a:solidFill>
                  <a:srgbClr val="FF3B30"/>
                </a:solidFill>
                <a:latin typeface="Quattrocento Sans" pitchFamily="34" charset="0"/>
                <a:ea typeface="Quattrocento Sans" pitchFamily="34" charset="-122"/>
                <a:cs typeface="Quattrocento Sans" pitchFamily="34" charset="-120"/>
              </a:rPr>
              <a:t>2x cost &amp; time</a:t>
            </a:r>
            <a:endParaRPr lang="en-US" sz="1600" dirty="0"/>
          </a:p>
        </p:txBody>
      </p:sp>
      <p:sp>
        <p:nvSpPr>
          <p:cNvPr id="50" name="Shape 48"/>
          <p:cNvSpPr/>
          <p:nvPr/>
        </p:nvSpPr>
        <p:spPr>
          <a:xfrm>
            <a:off x="6508750" y="4343301"/>
            <a:ext cx="5016500" cy="127000"/>
          </a:xfrm>
          <a:prstGeom prst="roundRect">
            <a:avLst>
              <a:gd name="adj" fmla="val 50000"/>
            </a:avLst>
          </a:prstGeom>
          <a:solidFill>
            <a:srgbClr val="2C2C2E"/>
          </a:solidFill>
          <a:ln/>
        </p:spPr>
      </p:sp>
      <p:sp>
        <p:nvSpPr>
          <p:cNvPr id="51" name="Shape 49"/>
          <p:cNvSpPr/>
          <p:nvPr/>
        </p:nvSpPr>
        <p:spPr>
          <a:xfrm>
            <a:off x="6508750" y="4343301"/>
            <a:ext cx="5016500" cy="127000"/>
          </a:xfrm>
          <a:prstGeom prst="roundRect">
            <a:avLst>
              <a:gd name="adj" fmla="val 50000"/>
            </a:avLst>
          </a:prstGeom>
          <a:solidFill>
            <a:srgbClr val="FF3B30"/>
          </a:solidFill>
          <a:ln/>
        </p:spPr>
      </p:sp>
      <p:sp>
        <p:nvSpPr>
          <p:cNvPr id="52" name="Text 50"/>
          <p:cNvSpPr/>
          <p:nvPr/>
        </p:nvSpPr>
        <p:spPr>
          <a:xfrm>
            <a:off x="6508750" y="4597301"/>
            <a:ext cx="896938" cy="190500"/>
          </a:xfrm>
          <a:prstGeom prst="rect">
            <a:avLst/>
          </a:prstGeom>
          <a:noFill/>
          <a:ln/>
        </p:spPr>
        <p:txBody>
          <a:bodyPr wrap="square" lIns="0" tIns="0" rIns="0" bIns="0" rtlCol="0" anchor="ctr"/>
          <a:lstStyle/>
          <a:p>
            <a:pP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Cross-Platform</a:t>
            </a:r>
            <a:endParaRPr lang="en-US" sz="1600" dirty="0"/>
          </a:p>
        </p:txBody>
      </p:sp>
      <p:sp>
        <p:nvSpPr>
          <p:cNvPr id="53" name="Text 51"/>
          <p:cNvSpPr/>
          <p:nvPr/>
        </p:nvSpPr>
        <p:spPr>
          <a:xfrm>
            <a:off x="10763250" y="4597301"/>
            <a:ext cx="825500"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1x cost &amp; time</a:t>
            </a:r>
            <a:endParaRPr lang="en-US" sz="1600" dirty="0"/>
          </a:p>
        </p:txBody>
      </p:sp>
      <p:sp>
        <p:nvSpPr>
          <p:cNvPr id="54" name="Shape 52"/>
          <p:cNvSpPr/>
          <p:nvPr/>
        </p:nvSpPr>
        <p:spPr>
          <a:xfrm>
            <a:off x="6508750" y="4851301"/>
            <a:ext cx="5016500" cy="127000"/>
          </a:xfrm>
          <a:prstGeom prst="roundRect">
            <a:avLst>
              <a:gd name="adj" fmla="val 50000"/>
            </a:avLst>
          </a:prstGeom>
          <a:solidFill>
            <a:srgbClr val="2C2C2E"/>
          </a:solidFill>
          <a:ln/>
        </p:spPr>
      </p:sp>
      <p:sp>
        <p:nvSpPr>
          <p:cNvPr id="55" name="Shape 53"/>
          <p:cNvSpPr/>
          <p:nvPr/>
        </p:nvSpPr>
        <p:spPr>
          <a:xfrm>
            <a:off x="6508750" y="4851301"/>
            <a:ext cx="2508250" cy="127000"/>
          </a:xfrm>
          <a:prstGeom prst="roundRect">
            <a:avLst>
              <a:gd name="adj" fmla="val 50000"/>
            </a:avLst>
          </a:prstGeom>
          <a:solidFill>
            <a:srgbClr val="34C759"/>
          </a:solidFill>
          <a:ln/>
        </p:spPr>
      </p:sp>
      <p:sp>
        <p:nvSpPr>
          <p:cNvPr id="56" name="Shape 54"/>
          <p:cNvSpPr/>
          <p:nvPr/>
        </p:nvSpPr>
        <p:spPr>
          <a:xfrm>
            <a:off x="6511925" y="5108476"/>
            <a:ext cx="5006975" cy="387350"/>
          </a:xfrm>
          <a:prstGeom prst="roundRect">
            <a:avLst>
              <a:gd name="adj" fmla="val 16393"/>
            </a:avLst>
          </a:prstGeom>
          <a:solidFill>
            <a:srgbClr val="34C759">
              <a:alpha val="10196"/>
            </a:srgbClr>
          </a:solidFill>
          <a:ln w="10160">
            <a:solidFill>
              <a:srgbClr val="34C759">
                <a:alpha val="30196"/>
              </a:srgbClr>
            </a:solidFill>
            <a:prstDash val="solid"/>
          </a:ln>
        </p:spPr>
      </p:sp>
      <p:sp>
        <p:nvSpPr>
          <p:cNvPr id="57" name="Text 55"/>
          <p:cNvSpPr/>
          <p:nvPr/>
        </p:nvSpPr>
        <p:spPr>
          <a:xfrm>
            <a:off x="6578600" y="5206899"/>
            <a:ext cx="4873625" cy="190500"/>
          </a:xfrm>
          <a:prstGeom prst="rect">
            <a:avLst/>
          </a:prstGeom>
          <a:noFill/>
          <a:ln/>
        </p:spPr>
        <p:txBody>
          <a:bodyPr wrap="square" lIns="0" tIns="0" rIns="0" bIns="0" rtlCol="0" anchor="ctr"/>
          <a:lstStyle/>
          <a:p>
            <a:pPr algn="ct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Save up to 50%</a:t>
            </a:r>
            <a:pPr algn="ct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in development costs!</a:t>
            </a:r>
            <a:endParaRPr lang="en-US" sz="1600" dirty="0"/>
          </a:p>
        </p:txBody>
      </p:sp>
      <p:sp>
        <p:nvSpPr>
          <p:cNvPr id="58" name="Shape 56"/>
          <p:cNvSpPr/>
          <p:nvPr/>
        </p:nvSpPr>
        <p:spPr>
          <a:xfrm>
            <a:off x="6159500" y="5975255"/>
            <a:ext cx="5715000" cy="920750"/>
          </a:xfrm>
          <a:prstGeom prst="roundRect">
            <a:avLst>
              <a:gd name="adj" fmla="val 13793"/>
            </a:avLst>
          </a:prstGeom>
          <a:solidFill>
            <a:srgbClr val="2C2C2E"/>
          </a:solidFill>
          <a:ln/>
        </p:spPr>
      </p:sp>
      <p:sp>
        <p:nvSpPr>
          <p:cNvPr id="59" name="Shape 57"/>
          <p:cNvSpPr/>
          <p:nvPr/>
        </p:nvSpPr>
        <p:spPr>
          <a:xfrm>
            <a:off x="6310313" y="6134005"/>
            <a:ext cx="111125" cy="127000"/>
          </a:xfrm>
          <a:custGeom>
            <a:avLst/>
            <a:gdLst/>
            <a:ahLst/>
            <a:cxnLst/>
            <a:rect l="l" t="t" r="r" b="b"/>
            <a:pathLst>
              <a:path w="111125" h="127000">
                <a:moveTo>
                  <a:pt x="15875" y="7938"/>
                </a:moveTo>
                <a:cubicBezTo>
                  <a:pt x="7119" y="7938"/>
                  <a:pt x="0" y="15056"/>
                  <a:pt x="0" y="23812"/>
                </a:cubicBezTo>
                <a:lnTo>
                  <a:pt x="0" y="103188"/>
                </a:lnTo>
                <a:cubicBezTo>
                  <a:pt x="0" y="111944"/>
                  <a:pt x="7119" y="119063"/>
                  <a:pt x="15875" y="119063"/>
                </a:cubicBezTo>
                <a:lnTo>
                  <a:pt x="95250" y="119063"/>
                </a:lnTo>
                <a:cubicBezTo>
                  <a:pt x="104006" y="119063"/>
                  <a:pt x="111125" y="111944"/>
                  <a:pt x="111125" y="103188"/>
                </a:cubicBezTo>
                <a:lnTo>
                  <a:pt x="111125" y="23812"/>
                </a:lnTo>
                <a:cubicBezTo>
                  <a:pt x="111125" y="15056"/>
                  <a:pt x="104006" y="7938"/>
                  <a:pt x="95250" y="7938"/>
                </a:cubicBezTo>
                <a:lnTo>
                  <a:pt x="15875" y="7938"/>
                </a:lnTo>
                <a:close/>
                <a:moveTo>
                  <a:pt x="31750" y="27781"/>
                </a:moveTo>
                <a:cubicBezTo>
                  <a:pt x="38321" y="27781"/>
                  <a:pt x="43656" y="33116"/>
                  <a:pt x="43656" y="39688"/>
                </a:cubicBezTo>
                <a:cubicBezTo>
                  <a:pt x="43656" y="46259"/>
                  <a:pt x="38321" y="51594"/>
                  <a:pt x="31750" y="51594"/>
                </a:cubicBezTo>
                <a:cubicBezTo>
                  <a:pt x="25179" y="51594"/>
                  <a:pt x="19844" y="46259"/>
                  <a:pt x="19844" y="39688"/>
                </a:cubicBezTo>
                <a:cubicBezTo>
                  <a:pt x="19844" y="33116"/>
                  <a:pt x="25179" y="27781"/>
                  <a:pt x="31750" y="27781"/>
                </a:cubicBezTo>
                <a:close/>
                <a:moveTo>
                  <a:pt x="67469" y="55563"/>
                </a:moveTo>
                <a:cubicBezTo>
                  <a:pt x="69552" y="55563"/>
                  <a:pt x="71462" y="56654"/>
                  <a:pt x="72554" y="58415"/>
                </a:cubicBezTo>
                <a:lnTo>
                  <a:pt x="94382" y="94134"/>
                </a:lnTo>
                <a:cubicBezTo>
                  <a:pt x="95498" y="95969"/>
                  <a:pt x="95548" y="98276"/>
                  <a:pt x="94506" y="100161"/>
                </a:cubicBezTo>
                <a:cubicBezTo>
                  <a:pt x="93464" y="102046"/>
                  <a:pt x="91455" y="103188"/>
                  <a:pt x="89297" y="103188"/>
                </a:cubicBezTo>
                <a:lnTo>
                  <a:pt x="21828" y="103188"/>
                </a:lnTo>
                <a:cubicBezTo>
                  <a:pt x="19621" y="103188"/>
                  <a:pt x="17562" y="101947"/>
                  <a:pt x="16545" y="99988"/>
                </a:cubicBezTo>
                <a:cubicBezTo>
                  <a:pt x="15528" y="98028"/>
                  <a:pt x="15677" y="95647"/>
                  <a:pt x="16942" y="93836"/>
                </a:cubicBezTo>
                <a:lnTo>
                  <a:pt x="30832" y="73992"/>
                </a:lnTo>
                <a:cubicBezTo>
                  <a:pt x="31948" y="72405"/>
                  <a:pt x="33759" y="71462"/>
                  <a:pt x="35719" y="71462"/>
                </a:cubicBezTo>
                <a:cubicBezTo>
                  <a:pt x="37678" y="71462"/>
                  <a:pt x="39489" y="72405"/>
                  <a:pt x="40605" y="73992"/>
                </a:cubicBezTo>
                <a:lnTo>
                  <a:pt x="47154" y="83369"/>
                </a:lnTo>
                <a:lnTo>
                  <a:pt x="62384" y="58440"/>
                </a:lnTo>
                <a:cubicBezTo>
                  <a:pt x="63475" y="56679"/>
                  <a:pt x="65385" y="55587"/>
                  <a:pt x="67469" y="55587"/>
                </a:cubicBezTo>
                <a:close/>
              </a:path>
            </a:pathLst>
          </a:custGeom>
          <a:solidFill>
            <a:srgbClr val="8E8E93"/>
          </a:solidFill>
          <a:ln/>
        </p:spPr>
      </p:sp>
      <p:sp>
        <p:nvSpPr>
          <p:cNvPr id="60" name="Text 58"/>
          <p:cNvSpPr/>
          <p:nvPr/>
        </p:nvSpPr>
        <p:spPr>
          <a:xfrm>
            <a:off x="6445250" y="6102255"/>
            <a:ext cx="5365750" cy="190500"/>
          </a:xfrm>
          <a:prstGeom prst="rect">
            <a:avLst/>
          </a:prstGeom>
          <a:noFill/>
          <a:ln/>
        </p:spPr>
        <p:txBody>
          <a:bodyPr wrap="square" lIns="0" tIns="0" rIns="0" bIns="0" rtlCol="0" anchor="ctr"/>
          <a:lstStyle/>
          <a:p>
            <a:pPr>
              <a:lnSpc>
                <a:spcPct val="130000"/>
              </a:lnSpc>
            </a:pPr>
            <a:r>
              <a:rPr lang="en-US" sz="1000" b="1" dirty="0">
                <a:solidFill>
                  <a:srgbClr val="8E8E93"/>
                </a:solidFill>
                <a:latin typeface="Liter" pitchFamily="34" charset="0"/>
                <a:ea typeface="Liter" pitchFamily="34" charset="-122"/>
                <a:cs typeface="Liter" pitchFamily="34" charset="-120"/>
              </a:rPr>
              <a:t>Visual Suggestion</a:t>
            </a:r>
            <a:endParaRPr lang="en-US" sz="1600" dirty="0"/>
          </a:p>
        </p:txBody>
      </p:sp>
      <p:sp>
        <p:nvSpPr>
          <p:cNvPr id="61" name="Shape 59"/>
          <p:cNvSpPr/>
          <p:nvPr/>
        </p:nvSpPr>
        <p:spPr>
          <a:xfrm>
            <a:off x="6302375" y="6388005"/>
            <a:ext cx="127000" cy="127000"/>
          </a:xfrm>
          <a:custGeom>
            <a:avLst/>
            <a:gdLst/>
            <a:ahLst/>
            <a:cxnLst/>
            <a:rect l="l" t="t" r="r" b="b"/>
            <a:pathLst>
              <a:path w="127000" h="127000">
                <a:moveTo>
                  <a:pt x="0" y="19844"/>
                </a:moveTo>
                <a:cubicBezTo>
                  <a:pt x="0" y="13271"/>
                  <a:pt x="5333" y="7938"/>
                  <a:pt x="11906" y="7938"/>
                </a:cubicBezTo>
                <a:lnTo>
                  <a:pt x="35719" y="7938"/>
                </a:lnTo>
                <a:cubicBezTo>
                  <a:pt x="42292" y="7938"/>
                  <a:pt x="47625" y="13271"/>
                  <a:pt x="47625" y="19844"/>
                </a:cubicBezTo>
                <a:lnTo>
                  <a:pt x="47625" y="23812"/>
                </a:lnTo>
                <a:lnTo>
                  <a:pt x="79375" y="23812"/>
                </a:lnTo>
                <a:lnTo>
                  <a:pt x="79375" y="19844"/>
                </a:lnTo>
                <a:cubicBezTo>
                  <a:pt x="79375" y="13271"/>
                  <a:pt x="84708" y="7938"/>
                  <a:pt x="91281" y="7938"/>
                </a:cubicBezTo>
                <a:lnTo>
                  <a:pt x="115094" y="7938"/>
                </a:lnTo>
                <a:cubicBezTo>
                  <a:pt x="121667" y="7938"/>
                  <a:pt x="127000" y="13271"/>
                  <a:pt x="127000" y="19844"/>
                </a:cubicBezTo>
                <a:lnTo>
                  <a:pt x="127000" y="43656"/>
                </a:lnTo>
                <a:cubicBezTo>
                  <a:pt x="127000" y="50229"/>
                  <a:pt x="121667" y="55563"/>
                  <a:pt x="115094" y="55563"/>
                </a:cubicBezTo>
                <a:lnTo>
                  <a:pt x="91281" y="55563"/>
                </a:lnTo>
                <a:cubicBezTo>
                  <a:pt x="84708" y="55563"/>
                  <a:pt x="79375" y="50229"/>
                  <a:pt x="79375" y="43656"/>
                </a:cubicBezTo>
                <a:lnTo>
                  <a:pt x="79375" y="39688"/>
                </a:lnTo>
                <a:lnTo>
                  <a:pt x="47625" y="39688"/>
                </a:lnTo>
                <a:lnTo>
                  <a:pt x="47625" y="43656"/>
                </a:lnTo>
                <a:cubicBezTo>
                  <a:pt x="47625" y="45467"/>
                  <a:pt x="47203" y="47203"/>
                  <a:pt x="46484" y="48741"/>
                </a:cubicBezTo>
                <a:lnTo>
                  <a:pt x="63500" y="71438"/>
                </a:lnTo>
                <a:lnTo>
                  <a:pt x="83344" y="71438"/>
                </a:lnTo>
                <a:cubicBezTo>
                  <a:pt x="89917" y="71438"/>
                  <a:pt x="95250" y="76771"/>
                  <a:pt x="95250" y="83344"/>
                </a:cubicBezTo>
                <a:lnTo>
                  <a:pt x="95250" y="107156"/>
                </a:lnTo>
                <a:cubicBezTo>
                  <a:pt x="95250" y="113729"/>
                  <a:pt x="89917" y="119063"/>
                  <a:pt x="83344" y="119063"/>
                </a:cubicBezTo>
                <a:lnTo>
                  <a:pt x="59531" y="119063"/>
                </a:lnTo>
                <a:cubicBezTo>
                  <a:pt x="52958" y="119063"/>
                  <a:pt x="47625" y="113729"/>
                  <a:pt x="47625" y="107156"/>
                </a:cubicBezTo>
                <a:lnTo>
                  <a:pt x="47625" y="83344"/>
                </a:lnTo>
                <a:cubicBezTo>
                  <a:pt x="47625" y="81533"/>
                  <a:pt x="48047" y="79797"/>
                  <a:pt x="48766" y="78259"/>
                </a:cubicBezTo>
                <a:lnTo>
                  <a:pt x="31750" y="55563"/>
                </a:lnTo>
                <a:lnTo>
                  <a:pt x="11906" y="55563"/>
                </a:lnTo>
                <a:cubicBezTo>
                  <a:pt x="5333" y="55563"/>
                  <a:pt x="0" y="50229"/>
                  <a:pt x="0" y="43656"/>
                </a:cubicBezTo>
                <a:lnTo>
                  <a:pt x="0" y="19844"/>
                </a:lnTo>
                <a:close/>
              </a:path>
            </a:pathLst>
          </a:custGeom>
          <a:solidFill>
            <a:srgbClr val="34C759"/>
          </a:solidFill>
          <a:ln/>
        </p:spPr>
      </p:sp>
      <p:sp>
        <p:nvSpPr>
          <p:cNvPr id="62" name="Text 60"/>
          <p:cNvSpPr/>
          <p:nvPr/>
        </p:nvSpPr>
        <p:spPr>
          <a:xfrm>
            <a:off x="6508750" y="6356255"/>
            <a:ext cx="2674938" cy="190500"/>
          </a:xfrm>
          <a:prstGeom prst="rect">
            <a:avLst/>
          </a:prstGeom>
          <a:noFill/>
          <a:ln/>
        </p:spPr>
        <p:txBody>
          <a:bodyPr wrap="square" lIns="0" tIns="0" rIns="0" bIns="0" rtlCol="0" anchor="ctr"/>
          <a:lstStyle/>
          <a:p>
            <a:pP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Code conversion process visualization</a:t>
            </a:r>
            <a:endParaRPr lang="en-US" sz="1600" dirty="0"/>
          </a:p>
        </p:txBody>
      </p:sp>
      <p:sp>
        <p:nvSpPr>
          <p:cNvPr id="63" name="Shape 61"/>
          <p:cNvSpPr/>
          <p:nvPr/>
        </p:nvSpPr>
        <p:spPr>
          <a:xfrm>
            <a:off x="6310313" y="6610255"/>
            <a:ext cx="111125" cy="127000"/>
          </a:xfrm>
          <a:custGeom>
            <a:avLst/>
            <a:gdLst/>
            <a:ahLst/>
            <a:cxnLst/>
            <a:rect l="l" t="t" r="r" b="b"/>
            <a:pathLst>
              <a:path w="111125" h="127000">
                <a:moveTo>
                  <a:pt x="15875" y="7938"/>
                </a:moveTo>
                <a:cubicBezTo>
                  <a:pt x="7119" y="7938"/>
                  <a:pt x="0" y="15056"/>
                  <a:pt x="0" y="23812"/>
                </a:cubicBezTo>
                <a:lnTo>
                  <a:pt x="0" y="103188"/>
                </a:lnTo>
                <a:cubicBezTo>
                  <a:pt x="0" y="111944"/>
                  <a:pt x="7119" y="119063"/>
                  <a:pt x="15875" y="119063"/>
                </a:cubicBezTo>
                <a:lnTo>
                  <a:pt x="95250" y="119063"/>
                </a:lnTo>
                <a:cubicBezTo>
                  <a:pt x="104006" y="119063"/>
                  <a:pt x="111125" y="111944"/>
                  <a:pt x="111125" y="103188"/>
                </a:cubicBezTo>
                <a:lnTo>
                  <a:pt x="111125" y="23812"/>
                </a:lnTo>
                <a:cubicBezTo>
                  <a:pt x="111125" y="15056"/>
                  <a:pt x="104006" y="7938"/>
                  <a:pt x="95250" y="7938"/>
                </a:cubicBezTo>
                <a:lnTo>
                  <a:pt x="15875" y="7938"/>
                </a:lnTo>
                <a:close/>
                <a:moveTo>
                  <a:pt x="31750" y="27781"/>
                </a:moveTo>
                <a:cubicBezTo>
                  <a:pt x="38321" y="27781"/>
                  <a:pt x="43656" y="33116"/>
                  <a:pt x="43656" y="39688"/>
                </a:cubicBezTo>
                <a:cubicBezTo>
                  <a:pt x="43656" y="46259"/>
                  <a:pt x="38321" y="51594"/>
                  <a:pt x="31750" y="51594"/>
                </a:cubicBezTo>
                <a:cubicBezTo>
                  <a:pt x="25179" y="51594"/>
                  <a:pt x="19844" y="46259"/>
                  <a:pt x="19844" y="39688"/>
                </a:cubicBezTo>
                <a:cubicBezTo>
                  <a:pt x="19844" y="33116"/>
                  <a:pt x="25179" y="27781"/>
                  <a:pt x="31750" y="27781"/>
                </a:cubicBezTo>
                <a:close/>
                <a:moveTo>
                  <a:pt x="67469" y="55563"/>
                </a:moveTo>
                <a:cubicBezTo>
                  <a:pt x="69552" y="55563"/>
                  <a:pt x="71462" y="56654"/>
                  <a:pt x="72554" y="58415"/>
                </a:cubicBezTo>
                <a:lnTo>
                  <a:pt x="94382" y="94134"/>
                </a:lnTo>
                <a:cubicBezTo>
                  <a:pt x="95498" y="95969"/>
                  <a:pt x="95548" y="98276"/>
                  <a:pt x="94506" y="100161"/>
                </a:cubicBezTo>
                <a:cubicBezTo>
                  <a:pt x="93464" y="102046"/>
                  <a:pt x="91455" y="103188"/>
                  <a:pt x="89297" y="103188"/>
                </a:cubicBezTo>
                <a:lnTo>
                  <a:pt x="21828" y="103188"/>
                </a:lnTo>
                <a:cubicBezTo>
                  <a:pt x="19621" y="103188"/>
                  <a:pt x="17562" y="101947"/>
                  <a:pt x="16545" y="99988"/>
                </a:cubicBezTo>
                <a:cubicBezTo>
                  <a:pt x="15528" y="98028"/>
                  <a:pt x="15677" y="95647"/>
                  <a:pt x="16942" y="93836"/>
                </a:cubicBezTo>
                <a:lnTo>
                  <a:pt x="30832" y="73992"/>
                </a:lnTo>
                <a:cubicBezTo>
                  <a:pt x="31948" y="72405"/>
                  <a:pt x="33759" y="71462"/>
                  <a:pt x="35719" y="71462"/>
                </a:cubicBezTo>
                <a:cubicBezTo>
                  <a:pt x="37678" y="71462"/>
                  <a:pt x="39489" y="72405"/>
                  <a:pt x="40605" y="73992"/>
                </a:cubicBezTo>
                <a:lnTo>
                  <a:pt x="47154" y="83369"/>
                </a:lnTo>
                <a:lnTo>
                  <a:pt x="62384" y="58440"/>
                </a:lnTo>
                <a:cubicBezTo>
                  <a:pt x="63475" y="56679"/>
                  <a:pt x="65385" y="55587"/>
                  <a:pt x="67469" y="55587"/>
                </a:cubicBezTo>
                <a:close/>
              </a:path>
            </a:pathLst>
          </a:custGeom>
          <a:solidFill>
            <a:srgbClr val="0A84FF"/>
          </a:solidFill>
          <a:ln/>
        </p:spPr>
      </p:sp>
      <p:sp>
        <p:nvSpPr>
          <p:cNvPr id="64" name="Text 62"/>
          <p:cNvSpPr/>
          <p:nvPr/>
        </p:nvSpPr>
        <p:spPr>
          <a:xfrm>
            <a:off x="6508750" y="6578505"/>
            <a:ext cx="2738438" cy="190500"/>
          </a:xfrm>
          <a:prstGeom prst="rect">
            <a:avLst/>
          </a:prstGeom>
          <a:noFill/>
          <a:ln/>
        </p:spPr>
        <p:txBody>
          <a:bodyPr wrap="square" lIns="0" tIns="0" rIns="0" bIns="0" rtlCol="0" anchor="ctr"/>
          <a:lstStyle/>
          <a:p>
            <a:pP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Same app running on Android and iPhone</a:t>
            </a:r>
            <a:endParaRPr lang="en-US" sz="1600" dirty="0"/>
          </a:p>
        </p:txBody>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17500" y="365125"/>
            <a:ext cx="381000" cy="381000"/>
          </a:xfrm>
          <a:prstGeom prst="roundRect">
            <a:avLst>
              <a:gd name="adj" fmla="val 25000"/>
            </a:avLst>
          </a:prstGeom>
          <a:solidFill>
            <a:srgbClr val="34C759"/>
          </a:solidFill>
          <a:ln/>
        </p:spPr>
      </p:sp>
      <p:sp>
        <p:nvSpPr>
          <p:cNvPr id="3" name="Text 1"/>
          <p:cNvSpPr/>
          <p:nvPr/>
        </p:nvSpPr>
        <p:spPr>
          <a:xfrm>
            <a:off x="412849" y="428625"/>
            <a:ext cx="285750" cy="254000"/>
          </a:xfrm>
          <a:prstGeom prst="rect">
            <a:avLst/>
          </a:prstGeom>
          <a:noFill/>
          <a:ln/>
        </p:spPr>
        <p:txBody>
          <a:bodyPr wrap="square" lIns="0" tIns="0" rIns="0" bIns="0" rtlCol="0" anchor="ctr"/>
          <a:lstStyle/>
          <a:p>
            <a:pPr>
              <a:lnSpc>
                <a:spcPct val="110000"/>
              </a:lnSpc>
            </a:pPr>
            <a:r>
              <a:rPr lang="en-US" sz="1500" b="1" dirty="0">
                <a:solidFill>
                  <a:srgbClr val="1D1D1F"/>
                </a:solidFill>
                <a:latin typeface="Liter" pitchFamily="34" charset="0"/>
                <a:ea typeface="Liter" pitchFamily="34" charset="-122"/>
                <a:cs typeface="Liter" pitchFamily="34" charset="-120"/>
              </a:rPr>
              <a:t>19</a:t>
            </a:r>
            <a:endParaRPr lang="en-US" sz="1600" dirty="0"/>
          </a:p>
        </p:txBody>
      </p:sp>
      <p:sp>
        <p:nvSpPr>
          <p:cNvPr id="4" name="Text 2"/>
          <p:cNvSpPr/>
          <p:nvPr/>
        </p:nvSpPr>
        <p:spPr>
          <a:xfrm>
            <a:off x="793750" y="317500"/>
            <a:ext cx="3587750" cy="158750"/>
          </a:xfrm>
          <a:prstGeom prst="rect">
            <a:avLst/>
          </a:prstGeom>
          <a:noFill/>
          <a:ln/>
        </p:spPr>
        <p:txBody>
          <a:bodyPr wrap="square" lIns="0" tIns="0" rIns="0" bIns="0" rtlCol="0" anchor="ctr"/>
          <a:lstStyle/>
          <a:p>
            <a:pPr>
              <a:lnSpc>
                <a:spcPct val="120000"/>
              </a:lnSpc>
            </a:pPr>
            <a:r>
              <a:rPr lang="en-US" sz="875" b="1" spc="44" kern="0" dirty="0">
                <a:solidFill>
                  <a:srgbClr val="34C759"/>
                </a:solidFill>
                <a:latin typeface="Quattrocento Sans" pitchFamily="34" charset="0"/>
                <a:ea typeface="Quattrocento Sans" pitchFamily="34" charset="-122"/>
                <a:cs typeface="Quattrocento Sans" pitchFamily="34" charset="-120"/>
              </a:rPr>
              <a:t>Mobile Platforms</a:t>
            </a:r>
            <a:endParaRPr lang="en-US" sz="1600" dirty="0"/>
          </a:p>
        </p:txBody>
      </p:sp>
      <p:sp>
        <p:nvSpPr>
          <p:cNvPr id="5" name="Text 3"/>
          <p:cNvSpPr/>
          <p:nvPr/>
        </p:nvSpPr>
        <p:spPr>
          <a:xfrm>
            <a:off x="793750" y="476250"/>
            <a:ext cx="3675063" cy="317500"/>
          </a:xfrm>
          <a:prstGeom prst="rect">
            <a:avLst/>
          </a:prstGeom>
          <a:noFill/>
          <a:ln/>
        </p:spPr>
        <p:txBody>
          <a:bodyPr wrap="square" lIns="0" tIns="0" rIns="0" bIns="0" rtlCol="0" anchor="ctr"/>
          <a:lstStyle/>
          <a:p>
            <a:pPr>
              <a:lnSpc>
                <a:spcPct val="90000"/>
              </a:lnSpc>
            </a:pPr>
            <a:r>
              <a:rPr lang="en-US" sz="2250" b="1" dirty="0">
                <a:solidFill>
                  <a:srgbClr val="F5F5F7"/>
                </a:solidFill>
                <a:latin typeface="Liter" pitchFamily="34" charset="0"/>
                <a:ea typeface="Liter" pitchFamily="34" charset="-122"/>
                <a:cs typeface="Liter" pitchFamily="34" charset="-120"/>
              </a:rPr>
              <a:t>Choosing the Right Platform</a:t>
            </a:r>
            <a:endParaRPr lang="en-US" sz="1600" dirty="0"/>
          </a:p>
        </p:txBody>
      </p:sp>
      <p:sp>
        <p:nvSpPr>
          <p:cNvPr id="6" name="Shape 4"/>
          <p:cNvSpPr/>
          <p:nvPr/>
        </p:nvSpPr>
        <p:spPr>
          <a:xfrm>
            <a:off x="317500" y="1047750"/>
            <a:ext cx="11557000" cy="2095500"/>
          </a:xfrm>
          <a:prstGeom prst="roundRect">
            <a:avLst>
              <a:gd name="adj" fmla="val 6061"/>
            </a:avLst>
          </a:prstGeom>
          <a:solidFill>
            <a:srgbClr val="2C2C2E"/>
          </a:solidFill>
          <a:ln/>
        </p:spPr>
      </p:sp>
      <p:sp>
        <p:nvSpPr>
          <p:cNvPr id="7" name="Shape 5"/>
          <p:cNvSpPr/>
          <p:nvPr/>
        </p:nvSpPr>
        <p:spPr>
          <a:xfrm>
            <a:off x="531813" y="1269899"/>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95250" y="65484"/>
                </a:moveTo>
                <a:cubicBezTo>
                  <a:pt x="88664" y="65484"/>
                  <a:pt x="83344" y="70805"/>
                  <a:pt x="83344" y="77391"/>
                </a:cubicBezTo>
                <a:cubicBezTo>
                  <a:pt x="83344" y="82339"/>
                  <a:pt x="79363" y="86320"/>
                  <a:pt x="74414" y="86320"/>
                </a:cubicBezTo>
                <a:cubicBezTo>
                  <a:pt x="69466" y="86320"/>
                  <a:pt x="65484" y="82339"/>
                  <a:pt x="65484" y="77391"/>
                </a:cubicBezTo>
                <a:cubicBezTo>
                  <a:pt x="65484" y="60945"/>
                  <a:pt x="78804" y="47625"/>
                  <a:pt x="95250" y="47625"/>
                </a:cubicBezTo>
                <a:cubicBezTo>
                  <a:pt x="111696" y="47625"/>
                  <a:pt x="125016" y="60945"/>
                  <a:pt x="125016" y="77391"/>
                </a:cubicBezTo>
                <a:cubicBezTo>
                  <a:pt x="125016" y="94952"/>
                  <a:pt x="111621" y="102394"/>
                  <a:pt x="104180" y="105110"/>
                </a:cubicBezTo>
                <a:lnTo>
                  <a:pt x="104180" y="106524"/>
                </a:lnTo>
                <a:cubicBezTo>
                  <a:pt x="104180" y="111472"/>
                  <a:pt x="100199" y="115453"/>
                  <a:pt x="95250" y="115453"/>
                </a:cubicBezTo>
                <a:cubicBezTo>
                  <a:pt x="90301" y="115453"/>
                  <a:pt x="86320" y="111472"/>
                  <a:pt x="86320" y="106524"/>
                </a:cubicBezTo>
                <a:lnTo>
                  <a:pt x="86320" y="103510"/>
                </a:lnTo>
                <a:cubicBezTo>
                  <a:pt x="86320" y="95883"/>
                  <a:pt x="91827" y="90413"/>
                  <a:pt x="97520" y="88553"/>
                </a:cubicBezTo>
                <a:cubicBezTo>
                  <a:pt x="99901" y="87771"/>
                  <a:pt x="102431" y="86506"/>
                  <a:pt x="104291" y="84720"/>
                </a:cubicBezTo>
                <a:cubicBezTo>
                  <a:pt x="105891" y="83158"/>
                  <a:pt x="107156" y="81000"/>
                  <a:pt x="107156" y="77428"/>
                </a:cubicBezTo>
                <a:cubicBezTo>
                  <a:pt x="107156" y="70842"/>
                  <a:pt x="101836" y="65522"/>
                  <a:pt x="95250" y="65522"/>
                </a:cubicBezTo>
                <a:close/>
                <a:moveTo>
                  <a:pt x="83344" y="136922"/>
                </a:moveTo>
                <a:cubicBezTo>
                  <a:pt x="83344" y="130351"/>
                  <a:pt x="88679" y="125016"/>
                  <a:pt x="95250" y="125016"/>
                </a:cubicBezTo>
                <a:cubicBezTo>
                  <a:pt x="101821" y="125016"/>
                  <a:pt x="107156" y="130351"/>
                  <a:pt x="107156" y="136922"/>
                </a:cubicBezTo>
                <a:cubicBezTo>
                  <a:pt x="107156" y="143493"/>
                  <a:pt x="101821" y="148828"/>
                  <a:pt x="95250" y="148828"/>
                </a:cubicBezTo>
                <a:cubicBezTo>
                  <a:pt x="88679" y="148828"/>
                  <a:pt x="83344" y="143493"/>
                  <a:pt x="83344" y="136922"/>
                </a:cubicBezTo>
                <a:close/>
              </a:path>
            </a:pathLst>
          </a:custGeom>
          <a:solidFill>
            <a:srgbClr val="34C759"/>
          </a:solidFill>
          <a:ln/>
        </p:spPr>
      </p:sp>
      <p:sp>
        <p:nvSpPr>
          <p:cNvPr id="8" name="Text 6"/>
          <p:cNvSpPr/>
          <p:nvPr/>
        </p:nvSpPr>
        <p:spPr>
          <a:xfrm>
            <a:off x="746125" y="1238250"/>
            <a:ext cx="11033125" cy="254000"/>
          </a:xfrm>
          <a:prstGeom prst="rect">
            <a:avLst/>
          </a:prstGeom>
          <a:noFill/>
          <a:ln/>
        </p:spPr>
        <p:txBody>
          <a:bodyPr wrap="square" lIns="0" tIns="0" rIns="0" bIns="0" rtlCol="0" anchor="ctr"/>
          <a:lstStyle/>
          <a:p>
            <a:pPr>
              <a:lnSpc>
                <a:spcPct val="110000"/>
              </a:lnSpc>
            </a:pPr>
            <a:r>
              <a:rPr lang="en-US" sz="1500" b="1" dirty="0">
                <a:solidFill>
                  <a:srgbClr val="34C759"/>
                </a:solidFill>
                <a:latin typeface="Liter" pitchFamily="34" charset="0"/>
                <a:ea typeface="Liter" pitchFamily="34" charset="-122"/>
                <a:cs typeface="Liter" pitchFamily="34" charset="-120"/>
              </a:rPr>
              <a:t>Decision Factors</a:t>
            </a:r>
            <a:endParaRPr lang="en-US" sz="1600" dirty="0"/>
          </a:p>
        </p:txBody>
      </p:sp>
      <p:sp>
        <p:nvSpPr>
          <p:cNvPr id="9" name="Shape 7"/>
          <p:cNvSpPr/>
          <p:nvPr/>
        </p:nvSpPr>
        <p:spPr>
          <a:xfrm>
            <a:off x="508000" y="1666774"/>
            <a:ext cx="2698750" cy="1285875"/>
          </a:xfrm>
          <a:custGeom>
            <a:avLst/>
            <a:gdLst/>
            <a:ahLst/>
            <a:cxnLst/>
            <a:rect l="l" t="t" r="r" b="b"/>
            <a:pathLst>
              <a:path w="2698750" h="1285875">
                <a:moveTo>
                  <a:pt x="31750" y="0"/>
                </a:moveTo>
                <a:lnTo>
                  <a:pt x="2667000" y="0"/>
                </a:lnTo>
                <a:cubicBezTo>
                  <a:pt x="2684523" y="0"/>
                  <a:pt x="2698750" y="14227"/>
                  <a:pt x="2698750" y="31750"/>
                </a:cubicBezTo>
                <a:lnTo>
                  <a:pt x="2698750" y="1190625"/>
                </a:lnTo>
                <a:cubicBezTo>
                  <a:pt x="2698750" y="1243195"/>
                  <a:pt x="2656070" y="1285875"/>
                  <a:pt x="2603500" y="1285875"/>
                </a:cubicBezTo>
                <a:lnTo>
                  <a:pt x="95250" y="1285875"/>
                </a:lnTo>
                <a:cubicBezTo>
                  <a:pt x="42680" y="1285875"/>
                  <a:pt x="0" y="1243195"/>
                  <a:pt x="0" y="1190625"/>
                </a:cubicBezTo>
                <a:lnTo>
                  <a:pt x="0" y="31750"/>
                </a:lnTo>
                <a:cubicBezTo>
                  <a:pt x="0" y="14227"/>
                  <a:pt x="14227" y="0"/>
                  <a:pt x="31750" y="0"/>
                </a:cubicBezTo>
                <a:close/>
              </a:path>
            </a:pathLst>
          </a:custGeom>
          <a:solidFill>
            <a:srgbClr val="1A1D21"/>
          </a:solidFill>
          <a:ln/>
        </p:spPr>
      </p:sp>
      <p:sp>
        <p:nvSpPr>
          <p:cNvPr id="10" name="Shape 8"/>
          <p:cNvSpPr/>
          <p:nvPr/>
        </p:nvSpPr>
        <p:spPr>
          <a:xfrm>
            <a:off x="508000" y="1666774"/>
            <a:ext cx="2698750" cy="31750"/>
          </a:xfrm>
          <a:custGeom>
            <a:avLst/>
            <a:gdLst/>
            <a:ahLst/>
            <a:cxnLst/>
            <a:rect l="l" t="t" r="r" b="b"/>
            <a:pathLst>
              <a:path w="2698750" h="31750">
                <a:moveTo>
                  <a:pt x="31750" y="0"/>
                </a:moveTo>
                <a:lnTo>
                  <a:pt x="2667000" y="0"/>
                </a:lnTo>
                <a:cubicBezTo>
                  <a:pt x="2684523" y="0"/>
                  <a:pt x="2698750" y="14227"/>
                  <a:pt x="2698750" y="31750"/>
                </a:cubicBezTo>
                <a:lnTo>
                  <a:pt x="2698750" y="31750"/>
                </a:lnTo>
                <a:lnTo>
                  <a:pt x="0" y="31750"/>
                </a:lnTo>
                <a:lnTo>
                  <a:pt x="0" y="31750"/>
                </a:lnTo>
                <a:cubicBezTo>
                  <a:pt x="0" y="14227"/>
                  <a:pt x="14227" y="0"/>
                  <a:pt x="31750" y="0"/>
                </a:cubicBezTo>
                <a:close/>
              </a:path>
            </a:pathLst>
          </a:custGeom>
          <a:solidFill>
            <a:srgbClr val="34C759"/>
          </a:solidFill>
          <a:ln/>
        </p:spPr>
      </p:sp>
      <p:sp>
        <p:nvSpPr>
          <p:cNvPr id="11" name="Shape 9"/>
          <p:cNvSpPr/>
          <p:nvPr/>
        </p:nvSpPr>
        <p:spPr>
          <a:xfrm>
            <a:off x="1635125" y="1809649"/>
            <a:ext cx="444500" cy="444500"/>
          </a:xfrm>
          <a:prstGeom prst="roundRect">
            <a:avLst>
              <a:gd name="adj" fmla="val 50000"/>
            </a:avLst>
          </a:prstGeom>
          <a:solidFill>
            <a:srgbClr val="34C759"/>
          </a:solidFill>
          <a:ln/>
        </p:spPr>
      </p:sp>
      <p:sp>
        <p:nvSpPr>
          <p:cNvPr id="12" name="Shape 10"/>
          <p:cNvSpPr/>
          <p:nvPr/>
        </p:nvSpPr>
        <p:spPr>
          <a:xfrm>
            <a:off x="1738313" y="1936649"/>
            <a:ext cx="238125" cy="190500"/>
          </a:xfrm>
          <a:custGeom>
            <a:avLst/>
            <a:gdLst/>
            <a:ahLst/>
            <a:cxnLst/>
            <a:rect l="l" t="t" r="r" b="b"/>
            <a:pathLst>
              <a:path w="238125" h="190500">
                <a:moveTo>
                  <a:pt x="119063" y="5953"/>
                </a:moveTo>
                <a:cubicBezTo>
                  <a:pt x="140419" y="5953"/>
                  <a:pt x="157758" y="23292"/>
                  <a:pt x="157758" y="44648"/>
                </a:cubicBezTo>
                <a:cubicBezTo>
                  <a:pt x="157758" y="66005"/>
                  <a:pt x="140419" y="83344"/>
                  <a:pt x="119063" y="83344"/>
                </a:cubicBezTo>
                <a:cubicBezTo>
                  <a:pt x="97706" y="83344"/>
                  <a:pt x="80367" y="66005"/>
                  <a:pt x="80367" y="44648"/>
                </a:cubicBezTo>
                <a:cubicBezTo>
                  <a:pt x="80367" y="23292"/>
                  <a:pt x="97706" y="5953"/>
                  <a:pt x="119063" y="5953"/>
                </a:cubicBezTo>
                <a:close/>
                <a:moveTo>
                  <a:pt x="35719" y="32742"/>
                </a:moveTo>
                <a:cubicBezTo>
                  <a:pt x="50504" y="32742"/>
                  <a:pt x="62508" y="44746"/>
                  <a:pt x="62508" y="59531"/>
                </a:cubicBezTo>
                <a:cubicBezTo>
                  <a:pt x="62508" y="74317"/>
                  <a:pt x="50504" y="86320"/>
                  <a:pt x="35719" y="86320"/>
                </a:cubicBezTo>
                <a:cubicBezTo>
                  <a:pt x="20933" y="86320"/>
                  <a:pt x="8930" y="74317"/>
                  <a:pt x="8930" y="59531"/>
                </a:cubicBezTo>
                <a:cubicBezTo>
                  <a:pt x="8930" y="44746"/>
                  <a:pt x="20933" y="32742"/>
                  <a:pt x="35719" y="32742"/>
                </a:cubicBezTo>
                <a:close/>
                <a:moveTo>
                  <a:pt x="0" y="154781"/>
                </a:moveTo>
                <a:cubicBezTo>
                  <a:pt x="0" y="128476"/>
                  <a:pt x="21320" y="107156"/>
                  <a:pt x="47625" y="107156"/>
                </a:cubicBezTo>
                <a:cubicBezTo>
                  <a:pt x="52388" y="107156"/>
                  <a:pt x="57001" y="107863"/>
                  <a:pt x="61354" y="109165"/>
                </a:cubicBezTo>
                <a:cubicBezTo>
                  <a:pt x="49113" y="122858"/>
                  <a:pt x="41672" y="140940"/>
                  <a:pt x="41672" y="160734"/>
                </a:cubicBezTo>
                <a:lnTo>
                  <a:pt x="41672" y="166688"/>
                </a:lnTo>
                <a:cubicBezTo>
                  <a:pt x="41672" y="170929"/>
                  <a:pt x="42565" y="174947"/>
                  <a:pt x="44165" y="178594"/>
                </a:cubicBezTo>
                <a:lnTo>
                  <a:pt x="11906" y="178594"/>
                </a:lnTo>
                <a:cubicBezTo>
                  <a:pt x="5321" y="178594"/>
                  <a:pt x="0" y="173273"/>
                  <a:pt x="0" y="166688"/>
                </a:cubicBezTo>
                <a:lnTo>
                  <a:pt x="0" y="154781"/>
                </a:lnTo>
                <a:close/>
                <a:moveTo>
                  <a:pt x="193960" y="178594"/>
                </a:moveTo>
                <a:cubicBezTo>
                  <a:pt x="195560" y="174947"/>
                  <a:pt x="196453" y="170929"/>
                  <a:pt x="196453" y="166688"/>
                </a:cubicBezTo>
                <a:lnTo>
                  <a:pt x="196453" y="160734"/>
                </a:lnTo>
                <a:cubicBezTo>
                  <a:pt x="196453" y="140940"/>
                  <a:pt x="189012" y="122858"/>
                  <a:pt x="176771" y="109165"/>
                </a:cubicBezTo>
                <a:cubicBezTo>
                  <a:pt x="181124" y="107863"/>
                  <a:pt x="185738" y="107156"/>
                  <a:pt x="190500" y="107156"/>
                </a:cubicBezTo>
                <a:cubicBezTo>
                  <a:pt x="216805" y="107156"/>
                  <a:pt x="238125" y="128476"/>
                  <a:pt x="238125" y="154781"/>
                </a:cubicBezTo>
                <a:lnTo>
                  <a:pt x="238125" y="166688"/>
                </a:lnTo>
                <a:cubicBezTo>
                  <a:pt x="238125" y="173273"/>
                  <a:pt x="232804" y="178594"/>
                  <a:pt x="226219" y="178594"/>
                </a:cubicBezTo>
                <a:lnTo>
                  <a:pt x="193960" y="178594"/>
                </a:lnTo>
                <a:close/>
                <a:moveTo>
                  <a:pt x="175617" y="59531"/>
                </a:moveTo>
                <a:cubicBezTo>
                  <a:pt x="175617" y="44746"/>
                  <a:pt x="187621" y="32742"/>
                  <a:pt x="202406" y="32742"/>
                </a:cubicBezTo>
                <a:cubicBezTo>
                  <a:pt x="217192" y="32742"/>
                  <a:pt x="229195" y="44746"/>
                  <a:pt x="229195" y="59531"/>
                </a:cubicBezTo>
                <a:cubicBezTo>
                  <a:pt x="229195" y="74317"/>
                  <a:pt x="217192" y="86320"/>
                  <a:pt x="202406" y="86320"/>
                </a:cubicBezTo>
                <a:cubicBezTo>
                  <a:pt x="187621" y="86320"/>
                  <a:pt x="175617" y="74317"/>
                  <a:pt x="175617" y="59531"/>
                </a:cubicBezTo>
                <a:close/>
                <a:moveTo>
                  <a:pt x="59531" y="160734"/>
                </a:moveTo>
                <a:cubicBezTo>
                  <a:pt x="59531" y="127843"/>
                  <a:pt x="86171" y="101203"/>
                  <a:pt x="119063" y="101203"/>
                </a:cubicBezTo>
                <a:cubicBezTo>
                  <a:pt x="151954" y="101203"/>
                  <a:pt x="178594" y="127843"/>
                  <a:pt x="178594" y="160734"/>
                </a:cubicBezTo>
                <a:lnTo>
                  <a:pt x="178594" y="166688"/>
                </a:lnTo>
                <a:cubicBezTo>
                  <a:pt x="178594" y="173273"/>
                  <a:pt x="173273" y="178594"/>
                  <a:pt x="166688" y="178594"/>
                </a:cubicBezTo>
                <a:lnTo>
                  <a:pt x="71438" y="178594"/>
                </a:lnTo>
                <a:cubicBezTo>
                  <a:pt x="64852" y="178594"/>
                  <a:pt x="59531" y="173273"/>
                  <a:pt x="59531" y="166688"/>
                </a:cubicBezTo>
                <a:lnTo>
                  <a:pt x="59531" y="160734"/>
                </a:lnTo>
                <a:close/>
              </a:path>
            </a:pathLst>
          </a:custGeom>
          <a:solidFill>
            <a:srgbClr val="1D1D1F"/>
          </a:solidFill>
          <a:ln/>
        </p:spPr>
      </p:sp>
      <p:sp>
        <p:nvSpPr>
          <p:cNvPr id="13" name="Text 11"/>
          <p:cNvSpPr/>
          <p:nvPr/>
        </p:nvSpPr>
        <p:spPr>
          <a:xfrm>
            <a:off x="599281" y="2349399"/>
            <a:ext cx="2516188" cy="222250"/>
          </a:xfrm>
          <a:prstGeom prst="rect">
            <a:avLst/>
          </a:prstGeom>
          <a:noFill/>
          <a:ln/>
        </p:spPr>
        <p:txBody>
          <a:bodyPr wrap="square" lIns="0" tIns="0" rIns="0" bIns="0" rtlCol="0" anchor="ctr"/>
          <a:lstStyle/>
          <a:p>
            <a:pPr algn="ctr">
              <a:lnSpc>
                <a:spcPct val="130000"/>
              </a:lnSpc>
            </a:pPr>
            <a:r>
              <a:rPr lang="en-US" sz="1125" b="1" dirty="0">
                <a:solidFill>
                  <a:srgbClr val="34C759"/>
                </a:solidFill>
                <a:latin typeface="Liter" pitchFamily="34" charset="0"/>
                <a:ea typeface="Liter" pitchFamily="34" charset="-122"/>
                <a:cs typeface="Liter" pitchFamily="34" charset="-120"/>
              </a:rPr>
              <a:t>Target Audience</a:t>
            </a:r>
            <a:endParaRPr lang="en-US" sz="1600" dirty="0"/>
          </a:p>
        </p:txBody>
      </p:sp>
      <p:sp>
        <p:nvSpPr>
          <p:cNvPr id="14" name="Text 12"/>
          <p:cNvSpPr/>
          <p:nvPr/>
        </p:nvSpPr>
        <p:spPr>
          <a:xfrm>
            <a:off x="603250" y="2635149"/>
            <a:ext cx="2508250" cy="190500"/>
          </a:xfrm>
          <a:prstGeom prst="rect">
            <a:avLst/>
          </a:prstGeom>
          <a:noFill/>
          <a:ln/>
        </p:spPr>
        <p:txBody>
          <a:bodyPr wrap="square" lIns="0" tIns="0" rIns="0" bIns="0" rtlCol="0" anchor="ctr"/>
          <a:lstStyle/>
          <a:p>
            <a:pPr algn="ct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Who are your users?</a:t>
            </a:r>
            <a:endParaRPr lang="en-US" sz="1600" dirty="0"/>
          </a:p>
        </p:txBody>
      </p:sp>
      <p:sp>
        <p:nvSpPr>
          <p:cNvPr id="15" name="Shape 13"/>
          <p:cNvSpPr/>
          <p:nvPr/>
        </p:nvSpPr>
        <p:spPr>
          <a:xfrm>
            <a:off x="3333750" y="1666774"/>
            <a:ext cx="2698750" cy="1285875"/>
          </a:xfrm>
          <a:custGeom>
            <a:avLst/>
            <a:gdLst/>
            <a:ahLst/>
            <a:cxnLst/>
            <a:rect l="l" t="t" r="r" b="b"/>
            <a:pathLst>
              <a:path w="2698750" h="1285875">
                <a:moveTo>
                  <a:pt x="31750" y="0"/>
                </a:moveTo>
                <a:lnTo>
                  <a:pt x="2667000" y="0"/>
                </a:lnTo>
                <a:cubicBezTo>
                  <a:pt x="2684523" y="0"/>
                  <a:pt x="2698750" y="14227"/>
                  <a:pt x="2698750" y="31750"/>
                </a:cubicBezTo>
                <a:lnTo>
                  <a:pt x="2698750" y="1190625"/>
                </a:lnTo>
                <a:cubicBezTo>
                  <a:pt x="2698750" y="1243195"/>
                  <a:pt x="2656070" y="1285875"/>
                  <a:pt x="2603500" y="1285875"/>
                </a:cubicBezTo>
                <a:lnTo>
                  <a:pt x="95250" y="1285875"/>
                </a:lnTo>
                <a:cubicBezTo>
                  <a:pt x="42680" y="1285875"/>
                  <a:pt x="0" y="1243195"/>
                  <a:pt x="0" y="1190625"/>
                </a:cubicBezTo>
                <a:lnTo>
                  <a:pt x="0" y="31750"/>
                </a:lnTo>
                <a:cubicBezTo>
                  <a:pt x="0" y="14227"/>
                  <a:pt x="14227" y="0"/>
                  <a:pt x="31750" y="0"/>
                </a:cubicBezTo>
                <a:close/>
              </a:path>
            </a:pathLst>
          </a:custGeom>
          <a:solidFill>
            <a:srgbClr val="1A1D21"/>
          </a:solidFill>
          <a:ln/>
        </p:spPr>
      </p:sp>
      <p:sp>
        <p:nvSpPr>
          <p:cNvPr id="16" name="Shape 14"/>
          <p:cNvSpPr/>
          <p:nvPr/>
        </p:nvSpPr>
        <p:spPr>
          <a:xfrm>
            <a:off x="3333750" y="1666774"/>
            <a:ext cx="2698750" cy="31750"/>
          </a:xfrm>
          <a:custGeom>
            <a:avLst/>
            <a:gdLst/>
            <a:ahLst/>
            <a:cxnLst/>
            <a:rect l="l" t="t" r="r" b="b"/>
            <a:pathLst>
              <a:path w="2698750" h="31750">
                <a:moveTo>
                  <a:pt x="31750" y="0"/>
                </a:moveTo>
                <a:lnTo>
                  <a:pt x="2667000" y="0"/>
                </a:lnTo>
                <a:cubicBezTo>
                  <a:pt x="2684523" y="0"/>
                  <a:pt x="2698750" y="14227"/>
                  <a:pt x="2698750" y="31750"/>
                </a:cubicBezTo>
                <a:lnTo>
                  <a:pt x="2698750" y="31750"/>
                </a:lnTo>
                <a:lnTo>
                  <a:pt x="0" y="31750"/>
                </a:lnTo>
                <a:lnTo>
                  <a:pt x="0" y="31750"/>
                </a:lnTo>
                <a:cubicBezTo>
                  <a:pt x="0" y="14227"/>
                  <a:pt x="14227" y="0"/>
                  <a:pt x="31750" y="0"/>
                </a:cubicBezTo>
                <a:close/>
              </a:path>
            </a:pathLst>
          </a:custGeom>
          <a:solidFill>
            <a:srgbClr val="0A84FF"/>
          </a:solidFill>
          <a:ln/>
        </p:spPr>
      </p:sp>
      <p:sp>
        <p:nvSpPr>
          <p:cNvPr id="17" name="Shape 15"/>
          <p:cNvSpPr/>
          <p:nvPr/>
        </p:nvSpPr>
        <p:spPr>
          <a:xfrm>
            <a:off x="4460875" y="1809649"/>
            <a:ext cx="444500" cy="444500"/>
          </a:xfrm>
          <a:prstGeom prst="roundRect">
            <a:avLst>
              <a:gd name="adj" fmla="val 50000"/>
            </a:avLst>
          </a:prstGeom>
          <a:solidFill>
            <a:srgbClr val="0A84FF"/>
          </a:solidFill>
          <a:ln/>
        </p:spPr>
      </p:sp>
      <p:sp>
        <p:nvSpPr>
          <p:cNvPr id="18" name="Shape 16"/>
          <p:cNvSpPr/>
          <p:nvPr/>
        </p:nvSpPr>
        <p:spPr>
          <a:xfrm>
            <a:off x="4623594" y="1936649"/>
            <a:ext cx="119063" cy="190500"/>
          </a:xfrm>
          <a:custGeom>
            <a:avLst/>
            <a:gdLst/>
            <a:ahLst/>
            <a:cxnLst/>
            <a:rect l="l" t="t" r="r" b="b"/>
            <a:pathLst>
              <a:path w="119063" h="190500">
                <a:moveTo>
                  <a:pt x="50602" y="8930"/>
                </a:moveTo>
                <a:cubicBezTo>
                  <a:pt x="50602" y="3981"/>
                  <a:pt x="54583" y="0"/>
                  <a:pt x="59531" y="0"/>
                </a:cubicBezTo>
                <a:cubicBezTo>
                  <a:pt x="64480" y="0"/>
                  <a:pt x="68461" y="3981"/>
                  <a:pt x="68461" y="8930"/>
                </a:cubicBezTo>
                <a:lnTo>
                  <a:pt x="68461" y="23812"/>
                </a:lnTo>
                <a:lnTo>
                  <a:pt x="89297" y="23812"/>
                </a:lnTo>
                <a:cubicBezTo>
                  <a:pt x="95883" y="23812"/>
                  <a:pt x="101203" y="29133"/>
                  <a:pt x="101203" y="35719"/>
                </a:cubicBezTo>
                <a:cubicBezTo>
                  <a:pt x="101203" y="42304"/>
                  <a:pt x="95883" y="47625"/>
                  <a:pt x="89297" y="47625"/>
                </a:cubicBezTo>
                <a:lnTo>
                  <a:pt x="46546" y="47625"/>
                </a:lnTo>
                <a:cubicBezTo>
                  <a:pt x="37281" y="47625"/>
                  <a:pt x="29766" y="55141"/>
                  <a:pt x="29766" y="64405"/>
                </a:cubicBezTo>
                <a:cubicBezTo>
                  <a:pt x="29766" y="72777"/>
                  <a:pt x="35905" y="79846"/>
                  <a:pt x="44165" y="81037"/>
                </a:cubicBezTo>
                <a:lnTo>
                  <a:pt x="78246" y="85911"/>
                </a:lnTo>
                <a:cubicBezTo>
                  <a:pt x="98264" y="88776"/>
                  <a:pt x="113109" y="105891"/>
                  <a:pt x="113109" y="126095"/>
                </a:cubicBezTo>
                <a:cubicBezTo>
                  <a:pt x="113109" y="148530"/>
                  <a:pt x="94915" y="166688"/>
                  <a:pt x="72517" y="166688"/>
                </a:cubicBezTo>
                <a:lnTo>
                  <a:pt x="68461" y="166688"/>
                </a:lnTo>
                <a:lnTo>
                  <a:pt x="68461" y="181570"/>
                </a:lnTo>
                <a:cubicBezTo>
                  <a:pt x="68461" y="186519"/>
                  <a:pt x="64480" y="190500"/>
                  <a:pt x="59531" y="190500"/>
                </a:cubicBezTo>
                <a:cubicBezTo>
                  <a:pt x="54583" y="190500"/>
                  <a:pt x="50602" y="186519"/>
                  <a:pt x="50602" y="181570"/>
                </a:cubicBezTo>
                <a:lnTo>
                  <a:pt x="50602" y="166688"/>
                </a:lnTo>
                <a:lnTo>
                  <a:pt x="23812" y="166688"/>
                </a:lnTo>
                <a:cubicBezTo>
                  <a:pt x="17227" y="166688"/>
                  <a:pt x="11906" y="161367"/>
                  <a:pt x="11906" y="154781"/>
                </a:cubicBezTo>
                <a:cubicBezTo>
                  <a:pt x="11906" y="148196"/>
                  <a:pt x="17227" y="142875"/>
                  <a:pt x="23812" y="142875"/>
                </a:cubicBezTo>
                <a:lnTo>
                  <a:pt x="72517" y="142875"/>
                </a:lnTo>
                <a:cubicBezTo>
                  <a:pt x="81781" y="142875"/>
                  <a:pt x="89297" y="135359"/>
                  <a:pt x="89297" y="126095"/>
                </a:cubicBezTo>
                <a:cubicBezTo>
                  <a:pt x="89297" y="117723"/>
                  <a:pt x="83158" y="110654"/>
                  <a:pt x="74898" y="109463"/>
                </a:cubicBezTo>
                <a:lnTo>
                  <a:pt x="40816" y="104589"/>
                </a:lnTo>
                <a:cubicBezTo>
                  <a:pt x="20799" y="101761"/>
                  <a:pt x="5953" y="84609"/>
                  <a:pt x="5953" y="64405"/>
                </a:cubicBezTo>
                <a:cubicBezTo>
                  <a:pt x="5953" y="42007"/>
                  <a:pt x="24147" y="23812"/>
                  <a:pt x="46546" y="23812"/>
                </a:cubicBezTo>
                <a:lnTo>
                  <a:pt x="50602" y="23812"/>
                </a:lnTo>
                <a:lnTo>
                  <a:pt x="50602" y="8930"/>
                </a:lnTo>
                <a:close/>
              </a:path>
            </a:pathLst>
          </a:custGeom>
          <a:solidFill>
            <a:srgbClr val="FFFFFF"/>
          </a:solidFill>
          <a:ln/>
        </p:spPr>
      </p:sp>
      <p:sp>
        <p:nvSpPr>
          <p:cNvPr id="19" name="Text 17"/>
          <p:cNvSpPr/>
          <p:nvPr/>
        </p:nvSpPr>
        <p:spPr>
          <a:xfrm>
            <a:off x="3425031" y="2349399"/>
            <a:ext cx="2516188" cy="222250"/>
          </a:xfrm>
          <a:prstGeom prst="rect">
            <a:avLst/>
          </a:prstGeom>
          <a:noFill/>
          <a:ln/>
        </p:spPr>
        <p:txBody>
          <a:bodyPr wrap="square" lIns="0" tIns="0" rIns="0" bIns="0" rtlCol="0" anchor="ctr"/>
          <a:lstStyle/>
          <a:p>
            <a:pPr algn="ctr">
              <a:lnSpc>
                <a:spcPct val="130000"/>
              </a:lnSpc>
            </a:pPr>
            <a:r>
              <a:rPr lang="en-US" sz="1125" b="1" dirty="0">
                <a:solidFill>
                  <a:srgbClr val="0A84FF"/>
                </a:solidFill>
                <a:latin typeface="Liter" pitchFamily="34" charset="0"/>
                <a:ea typeface="Liter" pitchFamily="34" charset="-122"/>
                <a:cs typeface="Liter" pitchFamily="34" charset="-120"/>
              </a:rPr>
              <a:t>Budget</a:t>
            </a:r>
            <a:endParaRPr lang="en-US" sz="1600" dirty="0"/>
          </a:p>
        </p:txBody>
      </p:sp>
      <p:sp>
        <p:nvSpPr>
          <p:cNvPr id="20" name="Text 18"/>
          <p:cNvSpPr/>
          <p:nvPr/>
        </p:nvSpPr>
        <p:spPr>
          <a:xfrm>
            <a:off x="3429000" y="2635149"/>
            <a:ext cx="2508250" cy="190500"/>
          </a:xfrm>
          <a:prstGeom prst="rect">
            <a:avLst/>
          </a:prstGeom>
          <a:noFill/>
          <a:ln/>
        </p:spPr>
        <p:txBody>
          <a:bodyPr wrap="square" lIns="0" tIns="0" rIns="0" bIns="0" rtlCol="0" anchor="ctr"/>
          <a:lstStyle/>
          <a:p>
            <a:pPr algn="ct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How much can you spend?</a:t>
            </a:r>
            <a:endParaRPr lang="en-US" sz="1600" dirty="0"/>
          </a:p>
        </p:txBody>
      </p:sp>
      <p:sp>
        <p:nvSpPr>
          <p:cNvPr id="21" name="Shape 19"/>
          <p:cNvSpPr/>
          <p:nvPr/>
        </p:nvSpPr>
        <p:spPr>
          <a:xfrm>
            <a:off x="6159500" y="1666774"/>
            <a:ext cx="2698750" cy="1285875"/>
          </a:xfrm>
          <a:custGeom>
            <a:avLst/>
            <a:gdLst/>
            <a:ahLst/>
            <a:cxnLst/>
            <a:rect l="l" t="t" r="r" b="b"/>
            <a:pathLst>
              <a:path w="2698750" h="1285875">
                <a:moveTo>
                  <a:pt x="31750" y="0"/>
                </a:moveTo>
                <a:lnTo>
                  <a:pt x="2667000" y="0"/>
                </a:lnTo>
                <a:cubicBezTo>
                  <a:pt x="2684523" y="0"/>
                  <a:pt x="2698750" y="14227"/>
                  <a:pt x="2698750" y="31750"/>
                </a:cubicBezTo>
                <a:lnTo>
                  <a:pt x="2698750" y="1190625"/>
                </a:lnTo>
                <a:cubicBezTo>
                  <a:pt x="2698750" y="1243195"/>
                  <a:pt x="2656070" y="1285875"/>
                  <a:pt x="2603500" y="1285875"/>
                </a:cubicBezTo>
                <a:lnTo>
                  <a:pt x="95250" y="1285875"/>
                </a:lnTo>
                <a:cubicBezTo>
                  <a:pt x="42680" y="1285875"/>
                  <a:pt x="0" y="1243195"/>
                  <a:pt x="0" y="1190625"/>
                </a:cubicBezTo>
                <a:lnTo>
                  <a:pt x="0" y="31750"/>
                </a:lnTo>
                <a:cubicBezTo>
                  <a:pt x="0" y="14227"/>
                  <a:pt x="14227" y="0"/>
                  <a:pt x="31750" y="0"/>
                </a:cubicBezTo>
                <a:close/>
              </a:path>
            </a:pathLst>
          </a:custGeom>
          <a:solidFill>
            <a:srgbClr val="1A1D21"/>
          </a:solidFill>
          <a:ln/>
        </p:spPr>
      </p:sp>
      <p:sp>
        <p:nvSpPr>
          <p:cNvPr id="22" name="Shape 20"/>
          <p:cNvSpPr/>
          <p:nvPr/>
        </p:nvSpPr>
        <p:spPr>
          <a:xfrm>
            <a:off x="6159500" y="1666774"/>
            <a:ext cx="2698750" cy="31750"/>
          </a:xfrm>
          <a:custGeom>
            <a:avLst/>
            <a:gdLst/>
            <a:ahLst/>
            <a:cxnLst/>
            <a:rect l="l" t="t" r="r" b="b"/>
            <a:pathLst>
              <a:path w="2698750" h="31750">
                <a:moveTo>
                  <a:pt x="31750" y="0"/>
                </a:moveTo>
                <a:lnTo>
                  <a:pt x="2667000" y="0"/>
                </a:lnTo>
                <a:cubicBezTo>
                  <a:pt x="2684523" y="0"/>
                  <a:pt x="2698750" y="14227"/>
                  <a:pt x="2698750" y="31750"/>
                </a:cubicBezTo>
                <a:lnTo>
                  <a:pt x="2698750" y="31750"/>
                </a:lnTo>
                <a:lnTo>
                  <a:pt x="0" y="31750"/>
                </a:lnTo>
                <a:lnTo>
                  <a:pt x="0" y="31750"/>
                </a:lnTo>
                <a:cubicBezTo>
                  <a:pt x="0" y="14227"/>
                  <a:pt x="14227" y="0"/>
                  <a:pt x="31750" y="0"/>
                </a:cubicBezTo>
                <a:close/>
              </a:path>
            </a:pathLst>
          </a:custGeom>
          <a:solidFill>
            <a:srgbClr val="8E8E93"/>
          </a:solidFill>
          <a:ln/>
        </p:spPr>
      </p:sp>
      <p:sp>
        <p:nvSpPr>
          <p:cNvPr id="23" name="Shape 21"/>
          <p:cNvSpPr/>
          <p:nvPr/>
        </p:nvSpPr>
        <p:spPr>
          <a:xfrm>
            <a:off x="7286625" y="1809649"/>
            <a:ext cx="444500" cy="444500"/>
          </a:xfrm>
          <a:prstGeom prst="roundRect">
            <a:avLst>
              <a:gd name="adj" fmla="val 50000"/>
            </a:avLst>
          </a:prstGeom>
          <a:solidFill>
            <a:srgbClr val="8E8E93"/>
          </a:solidFill>
          <a:ln/>
        </p:spPr>
      </p:sp>
      <p:sp>
        <p:nvSpPr>
          <p:cNvPr id="24" name="Shape 22"/>
          <p:cNvSpPr/>
          <p:nvPr/>
        </p:nvSpPr>
        <p:spPr>
          <a:xfrm>
            <a:off x="7413625" y="1936649"/>
            <a:ext cx="190500" cy="190500"/>
          </a:xfrm>
          <a:custGeom>
            <a:avLst/>
            <a:gdLst/>
            <a:ahLst/>
            <a:cxnLst/>
            <a:rect l="l" t="t" r="r" b="b"/>
            <a:pathLst>
              <a:path w="190500" h="190500">
                <a:moveTo>
                  <a:pt x="95250" y="0"/>
                </a:moveTo>
                <a:cubicBezTo>
                  <a:pt x="147820" y="0"/>
                  <a:pt x="190500" y="42680"/>
                  <a:pt x="190500" y="95250"/>
                </a:cubicBezTo>
                <a:cubicBezTo>
                  <a:pt x="190500" y="147820"/>
                  <a:pt x="147820" y="190500"/>
                  <a:pt x="95250" y="190500"/>
                </a:cubicBezTo>
                <a:cubicBezTo>
                  <a:pt x="42680" y="190500"/>
                  <a:pt x="0" y="147820"/>
                  <a:pt x="0" y="95250"/>
                </a:cubicBezTo>
                <a:cubicBezTo>
                  <a:pt x="0" y="42680"/>
                  <a:pt x="42680" y="0"/>
                  <a:pt x="95250" y="0"/>
                </a:cubicBezTo>
                <a:close/>
                <a:moveTo>
                  <a:pt x="86320" y="44648"/>
                </a:moveTo>
                <a:lnTo>
                  <a:pt x="86320" y="95250"/>
                </a:lnTo>
                <a:cubicBezTo>
                  <a:pt x="86320" y="98227"/>
                  <a:pt x="87809" y="101017"/>
                  <a:pt x="90301" y="102691"/>
                </a:cubicBezTo>
                <a:lnTo>
                  <a:pt x="126020" y="126504"/>
                </a:lnTo>
                <a:cubicBezTo>
                  <a:pt x="130113" y="129257"/>
                  <a:pt x="135657" y="128141"/>
                  <a:pt x="138410" y="124011"/>
                </a:cubicBezTo>
                <a:cubicBezTo>
                  <a:pt x="141163" y="119881"/>
                  <a:pt x="140047" y="114374"/>
                  <a:pt x="135917" y="111621"/>
                </a:cubicBezTo>
                <a:lnTo>
                  <a:pt x="104180" y="90488"/>
                </a:lnTo>
                <a:lnTo>
                  <a:pt x="104180" y="44648"/>
                </a:lnTo>
                <a:cubicBezTo>
                  <a:pt x="104180" y="39700"/>
                  <a:pt x="100199" y="35719"/>
                  <a:pt x="95250" y="35719"/>
                </a:cubicBezTo>
                <a:cubicBezTo>
                  <a:pt x="90301" y="35719"/>
                  <a:pt x="86320" y="39700"/>
                  <a:pt x="86320" y="44648"/>
                </a:cubicBezTo>
                <a:close/>
              </a:path>
            </a:pathLst>
          </a:custGeom>
          <a:solidFill>
            <a:srgbClr val="FFFFFF"/>
          </a:solidFill>
          <a:ln/>
        </p:spPr>
      </p:sp>
      <p:sp>
        <p:nvSpPr>
          <p:cNvPr id="25" name="Text 23"/>
          <p:cNvSpPr/>
          <p:nvPr/>
        </p:nvSpPr>
        <p:spPr>
          <a:xfrm>
            <a:off x="6250781" y="2349399"/>
            <a:ext cx="2516188" cy="222250"/>
          </a:xfrm>
          <a:prstGeom prst="rect">
            <a:avLst/>
          </a:prstGeom>
          <a:noFill/>
          <a:ln/>
        </p:spPr>
        <p:txBody>
          <a:bodyPr wrap="square" lIns="0" tIns="0" rIns="0" bIns="0" rtlCol="0" anchor="ctr"/>
          <a:lstStyle/>
          <a:p>
            <a:pPr algn="ctr">
              <a:lnSpc>
                <a:spcPct val="130000"/>
              </a:lnSpc>
            </a:pPr>
            <a:r>
              <a:rPr lang="en-US" sz="1125" b="1" dirty="0">
                <a:solidFill>
                  <a:srgbClr val="8E8E93"/>
                </a:solidFill>
                <a:latin typeface="Liter" pitchFamily="34" charset="0"/>
                <a:ea typeface="Liter" pitchFamily="34" charset="-122"/>
                <a:cs typeface="Liter" pitchFamily="34" charset="-120"/>
              </a:rPr>
              <a:t>Timeline</a:t>
            </a:r>
            <a:endParaRPr lang="en-US" sz="1600" dirty="0"/>
          </a:p>
        </p:txBody>
      </p:sp>
      <p:sp>
        <p:nvSpPr>
          <p:cNvPr id="26" name="Text 24"/>
          <p:cNvSpPr/>
          <p:nvPr/>
        </p:nvSpPr>
        <p:spPr>
          <a:xfrm>
            <a:off x="6254750" y="2635149"/>
            <a:ext cx="2508250" cy="190500"/>
          </a:xfrm>
          <a:prstGeom prst="rect">
            <a:avLst/>
          </a:prstGeom>
          <a:noFill/>
          <a:ln/>
        </p:spPr>
        <p:txBody>
          <a:bodyPr wrap="square" lIns="0" tIns="0" rIns="0" bIns="0" rtlCol="0" anchor="ctr"/>
          <a:lstStyle/>
          <a:p>
            <a:pPr algn="ct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How soon do you need it?</a:t>
            </a:r>
            <a:endParaRPr lang="en-US" sz="1600" dirty="0"/>
          </a:p>
        </p:txBody>
      </p:sp>
      <p:sp>
        <p:nvSpPr>
          <p:cNvPr id="27" name="Shape 25"/>
          <p:cNvSpPr/>
          <p:nvPr/>
        </p:nvSpPr>
        <p:spPr>
          <a:xfrm>
            <a:off x="8985250" y="1666774"/>
            <a:ext cx="2698750" cy="1285875"/>
          </a:xfrm>
          <a:custGeom>
            <a:avLst/>
            <a:gdLst/>
            <a:ahLst/>
            <a:cxnLst/>
            <a:rect l="l" t="t" r="r" b="b"/>
            <a:pathLst>
              <a:path w="2698750" h="1285875">
                <a:moveTo>
                  <a:pt x="31750" y="0"/>
                </a:moveTo>
                <a:lnTo>
                  <a:pt x="2667000" y="0"/>
                </a:lnTo>
                <a:cubicBezTo>
                  <a:pt x="2684523" y="0"/>
                  <a:pt x="2698750" y="14227"/>
                  <a:pt x="2698750" y="31750"/>
                </a:cubicBezTo>
                <a:lnTo>
                  <a:pt x="2698750" y="1190625"/>
                </a:lnTo>
                <a:cubicBezTo>
                  <a:pt x="2698750" y="1243195"/>
                  <a:pt x="2656070" y="1285875"/>
                  <a:pt x="2603500" y="1285875"/>
                </a:cubicBezTo>
                <a:lnTo>
                  <a:pt x="95250" y="1285875"/>
                </a:lnTo>
                <a:cubicBezTo>
                  <a:pt x="42680" y="1285875"/>
                  <a:pt x="0" y="1243195"/>
                  <a:pt x="0" y="1190625"/>
                </a:cubicBezTo>
                <a:lnTo>
                  <a:pt x="0" y="31750"/>
                </a:lnTo>
                <a:cubicBezTo>
                  <a:pt x="0" y="14227"/>
                  <a:pt x="14227" y="0"/>
                  <a:pt x="31750" y="0"/>
                </a:cubicBezTo>
                <a:close/>
              </a:path>
            </a:pathLst>
          </a:custGeom>
          <a:solidFill>
            <a:srgbClr val="1A1D21"/>
          </a:solidFill>
          <a:ln/>
        </p:spPr>
      </p:sp>
      <p:sp>
        <p:nvSpPr>
          <p:cNvPr id="28" name="Shape 26"/>
          <p:cNvSpPr/>
          <p:nvPr/>
        </p:nvSpPr>
        <p:spPr>
          <a:xfrm>
            <a:off x="8985250" y="1666774"/>
            <a:ext cx="2698750" cy="31750"/>
          </a:xfrm>
          <a:custGeom>
            <a:avLst/>
            <a:gdLst/>
            <a:ahLst/>
            <a:cxnLst/>
            <a:rect l="l" t="t" r="r" b="b"/>
            <a:pathLst>
              <a:path w="2698750" h="31750">
                <a:moveTo>
                  <a:pt x="31750" y="0"/>
                </a:moveTo>
                <a:lnTo>
                  <a:pt x="2667000" y="0"/>
                </a:lnTo>
                <a:cubicBezTo>
                  <a:pt x="2684523" y="0"/>
                  <a:pt x="2698750" y="14227"/>
                  <a:pt x="2698750" y="31750"/>
                </a:cubicBezTo>
                <a:lnTo>
                  <a:pt x="2698750" y="31750"/>
                </a:lnTo>
                <a:lnTo>
                  <a:pt x="0" y="31750"/>
                </a:lnTo>
                <a:lnTo>
                  <a:pt x="0" y="31750"/>
                </a:lnTo>
                <a:cubicBezTo>
                  <a:pt x="0" y="14227"/>
                  <a:pt x="14227" y="0"/>
                  <a:pt x="31750" y="0"/>
                </a:cubicBezTo>
                <a:close/>
              </a:path>
            </a:pathLst>
          </a:custGeom>
          <a:solidFill>
            <a:srgbClr val="FF9500"/>
          </a:solidFill>
          <a:ln/>
        </p:spPr>
      </p:sp>
      <p:sp>
        <p:nvSpPr>
          <p:cNvPr id="29" name="Shape 27"/>
          <p:cNvSpPr/>
          <p:nvPr/>
        </p:nvSpPr>
        <p:spPr>
          <a:xfrm>
            <a:off x="10112375" y="1809649"/>
            <a:ext cx="444500" cy="444500"/>
          </a:xfrm>
          <a:prstGeom prst="roundRect">
            <a:avLst>
              <a:gd name="adj" fmla="val 50000"/>
            </a:avLst>
          </a:prstGeom>
          <a:solidFill>
            <a:srgbClr val="FF9500"/>
          </a:solidFill>
          <a:ln/>
        </p:spPr>
      </p:sp>
      <p:sp>
        <p:nvSpPr>
          <p:cNvPr id="30" name="Shape 28"/>
          <p:cNvSpPr/>
          <p:nvPr/>
        </p:nvSpPr>
        <p:spPr>
          <a:xfrm>
            <a:off x="10239375" y="1936649"/>
            <a:ext cx="190500" cy="190500"/>
          </a:xfrm>
          <a:custGeom>
            <a:avLst/>
            <a:gdLst/>
            <a:ahLst/>
            <a:cxnLst/>
            <a:rect l="l" t="t" r="r" b="b"/>
            <a:pathLst>
              <a:path w="190500" h="190500">
                <a:moveTo>
                  <a:pt x="83344" y="0"/>
                </a:moveTo>
                <a:cubicBezTo>
                  <a:pt x="96478" y="0"/>
                  <a:pt x="107156" y="8000"/>
                  <a:pt x="107156" y="17859"/>
                </a:cubicBezTo>
                <a:cubicBezTo>
                  <a:pt x="107156" y="21729"/>
                  <a:pt x="105519" y="25301"/>
                  <a:pt x="102691" y="28240"/>
                </a:cubicBezTo>
                <a:cubicBezTo>
                  <a:pt x="100236" y="30807"/>
                  <a:pt x="98227" y="33933"/>
                  <a:pt x="98227" y="37505"/>
                </a:cubicBezTo>
                <a:cubicBezTo>
                  <a:pt x="98227" y="43086"/>
                  <a:pt x="102766" y="47625"/>
                  <a:pt x="108347" y="47625"/>
                </a:cubicBezTo>
                <a:lnTo>
                  <a:pt x="125016" y="47625"/>
                </a:lnTo>
                <a:cubicBezTo>
                  <a:pt x="134875" y="47625"/>
                  <a:pt x="142875" y="55625"/>
                  <a:pt x="142875" y="65484"/>
                </a:cubicBezTo>
                <a:lnTo>
                  <a:pt x="142875" y="82153"/>
                </a:lnTo>
                <a:cubicBezTo>
                  <a:pt x="142875" y="87734"/>
                  <a:pt x="147414" y="92273"/>
                  <a:pt x="152995" y="92273"/>
                </a:cubicBezTo>
                <a:cubicBezTo>
                  <a:pt x="156530" y="92273"/>
                  <a:pt x="159693" y="90264"/>
                  <a:pt x="162260" y="87809"/>
                </a:cubicBezTo>
                <a:cubicBezTo>
                  <a:pt x="165199" y="85018"/>
                  <a:pt x="168771" y="83344"/>
                  <a:pt x="172641" y="83344"/>
                </a:cubicBezTo>
                <a:cubicBezTo>
                  <a:pt x="182500" y="83344"/>
                  <a:pt x="190500" y="94022"/>
                  <a:pt x="190500" y="107156"/>
                </a:cubicBezTo>
                <a:cubicBezTo>
                  <a:pt x="190500" y="120290"/>
                  <a:pt x="182500" y="130969"/>
                  <a:pt x="172641" y="130969"/>
                </a:cubicBezTo>
                <a:cubicBezTo>
                  <a:pt x="168771" y="130969"/>
                  <a:pt x="165162" y="129332"/>
                  <a:pt x="162260" y="126504"/>
                </a:cubicBezTo>
                <a:cubicBezTo>
                  <a:pt x="159693" y="124048"/>
                  <a:pt x="156567" y="122039"/>
                  <a:pt x="152995" y="122039"/>
                </a:cubicBezTo>
                <a:cubicBezTo>
                  <a:pt x="147414" y="122039"/>
                  <a:pt x="142875" y="126578"/>
                  <a:pt x="142875" y="132159"/>
                </a:cubicBezTo>
                <a:lnTo>
                  <a:pt x="142875" y="172641"/>
                </a:lnTo>
                <a:cubicBezTo>
                  <a:pt x="142875" y="182500"/>
                  <a:pt x="134875" y="190500"/>
                  <a:pt x="125016" y="190500"/>
                </a:cubicBezTo>
                <a:lnTo>
                  <a:pt x="103882" y="190500"/>
                </a:lnTo>
                <a:cubicBezTo>
                  <a:pt x="99120" y="190500"/>
                  <a:pt x="95250" y="186630"/>
                  <a:pt x="95250" y="181868"/>
                </a:cubicBezTo>
                <a:cubicBezTo>
                  <a:pt x="95250" y="178445"/>
                  <a:pt x="97408" y="175431"/>
                  <a:pt x="100161" y="173385"/>
                </a:cubicBezTo>
                <a:cubicBezTo>
                  <a:pt x="104477" y="170148"/>
                  <a:pt x="107156" y="165683"/>
                  <a:pt x="107156" y="160734"/>
                </a:cubicBezTo>
                <a:cubicBezTo>
                  <a:pt x="107156" y="150875"/>
                  <a:pt x="96478" y="142875"/>
                  <a:pt x="83344" y="142875"/>
                </a:cubicBezTo>
                <a:cubicBezTo>
                  <a:pt x="70210" y="142875"/>
                  <a:pt x="59531" y="150875"/>
                  <a:pt x="59531" y="160734"/>
                </a:cubicBezTo>
                <a:cubicBezTo>
                  <a:pt x="59531" y="165683"/>
                  <a:pt x="62210" y="170148"/>
                  <a:pt x="66526" y="173385"/>
                </a:cubicBezTo>
                <a:cubicBezTo>
                  <a:pt x="69279" y="175431"/>
                  <a:pt x="71438" y="178408"/>
                  <a:pt x="71438" y="181868"/>
                </a:cubicBezTo>
                <a:cubicBezTo>
                  <a:pt x="71438" y="186630"/>
                  <a:pt x="67568" y="190500"/>
                  <a:pt x="62805" y="190500"/>
                </a:cubicBezTo>
                <a:lnTo>
                  <a:pt x="17859" y="190500"/>
                </a:lnTo>
                <a:cubicBezTo>
                  <a:pt x="8000" y="190500"/>
                  <a:pt x="0" y="182500"/>
                  <a:pt x="0" y="172641"/>
                </a:cubicBezTo>
                <a:lnTo>
                  <a:pt x="0" y="127695"/>
                </a:lnTo>
                <a:cubicBezTo>
                  <a:pt x="0" y="122932"/>
                  <a:pt x="3870" y="119063"/>
                  <a:pt x="8632" y="119063"/>
                </a:cubicBezTo>
                <a:cubicBezTo>
                  <a:pt x="12055" y="119063"/>
                  <a:pt x="15069" y="121221"/>
                  <a:pt x="17115" y="123974"/>
                </a:cubicBezTo>
                <a:cubicBezTo>
                  <a:pt x="20352" y="128290"/>
                  <a:pt x="24817" y="130969"/>
                  <a:pt x="29766" y="130969"/>
                </a:cubicBezTo>
                <a:cubicBezTo>
                  <a:pt x="39625" y="130969"/>
                  <a:pt x="47625" y="120290"/>
                  <a:pt x="47625" y="107156"/>
                </a:cubicBezTo>
                <a:cubicBezTo>
                  <a:pt x="47625" y="94022"/>
                  <a:pt x="39625" y="83344"/>
                  <a:pt x="29766" y="83344"/>
                </a:cubicBezTo>
                <a:cubicBezTo>
                  <a:pt x="24817" y="83344"/>
                  <a:pt x="20352" y="86023"/>
                  <a:pt x="17115" y="90339"/>
                </a:cubicBezTo>
                <a:cubicBezTo>
                  <a:pt x="15069" y="93092"/>
                  <a:pt x="12092" y="95250"/>
                  <a:pt x="8632" y="95250"/>
                </a:cubicBezTo>
                <a:cubicBezTo>
                  <a:pt x="3870" y="95250"/>
                  <a:pt x="0" y="91380"/>
                  <a:pt x="0" y="86618"/>
                </a:cubicBezTo>
                <a:lnTo>
                  <a:pt x="0" y="65484"/>
                </a:lnTo>
                <a:cubicBezTo>
                  <a:pt x="0" y="55625"/>
                  <a:pt x="8000" y="47625"/>
                  <a:pt x="17859" y="47625"/>
                </a:cubicBezTo>
                <a:lnTo>
                  <a:pt x="58341" y="47625"/>
                </a:lnTo>
                <a:cubicBezTo>
                  <a:pt x="63922" y="47625"/>
                  <a:pt x="68461" y="43086"/>
                  <a:pt x="68461" y="37505"/>
                </a:cubicBezTo>
                <a:cubicBezTo>
                  <a:pt x="68461" y="33970"/>
                  <a:pt x="66452" y="30807"/>
                  <a:pt x="63996" y="28240"/>
                </a:cubicBezTo>
                <a:cubicBezTo>
                  <a:pt x="61206" y="25301"/>
                  <a:pt x="59531" y="21729"/>
                  <a:pt x="59531" y="17859"/>
                </a:cubicBezTo>
                <a:cubicBezTo>
                  <a:pt x="59531" y="8000"/>
                  <a:pt x="70210" y="0"/>
                  <a:pt x="83344" y="0"/>
                </a:cubicBezTo>
                <a:close/>
              </a:path>
            </a:pathLst>
          </a:custGeom>
          <a:solidFill>
            <a:srgbClr val="FFFFFF"/>
          </a:solidFill>
          <a:ln/>
        </p:spPr>
      </p:sp>
      <p:sp>
        <p:nvSpPr>
          <p:cNvPr id="31" name="Text 29"/>
          <p:cNvSpPr/>
          <p:nvPr/>
        </p:nvSpPr>
        <p:spPr>
          <a:xfrm>
            <a:off x="9076531" y="2349399"/>
            <a:ext cx="2516188" cy="222250"/>
          </a:xfrm>
          <a:prstGeom prst="rect">
            <a:avLst/>
          </a:prstGeom>
          <a:noFill/>
          <a:ln/>
        </p:spPr>
        <p:txBody>
          <a:bodyPr wrap="square" lIns="0" tIns="0" rIns="0" bIns="0" rtlCol="0" anchor="ctr"/>
          <a:lstStyle/>
          <a:p>
            <a:pPr algn="ctr">
              <a:lnSpc>
                <a:spcPct val="130000"/>
              </a:lnSpc>
            </a:pPr>
            <a:r>
              <a:rPr lang="en-US" sz="1125" b="1" dirty="0">
                <a:solidFill>
                  <a:srgbClr val="FF9500"/>
                </a:solidFill>
                <a:latin typeface="Liter" pitchFamily="34" charset="0"/>
                <a:ea typeface="Liter" pitchFamily="34" charset="-122"/>
                <a:cs typeface="Liter" pitchFamily="34" charset="-120"/>
              </a:rPr>
              <a:t>Complexity</a:t>
            </a:r>
            <a:endParaRPr lang="en-US" sz="1600" dirty="0"/>
          </a:p>
        </p:txBody>
      </p:sp>
      <p:sp>
        <p:nvSpPr>
          <p:cNvPr id="32" name="Text 30"/>
          <p:cNvSpPr/>
          <p:nvPr/>
        </p:nvSpPr>
        <p:spPr>
          <a:xfrm>
            <a:off x="9080500" y="2635149"/>
            <a:ext cx="2508250" cy="190500"/>
          </a:xfrm>
          <a:prstGeom prst="rect">
            <a:avLst/>
          </a:prstGeom>
          <a:noFill/>
          <a:ln/>
        </p:spPr>
        <p:txBody>
          <a:bodyPr wrap="square" lIns="0" tIns="0" rIns="0" bIns="0" rtlCol="0" anchor="ctr"/>
          <a:lstStyle/>
          <a:p>
            <a:pPr algn="ct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How complex is your app?</a:t>
            </a:r>
            <a:endParaRPr lang="en-US" sz="1600" dirty="0"/>
          </a:p>
        </p:txBody>
      </p:sp>
      <p:sp>
        <p:nvSpPr>
          <p:cNvPr id="33" name="Shape 31"/>
          <p:cNvSpPr/>
          <p:nvPr/>
        </p:nvSpPr>
        <p:spPr>
          <a:xfrm>
            <a:off x="333375" y="3270149"/>
            <a:ext cx="5699125" cy="2254250"/>
          </a:xfrm>
          <a:custGeom>
            <a:avLst/>
            <a:gdLst/>
            <a:ahLst/>
            <a:cxnLst/>
            <a:rect l="l" t="t" r="r" b="b"/>
            <a:pathLst>
              <a:path w="5699125" h="2254250">
                <a:moveTo>
                  <a:pt x="31750" y="0"/>
                </a:moveTo>
                <a:lnTo>
                  <a:pt x="5572125" y="0"/>
                </a:lnTo>
                <a:cubicBezTo>
                  <a:pt x="5642218" y="0"/>
                  <a:pt x="5699125" y="56907"/>
                  <a:pt x="5699125" y="127000"/>
                </a:cubicBezTo>
                <a:lnTo>
                  <a:pt x="5699125" y="2127250"/>
                </a:lnTo>
                <a:cubicBezTo>
                  <a:pt x="5699125" y="2197343"/>
                  <a:pt x="5642218" y="2254250"/>
                  <a:pt x="5572125" y="2254250"/>
                </a:cubicBezTo>
                <a:lnTo>
                  <a:pt x="31750" y="2254250"/>
                </a:lnTo>
                <a:cubicBezTo>
                  <a:pt x="14227" y="2254250"/>
                  <a:pt x="0" y="2240023"/>
                  <a:pt x="0" y="2222500"/>
                </a:cubicBezTo>
                <a:lnTo>
                  <a:pt x="0" y="31750"/>
                </a:lnTo>
                <a:cubicBezTo>
                  <a:pt x="0" y="14227"/>
                  <a:pt x="14227" y="0"/>
                  <a:pt x="31750" y="0"/>
                </a:cubicBezTo>
                <a:close/>
              </a:path>
            </a:pathLst>
          </a:custGeom>
          <a:solidFill>
            <a:srgbClr val="2C2C2E"/>
          </a:solidFill>
          <a:ln/>
        </p:spPr>
      </p:sp>
      <p:sp>
        <p:nvSpPr>
          <p:cNvPr id="34" name="Shape 32"/>
          <p:cNvSpPr/>
          <p:nvPr/>
        </p:nvSpPr>
        <p:spPr>
          <a:xfrm>
            <a:off x="333375" y="3270149"/>
            <a:ext cx="31750" cy="2254250"/>
          </a:xfrm>
          <a:custGeom>
            <a:avLst/>
            <a:gdLst/>
            <a:ahLst/>
            <a:cxnLst/>
            <a:rect l="l" t="t" r="r" b="b"/>
            <a:pathLst>
              <a:path w="31750" h="2254250">
                <a:moveTo>
                  <a:pt x="31750" y="0"/>
                </a:moveTo>
                <a:lnTo>
                  <a:pt x="31750" y="0"/>
                </a:lnTo>
                <a:lnTo>
                  <a:pt x="31750" y="2254250"/>
                </a:lnTo>
                <a:lnTo>
                  <a:pt x="31750" y="2254250"/>
                </a:lnTo>
                <a:cubicBezTo>
                  <a:pt x="14227" y="2254250"/>
                  <a:pt x="0" y="2240023"/>
                  <a:pt x="0" y="2222500"/>
                </a:cubicBezTo>
                <a:lnTo>
                  <a:pt x="0" y="31750"/>
                </a:lnTo>
                <a:cubicBezTo>
                  <a:pt x="0" y="14227"/>
                  <a:pt x="14227" y="0"/>
                  <a:pt x="31750" y="0"/>
                </a:cubicBezTo>
                <a:close/>
              </a:path>
            </a:pathLst>
          </a:custGeom>
          <a:solidFill>
            <a:srgbClr val="34C759"/>
          </a:solidFill>
          <a:ln/>
        </p:spPr>
      </p:sp>
      <p:sp>
        <p:nvSpPr>
          <p:cNvPr id="35" name="Shape 33"/>
          <p:cNvSpPr/>
          <p:nvPr/>
        </p:nvSpPr>
        <p:spPr>
          <a:xfrm>
            <a:off x="559594" y="3492399"/>
            <a:ext cx="158750" cy="158750"/>
          </a:xfrm>
          <a:custGeom>
            <a:avLst/>
            <a:gdLst/>
            <a:ahLst/>
            <a:cxnLst/>
            <a:rect l="l" t="t" r="r" b="b"/>
            <a:pathLst>
              <a:path w="158750" h="158750">
                <a:moveTo>
                  <a:pt x="158750" y="29766"/>
                </a:moveTo>
                <a:cubicBezTo>
                  <a:pt x="158750" y="45331"/>
                  <a:pt x="140426" y="68554"/>
                  <a:pt x="132519" y="77825"/>
                </a:cubicBezTo>
                <a:cubicBezTo>
                  <a:pt x="131341" y="79189"/>
                  <a:pt x="129604" y="79716"/>
                  <a:pt x="128023" y="79375"/>
                </a:cubicBezTo>
                <a:lnTo>
                  <a:pt x="99219" y="79375"/>
                </a:lnTo>
                <a:cubicBezTo>
                  <a:pt x="93731" y="79375"/>
                  <a:pt x="89297" y="83809"/>
                  <a:pt x="89297" y="89297"/>
                </a:cubicBezTo>
                <a:cubicBezTo>
                  <a:pt x="89297" y="94785"/>
                  <a:pt x="93731" y="99219"/>
                  <a:pt x="99219" y="99219"/>
                </a:cubicBezTo>
                <a:lnTo>
                  <a:pt x="128984" y="99219"/>
                </a:lnTo>
                <a:cubicBezTo>
                  <a:pt x="145417" y="99219"/>
                  <a:pt x="158750" y="112551"/>
                  <a:pt x="158750" y="128984"/>
                </a:cubicBezTo>
                <a:cubicBezTo>
                  <a:pt x="158750" y="145417"/>
                  <a:pt x="145417" y="158750"/>
                  <a:pt x="128984" y="158750"/>
                </a:cubicBezTo>
                <a:lnTo>
                  <a:pt x="43284" y="158750"/>
                </a:lnTo>
                <a:cubicBezTo>
                  <a:pt x="45982" y="155680"/>
                  <a:pt x="49268" y="151743"/>
                  <a:pt x="52586" y="147340"/>
                </a:cubicBezTo>
                <a:cubicBezTo>
                  <a:pt x="54539" y="144735"/>
                  <a:pt x="56555" y="141883"/>
                  <a:pt x="58477" y="138906"/>
                </a:cubicBezTo>
                <a:lnTo>
                  <a:pt x="128984" y="138906"/>
                </a:lnTo>
                <a:cubicBezTo>
                  <a:pt x="134472" y="138906"/>
                  <a:pt x="138906" y="134472"/>
                  <a:pt x="138906" y="128984"/>
                </a:cubicBezTo>
                <a:cubicBezTo>
                  <a:pt x="138906" y="123496"/>
                  <a:pt x="134472" y="119062"/>
                  <a:pt x="128984" y="119062"/>
                </a:cubicBezTo>
                <a:lnTo>
                  <a:pt x="99219" y="119062"/>
                </a:lnTo>
                <a:cubicBezTo>
                  <a:pt x="82786" y="119062"/>
                  <a:pt x="69453" y="105730"/>
                  <a:pt x="69453" y="89297"/>
                </a:cubicBezTo>
                <a:cubicBezTo>
                  <a:pt x="69453" y="72864"/>
                  <a:pt x="82786" y="59531"/>
                  <a:pt x="99219" y="59531"/>
                </a:cubicBezTo>
                <a:lnTo>
                  <a:pt x="111559" y="59531"/>
                </a:lnTo>
                <a:cubicBezTo>
                  <a:pt x="105048" y="49764"/>
                  <a:pt x="99219" y="38540"/>
                  <a:pt x="99219" y="29766"/>
                </a:cubicBezTo>
                <a:cubicBezTo>
                  <a:pt x="99219" y="13333"/>
                  <a:pt x="112551" y="0"/>
                  <a:pt x="128984" y="0"/>
                </a:cubicBezTo>
                <a:cubicBezTo>
                  <a:pt x="145417" y="0"/>
                  <a:pt x="158750" y="13333"/>
                  <a:pt x="158750" y="29766"/>
                </a:cubicBezTo>
                <a:close/>
                <a:moveTo>
                  <a:pt x="36308" y="151650"/>
                </a:moveTo>
                <a:cubicBezTo>
                  <a:pt x="35130" y="152983"/>
                  <a:pt x="34075" y="154161"/>
                  <a:pt x="33176" y="155153"/>
                </a:cubicBezTo>
                <a:lnTo>
                  <a:pt x="32618" y="155773"/>
                </a:lnTo>
                <a:lnTo>
                  <a:pt x="32556" y="155711"/>
                </a:lnTo>
                <a:cubicBezTo>
                  <a:pt x="30696" y="157138"/>
                  <a:pt x="28029" y="156952"/>
                  <a:pt x="26355" y="155153"/>
                </a:cubicBezTo>
                <a:cubicBezTo>
                  <a:pt x="18542" y="146658"/>
                  <a:pt x="0" y="124799"/>
                  <a:pt x="0" y="109141"/>
                </a:cubicBezTo>
                <a:cubicBezTo>
                  <a:pt x="0" y="92708"/>
                  <a:pt x="13333" y="79375"/>
                  <a:pt x="29766" y="79375"/>
                </a:cubicBezTo>
                <a:cubicBezTo>
                  <a:pt x="46199" y="79375"/>
                  <a:pt x="59531" y="92708"/>
                  <a:pt x="59531" y="109141"/>
                </a:cubicBezTo>
                <a:cubicBezTo>
                  <a:pt x="59531" y="118442"/>
                  <a:pt x="52989" y="129915"/>
                  <a:pt x="46044" y="139495"/>
                </a:cubicBezTo>
                <a:cubicBezTo>
                  <a:pt x="42726" y="144053"/>
                  <a:pt x="39315" y="148177"/>
                  <a:pt x="36494" y="151433"/>
                </a:cubicBezTo>
                <a:lnTo>
                  <a:pt x="36308" y="151650"/>
                </a:lnTo>
                <a:close/>
                <a:moveTo>
                  <a:pt x="39688" y="109141"/>
                </a:moveTo>
                <a:cubicBezTo>
                  <a:pt x="39688" y="103665"/>
                  <a:pt x="35242" y="99219"/>
                  <a:pt x="29766" y="99219"/>
                </a:cubicBezTo>
                <a:cubicBezTo>
                  <a:pt x="24290" y="99219"/>
                  <a:pt x="19844" y="103665"/>
                  <a:pt x="19844" y="109141"/>
                </a:cubicBezTo>
                <a:cubicBezTo>
                  <a:pt x="19844" y="114617"/>
                  <a:pt x="24290" y="119062"/>
                  <a:pt x="29766" y="119062"/>
                </a:cubicBezTo>
                <a:cubicBezTo>
                  <a:pt x="35242" y="119062"/>
                  <a:pt x="39688" y="114617"/>
                  <a:pt x="39688" y="109141"/>
                </a:cubicBezTo>
                <a:close/>
                <a:moveTo>
                  <a:pt x="128984" y="39688"/>
                </a:moveTo>
                <a:cubicBezTo>
                  <a:pt x="134460" y="39688"/>
                  <a:pt x="138906" y="35242"/>
                  <a:pt x="138906" y="29766"/>
                </a:cubicBezTo>
                <a:cubicBezTo>
                  <a:pt x="138906" y="24290"/>
                  <a:pt x="134460" y="19844"/>
                  <a:pt x="128984" y="19844"/>
                </a:cubicBezTo>
                <a:cubicBezTo>
                  <a:pt x="123508" y="19844"/>
                  <a:pt x="119062" y="24290"/>
                  <a:pt x="119062" y="29766"/>
                </a:cubicBezTo>
                <a:cubicBezTo>
                  <a:pt x="119062" y="35242"/>
                  <a:pt x="123508" y="39688"/>
                  <a:pt x="128984" y="39688"/>
                </a:cubicBezTo>
                <a:close/>
              </a:path>
            </a:pathLst>
          </a:custGeom>
          <a:solidFill>
            <a:srgbClr val="34C759"/>
          </a:solidFill>
          <a:ln/>
        </p:spPr>
      </p:sp>
      <p:sp>
        <p:nvSpPr>
          <p:cNvPr id="36" name="Text 34"/>
          <p:cNvSpPr/>
          <p:nvPr/>
        </p:nvSpPr>
        <p:spPr>
          <a:xfrm>
            <a:off x="738188" y="3460649"/>
            <a:ext cx="5183188" cy="222250"/>
          </a:xfrm>
          <a:prstGeom prst="rect">
            <a:avLst/>
          </a:prstGeom>
          <a:noFill/>
          <a:ln/>
        </p:spPr>
        <p:txBody>
          <a:bodyPr wrap="square" lIns="0" tIns="0" rIns="0" bIns="0" rtlCol="0" anchor="ctr"/>
          <a:lstStyle/>
          <a:p>
            <a:pPr>
              <a:lnSpc>
                <a:spcPct val="120000"/>
              </a:lnSpc>
            </a:pPr>
            <a:r>
              <a:rPr lang="en-US" sz="1250" b="1" dirty="0">
                <a:solidFill>
                  <a:srgbClr val="34C759"/>
                </a:solidFill>
                <a:latin typeface="Liter" pitchFamily="34" charset="0"/>
                <a:ea typeface="Liter" pitchFamily="34" charset="-122"/>
                <a:cs typeface="Liter" pitchFamily="34" charset="-120"/>
              </a:rPr>
              <a:t>Decision Guide</a:t>
            </a:r>
            <a:endParaRPr lang="en-US" sz="1600" dirty="0"/>
          </a:p>
        </p:txBody>
      </p:sp>
      <p:sp>
        <p:nvSpPr>
          <p:cNvPr id="37" name="Shape 35"/>
          <p:cNvSpPr/>
          <p:nvPr/>
        </p:nvSpPr>
        <p:spPr>
          <a:xfrm>
            <a:off x="539750" y="3809899"/>
            <a:ext cx="5302250" cy="571500"/>
          </a:xfrm>
          <a:prstGeom prst="roundRect">
            <a:avLst>
              <a:gd name="adj" fmla="val 11111"/>
            </a:avLst>
          </a:prstGeom>
          <a:solidFill>
            <a:srgbClr val="1A1D21"/>
          </a:solidFill>
          <a:ln/>
        </p:spPr>
      </p:sp>
      <p:sp>
        <p:nvSpPr>
          <p:cNvPr id="38" name="Text 36"/>
          <p:cNvSpPr/>
          <p:nvPr/>
        </p:nvSpPr>
        <p:spPr>
          <a:xfrm>
            <a:off x="635000" y="3905149"/>
            <a:ext cx="5175250" cy="3810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Choose Android if:</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You want maximum reach, have budget constraints, or target emerging markets</a:t>
            </a:r>
            <a:endParaRPr lang="en-US" sz="1600" dirty="0"/>
          </a:p>
        </p:txBody>
      </p:sp>
      <p:sp>
        <p:nvSpPr>
          <p:cNvPr id="39" name="Shape 37"/>
          <p:cNvSpPr/>
          <p:nvPr/>
        </p:nvSpPr>
        <p:spPr>
          <a:xfrm>
            <a:off x="539750" y="4476649"/>
            <a:ext cx="5302250" cy="381000"/>
          </a:xfrm>
          <a:prstGeom prst="roundRect">
            <a:avLst>
              <a:gd name="adj" fmla="val 16667"/>
            </a:avLst>
          </a:prstGeom>
          <a:solidFill>
            <a:srgbClr val="1A1D21"/>
          </a:solidFill>
          <a:ln/>
        </p:spPr>
      </p:sp>
      <p:sp>
        <p:nvSpPr>
          <p:cNvPr id="40" name="Text 38"/>
          <p:cNvSpPr/>
          <p:nvPr/>
        </p:nvSpPr>
        <p:spPr>
          <a:xfrm>
            <a:off x="635000" y="4571899"/>
            <a:ext cx="5175250" cy="190500"/>
          </a:xfrm>
          <a:prstGeom prst="rect">
            <a:avLst/>
          </a:prstGeom>
          <a:noFill/>
          <a:ln/>
        </p:spPr>
        <p:txBody>
          <a:bodyPr wrap="square" lIns="0" tIns="0" rIns="0" bIns="0" rtlCol="0" anchor="ctr"/>
          <a:lstStyle/>
          <a:p>
            <a:pPr>
              <a:lnSpc>
                <a:spcPct val="130000"/>
              </a:lnSpc>
            </a:pPr>
            <a:r>
              <a:rPr lang="en-US" sz="1000" b="1" dirty="0">
                <a:solidFill>
                  <a:srgbClr val="0A84FF"/>
                </a:solidFill>
                <a:latin typeface="Quattrocento Sans" pitchFamily="34" charset="0"/>
                <a:ea typeface="Quattrocento Sans" pitchFamily="34" charset="-122"/>
                <a:cs typeface="Quattrocento Sans" pitchFamily="34" charset="-120"/>
              </a:rPr>
              <a:t>Choose iOS if:</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You target premium users, need high security, or want higher revenue per user</a:t>
            </a:r>
            <a:endParaRPr lang="en-US" sz="1600" dirty="0"/>
          </a:p>
        </p:txBody>
      </p:sp>
      <p:sp>
        <p:nvSpPr>
          <p:cNvPr id="41" name="Shape 39"/>
          <p:cNvSpPr/>
          <p:nvPr/>
        </p:nvSpPr>
        <p:spPr>
          <a:xfrm>
            <a:off x="539750" y="4952899"/>
            <a:ext cx="5302250" cy="381000"/>
          </a:xfrm>
          <a:prstGeom prst="roundRect">
            <a:avLst>
              <a:gd name="adj" fmla="val 16667"/>
            </a:avLst>
          </a:prstGeom>
          <a:solidFill>
            <a:srgbClr val="1A1D21"/>
          </a:solidFill>
          <a:ln/>
        </p:spPr>
      </p:sp>
      <p:sp>
        <p:nvSpPr>
          <p:cNvPr id="42" name="Text 40"/>
          <p:cNvSpPr/>
          <p:nvPr/>
        </p:nvSpPr>
        <p:spPr>
          <a:xfrm>
            <a:off x="635000" y="5048149"/>
            <a:ext cx="5175250" cy="190500"/>
          </a:xfrm>
          <a:prstGeom prst="rect">
            <a:avLst/>
          </a:prstGeom>
          <a:noFill/>
          <a:ln/>
        </p:spPr>
        <p:txBody>
          <a:bodyPr wrap="square" lIns="0" tIns="0" rIns="0" bIns="0" rtlCol="0" anchor="ctr"/>
          <a:lstStyle/>
          <a:p>
            <a:pPr>
              <a:lnSpc>
                <a:spcPct val="130000"/>
              </a:lnSpc>
            </a:pPr>
            <a:r>
              <a:rPr lang="en-US" sz="1000" b="1" dirty="0">
                <a:solidFill>
                  <a:srgbClr val="8E8E93"/>
                </a:solidFill>
                <a:latin typeface="Quattrocento Sans" pitchFamily="34" charset="0"/>
                <a:ea typeface="Quattrocento Sans" pitchFamily="34" charset="-122"/>
                <a:cs typeface="Quattrocento Sans" pitchFamily="34" charset="-120"/>
              </a:rPr>
              <a:t>Choose Cross-Platform if:</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You have limited budget, need fast launch, or want both platforms</a:t>
            </a:r>
            <a:endParaRPr lang="en-US" sz="1600" dirty="0"/>
          </a:p>
        </p:txBody>
      </p:sp>
      <p:sp>
        <p:nvSpPr>
          <p:cNvPr id="43" name="Shape 41"/>
          <p:cNvSpPr/>
          <p:nvPr/>
        </p:nvSpPr>
        <p:spPr>
          <a:xfrm>
            <a:off x="320675" y="5654574"/>
            <a:ext cx="5705475" cy="1260475"/>
          </a:xfrm>
          <a:prstGeom prst="roundRect">
            <a:avLst>
              <a:gd name="adj" fmla="val 10076"/>
            </a:avLst>
          </a:prstGeom>
          <a:solidFill>
            <a:srgbClr val="0A84FF">
              <a:alpha val="10196"/>
            </a:srgbClr>
          </a:solidFill>
          <a:ln w="10160">
            <a:solidFill>
              <a:srgbClr val="0A84FF">
                <a:alpha val="30196"/>
              </a:srgbClr>
            </a:solidFill>
            <a:prstDash val="solid"/>
          </a:ln>
        </p:spPr>
      </p:sp>
      <p:sp>
        <p:nvSpPr>
          <p:cNvPr id="44" name="Shape 42"/>
          <p:cNvSpPr/>
          <p:nvPr/>
        </p:nvSpPr>
        <p:spPr>
          <a:xfrm>
            <a:off x="502444" y="5856193"/>
            <a:ext cx="142875" cy="142875"/>
          </a:xfrm>
          <a:custGeom>
            <a:avLst/>
            <a:gdLst/>
            <a:ahLst/>
            <a:cxnLst/>
            <a:rect l="l" t="t" r="r" b="b"/>
            <a:pathLst>
              <a:path w="142875" h="142875">
                <a:moveTo>
                  <a:pt x="71438" y="133945"/>
                </a:moveTo>
                <a:cubicBezTo>
                  <a:pt x="110896" y="133945"/>
                  <a:pt x="142875" y="103947"/>
                  <a:pt x="142875" y="66973"/>
                </a:cubicBezTo>
                <a:cubicBezTo>
                  <a:pt x="142875" y="29998"/>
                  <a:pt x="110896" y="0"/>
                  <a:pt x="71438" y="0"/>
                </a:cubicBezTo>
                <a:cubicBezTo>
                  <a:pt x="31979" y="0"/>
                  <a:pt x="0" y="29998"/>
                  <a:pt x="0" y="66973"/>
                </a:cubicBezTo>
                <a:cubicBezTo>
                  <a:pt x="0" y="82125"/>
                  <a:pt x="5358" y="96078"/>
                  <a:pt x="14399" y="107296"/>
                </a:cubicBezTo>
                <a:lnTo>
                  <a:pt x="781" y="133052"/>
                </a:lnTo>
                <a:cubicBezTo>
                  <a:pt x="-558" y="135564"/>
                  <a:pt x="-140" y="138633"/>
                  <a:pt x="1786" y="140726"/>
                </a:cubicBezTo>
                <a:cubicBezTo>
                  <a:pt x="3711" y="142819"/>
                  <a:pt x="6753" y="143461"/>
                  <a:pt x="9348" y="142345"/>
                </a:cubicBezTo>
                <a:lnTo>
                  <a:pt x="42388" y="128197"/>
                </a:lnTo>
                <a:cubicBezTo>
                  <a:pt x="51262" y="131880"/>
                  <a:pt x="61085" y="133945"/>
                  <a:pt x="71438" y="133945"/>
                </a:cubicBezTo>
                <a:close/>
                <a:moveTo>
                  <a:pt x="35719" y="58043"/>
                </a:moveTo>
                <a:cubicBezTo>
                  <a:pt x="40647" y="58043"/>
                  <a:pt x="44648" y="62044"/>
                  <a:pt x="44648" y="66973"/>
                </a:cubicBezTo>
                <a:cubicBezTo>
                  <a:pt x="44648" y="71901"/>
                  <a:pt x="40647" y="75902"/>
                  <a:pt x="35719" y="75902"/>
                </a:cubicBezTo>
                <a:cubicBezTo>
                  <a:pt x="30790" y="75902"/>
                  <a:pt x="26789" y="71901"/>
                  <a:pt x="26789" y="66973"/>
                </a:cubicBezTo>
                <a:cubicBezTo>
                  <a:pt x="26789" y="62044"/>
                  <a:pt x="30790" y="58043"/>
                  <a:pt x="35719" y="58043"/>
                </a:cubicBezTo>
                <a:close/>
                <a:moveTo>
                  <a:pt x="71438" y="58043"/>
                </a:moveTo>
                <a:cubicBezTo>
                  <a:pt x="76366" y="58043"/>
                  <a:pt x="80367" y="62044"/>
                  <a:pt x="80367" y="66973"/>
                </a:cubicBezTo>
                <a:cubicBezTo>
                  <a:pt x="80367" y="71901"/>
                  <a:pt x="76366" y="75902"/>
                  <a:pt x="71438" y="75902"/>
                </a:cubicBezTo>
                <a:cubicBezTo>
                  <a:pt x="66509" y="75902"/>
                  <a:pt x="62508" y="71901"/>
                  <a:pt x="62508" y="66973"/>
                </a:cubicBezTo>
                <a:cubicBezTo>
                  <a:pt x="62508" y="62044"/>
                  <a:pt x="66509" y="58043"/>
                  <a:pt x="71438" y="58043"/>
                </a:cubicBezTo>
                <a:close/>
                <a:moveTo>
                  <a:pt x="98227" y="66973"/>
                </a:moveTo>
                <a:cubicBezTo>
                  <a:pt x="98227" y="62044"/>
                  <a:pt x="102228" y="58043"/>
                  <a:pt x="107156" y="58043"/>
                </a:cubicBezTo>
                <a:cubicBezTo>
                  <a:pt x="112085" y="58043"/>
                  <a:pt x="116086" y="62044"/>
                  <a:pt x="116086" y="66973"/>
                </a:cubicBezTo>
                <a:cubicBezTo>
                  <a:pt x="116086" y="71901"/>
                  <a:pt x="112085" y="75902"/>
                  <a:pt x="107156" y="75902"/>
                </a:cubicBezTo>
                <a:cubicBezTo>
                  <a:pt x="102228" y="75902"/>
                  <a:pt x="98227" y="71901"/>
                  <a:pt x="98227" y="66973"/>
                </a:cubicBezTo>
                <a:close/>
              </a:path>
            </a:pathLst>
          </a:custGeom>
          <a:solidFill>
            <a:srgbClr val="0A84FF"/>
          </a:solidFill>
          <a:ln/>
        </p:spPr>
      </p:sp>
      <p:sp>
        <p:nvSpPr>
          <p:cNvPr id="45" name="Text 43"/>
          <p:cNvSpPr/>
          <p:nvPr/>
        </p:nvSpPr>
        <p:spPr>
          <a:xfrm>
            <a:off x="665162" y="5816505"/>
            <a:ext cx="5270500" cy="222250"/>
          </a:xfrm>
          <a:prstGeom prst="rect">
            <a:avLst/>
          </a:prstGeom>
          <a:noFill/>
          <a:ln/>
        </p:spPr>
        <p:txBody>
          <a:bodyPr wrap="square" lIns="0" tIns="0" rIns="0" bIns="0" rtlCol="0" anchor="ctr"/>
          <a:lstStyle/>
          <a:p>
            <a:pPr>
              <a:lnSpc>
                <a:spcPct val="130000"/>
              </a:lnSpc>
            </a:pPr>
            <a:r>
              <a:rPr lang="en-US" sz="1125"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46" name="Text 44"/>
          <p:cNvSpPr/>
          <p:nvPr/>
        </p:nvSpPr>
        <p:spPr>
          <a:xfrm>
            <a:off x="482600" y="6134005"/>
            <a:ext cx="5445125" cy="619125"/>
          </a:xfrm>
          <a:prstGeom prst="rect">
            <a:avLst/>
          </a:prstGeom>
          <a:noFill/>
          <a:ln/>
        </p:spPr>
        <p:txBody>
          <a:bodyPr wrap="square" lIns="0" tIns="0" rIns="0" bIns="0" rtlCol="0" anchor="ctr"/>
          <a:lstStyle/>
          <a:p>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Choosing a platform is like </a:t>
            </a:r>
            <a:pPr>
              <a:lnSpc>
                <a:spcPct val="140000"/>
              </a:lnSpc>
            </a:pPr>
            <a:r>
              <a:rPr lang="en-US" sz="1000" b="1" dirty="0">
                <a:solidFill>
                  <a:srgbClr val="34C759"/>
                </a:solidFill>
                <a:latin typeface="Quattrocento Sans" pitchFamily="34" charset="0"/>
                <a:ea typeface="Quattrocento Sans" pitchFamily="34" charset="-122"/>
                <a:cs typeface="Quattrocento Sans" pitchFamily="34" charset="-120"/>
              </a:rPr>
              <a:t>choosing a restaurant</a:t>
            </a:r>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 Android is a food court (many options, affordable), iOS is a fine dining restaurant (premium experience), and cross-platform is a buffet (get everything at once).</a:t>
            </a:r>
            <a:endParaRPr lang="en-US" sz="1600" dirty="0"/>
          </a:p>
        </p:txBody>
      </p:sp>
      <p:sp>
        <p:nvSpPr>
          <p:cNvPr id="47" name="Shape 45"/>
          <p:cNvSpPr/>
          <p:nvPr/>
        </p:nvSpPr>
        <p:spPr>
          <a:xfrm>
            <a:off x="6159500" y="3270149"/>
            <a:ext cx="5715000" cy="2603500"/>
          </a:xfrm>
          <a:prstGeom prst="roundRect">
            <a:avLst>
              <a:gd name="adj" fmla="val 4878"/>
            </a:avLst>
          </a:prstGeom>
          <a:solidFill>
            <a:srgbClr val="2C2C2E"/>
          </a:solidFill>
          <a:ln/>
        </p:spPr>
      </p:sp>
      <p:sp>
        <p:nvSpPr>
          <p:cNvPr id="48" name="Shape 46"/>
          <p:cNvSpPr/>
          <p:nvPr/>
        </p:nvSpPr>
        <p:spPr>
          <a:xfrm>
            <a:off x="6369844" y="3492399"/>
            <a:ext cx="158750" cy="158750"/>
          </a:xfrm>
          <a:custGeom>
            <a:avLst/>
            <a:gdLst/>
            <a:ahLst/>
            <a:cxnLst/>
            <a:rect l="l" t="t" r="r" b="b"/>
            <a:pathLst>
              <a:path w="158750" h="158750">
                <a:moveTo>
                  <a:pt x="59531" y="19844"/>
                </a:moveTo>
                <a:cubicBezTo>
                  <a:pt x="59531" y="14356"/>
                  <a:pt x="63965" y="9922"/>
                  <a:pt x="69453" y="9922"/>
                </a:cubicBezTo>
                <a:lnTo>
                  <a:pt x="89297" y="9922"/>
                </a:lnTo>
                <a:cubicBezTo>
                  <a:pt x="94785" y="9922"/>
                  <a:pt x="99219" y="14356"/>
                  <a:pt x="99219" y="19844"/>
                </a:cubicBezTo>
                <a:lnTo>
                  <a:pt x="99219" y="39688"/>
                </a:lnTo>
                <a:cubicBezTo>
                  <a:pt x="99219" y="45176"/>
                  <a:pt x="94785" y="49609"/>
                  <a:pt x="89297" y="49609"/>
                </a:cubicBezTo>
                <a:lnTo>
                  <a:pt x="86816" y="49609"/>
                </a:lnTo>
                <a:lnTo>
                  <a:pt x="86816" y="69453"/>
                </a:lnTo>
                <a:lnTo>
                  <a:pt x="124023" y="69453"/>
                </a:lnTo>
                <a:cubicBezTo>
                  <a:pt x="136364" y="69453"/>
                  <a:pt x="146348" y="79437"/>
                  <a:pt x="146348" y="91777"/>
                </a:cubicBezTo>
                <a:lnTo>
                  <a:pt x="146348" y="109141"/>
                </a:lnTo>
                <a:lnTo>
                  <a:pt x="148828" y="109141"/>
                </a:lnTo>
                <a:cubicBezTo>
                  <a:pt x="154316" y="109141"/>
                  <a:pt x="158750" y="113574"/>
                  <a:pt x="158750" y="119062"/>
                </a:cubicBezTo>
                <a:lnTo>
                  <a:pt x="158750" y="138906"/>
                </a:lnTo>
                <a:cubicBezTo>
                  <a:pt x="158750" y="144394"/>
                  <a:pt x="154316" y="148828"/>
                  <a:pt x="148828" y="148828"/>
                </a:cubicBezTo>
                <a:lnTo>
                  <a:pt x="128984" y="148828"/>
                </a:lnTo>
                <a:cubicBezTo>
                  <a:pt x="123496" y="148828"/>
                  <a:pt x="119062" y="144394"/>
                  <a:pt x="119062" y="138906"/>
                </a:cubicBezTo>
                <a:lnTo>
                  <a:pt x="119062" y="119062"/>
                </a:lnTo>
                <a:cubicBezTo>
                  <a:pt x="119062" y="113574"/>
                  <a:pt x="123496" y="109141"/>
                  <a:pt x="128984" y="109141"/>
                </a:cubicBezTo>
                <a:lnTo>
                  <a:pt x="131465" y="109141"/>
                </a:lnTo>
                <a:lnTo>
                  <a:pt x="131465" y="91777"/>
                </a:lnTo>
                <a:cubicBezTo>
                  <a:pt x="131465" y="87654"/>
                  <a:pt x="128147" y="84336"/>
                  <a:pt x="124023" y="84336"/>
                </a:cubicBezTo>
                <a:lnTo>
                  <a:pt x="86816" y="84336"/>
                </a:lnTo>
                <a:lnTo>
                  <a:pt x="86816" y="109141"/>
                </a:lnTo>
                <a:lnTo>
                  <a:pt x="89297" y="109141"/>
                </a:lnTo>
                <a:cubicBezTo>
                  <a:pt x="94785" y="109141"/>
                  <a:pt x="99219" y="113574"/>
                  <a:pt x="99219" y="119062"/>
                </a:cubicBezTo>
                <a:lnTo>
                  <a:pt x="99219" y="138906"/>
                </a:lnTo>
                <a:cubicBezTo>
                  <a:pt x="99219" y="144394"/>
                  <a:pt x="94785" y="148828"/>
                  <a:pt x="89297" y="148828"/>
                </a:cubicBezTo>
                <a:lnTo>
                  <a:pt x="69453" y="148828"/>
                </a:lnTo>
                <a:cubicBezTo>
                  <a:pt x="63965" y="148828"/>
                  <a:pt x="59531" y="144394"/>
                  <a:pt x="59531" y="138906"/>
                </a:cubicBezTo>
                <a:lnTo>
                  <a:pt x="59531" y="119062"/>
                </a:lnTo>
                <a:cubicBezTo>
                  <a:pt x="59531" y="113574"/>
                  <a:pt x="63965" y="109141"/>
                  <a:pt x="69453" y="109141"/>
                </a:cubicBezTo>
                <a:lnTo>
                  <a:pt x="71934" y="109141"/>
                </a:lnTo>
                <a:lnTo>
                  <a:pt x="71934" y="84336"/>
                </a:lnTo>
                <a:lnTo>
                  <a:pt x="34727" y="84336"/>
                </a:lnTo>
                <a:cubicBezTo>
                  <a:pt x="30603" y="84336"/>
                  <a:pt x="27285" y="87654"/>
                  <a:pt x="27285" y="91777"/>
                </a:cubicBezTo>
                <a:lnTo>
                  <a:pt x="27285" y="109141"/>
                </a:lnTo>
                <a:lnTo>
                  <a:pt x="29766" y="109141"/>
                </a:lnTo>
                <a:cubicBezTo>
                  <a:pt x="35254" y="109141"/>
                  <a:pt x="39688" y="113574"/>
                  <a:pt x="39688" y="119062"/>
                </a:cubicBezTo>
                <a:lnTo>
                  <a:pt x="39688" y="138906"/>
                </a:lnTo>
                <a:cubicBezTo>
                  <a:pt x="39688" y="144394"/>
                  <a:pt x="35254" y="148828"/>
                  <a:pt x="29766" y="148828"/>
                </a:cubicBezTo>
                <a:lnTo>
                  <a:pt x="9922" y="148828"/>
                </a:lnTo>
                <a:cubicBezTo>
                  <a:pt x="4434" y="148828"/>
                  <a:pt x="0" y="144394"/>
                  <a:pt x="0" y="138906"/>
                </a:cubicBezTo>
                <a:lnTo>
                  <a:pt x="0" y="119062"/>
                </a:lnTo>
                <a:cubicBezTo>
                  <a:pt x="0" y="113574"/>
                  <a:pt x="4434" y="109141"/>
                  <a:pt x="9922" y="109141"/>
                </a:cubicBezTo>
                <a:lnTo>
                  <a:pt x="12402" y="109141"/>
                </a:lnTo>
                <a:lnTo>
                  <a:pt x="12402" y="91777"/>
                </a:lnTo>
                <a:cubicBezTo>
                  <a:pt x="12402" y="79437"/>
                  <a:pt x="22386" y="69453"/>
                  <a:pt x="34727" y="69453"/>
                </a:cubicBezTo>
                <a:lnTo>
                  <a:pt x="71934" y="69453"/>
                </a:lnTo>
                <a:lnTo>
                  <a:pt x="71934" y="49609"/>
                </a:lnTo>
                <a:lnTo>
                  <a:pt x="69453" y="49609"/>
                </a:lnTo>
                <a:cubicBezTo>
                  <a:pt x="63965" y="49609"/>
                  <a:pt x="59531" y="45176"/>
                  <a:pt x="59531" y="39688"/>
                </a:cubicBezTo>
                <a:lnTo>
                  <a:pt x="59531" y="19844"/>
                </a:lnTo>
                <a:close/>
              </a:path>
            </a:pathLst>
          </a:custGeom>
          <a:solidFill>
            <a:srgbClr val="34C759"/>
          </a:solidFill>
          <a:ln/>
        </p:spPr>
      </p:sp>
      <p:sp>
        <p:nvSpPr>
          <p:cNvPr id="49" name="Text 47"/>
          <p:cNvSpPr/>
          <p:nvPr/>
        </p:nvSpPr>
        <p:spPr>
          <a:xfrm>
            <a:off x="6548438" y="3460649"/>
            <a:ext cx="5214938" cy="222250"/>
          </a:xfrm>
          <a:prstGeom prst="rect">
            <a:avLst/>
          </a:prstGeom>
          <a:noFill/>
          <a:ln/>
        </p:spPr>
        <p:txBody>
          <a:bodyPr wrap="square" lIns="0" tIns="0" rIns="0" bIns="0" rtlCol="0" anchor="ctr"/>
          <a:lstStyle/>
          <a:p>
            <a:pPr>
              <a:lnSpc>
                <a:spcPct val="120000"/>
              </a:lnSpc>
            </a:pPr>
            <a:r>
              <a:rPr lang="en-US" sz="1250" b="1" dirty="0">
                <a:solidFill>
                  <a:srgbClr val="34C759"/>
                </a:solidFill>
                <a:latin typeface="Liter" pitchFamily="34" charset="0"/>
                <a:ea typeface="Liter" pitchFamily="34" charset="-122"/>
                <a:cs typeface="Liter" pitchFamily="34" charset="-120"/>
              </a:rPr>
              <a:t>Decision Flowchart</a:t>
            </a:r>
            <a:endParaRPr lang="en-US" sz="1600" dirty="0"/>
          </a:p>
        </p:txBody>
      </p:sp>
      <p:sp>
        <p:nvSpPr>
          <p:cNvPr id="50" name="Shape 48"/>
          <p:cNvSpPr/>
          <p:nvPr/>
        </p:nvSpPr>
        <p:spPr>
          <a:xfrm>
            <a:off x="6350000" y="3809899"/>
            <a:ext cx="5334000" cy="1873250"/>
          </a:xfrm>
          <a:prstGeom prst="roundRect">
            <a:avLst>
              <a:gd name="adj" fmla="val 5085"/>
            </a:avLst>
          </a:prstGeom>
          <a:solidFill>
            <a:srgbClr val="1A1D21"/>
          </a:solidFill>
          <a:ln/>
        </p:spPr>
      </p:sp>
      <p:sp>
        <p:nvSpPr>
          <p:cNvPr id="51" name="Shape 49"/>
          <p:cNvSpPr/>
          <p:nvPr/>
        </p:nvSpPr>
        <p:spPr>
          <a:xfrm>
            <a:off x="7239000" y="4094068"/>
            <a:ext cx="3556000" cy="381000"/>
          </a:xfrm>
          <a:prstGeom prst="roundRect">
            <a:avLst>
              <a:gd name="adj" fmla="val 16667"/>
            </a:avLst>
          </a:prstGeom>
          <a:solidFill>
            <a:srgbClr val="34C759"/>
          </a:solidFill>
          <a:ln/>
        </p:spPr>
      </p:sp>
      <p:sp>
        <p:nvSpPr>
          <p:cNvPr id="52" name="Text 50"/>
          <p:cNvSpPr/>
          <p:nvPr/>
        </p:nvSpPr>
        <p:spPr>
          <a:xfrm>
            <a:off x="7302500" y="4189318"/>
            <a:ext cx="3429000" cy="190500"/>
          </a:xfrm>
          <a:prstGeom prst="rect">
            <a:avLst/>
          </a:prstGeom>
          <a:noFill/>
          <a:ln/>
        </p:spPr>
        <p:txBody>
          <a:bodyPr wrap="square" lIns="0" tIns="0" rIns="0" bIns="0" rtlCol="0" anchor="ctr"/>
          <a:lstStyle/>
          <a:p>
            <a:pPr algn="ctr">
              <a:lnSpc>
                <a:spcPct val="130000"/>
              </a:lnSpc>
            </a:pPr>
            <a:r>
              <a:rPr lang="en-US" sz="1000" b="1" dirty="0">
                <a:solidFill>
                  <a:srgbClr val="1D1D1F"/>
                </a:solidFill>
                <a:latin typeface="Quattrocento Sans" pitchFamily="34" charset="0"/>
                <a:ea typeface="Quattrocento Sans" pitchFamily="34" charset="-122"/>
                <a:cs typeface="Quattrocento Sans" pitchFamily="34" charset="-120"/>
              </a:rPr>
              <a:t>Start: What's your budget?</a:t>
            </a:r>
            <a:endParaRPr lang="en-US" sz="1600" dirty="0"/>
          </a:p>
        </p:txBody>
      </p:sp>
      <p:sp>
        <p:nvSpPr>
          <p:cNvPr id="53" name="Shape 51"/>
          <p:cNvSpPr/>
          <p:nvPr/>
        </p:nvSpPr>
        <p:spPr>
          <a:xfrm>
            <a:off x="7239000" y="4570318"/>
            <a:ext cx="1714500" cy="381000"/>
          </a:xfrm>
          <a:prstGeom prst="roundRect">
            <a:avLst>
              <a:gd name="adj" fmla="val 16667"/>
            </a:avLst>
          </a:prstGeom>
          <a:solidFill>
            <a:srgbClr val="FF3B30"/>
          </a:solidFill>
          <a:ln/>
        </p:spPr>
      </p:sp>
      <p:sp>
        <p:nvSpPr>
          <p:cNvPr id="54" name="Text 52"/>
          <p:cNvSpPr/>
          <p:nvPr/>
        </p:nvSpPr>
        <p:spPr>
          <a:xfrm>
            <a:off x="7302500" y="4665568"/>
            <a:ext cx="1587500" cy="190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Low</a:t>
            </a:r>
            <a:endParaRPr lang="en-US" sz="1600" dirty="0"/>
          </a:p>
        </p:txBody>
      </p:sp>
      <p:sp>
        <p:nvSpPr>
          <p:cNvPr id="55" name="Shape 53"/>
          <p:cNvSpPr/>
          <p:nvPr/>
        </p:nvSpPr>
        <p:spPr>
          <a:xfrm>
            <a:off x="9080500" y="4570318"/>
            <a:ext cx="1714500" cy="381000"/>
          </a:xfrm>
          <a:prstGeom prst="roundRect">
            <a:avLst>
              <a:gd name="adj" fmla="val 16667"/>
            </a:avLst>
          </a:prstGeom>
          <a:solidFill>
            <a:srgbClr val="34C759"/>
          </a:solidFill>
          <a:ln/>
        </p:spPr>
      </p:sp>
      <p:sp>
        <p:nvSpPr>
          <p:cNvPr id="56" name="Text 54"/>
          <p:cNvSpPr/>
          <p:nvPr/>
        </p:nvSpPr>
        <p:spPr>
          <a:xfrm>
            <a:off x="9144000" y="4665568"/>
            <a:ext cx="1587500" cy="190500"/>
          </a:xfrm>
          <a:prstGeom prst="rect">
            <a:avLst/>
          </a:prstGeom>
          <a:noFill/>
          <a:ln/>
        </p:spPr>
        <p:txBody>
          <a:bodyPr wrap="square" lIns="0" tIns="0" rIns="0" bIns="0" rtlCol="0" anchor="ctr"/>
          <a:lstStyle/>
          <a:p>
            <a:pPr algn="ctr">
              <a:lnSpc>
                <a:spcPct val="130000"/>
              </a:lnSpc>
            </a:pPr>
            <a:r>
              <a:rPr lang="en-US" sz="1000" b="1" dirty="0">
                <a:solidFill>
                  <a:srgbClr val="1D1D1F"/>
                </a:solidFill>
                <a:latin typeface="Quattrocento Sans" pitchFamily="34" charset="0"/>
                <a:ea typeface="Quattrocento Sans" pitchFamily="34" charset="-122"/>
                <a:cs typeface="Quattrocento Sans" pitchFamily="34" charset="-120"/>
              </a:rPr>
              <a:t>High</a:t>
            </a:r>
            <a:endParaRPr lang="en-US" sz="1600" dirty="0"/>
          </a:p>
        </p:txBody>
      </p:sp>
      <p:sp>
        <p:nvSpPr>
          <p:cNvPr id="57" name="Shape 55"/>
          <p:cNvSpPr/>
          <p:nvPr/>
        </p:nvSpPr>
        <p:spPr>
          <a:xfrm>
            <a:off x="7239000" y="5046568"/>
            <a:ext cx="1714500" cy="349250"/>
          </a:xfrm>
          <a:prstGeom prst="roundRect">
            <a:avLst>
              <a:gd name="adj" fmla="val 18182"/>
            </a:avLst>
          </a:prstGeom>
          <a:solidFill>
            <a:srgbClr val="8E8E93"/>
          </a:solidFill>
          <a:ln/>
        </p:spPr>
      </p:sp>
      <p:sp>
        <p:nvSpPr>
          <p:cNvPr id="58" name="Text 56"/>
          <p:cNvSpPr/>
          <p:nvPr/>
        </p:nvSpPr>
        <p:spPr>
          <a:xfrm>
            <a:off x="7306469" y="5141818"/>
            <a:ext cx="1579563" cy="158750"/>
          </a:xfrm>
          <a:prstGeom prst="rect">
            <a:avLst/>
          </a:prstGeom>
          <a:noFill/>
          <a:ln/>
        </p:spPr>
        <p:txBody>
          <a:bodyPr wrap="square" lIns="0" tIns="0" rIns="0" bIns="0" rtlCol="0" anchor="ctr"/>
          <a:lstStyle/>
          <a:p>
            <a:pPr algn="ctr">
              <a:lnSpc>
                <a:spcPct val="120000"/>
              </a:lnSpc>
            </a:pPr>
            <a:r>
              <a:rPr lang="en-US" sz="875" dirty="0">
                <a:solidFill>
                  <a:srgbClr val="F5F5F7"/>
                </a:solidFill>
                <a:latin typeface="Quattrocento Sans" pitchFamily="34" charset="0"/>
                <a:ea typeface="Quattrocento Sans" pitchFamily="34" charset="-122"/>
                <a:cs typeface="Quattrocento Sans" pitchFamily="34" charset="-120"/>
              </a:rPr>
              <a:t>Cross-Platform</a:t>
            </a:r>
            <a:endParaRPr lang="en-US" sz="1600" dirty="0"/>
          </a:p>
        </p:txBody>
      </p:sp>
      <p:sp>
        <p:nvSpPr>
          <p:cNvPr id="59" name="Shape 57"/>
          <p:cNvSpPr/>
          <p:nvPr/>
        </p:nvSpPr>
        <p:spPr>
          <a:xfrm>
            <a:off x="9080500" y="5046568"/>
            <a:ext cx="1714500" cy="349250"/>
          </a:xfrm>
          <a:prstGeom prst="roundRect">
            <a:avLst>
              <a:gd name="adj" fmla="val 18182"/>
            </a:avLst>
          </a:prstGeom>
          <a:solidFill>
            <a:srgbClr val="0A84FF"/>
          </a:solidFill>
          <a:ln/>
        </p:spPr>
      </p:sp>
      <p:sp>
        <p:nvSpPr>
          <p:cNvPr id="60" name="Text 58"/>
          <p:cNvSpPr/>
          <p:nvPr/>
        </p:nvSpPr>
        <p:spPr>
          <a:xfrm>
            <a:off x="9147969" y="5141818"/>
            <a:ext cx="1579563" cy="158750"/>
          </a:xfrm>
          <a:prstGeom prst="rect">
            <a:avLst/>
          </a:prstGeom>
          <a:noFill/>
          <a:ln/>
        </p:spPr>
        <p:txBody>
          <a:bodyPr wrap="square" lIns="0" tIns="0" rIns="0" bIns="0" rtlCol="0" anchor="ctr"/>
          <a:lstStyle/>
          <a:p>
            <a:pPr algn="ctr">
              <a:lnSpc>
                <a:spcPct val="120000"/>
              </a:lnSpc>
            </a:pPr>
            <a:r>
              <a:rPr lang="en-US" sz="875" dirty="0">
                <a:solidFill>
                  <a:srgbClr val="F5F5F7"/>
                </a:solidFill>
                <a:latin typeface="Quattrocento Sans" pitchFamily="34" charset="0"/>
                <a:ea typeface="Quattrocento Sans" pitchFamily="34" charset="-122"/>
                <a:cs typeface="Quattrocento Sans" pitchFamily="34" charset="-120"/>
              </a:rPr>
              <a:t>Native (Both)</a:t>
            </a:r>
            <a:endParaRPr lang="en-US" sz="1600" dirty="0"/>
          </a:p>
        </p:txBody>
      </p:sp>
      <p:sp>
        <p:nvSpPr>
          <p:cNvPr id="61" name="Shape 59"/>
          <p:cNvSpPr/>
          <p:nvPr/>
        </p:nvSpPr>
        <p:spPr>
          <a:xfrm>
            <a:off x="6159500" y="5997479"/>
            <a:ext cx="5715000" cy="920750"/>
          </a:xfrm>
          <a:prstGeom prst="roundRect">
            <a:avLst>
              <a:gd name="adj" fmla="val 13793"/>
            </a:avLst>
          </a:prstGeom>
          <a:solidFill>
            <a:srgbClr val="2C2C2E"/>
          </a:solidFill>
          <a:ln/>
        </p:spPr>
      </p:sp>
      <p:sp>
        <p:nvSpPr>
          <p:cNvPr id="62" name="Shape 60"/>
          <p:cNvSpPr/>
          <p:nvPr/>
        </p:nvSpPr>
        <p:spPr>
          <a:xfrm>
            <a:off x="6310313" y="6156229"/>
            <a:ext cx="111125" cy="127000"/>
          </a:xfrm>
          <a:custGeom>
            <a:avLst/>
            <a:gdLst/>
            <a:ahLst/>
            <a:cxnLst/>
            <a:rect l="l" t="t" r="r" b="b"/>
            <a:pathLst>
              <a:path w="111125" h="127000">
                <a:moveTo>
                  <a:pt x="15875" y="7938"/>
                </a:moveTo>
                <a:cubicBezTo>
                  <a:pt x="7119" y="7938"/>
                  <a:pt x="0" y="15056"/>
                  <a:pt x="0" y="23812"/>
                </a:cubicBezTo>
                <a:lnTo>
                  <a:pt x="0" y="103188"/>
                </a:lnTo>
                <a:cubicBezTo>
                  <a:pt x="0" y="111944"/>
                  <a:pt x="7119" y="119063"/>
                  <a:pt x="15875" y="119063"/>
                </a:cubicBezTo>
                <a:lnTo>
                  <a:pt x="95250" y="119063"/>
                </a:lnTo>
                <a:cubicBezTo>
                  <a:pt x="104006" y="119063"/>
                  <a:pt x="111125" y="111944"/>
                  <a:pt x="111125" y="103188"/>
                </a:cubicBezTo>
                <a:lnTo>
                  <a:pt x="111125" y="23812"/>
                </a:lnTo>
                <a:cubicBezTo>
                  <a:pt x="111125" y="15056"/>
                  <a:pt x="104006" y="7938"/>
                  <a:pt x="95250" y="7938"/>
                </a:cubicBezTo>
                <a:lnTo>
                  <a:pt x="15875" y="7938"/>
                </a:lnTo>
                <a:close/>
                <a:moveTo>
                  <a:pt x="31750" y="27781"/>
                </a:moveTo>
                <a:cubicBezTo>
                  <a:pt x="38321" y="27781"/>
                  <a:pt x="43656" y="33116"/>
                  <a:pt x="43656" y="39688"/>
                </a:cubicBezTo>
                <a:cubicBezTo>
                  <a:pt x="43656" y="46259"/>
                  <a:pt x="38321" y="51594"/>
                  <a:pt x="31750" y="51594"/>
                </a:cubicBezTo>
                <a:cubicBezTo>
                  <a:pt x="25179" y="51594"/>
                  <a:pt x="19844" y="46259"/>
                  <a:pt x="19844" y="39688"/>
                </a:cubicBezTo>
                <a:cubicBezTo>
                  <a:pt x="19844" y="33116"/>
                  <a:pt x="25179" y="27781"/>
                  <a:pt x="31750" y="27781"/>
                </a:cubicBezTo>
                <a:close/>
                <a:moveTo>
                  <a:pt x="67469" y="55563"/>
                </a:moveTo>
                <a:cubicBezTo>
                  <a:pt x="69552" y="55563"/>
                  <a:pt x="71462" y="56654"/>
                  <a:pt x="72554" y="58415"/>
                </a:cubicBezTo>
                <a:lnTo>
                  <a:pt x="94382" y="94134"/>
                </a:lnTo>
                <a:cubicBezTo>
                  <a:pt x="95498" y="95969"/>
                  <a:pt x="95548" y="98276"/>
                  <a:pt x="94506" y="100161"/>
                </a:cubicBezTo>
                <a:cubicBezTo>
                  <a:pt x="93464" y="102046"/>
                  <a:pt x="91455" y="103188"/>
                  <a:pt x="89297" y="103188"/>
                </a:cubicBezTo>
                <a:lnTo>
                  <a:pt x="21828" y="103188"/>
                </a:lnTo>
                <a:cubicBezTo>
                  <a:pt x="19621" y="103188"/>
                  <a:pt x="17562" y="101947"/>
                  <a:pt x="16545" y="99988"/>
                </a:cubicBezTo>
                <a:cubicBezTo>
                  <a:pt x="15528" y="98028"/>
                  <a:pt x="15677" y="95647"/>
                  <a:pt x="16942" y="93836"/>
                </a:cubicBezTo>
                <a:lnTo>
                  <a:pt x="30832" y="73992"/>
                </a:lnTo>
                <a:cubicBezTo>
                  <a:pt x="31948" y="72405"/>
                  <a:pt x="33759" y="71462"/>
                  <a:pt x="35719" y="71462"/>
                </a:cubicBezTo>
                <a:cubicBezTo>
                  <a:pt x="37678" y="71462"/>
                  <a:pt x="39489" y="72405"/>
                  <a:pt x="40605" y="73992"/>
                </a:cubicBezTo>
                <a:lnTo>
                  <a:pt x="47154" y="83369"/>
                </a:lnTo>
                <a:lnTo>
                  <a:pt x="62384" y="58440"/>
                </a:lnTo>
                <a:cubicBezTo>
                  <a:pt x="63475" y="56679"/>
                  <a:pt x="65385" y="55587"/>
                  <a:pt x="67469" y="55587"/>
                </a:cubicBezTo>
                <a:close/>
              </a:path>
            </a:pathLst>
          </a:custGeom>
          <a:solidFill>
            <a:srgbClr val="8E8E93"/>
          </a:solidFill>
          <a:ln/>
        </p:spPr>
      </p:sp>
      <p:sp>
        <p:nvSpPr>
          <p:cNvPr id="63" name="Text 61"/>
          <p:cNvSpPr/>
          <p:nvPr/>
        </p:nvSpPr>
        <p:spPr>
          <a:xfrm>
            <a:off x="6445250" y="6124479"/>
            <a:ext cx="5365750" cy="190500"/>
          </a:xfrm>
          <a:prstGeom prst="rect">
            <a:avLst/>
          </a:prstGeom>
          <a:noFill/>
          <a:ln/>
        </p:spPr>
        <p:txBody>
          <a:bodyPr wrap="square" lIns="0" tIns="0" rIns="0" bIns="0" rtlCol="0" anchor="ctr"/>
          <a:lstStyle/>
          <a:p>
            <a:pPr>
              <a:lnSpc>
                <a:spcPct val="130000"/>
              </a:lnSpc>
            </a:pPr>
            <a:r>
              <a:rPr lang="en-US" sz="1000" b="1" dirty="0">
                <a:solidFill>
                  <a:srgbClr val="8E8E93"/>
                </a:solidFill>
                <a:latin typeface="Liter" pitchFamily="34" charset="0"/>
                <a:ea typeface="Liter" pitchFamily="34" charset="-122"/>
                <a:cs typeface="Liter" pitchFamily="34" charset="-120"/>
              </a:rPr>
              <a:t>Visual Suggestion</a:t>
            </a:r>
            <a:endParaRPr lang="en-US" sz="1600" dirty="0"/>
          </a:p>
        </p:txBody>
      </p:sp>
      <p:sp>
        <p:nvSpPr>
          <p:cNvPr id="64" name="Shape 62"/>
          <p:cNvSpPr/>
          <p:nvPr/>
        </p:nvSpPr>
        <p:spPr>
          <a:xfrm>
            <a:off x="6302375" y="6410229"/>
            <a:ext cx="127000" cy="127000"/>
          </a:xfrm>
          <a:custGeom>
            <a:avLst/>
            <a:gdLst/>
            <a:ahLst/>
            <a:cxnLst/>
            <a:rect l="l" t="t" r="r" b="b"/>
            <a:pathLst>
              <a:path w="127000" h="127000">
                <a:moveTo>
                  <a:pt x="0" y="19844"/>
                </a:moveTo>
                <a:cubicBezTo>
                  <a:pt x="0" y="13271"/>
                  <a:pt x="5333" y="7938"/>
                  <a:pt x="11906" y="7938"/>
                </a:cubicBezTo>
                <a:lnTo>
                  <a:pt x="35719" y="7938"/>
                </a:lnTo>
                <a:cubicBezTo>
                  <a:pt x="42292" y="7938"/>
                  <a:pt x="47625" y="13271"/>
                  <a:pt x="47625" y="19844"/>
                </a:cubicBezTo>
                <a:lnTo>
                  <a:pt x="47625" y="23812"/>
                </a:lnTo>
                <a:lnTo>
                  <a:pt x="79375" y="23812"/>
                </a:lnTo>
                <a:lnTo>
                  <a:pt x="79375" y="19844"/>
                </a:lnTo>
                <a:cubicBezTo>
                  <a:pt x="79375" y="13271"/>
                  <a:pt x="84708" y="7938"/>
                  <a:pt x="91281" y="7938"/>
                </a:cubicBezTo>
                <a:lnTo>
                  <a:pt x="115094" y="7938"/>
                </a:lnTo>
                <a:cubicBezTo>
                  <a:pt x="121667" y="7938"/>
                  <a:pt x="127000" y="13271"/>
                  <a:pt x="127000" y="19844"/>
                </a:cubicBezTo>
                <a:lnTo>
                  <a:pt x="127000" y="43656"/>
                </a:lnTo>
                <a:cubicBezTo>
                  <a:pt x="127000" y="50229"/>
                  <a:pt x="121667" y="55563"/>
                  <a:pt x="115094" y="55563"/>
                </a:cubicBezTo>
                <a:lnTo>
                  <a:pt x="91281" y="55563"/>
                </a:lnTo>
                <a:cubicBezTo>
                  <a:pt x="84708" y="55563"/>
                  <a:pt x="79375" y="50229"/>
                  <a:pt x="79375" y="43656"/>
                </a:cubicBezTo>
                <a:lnTo>
                  <a:pt x="79375" y="39688"/>
                </a:lnTo>
                <a:lnTo>
                  <a:pt x="47625" y="39688"/>
                </a:lnTo>
                <a:lnTo>
                  <a:pt x="47625" y="43656"/>
                </a:lnTo>
                <a:cubicBezTo>
                  <a:pt x="47625" y="45467"/>
                  <a:pt x="47203" y="47203"/>
                  <a:pt x="46484" y="48741"/>
                </a:cubicBezTo>
                <a:lnTo>
                  <a:pt x="63500" y="71438"/>
                </a:lnTo>
                <a:lnTo>
                  <a:pt x="83344" y="71438"/>
                </a:lnTo>
                <a:cubicBezTo>
                  <a:pt x="89917" y="71438"/>
                  <a:pt x="95250" y="76771"/>
                  <a:pt x="95250" y="83344"/>
                </a:cubicBezTo>
                <a:lnTo>
                  <a:pt x="95250" y="107156"/>
                </a:lnTo>
                <a:cubicBezTo>
                  <a:pt x="95250" y="113729"/>
                  <a:pt x="89917" y="119063"/>
                  <a:pt x="83344" y="119063"/>
                </a:cubicBezTo>
                <a:lnTo>
                  <a:pt x="59531" y="119063"/>
                </a:lnTo>
                <a:cubicBezTo>
                  <a:pt x="52958" y="119063"/>
                  <a:pt x="47625" y="113729"/>
                  <a:pt x="47625" y="107156"/>
                </a:cubicBezTo>
                <a:lnTo>
                  <a:pt x="47625" y="83344"/>
                </a:lnTo>
                <a:cubicBezTo>
                  <a:pt x="47625" y="81533"/>
                  <a:pt x="48047" y="79797"/>
                  <a:pt x="48766" y="78259"/>
                </a:cubicBezTo>
                <a:lnTo>
                  <a:pt x="31750" y="55563"/>
                </a:lnTo>
                <a:lnTo>
                  <a:pt x="11906" y="55563"/>
                </a:lnTo>
                <a:cubicBezTo>
                  <a:pt x="5333" y="55563"/>
                  <a:pt x="0" y="50229"/>
                  <a:pt x="0" y="43656"/>
                </a:cubicBezTo>
                <a:lnTo>
                  <a:pt x="0" y="19844"/>
                </a:lnTo>
                <a:close/>
              </a:path>
            </a:pathLst>
          </a:custGeom>
          <a:solidFill>
            <a:srgbClr val="34C759"/>
          </a:solidFill>
          <a:ln/>
        </p:spPr>
      </p:sp>
      <p:sp>
        <p:nvSpPr>
          <p:cNvPr id="65" name="Text 63"/>
          <p:cNvSpPr/>
          <p:nvPr/>
        </p:nvSpPr>
        <p:spPr>
          <a:xfrm>
            <a:off x="6508750" y="6378479"/>
            <a:ext cx="2333625" cy="190500"/>
          </a:xfrm>
          <a:prstGeom prst="rect">
            <a:avLst/>
          </a:prstGeom>
          <a:noFill/>
          <a:ln/>
        </p:spPr>
        <p:txBody>
          <a:bodyPr wrap="square" lIns="0" tIns="0" rIns="0" bIns="0" rtlCol="0" anchor="ctr"/>
          <a:lstStyle/>
          <a:p>
            <a:pP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Detailed decision tree flowchart</a:t>
            </a:r>
            <a:endParaRPr lang="en-US" sz="1600" dirty="0"/>
          </a:p>
        </p:txBody>
      </p:sp>
      <p:sp>
        <p:nvSpPr>
          <p:cNvPr id="66" name="Shape 64"/>
          <p:cNvSpPr/>
          <p:nvPr/>
        </p:nvSpPr>
        <p:spPr>
          <a:xfrm>
            <a:off x="6310313" y="6632479"/>
            <a:ext cx="111125" cy="127000"/>
          </a:xfrm>
          <a:custGeom>
            <a:avLst/>
            <a:gdLst/>
            <a:ahLst/>
            <a:cxnLst/>
            <a:rect l="l" t="t" r="r" b="b"/>
            <a:pathLst>
              <a:path w="111125" h="127000">
                <a:moveTo>
                  <a:pt x="15875" y="7938"/>
                </a:moveTo>
                <a:cubicBezTo>
                  <a:pt x="7119" y="7938"/>
                  <a:pt x="0" y="15056"/>
                  <a:pt x="0" y="23812"/>
                </a:cubicBezTo>
                <a:lnTo>
                  <a:pt x="0" y="103188"/>
                </a:lnTo>
                <a:cubicBezTo>
                  <a:pt x="0" y="111944"/>
                  <a:pt x="7119" y="119063"/>
                  <a:pt x="15875" y="119063"/>
                </a:cubicBezTo>
                <a:lnTo>
                  <a:pt x="95250" y="119063"/>
                </a:lnTo>
                <a:cubicBezTo>
                  <a:pt x="104006" y="119063"/>
                  <a:pt x="111125" y="111944"/>
                  <a:pt x="111125" y="103188"/>
                </a:cubicBezTo>
                <a:lnTo>
                  <a:pt x="111125" y="23812"/>
                </a:lnTo>
                <a:cubicBezTo>
                  <a:pt x="111125" y="15056"/>
                  <a:pt x="104006" y="7938"/>
                  <a:pt x="95250" y="7938"/>
                </a:cubicBezTo>
                <a:lnTo>
                  <a:pt x="15875" y="7938"/>
                </a:lnTo>
                <a:close/>
                <a:moveTo>
                  <a:pt x="31750" y="27781"/>
                </a:moveTo>
                <a:cubicBezTo>
                  <a:pt x="38321" y="27781"/>
                  <a:pt x="43656" y="33116"/>
                  <a:pt x="43656" y="39688"/>
                </a:cubicBezTo>
                <a:cubicBezTo>
                  <a:pt x="43656" y="46259"/>
                  <a:pt x="38321" y="51594"/>
                  <a:pt x="31750" y="51594"/>
                </a:cubicBezTo>
                <a:cubicBezTo>
                  <a:pt x="25179" y="51594"/>
                  <a:pt x="19844" y="46259"/>
                  <a:pt x="19844" y="39688"/>
                </a:cubicBezTo>
                <a:cubicBezTo>
                  <a:pt x="19844" y="33116"/>
                  <a:pt x="25179" y="27781"/>
                  <a:pt x="31750" y="27781"/>
                </a:cubicBezTo>
                <a:close/>
                <a:moveTo>
                  <a:pt x="67469" y="55563"/>
                </a:moveTo>
                <a:cubicBezTo>
                  <a:pt x="69552" y="55563"/>
                  <a:pt x="71462" y="56654"/>
                  <a:pt x="72554" y="58415"/>
                </a:cubicBezTo>
                <a:lnTo>
                  <a:pt x="94382" y="94134"/>
                </a:lnTo>
                <a:cubicBezTo>
                  <a:pt x="95498" y="95969"/>
                  <a:pt x="95548" y="98276"/>
                  <a:pt x="94506" y="100161"/>
                </a:cubicBezTo>
                <a:cubicBezTo>
                  <a:pt x="93464" y="102046"/>
                  <a:pt x="91455" y="103188"/>
                  <a:pt x="89297" y="103188"/>
                </a:cubicBezTo>
                <a:lnTo>
                  <a:pt x="21828" y="103188"/>
                </a:lnTo>
                <a:cubicBezTo>
                  <a:pt x="19621" y="103188"/>
                  <a:pt x="17562" y="101947"/>
                  <a:pt x="16545" y="99988"/>
                </a:cubicBezTo>
                <a:cubicBezTo>
                  <a:pt x="15528" y="98028"/>
                  <a:pt x="15677" y="95647"/>
                  <a:pt x="16942" y="93836"/>
                </a:cubicBezTo>
                <a:lnTo>
                  <a:pt x="30832" y="73992"/>
                </a:lnTo>
                <a:cubicBezTo>
                  <a:pt x="31948" y="72405"/>
                  <a:pt x="33759" y="71462"/>
                  <a:pt x="35719" y="71462"/>
                </a:cubicBezTo>
                <a:cubicBezTo>
                  <a:pt x="37678" y="71462"/>
                  <a:pt x="39489" y="72405"/>
                  <a:pt x="40605" y="73992"/>
                </a:cubicBezTo>
                <a:lnTo>
                  <a:pt x="47154" y="83369"/>
                </a:lnTo>
                <a:lnTo>
                  <a:pt x="62384" y="58440"/>
                </a:lnTo>
                <a:cubicBezTo>
                  <a:pt x="63475" y="56679"/>
                  <a:pt x="65385" y="55587"/>
                  <a:pt x="67469" y="55587"/>
                </a:cubicBezTo>
                <a:close/>
              </a:path>
            </a:pathLst>
          </a:custGeom>
          <a:solidFill>
            <a:srgbClr val="0A84FF"/>
          </a:solidFill>
          <a:ln/>
        </p:spPr>
      </p:sp>
      <p:sp>
        <p:nvSpPr>
          <p:cNvPr id="67" name="Text 65"/>
          <p:cNvSpPr/>
          <p:nvPr/>
        </p:nvSpPr>
        <p:spPr>
          <a:xfrm>
            <a:off x="6508750" y="6600729"/>
            <a:ext cx="2651125" cy="190500"/>
          </a:xfrm>
          <a:prstGeom prst="rect">
            <a:avLst/>
          </a:prstGeom>
          <a:noFill/>
          <a:ln/>
        </p:spPr>
        <p:txBody>
          <a:bodyPr wrap="square" lIns="0" tIns="0" rIns="0" bIns="0" rtlCol="0" anchor="ctr"/>
          <a:lstStyle/>
          <a:p>
            <a:pP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Infographic comparing platform choices</a:t>
            </a:r>
            <a:endParaRPr lang="en-US" sz="1600" dirty="0"/>
          </a:p>
        </p:txBody>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0A84FF"/>
          </a:solidFill>
          <a:ln/>
        </p:spPr>
      </p:sp>
      <p:sp>
        <p:nvSpPr>
          <p:cNvPr id="3" name="Text 1"/>
          <p:cNvSpPr/>
          <p:nvPr/>
        </p:nvSpPr>
        <p:spPr>
          <a:xfrm>
            <a:off x="470178" y="514350"/>
            <a:ext cx="390525" cy="304800"/>
          </a:xfrm>
          <a:prstGeom prst="rect">
            <a:avLst/>
          </a:prstGeom>
          <a:noFill/>
          <a:ln/>
        </p:spPr>
        <p:txBody>
          <a:bodyPr wrap="square" lIns="0" tIns="0" rIns="0" bIns="0" rtlCol="0" anchor="ctr"/>
          <a:lstStyle/>
          <a:p>
            <a:pPr>
              <a:lnSpc>
                <a:spcPct val="110000"/>
              </a:lnSpc>
            </a:pPr>
            <a:r>
              <a:rPr lang="en-US" sz="1800" b="1" dirty="0">
                <a:solidFill>
                  <a:srgbClr val="F5F5F7"/>
                </a:solidFill>
                <a:latin typeface="Liter" pitchFamily="34" charset="0"/>
                <a:ea typeface="Liter" pitchFamily="34" charset="-122"/>
                <a:cs typeface="Liter" pitchFamily="34" charset="-120"/>
              </a:rPr>
              <a:t>20</a:t>
            </a:r>
            <a:endParaRPr lang="en-US" sz="1600" dirty="0"/>
          </a:p>
        </p:txBody>
      </p:sp>
      <p:sp>
        <p:nvSpPr>
          <p:cNvPr id="4" name="Text 2"/>
          <p:cNvSpPr/>
          <p:nvPr/>
        </p:nvSpPr>
        <p:spPr>
          <a:xfrm>
            <a:off x="952500" y="381000"/>
            <a:ext cx="5715000" cy="190500"/>
          </a:xfrm>
          <a:prstGeom prst="rect">
            <a:avLst/>
          </a:prstGeom>
          <a:noFill/>
          <a:ln/>
        </p:spPr>
        <p:txBody>
          <a:bodyPr wrap="square" lIns="0" tIns="0" rIns="0" bIns="0" rtlCol="0" anchor="ctr"/>
          <a:lstStyle/>
          <a:p>
            <a:pPr>
              <a:lnSpc>
                <a:spcPct val="120000"/>
              </a:lnSpc>
            </a:pPr>
            <a:r>
              <a:rPr lang="en-US" sz="1050" b="1" spc="53" kern="0" dirty="0">
                <a:solidFill>
                  <a:srgbClr val="0A84FF"/>
                </a:solidFill>
                <a:latin typeface="Quattrocento Sans" pitchFamily="34" charset="0"/>
                <a:ea typeface="Quattrocento Sans" pitchFamily="34" charset="-122"/>
                <a:cs typeface="Quattrocento Sans" pitchFamily="34" charset="-120"/>
              </a:rPr>
              <a:t>Development Environment Setup</a:t>
            </a:r>
            <a:endParaRPr lang="en-US" sz="1600" dirty="0"/>
          </a:p>
        </p:txBody>
      </p:sp>
      <p:sp>
        <p:nvSpPr>
          <p:cNvPr id="5" name="Text 3"/>
          <p:cNvSpPr/>
          <p:nvPr/>
        </p:nvSpPr>
        <p:spPr>
          <a:xfrm>
            <a:off x="952500" y="571500"/>
            <a:ext cx="5819775" cy="381000"/>
          </a:xfrm>
          <a:prstGeom prst="rect">
            <a:avLst/>
          </a:prstGeom>
          <a:noFill/>
          <a:ln/>
        </p:spPr>
        <p:txBody>
          <a:bodyPr wrap="square" lIns="0" tIns="0" rIns="0" bIns="0" rtlCol="0" anchor="ctr"/>
          <a:lstStyle/>
          <a:p>
            <a:pPr>
              <a:lnSpc>
                <a:spcPct val="90000"/>
              </a:lnSpc>
            </a:pPr>
            <a:r>
              <a:rPr lang="en-US" sz="2700" b="1" dirty="0">
                <a:solidFill>
                  <a:srgbClr val="F5F5F7"/>
                </a:solidFill>
                <a:latin typeface="Liter" pitchFamily="34" charset="0"/>
                <a:ea typeface="Liter" pitchFamily="34" charset="-122"/>
                <a:cs typeface="Liter" pitchFamily="34" charset="-120"/>
              </a:rPr>
              <a:t>What is a Development Environment?</a:t>
            </a:r>
            <a:endParaRPr lang="en-US" sz="1600" dirty="0"/>
          </a:p>
        </p:txBody>
      </p:sp>
      <p:sp>
        <p:nvSpPr>
          <p:cNvPr id="6" name="Shape 4"/>
          <p:cNvSpPr/>
          <p:nvPr/>
        </p:nvSpPr>
        <p:spPr>
          <a:xfrm>
            <a:off x="400050" y="1257300"/>
            <a:ext cx="5581650" cy="3543300"/>
          </a:xfrm>
          <a:custGeom>
            <a:avLst/>
            <a:gdLst/>
            <a:ahLst/>
            <a:cxnLst/>
            <a:rect l="l" t="t" r="r" b="b"/>
            <a:pathLst>
              <a:path w="5581650" h="3543300">
                <a:moveTo>
                  <a:pt x="38100" y="0"/>
                </a:moveTo>
                <a:lnTo>
                  <a:pt x="5429250" y="0"/>
                </a:lnTo>
                <a:cubicBezTo>
                  <a:pt x="5513362" y="0"/>
                  <a:pt x="5581650" y="68288"/>
                  <a:pt x="5581650" y="152400"/>
                </a:cubicBezTo>
                <a:lnTo>
                  <a:pt x="5581650" y="3390900"/>
                </a:lnTo>
                <a:cubicBezTo>
                  <a:pt x="5581650" y="3475012"/>
                  <a:pt x="5513362" y="3543300"/>
                  <a:pt x="5429250" y="3543300"/>
                </a:cubicBezTo>
                <a:lnTo>
                  <a:pt x="38100" y="3543300"/>
                </a:lnTo>
                <a:cubicBezTo>
                  <a:pt x="17072" y="3543300"/>
                  <a:pt x="0" y="3526228"/>
                  <a:pt x="0" y="3505200"/>
                </a:cubicBezTo>
                <a:lnTo>
                  <a:pt x="0" y="38100"/>
                </a:lnTo>
                <a:cubicBezTo>
                  <a:pt x="0" y="17072"/>
                  <a:pt x="17072" y="0"/>
                  <a:pt x="38100" y="0"/>
                </a:cubicBezTo>
                <a:close/>
              </a:path>
            </a:pathLst>
          </a:custGeom>
          <a:solidFill>
            <a:srgbClr val="2C2C2E"/>
          </a:solidFill>
          <a:ln/>
        </p:spPr>
      </p:sp>
      <p:sp>
        <p:nvSpPr>
          <p:cNvPr id="7" name="Shape 5"/>
          <p:cNvSpPr/>
          <p:nvPr/>
        </p:nvSpPr>
        <p:spPr>
          <a:xfrm>
            <a:off x="400050" y="1257300"/>
            <a:ext cx="38100" cy="3543300"/>
          </a:xfrm>
          <a:custGeom>
            <a:avLst/>
            <a:gdLst/>
            <a:ahLst/>
            <a:cxnLst/>
            <a:rect l="l" t="t" r="r" b="b"/>
            <a:pathLst>
              <a:path w="38100" h="3543300">
                <a:moveTo>
                  <a:pt x="38100" y="0"/>
                </a:moveTo>
                <a:lnTo>
                  <a:pt x="38100" y="0"/>
                </a:lnTo>
                <a:lnTo>
                  <a:pt x="38100" y="3543300"/>
                </a:lnTo>
                <a:lnTo>
                  <a:pt x="38100" y="3543300"/>
                </a:lnTo>
                <a:cubicBezTo>
                  <a:pt x="17072" y="3543300"/>
                  <a:pt x="0" y="3526228"/>
                  <a:pt x="0" y="3505200"/>
                </a:cubicBezTo>
                <a:lnTo>
                  <a:pt x="0" y="38100"/>
                </a:lnTo>
                <a:cubicBezTo>
                  <a:pt x="0" y="17072"/>
                  <a:pt x="17072" y="0"/>
                  <a:pt x="38100" y="0"/>
                </a:cubicBezTo>
                <a:close/>
              </a:path>
            </a:pathLst>
          </a:custGeom>
          <a:solidFill>
            <a:srgbClr val="34C759"/>
          </a:solidFill>
          <a:ln/>
        </p:spPr>
      </p:sp>
      <p:sp>
        <p:nvSpPr>
          <p:cNvPr id="8" name="Shape 6"/>
          <p:cNvSpPr/>
          <p:nvPr/>
        </p:nvSpPr>
        <p:spPr>
          <a:xfrm>
            <a:off x="661988" y="1523879"/>
            <a:ext cx="257175" cy="228600"/>
          </a:xfrm>
          <a:custGeom>
            <a:avLst/>
            <a:gdLst/>
            <a:ahLst/>
            <a:cxnLst/>
            <a:rect l="l" t="t" r="r" b="b"/>
            <a:pathLst>
              <a:path w="257175" h="228600">
                <a:moveTo>
                  <a:pt x="100057" y="43354"/>
                </a:moveTo>
                <a:lnTo>
                  <a:pt x="100057" y="65499"/>
                </a:lnTo>
                <a:lnTo>
                  <a:pt x="100280" y="65723"/>
                </a:lnTo>
                <a:cubicBezTo>
                  <a:pt x="103183" y="28932"/>
                  <a:pt x="133945" y="0"/>
                  <a:pt x="171495" y="0"/>
                </a:cubicBezTo>
                <a:cubicBezTo>
                  <a:pt x="180469" y="0"/>
                  <a:pt x="189086" y="1652"/>
                  <a:pt x="196989" y="4688"/>
                </a:cubicBezTo>
                <a:cubicBezTo>
                  <a:pt x="201454" y="6385"/>
                  <a:pt x="202257" y="12055"/>
                  <a:pt x="198909" y="15448"/>
                </a:cubicBezTo>
                <a:lnTo>
                  <a:pt x="159306" y="55052"/>
                </a:lnTo>
                <a:cubicBezTo>
                  <a:pt x="157966" y="56391"/>
                  <a:pt x="157207" y="58222"/>
                  <a:pt x="157207" y="60097"/>
                </a:cubicBezTo>
                <a:lnTo>
                  <a:pt x="157207" y="78581"/>
                </a:lnTo>
                <a:cubicBezTo>
                  <a:pt x="157207" y="82510"/>
                  <a:pt x="160422" y="85725"/>
                  <a:pt x="164351" y="85725"/>
                </a:cubicBezTo>
                <a:lnTo>
                  <a:pt x="182835" y="85725"/>
                </a:lnTo>
                <a:cubicBezTo>
                  <a:pt x="184711" y="85725"/>
                  <a:pt x="186541" y="84966"/>
                  <a:pt x="187881" y="83627"/>
                </a:cubicBezTo>
                <a:lnTo>
                  <a:pt x="227484" y="44023"/>
                </a:lnTo>
                <a:cubicBezTo>
                  <a:pt x="230877" y="40630"/>
                  <a:pt x="236547" y="41478"/>
                  <a:pt x="238244" y="45943"/>
                </a:cubicBezTo>
                <a:cubicBezTo>
                  <a:pt x="241280" y="53846"/>
                  <a:pt x="242932" y="62463"/>
                  <a:pt x="242932" y="71438"/>
                </a:cubicBezTo>
                <a:cubicBezTo>
                  <a:pt x="242932" y="98494"/>
                  <a:pt x="227886" y="122069"/>
                  <a:pt x="205651" y="134169"/>
                </a:cubicBezTo>
                <a:lnTo>
                  <a:pt x="242039" y="170557"/>
                </a:lnTo>
                <a:cubicBezTo>
                  <a:pt x="250388" y="178906"/>
                  <a:pt x="250388" y="192479"/>
                  <a:pt x="242039" y="200873"/>
                </a:cubicBezTo>
                <a:lnTo>
                  <a:pt x="215205" y="227707"/>
                </a:lnTo>
                <a:cubicBezTo>
                  <a:pt x="206856" y="236056"/>
                  <a:pt x="193283" y="236056"/>
                  <a:pt x="184889" y="227707"/>
                </a:cubicBezTo>
                <a:lnTo>
                  <a:pt x="128632" y="171450"/>
                </a:lnTo>
                <a:cubicBezTo>
                  <a:pt x="116398" y="159216"/>
                  <a:pt x="113630" y="141134"/>
                  <a:pt x="120372" y="126221"/>
                </a:cubicBezTo>
                <a:lnTo>
                  <a:pt x="79876" y="85725"/>
                </a:lnTo>
                <a:lnTo>
                  <a:pt x="57730" y="85725"/>
                </a:lnTo>
                <a:cubicBezTo>
                  <a:pt x="52953" y="85725"/>
                  <a:pt x="48488" y="83359"/>
                  <a:pt x="45854" y="79385"/>
                </a:cubicBezTo>
                <a:lnTo>
                  <a:pt x="10448" y="26298"/>
                </a:lnTo>
                <a:cubicBezTo>
                  <a:pt x="8573" y="23485"/>
                  <a:pt x="8930" y="19690"/>
                  <a:pt x="11341" y="17279"/>
                </a:cubicBezTo>
                <a:lnTo>
                  <a:pt x="31611" y="-2991"/>
                </a:lnTo>
                <a:cubicBezTo>
                  <a:pt x="34022" y="-5402"/>
                  <a:pt x="37773" y="-5760"/>
                  <a:pt x="40630" y="-3884"/>
                </a:cubicBezTo>
                <a:lnTo>
                  <a:pt x="93717" y="31477"/>
                </a:lnTo>
                <a:cubicBezTo>
                  <a:pt x="97691" y="34111"/>
                  <a:pt x="100057" y="38576"/>
                  <a:pt x="100057" y="43354"/>
                </a:cubicBezTo>
                <a:close/>
                <a:moveTo>
                  <a:pt x="96262" y="132427"/>
                </a:moveTo>
                <a:cubicBezTo>
                  <a:pt x="93449" y="148947"/>
                  <a:pt x="97334" y="166405"/>
                  <a:pt x="108049" y="180380"/>
                </a:cubicBezTo>
                <a:lnTo>
                  <a:pt x="65633" y="222751"/>
                </a:lnTo>
                <a:cubicBezTo>
                  <a:pt x="53087" y="235297"/>
                  <a:pt x="32727" y="235297"/>
                  <a:pt x="20181" y="222751"/>
                </a:cubicBezTo>
                <a:cubicBezTo>
                  <a:pt x="7635" y="210205"/>
                  <a:pt x="7635" y="189845"/>
                  <a:pt x="20181" y="177299"/>
                </a:cubicBezTo>
                <a:lnTo>
                  <a:pt x="80635" y="116845"/>
                </a:lnTo>
                <a:lnTo>
                  <a:pt x="96262" y="132472"/>
                </a:lnTo>
                <a:close/>
              </a:path>
            </a:pathLst>
          </a:custGeom>
          <a:solidFill>
            <a:srgbClr val="34C759"/>
          </a:solidFill>
          <a:ln/>
        </p:spPr>
      </p:sp>
      <p:sp>
        <p:nvSpPr>
          <p:cNvPr id="9" name="Text 7"/>
          <p:cNvSpPr/>
          <p:nvPr/>
        </p:nvSpPr>
        <p:spPr>
          <a:xfrm>
            <a:off x="933450" y="1485900"/>
            <a:ext cx="4933950" cy="304800"/>
          </a:xfrm>
          <a:prstGeom prst="rect">
            <a:avLst/>
          </a:prstGeom>
          <a:noFill/>
          <a:ln/>
        </p:spPr>
        <p:txBody>
          <a:bodyPr wrap="square" lIns="0" tIns="0" rIns="0" bIns="0" rtlCol="0" anchor="ctr"/>
          <a:lstStyle/>
          <a:p>
            <a:pPr>
              <a:lnSpc>
                <a:spcPct val="110000"/>
              </a:lnSpc>
            </a:pPr>
            <a:r>
              <a:rPr lang="en-US" sz="1800" b="1" dirty="0">
                <a:solidFill>
                  <a:srgbClr val="34C759"/>
                </a:solidFill>
                <a:latin typeface="Liter" pitchFamily="34" charset="0"/>
                <a:ea typeface="Liter" pitchFamily="34" charset="-122"/>
                <a:cs typeface="Liter" pitchFamily="34" charset="-120"/>
              </a:rPr>
              <a:t>Simple Definition</a:t>
            </a:r>
            <a:endParaRPr lang="en-US" sz="1600" dirty="0"/>
          </a:p>
        </p:txBody>
      </p:sp>
      <p:sp>
        <p:nvSpPr>
          <p:cNvPr id="10" name="Shape 8"/>
          <p:cNvSpPr/>
          <p:nvPr/>
        </p:nvSpPr>
        <p:spPr>
          <a:xfrm>
            <a:off x="647700" y="2000138"/>
            <a:ext cx="304800" cy="304800"/>
          </a:xfrm>
          <a:prstGeom prst="roundRect">
            <a:avLst>
              <a:gd name="adj" fmla="val 25000"/>
            </a:avLst>
          </a:prstGeom>
          <a:solidFill>
            <a:srgbClr val="34C759"/>
          </a:solidFill>
          <a:ln/>
        </p:spPr>
      </p:sp>
      <p:sp>
        <p:nvSpPr>
          <p:cNvPr id="11" name="Shape 9"/>
          <p:cNvSpPr/>
          <p:nvPr/>
        </p:nvSpPr>
        <p:spPr>
          <a:xfrm>
            <a:off x="719138" y="2085863"/>
            <a:ext cx="166688" cy="133350"/>
          </a:xfrm>
          <a:custGeom>
            <a:avLst/>
            <a:gdLst/>
            <a:ahLst/>
            <a:cxnLst/>
            <a:rect l="l" t="t" r="r" b="b"/>
            <a:pathLst>
              <a:path w="166688" h="133350">
                <a:moveTo>
                  <a:pt x="16669" y="25003"/>
                </a:moveTo>
                <a:cubicBezTo>
                  <a:pt x="16669" y="15809"/>
                  <a:pt x="24144" y="8334"/>
                  <a:pt x="33337" y="8334"/>
                </a:cubicBezTo>
                <a:lnTo>
                  <a:pt x="133350" y="8334"/>
                </a:lnTo>
                <a:cubicBezTo>
                  <a:pt x="142544" y="8334"/>
                  <a:pt x="150019" y="15809"/>
                  <a:pt x="150019" y="25003"/>
                </a:cubicBezTo>
                <a:lnTo>
                  <a:pt x="150019" y="87511"/>
                </a:lnTo>
                <a:lnTo>
                  <a:pt x="133350" y="87511"/>
                </a:lnTo>
                <a:lnTo>
                  <a:pt x="133350" y="25003"/>
                </a:lnTo>
                <a:lnTo>
                  <a:pt x="33337" y="25003"/>
                </a:lnTo>
                <a:lnTo>
                  <a:pt x="33337" y="87511"/>
                </a:lnTo>
                <a:lnTo>
                  <a:pt x="16669" y="87511"/>
                </a:lnTo>
                <a:lnTo>
                  <a:pt x="16669" y="25003"/>
                </a:lnTo>
                <a:close/>
                <a:moveTo>
                  <a:pt x="0" y="105013"/>
                </a:moveTo>
                <a:cubicBezTo>
                  <a:pt x="0" y="102252"/>
                  <a:pt x="2240" y="100013"/>
                  <a:pt x="5001" y="100013"/>
                </a:cubicBezTo>
                <a:lnTo>
                  <a:pt x="161687" y="100013"/>
                </a:lnTo>
                <a:cubicBezTo>
                  <a:pt x="164448" y="100013"/>
                  <a:pt x="166688" y="102252"/>
                  <a:pt x="166688" y="105013"/>
                </a:cubicBezTo>
                <a:cubicBezTo>
                  <a:pt x="166688" y="116056"/>
                  <a:pt x="157728" y="125016"/>
                  <a:pt x="146685" y="125016"/>
                </a:cubicBezTo>
                <a:lnTo>
                  <a:pt x="20003" y="125016"/>
                </a:lnTo>
                <a:cubicBezTo>
                  <a:pt x="8959" y="125016"/>
                  <a:pt x="0" y="116056"/>
                  <a:pt x="0" y="105013"/>
                </a:cubicBezTo>
                <a:close/>
                <a:moveTo>
                  <a:pt x="73186" y="54434"/>
                </a:moveTo>
                <a:lnTo>
                  <a:pt x="65112" y="62508"/>
                </a:lnTo>
                <a:lnTo>
                  <a:pt x="73186" y="70582"/>
                </a:lnTo>
                <a:cubicBezTo>
                  <a:pt x="75634" y="73030"/>
                  <a:pt x="75634" y="76989"/>
                  <a:pt x="73186" y="79411"/>
                </a:cubicBezTo>
                <a:cubicBezTo>
                  <a:pt x="70738" y="81833"/>
                  <a:pt x="66779" y="81859"/>
                  <a:pt x="64357" y="79411"/>
                </a:cubicBezTo>
                <a:lnTo>
                  <a:pt x="51855" y="66909"/>
                </a:lnTo>
                <a:cubicBezTo>
                  <a:pt x="49407" y="64461"/>
                  <a:pt x="49407" y="60502"/>
                  <a:pt x="51855" y="58080"/>
                </a:cubicBezTo>
                <a:lnTo>
                  <a:pt x="64357" y="45579"/>
                </a:lnTo>
                <a:cubicBezTo>
                  <a:pt x="66805" y="43130"/>
                  <a:pt x="70764" y="43130"/>
                  <a:pt x="73186" y="45579"/>
                </a:cubicBezTo>
                <a:cubicBezTo>
                  <a:pt x="75608" y="48027"/>
                  <a:pt x="75634" y="51986"/>
                  <a:pt x="73186" y="54408"/>
                </a:cubicBezTo>
                <a:close/>
                <a:moveTo>
                  <a:pt x="102357" y="45579"/>
                </a:moveTo>
                <a:lnTo>
                  <a:pt x="114858" y="58080"/>
                </a:lnTo>
                <a:cubicBezTo>
                  <a:pt x="117306" y="60528"/>
                  <a:pt x="117306" y="64487"/>
                  <a:pt x="114858" y="66909"/>
                </a:cubicBezTo>
                <a:lnTo>
                  <a:pt x="102357" y="79411"/>
                </a:lnTo>
                <a:cubicBezTo>
                  <a:pt x="99908" y="81859"/>
                  <a:pt x="95949" y="81859"/>
                  <a:pt x="93527" y="79411"/>
                </a:cubicBezTo>
                <a:cubicBezTo>
                  <a:pt x="91105" y="76963"/>
                  <a:pt x="91079" y="73004"/>
                  <a:pt x="93527" y="70582"/>
                </a:cubicBezTo>
                <a:lnTo>
                  <a:pt x="101601" y="62508"/>
                </a:lnTo>
                <a:lnTo>
                  <a:pt x="93527" y="54434"/>
                </a:lnTo>
                <a:cubicBezTo>
                  <a:pt x="91079" y="51986"/>
                  <a:pt x="91079" y="48027"/>
                  <a:pt x="93527" y="45605"/>
                </a:cubicBezTo>
                <a:cubicBezTo>
                  <a:pt x="95976" y="43182"/>
                  <a:pt x="99934" y="43156"/>
                  <a:pt x="102357" y="45605"/>
                </a:cubicBezTo>
                <a:close/>
              </a:path>
            </a:pathLst>
          </a:custGeom>
          <a:solidFill>
            <a:srgbClr val="1D1D1F"/>
          </a:solidFill>
          <a:ln/>
        </p:spPr>
      </p:sp>
      <p:sp>
        <p:nvSpPr>
          <p:cNvPr id="12" name="Text 10"/>
          <p:cNvSpPr/>
          <p:nvPr/>
        </p:nvSpPr>
        <p:spPr>
          <a:xfrm>
            <a:off x="1066800" y="1981079"/>
            <a:ext cx="3629025"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A </a:t>
            </a:r>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development environment</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is your digital workspace</a:t>
            </a:r>
            <a:endParaRPr lang="en-US" sz="1600" dirty="0"/>
          </a:p>
        </p:txBody>
      </p:sp>
      <p:sp>
        <p:nvSpPr>
          <p:cNvPr id="13" name="Shape 11"/>
          <p:cNvSpPr/>
          <p:nvPr/>
        </p:nvSpPr>
        <p:spPr>
          <a:xfrm>
            <a:off x="647700" y="2438288"/>
            <a:ext cx="304800" cy="304800"/>
          </a:xfrm>
          <a:prstGeom prst="roundRect">
            <a:avLst>
              <a:gd name="adj" fmla="val 25000"/>
            </a:avLst>
          </a:prstGeom>
          <a:solidFill>
            <a:srgbClr val="34C759"/>
          </a:solidFill>
          <a:ln/>
        </p:spPr>
      </p:sp>
      <p:sp>
        <p:nvSpPr>
          <p:cNvPr id="14" name="Shape 12"/>
          <p:cNvSpPr/>
          <p:nvPr/>
        </p:nvSpPr>
        <p:spPr>
          <a:xfrm>
            <a:off x="735806" y="2524013"/>
            <a:ext cx="133350" cy="133350"/>
          </a:xfrm>
          <a:custGeom>
            <a:avLst/>
            <a:gdLst/>
            <a:ahLst/>
            <a:cxnLst/>
            <a:rect l="l" t="t" r="r" b="b"/>
            <a:pathLst>
              <a:path w="133350" h="133350">
                <a:moveTo>
                  <a:pt x="45839" y="14585"/>
                </a:moveTo>
                <a:lnTo>
                  <a:pt x="45839" y="25003"/>
                </a:lnTo>
                <a:lnTo>
                  <a:pt x="87511" y="25003"/>
                </a:lnTo>
                <a:lnTo>
                  <a:pt x="87511" y="14585"/>
                </a:lnTo>
                <a:cubicBezTo>
                  <a:pt x="87511" y="13439"/>
                  <a:pt x="86573" y="12502"/>
                  <a:pt x="85427" y="12502"/>
                </a:cubicBezTo>
                <a:lnTo>
                  <a:pt x="47923" y="12502"/>
                </a:lnTo>
                <a:cubicBezTo>
                  <a:pt x="46777" y="12502"/>
                  <a:pt x="45839" y="13439"/>
                  <a:pt x="45839" y="14585"/>
                </a:cubicBezTo>
                <a:close/>
                <a:moveTo>
                  <a:pt x="33337" y="25003"/>
                </a:moveTo>
                <a:lnTo>
                  <a:pt x="33337" y="14585"/>
                </a:lnTo>
                <a:cubicBezTo>
                  <a:pt x="33337" y="6537"/>
                  <a:pt x="39875" y="0"/>
                  <a:pt x="47923" y="0"/>
                </a:cubicBezTo>
                <a:lnTo>
                  <a:pt x="85427" y="0"/>
                </a:lnTo>
                <a:cubicBezTo>
                  <a:pt x="93475" y="0"/>
                  <a:pt x="100013" y="6537"/>
                  <a:pt x="100013" y="14585"/>
                </a:cubicBezTo>
                <a:lnTo>
                  <a:pt x="100013" y="25003"/>
                </a:lnTo>
                <a:lnTo>
                  <a:pt x="107331" y="25003"/>
                </a:lnTo>
                <a:cubicBezTo>
                  <a:pt x="110639" y="25003"/>
                  <a:pt x="113816" y="26331"/>
                  <a:pt x="116160" y="28675"/>
                </a:cubicBezTo>
                <a:lnTo>
                  <a:pt x="129678" y="42193"/>
                </a:lnTo>
                <a:cubicBezTo>
                  <a:pt x="132022" y="44537"/>
                  <a:pt x="133350" y="47714"/>
                  <a:pt x="133350" y="51022"/>
                </a:cubicBezTo>
                <a:lnTo>
                  <a:pt x="133350" y="70842"/>
                </a:lnTo>
                <a:lnTo>
                  <a:pt x="97929" y="70842"/>
                </a:lnTo>
                <a:lnTo>
                  <a:pt x="97929" y="66675"/>
                </a:lnTo>
                <a:cubicBezTo>
                  <a:pt x="97929" y="63211"/>
                  <a:pt x="95142" y="60424"/>
                  <a:pt x="91678" y="60424"/>
                </a:cubicBezTo>
                <a:cubicBezTo>
                  <a:pt x="88214" y="60424"/>
                  <a:pt x="85427" y="63211"/>
                  <a:pt x="85427" y="66675"/>
                </a:cubicBezTo>
                <a:lnTo>
                  <a:pt x="85427" y="70842"/>
                </a:lnTo>
                <a:lnTo>
                  <a:pt x="47923" y="70842"/>
                </a:lnTo>
                <a:lnTo>
                  <a:pt x="47923" y="66675"/>
                </a:lnTo>
                <a:cubicBezTo>
                  <a:pt x="47923" y="63211"/>
                  <a:pt x="45136" y="60424"/>
                  <a:pt x="41672" y="60424"/>
                </a:cubicBezTo>
                <a:cubicBezTo>
                  <a:pt x="38208" y="60424"/>
                  <a:pt x="35421" y="63211"/>
                  <a:pt x="35421" y="66675"/>
                </a:cubicBezTo>
                <a:lnTo>
                  <a:pt x="35421" y="70842"/>
                </a:lnTo>
                <a:lnTo>
                  <a:pt x="0" y="70842"/>
                </a:lnTo>
                <a:lnTo>
                  <a:pt x="0" y="51022"/>
                </a:lnTo>
                <a:cubicBezTo>
                  <a:pt x="0" y="47714"/>
                  <a:pt x="1328" y="44537"/>
                  <a:pt x="3672" y="42193"/>
                </a:cubicBezTo>
                <a:lnTo>
                  <a:pt x="17190" y="28675"/>
                </a:lnTo>
                <a:cubicBezTo>
                  <a:pt x="19534" y="26331"/>
                  <a:pt x="22711" y="25003"/>
                  <a:pt x="26019" y="25003"/>
                </a:cubicBezTo>
                <a:lnTo>
                  <a:pt x="33337" y="25003"/>
                </a:lnTo>
                <a:close/>
                <a:moveTo>
                  <a:pt x="0" y="108347"/>
                </a:moveTo>
                <a:lnTo>
                  <a:pt x="0" y="83344"/>
                </a:lnTo>
                <a:lnTo>
                  <a:pt x="35421" y="83344"/>
                </a:lnTo>
                <a:lnTo>
                  <a:pt x="35421" y="87511"/>
                </a:lnTo>
                <a:cubicBezTo>
                  <a:pt x="35421" y="90975"/>
                  <a:pt x="38208" y="93762"/>
                  <a:pt x="41672" y="93762"/>
                </a:cubicBezTo>
                <a:cubicBezTo>
                  <a:pt x="45136" y="93762"/>
                  <a:pt x="47923" y="90975"/>
                  <a:pt x="47923" y="87511"/>
                </a:cubicBezTo>
                <a:lnTo>
                  <a:pt x="47923" y="83344"/>
                </a:lnTo>
                <a:lnTo>
                  <a:pt x="85427" y="83344"/>
                </a:lnTo>
                <a:lnTo>
                  <a:pt x="85427" y="87511"/>
                </a:lnTo>
                <a:cubicBezTo>
                  <a:pt x="85427" y="90975"/>
                  <a:pt x="88214" y="93762"/>
                  <a:pt x="91678" y="93762"/>
                </a:cubicBezTo>
                <a:cubicBezTo>
                  <a:pt x="95142" y="93762"/>
                  <a:pt x="97929" y="90975"/>
                  <a:pt x="97929" y="87511"/>
                </a:cubicBezTo>
                <a:lnTo>
                  <a:pt x="97929" y="83344"/>
                </a:lnTo>
                <a:lnTo>
                  <a:pt x="133350" y="83344"/>
                </a:lnTo>
                <a:lnTo>
                  <a:pt x="133350" y="108347"/>
                </a:lnTo>
                <a:cubicBezTo>
                  <a:pt x="133350" y="117541"/>
                  <a:pt x="125875" y="125016"/>
                  <a:pt x="116681" y="125016"/>
                </a:cubicBezTo>
                <a:lnTo>
                  <a:pt x="16669" y="125016"/>
                </a:lnTo>
                <a:cubicBezTo>
                  <a:pt x="7475" y="125016"/>
                  <a:pt x="0" y="117541"/>
                  <a:pt x="0" y="108347"/>
                </a:cubicBezTo>
                <a:close/>
              </a:path>
            </a:pathLst>
          </a:custGeom>
          <a:solidFill>
            <a:srgbClr val="1D1D1F"/>
          </a:solidFill>
          <a:ln/>
        </p:spPr>
      </p:sp>
      <p:sp>
        <p:nvSpPr>
          <p:cNvPr id="15" name="Text 13"/>
          <p:cNvSpPr/>
          <p:nvPr/>
        </p:nvSpPr>
        <p:spPr>
          <a:xfrm>
            <a:off x="1066800" y="2419238"/>
            <a:ext cx="28575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It's like a </a:t>
            </a:r>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workshop with all tools</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you need</a:t>
            </a:r>
            <a:endParaRPr lang="en-US" sz="1600" dirty="0"/>
          </a:p>
        </p:txBody>
      </p:sp>
      <p:sp>
        <p:nvSpPr>
          <p:cNvPr id="16" name="Shape 14"/>
          <p:cNvSpPr/>
          <p:nvPr/>
        </p:nvSpPr>
        <p:spPr>
          <a:xfrm>
            <a:off x="647700" y="2876438"/>
            <a:ext cx="304800" cy="304800"/>
          </a:xfrm>
          <a:prstGeom prst="roundRect">
            <a:avLst>
              <a:gd name="adj" fmla="val 25000"/>
            </a:avLst>
          </a:prstGeom>
          <a:solidFill>
            <a:srgbClr val="34C759"/>
          </a:solidFill>
          <a:ln/>
        </p:spPr>
      </p:sp>
      <p:sp>
        <p:nvSpPr>
          <p:cNvPr id="17" name="Shape 15"/>
          <p:cNvSpPr/>
          <p:nvPr/>
        </p:nvSpPr>
        <p:spPr>
          <a:xfrm>
            <a:off x="727472" y="2962163"/>
            <a:ext cx="150019" cy="133350"/>
          </a:xfrm>
          <a:custGeom>
            <a:avLst/>
            <a:gdLst/>
            <a:ahLst/>
            <a:cxnLst/>
            <a:rect l="l" t="t" r="r" b="b"/>
            <a:pathLst>
              <a:path w="150019" h="133350">
                <a:moveTo>
                  <a:pt x="93970" y="313"/>
                </a:moveTo>
                <a:cubicBezTo>
                  <a:pt x="89542" y="-964"/>
                  <a:pt x="84932" y="1615"/>
                  <a:pt x="83656" y="6042"/>
                </a:cubicBezTo>
                <a:lnTo>
                  <a:pt x="50319" y="122724"/>
                </a:lnTo>
                <a:cubicBezTo>
                  <a:pt x="49043" y="127151"/>
                  <a:pt x="51621" y="131761"/>
                  <a:pt x="56049" y="133037"/>
                </a:cubicBezTo>
                <a:cubicBezTo>
                  <a:pt x="60476" y="134314"/>
                  <a:pt x="65086" y="131735"/>
                  <a:pt x="66362" y="127308"/>
                </a:cubicBezTo>
                <a:lnTo>
                  <a:pt x="99700" y="10626"/>
                </a:lnTo>
                <a:cubicBezTo>
                  <a:pt x="100976" y="6199"/>
                  <a:pt x="98398" y="1589"/>
                  <a:pt x="93970" y="313"/>
                </a:cubicBezTo>
                <a:close/>
                <a:moveTo>
                  <a:pt x="110795" y="35760"/>
                </a:moveTo>
                <a:cubicBezTo>
                  <a:pt x="107539" y="39015"/>
                  <a:pt x="107539" y="44302"/>
                  <a:pt x="110795" y="47558"/>
                </a:cubicBezTo>
                <a:lnTo>
                  <a:pt x="129912" y="66675"/>
                </a:lnTo>
                <a:lnTo>
                  <a:pt x="110795" y="85792"/>
                </a:lnTo>
                <a:cubicBezTo>
                  <a:pt x="107539" y="89048"/>
                  <a:pt x="107539" y="94335"/>
                  <a:pt x="110795" y="97590"/>
                </a:cubicBezTo>
                <a:cubicBezTo>
                  <a:pt x="114051" y="100846"/>
                  <a:pt x="119338" y="100846"/>
                  <a:pt x="122593" y="97590"/>
                </a:cubicBezTo>
                <a:lnTo>
                  <a:pt x="147597" y="72587"/>
                </a:lnTo>
                <a:cubicBezTo>
                  <a:pt x="150852" y="69332"/>
                  <a:pt x="150852" y="64044"/>
                  <a:pt x="147597" y="60789"/>
                </a:cubicBezTo>
                <a:lnTo>
                  <a:pt x="122593" y="35786"/>
                </a:lnTo>
                <a:cubicBezTo>
                  <a:pt x="119338" y="32530"/>
                  <a:pt x="114051" y="32530"/>
                  <a:pt x="110795" y="35786"/>
                </a:cubicBezTo>
                <a:close/>
                <a:moveTo>
                  <a:pt x="39250" y="35760"/>
                </a:moveTo>
                <a:cubicBezTo>
                  <a:pt x="35994" y="32504"/>
                  <a:pt x="30707" y="32504"/>
                  <a:pt x="27451" y="35760"/>
                </a:cubicBezTo>
                <a:lnTo>
                  <a:pt x="2448" y="60763"/>
                </a:lnTo>
                <a:cubicBezTo>
                  <a:pt x="-807" y="64018"/>
                  <a:pt x="-807" y="69306"/>
                  <a:pt x="2448" y="72561"/>
                </a:cubicBezTo>
                <a:lnTo>
                  <a:pt x="27451" y="97564"/>
                </a:lnTo>
                <a:cubicBezTo>
                  <a:pt x="30707" y="100820"/>
                  <a:pt x="35994" y="100820"/>
                  <a:pt x="39250" y="97564"/>
                </a:cubicBezTo>
                <a:cubicBezTo>
                  <a:pt x="42505" y="94309"/>
                  <a:pt x="42505" y="89022"/>
                  <a:pt x="39250" y="85766"/>
                </a:cubicBezTo>
                <a:lnTo>
                  <a:pt x="20133" y="66675"/>
                </a:lnTo>
                <a:lnTo>
                  <a:pt x="39224" y="47558"/>
                </a:lnTo>
                <a:cubicBezTo>
                  <a:pt x="42479" y="44302"/>
                  <a:pt x="42479" y="39015"/>
                  <a:pt x="39224" y="35760"/>
                </a:cubicBezTo>
                <a:close/>
              </a:path>
            </a:pathLst>
          </a:custGeom>
          <a:solidFill>
            <a:srgbClr val="1D1D1F"/>
          </a:solidFill>
          <a:ln/>
        </p:spPr>
      </p:sp>
      <p:sp>
        <p:nvSpPr>
          <p:cNvPr id="18" name="Text 16"/>
          <p:cNvSpPr/>
          <p:nvPr/>
        </p:nvSpPr>
        <p:spPr>
          <a:xfrm>
            <a:off x="1066800" y="2857388"/>
            <a:ext cx="27813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Includes </a:t>
            </a:r>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code editor, compiler, debugger</a:t>
            </a:r>
            <a:endParaRPr lang="en-US" sz="1600" dirty="0"/>
          </a:p>
        </p:txBody>
      </p:sp>
      <p:sp>
        <p:nvSpPr>
          <p:cNvPr id="19" name="Shape 17"/>
          <p:cNvSpPr/>
          <p:nvPr/>
        </p:nvSpPr>
        <p:spPr>
          <a:xfrm>
            <a:off x="647700" y="3314588"/>
            <a:ext cx="304800" cy="304800"/>
          </a:xfrm>
          <a:prstGeom prst="roundRect">
            <a:avLst>
              <a:gd name="adj" fmla="val 25000"/>
            </a:avLst>
          </a:prstGeom>
          <a:solidFill>
            <a:srgbClr val="34C759"/>
          </a:solidFill>
          <a:ln/>
        </p:spPr>
      </p:sp>
      <p:sp>
        <p:nvSpPr>
          <p:cNvPr id="20" name="Shape 18"/>
          <p:cNvSpPr/>
          <p:nvPr/>
        </p:nvSpPr>
        <p:spPr>
          <a:xfrm>
            <a:off x="752475" y="3400313"/>
            <a:ext cx="100013" cy="133350"/>
          </a:xfrm>
          <a:custGeom>
            <a:avLst/>
            <a:gdLst/>
            <a:ahLst/>
            <a:cxnLst/>
            <a:rect l="l" t="t" r="r" b="b"/>
            <a:pathLst>
              <a:path w="100013" h="133350">
                <a:moveTo>
                  <a:pt x="4167" y="16669"/>
                </a:moveTo>
                <a:cubicBezTo>
                  <a:pt x="4167" y="7475"/>
                  <a:pt x="11642" y="0"/>
                  <a:pt x="20836" y="0"/>
                </a:cubicBezTo>
                <a:lnTo>
                  <a:pt x="79177" y="0"/>
                </a:lnTo>
                <a:cubicBezTo>
                  <a:pt x="88370" y="0"/>
                  <a:pt x="95845" y="7475"/>
                  <a:pt x="95845" y="16669"/>
                </a:cubicBezTo>
                <a:lnTo>
                  <a:pt x="95845" y="116681"/>
                </a:lnTo>
                <a:cubicBezTo>
                  <a:pt x="95845" y="125875"/>
                  <a:pt x="88370" y="133350"/>
                  <a:pt x="79177" y="133350"/>
                </a:cubicBezTo>
                <a:lnTo>
                  <a:pt x="20836" y="133350"/>
                </a:lnTo>
                <a:cubicBezTo>
                  <a:pt x="11642" y="133350"/>
                  <a:pt x="4167" y="125875"/>
                  <a:pt x="4167" y="116681"/>
                </a:cubicBezTo>
                <a:lnTo>
                  <a:pt x="4167" y="16669"/>
                </a:lnTo>
                <a:close/>
                <a:moveTo>
                  <a:pt x="20836" y="16669"/>
                </a:moveTo>
                <a:lnTo>
                  <a:pt x="20836" y="95845"/>
                </a:lnTo>
                <a:lnTo>
                  <a:pt x="79177" y="95845"/>
                </a:lnTo>
                <a:lnTo>
                  <a:pt x="79177" y="16669"/>
                </a:lnTo>
                <a:lnTo>
                  <a:pt x="20836" y="16669"/>
                </a:lnTo>
                <a:close/>
                <a:moveTo>
                  <a:pt x="50006" y="122932"/>
                </a:moveTo>
                <a:cubicBezTo>
                  <a:pt x="54616" y="122932"/>
                  <a:pt x="58341" y="119208"/>
                  <a:pt x="58341" y="114598"/>
                </a:cubicBezTo>
                <a:cubicBezTo>
                  <a:pt x="58341" y="109988"/>
                  <a:pt x="54616" y="106263"/>
                  <a:pt x="50006" y="106263"/>
                </a:cubicBezTo>
                <a:cubicBezTo>
                  <a:pt x="45396" y="106263"/>
                  <a:pt x="41672" y="109988"/>
                  <a:pt x="41672" y="114598"/>
                </a:cubicBezTo>
                <a:cubicBezTo>
                  <a:pt x="41672" y="119208"/>
                  <a:pt x="45396" y="122932"/>
                  <a:pt x="50006" y="122932"/>
                </a:cubicBezTo>
                <a:close/>
              </a:path>
            </a:pathLst>
          </a:custGeom>
          <a:solidFill>
            <a:srgbClr val="1D1D1F"/>
          </a:solidFill>
          <a:ln/>
        </p:spPr>
      </p:sp>
      <p:sp>
        <p:nvSpPr>
          <p:cNvPr id="21" name="Text 19"/>
          <p:cNvSpPr/>
          <p:nvPr/>
        </p:nvSpPr>
        <p:spPr>
          <a:xfrm>
            <a:off x="1066800" y="3295538"/>
            <a:ext cx="2219325"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Has </a:t>
            </a:r>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device simulators</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for testing</a:t>
            </a:r>
            <a:endParaRPr lang="en-US" sz="1600" dirty="0"/>
          </a:p>
        </p:txBody>
      </p:sp>
      <p:sp>
        <p:nvSpPr>
          <p:cNvPr id="22" name="Shape 20"/>
          <p:cNvSpPr/>
          <p:nvPr/>
        </p:nvSpPr>
        <p:spPr>
          <a:xfrm>
            <a:off x="647700" y="3752738"/>
            <a:ext cx="304800" cy="304800"/>
          </a:xfrm>
          <a:prstGeom prst="roundRect">
            <a:avLst>
              <a:gd name="adj" fmla="val 25000"/>
            </a:avLst>
          </a:prstGeom>
          <a:solidFill>
            <a:srgbClr val="34C759"/>
          </a:solidFill>
          <a:ln/>
        </p:spPr>
      </p:sp>
      <p:sp>
        <p:nvSpPr>
          <p:cNvPr id="23" name="Shape 21"/>
          <p:cNvSpPr/>
          <p:nvPr/>
        </p:nvSpPr>
        <p:spPr>
          <a:xfrm>
            <a:off x="744141" y="3838463"/>
            <a:ext cx="116681" cy="133350"/>
          </a:xfrm>
          <a:custGeom>
            <a:avLst/>
            <a:gdLst/>
            <a:ahLst/>
            <a:cxnLst/>
            <a:rect l="l" t="t" r="r" b="b"/>
            <a:pathLst>
              <a:path w="116681" h="133350">
                <a:moveTo>
                  <a:pt x="66675" y="8334"/>
                </a:moveTo>
                <a:cubicBezTo>
                  <a:pt x="66675" y="3724"/>
                  <a:pt x="62951" y="0"/>
                  <a:pt x="58341" y="0"/>
                </a:cubicBezTo>
                <a:cubicBezTo>
                  <a:pt x="53731" y="0"/>
                  <a:pt x="50006" y="3724"/>
                  <a:pt x="50006" y="8334"/>
                </a:cubicBezTo>
                <a:lnTo>
                  <a:pt x="50006" y="63211"/>
                </a:lnTo>
                <a:lnTo>
                  <a:pt x="39224" y="52428"/>
                </a:lnTo>
                <a:cubicBezTo>
                  <a:pt x="35968" y="49173"/>
                  <a:pt x="30681" y="49173"/>
                  <a:pt x="27425" y="52428"/>
                </a:cubicBezTo>
                <a:cubicBezTo>
                  <a:pt x="24170" y="55684"/>
                  <a:pt x="24170" y="60971"/>
                  <a:pt x="27425" y="64227"/>
                </a:cubicBezTo>
                <a:lnTo>
                  <a:pt x="52428" y="89230"/>
                </a:lnTo>
                <a:cubicBezTo>
                  <a:pt x="55684" y="92486"/>
                  <a:pt x="60971" y="92486"/>
                  <a:pt x="64227" y="89230"/>
                </a:cubicBezTo>
                <a:lnTo>
                  <a:pt x="89230" y="64227"/>
                </a:lnTo>
                <a:cubicBezTo>
                  <a:pt x="92486" y="60971"/>
                  <a:pt x="92486" y="55684"/>
                  <a:pt x="89230" y="52428"/>
                </a:cubicBezTo>
                <a:cubicBezTo>
                  <a:pt x="85974" y="49173"/>
                  <a:pt x="80687" y="49173"/>
                  <a:pt x="77432" y="52428"/>
                </a:cubicBezTo>
                <a:lnTo>
                  <a:pt x="66675" y="63211"/>
                </a:lnTo>
                <a:lnTo>
                  <a:pt x="66675" y="8334"/>
                </a:lnTo>
                <a:close/>
                <a:moveTo>
                  <a:pt x="16669" y="83344"/>
                </a:moveTo>
                <a:cubicBezTo>
                  <a:pt x="7475" y="83344"/>
                  <a:pt x="0" y="90819"/>
                  <a:pt x="0" y="100013"/>
                </a:cubicBezTo>
                <a:lnTo>
                  <a:pt x="0" y="108347"/>
                </a:lnTo>
                <a:cubicBezTo>
                  <a:pt x="0" y="117541"/>
                  <a:pt x="7475" y="125016"/>
                  <a:pt x="16669" y="125016"/>
                </a:cubicBezTo>
                <a:lnTo>
                  <a:pt x="100013" y="125016"/>
                </a:lnTo>
                <a:cubicBezTo>
                  <a:pt x="109206" y="125016"/>
                  <a:pt x="116681" y="117541"/>
                  <a:pt x="116681" y="108347"/>
                </a:cubicBezTo>
                <a:lnTo>
                  <a:pt x="116681" y="100013"/>
                </a:lnTo>
                <a:cubicBezTo>
                  <a:pt x="116681" y="90819"/>
                  <a:pt x="109206" y="83344"/>
                  <a:pt x="100013" y="83344"/>
                </a:cubicBezTo>
                <a:lnTo>
                  <a:pt x="87797" y="83344"/>
                </a:lnTo>
                <a:lnTo>
                  <a:pt x="73056" y="98085"/>
                </a:lnTo>
                <a:cubicBezTo>
                  <a:pt x="64930" y="106211"/>
                  <a:pt x="51725" y="106211"/>
                  <a:pt x="43599" y="98085"/>
                </a:cubicBezTo>
                <a:lnTo>
                  <a:pt x="28884" y="83344"/>
                </a:lnTo>
                <a:lnTo>
                  <a:pt x="16669" y="83344"/>
                </a:lnTo>
                <a:close/>
                <a:moveTo>
                  <a:pt x="95845" y="97929"/>
                </a:moveTo>
                <a:cubicBezTo>
                  <a:pt x="99295" y="97929"/>
                  <a:pt x="102096" y="100730"/>
                  <a:pt x="102096" y="104180"/>
                </a:cubicBezTo>
                <a:cubicBezTo>
                  <a:pt x="102096" y="107630"/>
                  <a:pt x="99295" y="110430"/>
                  <a:pt x="95845" y="110430"/>
                </a:cubicBezTo>
                <a:cubicBezTo>
                  <a:pt x="92395" y="110430"/>
                  <a:pt x="89595" y="107630"/>
                  <a:pt x="89595" y="104180"/>
                </a:cubicBezTo>
                <a:cubicBezTo>
                  <a:pt x="89595" y="100730"/>
                  <a:pt x="92395" y="97929"/>
                  <a:pt x="95845" y="97929"/>
                </a:cubicBezTo>
                <a:close/>
              </a:path>
            </a:pathLst>
          </a:custGeom>
          <a:solidFill>
            <a:srgbClr val="1D1D1F"/>
          </a:solidFill>
          <a:ln/>
        </p:spPr>
      </p:sp>
      <p:sp>
        <p:nvSpPr>
          <p:cNvPr id="24" name="Text 22"/>
          <p:cNvSpPr/>
          <p:nvPr/>
        </p:nvSpPr>
        <p:spPr>
          <a:xfrm>
            <a:off x="1066800" y="3733688"/>
            <a:ext cx="272415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Everything is </a:t>
            </a:r>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installed on your computer</a:t>
            </a:r>
            <a:endParaRPr lang="en-US" sz="1600" dirty="0"/>
          </a:p>
        </p:txBody>
      </p:sp>
      <p:sp>
        <p:nvSpPr>
          <p:cNvPr id="25" name="Shape 23"/>
          <p:cNvSpPr/>
          <p:nvPr/>
        </p:nvSpPr>
        <p:spPr>
          <a:xfrm>
            <a:off x="384810" y="4960624"/>
            <a:ext cx="5589270" cy="1512570"/>
          </a:xfrm>
          <a:prstGeom prst="roundRect">
            <a:avLst>
              <a:gd name="adj" fmla="val 10076"/>
            </a:avLst>
          </a:prstGeom>
          <a:solidFill>
            <a:srgbClr val="0A84FF">
              <a:alpha val="10196"/>
            </a:srgbClr>
          </a:solidFill>
          <a:ln w="10160">
            <a:solidFill>
              <a:srgbClr val="0A84FF">
                <a:alpha val="30196"/>
              </a:srgbClr>
            </a:solidFill>
            <a:prstDash val="solid"/>
          </a:ln>
        </p:spPr>
      </p:sp>
      <p:sp>
        <p:nvSpPr>
          <p:cNvPr id="26" name="Shape 24"/>
          <p:cNvSpPr/>
          <p:nvPr/>
        </p:nvSpPr>
        <p:spPr>
          <a:xfrm>
            <a:off x="602932" y="5202566"/>
            <a:ext cx="171450" cy="171450"/>
          </a:xfrm>
          <a:custGeom>
            <a:avLst/>
            <a:gdLst/>
            <a:ahLst/>
            <a:cxnLst/>
            <a:rect l="l" t="t" r="r" b="b"/>
            <a:pathLst>
              <a:path w="171450" h="171450">
                <a:moveTo>
                  <a:pt x="85725" y="160734"/>
                </a:moveTo>
                <a:cubicBezTo>
                  <a:pt x="133075" y="160734"/>
                  <a:pt x="171450" y="124737"/>
                  <a:pt x="171450" y="80367"/>
                </a:cubicBezTo>
                <a:cubicBezTo>
                  <a:pt x="171450" y="35998"/>
                  <a:pt x="133075" y="0"/>
                  <a:pt x="85725" y="0"/>
                </a:cubicBezTo>
                <a:cubicBezTo>
                  <a:pt x="38375" y="0"/>
                  <a:pt x="0" y="35998"/>
                  <a:pt x="0" y="80367"/>
                </a:cubicBezTo>
                <a:cubicBezTo>
                  <a:pt x="0" y="98550"/>
                  <a:pt x="6429" y="115293"/>
                  <a:pt x="17279" y="128755"/>
                </a:cubicBezTo>
                <a:lnTo>
                  <a:pt x="938" y="159663"/>
                </a:lnTo>
                <a:cubicBezTo>
                  <a:pt x="-670" y="162677"/>
                  <a:pt x="-167" y="166360"/>
                  <a:pt x="2143" y="168872"/>
                </a:cubicBezTo>
                <a:cubicBezTo>
                  <a:pt x="4454" y="171383"/>
                  <a:pt x="8104" y="172153"/>
                  <a:pt x="11218" y="170814"/>
                </a:cubicBezTo>
                <a:lnTo>
                  <a:pt x="50866" y="153836"/>
                </a:lnTo>
                <a:cubicBezTo>
                  <a:pt x="61514" y="158256"/>
                  <a:pt x="73302" y="160734"/>
                  <a:pt x="85725" y="160734"/>
                </a:cubicBezTo>
                <a:close/>
                <a:moveTo>
                  <a:pt x="42863" y="69652"/>
                </a:moveTo>
                <a:cubicBezTo>
                  <a:pt x="48777" y="69652"/>
                  <a:pt x="53578" y="74453"/>
                  <a:pt x="53578" y="80367"/>
                </a:cubicBezTo>
                <a:cubicBezTo>
                  <a:pt x="53578" y="86281"/>
                  <a:pt x="48777" y="91083"/>
                  <a:pt x="42863" y="91083"/>
                </a:cubicBezTo>
                <a:cubicBezTo>
                  <a:pt x="36948" y="91083"/>
                  <a:pt x="32147" y="86281"/>
                  <a:pt x="32147" y="80367"/>
                </a:cubicBezTo>
                <a:cubicBezTo>
                  <a:pt x="32147" y="74453"/>
                  <a:pt x="36948" y="69652"/>
                  <a:pt x="42863" y="69652"/>
                </a:cubicBezTo>
                <a:close/>
                <a:moveTo>
                  <a:pt x="85725" y="69652"/>
                </a:moveTo>
                <a:cubicBezTo>
                  <a:pt x="91639" y="69652"/>
                  <a:pt x="96441" y="74453"/>
                  <a:pt x="96441" y="80367"/>
                </a:cubicBezTo>
                <a:cubicBezTo>
                  <a:pt x="96441" y="86281"/>
                  <a:pt x="91639" y="91083"/>
                  <a:pt x="85725" y="91083"/>
                </a:cubicBezTo>
                <a:cubicBezTo>
                  <a:pt x="79811" y="91083"/>
                  <a:pt x="75009" y="86281"/>
                  <a:pt x="75009" y="80367"/>
                </a:cubicBezTo>
                <a:cubicBezTo>
                  <a:pt x="75009" y="74453"/>
                  <a:pt x="79811" y="69652"/>
                  <a:pt x="85725" y="69652"/>
                </a:cubicBezTo>
                <a:close/>
                <a:moveTo>
                  <a:pt x="117872" y="80367"/>
                </a:moveTo>
                <a:cubicBezTo>
                  <a:pt x="117872" y="74453"/>
                  <a:pt x="122673" y="69652"/>
                  <a:pt x="128588" y="69652"/>
                </a:cubicBezTo>
                <a:cubicBezTo>
                  <a:pt x="134502" y="69652"/>
                  <a:pt x="139303" y="74453"/>
                  <a:pt x="139303" y="80367"/>
                </a:cubicBezTo>
                <a:cubicBezTo>
                  <a:pt x="139303" y="86281"/>
                  <a:pt x="134502" y="91083"/>
                  <a:pt x="128588" y="91083"/>
                </a:cubicBezTo>
                <a:cubicBezTo>
                  <a:pt x="122673" y="91083"/>
                  <a:pt x="117872" y="86281"/>
                  <a:pt x="117872" y="80367"/>
                </a:cubicBezTo>
                <a:close/>
              </a:path>
            </a:pathLst>
          </a:custGeom>
          <a:solidFill>
            <a:srgbClr val="0A84FF"/>
          </a:solidFill>
          <a:ln/>
        </p:spPr>
      </p:sp>
      <p:sp>
        <p:nvSpPr>
          <p:cNvPr id="27" name="Text 25"/>
          <p:cNvSpPr/>
          <p:nvPr/>
        </p:nvSpPr>
        <p:spPr>
          <a:xfrm>
            <a:off x="798195" y="5154941"/>
            <a:ext cx="5067300" cy="266700"/>
          </a:xfrm>
          <a:prstGeom prst="rect">
            <a:avLst/>
          </a:prstGeom>
          <a:noFill/>
          <a:ln/>
        </p:spPr>
        <p:txBody>
          <a:bodyPr wrap="square" lIns="0" tIns="0" rIns="0" bIns="0" rtlCol="0" anchor="ctr"/>
          <a:lstStyle/>
          <a:p>
            <a:pPr>
              <a:lnSpc>
                <a:spcPct val="130000"/>
              </a:lnSpc>
            </a:pPr>
            <a:r>
              <a:rPr lang="en-US" sz="1350"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28" name="Text 26"/>
          <p:cNvSpPr/>
          <p:nvPr/>
        </p:nvSpPr>
        <p:spPr>
          <a:xfrm>
            <a:off x="579120" y="5535941"/>
            <a:ext cx="5276850" cy="742950"/>
          </a:xfrm>
          <a:prstGeom prst="rect">
            <a:avLst/>
          </a:prstGeom>
          <a:noFill/>
          <a:ln/>
        </p:spPr>
        <p:txBody>
          <a:bodyPr wrap="square" lIns="0" tIns="0" rIns="0" bIns="0" rtlCol="0" anchor="ctr"/>
          <a:lstStyle/>
          <a:p>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Think of a development environment like </a:t>
            </a:r>
            <a:pPr>
              <a:lnSpc>
                <a:spcPct val="140000"/>
              </a:lnSpc>
            </a:pPr>
            <a:r>
              <a:rPr lang="en-US" sz="1200" b="1" dirty="0">
                <a:solidFill>
                  <a:srgbClr val="34C759"/>
                </a:solidFill>
                <a:latin typeface="Quattrocento Sans" pitchFamily="34" charset="0"/>
                <a:ea typeface="Quattrocento Sans" pitchFamily="34" charset="-122"/>
                <a:cs typeface="Quattrocento Sans" pitchFamily="34" charset="-120"/>
              </a:rPr>
              <a:t>a chef's kitchen</a:t>
            </a:r>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 Just as a chef needs a stove, knives, and ingredients, a developer needs an IDE, compilers, and testing tools to build apps.</a:t>
            </a:r>
            <a:endParaRPr lang="en-US" sz="1600" dirty="0"/>
          </a:p>
        </p:txBody>
      </p:sp>
      <p:sp>
        <p:nvSpPr>
          <p:cNvPr id="29" name="Shape 27"/>
          <p:cNvSpPr/>
          <p:nvPr/>
        </p:nvSpPr>
        <p:spPr>
          <a:xfrm>
            <a:off x="6210300" y="1257300"/>
            <a:ext cx="5600700" cy="3962400"/>
          </a:xfrm>
          <a:prstGeom prst="roundRect">
            <a:avLst>
              <a:gd name="adj" fmla="val 3846"/>
            </a:avLst>
          </a:prstGeom>
          <a:solidFill>
            <a:srgbClr val="2C2C2E"/>
          </a:solidFill>
          <a:ln/>
        </p:spPr>
      </p:sp>
      <p:sp>
        <p:nvSpPr>
          <p:cNvPr id="30" name="Shape 28"/>
          <p:cNvSpPr/>
          <p:nvPr/>
        </p:nvSpPr>
        <p:spPr>
          <a:xfrm>
            <a:off x="6467475" y="1523879"/>
            <a:ext cx="228600" cy="228600"/>
          </a:xfrm>
          <a:custGeom>
            <a:avLst/>
            <a:gdLst/>
            <a:ahLst/>
            <a:cxnLst/>
            <a:rect l="l" t="t" r="r" b="b"/>
            <a:pathLst>
              <a:path w="228600" h="228600">
                <a:moveTo>
                  <a:pt x="100013" y="0"/>
                </a:moveTo>
                <a:cubicBezTo>
                  <a:pt x="115773" y="0"/>
                  <a:pt x="128588" y="9599"/>
                  <a:pt x="128588" y="21431"/>
                </a:cubicBezTo>
                <a:cubicBezTo>
                  <a:pt x="128588" y="26075"/>
                  <a:pt x="126623" y="30361"/>
                  <a:pt x="123230" y="33888"/>
                </a:cubicBezTo>
                <a:cubicBezTo>
                  <a:pt x="120283" y="36969"/>
                  <a:pt x="117872" y="40719"/>
                  <a:pt x="117872" y="45006"/>
                </a:cubicBezTo>
                <a:cubicBezTo>
                  <a:pt x="117872" y="51703"/>
                  <a:pt x="123319" y="57150"/>
                  <a:pt x="130016" y="57150"/>
                </a:cubicBezTo>
                <a:lnTo>
                  <a:pt x="150019" y="57150"/>
                </a:lnTo>
                <a:cubicBezTo>
                  <a:pt x="161851" y="57150"/>
                  <a:pt x="171450" y="66749"/>
                  <a:pt x="171450" y="78581"/>
                </a:cubicBezTo>
                <a:lnTo>
                  <a:pt x="171450" y="98584"/>
                </a:lnTo>
                <a:cubicBezTo>
                  <a:pt x="171450" y="105281"/>
                  <a:pt x="176897" y="110728"/>
                  <a:pt x="183594" y="110728"/>
                </a:cubicBezTo>
                <a:cubicBezTo>
                  <a:pt x="187836" y="110728"/>
                  <a:pt x="191631" y="108317"/>
                  <a:pt x="194712" y="105370"/>
                </a:cubicBezTo>
                <a:cubicBezTo>
                  <a:pt x="198239" y="102022"/>
                  <a:pt x="202525" y="100013"/>
                  <a:pt x="207169" y="100013"/>
                </a:cubicBezTo>
                <a:cubicBezTo>
                  <a:pt x="219001" y="100013"/>
                  <a:pt x="228600" y="112827"/>
                  <a:pt x="228600" y="128588"/>
                </a:cubicBezTo>
                <a:cubicBezTo>
                  <a:pt x="228600" y="144348"/>
                  <a:pt x="219001" y="157163"/>
                  <a:pt x="207169" y="157163"/>
                </a:cubicBezTo>
                <a:cubicBezTo>
                  <a:pt x="202525" y="157163"/>
                  <a:pt x="198194" y="155198"/>
                  <a:pt x="194712" y="151805"/>
                </a:cubicBezTo>
                <a:cubicBezTo>
                  <a:pt x="191631" y="148858"/>
                  <a:pt x="187881" y="146447"/>
                  <a:pt x="183594" y="146447"/>
                </a:cubicBezTo>
                <a:cubicBezTo>
                  <a:pt x="176897" y="146447"/>
                  <a:pt x="171450" y="151894"/>
                  <a:pt x="171450" y="158591"/>
                </a:cubicBezTo>
                <a:lnTo>
                  <a:pt x="171450" y="207169"/>
                </a:lnTo>
                <a:cubicBezTo>
                  <a:pt x="171450" y="219001"/>
                  <a:pt x="161851" y="228600"/>
                  <a:pt x="150019" y="228600"/>
                </a:cubicBezTo>
                <a:lnTo>
                  <a:pt x="124658" y="228600"/>
                </a:lnTo>
                <a:cubicBezTo>
                  <a:pt x="118943" y="228600"/>
                  <a:pt x="114300" y="223957"/>
                  <a:pt x="114300" y="218242"/>
                </a:cubicBezTo>
                <a:cubicBezTo>
                  <a:pt x="114300" y="214134"/>
                  <a:pt x="116890" y="210517"/>
                  <a:pt x="120194" y="208062"/>
                </a:cubicBezTo>
                <a:cubicBezTo>
                  <a:pt x="125373" y="204177"/>
                  <a:pt x="128588" y="198819"/>
                  <a:pt x="128588" y="192881"/>
                </a:cubicBezTo>
                <a:cubicBezTo>
                  <a:pt x="128588" y="181049"/>
                  <a:pt x="115773" y="171450"/>
                  <a:pt x="100013" y="171450"/>
                </a:cubicBezTo>
                <a:cubicBezTo>
                  <a:pt x="84252" y="171450"/>
                  <a:pt x="71438" y="181049"/>
                  <a:pt x="71438" y="192881"/>
                </a:cubicBezTo>
                <a:cubicBezTo>
                  <a:pt x="71438" y="198819"/>
                  <a:pt x="74652" y="204177"/>
                  <a:pt x="79831" y="208062"/>
                </a:cubicBezTo>
                <a:cubicBezTo>
                  <a:pt x="83135" y="210517"/>
                  <a:pt x="85725" y="214089"/>
                  <a:pt x="85725" y="218242"/>
                </a:cubicBezTo>
                <a:cubicBezTo>
                  <a:pt x="85725" y="223957"/>
                  <a:pt x="81082" y="228600"/>
                  <a:pt x="75367" y="228600"/>
                </a:cubicBezTo>
                <a:lnTo>
                  <a:pt x="21431" y="228600"/>
                </a:lnTo>
                <a:cubicBezTo>
                  <a:pt x="9599" y="228600"/>
                  <a:pt x="0" y="219001"/>
                  <a:pt x="0" y="207169"/>
                </a:cubicBezTo>
                <a:lnTo>
                  <a:pt x="0" y="153233"/>
                </a:lnTo>
                <a:cubicBezTo>
                  <a:pt x="0" y="147518"/>
                  <a:pt x="4643" y="142875"/>
                  <a:pt x="10358" y="142875"/>
                </a:cubicBezTo>
                <a:cubicBezTo>
                  <a:pt x="14466" y="142875"/>
                  <a:pt x="18083" y="145465"/>
                  <a:pt x="20538" y="148769"/>
                </a:cubicBezTo>
                <a:cubicBezTo>
                  <a:pt x="24423" y="153948"/>
                  <a:pt x="29781" y="157163"/>
                  <a:pt x="35719" y="157163"/>
                </a:cubicBezTo>
                <a:cubicBezTo>
                  <a:pt x="47551" y="157163"/>
                  <a:pt x="57150" y="144348"/>
                  <a:pt x="57150" y="128588"/>
                </a:cubicBezTo>
                <a:cubicBezTo>
                  <a:pt x="57150" y="112827"/>
                  <a:pt x="47551" y="100013"/>
                  <a:pt x="35719" y="100013"/>
                </a:cubicBezTo>
                <a:cubicBezTo>
                  <a:pt x="29781" y="100013"/>
                  <a:pt x="24423" y="103227"/>
                  <a:pt x="20538" y="108406"/>
                </a:cubicBezTo>
                <a:cubicBezTo>
                  <a:pt x="18083" y="111710"/>
                  <a:pt x="14511" y="114300"/>
                  <a:pt x="10358" y="114300"/>
                </a:cubicBezTo>
                <a:cubicBezTo>
                  <a:pt x="4643" y="114300"/>
                  <a:pt x="0" y="109657"/>
                  <a:pt x="0" y="103942"/>
                </a:cubicBezTo>
                <a:lnTo>
                  <a:pt x="0" y="78581"/>
                </a:lnTo>
                <a:cubicBezTo>
                  <a:pt x="0" y="66749"/>
                  <a:pt x="9599" y="57150"/>
                  <a:pt x="21431" y="57150"/>
                </a:cubicBezTo>
                <a:lnTo>
                  <a:pt x="70009" y="57150"/>
                </a:lnTo>
                <a:cubicBezTo>
                  <a:pt x="76706" y="57150"/>
                  <a:pt x="82153" y="51703"/>
                  <a:pt x="82153" y="45006"/>
                </a:cubicBezTo>
                <a:cubicBezTo>
                  <a:pt x="82153" y="40764"/>
                  <a:pt x="79742" y="36969"/>
                  <a:pt x="76795" y="33888"/>
                </a:cubicBezTo>
                <a:cubicBezTo>
                  <a:pt x="73447" y="30361"/>
                  <a:pt x="71438" y="26075"/>
                  <a:pt x="71438" y="21431"/>
                </a:cubicBezTo>
                <a:cubicBezTo>
                  <a:pt x="71438" y="9599"/>
                  <a:pt x="84252" y="0"/>
                  <a:pt x="100013" y="0"/>
                </a:cubicBezTo>
                <a:close/>
              </a:path>
            </a:pathLst>
          </a:custGeom>
          <a:solidFill>
            <a:srgbClr val="34C759"/>
          </a:solidFill>
          <a:ln/>
        </p:spPr>
      </p:sp>
      <p:sp>
        <p:nvSpPr>
          <p:cNvPr id="31" name="Text 29"/>
          <p:cNvSpPr/>
          <p:nvPr/>
        </p:nvSpPr>
        <p:spPr>
          <a:xfrm>
            <a:off x="6724650" y="1485900"/>
            <a:ext cx="4972050" cy="304800"/>
          </a:xfrm>
          <a:prstGeom prst="rect">
            <a:avLst/>
          </a:prstGeom>
          <a:noFill/>
          <a:ln/>
        </p:spPr>
        <p:txBody>
          <a:bodyPr wrap="square" lIns="0" tIns="0" rIns="0" bIns="0" rtlCol="0" anchor="ctr"/>
          <a:lstStyle/>
          <a:p>
            <a:pPr>
              <a:lnSpc>
                <a:spcPct val="110000"/>
              </a:lnSpc>
            </a:pPr>
            <a:r>
              <a:rPr lang="en-US" sz="1800" b="1" dirty="0">
                <a:solidFill>
                  <a:srgbClr val="34C759"/>
                </a:solidFill>
                <a:latin typeface="Liter" pitchFamily="34" charset="0"/>
                <a:ea typeface="Liter" pitchFamily="34" charset="-122"/>
                <a:cs typeface="Liter" pitchFamily="34" charset="-120"/>
              </a:rPr>
              <a:t>Components</a:t>
            </a:r>
            <a:endParaRPr lang="en-US" sz="1600" dirty="0"/>
          </a:p>
        </p:txBody>
      </p:sp>
      <p:sp>
        <p:nvSpPr>
          <p:cNvPr id="32" name="Shape 30"/>
          <p:cNvSpPr/>
          <p:nvPr/>
        </p:nvSpPr>
        <p:spPr>
          <a:xfrm>
            <a:off x="6438900" y="1987395"/>
            <a:ext cx="5143500" cy="990600"/>
          </a:xfrm>
          <a:prstGeom prst="roundRect">
            <a:avLst>
              <a:gd name="adj" fmla="val 11538"/>
            </a:avLst>
          </a:prstGeom>
          <a:solidFill>
            <a:srgbClr val="1A1D21"/>
          </a:solidFill>
          <a:ln/>
        </p:spPr>
      </p:sp>
      <p:sp>
        <p:nvSpPr>
          <p:cNvPr id="33" name="Shape 31"/>
          <p:cNvSpPr/>
          <p:nvPr/>
        </p:nvSpPr>
        <p:spPr>
          <a:xfrm>
            <a:off x="6591300" y="2139795"/>
            <a:ext cx="381000" cy="381000"/>
          </a:xfrm>
          <a:prstGeom prst="roundRect">
            <a:avLst>
              <a:gd name="adj" fmla="val 20000"/>
            </a:avLst>
          </a:prstGeom>
          <a:solidFill>
            <a:srgbClr val="34C759"/>
          </a:solidFill>
          <a:ln/>
        </p:spPr>
      </p:sp>
      <p:sp>
        <p:nvSpPr>
          <p:cNvPr id="34" name="Shape 32"/>
          <p:cNvSpPr/>
          <p:nvPr/>
        </p:nvSpPr>
        <p:spPr>
          <a:xfrm>
            <a:off x="6705600" y="2254095"/>
            <a:ext cx="152400" cy="152400"/>
          </a:xfrm>
          <a:custGeom>
            <a:avLst/>
            <a:gdLst/>
            <a:ahLst/>
            <a:cxnLst/>
            <a:rect l="l" t="t" r="r" b="b"/>
            <a:pathLst>
              <a:path w="152400" h="152400">
                <a:moveTo>
                  <a:pt x="140375" y="6459"/>
                </a:moveTo>
                <a:cubicBezTo>
                  <a:pt x="133856" y="-60"/>
                  <a:pt x="123319" y="-60"/>
                  <a:pt x="116800" y="6459"/>
                </a:cubicBezTo>
                <a:lnTo>
                  <a:pt x="109537" y="13722"/>
                </a:lnTo>
                <a:lnTo>
                  <a:pt x="138678" y="42863"/>
                </a:lnTo>
                <a:lnTo>
                  <a:pt x="145941" y="35600"/>
                </a:lnTo>
                <a:cubicBezTo>
                  <a:pt x="152460" y="29081"/>
                  <a:pt x="152460" y="18544"/>
                  <a:pt x="145941" y="12025"/>
                </a:cubicBezTo>
                <a:lnTo>
                  <a:pt x="140375" y="6459"/>
                </a:lnTo>
                <a:close/>
                <a:moveTo>
                  <a:pt x="51316" y="71944"/>
                </a:moveTo>
                <a:cubicBezTo>
                  <a:pt x="49500" y="73759"/>
                  <a:pt x="48101" y="75992"/>
                  <a:pt x="47298" y="78462"/>
                </a:cubicBezTo>
                <a:lnTo>
                  <a:pt x="38487" y="104894"/>
                </a:lnTo>
                <a:cubicBezTo>
                  <a:pt x="37624" y="107454"/>
                  <a:pt x="38308" y="110282"/>
                  <a:pt x="40213" y="112216"/>
                </a:cubicBezTo>
                <a:cubicBezTo>
                  <a:pt x="42118" y="114151"/>
                  <a:pt x="44946" y="114806"/>
                  <a:pt x="47536" y="113943"/>
                </a:cubicBezTo>
                <a:lnTo>
                  <a:pt x="73968" y="105132"/>
                </a:lnTo>
                <a:cubicBezTo>
                  <a:pt x="76408" y="104329"/>
                  <a:pt x="78641" y="102930"/>
                  <a:pt x="80486" y="101114"/>
                </a:cubicBezTo>
                <a:lnTo>
                  <a:pt x="128588" y="52953"/>
                </a:lnTo>
                <a:lnTo>
                  <a:pt x="99447" y="23813"/>
                </a:lnTo>
                <a:lnTo>
                  <a:pt x="51316" y="71944"/>
                </a:lnTo>
                <a:close/>
                <a:moveTo>
                  <a:pt x="28575" y="19050"/>
                </a:moveTo>
                <a:cubicBezTo>
                  <a:pt x="12799" y="19050"/>
                  <a:pt x="0" y="31849"/>
                  <a:pt x="0" y="47625"/>
                </a:cubicBezTo>
                <a:lnTo>
                  <a:pt x="0" y="123825"/>
                </a:lnTo>
                <a:cubicBezTo>
                  <a:pt x="0" y="139601"/>
                  <a:pt x="12799" y="152400"/>
                  <a:pt x="28575" y="152400"/>
                </a:cubicBezTo>
                <a:lnTo>
                  <a:pt x="104775" y="152400"/>
                </a:lnTo>
                <a:cubicBezTo>
                  <a:pt x="120551" y="152400"/>
                  <a:pt x="133350" y="139601"/>
                  <a:pt x="133350" y="123825"/>
                </a:cubicBezTo>
                <a:lnTo>
                  <a:pt x="133350" y="95250"/>
                </a:lnTo>
                <a:cubicBezTo>
                  <a:pt x="133350" y="89981"/>
                  <a:pt x="129094" y="85725"/>
                  <a:pt x="123825" y="85725"/>
                </a:cubicBezTo>
                <a:cubicBezTo>
                  <a:pt x="118556" y="85725"/>
                  <a:pt x="114300" y="89981"/>
                  <a:pt x="114300" y="95250"/>
                </a:cubicBezTo>
                <a:lnTo>
                  <a:pt x="114300" y="123825"/>
                </a:lnTo>
                <a:cubicBezTo>
                  <a:pt x="114300" y="129094"/>
                  <a:pt x="110044" y="133350"/>
                  <a:pt x="104775" y="133350"/>
                </a:cubicBezTo>
                <a:lnTo>
                  <a:pt x="28575" y="133350"/>
                </a:lnTo>
                <a:cubicBezTo>
                  <a:pt x="23306" y="133350"/>
                  <a:pt x="19050" y="129094"/>
                  <a:pt x="19050" y="123825"/>
                </a:cubicBezTo>
                <a:lnTo>
                  <a:pt x="19050" y="47625"/>
                </a:lnTo>
                <a:cubicBezTo>
                  <a:pt x="19050" y="42356"/>
                  <a:pt x="23306" y="38100"/>
                  <a:pt x="28575" y="38100"/>
                </a:cubicBezTo>
                <a:lnTo>
                  <a:pt x="57150" y="38100"/>
                </a:lnTo>
                <a:cubicBezTo>
                  <a:pt x="62419" y="38100"/>
                  <a:pt x="66675" y="33844"/>
                  <a:pt x="66675" y="28575"/>
                </a:cubicBezTo>
                <a:cubicBezTo>
                  <a:pt x="66675" y="23306"/>
                  <a:pt x="62419" y="19050"/>
                  <a:pt x="57150" y="19050"/>
                </a:cubicBezTo>
                <a:lnTo>
                  <a:pt x="28575" y="19050"/>
                </a:lnTo>
                <a:close/>
              </a:path>
            </a:pathLst>
          </a:custGeom>
          <a:solidFill>
            <a:srgbClr val="1D1D1F"/>
          </a:solidFill>
          <a:ln/>
        </p:spPr>
      </p:sp>
      <p:sp>
        <p:nvSpPr>
          <p:cNvPr id="35" name="Text 33"/>
          <p:cNvSpPr/>
          <p:nvPr/>
        </p:nvSpPr>
        <p:spPr>
          <a:xfrm>
            <a:off x="7086600" y="2196945"/>
            <a:ext cx="981075" cy="266700"/>
          </a:xfrm>
          <a:prstGeom prst="rect">
            <a:avLst/>
          </a:prstGeom>
          <a:noFill/>
          <a:ln/>
        </p:spPr>
        <p:txBody>
          <a:bodyPr wrap="square" lIns="0" tIns="0" rIns="0" bIns="0" rtlCol="0" anchor="ctr"/>
          <a:lstStyle/>
          <a:p>
            <a:pPr>
              <a:lnSpc>
                <a:spcPct val="130000"/>
              </a:lnSpc>
            </a:pPr>
            <a:r>
              <a:rPr lang="en-US" sz="1350" b="1" dirty="0">
                <a:solidFill>
                  <a:srgbClr val="34C759"/>
                </a:solidFill>
                <a:latin typeface="Liter" pitchFamily="34" charset="0"/>
                <a:ea typeface="Liter" pitchFamily="34" charset="-122"/>
                <a:cs typeface="Liter" pitchFamily="34" charset="-120"/>
              </a:rPr>
              <a:t>Code Editor</a:t>
            </a:r>
            <a:endParaRPr lang="en-US" sz="1600" dirty="0"/>
          </a:p>
        </p:txBody>
      </p:sp>
      <p:sp>
        <p:nvSpPr>
          <p:cNvPr id="36" name="Text 34"/>
          <p:cNvSpPr/>
          <p:nvPr/>
        </p:nvSpPr>
        <p:spPr>
          <a:xfrm>
            <a:off x="6591300" y="2596995"/>
            <a:ext cx="49149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Where you write and edit your code. Like a text editor but smarter.</a:t>
            </a:r>
            <a:endParaRPr lang="en-US" sz="1600" dirty="0"/>
          </a:p>
        </p:txBody>
      </p:sp>
      <p:sp>
        <p:nvSpPr>
          <p:cNvPr id="37" name="Shape 35"/>
          <p:cNvSpPr/>
          <p:nvPr/>
        </p:nvSpPr>
        <p:spPr>
          <a:xfrm>
            <a:off x="6438900" y="2990738"/>
            <a:ext cx="5143500" cy="990600"/>
          </a:xfrm>
          <a:prstGeom prst="roundRect">
            <a:avLst>
              <a:gd name="adj" fmla="val 11538"/>
            </a:avLst>
          </a:prstGeom>
          <a:solidFill>
            <a:srgbClr val="1A1D21"/>
          </a:solidFill>
          <a:ln/>
        </p:spPr>
      </p:sp>
      <p:sp>
        <p:nvSpPr>
          <p:cNvPr id="38" name="Shape 36"/>
          <p:cNvSpPr/>
          <p:nvPr/>
        </p:nvSpPr>
        <p:spPr>
          <a:xfrm>
            <a:off x="6591300" y="3143138"/>
            <a:ext cx="381000" cy="381000"/>
          </a:xfrm>
          <a:prstGeom prst="roundRect">
            <a:avLst>
              <a:gd name="adj" fmla="val 20000"/>
            </a:avLst>
          </a:prstGeom>
          <a:solidFill>
            <a:srgbClr val="0A84FF"/>
          </a:solidFill>
          <a:ln/>
        </p:spPr>
      </p:sp>
      <p:sp>
        <p:nvSpPr>
          <p:cNvPr id="39" name="Shape 37"/>
          <p:cNvSpPr/>
          <p:nvPr/>
        </p:nvSpPr>
        <p:spPr>
          <a:xfrm>
            <a:off x="6686550" y="3257438"/>
            <a:ext cx="190500" cy="152400"/>
          </a:xfrm>
          <a:custGeom>
            <a:avLst/>
            <a:gdLst/>
            <a:ahLst/>
            <a:cxnLst/>
            <a:rect l="l" t="t" r="r" b="b"/>
            <a:pathLst>
              <a:path w="190500" h="152400">
                <a:moveTo>
                  <a:pt x="123795" y="62657"/>
                </a:moveTo>
                <a:cubicBezTo>
                  <a:pt x="127427" y="61674"/>
                  <a:pt x="131237" y="63401"/>
                  <a:pt x="132874" y="66764"/>
                </a:cubicBezTo>
                <a:lnTo>
                  <a:pt x="138410" y="77956"/>
                </a:lnTo>
                <a:cubicBezTo>
                  <a:pt x="141476" y="78373"/>
                  <a:pt x="144482" y="79206"/>
                  <a:pt x="147310" y="80367"/>
                </a:cubicBezTo>
                <a:lnTo>
                  <a:pt x="157728" y="73432"/>
                </a:lnTo>
                <a:cubicBezTo>
                  <a:pt x="160853" y="71348"/>
                  <a:pt x="164991" y="71765"/>
                  <a:pt x="167640" y="74414"/>
                </a:cubicBezTo>
                <a:lnTo>
                  <a:pt x="173355" y="80129"/>
                </a:lnTo>
                <a:cubicBezTo>
                  <a:pt x="176004" y="82778"/>
                  <a:pt x="176421" y="86945"/>
                  <a:pt x="174337" y="90041"/>
                </a:cubicBezTo>
                <a:lnTo>
                  <a:pt x="167402" y="100429"/>
                </a:lnTo>
                <a:cubicBezTo>
                  <a:pt x="167967" y="101828"/>
                  <a:pt x="168473" y="103287"/>
                  <a:pt x="168890" y="104805"/>
                </a:cubicBezTo>
                <a:cubicBezTo>
                  <a:pt x="169307" y="106323"/>
                  <a:pt x="169575" y="107811"/>
                  <a:pt x="169783" y="109329"/>
                </a:cubicBezTo>
                <a:lnTo>
                  <a:pt x="181005" y="114866"/>
                </a:lnTo>
                <a:cubicBezTo>
                  <a:pt x="184368" y="116532"/>
                  <a:pt x="186095" y="120342"/>
                  <a:pt x="185112" y="123944"/>
                </a:cubicBezTo>
                <a:lnTo>
                  <a:pt x="183029" y="131743"/>
                </a:lnTo>
                <a:cubicBezTo>
                  <a:pt x="182047" y="135344"/>
                  <a:pt x="178683" y="137785"/>
                  <a:pt x="174933" y="137547"/>
                </a:cubicBezTo>
                <a:lnTo>
                  <a:pt x="162431" y="136743"/>
                </a:lnTo>
                <a:cubicBezTo>
                  <a:pt x="160556" y="139154"/>
                  <a:pt x="158383" y="141387"/>
                  <a:pt x="155912" y="143292"/>
                </a:cubicBezTo>
                <a:lnTo>
                  <a:pt x="156716" y="155764"/>
                </a:lnTo>
                <a:cubicBezTo>
                  <a:pt x="156954" y="159514"/>
                  <a:pt x="154513" y="162907"/>
                  <a:pt x="150912" y="163860"/>
                </a:cubicBezTo>
                <a:lnTo>
                  <a:pt x="143113" y="165943"/>
                </a:lnTo>
                <a:cubicBezTo>
                  <a:pt x="139482" y="166926"/>
                  <a:pt x="135701" y="165199"/>
                  <a:pt x="134035" y="161836"/>
                </a:cubicBezTo>
                <a:lnTo>
                  <a:pt x="128498" y="150644"/>
                </a:lnTo>
                <a:cubicBezTo>
                  <a:pt x="125432" y="150227"/>
                  <a:pt x="122426" y="149394"/>
                  <a:pt x="119598" y="148233"/>
                </a:cubicBezTo>
                <a:lnTo>
                  <a:pt x="109180" y="155168"/>
                </a:lnTo>
                <a:cubicBezTo>
                  <a:pt x="106055" y="157252"/>
                  <a:pt x="101918" y="156835"/>
                  <a:pt x="99268" y="154186"/>
                </a:cubicBezTo>
                <a:lnTo>
                  <a:pt x="93553" y="148471"/>
                </a:lnTo>
                <a:cubicBezTo>
                  <a:pt x="90904" y="145822"/>
                  <a:pt x="90488" y="141684"/>
                  <a:pt x="92571" y="138559"/>
                </a:cubicBezTo>
                <a:lnTo>
                  <a:pt x="99506" y="128141"/>
                </a:lnTo>
                <a:cubicBezTo>
                  <a:pt x="98941" y="126742"/>
                  <a:pt x="98435" y="125284"/>
                  <a:pt x="98018" y="123765"/>
                </a:cubicBezTo>
                <a:cubicBezTo>
                  <a:pt x="97601" y="122247"/>
                  <a:pt x="97334" y="120729"/>
                  <a:pt x="97125" y="119241"/>
                </a:cubicBezTo>
                <a:lnTo>
                  <a:pt x="85904" y="113705"/>
                </a:lnTo>
                <a:cubicBezTo>
                  <a:pt x="82540" y="112038"/>
                  <a:pt x="80843" y="108228"/>
                  <a:pt x="81796" y="104626"/>
                </a:cubicBezTo>
                <a:lnTo>
                  <a:pt x="83880" y="96828"/>
                </a:lnTo>
                <a:cubicBezTo>
                  <a:pt x="84862" y="93226"/>
                  <a:pt x="88225" y="90785"/>
                  <a:pt x="91976" y="91023"/>
                </a:cubicBezTo>
                <a:lnTo>
                  <a:pt x="104448" y="91827"/>
                </a:lnTo>
                <a:cubicBezTo>
                  <a:pt x="106323" y="89416"/>
                  <a:pt x="108496" y="87184"/>
                  <a:pt x="110966" y="85279"/>
                </a:cubicBezTo>
                <a:lnTo>
                  <a:pt x="110163" y="72836"/>
                </a:lnTo>
                <a:cubicBezTo>
                  <a:pt x="109924" y="69086"/>
                  <a:pt x="112365" y="65693"/>
                  <a:pt x="115967" y="64740"/>
                </a:cubicBezTo>
                <a:lnTo>
                  <a:pt x="123765" y="62657"/>
                </a:lnTo>
                <a:close/>
                <a:moveTo>
                  <a:pt x="133469" y="101203"/>
                </a:moveTo>
                <a:cubicBezTo>
                  <a:pt x="126241" y="101211"/>
                  <a:pt x="120379" y="107087"/>
                  <a:pt x="120387" y="114315"/>
                </a:cubicBezTo>
                <a:cubicBezTo>
                  <a:pt x="120395" y="121543"/>
                  <a:pt x="126270" y="127405"/>
                  <a:pt x="133499" y="127397"/>
                </a:cubicBezTo>
                <a:cubicBezTo>
                  <a:pt x="140727" y="127389"/>
                  <a:pt x="146589" y="121513"/>
                  <a:pt x="146581" y="114285"/>
                </a:cubicBezTo>
                <a:cubicBezTo>
                  <a:pt x="146573" y="107057"/>
                  <a:pt x="140697" y="101195"/>
                  <a:pt x="133469" y="101203"/>
                </a:cubicBezTo>
                <a:close/>
                <a:moveTo>
                  <a:pt x="66943" y="-13543"/>
                </a:moveTo>
                <a:lnTo>
                  <a:pt x="74741" y="-11460"/>
                </a:lnTo>
                <a:cubicBezTo>
                  <a:pt x="78343" y="-10477"/>
                  <a:pt x="80784" y="-7084"/>
                  <a:pt x="80546" y="-3364"/>
                </a:cubicBezTo>
                <a:lnTo>
                  <a:pt x="79742" y="9079"/>
                </a:lnTo>
                <a:cubicBezTo>
                  <a:pt x="82213" y="10984"/>
                  <a:pt x="84386" y="13186"/>
                  <a:pt x="86261" y="15627"/>
                </a:cubicBezTo>
                <a:lnTo>
                  <a:pt x="98762" y="14823"/>
                </a:lnTo>
                <a:cubicBezTo>
                  <a:pt x="102483" y="14585"/>
                  <a:pt x="105876" y="17026"/>
                  <a:pt x="106859" y="20628"/>
                </a:cubicBezTo>
                <a:lnTo>
                  <a:pt x="108942" y="28426"/>
                </a:lnTo>
                <a:cubicBezTo>
                  <a:pt x="109895" y="32028"/>
                  <a:pt x="108198" y="35838"/>
                  <a:pt x="104835" y="37505"/>
                </a:cubicBezTo>
                <a:lnTo>
                  <a:pt x="93613" y="43041"/>
                </a:lnTo>
                <a:cubicBezTo>
                  <a:pt x="93405" y="44559"/>
                  <a:pt x="93107" y="46077"/>
                  <a:pt x="92720" y="47565"/>
                </a:cubicBezTo>
                <a:cubicBezTo>
                  <a:pt x="92333" y="49054"/>
                  <a:pt x="91797" y="50542"/>
                  <a:pt x="91232" y="51941"/>
                </a:cubicBezTo>
                <a:lnTo>
                  <a:pt x="98167" y="62359"/>
                </a:lnTo>
                <a:cubicBezTo>
                  <a:pt x="100251" y="65484"/>
                  <a:pt x="99834" y="69622"/>
                  <a:pt x="97185" y="72271"/>
                </a:cubicBezTo>
                <a:lnTo>
                  <a:pt x="91470" y="77986"/>
                </a:lnTo>
                <a:cubicBezTo>
                  <a:pt x="88821" y="80635"/>
                  <a:pt x="84683" y="81052"/>
                  <a:pt x="81558" y="78968"/>
                </a:cubicBezTo>
                <a:lnTo>
                  <a:pt x="71140" y="72033"/>
                </a:lnTo>
                <a:cubicBezTo>
                  <a:pt x="68312" y="73194"/>
                  <a:pt x="65306" y="74027"/>
                  <a:pt x="62240" y="74444"/>
                </a:cubicBezTo>
                <a:lnTo>
                  <a:pt x="56704" y="85636"/>
                </a:lnTo>
                <a:cubicBezTo>
                  <a:pt x="55037" y="88999"/>
                  <a:pt x="51227" y="90696"/>
                  <a:pt x="47625" y="89743"/>
                </a:cubicBezTo>
                <a:lnTo>
                  <a:pt x="39826" y="87660"/>
                </a:lnTo>
                <a:cubicBezTo>
                  <a:pt x="36195" y="86678"/>
                  <a:pt x="33784" y="83284"/>
                  <a:pt x="34022" y="79564"/>
                </a:cubicBezTo>
                <a:lnTo>
                  <a:pt x="34826" y="67092"/>
                </a:lnTo>
                <a:cubicBezTo>
                  <a:pt x="32355" y="65187"/>
                  <a:pt x="30182" y="62984"/>
                  <a:pt x="28307" y="60543"/>
                </a:cubicBezTo>
                <a:lnTo>
                  <a:pt x="15806" y="61347"/>
                </a:lnTo>
                <a:cubicBezTo>
                  <a:pt x="12085" y="61585"/>
                  <a:pt x="8692" y="59144"/>
                  <a:pt x="7709" y="55543"/>
                </a:cubicBezTo>
                <a:lnTo>
                  <a:pt x="5626" y="47744"/>
                </a:lnTo>
                <a:cubicBezTo>
                  <a:pt x="4673" y="44142"/>
                  <a:pt x="6370" y="40332"/>
                  <a:pt x="9733" y="38666"/>
                </a:cubicBezTo>
                <a:lnTo>
                  <a:pt x="20955" y="33129"/>
                </a:lnTo>
                <a:cubicBezTo>
                  <a:pt x="21163" y="31611"/>
                  <a:pt x="21461" y="30123"/>
                  <a:pt x="21848" y="28605"/>
                </a:cubicBezTo>
                <a:cubicBezTo>
                  <a:pt x="22265" y="27087"/>
                  <a:pt x="22741" y="25628"/>
                  <a:pt x="23336" y="24229"/>
                </a:cubicBezTo>
                <a:lnTo>
                  <a:pt x="16401" y="13841"/>
                </a:lnTo>
                <a:cubicBezTo>
                  <a:pt x="14317" y="10716"/>
                  <a:pt x="14734" y="6578"/>
                  <a:pt x="17383" y="3929"/>
                </a:cubicBezTo>
                <a:lnTo>
                  <a:pt x="23098" y="-1786"/>
                </a:lnTo>
                <a:cubicBezTo>
                  <a:pt x="25747" y="-4435"/>
                  <a:pt x="29885" y="-4852"/>
                  <a:pt x="33010" y="-2768"/>
                </a:cubicBezTo>
                <a:lnTo>
                  <a:pt x="43428" y="4167"/>
                </a:lnTo>
                <a:cubicBezTo>
                  <a:pt x="46256" y="3006"/>
                  <a:pt x="49262" y="2173"/>
                  <a:pt x="52328" y="1756"/>
                </a:cubicBezTo>
                <a:lnTo>
                  <a:pt x="57864" y="-9436"/>
                </a:lnTo>
                <a:cubicBezTo>
                  <a:pt x="59531" y="-12799"/>
                  <a:pt x="63311" y="-14496"/>
                  <a:pt x="66943" y="-13543"/>
                </a:cubicBezTo>
                <a:close/>
                <a:moveTo>
                  <a:pt x="57269" y="25003"/>
                </a:moveTo>
                <a:cubicBezTo>
                  <a:pt x="50041" y="25003"/>
                  <a:pt x="44172" y="30872"/>
                  <a:pt x="44172" y="38100"/>
                </a:cubicBezTo>
                <a:cubicBezTo>
                  <a:pt x="44172" y="45328"/>
                  <a:pt x="50041" y="51197"/>
                  <a:pt x="57269" y="51197"/>
                </a:cubicBezTo>
                <a:cubicBezTo>
                  <a:pt x="64497" y="51197"/>
                  <a:pt x="70366" y="45328"/>
                  <a:pt x="70366" y="38100"/>
                </a:cubicBezTo>
                <a:cubicBezTo>
                  <a:pt x="70366" y="30872"/>
                  <a:pt x="64497" y="25003"/>
                  <a:pt x="57269" y="25003"/>
                </a:cubicBezTo>
                <a:close/>
              </a:path>
            </a:pathLst>
          </a:custGeom>
          <a:solidFill>
            <a:srgbClr val="FFFFFF"/>
          </a:solidFill>
          <a:ln/>
        </p:spPr>
      </p:sp>
      <p:sp>
        <p:nvSpPr>
          <p:cNvPr id="40" name="Text 38"/>
          <p:cNvSpPr/>
          <p:nvPr/>
        </p:nvSpPr>
        <p:spPr>
          <a:xfrm>
            <a:off x="7086600" y="3200288"/>
            <a:ext cx="781050" cy="266700"/>
          </a:xfrm>
          <a:prstGeom prst="rect">
            <a:avLst/>
          </a:prstGeom>
          <a:noFill/>
          <a:ln/>
        </p:spPr>
        <p:txBody>
          <a:bodyPr wrap="square" lIns="0" tIns="0" rIns="0" bIns="0" rtlCol="0" anchor="ctr"/>
          <a:lstStyle/>
          <a:p>
            <a:pPr>
              <a:lnSpc>
                <a:spcPct val="130000"/>
              </a:lnSpc>
            </a:pPr>
            <a:r>
              <a:rPr lang="en-US" sz="1350" b="1" dirty="0">
                <a:solidFill>
                  <a:srgbClr val="0A84FF"/>
                </a:solidFill>
                <a:latin typeface="Liter" pitchFamily="34" charset="0"/>
                <a:ea typeface="Liter" pitchFamily="34" charset="-122"/>
                <a:cs typeface="Liter" pitchFamily="34" charset="-120"/>
              </a:rPr>
              <a:t>Compiler</a:t>
            </a:r>
            <a:endParaRPr lang="en-US" sz="1600" dirty="0"/>
          </a:p>
        </p:txBody>
      </p:sp>
      <p:sp>
        <p:nvSpPr>
          <p:cNvPr id="41" name="Text 39"/>
          <p:cNvSpPr/>
          <p:nvPr/>
        </p:nvSpPr>
        <p:spPr>
          <a:xfrm>
            <a:off x="6591300" y="3600338"/>
            <a:ext cx="49149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Translates your code into language the computer understands.</a:t>
            </a:r>
            <a:endParaRPr lang="en-US" sz="1600" dirty="0"/>
          </a:p>
        </p:txBody>
      </p:sp>
      <p:sp>
        <p:nvSpPr>
          <p:cNvPr id="42" name="Shape 40"/>
          <p:cNvSpPr/>
          <p:nvPr/>
        </p:nvSpPr>
        <p:spPr>
          <a:xfrm>
            <a:off x="6438900" y="3994082"/>
            <a:ext cx="5143500" cy="990600"/>
          </a:xfrm>
          <a:prstGeom prst="roundRect">
            <a:avLst>
              <a:gd name="adj" fmla="val 11538"/>
            </a:avLst>
          </a:prstGeom>
          <a:solidFill>
            <a:srgbClr val="1A1D21"/>
          </a:solidFill>
          <a:ln/>
        </p:spPr>
      </p:sp>
      <p:sp>
        <p:nvSpPr>
          <p:cNvPr id="43" name="Shape 41"/>
          <p:cNvSpPr/>
          <p:nvPr/>
        </p:nvSpPr>
        <p:spPr>
          <a:xfrm>
            <a:off x="6591300" y="4146482"/>
            <a:ext cx="381000" cy="381000"/>
          </a:xfrm>
          <a:prstGeom prst="roundRect">
            <a:avLst>
              <a:gd name="adj" fmla="val 20000"/>
            </a:avLst>
          </a:prstGeom>
          <a:solidFill>
            <a:srgbClr val="8E8E93"/>
          </a:solidFill>
          <a:ln/>
        </p:spPr>
      </p:sp>
      <p:sp>
        <p:nvSpPr>
          <p:cNvPr id="44" name="Shape 42"/>
          <p:cNvSpPr/>
          <p:nvPr/>
        </p:nvSpPr>
        <p:spPr>
          <a:xfrm>
            <a:off x="6696075" y="4260782"/>
            <a:ext cx="171450" cy="152400"/>
          </a:xfrm>
          <a:custGeom>
            <a:avLst/>
            <a:gdLst/>
            <a:ahLst/>
            <a:cxnLst/>
            <a:rect l="l" t="t" r="r" b="b"/>
            <a:pathLst>
              <a:path w="171450" h="152400">
                <a:moveTo>
                  <a:pt x="57150" y="28575"/>
                </a:moveTo>
                <a:cubicBezTo>
                  <a:pt x="57150" y="12799"/>
                  <a:pt x="69949" y="0"/>
                  <a:pt x="85725" y="0"/>
                </a:cubicBezTo>
                <a:cubicBezTo>
                  <a:pt x="101501" y="0"/>
                  <a:pt x="114300" y="12799"/>
                  <a:pt x="114300" y="28575"/>
                </a:cubicBezTo>
                <a:lnTo>
                  <a:pt x="114300" y="29647"/>
                </a:lnTo>
                <a:cubicBezTo>
                  <a:pt x="114300" y="34320"/>
                  <a:pt x="110520" y="38100"/>
                  <a:pt x="105847" y="38100"/>
                </a:cubicBezTo>
                <a:lnTo>
                  <a:pt x="65633" y="38100"/>
                </a:lnTo>
                <a:cubicBezTo>
                  <a:pt x="60960" y="38100"/>
                  <a:pt x="57180" y="34320"/>
                  <a:pt x="57180" y="29647"/>
                </a:cubicBezTo>
                <a:lnTo>
                  <a:pt x="57180" y="28575"/>
                </a:lnTo>
                <a:close/>
                <a:moveTo>
                  <a:pt x="160020" y="32385"/>
                </a:moveTo>
                <a:cubicBezTo>
                  <a:pt x="163175" y="36582"/>
                  <a:pt x="162312" y="42565"/>
                  <a:pt x="158115" y="45720"/>
                </a:cubicBezTo>
                <a:lnTo>
                  <a:pt x="129004" y="67538"/>
                </a:lnTo>
                <a:cubicBezTo>
                  <a:pt x="130582" y="70187"/>
                  <a:pt x="131772" y="73104"/>
                  <a:pt x="132517" y="76200"/>
                </a:cubicBezTo>
                <a:lnTo>
                  <a:pt x="161925" y="76200"/>
                </a:lnTo>
                <a:cubicBezTo>
                  <a:pt x="167194" y="76200"/>
                  <a:pt x="171450" y="80456"/>
                  <a:pt x="171450" y="85725"/>
                </a:cubicBezTo>
                <a:cubicBezTo>
                  <a:pt x="171450" y="90994"/>
                  <a:pt x="167194" y="95250"/>
                  <a:pt x="161925" y="95250"/>
                </a:cubicBezTo>
                <a:lnTo>
                  <a:pt x="133350" y="95250"/>
                </a:lnTo>
                <a:lnTo>
                  <a:pt x="133350" y="104775"/>
                </a:lnTo>
                <a:cubicBezTo>
                  <a:pt x="133350" y="105549"/>
                  <a:pt x="133320" y="106353"/>
                  <a:pt x="133290" y="107126"/>
                </a:cubicBezTo>
                <a:lnTo>
                  <a:pt x="158115" y="125730"/>
                </a:lnTo>
                <a:cubicBezTo>
                  <a:pt x="162312" y="128885"/>
                  <a:pt x="163175" y="134868"/>
                  <a:pt x="160020" y="139065"/>
                </a:cubicBezTo>
                <a:cubicBezTo>
                  <a:pt x="156865" y="143262"/>
                  <a:pt x="150882" y="144125"/>
                  <a:pt x="146685" y="140970"/>
                </a:cubicBezTo>
                <a:lnTo>
                  <a:pt x="127903" y="126891"/>
                </a:lnTo>
                <a:cubicBezTo>
                  <a:pt x="120997" y="140047"/>
                  <a:pt x="108109" y="149572"/>
                  <a:pt x="92869" y="151864"/>
                </a:cubicBezTo>
                <a:lnTo>
                  <a:pt x="92869" y="83344"/>
                </a:lnTo>
                <a:cubicBezTo>
                  <a:pt x="92869" y="79385"/>
                  <a:pt x="89684" y="76200"/>
                  <a:pt x="85725" y="76200"/>
                </a:cubicBezTo>
                <a:cubicBezTo>
                  <a:pt x="81766" y="76200"/>
                  <a:pt x="78581" y="79385"/>
                  <a:pt x="78581" y="83344"/>
                </a:cubicBezTo>
                <a:lnTo>
                  <a:pt x="78581" y="151864"/>
                </a:lnTo>
                <a:cubicBezTo>
                  <a:pt x="63341" y="149572"/>
                  <a:pt x="50453" y="140047"/>
                  <a:pt x="43547" y="126891"/>
                </a:cubicBezTo>
                <a:lnTo>
                  <a:pt x="24765" y="140970"/>
                </a:lnTo>
                <a:cubicBezTo>
                  <a:pt x="20568" y="144125"/>
                  <a:pt x="14585" y="143262"/>
                  <a:pt x="11430" y="139065"/>
                </a:cubicBezTo>
                <a:cubicBezTo>
                  <a:pt x="8275" y="134868"/>
                  <a:pt x="9138" y="128885"/>
                  <a:pt x="13335" y="125730"/>
                </a:cubicBezTo>
                <a:lnTo>
                  <a:pt x="38160" y="107126"/>
                </a:lnTo>
                <a:cubicBezTo>
                  <a:pt x="38130" y="106353"/>
                  <a:pt x="38100" y="105579"/>
                  <a:pt x="38100" y="104775"/>
                </a:cubicBezTo>
                <a:lnTo>
                  <a:pt x="38100" y="95250"/>
                </a:lnTo>
                <a:lnTo>
                  <a:pt x="9525" y="95250"/>
                </a:lnTo>
                <a:cubicBezTo>
                  <a:pt x="4256" y="95250"/>
                  <a:pt x="0" y="90994"/>
                  <a:pt x="0" y="85725"/>
                </a:cubicBezTo>
                <a:cubicBezTo>
                  <a:pt x="0" y="80456"/>
                  <a:pt x="4256" y="76200"/>
                  <a:pt x="9525" y="76200"/>
                </a:cubicBezTo>
                <a:lnTo>
                  <a:pt x="38933" y="76200"/>
                </a:lnTo>
                <a:cubicBezTo>
                  <a:pt x="39678" y="73104"/>
                  <a:pt x="40868" y="70187"/>
                  <a:pt x="42446" y="67538"/>
                </a:cubicBezTo>
                <a:lnTo>
                  <a:pt x="13335" y="45720"/>
                </a:lnTo>
                <a:cubicBezTo>
                  <a:pt x="9138" y="42565"/>
                  <a:pt x="8275" y="36582"/>
                  <a:pt x="11430" y="32385"/>
                </a:cubicBezTo>
                <a:cubicBezTo>
                  <a:pt x="14585" y="28188"/>
                  <a:pt x="20568" y="27325"/>
                  <a:pt x="24765" y="30480"/>
                </a:cubicBezTo>
                <a:lnTo>
                  <a:pt x="57150" y="54769"/>
                </a:lnTo>
                <a:cubicBezTo>
                  <a:pt x="60811" y="53251"/>
                  <a:pt x="64830" y="52388"/>
                  <a:pt x="69056" y="52388"/>
                </a:cubicBezTo>
                <a:lnTo>
                  <a:pt x="102394" y="52388"/>
                </a:lnTo>
                <a:cubicBezTo>
                  <a:pt x="106620" y="52388"/>
                  <a:pt x="110639" y="53221"/>
                  <a:pt x="114300" y="54769"/>
                </a:cubicBezTo>
                <a:lnTo>
                  <a:pt x="146685" y="30480"/>
                </a:lnTo>
                <a:cubicBezTo>
                  <a:pt x="150882" y="27325"/>
                  <a:pt x="156865" y="28188"/>
                  <a:pt x="160020" y="32385"/>
                </a:cubicBezTo>
                <a:close/>
              </a:path>
            </a:pathLst>
          </a:custGeom>
          <a:solidFill>
            <a:srgbClr val="FFFFFF"/>
          </a:solidFill>
          <a:ln/>
        </p:spPr>
      </p:sp>
      <p:sp>
        <p:nvSpPr>
          <p:cNvPr id="45" name="Text 43"/>
          <p:cNvSpPr/>
          <p:nvPr/>
        </p:nvSpPr>
        <p:spPr>
          <a:xfrm>
            <a:off x="7086600" y="4203632"/>
            <a:ext cx="838200" cy="266700"/>
          </a:xfrm>
          <a:prstGeom prst="rect">
            <a:avLst/>
          </a:prstGeom>
          <a:noFill/>
          <a:ln/>
        </p:spPr>
        <p:txBody>
          <a:bodyPr wrap="square" lIns="0" tIns="0" rIns="0" bIns="0" rtlCol="0" anchor="ctr"/>
          <a:lstStyle/>
          <a:p>
            <a:pPr>
              <a:lnSpc>
                <a:spcPct val="130000"/>
              </a:lnSpc>
            </a:pPr>
            <a:r>
              <a:rPr lang="en-US" sz="1350" b="1" dirty="0">
                <a:solidFill>
                  <a:srgbClr val="8E8E93"/>
                </a:solidFill>
                <a:latin typeface="Liter" pitchFamily="34" charset="0"/>
                <a:ea typeface="Liter" pitchFamily="34" charset="-122"/>
                <a:cs typeface="Liter" pitchFamily="34" charset="-120"/>
              </a:rPr>
              <a:t>Debugger</a:t>
            </a:r>
            <a:endParaRPr lang="en-US" sz="1600" dirty="0"/>
          </a:p>
        </p:txBody>
      </p:sp>
      <p:sp>
        <p:nvSpPr>
          <p:cNvPr id="46" name="Text 44"/>
          <p:cNvSpPr/>
          <p:nvPr/>
        </p:nvSpPr>
        <p:spPr>
          <a:xfrm>
            <a:off x="6591300" y="4603682"/>
            <a:ext cx="49149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Helps you find and fix errors in your code.</a:t>
            </a:r>
            <a:endParaRPr lang="en-US" sz="1600" dirty="0"/>
          </a:p>
        </p:txBody>
      </p:sp>
      <p:sp>
        <p:nvSpPr>
          <p:cNvPr id="47" name="Shape 45"/>
          <p:cNvSpPr/>
          <p:nvPr/>
        </p:nvSpPr>
        <p:spPr>
          <a:xfrm>
            <a:off x="6210300" y="5372100"/>
            <a:ext cx="5600700" cy="1104900"/>
          </a:xfrm>
          <a:prstGeom prst="roundRect">
            <a:avLst>
              <a:gd name="adj" fmla="val 13793"/>
            </a:avLst>
          </a:prstGeom>
          <a:solidFill>
            <a:srgbClr val="2C2C2E"/>
          </a:solidFill>
          <a:ln/>
        </p:spPr>
      </p:sp>
      <p:sp>
        <p:nvSpPr>
          <p:cNvPr id="48" name="Shape 46"/>
          <p:cNvSpPr/>
          <p:nvPr/>
        </p:nvSpPr>
        <p:spPr>
          <a:xfrm>
            <a:off x="6391275" y="5562600"/>
            <a:ext cx="133350" cy="152400"/>
          </a:xfrm>
          <a:custGeom>
            <a:avLst/>
            <a:gdLst/>
            <a:ahLst/>
            <a:cxnLst/>
            <a:rect l="l" t="t" r="r" b="b"/>
            <a:pathLst>
              <a:path w="133350" h="152400">
                <a:moveTo>
                  <a:pt x="19050" y="9525"/>
                </a:moveTo>
                <a:cubicBezTo>
                  <a:pt x="8543" y="9525"/>
                  <a:pt x="0" y="18068"/>
                  <a:pt x="0" y="28575"/>
                </a:cubicBezTo>
                <a:lnTo>
                  <a:pt x="0" y="123825"/>
                </a:lnTo>
                <a:cubicBezTo>
                  <a:pt x="0" y="134332"/>
                  <a:pt x="8543" y="142875"/>
                  <a:pt x="19050" y="142875"/>
                </a:cubicBezTo>
                <a:lnTo>
                  <a:pt x="114300" y="142875"/>
                </a:lnTo>
                <a:cubicBezTo>
                  <a:pt x="124807" y="142875"/>
                  <a:pt x="133350" y="134332"/>
                  <a:pt x="133350" y="123825"/>
                </a:cubicBezTo>
                <a:lnTo>
                  <a:pt x="133350" y="28575"/>
                </a:lnTo>
                <a:cubicBezTo>
                  <a:pt x="133350" y="18068"/>
                  <a:pt x="124807" y="9525"/>
                  <a:pt x="114300" y="9525"/>
                </a:cubicBezTo>
                <a:lnTo>
                  <a:pt x="19050" y="9525"/>
                </a:lnTo>
                <a:close/>
                <a:moveTo>
                  <a:pt x="38100" y="33338"/>
                </a:moveTo>
                <a:cubicBezTo>
                  <a:pt x="45985" y="33338"/>
                  <a:pt x="52388" y="39740"/>
                  <a:pt x="52388" y="47625"/>
                </a:cubicBezTo>
                <a:cubicBezTo>
                  <a:pt x="52388" y="55510"/>
                  <a:pt x="45985" y="61912"/>
                  <a:pt x="38100" y="61912"/>
                </a:cubicBezTo>
                <a:cubicBezTo>
                  <a:pt x="30215" y="61912"/>
                  <a:pt x="23813" y="55510"/>
                  <a:pt x="23813" y="47625"/>
                </a:cubicBezTo>
                <a:cubicBezTo>
                  <a:pt x="23813" y="39740"/>
                  <a:pt x="30215" y="33338"/>
                  <a:pt x="38100" y="33338"/>
                </a:cubicBezTo>
                <a:close/>
                <a:moveTo>
                  <a:pt x="80962" y="66675"/>
                </a:moveTo>
                <a:cubicBezTo>
                  <a:pt x="83463" y="66675"/>
                  <a:pt x="85755" y="67985"/>
                  <a:pt x="87064" y="70098"/>
                </a:cubicBezTo>
                <a:lnTo>
                  <a:pt x="113258" y="112961"/>
                </a:lnTo>
                <a:cubicBezTo>
                  <a:pt x="114598" y="115163"/>
                  <a:pt x="114657" y="117931"/>
                  <a:pt x="113407" y="120194"/>
                </a:cubicBezTo>
                <a:cubicBezTo>
                  <a:pt x="112157" y="122456"/>
                  <a:pt x="109746" y="123825"/>
                  <a:pt x="107156" y="123825"/>
                </a:cubicBezTo>
                <a:lnTo>
                  <a:pt x="26194" y="123825"/>
                </a:lnTo>
                <a:cubicBezTo>
                  <a:pt x="23545" y="123825"/>
                  <a:pt x="21074" y="122337"/>
                  <a:pt x="19854" y="119985"/>
                </a:cubicBezTo>
                <a:cubicBezTo>
                  <a:pt x="18633" y="117634"/>
                  <a:pt x="18812" y="114776"/>
                  <a:pt x="20330" y="112603"/>
                </a:cubicBezTo>
                <a:lnTo>
                  <a:pt x="36999" y="88791"/>
                </a:lnTo>
                <a:cubicBezTo>
                  <a:pt x="38338" y="86886"/>
                  <a:pt x="40511" y="85755"/>
                  <a:pt x="42863" y="85755"/>
                </a:cubicBezTo>
                <a:cubicBezTo>
                  <a:pt x="45214" y="85755"/>
                  <a:pt x="47387" y="86886"/>
                  <a:pt x="48726" y="88791"/>
                </a:cubicBezTo>
                <a:lnTo>
                  <a:pt x="56584" y="100042"/>
                </a:lnTo>
                <a:lnTo>
                  <a:pt x="74861" y="70128"/>
                </a:lnTo>
                <a:cubicBezTo>
                  <a:pt x="76170" y="68014"/>
                  <a:pt x="78462" y="66705"/>
                  <a:pt x="80962" y="66705"/>
                </a:cubicBezTo>
                <a:close/>
              </a:path>
            </a:pathLst>
          </a:custGeom>
          <a:solidFill>
            <a:srgbClr val="8E8E93"/>
          </a:solidFill>
          <a:ln/>
        </p:spPr>
      </p:sp>
      <p:sp>
        <p:nvSpPr>
          <p:cNvPr id="49" name="Text 47"/>
          <p:cNvSpPr/>
          <p:nvPr/>
        </p:nvSpPr>
        <p:spPr>
          <a:xfrm>
            <a:off x="6553200" y="5524500"/>
            <a:ext cx="5181600" cy="228600"/>
          </a:xfrm>
          <a:prstGeom prst="rect">
            <a:avLst/>
          </a:prstGeom>
          <a:noFill/>
          <a:ln/>
        </p:spPr>
        <p:txBody>
          <a:bodyPr wrap="square" lIns="0" tIns="0" rIns="0" bIns="0" rtlCol="0" anchor="ctr"/>
          <a:lstStyle/>
          <a:p>
            <a:pPr>
              <a:lnSpc>
                <a:spcPct val="130000"/>
              </a:lnSpc>
            </a:pPr>
            <a:r>
              <a:rPr lang="en-US" sz="1200" b="1" dirty="0">
                <a:solidFill>
                  <a:srgbClr val="8E8E93"/>
                </a:solidFill>
                <a:latin typeface="Liter" pitchFamily="34" charset="0"/>
                <a:ea typeface="Liter" pitchFamily="34" charset="-122"/>
                <a:cs typeface="Liter" pitchFamily="34" charset="-120"/>
              </a:rPr>
              <a:t>Visual Suggestion</a:t>
            </a:r>
            <a:endParaRPr lang="en-US" sz="1600" dirty="0"/>
          </a:p>
        </p:txBody>
      </p:sp>
      <p:sp>
        <p:nvSpPr>
          <p:cNvPr id="50" name="Shape 48"/>
          <p:cNvSpPr/>
          <p:nvPr/>
        </p:nvSpPr>
        <p:spPr>
          <a:xfrm>
            <a:off x="6381750" y="5867400"/>
            <a:ext cx="152400" cy="152400"/>
          </a:xfrm>
          <a:custGeom>
            <a:avLst/>
            <a:gdLst/>
            <a:ahLst/>
            <a:cxnLst/>
            <a:rect l="l" t="t" r="r" b="b"/>
            <a:pathLst>
              <a:path w="152400" h="152400">
                <a:moveTo>
                  <a:pt x="0" y="23813"/>
                </a:moveTo>
                <a:cubicBezTo>
                  <a:pt x="0" y="15925"/>
                  <a:pt x="6400" y="9525"/>
                  <a:pt x="14288" y="9525"/>
                </a:cubicBezTo>
                <a:lnTo>
                  <a:pt x="42863" y="9525"/>
                </a:lnTo>
                <a:cubicBezTo>
                  <a:pt x="50750" y="9525"/>
                  <a:pt x="57150" y="15925"/>
                  <a:pt x="57150" y="23813"/>
                </a:cubicBezTo>
                <a:lnTo>
                  <a:pt x="57150" y="28575"/>
                </a:lnTo>
                <a:lnTo>
                  <a:pt x="95250" y="28575"/>
                </a:lnTo>
                <a:lnTo>
                  <a:pt x="95250" y="23813"/>
                </a:lnTo>
                <a:cubicBezTo>
                  <a:pt x="95250" y="15925"/>
                  <a:pt x="101650" y="9525"/>
                  <a:pt x="109537" y="9525"/>
                </a:cubicBezTo>
                <a:lnTo>
                  <a:pt x="138113" y="9525"/>
                </a:lnTo>
                <a:cubicBezTo>
                  <a:pt x="146000" y="9525"/>
                  <a:pt x="152400" y="15925"/>
                  <a:pt x="152400" y="23813"/>
                </a:cubicBezTo>
                <a:lnTo>
                  <a:pt x="152400" y="52388"/>
                </a:lnTo>
                <a:cubicBezTo>
                  <a:pt x="152400" y="60275"/>
                  <a:pt x="146000" y="66675"/>
                  <a:pt x="138113" y="66675"/>
                </a:cubicBezTo>
                <a:lnTo>
                  <a:pt x="109537" y="66675"/>
                </a:lnTo>
                <a:cubicBezTo>
                  <a:pt x="101650" y="66675"/>
                  <a:pt x="95250" y="60275"/>
                  <a:pt x="95250" y="52388"/>
                </a:cubicBezTo>
                <a:lnTo>
                  <a:pt x="95250" y="47625"/>
                </a:lnTo>
                <a:lnTo>
                  <a:pt x="57150" y="47625"/>
                </a:lnTo>
                <a:lnTo>
                  <a:pt x="57150" y="52388"/>
                </a:lnTo>
                <a:cubicBezTo>
                  <a:pt x="57150" y="54560"/>
                  <a:pt x="56644" y="56644"/>
                  <a:pt x="55781" y="58489"/>
                </a:cubicBezTo>
                <a:lnTo>
                  <a:pt x="76200" y="85725"/>
                </a:lnTo>
                <a:lnTo>
                  <a:pt x="100013" y="85725"/>
                </a:lnTo>
                <a:cubicBezTo>
                  <a:pt x="107900" y="85725"/>
                  <a:pt x="114300" y="92125"/>
                  <a:pt x="114300" y="100013"/>
                </a:cubicBezTo>
                <a:lnTo>
                  <a:pt x="114300" y="128588"/>
                </a:lnTo>
                <a:cubicBezTo>
                  <a:pt x="114300" y="136475"/>
                  <a:pt x="107900" y="142875"/>
                  <a:pt x="100013" y="142875"/>
                </a:cubicBezTo>
                <a:lnTo>
                  <a:pt x="71438" y="142875"/>
                </a:lnTo>
                <a:cubicBezTo>
                  <a:pt x="63550" y="142875"/>
                  <a:pt x="57150" y="136475"/>
                  <a:pt x="57150" y="128588"/>
                </a:cubicBezTo>
                <a:lnTo>
                  <a:pt x="57150" y="100013"/>
                </a:lnTo>
                <a:cubicBezTo>
                  <a:pt x="57150" y="97840"/>
                  <a:pt x="57656" y="95756"/>
                  <a:pt x="58519" y="93911"/>
                </a:cubicBezTo>
                <a:lnTo>
                  <a:pt x="38100" y="66675"/>
                </a:lnTo>
                <a:lnTo>
                  <a:pt x="14288" y="66675"/>
                </a:lnTo>
                <a:cubicBezTo>
                  <a:pt x="6400" y="66675"/>
                  <a:pt x="0" y="60275"/>
                  <a:pt x="0" y="52388"/>
                </a:cubicBezTo>
                <a:lnTo>
                  <a:pt x="0" y="23813"/>
                </a:lnTo>
                <a:close/>
              </a:path>
            </a:pathLst>
          </a:custGeom>
          <a:solidFill>
            <a:srgbClr val="34C759"/>
          </a:solidFill>
          <a:ln/>
        </p:spPr>
      </p:sp>
      <p:sp>
        <p:nvSpPr>
          <p:cNvPr id="51" name="Text 49"/>
          <p:cNvSpPr/>
          <p:nvPr/>
        </p:nvSpPr>
        <p:spPr>
          <a:xfrm>
            <a:off x="6629400" y="5829300"/>
            <a:ext cx="3343275"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Development environment components</a:t>
            </a:r>
            <a:endParaRPr lang="en-US" sz="1600" dirty="0"/>
          </a:p>
        </p:txBody>
      </p:sp>
      <p:sp>
        <p:nvSpPr>
          <p:cNvPr id="52" name="Shape 50"/>
          <p:cNvSpPr/>
          <p:nvPr/>
        </p:nvSpPr>
        <p:spPr>
          <a:xfrm>
            <a:off x="6391275" y="6134100"/>
            <a:ext cx="133350" cy="152400"/>
          </a:xfrm>
          <a:custGeom>
            <a:avLst/>
            <a:gdLst/>
            <a:ahLst/>
            <a:cxnLst/>
            <a:rect l="l" t="t" r="r" b="b"/>
            <a:pathLst>
              <a:path w="133350" h="152400">
                <a:moveTo>
                  <a:pt x="19050" y="9525"/>
                </a:moveTo>
                <a:cubicBezTo>
                  <a:pt x="8543" y="9525"/>
                  <a:pt x="0" y="18068"/>
                  <a:pt x="0" y="28575"/>
                </a:cubicBezTo>
                <a:lnTo>
                  <a:pt x="0" y="123825"/>
                </a:lnTo>
                <a:cubicBezTo>
                  <a:pt x="0" y="134332"/>
                  <a:pt x="8543" y="142875"/>
                  <a:pt x="19050" y="142875"/>
                </a:cubicBezTo>
                <a:lnTo>
                  <a:pt x="114300" y="142875"/>
                </a:lnTo>
                <a:cubicBezTo>
                  <a:pt x="124807" y="142875"/>
                  <a:pt x="133350" y="134332"/>
                  <a:pt x="133350" y="123825"/>
                </a:cubicBezTo>
                <a:lnTo>
                  <a:pt x="133350" y="28575"/>
                </a:lnTo>
                <a:cubicBezTo>
                  <a:pt x="133350" y="18068"/>
                  <a:pt x="124807" y="9525"/>
                  <a:pt x="114300" y="9525"/>
                </a:cubicBezTo>
                <a:lnTo>
                  <a:pt x="19050" y="9525"/>
                </a:lnTo>
                <a:close/>
                <a:moveTo>
                  <a:pt x="38100" y="33338"/>
                </a:moveTo>
                <a:cubicBezTo>
                  <a:pt x="45985" y="33338"/>
                  <a:pt x="52388" y="39740"/>
                  <a:pt x="52388" y="47625"/>
                </a:cubicBezTo>
                <a:cubicBezTo>
                  <a:pt x="52388" y="55510"/>
                  <a:pt x="45985" y="61912"/>
                  <a:pt x="38100" y="61912"/>
                </a:cubicBezTo>
                <a:cubicBezTo>
                  <a:pt x="30215" y="61912"/>
                  <a:pt x="23813" y="55510"/>
                  <a:pt x="23813" y="47625"/>
                </a:cubicBezTo>
                <a:cubicBezTo>
                  <a:pt x="23813" y="39740"/>
                  <a:pt x="30215" y="33338"/>
                  <a:pt x="38100" y="33338"/>
                </a:cubicBezTo>
                <a:close/>
                <a:moveTo>
                  <a:pt x="80962" y="66675"/>
                </a:moveTo>
                <a:cubicBezTo>
                  <a:pt x="83463" y="66675"/>
                  <a:pt x="85755" y="67985"/>
                  <a:pt x="87064" y="70098"/>
                </a:cubicBezTo>
                <a:lnTo>
                  <a:pt x="113258" y="112961"/>
                </a:lnTo>
                <a:cubicBezTo>
                  <a:pt x="114598" y="115163"/>
                  <a:pt x="114657" y="117931"/>
                  <a:pt x="113407" y="120194"/>
                </a:cubicBezTo>
                <a:cubicBezTo>
                  <a:pt x="112157" y="122456"/>
                  <a:pt x="109746" y="123825"/>
                  <a:pt x="107156" y="123825"/>
                </a:cubicBezTo>
                <a:lnTo>
                  <a:pt x="26194" y="123825"/>
                </a:lnTo>
                <a:cubicBezTo>
                  <a:pt x="23545" y="123825"/>
                  <a:pt x="21074" y="122337"/>
                  <a:pt x="19854" y="119985"/>
                </a:cubicBezTo>
                <a:cubicBezTo>
                  <a:pt x="18633" y="117634"/>
                  <a:pt x="18812" y="114776"/>
                  <a:pt x="20330" y="112603"/>
                </a:cubicBezTo>
                <a:lnTo>
                  <a:pt x="36999" y="88791"/>
                </a:lnTo>
                <a:cubicBezTo>
                  <a:pt x="38338" y="86886"/>
                  <a:pt x="40511" y="85755"/>
                  <a:pt x="42863" y="85755"/>
                </a:cubicBezTo>
                <a:cubicBezTo>
                  <a:pt x="45214" y="85755"/>
                  <a:pt x="47387" y="86886"/>
                  <a:pt x="48726" y="88791"/>
                </a:cubicBezTo>
                <a:lnTo>
                  <a:pt x="56584" y="100042"/>
                </a:lnTo>
                <a:lnTo>
                  <a:pt x="74861" y="70128"/>
                </a:lnTo>
                <a:cubicBezTo>
                  <a:pt x="76170" y="68014"/>
                  <a:pt x="78462" y="66705"/>
                  <a:pt x="80962" y="66705"/>
                </a:cubicBezTo>
                <a:close/>
              </a:path>
            </a:pathLst>
          </a:custGeom>
          <a:solidFill>
            <a:srgbClr val="0A84FF"/>
          </a:solidFill>
          <a:ln/>
        </p:spPr>
      </p:sp>
      <p:sp>
        <p:nvSpPr>
          <p:cNvPr id="53" name="Text 51"/>
          <p:cNvSpPr/>
          <p:nvPr/>
        </p:nvSpPr>
        <p:spPr>
          <a:xfrm>
            <a:off x="6629400" y="6096000"/>
            <a:ext cx="3248025"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Workspace setup with multiple monitors</a:t>
            </a:r>
            <a:endParaRPr lang="en-US" sz="1600" dirty="0"/>
          </a:p>
        </p:txBody>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17500" y="365125"/>
            <a:ext cx="381000" cy="381000"/>
          </a:xfrm>
          <a:prstGeom prst="roundRect">
            <a:avLst>
              <a:gd name="adj" fmla="val 25000"/>
            </a:avLst>
          </a:prstGeom>
          <a:solidFill>
            <a:srgbClr val="0A84FF"/>
          </a:solidFill>
          <a:ln/>
        </p:spPr>
      </p:sp>
      <p:sp>
        <p:nvSpPr>
          <p:cNvPr id="3" name="Text 1"/>
          <p:cNvSpPr/>
          <p:nvPr/>
        </p:nvSpPr>
        <p:spPr>
          <a:xfrm>
            <a:off x="414536" y="428625"/>
            <a:ext cx="285750" cy="254000"/>
          </a:xfrm>
          <a:prstGeom prst="rect">
            <a:avLst/>
          </a:prstGeom>
          <a:noFill/>
          <a:ln/>
        </p:spPr>
        <p:txBody>
          <a:bodyPr wrap="square" lIns="0" tIns="0" rIns="0" bIns="0" rtlCol="0" anchor="ctr"/>
          <a:lstStyle/>
          <a:p>
            <a:pPr>
              <a:lnSpc>
                <a:spcPct val="110000"/>
              </a:lnSpc>
            </a:pPr>
            <a:r>
              <a:rPr lang="en-US" sz="1500" b="1" dirty="0">
                <a:solidFill>
                  <a:srgbClr val="F5F5F7"/>
                </a:solidFill>
                <a:latin typeface="Liter" pitchFamily="34" charset="0"/>
                <a:ea typeface="Liter" pitchFamily="34" charset="-122"/>
                <a:cs typeface="Liter" pitchFamily="34" charset="-120"/>
              </a:rPr>
              <a:t>21</a:t>
            </a:r>
            <a:endParaRPr lang="en-US" sz="1600" dirty="0"/>
          </a:p>
        </p:txBody>
      </p:sp>
      <p:sp>
        <p:nvSpPr>
          <p:cNvPr id="4" name="Text 2"/>
          <p:cNvSpPr/>
          <p:nvPr/>
        </p:nvSpPr>
        <p:spPr>
          <a:xfrm>
            <a:off x="793750" y="317500"/>
            <a:ext cx="2095500" cy="158750"/>
          </a:xfrm>
          <a:prstGeom prst="rect">
            <a:avLst/>
          </a:prstGeom>
          <a:noFill/>
          <a:ln/>
        </p:spPr>
        <p:txBody>
          <a:bodyPr wrap="square" lIns="0" tIns="0" rIns="0" bIns="0" rtlCol="0" anchor="ctr"/>
          <a:lstStyle/>
          <a:p>
            <a:pPr>
              <a:lnSpc>
                <a:spcPct val="120000"/>
              </a:lnSpc>
            </a:pPr>
            <a:r>
              <a:rPr lang="en-US" sz="875" b="1" spc="44" kern="0" dirty="0">
                <a:solidFill>
                  <a:srgbClr val="0A84FF"/>
                </a:solidFill>
                <a:latin typeface="Quattrocento Sans" pitchFamily="34" charset="0"/>
                <a:ea typeface="Quattrocento Sans" pitchFamily="34" charset="-122"/>
                <a:cs typeface="Quattrocento Sans" pitchFamily="34" charset="-120"/>
              </a:rPr>
              <a:t>Development Environment Setup</a:t>
            </a:r>
            <a:endParaRPr lang="en-US" sz="1600" dirty="0"/>
          </a:p>
        </p:txBody>
      </p:sp>
      <p:sp>
        <p:nvSpPr>
          <p:cNvPr id="5" name="Text 3"/>
          <p:cNvSpPr/>
          <p:nvPr/>
        </p:nvSpPr>
        <p:spPr>
          <a:xfrm>
            <a:off x="793750" y="476250"/>
            <a:ext cx="2182813" cy="317500"/>
          </a:xfrm>
          <a:prstGeom prst="rect">
            <a:avLst/>
          </a:prstGeom>
          <a:noFill/>
          <a:ln/>
        </p:spPr>
        <p:txBody>
          <a:bodyPr wrap="square" lIns="0" tIns="0" rIns="0" bIns="0" rtlCol="0" anchor="ctr"/>
          <a:lstStyle/>
          <a:p>
            <a:pPr>
              <a:lnSpc>
                <a:spcPct val="90000"/>
              </a:lnSpc>
            </a:pPr>
            <a:r>
              <a:rPr lang="en-US" sz="2250" b="1" dirty="0">
                <a:solidFill>
                  <a:srgbClr val="F5F5F7"/>
                </a:solidFill>
                <a:latin typeface="Liter" pitchFamily="34" charset="0"/>
                <a:ea typeface="Liter" pitchFamily="34" charset="-122"/>
                <a:cs typeface="Liter" pitchFamily="34" charset="-120"/>
              </a:rPr>
              <a:t>What is an IDE?</a:t>
            </a:r>
            <a:endParaRPr lang="en-US" sz="1600" dirty="0"/>
          </a:p>
        </p:txBody>
      </p:sp>
      <p:sp>
        <p:nvSpPr>
          <p:cNvPr id="6" name="Shape 4"/>
          <p:cNvSpPr/>
          <p:nvPr/>
        </p:nvSpPr>
        <p:spPr>
          <a:xfrm>
            <a:off x="317500" y="1047750"/>
            <a:ext cx="11557000" cy="1905000"/>
          </a:xfrm>
          <a:prstGeom prst="roundRect">
            <a:avLst>
              <a:gd name="adj" fmla="val 6667"/>
            </a:avLst>
          </a:prstGeom>
          <a:solidFill>
            <a:srgbClr val="2C2C2E"/>
          </a:solidFill>
          <a:ln/>
        </p:spPr>
      </p:sp>
      <p:sp>
        <p:nvSpPr>
          <p:cNvPr id="7" name="Shape 5"/>
          <p:cNvSpPr/>
          <p:nvPr/>
        </p:nvSpPr>
        <p:spPr>
          <a:xfrm>
            <a:off x="508000" y="1269907"/>
            <a:ext cx="238125" cy="190500"/>
          </a:xfrm>
          <a:custGeom>
            <a:avLst/>
            <a:gdLst/>
            <a:ahLst/>
            <a:cxnLst/>
            <a:rect l="l" t="t" r="r" b="b"/>
            <a:pathLst>
              <a:path w="238125" h="190500">
                <a:moveTo>
                  <a:pt x="23812" y="35719"/>
                </a:moveTo>
                <a:cubicBezTo>
                  <a:pt x="23812" y="22585"/>
                  <a:pt x="34491" y="11906"/>
                  <a:pt x="47625" y="11906"/>
                </a:cubicBezTo>
                <a:lnTo>
                  <a:pt x="190500" y="11906"/>
                </a:lnTo>
                <a:cubicBezTo>
                  <a:pt x="203634" y="11906"/>
                  <a:pt x="214313" y="22585"/>
                  <a:pt x="214313" y="35719"/>
                </a:cubicBezTo>
                <a:lnTo>
                  <a:pt x="214313" y="125016"/>
                </a:lnTo>
                <a:lnTo>
                  <a:pt x="190500" y="125016"/>
                </a:lnTo>
                <a:lnTo>
                  <a:pt x="190500" y="35719"/>
                </a:lnTo>
                <a:lnTo>
                  <a:pt x="47625" y="35719"/>
                </a:lnTo>
                <a:lnTo>
                  <a:pt x="47625" y="125016"/>
                </a:lnTo>
                <a:lnTo>
                  <a:pt x="23812" y="125016"/>
                </a:lnTo>
                <a:lnTo>
                  <a:pt x="23812" y="35719"/>
                </a:lnTo>
                <a:close/>
                <a:moveTo>
                  <a:pt x="0" y="150019"/>
                </a:moveTo>
                <a:cubicBezTo>
                  <a:pt x="0" y="146075"/>
                  <a:pt x="3200" y="142875"/>
                  <a:pt x="7144" y="142875"/>
                </a:cubicBezTo>
                <a:lnTo>
                  <a:pt x="230981" y="142875"/>
                </a:lnTo>
                <a:cubicBezTo>
                  <a:pt x="234925" y="142875"/>
                  <a:pt x="238125" y="146075"/>
                  <a:pt x="238125" y="150019"/>
                </a:cubicBezTo>
                <a:cubicBezTo>
                  <a:pt x="238125" y="165795"/>
                  <a:pt x="225326" y="178594"/>
                  <a:pt x="209550" y="178594"/>
                </a:cubicBezTo>
                <a:lnTo>
                  <a:pt x="28575" y="178594"/>
                </a:lnTo>
                <a:cubicBezTo>
                  <a:pt x="12799" y="178594"/>
                  <a:pt x="0" y="165795"/>
                  <a:pt x="0" y="150019"/>
                </a:cubicBezTo>
                <a:close/>
                <a:moveTo>
                  <a:pt x="104552" y="77763"/>
                </a:moveTo>
                <a:lnTo>
                  <a:pt x="93018" y="89297"/>
                </a:lnTo>
                <a:lnTo>
                  <a:pt x="104552" y="100831"/>
                </a:lnTo>
                <a:cubicBezTo>
                  <a:pt x="108049" y="104329"/>
                  <a:pt x="108049" y="109984"/>
                  <a:pt x="104552" y="113444"/>
                </a:cubicBezTo>
                <a:cubicBezTo>
                  <a:pt x="101054" y="116904"/>
                  <a:pt x="95399" y="116942"/>
                  <a:pt x="91939" y="113444"/>
                </a:cubicBezTo>
                <a:lnTo>
                  <a:pt x="74079" y="95585"/>
                </a:lnTo>
                <a:cubicBezTo>
                  <a:pt x="70582" y="92087"/>
                  <a:pt x="70582" y="86432"/>
                  <a:pt x="74079" y="82972"/>
                </a:cubicBezTo>
                <a:lnTo>
                  <a:pt x="91939" y="65112"/>
                </a:lnTo>
                <a:cubicBezTo>
                  <a:pt x="95436" y="61615"/>
                  <a:pt x="101092" y="61615"/>
                  <a:pt x="104552" y="65112"/>
                </a:cubicBezTo>
                <a:cubicBezTo>
                  <a:pt x="108012" y="68610"/>
                  <a:pt x="108049" y="74265"/>
                  <a:pt x="104552" y="77725"/>
                </a:cubicBezTo>
                <a:close/>
                <a:moveTo>
                  <a:pt x="146224" y="65112"/>
                </a:moveTo>
                <a:lnTo>
                  <a:pt x="164083" y="82972"/>
                </a:lnTo>
                <a:cubicBezTo>
                  <a:pt x="167580" y="86469"/>
                  <a:pt x="167580" y="92125"/>
                  <a:pt x="164083" y="95585"/>
                </a:cubicBezTo>
                <a:lnTo>
                  <a:pt x="146224" y="113444"/>
                </a:lnTo>
                <a:cubicBezTo>
                  <a:pt x="142726" y="116942"/>
                  <a:pt x="137071" y="116942"/>
                  <a:pt x="133610" y="113444"/>
                </a:cubicBezTo>
                <a:cubicBezTo>
                  <a:pt x="130150" y="109947"/>
                  <a:pt x="130113" y="104291"/>
                  <a:pt x="133610" y="100831"/>
                </a:cubicBezTo>
                <a:lnTo>
                  <a:pt x="145145" y="89297"/>
                </a:lnTo>
                <a:lnTo>
                  <a:pt x="133610" y="77763"/>
                </a:lnTo>
                <a:cubicBezTo>
                  <a:pt x="130113" y="74265"/>
                  <a:pt x="130113" y="68610"/>
                  <a:pt x="133610" y="65150"/>
                </a:cubicBezTo>
                <a:cubicBezTo>
                  <a:pt x="137108" y="61689"/>
                  <a:pt x="142763" y="61652"/>
                  <a:pt x="146224" y="65150"/>
                </a:cubicBezTo>
                <a:close/>
              </a:path>
            </a:pathLst>
          </a:custGeom>
          <a:solidFill>
            <a:srgbClr val="34C759"/>
          </a:solidFill>
          <a:ln/>
        </p:spPr>
      </p:sp>
      <p:sp>
        <p:nvSpPr>
          <p:cNvPr id="8" name="Text 6"/>
          <p:cNvSpPr/>
          <p:nvPr/>
        </p:nvSpPr>
        <p:spPr>
          <a:xfrm>
            <a:off x="746125" y="1238250"/>
            <a:ext cx="11033125" cy="254000"/>
          </a:xfrm>
          <a:prstGeom prst="rect">
            <a:avLst/>
          </a:prstGeom>
          <a:noFill/>
          <a:ln/>
        </p:spPr>
        <p:txBody>
          <a:bodyPr wrap="square" lIns="0" tIns="0" rIns="0" bIns="0" rtlCol="0" anchor="ctr"/>
          <a:lstStyle/>
          <a:p>
            <a:pPr>
              <a:lnSpc>
                <a:spcPct val="110000"/>
              </a:lnSpc>
            </a:pPr>
            <a:r>
              <a:rPr lang="en-US" sz="1500" b="1" dirty="0">
                <a:solidFill>
                  <a:srgbClr val="34C759"/>
                </a:solidFill>
                <a:latin typeface="Liter" pitchFamily="34" charset="0"/>
                <a:ea typeface="Liter" pitchFamily="34" charset="-122"/>
                <a:cs typeface="Liter" pitchFamily="34" charset="-120"/>
              </a:rPr>
              <a:t>IDE = Integrated Development Environment</a:t>
            </a:r>
            <a:endParaRPr lang="en-US" sz="1600" dirty="0"/>
          </a:p>
        </p:txBody>
      </p:sp>
      <p:sp>
        <p:nvSpPr>
          <p:cNvPr id="9" name="Shape 7"/>
          <p:cNvSpPr/>
          <p:nvPr/>
        </p:nvSpPr>
        <p:spPr>
          <a:xfrm>
            <a:off x="508000" y="1666782"/>
            <a:ext cx="2159000" cy="1095375"/>
          </a:xfrm>
          <a:custGeom>
            <a:avLst/>
            <a:gdLst/>
            <a:ahLst/>
            <a:cxnLst/>
            <a:rect l="l" t="t" r="r" b="b"/>
            <a:pathLst>
              <a:path w="2159000" h="1095375">
                <a:moveTo>
                  <a:pt x="31750" y="0"/>
                </a:moveTo>
                <a:lnTo>
                  <a:pt x="2127250" y="0"/>
                </a:lnTo>
                <a:cubicBezTo>
                  <a:pt x="2144773" y="0"/>
                  <a:pt x="2159000" y="14227"/>
                  <a:pt x="2159000" y="31750"/>
                </a:cubicBezTo>
                <a:lnTo>
                  <a:pt x="2159000" y="1000125"/>
                </a:lnTo>
                <a:cubicBezTo>
                  <a:pt x="2159000" y="1052695"/>
                  <a:pt x="2116320" y="1095375"/>
                  <a:pt x="2063750" y="1095375"/>
                </a:cubicBezTo>
                <a:lnTo>
                  <a:pt x="95250" y="1095375"/>
                </a:lnTo>
                <a:cubicBezTo>
                  <a:pt x="42680" y="1095375"/>
                  <a:pt x="0" y="1052695"/>
                  <a:pt x="0" y="1000125"/>
                </a:cubicBezTo>
                <a:lnTo>
                  <a:pt x="0" y="31750"/>
                </a:lnTo>
                <a:cubicBezTo>
                  <a:pt x="0" y="14227"/>
                  <a:pt x="14227" y="0"/>
                  <a:pt x="31750" y="0"/>
                </a:cubicBezTo>
                <a:close/>
              </a:path>
            </a:pathLst>
          </a:custGeom>
          <a:solidFill>
            <a:srgbClr val="1A1D21"/>
          </a:solidFill>
          <a:ln/>
        </p:spPr>
      </p:sp>
      <p:sp>
        <p:nvSpPr>
          <p:cNvPr id="10" name="Shape 8"/>
          <p:cNvSpPr/>
          <p:nvPr/>
        </p:nvSpPr>
        <p:spPr>
          <a:xfrm>
            <a:off x="508000" y="1666782"/>
            <a:ext cx="2159000" cy="31750"/>
          </a:xfrm>
          <a:custGeom>
            <a:avLst/>
            <a:gdLst/>
            <a:ahLst/>
            <a:cxnLst/>
            <a:rect l="l" t="t" r="r" b="b"/>
            <a:pathLst>
              <a:path w="2159000" h="31750">
                <a:moveTo>
                  <a:pt x="31750" y="0"/>
                </a:moveTo>
                <a:lnTo>
                  <a:pt x="2127250" y="0"/>
                </a:lnTo>
                <a:cubicBezTo>
                  <a:pt x="2144773" y="0"/>
                  <a:pt x="2159000" y="14227"/>
                  <a:pt x="2159000" y="31750"/>
                </a:cubicBezTo>
                <a:lnTo>
                  <a:pt x="2159000" y="31750"/>
                </a:lnTo>
                <a:lnTo>
                  <a:pt x="0" y="31750"/>
                </a:lnTo>
                <a:lnTo>
                  <a:pt x="0" y="31750"/>
                </a:lnTo>
                <a:cubicBezTo>
                  <a:pt x="0" y="14227"/>
                  <a:pt x="14227" y="0"/>
                  <a:pt x="31750" y="0"/>
                </a:cubicBezTo>
                <a:close/>
              </a:path>
            </a:pathLst>
          </a:custGeom>
          <a:solidFill>
            <a:srgbClr val="34C759"/>
          </a:solidFill>
          <a:ln/>
        </p:spPr>
      </p:sp>
      <p:sp>
        <p:nvSpPr>
          <p:cNvPr id="11" name="Shape 9"/>
          <p:cNvSpPr/>
          <p:nvPr/>
        </p:nvSpPr>
        <p:spPr>
          <a:xfrm>
            <a:off x="1397000" y="1809657"/>
            <a:ext cx="381000" cy="381000"/>
          </a:xfrm>
          <a:prstGeom prst="roundRect">
            <a:avLst>
              <a:gd name="adj" fmla="val 50000"/>
            </a:avLst>
          </a:prstGeom>
          <a:solidFill>
            <a:srgbClr val="34C759"/>
          </a:solidFill>
          <a:ln/>
        </p:spPr>
      </p:sp>
      <p:sp>
        <p:nvSpPr>
          <p:cNvPr id="12" name="Shape 10"/>
          <p:cNvSpPr/>
          <p:nvPr/>
        </p:nvSpPr>
        <p:spPr>
          <a:xfrm>
            <a:off x="1508125" y="1920782"/>
            <a:ext cx="158750" cy="158750"/>
          </a:xfrm>
          <a:custGeom>
            <a:avLst/>
            <a:gdLst/>
            <a:ahLst/>
            <a:cxnLst/>
            <a:rect l="l" t="t" r="r" b="b"/>
            <a:pathLst>
              <a:path w="158750" h="158750">
                <a:moveTo>
                  <a:pt x="146224" y="6728"/>
                </a:moveTo>
                <a:cubicBezTo>
                  <a:pt x="139433" y="-62"/>
                  <a:pt x="128457" y="-62"/>
                  <a:pt x="121667" y="6728"/>
                </a:cubicBezTo>
                <a:lnTo>
                  <a:pt x="114102" y="14294"/>
                </a:lnTo>
                <a:lnTo>
                  <a:pt x="144456" y="44648"/>
                </a:lnTo>
                <a:lnTo>
                  <a:pt x="152022" y="37083"/>
                </a:lnTo>
                <a:cubicBezTo>
                  <a:pt x="158812" y="30293"/>
                  <a:pt x="158812" y="19317"/>
                  <a:pt x="152022" y="12526"/>
                </a:cubicBezTo>
                <a:lnTo>
                  <a:pt x="146224" y="6728"/>
                </a:lnTo>
                <a:close/>
                <a:moveTo>
                  <a:pt x="53454" y="74941"/>
                </a:moveTo>
                <a:cubicBezTo>
                  <a:pt x="51563" y="76833"/>
                  <a:pt x="50105" y="79158"/>
                  <a:pt x="49268" y="81731"/>
                </a:cubicBezTo>
                <a:lnTo>
                  <a:pt x="40091" y="109265"/>
                </a:lnTo>
                <a:cubicBezTo>
                  <a:pt x="39191" y="111931"/>
                  <a:pt x="39905" y="114877"/>
                  <a:pt x="41889" y="116892"/>
                </a:cubicBezTo>
                <a:cubicBezTo>
                  <a:pt x="43873" y="118907"/>
                  <a:pt x="46819" y="119590"/>
                  <a:pt x="49516" y="118690"/>
                </a:cubicBezTo>
                <a:lnTo>
                  <a:pt x="77050" y="109513"/>
                </a:lnTo>
                <a:cubicBezTo>
                  <a:pt x="79592" y="108676"/>
                  <a:pt x="81917" y="107218"/>
                  <a:pt x="83840" y="105327"/>
                </a:cubicBezTo>
                <a:lnTo>
                  <a:pt x="133945" y="55159"/>
                </a:lnTo>
                <a:lnTo>
                  <a:pt x="103591" y="24805"/>
                </a:lnTo>
                <a:lnTo>
                  <a:pt x="53454" y="74941"/>
                </a:lnTo>
                <a:close/>
                <a:moveTo>
                  <a:pt x="29766" y="19844"/>
                </a:moveTo>
                <a:cubicBezTo>
                  <a:pt x="13333" y="19844"/>
                  <a:pt x="0" y="33176"/>
                  <a:pt x="0" y="49609"/>
                </a:cubicBezTo>
                <a:lnTo>
                  <a:pt x="0" y="128984"/>
                </a:lnTo>
                <a:cubicBezTo>
                  <a:pt x="0" y="145417"/>
                  <a:pt x="13333" y="158750"/>
                  <a:pt x="29766" y="158750"/>
                </a:cubicBezTo>
                <a:lnTo>
                  <a:pt x="109141" y="158750"/>
                </a:lnTo>
                <a:cubicBezTo>
                  <a:pt x="125574" y="158750"/>
                  <a:pt x="138906" y="145417"/>
                  <a:pt x="138906" y="128984"/>
                </a:cubicBezTo>
                <a:lnTo>
                  <a:pt x="138906" y="99219"/>
                </a:lnTo>
                <a:cubicBezTo>
                  <a:pt x="138906" y="93731"/>
                  <a:pt x="134472" y="89297"/>
                  <a:pt x="128984" y="89297"/>
                </a:cubicBezTo>
                <a:cubicBezTo>
                  <a:pt x="123496" y="89297"/>
                  <a:pt x="119062" y="93731"/>
                  <a:pt x="119062" y="99219"/>
                </a:cubicBezTo>
                <a:lnTo>
                  <a:pt x="119062" y="128984"/>
                </a:lnTo>
                <a:cubicBezTo>
                  <a:pt x="119062" y="134472"/>
                  <a:pt x="114629" y="138906"/>
                  <a:pt x="109141" y="138906"/>
                </a:cubicBezTo>
                <a:lnTo>
                  <a:pt x="29766" y="138906"/>
                </a:lnTo>
                <a:cubicBezTo>
                  <a:pt x="24278" y="138906"/>
                  <a:pt x="19844" y="134472"/>
                  <a:pt x="19844" y="128984"/>
                </a:cubicBezTo>
                <a:lnTo>
                  <a:pt x="19844" y="49609"/>
                </a:lnTo>
                <a:cubicBezTo>
                  <a:pt x="19844" y="44121"/>
                  <a:pt x="24278" y="39688"/>
                  <a:pt x="29766" y="39688"/>
                </a:cubicBezTo>
                <a:lnTo>
                  <a:pt x="59531" y="39688"/>
                </a:lnTo>
                <a:cubicBezTo>
                  <a:pt x="65019" y="39688"/>
                  <a:pt x="69453" y="35254"/>
                  <a:pt x="69453" y="29766"/>
                </a:cubicBezTo>
                <a:cubicBezTo>
                  <a:pt x="69453" y="24278"/>
                  <a:pt x="65019" y="19844"/>
                  <a:pt x="59531" y="19844"/>
                </a:cubicBezTo>
                <a:lnTo>
                  <a:pt x="29766" y="19844"/>
                </a:lnTo>
                <a:close/>
              </a:path>
            </a:pathLst>
          </a:custGeom>
          <a:solidFill>
            <a:srgbClr val="1D1D1F"/>
          </a:solidFill>
          <a:ln/>
        </p:spPr>
      </p:sp>
      <p:sp>
        <p:nvSpPr>
          <p:cNvPr id="13" name="Text 11"/>
          <p:cNvSpPr/>
          <p:nvPr/>
        </p:nvSpPr>
        <p:spPr>
          <a:xfrm>
            <a:off x="603250" y="2254157"/>
            <a:ext cx="1968500" cy="190500"/>
          </a:xfrm>
          <a:prstGeom prst="rect">
            <a:avLst/>
          </a:prstGeom>
          <a:noFill/>
          <a:ln/>
        </p:spPr>
        <p:txBody>
          <a:bodyPr wrap="square" lIns="0" tIns="0" rIns="0" bIns="0" rtlCol="0" anchor="ctr"/>
          <a:lstStyle/>
          <a:p>
            <a:pPr algn="ctr">
              <a:lnSpc>
                <a:spcPct val="130000"/>
              </a:lnSpc>
            </a:pPr>
            <a:r>
              <a:rPr lang="en-US" sz="1000" b="1" dirty="0">
                <a:solidFill>
                  <a:srgbClr val="34C759"/>
                </a:solidFill>
                <a:latin typeface="Liter" pitchFamily="34" charset="0"/>
                <a:ea typeface="Liter" pitchFamily="34" charset="-122"/>
                <a:cs typeface="Liter" pitchFamily="34" charset="-120"/>
              </a:rPr>
              <a:t>Code Editor</a:t>
            </a:r>
            <a:endParaRPr lang="en-US" sz="1600" dirty="0"/>
          </a:p>
        </p:txBody>
      </p:sp>
      <p:sp>
        <p:nvSpPr>
          <p:cNvPr id="14" name="Text 12"/>
          <p:cNvSpPr/>
          <p:nvPr/>
        </p:nvSpPr>
        <p:spPr>
          <a:xfrm>
            <a:off x="607219" y="2476407"/>
            <a:ext cx="1960563" cy="158750"/>
          </a:xfrm>
          <a:prstGeom prst="rect">
            <a:avLst/>
          </a:prstGeom>
          <a:noFill/>
          <a:ln/>
        </p:spPr>
        <p:txBody>
          <a:bodyPr wrap="square" lIns="0" tIns="0" rIns="0" bIns="0" rtlCol="0" anchor="ctr"/>
          <a:lstStyle/>
          <a:p>
            <a:pPr algn="ctr">
              <a:lnSpc>
                <a:spcPct val="120000"/>
              </a:lnSpc>
            </a:pPr>
            <a:r>
              <a:rPr lang="en-US" sz="875" dirty="0">
                <a:solidFill>
                  <a:srgbClr val="F5F5F7"/>
                </a:solidFill>
                <a:latin typeface="Quattrocento Sans" pitchFamily="34" charset="0"/>
                <a:ea typeface="Quattrocento Sans" pitchFamily="34" charset="-122"/>
                <a:cs typeface="Quattrocento Sans" pitchFamily="34" charset="-120"/>
              </a:rPr>
              <a:t>Write code</a:t>
            </a:r>
            <a:endParaRPr lang="en-US" sz="1600" dirty="0"/>
          </a:p>
        </p:txBody>
      </p:sp>
      <p:sp>
        <p:nvSpPr>
          <p:cNvPr id="15" name="Shape 13"/>
          <p:cNvSpPr/>
          <p:nvPr/>
        </p:nvSpPr>
        <p:spPr>
          <a:xfrm>
            <a:off x="2762250" y="1666782"/>
            <a:ext cx="2159000" cy="1095375"/>
          </a:xfrm>
          <a:custGeom>
            <a:avLst/>
            <a:gdLst/>
            <a:ahLst/>
            <a:cxnLst/>
            <a:rect l="l" t="t" r="r" b="b"/>
            <a:pathLst>
              <a:path w="2159000" h="1095375">
                <a:moveTo>
                  <a:pt x="31750" y="0"/>
                </a:moveTo>
                <a:lnTo>
                  <a:pt x="2127250" y="0"/>
                </a:lnTo>
                <a:cubicBezTo>
                  <a:pt x="2144773" y="0"/>
                  <a:pt x="2159000" y="14227"/>
                  <a:pt x="2159000" y="31750"/>
                </a:cubicBezTo>
                <a:lnTo>
                  <a:pt x="2159000" y="1000125"/>
                </a:lnTo>
                <a:cubicBezTo>
                  <a:pt x="2159000" y="1052695"/>
                  <a:pt x="2116320" y="1095375"/>
                  <a:pt x="2063750" y="1095375"/>
                </a:cubicBezTo>
                <a:lnTo>
                  <a:pt x="95250" y="1095375"/>
                </a:lnTo>
                <a:cubicBezTo>
                  <a:pt x="42680" y="1095375"/>
                  <a:pt x="0" y="1052695"/>
                  <a:pt x="0" y="1000125"/>
                </a:cubicBezTo>
                <a:lnTo>
                  <a:pt x="0" y="31750"/>
                </a:lnTo>
                <a:cubicBezTo>
                  <a:pt x="0" y="14227"/>
                  <a:pt x="14227" y="0"/>
                  <a:pt x="31750" y="0"/>
                </a:cubicBezTo>
                <a:close/>
              </a:path>
            </a:pathLst>
          </a:custGeom>
          <a:solidFill>
            <a:srgbClr val="1A1D21"/>
          </a:solidFill>
          <a:ln/>
        </p:spPr>
      </p:sp>
      <p:sp>
        <p:nvSpPr>
          <p:cNvPr id="16" name="Shape 14"/>
          <p:cNvSpPr/>
          <p:nvPr/>
        </p:nvSpPr>
        <p:spPr>
          <a:xfrm>
            <a:off x="2762250" y="1666782"/>
            <a:ext cx="2159000" cy="31750"/>
          </a:xfrm>
          <a:custGeom>
            <a:avLst/>
            <a:gdLst/>
            <a:ahLst/>
            <a:cxnLst/>
            <a:rect l="l" t="t" r="r" b="b"/>
            <a:pathLst>
              <a:path w="2159000" h="31750">
                <a:moveTo>
                  <a:pt x="31750" y="0"/>
                </a:moveTo>
                <a:lnTo>
                  <a:pt x="2127250" y="0"/>
                </a:lnTo>
                <a:cubicBezTo>
                  <a:pt x="2144773" y="0"/>
                  <a:pt x="2159000" y="14227"/>
                  <a:pt x="2159000" y="31750"/>
                </a:cubicBezTo>
                <a:lnTo>
                  <a:pt x="2159000" y="31750"/>
                </a:lnTo>
                <a:lnTo>
                  <a:pt x="0" y="31750"/>
                </a:lnTo>
                <a:lnTo>
                  <a:pt x="0" y="31750"/>
                </a:lnTo>
                <a:cubicBezTo>
                  <a:pt x="0" y="14227"/>
                  <a:pt x="14227" y="0"/>
                  <a:pt x="31750" y="0"/>
                </a:cubicBezTo>
                <a:close/>
              </a:path>
            </a:pathLst>
          </a:custGeom>
          <a:solidFill>
            <a:srgbClr val="0A84FF"/>
          </a:solidFill>
          <a:ln/>
        </p:spPr>
      </p:sp>
      <p:sp>
        <p:nvSpPr>
          <p:cNvPr id="17" name="Shape 15"/>
          <p:cNvSpPr/>
          <p:nvPr/>
        </p:nvSpPr>
        <p:spPr>
          <a:xfrm>
            <a:off x="3651250" y="1809657"/>
            <a:ext cx="381000" cy="381000"/>
          </a:xfrm>
          <a:prstGeom prst="roundRect">
            <a:avLst>
              <a:gd name="adj" fmla="val 50000"/>
            </a:avLst>
          </a:prstGeom>
          <a:solidFill>
            <a:srgbClr val="0A84FF"/>
          </a:solidFill>
          <a:ln/>
        </p:spPr>
      </p:sp>
      <p:sp>
        <p:nvSpPr>
          <p:cNvPr id="18" name="Shape 16"/>
          <p:cNvSpPr/>
          <p:nvPr/>
        </p:nvSpPr>
        <p:spPr>
          <a:xfrm>
            <a:off x="3752453" y="1920782"/>
            <a:ext cx="178594" cy="158750"/>
          </a:xfrm>
          <a:custGeom>
            <a:avLst/>
            <a:gdLst/>
            <a:ahLst/>
            <a:cxnLst/>
            <a:rect l="l" t="t" r="r" b="b"/>
            <a:pathLst>
              <a:path w="178594" h="158750">
                <a:moveTo>
                  <a:pt x="59531" y="29766"/>
                </a:moveTo>
                <a:cubicBezTo>
                  <a:pt x="59531" y="13333"/>
                  <a:pt x="72864" y="0"/>
                  <a:pt x="89297" y="0"/>
                </a:cubicBezTo>
                <a:cubicBezTo>
                  <a:pt x="105730" y="0"/>
                  <a:pt x="119062" y="13333"/>
                  <a:pt x="119062" y="29766"/>
                </a:cubicBezTo>
                <a:lnTo>
                  <a:pt x="119062" y="30882"/>
                </a:lnTo>
                <a:cubicBezTo>
                  <a:pt x="119062" y="35750"/>
                  <a:pt x="115125" y="39688"/>
                  <a:pt x="110257" y="39688"/>
                </a:cubicBezTo>
                <a:lnTo>
                  <a:pt x="68368" y="39688"/>
                </a:lnTo>
                <a:cubicBezTo>
                  <a:pt x="63500" y="39688"/>
                  <a:pt x="59562" y="35750"/>
                  <a:pt x="59562" y="30882"/>
                </a:cubicBezTo>
                <a:lnTo>
                  <a:pt x="59562" y="29766"/>
                </a:lnTo>
                <a:close/>
                <a:moveTo>
                  <a:pt x="166688" y="33734"/>
                </a:moveTo>
                <a:cubicBezTo>
                  <a:pt x="169974" y="38106"/>
                  <a:pt x="169075" y="44338"/>
                  <a:pt x="164703" y="47625"/>
                </a:cubicBezTo>
                <a:lnTo>
                  <a:pt x="134379" y="70352"/>
                </a:lnTo>
                <a:cubicBezTo>
                  <a:pt x="136023" y="73112"/>
                  <a:pt x="137263" y="76150"/>
                  <a:pt x="138038" y="79375"/>
                </a:cubicBezTo>
                <a:lnTo>
                  <a:pt x="168672" y="79375"/>
                </a:lnTo>
                <a:cubicBezTo>
                  <a:pt x="174160" y="79375"/>
                  <a:pt x="178594" y="83809"/>
                  <a:pt x="178594" y="89297"/>
                </a:cubicBezTo>
                <a:cubicBezTo>
                  <a:pt x="178594" y="94785"/>
                  <a:pt x="174160" y="99219"/>
                  <a:pt x="168672" y="99219"/>
                </a:cubicBezTo>
                <a:lnTo>
                  <a:pt x="138906" y="99219"/>
                </a:lnTo>
                <a:lnTo>
                  <a:pt x="138906" y="109141"/>
                </a:lnTo>
                <a:cubicBezTo>
                  <a:pt x="138906" y="109947"/>
                  <a:pt x="138875" y="110784"/>
                  <a:pt x="138844" y="111590"/>
                </a:cubicBezTo>
                <a:lnTo>
                  <a:pt x="164703" y="130969"/>
                </a:lnTo>
                <a:cubicBezTo>
                  <a:pt x="169075" y="134255"/>
                  <a:pt x="169974" y="140488"/>
                  <a:pt x="166688" y="144859"/>
                </a:cubicBezTo>
                <a:cubicBezTo>
                  <a:pt x="163401" y="149231"/>
                  <a:pt x="157169" y="150130"/>
                  <a:pt x="152797" y="146844"/>
                </a:cubicBezTo>
                <a:lnTo>
                  <a:pt x="133232" y="132178"/>
                </a:lnTo>
                <a:cubicBezTo>
                  <a:pt x="126039" y="145883"/>
                  <a:pt x="112613" y="155804"/>
                  <a:pt x="96738" y="158192"/>
                </a:cubicBezTo>
                <a:lnTo>
                  <a:pt x="96738" y="86816"/>
                </a:lnTo>
                <a:cubicBezTo>
                  <a:pt x="96738" y="82693"/>
                  <a:pt x="93421" y="79375"/>
                  <a:pt x="89297" y="79375"/>
                </a:cubicBezTo>
                <a:cubicBezTo>
                  <a:pt x="85173" y="79375"/>
                  <a:pt x="81855" y="82693"/>
                  <a:pt x="81855" y="86816"/>
                </a:cubicBezTo>
                <a:lnTo>
                  <a:pt x="81855" y="158192"/>
                </a:lnTo>
                <a:cubicBezTo>
                  <a:pt x="65980" y="155804"/>
                  <a:pt x="52555" y="145883"/>
                  <a:pt x="45362" y="132178"/>
                </a:cubicBezTo>
                <a:lnTo>
                  <a:pt x="25797" y="146844"/>
                </a:lnTo>
                <a:cubicBezTo>
                  <a:pt x="21425" y="150130"/>
                  <a:pt x="15193" y="149231"/>
                  <a:pt x="11906" y="144859"/>
                </a:cubicBezTo>
                <a:cubicBezTo>
                  <a:pt x="8620" y="140488"/>
                  <a:pt x="9519" y="134255"/>
                  <a:pt x="13891" y="130969"/>
                </a:cubicBezTo>
                <a:lnTo>
                  <a:pt x="39750" y="111590"/>
                </a:lnTo>
                <a:cubicBezTo>
                  <a:pt x="39719" y="110784"/>
                  <a:pt x="39688" y="109978"/>
                  <a:pt x="39688" y="109141"/>
                </a:cubicBezTo>
                <a:lnTo>
                  <a:pt x="39688" y="99219"/>
                </a:lnTo>
                <a:lnTo>
                  <a:pt x="9922" y="99219"/>
                </a:lnTo>
                <a:cubicBezTo>
                  <a:pt x="4434" y="99219"/>
                  <a:pt x="0" y="94785"/>
                  <a:pt x="0" y="89297"/>
                </a:cubicBezTo>
                <a:cubicBezTo>
                  <a:pt x="0" y="83809"/>
                  <a:pt x="4434" y="79375"/>
                  <a:pt x="9922" y="79375"/>
                </a:cubicBezTo>
                <a:lnTo>
                  <a:pt x="40556" y="79375"/>
                </a:lnTo>
                <a:cubicBezTo>
                  <a:pt x="41331" y="76150"/>
                  <a:pt x="42571" y="73112"/>
                  <a:pt x="44214" y="70352"/>
                </a:cubicBezTo>
                <a:lnTo>
                  <a:pt x="13891" y="47625"/>
                </a:lnTo>
                <a:cubicBezTo>
                  <a:pt x="9519" y="44338"/>
                  <a:pt x="8620" y="38106"/>
                  <a:pt x="11906" y="33734"/>
                </a:cubicBezTo>
                <a:cubicBezTo>
                  <a:pt x="15193" y="29363"/>
                  <a:pt x="21425" y="28463"/>
                  <a:pt x="25797" y="31750"/>
                </a:cubicBezTo>
                <a:lnTo>
                  <a:pt x="59531" y="57051"/>
                </a:lnTo>
                <a:cubicBezTo>
                  <a:pt x="63345" y="55469"/>
                  <a:pt x="67531" y="54570"/>
                  <a:pt x="71934" y="54570"/>
                </a:cubicBezTo>
                <a:lnTo>
                  <a:pt x="106660" y="54570"/>
                </a:lnTo>
                <a:cubicBezTo>
                  <a:pt x="111063" y="54570"/>
                  <a:pt x="115249" y="55438"/>
                  <a:pt x="119062" y="57051"/>
                </a:cubicBezTo>
                <a:lnTo>
                  <a:pt x="152797" y="31750"/>
                </a:lnTo>
                <a:cubicBezTo>
                  <a:pt x="157169" y="28463"/>
                  <a:pt x="163401" y="29363"/>
                  <a:pt x="166688" y="33734"/>
                </a:cubicBezTo>
                <a:close/>
              </a:path>
            </a:pathLst>
          </a:custGeom>
          <a:solidFill>
            <a:srgbClr val="FFFFFF"/>
          </a:solidFill>
          <a:ln/>
        </p:spPr>
      </p:sp>
      <p:sp>
        <p:nvSpPr>
          <p:cNvPr id="19" name="Text 17"/>
          <p:cNvSpPr/>
          <p:nvPr/>
        </p:nvSpPr>
        <p:spPr>
          <a:xfrm>
            <a:off x="2857500" y="2254157"/>
            <a:ext cx="1968500" cy="190500"/>
          </a:xfrm>
          <a:prstGeom prst="rect">
            <a:avLst/>
          </a:prstGeom>
          <a:noFill/>
          <a:ln/>
        </p:spPr>
        <p:txBody>
          <a:bodyPr wrap="square" lIns="0" tIns="0" rIns="0" bIns="0" rtlCol="0" anchor="ctr"/>
          <a:lstStyle/>
          <a:p>
            <a:pPr algn="ctr">
              <a:lnSpc>
                <a:spcPct val="130000"/>
              </a:lnSpc>
            </a:pPr>
            <a:r>
              <a:rPr lang="en-US" sz="1000" b="1" dirty="0">
                <a:solidFill>
                  <a:srgbClr val="0A84FF"/>
                </a:solidFill>
                <a:latin typeface="Liter" pitchFamily="34" charset="0"/>
                <a:ea typeface="Liter" pitchFamily="34" charset="-122"/>
                <a:cs typeface="Liter" pitchFamily="34" charset="-120"/>
              </a:rPr>
              <a:t>Debugger</a:t>
            </a:r>
            <a:endParaRPr lang="en-US" sz="1600" dirty="0"/>
          </a:p>
        </p:txBody>
      </p:sp>
      <p:sp>
        <p:nvSpPr>
          <p:cNvPr id="20" name="Text 18"/>
          <p:cNvSpPr/>
          <p:nvPr/>
        </p:nvSpPr>
        <p:spPr>
          <a:xfrm>
            <a:off x="2861469" y="2476407"/>
            <a:ext cx="1960563" cy="158750"/>
          </a:xfrm>
          <a:prstGeom prst="rect">
            <a:avLst/>
          </a:prstGeom>
          <a:noFill/>
          <a:ln/>
        </p:spPr>
        <p:txBody>
          <a:bodyPr wrap="square" lIns="0" tIns="0" rIns="0" bIns="0" rtlCol="0" anchor="ctr"/>
          <a:lstStyle/>
          <a:p>
            <a:pPr algn="ctr">
              <a:lnSpc>
                <a:spcPct val="120000"/>
              </a:lnSpc>
            </a:pPr>
            <a:r>
              <a:rPr lang="en-US" sz="875" dirty="0">
                <a:solidFill>
                  <a:srgbClr val="F5F5F7"/>
                </a:solidFill>
                <a:latin typeface="Quattrocento Sans" pitchFamily="34" charset="0"/>
                <a:ea typeface="Quattrocento Sans" pitchFamily="34" charset="-122"/>
                <a:cs typeface="Quattrocento Sans" pitchFamily="34" charset="-120"/>
              </a:rPr>
              <a:t>Fix errors</a:t>
            </a:r>
            <a:endParaRPr lang="en-US" sz="1600" dirty="0"/>
          </a:p>
        </p:txBody>
      </p:sp>
      <p:sp>
        <p:nvSpPr>
          <p:cNvPr id="21" name="Shape 19"/>
          <p:cNvSpPr/>
          <p:nvPr/>
        </p:nvSpPr>
        <p:spPr>
          <a:xfrm>
            <a:off x="5016500" y="1666782"/>
            <a:ext cx="2159000" cy="1095375"/>
          </a:xfrm>
          <a:custGeom>
            <a:avLst/>
            <a:gdLst/>
            <a:ahLst/>
            <a:cxnLst/>
            <a:rect l="l" t="t" r="r" b="b"/>
            <a:pathLst>
              <a:path w="2159000" h="1095375">
                <a:moveTo>
                  <a:pt x="31750" y="0"/>
                </a:moveTo>
                <a:lnTo>
                  <a:pt x="2127250" y="0"/>
                </a:lnTo>
                <a:cubicBezTo>
                  <a:pt x="2144773" y="0"/>
                  <a:pt x="2159000" y="14227"/>
                  <a:pt x="2159000" y="31750"/>
                </a:cubicBezTo>
                <a:lnTo>
                  <a:pt x="2159000" y="1000125"/>
                </a:lnTo>
                <a:cubicBezTo>
                  <a:pt x="2159000" y="1052695"/>
                  <a:pt x="2116320" y="1095375"/>
                  <a:pt x="2063750" y="1095375"/>
                </a:cubicBezTo>
                <a:lnTo>
                  <a:pt x="95250" y="1095375"/>
                </a:lnTo>
                <a:cubicBezTo>
                  <a:pt x="42680" y="1095375"/>
                  <a:pt x="0" y="1052695"/>
                  <a:pt x="0" y="1000125"/>
                </a:cubicBezTo>
                <a:lnTo>
                  <a:pt x="0" y="31750"/>
                </a:lnTo>
                <a:cubicBezTo>
                  <a:pt x="0" y="14227"/>
                  <a:pt x="14227" y="0"/>
                  <a:pt x="31750" y="0"/>
                </a:cubicBezTo>
                <a:close/>
              </a:path>
            </a:pathLst>
          </a:custGeom>
          <a:solidFill>
            <a:srgbClr val="1A1D21"/>
          </a:solidFill>
          <a:ln/>
        </p:spPr>
      </p:sp>
      <p:sp>
        <p:nvSpPr>
          <p:cNvPr id="22" name="Shape 20"/>
          <p:cNvSpPr/>
          <p:nvPr/>
        </p:nvSpPr>
        <p:spPr>
          <a:xfrm>
            <a:off x="5016500" y="1666782"/>
            <a:ext cx="2159000" cy="31750"/>
          </a:xfrm>
          <a:custGeom>
            <a:avLst/>
            <a:gdLst/>
            <a:ahLst/>
            <a:cxnLst/>
            <a:rect l="l" t="t" r="r" b="b"/>
            <a:pathLst>
              <a:path w="2159000" h="31750">
                <a:moveTo>
                  <a:pt x="31750" y="0"/>
                </a:moveTo>
                <a:lnTo>
                  <a:pt x="2127250" y="0"/>
                </a:lnTo>
                <a:cubicBezTo>
                  <a:pt x="2144773" y="0"/>
                  <a:pt x="2159000" y="14227"/>
                  <a:pt x="2159000" y="31750"/>
                </a:cubicBezTo>
                <a:lnTo>
                  <a:pt x="2159000" y="31750"/>
                </a:lnTo>
                <a:lnTo>
                  <a:pt x="0" y="31750"/>
                </a:lnTo>
                <a:lnTo>
                  <a:pt x="0" y="31750"/>
                </a:lnTo>
                <a:cubicBezTo>
                  <a:pt x="0" y="14227"/>
                  <a:pt x="14227" y="0"/>
                  <a:pt x="31750" y="0"/>
                </a:cubicBezTo>
                <a:close/>
              </a:path>
            </a:pathLst>
          </a:custGeom>
          <a:solidFill>
            <a:srgbClr val="8E8E93"/>
          </a:solidFill>
          <a:ln/>
        </p:spPr>
      </p:sp>
      <p:sp>
        <p:nvSpPr>
          <p:cNvPr id="23" name="Shape 21"/>
          <p:cNvSpPr/>
          <p:nvPr/>
        </p:nvSpPr>
        <p:spPr>
          <a:xfrm>
            <a:off x="5905500" y="1809657"/>
            <a:ext cx="381000" cy="381000"/>
          </a:xfrm>
          <a:prstGeom prst="roundRect">
            <a:avLst>
              <a:gd name="adj" fmla="val 50000"/>
            </a:avLst>
          </a:prstGeom>
          <a:solidFill>
            <a:srgbClr val="8E8E93"/>
          </a:solidFill>
          <a:ln/>
        </p:spPr>
      </p:sp>
      <p:sp>
        <p:nvSpPr>
          <p:cNvPr id="24" name="Shape 22"/>
          <p:cNvSpPr/>
          <p:nvPr/>
        </p:nvSpPr>
        <p:spPr>
          <a:xfrm>
            <a:off x="6026547" y="1920782"/>
            <a:ext cx="138906" cy="158750"/>
          </a:xfrm>
          <a:custGeom>
            <a:avLst/>
            <a:gdLst/>
            <a:ahLst/>
            <a:cxnLst/>
            <a:rect l="l" t="t" r="r" b="b"/>
            <a:pathLst>
              <a:path w="138906" h="158750">
                <a:moveTo>
                  <a:pt x="28277" y="11441"/>
                </a:moveTo>
                <a:cubicBezTo>
                  <a:pt x="24433" y="9333"/>
                  <a:pt x="19782" y="9426"/>
                  <a:pt x="15999" y="11658"/>
                </a:cubicBezTo>
                <a:cubicBezTo>
                  <a:pt x="12216" y="13891"/>
                  <a:pt x="9922" y="17952"/>
                  <a:pt x="9922" y="22324"/>
                </a:cubicBezTo>
                <a:lnTo>
                  <a:pt x="9922" y="136426"/>
                </a:lnTo>
                <a:cubicBezTo>
                  <a:pt x="9922" y="140798"/>
                  <a:pt x="12247" y="144859"/>
                  <a:pt x="15999" y="147092"/>
                </a:cubicBezTo>
                <a:cubicBezTo>
                  <a:pt x="19751" y="149324"/>
                  <a:pt x="24433" y="149417"/>
                  <a:pt x="28277" y="147309"/>
                </a:cubicBezTo>
                <a:lnTo>
                  <a:pt x="132457" y="90258"/>
                </a:lnTo>
                <a:cubicBezTo>
                  <a:pt x="136426" y="88088"/>
                  <a:pt x="138906" y="83902"/>
                  <a:pt x="138906" y="79375"/>
                </a:cubicBezTo>
                <a:cubicBezTo>
                  <a:pt x="138906" y="74848"/>
                  <a:pt x="136426" y="70662"/>
                  <a:pt x="132457" y="68492"/>
                </a:cubicBezTo>
                <a:lnTo>
                  <a:pt x="28277" y="11441"/>
                </a:lnTo>
                <a:close/>
              </a:path>
            </a:pathLst>
          </a:custGeom>
          <a:solidFill>
            <a:srgbClr val="FFFFFF"/>
          </a:solidFill>
          <a:ln/>
        </p:spPr>
      </p:sp>
      <p:sp>
        <p:nvSpPr>
          <p:cNvPr id="25" name="Text 23"/>
          <p:cNvSpPr/>
          <p:nvPr/>
        </p:nvSpPr>
        <p:spPr>
          <a:xfrm>
            <a:off x="5111750" y="2254157"/>
            <a:ext cx="1968500" cy="190500"/>
          </a:xfrm>
          <a:prstGeom prst="rect">
            <a:avLst/>
          </a:prstGeom>
          <a:noFill/>
          <a:ln/>
        </p:spPr>
        <p:txBody>
          <a:bodyPr wrap="square" lIns="0" tIns="0" rIns="0" bIns="0" rtlCol="0" anchor="ctr"/>
          <a:lstStyle/>
          <a:p>
            <a:pPr algn="ctr">
              <a:lnSpc>
                <a:spcPct val="130000"/>
              </a:lnSpc>
            </a:pPr>
            <a:r>
              <a:rPr lang="en-US" sz="1000" b="1" dirty="0">
                <a:solidFill>
                  <a:srgbClr val="8E8E93"/>
                </a:solidFill>
                <a:latin typeface="Liter" pitchFamily="34" charset="0"/>
                <a:ea typeface="Liter" pitchFamily="34" charset="-122"/>
                <a:cs typeface="Liter" pitchFamily="34" charset="-120"/>
              </a:rPr>
              <a:t>Build Tools</a:t>
            </a:r>
            <a:endParaRPr lang="en-US" sz="1600" dirty="0"/>
          </a:p>
        </p:txBody>
      </p:sp>
      <p:sp>
        <p:nvSpPr>
          <p:cNvPr id="26" name="Text 24"/>
          <p:cNvSpPr/>
          <p:nvPr/>
        </p:nvSpPr>
        <p:spPr>
          <a:xfrm>
            <a:off x="5115719" y="2476407"/>
            <a:ext cx="1960563" cy="158750"/>
          </a:xfrm>
          <a:prstGeom prst="rect">
            <a:avLst/>
          </a:prstGeom>
          <a:noFill/>
          <a:ln/>
        </p:spPr>
        <p:txBody>
          <a:bodyPr wrap="square" lIns="0" tIns="0" rIns="0" bIns="0" rtlCol="0" anchor="ctr"/>
          <a:lstStyle/>
          <a:p>
            <a:pPr algn="ctr">
              <a:lnSpc>
                <a:spcPct val="120000"/>
              </a:lnSpc>
            </a:pPr>
            <a:r>
              <a:rPr lang="en-US" sz="875" dirty="0">
                <a:solidFill>
                  <a:srgbClr val="F5F5F7"/>
                </a:solidFill>
                <a:latin typeface="Quattrocento Sans" pitchFamily="34" charset="0"/>
                <a:ea typeface="Quattrocento Sans" pitchFamily="34" charset="-122"/>
                <a:cs typeface="Quattrocento Sans" pitchFamily="34" charset="-120"/>
              </a:rPr>
              <a:t>Compile app</a:t>
            </a:r>
            <a:endParaRPr lang="en-US" sz="1600" dirty="0"/>
          </a:p>
        </p:txBody>
      </p:sp>
      <p:sp>
        <p:nvSpPr>
          <p:cNvPr id="27" name="Shape 25"/>
          <p:cNvSpPr/>
          <p:nvPr/>
        </p:nvSpPr>
        <p:spPr>
          <a:xfrm>
            <a:off x="7270750" y="1666782"/>
            <a:ext cx="2159000" cy="1095375"/>
          </a:xfrm>
          <a:custGeom>
            <a:avLst/>
            <a:gdLst/>
            <a:ahLst/>
            <a:cxnLst/>
            <a:rect l="l" t="t" r="r" b="b"/>
            <a:pathLst>
              <a:path w="2159000" h="1095375">
                <a:moveTo>
                  <a:pt x="31750" y="0"/>
                </a:moveTo>
                <a:lnTo>
                  <a:pt x="2127250" y="0"/>
                </a:lnTo>
                <a:cubicBezTo>
                  <a:pt x="2144773" y="0"/>
                  <a:pt x="2159000" y="14227"/>
                  <a:pt x="2159000" y="31750"/>
                </a:cubicBezTo>
                <a:lnTo>
                  <a:pt x="2159000" y="1000125"/>
                </a:lnTo>
                <a:cubicBezTo>
                  <a:pt x="2159000" y="1052695"/>
                  <a:pt x="2116320" y="1095375"/>
                  <a:pt x="2063750" y="1095375"/>
                </a:cubicBezTo>
                <a:lnTo>
                  <a:pt x="95250" y="1095375"/>
                </a:lnTo>
                <a:cubicBezTo>
                  <a:pt x="42680" y="1095375"/>
                  <a:pt x="0" y="1052695"/>
                  <a:pt x="0" y="1000125"/>
                </a:cubicBezTo>
                <a:lnTo>
                  <a:pt x="0" y="31750"/>
                </a:lnTo>
                <a:cubicBezTo>
                  <a:pt x="0" y="14227"/>
                  <a:pt x="14227" y="0"/>
                  <a:pt x="31750" y="0"/>
                </a:cubicBezTo>
                <a:close/>
              </a:path>
            </a:pathLst>
          </a:custGeom>
          <a:solidFill>
            <a:srgbClr val="1A1D21"/>
          </a:solidFill>
          <a:ln/>
        </p:spPr>
      </p:sp>
      <p:sp>
        <p:nvSpPr>
          <p:cNvPr id="28" name="Shape 26"/>
          <p:cNvSpPr/>
          <p:nvPr/>
        </p:nvSpPr>
        <p:spPr>
          <a:xfrm>
            <a:off x="7270750" y="1666782"/>
            <a:ext cx="2159000" cy="31750"/>
          </a:xfrm>
          <a:custGeom>
            <a:avLst/>
            <a:gdLst/>
            <a:ahLst/>
            <a:cxnLst/>
            <a:rect l="l" t="t" r="r" b="b"/>
            <a:pathLst>
              <a:path w="2159000" h="31750">
                <a:moveTo>
                  <a:pt x="31750" y="0"/>
                </a:moveTo>
                <a:lnTo>
                  <a:pt x="2127250" y="0"/>
                </a:lnTo>
                <a:cubicBezTo>
                  <a:pt x="2144773" y="0"/>
                  <a:pt x="2159000" y="14227"/>
                  <a:pt x="2159000" y="31750"/>
                </a:cubicBezTo>
                <a:lnTo>
                  <a:pt x="2159000" y="31750"/>
                </a:lnTo>
                <a:lnTo>
                  <a:pt x="0" y="31750"/>
                </a:lnTo>
                <a:lnTo>
                  <a:pt x="0" y="31750"/>
                </a:lnTo>
                <a:cubicBezTo>
                  <a:pt x="0" y="14227"/>
                  <a:pt x="14227" y="0"/>
                  <a:pt x="31750" y="0"/>
                </a:cubicBezTo>
                <a:close/>
              </a:path>
            </a:pathLst>
          </a:custGeom>
          <a:solidFill>
            <a:srgbClr val="FF9500"/>
          </a:solidFill>
          <a:ln/>
        </p:spPr>
      </p:sp>
      <p:sp>
        <p:nvSpPr>
          <p:cNvPr id="29" name="Shape 27"/>
          <p:cNvSpPr/>
          <p:nvPr/>
        </p:nvSpPr>
        <p:spPr>
          <a:xfrm>
            <a:off x="8159750" y="1809657"/>
            <a:ext cx="381000" cy="381000"/>
          </a:xfrm>
          <a:prstGeom prst="roundRect">
            <a:avLst>
              <a:gd name="adj" fmla="val 50000"/>
            </a:avLst>
          </a:prstGeom>
          <a:solidFill>
            <a:srgbClr val="FF9500"/>
          </a:solidFill>
          <a:ln/>
        </p:spPr>
      </p:sp>
      <p:sp>
        <p:nvSpPr>
          <p:cNvPr id="30" name="Shape 28"/>
          <p:cNvSpPr/>
          <p:nvPr/>
        </p:nvSpPr>
        <p:spPr>
          <a:xfrm>
            <a:off x="8290719" y="1920782"/>
            <a:ext cx="119063" cy="158750"/>
          </a:xfrm>
          <a:custGeom>
            <a:avLst/>
            <a:gdLst/>
            <a:ahLst/>
            <a:cxnLst/>
            <a:rect l="l" t="t" r="r" b="b"/>
            <a:pathLst>
              <a:path w="119063" h="158750">
                <a:moveTo>
                  <a:pt x="4961" y="19844"/>
                </a:moveTo>
                <a:cubicBezTo>
                  <a:pt x="4961" y="8899"/>
                  <a:pt x="13860" y="0"/>
                  <a:pt x="24805" y="0"/>
                </a:cubicBezTo>
                <a:lnTo>
                  <a:pt x="94258" y="0"/>
                </a:lnTo>
                <a:cubicBezTo>
                  <a:pt x="105203" y="0"/>
                  <a:pt x="114102" y="8899"/>
                  <a:pt x="114102" y="19844"/>
                </a:cubicBezTo>
                <a:lnTo>
                  <a:pt x="114102" y="138906"/>
                </a:lnTo>
                <a:cubicBezTo>
                  <a:pt x="114102" y="149851"/>
                  <a:pt x="105203" y="158750"/>
                  <a:pt x="94258" y="158750"/>
                </a:cubicBezTo>
                <a:lnTo>
                  <a:pt x="24805" y="158750"/>
                </a:lnTo>
                <a:cubicBezTo>
                  <a:pt x="13860" y="158750"/>
                  <a:pt x="4961" y="149851"/>
                  <a:pt x="4961" y="138906"/>
                </a:cubicBezTo>
                <a:lnTo>
                  <a:pt x="4961" y="19844"/>
                </a:lnTo>
                <a:close/>
                <a:moveTo>
                  <a:pt x="24805" y="19844"/>
                </a:moveTo>
                <a:lnTo>
                  <a:pt x="24805" y="114102"/>
                </a:lnTo>
                <a:lnTo>
                  <a:pt x="94258" y="114102"/>
                </a:lnTo>
                <a:lnTo>
                  <a:pt x="94258" y="19844"/>
                </a:lnTo>
                <a:lnTo>
                  <a:pt x="24805" y="19844"/>
                </a:lnTo>
                <a:close/>
                <a:moveTo>
                  <a:pt x="59531" y="146348"/>
                </a:moveTo>
                <a:cubicBezTo>
                  <a:pt x="65019" y="146348"/>
                  <a:pt x="69453" y="141914"/>
                  <a:pt x="69453" y="136426"/>
                </a:cubicBezTo>
                <a:cubicBezTo>
                  <a:pt x="69453" y="130938"/>
                  <a:pt x="65019" y="126504"/>
                  <a:pt x="59531" y="126504"/>
                </a:cubicBezTo>
                <a:cubicBezTo>
                  <a:pt x="54043" y="126504"/>
                  <a:pt x="49609" y="130938"/>
                  <a:pt x="49609" y="136426"/>
                </a:cubicBezTo>
                <a:cubicBezTo>
                  <a:pt x="49609" y="141914"/>
                  <a:pt x="54043" y="146348"/>
                  <a:pt x="59531" y="146348"/>
                </a:cubicBezTo>
                <a:close/>
              </a:path>
            </a:pathLst>
          </a:custGeom>
          <a:solidFill>
            <a:srgbClr val="FFFFFF"/>
          </a:solidFill>
          <a:ln/>
        </p:spPr>
      </p:sp>
      <p:sp>
        <p:nvSpPr>
          <p:cNvPr id="31" name="Text 29"/>
          <p:cNvSpPr/>
          <p:nvPr/>
        </p:nvSpPr>
        <p:spPr>
          <a:xfrm>
            <a:off x="7366000" y="2254157"/>
            <a:ext cx="1968500" cy="190500"/>
          </a:xfrm>
          <a:prstGeom prst="rect">
            <a:avLst/>
          </a:prstGeom>
          <a:noFill/>
          <a:ln/>
        </p:spPr>
        <p:txBody>
          <a:bodyPr wrap="square" lIns="0" tIns="0" rIns="0" bIns="0" rtlCol="0" anchor="ctr"/>
          <a:lstStyle/>
          <a:p>
            <a:pPr algn="ctr">
              <a:lnSpc>
                <a:spcPct val="130000"/>
              </a:lnSpc>
            </a:pPr>
            <a:r>
              <a:rPr lang="en-US" sz="1000" b="1" dirty="0">
                <a:solidFill>
                  <a:srgbClr val="FF9500"/>
                </a:solidFill>
                <a:latin typeface="Liter" pitchFamily="34" charset="0"/>
                <a:ea typeface="Liter" pitchFamily="34" charset="-122"/>
                <a:cs typeface="Liter" pitchFamily="34" charset="-120"/>
              </a:rPr>
              <a:t>Emulator</a:t>
            </a:r>
            <a:endParaRPr lang="en-US" sz="1600" dirty="0"/>
          </a:p>
        </p:txBody>
      </p:sp>
      <p:sp>
        <p:nvSpPr>
          <p:cNvPr id="32" name="Text 30"/>
          <p:cNvSpPr/>
          <p:nvPr/>
        </p:nvSpPr>
        <p:spPr>
          <a:xfrm>
            <a:off x="7369969" y="2476407"/>
            <a:ext cx="1960563" cy="158750"/>
          </a:xfrm>
          <a:prstGeom prst="rect">
            <a:avLst/>
          </a:prstGeom>
          <a:noFill/>
          <a:ln/>
        </p:spPr>
        <p:txBody>
          <a:bodyPr wrap="square" lIns="0" tIns="0" rIns="0" bIns="0" rtlCol="0" anchor="ctr"/>
          <a:lstStyle/>
          <a:p>
            <a:pPr algn="ctr">
              <a:lnSpc>
                <a:spcPct val="120000"/>
              </a:lnSpc>
            </a:pPr>
            <a:r>
              <a:rPr lang="en-US" sz="875" dirty="0">
                <a:solidFill>
                  <a:srgbClr val="F5F5F7"/>
                </a:solidFill>
                <a:latin typeface="Quattrocento Sans" pitchFamily="34" charset="0"/>
                <a:ea typeface="Quattrocento Sans" pitchFamily="34" charset="-122"/>
                <a:cs typeface="Quattrocento Sans" pitchFamily="34" charset="-120"/>
              </a:rPr>
              <a:t>Test app</a:t>
            </a:r>
            <a:endParaRPr lang="en-US" sz="1600" dirty="0"/>
          </a:p>
        </p:txBody>
      </p:sp>
      <p:sp>
        <p:nvSpPr>
          <p:cNvPr id="33" name="Shape 31"/>
          <p:cNvSpPr/>
          <p:nvPr/>
        </p:nvSpPr>
        <p:spPr>
          <a:xfrm>
            <a:off x="9525000" y="1666782"/>
            <a:ext cx="2159000" cy="1095375"/>
          </a:xfrm>
          <a:custGeom>
            <a:avLst/>
            <a:gdLst/>
            <a:ahLst/>
            <a:cxnLst/>
            <a:rect l="l" t="t" r="r" b="b"/>
            <a:pathLst>
              <a:path w="2159000" h="1095375">
                <a:moveTo>
                  <a:pt x="31750" y="0"/>
                </a:moveTo>
                <a:lnTo>
                  <a:pt x="2127250" y="0"/>
                </a:lnTo>
                <a:cubicBezTo>
                  <a:pt x="2144773" y="0"/>
                  <a:pt x="2159000" y="14227"/>
                  <a:pt x="2159000" y="31750"/>
                </a:cubicBezTo>
                <a:lnTo>
                  <a:pt x="2159000" y="1000125"/>
                </a:lnTo>
                <a:cubicBezTo>
                  <a:pt x="2159000" y="1052695"/>
                  <a:pt x="2116320" y="1095375"/>
                  <a:pt x="2063750" y="1095375"/>
                </a:cubicBezTo>
                <a:lnTo>
                  <a:pt x="95250" y="1095375"/>
                </a:lnTo>
                <a:cubicBezTo>
                  <a:pt x="42680" y="1095375"/>
                  <a:pt x="0" y="1052695"/>
                  <a:pt x="0" y="1000125"/>
                </a:cubicBezTo>
                <a:lnTo>
                  <a:pt x="0" y="31750"/>
                </a:lnTo>
                <a:cubicBezTo>
                  <a:pt x="0" y="14227"/>
                  <a:pt x="14227" y="0"/>
                  <a:pt x="31750" y="0"/>
                </a:cubicBezTo>
                <a:close/>
              </a:path>
            </a:pathLst>
          </a:custGeom>
          <a:solidFill>
            <a:srgbClr val="1A1D21"/>
          </a:solidFill>
          <a:ln/>
        </p:spPr>
      </p:sp>
      <p:sp>
        <p:nvSpPr>
          <p:cNvPr id="34" name="Shape 32"/>
          <p:cNvSpPr/>
          <p:nvPr/>
        </p:nvSpPr>
        <p:spPr>
          <a:xfrm>
            <a:off x="9525000" y="1666782"/>
            <a:ext cx="2159000" cy="31750"/>
          </a:xfrm>
          <a:custGeom>
            <a:avLst/>
            <a:gdLst/>
            <a:ahLst/>
            <a:cxnLst/>
            <a:rect l="l" t="t" r="r" b="b"/>
            <a:pathLst>
              <a:path w="2159000" h="31750">
                <a:moveTo>
                  <a:pt x="31750" y="0"/>
                </a:moveTo>
                <a:lnTo>
                  <a:pt x="2127250" y="0"/>
                </a:lnTo>
                <a:cubicBezTo>
                  <a:pt x="2144773" y="0"/>
                  <a:pt x="2159000" y="14227"/>
                  <a:pt x="2159000" y="31750"/>
                </a:cubicBezTo>
                <a:lnTo>
                  <a:pt x="2159000" y="31750"/>
                </a:lnTo>
                <a:lnTo>
                  <a:pt x="0" y="31750"/>
                </a:lnTo>
                <a:lnTo>
                  <a:pt x="0" y="31750"/>
                </a:lnTo>
                <a:cubicBezTo>
                  <a:pt x="0" y="14227"/>
                  <a:pt x="14227" y="0"/>
                  <a:pt x="31750" y="0"/>
                </a:cubicBezTo>
                <a:close/>
              </a:path>
            </a:pathLst>
          </a:custGeom>
          <a:solidFill>
            <a:srgbClr val="34C759"/>
          </a:solidFill>
          <a:ln/>
        </p:spPr>
      </p:sp>
      <p:sp>
        <p:nvSpPr>
          <p:cNvPr id="35" name="Shape 33"/>
          <p:cNvSpPr/>
          <p:nvPr/>
        </p:nvSpPr>
        <p:spPr>
          <a:xfrm>
            <a:off x="10414000" y="1809657"/>
            <a:ext cx="381000" cy="381000"/>
          </a:xfrm>
          <a:prstGeom prst="roundRect">
            <a:avLst>
              <a:gd name="adj" fmla="val 50000"/>
            </a:avLst>
          </a:prstGeom>
          <a:solidFill>
            <a:srgbClr val="34C759"/>
          </a:solidFill>
          <a:ln/>
        </p:spPr>
      </p:sp>
      <p:sp>
        <p:nvSpPr>
          <p:cNvPr id="36" name="Shape 34"/>
          <p:cNvSpPr/>
          <p:nvPr/>
        </p:nvSpPr>
        <p:spPr>
          <a:xfrm>
            <a:off x="10535047" y="1920782"/>
            <a:ext cx="138906" cy="158750"/>
          </a:xfrm>
          <a:custGeom>
            <a:avLst/>
            <a:gdLst/>
            <a:ahLst/>
            <a:cxnLst/>
            <a:rect l="l" t="t" r="r" b="b"/>
            <a:pathLst>
              <a:path w="138906" h="158750">
                <a:moveTo>
                  <a:pt x="39688" y="-9922"/>
                </a:moveTo>
                <a:cubicBezTo>
                  <a:pt x="45176" y="-9922"/>
                  <a:pt x="49609" y="-5488"/>
                  <a:pt x="49609" y="0"/>
                </a:cubicBezTo>
                <a:lnTo>
                  <a:pt x="49609" y="29766"/>
                </a:lnTo>
                <a:lnTo>
                  <a:pt x="89297" y="29766"/>
                </a:lnTo>
                <a:lnTo>
                  <a:pt x="89297" y="0"/>
                </a:lnTo>
                <a:cubicBezTo>
                  <a:pt x="89297" y="-5488"/>
                  <a:pt x="93731" y="-9922"/>
                  <a:pt x="99219" y="-9922"/>
                </a:cubicBezTo>
                <a:cubicBezTo>
                  <a:pt x="104707" y="-9922"/>
                  <a:pt x="109141" y="-5488"/>
                  <a:pt x="109141" y="0"/>
                </a:cubicBezTo>
                <a:lnTo>
                  <a:pt x="109141" y="29766"/>
                </a:lnTo>
                <a:lnTo>
                  <a:pt x="128984" y="29766"/>
                </a:lnTo>
                <a:cubicBezTo>
                  <a:pt x="134472" y="29766"/>
                  <a:pt x="138906" y="34199"/>
                  <a:pt x="138906" y="39688"/>
                </a:cubicBezTo>
                <a:cubicBezTo>
                  <a:pt x="138906" y="45176"/>
                  <a:pt x="134472" y="49609"/>
                  <a:pt x="128984" y="49609"/>
                </a:cubicBezTo>
                <a:lnTo>
                  <a:pt x="128984" y="69453"/>
                </a:lnTo>
                <a:cubicBezTo>
                  <a:pt x="128984" y="98940"/>
                  <a:pt x="107528" y="123434"/>
                  <a:pt x="79375" y="128147"/>
                </a:cubicBezTo>
                <a:lnTo>
                  <a:pt x="79375" y="148828"/>
                </a:lnTo>
                <a:cubicBezTo>
                  <a:pt x="79375" y="154316"/>
                  <a:pt x="74941" y="158750"/>
                  <a:pt x="69453" y="158750"/>
                </a:cubicBezTo>
                <a:cubicBezTo>
                  <a:pt x="63965" y="158750"/>
                  <a:pt x="59531" y="154316"/>
                  <a:pt x="59531" y="148828"/>
                </a:cubicBezTo>
                <a:lnTo>
                  <a:pt x="59531" y="128147"/>
                </a:lnTo>
                <a:cubicBezTo>
                  <a:pt x="31378" y="123434"/>
                  <a:pt x="9922" y="98940"/>
                  <a:pt x="9922" y="69453"/>
                </a:cubicBezTo>
                <a:lnTo>
                  <a:pt x="9922" y="49609"/>
                </a:lnTo>
                <a:cubicBezTo>
                  <a:pt x="4434" y="49609"/>
                  <a:pt x="0" y="45176"/>
                  <a:pt x="0" y="39688"/>
                </a:cubicBezTo>
                <a:cubicBezTo>
                  <a:pt x="0" y="34199"/>
                  <a:pt x="4434" y="29766"/>
                  <a:pt x="9922" y="29766"/>
                </a:cubicBezTo>
                <a:lnTo>
                  <a:pt x="29766" y="29766"/>
                </a:lnTo>
                <a:lnTo>
                  <a:pt x="29766" y="0"/>
                </a:lnTo>
                <a:cubicBezTo>
                  <a:pt x="29766" y="-5488"/>
                  <a:pt x="34199" y="-9922"/>
                  <a:pt x="39688" y="-9922"/>
                </a:cubicBezTo>
                <a:close/>
              </a:path>
            </a:pathLst>
          </a:custGeom>
          <a:solidFill>
            <a:srgbClr val="1D1D1F"/>
          </a:solidFill>
          <a:ln/>
        </p:spPr>
      </p:sp>
      <p:sp>
        <p:nvSpPr>
          <p:cNvPr id="37" name="Text 35"/>
          <p:cNvSpPr/>
          <p:nvPr/>
        </p:nvSpPr>
        <p:spPr>
          <a:xfrm>
            <a:off x="9620250" y="2254157"/>
            <a:ext cx="1968500" cy="190500"/>
          </a:xfrm>
          <a:prstGeom prst="rect">
            <a:avLst/>
          </a:prstGeom>
          <a:noFill/>
          <a:ln/>
        </p:spPr>
        <p:txBody>
          <a:bodyPr wrap="square" lIns="0" tIns="0" rIns="0" bIns="0" rtlCol="0" anchor="ctr"/>
          <a:lstStyle/>
          <a:p>
            <a:pPr algn="ctr">
              <a:lnSpc>
                <a:spcPct val="130000"/>
              </a:lnSpc>
            </a:pPr>
            <a:r>
              <a:rPr lang="en-US" sz="1000" b="1" dirty="0">
                <a:solidFill>
                  <a:srgbClr val="34C759"/>
                </a:solidFill>
                <a:latin typeface="Liter" pitchFamily="34" charset="0"/>
                <a:ea typeface="Liter" pitchFamily="34" charset="-122"/>
                <a:cs typeface="Liter" pitchFamily="34" charset="-120"/>
              </a:rPr>
              <a:t>Extensions</a:t>
            </a:r>
            <a:endParaRPr lang="en-US" sz="1600" dirty="0"/>
          </a:p>
        </p:txBody>
      </p:sp>
      <p:sp>
        <p:nvSpPr>
          <p:cNvPr id="38" name="Text 36"/>
          <p:cNvSpPr/>
          <p:nvPr/>
        </p:nvSpPr>
        <p:spPr>
          <a:xfrm>
            <a:off x="9624219" y="2476407"/>
            <a:ext cx="1960563" cy="158750"/>
          </a:xfrm>
          <a:prstGeom prst="rect">
            <a:avLst/>
          </a:prstGeom>
          <a:noFill/>
          <a:ln/>
        </p:spPr>
        <p:txBody>
          <a:bodyPr wrap="square" lIns="0" tIns="0" rIns="0" bIns="0" rtlCol="0" anchor="ctr"/>
          <a:lstStyle/>
          <a:p>
            <a:pPr algn="ctr">
              <a:lnSpc>
                <a:spcPct val="120000"/>
              </a:lnSpc>
            </a:pPr>
            <a:r>
              <a:rPr lang="en-US" sz="875" dirty="0">
                <a:solidFill>
                  <a:srgbClr val="F5F5F7"/>
                </a:solidFill>
                <a:latin typeface="Quattrocento Sans" pitchFamily="34" charset="0"/>
                <a:ea typeface="Quattrocento Sans" pitchFamily="34" charset="-122"/>
                <a:cs typeface="Quattrocento Sans" pitchFamily="34" charset="-120"/>
              </a:rPr>
              <a:t>Add features</a:t>
            </a:r>
            <a:endParaRPr lang="en-US" sz="1600" dirty="0"/>
          </a:p>
        </p:txBody>
      </p:sp>
      <p:sp>
        <p:nvSpPr>
          <p:cNvPr id="39" name="Shape 37"/>
          <p:cNvSpPr/>
          <p:nvPr/>
        </p:nvSpPr>
        <p:spPr>
          <a:xfrm>
            <a:off x="333375" y="3079657"/>
            <a:ext cx="5699125" cy="3063875"/>
          </a:xfrm>
          <a:custGeom>
            <a:avLst/>
            <a:gdLst/>
            <a:ahLst/>
            <a:cxnLst/>
            <a:rect l="l" t="t" r="r" b="b"/>
            <a:pathLst>
              <a:path w="5699125" h="3063875">
                <a:moveTo>
                  <a:pt x="31750" y="0"/>
                </a:moveTo>
                <a:lnTo>
                  <a:pt x="5572125" y="0"/>
                </a:lnTo>
                <a:cubicBezTo>
                  <a:pt x="5642218" y="0"/>
                  <a:pt x="5699125" y="56907"/>
                  <a:pt x="5699125" y="127000"/>
                </a:cubicBezTo>
                <a:lnTo>
                  <a:pt x="5699125" y="2936875"/>
                </a:lnTo>
                <a:cubicBezTo>
                  <a:pt x="5699125" y="3006968"/>
                  <a:pt x="5642218" y="3063875"/>
                  <a:pt x="5572125" y="3063875"/>
                </a:cubicBezTo>
                <a:lnTo>
                  <a:pt x="31750" y="3063875"/>
                </a:lnTo>
                <a:cubicBezTo>
                  <a:pt x="14227" y="3063875"/>
                  <a:pt x="0" y="3049648"/>
                  <a:pt x="0" y="3032125"/>
                </a:cubicBezTo>
                <a:lnTo>
                  <a:pt x="0" y="31750"/>
                </a:lnTo>
                <a:cubicBezTo>
                  <a:pt x="0" y="14227"/>
                  <a:pt x="14227" y="0"/>
                  <a:pt x="31750" y="0"/>
                </a:cubicBezTo>
                <a:close/>
              </a:path>
            </a:pathLst>
          </a:custGeom>
          <a:solidFill>
            <a:srgbClr val="2C2C2E"/>
          </a:solidFill>
          <a:ln/>
        </p:spPr>
      </p:sp>
      <p:sp>
        <p:nvSpPr>
          <p:cNvPr id="40" name="Shape 38"/>
          <p:cNvSpPr/>
          <p:nvPr/>
        </p:nvSpPr>
        <p:spPr>
          <a:xfrm>
            <a:off x="333375" y="3079657"/>
            <a:ext cx="31750" cy="3063875"/>
          </a:xfrm>
          <a:custGeom>
            <a:avLst/>
            <a:gdLst/>
            <a:ahLst/>
            <a:cxnLst/>
            <a:rect l="l" t="t" r="r" b="b"/>
            <a:pathLst>
              <a:path w="31750" h="3063875">
                <a:moveTo>
                  <a:pt x="31750" y="0"/>
                </a:moveTo>
                <a:lnTo>
                  <a:pt x="31750" y="0"/>
                </a:lnTo>
                <a:lnTo>
                  <a:pt x="31750" y="3063875"/>
                </a:lnTo>
                <a:lnTo>
                  <a:pt x="31750" y="3063875"/>
                </a:lnTo>
                <a:cubicBezTo>
                  <a:pt x="14227" y="3063875"/>
                  <a:pt x="0" y="3049648"/>
                  <a:pt x="0" y="3032125"/>
                </a:cubicBezTo>
                <a:lnTo>
                  <a:pt x="0" y="31750"/>
                </a:lnTo>
                <a:cubicBezTo>
                  <a:pt x="0" y="14227"/>
                  <a:pt x="14227" y="0"/>
                  <a:pt x="31750" y="0"/>
                </a:cubicBezTo>
                <a:close/>
              </a:path>
            </a:pathLst>
          </a:custGeom>
          <a:solidFill>
            <a:srgbClr val="34C759"/>
          </a:solidFill>
          <a:ln/>
        </p:spPr>
      </p:sp>
      <p:sp>
        <p:nvSpPr>
          <p:cNvPr id="41" name="Shape 39"/>
          <p:cNvSpPr/>
          <p:nvPr/>
        </p:nvSpPr>
        <p:spPr>
          <a:xfrm>
            <a:off x="579438" y="3301907"/>
            <a:ext cx="119063" cy="1587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rgbClr val="34C759"/>
          </a:solidFill>
          <a:ln/>
        </p:spPr>
      </p:sp>
      <p:sp>
        <p:nvSpPr>
          <p:cNvPr id="42" name="Text 40"/>
          <p:cNvSpPr/>
          <p:nvPr/>
        </p:nvSpPr>
        <p:spPr>
          <a:xfrm>
            <a:off x="738188" y="3270157"/>
            <a:ext cx="5183188" cy="222250"/>
          </a:xfrm>
          <a:prstGeom prst="rect">
            <a:avLst/>
          </a:prstGeom>
          <a:noFill/>
          <a:ln/>
        </p:spPr>
        <p:txBody>
          <a:bodyPr wrap="square" lIns="0" tIns="0" rIns="0" bIns="0" rtlCol="0" anchor="ctr"/>
          <a:lstStyle/>
          <a:p>
            <a:pPr>
              <a:lnSpc>
                <a:spcPct val="120000"/>
              </a:lnSpc>
            </a:pPr>
            <a:r>
              <a:rPr lang="en-US" sz="1250" b="1" dirty="0">
                <a:solidFill>
                  <a:srgbClr val="34C759"/>
                </a:solidFill>
                <a:latin typeface="Liter" pitchFamily="34" charset="0"/>
                <a:ea typeface="Liter" pitchFamily="34" charset="-122"/>
                <a:cs typeface="Liter" pitchFamily="34" charset="-120"/>
              </a:rPr>
              <a:t>Key Points</a:t>
            </a:r>
            <a:endParaRPr lang="en-US" sz="1600" dirty="0"/>
          </a:p>
        </p:txBody>
      </p:sp>
      <p:sp>
        <p:nvSpPr>
          <p:cNvPr id="43" name="Text 41"/>
          <p:cNvSpPr/>
          <p:nvPr/>
        </p:nvSpPr>
        <p:spPr>
          <a:xfrm>
            <a:off x="539750" y="3619407"/>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4" name="Text 42"/>
          <p:cNvSpPr/>
          <p:nvPr/>
        </p:nvSpPr>
        <p:spPr>
          <a:xfrm>
            <a:off x="644922" y="3619407"/>
            <a:ext cx="1968500"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IDE combines </a:t>
            </a:r>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all tools in one place</a:t>
            </a:r>
            <a:endParaRPr lang="en-US" sz="1600" dirty="0"/>
          </a:p>
        </p:txBody>
      </p:sp>
      <p:sp>
        <p:nvSpPr>
          <p:cNvPr id="45" name="Text 43"/>
          <p:cNvSpPr/>
          <p:nvPr/>
        </p:nvSpPr>
        <p:spPr>
          <a:xfrm>
            <a:off x="539750" y="3905157"/>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6" name="Text 44"/>
          <p:cNvSpPr/>
          <p:nvPr/>
        </p:nvSpPr>
        <p:spPr>
          <a:xfrm>
            <a:off x="644922" y="3905157"/>
            <a:ext cx="2293938"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Syntax highlighting</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makes code readable</a:t>
            </a:r>
            <a:endParaRPr lang="en-US" sz="1600" dirty="0"/>
          </a:p>
        </p:txBody>
      </p:sp>
      <p:sp>
        <p:nvSpPr>
          <p:cNvPr id="47" name="Text 45"/>
          <p:cNvSpPr/>
          <p:nvPr/>
        </p:nvSpPr>
        <p:spPr>
          <a:xfrm>
            <a:off x="539750" y="4190907"/>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48" name="Text 46"/>
          <p:cNvSpPr/>
          <p:nvPr/>
        </p:nvSpPr>
        <p:spPr>
          <a:xfrm>
            <a:off x="644922" y="4190907"/>
            <a:ext cx="2000250"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Auto-completion</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speeds up coding</a:t>
            </a:r>
            <a:endParaRPr lang="en-US" sz="1600" dirty="0"/>
          </a:p>
        </p:txBody>
      </p:sp>
      <p:sp>
        <p:nvSpPr>
          <p:cNvPr id="49" name="Text 47"/>
          <p:cNvSpPr/>
          <p:nvPr/>
        </p:nvSpPr>
        <p:spPr>
          <a:xfrm>
            <a:off x="539750" y="4476657"/>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50" name="Text 48"/>
          <p:cNvSpPr/>
          <p:nvPr/>
        </p:nvSpPr>
        <p:spPr>
          <a:xfrm>
            <a:off x="644922" y="4476657"/>
            <a:ext cx="2151063"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Error detection</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catches mistakes early</a:t>
            </a:r>
            <a:endParaRPr lang="en-US" sz="1600" dirty="0"/>
          </a:p>
        </p:txBody>
      </p:sp>
      <p:sp>
        <p:nvSpPr>
          <p:cNvPr id="51" name="Text 49"/>
          <p:cNvSpPr/>
          <p:nvPr/>
        </p:nvSpPr>
        <p:spPr>
          <a:xfrm>
            <a:off x="539750" y="4762407"/>
            <a:ext cx="103188" cy="190500"/>
          </a:xfrm>
          <a:prstGeom prst="rect">
            <a:avLst/>
          </a:prstGeom>
          <a:noFill/>
          <a:ln/>
        </p:spPr>
        <p:txBody>
          <a:bodyPr wrap="square" lIns="0" tIns="0" rIns="0" bIns="0" rtlCol="0" anchor="ctr"/>
          <a:lstStyle/>
          <a:p>
            <a:pPr>
              <a:lnSpc>
                <a:spcPct val="130000"/>
              </a:lnSpc>
            </a:pPr>
            <a:r>
              <a:rPr lang="en-US" sz="1000" dirty="0">
                <a:solidFill>
                  <a:srgbClr val="34C759"/>
                </a:solidFill>
                <a:latin typeface="Quattrocento Sans" pitchFamily="34" charset="0"/>
                <a:ea typeface="Quattrocento Sans" pitchFamily="34" charset="-122"/>
                <a:cs typeface="Quattrocento Sans" pitchFamily="34" charset="-120"/>
              </a:rPr>
              <a:t>•</a:t>
            </a:r>
            <a:endParaRPr lang="en-US" sz="1600" dirty="0"/>
          </a:p>
        </p:txBody>
      </p:sp>
      <p:sp>
        <p:nvSpPr>
          <p:cNvPr id="52" name="Text 50"/>
          <p:cNvSpPr/>
          <p:nvPr/>
        </p:nvSpPr>
        <p:spPr>
          <a:xfrm>
            <a:off x="644922" y="4762407"/>
            <a:ext cx="1992313"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Project management</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organizes files</a:t>
            </a:r>
            <a:endParaRPr lang="en-US" sz="1600" dirty="0"/>
          </a:p>
        </p:txBody>
      </p:sp>
      <p:sp>
        <p:nvSpPr>
          <p:cNvPr id="53" name="Shape 51"/>
          <p:cNvSpPr/>
          <p:nvPr/>
        </p:nvSpPr>
        <p:spPr>
          <a:xfrm>
            <a:off x="320675" y="6276885"/>
            <a:ext cx="5705475" cy="1054100"/>
          </a:xfrm>
          <a:prstGeom prst="roundRect">
            <a:avLst>
              <a:gd name="adj" fmla="val 12048"/>
            </a:avLst>
          </a:prstGeom>
          <a:solidFill>
            <a:srgbClr val="0A84FF">
              <a:alpha val="10196"/>
            </a:srgbClr>
          </a:solidFill>
          <a:ln w="10160">
            <a:solidFill>
              <a:srgbClr val="0A84FF">
                <a:alpha val="30196"/>
              </a:srgbClr>
            </a:solidFill>
            <a:prstDash val="solid"/>
          </a:ln>
        </p:spPr>
      </p:sp>
      <p:sp>
        <p:nvSpPr>
          <p:cNvPr id="54" name="Shape 52"/>
          <p:cNvSpPr/>
          <p:nvPr/>
        </p:nvSpPr>
        <p:spPr>
          <a:xfrm>
            <a:off x="502444" y="6478488"/>
            <a:ext cx="142875" cy="142875"/>
          </a:xfrm>
          <a:custGeom>
            <a:avLst/>
            <a:gdLst/>
            <a:ahLst/>
            <a:cxnLst/>
            <a:rect l="l" t="t" r="r" b="b"/>
            <a:pathLst>
              <a:path w="142875" h="142875">
                <a:moveTo>
                  <a:pt x="71438" y="133945"/>
                </a:moveTo>
                <a:cubicBezTo>
                  <a:pt x="110896" y="133945"/>
                  <a:pt x="142875" y="103947"/>
                  <a:pt x="142875" y="66973"/>
                </a:cubicBezTo>
                <a:cubicBezTo>
                  <a:pt x="142875" y="29998"/>
                  <a:pt x="110896" y="0"/>
                  <a:pt x="71438" y="0"/>
                </a:cubicBezTo>
                <a:cubicBezTo>
                  <a:pt x="31979" y="0"/>
                  <a:pt x="0" y="29998"/>
                  <a:pt x="0" y="66973"/>
                </a:cubicBezTo>
                <a:cubicBezTo>
                  <a:pt x="0" y="82125"/>
                  <a:pt x="5358" y="96078"/>
                  <a:pt x="14399" y="107296"/>
                </a:cubicBezTo>
                <a:lnTo>
                  <a:pt x="781" y="133052"/>
                </a:lnTo>
                <a:cubicBezTo>
                  <a:pt x="-558" y="135564"/>
                  <a:pt x="-140" y="138633"/>
                  <a:pt x="1786" y="140726"/>
                </a:cubicBezTo>
                <a:cubicBezTo>
                  <a:pt x="3711" y="142819"/>
                  <a:pt x="6753" y="143461"/>
                  <a:pt x="9348" y="142345"/>
                </a:cubicBezTo>
                <a:lnTo>
                  <a:pt x="42388" y="128197"/>
                </a:lnTo>
                <a:cubicBezTo>
                  <a:pt x="51262" y="131880"/>
                  <a:pt x="61085" y="133945"/>
                  <a:pt x="71438" y="133945"/>
                </a:cubicBezTo>
                <a:close/>
                <a:moveTo>
                  <a:pt x="35719" y="58043"/>
                </a:moveTo>
                <a:cubicBezTo>
                  <a:pt x="40647" y="58043"/>
                  <a:pt x="44648" y="62044"/>
                  <a:pt x="44648" y="66973"/>
                </a:cubicBezTo>
                <a:cubicBezTo>
                  <a:pt x="44648" y="71901"/>
                  <a:pt x="40647" y="75902"/>
                  <a:pt x="35719" y="75902"/>
                </a:cubicBezTo>
                <a:cubicBezTo>
                  <a:pt x="30790" y="75902"/>
                  <a:pt x="26789" y="71901"/>
                  <a:pt x="26789" y="66973"/>
                </a:cubicBezTo>
                <a:cubicBezTo>
                  <a:pt x="26789" y="62044"/>
                  <a:pt x="30790" y="58043"/>
                  <a:pt x="35719" y="58043"/>
                </a:cubicBezTo>
                <a:close/>
                <a:moveTo>
                  <a:pt x="71438" y="58043"/>
                </a:moveTo>
                <a:cubicBezTo>
                  <a:pt x="76366" y="58043"/>
                  <a:pt x="80367" y="62044"/>
                  <a:pt x="80367" y="66973"/>
                </a:cubicBezTo>
                <a:cubicBezTo>
                  <a:pt x="80367" y="71901"/>
                  <a:pt x="76366" y="75902"/>
                  <a:pt x="71438" y="75902"/>
                </a:cubicBezTo>
                <a:cubicBezTo>
                  <a:pt x="66509" y="75902"/>
                  <a:pt x="62508" y="71901"/>
                  <a:pt x="62508" y="66973"/>
                </a:cubicBezTo>
                <a:cubicBezTo>
                  <a:pt x="62508" y="62044"/>
                  <a:pt x="66509" y="58043"/>
                  <a:pt x="71438" y="58043"/>
                </a:cubicBezTo>
                <a:close/>
                <a:moveTo>
                  <a:pt x="98227" y="66973"/>
                </a:moveTo>
                <a:cubicBezTo>
                  <a:pt x="98227" y="62044"/>
                  <a:pt x="102228" y="58043"/>
                  <a:pt x="107156" y="58043"/>
                </a:cubicBezTo>
                <a:cubicBezTo>
                  <a:pt x="112085" y="58043"/>
                  <a:pt x="116086" y="62044"/>
                  <a:pt x="116086" y="66973"/>
                </a:cubicBezTo>
                <a:cubicBezTo>
                  <a:pt x="116086" y="71901"/>
                  <a:pt x="112085" y="75902"/>
                  <a:pt x="107156" y="75902"/>
                </a:cubicBezTo>
                <a:cubicBezTo>
                  <a:pt x="102228" y="75902"/>
                  <a:pt x="98227" y="71901"/>
                  <a:pt x="98227" y="66973"/>
                </a:cubicBezTo>
                <a:close/>
              </a:path>
            </a:pathLst>
          </a:custGeom>
          <a:solidFill>
            <a:srgbClr val="0A84FF"/>
          </a:solidFill>
          <a:ln/>
        </p:spPr>
      </p:sp>
      <p:sp>
        <p:nvSpPr>
          <p:cNvPr id="55" name="Text 53"/>
          <p:cNvSpPr/>
          <p:nvPr/>
        </p:nvSpPr>
        <p:spPr>
          <a:xfrm>
            <a:off x="665162" y="6438801"/>
            <a:ext cx="5270500" cy="222250"/>
          </a:xfrm>
          <a:prstGeom prst="rect">
            <a:avLst/>
          </a:prstGeom>
          <a:noFill/>
          <a:ln/>
        </p:spPr>
        <p:txBody>
          <a:bodyPr wrap="square" lIns="0" tIns="0" rIns="0" bIns="0" rtlCol="0" anchor="ctr"/>
          <a:lstStyle/>
          <a:p>
            <a:pPr>
              <a:lnSpc>
                <a:spcPct val="130000"/>
              </a:lnSpc>
            </a:pPr>
            <a:r>
              <a:rPr lang="en-US" sz="1125"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56" name="Text 54"/>
          <p:cNvSpPr/>
          <p:nvPr/>
        </p:nvSpPr>
        <p:spPr>
          <a:xfrm>
            <a:off x="482600" y="6756301"/>
            <a:ext cx="5445125" cy="412750"/>
          </a:xfrm>
          <a:prstGeom prst="rect">
            <a:avLst/>
          </a:prstGeom>
          <a:noFill/>
          <a:ln/>
        </p:spPr>
        <p:txBody>
          <a:bodyPr wrap="square" lIns="0" tIns="0" rIns="0" bIns="0" rtlCol="0" anchor="ctr"/>
          <a:lstStyle/>
          <a:p>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An IDE is like </a:t>
            </a:r>
            <a:pPr>
              <a:lnSpc>
                <a:spcPct val="140000"/>
              </a:lnSpc>
            </a:pPr>
            <a:r>
              <a:rPr lang="en-US" sz="1000" b="1" dirty="0">
                <a:solidFill>
                  <a:srgbClr val="34C759"/>
                </a:solidFill>
                <a:latin typeface="Quattrocento Sans" pitchFamily="34" charset="0"/>
                <a:ea typeface="Quattrocento Sans" pitchFamily="34" charset="-122"/>
                <a:cs typeface="Quattrocento Sans" pitchFamily="34" charset="-120"/>
              </a:rPr>
              <a:t>a Swiss Army knife for developers</a:t>
            </a:r>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 Instead of carrying separate tools, you have everything in one convenient package – editor, debugger, and tester.</a:t>
            </a:r>
            <a:endParaRPr lang="en-US" sz="1600" dirty="0"/>
          </a:p>
        </p:txBody>
      </p:sp>
      <p:sp>
        <p:nvSpPr>
          <p:cNvPr id="57" name="Shape 55"/>
          <p:cNvSpPr/>
          <p:nvPr/>
        </p:nvSpPr>
        <p:spPr>
          <a:xfrm>
            <a:off x="6159500" y="3079657"/>
            <a:ext cx="5715000" cy="3206750"/>
          </a:xfrm>
          <a:prstGeom prst="roundRect">
            <a:avLst>
              <a:gd name="adj" fmla="val 3960"/>
            </a:avLst>
          </a:prstGeom>
          <a:solidFill>
            <a:srgbClr val="2C2C2E"/>
          </a:solidFill>
          <a:ln/>
        </p:spPr>
      </p:sp>
      <p:sp>
        <p:nvSpPr>
          <p:cNvPr id="58" name="Shape 56"/>
          <p:cNvSpPr/>
          <p:nvPr/>
        </p:nvSpPr>
        <p:spPr>
          <a:xfrm>
            <a:off x="6359922" y="3301907"/>
            <a:ext cx="178594" cy="158750"/>
          </a:xfrm>
          <a:custGeom>
            <a:avLst/>
            <a:gdLst/>
            <a:ahLst/>
            <a:cxnLst/>
            <a:rect l="l" t="t" r="r" b="b"/>
            <a:pathLst>
              <a:path w="178594" h="158750">
                <a:moveTo>
                  <a:pt x="95963" y="-5860"/>
                </a:moveTo>
                <a:cubicBezTo>
                  <a:pt x="94692" y="-8341"/>
                  <a:pt x="92118" y="-9922"/>
                  <a:pt x="89328" y="-9922"/>
                </a:cubicBezTo>
                <a:cubicBezTo>
                  <a:pt x="86537" y="-9922"/>
                  <a:pt x="83964" y="-8341"/>
                  <a:pt x="82693" y="-5860"/>
                </a:cubicBezTo>
                <a:lnTo>
                  <a:pt x="59872" y="38850"/>
                </a:lnTo>
                <a:lnTo>
                  <a:pt x="10294" y="46726"/>
                </a:lnTo>
                <a:cubicBezTo>
                  <a:pt x="7534" y="47160"/>
                  <a:pt x="5240" y="49113"/>
                  <a:pt x="4372" y="51780"/>
                </a:cubicBezTo>
                <a:cubicBezTo>
                  <a:pt x="3504" y="54446"/>
                  <a:pt x="4217" y="57361"/>
                  <a:pt x="6170" y="59345"/>
                </a:cubicBezTo>
                <a:lnTo>
                  <a:pt x="41641" y="94847"/>
                </a:lnTo>
                <a:lnTo>
                  <a:pt x="33827" y="144425"/>
                </a:lnTo>
                <a:cubicBezTo>
                  <a:pt x="33393" y="147185"/>
                  <a:pt x="34541" y="149975"/>
                  <a:pt x="36804" y="151619"/>
                </a:cubicBezTo>
                <a:cubicBezTo>
                  <a:pt x="39067" y="153262"/>
                  <a:pt x="42044" y="153510"/>
                  <a:pt x="44555" y="152239"/>
                </a:cubicBezTo>
                <a:lnTo>
                  <a:pt x="89328" y="129480"/>
                </a:lnTo>
                <a:lnTo>
                  <a:pt x="134069" y="152239"/>
                </a:lnTo>
                <a:cubicBezTo>
                  <a:pt x="136550" y="153510"/>
                  <a:pt x="139557" y="153262"/>
                  <a:pt x="141821" y="151619"/>
                </a:cubicBezTo>
                <a:cubicBezTo>
                  <a:pt x="144084" y="149975"/>
                  <a:pt x="145231" y="147216"/>
                  <a:pt x="144797" y="144425"/>
                </a:cubicBezTo>
                <a:lnTo>
                  <a:pt x="136953" y="94847"/>
                </a:lnTo>
                <a:lnTo>
                  <a:pt x="172424" y="59345"/>
                </a:lnTo>
                <a:cubicBezTo>
                  <a:pt x="174408" y="57361"/>
                  <a:pt x="175090" y="54446"/>
                  <a:pt x="174222" y="51780"/>
                </a:cubicBezTo>
                <a:cubicBezTo>
                  <a:pt x="173354" y="49113"/>
                  <a:pt x="171090" y="47160"/>
                  <a:pt x="168300" y="46726"/>
                </a:cubicBezTo>
                <a:lnTo>
                  <a:pt x="118752" y="38850"/>
                </a:lnTo>
                <a:lnTo>
                  <a:pt x="95963" y="-5860"/>
                </a:lnTo>
                <a:close/>
              </a:path>
            </a:pathLst>
          </a:custGeom>
          <a:solidFill>
            <a:srgbClr val="34C759"/>
          </a:solidFill>
          <a:ln/>
        </p:spPr>
      </p:sp>
      <p:sp>
        <p:nvSpPr>
          <p:cNvPr id="59" name="Text 57"/>
          <p:cNvSpPr/>
          <p:nvPr/>
        </p:nvSpPr>
        <p:spPr>
          <a:xfrm>
            <a:off x="6548438" y="3270157"/>
            <a:ext cx="5214938" cy="222250"/>
          </a:xfrm>
          <a:prstGeom prst="rect">
            <a:avLst/>
          </a:prstGeom>
          <a:noFill/>
          <a:ln/>
        </p:spPr>
        <p:txBody>
          <a:bodyPr wrap="square" lIns="0" tIns="0" rIns="0" bIns="0" rtlCol="0" anchor="ctr"/>
          <a:lstStyle/>
          <a:p>
            <a:pPr>
              <a:lnSpc>
                <a:spcPct val="120000"/>
              </a:lnSpc>
            </a:pPr>
            <a:r>
              <a:rPr lang="en-US" sz="1250" b="1" dirty="0">
                <a:solidFill>
                  <a:srgbClr val="34C759"/>
                </a:solidFill>
                <a:latin typeface="Liter" pitchFamily="34" charset="0"/>
                <a:ea typeface="Liter" pitchFamily="34" charset="-122"/>
                <a:cs typeface="Liter" pitchFamily="34" charset="-120"/>
              </a:rPr>
              <a:t>Why You Need an IDE</a:t>
            </a:r>
            <a:endParaRPr lang="en-US" sz="1600" dirty="0"/>
          </a:p>
        </p:txBody>
      </p:sp>
      <p:sp>
        <p:nvSpPr>
          <p:cNvPr id="60" name="Shape 58"/>
          <p:cNvSpPr/>
          <p:nvPr/>
        </p:nvSpPr>
        <p:spPr>
          <a:xfrm>
            <a:off x="6350000" y="3619407"/>
            <a:ext cx="5334000" cy="825500"/>
          </a:xfrm>
          <a:prstGeom prst="roundRect">
            <a:avLst>
              <a:gd name="adj" fmla="val 11538"/>
            </a:avLst>
          </a:prstGeom>
          <a:solidFill>
            <a:srgbClr val="1A1D21"/>
          </a:solidFill>
          <a:ln/>
        </p:spPr>
      </p:sp>
      <p:sp>
        <p:nvSpPr>
          <p:cNvPr id="61" name="Shape 59"/>
          <p:cNvSpPr/>
          <p:nvPr/>
        </p:nvSpPr>
        <p:spPr>
          <a:xfrm>
            <a:off x="6477000" y="3746407"/>
            <a:ext cx="317500" cy="317500"/>
          </a:xfrm>
          <a:prstGeom prst="roundRect">
            <a:avLst>
              <a:gd name="adj" fmla="val 20000"/>
            </a:avLst>
          </a:prstGeom>
          <a:solidFill>
            <a:srgbClr val="34C759"/>
          </a:solidFill>
          <a:ln/>
        </p:spPr>
      </p:sp>
      <p:sp>
        <p:nvSpPr>
          <p:cNvPr id="62" name="Shape 60"/>
          <p:cNvSpPr/>
          <p:nvPr/>
        </p:nvSpPr>
        <p:spPr>
          <a:xfrm>
            <a:off x="6572250" y="3841657"/>
            <a:ext cx="127000" cy="127000"/>
          </a:xfrm>
          <a:custGeom>
            <a:avLst/>
            <a:gdLst/>
            <a:ahLst/>
            <a:cxnLst/>
            <a:rect l="l" t="t" r="r" b="b"/>
            <a:pathLst>
              <a:path w="127000" h="127000">
                <a:moveTo>
                  <a:pt x="31750" y="79375"/>
                </a:moveTo>
                <a:lnTo>
                  <a:pt x="6077" y="79375"/>
                </a:lnTo>
                <a:cubicBezTo>
                  <a:pt x="-99" y="79375"/>
                  <a:pt x="-3894" y="72653"/>
                  <a:pt x="-719" y="67345"/>
                </a:cubicBezTo>
                <a:lnTo>
                  <a:pt x="12402" y="45467"/>
                </a:lnTo>
                <a:cubicBezTo>
                  <a:pt x="14560" y="41870"/>
                  <a:pt x="18430" y="39688"/>
                  <a:pt x="22622" y="39688"/>
                </a:cubicBezTo>
                <a:lnTo>
                  <a:pt x="46186" y="39688"/>
                </a:lnTo>
                <a:cubicBezTo>
                  <a:pt x="65063" y="7714"/>
                  <a:pt x="93216" y="6102"/>
                  <a:pt x="112043" y="8855"/>
                </a:cubicBezTo>
                <a:cubicBezTo>
                  <a:pt x="115218" y="9327"/>
                  <a:pt x="117698" y="11807"/>
                  <a:pt x="118145" y="14957"/>
                </a:cubicBezTo>
                <a:cubicBezTo>
                  <a:pt x="120898" y="33784"/>
                  <a:pt x="119286" y="61937"/>
                  <a:pt x="87313" y="80814"/>
                </a:cubicBezTo>
                <a:lnTo>
                  <a:pt x="87313" y="104378"/>
                </a:lnTo>
                <a:cubicBezTo>
                  <a:pt x="87313" y="108570"/>
                  <a:pt x="85130" y="112440"/>
                  <a:pt x="81533" y="114598"/>
                </a:cubicBezTo>
                <a:lnTo>
                  <a:pt x="59655" y="127719"/>
                </a:lnTo>
                <a:cubicBezTo>
                  <a:pt x="54372" y="130894"/>
                  <a:pt x="47625" y="127074"/>
                  <a:pt x="47625" y="120923"/>
                </a:cubicBezTo>
                <a:lnTo>
                  <a:pt x="47625" y="95250"/>
                </a:lnTo>
                <a:cubicBezTo>
                  <a:pt x="47625" y="86494"/>
                  <a:pt x="40506" y="79375"/>
                  <a:pt x="31750" y="79375"/>
                </a:cubicBezTo>
                <a:lnTo>
                  <a:pt x="31725" y="79375"/>
                </a:lnTo>
                <a:close/>
                <a:moveTo>
                  <a:pt x="99219" y="39688"/>
                </a:moveTo>
                <a:cubicBezTo>
                  <a:pt x="99219" y="33116"/>
                  <a:pt x="93884" y="27781"/>
                  <a:pt x="87313" y="27781"/>
                </a:cubicBezTo>
                <a:cubicBezTo>
                  <a:pt x="80741" y="27781"/>
                  <a:pt x="75406" y="33116"/>
                  <a:pt x="75406" y="39688"/>
                </a:cubicBezTo>
                <a:cubicBezTo>
                  <a:pt x="75406" y="46259"/>
                  <a:pt x="80741" y="51594"/>
                  <a:pt x="87313" y="51594"/>
                </a:cubicBezTo>
                <a:cubicBezTo>
                  <a:pt x="93884" y="51594"/>
                  <a:pt x="99219" y="46259"/>
                  <a:pt x="99219" y="39688"/>
                </a:cubicBezTo>
                <a:close/>
              </a:path>
            </a:pathLst>
          </a:custGeom>
          <a:solidFill>
            <a:srgbClr val="1D1D1F"/>
          </a:solidFill>
          <a:ln/>
        </p:spPr>
      </p:sp>
      <p:sp>
        <p:nvSpPr>
          <p:cNvPr id="63" name="Text 61"/>
          <p:cNvSpPr/>
          <p:nvPr/>
        </p:nvSpPr>
        <p:spPr>
          <a:xfrm>
            <a:off x="6889750" y="3794032"/>
            <a:ext cx="1341438" cy="222250"/>
          </a:xfrm>
          <a:prstGeom prst="rect">
            <a:avLst/>
          </a:prstGeom>
          <a:noFill/>
          <a:ln/>
        </p:spPr>
        <p:txBody>
          <a:bodyPr wrap="square" lIns="0" tIns="0" rIns="0" bIns="0" rtlCol="0" anchor="ctr"/>
          <a:lstStyle/>
          <a:p>
            <a:pPr>
              <a:lnSpc>
                <a:spcPct val="130000"/>
              </a:lnSpc>
            </a:pPr>
            <a:r>
              <a:rPr lang="en-US" sz="1125" b="1" dirty="0">
                <a:solidFill>
                  <a:srgbClr val="34C759"/>
                </a:solidFill>
                <a:latin typeface="Liter" pitchFamily="34" charset="0"/>
                <a:ea typeface="Liter" pitchFamily="34" charset="-122"/>
                <a:cs typeface="Liter" pitchFamily="34" charset="-120"/>
              </a:rPr>
              <a:t>Faster Development</a:t>
            </a:r>
            <a:endParaRPr lang="en-US" sz="1600" dirty="0"/>
          </a:p>
        </p:txBody>
      </p:sp>
      <p:sp>
        <p:nvSpPr>
          <p:cNvPr id="64" name="Text 62"/>
          <p:cNvSpPr/>
          <p:nvPr/>
        </p:nvSpPr>
        <p:spPr>
          <a:xfrm>
            <a:off x="6477000" y="4127407"/>
            <a:ext cx="5143500"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Auto-complete and templates save hours of typing</a:t>
            </a:r>
            <a:endParaRPr lang="en-US" sz="1600" dirty="0"/>
          </a:p>
        </p:txBody>
      </p:sp>
      <p:sp>
        <p:nvSpPr>
          <p:cNvPr id="65" name="Shape 63"/>
          <p:cNvSpPr/>
          <p:nvPr/>
        </p:nvSpPr>
        <p:spPr>
          <a:xfrm>
            <a:off x="6350000" y="4444907"/>
            <a:ext cx="5334000" cy="825500"/>
          </a:xfrm>
          <a:prstGeom prst="roundRect">
            <a:avLst>
              <a:gd name="adj" fmla="val 11538"/>
            </a:avLst>
          </a:prstGeom>
          <a:solidFill>
            <a:srgbClr val="1A1D21"/>
          </a:solidFill>
          <a:ln/>
        </p:spPr>
      </p:sp>
      <p:sp>
        <p:nvSpPr>
          <p:cNvPr id="66" name="Shape 64"/>
          <p:cNvSpPr/>
          <p:nvPr/>
        </p:nvSpPr>
        <p:spPr>
          <a:xfrm>
            <a:off x="6477000" y="4571907"/>
            <a:ext cx="317500" cy="317500"/>
          </a:xfrm>
          <a:prstGeom prst="roundRect">
            <a:avLst>
              <a:gd name="adj" fmla="val 20000"/>
            </a:avLst>
          </a:prstGeom>
          <a:solidFill>
            <a:srgbClr val="0A84FF"/>
          </a:solidFill>
          <a:ln/>
        </p:spPr>
      </p:sp>
      <p:sp>
        <p:nvSpPr>
          <p:cNvPr id="67" name="Shape 65"/>
          <p:cNvSpPr/>
          <p:nvPr/>
        </p:nvSpPr>
        <p:spPr>
          <a:xfrm>
            <a:off x="6572250" y="4667157"/>
            <a:ext cx="127000" cy="127000"/>
          </a:xfrm>
          <a:custGeom>
            <a:avLst/>
            <a:gdLst/>
            <a:ahLst/>
            <a:cxnLst/>
            <a:rect l="l" t="t" r="r" b="b"/>
            <a:pathLst>
              <a:path w="127000" h="127000">
                <a:moveTo>
                  <a:pt x="103188" y="51594"/>
                </a:moveTo>
                <a:cubicBezTo>
                  <a:pt x="103188" y="62979"/>
                  <a:pt x="99492" y="73496"/>
                  <a:pt x="93266" y="82029"/>
                </a:cubicBezTo>
                <a:lnTo>
                  <a:pt x="124668" y="113457"/>
                </a:lnTo>
                <a:cubicBezTo>
                  <a:pt x="127769" y="116557"/>
                  <a:pt x="127769" y="121593"/>
                  <a:pt x="124668" y="124693"/>
                </a:cubicBezTo>
                <a:cubicBezTo>
                  <a:pt x="121568" y="127794"/>
                  <a:pt x="116532" y="127794"/>
                  <a:pt x="113432" y="124693"/>
                </a:cubicBezTo>
                <a:lnTo>
                  <a:pt x="82029" y="93266"/>
                </a:lnTo>
                <a:cubicBezTo>
                  <a:pt x="73496" y="99492"/>
                  <a:pt x="62979" y="103188"/>
                  <a:pt x="51594" y="103188"/>
                </a:cubicBezTo>
                <a:cubicBezTo>
                  <a:pt x="23093" y="103188"/>
                  <a:pt x="0" y="80094"/>
                  <a:pt x="0" y="51594"/>
                </a:cubicBezTo>
                <a:cubicBezTo>
                  <a:pt x="0" y="23093"/>
                  <a:pt x="23093" y="0"/>
                  <a:pt x="51594" y="0"/>
                </a:cubicBezTo>
                <a:cubicBezTo>
                  <a:pt x="80094" y="0"/>
                  <a:pt x="103188" y="23093"/>
                  <a:pt x="103188" y="51594"/>
                </a:cubicBezTo>
                <a:close/>
                <a:moveTo>
                  <a:pt x="51594" y="87313"/>
                </a:moveTo>
                <a:cubicBezTo>
                  <a:pt x="71307" y="87313"/>
                  <a:pt x="87313" y="71307"/>
                  <a:pt x="87313" y="51594"/>
                </a:cubicBezTo>
                <a:cubicBezTo>
                  <a:pt x="87313" y="31880"/>
                  <a:pt x="71307" y="15875"/>
                  <a:pt x="51594" y="15875"/>
                </a:cubicBezTo>
                <a:cubicBezTo>
                  <a:pt x="31880" y="15875"/>
                  <a:pt x="15875" y="31880"/>
                  <a:pt x="15875" y="51594"/>
                </a:cubicBezTo>
                <a:cubicBezTo>
                  <a:pt x="15875" y="71307"/>
                  <a:pt x="31880" y="87313"/>
                  <a:pt x="51594" y="87313"/>
                </a:cubicBezTo>
                <a:close/>
              </a:path>
            </a:pathLst>
          </a:custGeom>
          <a:solidFill>
            <a:srgbClr val="FFFFFF"/>
          </a:solidFill>
          <a:ln/>
        </p:spPr>
      </p:sp>
      <p:sp>
        <p:nvSpPr>
          <p:cNvPr id="68" name="Text 66"/>
          <p:cNvSpPr/>
          <p:nvPr/>
        </p:nvSpPr>
        <p:spPr>
          <a:xfrm>
            <a:off x="6889750" y="4619532"/>
            <a:ext cx="1095375" cy="222250"/>
          </a:xfrm>
          <a:prstGeom prst="rect">
            <a:avLst/>
          </a:prstGeom>
          <a:noFill/>
          <a:ln/>
        </p:spPr>
        <p:txBody>
          <a:bodyPr wrap="square" lIns="0" tIns="0" rIns="0" bIns="0" rtlCol="0" anchor="ctr"/>
          <a:lstStyle/>
          <a:p>
            <a:pPr>
              <a:lnSpc>
                <a:spcPct val="130000"/>
              </a:lnSpc>
            </a:pPr>
            <a:r>
              <a:rPr lang="en-US" sz="1125" b="1" dirty="0">
                <a:solidFill>
                  <a:srgbClr val="0A84FF"/>
                </a:solidFill>
                <a:latin typeface="Liter" pitchFamily="34" charset="0"/>
                <a:ea typeface="Liter" pitchFamily="34" charset="-122"/>
                <a:cs typeface="Liter" pitchFamily="34" charset="-120"/>
              </a:rPr>
              <a:t>Easy Debugging</a:t>
            </a:r>
            <a:endParaRPr lang="en-US" sz="1600" dirty="0"/>
          </a:p>
        </p:txBody>
      </p:sp>
      <p:sp>
        <p:nvSpPr>
          <p:cNvPr id="69" name="Text 67"/>
          <p:cNvSpPr/>
          <p:nvPr/>
        </p:nvSpPr>
        <p:spPr>
          <a:xfrm>
            <a:off x="6477000" y="4952907"/>
            <a:ext cx="5143500"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Find and fix errors with visual tools and breakpoints</a:t>
            </a:r>
            <a:endParaRPr lang="en-US" sz="1600" dirty="0"/>
          </a:p>
        </p:txBody>
      </p:sp>
      <p:sp>
        <p:nvSpPr>
          <p:cNvPr id="70" name="Shape 68"/>
          <p:cNvSpPr/>
          <p:nvPr/>
        </p:nvSpPr>
        <p:spPr>
          <a:xfrm>
            <a:off x="6350000" y="5270407"/>
            <a:ext cx="5334000" cy="825500"/>
          </a:xfrm>
          <a:prstGeom prst="roundRect">
            <a:avLst>
              <a:gd name="adj" fmla="val 11538"/>
            </a:avLst>
          </a:prstGeom>
          <a:solidFill>
            <a:srgbClr val="1A1D21"/>
          </a:solidFill>
          <a:ln/>
        </p:spPr>
      </p:sp>
      <p:sp>
        <p:nvSpPr>
          <p:cNvPr id="71" name="Shape 69"/>
          <p:cNvSpPr/>
          <p:nvPr/>
        </p:nvSpPr>
        <p:spPr>
          <a:xfrm>
            <a:off x="6477000" y="5397407"/>
            <a:ext cx="317500" cy="317500"/>
          </a:xfrm>
          <a:prstGeom prst="roundRect">
            <a:avLst>
              <a:gd name="adj" fmla="val 20000"/>
            </a:avLst>
          </a:prstGeom>
          <a:solidFill>
            <a:srgbClr val="8E8E93"/>
          </a:solidFill>
          <a:ln/>
        </p:spPr>
      </p:sp>
      <p:sp>
        <p:nvSpPr>
          <p:cNvPr id="72" name="Shape 70"/>
          <p:cNvSpPr/>
          <p:nvPr/>
        </p:nvSpPr>
        <p:spPr>
          <a:xfrm>
            <a:off x="6572250" y="5492657"/>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FFFFFF"/>
          </a:solidFill>
          <a:ln/>
        </p:spPr>
      </p:sp>
      <p:sp>
        <p:nvSpPr>
          <p:cNvPr id="73" name="Text 71"/>
          <p:cNvSpPr/>
          <p:nvPr/>
        </p:nvSpPr>
        <p:spPr>
          <a:xfrm>
            <a:off x="6889750" y="5445032"/>
            <a:ext cx="1301750" cy="222250"/>
          </a:xfrm>
          <a:prstGeom prst="rect">
            <a:avLst/>
          </a:prstGeom>
          <a:noFill/>
          <a:ln/>
        </p:spPr>
        <p:txBody>
          <a:bodyPr wrap="square" lIns="0" tIns="0" rIns="0" bIns="0" rtlCol="0" anchor="ctr"/>
          <a:lstStyle/>
          <a:p>
            <a:pPr>
              <a:lnSpc>
                <a:spcPct val="130000"/>
              </a:lnSpc>
            </a:pPr>
            <a:r>
              <a:rPr lang="en-US" sz="1125" b="1" dirty="0">
                <a:solidFill>
                  <a:srgbClr val="8E8E93"/>
                </a:solidFill>
                <a:latin typeface="Liter" pitchFamily="34" charset="0"/>
                <a:ea typeface="Liter" pitchFamily="34" charset="-122"/>
                <a:cs typeface="Liter" pitchFamily="34" charset="-120"/>
              </a:rPr>
              <a:t>Better Code Quality</a:t>
            </a:r>
            <a:endParaRPr lang="en-US" sz="1600" dirty="0"/>
          </a:p>
        </p:txBody>
      </p:sp>
      <p:sp>
        <p:nvSpPr>
          <p:cNvPr id="74" name="Text 72"/>
          <p:cNvSpPr/>
          <p:nvPr/>
        </p:nvSpPr>
        <p:spPr>
          <a:xfrm>
            <a:off x="6477000" y="5778407"/>
            <a:ext cx="5143500"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Built-in checks ensure your code follows best practices</a:t>
            </a:r>
            <a:endParaRPr lang="en-US" sz="1600" dirty="0"/>
          </a:p>
        </p:txBody>
      </p:sp>
      <p:sp>
        <p:nvSpPr>
          <p:cNvPr id="75" name="Shape 73"/>
          <p:cNvSpPr/>
          <p:nvPr/>
        </p:nvSpPr>
        <p:spPr>
          <a:xfrm>
            <a:off x="6159500" y="6413407"/>
            <a:ext cx="5715000" cy="920750"/>
          </a:xfrm>
          <a:prstGeom prst="roundRect">
            <a:avLst>
              <a:gd name="adj" fmla="val 13793"/>
            </a:avLst>
          </a:prstGeom>
          <a:solidFill>
            <a:srgbClr val="2C2C2E"/>
          </a:solidFill>
          <a:ln/>
        </p:spPr>
      </p:sp>
      <p:sp>
        <p:nvSpPr>
          <p:cNvPr id="76" name="Shape 74"/>
          <p:cNvSpPr/>
          <p:nvPr/>
        </p:nvSpPr>
        <p:spPr>
          <a:xfrm>
            <a:off x="6310313" y="6572157"/>
            <a:ext cx="111125" cy="127000"/>
          </a:xfrm>
          <a:custGeom>
            <a:avLst/>
            <a:gdLst/>
            <a:ahLst/>
            <a:cxnLst/>
            <a:rect l="l" t="t" r="r" b="b"/>
            <a:pathLst>
              <a:path w="111125" h="127000">
                <a:moveTo>
                  <a:pt x="15875" y="7938"/>
                </a:moveTo>
                <a:cubicBezTo>
                  <a:pt x="7119" y="7938"/>
                  <a:pt x="0" y="15056"/>
                  <a:pt x="0" y="23812"/>
                </a:cubicBezTo>
                <a:lnTo>
                  <a:pt x="0" y="103188"/>
                </a:lnTo>
                <a:cubicBezTo>
                  <a:pt x="0" y="111944"/>
                  <a:pt x="7119" y="119063"/>
                  <a:pt x="15875" y="119063"/>
                </a:cubicBezTo>
                <a:lnTo>
                  <a:pt x="95250" y="119063"/>
                </a:lnTo>
                <a:cubicBezTo>
                  <a:pt x="104006" y="119063"/>
                  <a:pt x="111125" y="111944"/>
                  <a:pt x="111125" y="103188"/>
                </a:cubicBezTo>
                <a:lnTo>
                  <a:pt x="111125" y="23812"/>
                </a:lnTo>
                <a:cubicBezTo>
                  <a:pt x="111125" y="15056"/>
                  <a:pt x="104006" y="7938"/>
                  <a:pt x="95250" y="7938"/>
                </a:cubicBezTo>
                <a:lnTo>
                  <a:pt x="15875" y="7938"/>
                </a:lnTo>
                <a:close/>
                <a:moveTo>
                  <a:pt x="31750" y="27781"/>
                </a:moveTo>
                <a:cubicBezTo>
                  <a:pt x="38321" y="27781"/>
                  <a:pt x="43656" y="33116"/>
                  <a:pt x="43656" y="39688"/>
                </a:cubicBezTo>
                <a:cubicBezTo>
                  <a:pt x="43656" y="46259"/>
                  <a:pt x="38321" y="51594"/>
                  <a:pt x="31750" y="51594"/>
                </a:cubicBezTo>
                <a:cubicBezTo>
                  <a:pt x="25179" y="51594"/>
                  <a:pt x="19844" y="46259"/>
                  <a:pt x="19844" y="39688"/>
                </a:cubicBezTo>
                <a:cubicBezTo>
                  <a:pt x="19844" y="33116"/>
                  <a:pt x="25179" y="27781"/>
                  <a:pt x="31750" y="27781"/>
                </a:cubicBezTo>
                <a:close/>
                <a:moveTo>
                  <a:pt x="67469" y="55563"/>
                </a:moveTo>
                <a:cubicBezTo>
                  <a:pt x="69552" y="55563"/>
                  <a:pt x="71462" y="56654"/>
                  <a:pt x="72554" y="58415"/>
                </a:cubicBezTo>
                <a:lnTo>
                  <a:pt x="94382" y="94134"/>
                </a:lnTo>
                <a:cubicBezTo>
                  <a:pt x="95498" y="95969"/>
                  <a:pt x="95548" y="98276"/>
                  <a:pt x="94506" y="100161"/>
                </a:cubicBezTo>
                <a:cubicBezTo>
                  <a:pt x="93464" y="102046"/>
                  <a:pt x="91455" y="103188"/>
                  <a:pt x="89297" y="103188"/>
                </a:cubicBezTo>
                <a:lnTo>
                  <a:pt x="21828" y="103188"/>
                </a:lnTo>
                <a:cubicBezTo>
                  <a:pt x="19621" y="103188"/>
                  <a:pt x="17562" y="101947"/>
                  <a:pt x="16545" y="99988"/>
                </a:cubicBezTo>
                <a:cubicBezTo>
                  <a:pt x="15528" y="98028"/>
                  <a:pt x="15677" y="95647"/>
                  <a:pt x="16942" y="93836"/>
                </a:cubicBezTo>
                <a:lnTo>
                  <a:pt x="30832" y="73992"/>
                </a:lnTo>
                <a:cubicBezTo>
                  <a:pt x="31948" y="72405"/>
                  <a:pt x="33759" y="71462"/>
                  <a:pt x="35719" y="71462"/>
                </a:cubicBezTo>
                <a:cubicBezTo>
                  <a:pt x="37678" y="71462"/>
                  <a:pt x="39489" y="72405"/>
                  <a:pt x="40605" y="73992"/>
                </a:cubicBezTo>
                <a:lnTo>
                  <a:pt x="47154" y="83369"/>
                </a:lnTo>
                <a:lnTo>
                  <a:pt x="62384" y="58440"/>
                </a:lnTo>
                <a:cubicBezTo>
                  <a:pt x="63475" y="56679"/>
                  <a:pt x="65385" y="55587"/>
                  <a:pt x="67469" y="55587"/>
                </a:cubicBezTo>
                <a:close/>
              </a:path>
            </a:pathLst>
          </a:custGeom>
          <a:solidFill>
            <a:srgbClr val="8E8E93"/>
          </a:solidFill>
          <a:ln/>
        </p:spPr>
      </p:sp>
      <p:sp>
        <p:nvSpPr>
          <p:cNvPr id="77" name="Text 75"/>
          <p:cNvSpPr/>
          <p:nvPr/>
        </p:nvSpPr>
        <p:spPr>
          <a:xfrm>
            <a:off x="6445250" y="6540407"/>
            <a:ext cx="5365750" cy="190500"/>
          </a:xfrm>
          <a:prstGeom prst="rect">
            <a:avLst/>
          </a:prstGeom>
          <a:noFill/>
          <a:ln/>
        </p:spPr>
        <p:txBody>
          <a:bodyPr wrap="square" lIns="0" tIns="0" rIns="0" bIns="0" rtlCol="0" anchor="ctr"/>
          <a:lstStyle/>
          <a:p>
            <a:pPr>
              <a:lnSpc>
                <a:spcPct val="130000"/>
              </a:lnSpc>
            </a:pPr>
            <a:r>
              <a:rPr lang="en-US" sz="1000" b="1" dirty="0">
                <a:solidFill>
                  <a:srgbClr val="8E8E93"/>
                </a:solidFill>
                <a:latin typeface="Liter" pitchFamily="34" charset="0"/>
                <a:ea typeface="Liter" pitchFamily="34" charset="-122"/>
                <a:cs typeface="Liter" pitchFamily="34" charset="-120"/>
              </a:rPr>
              <a:t>Visual Suggestion</a:t>
            </a:r>
            <a:endParaRPr lang="en-US" sz="1600" dirty="0"/>
          </a:p>
        </p:txBody>
      </p:sp>
      <p:sp>
        <p:nvSpPr>
          <p:cNvPr id="78" name="Shape 76"/>
          <p:cNvSpPr/>
          <p:nvPr/>
        </p:nvSpPr>
        <p:spPr>
          <a:xfrm>
            <a:off x="6302375" y="6826157"/>
            <a:ext cx="127000" cy="127000"/>
          </a:xfrm>
          <a:custGeom>
            <a:avLst/>
            <a:gdLst/>
            <a:ahLst/>
            <a:cxnLst/>
            <a:rect l="l" t="t" r="r" b="b"/>
            <a:pathLst>
              <a:path w="127000" h="127000">
                <a:moveTo>
                  <a:pt x="0" y="19844"/>
                </a:moveTo>
                <a:cubicBezTo>
                  <a:pt x="0" y="13271"/>
                  <a:pt x="5333" y="7938"/>
                  <a:pt x="11906" y="7938"/>
                </a:cubicBezTo>
                <a:lnTo>
                  <a:pt x="35719" y="7938"/>
                </a:lnTo>
                <a:cubicBezTo>
                  <a:pt x="42292" y="7938"/>
                  <a:pt x="47625" y="13271"/>
                  <a:pt x="47625" y="19844"/>
                </a:cubicBezTo>
                <a:lnTo>
                  <a:pt x="47625" y="23812"/>
                </a:lnTo>
                <a:lnTo>
                  <a:pt x="79375" y="23812"/>
                </a:lnTo>
                <a:lnTo>
                  <a:pt x="79375" y="19844"/>
                </a:lnTo>
                <a:cubicBezTo>
                  <a:pt x="79375" y="13271"/>
                  <a:pt x="84708" y="7938"/>
                  <a:pt x="91281" y="7938"/>
                </a:cubicBezTo>
                <a:lnTo>
                  <a:pt x="115094" y="7938"/>
                </a:lnTo>
                <a:cubicBezTo>
                  <a:pt x="121667" y="7938"/>
                  <a:pt x="127000" y="13271"/>
                  <a:pt x="127000" y="19844"/>
                </a:cubicBezTo>
                <a:lnTo>
                  <a:pt x="127000" y="43656"/>
                </a:lnTo>
                <a:cubicBezTo>
                  <a:pt x="127000" y="50229"/>
                  <a:pt x="121667" y="55563"/>
                  <a:pt x="115094" y="55563"/>
                </a:cubicBezTo>
                <a:lnTo>
                  <a:pt x="91281" y="55563"/>
                </a:lnTo>
                <a:cubicBezTo>
                  <a:pt x="84708" y="55563"/>
                  <a:pt x="79375" y="50229"/>
                  <a:pt x="79375" y="43656"/>
                </a:cubicBezTo>
                <a:lnTo>
                  <a:pt x="79375" y="39688"/>
                </a:lnTo>
                <a:lnTo>
                  <a:pt x="47625" y="39688"/>
                </a:lnTo>
                <a:lnTo>
                  <a:pt x="47625" y="43656"/>
                </a:lnTo>
                <a:cubicBezTo>
                  <a:pt x="47625" y="45467"/>
                  <a:pt x="47203" y="47203"/>
                  <a:pt x="46484" y="48741"/>
                </a:cubicBezTo>
                <a:lnTo>
                  <a:pt x="63500" y="71438"/>
                </a:lnTo>
                <a:lnTo>
                  <a:pt x="83344" y="71438"/>
                </a:lnTo>
                <a:cubicBezTo>
                  <a:pt x="89917" y="71438"/>
                  <a:pt x="95250" y="76771"/>
                  <a:pt x="95250" y="83344"/>
                </a:cubicBezTo>
                <a:lnTo>
                  <a:pt x="95250" y="107156"/>
                </a:lnTo>
                <a:cubicBezTo>
                  <a:pt x="95250" y="113729"/>
                  <a:pt x="89917" y="119063"/>
                  <a:pt x="83344" y="119063"/>
                </a:cubicBezTo>
                <a:lnTo>
                  <a:pt x="59531" y="119063"/>
                </a:lnTo>
                <a:cubicBezTo>
                  <a:pt x="52958" y="119063"/>
                  <a:pt x="47625" y="113729"/>
                  <a:pt x="47625" y="107156"/>
                </a:cubicBezTo>
                <a:lnTo>
                  <a:pt x="47625" y="83344"/>
                </a:lnTo>
                <a:cubicBezTo>
                  <a:pt x="47625" y="81533"/>
                  <a:pt x="48047" y="79797"/>
                  <a:pt x="48766" y="78259"/>
                </a:cubicBezTo>
                <a:lnTo>
                  <a:pt x="31750" y="55563"/>
                </a:lnTo>
                <a:lnTo>
                  <a:pt x="11906" y="55563"/>
                </a:lnTo>
                <a:cubicBezTo>
                  <a:pt x="5333" y="55563"/>
                  <a:pt x="0" y="50229"/>
                  <a:pt x="0" y="43656"/>
                </a:cubicBezTo>
                <a:lnTo>
                  <a:pt x="0" y="19844"/>
                </a:lnTo>
                <a:close/>
              </a:path>
            </a:pathLst>
          </a:custGeom>
          <a:solidFill>
            <a:srgbClr val="34C759"/>
          </a:solidFill>
          <a:ln/>
        </p:spPr>
      </p:sp>
      <p:sp>
        <p:nvSpPr>
          <p:cNvPr id="79" name="Text 77"/>
          <p:cNvSpPr/>
          <p:nvPr/>
        </p:nvSpPr>
        <p:spPr>
          <a:xfrm>
            <a:off x="6508750" y="6794407"/>
            <a:ext cx="2293938" cy="190500"/>
          </a:xfrm>
          <a:prstGeom prst="rect">
            <a:avLst/>
          </a:prstGeom>
          <a:noFill/>
          <a:ln/>
        </p:spPr>
        <p:txBody>
          <a:bodyPr wrap="square" lIns="0" tIns="0" rIns="0" bIns="0" rtlCol="0" anchor="ctr"/>
          <a:lstStyle/>
          <a:p>
            <a:pP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IDE components and workflow</a:t>
            </a:r>
            <a:endParaRPr lang="en-US" sz="1600" dirty="0"/>
          </a:p>
        </p:txBody>
      </p:sp>
      <p:sp>
        <p:nvSpPr>
          <p:cNvPr id="80" name="Shape 78"/>
          <p:cNvSpPr/>
          <p:nvPr/>
        </p:nvSpPr>
        <p:spPr>
          <a:xfrm>
            <a:off x="6310313" y="7048407"/>
            <a:ext cx="111125" cy="127000"/>
          </a:xfrm>
          <a:custGeom>
            <a:avLst/>
            <a:gdLst/>
            <a:ahLst/>
            <a:cxnLst/>
            <a:rect l="l" t="t" r="r" b="b"/>
            <a:pathLst>
              <a:path w="111125" h="127000">
                <a:moveTo>
                  <a:pt x="15875" y="7938"/>
                </a:moveTo>
                <a:cubicBezTo>
                  <a:pt x="7119" y="7938"/>
                  <a:pt x="0" y="15056"/>
                  <a:pt x="0" y="23812"/>
                </a:cubicBezTo>
                <a:lnTo>
                  <a:pt x="0" y="103188"/>
                </a:lnTo>
                <a:cubicBezTo>
                  <a:pt x="0" y="111944"/>
                  <a:pt x="7119" y="119063"/>
                  <a:pt x="15875" y="119063"/>
                </a:cubicBezTo>
                <a:lnTo>
                  <a:pt x="95250" y="119063"/>
                </a:lnTo>
                <a:cubicBezTo>
                  <a:pt x="104006" y="119063"/>
                  <a:pt x="111125" y="111944"/>
                  <a:pt x="111125" y="103188"/>
                </a:cubicBezTo>
                <a:lnTo>
                  <a:pt x="111125" y="23812"/>
                </a:lnTo>
                <a:cubicBezTo>
                  <a:pt x="111125" y="15056"/>
                  <a:pt x="104006" y="7938"/>
                  <a:pt x="95250" y="7938"/>
                </a:cubicBezTo>
                <a:lnTo>
                  <a:pt x="15875" y="7938"/>
                </a:lnTo>
                <a:close/>
                <a:moveTo>
                  <a:pt x="31750" y="27781"/>
                </a:moveTo>
                <a:cubicBezTo>
                  <a:pt x="38321" y="27781"/>
                  <a:pt x="43656" y="33116"/>
                  <a:pt x="43656" y="39688"/>
                </a:cubicBezTo>
                <a:cubicBezTo>
                  <a:pt x="43656" y="46259"/>
                  <a:pt x="38321" y="51594"/>
                  <a:pt x="31750" y="51594"/>
                </a:cubicBezTo>
                <a:cubicBezTo>
                  <a:pt x="25179" y="51594"/>
                  <a:pt x="19844" y="46259"/>
                  <a:pt x="19844" y="39688"/>
                </a:cubicBezTo>
                <a:cubicBezTo>
                  <a:pt x="19844" y="33116"/>
                  <a:pt x="25179" y="27781"/>
                  <a:pt x="31750" y="27781"/>
                </a:cubicBezTo>
                <a:close/>
                <a:moveTo>
                  <a:pt x="67469" y="55563"/>
                </a:moveTo>
                <a:cubicBezTo>
                  <a:pt x="69552" y="55563"/>
                  <a:pt x="71462" y="56654"/>
                  <a:pt x="72554" y="58415"/>
                </a:cubicBezTo>
                <a:lnTo>
                  <a:pt x="94382" y="94134"/>
                </a:lnTo>
                <a:cubicBezTo>
                  <a:pt x="95498" y="95969"/>
                  <a:pt x="95548" y="98276"/>
                  <a:pt x="94506" y="100161"/>
                </a:cubicBezTo>
                <a:cubicBezTo>
                  <a:pt x="93464" y="102046"/>
                  <a:pt x="91455" y="103188"/>
                  <a:pt x="89297" y="103188"/>
                </a:cubicBezTo>
                <a:lnTo>
                  <a:pt x="21828" y="103188"/>
                </a:lnTo>
                <a:cubicBezTo>
                  <a:pt x="19621" y="103188"/>
                  <a:pt x="17562" y="101947"/>
                  <a:pt x="16545" y="99988"/>
                </a:cubicBezTo>
                <a:cubicBezTo>
                  <a:pt x="15528" y="98028"/>
                  <a:pt x="15677" y="95647"/>
                  <a:pt x="16942" y="93836"/>
                </a:cubicBezTo>
                <a:lnTo>
                  <a:pt x="30832" y="73992"/>
                </a:lnTo>
                <a:cubicBezTo>
                  <a:pt x="31948" y="72405"/>
                  <a:pt x="33759" y="71462"/>
                  <a:pt x="35719" y="71462"/>
                </a:cubicBezTo>
                <a:cubicBezTo>
                  <a:pt x="37678" y="71462"/>
                  <a:pt x="39489" y="72405"/>
                  <a:pt x="40605" y="73992"/>
                </a:cubicBezTo>
                <a:lnTo>
                  <a:pt x="47154" y="83369"/>
                </a:lnTo>
                <a:lnTo>
                  <a:pt x="62384" y="58440"/>
                </a:lnTo>
                <a:cubicBezTo>
                  <a:pt x="63475" y="56679"/>
                  <a:pt x="65385" y="55587"/>
                  <a:pt x="67469" y="55587"/>
                </a:cubicBezTo>
                <a:close/>
              </a:path>
            </a:pathLst>
          </a:custGeom>
          <a:solidFill>
            <a:srgbClr val="0A84FF"/>
          </a:solidFill>
          <a:ln/>
        </p:spPr>
      </p:sp>
      <p:sp>
        <p:nvSpPr>
          <p:cNvPr id="81" name="Text 79"/>
          <p:cNvSpPr/>
          <p:nvPr/>
        </p:nvSpPr>
        <p:spPr>
          <a:xfrm>
            <a:off x="6508750" y="7016657"/>
            <a:ext cx="2690813" cy="190500"/>
          </a:xfrm>
          <a:prstGeom prst="rect">
            <a:avLst/>
          </a:prstGeom>
          <a:noFill/>
          <a:ln/>
        </p:spPr>
        <p:txBody>
          <a:bodyPr wrap="square" lIns="0" tIns="0" rIns="0" bIns="0" rtlCol="0" anchor="ctr"/>
          <a:lstStyle/>
          <a:p>
            <a:pP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Split-screen showing code and emulator</a:t>
            </a:r>
            <a:endParaRPr lang="en-US" sz="1600" dirty="0"/>
          </a:p>
        </p:txBody>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25120" y="373888"/>
            <a:ext cx="390144" cy="390144"/>
          </a:xfrm>
          <a:prstGeom prst="roundRect">
            <a:avLst>
              <a:gd name="adj" fmla="val 25000"/>
            </a:avLst>
          </a:prstGeom>
          <a:solidFill>
            <a:srgbClr val="0A84FF"/>
          </a:solidFill>
          <a:ln/>
        </p:spPr>
      </p:sp>
      <p:sp>
        <p:nvSpPr>
          <p:cNvPr id="3" name="Text 1"/>
          <p:cNvSpPr/>
          <p:nvPr/>
        </p:nvSpPr>
        <p:spPr>
          <a:xfrm>
            <a:off x="406806" y="438912"/>
            <a:ext cx="325120" cy="260096"/>
          </a:xfrm>
          <a:prstGeom prst="rect">
            <a:avLst/>
          </a:prstGeom>
          <a:noFill/>
          <a:ln/>
        </p:spPr>
        <p:txBody>
          <a:bodyPr wrap="square" lIns="0" tIns="0" rIns="0" bIns="0" rtlCol="0" anchor="ctr"/>
          <a:lstStyle/>
          <a:p>
            <a:pPr>
              <a:lnSpc>
                <a:spcPct val="110000"/>
              </a:lnSpc>
            </a:pPr>
            <a:r>
              <a:rPr lang="en-US" sz="1536" b="1" dirty="0">
                <a:solidFill>
                  <a:srgbClr val="F5F5F7"/>
                </a:solidFill>
                <a:latin typeface="Liter" pitchFamily="34" charset="0"/>
                <a:ea typeface="Liter" pitchFamily="34" charset="-122"/>
                <a:cs typeface="Liter" pitchFamily="34" charset="-120"/>
              </a:rPr>
              <a:t>22</a:t>
            </a:r>
            <a:endParaRPr lang="en-US" sz="1600" dirty="0"/>
          </a:p>
        </p:txBody>
      </p:sp>
      <p:sp>
        <p:nvSpPr>
          <p:cNvPr id="4" name="Text 2"/>
          <p:cNvSpPr/>
          <p:nvPr/>
        </p:nvSpPr>
        <p:spPr>
          <a:xfrm>
            <a:off x="812800" y="325120"/>
            <a:ext cx="5096256" cy="162560"/>
          </a:xfrm>
          <a:prstGeom prst="rect">
            <a:avLst/>
          </a:prstGeom>
          <a:noFill/>
          <a:ln/>
        </p:spPr>
        <p:txBody>
          <a:bodyPr wrap="square" lIns="0" tIns="0" rIns="0" bIns="0" rtlCol="0" anchor="ctr"/>
          <a:lstStyle/>
          <a:p>
            <a:pPr>
              <a:lnSpc>
                <a:spcPct val="120000"/>
              </a:lnSpc>
            </a:pPr>
            <a:r>
              <a:rPr lang="en-US" sz="896" b="1" spc="45" kern="0" dirty="0">
                <a:solidFill>
                  <a:srgbClr val="0A84FF"/>
                </a:solidFill>
                <a:latin typeface="Quattrocento Sans" pitchFamily="34" charset="0"/>
                <a:ea typeface="Quattrocento Sans" pitchFamily="34" charset="-122"/>
                <a:cs typeface="Quattrocento Sans" pitchFamily="34" charset="-120"/>
              </a:rPr>
              <a:t>IDE Installation</a:t>
            </a:r>
            <a:endParaRPr lang="en-US" sz="1600" dirty="0"/>
          </a:p>
        </p:txBody>
      </p:sp>
      <p:sp>
        <p:nvSpPr>
          <p:cNvPr id="5" name="Text 3"/>
          <p:cNvSpPr/>
          <p:nvPr/>
        </p:nvSpPr>
        <p:spPr>
          <a:xfrm>
            <a:off x="812800" y="487680"/>
            <a:ext cx="5185664" cy="325120"/>
          </a:xfrm>
          <a:prstGeom prst="rect">
            <a:avLst/>
          </a:prstGeom>
          <a:noFill/>
          <a:ln/>
        </p:spPr>
        <p:txBody>
          <a:bodyPr wrap="square" lIns="0" tIns="0" rIns="0" bIns="0" rtlCol="0" anchor="ctr"/>
          <a:lstStyle/>
          <a:p>
            <a:pPr>
              <a:lnSpc>
                <a:spcPct val="90000"/>
              </a:lnSpc>
            </a:pPr>
            <a:r>
              <a:rPr lang="en-US" sz="2304" b="1" dirty="0">
                <a:solidFill>
                  <a:srgbClr val="F5F5F7"/>
                </a:solidFill>
                <a:latin typeface="Liter" pitchFamily="34" charset="0"/>
                <a:ea typeface="Liter" pitchFamily="34" charset="-122"/>
                <a:cs typeface="Liter" pitchFamily="34" charset="-120"/>
              </a:rPr>
              <a:t>Installing Android Studio: Step-by-Step</a:t>
            </a:r>
            <a:endParaRPr lang="en-US" sz="1600" dirty="0"/>
          </a:p>
        </p:txBody>
      </p:sp>
      <p:sp>
        <p:nvSpPr>
          <p:cNvPr id="6" name="Shape 4"/>
          <p:cNvSpPr/>
          <p:nvPr/>
        </p:nvSpPr>
        <p:spPr>
          <a:xfrm>
            <a:off x="341376" y="1072896"/>
            <a:ext cx="5689600" cy="3917696"/>
          </a:xfrm>
          <a:custGeom>
            <a:avLst/>
            <a:gdLst/>
            <a:ahLst/>
            <a:cxnLst/>
            <a:rect l="l" t="t" r="r" b="b"/>
            <a:pathLst>
              <a:path w="5689600" h="3917696">
                <a:moveTo>
                  <a:pt x="32512" y="0"/>
                </a:moveTo>
                <a:lnTo>
                  <a:pt x="5559552" y="0"/>
                </a:lnTo>
                <a:cubicBezTo>
                  <a:pt x="5631376" y="0"/>
                  <a:pt x="5689600" y="58224"/>
                  <a:pt x="5689600" y="130048"/>
                </a:cubicBezTo>
                <a:lnTo>
                  <a:pt x="5689600" y="3787648"/>
                </a:lnTo>
                <a:cubicBezTo>
                  <a:pt x="5689600" y="3859472"/>
                  <a:pt x="5631376" y="3917696"/>
                  <a:pt x="5559552" y="3917696"/>
                </a:cubicBezTo>
                <a:lnTo>
                  <a:pt x="32512" y="3917696"/>
                </a:lnTo>
                <a:cubicBezTo>
                  <a:pt x="14556" y="3917696"/>
                  <a:pt x="0" y="3903140"/>
                  <a:pt x="0" y="3885184"/>
                </a:cubicBezTo>
                <a:lnTo>
                  <a:pt x="0" y="32512"/>
                </a:lnTo>
                <a:cubicBezTo>
                  <a:pt x="0" y="14568"/>
                  <a:pt x="14568" y="0"/>
                  <a:pt x="32512" y="0"/>
                </a:cubicBezTo>
                <a:close/>
              </a:path>
            </a:pathLst>
          </a:custGeom>
          <a:solidFill>
            <a:srgbClr val="2C2C2E"/>
          </a:solidFill>
          <a:ln/>
        </p:spPr>
      </p:sp>
      <p:sp>
        <p:nvSpPr>
          <p:cNvPr id="7" name="Shape 5"/>
          <p:cNvSpPr/>
          <p:nvPr/>
        </p:nvSpPr>
        <p:spPr>
          <a:xfrm>
            <a:off x="341376" y="1072896"/>
            <a:ext cx="32512" cy="3917696"/>
          </a:xfrm>
          <a:custGeom>
            <a:avLst/>
            <a:gdLst/>
            <a:ahLst/>
            <a:cxnLst/>
            <a:rect l="l" t="t" r="r" b="b"/>
            <a:pathLst>
              <a:path w="32512" h="3917696">
                <a:moveTo>
                  <a:pt x="32512" y="0"/>
                </a:moveTo>
                <a:lnTo>
                  <a:pt x="32512" y="0"/>
                </a:lnTo>
                <a:lnTo>
                  <a:pt x="32512" y="3917696"/>
                </a:lnTo>
                <a:lnTo>
                  <a:pt x="32512" y="3917696"/>
                </a:lnTo>
                <a:cubicBezTo>
                  <a:pt x="14556" y="3917696"/>
                  <a:pt x="0" y="3903140"/>
                  <a:pt x="0" y="3885184"/>
                </a:cubicBezTo>
                <a:lnTo>
                  <a:pt x="0" y="32512"/>
                </a:lnTo>
                <a:cubicBezTo>
                  <a:pt x="0" y="14568"/>
                  <a:pt x="14568" y="0"/>
                  <a:pt x="32512" y="0"/>
                </a:cubicBezTo>
                <a:close/>
              </a:path>
            </a:pathLst>
          </a:custGeom>
          <a:solidFill>
            <a:srgbClr val="34C759"/>
          </a:solidFill>
          <a:ln/>
        </p:spPr>
      </p:sp>
      <p:sp>
        <p:nvSpPr>
          <p:cNvPr id="8" name="Shape 6"/>
          <p:cNvSpPr/>
          <p:nvPr/>
        </p:nvSpPr>
        <p:spPr>
          <a:xfrm>
            <a:off x="573024" y="1300480"/>
            <a:ext cx="162560" cy="162560"/>
          </a:xfrm>
          <a:custGeom>
            <a:avLst/>
            <a:gdLst/>
            <a:ahLst/>
            <a:cxnLst/>
            <a:rect l="l" t="t" r="r" b="b"/>
            <a:pathLst>
              <a:path w="162560" h="162560">
                <a:moveTo>
                  <a:pt x="0" y="22860"/>
                </a:moveTo>
                <a:cubicBezTo>
                  <a:pt x="0" y="18669"/>
                  <a:pt x="3397" y="15240"/>
                  <a:pt x="7620" y="15240"/>
                </a:cubicBezTo>
                <a:lnTo>
                  <a:pt x="22860" y="15240"/>
                </a:lnTo>
                <a:cubicBezTo>
                  <a:pt x="27083" y="15240"/>
                  <a:pt x="30480" y="18637"/>
                  <a:pt x="30480" y="22860"/>
                </a:cubicBezTo>
                <a:lnTo>
                  <a:pt x="30480" y="55880"/>
                </a:lnTo>
                <a:lnTo>
                  <a:pt x="38100" y="55880"/>
                </a:lnTo>
                <a:cubicBezTo>
                  <a:pt x="42323" y="55880"/>
                  <a:pt x="45720" y="59277"/>
                  <a:pt x="45720" y="63500"/>
                </a:cubicBezTo>
                <a:cubicBezTo>
                  <a:pt x="45720" y="67723"/>
                  <a:pt x="42323" y="71120"/>
                  <a:pt x="38100" y="71120"/>
                </a:cubicBezTo>
                <a:lnTo>
                  <a:pt x="7620" y="71120"/>
                </a:lnTo>
                <a:cubicBezTo>
                  <a:pt x="3397" y="71120"/>
                  <a:pt x="0" y="67723"/>
                  <a:pt x="0" y="63500"/>
                </a:cubicBezTo>
                <a:cubicBezTo>
                  <a:pt x="0" y="59277"/>
                  <a:pt x="3397" y="55880"/>
                  <a:pt x="7620" y="55880"/>
                </a:cubicBezTo>
                <a:lnTo>
                  <a:pt x="15240" y="55880"/>
                </a:lnTo>
                <a:lnTo>
                  <a:pt x="15240" y="30480"/>
                </a:lnTo>
                <a:lnTo>
                  <a:pt x="7620" y="30480"/>
                </a:lnTo>
                <a:cubicBezTo>
                  <a:pt x="3397" y="30480"/>
                  <a:pt x="0" y="27083"/>
                  <a:pt x="0" y="22860"/>
                </a:cubicBezTo>
                <a:close/>
                <a:moveTo>
                  <a:pt x="9652" y="95631"/>
                </a:moveTo>
                <a:cubicBezTo>
                  <a:pt x="13272" y="92901"/>
                  <a:pt x="17685" y="91440"/>
                  <a:pt x="22225" y="91440"/>
                </a:cubicBezTo>
                <a:lnTo>
                  <a:pt x="23781" y="91440"/>
                </a:lnTo>
                <a:cubicBezTo>
                  <a:pt x="34481" y="91440"/>
                  <a:pt x="43180" y="100140"/>
                  <a:pt x="43180" y="110839"/>
                </a:cubicBezTo>
                <a:cubicBezTo>
                  <a:pt x="43180" y="117062"/>
                  <a:pt x="40196" y="122873"/>
                  <a:pt x="35179" y="126524"/>
                </a:cubicBezTo>
                <a:lnTo>
                  <a:pt x="27559" y="132080"/>
                </a:lnTo>
                <a:lnTo>
                  <a:pt x="38100" y="132080"/>
                </a:lnTo>
                <a:cubicBezTo>
                  <a:pt x="42323" y="132080"/>
                  <a:pt x="45720" y="135477"/>
                  <a:pt x="45720" y="139700"/>
                </a:cubicBezTo>
                <a:cubicBezTo>
                  <a:pt x="45720" y="143923"/>
                  <a:pt x="42323" y="147320"/>
                  <a:pt x="38100" y="147320"/>
                </a:cubicBezTo>
                <a:lnTo>
                  <a:pt x="9303" y="147320"/>
                </a:lnTo>
                <a:cubicBezTo>
                  <a:pt x="4159" y="147320"/>
                  <a:pt x="0" y="143161"/>
                  <a:pt x="0" y="138017"/>
                </a:cubicBezTo>
                <a:cubicBezTo>
                  <a:pt x="0" y="135033"/>
                  <a:pt x="1429" y="132239"/>
                  <a:pt x="3842" y="130493"/>
                </a:cubicBezTo>
                <a:lnTo>
                  <a:pt x="26226" y="114205"/>
                </a:lnTo>
                <a:cubicBezTo>
                  <a:pt x="27305" y="113411"/>
                  <a:pt x="27940" y="112173"/>
                  <a:pt x="27940" y="110839"/>
                </a:cubicBezTo>
                <a:cubicBezTo>
                  <a:pt x="27940" y="108553"/>
                  <a:pt x="26067" y="106680"/>
                  <a:pt x="23781" y="106680"/>
                </a:cubicBezTo>
                <a:lnTo>
                  <a:pt x="22225" y="106680"/>
                </a:lnTo>
                <a:cubicBezTo>
                  <a:pt x="20987" y="106680"/>
                  <a:pt x="19780" y="107093"/>
                  <a:pt x="18796" y="107823"/>
                </a:cubicBezTo>
                <a:lnTo>
                  <a:pt x="12192" y="112776"/>
                </a:lnTo>
                <a:cubicBezTo>
                  <a:pt x="8827" y="115316"/>
                  <a:pt x="4064" y="114618"/>
                  <a:pt x="1524" y="111252"/>
                </a:cubicBezTo>
                <a:cubicBezTo>
                  <a:pt x="-1016" y="107887"/>
                  <a:pt x="-317" y="103124"/>
                  <a:pt x="3048" y="100584"/>
                </a:cubicBezTo>
                <a:lnTo>
                  <a:pt x="9652" y="95631"/>
                </a:lnTo>
                <a:close/>
                <a:moveTo>
                  <a:pt x="71120" y="20320"/>
                </a:moveTo>
                <a:lnTo>
                  <a:pt x="152400" y="20320"/>
                </a:lnTo>
                <a:cubicBezTo>
                  <a:pt x="158020" y="20320"/>
                  <a:pt x="162560" y="24860"/>
                  <a:pt x="162560" y="30480"/>
                </a:cubicBezTo>
                <a:cubicBezTo>
                  <a:pt x="162560" y="36100"/>
                  <a:pt x="158020" y="40640"/>
                  <a:pt x="152400" y="40640"/>
                </a:cubicBezTo>
                <a:lnTo>
                  <a:pt x="71120" y="40640"/>
                </a:lnTo>
                <a:cubicBezTo>
                  <a:pt x="65500" y="40640"/>
                  <a:pt x="60960" y="36100"/>
                  <a:pt x="60960" y="30480"/>
                </a:cubicBezTo>
                <a:cubicBezTo>
                  <a:pt x="60960" y="24860"/>
                  <a:pt x="65500" y="20320"/>
                  <a:pt x="71120" y="20320"/>
                </a:cubicBezTo>
                <a:close/>
                <a:moveTo>
                  <a:pt x="71120" y="71120"/>
                </a:moveTo>
                <a:lnTo>
                  <a:pt x="152400" y="71120"/>
                </a:lnTo>
                <a:cubicBezTo>
                  <a:pt x="158020" y="71120"/>
                  <a:pt x="162560" y="75660"/>
                  <a:pt x="162560" y="81280"/>
                </a:cubicBezTo>
                <a:cubicBezTo>
                  <a:pt x="162560" y="86900"/>
                  <a:pt x="158020" y="91440"/>
                  <a:pt x="152400" y="91440"/>
                </a:cubicBezTo>
                <a:lnTo>
                  <a:pt x="71120" y="91440"/>
                </a:lnTo>
                <a:cubicBezTo>
                  <a:pt x="65500" y="91440"/>
                  <a:pt x="60960" y="86900"/>
                  <a:pt x="60960" y="81280"/>
                </a:cubicBezTo>
                <a:cubicBezTo>
                  <a:pt x="60960" y="75660"/>
                  <a:pt x="65500" y="71120"/>
                  <a:pt x="71120" y="71120"/>
                </a:cubicBezTo>
                <a:close/>
                <a:moveTo>
                  <a:pt x="71120" y="121920"/>
                </a:moveTo>
                <a:lnTo>
                  <a:pt x="152400" y="121920"/>
                </a:lnTo>
                <a:cubicBezTo>
                  <a:pt x="158020" y="121920"/>
                  <a:pt x="162560" y="126460"/>
                  <a:pt x="162560" y="132080"/>
                </a:cubicBezTo>
                <a:cubicBezTo>
                  <a:pt x="162560" y="137700"/>
                  <a:pt x="158020" y="142240"/>
                  <a:pt x="152400" y="142240"/>
                </a:cubicBezTo>
                <a:lnTo>
                  <a:pt x="71120" y="142240"/>
                </a:lnTo>
                <a:cubicBezTo>
                  <a:pt x="65500" y="142240"/>
                  <a:pt x="60960" y="137700"/>
                  <a:pt x="60960" y="132080"/>
                </a:cubicBezTo>
                <a:cubicBezTo>
                  <a:pt x="60960" y="126460"/>
                  <a:pt x="65500" y="121920"/>
                  <a:pt x="71120" y="121920"/>
                </a:cubicBezTo>
                <a:close/>
              </a:path>
            </a:pathLst>
          </a:custGeom>
          <a:solidFill>
            <a:srgbClr val="34C759"/>
          </a:solidFill>
          <a:ln/>
        </p:spPr>
      </p:sp>
      <p:sp>
        <p:nvSpPr>
          <p:cNvPr id="9" name="Text 7"/>
          <p:cNvSpPr/>
          <p:nvPr/>
        </p:nvSpPr>
        <p:spPr>
          <a:xfrm>
            <a:off x="755904" y="1267968"/>
            <a:ext cx="5161280" cy="227584"/>
          </a:xfrm>
          <a:prstGeom prst="rect">
            <a:avLst/>
          </a:prstGeom>
          <a:noFill/>
          <a:ln/>
        </p:spPr>
        <p:txBody>
          <a:bodyPr wrap="square" lIns="0" tIns="0" rIns="0" bIns="0" rtlCol="0" anchor="ctr"/>
          <a:lstStyle/>
          <a:p>
            <a:pPr>
              <a:lnSpc>
                <a:spcPct val="120000"/>
              </a:lnSpc>
            </a:pPr>
            <a:r>
              <a:rPr lang="en-US" sz="1280" b="1" dirty="0">
                <a:solidFill>
                  <a:srgbClr val="34C759"/>
                </a:solidFill>
                <a:latin typeface="Liter" pitchFamily="34" charset="0"/>
                <a:ea typeface="Liter" pitchFamily="34" charset="-122"/>
                <a:cs typeface="Liter" pitchFamily="34" charset="-120"/>
              </a:rPr>
              <a:t>Installation Steps</a:t>
            </a:r>
            <a:endParaRPr lang="en-US" sz="1600" dirty="0"/>
          </a:p>
        </p:txBody>
      </p:sp>
      <p:sp>
        <p:nvSpPr>
          <p:cNvPr id="10" name="Shape 8"/>
          <p:cNvSpPr/>
          <p:nvPr/>
        </p:nvSpPr>
        <p:spPr>
          <a:xfrm>
            <a:off x="552704" y="1793859"/>
            <a:ext cx="325120" cy="325120"/>
          </a:xfrm>
          <a:prstGeom prst="roundRect">
            <a:avLst>
              <a:gd name="adj" fmla="val 50000"/>
            </a:avLst>
          </a:prstGeom>
          <a:solidFill>
            <a:srgbClr val="34C759"/>
          </a:solidFill>
          <a:ln/>
        </p:spPr>
      </p:sp>
      <p:sp>
        <p:nvSpPr>
          <p:cNvPr id="11" name="Text 9"/>
          <p:cNvSpPr/>
          <p:nvPr/>
        </p:nvSpPr>
        <p:spPr>
          <a:xfrm>
            <a:off x="686003" y="1842627"/>
            <a:ext cx="130048" cy="227584"/>
          </a:xfrm>
          <a:prstGeom prst="rect">
            <a:avLst/>
          </a:prstGeom>
          <a:noFill/>
          <a:ln/>
        </p:spPr>
        <p:txBody>
          <a:bodyPr wrap="square" lIns="0" tIns="0" rIns="0" bIns="0" rtlCol="0" anchor="ctr"/>
          <a:lstStyle/>
          <a:p>
            <a:pPr>
              <a:lnSpc>
                <a:spcPct val="130000"/>
              </a:lnSpc>
            </a:pPr>
            <a:r>
              <a:rPr lang="en-US" sz="1152" b="1" dirty="0">
                <a:solidFill>
                  <a:srgbClr val="1D1D1F"/>
                </a:solidFill>
                <a:latin typeface="Liter" pitchFamily="34" charset="0"/>
                <a:ea typeface="Liter" pitchFamily="34" charset="-122"/>
                <a:cs typeface="Liter" pitchFamily="34" charset="-120"/>
              </a:rPr>
              <a:t>1</a:t>
            </a:r>
            <a:endParaRPr lang="en-US" sz="1600" dirty="0"/>
          </a:p>
        </p:txBody>
      </p:sp>
      <p:sp>
        <p:nvSpPr>
          <p:cNvPr id="12" name="Text 10"/>
          <p:cNvSpPr/>
          <p:nvPr/>
        </p:nvSpPr>
        <p:spPr>
          <a:xfrm>
            <a:off x="975360" y="1793859"/>
            <a:ext cx="2934208" cy="227584"/>
          </a:xfrm>
          <a:prstGeom prst="rect">
            <a:avLst/>
          </a:prstGeom>
          <a:noFill/>
          <a:ln/>
        </p:spPr>
        <p:txBody>
          <a:bodyPr wrap="square" lIns="0" tIns="0" rIns="0" bIns="0" rtlCol="0" anchor="ctr"/>
          <a:lstStyle/>
          <a:p>
            <a:pPr>
              <a:lnSpc>
                <a:spcPct val="130000"/>
              </a:lnSpc>
            </a:pPr>
            <a:r>
              <a:rPr lang="en-US" sz="1152" b="1" dirty="0">
                <a:solidFill>
                  <a:srgbClr val="34C759"/>
                </a:solidFill>
                <a:latin typeface="Liter" pitchFamily="34" charset="0"/>
                <a:ea typeface="Liter" pitchFamily="34" charset="-122"/>
                <a:cs typeface="Liter" pitchFamily="34" charset="-120"/>
              </a:rPr>
              <a:t>Check Requirements</a:t>
            </a:r>
            <a:endParaRPr lang="en-US" sz="1600" dirty="0"/>
          </a:p>
        </p:txBody>
      </p:sp>
      <p:sp>
        <p:nvSpPr>
          <p:cNvPr id="13" name="Text 11"/>
          <p:cNvSpPr/>
          <p:nvPr/>
        </p:nvSpPr>
        <p:spPr>
          <a:xfrm>
            <a:off x="975360" y="2053955"/>
            <a:ext cx="2926080" cy="195072"/>
          </a:xfrm>
          <a:prstGeom prst="rect">
            <a:avLst/>
          </a:prstGeom>
          <a:noFill/>
          <a:ln/>
        </p:spPr>
        <p:txBody>
          <a:bodyPr wrap="square" lIns="0" tIns="0" rIns="0" bIns="0" rtlCol="0" anchor="ctr"/>
          <a:lstStyle/>
          <a:p>
            <a:pPr>
              <a:lnSpc>
                <a:spcPct val="130000"/>
              </a:lnSpc>
            </a:pPr>
            <a:r>
              <a:rPr lang="en-US" sz="1024" dirty="0">
                <a:solidFill>
                  <a:srgbClr val="F5F5F7"/>
                </a:solidFill>
                <a:latin typeface="Quattrocento Sans" pitchFamily="34" charset="0"/>
                <a:ea typeface="Quattrocento Sans" pitchFamily="34" charset="-122"/>
                <a:cs typeface="Quattrocento Sans" pitchFamily="34" charset="-120"/>
              </a:rPr>
              <a:t>Windows 10/11, Mac, or Linux. 8GB RAM minimum.</a:t>
            </a:r>
            <a:endParaRPr lang="en-US" sz="1600" dirty="0"/>
          </a:p>
        </p:txBody>
      </p:sp>
      <p:sp>
        <p:nvSpPr>
          <p:cNvPr id="14" name="Shape 12"/>
          <p:cNvSpPr/>
          <p:nvPr/>
        </p:nvSpPr>
        <p:spPr>
          <a:xfrm>
            <a:off x="552704" y="2585514"/>
            <a:ext cx="325120" cy="325120"/>
          </a:xfrm>
          <a:prstGeom prst="roundRect">
            <a:avLst>
              <a:gd name="adj" fmla="val 50000"/>
            </a:avLst>
          </a:prstGeom>
          <a:solidFill>
            <a:srgbClr val="0A84FF"/>
          </a:solidFill>
          <a:ln/>
        </p:spPr>
      </p:sp>
      <p:sp>
        <p:nvSpPr>
          <p:cNvPr id="15" name="Text 13"/>
          <p:cNvSpPr/>
          <p:nvPr/>
        </p:nvSpPr>
        <p:spPr>
          <a:xfrm>
            <a:off x="672694" y="2634282"/>
            <a:ext cx="154432" cy="227584"/>
          </a:xfrm>
          <a:prstGeom prst="rect">
            <a:avLst/>
          </a:prstGeom>
          <a:noFill/>
          <a:ln/>
        </p:spPr>
        <p:txBody>
          <a:bodyPr wrap="square" lIns="0" tIns="0" rIns="0" bIns="0" rtlCol="0" anchor="ctr"/>
          <a:lstStyle/>
          <a:p>
            <a:pPr>
              <a:lnSpc>
                <a:spcPct val="130000"/>
              </a:lnSpc>
            </a:pPr>
            <a:r>
              <a:rPr lang="en-US" sz="1152" b="1" dirty="0">
                <a:solidFill>
                  <a:srgbClr val="FFFFFF"/>
                </a:solidFill>
                <a:latin typeface="Liter" pitchFamily="34" charset="0"/>
                <a:ea typeface="Liter" pitchFamily="34" charset="-122"/>
                <a:cs typeface="Liter" pitchFamily="34" charset="-120"/>
              </a:rPr>
              <a:t>2</a:t>
            </a:r>
            <a:endParaRPr lang="en-US" sz="1600" dirty="0"/>
          </a:p>
        </p:txBody>
      </p:sp>
      <p:sp>
        <p:nvSpPr>
          <p:cNvPr id="16" name="Text 14"/>
          <p:cNvSpPr/>
          <p:nvPr/>
        </p:nvSpPr>
        <p:spPr>
          <a:xfrm>
            <a:off x="975360" y="2585514"/>
            <a:ext cx="2966720" cy="227584"/>
          </a:xfrm>
          <a:prstGeom prst="rect">
            <a:avLst/>
          </a:prstGeom>
          <a:noFill/>
          <a:ln/>
        </p:spPr>
        <p:txBody>
          <a:bodyPr wrap="square" lIns="0" tIns="0" rIns="0" bIns="0" rtlCol="0" anchor="ctr"/>
          <a:lstStyle/>
          <a:p>
            <a:pPr>
              <a:lnSpc>
                <a:spcPct val="130000"/>
              </a:lnSpc>
            </a:pPr>
            <a:r>
              <a:rPr lang="en-US" sz="1152" b="1" dirty="0">
                <a:solidFill>
                  <a:srgbClr val="0A84FF"/>
                </a:solidFill>
                <a:latin typeface="Liter" pitchFamily="34" charset="0"/>
                <a:ea typeface="Liter" pitchFamily="34" charset="-122"/>
                <a:cs typeface="Liter" pitchFamily="34" charset="-120"/>
              </a:rPr>
              <a:t>Download</a:t>
            </a:r>
            <a:endParaRPr lang="en-US" sz="1600" dirty="0"/>
          </a:p>
        </p:txBody>
      </p:sp>
      <p:sp>
        <p:nvSpPr>
          <p:cNvPr id="17" name="Text 15"/>
          <p:cNvSpPr/>
          <p:nvPr/>
        </p:nvSpPr>
        <p:spPr>
          <a:xfrm>
            <a:off x="975360" y="2845610"/>
            <a:ext cx="2958592" cy="195072"/>
          </a:xfrm>
          <a:prstGeom prst="rect">
            <a:avLst/>
          </a:prstGeom>
          <a:noFill/>
          <a:ln/>
        </p:spPr>
        <p:txBody>
          <a:bodyPr wrap="square" lIns="0" tIns="0" rIns="0" bIns="0" rtlCol="0" anchor="ctr"/>
          <a:lstStyle/>
          <a:p>
            <a:pPr>
              <a:lnSpc>
                <a:spcPct val="130000"/>
              </a:lnSpc>
            </a:pPr>
            <a:r>
              <a:rPr lang="en-US" sz="1024" dirty="0">
                <a:solidFill>
                  <a:srgbClr val="F5F5F7"/>
                </a:solidFill>
                <a:latin typeface="Quattrocento Sans" pitchFamily="34" charset="0"/>
                <a:ea typeface="Quattrocento Sans" pitchFamily="34" charset="-122"/>
                <a:cs typeface="Quattrocento Sans" pitchFamily="34" charset="-120"/>
              </a:rPr>
              <a:t>Go to developer.android.com/studio and download</a:t>
            </a:r>
            <a:endParaRPr lang="en-US" sz="1600" dirty="0"/>
          </a:p>
        </p:txBody>
      </p:sp>
      <p:sp>
        <p:nvSpPr>
          <p:cNvPr id="18" name="Shape 16"/>
          <p:cNvSpPr/>
          <p:nvPr/>
        </p:nvSpPr>
        <p:spPr>
          <a:xfrm>
            <a:off x="552704" y="3377184"/>
            <a:ext cx="325120" cy="325120"/>
          </a:xfrm>
          <a:prstGeom prst="roundRect">
            <a:avLst>
              <a:gd name="adj" fmla="val 50000"/>
            </a:avLst>
          </a:prstGeom>
          <a:solidFill>
            <a:srgbClr val="8E8E93"/>
          </a:solidFill>
          <a:ln/>
        </p:spPr>
      </p:sp>
      <p:sp>
        <p:nvSpPr>
          <p:cNvPr id="19" name="Text 17"/>
          <p:cNvSpPr/>
          <p:nvPr/>
        </p:nvSpPr>
        <p:spPr>
          <a:xfrm>
            <a:off x="672084" y="3425952"/>
            <a:ext cx="162560" cy="227584"/>
          </a:xfrm>
          <a:prstGeom prst="rect">
            <a:avLst/>
          </a:prstGeom>
          <a:noFill/>
          <a:ln/>
        </p:spPr>
        <p:txBody>
          <a:bodyPr wrap="square" lIns="0" tIns="0" rIns="0" bIns="0" rtlCol="0" anchor="ctr"/>
          <a:lstStyle/>
          <a:p>
            <a:pPr>
              <a:lnSpc>
                <a:spcPct val="130000"/>
              </a:lnSpc>
            </a:pPr>
            <a:r>
              <a:rPr lang="en-US" sz="1152" b="1" dirty="0">
                <a:solidFill>
                  <a:srgbClr val="FFFFFF"/>
                </a:solidFill>
                <a:latin typeface="Liter" pitchFamily="34" charset="0"/>
                <a:ea typeface="Liter" pitchFamily="34" charset="-122"/>
                <a:cs typeface="Liter" pitchFamily="34" charset="-120"/>
              </a:rPr>
              <a:t>3</a:t>
            </a:r>
            <a:endParaRPr lang="en-US" sz="1600" dirty="0"/>
          </a:p>
        </p:txBody>
      </p:sp>
      <p:sp>
        <p:nvSpPr>
          <p:cNvPr id="20" name="Text 18"/>
          <p:cNvSpPr/>
          <p:nvPr/>
        </p:nvSpPr>
        <p:spPr>
          <a:xfrm>
            <a:off x="975360" y="3377184"/>
            <a:ext cx="2982976" cy="227584"/>
          </a:xfrm>
          <a:prstGeom prst="rect">
            <a:avLst/>
          </a:prstGeom>
          <a:noFill/>
          <a:ln/>
        </p:spPr>
        <p:txBody>
          <a:bodyPr wrap="square" lIns="0" tIns="0" rIns="0" bIns="0" rtlCol="0" anchor="ctr"/>
          <a:lstStyle/>
          <a:p>
            <a:pPr>
              <a:lnSpc>
                <a:spcPct val="130000"/>
              </a:lnSpc>
            </a:pPr>
            <a:r>
              <a:rPr lang="en-US" sz="1152" b="1" dirty="0">
                <a:solidFill>
                  <a:srgbClr val="8E8E93"/>
                </a:solidFill>
                <a:latin typeface="Liter" pitchFamily="34" charset="0"/>
                <a:ea typeface="Liter" pitchFamily="34" charset="-122"/>
                <a:cs typeface="Liter" pitchFamily="34" charset="-120"/>
              </a:rPr>
              <a:t>Run Installer</a:t>
            </a:r>
            <a:endParaRPr lang="en-US" sz="1600" dirty="0"/>
          </a:p>
        </p:txBody>
      </p:sp>
      <p:sp>
        <p:nvSpPr>
          <p:cNvPr id="21" name="Text 19"/>
          <p:cNvSpPr/>
          <p:nvPr/>
        </p:nvSpPr>
        <p:spPr>
          <a:xfrm>
            <a:off x="975360" y="3637280"/>
            <a:ext cx="2974848" cy="195072"/>
          </a:xfrm>
          <a:prstGeom prst="rect">
            <a:avLst/>
          </a:prstGeom>
          <a:noFill/>
          <a:ln/>
        </p:spPr>
        <p:txBody>
          <a:bodyPr wrap="square" lIns="0" tIns="0" rIns="0" bIns="0" rtlCol="0" anchor="ctr"/>
          <a:lstStyle/>
          <a:p>
            <a:pPr>
              <a:lnSpc>
                <a:spcPct val="130000"/>
              </a:lnSpc>
            </a:pPr>
            <a:r>
              <a:rPr lang="en-US" sz="1024" dirty="0">
                <a:solidFill>
                  <a:srgbClr val="F5F5F7"/>
                </a:solidFill>
                <a:latin typeface="Quattrocento Sans" pitchFamily="34" charset="0"/>
                <a:ea typeface="Quattrocento Sans" pitchFamily="34" charset="-122"/>
                <a:cs typeface="Quattrocento Sans" pitchFamily="34" charset="-120"/>
              </a:rPr>
              <a:t>Double-click the downloaded file and follow wizard</a:t>
            </a:r>
            <a:endParaRPr lang="en-US" sz="1600" dirty="0"/>
          </a:p>
        </p:txBody>
      </p:sp>
      <p:sp>
        <p:nvSpPr>
          <p:cNvPr id="22" name="Shape 20"/>
          <p:cNvSpPr/>
          <p:nvPr/>
        </p:nvSpPr>
        <p:spPr>
          <a:xfrm>
            <a:off x="552704" y="4168854"/>
            <a:ext cx="325120" cy="325120"/>
          </a:xfrm>
          <a:prstGeom prst="roundRect">
            <a:avLst>
              <a:gd name="adj" fmla="val 50000"/>
            </a:avLst>
          </a:prstGeom>
          <a:solidFill>
            <a:srgbClr val="FF9500"/>
          </a:solidFill>
          <a:ln/>
        </p:spPr>
      </p:sp>
      <p:sp>
        <p:nvSpPr>
          <p:cNvPr id="23" name="Text 21"/>
          <p:cNvSpPr/>
          <p:nvPr/>
        </p:nvSpPr>
        <p:spPr>
          <a:xfrm>
            <a:off x="672084" y="4217622"/>
            <a:ext cx="162560" cy="227584"/>
          </a:xfrm>
          <a:prstGeom prst="rect">
            <a:avLst/>
          </a:prstGeom>
          <a:noFill/>
          <a:ln/>
        </p:spPr>
        <p:txBody>
          <a:bodyPr wrap="square" lIns="0" tIns="0" rIns="0" bIns="0" rtlCol="0" anchor="ctr"/>
          <a:lstStyle/>
          <a:p>
            <a:pPr>
              <a:lnSpc>
                <a:spcPct val="130000"/>
              </a:lnSpc>
            </a:pPr>
            <a:r>
              <a:rPr lang="en-US" sz="1152" b="1" dirty="0">
                <a:solidFill>
                  <a:srgbClr val="FFFFFF"/>
                </a:solidFill>
                <a:latin typeface="Liter" pitchFamily="34" charset="0"/>
                <a:ea typeface="Liter" pitchFamily="34" charset="-122"/>
                <a:cs typeface="Liter" pitchFamily="34" charset="-120"/>
              </a:rPr>
              <a:t>4</a:t>
            </a:r>
            <a:endParaRPr lang="en-US" sz="1600" dirty="0"/>
          </a:p>
        </p:txBody>
      </p:sp>
      <p:sp>
        <p:nvSpPr>
          <p:cNvPr id="24" name="Text 22"/>
          <p:cNvSpPr/>
          <p:nvPr/>
        </p:nvSpPr>
        <p:spPr>
          <a:xfrm>
            <a:off x="975360" y="4168854"/>
            <a:ext cx="2820416" cy="227584"/>
          </a:xfrm>
          <a:prstGeom prst="rect">
            <a:avLst/>
          </a:prstGeom>
          <a:noFill/>
          <a:ln/>
        </p:spPr>
        <p:txBody>
          <a:bodyPr wrap="square" lIns="0" tIns="0" rIns="0" bIns="0" rtlCol="0" anchor="ctr"/>
          <a:lstStyle/>
          <a:p>
            <a:pPr>
              <a:lnSpc>
                <a:spcPct val="130000"/>
              </a:lnSpc>
            </a:pPr>
            <a:r>
              <a:rPr lang="en-US" sz="1152" b="1" dirty="0">
                <a:solidFill>
                  <a:srgbClr val="FF9500"/>
                </a:solidFill>
                <a:latin typeface="Liter" pitchFamily="34" charset="0"/>
                <a:ea typeface="Liter" pitchFamily="34" charset="-122"/>
                <a:cs typeface="Liter" pitchFamily="34" charset="-120"/>
              </a:rPr>
              <a:t>First Launch</a:t>
            </a:r>
            <a:endParaRPr lang="en-US" sz="1600" dirty="0"/>
          </a:p>
        </p:txBody>
      </p:sp>
      <p:sp>
        <p:nvSpPr>
          <p:cNvPr id="25" name="Text 23"/>
          <p:cNvSpPr/>
          <p:nvPr/>
        </p:nvSpPr>
        <p:spPr>
          <a:xfrm>
            <a:off x="975360" y="4428950"/>
            <a:ext cx="2812288" cy="195072"/>
          </a:xfrm>
          <a:prstGeom prst="rect">
            <a:avLst/>
          </a:prstGeom>
          <a:noFill/>
          <a:ln/>
        </p:spPr>
        <p:txBody>
          <a:bodyPr wrap="square" lIns="0" tIns="0" rIns="0" bIns="0" rtlCol="0" anchor="ctr"/>
          <a:lstStyle/>
          <a:p>
            <a:pPr>
              <a:lnSpc>
                <a:spcPct val="130000"/>
              </a:lnSpc>
            </a:pPr>
            <a:r>
              <a:rPr lang="en-US" sz="1024" dirty="0">
                <a:solidFill>
                  <a:srgbClr val="F5F5F7"/>
                </a:solidFill>
                <a:latin typeface="Quattrocento Sans" pitchFamily="34" charset="0"/>
                <a:ea typeface="Quattrocento Sans" pitchFamily="34" charset="-122"/>
                <a:cs typeface="Quattrocento Sans" pitchFamily="34" charset="-120"/>
              </a:rPr>
              <a:t>Open Android Studio and complete setup wizard</a:t>
            </a:r>
            <a:endParaRPr lang="en-US" sz="1600" dirty="0"/>
          </a:p>
        </p:txBody>
      </p:sp>
      <p:sp>
        <p:nvSpPr>
          <p:cNvPr id="26" name="Shape 24"/>
          <p:cNvSpPr/>
          <p:nvPr/>
        </p:nvSpPr>
        <p:spPr>
          <a:xfrm>
            <a:off x="6179007" y="1072896"/>
            <a:ext cx="5689600" cy="2698496"/>
          </a:xfrm>
          <a:custGeom>
            <a:avLst/>
            <a:gdLst/>
            <a:ahLst/>
            <a:cxnLst/>
            <a:rect l="l" t="t" r="r" b="b"/>
            <a:pathLst>
              <a:path w="5689600" h="2698496">
                <a:moveTo>
                  <a:pt x="32512" y="0"/>
                </a:moveTo>
                <a:lnTo>
                  <a:pt x="5559552" y="0"/>
                </a:lnTo>
                <a:cubicBezTo>
                  <a:pt x="5631376" y="0"/>
                  <a:pt x="5689600" y="58224"/>
                  <a:pt x="5689600" y="130048"/>
                </a:cubicBezTo>
                <a:lnTo>
                  <a:pt x="5689600" y="2568448"/>
                </a:lnTo>
                <a:cubicBezTo>
                  <a:pt x="5689600" y="2640272"/>
                  <a:pt x="5631376" y="2698496"/>
                  <a:pt x="5559552" y="2698496"/>
                </a:cubicBezTo>
                <a:lnTo>
                  <a:pt x="32512" y="2698496"/>
                </a:lnTo>
                <a:cubicBezTo>
                  <a:pt x="14556" y="2698496"/>
                  <a:pt x="0" y="2683940"/>
                  <a:pt x="0" y="2665984"/>
                </a:cubicBezTo>
                <a:lnTo>
                  <a:pt x="0" y="32512"/>
                </a:lnTo>
                <a:cubicBezTo>
                  <a:pt x="0" y="14568"/>
                  <a:pt x="14568" y="0"/>
                  <a:pt x="32512" y="0"/>
                </a:cubicBezTo>
                <a:close/>
              </a:path>
            </a:pathLst>
          </a:custGeom>
          <a:solidFill>
            <a:srgbClr val="2C2C2E"/>
          </a:solidFill>
          <a:ln/>
        </p:spPr>
      </p:sp>
      <p:sp>
        <p:nvSpPr>
          <p:cNvPr id="27" name="Shape 25"/>
          <p:cNvSpPr/>
          <p:nvPr/>
        </p:nvSpPr>
        <p:spPr>
          <a:xfrm>
            <a:off x="6179007" y="1072896"/>
            <a:ext cx="32512" cy="2698496"/>
          </a:xfrm>
          <a:custGeom>
            <a:avLst/>
            <a:gdLst/>
            <a:ahLst/>
            <a:cxnLst/>
            <a:rect l="l" t="t" r="r" b="b"/>
            <a:pathLst>
              <a:path w="32512" h="2698496">
                <a:moveTo>
                  <a:pt x="32512" y="0"/>
                </a:moveTo>
                <a:lnTo>
                  <a:pt x="32512" y="0"/>
                </a:lnTo>
                <a:lnTo>
                  <a:pt x="32512" y="2698496"/>
                </a:lnTo>
                <a:lnTo>
                  <a:pt x="32512" y="2698496"/>
                </a:lnTo>
                <a:cubicBezTo>
                  <a:pt x="14556" y="2698496"/>
                  <a:pt x="0" y="2683940"/>
                  <a:pt x="0" y="2665984"/>
                </a:cubicBezTo>
                <a:lnTo>
                  <a:pt x="0" y="32512"/>
                </a:lnTo>
                <a:cubicBezTo>
                  <a:pt x="0" y="14568"/>
                  <a:pt x="14568" y="0"/>
                  <a:pt x="32512" y="0"/>
                </a:cubicBezTo>
                <a:close/>
              </a:path>
            </a:pathLst>
          </a:custGeom>
          <a:solidFill>
            <a:srgbClr val="0A84FF"/>
          </a:solidFill>
          <a:ln/>
        </p:spPr>
      </p:sp>
      <p:sp>
        <p:nvSpPr>
          <p:cNvPr id="28" name="Shape 26"/>
          <p:cNvSpPr/>
          <p:nvPr/>
        </p:nvSpPr>
        <p:spPr>
          <a:xfrm>
            <a:off x="6410655" y="1300480"/>
            <a:ext cx="162560" cy="162560"/>
          </a:xfrm>
          <a:custGeom>
            <a:avLst/>
            <a:gdLst/>
            <a:ahLst/>
            <a:cxnLst/>
            <a:rect l="l" t="t" r="r" b="b"/>
            <a:pathLst>
              <a:path w="162560" h="162560">
                <a:moveTo>
                  <a:pt x="81280" y="0"/>
                </a:moveTo>
                <a:cubicBezTo>
                  <a:pt x="85947" y="0"/>
                  <a:pt x="90234" y="2572"/>
                  <a:pt x="92456" y="6668"/>
                </a:cubicBezTo>
                <a:lnTo>
                  <a:pt x="161036" y="133668"/>
                </a:lnTo>
                <a:cubicBezTo>
                  <a:pt x="163163" y="137605"/>
                  <a:pt x="163068" y="142367"/>
                  <a:pt x="160782" y="146209"/>
                </a:cubicBezTo>
                <a:cubicBezTo>
                  <a:pt x="158496" y="150051"/>
                  <a:pt x="154337" y="152400"/>
                  <a:pt x="149860" y="152400"/>
                </a:cubicBezTo>
                <a:lnTo>
                  <a:pt x="12700" y="152400"/>
                </a:lnTo>
                <a:cubicBezTo>
                  <a:pt x="8223" y="152400"/>
                  <a:pt x="4096" y="150051"/>
                  <a:pt x="1778" y="146209"/>
                </a:cubicBezTo>
                <a:cubicBezTo>
                  <a:pt x="-540" y="142367"/>
                  <a:pt x="-603" y="137605"/>
                  <a:pt x="1524" y="133668"/>
                </a:cubicBezTo>
                <a:lnTo>
                  <a:pt x="70104" y="6668"/>
                </a:lnTo>
                <a:cubicBezTo>
                  <a:pt x="72327" y="2572"/>
                  <a:pt x="76613" y="0"/>
                  <a:pt x="81280" y="0"/>
                </a:cubicBezTo>
                <a:close/>
                <a:moveTo>
                  <a:pt x="81280" y="53340"/>
                </a:moveTo>
                <a:cubicBezTo>
                  <a:pt x="77057" y="53340"/>
                  <a:pt x="73660" y="56737"/>
                  <a:pt x="73660" y="60960"/>
                </a:cubicBezTo>
                <a:lnTo>
                  <a:pt x="73660" y="96520"/>
                </a:lnTo>
                <a:cubicBezTo>
                  <a:pt x="73660" y="100743"/>
                  <a:pt x="77057" y="104140"/>
                  <a:pt x="81280" y="104140"/>
                </a:cubicBezTo>
                <a:cubicBezTo>
                  <a:pt x="85503" y="104140"/>
                  <a:pt x="88900" y="100743"/>
                  <a:pt x="88900" y="96520"/>
                </a:cubicBezTo>
                <a:lnTo>
                  <a:pt x="88900" y="60960"/>
                </a:lnTo>
                <a:cubicBezTo>
                  <a:pt x="88900" y="56737"/>
                  <a:pt x="85503" y="53340"/>
                  <a:pt x="81280" y="53340"/>
                </a:cubicBezTo>
                <a:close/>
                <a:moveTo>
                  <a:pt x="89757" y="121920"/>
                </a:moveTo>
                <a:cubicBezTo>
                  <a:pt x="89950" y="118773"/>
                  <a:pt x="88381" y="115780"/>
                  <a:pt x="85683" y="114148"/>
                </a:cubicBezTo>
                <a:cubicBezTo>
                  <a:pt x="82986" y="112516"/>
                  <a:pt x="79606" y="112516"/>
                  <a:pt x="76908" y="114148"/>
                </a:cubicBezTo>
                <a:cubicBezTo>
                  <a:pt x="74211" y="115780"/>
                  <a:pt x="72642" y="118773"/>
                  <a:pt x="72834" y="121920"/>
                </a:cubicBezTo>
                <a:cubicBezTo>
                  <a:pt x="72642" y="125067"/>
                  <a:pt x="74211" y="128060"/>
                  <a:pt x="76908" y="129692"/>
                </a:cubicBezTo>
                <a:cubicBezTo>
                  <a:pt x="79606" y="131324"/>
                  <a:pt x="82986" y="131324"/>
                  <a:pt x="85683" y="129692"/>
                </a:cubicBezTo>
                <a:cubicBezTo>
                  <a:pt x="88381" y="128060"/>
                  <a:pt x="89950" y="125067"/>
                  <a:pt x="89757" y="121920"/>
                </a:cubicBezTo>
                <a:close/>
              </a:path>
            </a:pathLst>
          </a:custGeom>
          <a:solidFill>
            <a:srgbClr val="0A84FF"/>
          </a:solidFill>
          <a:ln/>
        </p:spPr>
      </p:sp>
      <p:sp>
        <p:nvSpPr>
          <p:cNvPr id="29" name="Text 27"/>
          <p:cNvSpPr/>
          <p:nvPr/>
        </p:nvSpPr>
        <p:spPr>
          <a:xfrm>
            <a:off x="6593535" y="1267968"/>
            <a:ext cx="5161280" cy="227584"/>
          </a:xfrm>
          <a:prstGeom prst="rect">
            <a:avLst/>
          </a:prstGeom>
          <a:noFill/>
          <a:ln/>
        </p:spPr>
        <p:txBody>
          <a:bodyPr wrap="square" lIns="0" tIns="0" rIns="0" bIns="0" rtlCol="0" anchor="ctr"/>
          <a:lstStyle/>
          <a:p>
            <a:pPr>
              <a:lnSpc>
                <a:spcPct val="120000"/>
              </a:lnSpc>
            </a:pPr>
            <a:r>
              <a:rPr lang="en-US" sz="1280" b="1" dirty="0">
                <a:solidFill>
                  <a:srgbClr val="0A84FF"/>
                </a:solidFill>
                <a:latin typeface="Liter" pitchFamily="34" charset="0"/>
                <a:ea typeface="Liter" pitchFamily="34" charset="-122"/>
                <a:cs typeface="Liter" pitchFamily="34" charset="-120"/>
              </a:rPr>
              <a:t>Common Issues</a:t>
            </a:r>
            <a:endParaRPr lang="en-US" sz="1600" dirty="0"/>
          </a:p>
        </p:txBody>
      </p:sp>
      <p:sp>
        <p:nvSpPr>
          <p:cNvPr id="30" name="Shape 28"/>
          <p:cNvSpPr/>
          <p:nvPr/>
        </p:nvSpPr>
        <p:spPr>
          <a:xfrm>
            <a:off x="6390335" y="1625600"/>
            <a:ext cx="5283200" cy="585216"/>
          </a:xfrm>
          <a:prstGeom prst="roundRect">
            <a:avLst>
              <a:gd name="adj" fmla="val 11111"/>
            </a:avLst>
          </a:prstGeom>
          <a:solidFill>
            <a:srgbClr val="1A1D21"/>
          </a:solidFill>
          <a:ln/>
        </p:spPr>
      </p:sp>
      <p:sp>
        <p:nvSpPr>
          <p:cNvPr id="31" name="Text 29"/>
          <p:cNvSpPr/>
          <p:nvPr/>
        </p:nvSpPr>
        <p:spPr>
          <a:xfrm>
            <a:off x="6487871" y="1723136"/>
            <a:ext cx="5153152" cy="195072"/>
          </a:xfrm>
          <a:prstGeom prst="rect">
            <a:avLst/>
          </a:prstGeom>
          <a:noFill/>
          <a:ln/>
        </p:spPr>
        <p:txBody>
          <a:bodyPr wrap="square" lIns="0" tIns="0" rIns="0" bIns="0" rtlCol="0" anchor="ctr"/>
          <a:lstStyle/>
          <a:p>
            <a:pPr>
              <a:lnSpc>
                <a:spcPct val="130000"/>
              </a:lnSpc>
            </a:pPr>
            <a:r>
              <a:rPr lang="en-US" sz="1024" b="1" dirty="0">
                <a:solidFill>
                  <a:srgbClr val="FF3B30"/>
                </a:solidFill>
                <a:latin typeface="Quattrocento Sans" pitchFamily="34" charset="0"/>
                <a:ea typeface="Quattrocento Sans" pitchFamily="34" charset="-122"/>
                <a:cs typeface="Quattrocento Sans" pitchFamily="34" charset="-120"/>
              </a:rPr>
              <a:t>Issue:</a:t>
            </a:r>
            <a:pPr>
              <a:lnSpc>
                <a:spcPct val="130000"/>
              </a:lnSpc>
            </a:pPr>
            <a:r>
              <a:rPr lang="en-US" sz="1024" dirty="0">
                <a:solidFill>
                  <a:srgbClr val="F5F5F7"/>
                </a:solidFill>
                <a:latin typeface="Quattrocento Sans" pitchFamily="34" charset="0"/>
                <a:ea typeface="Quattrocento Sans" pitchFamily="34" charset="-122"/>
                <a:cs typeface="Quattrocento Sans" pitchFamily="34" charset="-120"/>
              </a:rPr>
              <a:t> "Not enough disk space"</a:t>
            </a:r>
            <a:endParaRPr lang="en-US" sz="1600" dirty="0"/>
          </a:p>
        </p:txBody>
      </p:sp>
      <p:sp>
        <p:nvSpPr>
          <p:cNvPr id="32" name="Text 30"/>
          <p:cNvSpPr/>
          <p:nvPr/>
        </p:nvSpPr>
        <p:spPr>
          <a:xfrm>
            <a:off x="6487871" y="1918208"/>
            <a:ext cx="5153152" cy="195072"/>
          </a:xfrm>
          <a:prstGeom prst="rect">
            <a:avLst/>
          </a:prstGeom>
          <a:noFill/>
          <a:ln/>
        </p:spPr>
        <p:txBody>
          <a:bodyPr wrap="square" lIns="0" tIns="0" rIns="0" bIns="0" rtlCol="0" anchor="ctr"/>
          <a:lstStyle/>
          <a:p>
            <a:pPr>
              <a:lnSpc>
                <a:spcPct val="130000"/>
              </a:lnSpc>
            </a:pPr>
            <a:r>
              <a:rPr lang="en-US" sz="1024" b="1" dirty="0">
                <a:solidFill>
                  <a:srgbClr val="34C759"/>
                </a:solidFill>
                <a:latin typeface="Quattrocento Sans" pitchFamily="34" charset="0"/>
                <a:ea typeface="Quattrocento Sans" pitchFamily="34" charset="-122"/>
                <a:cs typeface="Quattrocento Sans" pitchFamily="34" charset="-120"/>
              </a:rPr>
              <a:t>Fix:</a:t>
            </a:r>
            <a:pPr>
              <a:lnSpc>
                <a:spcPct val="130000"/>
              </a:lnSpc>
            </a:pPr>
            <a:r>
              <a:rPr lang="en-US" sz="1024" dirty="0">
                <a:solidFill>
                  <a:srgbClr val="8E8E93"/>
                </a:solidFill>
                <a:latin typeface="Quattrocento Sans" pitchFamily="34" charset="0"/>
                <a:ea typeface="Quattrocento Sans" pitchFamily="34" charset="-122"/>
                <a:cs typeface="Quattrocento Sans" pitchFamily="34" charset="-120"/>
              </a:rPr>
              <a:t> Free up 4GB+ space or install on external drive</a:t>
            </a:r>
            <a:endParaRPr lang="en-US" sz="1600" dirty="0"/>
          </a:p>
        </p:txBody>
      </p:sp>
      <p:sp>
        <p:nvSpPr>
          <p:cNvPr id="33" name="Shape 31"/>
          <p:cNvSpPr/>
          <p:nvPr/>
        </p:nvSpPr>
        <p:spPr>
          <a:xfrm>
            <a:off x="6390335" y="2308352"/>
            <a:ext cx="5283200" cy="585216"/>
          </a:xfrm>
          <a:prstGeom prst="roundRect">
            <a:avLst>
              <a:gd name="adj" fmla="val 11111"/>
            </a:avLst>
          </a:prstGeom>
          <a:solidFill>
            <a:srgbClr val="1A1D21"/>
          </a:solidFill>
          <a:ln/>
        </p:spPr>
      </p:sp>
      <p:sp>
        <p:nvSpPr>
          <p:cNvPr id="34" name="Text 32"/>
          <p:cNvSpPr/>
          <p:nvPr/>
        </p:nvSpPr>
        <p:spPr>
          <a:xfrm>
            <a:off x="6487871" y="2405888"/>
            <a:ext cx="5153152" cy="195072"/>
          </a:xfrm>
          <a:prstGeom prst="rect">
            <a:avLst/>
          </a:prstGeom>
          <a:noFill/>
          <a:ln/>
        </p:spPr>
        <p:txBody>
          <a:bodyPr wrap="square" lIns="0" tIns="0" rIns="0" bIns="0" rtlCol="0" anchor="ctr"/>
          <a:lstStyle/>
          <a:p>
            <a:pPr>
              <a:lnSpc>
                <a:spcPct val="130000"/>
              </a:lnSpc>
            </a:pPr>
            <a:r>
              <a:rPr lang="en-US" sz="1024" b="1" dirty="0">
                <a:solidFill>
                  <a:srgbClr val="FF3B30"/>
                </a:solidFill>
                <a:latin typeface="Quattrocento Sans" pitchFamily="34" charset="0"/>
                <a:ea typeface="Quattrocento Sans" pitchFamily="34" charset="-122"/>
                <a:cs typeface="Quattrocento Sans" pitchFamily="34" charset="-120"/>
              </a:rPr>
              <a:t>Issue:</a:t>
            </a:r>
            <a:pPr>
              <a:lnSpc>
                <a:spcPct val="130000"/>
              </a:lnSpc>
            </a:pPr>
            <a:r>
              <a:rPr lang="en-US" sz="1024" dirty="0">
                <a:solidFill>
                  <a:srgbClr val="F5F5F7"/>
                </a:solidFill>
                <a:latin typeface="Quattrocento Sans" pitchFamily="34" charset="0"/>
                <a:ea typeface="Quattrocento Sans" pitchFamily="34" charset="-122"/>
                <a:cs typeface="Quattrocento Sans" pitchFamily="34" charset="-120"/>
              </a:rPr>
              <a:t> "JDK not found"</a:t>
            </a:r>
            <a:endParaRPr lang="en-US" sz="1600" dirty="0"/>
          </a:p>
        </p:txBody>
      </p:sp>
      <p:sp>
        <p:nvSpPr>
          <p:cNvPr id="35" name="Text 33"/>
          <p:cNvSpPr/>
          <p:nvPr/>
        </p:nvSpPr>
        <p:spPr>
          <a:xfrm>
            <a:off x="6487871" y="2600960"/>
            <a:ext cx="5153152" cy="195072"/>
          </a:xfrm>
          <a:prstGeom prst="rect">
            <a:avLst/>
          </a:prstGeom>
          <a:noFill/>
          <a:ln/>
        </p:spPr>
        <p:txBody>
          <a:bodyPr wrap="square" lIns="0" tIns="0" rIns="0" bIns="0" rtlCol="0" anchor="ctr"/>
          <a:lstStyle/>
          <a:p>
            <a:pPr>
              <a:lnSpc>
                <a:spcPct val="130000"/>
              </a:lnSpc>
            </a:pPr>
            <a:r>
              <a:rPr lang="en-US" sz="1024" b="1" dirty="0">
                <a:solidFill>
                  <a:srgbClr val="34C759"/>
                </a:solidFill>
                <a:latin typeface="Quattrocento Sans" pitchFamily="34" charset="0"/>
                <a:ea typeface="Quattrocento Sans" pitchFamily="34" charset="-122"/>
                <a:cs typeface="Quattrocento Sans" pitchFamily="34" charset="-120"/>
              </a:rPr>
              <a:t>Fix:</a:t>
            </a:r>
            <a:pPr>
              <a:lnSpc>
                <a:spcPct val="130000"/>
              </a:lnSpc>
            </a:pPr>
            <a:r>
              <a:rPr lang="en-US" sz="1024" dirty="0">
                <a:solidFill>
                  <a:srgbClr val="8E8E93"/>
                </a:solidFill>
                <a:latin typeface="Quattrocento Sans" pitchFamily="34" charset="0"/>
                <a:ea typeface="Quattrocento Sans" pitchFamily="34" charset="-122"/>
                <a:cs typeface="Quattrocento Sans" pitchFamily="34" charset="-120"/>
              </a:rPr>
              <a:t> Android Studio includes JDK – just click "Next"</a:t>
            </a:r>
            <a:endParaRPr lang="en-US" sz="1600" dirty="0"/>
          </a:p>
        </p:txBody>
      </p:sp>
      <p:sp>
        <p:nvSpPr>
          <p:cNvPr id="36" name="Shape 34"/>
          <p:cNvSpPr/>
          <p:nvPr/>
        </p:nvSpPr>
        <p:spPr>
          <a:xfrm>
            <a:off x="6390335" y="2991104"/>
            <a:ext cx="5283200" cy="585216"/>
          </a:xfrm>
          <a:prstGeom prst="roundRect">
            <a:avLst>
              <a:gd name="adj" fmla="val 11111"/>
            </a:avLst>
          </a:prstGeom>
          <a:solidFill>
            <a:srgbClr val="1A1D21"/>
          </a:solidFill>
          <a:ln/>
        </p:spPr>
      </p:sp>
      <p:sp>
        <p:nvSpPr>
          <p:cNvPr id="37" name="Text 35"/>
          <p:cNvSpPr/>
          <p:nvPr/>
        </p:nvSpPr>
        <p:spPr>
          <a:xfrm>
            <a:off x="6487871" y="3088640"/>
            <a:ext cx="5153152" cy="195072"/>
          </a:xfrm>
          <a:prstGeom prst="rect">
            <a:avLst/>
          </a:prstGeom>
          <a:noFill/>
          <a:ln/>
        </p:spPr>
        <p:txBody>
          <a:bodyPr wrap="square" lIns="0" tIns="0" rIns="0" bIns="0" rtlCol="0" anchor="ctr"/>
          <a:lstStyle/>
          <a:p>
            <a:pPr>
              <a:lnSpc>
                <a:spcPct val="130000"/>
              </a:lnSpc>
            </a:pPr>
            <a:r>
              <a:rPr lang="en-US" sz="1024" b="1" dirty="0">
                <a:solidFill>
                  <a:srgbClr val="FF3B30"/>
                </a:solidFill>
                <a:latin typeface="Quattrocento Sans" pitchFamily="34" charset="0"/>
                <a:ea typeface="Quattrocento Sans" pitchFamily="34" charset="-122"/>
                <a:cs typeface="Quattrocento Sans" pitchFamily="34" charset="-120"/>
              </a:rPr>
              <a:t>Issue:</a:t>
            </a:r>
            <a:pPr>
              <a:lnSpc>
                <a:spcPct val="130000"/>
              </a:lnSpc>
            </a:pPr>
            <a:r>
              <a:rPr lang="en-US" sz="1024" dirty="0">
                <a:solidFill>
                  <a:srgbClr val="F5F5F7"/>
                </a:solidFill>
                <a:latin typeface="Quattrocento Sans" pitchFamily="34" charset="0"/>
                <a:ea typeface="Quattrocento Sans" pitchFamily="34" charset="-122"/>
                <a:cs typeface="Quattrocento Sans" pitchFamily="34" charset="-120"/>
              </a:rPr>
              <a:t> Slow performance</a:t>
            </a:r>
            <a:endParaRPr lang="en-US" sz="1600" dirty="0"/>
          </a:p>
        </p:txBody>
      </p:sp>
      <p:sp>
        <p:nvSpPr>
          <p:cNvPr id="38" name="Text 36"/>
          <p:cNvSpPr/>
          <p:nvPr/>
        </p:nvSpPr>
        <p:spPr>
          <a:xfrm>
            <a:off x="6487871" y="3283712"/>
            <a:ext cx="5153152" cy="195072"/>
          </a:xfrm>
          <a:prstGeom prst="rect">
            <a:avLst/>
          </a:prstGeom>
          <a:noFill/>
          <a:ln/>
        </p:spPr>
        <p:txBody>
          <a:bodyPr wrap="square" lIns="0" tIns="0" rIns="0" bIns="0" rtlCol="0" anchor="ctr"/>
          <a:lstStyle/>
          <a:p>
            <a:pPr>
              <a:lnSpc>
                <a:spcPct val="130000"/>
              </a:lnSpc>
            </a:pPr>
            <a:r>
              <a:rPr lang="en-US" sz="1024" b="1" dirty="0">
                <a:solidFill>
                  <a:srgbClr val="34C759"/>
                </a:solidFill>
                <a:latin typeface="Quattrocento Sans" pitchFamily="34" charset="0"/>
                <a:ea typeface="Quattrocento Sans" pitchFamily="34" charset="-122"/>
                <a:cs typeface="Quattrocento Sans" pitchFamily="34" charset="-120"/>
              </a:rPr>
              <a:t>Fix:</a:t>
            </a:r>
            <a:pPr>
              <a:lnSpc>
                <a:spcPct val="130000"/>
              </a:lnSpc>
            </a:pPr>
            <a:r>
              <a:rPr lang="en-US" sz="1024" dirty="0">
                <a:solidFill>
                  <a:srgbClr val="8E8E93"/>
                </a:solidFill>
                <a:latin typeface="Quattrocento Sans" pitchFamily="34" charset="0"/>
                <a:ea typeface="Quattrocento Sans" pitchFamily="34" charset="-122"/>
                <a:cs typeface="Quattrocento Sans" pitchFamily="34" charset="-120"/>
              </a:rPr>
              <a:t> Close other apps, increase RAM allocation</a:t>
            </a:r>
            <a:endParaRPr lang="en-US" sz="1600" dirty="0"/>
          </a:p>
        </p:txBody>
      </p:sp>
      <p:sp>
        <p:nvSpPr>
          <p:cNvPr id="39" name="Shape 37"/>
          <p:cNvSpPr/>
          <p:nvPr/>
        </p:nvSpPr>
        <p:spPr>
          <a:xfrm>
            <a:off x="6166003" y="3904691"/>
            <a:ext cx="5704230" cy="1079398"/>
          </a:xfrm>
          <a:prstGeom prst="roundRect">
            <a:avLst>
              <a:gd name="adj" fmla="val 12048"/>
            </a:avLst>
          </a:prstGeom>
          <a:solidFill>
            <a:srgbClr val="34C759">
              <a:alpha val="10196"/>
            </a:srgbClr>
          </a:solidFill>
          <a:ln w="10160">
            <a:solidFill>
              <a:srgbClr val="34C759">
                <a:alpha val="30196"/>
              </a:srgbClr>
            </a:solidFill>
            <a:prstDash val="solid"/>
          </a:ln>
        </p:spPr>
      </p:sp>
      <p:sp>
        <p:nvSpPr>
          <p:cNvPr id="40" name="Shape 38"/>
          <p:cNvSpPr/>
          <p:nvPr/>
        </p:nvSpPr>
        <p:spPr>
          <a:xfrm>
            <a:off x="6352134" y="4111149"/>
            <a:ext cx="146304" cy="146304"/>
          </a:xfrm>
          <a:custGeom>
            <a:avLst/>
            <a:gdLst/>
            <a:ahLst/>
            <a:cxnLst/>
            <a:rect l="l" t="t" r="r" b="b"/>
            <a:pathLst>
              <a:path w="146304" h="146304">
                <a:moveTo>
                  <a:pt x="73152" y="137160"/>
                </a:moveTo>
                <a:cubicBezTo>
                  <a:pt x="113557" y="137160"/>
                  <a:pt x="146304" y="106442"/>
                  <a:pt x="146304" y="68580"/>
                </a:cubicBezTo>
                <a:cubicBezTo>
                  <a:pt x="146304" y="30718"/>
                  <a:pt x="113557" y="0"/>
                  <a:pt x="73152" y="0"/>
                </a:cubicBezTo>
                <a:cubicBezTo>
                  <a:pt x="32747" y="0"/>
                  <a:pt x="0" y="30718"/>
                  <a:pt x="0" y="68580"/>
                </a:cubicBezTo>
                <a:cubicBezTo>
                  <a:pt x="0" y="84096"/>
                  <a:pt x="5486" y="98384"/>
                  <a:pt x="14745" y="109871"/>
                </a:cubicBezTo>
                <a:lnTo>
                  <a:pt x="800" y="136246"/>
                </a:lnTo>
                <a:cubicBezTo>
                  <a:pt x="-571" y="138817"/>
                  <a:pt x="-143" y="141961"/>
                  <a:pt x="1829" y="144104"/>
                </a:cubicBezTo>
                <a:cubicBezTo>
                  <a:pt x="3800" y="146247"/>
                  <a:pt x="6915" y="146904"/>
                  <a:pt x="9573" y="145761"/>
                </a:cubicBezTo>
                <a:lnTo>
                  <a:pt x="43405" y="131274"/>
                </a:lnTo>
                <a:cubicBezTo>
                  <a:pt x="52492" y="135045"/>
                  <a:pt x="62551" y="137160"/>
                  <a:pt x="73152" y="137160"/>
                </a:cubicBezTo>
                <a:close/>
                <a:moveTo>
                  <a:pt x="36576" y="59436"/>
                </a:moveTo>
                <a:cubicBezTo>
                  <a:pt x="41623" y="59436"/>
                  <a:pt x="45720" y="63533"/>
                  <a:pt x="45720" y="68580"/>
                </a:cubicBezTo>
                <a:cubicBezTo>
                  <a:pt x="45720" y="73627"/>
                  <a:pt x="41623" y="77724"/>
                  <a:pt x="36576" y="77724"/>
                </a:cubicBezTo>
                <a:cubicBezTo>
                  <a:pt x="31529" y="77724"/>
                  <a:pt x="27432" y="73627"/>
                  <a:pt x="27432" y="68580"/>
                </a:cubicBezTo>
                <a:cubicBezTo>
                  <a:pt x="27432" y="63533"/>
                  <a:pt x="31529" y="59436"/>
                  <a:pt x="36576" y="59436"/>
                </a:cubicBezTo>
                <a:close/>
                <a:moveTo>
                  <a:pt x="73152" y="59436"/>
                </a:moveTo>
                <a:cubicBezTo>
                  <a:pt x="78199" y="59436"/>
                  <a:pt x="82296" y="63533"/>
                  <a:pt x="82296" y="68580"/>
                </a:cubicBezTo>
                <a:cubicBezTo>
                  <a:pt x="82296" y="73627"/>
                  <a:pt x="78199" y="77724"/>
                  <a:pt x="73152" y="77724"/>
                </a:cubicBezTo>
                <a:cubicBezTo>
                  <a:pt x="68105" y="77724"/>
                  <a:pt x="64008" y="73627"/>
                  <a:pt x="64008" y="68580"/>
                </a:cubicBezTo>
                <a:cubicBezTo>
                  <a:pt x="64008" y="63533"/>
                  <a:pt x="68105" y="59436"/>
                  <a:pt x="73152" y="59436"/>
                </a:cubicBezTo>
                <a:close/>
                <a:moveTo>
                  <a:pt x="100584" y="68580"/>
                </a:moveTo>
                <a:cubicBezTo>
                  <a:pt x="100584" y="63533"/>
                  <a:pt x="104681" y="59436"/>
                  <a:pt x="109728" y="59436"/>
                </a:cubicBezTo>
                <a:cubicBezTo>
                  <a:pt x="114775" y="59436"/>
                  <a:pt x="118872" y="63533"/>
                  <a:pt x="118872" y="68580"/>
                </a:cubicBezTo>
                <a:cubicBezTo>
                  <a:pt x="118872" y="73627"/>
                  <a:pt x="114775" y="77724"/>
                  <a:pt x="109728" y="77724"/>
                </a:cubicBezTo>
                <a:cubicBezTo>
                  <a:pt x="104681" y="77724"/>
                  <a:pt x="100584" y="73627"/>
                  <a:pt x="100584" y="68580"/>
                </a:cubicBezTo>
                <a:close/>
              </a:path>
            </a:pathLst>
          </a:custGeom>
          <a:solidFill>
            <a:srgbClr val="34C759"/>
          </a:solidFill>
          <a:ln/>
        </p:spPr>
      </p:sp>
      <p:sp>
        <p:nvSpPr>
          <p:cNvPr id="41" name="Text 39"/>
          <p:cNvSpPr/>
          <p:nvPr/>
        </p:nvSpPr>
        <p:spPr>
          <a:xfrm>
            <a:off x="6518758" y="4070509"/>
            <a:ext cx="5258816" cy="227584"/>
          </a:xfrm>
          <a:prstGeom prst="rect">
            <a:avLst/>
          </a:prstGeom>
          <a:noFill/>
          <a:ln/>
        </p:spPr>
        <p:txBody>
          <a:bodyPr wrap="square" lIns="0" tIns="0" rIns="0" bIns="0" rtlCol="0" anchor="ctr"/>
          <a:lstStyle/>
          <a:p>
            <a:pPr>
              <a:lnSpc>
                <a:spcPct val="130000"/>
              </a:lnSpc>
            </a:pPr>
            <a:r>
              <a:rPr lang="en-US" sz="1152" b="1" dirty="0">
                <a:solidFill>
                  <a:srgbClr val="34C759"/>
                </a:solidFill>
                <a:latin typeface="Liter" pitchFamily="34" charset="0"/>
                <a:ea typeface="Liter" pitchFamily="34" charset="-122"/>
                <a:cs typeface="Liter" pitchFamily="34" charset="-120"/>
              </a:rPr>
              <a:t>Simple Explanation</a:t>
            </a:r>
            <a:endParaRPr lang="en-US" sz="1600" dirty="0"/>
          </a:p>
        </p:txBody>
      </p:sp>
      <p:sp>
        <p:nvSpPr>
          <p:cNvPr id="42" name="Text 40"/>
          <p:cNvSpPr/>
          <p:nvPr/>
        </p:nvSpPr>
        <p:spPr>
          <a:xfrm>
            <a:off x="6331814" y="4395629"/>
            <a:ext cx="5437632" cy="422656"/>
          </a:xfrm>
          <a:prstGeom prst="rect">
            <a:avLst/>
          </a:prstGeom>
          <a:noFill/>
          <a:ln/>
        </p:spPr>
        <p:txBody>
          <a:bodyPr wrap="square" lIns="0" tIns="0" rIns="0" bIns="0" rtlCol="0" anchor="ctr"/>
          <a:lstStyle/>
          <a:p>
            <a:pPr>
              <a:lnSpc>
                <a:spcPct val="140000"/>
              </a:lnSpc>
            </a:pPr>
            <a:r>
              <a:rPr lang="en-US" sz="1024" dirty="0">
                <a:solidFill>
                  <a:srgbClr val="F5F5F7"/>
                </a:solidFill>
                <a:latin typeface="Quattrocento Sans" pitchFamily="34" charset="0"/>
                <a:ea typeface="Quattrocento Sans" pitchFamily="34" charset="-122"/>
                <a:cs typeface="Quattrocento Sans" pitchFamily="34" charset="-120"/>
              </a:rPr>
              <a:t>Installing Android Studio is like </a:t>
            </a:r>
            <a:pPr>
              <a:lnSpc>
                <a:spcPct val="140000"/>
              </a:lnSpc>
            </a:pPr>
            <a:r>
              <a:rPr lang="en-US" sz="1024" b="1" dirty="0">
                <a:solidFill>
                  <a:srgbClr val="34C759"/>
                </a:solidFill>
                <a:latin typeface="Quattrocento Sans" pitchFamily="34" charset="0"/>
                <a:ea typeface="Quattrocento Sans" pitchFamily="34" charset="-122"/>
                <a:cs typeface="Quattrocento Sans" pitchFamily="34" charset="-120"/>
              </a:rPr>
              <a:t>setting up a new kitchen</a:t>
            </a:r>
            <a:pPr>
              <a:lnSpc>
                <a:spcPct val="140000"/>
              </a:lnSpc>
            </a:pPr>
            <a:r>
              <a:rPr lang="en-US" sz="1024" dirty="0">
                <a:solidFill>
                  <a:srgbClr val="F5F5F7"/>
                </a:solidFill>
                <a:latin typeface="Quattrocento Sans" pitchFamily="34" charset="0"/>
                <a:ea typeface="Quattrocento Sans" pitchFamily="34" charset="-122"/>
                <a:cs typeface="Quattrocento Sans" pitchFamily="34" charset="-120"/>
              </a:rPr>
              <a:t>. Download the appliance (installer), plug it in (run installer), and organize your tools (first launch setup).</a:t>
            </a:r>
            <a:endParaRPr lang="en-US" sz="1600" dirty="0"/>
          </a:p>
        </p:txBody>
      </p:sp>
      <p:sp>
        <p:nvSpPr>
          <p:cNvPr id="43" name="Shape 41"/>
          <p:cNvSpPr/>
          <p:nvPr/>
        </p:nvSpPr>
        <p:spPr>
          <a:xfrm>
            <a:off x="325120" y="5117386"/>
            <a:ext cx="11541760" cy="1528064"/>
          </a:xfrm>
          <a:prstGeom prst="roundRect">
            <a:avLst>
              <a:gd name="adj" fmla="val 8511"/>
            </a:avLst>
          </a:prstGeom>
          <a:solidFill>
            <a:srgbClr val="2C2C2E"/>
          </a:solidFill>
          <a:ln/>
        </p:spPr>
      </p:sp>
      <p:sp>
        <p:nvSpPr>
          <p:cNvPr id="44" name="Shape 42"/>
          <p:cNvSpPr/>
          <p:nvPr/>
        </p:nvSpPr>
        <p:spPr>
          <a:xfrm>
            <a:off x="517144" y="5320586"/>
            <a:ext cx="128016" cy="146304"/>
          </a:xfrm>
          <a:custGeom>
            <a:avLst/>
            <a:gdLst/>
            <a:ahLst/>
            <a:cxnLst/>
            <a:rect l="l" t="t" r="r" b="b"/>
            <a:pathLst>
              <a:path w="128016" h="146304">
                <a:moveTo>
                  <a:pt x="82296" y="0"/>
                </a:moveTo>
                <a:lnTo>
                  <a:pt x="36576" y="0"/>
                </a:lnTo>
                <a:cubicBezTo>
                  <a:pt x="31518" y="0"/>
                  <a:pt x="27432" y="4086"/>
                  <a:pt x="27432" y="9144"/>
                </a:cubicBezTo>
                <a:cubicBezTo>
                  <a:pt x="27432" y="14202"/>
                  <a:pt x="31518" y="18288"/>
                  <a:pt x="36576" y="18288"/>
                </a:cubicBezTo>
                <a:lnTo>
                  <a:pt x="36576" y="61579"/>
                </a:lnTo>
                <a:lnTo>
                  <a:pt x="2143" y="121815"/>
                </a:lnTo>
                <a:cubicBezTo>
                  <a:pt x="743" y="124301"/>
                  <a:pt x="0" y="127073"/>
                  <a:pt x="0" y="129931"/>
                </a:cubicBezTo>
                <a:cubicBezTo>
                  <a:pt x="0" y="138989"/>
                  <a:pt x="7315" y="146304"/>
                  <a:pt x="16373" y="146304"/>
                </a:cubicBezTo>
                <a:lnTo>
                  <a:pt x="111643" y="146304"/>
                </a:lnTo>
                <a:cubicBezTo>
                  <a:pt x="120672" y="146304"/>
                  <a:pt x="128016" y="138989"/>
                  <a:pt x="128016" y="129931"/>
                </a:cubicBezTo>
                <a:cubicBezTo>
                  <a:pt x="128016" y="127073"/>
                  <a:pt x="127273" y="124273"/>
                  <a:pt x="125873" y="121815"/>
                </a:cubicBezTo>
                <a:lnTo>
                  <a:pt x="91440" y="61579"/>
                </a:lnTo>
                <a:lnTo>
                  <a:pt x="91440" y="18288"/>
                </a:lnTo>
                <a:cubicBezTo>
                  <a:pt x="96498" y="18288"/>
                  <a:pt x="100584" y="14202"/>
                  <a:pt x="100584" y="9144"/>
                </a:cubicBezTo>
                <a:cubicBezTo>
                  <a:pt x="100584" y="4086"/>
                  <a:pt x="96498" y="0"/>
                  <a:pt x="91440" y="0"/>
                </a:cubicBezTo>
                <a:lnTo>
                  <a:pt x="82296" y="0"/>
                </a:lnTo>
                <a:close/>
                <a:moveTo>
                  <a:pt x="54864" y="61579"/>
                </a:moveTo>
                <a:lnTo>
                  <a:pt x="54864" y="18288"/>
                </a:lnTo>
                <a:lnTo>
                  <a:pt x="73152" y="18288"/>
                </a:lnTo>
                <a:lnTo>
                  <a:pt x="73152" y="61579"/>
                </a:lnTo>
                <a:cubicBezTo>
                  <a:pt x="73152" y="64751"/>
                  <a:pt x="73981" y="67894"/>
                  <a:pt x="75552" y="70666"/>
                </a:cubicBezTo>
                <a:lnTo>
                  <a:pt x="87440" y="91440"/>
                </a:lnTo>
                <a:lnTo>
                  <a:pt x="40577" y="91440"/>
                </a:lnTo>
                <a:lnTo>
                  <a:pt x="52464" y="70666"/>
                </a:lnTo>
                <a:cubicBezTo>
                  <a:pt x="54035" y="67894"/>
                  <a:pt x="54864" y="64780"/>
                  <a:pt x="54864" y="61579"/>
                </a:cubicBezTo>
                <a:close/>
              </a:path>
            </a:pathLst>
          </a:custGeom>
          <a:solidFill>
            <a:srgbClr val="8E8E93"/>
          </a:solidFill>
          <a:ln/>
        </p:spPr>
      </p:sp>
      <p:sp>
        <p:nvSpPr>
          <p:cNvPr id="45" name="Text 43"/>
          <p:cNvSpPr/>
          <p:nvPr/>
        </p:nvSpPr>
        <p:spPr>
          <a:xfrm>
            <a:off x="674624" y="5279946"/>
            <a:ext cx="11102848" cy="227584"/>
          </a:xfrm>
          <a:prstGeom prst="rect">
            <a:avLst/>
          </a:prstGeom>
          <a:noFill/>
          <a:ln/>
        </p:spPr>
        <p:txBody>
          <a:bodyPr wrap="square" lIns="0" tIns="0" rIns="0" bIns="0" rtlCol="0" anchor="ctr"/>
          <a:lstStyle/>
          <a:p>
            <a:pPr>
              <a:lnSpc>
                <a:spcPct val="130000"/>
              </a:lnSpc>
            </a:pPr>
            <a:r>
              <a:rPr lang="en-US" sz="1152" b="1" dirty="0">
                <a:solidFill>
                  <a:srgbClr val="8E8E93"/>
                </a:solidFill>
                <a:latin typeface="Liter" pitchFamily="34" charset="0"/>
                <a:ea typeface="Liter" pitchFamily="34" charset="-122"/>
                <a:cs typeface="Liter" pitchFamily="34" charset="-120"/>
              </a:rPr>
              <a:t>Lab Steps</a:t>
            </a:r>
            <a:endParaRPr lang="en-US" sz="1600" dirty="0"/>
          </a:p>
        </p:txBody>
      </p:sp>
      <p:sp>
        <p:nvSpPr>
          <p:cNvPr id="46" name="Shape 44"/>
          <p:cNvSpPr/>
          <p:nvPr/>
        </p:nvSpPr>
        <p:spPr>
          <a:xfrm>
            <a:off x="487680" y="5605066"/>
            <a:ext cx="2731008" cy="877824"/>
          </a:xfrm>
          <a:prstGeom prst="roundRect">
            <a:avLst>
              <a:gd name="adj" fmla="val 7407"/>
            </a:avLst>
          </a:prstGeom>
          <a:solidFill>
            <a:srgbClr val="1A1D21"/>
          </a:solidFill>
          <a:ln/>
        </p:spPr>
      </p:sp>
      <p:sp>
        <p:nvSpPr>
          <p:cNvPr id="47" name="Text 45"/>
          <p:cNvSpPr/>
          <p:nvPr/>
        </p:nvSpPr>
        <p:spPr>
          <a:xfrm>
            <a:off x="536448" y="5702602"/>
            <a:ext cx="2633472" cy="260096"/>
          </a:xfrm>
          <a:prstGeom prst="rect">
            <a:avLst/>
          </a:prstGeom>
          <a:noFill/>
          <a:ln/>
        </p:spPr>
        <p:txBody>
          <a:bodyPr wrap="square" lIns="0" tIns="0" rIns="0" bIns="0" rtlCol="0" anchor="ctr"/>
          <a:lstStyle/>
          <a:p>
            <a:pPr algn="ctr">
              <a:lnSpc>
                <a:spcPct val="110000"/>
              </a:lnSpc>
            </a:pPr>
            <a:r>
              <a:rPr lang="en-US" sz="1536" dirty="0">
                <a:solidFill>
                  <a:srgbClr val="F5F5F7"/>
                </a:solidFill>
                <a:latin typeface="Quattrocento Sans" pitchFamily="34" charset="0"/>
                <a:ea typeface="Quattrocento Sans" pitchFamily="34" charset="-122"/>
                <a:cs typeface="Quattrocento Sans" pitchFamily="34" charset="-120"/>
              </a:rPr>
              <a:t>🔍</a:t>
            </a:r>
            <a:endParaRPr lang="en-US" sz="1600" dirty="0"/>
          </a:p>
        </p:txBody>
      </p:sp>
      <p:sp>
        <p:nvSpPr>
          <p:cNvPr id="48" name="Text 46"/>
          <p:cNvSpPr/>
          <p:nvPr/>
        </p:nvSpPr>
        <p:spPr>
          <a:xfrm>
            <a:off x="552704" y="6027626"/>
            <a:ext cx="2600960" cy="195072"/>
          </a:xfrm>
          <a:prstGeom prst="rect">
            <a:avLst/>
          </a:prstGeom>
          <a:noFill/>
          <a:ln/>
        </p:spPr>
        <p:txBody>
          <a:bodyPr wrap="square" lIns="0" tIns="0" rIns="0" bIns="0" rtlCol="0" anchor="ctr"/>
          <a:lstStyle/>
          <a:p>
            <a:pPr algn="ctr">
              <a:lnSpc>
                <a:spcPct val="130000"/>
              </a:lnSpc>
            </a:pPr>
            <a:r>
              <a:rPr lang="en-US" sz="1024" b="1" dirty="0">
                <a:solidFill>
                  <a:srgbClr val="F5F5F7"/>
                </a:solidFill>
                <a:latin typeface="Quattrocento Sans" pitchFamily="34" charset="0"/>
                <a:ea typeface="Quattrocento Sans" pitchFamily="34" charset="-122"/>
                <a:cs typeface="Quattrocento Sans" pitchFamily="34" charset="-120"/>
              </a:rPr>
              <a:t>Step 1</a:t>
            </a:r>
            <a:endParaRPr lang="en-US" sz="1600" dirty="0"/>
          </a:p>
        </p:txBody>
      </p:sp>
      <p:sp>
        <p:nvSpPr>
          <p:cNvPr id="49" name="Text 47"/>
          <p:cNvSpPr/>
          <p:nvPr/>
        </p:nvSpPr>
        <p:spPr>
          <a:xfrm>
            <a:off x="556768" y="6222698"/>
            <a:ext cx="2592832" cy="162560"/>
          </a:xfrm>
          <a:prstGeom prst="rect">
            <a:avLst/>
          </a:prstGeom>
          <a:noFill/>
          <a:ln/>
        </p:spPr>
        <p:txBody>
          <a:bodyPr wrap="square" lIns="0" tIns="0" rIns="0" bIns="0" rtlCol="0" anchor="ctr"/>
          <a:lstStyle/>
          <a:p>
            <a:pPr algn="ctr">
              <a:lnSpc>
                <a:spcPct val="120000"/>
              </a:lnSpc>
            </a:pPr>
            <a:r>
              <a:rPr lang="en-US" sz="896" dirty="0">
                <a:solidFill>
                  <a:srgbClr val="8E8E93"/>
                </a:solidFill>
                <a:latin typeface="Quattrocento Sans" pitchFamily="34" charset="0"/>
                <a:ea typeface="Quattrocento Sans" pitchFamily="34" charset="-122"/>
                <a:cs typeface="Quattrocento Sans" pitchFamily="34" charset="-120"/>
              </a:rPr>
              <a:t>Check system requirements</a:t>
            </a:r>
            <a:endParaRPr lang="en-US" sz="1600" dirty="0"/>
          </a:p>
        </p:txBody>
      </p:sp>
      <p:sp>
        <p:nvSpPr>
          <p:cNvPr id="50" name="Shape 48"/>
          <p:cNvSpPr/>
          <p:nvPr/>
        </p:nvSpPr>
        <p:spPr>
          <a:xfrm>
            <a:off x="3317037" y="5605066"/>
            <a:ext cx="2731008" cy="877824"/>
          </a:xfrm>
          <a:prstGeom prst="roundRect">
            <a:avLst>
              <a:gd name="adj" fmla="val 7407"/>
            </a:avLst>
          </a:prstGeom>
          <a:solidFill>
            <a:srgbClr val="1A1D21"/>
          </a:solidFill>
          <a:ln/>
        </p:spPr>
      </p:sp>
      <p:sp>
        <p:nvSpPr>
          <p:cNvPr id="51" name="Text 49"/>
          <p:cNvSpPr/>
          <p:nvPr/>
        </p:nvSpPr>
        <p:spPr>
          <a:xfrm>
            <a:off x="3365805" y="5702602"/>
            <a:ext cx="2633472" cy="260096"/>
          </a:xfrm>
          <a:prstGeom prst="rect">
            <a:avLst/>
          </a:prstGeom>
          <a:noFill/>
          <a:ln/>
        </p:spPr>
        <p:txBody>
          <a:bodyPr wrap="square" lIns="0" tIns="0" rIns="0" bIns="0" rtlCol="0" anchor="ctr"/>
          <a:lstStyle/>
          <a:p>
            <a:pPr algn="ctr">
              <a:lnSpc>
                <a:spcPct val="110000"/>
              </a:lnSpc>
            </a:pPr>
            <a:r>
              <a:rPr lang="en-US" sz="1536" dirty="0">
                <a:solidFill>
                  <a:srgbClr val="F5F5F7"/>
                </a:solidFill>
                <a:latin typeface="Quattrocento Sans" pitchFamily="34" charset="0"/>
                <a:ea typeface="Quattrocento Sans" pitchFamily="34" charset="-122"/>
                <a:cs typeface="Quattrocento Sans" pitchFamily="34" charset="-120"/>
              </a:rPr>
              <a:t>⬇️</a:t>
            </a:r>
            <a:endParaRPr lang="en-US" sz="1600" dirty="0"/>
          </a:p>
        </p:txBody>
      </p:sp>
      <p:sp>
        <p:nvSpPr>
          <p:cNvPr id="52" name="Text 50"/>
          <p:cNvSpPr/>
          <p:nvPr/>
        </p:nvSpPr>
        <p:spPr>
          <a:xfrm>
            <a:off x="3382061" y="6027626"/>
            <a:ext cx="2600960" cy="195072"/>
          </a:xfrm>
          <a:prstGeom prst="rect">
            <a:avLst/>
          </a:prstGeom>
          <a:noFill/>
          <a:ln/>
        </p:spPr>
        <p:txBody>
          <a:bodyPr wrap="square" lIns="0" tIns="0" rIns="0" bIns="0" rtlCol="0" anchor="ctr"/>
          <a:lstStyle/>
          <a:p>
            <a:pPr algn="ctr">
              <a:lnSpc>
                <a:spcPct val="130000"/>
              </a:lnSpc>
            </a:pPr>
            <a:r>
              <a:rPr lang="en-US" sz="1024" b="1" dirty="0">
                <a:solidFill>
                  <a:srgbClr val="F5F5F7"/>
                </a:solidFill>
                <a:latin typeface="Quattrocento Sans" pitchFamily="34" charset="0"/>
                <a:ea typeface="Quattrocento Sans" pitchFamily="34" charset="-122"/>
                <a:cs typeface="Quattrocento Sans" pitchFamily="34" charset="-120"/>
              </a:rPr>
              <a:t>Step 2</a:t>
            </a:r>
            <a:endParaRPr lang="en-US" sz="1600" dirty="0"/>
          </a:p>
        </p:txBody>
      </p:sp>
      <p:sp>
        <p:nvSpPr>
          <p:cNvPr id="53" name="Text 51"/>
          <p:cNvSpPr/>
          <p:nvPr/>
        </p:nvSpPr>
        <p:spPr>
          <a:xfrm>
            <a:off x="3386125" y="6222698"/>
            <a:ext cx="2592832" cy="162560"/>
          </a:xfrm>
          <a:prstGeom prst="rect">
            <a:avLst/>
          </a:prstGeom>
          <a:noFill/>
          <a:ln/>
        </p:spPr>
        <p:txBody>
          <a:bodyPr wrap="square" lIns="0" tIns="0" rIns="0" bIns="0" rtlCol="0" anchor="ctr"/>
          <a:lstStyle/>
          <a:p>
            <a:pPr algn="ctr">
              <a:lnSpc>
                <a:spcPct val="120000"/>
              </a:lnSpc>
            </a:pPr>
            <a:r>
              <a:rPr lang="en-US" sz="896" dirty="0">
                <a:solidFill>
                  <a:srgbClr val="8E8E93"/>
                </a:solidFill>
                <a:latin typeface="Quattrocento Sans" pitchFamily="34" charset="0"/>
                <a:ea typeface="Quattrocento Sans" pitchFamily="34" charset="-122"/>
                <a:cs typeface="Quattrocento Sans" pitchFamily="34" charset="-120"/>
              </a:rPr>
              <a:t>Download from official site</a:t>
            </a:r>
            <a:endParaRPr lang="en-US" sz="1600" dirty="0"/>
          </a:p>
        </p:txBody>
      </p:sp>
      <p:sp>
        <p:nvSpPr>
          <p:cNvPr id="54" name="Shape 52"/>
          <p:cNvSpPr/>
          <p:nvPr/>
        </p:nvSpPr>
        <p:spPr>
          <a:xfrm>
            <a:off x="6146495" y="5605066"/>
            <a:ext cx="2731008" cy="877824"/>
          </a:xfrm>
          <a:prstGeom prst="roundRect">
            <a:avLst>
              <a:gd name="adj" fmla="val 7407"/>
            </a:avLst>
          </a:prstGeom>
          <a:solidFill>
            <a:srgbClr val="1A1D21"/>
          </a:solidFill>
          <a:ln/>
        </p:spPr>
      </p:sp>
      <p:sp>
        <p:nvSpPr>
          <p:cNvPr id="55" name="Text 53"/>
          <p:cNvSpPr/>
          <p:nvPr/>
        </p:nvSpPr>
        <p:spPr>
          <a:xfrm>
            <a:off x="6195263" y="5702602"/>
            <a:ext cx="2633472" cy="260096"/>
          </a:xfrm>
          <a:prstGeom prst="rect">
            <a:avLst/>
          </a:prstGeom>
          <a:noFill/>
          <a:ln/>
        </p:spPr>
        <p:txBody>
          <a:bodyPr wrap="square" lIns="0" tIns="0" rIns="0" bIns="0" rtlCol="0" anchor="ctr"/>
          <a:lstStyle/>
          <a:p>
            <a:pPr algn="ctr">
              <a:lnSpc>
                <a:spcPct val="110000"/>
              </a:lnSpc>
            </a:pPr>
            <a:r>
              <a:rPr lang="en-US" sz="1536" dirty="0">
                <a:solidFill>
                  <a:srgbClr val="F5F5F7"/>
                </a:solidFill>
                <a:latin typeface="Quattrocento Sans" pitchFamily="34" charset="0"/>
                <a:ea typeface="Quattrocento Sans" pitchFamily="34" charset="-122"/>
                <a:cs typeface="Quattrocento Sans" pitchFamily="34" charset="-120"/>
              </a:rPr>
              <a:t>⚙️</a:t>
            </a:r>
            <a:endParaRPr lang="en-US" sz="1600" dirty="0"/>
          </a:p>
        </p:txBody>
      </p:sp>
      <p:sp>
        <p:nvSpPr>
          <p:cNvPr id="56" name="Text 54"/>
          <p:cNvSpPr/>
          <p:nvPr/>
        </p:nvSpPr>
        <p:spPr>
          <a:xfrm>
            <a:off x="6211519" y="6027626"/>
            <a:ext cx="2600960" cy="195072"/>
          </a:xfrm>
          <a:prstGeom prst="rect">
            <a:avLst/>
          </a:prstGeom>
          <a:noFill/>
          <a:ln/>
        </p:spPr>
        <p:txBody>
          <a:bodyPr wrap="square" lIns="0" tIns="0" rIns="0" bIns="0" rtlCol="0" anchor="ctr"/>
          <a:lstStyle/>
          <a:p>
            <a:pPr algn="ctr">
              <a:lnSpc>
                <a:spcPct val="130000"/>
              </a:lnSpc>
            </a:pPr>
            <a:r>
              <a:rPr lang="en-US" sz="1024" b="1" dirty="0">
                <a:solidFill>
                  <a:srgbClr val="F5F5F7"/>
                </a:solidFill>
                <a:latin typeface="Quattrocento Sans" pitchFamily="34" charset="0"/>
                <a:ea typeface="Quattrocento Sans" pitchFamily="34" charset="-122"/>
                <a:cs typeface="Quattrocento Sans" pitchFamily="34" charset="-120"/>
              </a:rPr>
              <a:t>Step 3</a:t>
            </a:r>
            <a:endParaRPr lang="en-US" sz="1600" dirty="0"/>
          </a:p>
        </p:txBody>
      </p:sp>
      <p:sp>
        <p:nvSpPr>
          <p:cNvPr id="57" name="Text 55"/>
          <p:cNvSpPr/>
          <p:nvPr/>
        </p:nvSpPr>
        <p:spPr>
          <a:xfrm>
            <a:off x="6215583" y="6222698"/>
            <a:ext cx="2592832" cy="162560"/>
          </a:xfrm>
          <a:prstGeom prst="rect">
            <a:avLst/>
          </a:prstGeom>
          <a:noFill/>
          <a:ln/>
        </p:spPr>
        <p:txBody>
          <a:bodyPr wrap="square" lIns="0" tIns="0" rIns="0" bIns="0" rtlCol="0" anchor="ctr"/>
          <a:lstStyle/>
          <a:p>
            <a:pPr algn="ctr">
              <a:lnSpc>
                <a:spcPct val="120000"/>
              </a:lnSpc>
            </a:pPr>
            <a:r>
              <a:rPr lang="en-US" sz="896" dirty="0">
                <a:solidFill>
                  <a:srgbClr val="8E8E93"/>
                </a:solidFill>
                <a:latin typeface="Quattrocento Sans" pitchFamily="34" charset="0"/>
                <a:ea typeface="Quattrocento Sans" pitchFamily="34" charset="-122"/>
                <a:cs typeface="Quattrocento Sans" pitchFamily="34" charset="-120"/>
              </a:rPr>
              <a:t>Run installation wizard</a:t>
            </a:r>
            <a:endParaRPr lang="en-US" sz="1600" dirty="0"/>
          </a:p>
        </p:txBody>
      </p:sp>
      <p:sp>
        <p:nvSpPr>
          <p:cNvPr id="58" name="Shape 56"/>
          <p:cNvSpPr/>
          <p:nvPr/>
        </p:nvSpPr>
        <p:spPr>
          <a:xfrm>
            <a:off x="8975954" y="5605066"/>
            <a:ext cx="2731008" cy="877824"/>
          </a:xfrm>
          <a:prstGeom prst="roundRect">
            <a:avLst>
              <a:gd name="adj" fmla="val 7407"/>
            </a:avLst>
          </a:prstGeom>
          <a:solidFill>
            <a:srgbClr val="1A1D21"/>
          </a:solidFill>
          <a:ln/>
        </p:spPr>
      </p:sp>
      <p:sp>
        <p:nvSpPr>
          <p:cNvPr id="59" name="Text 57"/>
          <p:cNvSpPr/>
          <p:nvPr/>
        </p:nvSpPr>
        <p:spPr>
          <a:xfrm>
            <a:off x="9024722" y="5702602"/>
            <a:ext cx="2633472" cy="260096"/>
          </a:xfrm>
          <a:prstGeom prst="rect">
            <a:avLst/>
          </a:prstGeom>
          <a:noFill/>
          <a:ln/>
        </p:spPr>
        <p:txBody>
          <a:bodyPr wrap="square" lIns="0" tIns="0" rIns="0" bIns="0" rtlCol="0" anchor="ctr"/>
          <a:lstStyle/>
          <a:p>
            <a:pPr algn="ctr">
              <a:lnSpc>
                <a:spcPct val="110000"/>
              </a:lnSpc>
            </a:pPr>
            <a:r>
              <a:rPr lang="en-US" sz="1536" dirty="0">
                <a:solidFill>
                  <a:srgbClr val="F5F5F7"/>
                </a:solidFill>
                <a:latin typeface="Quattrocento Sans" pitchFamily="34" charset="0"/>
                <a:ea typeface="Quattrocento Sans" pitchFamily="34" charset="-122"/>
                <a:cs typeface="Quattrocento Sans" pitchFamily="34" charset="-120"/>
              </a:rPr>
              <a:t>🚀</a:t>
            </a:r>
            <a:endParaRPr lang="en-US" sz="1600" dirty="0"/>
          </a:p>
        </p:txBody>
      </p:sp>
      <p:sp>
        <p:nvSpPr>
          <p:cNvPr id="60" name="Text 58"/>
          <p:cNvSpPr/>
          <p:nvPr/>
        </p:nvSpPr>
        <p:spPr>
          <a:xfrm>
            <a:off x="9040978" y="6027626"/>
            <a:ext cx="2600960" cy="195072"/>
          </a:xfrm>
          <a:prstGeom prst="rect">
            <a:avLst/>
          </a:prstGeom>
          <a:noFill/>
          <a:ln/>
        </p:spPr>
        <p:txBody>
          <a:bodyPr wrap="square" lIns="0" tIns="0" rIns="0" bIns="0" rtlCol="0" anchor="ctr"/>
          <a:lstStyle/>
          <a:p>
            <a:pPr algn="ctr">
              <a:lnSpc>
                <a:spcPct val="130000"/>
              </a:lnSpc>
            </a:pPr>
            <a:r>
              <a:rPr lang="en-US" sz="1024" b="1" dirty="0">
                <a:solidFill>
                  <a:srgbClr val="F5F5F7"/>
                </a:solidFill>
                <a:latin typeface="Quattrocento Sans" pitchFamily="34" charset="0"/>
                <a:ea typeface="Quattrocento Sans" pitchFamily="34" charset="-122"/>
                <a:cs typeface="Quattrocento Sans" pitchFamily="34" charset="-120"/>
              </a:rPr>
              <a:t>Step 4</a:t>
            </a:r>
            <a:endParaRPr lang="en-US" sz="1600" dirty="0"/>
          </a:p>
        </p:txBody>
      </p:sp>
      <p:sp>
        <p:nvSpPr>
          <p:cNvPr id="61" name="Text 59"/>
          <p:cNvSpPr/>
          <p:nvPr/>
        </p:nvSpPr>
        <p:spPr>
          <a:xfrm>
            <a:off x="9045042" y="6222698"/>
            <a:ext cx="2592832" cy="162560"/>
          </a:xfrm>
          <a:prstGeom prst="rect">
            <a:avLst/>
          </a:prstGeom>
          <a:noFill/>
          <a:ln/>
        </p:spPr>
        <p:txBody>
          <a:bodyPr wrap="square" lIns="0" tIns="0" rIns="0" bIns="0" rtlCol="0" anchor="ctr"/>
          <a:lstStyle/>
          <a:p>
            <a:pPr algn="ctr">
              <a:lnSpc>
                <a:spcPct val="120000"/>
              </a:lnSpc>
            </a:pPr>
            <a:r>
              <a:rPr lang="en-US" sz="896" dirty="0">
                <a:solidFill>
                  <a:srgbClr val="8E8E93"/>
                </a:solidFill>
                <a:latin typeface="Quattrocento Sans" pitchFamily="34" charset="0"/>
                <a:ea typeface="Quattrocento Sans" pitchFamily="34" charset="-122"/>
                <a:cs typeface="Quattrocento Sans" pitchFamily="34" charset="-120"/>
              </a:rPr>
              <a:t>Launch and verify</a:t>
            </a:r>
            <a:endParaRPr lang="en-US" sz="1600" dirty="0"/>
          </a:p>
        </p:txBody>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32887" y="382820"/>
            <a:ext cx="399465" cy="399465"/>
          </a:xfrm>
          <a:prstGeom prst="roundRect">
            <a:avLst>
              <a:gd name="adj" fmla="val 25000"/>
            </a:avLst>
          </a:prstGeom>
          <a:solidFill>
            <a:srgbClr val="0A84FF"/>
          </a:solidFill>
          <a:ln/>
        </p:spPr>
      </p:sp>
      <p:sp>
        <p:nvSpPr>
          <p:cNvPr id="3" name="Text 1"/>
          <p:cNvSpPr/>
          <p:nvPr/>
        </p:nvSpPr>
        <p:spPr>
          <a:xfrm>
            <a:off x="415589" y="449398"/>
            <a:ext cx="332887" cy="266310"/>
          </a:xfrm>
          <a:prstGeom prst="rect">
            <a:avLst/>
          </a:prstGeom>
          <a:noFill/>
          <a:ln/>
        </p:spPr>
        <p:txBody>
          <a:bodyPr wrap="square" lIns="0" tIns="0" rIns="0" bIns="0" rtlCol="0" anchor="ctr"/>
          <a:lstStyle/>
          <a:p>
            <a:pPr>
              <a:lnSpc>
                <a:spcPct val="110000"/>
              </a:lnSpc>
            </a:pPr>
            <a:r>
              <a:rPr lang="en-US" sz="1573" b="1" dirty="0">
                <a:solidFill>
                  <a:srgbClr val="F5F5F7"/>
                </a:solidFill>
                <a:latin typeface="Liter" pitchFamily="34" charset="0"/>
                <a:ea typeface="Liter" pitchFamily="34" charset="-122"/>
                <a:cs typeface="Liter" pitchFamily="34" charset="-120"/>
              </a:rPr>
              <a:t>23</a:t>
            </a:r>
            <a:endParaRPr lang="en-US" sz="1600" dirty="0"/>
          </a:p>
        </p:txBody>
      </p:sp>
      <p:sp>
        <p:nvSpPr>
          <p:cNvPr id="4" name="Text 2"/>
          <p:cNvSpPr/>
          <p:nvPr/>
        </p:nvSpPr>
        <p:spPr>
          <a:xfrm>
            <a:off x="832218" y="332887"/>
            <a:ext cx="4993311" cy="166444"/>
          </a:xfrm>
          <a:prstGeom prst="rect">
            <a:avLst/>
          </a:prstGeom>
          <a:noFill/>
          <a:ln/>
        </p:spPr>
        <p:txBody>
          <a:bodyPr wrap="square" lIns="0" tIns="0" rIns="0" bIns="0" rtlCol="0" anchor="ctr"/>
          <a:lstStyle/>
          <a:p>
            <a:pPr>
              <a:lnSpc>
                <a:spcPct val="120000"/>
              </a:lnSpc>
            </a:pPr>
            <a:r>
              <a:rPr lang="en-US" sz="917" b="1" spc="46" kern="0" dirty="0">
                <a:solidFill>
                  <a:srgbClr val="0A84FF"/>
                </a:solidFill>
                <a:latin typeface="Quattrocento Sans" pitchFamily="34" charset="0"/>
                <a:ea typeface="Quattrocento Sans" pitchFamily="34" charset="-122"/>
                <a:cs typeface="Quattrocento Sans" pitchFamily="34" charset="-120"/>
              </a:rPr>
              <a:t>IDE Installation</a:t>
            </a:r>
            <a:endParaRPr lang="en-US" sz="1600" dirty="0"/>
          </a:p>
        </p:txBody>
      </p:sp>
      <p:sp>
        <p:nvSpPr>
          <p:cNvPr id="5" name="Text 3"/>
          <p:cNvSpPr/>
          <p:nvPr/>
        </p:nvSpPr>
        <p:spPr>
          <a:xfrm>
            <a:off x="832218" y="499331"/>
            <a:ext cx="5084855" cy="332887"/>
          </a:xfrm>
          <a:prstGeom prst="rect">
            <a:avLst/>
          </a:prstGeom>
          <a:noFill/>
          <a:ln/>
        </p:spPr>
        <p:txBody>
          <a:bodyPr wrap="square" lIns="0" tIns="0" rIns="0" bIns="0" rtlCol="0" anchor="ctr"/>
          <a:lstStyle/>
          <a:p>
            <a:pPr>
              <a:lnSpc>
                <a:spcPct val="90000"/>
              </a:lnSpc>
            </a:pPr>
            <a:r>
              <a:rPr lang="en-US" sz="2359" b="1" dirty="0">
                <a:solidFill>
                  <a:srgbClr val="F5F5F7"/>
                </a:solidFill>
                <a:latin typeface="Liter" pitchFamily="34" charset="0"/>
                <a:ea typeface="Liter" pitchFamily="34" charset="-122"/>
                <a:cs typeface="Liter" pitchFamily="34" charset="-120"/>
              </a:rPr>
              <a:t>Android Studio: What You Should See</a:t>
            </a:r>
            <a:endParaRPr lang="en-US" sz="1600" dirty="0"/>
          </a:p>
        </p:txBody>
      </p:sp>
      <p:sp>
        <p:nvSpPr>
          <p:cNvPr id="6" name="Shape 4"/>
          <p:cNvSpPr/>
          <p:nvPr/>
        </p:nvSpPr>
        <p:spPr>
          <a:xfrm>
            <a:off x="349532" y="1098528"/>
            <a:ext cx="5642441" cy="4177737"/>
          </a:xfrm>
          <a:custGeom>
            <a:avLst/>
            <a:gdLst/>
            <a:ahLst/>
            <a:cxnLst/>
            <a:rect l="l" t="t" r="r" b="b"/>
            <a:pathLst>
              <a:path w="5642441" h="4177737">
                <a:moveTo>
                  <a:pt x="33274" y="0"/>
                </a:moveTo>
                <a:lnTo>
                  <a:pt x="5509260" y="0"/>
                </a:lnTo>
                <a:cubicBezTo>
                  <a:pt x="5544581" y="-34"/>
                  <a:pt x="5578467" y="13974"/>
                  <a:pt x="5603455" y="38938"/>
                </a:cubicBezTo>
                <a:cubicBezTo>
                  <a:pt x="5628443" y="63902"/>
                  <a:pt x="5642483" y="97775"/>
                  <a:pt x="5642483" y="133096"/>
                </a:cubicBezTo>
                <a:lnTo>
                  <a:pt x="5642483" y="4044569"/>
                </a:lnTo>
                <a:cubicBezTo>
                  <a:pt x="5642517" y="4079912"/>
                  <a:pt x="5628492" y="4113818"/>
                  <a:pt x="5603500" y="4138809"/>
                </a:cubicBezTo>
                <a:cubicBezTo>
                  <a:pt x="5578509" y="4163801"/>
                  <a:pt x="5544603" y="4177826"/>
                  <a:pt x="5509260" y="4177792"/>
                </a:cubicBezTo>
                <a:lnTo>
                  <a:pt x="33274" y="4177792"/>
                </a:lnTo>
                <a:cubicBezTo>
                  <a:pt x="24427" y="4177792"/>
                  <a:pt x="15944" y="4174269"/>
                  <a:pt x="9701" y="4168001"/>
                </a:cubicBezTo>
                <a:cubicBezTo>
                  <a:pt x="3457" y="4161734"/>
                  <a:pt x="-34" y="4153238"/>
                  <a:pt x="0" y="4144391"/>
                </a:cubicBezTo>
                <a:lnTo>
                  <a:pt x="0" y="33274"/>
                </a:lnTo>
                <a:cubicBezTo>
                  <a:pt x="0" y="14910"/>
                  <a:pt x="14910" y="0"/>
                  <a:pt x="33274" y="0"/>
                </a:cubicBezTo>
                <a:close/>
              </a:path>
            </a:pathLst>
          </a:custGeom>
          <a:solidFill>
            <a:srgbClr val="2C2C2E"/>
          </a:solidFill>
          <a:ln/>
        </p:spPr>
      </p:sp>
      <p:sp>
        <p:nvSpPr>
          <p:cNvPr id="7" name="Shape 5"/>
          <p:cNvSpPr/>
          <p:nvPr/>
        </p:nvSpPr>
        <p:spPr>
          <a:xfrm>
            <a:off x="349532" y="1098528"/>
            <a:ext cx="33289" cy="4177737"/>
          </a:xfrm>
          <a:custGeom>
            <a:avLst/>
            <a:gdLst/>
            <a:ahLst/>
            <a:cxnLst/>
            <a:rect l="l" t="t" r="r" b="b"/>
            <a:pathLst>
              <a:path w="33289" h="4177737">
                <a:moveTo>
                  <a:pt x="33274" y="0"/>
                </a:moveTo>
                <a:lnTo>
                  <a:pt x="33274" y="0"/>
                </a:lnTo>
                <a:lnTo>
                  <a:pt x="33274" y="4177792"/>
                </a:lnTo>
                <a:lnTo>
                  <a:pt x="33274" y="4177792"/>
                </a:lnTo>
                <a:cubicBezTo>
                  <a:pt x="24427" y="4177792"/>
                  <a:pt x="15944" y="4174269"/>
                  <a:pt x="9701" y="4168001"/>
                </a:cubicBezTo>
                <a:cubicBezTo>
                  <a:pt x="3457" y="4161734"/>
                  <a:pt x="-34" y="4153238"/>
                  <a:pt x="0" y="4144391"/>
                </a:cubicBezTo>
                <a:lnTo>
                  <a:pt x="0" y="33274"/>
                </a:lnTo>
                <a:cubicBezTo>
                  <a:pt x="0" y="14910"/>
                  <a:pt x="14910" y="0"/>
                  <a:pt x="33274" y="0"/>
                </a:cubicBezTo>
                <a:close/>
              </a:path>
            </a:pathLst>
          </a:custGeom>
          <a:solidFill>
            <a:srgbClr val="34C759"/>
          </a:solidFill>
          <a:ln/>
        </p:spPr>
      </p:sp>
      <p:sp>
        <p:nvSpPr>
          <p:cNvPr id="8" name="Shape 6"/>
          <p:cNvSpPr/>
          <p:nvPr/>
        </p:nvSpPr>
        <p:spPr>
          <a:xfrm>
            <a:off x="590875" y="1331452"/>
            <a:ext cx="199732" cy="199732"/>
          </a:xfrm>
          <a:custGeom>
            <a:avLst/>
            <a:gdLst/>
            <a:ahLst/>
            <a:cxnLst/>
            <a:rect l="l" t="t" r="r" b="b"/>
            <a:pathLst>
              <a:path w="199732" h="199732">
                <a:moveTo>
                  <a:pt x="24967" y="12483"/>
                </a:moveTo>
                <a:cubicBezTo>
                  <a:pt x="11196" y="12483"/>
                  <a:pt x="0" y="23679"/>
                  <a:pt x="0" y="37450"/>
                </a:cubicBezTo>
                <a:lnTo>
                  <a:pt x="0" y="137316"/>
                </a:lnTo>
                <a:cubicBezTo>
                  <a:pt x="0" y="151087"/>
                  <a:pt x="11196" y="162283"/>
                  <a:pt x="24967" y="162283"/>
                </a:cubicBezTo>
                <a:lnTo>
                  <a:pt x="81141" y="162283"/>
                </a:lnTo>
                <a:lnTo>
                  <a:pt x="74900" y="181008"/>
                </a:lnTo>
                <a:lnTo>
                  <a:pt x="46812" y="181008"/>
                </a:lnTo>
                <a:cubicBezTo>
                  <a:pt x="41624" y="181008"/>
                  <a:pt x="37450" y="185182"/>
                  <a:pt x="37450" y="190370"/>
                </a:cubicBezTo>
                <a:cubicBezTo>
                  <a:pt x="37450" y="195558"/>
                  <a:pt x="41624" y="199732"/>
                  <a:pt x="46812" y="199732"/>
                </a:cubicBezTo>
                <a:lnTo>
                  <a:pt x="152920" y="199732"/>
                </a:lnTo>
                <a:cubicBezTo>
                  <a:pt x="158108" y="199732"/>
                  <a:pt x="162283" y="195558"/>
                  <a:pt x="162283" y="190370"/>
                </a:cubicBezTo>
                <a:cubicBezTo>
                  <a:pt x="162283" y="185182"/>
                  <a:pt x="158108" y="181008"/>
                  <a:pt x="152920" y="181008"/>
                </a:cubicBezTo>
                <a:lnTo>
                  <a:pt x="124833" y="181008"/>
                </a:lnTo>
                <a:lnTo>
                  <a:pt x="118591" y="162283"/>
                </a:lnTo>
                <a:lnTo>
                  <a:pt x="174766" y="162283"/>
                </a:lnTo>
                <a:cubicBezTo>
                  <a:pt x="188536" y="162283"/>
                  <a:pt x="199732" y="151087"/>
                  <a:pt x="199732" y="137316"/>
                </a:cubicBezTo>
                <a:lnTo>
                  <a:pt x="199732" y="37450"/>
                </a:lnTo>
                <a:cubicBezTo>
                  <a:pt x="199732" y="23679"/>
                  <a:pt x="188536" y="12483"/>
                  <a:pt x="174766" y="12483"/>
                </a:cubicBezTo>
                <a:lnTo>
                  <a:pt x="24967" y="12483"/>
                </a:lnTo>
                <a:close/>
                <a:moveTo>
                  <a:pt x="37450" y="37450"/>
                </a:moveTo>
                <a:lnTo>
                  <a:pt x="162283" y="37450"/>
                </a:lnTo>
                <a:cubicBezTo>
                  <a:pt x="169187" y="37450"/>
                  <a:pt x="174766" y="43028"/>
                  <a:pt x="174766" y="49933"/>
                </a:cubicBezTo>
                <a:lnTo>
                  <a:pt x="174766" y="112349"/>
                </a:lnTo>
                <a:cubicBezTo>
                  <a:pt x="174766" y="119254"/>
                  <a:pt x="169187" y="124833"/>
                  <a:pt x="162283" y="124833"/>
                </a:cubicBezTo>
                <a:lnTo>
                  <a:pt x="37450" y="124833"/>
                </a:lnTo>
                <a:cubicBezTo>
                  <a:pt x="30545" y="124833"/>
                  <a:pt x="24967" y="119254"/>
                  <a:pt x="24967" y="112349"/>
                </a:cubicBezTo>
                <a:lnTo>
                  <a:pt x="24967" y="49933"/>
                </a:lnTo>
                <a:cubicBezTo>
                  <a:pt x="24967" y="43028"/>
                  <a:pt x="30545" y="37450"/>
                  <a:pt x="37450" y="37450"/>
                </a:cubicBezTo>
                <a:close/>
              </a:path>
            </a:pathLst>
          </a:custGeom>
          <a:solidFill>
            <a:srgbClr val="34C759"/>
          </a:solidFill>
          <a:ln/>
        </p:spPr>
      </p:sp>
      <p:sp>
        <p:nvSpPr>
          <p:cNvPr id="9" name="Text 7"/>
          <p:cNvSpPr/>
          <p:nvPr/>
        </p:nvSpPr>
        <p:spPr>
          <a:xfrm>
            <a:off x="815574" y="1298261"/>
            <a:ext cx="5076532" cy="266310"/>
          </a:xfrm>
          <a:prstGeom prst="rect">
            <a:avLst/>
          </a:prstGeom>
          <a:noFill/>
          <a:ln/>
        </p:spPr>
        <p:txBody>
          <a:bodyPr wrap="square" lIns="0" tIns="0" rIns="0" bIns="0" rtlCol="0" anchor="ctr"/>
          <a:lstStyle/>
          <a:p>
            <a:pPr>
              <a:lnSpc>
                <a:spcPct val="110000"/>
              </a:lnSpc>
            </a:pPr>
            <a:r>
              <a:rPr lang="en-US" sz="1573" b="1" dirty="0">
                <a:solidFill>
                  <a:srgbClr val="34C759"/>
                </a:solidFill>
                <a:latin typeface="Liter" pitchFamily="34" charset="0"/>
                <a:ea typeface="Liter" pitchFamily="34" charset="-122"/>
                <a:cs typeface="Liter" pitchFamily="34" charset="-120"/>
              </a:rPr>
              <a:t>Main Interface Areas</a:t>
            </a:r>
            <a:endParaRPr lang="en-US" sz="1600" dirty="0"/>
          </a:p>
        </p:txBody>
      </p:sp>
      <p:sp>
        <p:nvSpPr>
          <p:cNvPr id="10" name="Shape 8"/>
          <p:cNvSpPr/>
          <p:nvPr/>
        </p:nvSpPr>
        <p:spPr>
          <a:xfrm>
            <a:off x="565909" y="1730917"/>
            <a:ext cx="5226332" cy="1065240"/>
          </a:xfrm>
          <a:prstGeom prst="roundRect">
            <a:avLst>
              <a:gd name="adj" fmla="val 9375"/>
            </a:avLst>
          </a:prstGeom>
          <a:solidFill>
            <a:srgbClr val="1A1D21"/>
          </a:solidFill>
          <a:ln/>
        </p:spPr>
      </p:sp>
      <p:sp>
        <p:nvSpPr>
          <p:cNvPr id="11" name="Shape 9"/>
          <p:cNvSpPr/>
          <p:nvPr/>
        </p:nvSpPr>
        <p:spPr>
          <a:xfrm>
            <a:off x="699063" y="1864072"/>
            <a:ext cx="332887" cy="332887"/>
          </a:xfrm>
          <a:prstGeom prst="roundRect">
            <a:avLst>
              <a:gd name="adj" fmla="val 20000"/>
            </a:avLst>
          </a:prstGeom>
          <a:solidFill>
            <a:srgbClr val="34C759"/>
          </a:solidFill>
          <a:ln/>
        </p:spPr>
      </p:sp>
      <p:sp>
        <p:nvSpPr>
          <p:cNvPr id="12" name="Shape 10"/>
          <p:cNvSpPr/>
          <p:nvPr/>
        </p:nvSpPr>
        <p:spPr>
          <a:xfrm>
            <a:off x="798930" y="1963938"/>
            <a:ext cx="133155" cy="133155"/>
          </a:xfrm>
          <a:custGeom>
            <a:avLst/>
            <a:gdLst/>
            <a:ahLst/>
            <a:cxnLst/>
            <a:rect l="l" t="t" r="r" b="b"/>
            <a:pathLst>
              <a:path w="133155" h="133155">
                <a:moveTo>
                  <a:pt x="72247" y="2237"/>
                </a:moveTo>
                <a:cubicBezTo>
                  <a:pt x="69048" y="-728"/>
                  <a:pt x="64107" y="-728"/>
                  <a:pt x="60934" y="2237"/>
                </a:cubicBezTo>
                <a:lnTo>
                  <a:pt x="2679" y="56331"/>
                </a:lnTo>
                <a:cubicBezTo>
                  <a:pt x="182" y="58671"/>
                  <a:pt x="-650" y="62286"/>
                  <a:pt x="598" y="65459"/>
                </a:cubicBezTo>
                <a:cubicBezTo>
                  <a:pt x="1846" y="68632"/>
                  <a:pt x="4889" y="70739"/>
                  <a:pt x="8322" y="70739"/>
                </a:cubicBezTo>
                <a:lnTo>
                  <a:pt x="12483" y="70739"/>
                </a:lnTo>
                <a:lnTo>
                  <a:pt x="12483" y="116511"/>
                </a:lnTo>
                <a:cubicBezTo>
                  <a:pt x="12483" y="125691"/>
                  <a:pt x="19947" y="133155"/>
                  <a:pt x="29128" y="133155"/>
                </a:cubicBezTo>
                <a:lnTo>
                  <a:pt x="104027" y="133155"/>
                </a:lnTo>
                <a:cubicBezTo>
                  <a:pt x="113208" y="133155"/>
                  <a:pt x="120672" y="125691"/>
                  <a:pt x="120672" y="116511"/>
                </a:cubicBezTo>
                <a:lnTo>
                  <a:pt x="120672" y="70739"/>
                </a:lnTo>
                <a:lnTo>
                  <a:pt x="124833" y="70739"/>
                </a:lnTo>
                <a:cubicBezTo>
                  <a:pt x="128266" y="70739"/>
                  <a:pt x="131334" y="68632"/>
                  <a:pt x="132583" y="65459"/>
                </a:cubicBezTo>
                <a:cubicBezTo>
                  <a:pt x="133831" y="62286"/>
                  <a:pt x="132999" y="58645"/>
                  <a:pt x="130502" y="56331"/>
                </a:cubicBezTo>
                <a:lnTo>
                  <a:pt x="72247" y="2237"/>
                </a:lnTo>
                <a:close/>
                <a:moveTo>
                  <a:pt x="62416" y="83222"/>
                </a:moveTo>
                <a:lnTo>
                  <a:pt x="70739" y="83222"/>
                </a:lnTo>
                <a:cubicBezTo>
                  <a:pt x="77630" y="83222"/>
                  <a:pt x="83222" y="88813"/>
                  <a:pt x="83222" y="95705"/>
                </a:cubicBezTo>
                <a:lnTo>
                  <a:pt x="83222" y="120672"/>
                </a:lnTo>
                <a:lnTo>
                  <a:pt x="49933" y="120672"/>
                </a:lnTo>
                <a:lnTo>
                  <a:pt x="49933" y="95705"/>
                </a:lnTo>
                <a:cubicBezTo>
                  <a:pt x="49933" y="88813"/>
                  <a:pt x="55525" y="83222"/>
                  <a:pt x="62416" y="83222"/>
                </a:cubicBezTo>
                <a:close/>
              </a:path>
            </a:pathLst>
          </a:custGeom>
          <a:solidFill>
            <a:srgbClr val="1D1D1F"/>
          </a:solidFill>
          <a:ln/>
        </p:spPr>
      </p:sp>
      <p:sp>
        <p:nvSpPr>
          <p:cNvPr id="13" name="Text 11"/>
          <p:cNvSpPr/>
          <p:nvPr/>
        </p:nvSpPr>
        <p:spPr>
          <a:xfrm>
            <a:off x="1131817" y="1914005"/>
            <a:ext cx="1198395" cy="233021"/>
          </a:xfrm>
          <a:prstGeom prst="rect">
            <a:avLst/>
          </a:prstGeom>
          <a:noFill/>
          <a:ln/>
        </p:spPr>
        <p:txBody>
          <a:bodyPr wrap="square" lIns="0" tIns="0" rIns="0" bIns="0" rtlCol="0" anchor="ctr"/>
          <a:lstStyle/>
          <a:p>
            <a:pPr>
              <a:lnSpc>
                <a:spcPct val="130000"/>
              </a:lnSpc>
            </a:pPr>
            <a:r>
              <a:rPr lang="en-US" sz="1180" b="1" dirty="0">
                <a:solidFill>
                  <a:srgbClr val="34C759"/>
                </a:solidFill>
                <a:latin typeface="Liter" pitchFamily="34" charset="0"/>
                <a:ea typeface="Liter" pitchFamily="34" charset="-122"/>
                <a:cs typeface="Liter" pitchFamily="34" charset="-120"/>
              </a:rPr>
              <a:t>Welcome Screen</a:t>
            </a:r>
            <a:endParaRPr lang="en-US" sz="1600" dirty="0"/>
          </a:p>
        </p:txBody>
      </p:sp>
      <p:sp>
        <p:nvSpPr>
          <p:cNvPr id="14" name="Text 12"/>
          <p:cNvSpPr/>
          <p:nvPr/>
        </p:nvSpPr>
        <p:spPr>
          <a:xfrm>
            <a:off x="699063" y="2263537"/>
            <a:ext cx="5026599" cy="399465"/>
          </a:xfrm>
          <a:prstGeom prst="rect">
            <a:avLst/>
          </a:prstGeom>
          <a:noFill/>
          <a:ln/>
        </p:spPr>
        <p:txBody>
          <a:bodyPr wrap="square" lIns="0" tIns="0" rIns="0" bIns="0" rtlCol="0" anchor="ctr"/>
          <a:lstStyle/>
          <a:p>
            <a:pPr>
              <a:lnSpc>
                <a:spcPct val="130000"/>
              </a:lnSpc>
            </a:pPr>
            <a:r>
              <a:rPr lang="en-US" sz="1048" dirty="0">
                <a:solidFill>
                  <a:srgbClr val="F5F5F7"/>
                </a:solidFill>
                <a:latin typeface="Quattrocento Sans" pitchFamily="34" charset="0"/>
                <a:ea typeface="Quattrocento Sans" pitchFamily="34" charset="-122"/>
                <a:cs typeface="Quattrocento Sans" pitchFamily="34" charset="-120"/>
              </a:rPr>
              <a:t>First thing you see – options to create new project, open existing, or check out from version control</a:t>
            </a:r>
            <a:endParaRPr lang="en-US" sz="1600" dirty="0"/>
          </a:p>
        </p:txBody>
      </p:sp>
      <p:sp>
        <p:nvSpPr>
          <p:cNvPr id="15" name="Shape 13"/>
          <p:cNvSpPr/>
          <p:nvPr/>
        </p:nvSpPr>
        <p:spPr>
          <a:xfrm>
            <a:off x="565909" y="2929311"/>
            <a:ext cx="5226332" cy="865507"/>
          </a:xfrm>
          <a:prstGeom prst="roundRect">
            <a:avLst>
              <a:gd name="adj" fmla="val 11538"/>
            </a:avLst>
          </a:prstGeom>
          <a:solidFill>
            <a:srgbClr val="1A1D21"/>
          </a:solidFill>
          <a:ln/>
        </p:spPr>
      </p:sp>
      <p:sp>
        <p:nvSpPr>
          <p:cNvPr id="16" name="Shape 14"/>
          <p:cNvSpPr/>
          <p:nvPr/>
        </p:nvSpPr>
        <p:spPr>
          <a:xfrm>
            <a:off x="699063" y="3062466"/>
            <a:ext cx="332887" cy="332887"/>
          </a:xfrm>
          <a:prstGeom prst="roundRect">
            <a:avLst>
              <a:gd name="adj" fmla="val 20000"/>
            </a:avLst>
          </a:prstGeom>
          <a:solidFill>
            <a:srgbClr val="0A84FF"/>
          </a:solidFill>
          <a:ln/>
        </p:spPr>
      </p:sp>
      <p:sp>
        <p:nvSpPr>
          <p:cNvPr id="17" name="Shape 15"/>
          <p:cNvSpPr/>
          <p:nvPr/>
        </p:nvSpPr>
        <p:spPr>
          <a:xfrm>
            <a:off x="790608" y="3162333"/>
            <a:ext cx="149799" cy="133155"/>
          </a:xfrm>
          <a:custGeom>
            <a:avLst/>
            <a:gdLst/>
            <a:ahLst/>
            <a:cxnLst/>
            <a:rect l="l" t="t" r="r" b="b"/>
            <a:pathLst>
              <a:path w="149799" h="133155">
                <a:moveTo>
                  <a:pt x="12483" y="6242"/>
                </a:moveTo>
                <a:cubicBezTo>
                  <a:pt x="12483" y="2783"/>
                  <a:pt x="9701" y="0"/>
                  <a:pt x="6242" y="0"/>
                </a:cubicBezTo>
                <a:cubicBezTo>
                  <a:pt x="2783" y="0"/>
                  <a:pt x="0" y="2783"/>
                  <a:pt x="0" y="6242"/>
                </a:cubicBezTo>
                <a:lnTo>
                  <a:pt x="0" y="101947"/>
                </a:lnTo>
                <a:cubicBezTo>
                  <a:pt x="0" y="109983"/>
                  <a:pt x="6528" y="116511"/>
                  <a:pt x="14564" y="116511"/>
                </a:cubicBezTo>
                <a:lnTo>
                  <a:pt x="62416" y="116511"/>
                </a:lnTo>
                <a:lnTo>
                  <a:pt x="62416" y="104027"/>
                </a:lnTo>
                <a:lnTo>
                  <a:pt x="14564" y="104027"/>
                </a:lnTo>
                <a:cubicBezTo>
                  <a:pt x="13420" y="104027"/>
                  <a:pt x="12483" y="103091"/>
                  <a:pt x="12483" y="101947"/>
                </a:cubicBezTo>
                <a:lnTo>
                  <a:pt x="12483" y="41611"/>
                </a:lnTo>
                <a:lnTo>
                  <a:pt x="62416" y="41611"/>
                </a:lnTo>
                <a:lnTo>
                  <a:pt x="62416" y="29128"/>
                </a:lnTo>
                <a:lnTo>
                  <a:pt x="12483" y="29128"/>
                </a:lnTo>
                <a:lnTo>
                  <a:pt x="12483" y="6242"/>
                </a:lnTo>
                <a:close/>
                <a:moveTo>
                  <a:pt x="87383" y="58255"/>
                </a:moveTo>
                <a:lnTo>
                  <a:pt x="137316" y="58255"/>
                </a:lnTo>
                <a:cubicBezTo>
                  <a:pt x="144208" y="58255"/>
                  <a:pt x="149799" y="52664"/>
                  <a:pt x="149799" y="45772"/>
                </a:cubicBezTo>
                <a:lnTo>
                  <a:pt x="149799" y="20805"/>
                </a:lnTo>
                <a:cubicBezTo>
                  <a:pt x="149799" y="13914"/>
                  <a:pt x="144208" y="8322"/>
                  <a:pt x="137316" y="8322"/>
                </a:cubicBezTo>
                <a:lnTo>
                  <a:pt x="115808" y="8322"/>
                </a:lnTo>
                <a:cubicBezTo>
                  <a:pt x="113598" y="8322"/>
                  <a:pt x="111491" y="7438"/>
                  <a:pt x="109931" y="5878"/>
                </a:cubicBezTo>
                <a:lnTo>
                  <a:pt x="107694" y="3641"/>
                </a:lnTo>
                <a:cubicBezTo>
                  <a:pt x="105354" y="1300"/>
                  <a:pt x="102181" y="-26"/>
                  <a:pt x="98878" y="-26"/>
                </a:cubicBezTo>
                <a:lnTo>
                  <a:pt x="87383" y="0"/>
                </a:lnTo>
                <a:cubicBezTo>
                  <a:pt x="80491" y="0"/>
                  <a:pt x="74900" y="5591"/>
                  <a:pt x="74900" y="12483"/>
                </a:cubicBezTo>
                <a:lnTo>
                  <a:pt x="74900" y="45772"/>
                </a:lnTo>
                <a:cubicBezTo>
                  <a:pt x="74900" y="52664"/>
                  <a:pt x="80491" y="58255"/>
                  <a:pt x="87383" y="58255"/>
                </a:cubicBezTo>
                <a:close/>
                <a:moveTo>
                  <a:pt x="87383" y="133155"/>
                </a:moveTo>
                <a:lnTo>
                  <a:pt x="137316" y="133155"/>
                </a:lnTo>
                <a:cubicBezTo>
                  <a:pt x="144208" y="133155"/>
                  <a:pt x="149799" y="127563"/>
                  <a:pt x="149799" y="120672"/>
                </a:cubicBezTo>
                <a:lnTo>
                  <a:pt x="149799" y="95705"/>
                </a:lnTo>
                <a:cubicBezTo>
                  <a:pt x="149799" y="88813"/>
                  <a:pt x="144208" y="83222"/>
                  <a:pt x="137316" y="83222"/>
                </a:cubicBezTo>
                <a:lnTo>
                  <a:pt x="115808" y="83222"/>
                </a:lnTo>
                <a:cubicBezTo>
                  <a:pt x="113598" y="83222"/>
                  <a:pt x="111491" y="82338"/>
                  <a:pt x="109931" y="80777"/>
                </a:cubicBezTo>
                <a:lnTo>
                  <a:pt x="107694" y="78541"/>
                </a:lnTo>
                <a:cubicBezTo>
                  <a:pt x="105354" y="76200"/>
                  <a:pt x="102181" y="74874"/>
                  <a:pt x="98878" y="74874"/>
                </a:cubicBezTo>
                <a:lnTo>
                  <a:pt x="87383" y="74900"/>
                </a:lnTo>
                <a:cubicBezTo>
                  <a:pt x="80491" y="74900"/>
                  <a:pt x="74900" y="80491"/>
                  <a:pt x="74900" y="87383"/>
                </a:cubicBezTo>
                <a:lnTo>
                  <a:pt x="74900" y="120672"/>
                </a:lnTo>
                <a:cubicBezTo>
                  <a:pt x="74900" y="127563"/>
                  <a:pt x="80491" y="133155"/>
                  <a:pt x="87383" y="133155"/>
                </a:cubicBezTo>
                <a:close/>
              </a:path>
            </a:pathLst>
          </a:custGeom>
          <a:solidFill>
            <a:srgbClr val="FFFFFF"/>
          </a:solidFill>
          <a:ln/>
        </p:spPr>
      </p:sp>
      <p:sp>
        <p:nvSpPr>
          <p:cNvPr id="18" name="Text 16"/>
          <p:cNvSpPr/>
          <p:nvPr/>
        </p:nvSpPr>
        <p:spPr>
          <a:xfrm>
            <a:off x="1131817" y="3112399"/>
            <a:ext cx="1190072" cy="233021"/>
          </a:xfrm>
          <a:prstGeom prst="rect">
            <a:avLst/>
          </a:prstGeom>
          <a:noFill/>
          <a:ln/>
        </p:spPr>
        <p:txBody>
          <a:bodyPr wrap="square" lIns="0" tIns="0" rIns="0" bIns="0" rtlCol="0" anchor="ctr"/>
          <a:lstStyle/>
          <a:p>
            <a:pPr>
              <a:lnSpc>
                <a:spcPct val="130000"/>
              </a:lnSpc>
            </a:pPr>
            <a:r>
              <a:rPr lang="en-US" sz="1180" b="1" dirty="0">
                <a:solidFill>
                  <a:srgbClr val="0A84FF"/>
                </a:solidFill>
                <a:latin typeface="Liter" pitchFamily="34" charset="0"/>
                <a:ea typeface="Liter" pitchFamily="34" charset="-122"/>
                <a:cs typeface="Liter" pitchFamily="34" charset="-120"/>
              </a:rPr>
              <a:t>Project Structure</a:t>
            </a:r>
            <a:endParaRPr lang="en-US" sz="1600" dirty="0"/>
          </a:p>
        </p:txBody>
      </p:sp>
      <p:sp>
        <p:nvSpPr>
          <p:cNvPr id="19" name="Text 17"/>
          <p:cNvSpPr/>
          <p:nvPr/>
        </p:nvSpPr>
        <p:spPr>
          <a:xfrm>
            <a:off x="699063" y="3461931"/>
            <a:ext cx="5026599" cy="199732"/>
          </a:xfrm>
          <a:prstGeom prst="rect">
            <a:avLst/>
          </a:prstGeom>
          <a:noFill/>
          <a:ln/>
        </p:spPr>
        <p:txBody>
          <a:bodyPr wrap="square" lIns="0" tIns="0" rIns="0" bIns="0" rtlCol="0" anchor="ctr"/>
          <a:lstStyle/>
          <a:p>
            <a:pPr>
              <a:lnSpc>
                <a:spcPct val="130000"/>
              </a:lnSpc>
            </a:pPr>
            <a:r>
              <a:rPr lang="en-US" sz="1048" dirty="0">
                <a:solidFill>
                  <a:srgbClr val="F5F5F7"/>
                </a:solidFill>
                <a:latin typeface="Quattrocento Sans" pitchFamily="34" charset="0"/>
                <a:ea typeface="Quattrocento Sans" pitchFamily="34" charset="-122"/>
                <a:cs typeface="Quattrocento Sans" pitchFamily="34" charset="-120"/>
              </a:rPr>
              <a:t>Left panel showing all your files and folders – like a file explorer for your app</a:t>
            </a:r>
            <a:endParaRPr lang="en-US" sz="1600" dirty="0"/>
          </a:p>
        </p:txBody>
      </p:sp>
      <p:sp>
        <p:nvSpPr>
          <p:cNvPr id="20" name="Shape 18"/>
          <p:cNvSpPr/>
          <p:nvPr/>
        </p:nvSpPr>
        <p:spPr>
          <a:xfrm>
            <a:off x="565909" y="3927973"/>
            <a:ext cx="5226332" cy="865507"/>
          </a:xfrm>
          <a:prstGeom prst="roundRect">
            <a:avLst>
              <a:gd name="adj" fmla="val 11538"/>
            </a:avLst>
          </a:prstGeom>
          <a:solidFill>
            <a:srgbClr val="1A1D21"/>
          </a:solidFill>
          <a:ln/>
        </p:spPr>
      </p:sp>
      <p:sp>
        <p:nvSpPr>
          <p:cNvPr id="21" name="Shape 19"/>
          <p:cNvSpPr/>
          <p:nvPr/>
        </p:nvSpPr>
        <p:spPr>
          <a:xfrm>
            <a:off x="699063" y="4061128"/>
            <a:ext cx="332887" cy="332887"/>
          </a:xfrm>
          <a:prstGeom prst="roundRect">
            <a:avLst>
              <a:gd name="adj" fmla="val 20000"/>
            </a:avLst>
          </a:prstGeom>
          <a:solidFill>
            <a:srgbClr val="8E8E93"/>
          </a:solidFill>
          <a:ln/>
        </p:spPr>
      </p:sp>
      <p:sp>
        <p:nvSpPr>
          <p:cNvPr id="22" name="Shape 20"/>
          <p:cNvSpPr/>
          <p:nvPr/>
        </p:nvSpPr>
        <p:spPr>
          <a:xfrm>
            <a:off x="790608" y="4160995"/>
            <a:ext cx="149799" cy="133155"/>
          </a:xfrm>
          <a:custGeom>
            <a:avLst/>
            <a:gdLst/>
            <a:ahLst/>
            <a:cxnLst/>
            <a:rect l="l" t="t" r="r" b="b"/>
            <a:pathLst>
              <a:path w="149799" h="133155">
                <a:moveTo>
                  <a:pt x="93833" y="312"/>
                </a:moveTo>
                <a:cubicBezTo>
                  <a:pt x="89411" y="-962"/>
                  <a:pt x="84808" y="1612"/>
                  <a:pt x="83534" y="6034"/>
                </a:cubicBezTo>
                <a:lnTo>
                  <a:pt x="50245" y="122544"/>
                </a:lnTo>
                <a:cubicBezTo>
                  <a:pt x="48971" y="126965"/>
                  <a:pt x="51546" y="131569"/>
                  <a:pt x="55967" y="132843"/>
                </a:cubicBezTo>
                <a:cubicBezTo>
                  <a:pt x="60388" y="134117"/>
                  <a:pt x="64991" y="131543"/>
                  <a:pt x="66265" y="127121"/>
                </a:cubicBezTo>
                <a:lnTo>
                  <a:pt x="99554" y="10611"/>
                </a:lnTo>
                <a:cubicBezTo>
                  <a:pt x="100828" y="6190"/>
                  <a:pt x="98254" y="1586"/>
                  <a:pt x="93833" y="312"/>
                </a:cubicBezTo>
                <a:close/>
                <a:moveTo>
                  <a:pt x="110633" y="35707"/>
                </a:moveTo>
                <a:cubicBezTo>
                  <a:pt x="107382" y="38958"/>
                  <a:pt x="107382" y="44238"/>
                  <a:pt x="110633" y="47488"/>
                </a:cubicBezTo>
                <a:lnTo>
                  <a:pt x="129722" y="66577"/>
                </a:lnTo>
                <a:lnTo>
                  <a:pt x="110633" y="85666"/>
                </a:lnTo>
                <a:cubicBezTo>
                  <a:pt x="107382" y="88917"/>
                  <a:pt x="107382" y="94197"/>
                  <a:pt x="110633" y="97448"/>
                </a:cubicBezTo>
                <a:cubicBezTo>
                  <a:pt x="113884" y="100698"/>
                  <a:pt x="119163" y="100698"/>
                  <a:pt x="122414" y="97448"/>
                </a:cubicBezTo>
                <a:lnTo>
                  <a:pt x="147381" y="72481"/>
                </a:lnTo>
                <a:cubicBezTo>
                  <a:pt x="150632" y="69230"/>
                  <a:pt x="150632" y="63951"/>
                  <a:pt x="147381" y="60700"/>
                </a:cubicBezTo>
                <a:lnTo>
                  <a:pt x="122414" y="35733"/>
                </a:lnTo>
                <a:cubicBezTo>
                  <a:pt x="119163" y="32483"/>
                  <a:pt x="113884" y="32483"/>
                  <a:pt x="110633" y="35733"/>
                </a:cubicBezTo>
                <a:close/>
                <a:moveTo>
                  <a:pt x="39192" y="35707"/>
                </a:moveTo>
                <a:cubicBezTo>
                  <a:pt x="35941" y="32457"/>
                  <a:pt x="30662" y="32457"/>
                  <a:pt x="27411" y="35707"/>
                </a:cubicBezTo>
                <a:lnTo>
                  <a:pt x="2445" y="60674"/>
                </a:lnTo>
                <a:cubicBezTo>
                  <a:pt x="-806" y="63925"/>
                  <a:pt x="-806" y="69204"/>
                  <a:pt x="2445" y="72455"/>
                </a:cubicBezTo>
                <a:lnTo>
                  <a:pt x="27411" y="97422"/>
                </a:lnTo>
                <a:cubicBezTo>
                  <a:pt x="30662" y="100672"/>
                  <a:pt x="35941" y="100672"/>
                  <a:pt x="39192" y="97422"/>
                </a:cubicBezTo>
                <a:cubicBezTo>
                  <a:pt x="42443" y="94171"/>
                  <a:pt x="42443" y="88891"/>
                  <a:pt x="39192" y="85640"/>
                </a:cubicBezTo>
                <a:lnTo>
                  <a:pt x="20103" y="66577"/>
                </a:lnTo>
                <a:lnTo>
                  <a:pt x="39166" y="47488"/>
                </a:lnTo>
                <a:cubicBezTo>
                  <a:pt x="42417" y="44238"/>
                  <a:pt x="42417" y="38958"/>
                  <a:pt x="39166" y="35707"/>
                </a:cubicBezTo>
                <a:close/>
              </a:path>
            </a:pathLst>
          </a:custGeom>
          <a:solidFill>
            <a:srgbClr val="FFFFFF"/>
          </a:solidFill>
          <a:ln/>
        </p:spPr>
      </p:sp>
      <p:sp>
        <p:nvSpPr>
          <p:cNvPr id="23" name="Text 21"/>
          <p:cNvSpPr/>
          <p:nvPr/>
        </p:nvSpPr>
        <p:spPr>
          <a:xfrm>
            <a:off x="1131817" y="4111062"/>
            <a:ext cx="857185" cy="233021"/>
          </a:xfrm>
          <a:prstGeom prst="rect">
            <a:avLst/>
          </a:prstGeom>
          <a:noFill/>
          <a:ln/>
        </p:spPr>
        <p:txBody>
          <a:bodyPr wrap="square" lIns="0" tIns="0" rIns="0" bIns="0" rtlCol="0" anchor="ctr"/>
          <a:lstStyle/>
          <a:p>
            <a:pPr>
              <a:lnSpc>
                <a:spcPct val="130000"/>
              </a:lnSpc>
            </a:pPr>
            <a:r>
              <a:rPr lang="en-US" sz="1180" b="1" dirty="0">
                <a:solidFill>
                  <a:srgbClr val="8E8E93"/>
                </a:solidFill>
                <a:latin typeface="Liter" pitchFamily="34" charset="0"/>
                <a:ea typeface="Liter" pitchFamily="34" charset="-122"/>
                <a:cs typeface="Liter" pitchFamily="34" charset="-120"/>
              </a:rPr>
              <a:t>Code Editor</a:t>
            </a:r>
            <a:endParaRPr lang="en-US" sz="1600" dirty="0"/>
          </a:p>
        </p:txBody>
      </p:sp>
      <p:sp>
        <p:nvSpPr>
          <p:cNvPr id="24" name="Text 22"/>
          <p:cNvSpPr/>
          <p:nvPr/>
        </p:nvSpPr>
        <p:spPr>
          <a:xfrm>
            <a:off x="699063" y="4460593"/>
            <a:ext cx="5026599" cy="199732"/>
          </a:xfrm>
          <a:prstGeom prst="rect">
            <a:avLst/>
          </a:prstGeom>
          <a:noFill/>
          <a:ln/>
        </p:spPr>
        <p:txBody>
          <a:bodyPr wrap="square" lIns="0" tIns="0" rIns="0" bIns="0" rtlCol="0" anchor="ctr"/>
          <a:lstStyle/>
          <a:p>
            <a:pPr>
              <a:lnSpc>
                <a:spcPct val="130000"/>
              </a:lnSpc>
            </a:pPr>
            <a:r>
              <a:rPr lang="en-US" sz="1048" dirty="0">
                <a:solidFill>
                  <a:srgbClr val="F5F5F7"/>
                </a:solidFill>
                <a:latin typeface="Quattrocento Sans" pitchFamily="34" charset="0"/>
                <a:ea typeface="Quattrocento Sans" pitchFamily="34" charset="-122"/>
                <a:cs typeface="Quattrocento Sans" pitchFamily="34" charset="-120"/>
              </a:rPr>
              <a:t>Center area where you write code – has syntax highlighting and auto-completion</a:t>
            </a:r>
            <a:endParaRPr lang="en-US" sz="1600" dirty="0"/>
          </a:p>
        </p:txBody>
      </p:sp>
      <p:sp>
        <p:nvSpPr>
          <p:cNvPr id="25" name="Shape 23"/>
          <p:cNvSpPr/>
          <p:nvPr/>
        </p:nvSpPr>
        <p:spPr>
          <a:xfrm>
            <a:off x="336216" y="5416081"/>
            <a:ext cx="5657421" cy="1105186"/>
          </a:xfrm>
          <a:prstGeom prst="roundRect">
            <a:avLst>
              <a:gd name="adj" fmla="val 12048"/>
            </a:avLst>
          </a:prstGeom>
          <a:solidFill>
            <a:srgbClr val="0A84FF">
              <a:alpha val="10196"/>
            </a:srgbClr>
          </a:solidFill>
          <a:ln w="10160">
            <a:solidFill>
              <a:srgbClr val="0A84FF">
                <a:alpha val="30196"/>
              </a:srgbClr>
            </a:solidFill>
            <a:prstDash val="solid"/>
          </a:ln>
        </p:spPr>
      </p:sp>
      <p:sp>
        <p:nvSpPr>
          <p:cNvPr id="26" name="Shape 24"/>
          <p:cNvSpPr/>
          <p:nvPr/>
        </p:nvSpPr>
        <p:spPr>
          <a:xfrm>
            <a:off x="526794" y="5627471"/>
            <a:ext cx="149799" cy="149799"/>
          </a:xfrm>
          <a:custGeom>
            <a:avLst/>
            <a:gdLst/>
            <a:ahLst/>
            <a:cxnLst/>
            <a:rect l="l" t="t" r="r" b="b"/>
            <a:pathLst>
              <a:path w="149799" h="149799">
                <a:moveTo>
                  <a:pt x="74900" y="140437"/>
                </a:moveTo>
                <a:cubicBezTo>
                  <a:pt x="116270" y="140437"/>
                  <a:pt x="149799" y="108985"/>
                  <a:pt x="149799" y="70218"/>
                </a:cubicBezTo>
                <a:cubicBezTo>
                  <a:pt x="149799" y="31452"/>
                  <a:pt x="116270" y="0"/>
                  <a:pt x="74900" y="0"/>
                </a:cubicBezTo>
                <a:cubicBezTo>
                  <a:pt x="33529" y="0"/>
                  <a:pt x="0" y="31452"/>
                  <a:pt x="0" y="70218"/>
                </a:cubicBezTo>
                <a:cubicBezTo>
                  <a:pt x="0" y="86105"/>
                  <a:pt x="5617" y="100734"/>
                  <a:pt x="15097" y="112496"/>
                </a:cubicBezTo>
                <a:lnTo>
                  <a:pt x="819" y="139501"/>
                </a:lnTo>
                <a:cubicBezTo>
                  <a:pt x="-585" y="142134"/>
                  <a:pt x="-146" y="145352"/>
                  <a:pt x="1872" y="147546"/>
                </a:cubicBezTo>
                <a:cubicBezTo>
                  <a:pt x="3891" y="149741"/>
                  <a:pt x="7080" y="150414"/>
                  <a:pt x="9801" y="149243"/>
                </a:cubicBezTo>
                <a:lnTo>
                  <a:pt x="44442" y="134410"/>
                </a:lnTo>
                <a:cubicBezTo>
                  <a:pt x="53746" y="138272"/>
                  <a:pt x="64045" y="140437"/>
                  <a:pt x="74900" y="140437"/>
                </a:cubicBezTo>
                <a:close/>
                <a:moveTo>
                  <a:pt x="37450" y="60856"/>
                </a:moveTo>
                <a:cubicBezTo>
                  <a:pt x="42617" y="60856"/>
                  <a:pt x="46812" y="65051"/>
                  <a:pt x="46812" y="70218"/>
                </a:cubicBezTo>
                <a:cubicBezTo>
                  <a:pt x="46812" y="75386"/>
                  <a:pt x="42617" y="79581"/>
                  <a:pt x="37450" y="79581"/>
                </a:cubicBezTo>
                <a:cubicBezTo>
                  <a:pt x="32283" y="79581"/>
                  <a:pt x="28087" y="75386"/>
                  <a:pt x="28087" y="70218"/>
                </a:cubicBezTo>
                <a:cubicBezTo>
                  <a:pt x="28087" y="65051"/>
                  <a:pt x="32283" y="60856"/>
                  <a:pt x="37450" y="60856"/>
                </a:cubicBezTo>
                <a:close/>
                <a:moveTo>
                  <a:pt x="74900" y="60856"/>
                </a:moveTo>
                <a:cubicBezTo>
                  <a:pt x="80067" y="60856"/>
                  <a:pt x="84262" y="65051"/>
                  <a:pt x="84262" y="70218"/>
                </a:cubicBezTo>
                <a:cubicBezTo>
                  <a:pt x="84262" y="75386"/>
                  <a:pt x="80067" y="79581"/>
                  <a:pt x="74900" y="79581"/>
                </a:cubicBezTo>
                <a:cubicBezTo>
                  <a:pt x="69732" y="79581"/>
                  <a:pt x="65537" y="75386"/>
                  <a:pt x="65537" y="70218"/>
                </a:cubicBezTo>
                <a:cubicBezTo>
                  <a:pt x="65537" y="65051"/>
                  <a:pt x="69732" y="60856"/>
                  <a:pt x="74900" y="60856"/>
                </a:cubicBezTo>
                <a:close/>
                <a:moveTo>
                  <a:pt x="102987" y="70218"/>
                </a:moveTo>
                <a:cubicBezTo>
                  <a:pt x="102987" y="65051"/>
                  <a:pt x="107182" y="60856"/>
                  <a:pt x="112349" y="60856"/>
                </a:cubicBezTo>
                <a:cubicBezTo>
                  <a:pt x="117517" y="60856"/>
                  <a:pt x="121712" y="65051"/>
                  <a:pt x="121712" y="70218"/>
                </a:cubicBezTo>
                <a:cubicBezTo>
                  <a:pt x="121712" y="75386"/>
                  <a:pt x="117517" y="79581"/>
                  <a:pt x="112349" y="79581"/>
                </a:cubicBezTo>
                <a:cubicBezTo>
                  <a:pt x="107182" y="79581"/>
                  <a:pt x="102987" y="75386"/>
                  <a:pt x="102987" y="70218"/>
                </a:cubicBezTo>
                <a:close/>
              </a:path>
            </a:pathLst>
          </a:custGeom>
          <a:solidFill>
            <a:srgbClr val="0A84FF"/>
          </a:solidFill>
          <a:ln/>
        </p:spPr>
      </p:sp>
      <p:sp>
        <p:nvSpPr>
          <p:cNvPr id="27" name="Text 25"/>
          <p:cNvSpPr/>
          <p:nvPr/>
        </p:nvSpPr>
        <p:spPr>
          <a:xfrm>
            <a:off x="697399" y="5585860"/>
            <a:ext cx="5201365" cy="233021"/>
          </a:xfrm>
          <a:prstGeom prst="rect">
            <a:avLst/>
          </a:prstGeom>
          <a:noFill/>
          <a:ln/>
        </p:spPr>
        <p:txBody>
          <a:bodyPr wrap="square" lIns="0" tIns="0" rIns="0" bIns="0" rtlCol="0" anchor="ctr"/>
          <a:lstStyle/>
          <a:p>
            <a:pPr>
              <a:lnSpc>
                <a:spcPct val="130000"/>
              </a:lnSpc>
            </a:pPr>
            <a:r>
              <a:rPr lang="en-US" sz="1180"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28" name="Text 26"/>
          <p:cNvSpPr/>
          <p:nvPr/>
        </p:nvSpPr>
        <p:spPr>
          <a:xfrm>
            <a:off x="505989" y="5918747"/>
            <a:ext cx="5384453" cy="432754"/>
          </a:xfrm>
          <a:prstGeom prst="rect">
            <a:avLst/>
          </a:prstGeom>
          <a:noFill/>
          <a:ln/>
        </p:spPr>
        <p:txBody>
          <a:bodyPr wrap="square" lIns="0" tIns="0" rIns="0" bIns="0" rtlCol="0" anchor="ctr"/>
          <a:lstStyle/>
          <a:p>
            <a:pPr>
              <a:lnSpc>
                <a:spcPct val="140000"/>
              </a:lnSpc>
            </a:pPr>
            <a:r>
              <a:rPr lang="en-US" sz="1048" dirty="0">
                <a:solidFill>
                  <a:srgbClr val="F5F5F7"/>
                </a:solidFill>
                <a:latin typeface="Quattrocento Sans" pitchFamily="34" charset="0"/>
                <a:ea typeface="Quattrocento Sans" pitchFamily="34" charset="-122"/>
                <a:cs typeface="Quattrocento Sans" pitchFamily="34" charset="-120"/>
              </a:rPr>
              <a:t>Android Studio's interface is like </a:t>
            </a:r>
            <a:pPr>
              <a:lnSpc>
                <a:spcPct val="140000"/>
              </a:lnSpc>
            </a:pPr>
            <a:r>
              <a:rPr lang="en-US" sz="1048" b="1" dirty="0">
                <a:solidFill>
                  <a:srgbClr val="34C759"/>
                </a:solidFill>
                <a:latin typeface="Quattrocento Sans" pitchFamily="34" charset="0"/>
                <a:ea typeface="Quattrocento Sans" pitchFamily="34" charset="-122"/>
                <a:cs typeface="Quattrocento Sans" pitchFamily="34" charset="-120"/>
              </a:rPr>
              <a:t>a pilot's cockpit</a:t>
            </a:r>
            <a:pPr>
              <a:lnSpc>
                <a:spcPct val="140000"/>
              </a:lnSpc>
            </a:pPr>
            <a:r>
              <a:rPr lang="en-US" sz="1048" dirty="0">
                <a:solidFill>
                  <a:srgbClr val="F5F5F7"/>
                </a:solidFill>
                <a:latin typeface="Quattrocento Sans" pitchFamily="34" charset="0"/>
                <a:ea typeface="Quattrocento Sans" pitchFamily="34" charset="-122"/>
                <a:cs typeface="Quattrocento Sans" pitchFamily="34" charset="-120"/>
              </a:rPr>
              <a:t>. Each panel has a specific purpose – navigation (project structure), controls (code editor), and displays (emulator).</a:t>
            </a:r>
            <a:endParaRPr lang="en-US" sz="1600" dirty="0"/>
          </a:p>
        </p:txBody>
      </p:sp>
      <p:sp>
        <p:nvSpPr>
          <p:cNvPr id="29" name="Shape 27"/>
          <p:cNvSpPr/>
          <p:nvPr/>
        </p:nvSpPr>
        <p:spPr>
          <a:xfrm>
            <a:off x="6195346" y="1098528"/>
            <a:ext cx="5659085" cy="3994648"/>
          </a:xfrm>
          <a:prstGeom prst="roundRect">
            <a:avLst>
              <a:gd name="adj" fmla="val 3333"/>
            </a:avLst>
          </a:prstGeom>
          <a:solidFill>
            <a:srgbClr val="2C2C2E"/>
          </a:solidFill>
          <a:ln/>
        </p:spPr>
      </p:sp>
      <p:sp>
        <p:nvSpPr>
          <p:cNvPr id="30" name="Shape 28"/>
          <p:cNvSpPr/>
          <p:nvPr/>
        </p:nvSpPr>
        <p:spPr>
          <a:xfrm>
            <a:off x="6432528" y="1331452"/>
            <a:ext cx="174766" cy="199732"/>
          </a:xfrm>
          <a:custGeom>
            <a:avLst/>
            <a:gdLst/>
            <a:ahLst/>
            <a:cxnLst/>
            <a:rect l="l" t="t" r="r" b="b"/>
            <a:pathLst>
              <a:path w="174766" h="199732">
                <a:moveTo>
                  <a:pt x="24967" y="12483"/>
                </a:moveTo>
                <a:cubicBezTo>
                  <a:pt x="11196" y="12483"/>
                  <a:pt x="0" y="23679"/>
                  <a:pt x="0" y="37450"/>
                </a:cubicBezTo>
                <a:lnTo>
                  <a:pt x="0" y="162283"/>
                </a:lnTo>
                <a:cubicBezTo>
                  <a:pt x="0" y="176053"/>
                  <a:pt x="11196" y="187249"/>
                  <a:pt x="24967" y="187249"/>
                </a:cubicBezTo>
                <a:lnTo>
                  <a:pt x="149799" y="187249"/>
                </a:lnTo>
                <a:cubicBezTo>
                  <a:pt x="163570" y="187249"/>
                  <a:pt x="174766" y="176053"/>
                  <a:pt x="174766" y="162283"/>
                </a:cubicBezTo>
                <a:lnTo>
                  <a:pt x="174766" y="37450"/>
                </a:lnTo>
                <a:cubicBezTo>
                  <a:pt x="174766" y="23679"/>
                  <a:pt x="163570" y="12483"/>
                  <a:pt x="149799" y="12483"/>
                </a:cubicBezTo>
                <a:lnTo>
                  <a:pt x="24967" y="12483"/>
                </a:lnTo>
                <a:close/>
                <a:moveTo>
                  <a:pt x="49933" y="43691"/>
                </a:moveTo>
                <a:cubicBezTo>
                  <a:pt x="60268" y="43691"/>
                  <a:pt x="68658" y="52082"/>
                  <a:pt x="68658" y="62416"/>
                </a:cubicBezTo>
                <a:cubicBezTo>
                  <a:pt x="68658" y="72751"/>
                  <a:pt x="60268" y="81141"/>
                  <a:pt x="49933" y="81141"/>
                </a:cubicBezTo>
                <a:cubicBezTo>
                  <a:pt x="39599" y="81141"/>
                  <a:pt x="31208" y="72751"/>
                  <a:pt x="31208" y="62416"/>
                </a:cubicBezTo>
                <a:cubicBezTo>
                  <a:pt x="31208" y="52082"/>
                  <a:pt x="39599" y="43691"/>
                  <a:pt x="49933" y="43691"/>
                </a:cubicBezTo>
                <a:close/>
                <a:moveTo>
                  <a:pt x="106108" y="87383"/>
                </a:moveTo>
                <a:cubicBezTo>
                  <a:pt x="109385" y="87383"/>
                  <a:pt x="112388" y="89099"/>
                  <a:pt x="114105" y="91869"/>
                </a:cubicBezTo>
                <a:lnTo>
                  <a:pt x="148434" y="148044"/>
                </a:lnTo>
                <a:cubicBezTo>
                  <a:pt x="150189" y="150931"/>
                  <a:pt x="150267" y="154559"/>
                  <a:pt x="148629" y="157523"/>
                </a:cubicBezTo>
                <a:cubicBezTo>
                  <a:pt x="146991" y="160488"/>
                  <a:pt x="143831" y="162283"/>
                  <a:pt x="140437" y="162283"/>
                </a:cubicBezTo>
                <a:lnTo>
                  <a:pt x="34329" y="162283"/>
                </a:lnTo>
                <a:cubicBezTo>
                  <a:pt x="30857" y="162283"/>
                  <a:pt x="27619" y="160332"/>
                  <a:pt x="26020" y="157250"/>
                </a:cubicBezTo>
                <a:cubicBezTo>
                  <a:pt x="24420" y="154168"/>
                  <a:pt x="24654" y="150423"/>
                  <a:pt x="26644" y="147576"/>
                </a:cubicBezTo>
                <a:lnTo>
                  <a:pt x="48490" y="116368"/>
                </a:lnTo>
                <a:cubicBezTo>
                  <a:pt x="50245" y="113871"/>
                  <a:pt x="53093" y="112388"/>
                  <a:pt x="56175" y="112388"/>
                </a:cubicBezTo>
                <a:cubicBezTo>
                  <a:pt x="59257" y="112388"/>
                  <a:pt x="62104" y="113871"/>
                  <a:pt x="63860" y="116368"/>
                </a:cubicBezTo>
                <a:lnTo>
                  <a:pt x="74158" y="131113"/>
                </a:lnTo>
                <a:lnTo>
                  <a:pt x="98111" y="91908"/>
                </a:lnTo>
                <a:cubicBezTo>
                  <a:pt x="99827" y="89138"/>
                  <a:pt x="102831" y="87422"/>
                  <a:pt x="106108" y="87422"/>
                </a:cubicBezTo>
                <a:close/>
              </a:path>
            </a:pathLst>
          </a:custGeom>
          <a:solidFill>
            <a:srgbClr val="34C759"/>
          </a:solidFill>
          <a:ln/>
        </p:spPr>
      </p:sp>
      <p:sp>
        <p:nvSpPr>
          <p:cNvPr id="31" name="Text 29"/>
          <p:cNvSpPr/>
          <p:nvPr/>
        </p:nvSpPr>
        <p:spPr>
          <a:xfrm>
            <a:off x="6644744" y="1298261"/>
            <a:ext cx="5109821" cy="266310"/>
          </a:xfrm>
          <a:prstGeom prst="rect">
            <a:avLst/>
          </a:prstGeom>
          <a:noFill/>
          <a:ln/>
        </p:spPr>
        <p:txBody>
          <a:bodyPr wrap="square" lIns="0" tIns="0" rIns="0" bIns="0" rtlCol="0" anchor="ctr"/>
          <a:lstStyle/>
          <a:p>
            <a:pPr>
              <a:lnSpc>
                <a:spcPct val="110000"/>
              </a:lnSpc>
            </a:pPr>
            <a:r>
              <a:rPr lang="en-US" sz="1573" b="1" dirty="0">
                <a:solidFill>
                  <a:srgbClr val="34C759"/>
                </a:solidFill>
                <a:latin typeface="Liter" pitchFamily="34" charset="0"/>
                <a:ea typeface="Liter" pitchFamily="34" charset="-122"/>
                <a:cs typeface="Liter" pitchFamily="34" charset="-120"/>
              </a:rPr>
              <a:t>Interface Screenshot</a:t>
            </a:r>
            <a:endParaRPr lang="en-US" sz="1600" dirty="0"/>
          </a:p>
        </p:txBody>
      </p:sp>
      <p:sp>
        <p:nvSpPr>
          <p:cNvPr id="32" name="Shape 30"/>
          <p:cNvSpPr/>
          <p:nvPr/>
        </p:nvSpPr>
        <p:spPr>
          <a:xfrm>
            <a:off x="6395078" y="1730917"/>
            <a:ext cx="5259620" cy="3162430"/>
          </a:xfrm>
          <a:prstGeom prst="roundRect">
            <a:avLst>
              <a:gd name="adj" fmla="val 3158"/>
            </a:avLst>
          </a:prstGeom>
          <a:solidFill>
            <a:srgbClr val="1A1D21"/>
          </a:solidFill>
          <a:ln/>
        </p:spPr>
      </p:sp>
      <p:pic>
        <p:nvPicPr>
          <p:cNvPr id="33" name="Image 0" descr="https://kimi-web-img.moonshot.cn/img/developer.android.com/79495ba2794785d2e7106743e43abba839c690ae.png">    </p:cNvPr>
          <p:cNvPicPr>
            <a:picLocks noChangeAspect="1"/>
          </p:cNvPicPr>
          <p:nvPr/>
        </p:nvPicPr>
        <p:blipFill>
          <a:blip r:embed="rId1"/>
          <a:srcRect l="342" r="342" t="0" b="0"/>
          <a:stretch/>
        </p:blipFill>
        <p:spPr>
          <a:xfrm>
            <a:off x="6528233" y="1864072"/>
            <a:ext cx="4993311" cy="2896120"/>
          </a:xfrm>
          <a:prstGeom prst="roundRect">
            <a:avLst>
              <a:gd name="adj" fmla="val 2299"/>
            </a:avLst>
          </a:prstGeom>
        </p:spPr>
      </p:pic>
      <p:sp>
        <p:nvSpPr>
          <p:cNvPr id="34" name="Shape 31"/>
          <p:cNvSpPr/>
          <p:nvPr/>
        </p:nvSpPr>
        <p:spPr>
          <a:xfrm>
            <a:off x="6195346" y="5226332"/>
            <a:ext cx="5659085" cy="1298261"/>
          </a:xfrm>
          <a:prstGeom prst="roundRect">
            <a:avLst>
              <a:gd name="adj" fmla="val 10256"/>
            </a:avLst>
          </a:prstGeom>
          <a:solidFill>
            <a:srgbClr val="2C2C2E"/>
          </a:solidFill>
          <a:ln/>
        </p:spPr>
      </p:sp>
      <p:sp>
        <p:nvSpPr>
          <p:cNvPr id="35" name="Shape 32"/>
          <p:cNvSpPr/>
          <p:nvPr/>
        </p:nvSpPr>
        <p:spPr>
          <a:xfrm>
            <a:off x="6401320" y="5434386"/>
            <a:ext cx="112349" cy="149799"/>
          </a:xfrm>
          <a:custGeom>
            <a:avLst/>
            <a:gdLst/>
            <a:ahLst/>
            <a:cxnLst/>
            <a:rect l="l" t="t" r="r" b="b"/>
            <a:pathLst>
              <a:path w="112349" h="149799">
                <a:moveTo>
                  <a:pt x="85696" y="112349"/>
                </a:moveTo>
                <a:cubicBezTo>
                  <a:pt x="87832" y="105825"/>
                  <a:pt x="92103" y="99915"/>
                  <a:pt x="96931" y="94824"/>
                </a:cubicBezTo>
                <a:cubicBezTo>
                  <a:pt x="106498" y="84759"/>
                  <a:pt x="112349" y="71155"/>
                  <a:pt x="112349" y="56175"/>
                </a:cubicBezTo>
                <a:cubicBezTo>
                  <a:pt x="112349" y="25162"/>
                  <a:pt x="87188" y="0"/>
                  <a:pt x="56175" y="0"/>
                </a:cubicBezTo>
                <a:cubicBezTo>
                  <a:pt x="25162" y="0"/>
                  <a:pt x="0" y="25162"/>
                  <a:pt x="0" y="56175"/>
                </a:cubicBezTo>
                <a:cubicBezTo>
                  <a:pt x="0" y="71155"/>
                  <a:pt x="5852" y="84759"/>
                  <a:pt x="15419" y="94824"/>
                </a:cubicBezTo>
                <a:cubicBezTo>
                  <a:pt x="20246" y="99915"/>
                  <a:pt x="24547" y="105825"/>
                  <a:pt x="26654" y="112349"/>
                </a:cubicBezTo>
                <a:lnTo>
                  <a:pt x="85666" y="112349"/>
                </a:lnTo>
                <a:close/>
                <a:moveTo>
                  <a:pt x="84262" y="126393"/>
                </a:moveTo>
                <a:lnTo>
                  <a:pt x="28087" y="126393"/>
                </a:lnTo>
                <a:lnTo>
                  <a:pt x="28087" y="131074"/>
                </a:lnTo>
                <a:cubicBezTo>
                  <a:pt x="28087" y="144006"/>
                  <a:pt x="38562" y="154481"/>
                  <a:pt x="51494" y="154481"/>
                </a:cubicBezTo>
                <a:lnTo>
                  <a:pt x="60856" y="154481"/>
                </a:lnTo>
                <a:cubicBezTo>
                  <a:pt x="73788" y="154481"/>
                  <a:pt x="84262" y="144006"/>
                  <a:pt x="84262" y="131074"/>
                </a:cubicBezTo>
                <a:lnTo>
                  <a:pt x="84262" y="126393"/>
                </a:lnTo>
                <a:close/>
                <a:moveTo>
                  <a:pt x="53834" y="32769"/>
                </a:moveTo>
                <a:cubicBezTo>
                  <a:pt x="42190" y="32769"/>
                  <a:pt x="32769" y="42190"/>
                  <a:pt x="32769" y="53834"/>
                </a:cubicBezTo>
                <a:cubicBezTo>
                  <a:pt x="32769" y="57725"/>
                  <a:pt x="29638" y="60856"/>
                  <a:pt x="25747" y="60856"/>
                </a:cubicBezTo>
                <a:cubicBezTo>
                  <a:pt x="21855" y="60856"/>
                  <a:pt x="18725" y="57725"/>
                  <a:pt x="18725" y="53834"/>
                </a:cubicBezTo>
                <a:cubicBezTo>
                  <a:pt x="18725" y="34436"/>
                  <a:pt x="34436" y="18725"/>
                  <a:pt x="53834" y="18725"/>
                </a:cubicBezTo>
                <a:cubicBezTo>
                  <a:pt x="57725" y="18725"/>
                  <a:pt x="60856" y="21855"/>
                  <a:pt x="60856" y="25747"/>
                </a:cubicBezTo>
                <a:cubicBezTo>
                  <a:pt x="60856" y="29638"/>
                  <a:pt x="57725" y="32769"/>
                  <a:pt x="53834" y="32769"/>
                </a:cubicBezTo>
                <a:close/>
              </a:path>
            </a:pathLst>
          </a:custGeom>
          <a:solidFill>
            <a:srgbClr val="8E8E93"/>
          </a:solidFill>
          <a:ln/>
        </p:spPr>
      </p:sp>
      <p:sp>
        <p:nvSpPr>
          <p:cNvPr id="36" name="Text 33"/>
          <p:cNvSpPr/>
          <p:nvPr/>
        </p:nvSpPr>
        <p:spPr>
          <a:xfrm>
            <a:off x="6553200" y="5392775"/>
            <a:ext cx="5209687" cy="233021"/>
          </a:xfrm>
          <a:prstGeom prst="rect">
            <a:avLst/>
          </a:prstGeom>
          <a:noFill/>
          <a:ln/>
        </p:spPr>
        <p:txBody>
          <a:bodyPr wrap="square" lIns="0" tIns="0" rIns="0" bIns="0" rtlCol="0" anchor="ctr"/>
          <a:lstStyle/>
          <a:p>
            <a:pPr>
              <a:lnSpc>
                <a:spcPct val="130000"/>
              </a:lnSpc>
            </a:pPr>
            <a:r>
              <a:rPr lang="en-US" sz="1180" b="1" dirty="0">
                <a:solidFill>
                  <a:srgbClr val="8E8E93"/>
                </a:solidFill>
                <a:latin typeface="Liter" pitchFamily="34" charset="0"/>
                <a:ea typeface="Liter" pitchFamily="34" charset="-122"/>
                <a:cs typeface="Liter" pitchFamily="34" charset="-120"/>
              </a:rPr>
              <a:t>Key Features to Notice</a:t>
            </a:r>
            <a:endParaRPr lang="en-US" sz="1600" dirty="0"/>
          </a:p>
        </p:txBody>
      </p:sp>
      <p:sp>
        <p:nvSpPr>
          <p:cNvPr id="37" name="Shape 34"/>
          <p:cNvSpPr/>
          <p:nvPr/>
        </p:nvSpPr>
        <p:spPr>
          <a:xfrm>
            <a:off x="6361790" y="5725663"/>
            <a:ext cx="266310" cy="266310"/>
          </a:xfrm>
          <a:prstGeom prst="roundRect">
            <a:avLst>
              <a:gd name="adj" fmla="val 25000"/>
            </a:avLst>
          </a:prstGeom>
          <a:solidFill>
            <a:srgbClr val="34C759"/>
          </a:solidFill>
          <a:ln/>
        </p:spPr>
      </p:sp>
      <p:sp>
        <p:nvSpPr>
          <p:cNvPr id="38" name="Shape 35"/>
          <p:cNvSpPr/>
          <p:nvPr/>
        </p:nvSpPr>
        <p:spPr>
          <a:xfrm>
            <a:off x="6446052" y="5800562"/>
            <a:ext cx="101947" cy="116511"/>
          </a:xfrm>
          <a:custGeom>
            <a:avLst/>
            <a:gdLst/>
            <a:ahLst/>
            <a:cxnLst/>
            <a:rect l="l" t="t" r="r" b="b"/>
            <a:pathLst>
              <a:path w="101947" h="116511">
                <a:moveTo>
                  <a:pt x="20753" y="8397"/>
                </a:moveTo>
                <a:cubicBezTo>
                  <a:pt x="17932" y="6850"/>
                  <a:pt x="14518" y="6918"/>
                  <a:pt x="11742" y="8556"/>
                </a:cubicBezTo>
                <a:cubicBezTo>
                  <a:pt x="8966" y="10195"/>
                  <a:pt x="7282" y="13176"/>
                  <a:pt x="7282" y="16384"/>
                </a:cubicBezTo>
                <a:lnTo>
                  <a:pt x="7282" y="100126"/>
                </a:lnTo>
                <a:cubicBezTo>
                  <a:pt x="7282" y="103335"/>
                  <a:pt x="8989" y="106316"/>
                  <a:pt x="11742" y="107954"/>
                </a:cubicBezTo>
                <a:cubicBezTo>
                  <a:pt x="14496" y="109593"/>
                  <a:pt x="17932" y="109661"/>
                  <a:pt x="20753" y="108114"/>
                </a:cubicBezTo>
                <a:lnTo>
                  <a:pt x="97214" y="66243"/>
                </a:lnTo>
                <a:cubicBezTo>
                  <a:pt x="100126" y="64650"/>
                  <a:pt x="101947" y="61578"/>
                  <a:pt x="101947" y="58255"/>
                </a:cubicBezTo>
                <a:cubicBezTo>
                  <a:pt x="101947" y="54933"/>
                  <a:pt x="100126" y="51861"/>
                  <a:pt x="97214" y="50268"/>
                </a:cubicBezTo>
                <a:lnTo>
                  <a:pt x="20753" y="8397"/>
                </a:lnTo>
                <a:close/>
              </a:path>
            </a:pathLst>
          </a:custGeom>
          <a:solidFill>
            <a:srgbClr val="1D1D1F"/>
          </a:solidFill>
          <a:ln/>
        </p:spPr>
      </p:sp>
      <p:sp>
        <p:nvSpPr>
          <p:cNvPr id="39" name="Text 36"/>
          <p:cNvSpPr/>
          <p:nvPr/>
        </p:nvSpPr>
        <p:spPr>
          <a:xfrm>
            <a:off x="6694677" y="5758952"/>
            <a:ext cx="1606182" cy="199732"/>
          </a:xfrm>
          <a:prstGeom prst="rect">
            <a:avLst/>
          </a:prstGeom>
          <a:noFill/>
          <a:ln/>
        </p:spPr>
        <p:txBody>
          <a:bodyPr wrap="square" lIns="0" tIns="0" rIns="0" bIns="0" rtlCol="0" anchor="ctr"/>
          <a:lstStyle/>
          <a:p>
            <a:pPr>
              <a:lnSpc>
                <a:spcPct val="130000"/>
              </a:lnSpc>
            </a:pPr>
            <a:r>
              <a:rPr lang="en-US" sz="1048" dirty="0">
                <a:solidFill>
                  <a:srgbClr val="F5F5F7"/>
                </a:solidFill>
                <a:latin typeface="Quattrocento Sans" pitchFamily="34" charset="0"/>
                <a:ea typeface="Quattrocento Sans" pitchFamily="34" charset="-122"/>
                <a:cs typeface="Quattrocento Sans" pitchFamily="34" charset="-120"/>
              </a:rPr>
              <a:t>Run button (green triangle)</a:t>
            </a:r>
            <a:endParaRPr lang="en-US" sz="1600" dirty="0"/>
          </a:p>
        </p:txBody>
      </p:sp>
      <p:sp>
        <p:nvSpPr>
          <p:cNvPr id="40" name="Shape 37"/>
          <p:cNvSpPr/>
          <p:nvPr/>
        </p:nvSpPr>
        <p:spPr>
          <a:xfrm>
            <a:off x="9076694" y="5725663"/>
            <a:ext cx="266310" cy="266310"/>
          </a:xfrm>
          <a:prstGeom prst="roundRect">
            <a:avLst>
              <a:gd name="adj" fmla="val 25000"/>
            </a:avLst>
          </a:prstGeom>
          <a:solidFill>
            <a:srgbClr val="0A84FF"/>
          </a:solidFill>
          <a:ln/>
        </p:spPr>
      </p:sp>
      <p:sp>
        <p:nvSpPr>
          <p:cNvPr id="41" name="Shape 38"/>
          <p:cNvSpPr/>
          <p:nvPr/>
        </p:nvSpPr>
        <p:spPr>
          <a:xfrm>
            <a:off x="9146392" y="5800562"/>
            <a:ext cx="131074" cy="116511"/>
          </a:xfrm>
          <a:custGeom>
            <a:avLst/>
            <a:gdLst/>
            <a:ahLst/>
            <a:cxnLst/>
            <a:rect l="l" t="t" r="r" b="b"/>
            <a:pathLst>
              <a:path w="131074" h="116511">
                <a:moveTo>
                  <a:pt x="43691" y="21846"/>
                </a:moveTo>
                <a:cubicBezTo>
                  <a:pt x="43691" y="9785"/>
                  <a:pt x="53477" y="0"/>
                  <a:pt x="65537" y="0"/>
                </a:cubicBezTo>
                <a:cubicBezTo>
                  <a:pt x="77598" y="0"/>
                  <a:pt x="87383" y="9785"/>
                  <a:pt x="87383" y="21846"/>
                </a:cubicBezTo>
                <a:lnTo>
                  <a:pt x="87383" y="22665"/>
                </a:lnTo>
                <a:cubicBezTo>
                  <a:pt x="87383" y="26238"/>
                  <a:pt x="84493" y="29128"/>
                  <a:pt x="80920" y="29128"/>
                </a:cubicBezTo>
                <a:lnTo>
                  <a:pt x="50177" y="29128"/>
                </a:lnTo>
                <a:cubicBezTo>
                  <a:pt x="46604" y="29128"/>
                  <a:pt x="43714" y="26238"/>
                  <a:pt x="43714" y="22665"/>
                </a:cubicBezTo>
                <a:lnTo>
                  <a:pt x="43714" y="21846"/>
                </a:lnTo>
                <a:close/>
                <a:moveTo>
                  <a:pt x="122336" y="24758"/>
                </a:moveTo>
                <a:cubicBezTo>
                  <a:pt x="124748" y="27967"/>
                  <a:pt x="124088" y="32541"/>
                  <a:pt x="120880" y="34953"/>
                </a:cubicBezTo>
                <a:lnTo>
                  <a:pt x="98624" y="51633"/>
                </a:lnTo>
                <a:cubicBezTo>
                  <a:pt x="99830" y="53659"/>
                  <a:pt x="100741" y="55889"/>
                  <a:pt x="101310" y="58255"/>
                </a:cubicBezTo>
                <a:lnTo>
                  <a:pt x="123792" y="58255"/>
                </a:lnTo>
                <a:cubicBezTo>
                  <a:pt x="127820" y="58255"/>
                  <a:pt x="131074" y="61509"/>
                  <a:pt x="131074" y="65537"/>
                </a:cubicBezTo>
                <a:cubicBezTo>
                  <a:pt x="131074" y="69565"/>
                  <a:pt x="127820" y="72819"/>
                  <a:pt x="123792" y="72819"/>
                </a:cubicBezTo>
                <a:lnTo>
                  <a:pt x="101947" y="72819"/>
                </a:lnTo>
                <a:lnTo>
                  <a:pt x="101947" y="80101"/>
                </a:lnTo>
                <a:cubicBezTo>
                  <a:pt x="101947" y="80693"/>
                  <a:pt x="101924" y="81307"/>
                  <a:pt x="101901" y="81899"/>
                </a:cubicBezTo>
                <a:lnTo>
                  <a:pt x="120880" y="96121"/>
                </a:lnTo>
                <a:cubicBezTo>
                  <a:pt x="124088" y="98533"/>
                  <a:pt x="124748" y="103107"/>
                  <a:pt x="122336" y="106316"/>
                </a:cubicBezTo>
                <a:cubicBezTo>
                  <a:pt x="119924" y="109524"/>
                  <a:pt x="115350" y="110184"/>
                  <a:pt x="112141" y="107772"/>
                </a:cubicBezTo>
                <a:lnTo>
                  <a:pt x="97782" y="97009"/>
                </a:lnTo>
                <a:cubicBezTo>
                  <a:pt x="92503" y="107067"/>
                  <a:pt x="82650" y="114349"/>
                  <a:pt x="70999" y="116101"/>
                </a:cubicBezTo>
                <a:lnTo>
                  <a:pt x="70999" y="63717"/>
                </a:lnTo>
                <a:cubicBezTo>
                  <a:pt x="70999" y="60690"/>
                  <a:pt x="68564" y="58255"/>
                  <a:pt x="65537" y="58255"/>
                </a:cubicBezTo>
                <a:cubicBezTo>
                  <a:pt x="62511" y="58255"/>
                  <a:pt x="60076" y="60690"/>
                  <a:pt x="60076" y="63717"/>
                </a:cubicBezTo>
                <a:lnTo>
                  <a:pt x="60076" y="116101"/>
                </a:lnTo>
                <a:cubicBezTo>
                  <a:pt x="48425" y="114349"/>
                  <a:pt x="38571" y="107067"/>
                  <a:pt x="33292" y="97009"/>
                </a:cubicBezTo>
                <a:lnTo>
                  <a:pt x="18933" y="107772"/>
                </a:lnTo>
                <a:cubicBezTo>
                  <a:pt x="15724" y="110184"/>
                  <a:pt x="11150" y="109524"/>
                  <a:pt x="8738" y="106316"/>
                </a:cubicBezTo>
                <a:cubicBezTo>
                  <a:pt x="6326" y="103107"/>
                  <a:pt x="6986" y="98533"/>
                  <a:pt x="10195" y="96121"/>
                </a:cubicBezTo>
                <a:lnTo>
                  <a:pt x="29173" y="81899"/>
                </a:lnTo>
                <a:cubicBezTo>
                  <a:pt x="29150" y="81307"/>
                  <a:pt x="29128" y="80715"/>
                  <a:pt x="29128" y="80101"/>
                </a:cubicBezTo>
                <a:lnTo>
                  <a:pt x="29128" y="72819"/>
                </a:lnTo>
                <a:lnTo>
                  <a:pt x="7282" y="72819"/>
                </a:lnTo>
                <a:cubicBezTo>
                  <a:pt x="3254" y="72819"/>
                  <a:pt x="0" y="69565"/>
                  <a:pt x="0" y="65537"/>
                </a:cubicBezTo>
                <a:cubicBezTo>
                  <a:pt x="0" y="61509"/>
                  <a:pt x="3254" y="58255"/>
                  <a:pt x="7282" y="58255"/>
                </a:cubicBezTo>
                <a:lnTo>
                  <a:pt x="29765" y="58255"/>
                </a:lnTo>
                <a:cubicBezTo>
                  <a:pt x="30334" y="55889"/>
                  <a:pt x="31244" y="53659"/>
                  <a:pt x="32450" y="51633"/>
                </a:cubicBezTo>
                <a:lnTo>
                  <a:pt x="10195" y="34953"/>
                </a:lnTo>
                <a:cubicBezTo>
                  <a:pt x="6986" y="32541"/>
                  <a:pt x="6326" y="27967"/>
                  <a:pt x="8738" y="24758"/>
                </a:cubicBezTo>
                <a:cubicBezTo>
                  <a:pt x="11150" y="21550"/>
                  <a:pt x="15724" y="20890"/>
                  <a:pt x="18933" y="23302"/>
                </a:cubicBezTo>
                <a:lnTo>
                  <a:pt x="43691" y="41871"/>
                </a:lnTo>
                <a:cubicBezTo>
                  <a:pt x="46490" y="40710"/>
                  <a:pt x="49563" y="40051"/>
                  <a:pt x="52794" y="40051"/>
                </a:cubicBezTo>
                <a:lnTo>
                  <a:pt x="78281" y="40051"/>
                </a:lnTo>
                <a:cubicBezTo>
                  <a:pt x="81512" y="40051"/>
                  <a:pt x="84584" y="40688"/>
                  <a:pt x="87383" y="41871"/>
                </a:cubicBezTo>
                <a:lnTo>
                  <a:pt x="112141" y="23302"/>
                </a:lnTo>
                <a:cubicBezTo>
                  <a:pt x="115350" y="20890"/>
                  <a:pt x="119924" y="21550"/>
                  <a:pt x="122336" y="24758"/>
                </a:cubicBezTo>
                <a:close/>
              </a:path>
            </a:pathLst>
          </a:custGeom>
          <a:solidFill>
            <a:srgbClr val="FFFFFF"/>
          </a:solidFill>
          <a:ln/>
        </p:spPr>
      </p:sp>
      <p:sp>
        <p:nvSpPr>
          <p:cNvPr id="42" name="Text 39"/>
          <p:cNvSpPr/>
          <p:nvPr/>
        </p:nvSpPr>
        <p:spPr>
          <a:xfrm>
            <a:off x="9409582" y="5758952"/>
            <a:ext cx="857185" cy="199732"/>
          </a:xfrm>
          <a:prstGeom prst="rect">
            <a:avLst/>
          </a:prstGeom>
          <a:noFill/>
          <a:ln/>
        </p:spPr>
        <p:txBody>
          <a:bodyPr wrap="square" lIns="0" tIns="0" rIns="0" bIns="0" rtlCol="0" anchor="ctr"/>
          <a:lstStyle/>
          <a:p>
            <a:pPr>
              <a:lnSpc>
                <a:spcPct val="130000"/>
              </a:lnSpc>
            </a:pPr>
            <a:r>
              <a:rPr lang="en-US" sz="1048" dirty="0">
                <a:solidFill>
                  <a:srgbClr val="F5F5F7"/>
                </a:solidFill>
                <a:latin typeface="Quattrocento Sans" pitchFamily="34" charset="0"/>
                <a:ea typeface="Quattrocento Sans" pitchFamily="34" charset="-122"/>
                <a:cs typeface="Quattrocento Sans" pitchFamily="34" charset="-120"/>
              </a:rPr>
              <a:t>Debug button</a:t>
            </a:r>
            <a:endParaRPr lang="en-US" sz="1600" dirty="0"/>
          </a:p>
        </p:txBody>
      </p:sp>
      <p:sp>
        <p:nvSpPr>
          <p:cNvPr id="43" name="Shape 40"/>
          <p:cNvSpPr/>
          <p:nvPr/>
        </p:nvSpPr>
        <p:spPr>
          <a:xfrm>
            <a:off x="6361790" y="6091839"/>
            <a:ext cx="266310" cy="266310"/>
          </a:xfrm>
          <a:prstGeom prst="roundRect">
            <a:avLst>
              <a:gd name="adj" fmla="val 25000"/>
            </a:avLst>
          </a:prstGeom>
          <a:solidFill>
            <a:srgbClr val="8E8E93"/>
          </a:solidFill>
          <a:ln/>
        </p:spPr>
      </p:sp>
      <p:sp>
        <p:nvSpPr>
          <p:cNvPr id="44" name="Shape 41"/>
          <p:cNvSpPr/>
          <p:nvPr/>
        </p:nvSpPr>
        <p:spPr>
          <a:xfrm>
            <a:off x="6438770" y="6166739"/>
            <a:ext cx="116511" cy="116511"/>
          </a:xfrm>
          <a:custGeom>
            <a:avLst/>
            <a:gdLst/>
            <a:ahLst/>
            <a:cxnLst/>
            <a:rect l="l" t="t" r="r" b="b"/>
            <a:pathLst>
              <a:path w="116511" h="116511">
                <a:moveTo>
                  <a:pt x="94665" y="47332"/>
                </a:moveTo>
                <a:cubicBezTo>
                  <a:pt x="94665" y="57777"/>
                  <a:pt x="91274" y="67426"/>
                  <a:pt x="85562" y="75254"/>
                </a:cubicBezTo>
                <a:lnTo>
                  <a:pt x="114372" y="104086"/>
                </a:lnTo>
                <a:cubicBezTo>
                  <a:pt x="117216" y="106930"/>
                  <a:pt x="117216" y="111550"/>
                  <a:pt x="114372" y="114394"/>
                </a:cubicBezTo>
                <a:cubicBezTo>
                  <a:pt x="111527" y="117239"/>
                  <a:pt x="106908" y="117239"/>
                  <a:pt x="104063" y="114394"/>
                </a:cubicBezTo>
                <a:lnTo>
                  <a:pt x="75254" y="85562"/>
                </a:lnTo>
                <a:cubicBezTo>
                  <a:pt x="67426" y="91274"/>
                  <a:pt x="57777" y="94665"/>
                  <a:pt x="47332" y="94665"/>
                </a:cubicBezTo>
                <a:cubicBezTo>
                  <a:pt x="21186" y="94665"/>
                  <a:pt x="0" y="73479"/>
                  <a:pt x="0" y="47332"/>
                </a:cubicBezTo>
                <a:cubicBezTo>
                  <a:pt x="0" y="21186"/>
                  <a:pt x="21186" y="0"/>
                  <a:pt x="47332" y="0"/>
                </a:cubicBezTo>
                <a:cubicBezTo>
                  <a:pt x="73479" y="0"/>
                  <a:pt x="94665" y="21186"/>
                  <a:pt x="94665" y="47332"/>
                </a:cubicBezTo>
                <a:close/>
                <a:moveTo>
                  <a:pt x="47332" y="80101"/>
                </a:moveTo>
                <a:cubicBezTo>
                  <a:pt x="65418" y="80101"/>
                  <a:pt x="80101" y="65418"/>
                  <a:pt x="80101" y="47332"/>
                </a:cubicBezTo>
                <a:cubicBezTo>
                  <a:pt x="80101" y="29247"/>
                  <a:pt x="65418" y="14564"/>
                  <a:pt x="47332" y="14564"/>
                </a:cubicBezTo>
                <a:cubicBezTo>
                  <a:pt x="29247" y="14564"/>
                  <a:pt x="14564" y="29247"/>
                  <a:pt x="14564" y="47332"/>
                </a:cubicBezTo>
                <a:cubicBezTo>
                  <a:pt x="14564" y="65418"/>
                  <a:pt x="29247" y="80101"/>
                  <a:pt x="47332" y="80101"/>
                </a:cubicBezTo>
                <a:close/>
              </a:path>
            </a:pathLst>
          </a:custGeom>
          <a:solidFill>
            <a:srgbClr val="FFFFFF"/>
          </a:solidFill>
          <a:ln/>
        </p:spPr>
      </p:sp>
      <p:sp>
        <p:nvSpPr>
          <p:cNvPr id="45" name="Text 42"/>
          <p:cNvSpPr/>
          <p:nvPr/>
        </p:nvSpPr>
        <p:spPr>
          <a:xfrm>
            <a:off x="6694677" y="6125128"/>
            <a:ext cx="740674" cy="199732"/>
          </a:xfrm>
          <a:prstGeom prst="rect">
            <a:avLst/>
          </a:prstGeom>
          <a:noFill/>
          <a:ln/>
        </p:spPr>
        <p:txBody>
          <a:bodyPr wrap="square" lIns="0" tIns="0" rIns="0" bIns="0" rtlCol="0" anchor="ctr"/>
          <a:lstStyle/>
          <a:p>
            <a:pPr>
              <a:lnSpc>
                <a:spcPct val="130000"/>
              </a:lnSpc>
            </a:pPr>
            <a:r>
              <a:rPr lang="en-US" sz="1048" dirty="0">
                <a:solidFill>
                  <a:srgbClr val="F5F5F7"/>
                </a:solidFill>
                <a:latin typeface="Quattrocento Sans" pitchFamily="34" charset="0"/>
                <a:ea typeface="Quattrocento Sans" pitchFamily="34" charset="-122"/>
                <a:cs typeface="Quattrocento Sans" pitchFamily="34" charset="-120"/>
              </a:rPr>
              <a:t>Search icon</a:t>
            </a:r>
            <a:endParaRPr lang="en-US" sz="1600" dirty="0"/>
          </a:p>
        </p:txBody>
      </p:sp>
      <p:sp>
        <p:nvSpPr>
          <p:cNvPr id="46" name="Shape 43"/>
          <p:cNvSpPr/>
          <p:nvPr/>
        </p:nvSpPr>
        <p:spPr>
          <a:xfrm>
            <a:off x="9076694" y="6091839"/>
            <a:ext cx="266310" cy="266310"/>
          </a:xfrm>
          <a:prstGeom prst="roundRect">
            <a:avLst>
              <a:gd name="adj" fmla="val 25000"/>
            </a:avLst>
          </a:prstGeom>
          <a:solidFill>
            <a:srgbClr val="FF9500"/>
          </a:solidFill>
          <a:ln/>
        </p:spPr>
      </p:sp>
      <p:sp>
        <p:nvSpPr>
          <p:cNvPr id="47" name="Shape 44"/>
          <p:cNvSpPr/>
          <p:nvPr/>
        </p:nvSpPr>
        <p:spPr>
          <a:xfrm>
            <a:off x="9168238" y="6166739"/>
            <a:ext cx="87383" cy="116511"/>
          </a:xfrm>
          <a:custGeom>
            <a:avLst/>
            <a:gdLst/>
            <a:ahLst/>
            <a:cxnLst/>
            <a:rect l="l" t="t" r="r" b="b"/>
            <a:pathLst>
              <a:path w="87383" h="116511">
                <a:moveTo>
                  <a:pt x="3641" y="14564"/>
                </a:moveTo>
                <a:cubicBezTo>
                  <a:pt x="3641" y="6531"/>
                  <a:pt x="10172" y="0"/>
                  <a:pt x="18205" y="0"/>
                </a:cubicBezTo>
                <a:lnTo>
                  <a:pt x="69178" y="0"/>
                </a:lnTo>
                <a:cubicBezTo>
                  <a:pt x="77211" y="0"/>
                  <a:pt x="83742" y="6531"/>
                  <a:pt x="83742" y="14564"/>
                </a:cubicBezTo>
                <a:lnTo>
                  <a:pt x="83742" y="101947"/>
                </a:lnTo>
                <a:cubicBezTo>
                  <a:pt x="83742" y="109980"/>
                  <a:pt x="77211" y="116511"/>
                  <a:pt x="69178" y="116511"/>
                </a:cubicBezTo>
                <a:lnTo>
                  <a:pt x="18205" y="116511"/>
                </a:lnTo>
                <a:cubicBezTo>
                  <a:pt x="10172" y="116511"/>
                  <a:pt x="3641" y="109980"/>
                  <a:pt x="3641" y="101947"/>
                </a:cubicBezTo>
                <a:lnTo>
                  <a:pt x="3641" y="14564"/>
                </a:lnTo>
                <a:close/>
                <a:moveTo>
                  <a:pt x="18205" y="14564"/>
                </a:moveTo>
                <a:lnTo>
                  <a:pt x="18205" y="83742"/>
                </a:lnTo>
                <a:lnTo>
                  <a:pt x="69178" y="83742"/>
                </a:lnTo>
                <a:lnTo>
                  <a:pt x="69178" y="14564"/>
                </a:lnTo>
                <a:lnTo>
                  <a:pt x="18205" y="14564"/>
                </a:lnTo>
                <a:close/>
                <a:moveTo>
                  <a:pt x="43691" y="107408"/>
                </a:moveTo>
                <a:cubicBezTo>
                  <a:pt x="47719" y="107408"/>
                  <a:pt x="50973" y="104154"/>
                  <a:pt x="50973" y="100126"/>
                </a:cubicBezTo>
                <a:cubicBezTo>
                  <a:pt x="50973" y="96098"/>
                  <a:pt x="47719" y="92844"/>
                  <a:pt x="43691" y="92844"/>
                </a:cubicBezTo>
                <a:cubicBezTo>
                  <a:pt x="39664" y="92844"/>
                  <a:pt x="36410" y="96098"/>
                  <a:pt x="36410" y="100126"/>
                </a:cubicBezTo>
                <a:cubicBezTo>
                  <a:pt x="36410" y="104154"/>
                  <a:pt x="39664" y="107408"/>
                  <a:pt x="43691" y="107408"/>
                </a:cubicBezTo>
                <a:close/>
              </a:path>
            </a:pathLst>
          </a:custGeom>
          <a:solidFill>
            <a:srgbClr val="FFFFFF"/>
          </a:solidFill>
          <a:ln/>
        </p:spPr>
      </p:sp>
      <p:sp>
        <p:nvSpPr>
          <p:cNvPr id="48" name="Text 45"/>
          <p:cNvSpPr/>
          <p:nvPr/>
        </p:nvSpPr>
        <p:spPr>
          <a:xfrm>
            <a:off x="9409582" y="6125128"/>
            <a:ext cx="998662" cy="199732"/>
          </a:xfrm>
          <a:prstGeom prst="rect">
            <a:avLst/>
          </a:prstGeom>
          <a:noFill/>
          <a:ln/>
        </p:spPr>
        <p:txBody>
          <a:bodyPr wrap="square" lIns="0" tIns="0" rIns="0" bIns="0" rtlCol="0" anchor="ctr"/>
          <a:lstStyle/>
          <a:p>
            <a:pPr>
              <a:lnSpc>
                <a:spcPct val="130000"/>
              </a:lnSpc>
            </a:pPr>
            <a:r>
              <a:rPr lang="en-US" sz="1048" dirty="0">
                <a:solidFill>
                  <a:srgbClr val="F5F5F7"/>
                </a:solidFill>
                <a:latin typeface="Quattrocento Sans" pitchFamily="34" charset="0"/>
                <a:ea typeface="Quattrocento Sans" pitchFamily="34" charset="-122"/>
                <a:cs typeface="Quattrocento Sans" pitchFamily="34" charset="-120"/>
              </a:rPr>
              <a:t>Device manager</a:t>
            </a:r>
            <a:endParaRPr lang="en-US" sz="1600" dirty="0"/>
          </a:p>
        </p:txBody>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17500" y="365125"/>
            <a:ext cx="381000" cy="381000"/>
          </a:xfrm>
          <a:prstGeom prst="roundRect">
            <a:avLst>
              <a:gd name="adj" fmla="val 25000"/>
            </a:avLst>
          </a:prstGeom>
          <a:solidFill>
            <a:srgbClr val="0A84FF"/>
          </a:solidFill>
          <a:ln/>
        </p:spPr>
      </p:sp>
      <p:sp>
        <p:nvSpPr>
          <p:cNvPr id="3" name="Text 1"/>
          <p:cNvSpPr/>
          <p:nvPr/>
        </p:nvSpPr>
        <p:spPr>
          <a:xfrm>
            <a:off x="396478" y="428625"/>
            <a:ext cx="317500" cy="254000"/>
          </a:xfrm>
          <a:prstGeom prst="rect">
            <a:avLst/>
          </a:prstGeom>
          <a:noFill/>
          <a:ln/>
        </p:spPr>
        <p:txBody>
          <a:bodyPr wrap="square" lIns="0" tIns="0" rIns="0" bIns="0" rtlCol="0" anchor="ctr"/>
          <a:lstStyle/>
          <a:p>
            <a:pPr>
              <a:lnSpc>
                <a:spcPct val="110000"/>
              </a:lnSpc>
            </a:pPr>
            <a:r>
              <a:rPr lang="en-US" sz="1500" b="1" dirty="0">
                <a:solidFill>
                  <a:srgbClr val="F5F5F7"/>
                </a:solidFill>
                <a:latin typeface="Liter" pitchFamily="34" charset="0"/>
                <a:ea typeface="Liter" pitchFamily="34" charset="-122"/>
                <a:cs typeface="Liter" pitchFamily="34" charset="-120"/>
              </a:rPr>
              <a:t>24</a:t>
            </a:r>
            <a:endParaRPr lang="en-US" sz="1600" dirty="0"/>
          </a:p>
        </p:txBody>
      </p:sp>
      <p:sp>
        <p:nvSpPr>
          <p:cNvPr id="4" name="Text 2"/>
          <p:cNvSpPr/>
          <p:nvPr/>
        </p:nvSpPr>
        <p:spPr>
          <a:xfrm>
            <a:off x="793750" y="317500"/>
            <a:ext cx="5373688" cy="158750"/>
          </a:xfrm>
          <a:prstGeom prst="rect">
            <a:avLst/>
          </a:prstGeom>
          <a:noFill/>
          <a:ln/>
        </p:spPr>
        <p:txBody>
          <a:bodyPr wrap="square" lIns="0" tIns="0" rIns="0" bIns="0" rtlCol="0" anchor="ctr"/>
          <a:lstStyle/>
          <a:p>
            <a:pPr>
              <a:lnSpc>
                <a:spcPct val="120000"/>
              </a:lnSpc>
            </a:pPr>
            <a:r>
              <a:rPr lang="en-US" sz="875" b="1" spc="44" kern="0" dirty="0">
                <a:solidFill>
                  <a:srgbClr val="0A84FF"/>
                </a:solidFill>
                <a:latin typeface="Quattrocento Sans" pitchFamily="34" charset="0"/>
                <a:ea typeface="Quattrocento Sans" pitchFamily="34" charset="-122"/>
                <a:cs typeface="Quattrocento Sans" pitchFamily="34" charset="-120"/>
              </a:rPr>
              <a:t>IDE Installation</a:t>
            </a:r>
            <a:endParaRPr lang="en-US" sz="1600" dirty="0"/>
          </a:p>
        </p:txBody>
      </p:sp>
      <p:sp>
        <p:nvSpPr>
          <p:cNvPr id="5" name="Text 3"/>
          <p:cNvSpPr/>
          <p:nvPr/>
        </p:nvSpPr>
        <p:spPr>
          <a:xfrm>
            <a:off x="793750" y="476250"/>
            <a:ext cx="5461000" cy="317500"/>
          </a:xfrm>
          <a:prstGeom prst="rect">
            <a:avLst/>
          </a:prstGeom>
          <a:noFill/>
          <a:ln/>
        </p:spPr>
        <p:txBody>
          <a:bodyPr wrap="square" lIns="0" tIns="0" rIns="0" bIns="0" rtlCol="0" anchor="ctr"/>
          <a:lstStyle/>
          <a:p>
            <a:pPr>
              <a:lnSpc>
                <a:spcPct val="90000"/>
              </a:lnSpc>
            </a:pPr>
            <a:r>
              <a:rPr lang="en-US" sz="2250" b="1" dirty="0">
                <a:solidFill>
                  <a:srgbClr val="F5F5F7"/>
                </a:solidFill>
                <a:latin typeface="Liter" pitchFamily="34" charset="0"/>
                <a:ea typeface="Liter" pitchFamily="34" charset="-122"/>
                <a:cs typeface="Liter" pitchFamily="34" charset="-120"/>
              </a:rPr>
              <a:t>Installing Xcode: Step-by-Step (Mac Only)</a:t>
            </a:r>
            <a:endParaRPr lang="en-US" sz="1600" dirty="0"/>
          </a:p>
        </p:txBody>
      </p:sp>
      <p:sp>
        <p:nvSpPr>
          <p:cNvPr id="6" name="Shape 4"/>
          <p:cNvSpPr/>
          <p:nvPr/>
        </p:nvSpPr>
        <p:spPr>
          <a:xfrm>
            <a:off x="320675" y="1050925"/>
            <a:ext cx="11547475" cy="768350"/>
          </a:xfrm>
          <a:prstGeom prst="roundRect">
            <a:avLst>
              <a:gd name="adj" fmla="val 16529"/>
            </a:avLst>
          </a:prstGeom>
          <a:solidFill>
            <a:srgbClr val="FF3B30">
              <a:alpha val="10196"/>
            </a:srgbClr>
          </a:solidFill>
          <a:ln w="10160">
            <a:solidFill>
              <a:srgbClr val="FF3B30">
                <a:alpha val="30196"/>
              </a:srgbClr>
            </a:solidFill>
            <a:prstDash val="solid"/>
          </a:ln>
        </p:spPr>
      </p:sp>
      <p:sp>
        <p:nvSpPr>
          <p:cNvPr id="7" name="Shape 5"/>
          <p:cNvSpPr/>
          <p:nvPr/>
        </p:nvSpPr>
        <p:spPr>
          <a:xfrm>
            <a:off x="482600" y="1212856"/>
            <a:ext cx="444500" cy="444500"/>
          </a:xfrm>
          <a:prstGeom prst="roundRect">
            <a:avLst>
              <a:gd name="adj" fmla="val 50000"/>
            </a:avLst>
          </a:prstGeom>
          <a:solidFill>
            <a:srgbClr val="FF3B30"/>
          </a:solidFill>
          <a:ln/>
        </p:spPr>
      </p:sp>
      <p:sp>
        <p:nvSpPr>
          <p:cNvPr id="8" name="Shape 6"/>
          <p:cNvSpPr/>
          <p:nvPr/>
        </p:nvSpPr>
        <p:spPr>
          <a:xfrm>
            <a:off x="633413" y="1339856"/>
            <a:ext cx="142875" cy="190500"/>
          </a:xfrm>
          <a:custGeom>
            <a:avLst/>
            <a:gdLst/>
            <a:ahLst/>
            <a:cxnLst/>
            <a:rect l="l" t="t" r="r" b="b"/>
            <a:pathLst>
              <a:path w="142875" h="190500">
                <a:moveTo>
                  <a:pt x="118728" y="99975"/>
                </a:moveTo>
                <a:cubicBezTo>
                  <a:pt x="118653" y="86320"/>
                  <a:pt x="124830" y="76014"/>
                  <a:pt x="137331" y="68424"/>
                </a:cubicBezTo>
                <a:cubicBezTo>
                  <a:pt x="130336" y="58415"/>
                  <a:pt x="119769" y="52908"/>
                  <a:pt x="105817" y="51829"/>
                </a:cubicBezTo>
                <a:cubicBezTo>
                  <a:pt x="92608" y="50788"/>
                  <a:pt x="78172" y="59531"/>
                  <a:pt x="72889" y="59531"/>
                </a:cubicBezTo>
                <a:cubicBezTo>
                  <a:pt x="67308" y="59531"/>
                  <a:pt x="54508" y="52201"/>
                  <a:pt x="44462" y="52201"/>
                </a:cubicBezTo>
                <a:cubicBezTo>
                  <a:pt x="23701" y="52536"/>
                  <a:pt x="1637" y="68759"/>
                  <a:pt x="1637" y="101761"/>
                </a:cubicBezTo>
                <a:cubicBezTo>
                  <a:pt x="1637" y="111509"/>
                  <a:pt x="3423" y="121593"/>
                  <a:pt x="6995" y="131973"/>
                </a:cubicBezTo>
                <a:cubicBezTo>
                  <a:pt x="11757" y="145628"/>
                  <a:pt x="28947" y="179115"/>
                  <a:pt x="46881" y="178557"/>
                </a:cubicBezTo>
                <a:cubicBezTo>
                  <a:pt x="56257" y="178333"/>
                  <a:pt x="62880" y="171896"/>
                  <a:pt x="75084" y="171896"/>
                </a:cubicBezTo>
                <a:cubicBezTo>
                  <a:pt x="86916" y="171896"/>
                  <a:pt x="93055" y="178557"/>
                  <a:pt x="103510" y="178557"/>
                </a:cubicBezTo>
                <a:cubicBezTo>
                  <a:pt x="121593" y="178296"/>
                  <a:pt x="137145" y="147861"/>
                  <a:pt x="141684" y="134169"/>
                </a:cubicBezTo>
                <a:cubicBezTo>
                  <a:pt x="117425" y="122746"/>
                  <a:pt x="118728" y="100682"/>
                  <a:pt x="118728" y="99975"/>
                </a:cubicBezTo>
                <a:close/>
                <a:moveTo>
                  <a:pt x="97668" y="38881"/>
                </a:moveTo>
                <a:cubicBezTo>
                  <a:pt x="107826" y="26826"/>
                  <a:pt x="106896" y="15850"/>
                  <a:pt x="106598" y="11906"/>
                </a:cubicBezTo>
                <a:cubicBezTo>
                  <a:pt x="97631" y="12427"/>
                  <a:pt x="87250" y="18008"/>
                  <a:pt x="81335" y="24892"/>
                </a:cubicBezTo>
                <a:cubicBezTo>
                  <a:pt x="74823" y="32258"/>
                  <a:pt x="70991" y="41374"/>
                  <a:pt x="71810" y="51643"/>
                </a:cubicBezTo>
                <a:cubicBezTo>
                  <a:pt x="81521" y="52388"/>
                  <a:pt x="90376" y="47402"/>
                  <a:pt x="97668" y="38881"/>
                </a:cubicBezTo>
                <a:close/>
              </a:path>
            </a:pathLst>
          </a:custGeom>
          <a:solidFill>
            <a:srgbClr val="FFFFFF"/>
          </a:solidFill>
          <a:ln/>
        </p:spPr>
      </p:sp>
      <p:sp>
        <p:nvSpPr>
          <p:cNvPr id="9" name="Text 7"/>
          <p:cNvSpPr/>
          <p:nvPr/>
        </p:nvSpPr>
        <p:spPr>
          <a:xfrm>
            <a:off x="1054100" y="1212856"/>
            <a:ext cx="5722938" cy="222250"/>
          </a:xfrm>
          <a:prstGeom prst="rect">
            <a:avLst/>
          </a:prstGeom>
          <a:noFill/>
          <a:ln/>
        </p:spPr>
        <p:txBody>
          <a:bodyPr wrap="square" lIns="0" tIns="0" rIns="0" bIns="0" rtlCol="0" anchor="ctr"/>
          <a:lstStyle/>
          <a:p>
            <a:pPr>
              <a:lnSpc>
                <a:spcPct val="120000"/>
              </a:lnSpc>
            </a:pPr>
            <a:r>
              <a:rPr lang="en-US" sz="1250" b="1" dirty="0">
                <a:solidFill>
                  <a:srgbClr val="FF3B30"/>
                </a:solidFill>
                <a:latin typeface="Liter" pitchFamily="34" charset="0"/>
                <a:ea typeface="Liter" pitchFamily="34" charset="-122"/>
                <a:cs typeface="Liter" pitchFamily="34" charset="-120"/>
              </a:rPr>
              <a:t>Important: Mac Only!</a:t>
            </a:r>
            <a:endParaRPr lang="en-US" sz="1600" dirty="0"/>
          </a:p>
        </p:txBody>
      </p:sp>
      <p:sp>
        <p:nvSpPr>
          <p:cNvPr id="10" name="Text 8"/>
          <p:cNvSpPr/>
          <p:nvPr/>
        </p:nvSpPr>
        <p:spPr>
          <a:xfrm>
            <a:off x="1054100" y="1466856"/>
            <a:ext cx="5707063"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Xcode only works on macOS. Windows users can skip this and use Android Studio or VS Code instead.</a:t>
            </a:r>
            <a:endParaRPr lang="en-US" sz="1600" dirty="0"/>
          </a:p>
        </p:txBody>
      </p:sp>
      <p:sp>
        <p:nvSpPr>
          <p:cNvPr id="11" name="Shape 9"/>
          <p:cNvSpPr/>
          <p:nvPr/>
        </p:nvSpPr>
        <p:spPr>
          <a:xfrm>
            <a:off x="333375" y="1949447"/>
            <a:ext cx="5699125" cy="2794000"/>
          </a:xfrm>
          <a:custGeom>
            <a:avLst/>
            <a:gdLst/>
            <a:ahLst/>
            <a:cxnLst/>
            <a:rect l="l" t="t" r="r" b="b"/>
            <a:pathLst>
              <a:path w="5699125" h="2794000">
                <a:moveTo>
                  <a:pt x="31750" y="0"/>
                </a:moveTo>
                <a:lnTo>
                  <a:pt x="5572125" y="0"/>
                </a:lnTo>
                <a:cubicBezTo>
                  <a:pt x="5642218" y="0"/>
                  <a:pt x="5699125" y="56907"/>
                  <a:pt x="5699125" y="127000"/>
                </a:cubicBezTo>
                <a:lnTo>
                  <a:pt x="5699125" y="2667000"/>
                </a:lnTo>
                <a:cubicBezTo>
                  <a:pt x="5699125" y="2737093"/>
                  <a:pt x="5642218" y="2794000"/>
                  <a:pt x="5572125" y="2794000"/>
                </a:cubicBezTo>
                <a:lnTo>
                  <a:pt x="31750" y="2794000"/>
                </a:lnTo>
                <a:cubicBezTo>
                  <a:pt x="14227" y="2794000"/>
                  <a:pt x="0" y="2779773"/>
                  <a:pt x="0" y="2762250"/>
                </a:cubicBezTo>
                <a:lnTo>
                  <a:pt x="0" y="31750"/>
                </a:lnTo>
                <a:cubicBezTo>
                  <a:pt x="0" y="14227"/>
                  <a:pt x="14227" y="0"/>
                  <a:pt x="31750" y="0"/>
                </a:cubicBezTo>
                <a:close/>
              </a:path>
            </a:pathLst>
          </a:custGeom>
          <a:solidFill>
            <a:srgbClr val="2C2C2E"/>
          </a:solidFill>
          <a:ln/>
        </p:spPr>
      </p:sp>
      <p:sp>
        <p:nvSpPr>
          <p:cNvPr id="12" name="Shape 10"/>
          <p:cNvSpPr/>
          <p:nvPr/>
        </p:nvSpPr>
        <p:spPr>
          <a:xfrm>
            <a:off x="333375" y="1949447"/>
            <a:ext cx="31750" cy="2794000"/>
          </a:xfrm>
          <a:custGeom>
            <a:avLst/>
            <a:gdLst/>
            <a:ahLst/>
            <a:cxnLst/>
            <a:rect l="l" t="t" r="r" b="b"/>
            <a:pathLst>
              <a:path w="31750" h="2794000">
                <a:moveTo>
                  <a:pt x="31750" y="0"/>
                </a:moveTo>
                <a:lnTo>
                  <a:pt x="31750" y="0"/>
                </a:lnTo>
                <a:lnTo>
                  <a:pt x="31750" y="2794000"/>
                </a:lnTo>
                <a:lnTo>
                  <a:pt x="31750" y="2794000"/>
                </a:lnTo>
                <a:cubicBezTo>
                  <a:pt x="14227" y="2794000"/>
                  <a:pt x="0" y="2779773"/>
                  <a:pt x="0" y="2762250"/>
                </a:cubicBezTo>
                <a:lnTo>
                  <a:pt x="0" y="31750"/>
                </a:lnTo>
                <a:cubicBezTo>
                  <a:pt x="0" y="14227"/>
                  <a:pt x="14227" y="0"/>
                  <a:pt x="31750" y="0"/>
                </a:cubicBezTo>
                <a:close/>
              </a:path>
            </a:pathLst>
          </a:custGeom>
          <a:solidFill>
            <a:srgbClr val="0A84FF"/>
          </a:solidFill>
          <a:ln/>
        </p:spPr>
      </p:sp>
      <p:sp>
        <p:nvSpPr>
          <p:cNvPr id="13" name="Shape 11"/>
          <p:cNvSpPr/>
          <p:nvPr/>
        </p:nvSpPr>
        <p:spPr>
          <a:xfrm>
            <a:off x="559594" y="2171697"/>
            <a:ext cx="158750" cy="158750"/>
          </a:xfrm>
          <a:custGeom>
            <a:avLst/>
            <a:gdLst/>
            <a:ahLst/>
            <a:cxnLst/>
            <a:rect l="l" t="t" r="r" b="b"/>
            <a:pathLst>
              <a:path w="158750" h="158750">
                <a:moveTo>
                  <a:pt x="0" y="22324"/>
                </a:moveTo>
                <a:cubicBezTo>
                  <a:pt x="0" y="18231"/>
                  <a:pt x="3318" y="14883"/>
                  <a:pt x="7441" y="14883"/>
                </a:cubicBezTo>
                <a:lnTo>
                  <a:pt x="22324" y="14883"/>
                </a:lnTo>
                <a:cubicBezTo>
                  <a:pt x="26448" y="14883"/>
                  <a:pt x="29766" y="18200"/>
                  <a:pt x="29766" y="22324"/>
                </a:cubicBezTo>
                <a:lnTo>
                  <a:pt x="29766" y="54570"/>
                </a:lnTo>
                <a:lnTo>
                  <a:pt x="37207" y="54570"/>
                </a:lnTo>
                <a:cubicBezTo>
                  <a:pt x="41331" y="54570"/>
                  <a:pt x="44648" y="57888"/>
                  <a:pt x="44648" y="62012"/>
                </a:cubicBezTo>
                <a:cubicBezTo>
                  <a:pt x="44648" y="66135"/>
                  <a:pt x="41331" y="69453"/>
                  <a:pt x="37207" y="69453"/>
                </a:cubicBezTo>
                <a:lnTo>
                  <a:pt x="7441" y="69453"/>
                </a:lnTo>
                <a:cubicBezTo>
                  <a:pt x="3318" y="69453"/>
                  <a:pt x="0" y="66135"/>
                  <a:pt x="0" y="62012"/>
                </a:cubicBezTo>
                <a:cubicBezTo>
                  <a:pt x="0" y="57888"/>
                  <a:pt x="3318" y="54570"/>
                  <a:pt x="7441" y="54570"/>
                </a:cubicBezTo>
                <a:lnTo>
                  <a:pt x="14883" y="54570"/>
                </a:lnTo>
                <a:lnTo>
                  <a:pt x="14883" y="29766"/>
                </a:lnTo>
                <a:lnTo>
                  <a:pt x="7441" y="29766"/>
                </a:lnTo>
                <a:cubicBezTo>
                  <a:pt x="3318" y="29766"/>
                  <a:pt x="0" y="26448"/>
                  <a:pt x="0" y="22324"/>
                </a:cubicBezTo>
                <a:close/>
                <a:moveTo>
                  <a:pt x="9426" y="93390"/>
                </a:moveTo>
                <a:cubicBezTo>
                  <a:pt x="12960" y="90723"/>
                  <a:pt x="17270" y="89297"/>
                  <a:pt x="21704" y="89297"/>
                </a:cubicBezTo>
                <a:lnTo>
                  <a:pt x="23223" y="89297"/>
                </a:lnTo>
                <a:cubicBezTo>
                  <a:pt x="33672" y="89297"/>
                  <a:pt x="42168" y="97792"/>
                  <a:pt x="42168" y="108241"/>
                </a:cubicBezTo>
                <a:cubicBezTo>
                  <a:pt x="42168" y="114319"/>
                  <a:pt x="39253" y="119993"/>
                  <a:pt x="34354" y="123558"/>
                </a:cubicBezTo>
                <a:lnTo>
                  <a:pt x="26913" y="128984"/>
                </a:lnTo>
                <a:lnTo>
                  <a:pt x="37207" y="128984"/>
                </a:lnTo>
                <a:cubicBezTo>
                  <a:pt x="41331" y="128984"/>
                  <a:pt x="44648" y="132302"/>
                  <a:pt x="44648" y="136426"/>
                </a:cubicBezTo>
                <a:cubicBezTo>
                  <a:pt x="44648" y="140550"/>
                  <a:pt x="41331" y="143867"/>
                  <a:pt x="37207" y="143867"/>
                </a:cubicBezTo>
                <a:lnTo>
                  <a:pt x="9085" y="143867"/>
                </a:lnTo>
                <a:cubicBezTo>
                  <a:pt x="4062" y="143867"/>
                  <a:pt x="0" y="139805"/>
                  <a:pt x="0" y="134782"/>
                </a:cubicBezTo>
                <a:cubicBezTo>
                  <a:pt x="0" y="131868"/>
                  <a:pt x="1395" y="129139"/>
                  <a:pt x="3752" y="127434"/>
                </a:cubicBezTo>
                <a:lnTo>
                  <a:pt x="25611" y="111528"/>
                </a:lnTo>
                <a:cubicBezTo>
                  <a:pt x="26665" y="110753"/>
                  <a:pt x="27285" y="109544"/>
                  <a:pt x="27285" y="108241"/>
                </a:cubicBezTo>
                <a:cubicBezTo>
                  <a:pt x="27285" y="106009"/>
                  <a:pt x="25456" y="104180"/>
                  <a:pt x="23223" y="104180"/>
                </a:cubicBezTo>
                <a:lnTo>
                  <a:pt x="21704" y="104180"/>
                </a:lnTo>
                <a:cubicBezTo>
                  <a:pt x="20495" y="104180"/>
                  <a:pt x="19317" y="104583"/>
                  <a:pt x="18355" y="105296"/>
                </a:cubicBezTo>
                <a:lnTo>
                  <a:pt x="11906" y="110133"/>
                </a:lnTo>
                <a:cubicBezTo>
                  <a:pt x="8620" y="112613"/>
                  <a:pt x="3969" y="111931"/>
                  <a:pt x="1488" y="108645"/>
                </a:cubicBezTo>
                <a:cubicBezTo>
                  <a:pt x="-992" y="105358"/>
                  <a:pt x="-310" y="100707"/>
                  <a:pt x="2977" y="98227"/>
                </a:cubicBezTo>
                <a:lnTo>
                  <a:pt x="9426" y="93390"/>
                </a:lnTo>
                <a:close/>
                <a:moveTo>
                  <a:pt x="69453" y="19844"/>
                </a:moveTo>
                <a:lnTo>
                  <a:pt x="148828" y="19844"/>
                </a:lnTo>
                <a:cubicBezTo>
                  <a:pt x="154316" y="19844"/>
                  <a:pt x="158750" y="24278"/>
                  <a:pt x="158750" y="29766"/>
                </a:cubicBezTo>
                <a:cubicBezTo>
                  <a:pt x="158750" y="35254"/>
                  <a:pt x="154316" y="39688"/>
                  <a:pt x="148828" y="39688"/>
                </a:cubicBezTo>
                <a:lnTo>
                  <a:pt x="69453" y="39688"/>
                </a:lnTo>
                <a:cubicBezTo>
                  <a:pt x="63965" y="39688"/>
                  <a:pt x="59531" y="35254"/>
                  <a:pt x="59531" y="29766"/>
                </a:cubicBezTo>
                <a:cubicBezTo>
                  <a:pt x="59531" y="24278"/>
                  <a:pt x="63965" y="19844"/>
                  <a:pt x="69453" y="19844"/>
                </a:cubicBezTo>
                <a:close/>
                <a:moveTo>
                  <a:pt x="69453" y="69453"/>
                </a:moveTo>
                <a:lnTo>
                  <a:pt x="148828" y="69453"/>
                </a:lnTo>
                <a:cubicBezTo>
                  <a:pt x="154316" y="69453"/>
                  <a:pt x="158750" y="73887"/>
                  <a:pt x="158750" y="79375"/>
                </a:cubicBezTo>
                <a:cubicBezTo>
                  <a:pt x="158750" y="84863"/>
                  <a:pt x="154316" y="89297"/>
                  <a:pt x="148828" y="89297"/>
                </a:cubicBezTo>
                <a:lnTo>
                  <a:pt x="69453" y="89297"/>
                </a:lnTo>
                <a:cubicBezTo>
                  <a:pt x="63965" y="89297"/>
                  <a:pt x="59531" y="84863"/>
                  <a:pt x="59531" y="79375"/>
                </a:cubicBezTo>
                <a:cubicBezTo>
                  <a:pt x="59531" y="73887"/>
                  <a:pt x="63965" y="69453"/>
                  <a:pt x="69453" y="69453"/>
                </a:cubicBezTo>
                <a:close/>
                <a:moveTo>
                  <a:pt x="69453" y="119062"/>
                </a:moveTo>
                <a:lnTo>
                  <a:pt x="148828" y="119062"/>
                </a:lnTo>
                <a:cubicBezTo>
                  <a:pt x="154316" y="119062"/>
                  <a:pt x="158750" y="123496"/>
                  <a:pt x="158750" y="128984"/>
                </a:cubicBezTo>
                <a:cubicBezTo>
                  <a:pt x="158750" y="134472"/>
                  <a:pt x="154316" y="138906"/>
                  <a:pt x="148828" y="138906"/>
                </a:cubicBezTo>
                <a:lnTo>
                  <a:pt x="69453" y="138906"/>
                </a:lnTo>
                <a:cubicBezTo>
                  <a:pt x="63965" y="138906"/>
                  <a:pt x="59531" y="134472"/>
                  <a:pt x="59531" y="128984"/>
                </a:cubicBezTo>
                <a:cubicBezTo>
                  <a:pt x="59531" y="123496"/>
                  <a:pt x="63965" y="119062"/>
                  <a:pt x="69453" y="119062"/>
                </a:cubicBezTo>
                <a:close/>
              </a:path>
            </a:pathLst>
          </a:custGeom>
          <a:solidFill>
            <a:srgbClr val="0A84FF"/>
          </a:solidFill>
          <a:ln/>
        </p:spPr>
      </p:sp>
      <p:sp>
        <p:nvSpPr>
          <p:cNvPr id="14" name="Text 12"/>
          <p:cNvSpPr/>
          <p:nvPr/>
        </p:nvSpPr>
        <p:spPr>
          <a:xfrm>
            <a:off x="738188" y="2139947"/>
            <a:ext cx="5183188" cy="222250"/>
          </a:xfrm>
          <a:prstGeom prst="rect">
            <a:avLst/>
          </a:prstGeom>
          <a:noFill/>
          <a:ln/>
        </p:spPr>
        <p:txBody>
          <a:bodyPr wrap="square" lIns="0" tIns="0" rIns="0" bIns="0" rtlCol="0" anchor="ctr"/>
          <a:lstStyle/>
          <a:p>
            <a:pPr>
              <a:lnSpc>
                <a:spcPct val="120000"/>
              </a:lnSpc>
            </a:pPr>
            <a:r>
              <a:rPr lang="en-US" sz="1250" b="1" dirty="0">
                <a:solidFill>
                  <a:srgbClr val="0A84FF"/>
                </a:solidFill>
                <a:latin typeface="Liter" pitchFamily="34" charset="0"/>
                <a:ea typeface="Liter" pitchFamily="34" charset="-122"/>
                <a:cs typeface="Liter" pitchFamily="34" charset="-120"/>
              </a:rPr>
              <a:t>Installation Steps</a:t>
            </a:r>
            <a:endParaRPr lang="en-US" sz="1600" dirty="0"/>
          </a:p>
        </p:txBody>
      </p:sp>
      <p:sp>
        <p:nvSpPr>
          <p:cNvPr id="15" name="Shape 13"/>
          <p:cNvSpPr/>
          <p:nvPr/>
        </p:nvSpPr>
        <p:spPr>
          <a:xfrm>
            <a:off x="539750" y="2489197"/>
            <a:ext cx="317500" cy="317500"/>
          </a:xfrm>
          <a:prstGeom prst="roundRect">
            <a:avLst>
              <a:gd name="adj" fmla="val 50000"/>
            </a:avLst>
          </a:prstGeom>
          <a:solidFill>
            <a:srgbClr val="0A84FF"/>
          </a:solidFill>
          <a:ln/>
        </p:spPr>
      </p:sp>
      <p:sp>
        <p:nvSpPr>
          <p:cNvPr id="16" name="Text 14"/>
          <p:cNvSpPr/>
          <p:nvPr/>
        </p:nvSpPr>
        <p:spPr>
          <a:xfrm>
            <a:off x="669925" y="2536822"/>
            <a:ext cx="127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1</a:t>
            </a:r>
            <a:endParaRPr lang="en-US" sz="1600" dirty="0"/>
          </a:p>
        </p:txBody>
      </p:sp>
      <p:sp>
        <p:nvSpPr>
          <p:cNvPr id="17" name="Text 15"/>
          <p:cNvSpPr/>
          <p:nvPr/>
        </p:nvSpPr>
        <p:spPr>
          <a:xfrm>
            <a:off x="952500" y="2489197"/>
            <a:ext cx="1651000" cy="222250"/>
          </a:xfrm>
          <a:prstGeom prst="rect">
            <a:avLst/>
          </a:prstGeom>
          <a:noFill/>
          <a:ln/>
        </p:spPr>
        <p:txBody>
          <a:bodyPr wrap="square" lIns="0" tIns="0" rIns="0" bIns="0" rtlCol="0" anchor="ctr"/>
          <a:lstStyle/>
          <a:p>
            <a:pPr>
              <a:lnSpc>
                <a:spcPct val="130000"/>
              </a:lnSpc>
            </a:pPr>
            <a:r>
              <a:rPr lang="en-US" sz="1125" b="1" dirty="0">
                <a:solidFill>
                  <a:srgbClr val="0A84FF"/>
                </a:solidFill>
                <a:latin typeface="Liter" pitchFamily="34" charset="0"/>
                <a:ea typeface="Liter" pitchFamily="34" charset="-122"/>
                <a:cs typeface="Liter" pitchFamily="34" charset="-120"/>
              </a:rPr>
              <a:t>Check macOS Version</a:t>
            </a:r>
            <a:endParaRPr lang="en-US" sz="1600" dirty="0"/>
          </a:p>
        </p:txBody>
      </p:sp>
      <p:sp>
        <p:nvSpPr>
          <p:cNvPr id="18" name="Text 16"/>
          <p:cNvSpPr/>
          <p:nvPr/>
        </p:nvSpPr>
        <p:spPr>
          <a:xfrm>
            <a:off x="952500" y="2743197"/>
            <a:ext cx="1643063"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Requires macOS 12.0 or later</a:t>
            </a:r>
            <a:endParaRPr lang="en-US" sz="1600" dirty="0"/>
          </a:p>
        </p:txBody>
      </p:sp>
      <p:sp>
        <p:nvSpPr>
          <p:cNvPr id="19" name="Shape 17"/>
          <p:cNvSpPr/>
          <p:nvPr/>
        </p:nvSpPr>
        <p:spPr>
          <a:xfrm>
            <a:off x="539750" y="3028947"/>
            <a:ext cx="317500" cy="317500"/>
          </a:xfrm>
          <a:prstGeom prst="roundRect">
            <a:avLst>
              <a:gd name="adj" fmla="val 50000"/>
            </a:avLst>
          </a:prstGeom>
          <a:solidFill>
            <a:srgbClr val="34C759"/>
          </a:solidFill>
          <a:ln/>
        </p:spPr>
      </p:sp>
      <p:sp>
        <p:nvSpPr>
          <p:cNvPr id="20" name="Text 18"/>
          <p:cNvSpPr/>
          <p:nvPr/>
        </p:nvSpPr>
        <p:spPr>
          <a:xfrm>
            <a:off x="656927" y="3076572"/>
            <a:ext cx="150813" cy="222250"/>
          </a:xfrm>
          <a:prstGeom prst="rect">
            <a:avLst/>
          </a:prstGeom>
          <a:noFill/>
          <a:ln/>
        </p:spPr>
        <p:txBody>
          <a:bodyPr wrap="square" lIns="0" tIns="0" rIns="0" bIns="0" rtlCol="0" anchor="ctr"/>
          <a:lstStyle/>
          <a:p>
            <a:pPr>
              <a:lnSpc>
                <a:spcPct val="130000"/>
              </a:lnSpc>
            </a:pPr>
            <a:r>
              <a:rPr lang="en-US" sz="1125" b="1" dirty="0">
                <a:solidFill>
                  <a:srgbClr val="1D1D1F"/>
                </a:solidFill>
                <a:latin typeface="Liter" pitchFamily="34" charset="0"/>
                <a:ea typeface="Liter" pitchFamily="34" charset="-122"/>
                <a:cs typeface="Liter" pitchFamily="34" charset="-120"/>
              </a:rPr>
              <a:t>2</a:t>
            </a:r>
            <a:endParaRPr lang="en-US" sz="1600" dirty="0"/>
          </a:p>
        </p:txBody>
      </p:sp>
      <p:sp>
        <p:nvSpPr>
          <p:cNvPr id="21" name="Text 19"/>
          <p:cNvSpPr/>
          <p:nvPr/>
        </p:nvSpPr>
        <p:spPr>
          <a:xfrm>
            <a:off x="952500" y="3028947"/>
            <a:ext cx="1928813" cy="222250"/>
          </a:xfrm>
          <a:prstGeom prst="rect">
            <a:avLst/>
          </a:prstGeom>
          <a:noFill/>
          <a:ln/>
        </p:spPr>
        <p:txBody>
          <a:bodyPr wrap="square" lIns="0" tIns="0" rIns="0" bIns="0" rtlCol="0" anchor="ctr"/>
          <a:lstStyle/>
          <a:p>
            <a:pPr>
              <a:lnSpc>
                <a:spcPct val="130000"/>
              </a:lnSpc>
            </a:pPr>
            <a:r>
              <a:rPr lang="en-US" sz="1125" b="1" dirty="0">
                <a:solidFill>
                  <a:srgbClr val="34C759"/>
                </a:solidFill>
                <a:latin typeface="Liter" pitchFamily="34" charset="0"/>
                <a:ea typeface="Liter" pitchFamily="34" charset="-122"/>
                <a:cs typeface="Liter" pitchFamily="34" charset="-120"/>
              </a:rPr>
              <a:t>Open App Store</a:t>
            </a:r>
            <a:endParaRPr lang="en-US" sz="1600" dirty="0"/>
          </a:p>
        </p:txBody>
      </p:sp>
      <p:sp>
        <p:nvSpPr>
          <p:cNvPr id="22" name="Text 20"/>
          <p:cNvSpPr/>
          <p:nvPr/>
        </p:nvSpPr>
        <p:spPr>
          <a:xfrm>
            <a:off x="952500" y="3282947"/>
            <a:ext cx="1920875"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Search for "Xcode" and click "Get"</a:t>
            </a:r>
            <a:endParaRPr lang="en-US" sz="1600" dirty="0"/>
          </a:p>
        </p:txBody>
      </p:sp>
      <p:sp>
        <p:nvSpPr>
          <p:cNvPr id="23" name="Shape 21"/>
          <p:cNvSpPr/>
          <p:nvPr/>
        </p:nvSpPr>
        <p:spPr>
          <a:xfrm>
            <a:off x="539750" y="3568697"/>
            <a:ext cx="317500" cy="317500"/>
          </a:xfrm>
          <a:prstGeom prst="roundRect">
            <a:avLst>
              <a:gd name="adj" fmla="val 50000"/>
            </a:avLst>
          </a:prstGeom>
          <a:solidFill>
            <a:srgbClr val="8E8E93"/>
          </a:solidFill>
          <a:ln/>
        </p:spPr>
      </p:sp>
      <p:sp>
        <p:nvSpPr>
          <p:cNvPr id="24" name="Text 22"/>
          <p:cNvSpPr/>
          <p:nvPr/>
        </p:nvSpPr>
        <p:spPr>
          <a:xfrm>
            <a:off x="656332" y="3616322"/>
            <a:ext cx="1587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3</a:t>
            </a:r>
            <a:endParaRPr lang="en-US" sz="1600" dirty="0"/>
          </a:p>
        </p:txBody>
      </p:sp>
      <p:sp>
        <p:nvSpPr>
          <p:cNvPr id="25" name="Text 23"/>
          <p:cNvSpPr/>
          <p:nvPr/>
        </p:nvSpPr>
        <p:spPr>
          <a:xfrm>
            <a:off x="952500" y="3568697"/>
            <a:ext cx="2444750" cy="222250"/>
          </a:xfrm>
          <a:prstGeom prst="rect">
            <a:avLst/>
          </a:prstGeom>
          <a:noFill/>
          <a:ln/>
        </p:spPr>
        <p:txBody>
          <a:bodyPr wrap="square" lIns="0" tIns="0" rIns="0" bIns="0" rtlCol="0" anchor="ctr"/>
          <a:lstStyle/>
          <a:p>
            <a:pPr>
              <a:lnSpc>
                <a:spcPct val="130000"/>
              </a:lnSpc>
            </a:pPr>
            <a:r>
              <a:rPr lang="en-US" sz="1125" b="1" dirty="0">
                <a:solidFill>
                  <a:srgbClr val="8E8E93"/>
                </a:solidFill>
                <a:latin typeface="Liter" pitchFamily="34" charset="0"/>
                <a:ea typeface="Liter" pitchFamily="34" charset="-122"/>
                <a:cs typeface="Liter" pitchFamily="34" charset="-120"/>
              </a:rPr>
              <a:t>Wait for Download</a:t>
            </a:r>
            <a:endParaRPr lang="en-US" sz="1600" dirty="0"/>
          </a:p>
        </p:txBody>
      </p:sp>
      <p:sp>
        <p:nvSpPr>
          <p:cNvPr id="26" name="Text 24"/>
          <p:cNvSpPr/>
          <p:nvPr/>
        </p:nvSpPr>
        <p:spPr>
          <a:xfrm>
            <a:off x="952500" y="3822697"/>
            <a:ext cx="2436813"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Large file (10GB+), may take 30-60 minutes</a:t>
            </a:r>
            <a:endParaRPr lang="en-US" sz="1600" dirty="0"/>
          </a:p>
        </p:txBody>
      </p:sp>
      <p:sp>
        <p:nvSpPr>
          <p:cNvPr id="27" name="Shape 25"/>
          <p:cNvSpPr/>
          <p:nvPr/>
        </p:nvSpPr>
        <p:spPr>
          <a:xfrm>
            <a:off x="539750" y="4108447"/>
            <a:ext cx="317500" cy="317500"/>
          </a:xfrm>
          <a:prstGeom prst="roundRect">
            <a:avLst>
              <a:gd name="adj" fmla="val 50000"/>
            </a:avLst>
          </a:prstGeom>
          <a:solidFill>
            <a:srgbClr val="FF9500"/>
          </a:solidFill>
          <a:ln/>
        </p:spPr>
      </p:sp>
      <p:sp>
        <p:nvSpPr>
          <p:cNvPr id="28" name="Text 26"/>
          <p:cNvSpPr/>
          <p:nvPr/>
        </p:nvSpPr>
        <p:spPr>
          <a:xfrm>
            <a:off x="656332" y="4156072"/>
            <a:ext cx="1587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4</a:t>
            </a:r>
            <a:endParaRPr lang="en-US" sz="1600" dirty="0"/>
          </a:p>
        </p:txBody>
      </p:sp>
      <p:sp>
        <p:nvSpPr>
          <p:cNvPr id="29" name="Text 27"/>
          <p:cNvSpPr/>
          <p:nvPr/>
        </p:nvSpPr>
        <p:spPr>
          <a:xfrm>
            <a:off x="952500" y="4108447"/>
            <a:ext cx="2635250" cy="222250"/>
          </a:xfrm>
          <a:prstGeom prst="rect">
            <a:avLst/>
          </a:prstGeom>
          <a:noFill/>
          <a:ln/>
        </p:spPr>
        <p:txBody>
          <a:bodyPr wrap="square" lIns="0" tIns="0" rIns="0" bIns="0" rtlCol="0" anchor="ctr"/>
          <a:lstStyle/>
          <a:p>
            <a:pPr>
              <a:lnSpc>
                <a:spcPct val="130000"/>
              </a:lnSpc>
            </a:pPr>
            <a:r>
              <a:rPr lang="en-US" sz="1125" b="1" dirty="0">
                <a:solidFill>
                  <a:srgbClr val="FF9500"/>
                </a:solidFill>
                <a:latin typeface="Liter" pitchFamily="34" charset="0"/>
                <a:ea typeface="Liter" pitchFamily="34" charset="-122"/>
                <a:cs typeface="Liter" pitchFamily="34" charset="-120"/>
              </a:rPr>
              <a:t>First Launch</a:t>
            </a:r>
            <a:endParaRPr lang="en-US" sz="1600" dirty="0"/>
          </a:p>
        </p:txBody>
      </p:sp>
      <p:sp>
        <p:nvSpPr>
          <p:cNvPr id="30" name="Text 28"/>
          <p:cNvSpPr/>
          <p:nvPr/>
        </p:nvSpPr>
        <p:spPr>
          <a:xfrm>
            <a:off x="952500" y="4362447"/>
            <a:ext cx="2627313"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Open Xcode and install additional components</a:t>
            </a:r>
            <a:endParaRPr lang="en-US" sz="1600" dirty="0"/>
          </a:p>
        </p:txBody>
      </p:sp>
      <p:sp>
        <p:nvSpPr>
          <p:cNvPr id="31" name="Shape 29"/>
          <p:cNvSpPr/>
          <p:nvPr/>
        </p:nvSpPr>
        <p:spPr>
          <a:xfrm>
            <a:off x="320675" y="4873622"/>
            <a:ext cx="5705475" cy="1054100"/>
          </a:xfrm>
          <a:prstGeom prst="roundRect">
            <a:avLst>
              <a:gd name="adj" fmla="val 12048"/>
            </a:avLst>
          </a:prstGeom>
          <a:solidFill>
            <a:srgbClr val="0A84FF">
              <a:alpha val="10196"/>
            </a:srgbClr>
          </a:solidFill>
          <a:ln w="10160">
            <a:solidFill>
              <a:srgbClr val="0A84FF">
                <a:alpha val="30196"/>
              </a:srgbClr>
            </a:solidFill>
            <a:prstDash val="solid"/>
          </a:ln>
        </p:spPr>
      </p:sp>
      <p:sp>
        <p:nvSpPr>
          <p:cNvPr id="32" name="Shape 30"/>
          <p:cNvSpPr/>
          <p:nvPr/>
        </p:nvSpPr>
        <p:spPr>
          <a:xfrm>
            <a:off x="502444" y="5075241"/>
            <a:ext cx="142875" cy="142875"/>
          </a:xfrm>
          <a:custGeom>
            <a:avLst/>
            <a:gdLst/>
            <a:ahLst/>
            <a:cxnLst/>
            <a:rect l="l" t="t" r="r" b="b"/>
            <a:pathLst>
              <a:path w="142875" h="142875">
                <a:moveTo>
                  <a:pt x="71438" y="133945"/>
                </a:moveTo>
                <a:cubicBezTo>
                  <a:pt x="110896" y="133945"/>
                  <a:pt x="142875" y="103947"/>
                  <a:pt x="142875" y="66973"/>
                </a:cubicBezTo>
                <a:cubicBezTo>
                  <a:pt x="142875" y="29998"/>
                  <a:pt x="110896" y="0"/>
                  <a:pt x="71438" y="0"/>
                </a:cubicBezTo>
                <a:cubicBezTo>
                  <a:pt x="31979" y="0"/>
                  <a:pt x="0" y="29998"/>
                  <a:pt x="0" y="66973"/>
                </a:cubicBezTo>
                <a:cubicBezTo>
                  <a:pt x="0" y="82125"/>
                  <a:pt x="5358" y="96078"/>
                  <a:pt x="14399" y="107296"/>
                </a:cubicBezTo>
                <a:lnTo>
                  <a:pt x="781" y="133052"/>
                </a:lnTo>
                <a:cubicBezTo>
                  <a:pt x="-558" y="135564"/>
                  <a:pt x="-140" y="138633"/>
                  <a:pt x="1786" y="140726"/>
                </a:cubicBezTo>
                <a:cubicBezTo>
                  <a:pt x="3711" y="142819"/>
                  <a:pt x="6753" y="143461"/>
                  <a:pt x="9348" y="142345"/>
                </a:cubicBezTo>
                <a:lnTo>
                  <a:pt x="42388" y="128197"/>
                </a:lnTo>
                <a:cubicBezTo>
                  <a:pt x="51262" y="131880"/>
                  <a:pt x="61085" y="133945"/>
                  <a:pt x="71438" y="133945"/>
                </a:cubicBezTo>
                <a:close/>
                <a:moveTo>
                  <a:pt x="35719" y="58043"/>
                </a:moveTo>
                <a:cubicBezTo>
                  <a:pt x="40647" y="58043"/>
                  <a:pt x="44648" y="62044"/>
                  <a:pt x="44648" y="66973"/>
                </a:cubicBezTo>
                <a:cubicBezTo>
                  <a:pt x="44648" y="71901"/>
                  <a:pt x="40647" y="75902"/>
                  <a:pt x="35719" y="75902"/>
                </a:cubicBezTo>
                <a:cubicBezTo>
                  <a:pt x="30790" y="75902"/>
                  <a:pt x="26789" y="71901"/>
                  <a:pt x="26789" y="66973"/>
                </a:cubicBezTo>
                <a:cubicBezTo>
                  <a:pt x="26789" y="62044"/>
                  <a:pt x="30790" y="58043"/>
                  <a:pt x="35719" y="58043"/>
                </a:cubicBezTo>
                <a:close/>
                <a:moveTo>
                  <a:pt x="71438" y="58043"/>
                </a:moveTo>
                <a:cubicBezTo>
                  <a:pt x="76366" y="58043"/>
                  <a:pt x="80367" y="62044"/>
                  <a:pt x="80367" y="66973"/>
                </a:cubicBezTo>
                <a:cubicBezTo>
                  <a:pt x="80367" y="71901"/>
                  <a:pt x="76366" y="75902"/>
                  <a:pt x="71438" y="75902"/>
                </a:cubicBezTo>
                <a:cubicBezTo>
                  <a:pt x="66509" y="75902"/>
                  <a:pt x="62508" y="71901"/>
                  <a:pt x="62508" y="66973"/>
                </a:cubicBezTo>
                <a:cubicBezTo>
                  <a:pt x="62508" y="62044"/>
                  <a:pt x="66509" y="58043"/>
                  <a:pt x="71438" y="58043"/>
                </a:cubicBezTo>
                <a:close/>
                <a:moveTo>
                  <a:pt x="98227" y="66973"/>
                </a:moveTo>
                <a:cubicBezTo>
                  <a:pt x="98227" y="62044"/>
                  <a:pt x="102228" y="58043"/>
                  <a:pt x="107156" y="58043"/>
                </a:cubicBezTo>
                <a:cubicBezTo>
                  <a:pt x="112085" y="58043"/>
                  <a:pt x="116086" y="62044"/>
                  <a:pt x="116086" y="66973"/>
                </a:cubicBezTo>
                <a:cubicBezTo>
                  <a:pt x="116086" y="71901"/>
                  <a:pt x="112085" y="75902"/>
                  <a:pt x="107156" y="75902"/>
                </a:cubicBezTo>
                <a:cubicBezTo>
                  <a:pt x="102228" y="75902"/>
                  <a:pt x="98227" y="71901"/>
                  <a:pt x="98227" y="66973"/>
                </a:cubicBezTo>
                <a:close/>
              </a:path>
            </a:pathLst>
          </a:custGeom>
          <a:solidFill>
            <a:srgbClr val="0A84FF"/>
          </a:solidFill>
          <a:ln/>
        </p:spPr>
      </p:sp>
      <p:sp>
        <p:nvSpPr>
          <p:cNvPr id="33" name="Text 31"/>
          <p:cNvSpPr/>
          <p:nvPr/>
        </p:nvSpPr>
        <p:spPr>
          <a:xfrm>
            <a:off x="665162" y="5035553"/>
            <a:ext cx="5270500" cy="222250"/>
          </a:xfrm>
          <a:prstGeom prst="rect">
            <a:avLst/>
          </a:prstGeom>
          <a:noFill/>
          <a:ln/>
        </p:spPr>
        <p:txBody>
          <a:bodyPr wrap="square" lIns="0" tIns="0" rIns="0" bIns="0" rtlCol="0" anchor="ctr"/>
          <a:lstStyle/>
          <a:p>
            <a:pPr>
              <a:lnSpc>
                <a:spcPct val="130000"/>
              </a:lnSpc>
            </a:pPr>
            <a:r>
              <a:rPr lang="en-US" sz="1125"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34" name="Text 32"/>
          <p:cNvSpPr/>
          <p:nvPr/>
        </p:nvSpPr>
        <p:spPr>
          <a:xfrm>
            <a:off x="482600" y="5353053"/>
            <a:ext cx="5445125" cy="412750"/>
          </a:xfrm>
          <a:prstGeom prst="rect">
            <a:avLst/>
          </a:prstGeom>
          <a:noFill/>
          <a:ln/>
        </p:spPr>
        <p:txBody>
          <a:bodyPr wrap="square" lIns="0" tIns="0" rIns="0" bIns="0" rtlCol="0" anchor="ctr"/>
          <a:lstStyle/>
          <a:p>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Installing Xcode is like </a:t>
            </a:r>
            <a:pPr>
              <a:lnSpc>
                <a:spcPct val="140000"/>
              </a:lnSpc>
            </a:pPr>
            <a:r>
              <a:rPr lang="en-US" sz="1000" b="1" dirty="0">
                <a:solidFill>
                  <a:srgbClr val="0A84FF"/>
                </a:solidFill>
                <a:latin typeface="Quattrocento Sans" pitchFamily="34" charset="0"/>
                <a:ea typeface="Quattrocento Sans" pitchFamily="34" charset="-122"/>
                <a:cs typeface="Quattrocento Sans" pitchFamily="34" charset="-120"/>
              </a:rPr>
              <a:t>downloading a large game</a:t>
            </a:r>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 from the App Store. It takes time because it includes everything you need to build iOS apps – simulators, tools, and documentation.</a:t>
            </a:r>
            <a:endParaRPr lang="en-US" sz="1600" dirty="0"/>
          </a:p>
        </p:txBody>
      </p:sp>
      <p:sp>
        <p:nvSpPr>
          <p:cNvPr id="35" name="Shape 33"/>
          <p:cNvSpPr/>
          <p:nvPr/>
        </p:nvSpPr>
        <p:spPr>
          <a:xfrm>
            <a:off x="6175375" y="1949447"/>
            <a:ext cx="5699125" cy="2778125"/>
          </a:xfrm>
          <a:custGeom>
            <a:avLst/>
            <a:gdLst/>
            <a:ahLst/>
            <a:cxnLst/>
            <a:rect l="l" t="t" r="r" b="b"/>
            <a:pathLst>
              <a:path w="5699125" h="2778125">
                <a:moveTo>
                  <a:pt x="31750" y="0"/>
                </a:moveTo>
                <a:lnTo>
                  <a:pt x="5572125" y="0"/>
                </a:lnTo>
                <a:cubicBezTo>
                  <a:pt x="5642218" y="0"/>
                  <a:pt x="5699125" y="56907"/>
                  <a:pt x="5699125" y="127000"/>
                </a:cubicBezTo>
                <a:lnTo>
                  <a:pt x="5699125" y="2651125"/>
                </a:lnTo>
                <a:cubicBezTo>
                  <a:pt x="5699125" y="2721218"/>
                  <a:pt x="5642218" y="2778125"/>
                  <a:pt x="5572125" y="2778125"/>
                </a:cubicBezTo>
                <a:lnTo>
                  <a:pt x="31750" y="2778125"/>
                </a:lnTo>
                <a:cubicBezTo>
                  <a:pt x="14227" y="2778125"/>
                  <a:pt x="0" y="2763898"/>
                  <a:pt x="0" y="2746375"/>
                </a:cubicBezTo>
                <a:lnTo>
                  <a:pt x="0" y="31750"/>
                </a:lnTo>
                <a:cubicBezTo>
                  <a:pt x="0" y="14227"/>
                  <a:pt x="14227" y="0"/>
                  <a:pt x="31750" y="0"/>
                </a:cubicBezTo>
                <a:close/>
              </a:path>
            </a:pathLst>
          </a:custGeom>
          <a:solidFill>
            <a:srgbClr val="2C2C2E"/>
          </a:solidFill>
          <a:ln/>
        </p:spPr>
      </p:sp>
      <p:sp>
        <p:nvSpPr>
          <p:cNvPr id="36" name="Shape 34"/>
          <p:cNvSpPr/>
          <p:nvPr/>
        </p:nvSpPr>
        <p:spPr>
          <a:xfrm>
            <a:off x="6175375" y="1949447"/>
            <a:ext cx="31750" cy="2778125"/>
          </a:xfrm>
          <a:custGeom>
            <a:avLst/>
            <a:gdLst/>
            <a:ahLst/>
            <a:cxnLst/>
            <a:rect l="l" t="t" r="r" b="b"/>
            <a:pathLst>
              <a:path w="31750" h="2778125">
                <a:moveTo>
                  <a:pt x="31750" y="0"/>
                </a:moveTo>
                <a:lnTo>
                  <a:pt x="31750" y="0"/>
                </a:lnTo>
                <a:lnTo>
                  <a:pt x="31750" y="2778125"/>
                </a:lnTo>
                <a:lnTo>
                  <a:pt x="31750" y="2778125"/>
                </a:lnTo>
                <a:cubicBezTo>
                  <a:pt x="14227" y="2778125"/>
                  <a:pt x="0" y="2763898"/>
                  <a:pt x="0" y="2746375"/>
                </a:cubicBezTo>
                <a:lnTo>
                  <a:pt x="0" y="31750"/>
                </a:lnTo>
                <a:cubicBezTo>
                  <a:pt x="0" y="14227"/>
                  <a:pt x="14227" y="0"/>
                  <a:pt x="31750" y="0"/>
                </a:cubicBezTo>
                <a:close/>
              </a:path>
            </a:pathLst>
          </a:custGeom>
          <a:solidFill>
            <a:srgbClr val="FF3B30"/>
          </a:solidFill>
          <a:ln/>
        </p:spPr>
      </p:sp>
      <p:sp>
        <p:nvSpPr>
          <p:cNvPr id="37" name="Shape 35"/>
          <p:cNvSpPr/>
          <p:nvPr/>
        </p:nvSpPr>
        <p:spPr>
          <a:xfrm>
            <a:off x="6401594" y="2171697"/>
            <a:ext cx="158750" cy="158750"/>
          </a:xfrm>
          <a:custGeom>
            <a:avLst/>
            <a:gdLst/>
            <a:ahLst/>
            <a:cxnLst/>
            <a:rect l="l" t="t" r="r" b="b"/>
            <a:pathLst>
              <a:path w="158750" h="158750">
                <a:moveTo>
                  <a:pt x="79375" y="0"/>
                </a:moveTo>
                <a:cubicBezTo>
                  <a:pt x="83933" y="0"/>
                  <a:pt x="88119" y="2511"/>
                  <a:pt x="90289" y="6511"/>
                </a:cubicBezTo>
                <a:lnTo>
                  <a:pt x="157262" y="130535"/>
                </a:lnTo>
                <a:cubicBezTo>
                  <a:pt x="159339" y="134379"/>
                  <a:pt x="159246" y="139030"/>
                  <a:pt x="157014" y="142782"/>
                </a:cubicBezTo>
                <a:cubicBezTo>
                  <a:pt x="154781" y="146534"/>
                  <a:pt x="150719" y="148828"/>
                  <a:pt x="146348" y="148828"/>
                </a:cubicBezTo>
                <a:lnTo>
                  <a:pt x="12402" y="148828"/>
                </a:lnTo>
                <a:cubicBezTo>
                  <a:pt x="8031" y="148828"/>
                  <a:pt x="4000" y="146534"/>
                  <a:pt x="1736" y="142782"/>
                </a:cubicBezTo>
                <a:cubicBezTo>
                  <a:pt x="-527" y="139030"/>
                  <a:pt x="-589" y="134379"/>
                  <a:pt x="1488" y="130535"/>
                </a:cubicBezTo>
                <a:lnTo>
                  <a:pt x="68461" y="6511"/>
                </a:lnTo>
                <a:cubicBezTo>
                  <a:pt x="70631" y="2511"/>
                  <a:pt x="74817" y="0"/>
                  <a:pt x="79375" y="0"/>
                </a:cubicBezTo>
                <a:close/>
                <a:moveTo>
                  <a:pt x="79375" y="52090"/>
                </a:moveTo>
                <a:cubicBezTo>
                  <a:pt x="75251" y="52090"/>
                  <a:pt x="71934" y="55407"/>
                  <a:pt x="71934" y="59531"/>
                </a:cubicBezTo>
                <a:lnTo>
                  <a:pt x="71934" y="94258"/>
                </a:lnTo>
                <a:cubicBezTo>
                  <a:pt x="71934" y="98382"/>
                  <a:pt x="75251" y="101699"/>
                  <a:pt x="79375" y="101699"/>
                </a:cubicBezTo>
                <a:cubicBezTo>
                  <a:pt x="83499" y="101699"/>
                  <a:pt x="86816" y="98382"/>
                  <a:pt x="86816" y="94258"/>
                </a:cubicBezTo>
                <a:lnTo>
                  <a:pt x="86816" y="59531"/>
                </a:lnTo>
                <a:cubicBezTo>
                  <a:pt x="86816" y="55407"/>
                  <a:pt x="83499" y="52090"/>
                  <a:pt x="79375" y="52090"/>
                </a:cubicBezTo>
                <a:close/>
                <a:moveTo>
                  <a:pt x="87654" y="119062"/>
                </a:moveTo>
                <a:cubicBezTo>
                  <a:pt x="87842" y="115990"/>
                  <a:pt x="86309" y="113066"/>
                  <a:pt x="83675" y="111473"/>
                </a:cubicBezTo>
                <a:cubicBezTo>
                  <a:pt x="81041" y="109879"/>
                  <a:pt x="77740" y="109879"/>
                  <a:pt x="75106" y="111473"/>
                </a:cubicBezTo>
                <a:cubicBezTo>
                  <a:pt x="72472" y="113066"/>
                  <a:pt x="70939" y="115990"/>
                  <a:pt x="71127" y="119062"/>
                </a:cubicBezTo>
                <a:cubicBezTo>
                  <a:pt x="70939" y="122135"/>
                  <a:pt x="72472" y="125059"/>
                  <a:pt x="75106" y="126652"/>
                </a:cubicBezTo>
                <a:cubicBezTo>
                  <a:pt x="77740" y="128246"/>
                  <a:pt x="81041" y="128246"/>
                  <a:pt x="83675" y="126652"/>
                </a:cubicBezTo>
                <a:cubicBezTo>
                  <a:pt x="86309" y="125059"/>
                  <a:pt x="87842" y="122135"/>
                  <a:pt x="87654" y="119062"/>
                </a:cubicBezTo>
                <a:close/>
              </a:path>
            </a:pathLst>
          </a:custGeom>
          <a:solidFill>
            <a:srgbClr val="FF3B30"/>
          </a:solidFill>
          <a:ln/>
        </p:spPr>
      </p:sp>
      <p:sp>
        <p:nvSpPr>
          <p:cNvPr id="38" name="Text 36"/>
          <p:cNvSpPr/>
          <p:nvPr/>
        </p:nvSpPr>
        <p:spPr>
          <a:xfrm>
            <a:off x="6580188" y="2139947"/>
            <a:ext cx="5183188" cy="222250"/>
          </a:xfrm>
          <a:prstGeom prst="rect">
            <a:avLst/>
          </a:prstGeom>
          <a:noFill/>
          <a:ln/>
        </p:spPr>
        <p:txBody>
          <a:bodyPr wrap="square" lIns="0" tIns="0" rIns="0" bIns="0" rtlCol="0" anchor="ctr"/>
          <a:lstStyle/>
          <a:p>
            <a:pPr>
              <a:lnSpc>
                <a:spcPct val="120000"/>
              </a:lnSpc>
            </a:pPr>
            <a:r>
              <a:rPr lang="en-US" sz="1250" b="1" dirty="0">
                <a:solidFill>
                  <a:srgbClr val="FF3B30"/>
                </a:solidFill>
                <a:latin typeface="Liter" pitchFamily="34" charset="0"/>
                <a:ea typeface="Liter" pitchFamily="34" charset="-122"/>
                <a:cs typeface="Liter" pitchFamily="34" charset="-120"/>
              </a:rPr>
              <a:t>Common Issues</a:t>
            </a:r>
            <a:endParaRPr lang="en-US" sz="1600" dirty="0"/>
          </a:p>
        </p:txBody>
      </p:sp>
      <p:sp>
        <p:nvSpPr>
          <p:cNvPr id="39" name="Shape 37"/>
          <p:cNvSpPr/>
          <p:nvPr/>
        </p:nvSpPr>
        <p:spPr>
          <a:xfrm>
            <a:off x="6381750" y="2489197"/>
            <a:ext cx="5302250" cy="571500"/>
          </a:xfrm>
          <a:prstGeom prst="roundRect">
            <a:avLst>
              <a:gd name="adj" fmla="val 11111"/>
            </a:avLst>
          </a:prstGeom>
          <a:solidFill>
            <a:srgbClr val="1A1D21"/>
          </a:solidFill>
          <a:ln/>
        </p:spPr>
      </p:sp>
      <p:sp>
        <p:nvSpPr>
          <p:cNvPr id="40" name="Text 38"/>
          <p:cNvSpPr/>
          <p:nvPr/>
        </p:nvSpPr>
        <p:spPr>
          <a:xfrm>
            <a:off x="6477000" y="2584447"/>
            <a:ext cx="5175250" cy="190500"/>
          </a:xfrm>
          <a:prstGeom prst="rect">
            <a:avLst/>
          </a:prstGeom>
          <a:noFill/>
          <a:ln/>
        </p:spPr>
        <p:txBody>
          <a:bodyPr wrap="square" lIns="0" tIns="0" rIns="0" bIns="0" rtlCol="0" anchor="ctr"/>
          <a:lstStyle/>
          <a:p>
            <a:pPr>
              <a:lnSpc>
                <a:spcPct val="130000"/>
              </a:lnSpc>
            </a:pPr>
            <a:r>
              <a:rPr lang="en-US" sz="1000" b="1" dirty="0">
                <a:solidFill>
                  <a:srgbClr val="FF3B30"/>
                </a:solidFill>
                <a:latin typeface="Quattrocento Sans" pitchFamily="34" charset="0"/>
                <a:ea typeface="Quattrocento Sans" pitchFamily="34" charset="-122"/>
                <a:cs typeface="Quattrocento Sans" pitchFamily="34" charset="-120"/>
              </a:rPr>
              <a:t>Issue:</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"Not enough space"</a:t>
            </a:r>
            <a:endParaRPr lang="en-US" sz="1600" dirty="0"/>
          </a:p>
        </p:txBody>
      </p:sp>
      <p:sp>
        <p:nvSpPr>
          <p:cNvPr id="41" name="Text 39"/>
          <p:cNvSpPr/>
          <p:nvPr/>
        </p:nvSpPr>
        <p:spPr>
          <a:xfrm>
            <a:off x="6477000" y="2774947"/>
            <a:ext cx="5175250"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Fix:</a:t>
            </a:r>
            <a:pPr>
              <a:lnSpc>
                <a:spcPct val="130000"/>
              </a:lnSpc>
            </a:pPr>
            <a:r>
              <a:rPr lang="en-US" sz="1000" dirty="0">
                <a:solidFill>
                  <a:srgbClr val="8E8E93"/>
                </a:solidFill>
                <a:latin typeface="Quattrocento Sans" pitchFamily="34" charset="0"/>
                <a:ea typeface="Quattrocento Sans" pitchFamily="34" charset="-122"/>
                <a:cs typeface="Quattrocento Sans" pitchFamily="34" charset="-120"/>
              </a:rPr>
              <a:t> Need 40GB+ free space</a:t>
            </a:r>
            <a:endParaRPr lang="en-US" sz="1600" dirty="0"/>
          </a:p>
        </p:txBody>
      </p:sp>
      <p:sp>
        <p:nvSpPr>
          <p:cNvPr id="42" name="Shape 40"/>
          <p:cNvSpPr/>
          <p:nvPr/>
        </p:nvSpPr>
        <p:spPr>
          <a:xfrm>
            <a:off x="6381750" y="3155947"/>
            <a:ext cx="5302250" cy="571500"/>
          </a:xfrm>
          <a:prstGeom prst="roundRect">
            <a:avLst>
              <a:gd name="adj" fmla="val 11111"/>
            </a:avLst>
          </a:prstGeom>
          <a:solidFill>
            <a:srgbClr val="1A1D21"/>
          </a:solidFill>
          <a:ln/>
        </p:spPr>
      </p:sp>
      <p:sp>
        <p:nvSpPr>
          <p:cNvPr id="43" name="Text 41"/>
          <p:cNvSpPr/>
          <p:nvPr/>
        </p:nvSpPr>
        <p:spPr>
          <a:xfrm>
            <a:off x="6477000" y="3251197"/>
            <a:ext cx="5175250" cy="190500"/>
          </a:xfrm>
          <a:prstGeom prst="rect">
            <a:avLst/>
          </a:prstGeom>
          <a:noFill/>
          <a:ln/>
        </p:spPr>
        <p:txBody>
          <a:bodyPr wrap="square" lIns="0" tIns="0" rIns="0" bIns="0" rtlCol="0" anchor="ctr"/>
          <a:lstStyle/>
          <a:p>
            <a:pPr>
              <a:lnSpc>
                <a:spcPct val="130000"/>
              </a:lnSpc>
            </a:pPr>
            <a:r>
              <a:rPr lang="en-US" sz="1000" b="1" dirty="0">
                <a:solidFill>
                  <a:srgbClr val="FF3B30"/>
                </a:solidFill>
                <a:latin typeface="Quattrocento Sans" pitchFamily="34" charset="0"/>
                <a:ea typeface="Quattrocento Sans" pitchFamily="34" charset="-122"/>
                <a:cs typeface="Quattrocento Sans" pitchFamily="34" charset="-120"/>
              </a:rPr>
              <a:t>Issue:</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Download very slow</a:t>
            </a:r>
            <a:endParaRPr lang="en-US" sz="1600" dirty="0"/>
          </a:p>
        </p:txBody>
      </p:sp>
      <p:sp>
        <p:nvSpPr>
          <p:cNvPr id="44" name="Text 42"/>
          <p:cNvSpPr/>
          <p:nvPr/>
        </p:nvSpPr>
        <p:spPr>
          <a:xfrm>
            <a:off x="6477000" y="3441697"/>
            <a:ext cx="5175250"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Fix:</a:t>
            </a:r>
            <a:pPr>
              <a:lnSpc>
                <a:spcPct val="130000"/>
              </a:lnSpc>
            </a:pPr>
            <a:r>
              <a:rPr lang="en-US" sz="1000" dirty="0">
                <a:solidFill>
                  <a:srgbClr val="8E8E93"/>
                </a:solidFill>
                <a:latin typeface="Quattrocento Sans" pitchFamily="34" charset="0"/>
                <a:ea typeface="Quattrocento Sans" pitchFamily="34" charset="-122"/>
                <a:cs typeface="Quattrocento Sans" pitchFamily="34" charset="-120"/>
              </a:rPr>
              <a:t> Use stable Wi-Fi, download overnight</a:t>
            </a:r>
            <a:endParaRPr lang="en-US" sz="1600" dirty="0"/>
          </a:p>
        </p:txBody>
      </p:sp>
      <p:sp>
        <p:nvSpPr>
          <p:cNvPr id="45" name="Shape 43"/>
          <p:cNvSpPr/>
          <p:nvPr/>
        </p:nvSpPr>
        <p:spPr>
          <a:xfrm>
            <a:off x="6381750" y="3822697"/>
            <a:ext cx="5302250" cy="571500"/>
          </a:xfrm>
          <a:prstGeom prst="roundRect">
            <a:avLst>
              <a:gd name="adj" fmla="val 11111"/>
            </a:avLst>
          </a:prstGeom>
          <a:solidFill>
            <a:srgbClr val="1A1D21"/>
          </a:solidFill>
          <a:ln/>
        </p:spPr>
      </p:sp>
      <p:sp>
        <p:nvSpPr>
          <p:cNvPr id="46" name="Text 44"/>
          <p:cNvSpPr/>
          <p:nvPr/>
        </p:nvSpPr>
        <p:spPr>
          <a:xfrm>
            <a:off x="6477000" y="3917947"/>
            <a:ext cx="5175250" cy="190500"/>
          </a:xfrm>
          <a:prstGeom prst="rect">
            <a:avLst/>
          </a:prstGeom>
          <a:noFill/>
          <a:ln/>
        </p:spPr>
        <p:txBody>
          <a:bodyPr wrap="square" lIns="0" tIns="0" rIns="0" bIns="0" rtlCol="0" anchor="ctr"/>
          <a:lstStyle/>
          <a:p>
            <a:pPr>
              <a:lnSpc>
                <a:spcPct val="130000"/>
              </a:lnSpc>
            </a:pPr>
            <a:r>
              <a:rPr lang="en-US" sz="1000" b="1" dirty="0">
                <a:solidFill>
                  <a:srgbClr val="FF3B30"/>
                </a:solidFill>
                <a:latin typeface="Quattrocento Sans" pitchFamily="34" charset="0"/>
                <a:ea typeface="Quattrocento Sans" pitchFamily="34" charset="-122"/>
                <a:cs typeface="Quattrocento Sans" pitchFamily="34" charset="-120"/>
              </a:rPr>
              <a:t>Issue:</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"macOS version too old"</a:t>
            </a:r>
            <a:endParaRPr lang="en-US" sz="1600" dirty="0"/>
          </a:p>
        </p:txBody>
      </p:sp>
      <p:sp>
        <p:nvSpPr>
          <p:cNvPr id="47" name="Text 45"/>
          <p:cNvSpPr/>
          <p:nvPr/>
        </p:nvSpPr>
        <p:spPr>
          <a:xfrm>
            <a:off x="6477000" y="4108447"/>
            <a:ext cx="5175250"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Fix:</a:t>
            </a:r>
            <a:pPr>
              <a:lnSpc>
                <a:spcPct val="130000"/>
              </a:lnSpc>
            </a:pPr>
            <a:r>
              <a:rPr lang="en-US" sz="1000" dirty="0">
                <a:solidFill>
                  <a:srgbClr val="8E8E93"/>
                </a:solidFill>
                <a:latin typeface="Quattrocento Sans" pitchFamily="34" charset="0"/>
                <a:ea typeface="Quattrocento Sans" pitchFamily="34" charset="-122"/>
                <a:cs typeface="Quattrocento Sans" pitchFamily="34" charset="-120"/>
              </a:rPr>
              <a:t> Update macOS first</a:t>
            </a:r>
            <a:endParaRPr lang="en-US" sz="1600" dirty="0"/>
          </a:p>
        </p:txBody>
      </p:sp>
      <p:sp>
        <p:nvSpPr>
          <p:cNvPr id="48" name="Shape 46"/>
          <p:cNvSpPr/>
          <p:nvPr/>
        </p:nvSpPr>
        <p:spPr>
          <a:xfrm>
            <a:off x="6159500" y="4851409"/>
            <a:ext cx="5715000" cy="1079500"/>
          </a:xfrm>
          <a:prstGeom prst="roundRect">
            <a:avLst>
              <a:gd name="adj" fmla="val 11765"/>
            </a:avLst>
          </a:prstGeom>
          <a:solidFill>
            <a:srgbClr val="2C2C2E"/>
          </a:solidFill>
          <a:ln/>
        </p:spPr>
      </p:sp>
      <p:sp>
        <p:nvSpPr>
          <p:cNvPr id="49" name="Shape 47"/>
          <p:cNvSpPr/>
          <p:nvPr/>
        </p:nvSpPr>
        <p:spPr>
          <a:xfrm>
            <a:off x="6347023" y="5049847"/>
            <a:ext cx="125016" cy="142875"/>
          </a:xfrm>
          <a:custGeom>
            <a:avLst/>
            <a:gdLst/>
            <a:ahLst/>
            <a:cxnLst/>
            <a:rect l="l" t="t" r="r" b="b"/>
            <a:pathLst>
              <a:path w="125016" h="142875">
                <a:moveTo>
                  <a:pt x="17859" y="8930"/>
                </a:moveTo>
                <a:cubicBezTo>
                  <a:pt x="8009" y="8930"/>
                  <a:pt x="0" y="16939"/>
                  <a:pt x="0" y="26789"/>
                </a:cubicBezTo>
                <a:lnTo>
                  <a:pt x="0" y="116086"/>
                </a:lnTo>
                <a:cubicBezTo>
                  <a:pt x="0" y="125936"/>
                  <a:pt x="8009" y="133945"/>
                  <a:pt x="17859" y="133945"/>
                </a:cubicBezTo>
                <a:lnTo>
                  <a:pt x="107156" y="133945"/>
                </a:lnTo>
                <a:cubicBezTo>
                  <a:pt x="117007" y="133945"/>
                  <a:pt x="125016" y="125936"/>
                  <a:pt x="125016" y="116086"/>
                </a:cubicBezTo>
                <a:lnTo>
                  <a:pt x="125016" y="26789"/>
                </a:lnTo>
                <a:cubicBezTo>
                  <a:pt x="125016" y="16939"/>
                  <a:pt x="117007" y="8930"/>
                  <a:pt x="107156" y="8930"/>
                </a:cubicBezTo>
                <a:lnTo>
                  <a:pt x="17859" y="8930"/>
                </a:lnTo>
                <a:close/>
                <a:moveTo>
                  <a:pt x="35719" y="31254"/>
                </a:moveTo>
                <a:cubicBezTo>
                  <a:pt x="43111" y="31254"/>
                  <a:pt x="49113" y="37256"/>
                  <a:pt x="49113" y="44648"/>
                </a:cubicBezTo>
                <a:cubicBezTo>
                  <a:pt x="49113" y="52041"/>
                  <a:pt x="43111" y="58043"/>
                  <a:pt x="35719" y="58043"/>
                </a:cubicBezTo>
                <a:cubicBezTo>
                  <a:pt x="28326" y="58043"/>
                  <a:pt x="22324" y="52041"/>
                  <a:pt x="22324" y="44648"/>
                </a:cubicBezTo>
                <a:cubicBezTo>
                  <a:pt x="22324" y="37256"/>
                  <a:pt x="28326" y="31254"/>
                  <a:pt x="35719" y="31254"/>
                </a:cubicBezTo>
                <a:close/>
                <a:moveTo>
                  <a:pt x="75902" y="62508"/>
                </a:moveTo>
                <a:cubicBezTo>
                  <a:pt x="78246" y="62508"/>
                  <a:pt x="80395" y="63736"/>
                  <a:pt x="81623" y="65717"/>
                </a:cubicBezTo>
                <a:lnTo>
                  <a:pt x="106180" y="105901"/>
                </a:lnTo>
                <a:cubicBezTo>
                  <a:pt x="107435" y="107966"/>
                  <a:pt x="107491" y="110561"/>
                  <a:pt x="106319" y="112681"/>
                </a:cubicBezTo>
                <a:cubicBezTo>
                  <a:pt x="105147" y="114802"/>
                  <a:pt x="102887" y="116086"/>
                  <a:pt x="100459" y="116086"/>
                </a:cubicBezTo>
                <a:lnTo>
                  <a:pt x="24557" y="116086"/>
                </a:lnTo>
                <a:cubicBezTo>
                  <a:pt x="22073" y="116086"/>
                  <a:pt x="19757" y="114691"/>
                  <a:pt x="18613" y="112486"/>
                </a:cubicBezTo>
                <a:cubicBezTo>
                  <a:pt x="17469" y="110282"/>
                  <a:pt x="17636" y="107603"/>
                  <a:pt x="19059" y="105566"/>
                </a:cubicBezTo>
                <a:lnTo>
                  <a:pt x="34686" y="83241"/>
                </a:lnTo>
                <a:cubicBezTo>
                  <a:pt x="35942" y="81455"/>
                  <a:pt x="37979" y="80395"/>
                  <a:pt x="40184" y="80395"/>
                </a:cubicBezTo>
                <a:cubicBezTo>
                  <a:pt x="42388" y="80395"/>
                  <a:pt x="44425" y="81455"/>
                  <a:pt x="45681" y="83241"/>
                </a:cubicBezTo>
                <a:lnTo>
                  <a:pt x="53048" y="93790"/>
                </a:lnTo>
                <a:lnTo>
                  <a:pt x="70182" y="65745"/>
                </a:lnTo>
                <a:cubicBezTo>
                  <a:pt x="71410" y="63764"/>
                  <a:pt x="73558" y="62536"/>
                  <a:pt x="75902" y="62536"/>
                </a:cubicBezTo>
                <a:close/>
              </a:path>
            </a:pathLst>
          </a:custGeom>
          <a:solidFill>
            <a:srgbClr val="34C759"/>
          </a:solidFill>
          <a:ln/>
        </p:spPr>
      </p:sp>
      <p:sp>
        <p:nvSpPr>
          <p:cNvPr id="50" name="Text 48"/>
          <p:cNvSpPr/>
          <p:nvPr/>
        </p:nvSpPr>
        <p:spPr>
          <a:xfrm>
            <a:off x="6500813" y="5010159"/>
            <a:ext cx="5286375" cy="222250"/>
          </a:xfrm>
          <a:prstGeom prst="rect">
            <a:avLst/>
          </a:prstGeom>
          <a:noFill/>
          <a:ln/>
        </p:spPr>
        <p:txBody>
          <a:bodyPr wrap="square" lIns="0" tIns="0" rIns="0" bIns="0" rtlCol="0" anchor="ctr"/>
          <a:lstStyle/>
          <a:p>
            <a:pPr>
              <a:lnSpc>
                <a:spcPct val="130000"/>
              </a:lnSpc>
            </a:pPr>
            <a:r>
              <a:rPr lang="en-US" sz="1125" b="1" dirty="0">
                <a:solidFill>
                  <a:srgbClr val="34C759"/>
                </a:solidFill>
                <a:latin typeface="Liter" pitchFamily="34" charset="0"/>
                <a:ea typeface="Liter" pitchFamily="34" charset="-122"/>
                <a:cs typeface="Liter" pitchFamily="34" charset="-120"/>
              </a:rPr>
              <a:t>Visual Suggestion</a:t>
            </a:r>
            <a:endParaRPr lang="en-US" sz="1600" dirty="0"/>
          </a:p>
        </p:txBody>
      </p:sp>
      <p:sp>
        <p:nvSpPr>
          <p:cNvPr id="51" name="Shape 49"/>
          <p:cNvSpPr/>
          <p:nvPr/>
        </p:nvSpPr>
        <p:spPr>
          <a:xfrm>
            <a:off x="6334125" y="5359409"/>
            <a:ext cx="127000" cy="127000"/>
          </a:xfrm>
          <a:custGeom>
            <a:avLst/>
            <a:gdLst/>
            <a:ahLst/>
            <a:cxnLst/>
            <a:rect l="l" t="t" r="r" b="b"/>
            <a:pathLst>
              <a:path w="127000" h="127000">
                <a:moveTo>
                  <a:pt x="0" y="19844"/>
                </a:moveTo>
                <a:cubicBezTo>
                  <a:pt x="0" y="13271"/>
                  <a:pt x="5333" y="7938"/>
                  <a:pt x="11906" y="7938"/>
                </a:cubicBezTo>
                <a:lnTo>
                  <a:pt x="35719" y="7938"/>
                </a:lnTo>
                <a:cubicBezTo>
                  <a:pt x="42292" y="7938"/>
                  <a:pt x="47625" y="13271"/>
                  <a:pt x="47625" y="19844"/>
                </a:cubicBezTo>
                <a:lnTo>
                  <a:pt x="47625" y="23812"/>
                </a:lnTo>
                <a:lnTo>
                  <a:pt x="79375" y="23812"/>
                </a:lnTo>
                <a:lnTo>
                  <a:pt x="79375" y="19844"/>
                </a:lnTo>
                <a:cubicBezTo>
                  <a:pt x="79375" y="13271"/>
                  <a:pt x="84708" y="7938"/>
                  <a:pt x="91281" y="7938"/>
                </a:cubicBezTo>
                <a:lnTo>
                  <a:pt x="115094" y="7938"/>
                </a:lnTo>
                <a:cubicBezTo>
                  <a:pt x="121667" y="7938"/>
                  <a:pt x="127000" y="13271"/>
                  <a:pt x="127000" y="19844"/>
                </a:cubicBezTo>
                <a:lnTo>
                  <a:pt x="127000" y="43656"/>
                </a:lnTo>
                <a:cubicBezTo>
                  <a:pt x="127000" y="50229"/>
                  <a:pt x="121667" y="55563"/>
                  <a:pt x="115094" y="55563"/>
                </a:cubicBezTo>
                <a:lnTo>
                  <a:pt x="91281" y="55563"/>
                </a:lnTo>
                <a:cubicBezTo>
                  <a:pt x="84708" y="55563"/>
                  <a:pt x="79375" y="50229"/>
                  <a:pt x="79375" y="43656"/>
                </a:cubicBezTo>
                <a:lnTo>
                  <a:pt x="79375" y="39688"/>
                </a:lnTo>
                <a:lnTo>
                  <a:pt x="47625" y="39688"/>
                </a:lnTo>
                <a:lnTo>
                  <a:pt x="47625" y="43656"/>
                </a:lnTo>
                <a:cubicBezTo>
                  <a:pt x="47625" y="45467"/>
                  <a:pt x="47203" y="47203"/>
                  <a:pt x="46484" y="48741"/>
                </a:cubicBezTo>
                <a:lnTo>
                  <a:pt x="63500" y="71438"/>
                </a:lnTo>
                <a:lnTo>
                  <a:pt x="83344" y="71438"/>
                </a:lnTo>
                <a:cubicBezTo>
                  <a:pt x="89917" y="71438"/>
                  <a:pt x="95250" y="76771"/>
                  <a:pt x="95250" y="83344"/>
                </a:cubicBezTo>
                <a:lnTo>
                  <a:pt x="95250" y="107156"/>
                </a:lnTo>
                <a:cubicBezTo>
                  <a:pt x="95250" y="113729"/>
                  <a:pt x="89917" y="119063"/>
                  <a:pt x="83344" y="119063"/>
                </a:cubicBezTo>
                <a:lnTo>
                  <a:pt x="59531" y="119063"/>
                </a:lnTo>
                <a:cubicBezTo>
                  <a:pt x="52958" y="119063"/>
                  <a:pt x="47625" y="113729"/>
                  <a:pt x="47625" y="107156"/>
                </a:cubicBezTo>
                <a:lnTo>
                  <a:pt x="47625" y="83344"/>
                </a:lnTo>
                <a:cubicBezTo>
                  <a:pt x="47625" y="81533"/>
                  <a:pt x="48047" y="79797"/>
                  <a:pt x="48766" y="78259"/>
                </a:cubicBezTo>
                <a:lnTo>
                  <a:pt x="31750" y="55563"/>
                </a:lnTo>
                <a:lnTo>
                  <a:pt x="11906" y="55563"/>
                </a:lnTo>
                <a:cubicBezTo>
                  <a:pt x="5333" y="55563"/>
                  <a:pt x="0" y="50229"/>
                  <a:pt x="0" y="43656"/>
                </a:cubicBezTo>
                <a:lnTo>
                  <a:pt x="0" y="19844"/>
                </a:lnTo>
                <a:close/>
              </a:path>
            </a:pathLst>
          </a:custGeom>
          <a:solidFill>
            <a:srgbClr val="0A84FF"/>
          </a:solidFill>
          <a:ln/>
        </p:spPr>
      </p:sp>
      <p:sp>
        <p:nvSpPr>
          <p:cNvPr id="52" name="Text 50"/>
          <p:cNvSpPr/>
          <p:nvPr/>
        </p:nvSpPr>
        <p:spPr>
          <a:xfrm>
            <a:off x="6540500" y="5327659"/>
            <a:ext cx="2119313" cy="190500"/>
          </a:xfrm>
          <a:prstGeom prst="rect">
            <a:avLst/>
          </a:prstGeom>
          <a:noFill/>
          <a:ln/>
        </p:spPr>
        <p:txBody>
          <a:bodyPr wrap="square" lIns="0" tIns="0" rIns="0" bIns="0" rtlCol="0" anchor="ctr"/>
          <a:lstStyle/>
          <a:p>
            <a:pP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Xcode installation flowchart</a:t>
            </a:r>
            <a:endParaRPr lang="en-US" sz="1600" dirty="0"/>
          </a:p>
        </p:txBody>
      </p:sp>
      <p:sp>
        <p:nvSpPr>
          <p:cNvPr id="53" name="Shape 51"/>
          <p:cNvSpPr/>
          <p:nvPr/>
        </p:nvSpPr>
        <p:spPr>
          <a:xfrm>
            <a:off x="6342063" y="5613409"/>
            <a:ext cx="111125" cy="127000"/>
          </a:xfrm>
          <a:custGeom>
            <a:avLst/>
            <a:gdLst/>
            <a:ahLst/>
            <a:cxnLst/>
            <a:rect l="l" t="t" r="r" b="b"/>
            <a:pathLst>
              <a:path w="111125" h="127000">
                <a:moveTo>
                  <a:pt x="15875" y="7938"/>
                </a:moveTo>
                <a:cubicBezTo>
                  <a:pt x="7119" y="7938"/>
                  <a:pt x="0" y="15056"/>
                  <a:pt x="0" y="23812"/>
                </a:cubicBezTo>
                <a:lnTo>
                  <a:pt x="0" y="103188"/>
                </a:lnTo>
                <a:cubicBezTo>
                  <a:pt x="0" y="111944"/>
                  <a:pt x="7119" y="119063"/>
                  <a:pt x="15875" y="119063"/>
                </a:cubicBezTo>
                <a:lnTo>
                  <a:pt x="95250" y="119063"/>
                </a:lnTo>
                <a:cubicBezTo>
                  <a:pt x="104006" y="119063"/>
                  <a:pt x="111125" y="111944"/>
                  <a:pt x="111125" y="103188"/>
                </a:cubicBezTo>
                <a:lnTo>
                  <a:pt x="111125" y="23812"/>
                </a:lnTo>
                <a:cubicBezTo>
                  <a:pt x="111125" y="15056"/>
                  <a:pt x="104006" y="7938"/>
                  <a:pt x="95250" y="7938"/>
                </a:cubicBezTo>
                <a:lnTo>
                  <a:pt x="15875" y="7938"/>
                </a:lnTo>
                <a:close/>
                <a:moveTo>
                  <a:pt x="31750" y="27781"/>
                </a:moveTo>
                <a:cubicBezTo>
                  <a:pt x="38321" y="27781"/>
                  <a:pt x="43656" y="33116"/>
                  <a:pt x="43656" y="39688"/>
                </a:cubicBezTo>
                <a:cubicBezTo>
                  <a:pt x="43656" y="46259"/>
                  <a:pt x="38321" y="51594"/>
                  <a:pt x="31750" y="51594"/>
                </a:cubicBezTo>
                <a:cubicBezTo>
                  <a:pt x="25179" y="51594"/>
                  <a:pt x="19844" y="46259"/>
                  <a:pt x="19844" y="39688"/>
                </a:cubicBezTo>
                <a:cubicBezTo>
                  <a:pt x="19844" y="33116"/>
                  <a:pt x="25179" y="27781"/>
                  <a:pt x="31750" y="27781"/>
                </a:cubicBezTo>
                <a:close/>
                <a:moveTo>
                  <a:pt x="67469" y="55563"/>
                </a:moveTo>
                <a:cubicBezTo>
                  <a:pt x="69552" y="55563"/>
                  <a:pt x="71462" y="56654"/>
                  <a:pt x="72554" y="58415"/>
                </a:cubicBezTo>
                <a:lnTo>
                  <a:pt x="94382" y="94134"/>
                </a:lnTo>
                <a:cubicBezTo>
                  <a:pt x="95498" y="95969"/>
                  <a:pt x="95548" y="98276"/>
                  <a:pt x="94506" y="100161"/>
                </a:cubicBezTo>
                <a:cubicBezTo>
                  <a:pt x="93464" y="102046"/>
                  <a:pt x="91455" y="103188"/>
                  <a:pt x="89297" y="103188"/>
                </a:cubicBezTo>
                <a:lnTo>
                  <a:pt x="21828" y="103188"/>
                </a:lnTo>
                <a:cubicBezTo>
                  <a:pt x="19621" y="103188"/>
                  <a:pt x="17562" y="101947"/>
                  <a:pt x="16545" y="99988"/>
                </a:cubicBezTo>
                <a:cubicBezTo>
                  <a:pt x="15528" y="98028"/>
                  <a:pt x="15677" y="95647"/>
                  <a:pt x="16942" y="93836"/>
                </a:cubicBezTo>
                <a:lnTo>
                  <a:pt x="30832" y="73992"/>
                </a:lnTo>
                <a:cubicBezTo>
                  <a:pt x="31948" y="72405"/>
                  <a:pt x="33759" y="71462"/>
                  <a:pt x="35719" y="71462"/>
                </a:cubicBezTo>
                <a:cubicBezTo>
                  <a:pt x="37678" y="71462"/>
                  <a:pt x="39489" y="72405"/>
                  <a:pt x="40605" y="73992"/>
                </a:cubicBezTo>
                <a:lnTo>
                  <a:pt x="47154" y="83369"/>
                </a:lnTo>
                <a:lnTo>
                  <a:pt x="62384" y="58440"/>
                </a:lnTo>
                <a:cubicBezTo>
                  <a:pt x="63475" y="56679"/>
                  <a:pt x="65385" y="55587"/>
                  <a:pt x="67469" y="55587"/>
                </a:cubicBezTo>
                <a:close/>
              </a:path>
            </a:pathLst>
          </a:custGeom>
          <a:solidFill>
            <a:srgbClr val="34C759"/>
          </a:solidFill>
          <a:ln/>
        </p:spPr>
      </p:sp>
      <p:sp>
        <p:nvSpPr>
          <p:cNvPr id="54" name="Text 52"/>
          <p:cNvSpPr/>
          <p:nvPr/>
        </p:nvSpPr>
        <p:spPr>
          <a:xfrm>
            <a:off x="6540500" y="5581659"/>
            <a:ext cx="2746375" cy="190500"/>
          </a:xfrm>
          <a:prstGeom prst="rect">
            <a:avLst/>
          </a:prstGeom>
          <a:noFill/>
          <a:ln/>
        </p:spPr>
        <p:txBody>
          <a:bodyPr wrap="square" lIns="0" tIns="0" rIns="0" bIns="0" rtlCol="0" anchor="ctr"/>
          <a:lstStyle/>
          <a:p>
            <a:pP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Mac App Store showing Xcode download</a:t>
            </a:r>
            <a:endParaRPr lang="en-US" sz="1600" dirty="0"/>
          </a:p>
        </p:txBody>
      </p:sp>
      <p:sp>
        <p:nvSpPr>
          <p:cNvPr id="55" name="Shape 53"/>
          <p:cNvSpPr/>
          <p:nvPr/>
        </p:nvSpPr>
        <p:spPr>
          <a:xfrm>
            <a:off x="317500" y="6057909"/>
            <a:ext cx="11557000" cy="1492250"/>
          </a:xfrm>
          <a:prstGeom prst="roundRect">
            <a:avLst>
              <a:gd name="adj" fmla="val 8511"/>
            </a:avLst>
          </a:prstGeom>
          <a:solidFill>
            <a:srgbClr val="2C2C2E"/>
          </a:solidFill>
          <a:ln/>
        </p:spPr>
      </p:sp>
      <p:sp>
        <p:nvSpPr>
          <p:cNvPr id="56" name="Shape 54"/>
          <p:cNvSpPr/>
          <p:nvPr/>
        </p:nvSpPr>
        <p:spPr>
          <a:xfrm>
            <a:off x="505023" y="6256347"/>
            <a:ext cx="125016" cy="142875"/>
          </a:xfrm>
          <a:custGeom>
            <a:avLst/>
            <a:gdLst/>
            <a:ahLst/>
            <a:cxnLst/>
            <a:rect l="l" t="t" r="r" b="b"/>
            <a:pathLst>
              <a:path w="125016" h="142875">
                <a:moveTo>
                  <a:pt x="80367" y="0"/>
                </a:moveTo>
                <a:lnTo>
                  <a:pt x="35719" y="0"/>
                </a:lnTo>
                <a:cubicBezTo>
                  <a:pt x="30780" y="0"/>
                  <a:pt x="26789" y="3990"/>
                  <a:pt x="26789" y="8930"/>
                </a:cubicBezTo>
                <a:cubicBezTo>
                  <a:pt x="26789" y="13869"/>
                  <a:pt x="30780" y="17859"/>
                  <a:pt x="35719" y="17859"/>
                </a:cubicBezTo>
                <a:lnTo>
                  <a:pt x="35719" y="60136"/>
                </a:lnTo>
                <a:lnTo>
                  <a:pt x="2093" y="118960"/>
                </a:lnTo>
                <a:cubicBezTo>
                  <a:pt x="726" y="121388"/>
                  <a:pt x="0" y="124095"/>
                  <a:pt x="0" y="126885"/>
                </a:cubicBezTo>
                <a:cubicBezTo>
                  <a:pt x="0" y="135731"/>
                  <a:pt x="7144" y="142875"/>
                  <a:pt x="15990" y="142875"/>
                </a:cubicBezTo>
                <a:lnTo>
                  <a:pt x="109026" y="142875"/>
                </a:lnTo>
                <a:cubicBezTo>
                  <a:pt x="117844" y="142875"/>
                  <a:pt x="125016" y="135731"/>
                  <a:pt x="125016" y="126885"/>
                </a:cubicBezTo>
                <a:cubicBezTo>
                  <a:pt x="125016" y="124095"/>
                  <a:pt x="124290" y="121360"/>
                  <a:pt x="122923" y="118960"/>
                </a:cubicBezTo>
                <a:lnTo>
                  <a:pt x="89297" y="60136"/>
                </a:lnTo>
                <a:lnTo>
                  <a:pt x="89297" y="17859"/>
                </a:lnTo>
                <a:cubicBezTo>
                  <a:pt x="94236" y="17859"/>
                  <a:pt x="98227" y="13869"/>
                  <a:pt x="98227" y="8930"/>
                </a:cubicBezTo>
                <a:cubicBezTo>
                  <a:pt x="98227" y="3990"/>
                  <a:pt x="94236" y="0"/>
                  <a:pt x="89297" y="0"/>
                </a:cubicBezTo>
                <a:lnTo>
                  <a:pt x="80367" y="0"/>
                </a:lnTo>
                <a:close/>
                <a:moveTo>
                  <a:pt x="53578" y="60136"/>
                </a:moveTo>
                <a:lnTo>
                  <a:pt x="53578" y="17859"/>
                </a:lnTo>
                <a:lnTo>
                  <a:pt x="71438" y="17859"/>
                </a:lnTo>
                <a:lnTo>
                  <a:pt x="71438" y="60136"/>
                </a:lnTo>
                <a:cubicBezTo>
                  <a:pt x="71438" y="63233"/>
                  <a:pt x="72247" y="66303"/>
                  <a:pt x="73782" y="69010"/>
                </a:cubicBezTo>
                <a:lnTo>
                  <a:pt x="85390" y="89297"/>
                </a:lnTo>
                <a:lnTo>
                  <a:pt x="39625" y="89297"/>
                </a:lnTo>
                <a:lnTo>
                  <a:pt x="51234" y="69010"/>
                </a:lnTo>
                <a:cubicBezTo>
                  <a:pt x="52769" y="66303"/>
                  <a:pt x="53578" y="63261"/>
                  <a:pt x="53578" y="60136"/>
                </a:cubicBezTo>
                <a:close/>
              </a:path>
            </a:pathLst>
          </a:custGeom>
          <a:solidFill>
            <a:srgbClr val="8E8E93"/>
          </a:solidFill>
          <a:ln/>
        </p:spPr>
      </p:sp>
      <p:sp>
        <p:nvSpPr>
          <p:cNvPr id="57" name="Text 55"/>
          <p:cNvSpPr/>
          <p:nvPr/>
        </p:nvSpPr>
        <p:spPr>
          <a:xfrm>
            <a:off x="658813" y="6216659"/>
            <a:ext cx="11128375" cy="222250"/>
          </a:xfrm>
          <a:prstGeom prst="rect">
            <a:avLst/>
          </a:prstGeom>
          <a:noFill/>
          <a:ln/>
        </p:spPr>
        <p:txBody>
          <a:bodyPr wrap="square" lIns="0" tIns="0" rIns="0" bIns="0" rtlCol="0" anchor="ctr"/>
          <a:lstStyle/>
          <a:p>
            <a:pPr>
              <a:lnSpc>
                <a:spcPct val="130000"/>
              </a:lnSpc>
            </a:pPr>
            <a:r>
              <a:rPr lang="en-US" sz="1125" b="1" dirty="0">
                <a:solidFill>
                  <a:srgbClr val="8E8E93"/>
                </a:solidFill>
                <a:latin typeface="Liter" pitchFamily="34" charset="0"/>
                <a:ea typeface="Liter" pitchFamily="34" charset="-122"/>
                <a:cs typeface="Liter" pitchFamily="34" charset="-120"/>
              </a:rPr>
              <a:t>Lab Steps</a:t>
            </a:r>
            <a:endParaRPr lang="en-US" sz="1600" dirty="0"/>
          </a:p>
        </p:txBody>
      </p:sp>
      <p:sp>
        <p:nvSpPr>
          <p:cNvPr id="58" name="Shape 56"/>
          <p:cNvSpPr/>
          <p:nvPr/>
        </p:nvSpPr>
        <p:spPr>
          <a:xfrm>
            <a:off x="476250" y="6534159"/>
            <a:ext cx="2738438" cy="857250"/>
          </a:xfrm>
          <a:prstGeom prst="roundRect">
            <a:avLst>
              <a:gd name="adj" fmla="val 7407"/>
            </a:avLst>
          </a:prstGeom>
          <a:solidFill>
            <a:srgbClr val="1A1D21"/>
          </a:solidFill>
          <a:ln/>
        </p:spPr>
      </p:sp>
      <p:sp>
        <p:nvSpPr>
          <p:cNvPr id="59" name="Text 57"/>
          <p:cNvSpPr/>
          <p:nvPr/>
        </p:nvSpPr>
        <p:spPr>
          <a:xfrm>
            <a:off x="523875" y="6629409"/>
            <a:ext cx="2643188" cy="254000"/>
          </a:xfrm>
          <a:prstGeom prst="rect">
            <a:avLst/>
          </a:prstGeom>
          <a:noFill/>
          <a:ln/>
        </p:spPr>
        <p:txBody>
          <a:bodyPr wrap="square" lIns="0" tIns="0" rIns="0" bIns="0" rtlCol="0" anchor="ctr"/>
          <a:lstStyle/>
          <a:p>
            <a:pPr algn="ctr">
              <a:lnSpc>
                <a:spcPct val="110000"/>
              </a:lnSpc>
            </a:pPr>
            <a:r>
              <a:rPr lang="en-US" sz="1500" dirty="0">
                <a:solidFill>
                  <a:srgbClr val="F5F5F7"/>
                </a:solidFill>
                <a:latin typeface="Quattrocento Sans" pitchFamily="34" charset="0"/>
                <a:ea typeface="Quattrocento Sans" pitchFamily="34" charset="-122"/>
                <a:cs typeface="Quattrocento Sans" pitchFamily="34" charset="-120"/>
              </a:rPr>
              <a:t>🍎</a:t>
            </a:r>
            <a:endParaRPr lang="en-US" sz="1600" dirty="0"/>
          </a:p>
        </p:txBody>
      </p:sp>
      <p:sp>
        <p:nvSpPr>
          <p:cNvPr id="60" name="Text 58"/>
          <p:cNvSpPr/>
          <p:nvPr/>
        </p:nvSpPr>
        <p:spPr>
          <a:xfrm>
            <a:off x="539750" y="6946801"/>
            <a:ext cx="2611438" cy="190500"/>
          </a:xfrm>
          <a:prstGeom prst="rect">
            <a:avLst/>
          </a:prstGeom>
          <a:noFill/>
          <a:ln/>
        </p:spPr>
        <p:txBody>
          <a:bodyPr wrap="square" lIns="0" tIns="0" rIns="0" bIns="0" rtlCol="0" anchor="ctr"/>
          <a:lstStyle/>
          <a:p>
            <a:pPr algn="ct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Step 1</a:t>
            </a:r>
            <a:endParaRPr lang="en-US" sz="1600" dirty="0"/>
          </a:p>
        </p:txBody>
      </p:sp>
      <p:sp>
        <p:nvSpPr>
          <p:cNvPr id="61" name="Text 59"/>
          <p:cNvSpPr/>
          <p:nvPr/>
        </p:nvSpPr>
        <p:spPr>
          <a:xfrm>
            <a:off x="543719" y="7137301"/>
            <a:ext cx="2603500" cy="158750"/>
          </a:xfrm>
          <a:prstGeom prst="rect">
            <a:avLst/>
          </a:prstGeom>
          <a:noFill/>
          <a:ln/>
        </p:spPr>
        <p:txBody>
          <a:bodyPr wrap="square" lIns="0" tIns="0" rIns="0" bIns="0" rtlCol="0" anchor="ctr"/>
          <a:lstStyle/>
          <a:p>
            <a:pPr algn="ctr">
              <a:lnSpc>
                <a:spcPct val="120000"/>
              </a:lnSpc>
            </a:pPr>
            <a:r>
              <a:rPr lang="en-US" sz="875" dirty="0">
                <a:solidFill>
                  <a:srgbClr val="8E8E93"/>
                </a:solidFill>
                <a:latin typeface="Quattrocento Sans" pitchFamily="34" charset="0"/>
                <a:ea typeface="Quattrocento Sans" pitchFamily="34" charset="-122"/>
                <a:cs typeface="Quattrocento Sans" pitchFamily="34" charset="-120"/>
              </a:rPr>
              <a:t>Verify macOS version</a:t>
            </a:r>
            <a:endParaRPr lang="en-US" sz="1600" dirty="0"/>
          </a:p>
        </p:txBody>
      </p:sp>
      <p:sp>
        <p:nvSpPr>
          <p:cNvPr id="62" name="Shape 60"/>
          <p:cNvSpPr/>
          <p:nvPr/>
        </p:nvSpPr>
        <p:spPr>
          <a:xfrm>
            <a:off x="3309938" y="6534159"/>
            <a:ext cx="2738438" cy="857250"/>
          </a:xfrm>
          <a:prstGeom prst="roundRect">
            <a:avLst>
              <a:gd name="adj" fmla="val 7407"/>
            </a:avLst>
          </a:prstGeom>
          <a:solidFill>
            <a:srgbClr val="1A1D21"/>
          </a:solidFill>
          <a:ln/>
        </p:spPr>
      </p:sp>
      <p:sp>
        <p:nvSpPr>
          <p:cNvPr id="63" name="Text 61"/>
          <p:cNvSpPr/>
          <p:nvPr/>
        </p:nvSpPr>
        <p:spPr>
          <a:xfrm>
            <a:off x="3357563" y="6629409"/>
            <a:ext cx="2643188" cy="254000"/>
          </a:xfrm>
          <a:prstGeom prst="rect">
            <a:avLst/>
          </a:prstGeom>
          <a:noFill/>
          <a:ln/>
        </p:spPr>
        <p:txBody>
          <a:bodyPr wrap="square" lIns="0" tIns="0" rIns="0" bIns="0" rtlCol="0" anchor="ctr"/>
          <a:lstStyle/>
          <a:p>
            <a:pPr algn="ctr">
              <a:lnSpc>
                <a:spcPct val="110000"/>
              </a:lnSpc>
            </a:pPr>
            <a:r>
              <a:rPr lang="en-US" sz="1500" dirty="0">
                <a:solidFill>
                  <a:srgbClr val="F5F5F7"/>
                </a:solidFill>
                <a:latin typeface="Quattrocento Sans" pitchFamily="34" charset="0"/>
                <a:ea typeface="Quattrocento Sans" pitchFamily="34" charset="-122"/>
                <a:cs typeface="Quattrocento Sans" pitchFamily="34" charset="-120"/>
              </a:rPr>
              <a:t>🛒</a:t>
            </a:r>
            <a:endParaRPr lang="en-US" sz="1600" dirty="0"/>
          </a:p>
        </p:txBody>
      </p:sp>
      <p:sp>
        <p:nvSpPr>
          <p:cNvPr id="64" name="Text 62"/>
          <p:cNvSpPr/>
          <p:nvPr/>
        </p:nvSpPr>
        <p:spPr>
          <a:xfrm>
            <a:off x="3373438" y="6946801"/>
            <a:ext cx="2611438" cy="190500"/>
          </a:xfrm>
          <a:prstGeom prst="rect">
            <a:avLst/>
          </a:prstGeom>
          <a:noFill/>
          <a:ln/>
        </p:spPr>
        <p:txBody>
          <a:bodyPr wrap="square" lIns="0" tIns="0" rIns="0" bIns="0" rtlCol="0" anchor="ctr"/>
          <a:lstStyle/>
          <a:p>
            <a:pPr algn="ct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Step 2</a:t>
            </a:r>
            <a:endParaRPr lang="en-US" sz="1600" dirty="0"/>
          </a:p>
        </p:txBody>
      </p:sp>
      <p:sp>
        <p:nvSpPr>
          <p:cNvPr id="65" name="Text 63"/>
          <p:cNvSpPr/>
          <p:nvPr/>
        </p:nvSpPr>
        <p:spPr>
          <a:xfrm>
            <a:off x="3377406" y="7137301"/>
            <a:ext cx="2603500" cy="158750"/>
          </a:xfrm>
          <a:prstGeom prst="rect">
            <a:avLst/>
          </a:prstGeom>
          <a:noFill/>
          <a:ln/>
        </p:spPr>
        <p:txBody>
          <a:bodyPr wrap="square" lIns="0" tIns="0" rIns="0" bIns="0" rtlCol="0" anchor="ctr"/>
          <a:lstStyle/>
          <a:p>
            <a:pPr algn="ctr">
              <a:lnSpc>
                <a:spcPct val="120000"/>
              </a:lnSpc>
            </a:pPr>
            <a:r>
              <a:rPr lang="en-US" sz="875" dirty="0">
                <a:solidFill>
                  <a:srgbClr val="8E8E93"/>
                </a:solidFill>
                <a:latin typeface="Quattrocento Sans" pitchFamily="34" charset="0"/>
                <a:ea typeface="Quattrocento Sans" pitchFamily="34" charset="-122"/>
                <a:cs typeface="Quattrocento Sans" pitchFamily="34" charset="-120"/>
              </a:rPr>
              <a:t>Download from App Store</a:t>
            </a:r>
            <a:endParaRPr lang="en-US" sz="1600" dirty="0"/>
          </a:p>
        </p:txBody>
      </p:sp>
      <p:sp>
        <p:nvSpPr>
          <p:cNvPr id="66" name="Shape 64"/>
          <p:cNvSpPr/>
          <p:nvPr/>
        </p:nvSpPr>
        <p:spPr>
          <a:xfrm>
            <a:off x="6143625" y="6534159"/>
            <a:ext cx="2738438" cy="857250"/>
          </a:xfrm>
          <a:prstGeom prst="roundRect">
            <a:avLst>
              <a:gd name="adj" fmla="val 7407"/>
            </a:avLst>
          </a:prstGeom>
          <a:solidFill>
            <a:srgbClr val="1A1D21"/>
          </a:solidFill>
          <a:ln/>
        </p:spPr>
      </p:sp>
      <p:sp>
        <p:nvSpPr>
          <p:cNvPr id="67" name="Text 65"/>
          <p:cNvSpPr/>
          <p:nvPr/>
        </p:nvSpPr>
        <p:spPr>
          <a:xfrm>
            <a:off x="6191250" y="6629409"/>
            <a:ext cx="2643188" cy="254000"/>
          </a:xfrm>
          <a:prstGeom prst="rect">
            <a:avLst/>
          </a:prstGeom>
          <a:noFill/>
          <a:ln/>
        </p:spPr>
        <p:txBody>
          <a:bodyPr wrap="square" lIns="0" tIns="0" rIns="0" bIns="0" rtlCol="0" anchor="ctr"/>
          <a:lstStyle/>
          <a:p>
            <a:pPr algn="ctr">
              <a:lnSpc>
                <a:spcPct val="110000"/>
              </a:lnSpc>
            </a:pPr>
            <a:r>
              <a:rPr lang="en-US" sz="1500" dirty="0">
                <a:solidFill>
                  <a:srgbClr val="F5F5F7"/>
                </a:solidFill>
                <a:latin typeface="Quattrocento Sans" pitchFamily="34" charset="0"/>
                <a:ea typeface="Quattrocento Sans" pitchFamily="34" charset="-122"/>
                <a:cs typeface="Quattrocento Sans" pitchFamily="34" charset="-120"/>
              </a:rPr>
              <a:t>⏳</a:t>
            </a:r>
            <a:endParaRPr lang="en-US" sz="1600" dirty="0"/>
          </a:p>
        </p:txBody>
      </p:sp>
      <p:sp>
        <p:nvSpPr>
          <p:cNvPr id="68" name="Text 66"/>
          <p:cNvSpPr/>
          <p:nvPr/>
        </p:nvSpPr>
        <p:spPr>
          <a:xfrm>
            <a:off x="6207125" y="6946801"/>
            <a:ext cx="2611438" cy="190500"/>
          </a:xfrm>
          <a:prstGeom prst="rect">
            <a:avLst/>
          </a:prstGeom>
          <a:noFill/>
          <a:ln/>
        </p:spPr>
        <p:txBody>
          <a:bodyPr wrap="square" lIns="0" tIns="0" rIns="0" bIns="0" rtlCol="0" anchor="ctr"/>
          <a:lstStyle/>
          <a:p>
            <a:pPr algn="ct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Step 3</a:t>
            </a:r>
            <a:endParaRPr lang="en-US" sz="1600" dirty="0"/>
          </a:p>
        </p:txBody>
      </p:sp>
      <p:sp>
        <p:nvSpPr>
          <p:cNvPr id="69" name="Text 67"/>
          <p:cNvSpPr/>
          <p:nvPr/>
        </p:nvSpPr>
        <p:spPr>
          <a:xfrm>
            <a:off x="6211094" y="7137301"/>
            <a:ext cx="2603500" cy="158750"/>
          </a:xfrm>
          <a:prstGeom prst="rect">
            <a:avLst/>
          </a:prstGeom>
          <a:noFill/>
          <a:ln/>
        </p:spPr>
        <p:txBody>
          <a:bodyPr wrap="square" lIns="0" tIns="0" rIns="0" bIns="0" rtlCol="0" anchor="ctr"/>
          <a:lstStyle/>
          <a:p>
            <a:pPr algn="ctr">
              <a:lnSpc>
                <a:spcPct val="120000"/>
              </a:lnSpc>
            </a:pPr>
            <a:r>
              <a:rPr lang="en-US" sz="875" dirty="0">
                <a:solidFill>
                  <a:srgbClr val="8E8E93"/>
                </a:solidFill>
                <a:latin typeface="Quattrocento Sans" pitchFamily="34" charset="0"/>
                <a:ea typeface="Quattrocento Sans" pitchFamily="34" charset="-122"/>
                <a:cs typeface="Quattrocento Sans" pitchFamily="34" charset="-120"/>
              </a:rPr>
              <a:t>Wait for installation</a:t>
            </a:r>
            <a:endParaRPr lang="en-US" sz="1600" dirty="0"/>
          </a:p>
        </p:txBody>
      </p:sp>
      <p:sp>
        <p:nvSpPr>
          <p:cNvPr id="70" name="Shape 68"/>
          <p:cNvSpPr/>
          <p:nvPr/>
        </p:nvSpPr>
        <p:spPr>
          <a:xfrm>
            <a:off x="8977313" y="6534159"/>
            <a:ext cx="2738438" cy="857250"/>
          </a:xfrm>
          <a:prstGeom prst="roundRect">
            <a:avLst>
              <a:gd name="adj" fmla="val 7407"/>
            </a:avLst>
          </a:prstGeom>
          <a:solidFill>
            <a:srgbClr val="1A1D21"/>
          </a:solidFill>
          <a:ln/>
        </p:spPr>
      </p:sp>
      <p:sp>
        <p:nvSpPr>
          <p:cNvPr id="71" name="Text 69"/>
          <p:cNvSpPr/>
          <p:nvPr/>
        </p:nvSpPr>
        <p:spPr>
          <a:xfrm>
            <a:off x="9024938" y="6629409"/>
            <a:ext cx="2643188" cy="254000"/>
          </a:xfrm>
          <a:prstGeom prst="rect">
            <a:avLst/>
          </a:prstGeom>
          <a:noFill/>
          <a:ln/>
        </p:spPr>
        <p:txBody>
          <a:bodyPr wrap="square" lIns="0" tIns="0" rIns="0" bIns="0" rtlCol="0" anchor="ctr"/>
          <a:lstStyle/>
          <a:p>
            <a:pPr algn="ctr">
              <a:lnSpc>
                <a:spcPct val="110000"/>
              </a:lnSpc>
            </a:pPr>
            <a:r>
              <a:rPr lang="en-US" sz="1500" dirty="0">
                <a:solidFill>
                  <a:srgbClr val="F5F5F7"/>
                </a:solidFill>
                <a:latin typeface="Quattrocento Sans" pitchFamily="34" charset="0"/>
                <a:ea typeface="Quattrocento Sans" pitchFamily="34" charset="-122"/>
                <a:cs typeface="Quattrocento Sans" pitchFamily="34" charset="-120"/>
              </a:rPr>
              <a:t>🚀</a:t>
            </a:r>
            <a:endParaRPr lang="en-US" sz="1600" dirty="0"/>
          </a:p>
        </p:txBody>
      </p:sp>
      <p:sp>
        <p:nvSpPr>
          <p:cNvPr id="72" name="Text 70"/>
          <p:cNvSpPr/>
          <p:nvPr/>
        </p:nvSpPr>
        <p:spPr>
          <a:xfrm>
            <a:off x="9040813" y="6946801"/>
            <a:ext cx="2611438" cy="190500"/>
          </a:xfrm>
          <a:prstGeom prst="rect">
            <a:avLst/>
          </a:prstGeom>
          <a:noFill/>
          <a:ln/>
        </p:spPr>
        <p:txBody>
          <a:bodyPr wrap="square" lIns="0" tIns="0" rIns="0" bIns="0" rtlCol="0" anchor="ctr"/>
          <a:lstStyle/>
          <a:p>
            <a:pPr algn="ct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Step 4</a:t>
            </a:r>
            <a:endParaRPr lang="en-US" sz="1600" dirty="0"/>
          </a:p>
        </p:txBody>
      </p:sp>
      <p:sp>
        <p:nvSpPr>
          <p:cNvPr id="73" name="Text 71"/>
          <p:cNvSpPr/>
          <p:nvPr/>
        </p:nvSpPr>
        <p:spPr>
          <a:xfrm>
            <a:off x="9044781" y="7137301"/>
            <a:ext cx="2603500" cy="158750"/>
          </a:xfrm>
          <a:prstGeom prst="rect">
            <a:avLst/>
          </a:prstGeom>
          <a:noFill/>
          <a:ln/>
        </p:spPr>
        <p:txBody>
          <a:bodyPr wrap="square" lIns="0" tIns="0" rIns="0" bIns="0" rtlCol="0" anchor="ctr"/>
          <a:lstStyle/>
          <a:p>
            <a:pPr algn="ctr">
              <a:lnSpc>
                <a:spcPct val="120000"/>
              </a:lnSpc>
            </a:pPr>
            <a:r>
              <a:rPr lang="en-US" sz="875" dirty="0">
                <a:solidFill>
                  <a:srgbClr val="8E8E93"/>
                </a:solidFill>
                <a:latin typeface="Quattrocento Sans" pitchFamily="34" charset="0"/>
                <a:ea typeface="Quattrocento Sans" pitchFamily="34" charset="-122"/>
                <a:cs typeface="Quattrocento Sans" pitchFamily="34" charset="-120"/>
              </a:rPr>
              <a:t>Launch and verify</a:t>
            </a:r>
            <a:endParaRPr lang="en-US" sz="1600" dirty="0"/>
          </a:p>
        </p:txBody>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17500" y="365125"/>
            <a:ext cx="381000" cy="381000"/>
          </a:xfrm>
          <a:prstGeom prst="roundRect">
            <a:avLst>
              <a:gd name="adj" fmla="val 25000"/>
            </a:avLst>
          </a:prstGeom>
          <a:solidFill>
            <a:srgbClr val="0A84FF"/>
          </a:solidFill>
          <a:ln/>
        </p:spPr>
      </p:sp>
      <p:sp>
        <p:nvSpPr>
          <p:cNvPr id="3" name="Text 1"/>
          <p:cNvSpPr/>
          <p:nvPr/>
        </p:nvSpPr>
        <p:spPr>
          <a:xfrm>
            <a:off x="397768" y="428625"/>
            <a:ext cx="317500" cy="254000"/>
          </a:xfrm>
          <a:prstGeom prst="rect">
            <a:avLst/>
          </a:prstGeom>
          <a:noFill/>
          <a:ln/>
        </p:spPr>
        <p:txBody>
          <a:bodyPr wrap="square" lIns="0" tIns="0" rIns="0" bIns="0" rtlCol="0" anchor="ctr"/>
          <a:lstStyle/>
          <a:p>
            <a:pPr>
              <a:lnSpc>
                <a:spcPct val="110000"/>
              </a:lnSpc>
            </a:pPr>
            <a:r>
              <a:rPr lang="en-US" sz="1500" b="1" dirty="0">
                <a:solidFill>
                  <a:srgbClr val="F5F5F7"/>
                </a:solidFill>
                <a:latin typeface="Liter" pitchFamily="34" charset="0"/>
                <a:ea typeface="Liter" pitchFamily="34" charset="-122"/>
                <a:cs typeface="Liter" pitchFamily="34" charset="-120"/>
              </a:rPr>
              <a:t>25</a:t>
            </a:r>
            <a:endParaRPr lang="en-US" sz="1600" dirty="0"/>
          </a:p>
        </p:txBody>
      </p:sp>
      <p:sp>
        <p:nvSpPr>
          <p:cNvPr id="4" name="Text 2"/>
          <p:cNvSpPr/>
          <p:nvPr/>
        </p:nvSpPr>
        <p:spPr>
          <a:xfrm>
            <a:off x="793750" y="317500"/>
            <a:ext cx="4191000" cy="158750"/>
          </a:xfrm>
          <a:prstGeom prst="rect">
            <a:avLst/>
          </a:prstGeom>
          <a:noFill/>
          <a:ln/>
        </p:spPr>
        <p:txBody>
          <a:bodyPr wrap="square" lIns="0" tIns="0" rIns="0" bIns="0" rtlCol="0" anchor="ctr"/>
          <a:lstStyle/>
          <a:p>
            <a:pPr>
              <a:lnSpc>
                <a:spcPct val="120000"/>
              </a:lnSpc>
            </a:pPr>
            <a:r>
              <a:rPr lang="en-US" sz="875" b="1" spc="44" kern="0" dirty="0">
                <a:solidFill>
                  <a:srgbClr val="0A84FF"/>
                </a:solidFill>
                <a:latin typeface="Quattrocento Sans" pitchFamily="34" charset="0"/>
                <a:ea typeface="Quattrocento Sans" pitchFamily="34" charset="-122"/>
                <a:cs typeface="Quattrocento Sans" pitchFamily="34" charset="-120"/>
              </a:rPr>
              <a:t>IDE Installation</a:t>
            </a:r>
            <a:endParaRPr lang="en-US" sz="1600" dirty="0"/>
          </a:p>
        </p:txBody>
      </p:sp>
      <p:sp>
        <p:nvSpPr>
          <p:cNvPr id="5" name="Text 3"/>
          <p:cNvSpPr/>
          <p:nvPr/>
        </p:nvSpPr>
        <p:spPr>
          <a:xfrm>
            <a:off x="793750" y="476250"/>
            <a:ext cx="4278313" cy="317500"/>
          </a:xfrm>
          <a:prstGeom prst="rect">
            <a:avLst/>
          </a:prstGeom>
          <a:noFill/>
          <a:ln/>
        </p:spPr>
        <p:txBody>
          <a:bodyPr wrap="square" lIns="0" tIns="0" rIns="0" bIns="0" rtlCol="0" anchor="ctr"/>
          <a:lstStyle/>
          <a:p>
            <a:pPr>
              <a:lnSpc>
                <a:spcPct val="90000"/>
              </a:lnSpc>
            </a:pPr>
            <a:r>
              <a:rPr lang="en-US" sz="2250" b="1" dirty="0">
                <a:solidFill>
                  <a:srgbClr val="F5F5F7"/>
                </a:solidFill>
                <a:latin typeface="Liter" pitchFamily="34" charset="0"/>
                <a:ea typeface="Liter" pitchFamily="34" charset="-122"/>
                <a:cs typeface="Liter" pitchFamily="34" charset="-120"/>
              </a:rPr>
              <a:t>Installing VS Code: Step-by-Step</a:t>
            </a:r>
            <a:endParaRPr lang="en-US" sz="1600" dirty="0"/>
          </a:p>
        </p:txBody>
      </p:sp>
      <p:sp>
        <p:nvSpPr>
          <p:cNvPr id="6" name="Shape 4"/>
          <p:cNvSpPr/>
          <p:nvPr/>
        </p:nvSpPr>
        <p:spPr>
          <a:xfrm>
            <a:off x="333375" y="1047750"/>
            <a:ext cx="5699125" cy="4206875"/>
          </a:xfrm>
          <a:custGeom>
            <a:avLst/>
            <a:gdLst/>
            <a:ahLst/>
            <a:cxnLst/>
            <a:rect l="l" t="t" r="r" b="b"/>
            <a:pathLst>
              <a:path w="5699125" h="4206875">
                <a:moveTo>
                  <a:pt x="31750" y="0"/>
                </a:moveTo>
                <a:lnTo>
                  <a:pt x="5572125" y="0"/>
                </a:lnTo>
                <a:cubicBezTo>
                  <a:pt x="5642218" y="0"/>
                  <a:pt x="5699125" y="56907"/>
                  <a:pt x="5699125" y="127000"/>
                </a:cubicBezTo>
                <a:lnTo>
                  <a:pt x="5699125" y="4079875"/>
                </a:lnTo>
                <a:cubicBezTo>
                  <a:pt x="5699125" y="4149968"/>
                  <a:pt x="5642218" y="4206875"/>
                  <a:pt x="5572125" y="4206875"/>
                </a:cubicBezTo>
                <a:lnTo>
                  <a:pt x="31750" y="4206875"/>
                </a:lnTo>
                <a:cubicBezTo>
                  <a:pt x="14227" y="4206875"/>
                  <a:pt x="0" y="4192648"/>
                  <a:pt x="0" y="4175125"/>
                </a:cubicBezTo>
                <a:lnTo>
                  <a:pt x="0" y="31750"/>
                </a:lnTo>
                <a:cubicBezTo>
                  <a:pt x="0" y="14227"/>
                  <a:pt x="14227" y="0"/>
                  <a:pt x="31750" y="0"/>
                </a:cubicBezTo>
                <a:close/>
              </a:path>
            </a:pathLst>
          </a:custGeom>
          <a:solidFill>
            <a:srgbClr val="2C2C2E"/>
          </a:solidFill>
          <a:ln/>
        </p:spPr>
      </p:sp>
      <p:sp>
        <p:nvSpPr>
          <p:cNvPr id="7" name="Shape 5"/>
          <p:cNvSpPr/>
          <p:nvPr/>
        </p:nvSpPr>
        <p:spPr>
          <a:xfrm>
            <a:off x="333375" y="1047750"/>
            <a:ext cx="31750" cy="4206875"/>
          </a:xfrm>
          <a:custGeom>
            <a:avLst/>
            <a:gdLst/>
            <a:ahLst/>
            <a:cxnLst/>
            <a:rect l="l" t="t" r="r" b="b"/>
            <a:pathLst>
              <a:path w="31750" h="4206875">
                <a:moveTo>
                  <a:pt x="31750" y="0"/>
                </a:moveTo>
                <a:lnTo>
                  <a:pt x="31750" y="0"/>
                </a:lnTo>
                <a:lnTo>
                  <a:pt x="31750" y="4206875"/>
                </a:lnTo>
                <a:lnTo>
                  <a:pt x="31750" y="4206875"/>
                </a:lnTo>
                <a:cubicBezTo>
                  <a:pt x="14227" y="4206875"/>
                  <a:pt x="0" y="4192648"/>
                  <a:pt x="0" y="4175125"/>
                </a:cubicBezTo>
                <a:lnTo>
                  <a:pt x="0" y="31750"/>
                </a:lnTo>
                <a:cubicBezTo>
                  <a:pt x="0" y="14227"/>
                  <a:pt x="14227" y="0"/>
                  <a:pt x="31750" y="0"/>
                </a:cubicBezTo>
                <a:close/>
              </a:path>
            </a:pathLst>
          </a:custGeom>
          <a:solidFill>
            <a:srgbClr val="34C759"/>
          </a:solidFill>
          <a:ln/>
        </p:spPr>
      </p:sp>
      <p:sp>
        <p:nvSpPr>
          <p:cNvPr id="8" name="Shape 6"/>
          <p:cNvSpPr/>
          <p:nvPr/>
        </p:nvSpPr>
        <p:spPr>
          <a:xfrm>
            <a:off x="559594" y="1270000"/>
            <a:ext cx="158750" cy="158750"/>
          </a:xfrm>
          <a:custGeom>
            <a:avLst/>
            <a:gdLst/>
            <a:ahLst/>
            <a:cxnLst/>
            <a:rect l="l" t="t" r="r" b="b"/>
            <a:pathLst>
              <a:path w="158750" h="158750">
                <a:moveTo>
                  <a:pt x="0" y="22324"/>
                </a:moveTo>
                <a:cubicBezTo>
                  <a:pt x="0" y="18231"/>
                  <a:pt x="3318" y="14883"/>
                  <a:pt x="7441" y="14883"/>
                </a:cubicBezTo>
                <a:lnTo>
                  <a:pt x="22324" y="14883"/>
                </a:lnTo>
                <a:cubicBezTo>
                  <a:pt x="26448" y="14883"/>
                  <a:pt x="29766" y="18200"/>
                  <a:pt x="29766" y="22324"/>
                </a:cubicBezTo>
                <a:lnTo>
                  <a:pt x="29766" y="54570"/>
                </a:lnTo>
                <a:lnTo>
                  <a:pt x="37207" y="54570"/>
                </a:lnTo>
                <a:cubicBezTo>
                  <a:pt x="41331" y="54570"/>
                  <a:pt x="44648" y="57888"/>
                  <a:pt x="44648" y="62012"/>
                </a:cubicBezTo>
                <a:cubicBezTo>
                  <a:pt x="44648" y="66135"/>
                  <a:pt x="41331" y="69453"/>
                  <a:pt x="37207" y="69453"/>
                </a:cubicBezTo>
                <a:lnTo>
                  <a:pt x="7441" y="69453"/>
                </a:lnTo>
                <a:cubicBezTo>
                  <a:pt x="3318" y="69453"/>
                  <a:pt x="0" y="66135"/>
                  <a:pt x="0" y="62012"/>
                </a:cubicBezTo>
                <a:cubicBezTo>
                  <a:pt x="0" y="57888"/>
                  <a:pt x="3318" y="54570"/>
                  <a:pt x="7441" y="54570"/>
                </a:cubicBezTo>
                <a:lnTo>
                  <a:pt x="14883" y="54570"/>
                </a:lnTo>
                <a:lnTo>
                  <a:pt x="14883" y="29766"/>
                </a:lnTo>
                <a:lnTo>
                  <a:pt x="7441" y="29766"/>
                </a:lnTo>
                <a:cubicBezTo>
                  <a:pt x="3318" y="29766"/>
                  <a:pt x="0" y="26448"/>
                  <a:pt x="0" y="22324"/>
                </a:cubicBezTo>
                <a:close/>
                <a:moveTo>
                  <a:pt x="9426" y="93390"/>
                </a:moveTo>
                <a:cubicBezTo>
                  <a:pt x="12960" y="90723"/>
                  <a:pt x="17270" y="89297"/>
                  <a:pt x="21704" y="89297"/>
                </a:cubicBezTo>
                <a:lnTo>
                  <a:pt x="23223" y="89297"/>
                </a:lnTo>
                <a:cubicBezTo>
                  <a:pt x="33672" y="89297"/>
                  <a:pt x="42168" y="97792"/>
                  <a:pt x="42168" y="108241"/>
                </a:cubicBezTo>
                <a:cubicBezTo>
                  <a:pt x="42168" y="114319"/>
                  <a:pt x="39253" y="119993"/>
                  <a:pt x="34354" y="123558"/>
                </a:cubicBezTo>
                <a:lnTo>
                  <a:pt x="26913" y="128984"/>
                </a:lnTo>
                <a:lnTo>
                  <a:pt x="37207" y="128984"/>
                </a:lnTo>
                <a:cubicBezTo>
                  <a:pt x="41331" y="128984"/>
                  <a:pt x="44648" y="132302"/>
                  <a:pt x="44648" y="136426"/>
                </a:cubicBezTo>
                <a:cubicBezTo>
                  <a:pt x="44648" y="140550"/>
                  <a:pt x="41331" y="143867"/>
                  <a:pt x="37207" y="143867"/>
                </a:cubicBezTo>
                <a:lnTo>
                  <a:pt x="9085" y="143867"/>
                </a:lnTo>
                <a:cubicBezTo>
                  <a:pt x="4062" y="143867"/>
                  <a:pt x="0" y="139805"/>
                  <a:pt x="0" y="134782"/>
                </a:cubicBezTo>
                <a:cubicBezTo>
                  <a:pt x="0" y="131868"/>
                  <a:pt x="1395" y="129139"/>
                  <a:pt x="3752" y="127434"/>
                </a:cubicBezTo>
                <a:lnTo>
                  <a:pt x="25611" y="111528"/>
                </a:lnTo>
                <a:cubicBezTo>
                  <a:pt x="26665" y="110753"/>
                  <a:pt x="27285" y="109544"/>
                  <a:pt x="27285" y="108241"/>
                </a:cubicBezTo>
                <a:cubicBezTo>
                  <a:pt x="27285" y="106009"/>
                  <a:pt x="25456" y="104180"/>
                  <a:pt x="23223" y="104180"/>
                </a:cubicBezTo>
                <a:lnTo>
                  <a:pt x="21704" y="104180"/>
                </a:lnTo>
                <a:cubicBezTo>
                  <a:pt x="20495" y="104180"/>
                  <a:pt x="19317" y="104583"/>
                  <a:pt x="18355" y="105296"/>
                </a:cubicBezTo>
                <a:lnTo>
                  <a:pt x="11906" y="110133"/>
                </a:lnTo>
                <a:cubicBezTo>
                  <a:pt x="8620" y="112613"/>
                  <a:pt x="3969" y="111931"/>
                  <a:pt x="1488" y="108645"/>
                </a:cubicBezTo>
                <a:cubicBezTo>
                  <a:pt x="-992" y="105358"/>
                  <a:pt x="-310" y="100707"/>
                  <a:pt x="2977" y="98227"/>
                </a:cubicBezTo>
                <a:lnTo>
                  <a:pt x="9426" y="93390"/>
                </a:lnTo>
                <a:close/>
                <a:moveTo>
                  <a:pt x="69453" y="19844"/>
                </a:moveTo>
                <a:lnTo>
                  <a:pt x="148828" y="19844"/>
                </a:lnTo>
                <a:cubicBezTo>
                  <a:pt x="154316" y="19844"/>
                  <a:pt x="158750" y="24278"/>
                  <a:pt x="158750" y="29766"/>
                </a:cubicBezTo>
                <a:cubicBezTo>
                  <a:pt x="158750" y="35254"/>
                  <a:pt x="154316" y="39688"/>
                  <a:pt x="148828" y="39688"/>
                </a:cubicBezTo>
                <a:lnTo>
                  <a:pt x="69453" y="39688"/>
                </a:lnTo>
                <a:cubicBezTo>
                  <a:pt x="63965" y="39688"/>
                  <a:pt x="59531" y="35254"/>
                  <a:pt x="59531" y="29766"/>
                </a:cubicBezTo>
                <a:cubicBezTo>
                  <a:pt x="59531" y="24278"/>
                  <a:pt x="63965" y="19844"/>
                  <a:pt x="69453" y="19844"/>
                </a:cubicBezTo>
                <a:close/>
                <a:moveTo>
                  <a:pt x="69453" y="69453"/>
                </a:moveTo>
                <a:lnTo>
                  <a:pt x="148828" y="69453"/>
                </a:lnTo>
                <a:cubicBezTo>
                  <a:pt x="154316" y="69453"/>
                  <a:pt x="158750" y="73887"/>
                  <a:pt x="158750" y="79375"/>
                </a:cubicBezTo>
                <a:cubicBezTo>
                  <a:pt x="158750" y="84863"/>
                  <a:pt x="154316" y="89297"/>
                  <a:pt x="148828" y="89297"/>
                </a:cubicBezTo>
                <a:lnTo>
                  <a:pt x="69453" y="89297"/>
                </a:lnTo>
                <a:cubicBezTo>
                  <a:pt x="63965" y="89297"/>
                  <a:pt x="59531" y="84863"/>
                  <a:pt x="59531" y="79375"/>
                </a:cubicBezTo>
                <a:cubicBezTo>
                  <a:pt x="59531" y="73887"/>
                  <a:pt x="63965" y="69453"/>
                  <a:pt x="69453" y="69453"/>
                </a:cubicBezTo>
                <a:close/>
                <a:moveTo>
                  <a:pt x="69453" y="119062"/>
                </a:moveTo>
                <a:lnTo>
                  <a:pt x="148828" y="119062"/>
                </a:lnTo>
                <a:cubicBezTo>
                  <a:pt x="154316" y="119062"/>
                  <a:pt x="158750" y="123496"/>
                  <a:pt x="158750" y="128984"/>
                </a:cubicBezTo>
                <a:cubicBezTo>
                  <a:pt x="158750" y="134472"/>
                  <a:pt x="154316" y="138906"/>
                  <a:pt x="148828" y="138906"/>
                </a:cubicBezTo>
                <a:lnTo>
                  <a:pt x="69453" y="138906"/>
                </a:lnTo>
                <a:cubicBezTo>
                  <a:pt x="63965" y="138906"/>
                  <a:pt x="59531" y="134472"/>
                  <a:pt x="59531" y="128984"/>
                </a:cubicBezTo>
                <a:cubicBezTo>
                  <a:pt x="59531" y="123496"/>
                  <a:pt x="63965" y="119062"/>
                  <a:pt x="69453" y="119062"/>
                </a:cubicBezTo>
                <a:close/>
              </a:path>
            </a:pathLst>
          </a:custGeom>
          <a:solidFill>
            <a:srgbClr val="34C759"/>
          </a:solidFill>
          <a:ln/>
        </p:spPr>
      </p:sp>
      <p:sp>
        <p:nvSpPr>
          <p:cNvPr id="9" name="Text 7"/>
          <p:cNvSpPr/>
          <p:nvPr/>
        </p:nvSpPr>
        <p:spPr>
          <a:xfrm>
            <a:off x="738188" y="1238250"/>
            <a:ext cx="5183188" cy="222250"/>
          </a:xfrm>
          <a:prstGeom prst="rect">
            <a:avLst/>
          </a:prstGeom>
          <a:noFill/>
          <a:ln/>
        </p:spPr>
        <p:txBody>
          <a:bodyPr wrap="square" lIns="0" tIns="0" rIns="0" bIns="0" rtlCol="0" anchor="ctr"/>
          <a:lstStyle/>
          <a:p>
            <a:pPr>
              <a:lnSpc>
                <a:spcPct val="120000"/>
              </a:lnSpc>
            </a:pPr>
            <a:r>
              <a:rPr lang="en-US" sz="1250" b="1" dirty="0">
                <a:solidFill>
                  <a:srgbClr val="34C759"/>
                </a:solidFill>
                <a:latin typeface="Liter" pitchFamily="34" charset="0"/>
                <a:ea typeface="Liter" pitchFamily="34" charset="-122"/>
                <a:cs typeface="Liter" pitchFamily="34" charset="-120"/>
              </a:rPr>
              <a:t>Installation Steps</a:t>
            </a:r>
            <a:endParaRPr lang="en-US" sz="1600" dirty="0"/>
          </a:p>
        </p:txBody>
      </p:sp>
      <p:sp>
        <p:nvSpPr>
          <p:cNvPr id="10" name="Shape 8"/>
          <p:cNvSpPr/>
          <p:nvPr/>
        </p:nvSpPr>
        <p:spPr>
          <a:xfrm>
            <a:off x="539750" y="1799441"/>
            <a:ext cx="317500" cy="317500"/>
          </a:xfrm>
          <a:prstGeom prst="roundRect">
            <a:avLst>
              <a:gd name="adj" fmla="val 50000"/>
            </a:avLst>
          </a:prstGeom>
          <a:solidFill>
            <a:srgbClr val="34C759"/>
          </a:solidFill>
          <a:ln/>
        </p:spPr>
      </p:sp>
      <p:sp>
        <p:nvSpPr>
          <p:cNvPr id="11" name="Text 9"/>
          <p:cNvSpPr/>
          <p:nvPr/>
        </p:nvSpPr>
        <p:spPr>
          <a:xfrm>
            <a:off x="669925" y="1847066"/>
            <a:ext cx="127000" cy="222250"/>
          </a:xfrm>
          <a:prstGeom prst="rect">
            <a:avLst/>
          </a:prstGeom>
          <a:noFill/>
          <a:ln/>
        </p:spPr>
        <p:txBody>
          <a:bodyPr wrap="square" lIns="0" tIns="0" rIns="0" bIns="0" rtlCol="0" anchor="ctr"/>
          <a:lstStyle/>
          <a:p>
            <a:pPr>
              <a:lnSpc>
                <a:spcPct val="130000"/>
              </a:lnSpc>
            </a:pPr>
            <a:r>
              <a:rPr lang="en-US" sz="1125" b="1" dirty="0">
                <a:solidFill>
                  <a:srgbClr val="1D1D1F"/>
                </a:solidFill>
                <a:latin typeface="Liter" pitchFamily="34" charset="0"/>
                <a:ea typeface="Liter" pitchFamily="34" charset="-122"/>
                <a:cs typeface="Liter" pitchFamily="34" charset="-120"/>
              </a:rPr>
              <a:t>1</a:t>
            </a:r>
            <a:endParaRPr lang="en-US" sz="1600" dirty="0"/>
          </a:p>
        </p:txBody>
      </p:sp>
      <p:sp>
        <p:nvSpPr>
          <p:cNvPr id="12" name="Text 10"/>
          <p:cNvSpPr/>
          <p:nvPr/>
        </p:nvSpPr>
        <p:spPr>
          <a:xfrm>
            <a:off x="952500" y="1799441"/>
            <a:ext cx="3119438" cy="222250"/>
          </a:xfrm>
          <a:prstGeom prst="rect">
            <a:avLst/>
          </a:prstGeom>
          <a:noFill/>
          <a:ln/>
        </p:spPr>
        <p:txBody>
          <a:bodyPr wrap="square" lIns="0" tIns="0" rIns="0" bIns="0" rtlCol="0" anchor="ctr"/>
          <a:lstStyle/>
          <a:p>
            <a:pPr>
              <a:lnSpc>
                <a:spcPct val="130000"/>
              </a:lnSpc>
            </a:pPr>
            <a:r>
              <a:rPr lang="en-US" sz="1125" b="1" dirty="0">
                <a:solidFill>
                  <a:srgbClr val="34C759"/>
                </a:solidFill>
                <a:latin typeface="Liter" pitchFamily="34" charset="0"/>
                <a:ea typeface="Liter" pitchFamily="34" charset="-122"/>
                <a:cs typeface="Liter" pitchFamily="34" charset="-120"/>
              </a:rPr>
              <a:t>Download VS Code</a:t>
            </a:r>
            <a:endParaRPr lang="en-US" sz="1600" dirty="0"/>
          </a:p>
        </p:txBody>
      </p:sp>
      <p:sp>
        <p:nvSpPr>
          <p:cNvPr id="13" name="Text 11"/>
          <p:cNvSpPr/>
          <p:nvPr/>
        </p:nvSpPr>
        <p:spPr>
          <a:xfrm>
            <a:off x="952500" y="2053441"/>
            <a:ext cx="3111500"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Go to code.visualstudio.com and download for your OS</a:t>
            </a:r>
            <a:endParaRPr lang="en-US" sz="1600" dirty="0"/>
          </a:p>
        </p:txBody>
      </p:sp>
      <p:sp>
        <p:nvSpPr>
          <p:cNvPr id="14" name="Shape 12"/>
          <p:cNvSpPr/>
          <p:nvPr/>
        </p:nvSpPr>
        <p:spPr>
          <a:xfrm>
            <a:off x="539750" y="2667791"/>
            <a:ext cx="317500" cy="317500"/>
          </a:xfrm>
          <a:prstGeom prst="roundRect">
            <a:avLst>
              <a:gd name="adj" fmla="val 50000"/>
            </a:avLst>
          </a:prstGeom>
          <a:solidFill>
            <a:srgbClr val="0A84FF"/>
          </a:solidFill>
          <a:ln/>
        </p:spPr>
      </p:sp>
      <p:sp>
        <p:nvSpPr>
          <p:cNvPr id="15" name="Text 13"/>
          <p:cNvSpPr/>
          <p:nvPr/>
        </p:nvSpPr>
        <p:spPr>
          <a:xfrm>
            <a:off x="656927" y="2715416"/>
            <a:ext cx="1508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2</a:t>
            </a:r>
            <a:endParaRPr lang="en-US" sz="1600" dirty="0"/>
          </a:p>
        </p:txBody>
      </p:sp>
      <p:sp>
        <p:nvSpPr>
          <p:cNvPr id="16" name="Text 14"/>
          <p:cNvSpPr/>
          <p:nvPr/>
        </p:nvSpPr>
        <p:spPr>
          <a:xfrm>
            <a:off x="952500" y="2667791"/>
            <a:ext cx="2976563" cy="222250"/>
          </a:xfrm>
          <a:prstGeom prst="rect">
            <a:avLst/>
          </a:prstGeom>
          <a:noFill/>
          <a:ln/>
        </p:spPr>
        <p:txBody>
          <a:bodyPr wrap="square" lIns="0" tIns="0" rIns="0" bIns="0" rtlCol="0" anchor="ctr"/>
          <a:lstStyle/>
          <a:p>
            <a:pPr>
              <a:lnSpc>
                <a:spcPct val="130000"/>
              </a:lnSpc>
            </a:pPr>
            <a:r>
              <a:rPr lang="en-US" sz="1125" b="1" dirty="0">
                <a:solidFill>
                  <a:srgbClr val="0A84FF"/>
                </a:solidFill>
                <a:latin typeface="Liter" pitchFamily="34" charset="0"/>
                <a:ea typeface="Liter" pitchFamily="34" charset="-122"/>
                <a:cs typeface="Liter" pitchFamily="34" charset="-120"/>
              </a:rPr>
              <a:t>Run Installer</a:t>
            </a:r>
            <a:endParaRPr lang="en-US" sz="1600" dirty="0"/>
          </a:p>
        </p:txBody>
      </p:sp>
      <p:sp>
        <p:nvSpPr>
          <p:cNvPr id="17" name="Text 15"/>
          <p:cNvSpPr/>
          <p:nvPr/>
        </p:nvSpPr>
        <p:spPr>
          <a:xfrm>
            <a:off x="952500" y="2921791"/>
            <a:ext cx="2968625"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Double-click downloaded file and follow instructions</a:t>
            </a:r>
            <a:endParaRPr lang="en-US" sz="1600" dirty="0"/>
          </a:p>
        </p:txBody>
      </p:sp>
      <p:sp>
        <p:nvSpPr>
          <p:cNvPr id="18" name="Shape 16"/>
          <p:cNvSpPr/>
          <p:nvPr/>
        </p:nvSpPr>
        <p:spPr>
          <a:xfrm>
            <a:off x="539750" y="3536156"/>
            <a:ext cx="317500" cy="317500"/>
          </a:xfrm>
          <a:prstGeom prst="roundRect">
            <a:avLst>
              <a:gd name="adj" fmla="val 50000"/>
            </a:avLst>
          </a:prstGeom>
          <a:solidFill>
            <a:srgbClr val="8E8E93"/>
          </a:solidFill>
          <a:ln/>
        </p:spPr>
      </p:sp>
      <p:sp>
        <p:nvSpPr>
          <p:cNvPr id="19" name="Text 17"/>
          <p:cNvSpPr/>
          <p:nvPr/>
        </p:nvSpPr>
        <p:spPr>
          <a:xfrm>
            <a:off x="656332" y="3583781"/>
            <a:ext cx="1587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3</a:t>
            </a:r>
            <a:endParaRPr lang="en-US" sz="1600" dirty="0"/>
          </a:p>
        </p:txBody>
      </p:sp>
      <p:sp>
        <p:nvSpPr>
          <p:cNvPr id="20" name="Text 18"/>
          <p:cNvSpPr/>
          <p:nvPr/>
        </p:nvSpPr>
        <p:spPr>
          <a:xfrm>
            <a:off x="952500" y="3536156"/>
            <a:ext cx="2500313" cy="222250"/>
          </a:xfrm>
          <a:prstGeom prst="rect">
            <a:avLst/>
          </a:prstGeom>
          <a:noFill/>
          <a:ln/>
        </p:spPr>
        <p:txBody>
          <a:bodyPr wrap="square" lIns="0" tIns="0" rIns="0" bIns="0" rtlCol="0" anchor="ctr"/>
          <a:lstStyle/>
          <a:p>
            <a:pPr>
              <a:lnSpc>
                <a:spcPct val="130000"/>
              </a:lnSpc>
            </a:pPr>
            <a:r>
              <a:rPr lang="en-US" sz="1125" b="1" dirty="0">
                <a:solidFill>
                  <a:srgbClr val="8E8E93"/>
                </a:solidFill>
                <a:latin typeface="Liter" pitchFamily="34" charset="0"/>
                <a:ea typeface="Liter" pitchFamily="34" charset="-122"/>
                <a:cs typeface="Liter" pitchFamily="34" charset="-120"/>
              </a:rPr>
              <a:t>Install Extensions</a:t>
            </a:r>
            <a:endParaRPr lang="en-US" sz="1600" dirty="0"/>
          </a:p>
        </p:txBody>
      </p:sp>
      <p:sp>
        <p:nvSpPr>
          <p:cNvPr id="21" name="Text 19"/>
          <p:cNvSpPr/>
          <p:nvPr/>
        </p:nvSpPr>
        <p:spPr>
          <a:xfrm>
            <a:off x="952500" y="3790156"/>
            <a:ext cx="2492375"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Add Flutter, Dart, or React Native extensions</a:t>
            </a:r>
            <a:endParaRPr lang="en-US" sz="1600" dirty="0"/>
          </a:p>
        </p:txBody>
      </p:sp>
      <p:sp>
        <p:nvSpPr>
          <p:cNvPr id="22" name="Shape 20"/>
          <p:cNvSpPr/>
          <p:nvPr/>
        </p:nvSpPr>
        <p:spPr>
          <a:xfrm>
            <a:off x="539750" y="4404522"/>
            <a:ext cx="317500" cy="317500"/>
          </a:xfrm>
          <a:prstGeom prst="roundRect">
            <a:avLst>
              <a:gd name="adj" fmla="val 50000"/>
            </a:avLst>
          </a:prstGeom>
          <a:solidFill>
            <a:srgbClr val="FF9500"/>
          </a:solidFill>
          <a:ln/>
        </p:spPr>
      </p:sp>
      <p:sp>
        <p:nvSpPr>
          <p:cNvPr id="23" name="Text 21"/>
          <p:cNvSpPr/>
          <p:nvPr/>
        </p:nvSpPr>
        <p:spPr>
          <a:xfrm>
            <a:off x="656332" y="4452147"/>
            <a:ext cx="1587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4</a:t>
            </a:r>
            <a:endParaRPr lang="en-US" sz="1600" dirty="0"/>
          </a:p>
        </p:txBody>
      </p:sp>
      <p:sp>
        <p:nvSpPr>
          <p:cNvPr id="24" name="Text 22"/>
          <p:cNvSpPr/>
          <p:nvPr/>
        </p:nvSpPr>
        <p:spPr>
          <a:xfrm>
            <a:off x="952500" y="4404522"/>
            <a:ext cx="3055938" cy="222250"/>
          </a:xfrm>
          <a:prstGeom prst="rect">
            <a:avLst/>
          </a:prstGeom>
          <a:noFill/>
          <a:ln/>
        </p:spPr>
        <p:txBody>
          <a:bodyPr wrap="square" lIns="0" tIns="0" rIns="0" bIns="0" rtlCol="0" anchor="ctr"/>
          <a:lstStyle/>
          <a:p>
            <a:pPr>
              <a:lnSpc>
                <a:spcPct val="130000"/>
              </a:lnSpc>
            </a:pPr>
            <a:r>
              <a:rPr lang="en-US" sz="1125" b="1" dirty="0">
                <a:solidFill>
                  <a:srgbClr val="FF9500"/>
                </a:solidFill>
                <a:latin typeface="Liter" pitchFamily="34" charset="0"/>
                <a:ea typeface="Liter" pitchFamily="34" charset="-122"/>
                <a:cs typeface="Liter" pitchFamily="34" charset="-120"/>
              </a:rPr>
              <a:t>Configure Settings</a:t>
            </a:r>
            <a:endParaRPr lang="en-US" sz="1600" dirty="0"/>
          </a:p>
        </p:txBody>
      </p:sp>
      <p:sp>
        <p:nvSpPr>
          <p:cNvPr id="25" name="Text 23"/>
          <p:cNvSpPr/>
          <p:nvPr/>
        </p:nvSpPr>
        <p:spPr>
          <a:xfrm>
            <a:off x="952500" y="4658522"/>
            <a:ext cx="3048000"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Set up themes, fonts, and shortcuts to your preference</a:t>
            </a:r>
            <a:endParaRPr lang="en-US" sz="1600" dirty="0"/>
          </a:p>
        </p:txBody>
      </p:sp>
      <p:sp>
        <p:nvSpPr>
          <p:cNvPr id="26" name="Shape 24"/>
          <p:cNvSpPr/>
          <p:nvPr/>
        </p:nvSpPr>
        <p:spPr>
          <a:xfrm>
            <a:off x="6175375" y="1047750"/>
            <a:ext cx="5699125" cy="3016250"/>
          </a:xfrm>
          <a:custGeom>
            <a:avLst/>
            <a:gdLst/>
            <a:ahLst/>
            <a:cxnLst/>
            <a:rect l="l" t="t" r="r" b="b"/>
            <a:pathLst>
              <a:path w="5699125" h="3016250">
                <a:moveTo>
                  <a:pt x="31750" y="0"/>
                </a:moveTo>
                <a:lnTo>
                  <a:pt x="5572125" y="0"/>
                </a:lnTo>
                <a:cubicBezTo>
                  <a:pt x="5642218" y="0"/>
                  <a:pt x="5699125" y="56907"/>
                  <a:pt x="5699125" y="127000"/>
                </a:cubicBezTo>
                <a:lnTo>
                  <a:pt x="5699125" y="2889250"/>
                </a:lnTo>
                <a:cubicBezTo>
                  <a:pt x="5699125" y="2959343"/>
                  <a:pt x="5642218" y="3016250"/>
                  <a:pt x="5572125" y="3016250"/>
                </a:cubicBezTo>
                <a:lnTo>
                  <a:pt x="31750" y="3016250"/>
                </a:lnTo>
                <a:cubicBezTo>
                  <a:pt x="14227" y="3016250"/>
                  <a:pt x="0" y="3002023"/>
                  <a:pt x="0" y="2984500"/>
                </a:cubicBezTo>
                <a:lnTo>
                  <a:pt x="0" y="31750"/>
                </a:lnTo>
                <a:cubicBezTo>
                  <a:pt x="0" y="14227"/>
                  <a:pt x="14227" y="0"/>
                  <a:pt x="31750" y="0"/>
                </a:cubicBezTo>
                <a:close/>
              </a:path>
            </a:pathLst>
          </a:custGeom>
          <a:solidFill>
            <a:srgbClr val="2C2C2E"/>
          </a:solidFill>
          <a:ln/>
        </p:spPr>
      </p:sp>
      <p:sp>
        <p:nvSpPr>
          <p:cNvPr id="27" name="Shape 25"/>
          <p:cNvSpPr/>
          <p:nvPr/>
        </p:nvSpPr>
        <p:spPr>
          <a:xfrm>
            <a:off x="6175375" y="1047750"/>
            <a:ext cx="31750" cy="3016250"/>
          </a:xfrm>
          <a:custGeom>
            <a:avLst/>
            <a:gdLst/>
            <a:ahLst/>
            <a:cxnLst/>
            <a:rect l="l" t="t" r="r" b="b"/>
            <a:pathLst>
              <a:path w="31750" h="3016250">
                <a:moveTo>
                  <a:pt x="31750" y="0"/>
                </a:moveTo>
                <a:lnTo>
                  <a:pt x="31750" y="0"/>
                </a:lnTo>
                <a:lnTo>
                  <a:pt x="31750" y="3016250"/>
                </a:lnTo>
                <a:lnTo>
                  <a:pt x="31750" y="3016250"/>
                </a:lnTo>
                <a:cubicBezTo>
                  <a:pt x="14227" y="3016250"/>
                  <a:pt x="0" y="3002023"/>
                  <a:pt x="0" y="2984500"/>
                </a:cubicBezTo>
                <a:lnTo>
                  <a:pt x="0" y="31750"/>
                </a:lnTo>
                <a:cubicBezTo>
                  <a:pt x="0" y="14227"/>
                  <a:pt x="14227" y="0"/>
                  <a:pt x="31750" y="0"/>
                </a:cubicBezTo>
                <a:close/>
              </a:path>
            </a:pathLst>
          </a:custGeom>
          <a:solidFill>
            <a:srgbClr val="0A84FF"/>
          </a:solidFill>
          <a:ln/>
        </p:spPr>
      </p:sp>
      <p:sp>
        <p:nvSpPr>
          <p:cNvPr id="28" name="Shape 26"/>
          <p:cNvSpPr/>
          <p:nvPr/>
        </p:nvSpPr>
        <p:spPr>
          <a:xfrm>
            <a:off x="6391672" y="1270000"/>
            <a:ext cx="178594" cy="158750"/>
          </a:xfrm>
          <a:custGeom>
            <a:avLst/>
            <a:gdLst/>
            <a:ahLst/>
            <a:cxnLst/>
            <a:rect l="l" t="t" r="r" b="b"/>
            <a:pathLst>
              <a:path w="178594" h="158750">
                <a:moveTo>
                  <a:pt x="95963" y="-5860"/>
                </a:moveTo>
                <a:cubicBezTo>
                  <a:pt x="94692" y="-8341"/>
                  <a:pt x="92118" y="-9922"/>
                  <a:pt x="89328" y="-9922"/>
                </a:cubicBezTo>
                <a:cubicBezTo>
                  <a:pt x="86537" y="-9922"/>
                  <a:pt x="83964" y="-8341"/>
                  <a:pt x="82693" y="-5860"/>
                </a:cubicBezTo>
                <a:lnTo>
                  <a:pt x="59872" y="38850"/>
                </a:lnTo>
                <a:lnTo>
                  <a:pt x="10294" y="46726"/>
                </a:lnTo>
                <a:cubicBezTo>
                  <a:pt x="7534" y="47160"/>
                  <a:pt x="5240" y="49113"/>
                  <a:pt x="4372" y="51780"/>
                </a:cubicBezTo>
                <a:cubicBezTo>
                  <a:pt x="3504" y="54446"/>
                  <a:pt x="4217" y="57361"/>
                  <a:pt x="6170" y="59345"/>
                </a:cubicBezTo>
                <a:lnTo>
                  <a:pt x="41641" y="94847"/>
                </a:lnTo>
                <a:lnTo>
                  <a:pt x="33827" y="144425"/>
                </a:lnTo>
                <a:cubicBezTo>
                  <a:pt x="33393" y="147185"/>
                  <a:pt x="34541" y="149975"/>
                  <a:pt x="36804" y="151619"/>
                </a:cubicBezTo>
                <a:cubicBezTo>
                  <a:pt x="39067" y="153262"/>
                  <a:pt x="42044" y="153510"/>
                  <a:pt x="44555" y="152239"/>
                </a:cubicBezTo>
                <a:lnTo>
                  <a:pt x="89328" y="129480"/>
                </a:lnTo>
                <a:lnTo>
                  <a:pt x="134069" y="152239"/>
                </a:lnTo>
                <a:cubicBezTo>
                  <a:pt x="136550" y="153510"/>
                  <a:pt x="139557" y="153262"/>
                  <a:pt x="141821" y="151619"/>
                </a:cubicBezTo>
                <a:cubicBezTo>
                  <a:pt x="144084" y="149975"/>
                  <a:pt x="145231" y="147216"/>
                  <a:pt x="144797" y="144425"/>
                </a:cubicBezTo>
                <a:lnTo>
                  <a:pt x="136953" y="94847"/>
                </a:lnTo>
                <a:lnTo>
                  <a:pt x="172424" y="59345"/>
                </a:lnTo>
                <a:cubicBezTo>
                  <a:pt x="174408" y="57361"/>
                  <a:pt x="175090" y="54446"/>
                  <a:pt x="174222" y="51780"/>
                </a:cubicBezTo>
                <a:cubicBezTo>
                  <a:pt x="173354" y="49113"/>
                  <a:pt x="171090" y="47160"/>
                  <a:pt x="168300" y="46726"/>
                </a:cubicBezTo>
                <a:lnTo>
                  <a:pt x="118752" y="38850"/>
                </a:lnTo>
                <a:lnTo>
                  <a:pt x="95963" y="-5860"/>
                </a:lnTo>
                <a:close/>
              </a:path>
            </a:pathLst>
          </a:custGeom>
          <a:solidFill>
            <a:srgbClr val="0A84FF"/>
          </a:solidFill>
          <a:ln/>
        </p:spPr>
      </p:sp>
      <p:sp>
        <p:nvSpPr>
          <p:cNvPr id="29" name="Text 27"/>
          <p:cNvSpPr/>
          <p:nvPr/>
        </p:nvSpPr>
        <p:spPr>
          <a:xfrm>
            <a:off x="6580188" y="1238250"/>
            <a:ext cx="5183188" cy="222250"/>
          </a:xfrm>
          <a:prstGeom prst="rect">
            <a:avLst/>
          </a:prstGeom>
          <a:noFill/>
          <a:ln/>
        </p:spPr>
        <p:txBody>
          <a:bodyPr wrap="square" lIns="0" tIns="0" rIns="0" bIns="0" rtlCol="0" anchor="ctr"/>
          <a:lstStyle/>
          <a:p>
            <a:pPr>
              <a:lnSpc>
                <a:spcPct val="120000"/>
              </a:lnSpc>
            </a:pPr>
            <a:r>
              <a:rPr lang="en-US" sz="1250" b="1" dirty="0">
                <a:solidFill>
                  <a:srgbClr val="0A84FF"/>
                </a:solidFill>
                <a:latin typeface="Liter" pitchFamily="34" charset="0"/>
                <a:ea typeface="Liter" pitchFamily="34" charset="-122"/>
                <a:cs typeface="Liter" pitchFamily="34" charset="-120"/>
              </a:rPr>
              <a:t>Why VS Code?</a:t>
            </a:r>
            <a:endParaRPr lang="en-US" sz="1600" dirty="0"/>
          </a:p>
        </p:txBody>
      </p:sp>
      <p:sp>
        <p:nvSpPr>
          <p:cNvPr id="30" name="Shape 28"/>
          <p:cNvSpPr/>
          <p:nvPr/>
        </p:nvSpPr>
        <p:spPr>
          <a:xfrm>
            <a:off x="6381750" y="1587500"/>
            <a:ext cx="5302250" cy="698500"/>
          </a:xfrm>
          <a:prstGeom prst="roundRect">
            <a:avLst>
              <a:gd name="adj" fmla="val 9091"/>
            </a:avLst>
          </a:prstGeom>
          <a:solidFill>
            <a:srgbClr val="1A1D21"/>
          </a:solidFill>
          <a:ln/>
        </p:spPr>
      </p:sp>
      <p:sp>
        <p:nvSpPr>
          <p:cNvPr id="31" name="Shape 29"/>
          <p:cNvSpPr/>
          <p:nvPr/>
        </p:nvSpPr>
        <p:spPr>
          <a:xfrm>
            <a:off x="6477000" y="1682750"/>
            <a:ext cx="254000" cy="254000"/>
          </a:xfrm>
          <a:prstGeom prst="roundRect">
            <a:avLst>
              <a:gd name="adj" fmla="val 25000"/>
            </a:avLst>
          </a:prstGeom>
          <a:solidFill>
            <a:srgbClr val="34C759"/>
          </a:solidFill>
          <a:ln/>
        </p:spPr>
      </p:sp>
      <p:sp>
        <p:nvSpPr>
          <p:cNvPr id="32" name="Shape 30"/>
          <p:cNvSpPr/>
          <p:nvPr/>
        </p:nvSpPr>
        <p:spPr>
          <a:xfrm>
            <a:off x="6550422" y="1754188"/>
            <a:ext cx="111125" cy="111125"/>
          </a:xfrm>
          <a:custGeom>
            <a:avLst/>
            <a:gdLst/>
            <a:ahLst/>
            <a:cxnLst/>
            <a:rect l="l" t="t" r="r" b="b"/>
            <a:pathLst>
              <a:path w="111125" h="111125">
                <a:moveTo>
                  <a:pt x="76398" y="0"/>
                </a:moveTo>
                <a:cubicBezTo>
                  <a:pt x="85297" y="0"/>
                  <a:pt x="93827" y="3538"/>
                  <a:pt x="100099" y="9810"/>
                </a:cubicBezTo>
                <a:lnTo>
                  <a:pt x="101293" y="11004"/>
                </a:lnTo>
                <a:cubicBezTo>
                  <a:pt x="107587" y="17298"/>
                  <a:pt x="111125" y="25828"/>
                  <a:pt x="111125" y="34705"/>
                </a:cubicBezTo>
                <a:cubicBezTo>
                  <a:pt x="111125" y="39936"/>
                  <a:pt x="109888" y="45036"/>
                  <a:pt x="107609" y="49637"/>
                </a:cubicBezTo>
                <a:cubicBezTo>
                  <a:pt x="107197" y="50440"/>
                  <a:pt x="106459" y="51048"/>
                  <a:pt x="105590" y="51308"/>
                </a:cubicBezTo>
                <a:lnTo>
                  <a:pt x="81282" y="58601"/>
                </a:lnTo>
                <a:cubicBezTo>
                  <a:pt x="80435" y="58862"/>
                  <a:pt x="79871" y="59621"/>
                  <a:pt x="79871" y="60511"/>
                </a:cubicBezTo>
                <a:cubicBezTo>
                  <a:pt x="79871" y="61618"/>
                  <a:pt x="80761" y="62508"/>
                  <a:pt x="81868" y="62508"/>
                </a:cubicBezTo>
                <a:lnTo>
                  <a:pt x="88857" y="62508"/>
                </a:lnTo>
                <a:cubicBezTo>
                  <a:pt x="91960" y="62508"/>
                  <a:pt x="93501" y="66241"/>
                  <a:pt x="91309" y="68433"/>
                </a:cubicBezTo>
                <a:lnTo>
                  <a:pt x="86447" y="73295"/>
                </a:lnTo>
                <a:cubicBezTo>
                  <a:pt x="86035" y="73707"/>
                  <a:pt x="85536" y="73989"/>
                  <a:pt x="84993" y="74163"/>
                </a:cubicBezTo>
                <a:lnTo>
                  <a:pt x="67413" y="79437"/>
                </a:lnTo>
                <a:cubicBezTo>
                  <a:pt x="66566" y="79697"/>
                  <a:pt x="66002" y="80457"/>
                  <a:pt x="66002" y="81347"/>
                </a:cubicBezTo>
                <a:cubicBezTo>
                  <a:pt x="66002" y="82454"/>
                  <a:pt x="66892" y="83344"/>
                  <a:pt x="67999" y="83344"/>
                </a:cubicBezTo>
                <a:cubicBezTo>
                  <a:pt x="70864" y="83344"/>
                  <a:pt x="72101" y="86751"/>
                  <a:pt x="69692" y="88314"/>
                </a:cubicBezTo>
                <a:cubicBezTo>
                  <a:pt x="60771" y="94087"/>
                  <a:pt x="50310" y="97234"/>
                  <a:pt x="39523" y="97234"/>
                </a:cubicBezTo>
                <a:lnTo>
                  <a:pt x="20858" y="97234"/>
                </a:lnTo>
                <a:lnTo>
                  <a:pt x="10440" y="107652"/>
                </a:lnTo>
                <a:cubicBezTo>
                  <a:pt x="8530" y="109562"/>
                  <a:pt x="5404" y="109562"/>
                  <a:pt x="3494" y="107652"/>
                </a:cubicBezTo>
                <a:cubicBezTo>
                  <a:pt x="1584" y="105742"/>
                  <a:pt x="1584" y="102617"/>
                  <a:pt x="3494" y="100707"/>
                </a:cubicBezTo>
                <a:lnTo>
                  <a:pt x="55563" y="48617"/>
                </a:lnTo>
                <a:cubicBezTo>
                  <a:pt x="57472" y="46707"/>
                  <a:pt x="57472" y="43582"/>
                  <a:pt x="55563" y="41672"/>
                </a:cubicBezTo>
                <a:cubicBezTo>
                  <a:pt x="53653" y="39762"/>
                  <a:pt x="50527" y="39762"/>
                  <a:pt x="48617" y="41672"/>
                </a:cubicBezTo>
                <a:lnTo>
                  <a:pt x="17255" y="73034"/>
                </a:lnTo>
                <a:cubicBezTo>
                  <a:pt x="16018" y="74271"/>
                  <a:pt x="13891" y="73403"/>
                  <a:pt x="13891" y="71645"/>
                </a:cubicBezTo>
                <a:cubicBezTo>
                  <a:pt x="13891" y="56908"/>
                  <a:pt x="19751" y="42779"/>
                  <a:pt x="30169" y="32361"/>
                </a:cubicBezTo>
                <a:lnTo>
                  <a:pt x="52698" y="9810"/>
                </a:lnTo>
                <a:cubicBezTo>
                  <a:pt x="58970" y="3538"/>
                  <a:pt x="67500" y="0"/>
                  <a:pt x="76398" y="0"/>
                </a:cubicBezTo>
                <a:close/>
              </a:path>
            </a:pathLst>
          </a:custGeom>
          <a:solidFill>
            <a:srgbClr val="1D1D1F"/>
          </a:solidFill>
          <a:ln/>
        </p:spPr>
      </p:sp>
      <p:sp>
        <p:nvSpPr>
          <p:cNvPr id="33" name="Text 31"/>
          <p:cNvSpPr/>
          <p:nvPr/>
        </p:nvSpPr>
        <p:spPr>
          <a:xfrm>
            <a:off x="6826250" y="1714500"/>
            <a:ext cx="730250"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Liter" pitchFamily="34" charset="0"/>
                <a:ea typeface="Liter" pitchFamily="34" charset="-122"/>
                <a:cs typeface="Liter" pitchFamily="34" charset="-120"/>
              </a:rPr>
              <a:t>Lightweight</a:t>
            </a:r>
            <a:endParaRPr lang="en-US" sz="1600" dirty="0"/>
          </a:p>
        </p:txBody>
      </p:sp>
      <p:sp>
        <p:nvSpPr>
          <p:cNvPr id="34" name="Text 32"/>
          <p:cNvSpPr/>
          <p:nvPr/>
        </p:nvSpPr>
        <p:spPr>
          <a:xfrm>
            <a:off x="6477000" y="2000250"/>
            <a:ext cx="5175250"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Uses less RAM than Android Studio or Xcode</a:t>
            </a:r>
            <a:endParaRPr lang="en-US" sz="1600" dirty="0"/>
          </a:p>
        </p:txBody>
      </p:sp>
      <p:sp>
        <p:nvSpPr>
          <p:cNvPr id="35" name="Shape 33"/>
          <p:cNvSpPr/>
          <p:nvPr/>
        </p:nvSpPr>
        <p:spPr>
          <a:xfrm>
            <a:off x="6381750" y="2381250"/>
            <a:ext cx="5302250" cy="698500"/>
          </a:xfrm>
          <a:prstGeom prst="roundRect">
            <a:avLst>
              <a:gd name="adj" fmla="val 9091"/>
            </a:avLst>
          </a:prstGeom>
          <a:solidFill>
            <a:srgbClr val="1A1D21"/>
          </a:solidFill>
          <a:ln/>
        </p:spPr>
      </p:sp>
      <p:sp>
        <p:nvSpPr>
          <p:cNvPr id="36" name="Shape 34"/>
          <p:cNvSpPr/>
          <p:nvPr/>
        </p:nvSpPr>
        <p:spPr>
          <a:xfrm>
            <a:off x="6477000" y="2476500"/>
            <a:ext cx="254000" cy="254000"/>
          </a:xfrm>
          <a:prstGeom prst="roundRect">
            <a:avLst>
              <a:gd name="adj" fmla="val 25000"/>
            </a:avLst>
          </a:prstGeom>
          <a:solidFill>
            <a:srgbClr val="0A84FF"/>
          </a:solidFill>
          <a:ln/>
        </p:spPr>
      </p:sp>
      <p:sp>
        <p:nvSpPr>
          <p:cNvPr id="37" name="Shape 35"/>
          <p:cNvSpPr/>
          <p:nvPr/>
        </p:nvSpPr>
        <p:spPr>
          <a:xfrm>
            <a:off x="6550422" y="2547938"/>
            <a:ext cx="111125" cy="111125"/>
          </a:xfrm>
          <a:custGeom>
            <a:avLst/>
            <a:gdLst/>
            <a:ahLst/>
            <a:cxnLst/>
            <a:rect l="l" t="t" r="r" b="b"/>
            <a:pathLst>
              <a:path w="111125" h="111125">
                <a:moveTo>
                  <a:pt x="48617" y="0"/>
                </a:moveTo>
                <a:cubicBezTo>
                  <a:pt x="56279" y="0"/>
                  <a:pt x="62508" y="4666"/>
                  <a:pt x="62508" y="10418"/>
                </a:cubicBezTo>
                <a:cubicBezTo>
                  <a:pt x="62508" y="12675"/>
                  <a:pt x="61553" y="14759"/>
                  <a:pt x="59903" y="16473"/>
                </a:cubicBezTo>
                <a:cubicBezTo>
                  <a:pt x="58471" y="17971"/>
                  <a:pt x="57299" y="19794"/>
                  <a:pt x="57299" y="21878"/>
                </a:cubicBezTo>
                <a:cubicBezTo>
                  <a:pt x="57299" y="25133"/>
                  <a:pt x="59947" y="27781"/>
                  <a:pt x="63202" y="27781"/>
                </a:cubicBezTo>
                <a:lnTo>
                  <a:pt x="72926" y="27781"/>
                </a:lnTo>
                <a:cubicBezTo>
                  <a:pt x="78677" y="27781"/>
                  <a:pt x="83344" y="32448"/>
                  <a:pt x="83344" y="38199"/>
                </a:cubicBezTo>
                <a:lnTo>
                  <a:pt x="83344" y="47923"/>
                </a:lnTo>
                <a:cubicBezTo>
                  <a:pt x="83344" y="51178"/>
                  <a:pt x="85992" y="53826"/>
                  <a:pt x="89247" y="53826"/>
                </a:cubicBezTo>
                <a:cubicBezTo>
                  <a:pt x="91309" y="53826"/>
                  <a:pt x="93154" y="52654"/>
                  <a:pt x="94652" y="51222"/>
                </a:cubicBezTo>
                <a:cubicBezTo>
                  <a:pt x="96366" y="49594"/>
                  <a:pt x="98450" y="48617"/>
                  <a:pt x="100707" y="48617"/>
                </a:cubicBezTo>
                <a:cubicBezTo>
                  <a:pt x="106459" y="48617"/>
                  <a:pt x="111125" y="54846"/>
                  <a:pt x="111125" y="62508"/>
                </a:cubicBezTo>
                <a:cubicBezTo>
                  <a:pt x="111125" y="70169"/>
                  <a:pt x="106459" y="76398"/>
                  <a:pt x="100707" y="76398"/>
                </a:cubicBezTo>
                <a:cubicBezTo>
                  <a:pt x="98450" y="76398"/>
                  <a:pt x="96345" y="75443"/>
                  <a:pt x="94652" y="73794"/>
                </a:cubicBezTo>
                <a:cubicBezTo>
                  <a:pt x="93154" y="72361"/>
                  <a:pt x="91331" y="71189"/>
                  <a:pt x="89247" y="71189"/>
                </a:cubicBezTo>
                <a:cubicBezTo>
                  <a:pt x="85992" y="71189"/>
                  <a:pt x="83344" y="73837"/>
                  <a:pt x="83344" y="77093"/>
                </a:cubicBezTo>
                <a:lnTo>
                  <a:pt x="83344" y="100707"/>
                </a:lnTo>
                <a:cubicBezTo>
                  <a:pt x="83344" y="106459"/>
                  <a:pt x="78677" y="111125"/>
                  <a:pt x="72926" y="111125"/>
                </a:cubicBezTo>
                <a:lnTo>
                  <a:pt x="60598" y="111125"/>
                </a:lnTo>
                <a:cubicBezTo>
                  <a:pt x="57820" y="111125"/>
                  <a:pt x="55563" y="108868"/>
                  <a:pt x="55563" y="106090"/>
                </a:cubicBezTo>
                <a:cubicBezTo>
                  <a:pt x="55563" y="104093"/>
                  <a:pt x="56821" y="102335"/>
                  <a:pt x="58427" y="101141"/>
                </a:cubicBezTo>
                <a:cubicBezTo>
                  <a:pt x="60945" y="99253"/>
                  <a:pt x="62508" y="96648"/>
                  <a:pt x="62508" y="93762"/>
                </a:cubicBezTo>
                <a:cubicBezTo>
                  <a:pt x="62508" y="88010"/>
                  <a:pt x="56279" y="83344"/>
                  <a:pt x="48617" y="83344"/>
                </a:cubicBezTo>
                <a:cubicBezTo>
                  <a:pt x="40956" y="83344"/>
                  <a:pt x="34727" y="88010"/>
                  <a:pt x="34727" y="93762"/>
                </a:cubicBezTo>
                <a:cubicBezTo>
                  <a:pt x="34727" y="96648"/>
                  <a:pt x="36289" y="99253"/>
                  <a:pt x="38807" y="101141"/>
                </a:cubicBezTo>
                <a:cubicBezTo>
                  <a:pt x="40413" y="102335"/>
                  <a:pt x="41672" y="104071"/>
                  <a:pt x="41672" y="106090"/>
                </a:cubicBezTo>
                <a:cubicBezTo>
                  <a:pt x="41672" y="108868"/>
                  <a:pt x="39415" y="111125"/>
                  <a:pt x="36637" y="111125"/>
                </a:cubicBezTo>
                <a:lnTo>
                  <a:pt x="10418" y="111125"/>
                </a:lnTo>
                <a:cubicBezTo>
                  <a:pt x="4666" y="111125"/>
                  <a:pt x="0" y="106459"/>
                  <a:pt x="0" y="100707"/>
                </a:cubicBezTo>
                <a:lnTo>
                  <a:pt x="0" y="74488"/>
                </a:lnTo>
                <a:cubicBezTo>
                  <a:pt x="0" y="71710"/>
                  <a:pt x="2257" y="69453"/>
                  <a:pt x="5035" y="69453"/>
                </a:cubicBezTo>
                <a:cubicBezTo>
                  <a:pt x="7032" y="69453"/>
                  <a:pt x="8790" y="70712"/>
                  <a:pt x="9984" y="72318"/>
                </a:cubicBezTo>
                <a:cubicBezTo>
                  <a:pt x="11872" y="74836"/>
                  <a:pt x="14477" y="76398"/>
                  <a:pt x="17363" y="76398"/>
                </a:cubicBezTo>
                <a:cubicBezTo>
                  <a:pt x="23115" y="76398"/>
                  <a:pt x="27781" y="70169"/>
                  <a:pt x="27781" y="62508"/>
                </a:cubicBezTo>
                <a:cubicBezTo>
                  <a:pt x="27781" y="54846"/>
                  <a:pt x="23115" y="48617"/>
                  <a:pt x="17363" y="48617"/>
                </a:cubicBezTo>
                <a:cubicBezTo>
                  <a:pt x="14477" y="48617"/>
                  <a:pt x="11872" y="50180"/>
                  <a:pt x="9984" y="52698"/>
                </a:cubicBezTo>
                <a:cubicBezTo>
                  <a:pt x="8790" y="54304"/>
                  <a:pt x="7054" y="55563"/>
                  <a:pt x="5035" y="55563"/>
                </a:cubicBezTo>
                <a:cubicBezTo>
                  <a:pt x="2257" y="55563"/>
                  <a:pt x="0" y="53305"/>
                  <a:pt x="0" y="50527"/>
                </a:cubicBezTo>
                <a:lnTo>
                  <a:pt x="0" y="38199"/>
                </a:lnTo>
                <a:cubicBezTo>
                  <a:pt x="0" y="32448"/>
                  <a:pt x="4666" y="27781"/>
                  <a:pt x="10418" y="27781"/>
                </a:cubicBezTo>
                <a:lnTo>
                  <a:pt x="34032" y="27781"/>
                </a:lnTo>
                <a:cubicBezTo>
                  <a:pt x="37288" y="27781"/>
                  <a:pt x="39936" y="25133"/>
                  <a:pt x="39936" y="21878"/>
                </a:cubicBezTo>
                <a:cubicBezTo>
                  <a:pt x="39936" y="19816"/>
                  <a:pt x="38764" y="17971"/>
                  <a:pt x="37331" y="16473"/>
                </a:cubicBezTo>
                <a:cubicBezTo>
                  <a:pt x="35703" y="14759"/>
                  <a:pt x="34727" y="12675"/>
                  <a:pt x="34727" y="10418"/>
                </a:cubicBezTo>
                <a:cubicBezTo>
                  <a:pt x="34727" y="4666"/>
                  <a:pt x="40956" y="0"/>
                  <a:pt x="48617" y="0"/>
                </a:cubicBezTo>
                <a:close/>
              </a:path>
            </a:pathLst>
          </a:custGeom>
          <a:solidFill>
            <a:srgbClr val="FFFFFF"/>
          </a:solidFill>
          <a:ln/>
        </p:spPr>
      </p:sp>
      <p:sp>
        <p:nvSpPr>
          <p:cNvPr id="38" name="Text 36"/>
          <p:cNvSpPr/>
          <p:nvPr/>
        </p:nvSpPr>
        <p:spPr>
          <a:xfrm>
            <a:off x="6826250" y="2508250"/>
            <a:ext cx="642938" cy="190500"/>
          </a:xfrm>
          <a:prstGeom prst="rect">
            <a:avLst/>
          </a:prstGeom>
          <a:noFill/>
          <a:ln/>
        </p:spPr>
        <p:txBody>
          <a:bodyPr wrap="square" lIns="0" tIns="0" rIns="0" bIns="0" rtlCol="0" anchor="ctr"/>
          <a:lstStyle/>
          <a:p>
            <a:pPr>
              <a:lnSpc>
                <a:spcPct val="130000"/>
              </a:lnSpc>
            </a:pPr>
            <a:r>
              <a:rPr lang="en-US" sz="1000" b="1" dirty="0">
                <a:solidFill>
                  <a:srgbClr val="0A84FF"/>
                </a:solidFill>
                <a:latin typeface="Liter" pitchFamily="34" charset="0"/>
                <a:ea typeface="Liter" pitchFamily="34" charset="-122"/>
                <a:cs typeface="Liter" pitchFamily="34" charset="-120"/>
              </a:rPr>
              <a:t>Extensible</a:t>
            </a:r>
            <a:endParaRPr lang="en-US" sz="1600" dirty="0"/>
          </a:p>
        </p:txBody>
      </p:sp>
      <p:sp>
        <p:nvSpPr>
          <p:cNvPr id="39" name="Text 37"/>
          <p:cNvSpPr/>
          <p:nvPr/>
        </p:nvSpPr>
        <p:spPr>
          <a:xfrm>
            <a:off x="6477000" y="2794000"/>
            <a:ext cx="5175250"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Thousands of extensions for any programming need</a:t>
            </a:r>
            <a:endParaRPr lang="en-US" sz="1600" dirty="0"/>
          </a:p>
        </p:txBody>
      </p:sp>
      <p:sp>
        <p:nvSpPr>
          <p:cNvPr id="40" name="Shape 38"/>
          <p:cNvSpPr/>
          <p:nvPr/>
        </p:nvSpPr>
        <p:spPr>
          <a:xfrm>
            <a:off x="6381750" y="3175000"/>
            <a:ext cx="5302250" cy="698500"/>
          </a:xfrm>
          <a:prstGeom prst="roundRect">
            <a:avLst>
              <a:gd name="adj" fmla="val 9091"/>
            </a:avLst>
          </a:prstGeom>
          <a:solidFill>
            <a:srgbClr val="1A1D21"/>
          </a:solidFill>
          <a:ln/>
        </p:spPr>
      </p:sp>
      <p:sp>
        <p:nvSpPr>
          <p:cNvPr id="41" name="Shape 39"/>
          <p:cNvSpPr/>
          <p:nvPr/>
        </p:nvSpPr>
        <p:spPr>
          <a:xfrm>
            <a:off x="6477000" y="3270250"/>
            <a:ext cx="254000" cy="254000"/>
          </a:xfrm>
          <a:prstGeom prst="roundRect">
            <a:avLst>
              <a:gd name="adj" fmla="val 25000"/>
            </a:avLst>
          </a:prstGeom>
          <a:solidFill>
            <a:srgbClr val="8E8E93"/>
          </a:solidFill>
          <a:ln/>
        </p:spPr>
      </p:sp>
      <p:sp>
        <p:nvSpPr>
          <p:cNvPr id="42" name="Shape 40"/>
          <p:cNvSpPr/>
          <p:nvPr/>
        </p:nvSpPr>
        <p:spPr>
          <a:xfrm>
            <a:off x="6536531" y="3341688"/>
            <a:ext cx="138906" cy="111125"/>
          </a:xfrm>
          <a:custGeom>
            <a:avLst/>
            <a:gdLst/>
            <a:ahLst/>
            <a:cxnLst/>
            <a:rect l="l" t="t" r="r" b="b"/>
            <a:pathLst>
              <a:path w="138906" h="111125">
                <a:moveTo>
                  <a:pt x="27781" y="6945"/>
                </a:moveTo>
                <a:cubicBezTo>
                  <a:pt x="20120" y="6945"/>
                  <a:pt x="13891" y="13174"/>
                  <a:pt x="13891" y="20836"/>
                </a:cubicBezTo>
                <a:lnTo>
                  <a:pt x="13891" y="72926"/>
                </a:lnTo>
                <a:lnTo>
                  <a:pt x="27781" y="72926"/>
                </a:lnTo>
                <a:lnTo>
                  <a:pt x="27781" y="20836"/>
                </a:lnTo>
                <a:lnTo>
                  <a:pt x="111125" y="20836"/>
                </a:lnTo>
                <a:lnTo>
                  <a:pt x="111125" y="72926"/>
                </a:lnTo>
                <a:lnTo>
                  <a:pt x="125016" y="72926"/>
                </a:lnTo>
                <a:lnTo>
                  <a:pt x="125016" y="20836"/>
                </a:lnTo>
                <a:cubicBezTo>
                  <a:pt x="125016" y="13174"/>
                  <a:pt x="118787" y="6945"/>
                  <a:pt x="111125" y="6945"/>
                </a:cubicBezTo>
                <a:lnTo>
                  <a:pt x="27781" y="6945"/>
                </a:lnTo>
                <a:close/>
                <a:moveTo>
                  <a:pt x="4167" y="83344"/>
                </a:moveTo>
                <a:cubicBezTo>
                  <a:pt x="1867" y="83344"/>
                  <a:pt x="0" y="85210"/>
                  <a:pt x="0" y="87511"/>
                </a:cubicBezTo>
                <a:cubicBezTo>
                  <a:pt x="0" y="96713"/>
                  <a:pt x="7466" y="104180"/>
                  <a:pt x="16669" y="104180"/>
                </a:cubicBezTo>
                <a:lnTo>
                  <a:pt x="122237" y="104180"/>
                </a:lnTo>
                <a:cubicBezTo>
                  <a:pt x="131440" y="104180"/>
                  <a:pt x="138906" y="96713"/>
                  <a:pt x="138906" y="87511"/>
                </a:cubicBezTo>
                <a:cubicBezTo>
                  <a:pt x="138906" y="85210"/>
                  <a:pt x="137040" y="83344"/>
                  <a:pt x="134739" y="83344"/>
                </a:cubicBezTo>
                <a:lnTo>
                  <a:pt x="4167" y="83344"/>
                </a:lnTo>
                <a:close/>
              </a:path>
            </a:pathLst>
          </a:custGeom>
          <a:solidFill>
            <a:srgbClr val="FFFFFF"/>
          </a:solidFill>
          <a:ln/>
        </p:spPr>
      </p:sp>
      <p:sp>
        <p:nvSpPr>
          <p:cNvPr id="43" name="Text 41"/>
          <p:cNvSpPr/>
          <p:nvPr/>
        </p:nvSpPr>
        <p:spPr>
          <a:xfrm>
            <a:off x="6826250" y="3302000"/>
            <a:ext cx="920750" cy="190500"/>
          </a:xfrm>
          <a:prstGeom prst="rect">
            <a:avLst/>
          </a:prstGeom>
          <a:noFill/>
          <a:ln/>
        </p:spPr>
        <p:txBody>
          <a:bodyPr wrap="square" lIns="0" tIns="0" rIns="0" bIns="0" rtlCol="0" anchor="ctr"/>
          <a:lstStyle/>
          <a:p>
            <a:pPr>
              <a:lnSpc>
                <a:spcPct val="130000"/>
              </a:lnSpc>
            </a:pPr>
            <a:r>
              <a:rPr lang="en-US" sz="1000" b="1" dirty="0">
                <a:solidFill>
                  <a:srgbClr val="8E8E93"/>
                </a:solidFill>
                <a:latin typeface="Liter" pitchFamily="34" charset="0"/>
                <a:ea typeface="Liter" pitchFamily="34" charset="-122"/>
                <a:cs typeface="Liter" pitchFamily="34" charset="-120"/>
              </a:rPr>
              <a:t>Cross-Platform</a:t>
            </a:r>
            <a:endParaRPr lang="en-US" sz="1600" dirty="0"/>
          </a:p>
        </p:txBody>
      </p:sp>
      <p:sp>
        <p:nvSpPr>
          <p:cNvPr id="44" name="Text 42"/>
          <p:cNvSpPr/>
          <p:nvPr/>
        </p:nvSpPr>
        <p:spPr>
          <a:xfrm>
            <a:off x="6477000" y="3587750"/>
            <a:ext cx="5175250" cy="190500"/>
          </a:xfrm>
          <a:prstGeom prst="rect">
            <a:avLst/>
          </a:prstGeom>
          <a:noFill/>
          <a:ln/>
        </p:spPr>
        <p:txBody>
          <a:bodyPr wrap="square" lIns="0" tIns="0" rIns="0" bIns="0" rtlCol="0" anchor="ctr"/>
          <a:lstStyle/>
          <a:p>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Works on Windows, Mac, and Linux</a:t>
            </a:r>
            <a:endParaRPr lang="en-US" sz="1600" dirty="0"/>
          </a:p>
        </p:txBody>
      </p:sp>
      <p:sp>
        <p:nvSpPr>
          <p:cNvPr id="45" name="Shape 43"/>
          <p:cNvSpPr/>
          <p:nvPr/>
        </p:nvSpPr>
        <p:spPr>
          <a:xfrm>
            <a:off x="6162675" y="4194175"/>
            <a:ext cx="5705475" cy="1054100"/>
          </a:xfrm>
          <a:prstGeom prst="roundRect">
            <a:avLst>
              <a:gd name="adj" fmla="val 12048"/>
            </a:avLst>
          </a:prstGeom>
          <a:solidFill>
            <a:srgbClr val="34C759">
              <a:alpha val="10196"/>
            </a:srgbClr>
          </a:solidFill>
          <a:ln w="10160">
            <a:solidFill>
              <a:srgbClr val="34C759">
                <a:alpha val="30196"/>
              </a:srgbClr>
            </a:solidFill>
            <a:prstDash val="solid"/>
          </a:ln>
        </p:spPr>
      </p:sp>
      <p:sp>
        <p:nvSpPr>
          <p:cNvPr id="46" name="Shape 44"/>
          <p:cNvSpPr/>
          <p:nvPr/>
        </p:nvSpPr>
        <p:spPr>
          <a:xfrm>
            <a:off x="6344444" y="4395794"/>
            <a:ext cx="142875" cy="142875"/>
          </a:xfrm>
          <a:custGeom>
            <a:avLst/>
            <a:gdLst/>
            <a:ahLst/>
            <a:cxnLst/>
            <a:rect l="l" t="t" r="r" b="b"/>
            <a:pathLst>
              <a:path w="142875" h="142875">
                <a:moveTo>
                  <a:pt x="71438" y="133945"/>
                </a:moveTo>
                <a:cubicBezTo>
                  <a:pt x="110896" y="133945"/>
                  <a:pt x="142875" y="103947"/>
                  <a:pt x="142875" y="66973"/>
                </a:cubicBezTo>
                <a:cubicBezTo>
                  <a:pt x="142875" y="29998"/>
                  <a:pt x="110896" y="0"/>
                  <a:pt x="71438" y="0"/>
                </a:cubicBezTo>
                <a:cubicBezTo>
                  <a:pt x="31979" y="0"/>
                  <a:pt x="0" y="29998"/>
                  <a:pt x="0" y="66973"/>
                </a:cubicBezTo>
                <a:cubicBezTo>
                  <a:pt x="0" y="82125"/>
                  <a:pt x="5358" y="96078"/>
                  <a:pt x="14399" y="107296"/>
                </a:cubicBezTo>
                <a:lnTo>
                  <a:pt x="781" y="133052"/>
                </a:lnTo>
                <a:cubicBezTo>
                  <a:pt x="-558" y="135564"/>
                  <a:pt x="-140" y="138633"/>
                  <a:pt x="1786" y="140726"/>
                </a:cubicBezTo>
                <a:cubicBezTo>
                  <a:pt x="3711" y="142819"/>
                  <a:pt x="6753" y="143461"/>
                  <a:pt x="9348" y="142345"/>
                </a:cubicBezTo>
                <a:lnTo>
                  <a:pt x="42388" y="128197"/>
                </a:lnTo>
                <a:cubicBezTo>
                  <a:pt x="51262" y="131880"/>
                  <a:pt x="61085" y="133945"/>
                  <a:pt x="71438" y="133945"/>
                </a:cubicBezTo>
                <a:close/>
                <a:moveTo>
                  <a:pt x="35719" y="58043"/>
                </a:moveTo>
                <a:cubicBezTo>
                  <a:pt x="40647" y="58043"/>
                  <a:pt x="44648" y="62044"/>
                  <a:pt x="44648" y="66973"/>
                </a:cubicBezTo>
                <a:cubicBezTo>
                  <a:pt x="44648" y="71901"/>
                  <a:pt x="40647" y="75902"/>
                  <a:pt x="35719" y="75902"/>
                </a:cubicBezTo>
                <a:cubicBezTo>
                  <a:pt x="30790" y="75902"/>
                  <a:pt x="26789" y="71901"/>
                  <a:pt x="26789" y="66973"/>
                </a:cubicBezTo>
                <a:cubicBezTo>
                  <a:pt x="26789" y="62044"/>
                  <a:pt x="30790" y="58043"/>
                  <a:pt x="35719" y="58043"/>
                </a:cubicBezTo>
                <a:close/>
                <a:moveTo>
                  <a:pt x="71438" y="58043"/>
                </a:moveTo>
                <a:cubicBezTo>
                  <a:pt x="76366" y="58043"/>
                  <a:pt x="80367" y="62044"/>
                  <a:pt x="80367" y="66973"/>
                </a:cubicBezTo>
                <a:cubicBezTo>
                  <a:pt x="80367" y="71901"/>
                  <a:pt x="76366" y="75902"/>
                  <a:pt x="71438" y="75902"/>
                </a:cubicBezTo>
                <a:cubicBezTo>
                  <a:pt x="66509" y="75902"/>
                  <a:pt x="62508" y="71901"/>
                  <a:pt x="62508" y="66973"/>
                </a:cubicBezTo>
                <a:cubicBezTo>
                  <a:pt x="62508" y="62044"/>
                  <a:pt x="66509" y="58043"/>
                  <a:pt x="71438" y="58043"/>
                </a:cubicBezTo>
                <a:close/>
                <a:moveTo>
                  <a:pt x="98227" y="66973"/>
                </a:moveTo>
                <a:cubicBezTo>
                  <a:pt x="98227" y="62044"/>
                  <a:pt x="102228" y="58043"/>
                  <a:pt x="107156" y="58043"/>
                </a:cubicBezTo>
                <a:cubicBezTo>
                  <a:pt x="112085" y="58043"/>
                  <a:pt x="116086" y="62044"/>
                  <a:pt x="116086" y="66973"/>
                </a:cubicBezTo>
                <a:cubicBezTo>
                  <a:pt x="116086" y="71901"/>
                  <a:pt x="112085" y="75902"/>
                  <a:pt x="107156" y="75902"/>
                </a:cubicBezTo>
                <a:cubicBezTo>
                  <a:pt x="102228" y="75902"/>
                  <a:pt x="98227" y="71901"/>
                  <a:pt x="98227" y="66973"/>
                </a:cubicBezTo>
                <a:close/>
              </a:path>
            </a:pathLst>
          </a:custGeom>
          <a:solidFill>
            <a:srgbClr val="34C759"/>
          </a:solidFill>
          <a:ln/>
        </p:spPr>
      </p:sp>
      <p:sp>
        <p:nvSpPr>
          <p:cNvPr id="47" name="Text 45"/>
          <p:cNvSpPr/>
          <p:nvPr/>
        </p:nvSpPr>
        <p:spPr>
          <a:xfrm>
            <a:off x="6507162" y="4356106"/>
            <a:ext cx="5270500" cy="222250"/>
          </a:xfrm>
          <a:prstGeom prst="rect">
            <a:avLst/>
          </a:prstGeom>
          <a:noFill/>
          <a:ln/>
        </p:spPr>
        <p:txBody>
          <a:bodyPr wrap="square" lIns="0" tIns="0" rIns="0" bIns="0" rtlCol="0" anchor="ctr"/>
          <a:lstStyle/>
          <a:p>
            <a:pPr>
              <a:lnSpc>
                <a:spcPct val="130000"/>
              </a:lnSpc>
            </a:pPr>
            <a:r>
              <a:rPr lang="en-US" sz="1125" b="1" dirty="0">
                <a:solidFill>
                  <a:srgbClr val="34C759"/>
                </a:solidFill>
                <a:latin typeface="Liter" pitchFamily="34" charset="0"/>
                <a:ea typeface="Liter" pitchFamily="34" charset="-122"/>
                <a:cs typeface="Liter" pitchFamily="34" charset="-120"/>
              </a:rPr>
              <a:t>Simple Explanation</a:t>
            </a:r>
            <a:endParaRPr lang="en-US" sz="1600" dirty="0"/>
          </a:p>
        </p:txBody>
      </p:sp>
      <p:sp>
        <p:nvSpPr>
          <p:cNvPr id="48" name="Text 46"/>
          <p:cNvSpPr/>
          <p:nvPr/>
        </p:nvSpPr>
        <p:spPr>
          <a:xfrm>
            <a:off x="6324600" y="4673606"/>
            <a:ext cx="5445125" cy="412750"/>
          </a:xfrm>
          <a:prstGeom prst="rect">
            <a:avLst/>
          </a:prstGeom>
          <a:noFill/>
          <a:ln/>
        </p:spPr>
        <p:txBody>
          <a:bodyPr wrap="square" lIns="0" tIns="0" rIns="0" bIns="0" rtlCol="0" anchor="ctr"/>
          <a:lstStyle/>
          <a:p>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VS Code is like </a:t>
            </a:r>
            <a:pPr>
              <a:lnSpc>
                <a:spcPct val="140000"/>
              </a:lnSpc>
            </a:pPr>
            <a:r>
              <a:rPr lang="en-US" sz="1000" b="1" dirty="0">
                <a:solidFill>
                  <a:srgbClr val="34C759"/>
                </a:solidFill>
                <a:latin typeface="Quattrocento Sans" pitchFamily="34" charset="0"/>
                <a:ea typeface="Quattrocento Sans" pitchFamily="34" charset="-122"/>
                <a:cs typeface="Quattrocento Sans" pitchFamily="34" charset="-120"/>
              </a:rPr>
              <a:t>a lightweight Swiss Army knife</a:t>
            </a:r>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 It's fast, works everywhere, and you can add tools (extensions) as needed. Perfect for beginners!</a:t>
            </a:r>
            <a:endParaRPr lang="en-US" sz="1600" dirty="0"/>
          </a:p>
        </p:txBody>
      </p:sp>
      <p:sp>
        <p:nvSpPr>
          <p:cNvPr id="49" name="Shape 47"/>
          <p:cNvSpPr/>
          <p:nvPr/>
        </p:nvSpPr>
        <p:spPr>
          <a:xfrm>
            <a:off x="317500" y="5378447"/>
            <a:ext cx="11557000" cy="1492250"/>
          </a:xfrm>
          <a:prstGeom prst="roundRect">
            <a:avLst>
              <a:gd name="adj" fmla="val 8511"/>
            </a:avLst>
          </a:prstGeom>
          <a:solidFill>
            <a:srgbClr val="2C2C2E"/>
          </a:solidFill>
          <a:ln/>
        </p:spPr>
      </p:sp>
      <p:sp>
        <p:nvSpPr>
          <p:cNvPr id="50" name="Shape 48"/>
          <p:cNvSpPr/>
          <p:nvPr/>
        </p:nvSpPr>
        <p:spPr>
          <a:xfrm>
            <a:off x="505023" y="5576884"/>
            <a:ext cx="125016" cy="142875"/>
          </a:xfrm>
          <a:custGeom>
            <a:avLst/>
            <a:gdLst/>
            <a:ahLst/>
            <a:cxnLst/>
            <a:rect l="l" t="t" r="r" b="b"/>
            <a:pathLst>
              <a:path w="125016" h="142875">
                <a:moveTo>
                  <a:pt x="80367" y="0"/>
                </a:moveTo>
                <a:lnTo>
                  <a:pt x="35719" y="0"/>
                </a:lnTo>
                <a:cubicBezTo>
                  <a:pt x="30780" y="0"/>
                  <a:pt x="26789" y="3990"/>
                  <a:pt x="26789" y="8930"/>
                </a:cubicBezTo>
                <a:cubicBezTo>
                  <a:pt x="26789" y="13869"/>
                  <a:pt x="30780" y="17859"/>
                  <a:pt x="35719" y="17859"/>
                </a:cubicBezTo>
                <a:lnTo>
                  <a:pt x="35719" y="60136"/>
                </a:lnTo>
                <a:lnTo>
                  <a:pt x="2093" y="118960"/>
                </a:lnTo>
                <a:cubicBezTo>
                  <a:pt x="726" y="121388"/>
                  <a:pt x="0" y="124095"/>
                  <a:pt x="0" y="126885"/>
                </a:cubicBezTo>
                <a:cubicBezTo>
                  <a:pt x="0" y="135731"/>
                  <a:pt x="7144" y="142875"/>
                  <a:pt x="15990" y="142875"/>
                </a:cubicBezTo>
                <a:lnTo>
                  <a:pt x="109026" y="142875"/>
                </a:lnTo>
                <a:cubicBezTo>
                  <a:pt x="117844" y="142875"/>
                  <a:pt x="125016" y="135731"/>
                  <a:pt x="125016" y="126885"/>
                </a:cubicBezTo>
                <a:cubicBezTo>
                  <a:pt x="125016" y="124095"/>
                  <a:pt x="124290" y="121360"/>
                  <a:pt x="122923" y="118960"/>
                </a:cubicBezTo>
                <a:lnTo>
                  <a:pt x="89297" y="60136"/>
                </a:lnTo>
                <a:lnTo>
                  <a:pt x="89297" y="17859"/>
                </a:lnTo>
                <a:cubicBezTo>
                  <a:pt x="94236" y="17859"/>
                  <a:pt x="98227" y="13869"/>
                  <a:pt x="98227" y="8930"/>
                </a:cubicBezTo>
                <a:cubicBezTo>
                  <a:pt x="98227" y="3990"/>
                  <a:pt x="94236" y="0"/>
                  <a:pt x="89297" y="0"/>
                </a:cubicBezTo>
                <a:lnTo>
                  <a:pt x="80367" y="0"/>
                </a:lnTo>
                <a:close/>
                <a:moveTo>
                  <a:pt x="53578" y="60136"/>
                </a:moveTo>
                <a:lnTo>
                  <a:pt x="53578" y="17859"/>
                </a:lnTo>
                <a:lnTo>
                  <a:pt x="71438" y="17859"/>
                </a:lnTo>
                <a:lnTo>
                  <a:pt x="71438" y="60136"/>
                </a:lnTo>
                <a:cubicBezTo>
                  <a:pt x="71438" y="63233"/>
                  <a:pt x="72247" y="66303"/>
                  <a:pt x="73782" y="69010"/>
                </a:cubicBezTo>
                <a:lnTo>
                  <a:pt x="85390" y="89297"/>
                </a:lnTo>
                <a:lnTo>
                  <a:pt x="39625" y="89297"/>
                </a:lnTo>
                <a:lnTo>
                  <a:pt x="51234" y="69010"/>
                </a:lnTo>
                <a:cubicBezTo>
                  <a:pt x="52769" y="66303"/>
                  <a:pt x="53578" y="63261"/>
                  <a:pt x="53578" y="60136"/>
                </a:cubicBezTo>
                <a:close/>
              </a:path>
            </a:pathLst>
          </a:custGeom>
          <a:solidFill>
            <a:srgbClr val="8E8E93"/>
          </a:solidFill>
          <a:ln/>
        </p:spPr>
      </p:sp>
      <p:sp>
        <p:nvSpPr>
          <p:cNvPr id="51" name="Text 49"/>
          <p:cNvSpPr/>
          <p:nvPr/>
        </p:nvSpPr>
        <p:spPr>
          <a:xfrm>
            <a:off x="658813" y="5537197"/>
            <a:ext cx="11128375" cy="222250"/>
          </a:xfrm>
          <a:prstGeom prst="rect">
            <a:avLst/>
          </a:prstGeom>
          <a:noFill/>
          <a:ln/>
        </p:spPr>
        <p:txBody>
          <a:bodyPr wrap="square" lIns="0" tIns="0" rIns="0" bIns="0" rtlCol="0" anchor="ctr"/>
          <a:lstStyle/>
          <a:p>
            <a:pPr>
              <a:lnSpc>
                <a:spcPct val="130000"/>
              </a:lnSpc>
            </a:pPr>
            <a:r>
              <a:rPr lang="en-US" sz="1125" b="1" dirty="0">
                <a:solidFill>
                  <a:srgbClr val="8E8E93"/>
                </a:solidFill>
                <a:latin typeface="Liter" pitchFamily="34" charset="0"/>
                <a:ea typeface="Liter" pitchFamily="34" charset="-122"/>
                <a:cs typeface="Liter" pitchFamily="34" charset="-120"/>
              </a:rPr>
              <a:t>Lab Steps</a:t>
            </a:r>
            <a:endParaRPr lang="en-US" sz="1600" dirty="0"/>
          </a:p>
        </p:txBody>
      </p:sp>
      <p:sp>
        <p:nvSpPr>
          <p:cNvPr id="52" name="Shape 50"/>
          <p:cNvSpPr/>
          <p:nvPr/>
        </p:nvSpPr>
        <p:spPr>
          <a:xfrm>
            <a:off x="476250" y="5854697"/>
            <a:ext cx="2738438" cy="857250"/>
          </a:xfrm>
          <a:prstGeom prst="roundRect">
            <a:avLst>
              <a:gd name="adj" fmla="val 7407"/>
            </a:avLst>
          </a:prstGeom>
          <a:solidFill>
            <a:srgbClr val="1A1D21"/>
          </a:solidFill>
          <a:ln/>
        </p:spPr>
      </p:sp>
      <p:sp>
        <p:nvSpPr>
          <p:cNvPr id="53" name="Text 51"/>
          <p:cNvSpPr/>
          <p:nvPr/>
        </p:nvSpPr>
        <p:spPr>
          <a:xfrm>
            <a:off x="523875" y="5949947"/>
            <a:ext cx="2643188" cy="254000"/>
          </a:xfrm>
          <a:prstGeom prst="rect">
            <a:avLst/>
          </a:prstGeom>
          <a:noFill/>
          <a:ln/>
        </p:spPr>
        <p:txBody>
          <a:bodyPr wrap="square" lIns="0" tIns="0" rIns="0" bIns="0" rtlCol="0" anchor="ctr"/>
          <a:lstStyle/>
          <a:p>
            <a:pPr algn="ctr">
              <a:lnSpc>
                <a:spcPct val="110000"/>
              </a:lnSpc>
            </a:pPr>
            <a:r>
              <a:rPr lang="en-US" sz="1500" dirty="0">
                <a:solidFill>
                  <a:srgbClr val="F5F5F7"/>
                </a:solidFill>
                <a:latin typeface="Quattrocento Sans" pitchFamily="34" charset="0"/>
                <a:ea typeface="Quattrocento Sans" pitchFamily="34" charset="-122"/>
                <a:cs typeface="Quattrocento Sans" pitchFamily="34" charset="-120"/>
              </a:rPr>
              <a:t>⬇️</a:t>
            </a:r>
            <a:endParaRPr lang="en-US" sz="1600" dirty="0"/>
          </a:p>
        </p:txBody>
      </p:sp>
      <p:sp>
        <p:nvSpPr>
          <p:cNvPr id="54" name="Text 52"/>
          <p:cNvSpPr/>
          <p:nvPr/>
        </p:nvSpPr>
        <p:spPr>
          <a:xfrm>
            <a:off x="539750" y="6267354"/>
            <a:ext cx="2611438" cy="190500"/>
          </a:xfrm>
          <a:prstGeom prst="rect">
            <a:avLst/>
          </a:prstGeom>
          <a:noFill/>
          <a:ln/>
        </p:spPr>
        <p:txBody>
          <a:bodyPr wrap="square" lIns="0" tIns="0" rIns="0" bIns="0" rtlCol="0" anchor="ctr"/>
          <a:lstStyle/>
          <a:p>
            <a:pPr algn="ct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Step 1</a:t>
            </a:r>
            <a:endParaRPr lang="en-US" sz="1600" dirty="0"/>
          </a:p>
        </p:txBody>
      </p:sp>
      <p:sp>
        <p:nvSpPr>
          <p:cNvPr id="55" name="Text 53"/>
          <p:cNvSpPr/>
          <p:nvPr/>
        </p:nvSpPr>
        <p:spPr>
          <a:xfrm>
            <a:off x="543719" y="6457854"/>
            <a:ext cx="2603500" cy="158750"/>
          </a:xfrm>
          <a:prstGeom prst="rect">
            <a:avLst/>
          </a:prstGeom>
          <a:noFill/>
          <a:ln/>
        </p:spPr>
        <p:txBody>
          <a:bodyPr wrap="square" lIns="0" tIns="0" rIns="0" bIns="0" rtlCol="0" anchor="ctr"/>
          <a:lstStyle/>
          <a:p>
            <a:pPr algn="ctr">
              <a:lnSpc>
                <a:spcPct val="120000"/>
              </a:lnSpc>
            </a:pPr>
            <a:r>
              <a:rPr lang="en-US" sz="875" dirty="0">
                <a:solidFill>
                  <a:srgbClr val="8E8E93"/>
                </a:solidFill>
                <a:latin typeface="Quattrocento Sans" pitchFamily="34" charset="0"/>
                <a:ea typeface="Quattrocento Sans" pitchFamily="34" charset="-122"/>
                <a:cs typeface="Quattrocento Sans" pitchFamily="34" charset="-120"/>
              </a:rPr>
              <a:t>Download from official site</a:t>
            </a:r>
            <a:endParaRPr lang="en-US" sz="1600" dirty="0"/>
          </a:p>
        </p:txBody>
      </p:sp>
      <p:sp>
        <p:nvSpPr>
          <p:cNvPr id="56" name="Shape 54"/>
          <p:cNvSpPr/>
          <p:nvPr/>
        </p:nvSpPr>
        <p:spPr>
          <a:xfrm>
            <a:off x="3309938" y="5854697"/>
            <a:ext cx="2738438" cy="857250"/>
          </a:xfrm>
          <a:prstGeom prst="roundRect">
            <a:avLst>
              <a:gd name="adj" fmla="val 7407"/>
            </a:avLst>
          </a:prstGeom>
          <a:solidFill>
            <a:srgbClr val="1A1D21"/>
          </a:solidFill>
          <a:ln/>
        </p:spPr>
      </p:sp>
      <p:sp>
        <p:nvSpPr>
          <p:cNvPr id="57" name="Text 55"/>
          <p:cNvSpPr/>
          <p:nvPr/>
        </p:nvSpPr>
        <p:spPr>
          <a:xfrm>
            <a:off x="3357563" y="5949947"/>
            <a:ext cx="2643188" cy="254000"/>
          </a:xfrm>
          <a:prstGeom prst="rect">
            <a:avLst/>
          </a:prstGeom>
          <a:noFill/>
          <a:ln/>
        </p:spPr>
        <p:txBody>
          <a:bodyPr wrap="square" lIns="0" tIns="0" rIns="0" bIns="0" rtlCol="0" anchor="ctr"/>
          <a:lstStyle/>
          <a:p>
            <a:pPr algn="ctr">
              <a:lnSpc>
                <a:spcPct val="110000"/>
              </a:lnSpc>
            </a:pPr>
            <a:r>
              <a:rPr lang="en-US" sz="1500" dirty="0">
                <a:solidFill>
                  <a:srgbClr val="F5F5F7"/>
                </a:solidFill>
                <a:latin typeface="Quattrocento Sans" pitchFamily="34" charset="0"/>
                <a:ea typeface="Quattrocento Sans" pitchFamily="34" charset="-122"/>
                <a:cs typeface="Quattrocento Sans" pitchFamily="34" charset="-120"/>
              </a:rPr>
              <a:t>⚙️</a:t>
            </a:r>
            <a:endParaRPr lang="en-US" sz="1600" dirty="0"/>
          </a:p>
        </p:txBody>
      </p:sp>
      <p:sp>
        <p:nvSpPr>
          <p:cNvPr id="58" name="Text 56"/>
          <p:cNvSpPr/>
          <p:nvPr/>
        </p:nvSpPr>
        <p:spPr>
          <a:xfrm>
            <a:off x="3373438" y="6267354"/>
            <a:ext cx="2611438" cy="190500"/>
          </a:xfrm>
          <a:prstGeom prst="rect">
            <a:avLst/>
          </a:prstGeom>
          <a:noFill/>
          <a:ln/>
        </p:spPr>
        <p:txBody>
          <a:bodyPr wrap="square" lIns="0" tIns="0" rIns="0" bIns="0" rtlCol="0" anchor="ctr"/>
          <a:lstStyle/>
          <a:p>
            <a:pPr algn="ct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Step 2</a:t>
            </a:r>
            <a:endParaRPr lang="en-US" sz="1600" dirty="0"/>
          </a:p>
        </p:txBody>
      </p:sp>
      <p:sp>
        <p:nvSpPr>
          <p:cNvPr id="59" name="Text 57"/>
          <p:cNvSpPr/>
          <p:nvPr/>
        </p:nvSpPr>
        <p:spPr>
          <a:xfrm>
            <a:off x="3377406" y="6457854"/>
            <a:ext cx="2603500" cy="158750"/>
          </a:xfrm>
          <a:prstGeom prst="rect">
            <a:avLst/>
          </a:prstGeom>
          <a:noFill/>
          <a:ln/>
        </p:spPr>
        <p:txBody>
          <a:bodyPr wrap="square" lIns="0" tIns="0" rIns="0" bIns="0" rtlCol="0" anchor="ctr"/>
          <a:lstStyle/>
          <a:p>
            <a:pPr algn="ctr">
              <a:lnSpc>
                <a:spcPct val="120000"/>
              </a:lnSpc>
            </a:pPr>
            <a:r>
              <a:rPr lang="en-US" sz="875" dirty="0">
                <a:solidFill>
                  <a:srgbClr val="8E8E93"/>
                </a:solidFill>
                <a:latin typeface="Quattrocento Sans" pitchFamily="34" charset="0"/>
                <a:ea typeface="Quattrocento Sans" pitchFamily="34" charset="-122"/>
                <a:cs typeface="Quattrocento Sans" pitchFamily="34" charset="-120"/>
              </a:rPr>
              <a:t>Run installer</a:t>
            </a:r>
            <a:endParaRPr lang="en-US" sz="1600" dirty="0"/>
          </a:p>
        </p:txBody>
      </p:sp>
      <p:sp>
        <p:nvSpPr>
          <p:cNvPr id="60" name="Shape 58"/>
          <p:cNvSpPr/>
          <p:nvPr/>
        </p:nvSpPr>
        <p:spPr>
          <a:xfrm>
            <a:off x="6143625" y="5854697"/>
            <a:ext cx="2738438" cy="857250"/>
          </a:xfrm>
          <a:prstGeom prst="roundRect">
            <a:avLst>
              <a:gd name="adj" fmla="val 7407"/>
            </a:avLst>
          </a:prstGeom>
          <a:solidFill>
            <a:srgbClr val="1A1D21"/>
          </a:solidFill>
          <a:ln/>
        </p:spPr>
      </p:sp>
      <p:sp>
        <p:nvSpPr>
          <p:cNvPr id="61" name="Text 59"/>
          <p:cNvSpPr/>
          <p:nvPr/>
        </p:nvSpPr>
        <p:spPr>
          <a:xfrm>
            <a:off x="6191250" y="5949947"/>
            <a:ext cx="2643188" cy="254000"/>
          </a:xfrm>
          <a:prstGeom prst="rect">
            <a:avLst/>
          </a:prstGeom>
          <a:noFill/>
          <a:ln/>
        </p:spPr>
        <p:txBody>
          <a:bodyPr wrap="square" lIns="0" tIns="0" rIns="0" bIns="0" rtlCol="0" anchor="ctr"/>
          <a:lstStyle/>
          <a:p>
            <a:pPr algn="ctr">
              <a:lnSpc>
                <a:spcPct val="110000"/>
              </a:lnSpc>
            </a:pPr>
            <a:r>
              <a:rPr lang="en-US" sz="1500" dirty="0">
                <a:solidFill>
                  <a:srgbClr val="F5F5F7"/>
                </a:solidFill>
                <a:latin typeface="Quattrocento Sans" pitchFamily="34" charset="0"/>
                <a:ea typeface="Quattrocento Sans" pitchFamily="34" charset="-122"/>
                <a:cs typeface="Quattrocento Sans" pitchFamily="34" charset="-120"/>
              </a:rPr>
              <a:t>🧩</a:t>
            </a:r>
            <a:endParaRPr lang="en-US" sz="1600" dirty="0"/>
          </a:p>
        </p:txBody>
      </p:sp>
      <p:sp>
        <p:nvSpPr>
          <p:cNvPr id="62" name="Text 60"/>
          <p:cNvSpPr/>
          <p:nvPr/>
        </p:nvSpPr>
        <p:spPr>
          <a:xfrm>
            <a:off x="6207125" y="6267354"/>
            <a:ext cx="2611438" cy="190500"/>
          </a:xfrm>
          <a:prstGeom prst="rect">
            <a:avLst/>
          </a:prstGeom>
          <a:noFill/>
          <a:ln/>
        </p:spPr>
        <p:txBody>
          <a:bodyPr wrap="square" lIns="0" tIns="0" rIns="0" bIns="0" rtlCol="0" anchor="ctr"/>
          <a:lstStyle/>
          <a:p>
            <a:pPr algn="ct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Step 3</a:t>
            </a:r>
            <a:endParaRPr lang="en-US" sz="1600" dirty="0"/>
          </a:p>
        </p:txBody>
      </p:sp>
      <p:sp>
        <p:nvSpPr>
          <p:cNvPr id="63" name="Text 61"/>
          <p:cNvSpPr/>
          <p:nvPr/>
        </p:nvSpPr>
        <p:spPr>
          <a:xfrm>
            <a:off x="6211094" y="6457854"/>
            <a:ext cx="2603500" cy="158750"/>
          </a:xfrm>
          <a:prstGeom prst="rect">
            <a:avLst/>
          </a:prstGeom>
          <a:noFill/>
          <a:ln/>
        </p:spPr>
        <p:txBody>
          <a:bodyPr wrap="square" lIns="0" tIns="0" rIns="0" bIns="0" rtlCol="0" anchor="ctr"/>
          <a:lstStyle/>
          <a:p>
            <a:pPr algn="ctr">
              <a:lnSpc>
                <a:spcPct val="120000"/>
              </a:lnSpc>
            </a:pPr>
            <a:r>
              <a:rPr lang="en-US" sz="875" dirty="0">
                <a:solidFill>
                  <a:srgbClr val="8E8E93"/>
                </a:solidFill>
                <a:latin typeface="Quattrocento Sans" pitchFamily="34" charset="0"/>
                <a:ea typeface="Quattrocento Sans" pitchFamily="34" charset="-122"/>
                <a:cs typeface="Quattrocento Sans" pitchFamily="34" charset="-120"/>
              </a:rPr>
              <a:t>Install mobile dev extensions</a:t>
            </a:r>
            <a:endParaRPr lang="en-US" sz="1600" dirty="0"/>
          </a:p>
        </p:txBody>
      </p:sp>
      <p:sp>
        <p:nvSpPr>
          <p:cNvPr id="64" name="Shape 62"/>
          <p:cNvSpPr/>
          <p:nvPr/>
        </p:nvSpPr>
        <p:spPr>
          <a:xfrm>
            <a:off x="8977313" y="5854697"/>
            <a:ext cx="2738438" cy="857250"/>
          </a:xfrm>
          <a:prstGeom prst="roundRect">
            <a:avLst>
              <a:gd name="adj" fmla="val 7407"/>
            </a:avLst>
          </a:prstGeom>
          <a:solidFill>
            <a:srgbClr val="1A1D21"/>
          </a:solidFill>
          <a:ln/>
        </p:spPr>
      </p:sp>
      <p:sp>
        <p:nvSpPr>
          <p:cNvPr id="65" name="Text 63"/>
          <p:cNvSpPr/>
          <p:nvPr/>
        </p:nvSpPr>
        <p:spPr>
          <a:xfrm>
            <a:off x="9024938" y="5949947"/>
            <a:ext cx="2643188" cy="254000"/>
          </a:xfrm>
          <a:prstGeom prst="rect">
            <a:avLst/>
          </a:prstGeom>
          <a:noFill/>
          <a:ln/>
        </p:spPr>
        <p:txBody>
          <a:bodyPr wrap="square" lIns="0" tIns="0" rIns="0" bIns="0" rtlCol="0" anchor="ctr"/>
          <a:lstStyle/>
          <a:p>
            <a:pPr algn="ctr">
              <a:lnSpc>
                <a:spcPct val="110000"/>
              </a:lnSpc>
            </a:pPr>
            <a:r>
              <a:rPr lang="en-US" sz="1500" dirty="0">
                <a:solidFill>
                  <a:srgbClr val="F5F5F7"/>
                </a:solidFill>
                <a:latin typeface="Quattrocento Sans" pitchFamily="34" charset="0"/>
                <a:ea typeface="Quattrocento Sans" pitchFamily="34" charset="-122"/>
                <a:cs typeface="Quattrocento Sans" pitchFamily="34" charset="-120"/>
              </a:rPr>
              <a:t>🚀</a:t>
            </a:r>
            <a:endParaRPr lang="en-US" sz="1600" dirty="0"/>
          </a:p>
        </p:txBody>
      </p:sp>
      <p:sp>
        <p:nvSpPr>
          <p:cNvPr id="66" name="Text 64"/>
          <p:cNvSpPr/>
          <p:nvPr/>
        </p:nvSpPr>
        <p:spPr>
          <a:xfrm>
            <a:off x="9040813" y="6267354"/>
            <a:ext cx="2611438" cy="190500"/>
          </a:xfrm>
          <a:prstGeom prst="rect">
            <a:avLst/>
          </a:prstGeom>
          <a:noFill/>
          <a:ln/>
        </p:spPr>
        <p:txBody>
          <a:bodyPr wrap="square" lIns="0" tIns="0" rIns="0" bIns="0" rtlCol="0" anchor="ctr"/>
          <a:lstStyle/>
          <a:p>
            <a:pPr algn="ct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Step 4</a:t>
            </a:r>
            <a:endParaRPr lang="en-US" sz="1600" dirty="0"/>
          </a:p>
        </p:txBody>
      </p:sp>
      <p:sp>
        <p:nvSpPr>
          <p:cNvPr id="67" name="Text 65"/>
          <p:cNvSpPr/>
          <p:nvPr/>
        </p:nvSpPr>
        <p:spPr>
          <a:xfrm>
            <a:off x="9044781" y="6457854"/>
            <a:ext cx="2603500" cy="158750"/>
          </a:xfrm>
          <a:prstGeom prst="rect">
            <a:avLst/>
          </a:prstGeom>
          <a:noFill/>
          <a:ln/>
        </p:spPr>
        <p:txBody>
          <a:bodyPr wrap="square" lIns="0" tIns="0" rIns="0" bIns="0" rtlCol="0" anchor="ctr"/>
          <a:lstStyle/>
          <a:p>
            <a:pPr algn="ctr">
              <a:lnSpc>
                <a:spcPct val="120000"/>
              </a:lnSpc>
            </a:pPr>
            <a:r>
              <a:rPr lang="en-US" sz="875" dirty="0">
                <a:solidFill>
                  <a:srgbClr val="8E8E93"/>
                </a:solidFill>
                <a:latin typeface="Quattrocento Sans" pitchFamily="34" charset="0"/>
                <a:ea typeface="Quattrocento Sans" pitchFamily="34" charset="-122"/>
                <a:cs typeface="Quattrocento Sans" pitchFamily="34" charset="-120"/>
              </a:rPr>
              <a:t>Launch and explore</a:t>
            </a:r>
            <a:endParaRPr lang="en-US" sz="1600" dirty="0"/>
          </a:p>
        </p:txBody>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8E8E93"/>
          </a:solidFill>
          <a:ln/>
        </p:spPr>
      </p:sp>
      <p:sp>
        <p:nvSpPr>
          <p:cNvPr id="3" name="Text 1"/>
          <p:cNvSpPr/>
          <p:nvPr/>
        </p:nvSpPr>
        <p:spPr>
          <a:xfrm>
            <a:off x="474821" y="514350"/>
            <a:ext cx="381000"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Liter" pitchFamily="34" charset="0"/>
                <a:ea typeface="Liter" pitchFamily="34" charset="-122"/>
                <a:cs typeface="Liter" pitchFamily="34" charset="-120"/>
              </a:rPr>
              <a:t>26</a:t>
            </a:r>
            <a:endParaRPr lang="en-US" sz="1600" dirty="0"/>
          </a:p>
        </p:txBody>
      </p:sp>
      <p:sp>
        <p:nvSpPr>
          <p:cNvPr id="4" name="Text 2"/>
          <p:cNvSpPr/>
          <p:nvPr/>
        </p:nvSpPr>
        <p:spPr>
          <a:xfrm>
            <a:off x="952500" y="381000"/>
            <a:ext cx="3352800" cy="190500"/>
          </a:xfrm>
          <a:prstGeom prst="rect">
            <a:avLst/>
          </a:prstGeom>
          <a:noFill/>
          <a:ln/>
        </p:spPr>
        <p:txBody>
          <a:bodyPr wrap="square" lIns="0" tIns="0" rIns="0" bIns="0" rtlCol="0" anchor="ctr"/>
          <a:lstStyle/>
          <a:p>
            <a:pPr>
              <a:lnSpc>
                <a:spcPct val="120000"/>
              </a:lnSpc>
            </a:pPr>
            <a:r>
              <a:rPr lang="en-US" sz="1050" b="1" spc="53" kern="0" dirty="0">
                <a:solidFill>
                  <a:srgbClr val="8E8E93"/>
                </a:solidFill>
                <a:latin typeface="Quattrocento Sans" pitchFamily="34" charset="0"/>
                <a:ea typeface="Quattrocento Sans" pitchFamily="34" charset="-122"/>
                <a:cs typeface="Quattrocento Sans" pitchFamily="34" charset="-120"/>
              </a:rPr>
              <a:t>Framework Introduction</a:t>
            </a:r>
            <a:endParaRPr lang="en-US" sz="1600" dirty="0"/>
          </a:p>
        </p:txBody>
      </p:sp>
      <p:sp>
        <p:nvSpPr>
          <p:cNvPr id="5" name="Text 3"/>
          <p:cNvSpPr/>
          <p:nvPr/>
        </p:nvSpPr>
        <p:spPr>
          <a:xfrm>
            <a:off x="952500" y="571500"/>
            <a:ext cx="3457575" cy="381000"/>
          </a:xfrm>
          <a:prstGeom prst="rect">
            <a:avLst/>
          </a:prstGeom>
          <a:noFill/>
          <a:ln/>
        </p:spPr>
        <p:txBody>
          <a:bodyPr wrap="square" lIns="0" tIns="0" rIns="0" bIns="0" rtlCol="0" anchor="ctr"/>
          <a:lstStyle/>
          <a:p>
            <a:pPr>
              <a:lnSpc>
                <a:spcPct val="90000"/>
              </a:lnSpc>
            </a:pPr>
            <a:r>
              <a:rPr lang="en-US" sz="2700" b="1" dirty="0">
                <a:solidFill>
                  <a:srgbClr val="F5F5F7"/>
                </a:solidFill>
                <a:latin typeface="Liter" pitchFamily="34" charset="0"/>
                <a:ea typeface="Liter" pitchFamily="34" charset="-122"/>
                <a:cs typeface="Liter" pitchFamily="34" charset="-120"/>
              </a:rPr>
              <a:t>Introduction to Flutter</a:t>
            </a:r>
            <a:endParaRPr lang="en-US" sz="1600" dirty="0"/>
          </a:p>
        </p:txBody>
      </p:sp>
      <p:sp>
        <p:nvSpPr>
          <p:cNvPr id="6" name="Shape 4"/>
          <p:cNvSpPr/>
          <p:nvPr/>
        </p:nvSpPr>
        <p:spPr>
          <a:xfrm>
            <a:off x="400050" y="1257300"/>
            <a:ext cx="5581650" cy="3981450"/>
          </a:xfrm>
          <a:custGeom>
            <a:avLst/>
            <a:gdLst/>
            <a:ahLst/>
            <a:cxnLst/>
            <a:rect l="l" t="t" r="r" b="b"/>
            <a:pathLst>
              <a:path w="5581650" h="3981450">
                <a:moveTo>
                  <a:pt x="38100" y="0"/>
                </a:moveTo>
                <a:lnTo>
                  <a:pt x="5429250" y="0"/>
                </a:lnTo>
                <a:cubicBezTo>
                  <a:pt x="5513362" y="0"/>
                  <a:pt x="5581650" y="68288"/>
                  <a:pt x="5581650" y="152400"/>
                </a:cubicBezTo>
                <a:lnTo>
                  <a:pt x="5581650" y="3829050"/>
                </a:lnTo>
                <a:cubicBezTo>
                  <a:pt x="5581650" y="3913162"/>
                  <a:pt x="5513362" y="3981450"/>
                  <a:pt x="5429250" y="3981450"/>
                </a:cubicBezTo>
                <a:lnTo>
                  <a:pt x="38100" y="3981450"/>
                </a:lnTo>
                <a:cubicBezTo>
                  <a:pt x="17072" y="3981450"/>
                  <a:pt x="0" y="3964378"/>
                  <a:pt x="0" y="3943350"/>
                </a:cubicBezTo>
                <a:lnTo>
                  <a:pt x="0" y="38100"/>
                </a:lnTo>
                <a:cubicBezTo>
                  <a:pt x="0" y="17072"/>
                  <a:pt x="17072" y="0"/>
                  <a:pt x="38100" y="0"/>
                </a:cubicBezTo>
                <a:close/>
              </a:path>
            </a:pathLst>
          </a:custGeom>
          <a:solidFill>
            <a:srgbClr val="2C2C2E"/>
          </a:solidFill>
          <a:ln/>
        </p:spPr>
      </p:sp>
      <p:sp>
        <p:nvSpPr>
          <p:cNvPr id="7" name="Shape 5"/>
          <p:cNvSpPr/>
          <p:nvPr/>
        </p:nvSpPr>
        <p:spPr>
          <a:xfrm>
            <a:off x="400050" y="1257300"/>
            <a:ext cx="38100" cy="3981450"/>
          </a:xfrm>
          <a:custGeom>
            <a:avLst/>
            <a:gdLst/>
            <a:ahLst/>
            <a:cxnLst/>
            <a:rect l="l" t="t" r="r" b="b"/>
            <a:pathLst>
              <a:path w="38100" h="3981450">
                <a:moveTo>
                  <a:pt x="38100" y="0"/>
                </a:moveTo>
                <a:lnTo>
                  <a:pt x="38100" y="0"/>
                </a:lnTo>
                <a:lnTo>
                  <a:pt x="38100" y="3981450"/>
                </a:lnTo>
                <a:lnTo>
                  <a:pt x="38100" y="3981450"/>
                </a:lnTo>
                <a:cubicBezTo>
                  <a:pt x="17072" y="3981450"/>
                  <a:pt x="0" y="3964378"/>
                  <a:pt x="0" y="3943350"/>
                </a:cubicBezTo>
                <a:lnTo>
                  <a:pt x="0" y="38100"/>
                </a:lnTo>
                <a:cubicBezTo>
                  <a:pt x="0" y="17072"/>
                  <a:pt x="17072" y="0"/>
                  <a:pt x="38100" y="0"/>
                </a:cubicBezTo>
                <a:close/>
              </a:path>
            </a:pathLst>
          </a:custGeom>
          <a:solidFill>
            <a:srgbClr val="34C759"/>
          </a:solidFill>
          <a:ln/>
        </p:spPr>
      </p:sp>
      <p:sp>
        <p:nvSpPr>
          <p:cNvPr id="8" name="Shape 6"/>
          <p:cNvSpPr/>
          <p:nvPr/>
        </p:nvSpPr>
        <p:spPr>
          <a:xfrm>
            <a:off x="676275" y="1523888"/>
            <a:ext cx="228600" cy="228600"/>
          </a:xfrm>
          <a:custGeom>
            <a:avLst/>
            <a:gdLst/>
            <a:ahLst/>
            <a:cxnLst/>
            <a:rect l="l" t="t" r="r" b="b"/>
            <a:pathLst>
              <a:path w="228600" h="228600">
                <a:moveTo>
                  <a:pt x="114300" y="228600"/>
                </a:moveTo>
                <a:cubicBezTo>
                  <a:pt x="177384" y="228600"/>
                  <a:pt x="228600" y="177384"/>
                  <a:pt x="228600" y="114300"/>
                </a:cubicBezTo>
                <a:cubicBezTo>
                  <a:pt x="228600" y="51216"/>
                  <a:pt x="177384" y="0"/>
                  <a:pt x="114300" y="0"/>
                </a:cubicBezTo>
                <a:cubicBezTo>
                  <a:pt x="51216" y="0"/>
                  <a:pt x="0" y="51216"/>
                  <a:pt x="0" y="114300"/>
                </a:cubicBezTo>
                <a:cubicBezTo>
                  <a:pt x="0" y="177384"/>
                  <a:pt x="51216" y="228600"/>
                  <a:pt x="114300" y="228600"/>
                </a:cubicBezTo>
                <a:close/>
                <a:moveTo>
                  <a:pt x="100013" y="71438"/>
                </a:moveTo>
                <a:cubicBezTo>
                  <a:pt x="100013" y="63552"/>
                  <a:pt x="106415" y="57150"/>
                  <a:pt x="114300" y="57150"/>
                </a:cubicBezTo>
                <a:cubicBezTo>
                  <a:pt x="122185" y="57150"/>
                  <a:pt x="128588" y="63552"/>
                  <a:pt x="128588" y="71438"/>
                </a:cubicBezTo>
                <a:cubicBezTo>
                  <a:pt x="128588" y="79323"/>
                  <a:pt x="122185" y="85725"/>
                  <a:pt x="114300" y="85725"/>
                </a:cubicBezTo>
                <a:cubicBezTo>
                  <a:pt x="106415" y="85725"/>
                  <a:pt x="100013" y="79323"/>
                  <a:pt x="100013" y="71438"/>
                </a:cubicBezTo>
                <a:close/>
                <a:moveTo>
                  <a:pt x="96441" y="100013"/>
                </a:moveTo>
                <a:lnTo>
                  <a:pt x="117872" y="100013"/>
                </a:lnTo>
                <a:cubicBezTo>
                  <a:pt x="123810" y="100013"/>
                  <a:pt x="128588" y="104790"/>
                  <a:pt x="128588" y="110728"/>
                </a:cubicBezTo>
                <a:lnTo>
                  <a:pt x="128588" y="150019"/>
                </a:lnTo>
                <a:lnTo>
                  <a:pt x="132159" y="150019"/>
                </a:lnTo>
                <a:cubicBezTo>
                  <a:pt x="138098" y="150019"/>
                  <a:pt x="142875" y="154796"/>
                  <a:pt x="142875" y="160734"/>
                </a:cubicBezTo>
                <a:cubicBezTo>
                  <a:pt x="142875" y="166673"/>
                  <a:pt x="138098" y="171450"/>
                  <a:pt x="132159" y="171450"/>
                </a:cubicBezTo>
                <a:lnTo>
                  <a:pt x="96441" y="171450"/>
                </a:lnTo>
                <a:cubicBezTo>
                  <a:pt x="90502" y="171450"/>
                  <a:pt x="85725" y="166673"/>
                  <a:pt x="85725" y="160734"/>
                </a:cubicBezTo>
                <a:cubicBezTo>
                  <a:pt x="85725" y="154796"/>
                  <a:pt x="90502" y="150019"/>
                  <a:pt x="96441" y="150019"/>
                </a:cubicBezTo>
                <a:lnTo>
                  <a:pt x="107156" y="150019"/>
                </a:lnTo>
                <a:lnTo>
                  <a:pt x="107156" y="121444"/>
                </a:lnTo>
                <a:lnTo>
                  <a:pt x="96441" y="121444"/>
                </a:lnTo>
                <a:cubicBezTo>
                  <a:pt x="90502" y="121444"/>
                  <a:pt x="85725" y="116666"/>
                  <a:pt x="85725" y="110728"/>
                </a:cubicBezTo>
                <a:cubicBezTo>
                  <a:pt x="85725" y="104790"/>
                  <a:pt x="90502" y="100013"/>
                  <a:pt x="96441" y="100013"/>
                </a:cubicBezTo>
                <a:close/>
              </a:path>
            </a:pathLst>
          </a:custGeom>
          <a:solidFill>
            <a:srgbClr val="34C759"/>
          </a:solidFill>
          <a:ln/>
        </p:spPr>
      </p:sp>
      <p:sp>
        <p:nvSpPr>
          <p:cNvPr id="9" name="Text 7"/>
          <p:cNvSpPr/>
          <p:nvPr/>
        </p:nvSpPr>
        <p:spPr>
          <a:xfrm>
            <a:off x="933450" y="1485900"/>
            <a:ext cx="4933950" cy="304800"/>
          </a:xfrm>
          <a:prstGeom prst="rect">
            <a:avLst/>
          </a:prstGeom>
          <a:noFill/>
          <a:ln/>
        </p:spPr>
        <p:txBody>
          <a:bodyPr wrap="square" lIns="0" tIns="0" rIns="0" bIns="0" rtlCol="0" anchor="ctr"/>
          <a:lstStyle/>
          <a:p>
            <a:pPr>
              <a:lnSpc>
                <a:spcPct val="110000"/>
              </a:lnSpc>
            </a:pPr>
            <a:r>
              <a:rPr lang="en-US" sz="1800" b="1" dirty="0">
                <a:solidFill>
                  <a:srgbClr val="34C759"/>
                </a:solidFill>
                <a:latin typeface="Liter" pitchFamily="34" charset="0"/>
                <a:ea typeface="Liter" pitchFamily="34" charset="-122"/>
                <a:cs typeface="Liter" pitchFamily="34" charset="-120"/>
              </a:rPr>
              <a:t>What is Flutter?</a:t>
            </a:r>
            <a:endParaRPr lang="en-US" sz="1600" dirty="0"/>
          </a:p>
        </p:txBody>
      </p:sp>
      <p:sp>
        <p:nvSpPr>
          <p:cNvPr id="10" name="Shape 8"/>
          <p:cNvSpPr/>
          <p:nvPr/>
        </p:nvSpPr>
        <p:spPr>
          <a:xfrm>
            <a:off x="647700" y="2000138"/>
            <a:ext cx="304800" cy="304800"/>
          </a:xfrm>
          <a:prstGeom prst="roundRect">
            <a:avLst>
              <a:gd name="adj" fmla="val 25000"/>
            </a:avLst>
          </a:prstGeom>
          <a:solidFill>
            <a:srgbClr val="34C759"/>
          </a:solidFill>
          <a:ln/>
        </p:spPr>
      </p:sp>
      <p:sp>
        <p:nvSpPr>
          <p:cNvPr id="11" name="Shape 9"/>
          <p:cNvSpPr/>
          <p:nvPr/>
        </p:nvSpPr>
        <p:spPr>
          <a:xfrm>
            <a:off x="735806" y="2085863"/>
            <a:ext cx="133350" cy="133350"/>
          </a:xfrm>
          <a:custGeom>
            <a:avLst/>
            <a:gdLst/>
            <a:ahLst/>
            <a:cxnLst/>
            <a:rect l="l" t="t" r="r" b="b"/>
            <a:pathLst>
              <a:path w="133350" h="133350">
                <a:moveTo>
                  <a:pt x="130225" y="68186"/>
                </a:moveTo>
                <a:cubicBezTo>
                  <a:pt x="130225" y="105039"/>
                  <a:pt x="104987" y="131266"/>
                  <a:pt x="67717" y="131266"/>
                </a:cubicBezTo>
                <a:cubicBezTo>
                  <a:pt x="31983" y="131266"/>
                  <a:pt x="3125" y="102409"/>
                  <a:pt x="3125" y="66675"/>
                </a:cubicBezTo>
                <a:cubicBezTo>
                  <a:pt x="3125" y="30941"/>
                  <a:pt x="31983" y="2084"/>
                  <a:pt x="67717" y="2084"/>
                </a:cubicBezTo>
                <a:cubicBezTo>
                  <a:pt x="85115" y="2084"/>
                  <a:pt x="99752" y="8465"/>
                  <a:pt x="111030" y="18987"/>
                </a:cubicBezTo>
                <a:lnTo>
                  <a:pt x="93449" y="35890"/>
                </a:lnTo>
                <a:cubicBezTo>
                  <a:pt x="70452" y="13700"/>
                  <a:pt x="27686" y="30368"/>
                  <a:pt x="27686" y="66675"/>
                </a:cubicBezTo>
                <a:cubicBezTo>
                  <a:pt x="27686" y="89204"/>
                  <a:pt x="45683" y="107461"/>
                  <a:pt x="67717" y="107461"/>
                </a:cubicBezTo>
                <a:cubicBezTo>
                  <a:pt x="93293" y="107461"/>
                  <a:pt x="102877" y="89126"/>
                  <a:pt x="104388" y="79619"/>
                </a:cubicBezTo>
                <a:lnTo>
                  <a:pt x="67717" y="79619"/>
                </a:lnTo>
                <a:lnTo>
                  <a:pt x="67717" y="57403"/>
                </a:lnTo>
                <a:lnTo>
                  <a:pt x="129209" y="57403"/>
                </a:lnTo>
                <a:cubicBezTo>
                  <a:pt x="129808" y="60711"/>
                  <a:pt x="130225" y="63888"/>
                  <a:pt x="130225" y="68186"/>
                </a:cubicBezTo>
                <a:close/>
              </a:path>
            </a:pathLst>
          </a:custGeom>
          <a:solidFill>
            <a:srgbClr val="1D1D1F"/>
          </a:solidFill>
          <a:ln/>
        </p:spPr>
      </p:sp>
      <p:sp>
        <p:nvSpPr>
          <p:cNvPr id="12" name="Text 10"/>
          <p:cNvSpPr/>
          <p:nvPr/>
        </p:nvSpPr>
        <p:spPr>
          <a:xfrm>
            <a:off x="1066800" y="1981088"/>
            <a:ext cx="2409825" cy="228600"/>
          </a:xfrm>
          <a:prstGeom prst="rect">
            <a:avLst/>
          </a:prstGeom>
          <a:noFill/>
          <a:ln/>
        </p:spPr>
        <p:txBody>
          <a:bodyPr wrap="square" lIns="0" tIns="0" rIns="0" bIns="0" rtlCol="0" anchor="ctr"/>
          <a:lstStyle/>
          <a:p>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Google's UI toolkit</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for building apps</a:t>
            </a:r>
            <a:endParaRPr lang="en-US" sz="1600" dirty="0"/>
          </a:p>
        </p:txBody>
      </p:sp>
      <p:sp>
        <p:nvSpPr>
          <p:cNvPr id="13" name="Shape 11"/>
          <p:cNvSpPr/>
          <p:nvPr/>
        </p:nvSpPr>
        <p:spPr>
          <a:xfrm>
            <a:off x="647700" y="2438288"/>
            <a:ext cx="304800" cy="304800"/>
          </a:xfrm>
          <a:prstGeom prst="roundRect">
            <a:avLst>
              <a:gd name="adj" fmla="val 25000"/>
            </a:avLst>
          </a:prstGeom>
          <a:solidFill>
            <a:srgbClr val="34C759"/>
          </a:solidFill>
          <a:ln/>
        </p:spPr>
      </p:sp>
      <p:sp>
        <p:nvSpPr>
          <p:cNvPr id="14" name="Shape 12"/>
          <p:cNvSpPr/>
          <p:nvPr/>
        </p:nvSpPr>
        <p:spPr>
          <a:xfrm>
            <a:off x="727472" y="2524013"/>
            <a:ext cx="150019" cy="133350"/>
          </a:xfrm>
          <a:custGeom>
            <a:avLst/>
            <a:gdLst/>
            <a:ahLst/>
            <a:cxnLst/>
            <a:rect l="l" t="t" r="r" b="b"/>
            <a:pathLst>
              <a:path w="150019" h="133350">
                <a:moveTo>
                  <a:pt x="93970" y="313"/>
                </a:moveTo>
                <a:cubicBezTo>
                  <a:pt x="89542" y="-964"/>
                  <a:pt x="84932" y="1615"/>
                  <a:pt x="83656" y="6042"/>
                </a:cubicBezTo>
                <a:lnTo>
                  <a:pt x="50319" y="122724"/>
                </a:lnTo>
                <a:cubicBezTo>
                  <a:pt x="49043" y="127151"/>
                  <a:pt x="51621" y="131761"/>
                  <a:pt x="56049" y="133037"/>
                </a:cubicBezTo>
                <a:cubicBezTo>
                  <a:pt x="60476" y="134314"/>
                  <a:pt x="65086" y="131735"/>
                  <a:pt x="66362" y="127308"/>
                </a:cubicBezTo>
                <a:lnTo>
                  <a:pt x="99700" y="10626"/>
                </a:lnTo>
                <a:cubicBezTo>
                  <a:pt x="100976" y="6199"/>
                  <a:pt x="98398" y="1589"/>
                  <a:pt x="93970" y="313"/>
                </a:cubicBezTo>
                <a:close/>
                <a:moveTo>
                  <a:pt x="110795" y="35760"/>
                </a:moveTo>
                <a:cubicBezTo>
                  <a:pt x="107539" y="39015"/>
                  <a:pt x="107539" y="44302"/>
                  <a:pt x="110795" y="47558"/>
                </a:cubicBezTo>
                <a:lnTo>
                  <a:pt x="129912" y="66675"/>
                </a:lnTo>
                <a:lnTo>
                  <a:pt x="110795" y="85792"/>
                </a:lnTo>
                <a:cubicBezTo>
                  <a:pt x="107539" y="89048"/>
                  <a:pt x="107539" y="94335"/>
                  <a:pt x="110795" y="97590"/>
                </a:cubicBezTo>
                <a:cubicBezTo>
                  <a:pt x="114051" y="100846"/>
                  <a:pt x="119338" y="100846"/>
                  <a:pt x="122593" y="97590"/>
                </a:cubicBezTo>
                <a:lnTo>
                  <a:pt x="147597" y="72587"/>
                </a:lnTo>
                <a:cubicBezTo>
                  <a:pt x="150852" y="69332"/>
                  <a:pt x="150852" y="64044"/>
                  <a:pt x="147597" y="60789"/>
                </a:cubicBezTo>
                <a:lnTo>
                  <a:pt x="122593" y="35786"/>
                </a:lnTo>
                <a:cubicBezTo>
                  <a:pt x="119338" y="32530"/>
                  <a:pt x="114051" y="32530"/>
                  <a:pt x="110795" y="35786"/>
                </a:cubicBezTo>
                <a:close/>
                <a:moveTo>
                  <a:pt x="39250" y="35760"/>
                </a:moveTo>
                <a:cubicBezTo>
                  <a:pt x="35994" y="32504"/>
                  <a:pt x="30707" y="32504"/>
                  <a:pt x="27451" y="35760"/>
                </a:cubicBezTo>
                <a:lnTo>
                  <a:pt x="2448" y="60763"/>
                </a:lnTo>
                <a:cubicBezTo>
                  <a:pt x="-807" y="64018"/>
                  <a:pt x="-807" y="69306"/>
                  <a:pt x="2448" y="72561"/>
                </a:cubicBezTo>
                <a:lnTo>
                  <a:pt x="27451" y="97564"/>
                </a:lnTo>
                <a:cubicBezTo>
                  <a:pt x="30707" y="100820"/>
                  <a:pt x="35994" y="100820"/>
                  <a:pt x="39250" y="97564"/>
                </a:cubicBezTo>
                <a:cubicBezTo>
                  <a:pt x="42505" y="94309"/>
                  <a:pt x="42505" y="89022"/>
                  <a:pt x="39250" y="85766"/>
                </a:cubicBezTo>
                <a:lnTo>
                  <a:pt x="20133" y="66675"/>
                </a:lnTo>
                <a:lnTo>
                  <a:pt x="39224" y="47558"/>
                </a:lnTo>
                <a:cubicBezTo>
                  <a:pt x="42479" y="44302"/>
                  <a:pt x="42479" y="39015"/>
                  <a:pt x="39224" y="35760"/>
                </a:cubicBezTo>
                <a:close/>
              </a:path>
            </a:pathLst>
          </a:custGeom>
          <a:solidFill>
            <a:srgbClr val="1D1D1F"/>
          </a:solidFill>
          <a:ln/>
        </p:spPr>
      </p:sp>
      <p:sp>
        <p:nvSpPr>
          <p:cNvPr id="15" name="Text 13"/>
          <p:cNvSpPr/>
          <p:nvPr/>
        </p:nvSpPr>
        <p:spPr>
          <a:xfrm>
            <a:off x="1066800" y="2419238"/>
            <a:ext cx="226695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Uses </a:t>
            </a:r>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Dart programming language</a:t>
            </a:r>
            <a:endParaRPr lang="en-US" sz="1600" dirty="0"/>
          </a:p>
        </p:txBody>
      </p:sp>
      <p:sp>
        <p:nvSpPr>
          <p:cNvPr id="16" name="Shape 14"/>
          <p:cNvSpPr/>
          <p:nvPr/>
        </p:nvSpPr>
        <p:spPr>
          <a:xfrm>
            <a:off x="647700" y="2876438"/>
            <a:ext cx="304800" cy="304800"/>
          </a:xfrm>
          <a:prstGeom prst="roundRect">
            <a:avLst>
              <a:gd name="adj" fmla="val 25000"/>
            </a:avLst>
          </a:prstGeom>
          <a:solidFill>
            <a:srgbClr val="34C759"/>
          </a:solidFill>
          <a:ln/>
        </p:spPr>
      </p:sp>
      <p:sp>
        <p:nvSpPr>
          <p:cNvPr id="17" name="Shape 15"/>
          <p:cNvSpPr/>
          <p:nvPr/>
        </p:nvSpPr>
        <p:spPr>
          <a:xfrm>
            <a:off x="752475" y="2962163"/>
            <a:ext cx="100013" cy="133350"/>
          </a:xfrm>
          <a:custGeom>
            <a:avLst/>
            <a:gdLst/>
            <a:ahLst/>
            <a:cxnLst/>
            <a:rect l="l" t="t" r="r" b="b"/>
            <a:pathLst>
              <a:path w="100013" h="133350">
                <a:moveTo>
                  <a:pt x="4167" y="16669"/>
                </a:moveTo>
                <a:cubicBezTo>
                  <a:pt x="4167" y="7475"/>
                  <a:pt x="11642" y="0"/>
                  <a:pt x="20836" y="0"/>
                </a:cubicBezTo>
                <a:lnTo>
                  <a:pt x="79177" y="0"/>
                </a:lnTo>
                <a:cubicBezTo>
                  <a:pt x="88370" y="0"/>
                  <a:pt x="95845" y="7475"/>
                  <a:pt x="95845" y="16669"/>
                </a:cubicBezTo>
                <a:lnTo>
                  <a:pt x="95845" y="116681"/>
                </a:lnTo>
                <a:cubicBezTo>
                  <a:pt x="95845" y="125875"/>
                  <a:pt x="88370" y="133350"/>
                  <a:pt x="79177" y="133350"/>
                </a:cubicBezTo>
                <a:lnTo>
                  <a:pt x="20836" y="133350"/>
                </a:lnTo>
                <a:cubicBezTo>
                  <a:pt x="11642" y="133350"/>
                  <a:pt x="4167" y="125875"/>
                  <a:pt x="4167" y="116681"/>
                </a:cubicBezTo>
                <a:lnTo>
                  <a:pt x="4167" y="16669"/>
                </a:lnTo>
                <a:close/>
                <a:moveTo>
                  <a:pt x="20836" y="16669"/>
                </a:moveTo>
                <a:lnTo>
                  <a:pt x="20836" y="95845"/>
                </a:lnTo>
                <a:lnTo>
                  <a:pt x="79177" y="95845"/>
                </a:lnTo>
                <a:lnTo>
                  <a:pt x="79177" y="16669"/>
                </a:lnTo>
                <a:lnTo>
                  <a:pt x="20836" y="16669"/>
                </a:lnTo>
                <a:close/>
                <a:moveTo>
                  <a:pt x="50006" y="122932"/>
                </a:moveTo>
                <a:cubicBezTo>
                  <a:pt x="54616" y="122932"/>
                  <a:pt x="58341" y="119208"/>
                  <a:pt x="58341" y="114598"/>
                </a:cubicBezTo>
                <a:cubicBezTo>
                  <a:pt x="58341" y="109988"/>
                  <a:pt x="54616" y="106263"/>
                  <a:pt x="50006" y="106263"/>
                </a:cubicBezTo>
                <a:cubicBezTo>
                  <a:pt x="45396" y="106263"/>
                  <a:pt x="41672" y="109988"/>
                  <a:pt x="41672" y="114598"/>
                </a:cubicBezTo>
                <a:cubicBezTo>
                  <a:pt x="41672" y="119208"/>
                  <a:pt x="45396" y="122932"/>
                  <a:pt x="50006" y="122932"/>
                </a:cubicBezTo>
                <a:close/>
              </a:path>
            </a:pathLst>
          </a:custGeom>
          <a:solidFill>
            <a:srgbClr val="1D1D1F"/>
          </a:solidFill>
          <a:ln/>
        </p:spPr>
      </p:sp>
      <p:sp>
        <p:nvSpPr>
          <p:cNvPr id="18" name="Text 16"/>
          <p:cNvSpPr/>
          <p:nvPr/>
        </p:nvSpPr>
        <p:spPr>
          <a:xfrm>
            <a:off x="1066800" y="2857388"/>
            <a:ext cx="18669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Builds </a:t>
            </a:r>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beautiful native apps</a:t>
            </a:r>
            <a:endParaRPr lang="en-US" sz="1600" dirty="0"/>
          </a:p>
        </p:txBody>
      </p:sp>
      <p:sp>
        <p:nvSpPr>
          <p:cNvPr id="19" name="Shape 17"/>
          <p:cNvSpPr/>
          <p:nvPr/>
        </p:nvSpPr>
        <p:spPr>
          <a:xfrm>
            <a:off x="647700" y="3314588"/>
            <a:ext cx="304800" cy="304800"/>
          </a:xfrm>
          <a:prstGeom prst="roundRect">
            <a:avLst>
              <a:gd name="adj" fmla="val 25000"/>
            </a:avLst>
          </a:prstGeom>
          <a:solidFill>
            <a:srgbClr val="34C759"/>
          </a:solidFill>
          <a:ln/>
        </p:spPr>
      </p:sp>
      <p:sp>
        <p:nvSpPr>
          <p:cNvPr id="20" name="Shape 18"/>
          <p:cNvSpPr/>
          <p:nvPr/>
        </p:nvSpPr>
        <p:spPr>
          <a:xfrm>
            <a:off x="735806" y="3400313"/>
            <a:ext cx="133350" cy="133350"/>
          </a:xfrm>
          <a:custGeom>
            <a:avLst/>
            <a:gdLst/>
            <a:ahLst/>
            <a:cxnLst/>
            <a:rect l="l" t="t" r="r" b="b"/>
            <a:pathLst>
              <a:path w="133350" h="133350">
                <a:moveTo>
                  <a:pt x="60554" y="1354"/>
                </a:moveTo>
                <a:cubicBezTo>
                  <a:pt x="64435" y="-443"/>
                  <a:pt x="68915" y="-443"/>
                  <a:pt x="72796" y="1354"/>
                </a:cubicBezTo>
                <a:lnTo>
                  <a:pt x="129730" y="27660"/>
                </a:lnTo>
                <a:cubicBezTo>
                  <a:pt x="131944" y="28675"/>
                  <a:pt x="133350" y="30889"/>
                  <a:pt x="133350" y="33337"/>
                </a:cubicBezTo>
                <a:cubicBezTo>
                  <a:pt x="133350" y="35786"/>
                  <a:pt x="131944" y="38000"/>
                  <a:pt x="129730" y="39015"/>
                </a:cubicBezTo>
                <a:lnTo>
                  <a:pt x="72796" y="65321"/>
                </a:lnTo>
                <a:cubicBezTo>
                  <a:pt x="68915" y="67118"/>
                  <a:pt x="64435" y="67118"/>
                  <a:pt x="60554" y="65321"/>
                </a:cubicBezTo>
                <a:lnTo>
                  <a:pt x="3620" y="39015"/>
                </a:lnTo>
                <a:cubicBezTo>
                  <a:pt x="1406" y="37973"/>
                  <a:pt x="0" y="35760"/>
                  <a:pt x="0" y="33337"/>
                </a:cubicBezTo>
                <a:cubicBezTo>
                  <a:pt x="0" y="30915"/>
                  <a:pt x="1406" y="28675"/>
                  <a:pt x="3620" y="27660"/>
                </a:cubicBezTo>
                <a:lnTo>
                  <a:pt x="60554" y="1354"/>
                </a:lnTo>
                <a:close/>
                <a:moveTo>
                  <a:pt x="12528" y="56882"/>
                </a:moveTo>
                <a:lnTo>
                  <a:pt x="55319" y="76650"/>
                </a:lnTo>
                <a:cubicBezTo>
                  <a:pt x="62534" y="79984"/>
                  <a:pt x="70842" y="79984"/>
                  <a:pt x="78057" y="76650"/>
                </a:cubicBezTo>
                <a:lnTo>
                  <a:pt x="120848" y="56882"/>
                </a:lnTo>
                <a:lnTo>
                  <a:pt x="129730" y="60997"/>
                </a:lnTo>
                <a:cubicBezTo>
                  <a:pt x="131944" y="62013"/>
                  <a:pt x="133350" y="64227"/>
                  <a:pt x="133350" y="66675"/>
                </a:cubicBezTo>
                <a:cubicBezTo>
                  <a:pt x="133350" y="69123"/>
                  <a:pt x="131944" y="71337"/>
                  <a:pt x="129730" y="72353"/>
                </a:cubicBezTo>
                <a:lnTo>
                  <a:pt x="72796" y="98658"/>
                </a:lnTo>
                <a:cubicBezTo>
                  <a:pt x="68915" y="100455"/>
                  <a:pt x="64435" y="100455"/>
                  <a:pt x="60554" y="98658"/>
                </a:cubicBezTo>
                <a:lnTo>
                  <a:pt x="3620" y="72353"/>
                </a:lnTo>
                <a:cubicBezTo>
                  <a:pt x="1406" y="71311"/>
                  <a:pt x="0" y="69097"/>
                  <a:pt x="0" y="66675"/>
                </a:cubicBezTo>
                <a:cubicBezTo>
                  <a:pt x="0" y="64253"/>
                  <a:pt x="1406" y="62013"/>
                  <a:pt x="3620" y="60997"/>
                </a:cubicBezTo>
                <a:lnTo>
                  <a:pt x="12502" y="56882"/>
                </a:lnTo>
                <a:close/>
                <a:moveTo>
                  <a:pt x="3620" y="94335"/>
                </a:moveTo>
                <a:lnTo>
                  <a:pt x="12502" y="90220"/>
                </a:lnTo>
                <a:lnTo>
                  <a:pt x="55293" y="109988"/>
                </a:lnTo>
                <a:cubicBezTo>
                  <a:pt x="62508" y="113321"/>
                  <a:pt x="70816" y="113321"/>
                  <a:pt x="78031" y="109988"/>
                </a:cubicBezTo>
                <a:lnTo>
                  <a:pt x="120822" y="90220"/>
                </a:lnTo>
                <a:lnTo>
                  <a:pt x="129704" y="94335"/>
                </a:lnTo>
                <a:cubicBezTo>
                  <a:pt x="131918" y="95350"/>
                  <a:pt x="133324" y="97564"/>
                  <a:pt x="133324" y="100013"/>
                </a:cubicBezTo>
                <a:cubicBezTo>
                  <a:pt x="133324" y="102461"/>
                  <a:pt x="131918" y="104675"/>
                  <a:pt x="129704" y="105690"/>
                </a:cubicBezTo>
                <a:lnTo>
                  <a:pt x="72770" y="131996"/>
                </a:lnTo>
                <a:cubicBezTo>
                  <a:pt x="68889" y="133793"/>
                  <a:pt x="64409" y="133793"/>
                  <a:pt x="60528" y="131996"/>
                </a:cubicBezTo>
                <a:lnTo>
                  <a:pt x="3620" y="105690"/>
                </a:lnTo>
                <a:cubicBezTo>
                  <a:pt x="1406" y="104648"/>
                  <a:pt x="0" y="102435"/>
                  <a:pt x="0" y="100013"/>
                </a:cubicBezTo>
                <a:cubicBezTo>
                  <a:pt x="0" y="97590"/>
                  <a:pt x="1406" y="95350"/>
                  <a:pt x="3620" y="94335"/>
                </a:cubicBezTo>
                <a:close/>
              </a:path>
            </a:pathLst>
          </a:custGeom>
          <a:solidFill>
            <a:srgbClr val="1D1D1F"/>
          </a:solidFill>
          <a:ln/>
        </p:spPr>
      </p:sp>
      <p:sp>
        <p:nvSpPr>
          <p:cNvPr id="21" name="Text 19"/>
          <p:cNvSpPr/>
          <p:nvPr/>
        </p:nvSpPr>
        <p:spPr>
          <a:xfrm>
            <a:off x="1066800" y="3295538"/>
            <a:ext cx="2486025" cy="228600"/>
          </a:xfrm>
          <a:prstGeom prst="rect">
            <a:avLst/>
          </a:prstGeom>
          <a:noFill/>
          <a:ln/>
        </p:spPr>
        <p:txBody>
          <a:bodyPr wrap="square" lIns="0" tIns="0" rIns="0" bIns="0" rtlCol="0" anchor="ctr"/>
          <a:lstStyle/>
          <a:p>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Single codebase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for Android and iOS</a:t>
            </a:r>
            <a:endParaRPr lang="en-US" sz="1600" dirty="0"/>
          </a:p>
        </p:txBody>
      </p:sp>
      <p:sp>
        <p:nvSpPr>
          <p:cNvPr id="22" name="Shape 20"/>
          <p:cNvSpPr/>
          <p:nvPr/>
        </p:nvSpPr>
        <p:spPr>
          <a:xfrm>
            <a:off x="647700" y="3752738"/>
            <a:ext cx="304800" cy="304800"/>
          </a:xfrm>
          <a:prstGeom prst="roundRect">
            <a:avLst>
              <a:gd name="adj" fmla="val 25000"/>
            </a:avLst>
          </a:prstGeom>
          <a:solidFill>
            <a:srgbClr val="34C759"/>
          </a:solidFill>
          <a:ln/>
        </p:spPr>
      </p:sp>
      <p:sp>
        <p:nvSpPr>
          <p:cNvPr id="23" name="Shape 21"/>
          <p:cNvSpPr/>
          <p:nvPr/>
        </p:nvSpPr>
        <p:spPr>
          <a:xfrm>
            <a:off x="744141" y="3838463"/>
            <a:ext cx="116681" cy="133350"/>
          </a:xfrm>
          <a:custGeom>
            <a:avLst/>
            <a:gdLst/>
            <a:ahLst/>
            <a:cxnLst/>
            <a:rect l="l" t="t" r="r" b="b"/>
            <a:pathLst>
              <a:path w="116681" h="133350">
                <a:moveTo>
                  <a:pt x="88240" y="-2578"/>
                </a:moveTo>
                <a:cubicBezTo>
                  <a:pt x="91340" y="-339"/>
                  <a:pt x="92486" y="3724"/>
                  <a:pt x="91079" y="7267"/>
                </a:cubicBezTo>
                <a:lnTo>
                  <a:pt x="70660" y="58341"/>
                </a:lnTo>
                <a:lnTo>
                  <a:pt x="108347" y="58341"/>
                </a:lnTo>
                <a:cubicBezTo>
                  <a:pt x="111863" y="58341"/>
                  <a:pt x="114988" y="60528"/>
                  <a:pt x="116186" y="63836"/>
                </a:cubicBezTo>
                <a:cubicBezTo>
                  <a:pt x="117384" y="67144"/>
                  <a:pt x="116369" y="70842"/>
                  <a:pt x="113686" y="73082"/>
                </a:cubicBezTo>
                <a:lnTo>
                  <a:pt x="38677" y="135590"/>
                </a:lnTo>
                <a:cubicBezTo>
                  <a:pt x="35734" y="138038"/>
                  <a:pt x="31540" y="138168"/>
                  <a:pt x="28441" y="135928"/>
                </a:cubicBezTo>
                <a:cubicBezTo>
                  <a:pt x="25342" y="133689"/>
                  <a:pt x="24196" y="129626"/>
                  <a:pt x="25602" y="126083"/>
                </a:cubicBezTo>
                <a:lnTo>
                  <a:pt x="46021" y="75009"/>
                </a:lnTo>
                <a:lnTo>
                  <a:pt x="8334" y="75009"/>
                </a:lnTo>
                <a:cubicBezTo>
                  <a:pt x="4818" y="75009"/>
                  <a:pt x="1693" y="72822"/>
                  <a:pt x="495" y="69514"/>
                </a:cubicBezTo>
                <a:cubicBezTo>
                  <a:pt x="-703" y="66206"/>
                  <a:pt x="313" y="62508"/>
                  <a:pt x="2995" y="60268"/>
                </a:cubicBezTo>
                <a:lnTo>
                  <a:pt x="78005" y="-2240"/>
                </a:lnTo>
                <a:cubicBezTo>
                  <a:pt x="80948" y="-4688"/>
                  <a:pt x="85141" y="-4818"/>
                  <a:pt x="88240" y="-2578"/>
                </a:cubicBezTo>
                <a:close/>
              </a:path>
            </a:pathLst>
          </a:custGeom>
          <a:solidFill>
            <a:srgbClr val="1D1D1F"/>
          </a:solidFill>
          <a:ln/>
        </p:spPr>
      </p:sp>
      <p:sp>
        <p:nvSpPr>
          <p:cNvPr id="24" name="Text 22"/>
          <p:cNvSpPr/>
          <p:nvPr/>
        </p:nvSpPr>
        <p:spPr>
          <a:xfrm>
            <a:off x="1066800" y="3733688"/>
            <a:ext cx="2352675" cy="228600"/>
          </a:xfrm>
          <a:prstGeom prst="rect">
            <a:avLst/>
          </a:prstGeom>
          <a:noFill/>
          <a:ln/>
        </p:spPr>
        <p:txBody>
          <a:bodyPr wrap="square" lIns="0" tIns="0" rIns="0" bIns="0" rtlCol="0" anchor="ctr"/>
          <a:lstStyle/>
          <a:p>
            <a:pPr>
              <a:lnSpc>
                <a:spcPct val="130000"/>
              </a:lnSpc>
            </a:pPr>
            <a:r>
              <a:rPr lang="en-US" sz="1200" b="1" dirty="0">
                <a:solidFill>
                  <a:srgbClr val="34C759"/>
                </a:solidFill>
                <a:latin typeface="Quattrocento Sans" pitchFamily="34" charset="0"/>
                <a:ea typeface="Quattrocento Sans" pitchFamily="34" charset="-122"/>
                <a:cs typeface="Quattrocento Sans" pitchFamily="34" charset="-120"/>
              </a:rPr>
              <a:t>Fast development</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with Hot Reload</a:t>
            </a:r>
            <a:endParaRPr lang="en-US" sz="1600" dirty="0"/>
          </a:p>
        </p:txBody>
      </p:sp>
      <p:sp>
        <p:nvSpPr>
          <p:cNvPr id="25" name="Shape 23"/>
          <p:cNvSpPr/>
          <p:nvPr/>
        </p:nvSpPr>
        <p:spPr>
          <a:xfrm>
            <a:off x="384810" y="5398662"/>
            <a:ext cx="5589270" cy="1264920"/>
          </a:xfrm>
          <a:prstGeom prst="roundRect">
            <a:avLst>
              <a:gd name="adj" fmla="val 12048"/>
            </a:avLst>
          </a:prstGeom>
          <a:solidFill>
            <a:srgbClr val="0A84FF">
              <a:alpha val="10196"/>
            </a:srgbClr>
          </a:solidFill>
          <a:ln w="10160">
            <a:solidFill>
              <a:srgbClr val="0A84FF">
                <a:alpha val="30196"/>
              </a:srgbClr>
            </a:solidFill>
            <a:prstDash val="solid"/>
          </a:ln>
        </p:spPr>
      </p:sp>
      <p:sp>
        <p:nvSpPr>
          <p:cNvPr id="26" name="Shape 24"/>
          <p:cNvSpPr/>
          <p:nvPr/>
        </p:nvSpPr>
        <p:spPr>
          <a:xfrm>
            <a:off x="602932" y="5640586"/>
            <a:ext cx="171450" cy="171450"/>
          </a:xfrm>
          <a:custGeom>
            <a:avLst/>
            <a:gdLst/>
            <a:ahLst/>
            <a:cxnLst/>
            <a:rect l="l" t="t" r="r" b="b"/>
            <a:pathLst>
              <a:path w="171450" h="171450">
                <a:moveTo>
                  <a:pt x="85725" y="160734"/>
                </a:moveTo>
                <a:cubicBezTo>
                  <a:pt x="133075" y="160734"/>
                  <a:pt x="171450" y="124737"/>
                  <a:pt x="171450" y="80367"/>
                </a:cubicBezTo>
                <a:cubicBezTo>
                  <a:pt x="171450" y="35998"/>
                  <a:pt x="133075" y="0"/>
                  <a:pt x="85725" y="0"/>
                </a:cubicBezTo>
                <a:cubicBezTo>
                  <a:pt x="38375" y="0"/>
                  <a:pt x="0" y="35998"/>
                  <a:pt x="0" y="80367"/>
                </a:cubicBezTo>
                <a:cubicBezTo>
                  <a:pt x="0" y="98550"/>
                  <a:pt x="6429" y="115293"/>
                  <a:pt x="17279" y="128755"/>
                </a:cubicBezTo>
                <a:lnTo>
                  <a:pt x="938" y="159663"/>
                </a:lnTo>
                <a:cubicBezTo>
                  <a:pt x="-670" y="162677"/>
                  <a:pt x="-167" y="166360"/>
                  <a:pt x="2143" y="168872"/>
                </a:cubicBezTo>
                <a:cubicBezTo>
                  <a:pt x="4454" y="171383"/>
                  <a:pt x="8104" y="172153"/>
                  <a:pt x="11218" y="170814"/>
                </a:cubicBezTo>
                <a:lnTo>
                  <a:pt x="50866" y="153836"/>
                </a:lnTo>
                <a:cubicBezTo>
                  <a:pt x="61514" y="158256"/>
                  <a:pt x="73302" y="160734"/>
                  <a:pt x="85725" y="160734"/>
                </a:cubicBezTo>
                <a:close/>
                <a:moveTo>
                  <a:pt x="42863" y="69652"/>
                </a:moveTo>
                <a:cubicBezTo>
                  <a:pt x="48777" y="69652"/>
                  <a:pt x="53578" y="74453"/>
                  <a:pt x="53578" y="80367"/>
                </a:cubicBezTo>
                <a:cubicBezTo>
                  <a:pt x="53578" y="86281"/>
                  <a:pt x="48777" y="91083"/>
                  <a:pt x="42863" y="91083"/>
                </a:cubicBezTo>
                <a:cubicBezTo>
                  <a:pt x="36948" y="91083"/>
                  <a:pt x="32147" y="86281"/>
                  <a:pt x="32147" y="80367"/>
                </a:cubicBezTo>
                <a:cubicBezTo>
                  <a:pt x="32147" y="74453"/>
                  <a:pt x="36948" y="69652"/>
                  <a:pt x="42863" y="69652"/>
                </a:cubicBezTo>
                <a:close/>
                <a:moveTo>
                  <a:pt x="85725" y="69652"/>
                </a:moveTo>
                <a:cubicBezTo>
                  <a:pt x="91639" y="69652"/>
                  <a:pt x="96441" y="74453"/>
                  <a:pt x="96441" y="80367"/>
                </a:cubicBezTo>
                <a:cubicBezTo>
                  <a:pt x="96441" y="86281"/>
                  <a:pt x="91639" y="91083"/>
                  <a:pt x="85725" y="91083"/>
                </a:cubicBezTo>
                <a:cubicBezTo>
                  <a:pt x="79811" y="91083"/>
                  <a:pt x="75009" y="86281"/>
                  <a:pt x="75009" y="80367"/>
                </a:cubicBezTo>
                <a:cubicBezTo>
                  <a:pt x="75009" y="74453"/>
                  <a:pt x="79811" y="69652"/>
                  <a:pt x="85725" y="69652"/>
                </a:cubicBezTo>
                <a:close/>
                <a:moveTo>
                  <a:pt x="117872" y="80367"/>
                </a:moveTo>
                <a:cubicBezTo>
                  <a:pt x="117872" y="74453"/>
                  <a:pt x="122673" y="69652"/>
                  <a:pt x="128588" y="69652"/>
                </a:cubicBezTo>
                <a:cubicBezTo>
                  <a:pt x="134502" y="69652"/>
                  <a:pt x="139303" y="74453"/>
                  <a:pt x="139303" y="80367"/>
                </a:cubicBezTo>
                <a:cubicBezTo>
                  <a:pt x="139303" y="86281"/>
                  <a:pt x="134502" y="91083"/>
                  <a:pt x="128588" y="91083"/>
                </a:cubicBezTo>
                <a:cubicBezTo>
                  <a:pt x="122673" y="91083"/>
                  <a:pt x="117872" y="86281"/>
                  <a:pt x="117872" y="80367"/>
                </a:cubicBezTo>
                <a:close/>
              </a:path>
            </a:pathLst>
          </a:custGeom>
          <a:solidFill>
            <a:srgbClr val="0A84FF"/>
          </a:solidFill>
          <a:ln/>
        </p:spPr>
      </p:sp>
      <p:sp>
        <p:nvSpPr>
          <p:cNvPr id="27" name="Text 25"/>
          <p:cNvSpPr/>
          <p:nvPr/>
        </p:nvSpPr>
        <p:spPr>
          <a:xfrm>
            <a:off x="798195" y="5592961"/>
            <a:ext cx="5067300" cy="266700"/>
          </a:xfrm>
          <a:prstGeom prst="rect">
            <a:avLst/>
          </a:prstGeom>
          <a:noFill/>
          <a:ln/>
        </p:spPr>
        <p:txBody>
          <a:bodyPr wrap="square" lIns="0" tIns="0" rIns="0" bIns="0" rtlCol="0" anchor="ctr"/>
          <a:lstStyle/>
          <a:p>
            <a:pPr>
              <a:lnSpc>
                <a:spcPct val="130000"/>
              </a:lnSpc>
            </a:pPr>
            <a:r>
              <a:rPr lang="en-US" sz="1350"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28" name="Text 26"/>
          <p:cNvSpPr/>
          <p:nvPr/>
        </p:nvSpPr>
        <p:spPr>
          <a:xfrm>
            <a:off x="579120" y="5973961"/>
            <a:ext cx="5276850" cy="495300"/>
          </a:xfrm>
          <a:prstGeom prst="rect">
            <a:avLst/>
          </a:prstGeom>
          <a:noFill/>
          <a:ln/>
        </p:spPr>
        <p:txBody>
          <a:bodyPr wrap="square" lIns="0" tIns="0" rIns="0" bIns="0" rtlCol="0" anchor="ctr"/>
          <a:lstStyle/>
          <a:p>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Flutter is like </a:t>
            </a:r>
            <a:pPr>
              <a:lnSpc>
                <a:spcPct val="140000"/>
              </a:lnSpc>
            </a:pPr>
            <a:r>
              <a:rPr lang="en-US" sz="1200" b="1" dirty="0">
                <a:solidFill>
                  <a:srgbClr val="34C759"/>
                </a:solidFill>
                <a:latin typeface="Quattrocento Sans" pitchFamily="34" charset="0"/>
                <a:ea typeface="Quattrocento Sans" pitchFamily="34" charset="-122"/>
                <a:cs typeface="Quattrocento Sans" pitchFamily="34" charset="-120"/>
              </a:rPr>
              <a:t>a universal translator</a:t>
            </a:r>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 You write your app in one language (Dart), and Flutter translates it to work perfectly on both Android and iOS phones.</a:t>
            </a:r>
            <a:endParaRPr lang="en-US" sz="1600" dirty="0"/>
          </a:p>
        </p:txBody>
      </p:sp>
      <p:sp>
        <p:nvSpPr>
          <p:cNvPr id="29" name="Shape 27"/>
          <p:cNvSpPr/>
          <p:nvPr/>
        </p:nvSpPr>
        <p:spPr>
          <a:xfrm>
            <a:off x="6210300" y="1257300"/>
            <a:ext cx="5600700" cy="4152900"/>
          </a:xfrm>
          <a:prstGeom prst="roundRect">
            <a:avLst>
              <a:gd name="adj" fmla="val 3670"/>
            </a:avLst>
          </a:prstGeom>
          <a:solidFill>
            <a:srgbClr val="2C2C2E"/>
          </a:solidFill>
          <a:ln/>
        </p:spPr>
      </p:sp>
      <p:sp>
        <p:nvSpPr>
          <p:cNvPr id="30" name="Shape 28"/>
          <p:cNvSpPr/>
          <p:nvPr/>
        </p:nvSpPr>
        <p:spPr>
          <a:xfrm>
            <a:off x="6453188" y="1523888"/>
            <a:ext cx="257175" cy="228600"/>
          </a:xfrm>
          <a:custGeom>
            <a:avLst/>
            <a:gdLst/>
            <a:ahLst/>
            <a:cxnLst/>
            <a:rect l="l" t="t" r="r" b="b"/>
            <a:pathLst>
              <a:path w="257175" h="228600">
                <a:moveTo>
                  <a:pt x="138187" y="-8439"/>
                </a:moveTo>
                <a:cubicBezTo>
                  <a:pt x="136356" y="-12010"/>
                  <a:pt x="132651" y="-14287"/>
                  <a:pt x="128632" y="-14287"/>
                </a:cubicBezTo>
                <a:cubicBezTo>
                  <a:pt x="124614" y="-14287"/>
                  <a:pt x="120908" y="-12010"/>
                  <a:pt x="119077" y="-8439"/>
                </a:cubicBezTo>
                <a:lnTo>
                  <a:pt x="86216" y="55944"/>
                </a:lnTo>
                <a:lnTo>
                  <a:pt x="14823" y="67285"/>
                </a:lnTo>
                <a:cubicBezTo>
                  <a:pt x="10850" y="67910"/>
                  <a:pt x="7546" y="70723"/>
                  <a:pt x="6295" y="74563"/>
                </a:cubicBezTo>
                <a:cubicBezTo>
                  <a:pt x="5045" y="78403"/>
                  <a:pt x="6072" y="82600"/>
                  <a:pt x="8885" y="85457"/>
                </a:cubicBezTo>
                <a:lnTo>
                  <a:pt x="59963" y="136580"/>
                </a:lnTo>
                <a:lnTo>
                  <a:pt x="48711" y="207972"/>
                </a:lnTo>
                <a:cubicBezTo>
                  <a:pt x="48086" y="211946"/>
                  <a:pt x="49738" y="215964"/>
                  <a:pt x="52998" y="218331"/>
                </a:cubicBezTo>
                <a:cubicBezTo>
                  <a:pt x="56257" y="220697"/>
                  <a:pt x="60543" y="221054"/>
                  <a:pt x="64160" y="219224"/>
                </a:cubicBezTo>
                <a:lnTo>
                  <a:pt x="128632" y="186452"/>
                </a:lnTo>
                <a:lnTo>
                  <a:pt x="193060" y="219224"/>
                </a:lnTo>
                <a:cubicBezTo>
                  <a:pt x="196632" y="221054"/>
                  <a:pt x="200963" y="220697"/>
                  <a:pt x="204222" y="218331"/>
                </a:cubicBezTo>
                <a:cubicBezTo>
                  <a:pt x="207481" y="215964"/>
                  <a:pt x="209133" y="211991"/>
                  <a:pt x="208508" y="207972"/>
                </a:cubicBezTo>
                <a:lnTo>
                  <a:pt x="197212" y="136580"/>
                </a:lnTo>
                <a:lnTo>
                  <a:pt x="248290" y="85457"/>
                </a:lnTo>
                <a:cubicBezTo>
                  <a:pt x="251147" y="82600"/>
                  <a:pt x="252130" y="78403"/>
                  <a:pt x="250880" y="74563"/>
                </a:cubicBezTo>
                <a:cubicBezTo>
                  <a:pt x="249629" y="70723"/>
                  <a:pt x="246370" y="67910"/>
                  <a:pt x="242352" y="67285"/>
                </a:cubicBezTo>
                <a:lnTo>
                  <a:pt x="171004" y="55944"/>
                </a:lnTo>
                <a:lnTo>
                  <a:pt x="138187" y="-8439"/>
                </a:lnTo>
                <a:close/>
              </a:path>
            </a:pathLst>
          </a:custGeom>
          <a:solidFill>
            <a:srgbClr val="34C759"/>
          </a:solidFill>
          <a:ln/>
        </p:spPr>
      </p:sp>
      <p:sp>
        <p:nvSpPr>
          <p:cNvPr id="31" name="Text 29"/>
          <p:cNvSpPr/>
          <p:nvPr/>
        </p:nvSpPr>
        <p:spPr>
          <a:xfrm>
            <a:off x="6724650" y="1485900"/>
            <a:ext cx="4972050" cy="304800"/>
          </a:xfrm>
          <a:prstGeom prst="rect">
            <a:avLst/>
          </a:prstGeom>
          <a:noFill/>
          <a:ln/>
        </p:spPr>
        <p:txBody>
          <a:bodyPr wrap="square" lIns="0" tIns="0" rIns="0" bIns="0" rtlCol="0" anchor="ctr"/>
          <a:lstStyle/>
          <a:p>
            <a:pPr>
              <a:lnSpc>
                <a:spcPct val="110000"/>
              </a:lnSpc>
            </a:pPr>
            <a:r>
              <a:rPr lang="en-US" sz="1800" b="1" dirty="0">
                <a:solidFill>
                  <a:srgbClr val="34C759"/>
                </a:solidFill>
                <a:latin typeface="Liter" pitchFamily="34" charset="0"/>
                <a:ea typeface="Liter" pitchFamily="34" charset="-122"/>
                <a:cs typeface="Liter" pitchFamily="34" charset="-120"/>
              </a:rPr>
              <a:t>Key Features</a:t>
            </a:r>
            <a:endParaRPr lang="en-US" sz="1600" dirty="0"/>
          </a:p>
        </p:txBody>
      </p:sp>
      <p:sp>
        <p:nvSpPr>
          <p:cNvPr id="32" name="Shape 30"/>
          <p:cNvSpPr/>
          <p:nvPr/>
        </p:nvSpPr>
        <p:spPr>
          <a:xfrm>
            <a:off x="6438900" y="1981088"/>
            <a:ext cx="5143500" cy="1219200"/>
          </a:xfrm>
          <a:prstGeom prst="roundRect">
            <a:avLst>
              <a:gd name="adj" fmla="val 9375"/>
            </a:avLst>
          </a:prstGeom>
          <a:solidFill>
            <a:srgbClr val="1A1D21"/>
          </a:solidFill>
          <a:ln/>
        </p:spPr>
      </p:sp>
      <p:sp>
        <p:nvSpPr>
          <p:cNvPr id="33" name="Shape 31"/>
          <p:cNvSpPr/>
          <p:nvPr/>
        </p:nvSpPr>
        <p:spPr>
          <a:xfrm>
            <a:off x="6591300" y="2133488"/>
            <a:ext cx="381000" cy="381000"/>
          </a:xfrm>
          <a:prstGeom prst="roundRect">
            <a:avLst>
              <a:gd name="adj" fmla="val 20000"/>
            </a:avLst>
          </a:prstGeom>
          <a:solidFill>
            <a:srgbClr val="34C759"/>
          </a:solidFill>
          <a:ln/>
        </p:spPr>
      </p:sp>
      <p:sp>
        <p:nvSpPr>
          <p:cNvPr id="34" name="Shape 32"/>
          <p:cNvSpPr/>
          <p:nvPr/>
        </p:nvSpPr>
        <p:spPr>
          <a:xfrm>
            <a:off x="6715125" y="2247788"/>
            <a:ext cx="133350" cy="152400"/>
          </a:xfrm>
          <a:custGeom>
            <a:avLst/>
            <a:gdLst/>
            <a:ahLst/>
            <a:cxnLst/>
            <a:rect l="l" t="t" r="r" b="b"/>
            <a:pathLst>
              <a:path w="133350" h="152400">
                <a:moveTo>
                  <a:pt x="100846" y="-2947"/>
                </a:moveTo>
                <a:cubicBezTo>
                  <a:pt x="104388" y="-387"/>
                  <a:pt x="105698" y="4256"/>
                  <a:pt x="104090" y="8305"/>
                </a:cubicBezTo>
                <a:lnTo>
                  <a:pt x="80754" y="66675"/>
                </a:lnTo>
                <a:lnTo>
                  <a:pt x="123825" y="66675"/>
                </a:lnTo>
                <a:cubicBezTo>
                  <a:pt x="127843" y="66675"/>
                  <a:pt x="131415" y="69175"/>
                  <a:pt x="132784" y="72956"/>
                </a:cubicBezTo>
                <a:cubicBezTo>
                  <a:pt x="134154" y="76736"/>
                  <a:pt x="132993" y="80962"/>
                  <a:pt x="129927" y="83522"/>
                </a:cubicBezTo>
                <a:lnTo>
                  <a:pt x="44202" y="154960"/>
                </a:lnTo>
                <a:cubicBezTo>
                  <a:pt x="40838" y="157758"/>
                  <a:pt x="36046" y="157907"/>
                  <a:pt x="32504" y="155347"/>
                </a:cubicBezTo>
                <a:cubicBezTo>
                  <a:pt x="28962" y="152787"/>
                  <a:pt x="27652" y="148144"/>
                  <a:pt x="29260" y="144095"/>
                </a:cubicBezTo>
                <a:lnTo>
                  <a:pt x="52596" y="85725"/>
                </a:lnTo>
                <a:lnTo>
                  <a:pt x="9525" y="85725"/>
                </a:lnTo>
                <a:cubicBezTo>
                  <a:pt x="5507" y="85725"/>
                  <a:pt x="1935" y="83225"/>
                  <a:pt x="566" y="79444"/>
                </a:cubicBezTo>
                <a:cubicBezTo>
                  <a:pt x="-804" y="75664"/>
                  <a:pt x="357" y="71438"/>
                  <a:pt x="3423" y="68878"/>
                </a:cubicBezTo>
                <a:lnTo>
                  <a:pt x="89148" y="-2560"/>
                </a:lnTo>
                <a:cubicBezTo>
                  <a:pt x="92512" y="-5358"/>
                  <a:pt x="97304" y="-5507"/>
                  <a:pt x="100846" y="-2947"/>
                </a:cubicBezTo>
                <a:close/>
              </a:path>
            </a:pathLst>
          </a:custGeom>
          <a:solidFill>
            <a:srgbClr val="1D1D1F"/>
          </a:solidFill>
          <a:ln/>
        </p:spPr>
      </p:sp>
      <p:sp>
        <p:nvSpPr>
          <p:cNvPr id="35" name="Text 33"/>
          <p:cNvSpPr/>
          <p:nvPr/>
        </p:nvSpPr>
        <p:spPr>
          <a:xfrm>
            <a:off x="7086600" y="2190638"/>
            <a:ext cx="914400" cy="266700"/>
          </a:xfrm>
          <a:prstGeom prst="rect">
            <a:avLst/>
          </a:prstGeom>
          <a:noFill/>
          <a:ln/>
        </p:spPr>
        <p:txBody>
          <a:bodyPr wrap="square" lIns="0" tIns="0" rIns="0" bIns="0" rtlCol="0" anchor="ctr"/>
          <a:lstStyle/>
          <a:p>
            <a:pPr>
              <a:lnSpc>
                <a:spcPct val="130000"/>
              </a:lnSpc>
            </a:pPr>
            <a:r>
              <a:rPr lang="en-US" sz="1350" b="1" dirty="0">
                <a:solidFill>
                  <a:srgbClr val="34C759"/>
                </a:solidFill>
                <a:latin typeface="Liter" pitchFamily="34" charset="0"/>
                <a:ea typeface="Liter" pitchFamily="34" charset="-122"/>
                <a:cs typeface="Liter" pitchFamily="34" charset="-120"/>
              </a:rPr>
              <a:t>Hot Reload</a:t>
            </a:r>
            <a:endParaRPr lang="en-US" sz="1600" dirty="0"/>
          </a:p>
        </p:txBody>
      </p:sp>
      <p:sp>
        <p:nvSpPr>
          <p:cNvPr id="36" name="Text 34"/>
          <p:cNvSpPr/>
          <p:nvPr/>
        </p:nvSpPr>
        <p:spPr>
          <a:xfrm>
            <a:off x="6591300" y="2590688"/>
            <a:ext cx="4914900" cy="4572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See changes instantly without restarting the app. Saves hours of development time!</a:t>
            </a:r>
            <a:endParaRPr lang="en-US" sz="1600" dirty="0"/>
          </a:p>
        </p:txBody>
      </p:sp>
      <p:sp>
        <p:nvSpPr>
          <p:cNvPr id="37" name="Shape 35"/>
          <p:cNvSpPr/>
          <p:nvPr/>
        </p:nvSpPr>
        <p:spPr>
          <a:xfrm>
            <a:off x="6438900" y="3200288"/>
            <a:ext cx="5143500" cy="990600"/>
          </a:xfrm>
          <a:prstGeom prst="roundRect">
            <a:avLst>
              <a:gd name="adj" fmla="val 11538"/>
            </a:avLst>
          </a:prstGeom>
          <a:solidFill>
            <a:srgbClr val="1A1D21"/>
          </a:solidFill>
          <a:ln/>
        </p:spPr>
      </p:sp>
      <p:sp>
        <p:nvSpPr>
          <p:cNvPr id="38" name="Shape 36"/>
          <p:cNvSpPr/>
          <p:nvPr/>
        </p:nvSpPr>
        <p:spPr>
          <a:xfrm>
            <a:off x="6591300" y="3352688"/>
            <a:ext cx="381000" cy="381000"/>
          </a:xfrm>
          <a:prstGeom prst="roundRect">
            <a:avLst>
              <a:gd name="adj" fmla="val 20000"/>
            </a:avLst>
          </a:prstGeom>
          <a:solidFill>
            <a:srgbClr val="0A84FF"/>
          </a:solidFill>
          <a:ln/>
        </p:spPr>
      </p:sp>
      <p:sp>
        <p:nvSpPr>
          <p:cNvPr id="39" name="Shape 37"/>
          <p:cNvSpPr/>
          <p:nvPr/>
        </p:nvSpPr>
        <p:spPr>
          <a:xfrm>
            <a:off x="6696075" y="3466988"/>
            <a:ext cx="171450" cy="152400"/>
          </a:xfrm>
          <a:custGeom>
            <a:avLst/>
            <a:gdLst/>
            <a:ahLst/>
            <a:cxnLst/>
            <a:rect l="l" t="t" r="r" b="b"/>
            <a:pathLst>
              <a:path w="171450" h="152400">
                <a:moveTo>
                  <a:pt x="143024" y="3066"/>
                </a:moveTo>
                <a:lnTo>
                  <a:pt x="77123" y="47030"/>
                </a:lnTo>
                <a:cubicBezTo>
                  <a:pt x="68461" y="52804"/>
                  <a:pt x="62954" y="62180"/>
                  <a:pt x="62061" y="72420"/>
                </a:cubicBezTo>
                <a:cubicBezTo>
                  <a:pt x="80605" y="76230"/>
                  <a:pt x="95220" y="90845"/>
                  <a:pt x="99060" y="109418"/>
                </a:cubicBezTo>
                <a:cubicBezTo>
                  <a:pt x="109329" y="108525"/>
                  <a:pt x="118676" y="103019"/>
                  <a:pt x="124450" y="94357"/>
                </a:cubicBezTo>
                <a:lnTo>
                  <a:pt x="168384" y="28426"/>
                </a:lnTo>
                <a:cubicBezTo>
                  <a:pt x="170378" y="25420"/>
                  <a:pt x="171450" y="21908"/>
                  <a:pt x="171450" y="18276"/>
                </a:cubicBezTo>
                <a:cubicBezTo>
                  <a:pt x="171450" y="8186"/>
                  <a:pt x="163264" y="0"/>
                  <a:pt x="153174" y="0"/>
                </a:cubicBezTo>
                <a:cubicBezTo>
                  <a:pt x="149572" y="0"/>
                  <a:pt x="146030" y="1072"/>
                  <a:pt x="143024" y="3066"/>
                </a:cubicBezTo>
                <a:close/>
                <a:moveTo>
                  <a:pt x="85725" y="119062"/>
                </a:moveTo>
                <a:cubicBezTo>
                  <a:pt x="85725" y="100638"/>
                  <a:pt x="70812" y="85725"/>
                  <a:pt x="52388" y="85725"/>
                </a:cubicBezTo>
                <a:cubicBezTo>
                  <a:pt x="33963" y="85725"/>
                  <a:pt x="19050" y="100638"/>
                  <a:pt x="19050" y="119062"/>
                </a:cubicBezTo>
                <a:cubicBezTo>
                  <a:pt x="19050" y="120223"/>
                  <a:pt x="19110" y="121384"/>
                  <a:pt x="19229" y="122515"/>
                </a:cubicBezTo>
                <a:cubicBezTo>
                  <a:pt x="19764" y="127724"/>
                  <a:pt x="16192" y="133350"/>
                  <a:pt x="10954" y="133350"/>
                </a:cubicBezTo>
                <a:lnTo>
                  <a:pt x="9525" y="133350"/>
                </a:lnTo>
                <a:cubicBezTo>
                  <a:pt x="4256" y="133350"/>
                  <a:pt x="0" y="137606"/>
                  <a:pt x="0" y="142875"/>
                </a:cubicBezTo>
                <a:cubicBezTo>
                  <a:pt x="0" y="148144"/>
                  <a:pt x="4256" y="152400"/>
                  <a:pt x="9525" y="152400"/>
                </a:cubicBezTo>
                <a:lnTo>
                  <a:pt x="52388" y="152400"/>
                </a:lnTo>
                <a:cubicBezTo>
                  <a:pt x="70812" y="152400"/>
                  <a:pt x="85725" y="137487"/>
                  <a:pt x="85725" y="119062"/>
                </a:cubicBezTo>
                <a:close/>
              </a:path>
            </a:pathLst>
          </a:custGeom>
          <a:solidFill>
            <a:srgbClr val="FFFFFF"/>
          </a:solidFill>
          <a:ln/>
        </p:spPr>
      </p:sp>
      <p:sp>
        <p:nvSpPr>
          <p:cNvPr id="40" name="Text 38"/>
          <p:cNvSpPr/>
          <p:nvPr/>
        </p:nvSpPr>
        <p:spPr>
          <a:xfrm>
            <a:off x="7086600" y="3409838"/>
            <a:ext cx="962025" cy="266700"/>
          </a:xfrm>
          <a:prstGeom prst="rect">
            <a:avLst/>
          </a:prstGeom>
          <a:noFill/>
          <a:ln/>
        </p:spPr>
        <p:txBody>
          <a:bodyPr wrap="square" lIns="0" tIns="0" rIns="0" bIns="0" rtlCol="0" anchor="ctr"/>
          <a:lstStyle/>
          <a:p>
            <a:pPr>
              <a:lnSpc>
                <a:spcPct val="130000"/>
              </a:lnSpc>
            </a:pPr>
            <a:r>
              <a:rPr lang="en-US" sz="1350" b="1" dirty="0">
                <a:solidFill>
                  <a:srgbClr val="0A84FF"/>
                </a:solidFill>
                <a:latin typeface="Liter" pitchFamily="34" charset="0"/>
                <a:ea typeface="Liter" pitchFamily="34" charset="-122"/>
                <a:cs typeface="Liter" pitchFamily="34" charset="-120"/>
              </a:rPr>
              <a:t>Beautiful UI</a:t>
            </a:r>
            <a:endParaRPr lang="en-US" sz="1600" dirty="0"/>
          </a:p>
        </p:txBody>
      </p:sp>
      <p:sp>
        <p:nvSpPr>
          <p:cNvPr id="41" name="Text 39"/>
          <p:cNvSpPr/>
          <p:nvPr/>
        </p:nvSpPr>
        <p:spPr>
          <a:xfrm>
            <a:off x="6591300" y="3809888"/>
            <a:ext cx="49149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Pre-built widgets for Material Design and Cupertino (iOS) styles</a:t>
            </a:r>
            <a:endParaRPr lang="en-US" sz="1600" dirty="0"/>
          </a:p>
        </p:txBody>
      </p:sp>
      <p:sp>
        <p:nvSpPr>
          <p:cNvPr id="42" name="Shape 40"/>
          <p:cNvSpPr/>
          <p:nvPr/>
        </p:nvSpPr>
        <p:spPr>
          <a:xfrm>
            <a:off x="6438900" y="4190888"/>
            <a:ext cx="5143500" cy="990600"/>
          </a:xfrm>
          <a:prstGeom prst="roundRect">
            <a:avLst>
              <a:gd name="adj" fmla="val 11538"/>
            </a:avLst>
          </a:prstGeom>
          <a:solidFill>
            <a:srgbClr val="1A1D21"/>
          </a:solidFill>
          <a:ln/>
        </p:spPr>
      </p:sp>
      <p:sp>
        <p:nvSpPr>
          <p:cNvPr id="43" name="Shape 41"/>
          <p:cNvSpPr/>
          <p:nvPr/>
        </p:nvSpPr>
        <p:spPr>
          <a:xfrm>
            <a:off x="6591300" y="4343288"/>
            <a:ext cx="381000" cy="381000"/>
          </a:xfrm>
          <a:prstGeom prst="roundRect">
            <a:avLst>
              <a:gd name="adj" fmla="val 20000"/>
            </a:avLst>
          </a:prstGeom>
          <a:solidFill>
            <a:srgbClr val="8E8E93"/>
          </a:solidFill>
          <a:ln/>
        </p:spPr>
      </p:sp>
      <p:sp>
        <p:nvSpPr>
          <p:cNvPr id="44" name="Shape 42"/>
          <p:cNvSpPr/>
          <p:nvPr/>
        </p:nvSpPr>
        <p:spPr>
          <a:xfrm>
            <a:off x="6705600" y="4457588"/>
            <a:ext cx="152400" cy="152400"/>
          </a:xfrm>
          <a:custGeom>
            <a:avLst/>
            <a:gdLst/>
            <a:ahLst/>
            <a:cxnLst/>
            <a:rect l="l" t="t" r="r" b="b"/>
            <a:pathLst>
              <a:path w="152400" h="152400">
                <a:moveTo>
                  <a:pt x="0" y="76200"/>
                </a:moveTo>
                <a:cubicBezTo>
                  <a:pt x="0" y="34144"/>
                  <a:pt x="34144" y="0"/>
                  <a:pt x="76200" y="0"/>
                </a:cubicBezTo>
                <a:cubicBezTo>
                  <a:pt x="118256" y="0"/>
                  <a:pt x="152400" y="34144"/>
                  <a:pt x="152400" y="76200"/>
                </a:cubicBezTo>
                <a:cubicBezTo>
                  <a:pt x="152400" y="118256"/>
                  <a:pt x="118256" y="152400"/>
                  <a:pt x="76200" y="152400"/>
                </a:cubicBezTo>
                <a:cubicBezTo>
                  <a:pt x="34144" y="152400"/>
                  <a:pt x="0" y="118256"/>
                  <a:pt x="0" y="76200"/>
                </a:cubicBezTo>
                <a:close/>
                <a:moveTo>
                  <a:pt x="85725" y="28575"/>
                </a:moveTo>
                <a:cubicBezTo>
                  <a:pt x="85725" y="23318"/>
                  <a:pt x="81457" y="19050"/>
                  <a:pt x="76200" y="19050"/>
                </a:cubicBezTo>
                <a:cubicBezTo>
                  <a:pt x="70943" y="19050"/>
                  <a:pt x="66675" y="23318"/>
                  <a:pt x="66675" y="28575"/>
                </a:cubicBezTo>
                <a:cubicBezTo>
                  <a:pt x="66675" y="33832"/>
                  <a:pt x="70943" y="38100"/>
                  <a:pt x="76200" y="38100"/>
                </a:cubicBezTo>
                <a:cubicBezTo>
                  <a:pt x="81457" y="38100"/>
                  <a:pt x="85725" y="33832"/>
                  <a:pt x="85725" y="28575"/>
                </a:cubicBezTo>
                <a:close/>
                <a:moveTo>
                  <a:pt x="76200" y="123825"/>
                </a:moveTo>
                <a:cubicBezTo>
                  <a:pt x="86707" y="123825"/>
                  <a:pt x="95250" y="115282"/>
                  <a:pt x="95250" y="104775"/>
                </a:cubicBezTo>
                <a:cubicBezTo>
                  <a:pt x="95250" y="99953"/>
                  <a:pt x="93464" y="95518"/>
                  <a:pt x="90488" y="92184"/>
                </a:cubicBezTo>
                <a:lnTo>
                  <a:pt x="111175" y="50840"/>
                </a:lnTo>
                <a:cubicBezTo>
                  <a:pt x="112931" y="47298"/>
                  <a:pt x="111502" y="43011"/>
                  <a:pt x="107990" y="41255"/>
                </a:cubicBezTo>
                <a:cubicBezTo>
                  <a:pt x="104477" y="39499"/>
                  <a:pt x="100161" y="40928"/>
                  <a:pt x="98405" y="44440"/>
                </a:cubicBezTo>
                <a:lnTo>
                  <a:pt x="77718" y="85785"/>
                </a:lnTo>
                <a:cubicBezTo>
                  <a:pt x="77212" y="85755"/>
                  <a:pt x="76706" y="85725"/>
                  <a:pt x="76200" y="85725"/>
                </a:cubicBezTo>
                <a:cubicBezTo>
                  <a:pt x="65693" y="85725"/>
                  <a:pt x="57150" y="94268"/>
                  <a:pt x="57150" y="104775"/>
                </a:cubicBezTo>
                <a:cubicBezTo>
                  <a:pt x="57150" y="115282"/>
                  <a:pt x="65693" y="123825"/>
                  <a:pt x="76200" y="123825"/>
                </a:cubicBezTo>
                <a:close/>
                <a:moveTo>
                  <a:pt x="52388" y="42863"/>
                </a:moveTo>
                <a:cubicBezTo>
                  <a:pt x="52388" y="37606"/>
                  <a:pt x="48119" y="33338"/>
                  <a:pt x="42863" y="33338"/>
                </a:cubicBezTo>
                <a:cubicBezTo>
                  <a:pt x="37606" y="33338"/>
                  <a:pt x="33338" y="37606"/>
                  <a:pt x="33338" y="42863"/>
                </a:cubicBezTo>
                <a:cubicBezTo>
                  <a:pt x="33338" y="48119"/>
                  <a:pt x="37606" y="52388"/>
                  <a:pt x="42863" y="52388"/>
                </a:cubicBezTo>
                <a:cubicBezTo>
                  <a:pt x="48119" y="52388"/>
                  <a:pt x="52388" y="48119"/>
                  <a:pt x="52388" y="42863"/>
                </a:cubicBezTo>
                <a:close/>
                <a:moveTo>
                  <a:pt x="28575" y="85725"/>
                </a:moveTo>
                <a:cubicBezTo>
                  <a:pt x="33832" y="85725"/>
                  <a:pt x="38100" y="81457"/>
                  <a:pt x="38100" y="76200"/>
                </a:cubicBezTo>
                <a:cubicBezTo>
                  <a:pt x="38100" y="70943"/>
                  <a:pt x="33832" y="66675"/>
                  <a:pt x="28575" y="66675"/>
                </a:cubicBezTo>
                <a:cubicBezTo>
                  <a:pt x="23318" y="66675"/>
                  <a:pt x="19050" y="70943"/>
                  <a:pt x="19050" y="76200"/>
                </a:cubicBezTo>
                <a:cubicBezTo>
                  <a:pt x="19050" y="81457"/>
                  <a:pt x="23318" y="85725"/>
                  <a:pt x="28575" y="85725"/>
                </a:cubicBezTo>
                <a:close/>
                <a:moveTo>
                  <a:pt x="133350" y="76200"/>
                </a:moveTo>
                <a:cubicBezTo>
                  <a:pt x="133350" y="70943"/>
                  <a:pt x="129082" y="66675"/>
                  <a:pt x="123825" y="66675"/>
                </a:cubicBezTo>
                <a:cubicBezTo>
                  <a:pt x="118568" y="66675"/>
                  <a:pt x="114300" y="70943"/>
                  <a:pt x="114300" y="76200"/>
                </a:cubicBezTo>
                <a:cubicBezTo>
                  <a:pt x="114300" y="81457"/>
                  <a:pt x="118568" y="85725"/>
                  <a:pt x="123825" y="85725"/>
                </a:cubicBezTo>
                <a:cubicBezTo>
                  <a:pt x="129082" y="85725"/>
                  <a:pt x="133350" y="81457"/>
                  <a:pt x="133350" y="76200"/>
                </a:cubicBezTo>
                <a:close/>
              </a:path>
            </a:pathLst>
          </a:custGeom>
          <a:solidFill>
            <a:srgbClr val="FFFFFF"/>
          </a:solidFill>
          <a:ln/>
        </p:spPr>
      </p:sp>
      <p:sp>
        <p:nvSpPr>
          <p:cNvPr id="45" name="Text 43"/>
          <p:cNvSpPr/>
          <p:nvPr/>
        </p:nvSpPr>
        <p:spPr>
          <a:xfrm>
            <a:off x="7086600" y="4400438"/>
            <a:ext cx="1457325" cy="266700"/>
          </a:xfrm>
          <a:prstGeom prst="rect">
            <a:avLst/>
          </a:prstGeom>
          <a:noFill/>
          <a:ln/>
        </p:spPr>
        <p:txBody>
          <a:bodyPr wrap="square" lIns="0" tIns="0" rIns="0" bIns="0" rtlCol="0" anchor="ctr"/>
          <a:lstStyle/>
          <a:p>
            <a:pPr>
              <a:lnSpc>
                <a:spcPct val="130000"/>
              </a:lnSpc>
            </a:pPr>
            <a:r>
              <a:rPr lang="en-US" sz="1350" b="1" dirty="0">
                <a:solidFill>
                  <a:srgbClr val="8E8E93"/>
                </a:solidFill>
                <a:latin typeface="Liter" pitchFamily="34" charset="0"/>
                <a:ea typeface="Liter" pitchFamily="34" charset="-122"/>
                <a:cs typeface="Liter" pitchFamily="34" charset="-120"/>
              </a:rPr>
              <a:t>High Performance</a:t>
            </a:r>
            <a:endParaRPr lang="en-US" sz="1600" dirty="0"/>
          </a:p>
        </p:txBody>
      </p:sp>
      <p:sp>
        <p:nvSpPr>
          <p:cNvPr id="46" name="Text 44"/>
          <p:cNvSpPr/>
          <p:nvPr/>
        </p:nvSpPr>
        <p:spPr>
          <a:xfrm>
            <a:off x="6591300" y="4800488"/>
            <a:ext cx="49149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Compiles to native code – apps run at 60fps smoothly</a:t>
            </a:r>
            <a:endParaRPr lang="en-US" sz="1600" dirty="0"/>
          </a:p>
        </p:txBody>
      </p:sp>
      <p:sp>
        <p:nvSpPr>
          <p:cNvPr id="47" name="Shape 45"/>
          <p:cNvSpPr/>
          <p:nvPr/>
        </p:nvSpPr>
        <p:spPr>
          <a:xfrm>
            <a:off x="6210300" y="5562488"/>
            <a:ext cx="5600700" cy="1104900"/>
          </a:xfrm>
          <a:prstGeom prst="roundRect">
            <a:avLst>
              <a:gd name="adj" fmla="val 13793"/>
            </a:avLst>
          </a:prstGeom>
          <a:solidFill>
            <a:srgbClr val="2C2C2E"/>
          </a:solidFill>
          <a:ln/>
        </p:spPr>
      </p:sp>
      <p:sp>
        <p:nvSpPr>
          <p:cNvPr id="48" name="Shape 46"/>
          <p:cNvSpPr/>
          <p:nvPr/>
        </p:nvSpPr>
        <p:spPr>
          <a:xfrm>
            <a:off x="6391275" y="5752988"/>
            <a:ext cx="133350" cy="152400"/>
          </a:xfrm>
          <a:custGeom>
            <a:avLst/>
            <a:gdLst/>
            <a:ahLst/>
            <a:cxnLst/>
            <a:rect l="l" t="t" r="r" b="b"/>
            <a:pathLst>
              <a:path w="133350" h="152400">
                <a:moveTo>
                  <a:pt x="19050" y="9525"/>
                </a:moveTo>
                <a:cubicBezTo>
                  <a:pt x="8543" y="9525"/>
                  <a:pt x="0" y="18068"/>
                  <a:pt x="0" y="28575"/>
                </a:cubicBezTo>
                <a:lnTo>
                  <a:pt x="0" y="123825"/>
                </a:lnTo>
                <a:cubicBezTo>
                  <a:pt x="0" y="134332"/>
                  <a:pt x="8543" y="142875"/>
                  <a:pt x="19050" y="142875"/>
                </a:cubicBezTo>
                <a:lnTo>
                  <a:pt x="114300" y="142875"/>
                </a:lnTo>
                <a:cubicBezTo>
                  <a:pt x="124807" y="142875"/>
                  <a:pt x="133350" y="134332"/>
                  <a:pt x="133350" y="123825"/>
                </a:cubicBezTo>
                <a:lnTo>
                  <a:pt x="133350" y="28575"/>
                </a:lnTo>
                <a:cubicBezTo>
                  <a:pt x="133350" y="18068"/>
                  <a:pt x="124807" y="9525"/>
                  <a:pt x="114300" y="9525"/>
                </a:cubicBezTo>
                <a:lnTo>
                  <a:pt x="19050" y="9525"/>
                </a:lnTo>
                <a:close/>
                <a:moveTo>
                  <a:pt x="38100" y="33338"/>
                </a:moveTo>
                <a:cubicBezTo>
                  <a:pt x="45985" y="33338"/>
                  <a:pt x="52388" y="39740"/>
                  <a:pt x="52388" y="47625"/>
                </a:cubicBezTo>
                <a:cubicBezTo>
                  <a:pt x="52388" y="55510"/>
                  <a:pt x="45985" y="61912"/>
                  <a:pt x="38100" y="61912"/>
                </a:cubicBezTo>
                <a:cubicBezTo>
                  <a:pt x="30215" y="61912"/>
                  <a:pt x="23813" y="55510"/>
                  <a:pt x="23813" y="47625"/>
                </a:cubicBezTo>
                <a:cubicBezTo>
                  <a:pt x="23813" y="39740"/>
                  <a:pt x="30215" y="33338"/>
                  <a:pt x="38100" y="33338"/>
                </a:cubicBezTo>
                <a:close/>
                <a:moveTo>
                  <a:pt x="80962" y="66675"/>
                </a:moveTo>
                <a:cubicBezTo>
                  <a:pt x="83463" y="66675"/>
                  <a:pt x="85755" y="67985"/>
                  <a:pt x="87064" y="70098"/>
                </a:cubicBezTo>
                <a:lnTo>
                  <a:pt x="113258" y="112961"/>
                </a:lnTo>
                <a:cubicBezTo>
                  <a:pt x="114598" y="115163"/>
                  <a:pt x="114657" y="117931"/>
                  <a:pt x="113407" y="120194"/>
                </a:cubicBezTo>
                <a:cubicBezTo>
                  <a:pt x="112157" y="122456"/>
                  <a:pt x="109746" y="123825"/>
                  <a:pt x="107156" y="123825"/>
                </a:cubicBezTo>
                <a:lnTo>
                  <a:pt x="26194" y="123825"/>
                </a:lnTo>
                <a:cubicBezTo>
                  <a:pt x="23545" y="123825"/>
                  <a:pt x="21074" y="122337"/>
                  <a:pt x="19854" y="119985"/>
                </a:cubicBezTo>
                <a:cubicBezTo>
                  <a:pt x="18633" y="117634"/>
                  <a:pt x="18812" y="114776"/>
                  <a:pt x="20330" y="112603"/>
                </a:cubicBezTo>
                <a:lnTo>
                  <a:pt x="36999" y="88791"/>
                </a:lnTo>
                <a:cubicBezTo>
                  <a:pt x="38338" y="86886"/>
                  <a:pt x="40511" y="85755"/>
                  <a:pt x="42863" y="85755"/>
                </a:cubicBezTo>
                <a:cubicBezTo>
                  <a:pt x="45214" y="85755"/>
                  <a:pt x="47387" y="86886"/>
                  <a:pt x="48726" y="88791"/>
                </a:cubicBezTo>
                <a:lnTo>
                  <a:pt x="56584" y="100042"/>
                </a:lnTo>
                <a:lnTo>
                  <a:pt x="74861" y="70128"/>
                </a:lnTo>
                <a:cubicBezTo>
                  <a:pt x="76170" y="68014"/>
                  <a:pt x="78462" y="66705"/>
                  <a:pt x="80962" y="66705"/>
                </a:cubicBezTo>
                <a:close/>
              </a:path>
            </a:pathLst>
          </a:custGeom>
          <a:solidFill>
            <a:srgbClr val="8E8E93"/>
          </a:solidFill>
          <a:ln/>
        </p:spPr>
      </p:sp>
      <p:sp>
        <p:nvSpPr>
          <p:cNvPr id="49" name="Text 47"/>
          <p:cNvSpPr/>
          <p:nvPr/>
        </p:nvSpPr>
        <p:spPr>
          <a:xfrm>
            <a:off x="6553200" y="5714888"/>
            <a:ext cx="5181600" cy="228600"/>
          </a:xfrm>
          <a:prstGeom prst="rect">
            <a:avLst/>
          </a:prstGeom>
          <a:noFill/>
          <a:ln/>
        </p:spPr>
        <p:txBody>
          <a:bodyPr wrap="square" lIns="0" tIns="0" rIns="0" bIns="0" rtlCol="0" anchor="ctr"/>
          <a:lstStyle/>
          <a:p>
            <a:pPr>
              <a:lnSpc>
                <a:spcPct val="130000"/>
              </a:lnSpc>
            </a:pPr>
            <a:r>
              <a:rPr lang="en-US" sz="1200" b="1" dirty="0">
                <a:solidFill>
                  <a:srgbClr val="8E8E93"/>
                </a:solidFill>
                <a:latin typeface="Liter" pitchFamily="34" charset="0"/>
                <a:ea typeface="Liter" pitchFamily="34" charset="-122"/>
                <a:cs typeface="Liter" pitchFamily="34" charset="-120"/>
              </a:rPr>
              <a:t>Visual Suggestion</a:t>
            </a:r>
            <a:endParaRPr lang="en-US" sz="1600" dirty="0"/>
          </a:p>
        </p:txBody>
      </p:sp>
      <p:sp>
        <p:nvSpPr>
          <p:cNvPr id="50" name="Shape 48"/>
          <p:cNvSpPr/>
          <p:nvPr/>
        </p:nvSpPr>
        <p:spPr>
          <a:xfrm>
            <a:off x="6381750" y="6057788"/>
            <a:ext cx="152400" cy="152400"/>
          </a:xfrm>
          <a:custGeom>
            <a:avLst/>
            <a:gdLst/>
            <a:ahLst/>
            <a:cxnLst/>
            <a:rect l="l" t="t" r="r" b="b"/>
            <a:pathLst>
              <a:path w="152400" h="152400">
                <a:moveTo>
                  <a:pt x="0" y="23813"/>
                </a:moveTo>
                <a:cubicBezTo>
                  <a:pt x="0" y="15925"/>
                  <a:pt x="6400" y="9525"/>
                  <a:pt x="14288" y="9525"/>
                </a:cubicBezTo>
                <a:lnTo>
                  <a:pt x="42863" y="9525"/>
                </a:lnTo>
                <a:cubicBezTo>
                  <a:pt x="50750" y="9525"/>
                  <a:pt x="57150" y="15925"/>
                  <a:pt x="57150" y="23813"/>
                </a:cubicBezTo>
                <a:lnTo>
                  <a:pt x="57150" y="28575"/>
                </a:lnTo>
                <a:lnTo>
                  <a:pt x="95250" y="28575"/>
                </a:lnTo>
                <a:lnTo>
                  <a:pt x="95250" y="23813"/>
                </a:lnTo>
                <a:cubicBezTo>
                  <a:pt x="95250" y="15925"/>
                  <a:pt x="101650" y="9525"/>
                  <a:pt x="109537" y="9525"/>
                </a:cubicBezTo>
                <a:lnTo>
                  <a:pt x="138113" y="9525"/>
                </a:lnTo>
                <a:cubicBezTo>
                  <a:pt x="146000" y="9525"/>
                  <a:pt x="152400" y="15925"/>
                  <a:pt x="152400" y="23813"/>
                </a:cubicBezTo>
                <a:lnTo>
                  <a:pt x="152400" y="52388"/>
                </a:lnTo>
                <a:cubicBezTo>
                  <a:pt x="152400" y="60275"/>
                  <a:pt x="146000" y="66675"/>
                  <a:pt x="138113" y="66675"/>
                </a:cubicBezTo>
                <a:lnTo>
                  <a:pt x="109537" y="66675"/>
                </a:lnTo>
                <a:cubicBezTo>
                  <a:pt x="101650" y="66675"/>
                  <a:pt x="95250" y="60275"/>
                  <a:pt x="95250" y="52388"/>
                </a:cubicBezTo>
                <a:lnTo>
                  <a:pt x="95250" y="47625"/>
                </a:lnTo>
                <a:lnTo>
                  <a:pt x="57150" y="47625"/>
                </a:lnTo>
                <a:lnTo>
                  <a:pt x="57150" y="52388"/>
                </a:lnTo>
                <a:cubicBezTo>
                  <a:pt x="57150" y="54560"/>
                  <a:pt x="56644" y="56644"/>
                  <a:pt x="55781" y="58489"/>
                </a:cubicBezTo>
                <a:lnTo>
                  <a:pt x="76200" y="85725"/>
                </a:lnTo>
                <a:lnTo>
                  <a:pt x="100013" y="85725"/>
                </a:lnTo>
                <a:cubicBezTo>
                  <a:pt x="107900" y="85725"/>
                  <a:pt x="114300" y="92125"/>
                  <a:pt x="114300" y="100013"/>
                </a:cubicBezTo>
                <a:lnTo>
                  <a:pt x="114300" y="128588"/>
                </a:lnTo>
                <a:cubicBezTo>
                  <a:pt x="114300" y="136475"/>
                  <a:pt x="107900" y="142875"/>
                  <a:pt x="100013" y="142875"/>
                </a:cubicBezTo>
                <a:lnTo>
                  <a:pt x="71438" y="142875"/>
                </a:lnTo>
                <a:cubicBezTo>
                  <a:pt x="63550" y="142875"/>
                  <a:pt x="57150" y="136475"/>
                  <a:pt x="57150" y="128588"/>
                </a:cubicBezTo>
                <a:lnTo>
                  <a:pt x="57150" y="100013"/>
                </a:lnTo>
                <a:cubicBezTo>
                  <a:pt x="57150" y="97840"/>
                  <a:pt x="57656" y="95756"/>
                  <a:pt x="58519" y="93911"/>
                </a:cubicBezTo>
                <a:lnTo>
                  <a:pt x="38100" y="66675"/>
                </a:lnTo>
                <a:lnTo>
                  <a:pt x="14288" y="66675"/>
                </a:lnTo>
                <a:cubicBezTo>
                  <a:pt x="6400" y="66675"/>
                  <a:pt x="0" y="60275"/>
                  <a:pt x="0" y="52388"/>
                </a:cubicBezTo>
                <a:lnTo>
                  <a:pt x="0" y="23813"/>
                </a:lnTo>
                <a:close/>
              </a:path>
            </a:pathLst>
          </a:custGeom>
          <a:solidFill>
            <a:srgbClr val="34C759"/>
          </a:solidFill>
          <a:ln/>
        </p:spPr>
      </p:sp>
      <p:sp>
        <p:nvSpPr>
          <p:cNvPr id="51" name="Text 49"/>
          <p:cNvSpPr/>
          <p:nvPr/>
        </p:nvSpPr>
        <p:spPr>
          <a:xfrm>
            <a:off x="6629400" y="6019688"/>
            <a:ext cx="2981325"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Flutter architecture showing layers</a:t>
            </a:r>
            <a:endParaRPr lang="en-US" sz="1600" dirty="0"/>
          </a:p>
        </p:txBody>
      </p:sp>
      <p:sp>
        <p:nvSpPr>
          <p:cNvPr id="52" name="Shape 50"/>
          <p:cNvSpPr/>
          <p:nvPr/>
        </p:nvSpPr>
        <p:spPr>
          <a:xfrm>
            <a:off x="6391275" y="6324488"/>
            <a:ext cx="133350" cy="152400"/>
          </a:xfrm>
          <a:custGeom>
            <a:avLst/>
            <a:gdLst/>
            <a:ahLst/>
            <a:cxnLst/>
            <a:rect l="l" t="t" r="r" b="b"/>
            <a:pathLst>
              <a:path w="133350" h="152400">
                <a:moveTo>
                  <a:pt x="19050" y="9525"/>
                </a:moveTo>
                <a:cubicBezTo>
                  <a:pt x="8543" y="9525"/>
                  <a:pt x="0" y="18068"/>
                  <a:pt x="0" y="28575"/>
                </a:cubicBezTo>
                <a:lnTo>
                  <a:pt x="0" y="123825"/>
                </a:lnTo>
                <a:cubicBezTo>
                  <a:pt x="0" y="134332"/>
                  <a:pt x="8543" y="142875"/>
                  <a:pt x="19050" y="142875"/>
                </a:cubicBezTo>
                <a:lnTo>
                  <a:pt x="114300" y="142875"/>
                </a:lnTo>
                <a:cubicBezTo>
                  <a:pt x="124807" y="142875"/>
                  <a:pt x="133350" y="134332"/>
                  <a:pt x="133350" y="123825"/>
                </a:cubicBezTo>
                <a:lnTo>
                  <a:pt x="133350" y="28575"/>
                </a:lnTo>
                <a:cubicBezTo>
                  <a:pt x="133350" y="18068"/>
                  <a:pt x="124807" y="9525"/>
                  <a:pt x="114300" y="9525"/>
                </a:cubicBezTo>
                <a:lnTo>
                  <a:pt x="19050" y="9525"/>
                </a:lnTo>
                <a:close/>
                <a:moveTo>
                  <a:pt x="38100" y="33338"/>
                </a:moveTo>
                <a:cubicBezTo>
                  <a:pt x="45985" y="33338"/>
                  <a:pt x="52388" y="39740"/>
                  <a:pt x="52388" y="47625"/>
                </a:cubicBezTo>
                <a:cubicBezTo>
                  <a:pt x="52388" y="55510"/>
                  <a:pt x="45985" y="61912"/>
                  <a:pt x="38100" y="61912"/>
                </a:cubicBezTo>
                <a:cubicBezTo>
                  <a:pt x="30215" y="61912"/>
                  <a:pt x="23813" y="55510"/>
                  <a:pt x="23813" y="47625"/>
                </a:cubicBezTo>
                <a:cubicBezTo>
                  <a:pt x="23813" y="39740"/>
                  <a:pt x="30215" y="33338"/>
                  <a:pt x="38100" y="33338"/>
                </a:cubicBezTo>
                <a:close/>
                <a:moveTo>
                  <a:pt x="80962" y="66675"/>
                </a:moveTo>
                <a:cubicBezTo>
                  <a:pt x="83463" y="66675"/>
                  <a:pt x="85755" y="67985"/>
                  <a:pt x="87064" y="70098"/>
                </a:cubicBezTo>
                <a:lnTo>
                  <a:pt x="113258" y="112961"/>
                </a:lnTo>
                <a:cubicBezTo>
                  <a:pt x="114598" y="115163"/>
                  <a:pt x="114657" y="117931"/>
                  <a:pt x="113407" y="120194"/>
                </a:cubicBezTo>
                <a:cubicBezTo>
                  <a:pt x="112157" y="122456"/>
                  <a:pt x="109746" y="123825"/>
                  <a:pt x="107156" y="123825"/>
                </a:cubicBezTo>
                <a:lnTo>
                  <a:pt x="26194" y="123825"/>
                </a:lnTo>
                <a:cubicBezTo>
                  <a:pt x="23545" y="123825"/>
                  <a:pt x="21074" y="122337"/>
                  <a:pt x="19854" y="119985"/>
                </a:cubicBezTo>
                <a:cubicBezTo>
                  <a:pt x="18633" y="117634"/>
                  <a:pt x="18812" y="114776"/>
                  <a:pt x="20330" y="112603"/>
                </a:cubicBezTo>
                <a:lnTo>
                  <a:pt x="36999" y="88791"/>
                </a:lnTo>
                <a:cubicBezTo>
                  <a:pt x="38338" y="86886"/>
                  <a:pt x="40511" y="85755"/>
                  <a:pt x="42863" y="85755"/>
                </a:cubicBezTo>
                <a:cubicBezTo>
                  <a:pt x="45214" y="85755"/>
                  <a:pt x="47387" y="86886"/>
                  <a:pt x="48726" y="88791"/>
                </a:cubicBezTo>
                <a:lnTo>
                  <a:pt x="56584" y="100042"/>
                </a:lnTo>
                <a:lnTo>
                  <a:pt x="74861" y="70128"/>
                </a:lnTo>
                <a:cubicBezTo>
                  <a:pt x="76170" y="68014"/>
                  <a:pt x="78462" y="66705"/>
                  <a:pt x="80962" y="66705"/>
                </a:cubicBezTo>
                <a:close/>
              </a:path>
            </a:pathLst>
          </a:custGeom>
          <a:solidFill>
            <a:srgbClr val="0A84FF"/>
          </a:solidFill>
          <a:ln/>
        </p:spPr>
      </p:sp>
      <p:sp>
        <p:nvSpPr>
          <p:cNvPr id="53" name="Text 51"/>
          <p:cNvSpPr/>
          <p:nvPr/>
        </p:nvSpPr>
        <p:spPr>
          <a:xfrm>
            <a:off x="6629400" y="6286388"/>
            <a:ext cx="3067050"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Flutter logo and sample app interfaces</a:t>
            </a:r>
            <a:endParaRPr lang="en-US" sz="1600" dirty="0"/>
          </a:p>
        </p:txBody>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8E8E93"/>
          </a:solidFill>
          <a:ln/>
        </p:spPr>
      </p:sp>
      <p:sp>
        <p:nvSpPr>
          <p:cNvPr id="3" name="Text 1"/>
          <p:cNvSpPr/>
          <p:nvPr/>
        </p:nvSpPr>
        <p:spPr>
          <a:xfrm>
            <a:off x="484584" y="514350"/>
            <a:ext cx="361950"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Liter" pitchFamily="34" charset="0"/>
                <a:ea typeface="Liter" pitchFamily="34" charset="-122"/>
                <a:cs typeface="Liter" pitchFamily="34" charset="-120"/>
              </a:rPr>
              <a:t>27</a:t>
            </a:r>
            <a:endParaRPr lang="en-US" sz="1600" dirty="0"/>
          </a:p>
        </p:txBody>
      </p:sp>
      <p:sp>
        <p:nvSpPr>
          <p:cNvPr id="4" name="Text 2"/>
          <p:cNvSpPr/>
          <p:nvPr/>
        </p:nvSpPr>
        <p:spPr>
          <a:xfrm>
            <a:off x="952500" y="381000"/>
            <a:ext cx="4276725" cy="190500"/>
          </a:xfrm>
          <a:prstGeom prst="rect">
            <a:avLst/>
          </a:prstGeom>
          <a:noFill/>
          <a:ln/>
        </p:spPr>
        <p:txBody>
          <a:bodyPr wrap="square" lIns="0" tIns="0" rIns="0" bIns="0" rtlCol="0" anchor="ctr"/>
          <a:lstStyle/>
          <a:p>
            <a:pPr>
              <a:lnSpc>
                <a:spcPct val="120000"/>
              </a:lnSpc>
            </a:pPr>
            <a:r>
              <a:rPr lang="en-US" sz="1050" b="1" spc="53" kern="0" dirty="0">
                <a:solidFill>
                  <a:srgbClr val="8E8E93"/>
                </a:solidFill>
                <a:latin typeface="Quattrocento Sans" pitchFamily="34" charset="0"/>
                <a:ea typeface="Quattrocento Sans" pitchFamily="34" charset="-122"/>
                <a:cs typeface="Quattrocento Sans" pitchFamily="34" charset="-120"/>
              </a:rPr>
              <a:t>Framework Introduction</a:t>
            </a:r>
            <a:endParaRPr lang="en-US" sz="1600" dirty="0"/>
          </a:p>
        </p:txBody>
      </p:sp>
      <p:sp>
        <p:nvSpPr>
          <p:cNvPr id="5" name="Text 3"/>
          <p:cNvSpPr/>
          <p:nvPr/>
        </p:nvSpPr>
        <p:spPr>
          <a:xfrm>
            <a:off x="952500" y="571500"/>
            <a:ext cx="4381500" cy="381000"/>
          </a:xfrm>
          <a:prstGeom prst="rect">
            <a:avLst/>
          </a:prstGeom>
          <a:noFill/>
          <a:ln/>
        </p:spPr>
        <p:txBody>
          <a:bodyPr wrap="square" lIns="0" tIns="0" rIns="0" bIns="0" rtlCol="0" anchor="ctr"/>
          <a:lstStyle/>
          <a:p>
            <a:pPr>
              <a:lnSpc>
                <a:spcPct val="90000"/>
              </a:lnSpc>
            </a:pPr>
            <a:r>
              <a:rPr lang="en-US" sz="2700" b="1" dirty="0">
                <a:solidFill>
                  <a:srgbClr val="F5F5F7"/>
                </a:solidFill>
                <a:latin typeface="Liter" pitchFamily="34" charset="0"/>
                <a:ea typeface="Liter" pitchFamily="34" charset="-122"/>
                <a:cs typeface="Liter" pitchFamily="34" charset="-120"/>
              </a:rPr>
              <a:t>Introduction to React Native</a:t>
            </a:r>
            <a:endParaRPr lang="en-US" sz="1600" dirty="0"/>
          </a:p>
        </p:txBody>
      </p:sp>
      <p:sp>
        <p:nvSpPr>
          <p:cNvPr id="6" name="Shape 4"/>
          <p:cNvSpPr/>
          <p:nvPr/>
        </p:nvSpPr>
        <p:spPr>
          <a:xfrm>
            <a:off x="400050" y="1257300"/>
            <a:ext cx="5581650" cy="3543300"/>
          </a:xfrm>
          <a:custGeom>
            <a:avLst/>
            <a:gdLst/>
            <a:ahLst/>
            <a:cxnLst/>
            <a:rect l="l" t="t" r="r" b="b"/>
            <a:pathLst>
              <a:path w="5581650" h="3543300">
                <a:moveTo>
                  <a:pt x="38100" y="0"/>
                </a:moveTo>
                <a:lnTo>
                  <a:pt x="5429250" y="0"/>
                </a:lnTo>
                <a:cubicBezTo>
                  <a:pt x="5513362" y="0"/>
                  <a:pt x="5581650" y="68288"/>
                  <a:pt x="5581650" y="152400"/>
                </a:cubicBezTo>
                <a:lnTo>
                  <a:pt x="5581650" y="3390900"/>
                </a:lnTo>
                <a:cubicBezTo>
                  <a:pt x="5581650" y="3475012"/>
                  <a:pt x="5513362" y="3543300"/>
                  <a:pt x="5429250" y="3543300"/>
                </a:cubicBezTo>
                <a:lnTo>
                  <a:pt x="38100" y="3543300"/>
                </a:lnTo>
                <a:cubicBezTo>
                  <a:pt x="17072" y="3543300"/>
                  <a:pt x="0" y="3526228"/>
                  <a:pt x="0" y="3505200"/>
                </a:cubicBezTo>
                <a:lnTo>
                  <a:pt x="0" y="38100"/>
                </a:lnTo>
                <a:cubicBezTo>
                  <a:pt x="0" y="17072"/>
                  <a:pt x="17072" y="0"/>
                  <a:pt x="38100" y="0"/>
                </a:cubicBezTo>
                <a:close/>
              </a:path>
            </a:pathLst>
          </a:custGeom>
          <a:solidFill>
            <a:srgbClr val="2C2C2E"/>
          </a:solidFill>
          <a:ln/>
        </p:spPr>
      </p:sp>
      <p:sp>
        <p:nvSpPr>
          <p:cNvPr id="7" name="Shape 5"/>
          <p:cNvSpPr/>
          <p:nvPr/>
        </p:nvSpPr>
        <p:spPr>
          <a:xfrm>
            <a:off x="400050" y="1257300"/>
            <a:ext cx="38100" cy="3543300"/>
          </a:xfrm>
          <a:custGeom>
            <a:avLst/>
            <a:gdLst/>
            <a:ahLst/>
            <a:cxnLst/>
            <a:rect l="l" t="t" r="r" b="b"/>
            <a:pathLst>
              <a:path w="38100" h="3543300">
                <a:moveTo>
                  <a:pt x="38100" y="0"/>
                </a:moveTo>
                <a:lnTo>
                  <a:pt x="38100" y="0"/>
                </a:lnTo>
                <a:lnTo>
                  <a:pt x="38100" y="3543300"/>
                </a:lnTo>
                <a:lnTo>
                  <a:pt x="38100" y="3543300"/>
                </a:lnTo>
                <a:cubicBezTo>
                  <a:pt x="17072" y="3543300"/>
                  <a:pt x="0" y="3526228"/>
                  <a:pt x="0" y="3505200"/>
                </a:cubicBezTo>
                <a:lnTo>
                  <a:pt x="0" y="38100"/>
                </a:lnTo>
                <a:cubicBezTo>
                  <a:pt x="0" y="17072"/>
                  <a:pt x="17072" y="0"/>
                  <a:pt x="38100" y="0"/>
                </a:cubicBezTo>
                <a:close/>
              </a:path>
            </a:pathLst>
          </a:custGeom>
          <a:solidFill>
            <a:srgbClr val="0A84FF"/>
          </a:solidFill>
          <a:ln/>
        </p:spPr>
      </p:sp>
      <p:sp>
        <p:nvSpPr>
          <p:cNvPr id="8" name="Shape 6"/>
          <p:cNvSpPr/>
          <p:nvPr/>
        </p:nvSpPr>
        <p:spPr>
          <a:xfrm>
            <a:off x="676275" y="1523888"/>
            <a:ext cx="228600" cy="228600"/>
          </a:xfrm>
          <a:custGeom>
            <a:avLst/>
            <a:gdLst/>
            <a:ahLst/>
            <a:cxnLst/>
            <a:rect l="l" t="t" r="r" b="b"/>
            <a:pathLst>
              <a:path w="228600" h="228600">
                <a:moveTo>
                  <a:pt x="114300" y="228600"/>
                </a:moveTo>
                <a:cubicBezTo>
                  <a:pt x="177384" y="228600"/>
                  <a:pt x="228600" y="177384"/>
                  <a:pt x="228600" y="114300"/>
                </a:cubicBezTo>
                <a:cubicBezTo>
                  <a:pt x="228600" y="51216"/>
                  <a:pt x="177384" y="0"/>
                  <a:pt x="114300" y="0"/>
                </a:cubicBezTo>
                <a:cubicBezTo>
                  <a:pt x="51216" y="0"/>
                  <a:pt x="0" y="51216"/>
                  <a:pt x="0" y="114300"/>
                </a:cubicBezTo>
                <a:cubicBezTo>
                  <a:pt x="0" y="177384"/>
                  <a:pt x="51216" y="228600"/>
                  <a:pt x="114300" y="228600"/>
                </a:cubicBezTo>
                <a:close/>
                <a:moveTo>
                  <a:pt x="100013" y="71438"/>
                </a:moveTo>
                <a:cubicBezTo>
                  <a:pt x="100013" y="63552"/>
                  <a:pt x="106415" y="57150"/>
                  <a:pt x="114300" y="57150"/>
                </a:cubicBezTo>
                <a:cubicBezTo>
                  <a:pt x="122185" y="57150"/>
                  <a:pt x="128588" y="63552"/>
                  <a:pt x="128588" y="71438"/>
                </a:cubicBezTo>
                <a:cubicBezTo>
                  <a:pt x="128588" y="79323"/>
                  <a:pt x="122185" y="85725"/>
                  <a:pt x="114300" y="85725"/>
                </a:cubicBezTo>
                <a:cubicBezTo>
                  <a:pt x="106415" y="85725"/>
                  <a:pt x="100013" y="79323"/>
                  <a:pt x="100013" y="71438"/>
                </a:cubicBezTo>
                <a:close/>
                <a:moveTo>
                  <a:pt x="96441" y="100013"/>
                </a:moveTo>
                <a:lnTo>
                  <a:pt x="117872" y="100013"/>
                </a:lnTo>
                <a:cubicBezTo>
                  <a:pt x="123810" y="100013"/>
                  <a:pt x="128588" y="104790"/>
                  <a:pt x="128588" y="110728"/>
                </a:cubicBezTo>
                <a:lnTo>
                  <a:pt x="128588" y="150019"/>
                </a:lnTo>
                <a:lnTo>
                  <a:pt x="132159" y="150019"/>
                </a:lnTo>
                <a:cubicBezTo>
                  <a:pt x="138098" y="150019"/>
                  <a:pt x="142875" y="154796"/>
                  <a:pt x="142875" y="160734"/>
                </a:cubicBezTo>
                <a:cubicBezTo>
                  <a:pt x="142875" y="166673"/>
                  <a:pt x="138098" y="171450"/>
                  <a:pt x="132159" y="171450"/>
                </a:cubicBezTo>
                <a:lnTo>
                  <a:pt x="96441" y="171450"/>
                </a:lnTo>
                <a:cubicBezTo>
                  <a:pt x="90502" y="171450"/>
                  <a:pt x="85725" y="166673"/>
                  <a:pt x="85725" y="160734"/>
                </a:cubicBezTo>
                <a:cubicBezTo>
                  <a:pt x="85725" y="154796"/>
                  <a:pt x="90502" y="150019"/>
                  <a:pt x="96441" y="150019"/>
                </a:cubicBezTo>
                <a:lnTo>
                  <a:pt x="107156" y="150019"/>
                </a:lnTo>
                <a:lnTo>
                  <a:pt x="107156" y="121444"/>
                </a:lnTo>
                <a:lnTo>
                  <a:pt x="96441" y="121444"/>
                </a:lnTo>
                <a:cubicBezTo>
                  <a:pt x="90502" y="121444"/>
                  <a:pt x="85725" y="116666"/>
                  <a:pt x="85725" y="110728"/>
                </a:cubicBezTo>
                <a:cubicBezTo>
                  <a:pt x="85725" y="104790"/>
                  <a:pt x="90502" y="100013"/>
                  <a:pt x="96441" y="100013"/>
                </a:cubicBezTo>
                <a:close/>
              </a:path>
            </a:pathLst>
          </a:custGeom>
          <a:solidFill>
            <a:srgbClr val="0A84FF"/>
          </a:solidFill>
          <a:ln/>
        </p:spPr>
      </p:sp>
      <p:sp>
        <p:nvSpPr>
          <p:cNvPr id="9" name="Text 7"/>
          <p:cNvSpPr/>
          <p:nvPr/>
        </p:nvSpPr>
        <p:spPr>
          <a:xfrm>
            <a:off x="933450" y="1485900"/>
            <a:ext cx="4933950" cy="304800"/>
          </a:xfrm>
          <a:prstGeom prst="rect">
            <a:avLst/>
          </a:prstGeom>
          <a:noFill/>
          <a:ln/>
        </p:spPr>
        <p:txBody>
          <a:bodyPr wrap="square" lIns="0" tIns="0" rIns="0" bIns="0" rtlCol="0" anchor="ctr"/>
          <a:lstStyle/>
          <a:p>
            <a:pPr>
              <a:lnSpc>
                <a:spcPct val="110000"/>
              </a:lnSpc>
            </a:pPr>
            <a:r>
              <a:rPr lang="en-US" sz="1800" b="1" dirty="0">
                <a:solidFill>
                  <a:srgbClr val="0A84FF"/>
                </a:solidFill>
                <a:latin typeface="Liter" pitchFamily="34" charset="0"/>
                <a:ea typeface="Liter" pitchFamily="34" charset="-122"/>
                <a:cs typeface="Liter" pitchFamily="34" charset="-120"/>
              </a:rPr>
              <a:t>What is React Native?</a:t>
            </a:r>
            <a:endParaRPr lang="en-US" sz="1600" dirty="0"/>
          </a:p>
        </p:txBody>
      </p:sp>
      <p:sp>
        <p:nvSpPr>
          <p:cNvPr id="10" name="Shape 8"/>
          <p:cNvSpPr/>
          <p:nvPr/>
        </p:nvSpPr>
        <p:spPr>
          <a:xfrm>
            <a:off x="647700" y="2000138"/>
            <a:ext cx="304800" cy="304800"/>
          </a:xfrm>
          <a:prstGeom prst="roundRect">
            <a:avLst>
              <a:gd name="adj" fmla="val 25000"/>
            </a:avLst>
          </a:prstGeom>
          <a:solidFill>
            <a:srgbClr val="0A84FF"/>
          </a:solidFill>
          <a:ln/>
        </p:spPr>
      </p:sp>
      <p:sp>
        <p:nvSpPr>
          <p:cNvPr id="11" name="Shape 9"/>
          <p:cNvSpPr/>
          <p:nvPr/>
        </p:nvSpPr>
        <p:spPr>
          <a:xfrm>
            <a:off x="735806" y="2085863"/>
            <a:ext cx="133350" cy="133350"/>
          </a:xfrm>
          <a:custGeom>
            <a:avLst/>
            <a:gdLst/>
            <a:ahLst/>
            <a:cxnLst/>
            <a:rect l="l" t="t" r="r" b="b"/>
            <a:pathLst>
              <a:path w="133350" h="133350">
                <a:moveTo>
                  <a:pt x="133350" y="66675"/>
                </a:moveTo>
                <a:cubicBezTo>
                  <a:pt x="133350" y="29847"/>
                  <a:pt x="103503" y="0"/>
                  <a:pt x="66675" y="0"/>
                </a:cubicBezTo>
                <a:cubicBezTo>
                  <a:pt x="29847" y="0"/>
                  <a:pt x="0" y="29847"/>
                  <a:pt x="0" y="66675"/>
                </a:cubicBezTo>
                <a:cubicBezTo>
                  <a:pt x="0" y="97929"/>
                  <a:pt x="21539" y="124182"/>
                  <a:pt x="50579" y="131397"/>
                </a:cubicBezTo>
                <a:lnTo>
                  <a:pt x="50579" y="87042"/>
                </a:lnTo>
                <a:lnTo>
                  <a:pt x="36828" y="87042"/>
                </a:lnTo>
                <a:lnTo>
                  <a:pt x="36828" y="66675"/>
                </a:lnTo>
                <a:lnTo>
                  <a:pt x="50579" y="66675"/>
                </a:lnTo>
                <a:lnTo>
                  <a:pt x="50579" y="57898"/>
                </a:lnTo>
                <a:cubicBezTo>
                  <a:pt x="50579" y="35213"/>
                  <a:pt x="60841" y="24691"/>
                  <a:pt x="83135" y="24691"/>
                </a:cubicBezTo>
                <a:cubicBezTo>
                  <a:pt x="87355" y="24691"/>
                  <a:pt x="94647" y="25524"/>
                  <a:pt x="97642" y="26357"/>
                </a:cubicBezTo>
                <a:lnTo>
                  <a:pt x="97642" y="44797"/>
                </a:lnTo>
                <a:cubicBezTo>
                  <a:pt x="96080" y="44641"/>
                  <a:pt x="93345" y="44537"/>
                  <a:pt x="89933" y="44537"/>
                </a:cubicBezTo>
                <a:cubicBezTo>
                  <a:pt x="78994" y="44537"/>
                  <a:pt x="74775" y="48678"/>
                  <a:pt x="74775" y="59435"/>
                </a:cubicBezTo>
                <a:lnTo>
                  <a:pt x="74775" y="66675"/>
                </a:lnTo>
                <a:lnTo>
                  <a:pt x="96549" y="66675"/>
                </a:lnTo>
                <a:lnTo>
                  <a:pt x="92798" y="87042"/>
                </a:lnTo>
                <a:lnTo>
                  <a:pt x="74749" y="87042"/>
                </a:lnTo>
                <a:lnTo>
                  <a:pt x="74749" y="132855"/>
                </a:lnTo>
                <a:cubicBezTo>
                  <a:pt x="107774" y="128870"/>
                  <a:pt x="133350" y="100768"/>
                  <a:pt x="133350" y="66675"/>
                </a:cubicBezTo>
                <a:close/>
              </a:path>
            </a:pathLst>
          </a:custGeom>
          <a:solidFill>
            <a:srgbClr val="FFFFFF"/>
          </a:solidFill>
          <a:ln/>
        </p:spPr>
      </p:sp>
      <p:sp>
        <p:nvSpPr>
          <p:cNvPr id="12" name="Text 10"/>
          <p:cNvSpPr/>
          <p:nvPr/>
        </p:nvSpPr>
        <p:spPr>
          <a:xfrm>
            <a:off x="1066800" y="1981088"/>
            <a:ext cx="2362200" cy="228600"/>
          </a:xfrm>
          <a:prstGeom prst="rect">
            <a:avLst/>
          </a:prstGeom>
          <a:noFill/>
          <a:ln/>
        </p:spPr>
        <p:txBody>
          <a:bodyPr wrap="square" lIns="0" tIns="0" rIns="0" bIns="0" rtlCol="0" anchor="ctr"/>
          <a:lstStyle/>
          <a:p>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Facebook's framework</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(now Meta)</a:t>
            </a:r>
            <a:endParaRPr lang="en-US" sz="1600" dirty="0"/>
          </a:p>
        </p:txBody>
      </p:sp>
      <p:sp>
        <p:nvSpPr>
          <p:cNvPr id="13" name="Shape 11"/>
          <p:cNvSpPr/>
          <p:nvPr/>
        </p:nvSpPr>
        <p:spPr>
          <a:xfrm>
            <a:off x="647700" y="2438288"/>
            <a:ext cx="304800" cy="304800"/>
          </a:xfrm>
          <a:prstGeom prst="roundRect">
            <a:avLst>
              <a:gd name="adj" fmla="val 25000"/>
            </a:avLst>
          </a:prstGeom>
          <a:solidFill>
            <a:srgbClr val="0A84FF"/>
          </a:solidFill>
          <a:ln/>
        </p:spPr>
      </p:sp>
      <p:sp>
        <p:nvSpPr>
          <p:cNvPr id="14" name="Shape 12"/>
          <p:cNvSpPr/>
          <p:nvPr/>
        </p:nvSpPr>
        <p:spPr>
          <a:xfrm>
            <a:off x="744141" y="2524013"/>
            <a:ext cx="116681" cy="133350"/>
          </a:xfrm>
          <a:custGeom>
            <a:avLst/>
            <a:gdLst/>
            <a:ahLst/>
            <a:cxnLst/>
            <a:rect l="l" t="t" r="r" b="b"/>
            <a:pathLst>
              <a:path w="116681" h="133350">
                <a:moveTo>
                  <a:pt x="0" y="8334"/>
                </a:moveTo>
                <a:lnTo>
                  <a:pt x="0" y="125016"/>
                </a:lnTo>
                <a:lnTo>
                  <a:pt x="116681" y="125016"/>
                </a:lnTo>
                <a:lnTo>
                  <a:pt x="116681" y="8334"/>
                </a:lnTo>
                <a:lnTo>
                  <a:pt x="0" y="8334"/>
                </a:lnTo>
                <a:close/>
                <a:moveTo>
                  <a:pt x="63498" y="99335"/>
                </a:moveTo>
                <a:cubicBezTo>
                  <a:pt x="63498" y="110691"/>
                  <a:pt x="56830" y="115874"/>
                  <a:pt x="47115" y="115874"/>
                </a:cubicBezTo>
                <a:cubicBezTo>
                  <a:pt x="38338" y="115874"/>
                  <a:pt x="33259" y="111342"/>
                  <a:pt x="30655" y="105847"/>
                </a:cubicBezTo>
                <a:lnTo>
                  <a:pt x="39588" y="100455"/>
                </a:lnTo>
                <a:cubicBezTo>
                  <a:pt x="41307" y="103503"/>
                  <a:pt x="42870" y="106081"/>
                  <a:pt x="46646" y="106081"/>
                </a:cubicBezTo>
                <a:cubicBezTo>
                  <a:pt x="50241" y="106081"/>
                  <a:pt x="52533" y="104675"/>
                  <a:pt x="52533" y="99179"/>
                </a:cubicBezTo>
                <a:lnTo>
                  <a:pt x="52533" y="61909"/>
                </a:lnTo>
                <a:lnTo>
                  <a:pt x="63498" y="61909"/>
                </a:lnTo>
                <a:lnTo>
                  <a:pt x="63498" y="99335"/>
                </a:lnTo>
                <a:close/>
                <a:moveTo>
                  <a:pt x="89438" y="115874"/>
                </a:moveTo>
                <a:cubicBezTo>
                  <a:pt x="79255" y="115874"/>
                  <a:pt x="72665" y="111030"/>
                  <a:pt x="69462" y="104675"/>
                </a:cubicBezTo>
                <a:lnTo>
                  <a:pt x="78395" y="99518"/>
                </a:lnTo>
                <a:cubicBezTo>
                  <a:pt x="80739" y="103346"/>
                  <a:pt x="83813" y="106185"/>
                  <a:pt x="89204" y="106185"/>
                </a:cubicBezTo>
                <a:cubicBezTo>
                  <a:pt x="93736" y="106185"/>
                  <a:pt x="96653" y="103919"/>
                  <a:pt x="96653" y="100768"/>
                </a:cubicBezTo>
                <a:cubicBezTo>
                  <a:pt x="96653" y="97017"/>
                  <a:pt x="93684" y="95689"/>
                  <a:pt x="88657" y="93475"/>
                </a:cubicBezTo>
                <a:lnTo>
                  <a:pt x="85922" y="92303"/>
                </a:lnTo>
                <a:cubicBezTo>
                  <a:pt x="78005" y="88943"/>
                  <a:pt x="72770" y="84698"/>
                  <a:pt x="72770" y="75765"/>
                </a:cubicBezTo>
                <a:cubicBezTo>
                  <a:pt x="72770" y="67534"/>
                  <a:pt x="79046" y="61284"/>
                  <a:pt x="88813" y="61284"/>
                </a:cubicBezTo>
                <a:cubicBezTo>
                  <a:pt x="95793" y="61284"/>
                  <a:pt x="100794" y="63706"/>
                  <a:pt x="104388" y="70061"/>
                </a:cubicBezTo>
                <a:lnTo>
                  <a:pt x="95845" y="75530"/>
                </a:lnTo>
                <a:cubicBezTo>
                  <a:pt x="93970" y="72170"/>
                  <a:pt x="91939" y="70842"/>
                  <a:pt x="88787" y="70842"/>
                </a:cubicBezTo>
                <a:cubicBezTo>
                  <a:pt x="85584" y="70842"/>
                  <a:pt x="83552" y="72874"/>
                  <a:pt x="83552" y="75530"/>
                </a:cubicBezTo>
                <a:cubicBezTo>
                  <a:pt x="83552" y="78812"/>
                  <a:pt x="85584" y="80140"/>
                  <a:pt x="90298" y="82198"/>
                </a:cubicBezTo>
                <a:lnTo>
                  <a:pt x="93032" y="83370"/>
                </a:lnTo>
                <a:cubicBezTo>
                  <a:pt x="102357" y="87355"/>
                  <a:pt x="107592" y="91444"/>
                  <a:pt x="107592" y="100612"/>
                </a:cubicBezTo>
                <a:cubicBezTo>
                  <a:pt x="107592" y="110457"/>
                  <a:pt x="99830" y="115874"/>
                  <a:pt x="89438" y="115874"/>
                </a:cubicBezTo>
                <a:close/>
              </a:path>
            </a:pathLst>
          </a:custGeom>
          <a:solidFill>
            <a:srgbClr val="FFFFFF"/>
          </a:solidFill>
          <a:ln/>
        </p:spPr>
      </p:sp>
      <p:sp>
        <p:nvSpPr>
          <p:cNvPr id="15" name="Text 13"/>
          <p:cNvSpPr/>
          <p:nvPr/>
        </p:nvSpPr>
        <p:spPr>
          <a:xfrm>
            <a:off x="1066800" y="2419238"/>
            <a:ext cx="2714625"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Uses </a:t>
            </a:r>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JavaScript</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 very popular language</a:t>
            </a:r>
            <a:endParaRPr lang="en-US" sz="1600" dirty="0"/>
          </a:p>
        </p:txBody>
      </p:sp>
      <p:sp>
        <p:nvSpPr>
          <p:cNvPr id="16" name="Shape 14"/>
          <p:cNvSpPr/>
          <p:nvPr/>
        </p:nvSpPr>
        <p:spPr>
          <a:xfrm>
            <a:off x="647700" y="2876438"/>
            <a:ext cx="304800" cy="304800"/>
          </a:xfrm>
          <a:prstGeom prst="roundRect">
            <a:avLst>
              <a:gd name="adj" fmla="val 25000"/>
            </a:avLst>
          </a:prstGeom>
          <a:solidFill>
            <a:srgbClr val="0A84FF"/>
          </a:solidFill>
          <a:ln/>
        </p:spPr>
      </p:sp>
      <p:sp>
        <p:nvSpPr>
          <p:cNvPr id="17" name="Shape 15"/>
          <p:cNvSpPr/>
          <p:nvPr/>
        </p:nvSpPr>
        <p:spPr>
          <a:xfrm>
            <a:off x="752475" y="2962163"/>
            <a:ext cx="100013" cy="133350"/>
          </a:xfrm>
          <a:custGeom>
            <a:avLst/>
            <a:gdLst/>
            <a:ahLst/>
            <a:cxnLst/>
            <a:rect l="l" t="t" r="r" b="b"/>
            <a:pathLst>
              <a:path w="100013" h="133350">
                <a:moveTo>
                  <a:pt x="4167" y="16669"/>
                </a:moveTo>
                <a:cubicBezTo>
                  <a:pt x="4167" y="7475"/>
                  <a:pt x="11642" y="0"/>
                  <a:pt x="20836" y="0"/>
                </a:cubicBezTo>
                <a:lnTo>
                  <a:pt x="79177" y="0"/>
                </a:lnTo>
                <a:cubicBezTo>
                  <a:pt x="88370" y="0"/>
                  <a:pt x="95845" y="7475"/>
                  <a:pt x="95845" y="16669"/>
                </a:cubicBezTo>
                <a:lnTo>
                  <a:pt x="95845" y="116681"/>
                </a:lnTo>
                <a:cubicBezTo>
                  <a:pt x="95845" y="125875"/>
                  <a:pt x="88370" y="133350"/>
                  <a:pt x="79177" y="133350"/>
                </a:cubicBezTo>
                <a:lnTo>
                  <a:pt x="20836" y="133350"/>
                </a:lnTo>
                <a:cubicBezTo>
                  <a:pt x="11642" y="133350"/>
                  <a:pt x="4167" y="125875"/>
                  <a:pt x="4167" y="116681"/>
                </a:cubicBezTo>
                <a:lnTo>
                  <a:pt x="4167" y="16669"/>
                </a:lnTo>
                <a:close/>
                <a:moveTo>
                  <a:pt x="20836" y="16669"/>
                </a:moveTo>
                <a:lnTo>
                  <a:pt x="20836" y="95845"/>
                </a:lnTo>
                <a:lnTo>
                  <a:pt x="79177" y="95845"/>
                </a:lnTo>
                <a:lnTo>
                  <a:pt x="79177" y="16669"/>
                </a:lnTo>
                <a:lnTo>
                  <a:pt x="20836" y="16669"/>
                </a:lnTo>
                <a:close/>
                <a:moveTo>
                  <a:pt x="50006" y="122932"/>
                </a:moveTo>
                <a:cubicBezTo>
                  <a:pt x="54616" y="122932"/>
                  <a:pt x="58341" y="119208"/>
                  <a:pt x="58341" y="114598"/>
                </a:cubicBezTo>
                <a:cubicBezTo>
                  <a:pt x="58341" y="109988"/>
                  <a:pt x="54616" y="106263"/>
                  <a:pt x="50006" y="106263"/>
                </a:cubicBezTo>
                <a:cubicBezTo>
                  <a:pt x="45396" y="106263"/>
                  <a:pt x="41672" y="109988"/>
                  <a:pt x="41672" y="114598"/>
                </a:cubicBezTo>
                <a:cubicBezTo>
                  <a:pt x="41672" y="119208"/>
                  <a:pt x="45396" y="122932"/>
                  <a:pt x="50006" y="122932"/>
                </a:cubicBezTo>
                <a:close/>
              </a:path>
            </a:pathLst>
          </a:custGeom>
          <a:solidFill>
            <a:srgbClr val="FFFFFF"/>
          </a:solidFill>
          <a:ln/>
        </p:spPr>
      </p:sp>
      <p:sp>
        <p:nvSpPr>
          <p:cNvPr id="18" name="Text 16"/>
          <p:cNvSpPr/>
          <p:nvPr/>
        </p:nvSpPr>
        <p:spPr>
          <a:xfrm>
            <a:off x="1066800" y="2857388"/>
            <a:ext cx="16002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Builds </a:t>
            </a:r>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truly native apps</a:t>
            </a:r>
            <a:endParaRPr lang="en-US" sz="1600" dirty="0"/>
          </a:p>
        </p:txBody>
      </p:sp>
      <p:sp>
        <p:nvSpPr>
          <p:cNvPr id="19" name="Shape 17"/>
          <p:cNvSpPr/>
          <p:nvPr/>
        </p:nvSpPr>
        <p:spPr>
          <a:xfrm>
            <a:off x="647700" y="3314588"/>
            <a:ext cx="304800" cy="304800"/>
          </a:xfrm>
          <a:prstGeom prst="roundRect">
            <a:avLst>
              <a:gd name="adj" fmla="val 25000"/>
            </a:avLst>
          </a:prstGeom>
          <a:solidFill>
            <a:srgbClr val="0A84FF"/>
          </a:solidFill>
          <a:ln/>
        </p:spPr>
      </p:sp>
      <p:sp>
        <p:nvSpPr>
          <p:cNvPr id="20" name="Shape 18"/>
          <p:cNvSpPr/>
          <p:nvPr/>
        </p:nvSpPr>
        <p:spPr>
          <a:xfrm>
            <a:off x="735806" y="3400313"/>
            <a:ext cx="133350" cy="133350"/>
          </a:xfrm>
          <a:custGeom>
            <a:avLst/>
            <a:gdLst/>
            <a:ahLst/>
            <a:cxnLst/>
            <a:rect l="l" t="t" r="r" b="b"/>
            <a:pathLst>
              <a:path w="133350" h="133350">
                <a:moveTo>
                  <a:pt x="91652" y="72926"/>
                </a:moveTo>
                <a:lnTo>
                  <a:pt x="41932" y="72926"/>
                </a:lnTo>
                <a:cubicBezTo>
                  <a:pt x="42688" y="89725"/>
                  <a:pt x="46412" y="105195"/>
                  <a:pt x="51699" y="116525"/>
                </a:cubicBezTo>
                <a:cubicBezTo>
                  <a:pt x="54668" y="122906"/>
                  <a:pt x="57872" y="127412"/>
                  <a:pt x="60841" y="130173"/>
                </a:cubicBezTo>
                <a:cubicBezTo>
                  <a:pt x="63758" y="132907"/>
                  <a:pt x="65763" y="133350"/>
                  <a:pt x="66805" y="133350"/>
                </a:cubicBezTo>
                <a:cubicBezTo>
                  <a:pt x="67847" y="133350"/>
                  <a:pt x="69852" y="132907"/>
                  <a:pt x="72770" y="130173"/>
                </a:cubicBezTo>
                <a:cubicBezTo>
                  <a:pt x="75739" y="127412"/>
                  <a:pt x="78942" y="122880"/>
                  <a:pt x="81911" y="116525"/>
                </a:cubicBezTo>
                <a:cubicBezTo>
                  <a:pt x="87198" y="105195"/>
                  <a:pt x="90923" y="89725"/>
                  <a:pt x="91678" y="72926"/>
                </a:cubicBezTo>
                <a:close/>
                <a:moveTo>
                  <a:pt x="41906" y="60424"/>
                </a:moveTo>
                <a:lnTo>
                  <a:pt x="91626" y="60424"/>
                </a:lnTo>
                <a:cubicBezTo>
                  <a:pt x="90897" y="43625"/>
                  <a:pt x="87172" y="28155"/>
                  <a:pt x="81885" y="16825"/>
                </a:cubicBezTo>
                <a:cubicBezTo>
                  <a:pt x="78916" y="10470"/>
                  <a:pt x="75713" y="5938"/>
                  <a:pt x="72743" y="3177"/>
                </a:cubicBezTo>
                <a:cubicBezTo>
                  <a:pt x="69826" y="443"/>
                  <a:pt x="67821" y="0"/>
                  <a:pt x="66779" y="0"/>
                </a:cubicBezTo>
                <a:cubicBezTo>
                  <a:pt x="65737" y="0"/>
                  <a:pt x="63732" y="443"/>
                  <a:pt x="60815" y="3177"/>
                </a:cubicBezTo>
                <a:cubicBezTo>
                  <a:pt x="57846" y="5938"/>
                  <a:pt x="54642" y="10470"/>
                  <a:pt x="51673" y="16825"/>
                </a:cubicBezTo>
                <a:cubicBezTo>
                  <a:pt x="46386" y="28155"/>
                  <a:pt x="42662" y="43625"/>
                  <a:pt x="41906" y="60424"/>
                </a:cubicBezTo>
                <a:close/>
                <a:moveTo>
                  <a:pt x="29405" y="60424"/>
                </a:moveTo>
                <a:cubicBezTo>
                  <a:pt x="30316" y="38130"/>
                  <a:pt x="36072" y="17424"/>
                  <a:pt x="44485" y="3829"/>
                </a:cubicBezTo>
                <a:cubicBezTo>
                  <a:pt x="20497" y="12319"/>
                  <a:pt x="2839" y="34171"/>
                  <a:pt x="391" y="60424"/>
                </a:cubicBezTo>
                <a:lnTo>
                  <a:pt x="29405" y="60424"/>
                </a:lnTo>
                <a:close/>
                <a:moveTo>
                  <a:pt x="391" y="72926"/>
                </a:moveTo>
                <a:cubicBezTo>
                  <a:pt x="2839" y="99179"/>
                  <a:pt x="20497" y="121031"/>
                  <a:pt x="44485" y="129521"/>
                </a:cubicBezTo>
                <a:cubicBezTo>
                  <a:pt x="36072" y="115926"/>
                  <a:pt x="30316" y="95220"/>
                  <a:pt x="29405" y="72926"/>
                </a:cubicBezTo>
                <a:lnTo>
                  <a:pt x="391" y="72926"/>
                </a:lnTo>
                <a:close/>
                <a:moveTo>
                  <a:pt x="104154" y="72926"/>
                </a:moveTo>
                <a:cubicBezTo>
                  <a:pt x="103242" y="95220"/>
                  <a:pt x="97486" y="115926"/>
                  <a:pt x="89074" y="129521"/>
                </a:cubicBezTo>
                <a:cubicBezTo>
                  <a:pt x="113061" y="121005"/>
                  <a:pt x="130719" y="99179"/>
                  <a:pt x="133168" y="72926"/>
                </a:cubicBezTo>
                <a:lnTo>
                  <a:pt x="104154" y="72926"/>
                </a:lnTo>
                <a:close/>
                <a:moveTo>
                  <a:pt x="133168" y="60424"/>
                </a:moveTo>
                <a:cubicBezTo>
                  <a:pt x="130719" y="34171"/>
                  <a:pt x="113061" y="12319"/>
                  <a:pt x="89074" y="3829"/>
                </a:cubicBezTo>
                <a:cubicBezTo>
                  <a:pt x="97486" y="17424"/>
                  <a:pt x="103242" y="38130"/>
                  <a:pt x="104154" y="60424"/>
                </a:cubicBezTo>
                <a:lnTo>
                  <a:pt x="133168" y="60424"/>
                </a:lnTo>
                <a:close/>
              </a:path>
            </a:pathLst>
          </a:custGeom>
          <a:solidFill>
            <a:srgbClr val="FFFFFF"/>
          </a:solidFill>
          <a:ln/>
        </p:spPr>
      </p:sp>
      <p:sp>
        <p:nvSpPr>
          <p:cNvPr id="21" name="Text 19"/>
          <p:cNvSpPr/>
          <p:nvPr/>
        </p:nvSpPr>
        <p:spPr>
          <a:xfrm>
            <a:off x="1066800" y="3295538"/>
            <a:ext cx="2409825"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Uses </a:t>
            </a:r>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web technologies</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(HTML-like)</a:t>
            </a:r>
            <a:endParaRPr lang="en-US" sz="1600" dirty="0"/>
          </a:p>
        </p:txBody>
      </p:sp>
      <p:sp>
        <p:nvSpPr>
          <p:cNvPr id="22" name="Shape 20"/>
          <p:cNvSpPr/>
          <p:nvPr/>
        </p:nvSpPr>
        <p:spPr>
          <a:xfrm>
            <a:off x="647700" y="3752738"/>
            <a:ext cx="304800" cy="304800"/>
          </a:xfrm>
          <a:prstGeom prst="roundRect">
            <a:avLst>
              <a:gd name="adj" fmla="val 25000"/>
            </a:avLst>
          </a:prstGeom>
          <a:solidFill>
            <a:srgbClr val="0A84FF"/>
          </a:solidFill>
          <a:ln/>
        </p:spPr>
      </p:sp>
      <p:sp>
        <p:nvSpPr>
          <p:cNvPr id="23" name="Shape 21"/>
          <p:cNvSpPr/>
          <p:nvPr/>
        </p:nvSpPr>
        <p:spPr>
          <a:xfrm>
            <a:off x="719138" y="3838463"/>
            <a:ext cx="166688" cy="133350"/>
          </a:xfrm>
          <a:custGeom>
            <a:avLst/>
            <a:gdLst/>
            <a:ahLst/>
            <a:cxnLst/>
            <a:rect l="l" t="t" r="r" b="b"/>
            <a:pathLst>
              <a:path w="166688" h="133350">
                <a:moveTo>
                  <a:pt x="83344" y="4167"/>
                </a:moveTo>
                <a:cubicBezTo>
                  <a:pt x="98293" y="4167"/>
                  <a:pt x="110430" y="16304"/>
                  <a:pt x="110430" y="31254"/>
                </a:cubicBezTo>
                <a:cubicBezTo>
                  <a:pt x="110430" y="46203"/>
                  <a:pt x="98293" y="58341"/>
                  <a:pt x="83344" y="58341"/>
                </a:cubicBezTo>
                <a:cubicBezTo>
                  <a:pt x="68394" y="58341"/>
                  <a:pt x="56257" y="46203"/>
                  <a:pt x="56257" y="31254"/>
                </a:cubicBezTo>
                <a:cubicBezTo>
                  <a:pt x="56257" y="16304"/>
                  <a:pt x="68394" y="4167"/>
                  <a:pt x="83344" y="4167"/>
                </a:cubicBezTo>
                <a:close/>
                <a:moveTo>
                  <a:pt x="25003" y="22920"/>
                </a:moveTo>
                <a:cubicBezTo>
                  <a:pt x="35353" y="22920"/>
                  <a:pt x="43755" y="31322"/>
                  <a:pt x="43755" y="41672"/>
                </a:cubicBezTo>
                <a:cubicBezTo>
                  <a:pt x="43755" y="52022"/>
                  <a:pt x="35353" y="60424"/>
                  <a:pt x="25003" y="60424"/>
                </a:cubicBezTo>
                <a:cubicBezTo>
                  <a:pt x="14653" y="60424"/>
                  <a:pt x="6251" y="52022"/>
                  <a:pt x="6251" y="41672"/>
                </a:cubicBezTo>
                <a:cubicBezTo>
                  <a:pt x="6251" y="31322"/>
                  <a:pt x="14653" y="22920"/>
                  <a:pt x="25003" y="22920"/>
                </a:cubicBezTo>
                <a:close/>
                <a:moveTo>
                  <a:pt x="0" y="108347"/>
                </a:moveTo>
                <a:cubicBezTo>
                  <a:pt x="0" y="89933"/>
                  <a:pt x="14924" y="75009"/>
                  <a:pt x="33337" y="75009"/>
                </a:cubicBezTo>
                <a:cubicBezTo>
                  <a:pt x="36671" y="75009"/>
                  <a:pt x="39901" y="75504"/>
                  <a:pt x="42948" y="76416"/>
                </a:cubicBezTo>
                <a:cubicBezTo>
                  <a:pt x="34379" y="86000"/>
                  <a:pt x="29170" y="98658"/>
                  <a:pt x="29170" y="112514"/>
                </a:cubicBezTo>
                <a:lnTo>
                  <a:pt x="29170" y="116681"/>
                </a:lnTo>
                <a:cubicBezTo>
                  <a:pt x="29170" y="119650"/>
                  <a:pt x="29795" y="122463"/>
                  <a:pt x="30915" y="125016"/>
                </a:cubicBezTo>
                <a:lnTo>
                  <a:pt x="8334" y="125016"/>
                </a:lnTo>
                <a:cubicBezTo>
                  <a:pt x="3724" y="125016"/>
                  <a:pt x="0" y="121291"/>
                  <a:pt x="0" y="116681"/>
                </a:cubicBezTo>
                <a:lnTo>
                  <a:pt x="0" y="108347"/>
                </a:lnTo>
                <a:close/>
                <a:moveTo>
                  <a:pt x="135772" y="125016"/>
                </a:moveTo>
                <a:cubicBezTo>
                  <a:pt x="136892" y="122463"/>
                  <a:pt x="137517" y="119650"/>
                  <a:pt x="137517" y="116681"/>
                </a:cubicBezTo>
                <a:lnTo>
                  <a:pt x="137517" y="112514"/>
                </a:lnTo>
                <a:cubicBezTo>
                  <a:pt x="137517" y="98658"/>
                  <a:pt x="132308" y="86000"/>
                  <a:pt x="123739" y="76416"/>
                </a:cubicBezTo>
                <a:cubicBezTo>
                  <a:pt x="126787" y="75504"/>
                  <a:pt x="130016" y="75009"/>
                  <a:pt x="133350" y="75009"/>
                </a:cubicBezTo>
                <a:cubicBezTo>
                  <a:pt x="151764" y="75009"/>
                  <a:pt x="166688" y="89933"/>
                  <a:pt x="166688" y="108347"/>
                </a:cubicBezTo>
                <a:lnTo>
                  <a:pt x="166688" y="116681"/>
                </a:lnTo>
                <a:cubicBezTo>
                  <a:pt x="166688" y="121291"/>
                  <a:pt x="162963" y="125016"/>
                  <a:pt x="158353" y="125016"/>
                </a:cubicBezTo>
                <a:lnTo>
                  <a:pt x="135772" y="125016"/>
                </a:lnTo>
                <a:close/>
                <a:moveTo>
                  <a:pt x="122932" y="41672"/>
                </a:moveTo>
                <a:cubicBezTo>
                  <a:pt x="122932" y="31322"/>
                  <a:pt x="131335" y="22920"/>
                  <a:pt x="141684" y="22920"/>
                </a:cubicBezTo>
                <a:cubicBezTo>
                  <a:pt x="152034" y="22920"/>
                  <a:pt x="160437" y="31322"/>
                  <a:pt x="160437" y="41672"/>
                </a:cubicBezTo>
                <a:cubicBezTo>
                  <a:pt x="160437" y="52022"/>
                  <a:pt x="152034" y="60424"/>
                  <a:pt x="141684" y="60424"/>
                </a:cubicBezTo>
                <a:cubicBezTo>
                  <a:pt x="131335" y="60424"/>
                  <a:pt x="122932" y="52022"/>
                  <a:pt x="122932" y="41672"/>
                </a:cubicBezTo>
                <a:close/>
                <a:moveTo>
                  <a:pt x="41672" y="112514"/>
                </a:moveTo>
                <a:cubicBezTo>
                  <a:pt x="41672" y="89490"/>
                  <a:pt x="60320" y="70842"/>
                  <a:pt x="83344" y="70842"/>
                </a:cubicBezTo>
                <a:cubicBezTo>
                  <a:pt x="106367" y="70842"/>
                  <a:pt x="125016" y="89490"/>
                  <a:pt x="125016" y="112514"/>
                </a:cubicBezTo>
                <a:lnTo>
                  <a:pt x="125016" y="116681"/>
                </a:lnTo>
                <a:cubicBezTo>
                  <a:pt x="125016" y="121291"/>
                  <a:pt x="121291" y="125016"/>
                  <a:pt x="116681" y="125016"/>
                </a:cubicBezTo>
                <a:lnTo>
                  <a:pt x="50006" y="125016"/>
                </a:lnTo>
                <a:cubicBezTo>
                  <a:pt x="45396" y="125016"/>
                  <a:pt x="41672" y="121291"/>
                  <a:pt x="41672" y="116681"/>
                </a:cubicBezTo>
                <a:lnTo>
                  <a:pt x="41672" y="112514"/>
                </a:lnTo>
                <a:close/>
              </a:path>
            </a:pathLst>
          </a:custGeom>
          <a:solidFill>
            <a:srgbClr val="FFFFFF"/>
          </a:solidFill>
          <a:ln/>
        </p:spPr>
      </p:sp>
      <p:sp>
        <p:nvSpPr>
          <p:cNvPr id="24" name="Text 22"/>
          <p:cNvSpPr/>
          <p:nvPr/>
        </p:nvSpPr>
        <p:spPr>
          <a:xfrm>
            <a:off x="1066800" y="3733688"/>
            <a:ext cx="1762125" cy="228600"/>
          </a:xfrm>
          <a:prstGeom prst="rect">
            <a:avLst/>
          </a:prstGeom>
          <a:noFill/>
          <a:ln/>
        </p:spPr>
        <p:txBody>
          <a:bodyPr wrap="square" lIns="0" tIns="0" rIns="0" bIns="0" rtlCol="0" anchor="ctr"/>
          <a:lstStyle/>
          <a:p>
            <a:pPr>
              <a:lnSpc>
                <a:spcPct val="130000"/>
              </a:lnSpc>
            </a:pPr>
            <a:r>
              <a:rPr lang="en-US" sz="1200" b="1" dirty="0">
                <a:solidFill>
                  <a:srgbClr val="0A84FF"/>
                </a:solidFill>
                <a:latin typeface="Quattrocento Sans" pitchFamily="34" charset="0"/>
                <a:ea typeface="Quattrocento Sans" pitchFamily="34" charset="-122"/>
                <a:cs typeface="Quattrocento Sans" pitchFamily="34" charset="-120"/>
              </a:rPr>
              <a:t>Huge community</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support</a:t>
            </a:r>
            <a:endParaRPr lang="en-US" sz="1600" dirty="0"/>
          </a:p>
        </p:txBody>
      </p:sp>
      <p:sp>
        <p:nvSpPr>
          <p:cNvPr id="25" name="Shape 23"/>
          <p:cNvSpPr/>
          <p:nvPr/>
        </p:nvSpPr>
        <p:spPr>
          <a:xfrm>
            <a:off x="384810" y="4960624"/>
            <a:ext cx="5589270" cy="1512570"/>
          </a:xfrm>
          <a:prstGeom prst="roundRect">
            <a:avLst>
              <a:gd name="adj" fmla="val 10076"/>
            </a:avLst>
          </a:prstGeom>
          <a:solidFill>
            <a:srgbClr val="0A84FF">
              <a:alpha val="10196"/>
            </a:srgbClr>
          </a:solidFill>
          <a:ln w="10160">
            <a:solidFill>
              <a:srgbClr val="0A84FF">
                <a:alpha val="30196"/>
              </a:srgbClr>
            </a:solidFill>
            <a:prstDash val="solid"/>
          </a:ln>
        </p:spPr>
      </p:sp>
      <p:sp>
        <p:nvSpPr>
          <p:cNvPr id="26" name="Shape 24"/>
          <p:cNvSpPr/>
          <p:nvPr/>
        </p:nvSpPr>
        <p:spPr>
          <a:xfrm>
            <a:off x="602932" y="5202566"/>
            <a:ext cx="171450" cy="171450"/>
          </a:xfrm>
          <a:custGeom>
            <a:avLst/>
            <a:gdLst/>
            <a:ahLst/>
            <a:cxnLst/>
            <a:rect l="l" t="t" r="r" b="b"/>
            <a:pathLst>
              <a:path w="171450" h="171450">
                <a:moveTo>
                  <a:pt x="85725" y="160734"/>
                </a:moveTo>
                <a:cubicBezTo>
                  <a:pt x="133075" y="160734"/>
                  <a:pt x="171450" y="124737"/>
                  <a:pt x="171450" y="80367"/>
                </a:cubicBezTo>
                <a:cubicBezTo>
                  <a:pt x="171450" y="35998"/>
                  <a:pt x="133075" y="0"/>
                  <a:pt x="85725" y="0"/>
                </a:cubicBezTo>
                <a:cubicBezTo>
                  <a:pt x="38375" y="0"/>
                  <a:pt x="0" y="35998"/>
                  <a:pt x="0" y="80367"/>
                </a:cubicBezTo>
                <a:cubicBezTo>
                  <a:pt x="0" y="98550"/>
                  <a:pt x="6429" y="115293"/>
                  <a:pt x="17279" y="128755"/>
                </a:cubicBezTo>
                <a:lnTo>
                  <a:pt x="938" y="159663"/>
                </a:lnTo>
                <a:cubicBezTo>
                  <a:pt x="-670" y="162677"/>
                  <a:pt x="-167" y="166360"/>
                  <a:pt x="2143" y="168872"/>
                </a:cubicBezTo>
                <a:cubicBezTo>
                  <a:pt x="4454" y="171383"/>
                  <a:pt x="8104" y="172153"/>
                  <a:pt x="11218" y="170814"/>
                </a:cubicBezTo>
                <a:lnTo>
                  <a:pt x="50866" y="153836"/>
                </a:lnTo>
                <a:cubicBezTo>
                  <a:pt x="61514" y="158256"/>
                  <a:pt x="73302" y="160734"/>
                  <a:pt x="85725" y="160734"/>
                </a:cubicBezTo>
                <a:close/>
                <a:moveTo>
                  <a:pt x="42863" y="69652"/>
                </a:moveTo>
                <a:cubicBezTo>
                  <a:pt x="48777" y="69652"/>
                  <a:pt x="53578" y="74453"/>
                  <a:pt x="53578" y="80367"/>
                </a:cubicBezTo>
                <a:cubicBezTo>
                  <a:pt x="53578" y="86281"/>
                  <a:pt x="48777" y="91083"/>
                  <a:pt x="42863" y="91083"/>
                </a:cubicBezTo>
                <a:cubicBezTo>
                  <a:pt x="36948" y="91083"/>
                  <a:pt x="32147" y="86281"/>
                  <a:pt x="32147" y="80367"/>
                </a:cubicBezTo>
                <a:cubicBezTo>
                  <a:pt x="32147" y="74453"/>
                  <a:pt x="36948" y="69652"/>
                  <a:pt x="42863" y="69652"/>
                </a:cubicBezTo>
                <a:close/>
                <a:moveTo>
                  <a:pt x="85725" y="69652"/>
                </a:moveTo>
                <a:cubicBezTo>
                  <a:pt x="91639" y="69652"/>
                  <a:pt x="96441" y="74453"/>
                  <a:pt x="96441" y="80367"/>
                </a:cubicBezTo>
                <a:cubicBezTo>
                  <a:pt x="96441" y="86281"/>
                  <a:pt x="91639" y="91083"/>
                  <a:pt x="85725" y="91083"/>
                </a:cubicBezTo>
                <a:cubicBezTo>
                  <a:pt x="79811" y="91083"/>
                  <a:pt x="75009" y="86281"/>
                  <a:pt x="75009" y="80367"/>
                </a:cubicBezTo>
                <a:cubicBezTo>
                  <a:pt x="75009" y="74453"/>
                  <a:pt x="79811" y="69652"/>
                  <a:pt x="85725" y="69652"/>
                </a:cubicBezTo>
                <a:close/>
                <a:moveTo>
                  <a:pt x="117872" y="80367"/>
                </a:moveTo>
                <a:cubicBezTo>
                  <a:pt x="117872" y="74453"/>
                  <a:pt x="122673" y="69652"/>
                  <a:pt x="128588" y="69652"/>
                </a:cubicBezTo>
                <a:cubicBezTo>
                  <a:pt x="134502" y="69652"/>
                  <a:pt x="139303" y="74453"/>
                  <a:pt x="139303" y="80367"/>
                </a:cubicBezTo>
                <a:cubicBezTo>
                  <a:pt x="139303" y="86281"/>
                  <a:pt x="134502" y="91083"/>
                  <a:pt x="128588" y="91083"/>
                </a:cubicBezTo>
                <a:cubicBezTo>
                  <a:pt x="122673" y="91083"/>
                  <a:pt x="117872" y="86281"/>
                  <a:pt x="117872" y="80367"/>
                </a:cubicBezTo>
                <a:close/>
              </a:path>
            </a:pathLst>
          </a:custGeom>
          <a:solidFill>
            <a:srgbClr val="0A84FF"/>
          </a:solidFill>
          <a:ln/>
        </p:spPr>
      </p:sp>
      <p:sp>
        <p:nvSpPr>
          <p:cNvPr id="27" name="Text 25"/>
          <p:cNvSpPr/>
          <p:nvPr/>
        </p:nvSpPr>
        <p:spPr>
          <a:xfrm>
            <a:off x="798195" y="5154941"/>
            <a:ext cx="5067300" cy="266700"/>
          </a:xfrm>
          <a:prstGeom prst="rect">
            <a:avLst/>
          </a:prstGeom>
          <a:noFill/>
          <a:ln/>
        </p:spPr>
        <p:txBody>
          <a:bodyPr wrap="square" lIns="0" tIns="0" rIns="0" bIns="0" rtlCol="0" anchor="ctr"/>
          <a:lstStyle/>
          <a:p>
            <a:pPr>
              <a:lnSpc>
                <a:spcPct val="130000"/>
              </a:lnSpc>
            </a:pPr>
            <a:r>
              <a:rPr lang="en-US" sz="1350"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28" name="Text 26"/>
          <p:cNvSpPr/>
          <p:nvPr/>
        </p:nvSpPr>
        <p:spPr>
          <a:xfrm>
            <a:off x="579120" y="5535941"/>
            <a:ext cx="5276850" cy="742950"/>
          </a:xfrm>
          <a:prstGeom prst="rect">
            <a:avLst/>
          </a:prstGeom>
          <a:noFill/>
          <a:ln/>
        </p:spPr>
        <p:txBody>
          <a:bodyPr wrap="square" lIns="0" tIns="0" rIns="0" bIns="0" rtlCol="0" anchor="ctr"/>
          <a:lstStyle/>
          <a:p>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React Native is like </a:t>
            </a:r>
            <a:pPr>
              <a:lnSpc>
                <a:spcPct val="140000"/>
              </a:lnSpc>
            </a:pPr>
            <a:r>
              <a:rPr lang="en-US" sz="1200" b="1" dirty="0">
                <a:solidFill>
                  <a:srgbClr val="0A84FF"/>
                </a:solidFill>
                <a:latin typeface="Quattrocento Sans" pitchFamily="34" charset="0"/>
                <a:ea typeface="Quattrocento Sans" pitchFamily="34" charset="-122"/>
                <a:cs typeface="Quattrocento Sans" pitchFamily="34" charset="-120"/>
              </a:rPr>
              <a:t>learning one language to talk to everyone</a:t>
            </a:r>
            <a:pPr>
              <a:lnSpc>
                <a:spcPct val="140000"/>
              </a:lnSpc>
            </a:pPr>
            <a:r>
              <a:rPr lang="en-US" sz="1200" dirty="0">
                <a:solidFill>
                  <a:srgbClr val="F5F5F7"/>
                </a:solidFill>
                <a:latin typeface="Quattrocento Sans" pitchFamily="34" charset="0"/>
                <a:ea typeface="Quattrocento Sans" pitchFamily="34" charset="-122"/>
                <a:cs typeface="Quattrocento Sans" pitchFamily="34" charset="-120"/>
              </a:rPr>
              <a:t>. Since JavaScript is the most popular programming language, millions of developers can easily build mobile apps with it.</a:t>
            </a:r>
            <a:endParaRPr lang="en-US" sz="1600" dirty="0"/>
          </a:p>
        </p:txBody>
      </p:sp>
      <p:sp>
        <p:nvSpPr>
          <p:cNvPr id="29" name="Shape 27"/>
          <p:cNvSpPr/>
          <p:nvPr/>
        </p:nvSpPr>
        <p:spPr>
          <a:xfrm>
            <a:off x="6210300" y="1257300"/>
            <a:ext cx="5600700" cy="3962400"/>
          </a:xfrm>
          <a:prstGeom prst="roundRect">
            <a:avLst>
              <a:gd name="adj" fmla="val 3846"/>
            </a:avLst>
          </a:prstGeom>
          <a:solidFill>
            <a:srgbClr val="2C2C2E"/>
          </a:solidFill>
          <a:ln/>
        </p:spPr>
      </p:sp>
      <p:sp>
        <p:nvSpPr>
          <p:cNvPr id="30" name="Shape 28"/>
          <p:cNvSpPr/>
          <p:nvPr/>
        </p:nvSpPr>
        <p:spPr>
          <a:xfrm>
            <a:off x="6453188" y="1523888"/>
            <a:ext cx="257175" cy="228600"/>
          </a:xfrm>
          <a:custGeom>
            <a:avLst/>
            <a:gdLst/>
            <a:ahLst/>
            <a:cxnLst/>
            <a:rect l="l" t="t" r="r" b="b"/>
            <a:pathLst>
              <a:path w="257175" h="228600">
                <a:moveTo>
                  <a:pt x="138187" y="-8439"/>
                </a:moveTo>
                <a:cubicBezTo>
                  <a:pt x="136356" y="-12010"/>
                  <a:pt x="132651" y="-14287"/>
                  <a:pt x="128632" y="-14287"/>
                </a:cubicBezTo>
                <a:cubicBezTo>
                  <a:pt x="124614" y="-14287"/>
                  <a:pt x="120908" y="-12010"/>
                  <a:pt x="119077" y="-8439"/>
                </a:cubicBezTo>
                <a:lnTo>
                  <a:pt x="86216" y="55944"/>
                </a:lnTo>
                <a:lnTo>
                  <a:pt x="14823" y="67285"/>
                </a:lnTo>
                <a:cubicBezTo>
                  <a:pt x="10850" y="67910"/>
                  <a:pt x="7546" y="70723"/>
                  <a:pt x="6295" y="74563"/>
                </a:cubicBezTo>
                <a:cubicBezTo>
                  <a:pt x="5045" y="78403"/>
                  <a:pt x="6072" y="82600"/>
                  <a:pt x="8885" y="85457"/>
                </a:cubicBezTo>
                <a:lnTo>
                  <a:pt x="59963" y="136580"/>
                </a:lnTo>
                <a:lnTo>
                  <a:pt x="48711" y="207972"/>
                </a:lnTo>
                <a:cubicBezTo>
                  <a:pt x="48086" y="211946"/>
                  <a:pt x="49738" y="215964"/>
                  <a:pt x="52998" y="218331"/>
                </a:cubicBezTo>
                <a:cubicBezTo>
                  <a:pt x="56257" y="220697"/>
                  <a:pt x="60543" y="221054"/>
                  <a:pt x="64160" y="219224"/>
                </a:cubicBezTo>
                <a:lnTo>
                  <a:pt x="128632" y="186452"/>
                </a:lnTo>
                <a:lnTo>
                  <a:pt x="193060" y="219224"/>
                </a:lnTo>
                <a:cubicBezTo>
                  <a:pt x="196632" y="221054"/>
                  <a:pt x="200963" y="220697"/>
                  <a:pt x="204222" y="218331"/>
                </a:cubicBezTo>
                <a:cubicBezTo>
                  <a:pt x="207481" y="215964"/>
                  <a:pt x="209133" y="211991"/>
                  <a:pt x="208508" y="207972"/>
                </a:cubicBezTo>
                <a:lnTo>
                  <a:pt x="197212" y="136580"/>
                </a:lnTo>
                <a:lnTo>
                  <a:pt x="248290" y="85457"/>
                </a:lnTo>
                <a:cubicBezTo>
                  <a:pt x="251147" y="82600"/>
                  <a:pt x="252130" y="78403"/>
                  <a:pt x="250880" y="74563"/>
                </a:cubicBezTo>
                <a:cubicBezTo>
                  <a:pt x="249629" y="70723"/>
                  <a:pt x="246370" y="67910"/>
                  <a:pt x="242352" y="67285"/>
                </a:cubicBezTo>
                <a:lnTo>
                  <a:pt x="171004" y="55944"/>
                </a:lnTo>
                <a:lnTo>
                  <a:pt x="138187" y="-8439"/>
                </a:lnTo>
                <a:close/>
              </a:path>
            </a:pathLst>
          </a:custGeom>
          <a:solidFill>
            <a:srgbClr val="0A84FF"/>
          </a:solidFill>
          <a:ln/>
        </p:spPr>
      </p:sp>
      <p:sp>
        <p:nvSpPr>
          <p:cNvPr id="31" name="Text 29"/>
          <p:cNvSpPr/>
          <p:nvPr/>
        </p:nvSpPr>
        <p:spPr>
          <a:xfrm>
            <a:off x="6724650" y="1485900"/>
            <a:ext cx="4972050" cy="304800"/>
          </a:xfrm>
          <a:prstGeom prst="rect">
            <a:avLst/>
          </a:prstGeom>
          <a:noFill/>
          <a:ln/>
        </p:spPr>
        <p:txBody>
          <a:bodyPr wrap="square" lIns="0" tIns="0" rIns="0" bIns="0" rtlCol="0" anchor="ctr"/>
          <a:lstStyle/>
          <a:p>
            <a:pPr>
              <a:lnSpc>
                <a:spcPct val="110000"/>
              </a:lnSpc>
            </a:pPr>
            <a:r>
              <a:rPr lang="en-US" sz="1800" b="1" dirty="0">
                <a:solidFill>
                  <a:srgbClr val="0A84FF"/>
                </a:solidFill>
                <a:latin typeface="Liter" pitchFamily="34" charset="0"/>
                <a:ea typeface="Liter" pitchFamily="34" charset="-122"/>
                <a:cs typeface="Liter" pitchFamily="34" charset="-120"/>
              </a:rPr>
              <a:t>Key Features</a:t>
            </a:r>
            <a:endParaRPr lang="en-US" sz="1600" dirty="0"/>
          </a:p>
        </p:txBody>
      </p:sp>
      <p:sp>
        <p:nvSpPr>
          <p:cNvPr id="32" name="Shape 30"/>
          <p:cNvSpPr/>
          <p:nvPr/>
        </p:nvSpPr>
        <p:spPr>
          <a:xfrm>
            <a:off x="6438900" y="1987395"/>
            <a:ext cx="5143500" cy="990600"/>
          </a:xfrm>
          <a:prstGeom prst="roundRect">
            <a:avLst>
              <a:gd name="adj" fmla="val 11538"/>
            </a:avLst>
          </a:prstGeom>
          <a:solidFill>
            <a:srgbClr val="1A1D21"/>
          </a:solidFill>
          <a:ln/>
        </p:spPr>
      </p:sp>
      <p:sp>
        <p:nvSpPr>
          <p:cNvPr id="33" name="Shape 31"/>
          <p:cNvSpPr/>
          <p:nvPr/>
        </p:nvSpPr>
        <p:spPr>
          <a:xfrm>
            <a:off x="6591300" y="2139795"/>
            <a:ext cx="381000" cy="381000"/>
          </a:xfrm>
          <a:prstGeom prst="roundRect">
            <a:avLst>
              <a:gd name="adj" fmla="val 20000"/>
            </a:avLst>
          </a:prstGeom>
          <a:solidFill>
            <a:srgbClr val="0A84FF"/>
          </a:solidFill>
          <a:ln/>
        </p:spPr>
      </p:sp>
      <p:sp>
        <p:nvSpPr>
          <p:cNvPr id="34" name="Shape 32"/>
          <p:cNvSpPr/>
          <p:nvPr/>
        </p:nvSpPr>
        <p:spPr>
          <a:xfrm>
            <a:off x="6696075" y="2254095"/>
            <a:ext cx="171450" cy="152400"/>
          </a:xfrm>
          <a:custGeom>
            <a:avLst/>
            <a:gdLst/>
            <a:ahLst/>
            <a:cxnLst/>
            <a:rect l="l" t="t" r="r" b="b"/>
            <a:pathLst>
              <a:path w="171450" h="152400">
                <a:moveTo>
                  <a:pt x="107394" y="357"/>
                </a:moveTo>
                <a:cubicBezTo>
                  <a:pt x="102334" y="-1101"/>
                  <a:pt x="97066" y="1845"/>
                  <a:pt x="95607" y="6906"/>
                </a:cubicBezTo>
                <a:lnTo>
                  <a:pt x="57507" y="140256"/>
                </a:lnTo>
                <a:cubicBezTo>
                  <a:pt x="56049" y="145316"/>
                  <a:pt x="58995" y="150584"/>
                  <a:pt x="64056" y="152043"/>
                </a:cubicBezTo>
                <a:cubicBezTo>
                  <a:pt x="69116" y="153501"/>
                  <a:pt x="74384" y="150555"/>
                  <a:pt x="75843" y="145494"/>
                </a:cubicBezTo>
                <a:lnTo>
                  <a:pt x="113943" y="12144"/>
                </a:lnTo>
                <a:cubicBezTo>
                  <a:pt x="115401" y="7084"/>
                  <a:pt x="112455" y="1816"/>
                  <a:pt x="107394" y="357"/>
                </a:cubicBezTo>
                <a:close/>
                <a:moveTo>
                  <a:pt x="126623" y="40868"/>
                </a:moveTo>
                <a:cubicBezTo>
                  <a:pt x="122902" y="44589"/>
                  <a:pt x="122902" y="50631"/>
                  <a:pt x="126623" y="54352"/>
                </a:cubicBezTo>
                <a:lnTo>
                  <a:pt x="148471" y="76200"/>
                </a:lnTo>
                <a:lnTo>
                  <a:pt x="126623" y="98048"/>
                </a:lnTo>
                <a:cubicBezTo>
                  <a:pt x="122902" y="101769"/>
                  <a:pt x="122902" y="107811"/>
                  <a:pt x="126623" y="111532"/>
                </a:cubicBezTo>
                <a:cubicBezTo>
                  <a:pt x="130344" y="115253"/>
                  <a:pt x="136386" y="115253"/>
                  <a:pt x="140107" y="111532"/>
                </a:cubicBezTo>
                <a:lnTo>
                  <a:pt x="168682" y="82957"/>
                </a:lnTo>
                <a:cubicBezTo>
                  <a:pt x="172403" y="79236"/>
                  <a:pt x="172403" y="73194"/>
                  <a:pt x="168682" y="69473"/>
                </a:cubicBezTo>
                <a:lnTo>
                  <a:pt x="140107" y="40898"/>
                </a:lnTo>
                <a:cubicBezTo>
                  <a:pt x="136386" y="37177"/>
                  <a:pt x="130344" y="37177"/>
                  <a:pt x="126623" y="40898"/>
                </a:cubicBezTo>
                <a:close/>
                <a:moveTo>
                  <a:pt x="44857" y="40868"/>
                </a:moveTo>
                <a:cubicBezTo>
                  <a:pt x="41136" y="37147"/>
                  <a:pt x="35094" y="37147"/>
                  <a:pt x="31373" y="40868"/>
                </a:cubicBezTo>
                <a:lnTo>
                  <a:pt x="2798" y="69443"/>
                </a:lnTo>
                <a:cubicBezTo>
                  <a:pt x="-923" y="73164"/>
                  <a:pt x="-923" y="79206"/>
                  <a:pt x="2798" y="82927"/>
                </a:cubicBezTo>
                <a:lnTo>
                  <a:pt x="31373" y="111502"/>
                </a:lnTo>
                <a:cubicBezTo>
                  <a:pt x="35094" y="115223"/>
                  <a:pt x="41136" y="115223"/>
                  <a:pt x="44857" y="111502"/>
                </a:cubicBezTo>
                <a:cubicBezTo>
                  <a:pt x="48578" y="107781"/>
                  <a:pt x="48578" y="101739"/>
                  <a:pt x="44857" y="98018"/>
                </a:cubicBezTo>
                <a:lnTo>
                  <a:pt x="23009" y="76200"/>
                </a:lnTo>
                <a:lnTo>
                  <a:pt x="44827" y="54352"/>
                </a:lnTo>
                <a:cubicBezTo>
                  <a:pt x="48548" y="50631"/>
                  <a:pt x="48548" y="44589"/>
                  <a:pt x="44827" y="40868"/>
                </a:cubicBezTo>
                <a:close/>
              </a:path>
            </a:pathLst>
          </a:custGeom>
          <a:solidFill>
            <a:srgbClr val="FFFFFF"/>
          </a:solidFill>
          <a:ln/>
        </p:spPr>
      </p:sp>
      <p:sp>
        <p:nvSpPr>
          <p:cNvPr id="35" name="Text 33"/>
          <p:cNvSpPr/>
          <p:nvPr/>
        </p:nvSpPr>
        <p:spPr>
          <a:xfrm>
            <a:off x="7086600" y="2196945"/>
            <a:ext cx="2238375" cy="266700"/>
          </a:xfrm>
          <a:prstGeom prst="rect">
            <a:avLst/>
          </a:prstGeom>
          <a:noFill/>
          <a:ln/>
        </p:spPr>
        <p:txBody>
          <a:bodyPr wrap="square" lIns="0" tIns="0" rIns="0" bIns="0" rtlCol="0" anchor="ctr"/>
          <a:lstStyle/>
          <a:p>
            <a:pPr>
              <a:lnSpc>
                <a:spcPct val="130000"/>
              </a:lnSpc>
            </a:pPr>
            <a:r>
              <a:rPr lang="en-US" sz="1350" b="1" dirty="0">
                <a:solidFill>
                  <a:srgbClr val="0A84FF"/>
                </a:solidFill>
                <a:latin typeface="Liter" pitchFamily="34" charset="0"/>
                <a:ea typeface="Liter" pitchFamily="34" charset="-122"/>
                <a:cs typeface="Liter" pitchFamily="34" charset="-120"/>
              </a:rPr>
              <a:t>Learn Once, Write Anywhere</a:t>
            </a:r>
            <a:endParaRPr lang="en-US" sz="1600" dirty="0"/>
          </a:p>
        </p:txBody>
      </p:sp>
      <p:sp>
        <p:nvSpPr>
          <p:cNvPr id="36" name="Text 34"/>
          <p:cNvSpPr/>
          <p:nvPr/>
        </p:nvSpPr>
        <p:spPr>
          <a:xfrm>
            <a:off x="6591300" y="2596995"/>
            <a:ext cx="49149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Use your web development skills to build mobile apps</a:t>
            </a:r>
            <a:endParaRPr lang="en-US" sz="1600" dirty="0"/>
          </a:p>
        </p:txBody>
      </p:sp>
      <p:sp>
        <p:nvSpPr>
          <p:cNvPr id="37" name="Shape 35"/>
          <p:cNvSpPr/>
          <p:nvPr/>
        </p:nvSpPr>
        <p:spPr>
          <a:xfrm>
            <a:off x="6438900" y="2990738"/>
            <a:ext cx="5143500" cy="990600"/>
          </a:xfrm>
          <a:prstGeom prst="roundRect">
            <a:avLst>
              <a:gd name="adj" fmla="val 11538"/>
            </a:avLst>
          </a:prstGeom>
          <a:solidFill>
            <a:srgbClr val="1A1D21"/>
          </a:solidFill>
          <a:ln/>
        </p:spPr>
      </p:sp>
      <p:sp>
        <p:nvSpPr>
          <p:cNvPr id="38" name="Shape 36"/>
          <p:cNvSpPr/>
          <p:nvPr/>
        </p:nvSpPr>
        <p:spPr>
          <a:xfrm>
            <a:off x="6591300" y="3143138"/>
            <a:ext cx="381000" cy="381000"/>
          </a:xfrm>
          <a:prstGeom prst="roundRect">
            <a:avLst>
              <a:gd name="adj" fmla="val 20000"/>
            </a:avLst>
          </a:prstGeom>
          <a:solidFill>
            <a:srgbClr val="34C759"/>
          </a:solidFill>
          <a:ln/>
        </p:spPr>
      </p:sp>
      <p:sp>
        <p:nvSpPr>
          <p:cNvPr id="39" name="Shape 37"/>
          <p:cNvSpPr/>
          <p:nvPr/>
        </p:nvSpPr>
        <p:spPr>
          <a:xfrm>
            <a:off x="6705600" y="3257438"/>
            <a:ext cx="152400" cy="152400"/>
          </a:xfrm>
          <a:custGeom>
            <a:avLst/>
            <a:gdLst/>
            <a:ahLst/>
            <a:cxnLst/>
            <a:rect l="l" t="t" r="r" b="b"/>
            <a:pathLst>
              <a:path w="152400" h="152400">
                <a:moveTo>
                  <a:pt x="19616" y="68014"/>
                </a:moveTo>
                <a:cubicBezTo>
                  <a:pt x="23574" y="40332"/>
                  <a:pt x="47417" y="19050"/>
                  <a:pt x="76200" y="19050"/>
                </a:cubicBezTo>
                <a:cubicBezTo>
                  <a:pt x="91976" y="19050"/>
                  <a:pt x="106263" y="25450"/>
                  <a:pt x="116622" y="35778"/>
                </a:cubicBezTo>
                <a:cubicBezTo>
                  <a:pt x="116681" y="35838"/>
                  <a:pt x="116741" y="35897"/>
                  <a:pt x="116800" y="35957"/>
                </a:cubicBezTo>
                <a:lnTo>
                  <a:pt x="119063" y="38100"/>
                </a:lnTo>
                <a:lnTo>
                  <a:pt x="104805" y="38100"/>
                </a:lnTo>
                <a:cubicBezTo>
                  <a:pt x="99536" y="38100"/>
                  <a:pt x="95280" y="42356"/>
                  <a:pt x="95280" y="47625"/>
                </a:cubicBezTo>
                <a:cubicBezTo>
                  <a:pt x="95280" y="52894"/>
                  <a:pt x="99536" y="57150"/>
                  <a:pt x="104805" y="57150"/>
                </a:cubicBezTo>
                <a:lnTo>
                  <a:pt x="142905" y="57150"/>
                </a:lnTo>
                <a:cubicBezTo>
                  <a:pt x="148173" y="57150"/>
                  <a:pt x="152430" y="52894"/>
                  <a:pt x="152430" y="47625"/>
                </a:cubicBezTo>
                <a:lnTo>
                  <a:pt x="152430" y="9525"/>
                </a:lnTo>
                <a:cubicBezTo>
                  <a:pt x="152430" y="4256"/>
                  <a:pt x="148173" y="0"/>
                  <a:pt x="142905" y="0"/>
                </a:cubicBezTo>
                <a:cubicBezTo>
                  <a:pt x="137636" y="0"/>
                  <a:pt x="133380" y="4256"/>
                  <a:pt x="133380" y="9525"/>
                </a:cubicBezTo>
                <a:lnTo>
                  <a:pt x="133380" y="25420"/>
                </a:lnTo>
                <a:lnTo>
                  <a:pt x="130016" y="22235"/>
                </a:lnTo>
                <a:cubicBezTo>
                  <a:pt x="116235" y="8513"/>
                  <a:pt x="97185" y="0"/>
                  <a:pt x="76200" y="0"/>
                </a:cubicBezTo>
                <a:cubicBezTo>
                  <a:pt x="37802" y="0"/>
                  <a:pt x="6042" y="28396"/>
                  <a:pt x="774" y="65336"/>
                </a:cubicBezTo>
                <a:cubicBezTo>
                  <a:pt x="30" y="70545"/>
                  <a:pt x="3631" y="75367"/>
                  <a:pt x="8840" y="76111"/>
                </a:cubicBezTo>
                <a:cubicBezTo>
                  <a:pt x="14049" y="76855"/>
                  <a:pt x="18871" y="73223"/>
                  <a:pt x="19616" y="68044"/>
                </a:cubicBezTo>
                <a:close/>
                <a:moveTo>
                  <a:pt x="151626" y="87064"/>
                </a:moveTo>
                <a:cubicBezTo>
                  <a:pt x="152370" y="81855"/>
                  <a:pt x="148739" y="77033"/>
                  <a:pt x="143560" y="76289"/>
                </a:cubicBezTo>
                <a:cubicBezTo>
                  <a:pt x="138380" y="75545"/>
                  <a:pt x="133529" y="79177"/>
                  <a:pt x="132784" y="84356"/>
                </a:cubicBezTo>
                <a:cubicBezTo>
                  <a:pt x="128826" y="112038"/>
                  <a:pt x="104983" y="133320"/>
                  <a:pt x="76200" y="133320"/>
                </a:cubicBezTo>
                <a:cubicBezTo>
                  <a:pt x="60424" y="133320"/>
                  <a:pt x="46137" y="126921"/>
                  <a:pt x="35778" y="116592"/>
                </a:cubicBezTo>
                <a:cubicBezTo>
                  <a:pt x="35719" y="116532"/>
                  <a:pt x="35659" y="116473"/>
                  <a:pt x="35600" y="116413"/>
                </a:cubicBezTo>
                <a:lnTo>
                  <a:pt x="33337" y="114270"/>
                </a:lnTo>
                <a:lnTo>
                  <a:pt x="47595" y="114270"/>
                </a:lnTo>
                <a:cubicBezTo>
                  <a:pt x="52864" y="114270"/>
                  <a:pt x="57120" y="110014"/>
                  <a:pt x="57120" y="104745"/>
                </a:cubicBezTo>
                <a:cubicBezTo>
                  <a:pt x="57120" y="99477"/>
                  <a:pt x="52864" y="95220"/>
                  <a:pt x="47595" y="95220"/>
                </a:cubicBezTo>
                <a:lnTo>
                  <a:pt x="9525" y="95250"/>
                </a:lnTo>
                <a:cubicBezTo>
                  <a:pt x="6995" y="95250"/>
                  <a:pt x="4554" y="96262"/>
                  <a:pt x="2768" y="98078"/>
                </a:cubicBezTo>
                <a:cubicBezTo>
                  <a:pt x="982" y="99893"/>
                  <a:pt x="-30" y="102304"/>
                  <a:pt x="0" y="104864"/>
                </a:cubicBezTo>
                <a:lnTo>
                  <a:pt x="298" y="142667"/>
                </a:lnTo>
                <a:cubicBezTo>
                  <a:pt x="327" y="147935"/>
                  <a:pt x="4643" y="152162"/>
                  <a:pt x="9912" y="152102"/>
                </a:cubicBezTo>
                <a:cubicBezTo>
                  <a:pt x="15180" y="152043"/>
                  <a:pt x="19407" y="147757"/>
                  <a:pt x="19348" y="142488"/>
                </a:cubicBezTo>
                <a:lnTo>
                  <a:pt x="19229" y="127159"/>
                </a:lnTo>
                <a:lnTo>
                  <a:pt x="22414" y="130165"/>
                </a:lnTo>
                <a:cubicBezTo>
                  <a:pt x="36195" y="143887"/>
                  <a:pt x="55215" y="152400"/>
                  <a:pt x="76200" y="152400"/>
                </a:cubicBezTo>
                <a:cubicBezTo>
                  <a:pt x="114598" y="152400"/>
                  <a:pt x="146358" y="124004"/>
                  <a:pt x="151626" y="87064"/>
                </a:cubicBezTo>
                <a:close/>
              </a:path>
            </a:pathLst>
          </a:custGeom>
          <a:solidFill>
            <a:srgbClr val="1D1D1F"/>
          </a:solidFill>
          <a:ln/>
        </p:spPr>
      </p:sp>
      <p:sp>
        <p:nvSpPr>
          <p:cNvPr id="40" name="Text 38"/>
          <p:cNvSpPr/>
          <p:nvPr/>
        </p:nvSpPr>
        <p:spPr>
          <a:xfrm>
            <a:off x="7086600" y="3200288"/>
            <a:ext cx="952500" cy="266700"/>
          </a:xfrm>
          <a:prstGeom prst="rect">
            <a:avLst/>
          </a:prstGeom>
          <a:noFill/>
          <a:ln/>
        </p:spPr>
        <p:txBody>
          <a:bodyPr wrap="square" lIns="0" tIns="0" rIns="0" bIns="0" rtlCol="0" anchor="ctr"/>
          <a:lstStyle/>
          <a:p>
            <a:pPr>
              <a:lnSpc>
                <a:spcPct val="130000"/>
              </a:lnSpc>
            </a:pPr>
            <a:r>
              <a:rPr lang="en-US" sz="1350" b="1" dirty="0">
                <a:solidFill>
                  <a:srgbClr val="34C759"/>
                </a:solidFill>
                <a:latin typeface="Liter" pitchFamily="34" charset="0"/>
                <a:ea typeface="Liter" pitchFamily="34" charset="-122"/>
                <a:cs typeface="Liter" pitchFamily="34" charset="-120"/>
              </a:rPr>
              <a:t>Live Reload</a:t>
            </a:r>
            <a:endParaRPr lang="en-US" sz="1600" dirty="0"/>
          </a:p>
        </p:txBody>
      </p:sp>
      <p:sp>
        <p:nvSpPr>
          <p:cNvPr id="41" name="Text 39"/>
          <p:cNvSpPr/>
          <p:nvPr/>
        </p:nvSpPr>
        <p:spPr>
          <a:xfrm>
            <a:off x="6591300" y="3600338"/>
            <a:ext cx="49149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See changes immediately as you code</a:t>
            </a:r>
            <a:endParaRPr lang="en-US" sz="1600" dirty="0"/>
          </a:p>
        </p:txBody>
      </p:sp>
      <p:sp>
        <p:nvSpPr>
          <p:cNvPr id="42" name="Shape 40"/>
          <p:cNvSpPr/>
          <p:nvPr/>
        </p:nvSpPr>
        <p:spPr>
          <a:xfrm>
            <a:off x="6438900" y="3994082"/>
            <a:ext cx="5143500" cy="990600"/>
          </a:xfrm>
          <a:prstGeom prst="roundRect">
            <a:avLst>
              <a:gd name="adj" fmla="val 11538"/>
            </a:avLst>
          </a:prstGeom>
          <a:solidFill>
            <a:srgbClr val="1A1D21"/>
          </a:solidFill>
          <a:ln/>
        </p:spPr>
      </p:sp>
      <p:sp>
        <p:nvSpPr>
          <p:cNvPr id="43" name="Shape 41"/>
          <p:cNvSpPr/>
          <p:nvPr/>
        </p:nvSpPr>
        <p:spPr>
          <a:xfrm>
            <a:off x="6591300" y="4146482"/>
            <a:ext cx="381000" cy="381000"/>
          </a:xfrm>
          <a:prstGeom prst="roundRect">
            <a:avLst>
              <a:gd name="adj" fmla="val 20000"/>
            </a:avLst>
          </a:prstGeom>
          <a:solidFill>
            <a:srgbClr val="8E8E93"/>
          </a:solidFill>
          <a:ln/>
        </p:spPr>
      </p:sp>
      <p:sp>
        <p:nvSpPr>
          <p:cNvPr id="44" name="Shape 42"/>
          <p:cNvSpPr/>
          <p:nvPr/>
        </p:nvSpPr>
        <p:spPr>
          <a:xfrm>
            <a:off x="6705600" y="4260782"/>
            <a:ext cx="152400" cy="152400"/>
          </a:xfrm>
          <a:custGeom>
            <a:avLst/>
            <a:gdLst/>
            <a:ahLst/>
            <a:cxnLst/>
            <a:rect l="l" t="t" r="r" b="b"/>
            <a:pathLst>
              <a:path w="152400" h="152400">
                <a:moveTo>
                  <a:pt x="66675" y="0"/>
                </a:moveTo>
                <a:cubicBezTo>
                  <a:pt x="77182" y="0"/>
                  <a:pt x="85725" y="6400"/>
                  <a:pt x="85725" y="14288"/>
                </a:cubicBezTo>
                <a:cubicBezTo>
                  <a:pt x="85725" y="17383"/>
                  <a:pt x="84415" y="20241"/>
                  <a:pt x="82153" y="22592"/>
                </a:cubicBezTo>
                <a:cubicBezTo>
                  <a:pt x="80189" y="24646"/>
                  <a:pt x="78581" y="27146"/>
                  <a:pt x="78581" y="30004"/>
                </a:cubicBezTo>
                <a:cubicBezTo>
                  <a:pt x="78581" y="34469"/>
                  <a:pt x="82213" y="38100"/>
                  <a:pt x="86678" y="38100"/>
                </a:cubicBezTo>
                <a:lnTo>
                  <a:pt x="100013" y="38100"/>
                </a:lnTo>
                <a:cubicBezTo>
                  <a:pt x="107900" y="38100"/>
                  <a:pt x="114300" y="44500"/>
                  <a:pt x="114300" y="52388"/>
                </a:cubicBezTo>
                <a:lnTo>
                  <a:pt x="114300" y="65723"/>
                </a:lnTo>
                <a:cubicBezTo>
                  <a:pt x="114300" y="70187"/>
                  <a:pt x="117931" y="73819"/>
                  <a:pt x="122396" y="73819"/>
                </a:cubicBezTo>
                <a:cubicBezTo>
                  <a:pt x="125224" y="73819"/>
                  <a:pt x="127754" y="72211"/>
                  <a:pt x="129808" y="70247"/>
                </a:cubicBezTo>
                <a:cubicBezTo>
                  <a:pt x="132159" y="68014"/>
                  <a:pt x="135017" y="66675"/>
                  <a:pt x="138113" y="66675"/>
                </a:cubicBezTo>
                <a:cubicBezTo>
                  <a:pt x="146000" y="66675"/>
                  <a:pt x="152400" y="75218"/>
                  <a:pt x="152400" y="85725"/>
                </a:cubicBezTo>
                <a:cubicBezTo>
                  <a:pt x="152400" y="96232"/>
                  <a:pt x="146000" y="104775"/>
                  <a:pt x="138113" y="104775"/>
                </a:cubicBezTo>
                <a:cubicBezTo>
                  <a:pt x="135017" y="104775"/>
                  <a:pt x="132130" y="103465"/>
                  <a:pt x="129808" y="101203"/>
                </a:cubicBezTo>
                <a:cubicBezTo>
                  <a:pt x="127754" y="99239"/>
                  <a:pt x="125254" y="97631"/>
                  <a:pt x="122396" y="97631"/>
                </a:cubicBezTo>
                <a:cubicBezTo>
                  <a:pt x="117931" y="97631"/>
                  <a:pt x="114300" y="101263"/>
                  <a:pt x="114300" y="105728"/>
                </a:cubicBezTo>
                <a:lnTo>
                  <a:pt x="114300" y="138113"/>
                </a:lnTo>
                <a:cubicBezTo>
                  <a:pt x="114300" y="146000"/>
                  <a:pt x="107900" y="152400"/>
                  <a:pt x="100013" y="152400"/>
                </a:cubicBezTo>
                <a:lnTo>
                  <a:pt x="83106" y="152400"/>
                </a:lnTo>
                <a:cubicBezTo>
                  <a:pt x="79296" y="152400"/>
                  <a:pt x="76200" y="149304"/>
                  <a:pt x="76200" y="145494"/>
                </a:cubicBezTo>
                <a:cubicBezTo>
                  <a:pt x="76200" y="142756"/>
                  <a:pt x="77926" y="140345"/>
                  <a:pt x="80129" y="138708"/>
                </a:cubicBezTo>
                <a:cubicBezTo>
                  <a:pt x="83582" y="136118"/>
                  <a:pt x="85725" y="132546"/>
                  <a:pt x="85725" y="128588"/>
                </a:cubicBezTo>
                <a:cubicBezTo>
                  <a:pt x="85725" y="120700"/>
                  <a:pt x="77182" y="114300"/>
                  <a:pt x="66675" y="114300"/>
                </a:cubicBezTo>
                <a:cubicBezTo>
                  <a:pt x="56168" y="114300"/>
                  <a:pt x="47625" y="120700"/>
                  <a:pt x="47625" y="128588"/>
                </a:cubicBezTo>
                <a:cubicBezTo>
                  <a:pt x="47625" y="132546"/>
                  <a:pt x="49768" y="136118"/>
                  <a:pt x="53221" y="138708"/>
                </a:cubicBezTo>
                <a:cubicBezTo>
                  <a:pt x="55424" y="140345"/>
                  <a:pt x="57150" y="142726"/>
                  <a:pt x="57150" y="145494"/>
                </a:cubicBezTo>
                <a:cubicBezTo>
                  <a:pt x="57150" y="149304"/>
                  <a:pt x="54054" y="152400"/>
                  <a:pt x="50244" y="152400"/>
                </a:cubicBezTo>
                <a:lnTo>
                  <a:pt x="14288" y="152400"/>
                </a:lnTo>
                <a:cubicBezTo>
                  <a:pt x="6400" y="152400"/>
                  <a:pt x="0" y="146000"/>
                  <a:pt x="0" y="138113"/>
                </a:cubicBezTo>
                <a:lnTo>
                  <a:pt x="0" y="102156"/>
                </a:lnTo>
                <a:cubicBezTo>
                  <a:pt x="0" y="98346"/>
                  <a:pt x="3096" y="95250"/>
                  <a:pt x="6906" y="95250"/>
                </a:cubicBezTo>
                <a:cubicBezTo>
                  <a:pt x="9644" y="95250"/>
                  <a:pt x="12055" y="96976"/>
                  <a:pt x="13692" y="99179"/>
                </a:cubicBezTo>
                <a:cubicBezTo>
                  <a:pt x="16282" y="102632"/>
                  <a:pt x="19854" y="104775"/>
                  <a:pt x="23813" y="104775"/>
                </a:cubicBezTo>
                <a:cubicBezTo>
                  <a:pt x="31700" y="104775"/>
                  <a:pt x="38100" y="96232"/>
                  <a:pt x="38100" y="85725"/>
                </a:cubicBezTo>
                <a:cubicBezTo>
                  <a:pt x="38100" y="75218"/>
                  <a:pt x="31700" y="66675"/>
                  <a:pt x="23813" y="66675"/>
                </a:cubicBezTo>
                <a:cubicBezTo>
                  <a:pt x="19854" y="66675"/>
                  <a:pt x="16282" y="68818"/>
                  <a:pt x="13692" y="72271"/>
                </a:cubicBezTo>
                <a:cubicBezTo>
                  <a:pt x="12055" y="74474"/>
                  <a:pt x="9674" y="76200"/>
                  <a:pt x="6906" y="76200"/>
                </a:cubicBezTo>
                <a:cubicBezTo>
                  <a:pt x="3096" y="76200"/>
                  <a:pt x="0" y="73104"/>
                  <a:pt x="0" y="69294"/>
                </a:cubicBezTo>
                <a:lnTo>
                  <a:pt x="0" y="52388"/>
                </a:lnTo>
                <a:cubicBezTo>
                  <a:pt x="0" y="44500"/>
                  <a:pt x="6400" y="38100"/>
                  <a:pt x="14288" y="38100"/>
                </a:cubicBezTo>
                <a:lnTo>
                  <a:pt x="46673" y="38100"/>
                </a:lnTo>
                <a:cubicBezTo>
                  <a:pt x="51137" y="38100"/>
                  <a:pt x="54769" y="34469"/>
                  <a:pt x="54769" y="30004"/>
                </a:cubicBezTo>
                <a:cubicBezTo>
                  <a:pt x="54769" y="27176"/>
                  <a:pt x="53161" y="24646"/>
                  <a:pt x="51197" y="22592"/>
                </a:cubicBezTo>
                <a:cubicBezTo>
                  <a:pt x="48964" y="20241"/>
                  <a:pt x="47625" y="17383"/>
                  <a:pt x="47625" y="14288"/>
                </a:cubicBezTo>
                <a:cubicBezTo>
                  <a:pt x="47625" y="6400"/>
                  <a:pt x="56168" y="0"/>
                  <a:pt x="66675" y="0"/>
                </a:cubicBezTo>
                <a:close/>
              </a:path>
            </a:pathLst>
          </a:custGeom>
          <a:solidFill>
            <a:srgbClr val="FFFFFF"/>
          </a:solidFill>
          <a:ln/>
        </p:spPr>
      </p:sp>
      <p:sp>
        <p:nvSpPr>
          <p:cNvPr id="45" name="Text 43"/>
          <p:cNvSpPr/>
          <p:nvPr/>
        </p:nvSpPr>
        <p:spPr>
          <a:xfrm>
            <a:off x="7086600" y="4203632"/>
            <a:ext cx="1295400" cy="266700"/>
          </a:xfrm>
          <a:prstGeom prst="rect">
            <a:avLst/>
          </a:prstGeom>
          <a:noFill/>
          <a:ln/>
        </p:spPr>
        <p:txBody>
          <a:bodyPr wrap="square" lIns="0" tIns="0" rIns="0" bIns="0" rtlCol="0" anchor="ctr"/>
          <a:lstStyle/>
          <a:p>
            <a:pPr>
              <a:lnSpc>
                <a:spcPct val="130000"/>
              </a:lnSpc>
            </a:pPr>
            <a:r>
              <a:rPr lang="en-US" sz="1350" b="1" dirty="0">
                <a:solidFill>
                  <a:srgbClr val="8E8E93"/>
                </a:solidFill>
                <a:latin typeface="Liter" pitchFamily="34" charset="0"/>
                <a:ea typeface="Liter" pitchFamily="34" charset="-122"/>
                <a:cs typeface="Liter" pitchFamily="34" charset="-120"/>
              </a:rPr>
              <a:t>Rich Ecosystem</a:t>
            </a:r>
            <a:endParaRPr lang="en-US" sz="1600" dirty="0"/>
          </a:p>
        </p:txBody>
      </p:sp>
      <p:sp>
        <p:nvSpPr>
          <p:cNvPr id="46" name="Text 44"/>
          <p:cNvSpPr/>
          <p:nvPr/>
        </p:nvSpPr>
        <p:spPr>
          <a:xfrm>
            <a:off x="6591300" y="4603682"/>
            <a:ext cx="4914900" cy="228600"/>
          </a:xfrm>
          <a:prstGeom prst="rect">
            <a:avLst/>
          </a:prstGeom>
          <a:noFill/>
          <a:ln/>
        </p:spPr>
        <p:txBody>
          <a:bodyPr wrap="square" lIns="0" tIns="0" rIns="0" bIns="0" rtlCol="0" anchor="ctr"/>
          <a:lstStyle/>
          <a:p>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Thousands of libraries and plugins available</a:t>
            </a:r>
            <a:endParaRPr lang="en-US" sz="1600" dirty="0"/>
          </a:p>
        </p:txBody>
      </p:sp>
      <p:sp>
        <p:nvSpPr>
          <p:cNvPr id="47" name="Shape 45"/>
          <p:cNvSpPr/>
          <p:nvPr/>
        </p:nvSpPr>
        <p:spPr>
          <a:xfrm>
            <a:off x="6210300" y="5372100"/>
            <a:ext cx="5600700" cy="1104900"/>
          </a:xfrm>
          <a:prstGeom prst="roundRect">
            <a:avLst>
              <a:gd name="adj" fmla="val 13793"/>
            </a:avLst>
          </a:prstGeom>
          <a:solidFill>
            <a:srgbClr val="2C2C2E"/>
          </a:solidFill>
          <a:ln/>
        </p:spPr>
      </p:sp>
      <p:sp>
        <p:nvSpPr>
          <p:cNvPr id="48" name="Shape 46"/>
          <p:cNvSpPr/>
          <p:nvPr/>
        </p:nvSpPr>
        <p:spPr>
          <a:xfrm>
            <a:off x="6391275" y="5562600"/>
            <a:ext cx="133350" cy="152400"/>
          </a:xfrm>
          <a:custGeom>
            <a:avLst/>
            <a:gdLst/>
            <a:ahLst/>
            <a:cxnLst/>
            <a:rect l="l" t="t" r="r" b="b"/>
            <a:pathLst>
              <a:path w="133350" h="152400">
                <a:moveTo>
                  <a:pt x="19050" y="9525"/>
                </a:moveTo>
                <a:cubicBezTo>
                  <a:pt x="8543" y="9525"/>
                  <a:pt x="0" y="18068"/>
                  <a:pt x="0" y="28575"/>
                </a:cubicBezTo>
                <a:lnTo>
                  <a:pt x="0" y="123825"/>
                </a:lnTo>
                <a:cubicBezTo>
                  <a:pt x="0" y="134332"/>
                  <a:pt x="8543" y="142875"/>
                  <a:pt x="19050" y="142875"/>
                </a:cubicBezTo>
                <a:lnTo>
                  <a:pt x="114300" y="142875"/>
                </a:lnTo>
                <a:cubicBezTo>
                  <a:pt x="124807" y="142875"/>
                  <a:pt x="133350" y="134332"/>
                  <a:pt x="133350" y="123825"/>
                </a:cubicBezTo>
                <a:lnTo>
                  <a:pt x="133350" y="28575"/>
                </a:lnTo>
                <a:cubicBezTo>
                  <a:pt x="133350" y="18068"/>
                  <a:pt x="124807" y="9525"/>
                  <a:pt x="114300" y="9525"/>
                </a:cubicBezTo>
                <a:lnTo>
                  <a:pt x="19050" y="9525"/>
                </a:lnTo>
                <a:close/>
                <a:moveTo>
                  <a:pt x="38100" y="33338"/>
                </a:moveTo>
                <a:cubicBezTo>
                  <a:pt x="45985" y="33338"/>
                  <a:pt x="52388" y="39740"/>
                  <a:pt x="52388" y="47625"/>
                </a:cubicBezTo>
                <a:cubicBezTo>
                  <a:pt x="52388" y="55510"/>
                  <a:pt x="45985" y="61912"/>
                  <a:pt x="38100" y="61912"/>
                </a:cubicBezTo>
                <a:cubicBezTo>
                  <a:pt x="30215" y="61912"/>
                  <a:pt x="23813" y="55510"/>
                  <a:pt x="23813" y="47625"/>
                </a:cubicBezTo>
                <a:cubicBezTo>
                  <a:pt x="23813" y="39740"/>
                  <a:pt x="30215" y="33338"/>
                  <a:pt x="38100" y="33338"/>
                </a:cubicBezTo>
                <a:close/>
                <a:moveTo>
                  <a:pt x="80962" y="66675"/>
                </a:moveTo>
                <a:cubicBezTo>
                  <a:pt x="83463" y="66675"/>
                  <a:pt x="85755" y="67985"/>
                  <a:pt x="87064" y="70098"/>
                </a:cubicBezTo>
                <a:lnTo>
                  <a:pt x="113258" y="112961"/>
                </a:lnTo>
                <a:cubicBezTo>
                  <a:pt x="114598" y="115163"/>
                  <a:pt x="114657" y="117931"/>
                  <a:pt x="113407" y="120194"/>
                </a:cubicBezTo>
                <a:cubicBezTo>
                  <a:pt x="112157" y="122456"/>
                  <a:pt x="109746" y="123825"/>
                  <a:pt x="107156" y="123825"/>
                </a:cubicBezTo>
                <a:lnTo>
                  <a:pt x="26194" y="123825"/>
                </a:lnTo>
                <a:cubicBezTo>
                  <a:pt x="23545" y="123825"/>
                  <a:pt x="21074" y="122337"/>
                  <a:pt x="19854" y="119985"/>
                </a:cubicBezTo>
                <a:cubicBezTo>
                  <a:pt x="18633" y="117634"/>
                  <a:pt x="18812" y="114776"/>
                  <a:pt x="20330" y="112603"/>
                </a:cubicBezTo>
                <a:lnTo>
                  <a:pt x="36999" y="88791"/>
                </a:lnTo>
                <a:cubicBezTo>
                  <a:pt x="38338" y="86886"/>
                  <a:pt x="40511" y="85755"/>
                  <a:pt x="42863" y="85755"/>
                </a:cubicBezTo>
                <a:cubicBezTo>
                  <a:pt x="45214" y="85755"/>
                  <a:pt x="47387" y="86886"/>
                  <a:pt x="48726" y="88791"/>
                </a:cubicBezTo>
                <a:lnTo>
                  <a:pt x="56584" y="100042"/>
                </a:lnTo>
                <a:lnTo>
                  <a:pt x="74861" y="70128"/>
                </a:lnTo>
                <a:cubicBezTo>
                  <a:pt x="76170" y="68014"/>
                  <a:pt x="78462" y="66705"/>
                  <a:pt x="80962" y="66705"/>
                </a:cubicBezTo>
                <a:close/>
              </a:path>
            </a:pathLst>
          </a:custGeom>
          <a:solidFill>
            <a:srgbClr val="8E8E93"/>
          </a:solidFill>
          <a:ln/>
        </p:spPr>
      </p:sp>
      <p:sp>
        <p:nvSpPr>
          <p:cNvPr id="49" name="Text 47"/>
          <p:cNvSpPr/>
          <p:nvPr/>
        </p:nvSpPr>
        <p:spPr>
          <a:xfrm>
            <a:off x="6553200" y="5524500"/>
            <a:ext cx="5181600" cy="228600"/>
          </a:xfrm>
          <a:prstGeom prst="rect">
            <a:avLst/>
          </a:prstGeom>
          <a:noFill/>
          <a:ln/>
        </p:spPr>
        <p:txBody>
          <a:bodyPr wrap="square" lIns="0" tIns="0" rIns="0" bIns="0" rtlCol="0" anchor="ctr"/>
          <a:lstStyle/>
          <a:p>
            <a:pPr>
              <a:lnSpc>
                <a:spcPct val="130000"/>
              </a:lnSpc>
            </a:pPr>
            <a:r>
              <a:rPr lang="en-US" sz="1200" b="1" dirty="0">
                <a:solidFill>
                  <a:srgbClr val="8E8E93"/>
                </a:solidFill>
                <a:latin typeface="Liter" pitchFamily="34" charset="0"/>
                <a:ea typeface="Liter" pitchFamily="34" charset="-122"/>
                <a:cs typeface="Liter" pitchFamily="34" charset="-120"/>
              </a:rPr>
              <a:t>Visual Suggestion</a:t>
            </a:r>
            <a:endParaRPr lang="en-US" sz="1600" dirty="0"/>
          </a:p>
        </p:txBody>
      </p:sp>
      <p:sp>
        <p:nvSpPr>
          <p:cNvPr id="50" name="Shape 48"/>
          <p:cNvSpPr/>
          <p:nvPr/>
        </p:nvSpPr>
        <p:spPr>
          <a:xfrm>
            <a:off x="6381750" y="5867400"/>
            <a:ext cx="152400" cy="152400"/>
          </a:xfrm>
          <a:custGeom>
            <a:avLst/>
            <a:gdLst/>
            <a:ahLst/>
            <a:cxnLst/>
            <a:rect l="l" t="t" r="r" b="b"/>
            <a:pathLst>
              <a:path w="152400" h="152400">
                <a:moveTo>
                  <a:pt x="0" y="23813"/>
                </a:moveTo>
                <a:cubicBezTo>
                  <a:pt x="0" y="15925"/>
                  <a:pt x="6400" y="9525"/>
                  <a:pt x="14288" y="9525"/>
                </a:cubicBezTo>
                <a:lnTo>
                  <a:pt x="42863" y="9525"/>
                </a:lnTo>
                <a:cubicBezTo>
                  <a:pt x="50750" y="9525"/>
                  <a:pt x="57150" y="15925"/>
                  <a:pt x="57150" y="23813"/>
                </a:cubicBezTo>
                <a:lnTo>
                  <a:pt x="57150" y="28575"/>
                </a:lnTo>
                <a:lnTo>
                  <a:pt x="95250" y="28575"/>
                </a:lnTo>
                <a:lnTo>
                  <a:pt x="95250" y="23813"/>
                </a:lnTo>
                <a:cubicBezTo>
                  <a:pt x="95250" y="15925"/>
                  <a:pt x="101650" y="9525"/>
                  <a:pt x="109537" y="9525"/>
                </a:cubicBezTo>
                <a:lnTo>
                  <a:pt x="138113" y="9525"/>
                </a:lnTo>
                <a:cubicBezTo>
                  <a:pt x="146000" y="9525"/>
                  <a:pt x="152400" y="15925"/>
                  <a:pt x="152400" y="23813"/>
                </a:cubicBezTo>
                <a:lnTo>
                  <a:pt x="152400" y="52388"/>
                </a:lnTo>
                <a:cubicBezTo>
                  <a:pt x="152400" y="60275"/>
                  <a:pt x="146000" y="66675"/>
                  <a:pt x="138113" y="66675"/>
                </a:cubicBezTo>
                <a:lnTo>
                  <a:pt x="109537" y="66675"/>
                </a:lnTo>
                <a:cubicBezTo>
                  <a:pt x="101650" y="66675"/>
                  <a:pt x="95250" y="60275"/>
                  <a:pt x="95250" y="52388"/>
                </a:cubicBezTo>
                <a:lnTo>
                  <a:pt x="95250" y="47625"/>
                </a:lnTo>
                <a:lnTo>
                  <a:pt x="57150" y="47625"/>
                </a:lnTo>
                <a:lnTo>
                  <a:pt x="57150" y="52388"/>
                </a:lnTo>
                <a:cubicBezTo>
                  <a:pt x="57150" y="54560"/>
                  <a:pt x="56644" y="56644"/>
                  <a:pt x="55781" y="58489"/>
                </a:cubicBezTo>
                <a:lnTo>
                  <a:pt x="76200" y="85725"/>
                </a:lnTo>
                <a:lnTo>
                  <a:pt x="100013" y="85725"/>
                </a:lnTo>
                <a:cubicBezTo>
                  <a:pt x="107900" y="85725"/>
                  <a:pt x="114300" y="92125"/>
                  <a:pt x="114300" y="100013"/>
                </a:cubicBezTo>
                <a:lnTo>
                  <a:pt x="114300" y="128588"/>
                </a:lnTo>
                <a:cubicBezTo>
                  <a:pt x="114300" y="136475"/>
                  <a:pt x="107900" y="142875"/>
                  <a:pt x="100013" y="142875"/>
                </a:cubicBezTo>
                <a:lnTo>
                  <a:pt x="71438" y="142875"/>
                </a:lnTo>
                <a:cubicBezTo>
                  <a:pt x="63550" y="142875"/>
                  <a:pt x="57150" y="136475"/>
                  <a:pt x="57150" y="128588"/>
                </a:cubicBezTo>
                <a:lnTo>
                  <a:pt x="57150" y="100013"/>
                </a:lnTo>
                <a:cubicBezTo>
                  <a:pt x="57150" y="97840"/>
                  <a:pt x="57656" y="95756"/>
                  <a:pt x="58519" y="93911"/>
                </a:cubicBezTo>
                <a:lnTo>
                  <a:pt x="38100" y="66675"/>
                </a:lnTo>
                <a:lnTo>
                  <a:pt x="14288" y="66675"/>
                </a:lnTo>
                <a:cubicBezTo>
                  <a:pt x="6400" y="66675"/>
                  <a:pt x="0" y="60275"/>
                  <a:pt x="0" y="52388"/>
                </a:cubicBezTo>
                <a:lnTo>
                  <a:pt x="0" y="23813"/>
                </a:lnTo>
                <a:close/>
              </a:path>
            </a:pathLst>
          </a:custGeom>
          <a:solidFill>
            <a:srgbClr val="0A84FF"/>
          </a:solidFill>
          <a:ln/>
        </p:spPr>
      </p:sp>
      <p:sp>
        <p:nvSpPr>
          <p:cNvPr id="51" name="Text 49"/>
          <p:cNvSpPr/>
          <p:nvPr/>
        </p:nvSpPr>
        <p:spPr>
          <a:xfrm>
            <a:off x="6629400" y="5829300"/>
            <a:ext cx="2362200"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React Native architecture</a:t>
            </a:r>
            <a:endParaRPr lang="en-US" sz="1600" dirty="0"/>
          </a:p>
        </p:txBody>
      </p:sp>
      <p:sp>
        <p:nvSpPr>
          <p:cNvPr id="52" name="Shape 50"/>
          <p:cNvSpPr/>
          <p:nvPr/>
        </p:nvSpPr>
        <p:spPr>
          <a:xfrm>
            <a:off x="6391275" y="6134100"/>
            <a:ext cx="133350" cy="152400"/>
          </a:xfrm>
          <a:custGeom>
            <a:avLst/>
            <a:gdLst/>
            <a:ahLst/>
            <a:cxnLst/>
            <a:rect l="l" t="t" r="r" b="b"/>
            <a:pathLst>
              <a:path w="133350" h="152400">
                <a:moveTo>
                  <a:pt x="19050" y="9525"/>
                </a:moveTo>
                <a:cubicBezTo>
                  <a:pt x="8543" y="9525"/>
                  <a:pt x="0" y="18068"/>
                  <a:pt x="0" y="28575"/>
                </a:cubicBezTo>
                <a:lnTo>
                  <a:pt x="0" y="123825"/>
                </a:lnTo>
                <a:cubicBezTo>
                  <a:pt x="0" y="134332"/>
                  <a:pt x="8543" y="142875"/>
                  <a:pt x="19050" y="142875"/>
                </a:cubicBezTo>
                <a:lnTo>
                  <a:pt x="114300" y="142875"/>
                </a:lnTo>
                <a:cubicBezTo>
                  <a:pt x="124807" y="142875"/>
                  <a:pt x="133350" y="134332"/>
                  <a:pt x="133350" y="123825"/>
                </a:cubicBezTo>
                <a:lnTo>
                  <a:pt x="133350" y="28575"/>
                </a:lnTo>
                <a:cubicBezTo>
                  <a:pt x="133350" y="18068"/>
                  <a:pt x="124807" y="9525"/>
                  <a:pt x="114300" y="9525"/>
                </a:cubicBezTo>
                <a:lnTo>
                  <a:pt x="19050" y="9525"/>
                </a:lnTo>
                <a:close/>
                <a:moveTo>
                  <a:pt x="38100" y="33338"/>
                </a:moveTo>
                <a:cubicBezTo>
                  <a:pt x="45985" y="33338"/>
                  <a:pt x="52388" y="39740"/>
                  <a:pt x="52388" y="47625"/>
                </a:cubicBezTo>
                <a:cubicBezTo>
                  <a:pt x="52388" y="55510"/>
                  <a:pt x="45985" y="61912"/>
                  <a:pt x="38100" y="61912"/>
                </a:cubicBezTo>
                <a:cubicBezTo>
                  <a:pt x="30215" y="61912"/>
                  <a:pt x="23813" y="55510"/>
                  <a:pt x="23813" y="47625"/>
                </a:cubicBezTo>
                <a:cubicBezTo>
                  <a:pt x="23813" y="39740"/>
                  <a:pt x="30215" y="33338"/>
                  <a:pt x="38100" y="33338"/>
                </a:cubicBezTo>
                <a:close/>
                <a:moveTo>
                  <a:pt x="80962" y="66675"/>
                </a:moveTo>
                <a:cubicBezTo>
                  <a:pt x="83463" y="66675"/>
                  <a:pt x="85755" y="67985"/>
                  <a:pt x="87064" y="70098"/>
                </a:cubicBezTo>
                <a:lnTo>
                  <a:pt x="113258" y="112961"/>
                </a:lnTo>
                <a:cubicBezTo>
                  <a:pt x="114598" y="115163"/>
                  <a:pt x="114657" y="117931"/>
                  <a:pt x="113407" y="120194"/>
                </a:cubicBezTo>
                <a:cubicBezTo>
                  <a:pt x="112157" y="122456"/>
                  <a:pt x="109746" y="123825"/>
                  <a:pt x="107156" y="123825"/>
                </a:cubicBezTo>
                <a:lnTo>
                  <a:pt x="26194" y="123825"/>
                </a:lnTo>
                <a:cubicBezTo>
                  <a:pt x="23545" y="123825"/>
                  <a:pt x="21074" y="122337"/>
                  <a:pt x="19854" y="119985"/>
                </a:cubicBezTo>
                <a:cubicBezTo>
                  <a:pt x="18633" y="117634"/>
                  <a:pt x="18812" y="114776"/>
                  <a:pt x="20330" y="112603"/>
                </a:cubicBezTo>
                <a:lnTo>
                  <a:pt x="36999" y="88791"/>
                </a:lnTo>
                <a:cubicBezTo>
                  <a:pt x="38338" y="86886"/>
                  <a:pt x="40511" y="85755"/>
                  <a:pt x="42863" y="85755"/>
                </a:cubicBezTo>
                <a:cubicBezTo>
                  <a:pt x="45214" y="85755"/>
                  <a:pt x="47387" y="86886"/>
                  <a:pt x="48726" y="88791"/>
                </a:cubicBezTo>
                <a:lnTo>
                  <a:pt x="56584" y="100042"/>
                </a:lnTo>
                <a:lnTo>
                  <a:pt x="74861" y="70128"/>
                </a:lnTo>
                <a:cubicBezTo>
                  <a:pt x="76170" y="68014"/>
                  <a:pt x="78462" y="66705"/>
                  <a:pt x="80962" y="66705"/>
                </a:cubicBezTo>
                <a:close/>
              </a:path>
            </a:pathLst>
          </a:custGeom>
          <a:solidFill>
            <a:srgbClr val="34C759"/>
          </a:solidFill>
          <a:ln/>
        </p:spPr>
      </p:sp>
      <p:sp>
        <p:nvSpPr>
          <p:cNvPr id="53" name="Text 51"/>
          <p:cNvSpPr/>
          <p:nvPr/>
        </p:nvSpPr>
        <p:spPr>
          <a:xfrm>
            <a:off x="6629400" y="6096000"/>
            <a:ext cx="2952750" cy="228600"/>
          </a:xfrm>
          <a:prstGeom prst="rect">
            <a:avLst/>
          </a:prstGeom>
          <a:noFill/>
          <a:ln/>
        </p:spPr>
        <p:txBody>
          <a:bodyPr wrap="square" lIns="0" tIns="0" rIns="0" bIns="0" rtlCol="0" anchor="ctr"/>
          <a:lstStyle/>
          <a:p>
            <a:pPr>
              <a:lnSpc>
                <a:spcPct val="130000"/>
              </a:lnSpc>
            </a:pPr>
            <a:r>
              <a:rPr lang="en-US" sz="1200"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200" dirty="0">
                <a:solidFill>
                  <a:srgbClr val="F5F5F7"/>
                </a:solidFill>
                <a:latin typeface="Quattrocento Sans" pitchFamily="34" charset="0"/>
                <a:ea typeface="Quattrocento Sans" pitchFamily="34" charset="-122"/>
                <a:cs typeface="Quattrocento Sans" pitchFamily="34" charset="-120"/>
              </a:rPr>
              <a:t> React Native logo and Facebook app</a:t>
            </a:r>
            <a:endParaRPr lang="en-US" sz="1600" dirty="0"/>
          </a:p>
        </p:txBody>
      </p:sp>
    </p:spTree>
  </p:cSld>
  <p:clrMapOvr>
    <a:masterClrMapping/>
  </p:clrMapOvr>
  <p:transition>
    <p:fade/>
    <p:spd val="med"/>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317500" y="365125"/>
            <a:ext cx="381000" cy="381000"/>
          </a:xfrm>
          <a:prstGeom prst="roundRect">
            <a:avLst>
              <a:gd name="adj" fmla="val 25000"/>
            </a:avLst>
          </a:prstGeom>
          <a:solidFill>
            <a:srgbClr val="8E8E93"/>
          </a:solidFill>
          <a:ln/>
        </p:spPr>
      </p:sp>
      <p:sp>
        <p:nvSpPr>
          <p:cNvPr id="3" name="Text 1"/>
          <p:cNvSpPr/>
          <p:nvPr/>
        </p:nvSpPr>
        <p:spPr>
          <a:xfrm>
            <a:off x="394097" y="428625"/>
            <a:ext cx="325438" cy="254000"/>
          </a:xfrm>
          <a:prstGeom prst="rect">
            <a:avLst/>
          </a:prstGeom>
          <a:noFill/>
          <a:ln/>
        </p:spPr>
        <p:txBody>
          <a:bodyPr wrap="square" lIns="0" tIns="0" rIns="0" bIns="0" rtlCol="0" anchor="ctr"/>
          <a:lstStyle/>
          <a:p>
            <a:pPr>
              <a:lnSpc>
                <a:spcPct val="110000"/>
              </a:lnSpc>
            </a:pPr>
            <a:r>
              <a:rPr lang="en-US" sz="1500" b="1" dirty="0">
                <a:solidFill>
                  <a:srgbClr val="FFFFFF"/>
                </a:solidFill>
                <a:latin typeface="Liter" pitchFamily="34" charset="0"/>
                <a:ea typeface="Liter" pitchFamily="34" charset="-122"/>
                <a:cs typeface="Liter" pitchFamily="34" charset="-120"/>
              </a:rPr>
              <a:t>28</a:t>
            </a:r>
            <a:endParaRPr lang="en-US" sz="1600" dirty="0"/>
          </a:p>
        </p:txBody>
      </p:sp>
      <p:sp>
        <p:nvSpPr>
          <p:cNvPr id="4" name="Text 2"/>
          <p:cNvSpPr/>
          <p:nvPr/>
        </p:nvSpPr>
        <p:spPr>
          <a:xfrm>
            <a:off x="793750" y="317500"/>
            <a:ext cx="5921375" cy="158750"/>
          </a:xfrm>
          <a:prstGeom prst="rect">
            <a:avLst/>
          </a:prstGeom>
          <a:noFill/>
          <a:ln/>
        </p:spPr>
        <p:txBody>
          <a:bodyPr wrap="square" lIns="0" tIns="0" rIns="0" bIns="0" rtlCol="0" anchor="ctr"/>
          <a:lstStyle/>
          <a:p>
            <a:pPr>
              <a:lnSpc>
                <a:spcPct val="120000"/>
              </a:lnSpc>
            </a:pPr>
            <a:r>
              <a:rPr lang="en-US" sz="875" b="1" spc="44" kern="0" dirty="0">
                <a:solidFill>
                  <a:srgbClr val="8E8E93"/>
                </a:solidFill>
                <a:latin typeface="Quattrocento Sans" pitchFamily="34" charset="0"/>
                <a:ea typeface="Quattrocento Sans" pitchFamily="34" charset="-122"/>
                <a:cs typeface="Quattrocento Sans" pitchFamily="34" charset="-120"/>
              </a:rPr>
              <a:t>Framework Introduction</a:t>
            </a:r>
            <a:endParaRPr lang="en-US" sz="1600" dirty="0"/>
          </a:p>
        </p:txBody>
      </p:sp>
      <p:sp>
        <p:nvSpPr>
          <p:cNvPr id="5" name="Text 3"/>
          <p:cNvSpPr/>
          <p:nvPr/>
        </p:nvSpPr>
        <p:spPr>
          <a:xfrm>
            <a:off x="793750" y="476250"/>
            <a:ext cx="6008688" cy="317500"/>
          </a:xfrm>
          <a:prstGeom prst="rect">
            <a:avLst/>
          </a:prstGeom>
          <a:noFill/>
          <a:ln/>
        </p:spPr>
        <p:txBody>
          <a:bodyPr wrap="square" lIns="0" tIns="0" rIns="0" bIns="0" rtlCol="0" anchor="ctr"/>
          <a:lstStyle/>
          <a:p>
            <a:pPr>
              <a:lnSpc>
                <a:spcPct val="90000"/>
              </a:lnSpc>
            </a:pPr>
            <a:r>
              <a:rPr lang="en-US" sz="2250" b="1" dirty="0">
                <a:solidFill>
                  <a:srgbClr val="F5F5F7"/>
                </a:solidFill>
                <a:latin typeface="Liter" pitchFamily="34" charset="0"/>
                <a:ea typeface="Liter" pitchFamily="34" charset="-122"/>
                <a:cs typeface="Liter" pitchFamily="34" charset="-120"/>
              </a:rPr>
              <a:t>Flutter vs React Native: Beginner's Comparison</a:t>
            </a:r>
            <a:endParaRPr lang="en-US" sz="1600" dirty="0"/>
          </a:p>
        </p:txBody>
      </p:sp>
      <p:sp>
        <p:nvSpPr>
          <p:cNvPr id="6" name="Shape 4"/>
          <p:cNvSpPr/>
          <p:nvPr/>
        </p:nvSpPr>
        <p:spPr>
          <a:xfrm>
            <a:off x="317500" y="1047750"/>
            <a:ext cx="11557000" cy="3127375"/>
          </a:xfrm>
          <a:prstGeom prst="roundRect">
            <a:avLst>
              <a:gd name="adj" fmla="val 4061"/>
            </a:avLst>
          </a:prstGeom>
          <a:solidFill>
            <a:srgbClr val="2C2C2E"/>
          </a:solidFill>
          <a:ln/>
        </p:spPr>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8000" y="1238250"/>
          <a:ext cx="11176000" cy="2746375"/>
        </p:xfrm>
        <a:graphic>
          <a:graphicData uri="http://schemas.openxmlformats.org/drawingml/2006/table">
            <a:tbl>
              <a:tblPr/>
              <a:tblGrid>
                <a:gridCol w="4524375"/>
                <a:gridCol w="3302000"/>
                <a:gridCol w="3349625"/>
              </a:tblGrid>
              <a:tr h="415736">
                <a:tc>
                  <a:txBody>
                    <a:bodyPr/>
                    <a:lstStyle/>
                    <a:p>
                      <a:pPr algn="l"/>
                      <a:r>
                        <a:rPr lang="en-US" sz="1200" b="1" u="none" dirty="0">
                          <a:solidFill>
                            <a:srgbClr val="34C759"/>
                          </a:solidFill>
                          <a:latin typeface="微软雅黑" pitchFamily="34" charset="0"/>
                          <a:ea typeface="微软雅黑" pitchFamily="34" charset="-122"/>
                          <a:cs typeface="微软雅黑" pitchFamily="34" charset="-120"/>
                        </a:rPr>
                        <a:t>Feature</a:t>
                      </a:r>
                      <a:endParaRPr lang="en-US" sz="12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20320" cap="flat" cmpd="sng" algn="ctr">
                      <a:solidFill>
                        <a:srgbClr val="34C759"/>
                      </a:solidFill>
                      <a:prstDash val="solid"/>
                      <a:round/>
                      <a:headEnd type="none" w="med" len="med"/>
                      <a:tailEnd type="none" w="med" len="med"/>
                    </a:lnB>
                    <a:solidFill>
                      <a:srgbClr val="FFFFFF">
                        <a:alpha val="0"/>
                      </a:srgbClr>
                    </a:solidFill>
                  </a:tcPr>
                </a:tc>
                <a:tc>
                  <a:txBody>
                    <a:bodyPr/>
                    <a:lstStyle/>
                    <a:p>
                      <a:pPr algn="ctr"/>
                      <a:r>
                        <a:rPr lang="en-US" sz="1200" b="1" u="none" dirty="0">
                          <a:solidFill>
                            <a:srgbClr val="34C759"/>
                          </a:solidFill>
                          <a:latin typeface="微软雅黑" pitchFamily="34" charset="0"/>
                          <a:ea typeface="微软雅黑" pitchFamily="34" charset="-122"/>
                          <a:cs typeface="微软雅黑" pitchFamily="34" charset="-120"/>
                        </a:rPr>
                        <a:t>Flutter</a:t>
                      </a:r>
                      <a:endParaRPr lang="en-US" sz="12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20320" cap="flat" cmpd="sng" algn="ctr">
                      <a:solidFill>
                        <a:srgbClr val="34C759"/>
                      </a:solidFill>
                      <a:prstDash val="solid"/>
                      <a:round/>
                      <a:headEnd type="none" w="med" len="med"/>
                      <a:tailEnd type="none" w="med" len="med"/>
                    </a:lnB>
                    <a:solidFill>
                      <a:srgbClr val="FFFFFF">
                        <a:alpha val="0"/>
                      </a:srgbClr>
                    </a:solidFill>
                  </a:tcPr>
                </a:tc>
                <a:tc>
                  <a:txBody>
                    <a:bodyPr/>
                    <a:lstStyle/>
                    <a:p>
                      <a:pPr algn="ctr"/>
                      <a:r>
                        <a:rPr lang="en-US" sz="1200" b="1" u="none" dirty="0">
                          <a:solidFill>
                            <a:srgbClr val="0A84FF"/>
                          </a:solidFill>
                          <a:latin typeface="微软雅黑" pitchFamily="34" charset="0"/>
                          <a:ea typeface="微软雅黑" pitchFamily="34" charset="-122"/>
                          <a:cs typeface="微软雅黑" pitchFamily="34" charset="-120"/>
                        </a:rPr>
                        <a:t>React Native</a:t>
                      </a:r>
                      <a:endParaRPr lang="en-US" sz="12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20320" cap="flat" cmpd="sng" algn="ctr">
                      <a:solidFill>
                        <a:srgbClr val="34C759"/>
                      </a:solidFill>
                      <a:prstDash val="solid"/>
                      <a:round/>
                      <a:headEnd type="none" w="med" len="med"/>
                      <a:tailEnd type="none" w="med" len="med"/>
                    </a:lnB>
                    <a:solidFill>
                      <a:srgbClr val="FFFFFF">
                        <a:alpha val="0"/>
                      </a:srgbClr>
                    </a:solidFill>
                  </a:tcPr>
                </a:tc>
              </a:tr>
              <a:tr h="390540">
                <a:tc>
                  <a:txBody>
                    <a:bodyPr/>
                    <a:lstStyle/>
                    <a:p>
                      <a:r>
                        <a:rPr lang="en-US" sz="1000" b="1" u="none" dirty="0">
                          <a:solidFill>
                            <a:srgbClr val="F5F5F7"/>
                          </a:solidFill>
                          <a:latin typeface="微软雅黑" pitchFamily="34" charset="0"/>
                          <a:ea typeface="微软雅黑" pitchFamily="34" charset="-122"/>
                          <a:cs typeface="微软雅黑" pitchFamily="34" charset="-120"/>
                        </a:rPr>
                        <a:t>Programming Language</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F5F5F7"/>
                          </a:solidFill>
                          <a:latin typeface="微软雅黑" pitchFamily="34" charset="0"/>
                          <a:ea typeface="微软雅黑" pitchFamily="34" charset="-122"/>
                          <a:cs typeface="微软雅黑" pitchFamily="34" charset="-120"/>
                        </a:rPr>
                        <a:t>Dart</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F5F5F7"/>
                          </a:solidFill>
                          <a:latin typeface="微软雅黑" pitchFamily="34" charset="0"/>
                          <a:ea typeface="微软雅黑" pitchFamily="34" charset="-122"/>
                          <a:cs typeface="微软雅黑" pitchFamily="34" charset="-120"/>
                        </a:rPr>
                        <a:t>JavaScript</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390540">
                <a:tc>
                  <a:txBody>
                    <a:bodyPr/>
                    <a:lstStyle/>
                    <a:p>
                      <a:r>
                        <a:rPr lang="en-US" sz="1000" b="1" u="none" dirty="0">
                          <a:solidFill>
                            <a:srgbClr val="F5F5F7"/>
                          </a:solidFill>
                          <a:latin typeface="微软雅黑" pitchFamily="34" charset="0"/>
                          <a:ea typeface="微软雅黑" pitchFamily="34" charset="-122"/>
                          <a:cs typeface="微软雅黑" pitchFamily="34" charset="-120"/>
                        </a:rPr>
                        <a:t>Performance</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F5F5F7"/>
                          </a:solidFill>
                          <a:latin typeface="微软雅黑" pitchFamily="34" charset="0"/>
                          <a:ea typeface="微软雅黑" pitchFamily="34" charset="-122"/>
                          <a:cs typeface="微软雅黑" pitchFamily="34" charset="-120"/>
                        </a:rPr>
                        <a:t>⭐⭐⭐⭐⭐</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F5F5F7"/>
                          </a:solidFill>
                          <a:latin typeface="微软雅黑" pitchFamily="34" charset="0"/>
                          <a:ea typeface="微软雅黑" pitchFamily="34" charset="-122"/>
                          <a:cs typeface="微软雅黑" pitchFamily="34" charset="-120"/>
                        </a:rPr>
                        <a:t>⭐⭐⭐⭐</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390540">
                <a:tc>
                  <a:txBody>
                    <a:bodyPr/>
                    <a:lstStyle/>
                    <a:p>
                      <a:r>
                        <a:rPr lang="en-US" sz="1000" b="1" u="none" dirty="0">
                          <a:solidFill>
                            <a:srgbClr val="F5F5F7"/>
                          </a:solidFill>
                          <a:latin typeface="微软雅黑" pitchFamily="34" charset="0"/>
                          <a:ea typeface="微软雅黑" pitchFamily="34" charset="-122"/>
                          <a:cs typeface="微软雅黑" pitchFamily="34" charset="-120"/>
                        </a:rPr>
                        <a:t>Learning Curve</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F5F5F7"/>
                          </a:solidFill>
                          <a:latin typeface="微软雅黑" pitchFamily="34" charset="0"/>
                          <a:ea typeface="微软雅黑" pitchFamily="34" charset="-122"/>
                          <a:cs typeface="微软雅黑" pitchFamily="34" charset="-120"/>
                        </a:rPr>
                        <a:t>Moderate</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F5F5F7"/>
                          </a:solidFill>
                          <a:latin typeface="微软雅黑" pitchFamily="34" charset="0"/>
                          <a:ea typeface="微软雅黑" pitchFamily="34" charset="-122"/>
                          <a:cs typeface="微软雅黑" pitchFamily="34" charset="-120"/>
                        </a:rPr>
                        <a:t>Easy</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390540">
                <a:tc>
                  <a:txBody>
                    <a:bodyPr/>
                    <a:lstStyle/>
                    <a:p>
                      <a:r>
                        <a:rPr lang="en-US" sz="1000" b="1" u="none" dirty="0">
                          <a:solidFill>
                            <a:srgbClr val="F5F5F7"/>
                          </a:solidFill>
                          <a:latin typeface="微软雅黑" pitchFamily="34" charset="0"/>
                          <a:ea typeface="微软雅黑" pitchFamily="34" charset="-122"/>
                          <a:cs typeface="微软雅黑" pitchFamily="34" charset="-120"/>
                        </a:rPr>
                        <a:t>Community Size</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F5F5F7"/>
                          </a:solidFill>
                          <a:latin typeface="微软雅黑" pitchFamily="34" charset="0"/>
                          <a:ea typeface="微软雅黑" pitchFamily="34" charset="-122"/>
                          <a:cs typeface="微软雅黑" pitchFamily="34" charset="-120"/>
                        </a:rPr>
                        <a:t>Growing fast</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F5F5F7"/>
                          </a:solidFill>
                          <a:latin typeface="微软雅黑" pitchFamily="34" charset="0"/>
                          <a:ea typeface="微软雅黑" pitchFamily="34" charset="-122"/>
                          <a:cs typeface="微软雅黑" pitchFamily="34" charset="-120"/>
                        </a:rPr>
                        <a:t>Very large</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390540">
                <a:tc>
                  <a:txBody>
                    <a:bodyPr/>
                    <a:lstStyle/>
                    <a:p>
                      <a:r>
                        <a:rPr lang="en-US" sz="1000" b="1" u="none" dirty="0">
                          <a:solidFill>
                            <a:srgbClr val="F5F5F7"/>
                          </a:solidFill>
                          <a:latin typeface="微软雅黑" pitchFamily="34" charset="0"/>
                          <a:ea typeface="微软雅黑" pitchFamily="34" charset="-122"/>
                          <a:cs typeface="微软雅黑" pitchFamily="34" charset="-120"/>
                        </a:rPr>
                        <a:t>UI Consistency</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F5F5F7"/>
                          </a:solidFill>
                          <a:latin typeface="微软雅黑" pitchFamily="34" charset="0"/>
                          <a:ea typeface="微软雅黑" pitchFamily="34" charset="-122"/>
                          <a:cs typeface="微软雅黑" pitchFamily="34" charset="-120"/>
                        </a:rPr>
                        <a:t>Excellent</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F5F5F7"/>
                          </a:solidFill>
                          <a:latin typeface="微软雅黑" pitchFamily="34" charset="0"/>
                          <a:ea typeface="微软雅黑" pitchFamily="34" charset="-122"/>
                          <a:cs typeface="微软雅黑" pitchFamily="34" charset="-120"/>
                        </a:rPr>
                        <a:t>Good</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377942">
                <a:tc>
                  <a:txBody>
                    <a:bodyPr/>
                    <a:lstStyle/>
                    <a:p>
                      <a:r>
                        <a:rPr lang="en-US" sz="1000" b="1" u="none" dirty="0">
                          <a:solidFill>
                            <a:srgbClr val="F5F5F7"/>
                          </a:solidFill>
                          <a:latin typeface="微软雅黑" pitchFamily="34" charset="0"/>
                          <a:ea typeface="微软雅黑" pitchFamily="34" charset="-122"/>
                          <a:cs typeface="微软雅黑" pitchFamily="34" charset="-120"/>
                        </a:rPr>
                        <a:t>Job Market</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000" u="none" dirty="0">
                          <a:solidFill>
                            <a:srgbClr val="F5F5F7"/>
                          </a:solidFill>
                          <a:latin typeface="微软雅黑" pitchFamily="34" charset="0"/>
                          <a:ea typeface="微软雅黑" pitchFamily="34" charset="-122"/>
                          <a:cs typeface="微软雅黑" pitchFamily="34" charset="-120"/>
                        </a:rPr>
                        <a:t>High demand</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000" u="none" dirty="0">
                          <a:solidFill>
                            <a:srgbClr val="F5F5F7"/>
                          </a:solidFill>
                          <a:latin typeface="微软雅黑" pitchFamily="34" charset="0"/>
                          <a:ea typeface="微软雅黑" pitchFamily="34" charset="-122"/>
                          <a:cs typeface="微软雅黑" pitchFamily="34" charset="-120"/>
                        </a:rPr>
                        <a:t>High demand</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8" name="Shape 5"/>
          <p:cNvSpPr/>
          <p:nvPr/>
        </p:nvSpPr>
        <p:spPr>
          <a:xfrm>
            <a:off x="333375" y="4298947"/>
            <a:ext cx="5699125" cy="2492375"/>
          </a:xfrm>
          <a:custGeom>
            <a:avLst/>
            <a:gdLst/>
            <a:ahLst/>
            <a:cxnLst/>
            <a:rect l="l" t="t" r="r" b="b"/>
            <a:pathLst>
              <a:path w="5699125" h="2492375">
                <a:moveTo>
                  <a:pt x="31750" y="0"/>
                </a:moveTo>
                <a:lnTo>
                  <a:pt x="5572125" y="0"/>
                </a:lnTo>
                <a:cubicBezTo>
                  <a:pt x="5642218" y="0"/>
                  <a:pt x="5699125" y="56907"/>
                  <a:pt x="5699125" y="127000"/>
                </a:cubicBezTo>
                <a:lnTo>
                  <a:pt x="5699125" y="2365375"/>
                </a:lnTo>
                <a:cubicBezTo>
                  <a:pt x="5699125" y="2435468"/>
                  <a:pt x="5642218" y="2492375"/>
                  <a:pt x="5572125" y="2492375"/>
                </a:cubicBezTo>
                <a:lnTo>
                  <a:pt x="31750" y="2492375"/>
                </a:lnTo>
                <a:cubicBezTo>
                  <a:pt x="14227" y="2492375"/>
                  <a:pt x="0" y="2478148"/>
                  <a:pt x="0" y="2460625"/>
                </a:cubicBezTo>
                <a:lnTo>
                  <a:pt x="0" y="31750"/>
                </a:lnTo>
                <a:cubicBezTo>
                  <a:pt x="0" y="14227"/>
                  <a:pt x="14227" y="0"/>
                  <a:pt x="31750" y="0"/>
                </a:cubicBezTo>
                <a:close/>
              </a:path>
            </a:pathLst>
          </a:custGeom>
          <a:solidFill>
            <a:srgbClr val="2C2C2E"/>
          </a:solidFill>
          <a:ln/>
        </p:spPr>
      </p:sp>
      <p:sp>
        <p:nvSpPr>
          <p:cNvPr id="9" name="Shape 6"/>
          <p:cNvSpPr/>
          <p:nvPr/>
        </p:nvSpPr>
        <p:spPr>
          <a:xfrm>
            <a:off x="333375" y="4298947"/>
            <a:ext cx="31750" cy="2492375"/>
          </a:xfrm>
          <a:custGeom>
            <a:avLst/>
            <a:gdLst/>
            <a:ahLst/>
            <a:cxnLst/>
            <a:rect l="l" t="t" r="r" b="b"/>
            <a:pathLst>
              <a:path w="31750" h="2492375">
                <a:moveTo>
                  <a:pt x="31750" y="0"/>
                </a:moveTo>
                <a:lnTo>
                  <a:pt x="31750" y="0"/>
                </a:lnTo>
                <a:lnTo>
                  <a:pt x="31750" y="2492375"/>
                </a:lnTo>
                <a:lnTo>
                  <a:pt x="31750" y="2492375"/>
                </a:lnTo>
                <a:cubicBezTo>
                  <a:pt x="14227" y="2492375"/>
                  <a:pt x="0" y="2478148"/>
                  <a:pt x="0" y="2460625"/>
                </a:cubicBezTo>
                <a:lnTo>
                  <a:pt x="0" y="31750"/>
                </a:lnTo>
                <a:cubicBezTo>
                  <a:pt x="0" y="14227"/>
                  <a:pt x="14227" y="0"/>
                  <a:pt x="31750" y="0"/>
                </a:cubicBezTo>
                <a:close/>
              </a:path>
            </a:pathLst>
          </a:custGeom>
          <a:solidFill>
            <a:srgbClr val="34C759"/>
          </a:solidFill>
          <a:ln/>
        </p:spPr>
      </p:sp>
      <p:sp>
        <p:nvSpPr>
          <p:cNvPr id="10" name="Shape 7"/>
          <p:cNvSpPr/>
          <p:nvPr/>
        </p:nvSpPr>
        <p:spPr>
          <a:xfrm>
            <a:off x="559594" y="4521197"/>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79375" y="54570"/>
                </a:moveTo>
                <a:cubicBezTo>
                  <a:pt x="73887" y="54570"/>
                  <a:pt x="69453" y="59004"/>
                  <a:pt x="69453" y="64492"/>
                </a:cubicBezTo>
                <a:cubicBezTo>
                  <a:pt x="69453" y="68616"/>
                  <a:pt x="66135" y="71934"/>
                  <a:pt x="62012" y="71934"/>
                </a:cubicBezTo>
                <a:cubicBezTo>
                  <a:pt x="57888" y="71934"/>
                  <a:pt x="54570" y="68616"/>
                  <a:pt x="54570" y="64492"/>
                </a:cubicBezTo>
                <a:cubicBezTo>
                  <a:pt x="54570" y="50788"/>
                  <a:pt x="65670" y="39688"/>
                  <a:pt x="79375" y="39688"/>
                </a:cubicBezTo>
                <a:cubicBezTo>
                  <a:pt x="93080" y="39688"/>
                  <a:pt x="104180" y="50788"/>
                  <a:pt x="104180" y="64492"/>
                </a:cubicBezTo>
                <a:cubicBezTo>
                  <a:pt x="104180" y="79127"/>
                  <a:pt x="93018" y="85328"/>
                  <a:pt x="86816" y="87592"/>
                </a:cubicBezTo>
                <a:lnTo>
                  <a:pt x="86816" y="88770"/>
                </a:lnTo>
                <a:cubicBezTo>
                  <a:pt x="86816" y="92894"/>
                  <a:pt x="83499" y="96211"/>
                  <a:pt x="79375" y="96211"/>
                </a:cubicBezTo>
                <a:cubicBezTo>
                  <a:pt x="75251" y="96211"/>
                  <a:pt x="71934" y="92894"/>
                  <a:pt x="71934" y="88770"/>
                </a:cubicBezTo>
                <a:lnTo>
                  <a:pt x="71934" y="86258"/>
                </a:lnTo>
                <a:cubicBezTo>
                  <a:pt x="71934" y="79902"/>
                  <a:pt x="76522" y="75344"/>
                  <a:pt x="81266" y="73794"/>
                </a:cubicBezTo>
                <a:cubicBezTo>
                  <a:pt x="83251" y="73143"/>
                  <a:pt x="85359" y="72089"/>
                  <a:pt x="86909" y="70600"/>
                </a:cubicBezTo>
                <a:cubicBezTo>
                  <a:pt x="88243" y="69298"/>
                  <a:pt x="89297" y="67500"/>
                  <a:pt x="89297" y="64523"/>
                </a:cubicBezTo>
                <a:cubicBezTo>
                  <a:pt x="89297" y="59035"/>
                  <a:pt x="84863" y="54601"/>
                  <a:pt x="79375" y="54601"/>
                </a:cubicBezTo>
                <a:close/>
                <a:moveTo>
                  <a:pt x="69453" y="114102"/>
                </a:moveTo>
                <a:cubicBezTo>
                  <a:pt x="69453" y="108626"/>
                  <a:pt x="73899" y="104180"/>
                  <a:pt x="79375" y="104180"/>
                </a:cubicBezTo>
                <a:cubicBezTo>
                  <a:pt x="84851" y="104180"/>
                  <a:pt x="89297" y="108626"/>
                  <a:pt x="89297" y="114102"/>
                </a:cubicBezTo>
                <a:cubicBezTo>
                  <a:pt x="89297" y="119578"/>
                  <a:pt x="84851" y="124023"/>
                  <a:pt x="79375" y="124023"/>
                </a:cubicBezTo>
                <a:cubicBezTo>
                  <a:pt x="73899" y="124023"/>
                  <a:pt x="69453" y="119578"/>
                  <a:pt x="69453" y="114102"/>
                </a:cubicBezTo>
                <a:close/>
              </a:path>
            </a:pathLst>
          </a:custGeom>
          <a:solidFill>
            <a:srgbClr val="34C759"/>
          </a:solidFill>
          <a:ln/>
        </p:spPr>
      </p:sp>
      <p:sp>
        <p:nvSpPr>
          <p:cNvPr id="11" name="Text 8"/>
          <p:cNvSpPr/>
          <p:nvPr/>
        </p:nvSpPr>
        <p:spPr>
          <a:xfrm>
            <a:off x="738188" y="4489447"/>
            <a:ext cx="5183188" cy="222250"/>
          </a:xfrm>
          <a:prstGeom prst="rect">
            <a:avLst/>
          </a:prstGeom>
          <a:noFill/>
          <a:ln/>
        </p:spPr>
        <p:txBody>
          <a:bodyPr wrap="square" lIns="0" tIns="0" rIns="0" bIns="0" rtlCol="0" anchor="ctr"/>
          <a:lstStyle/>
          <a:p>
            <a:pPr>
              <a:lnSpc>
                <a:spcPct val="120000"/>
              </a:lnSpc>
            </a:pPr>
            <a:r>
              <a:rPr lang="en-US" sz="1250" b="1" dirty="0">
                <a:solidFill>
                  <a:srgbClr val="34C759"/>
                </a:solidFill>
                <a:latin typeface="Liter" pitchFamily="34" charset="0"/>
                <a:ea typeface="Liter" pitchFamily="34" charset="-122"/>
                <a:cs typeface="Liter" pitchFamily="34" charset="-120"/>
              </a:rPr>
              <a:t>Which Should You Choose?</a:t>
            </a:r>
            <a:endParaRPr lang="en-US" sz="1600" dirty="0"/>
          </a:p>
        </p:txBody>
      </p:sp>
      <p:sp>
        <p:nvSpPr>
          <p:cNvPr id="12" name="Shape 9"/>
          <p:cNvSpPr/>
          <p:nvPr/>
        </p:nvSpPr>
        <p:spPr>
          <a:xfrm>
            <a:off x="539750" y="4838697"/>
            <a:ext cx="5302250" cy="381000"/>
          </a:xfrm>
          <a:prstGeom prst="roundRect">
            <a:avLst>
              <a:gd name="adj" fmla="val 16667"/>
            </a:avLst>
          </a:prstGeom>
          <a:solidFill>
            <a:srgbClr val="1A1D21"/>
          </a:solidFill>
          <a:ln/>
        </p:spPr>
      </p:sp>
      <p:sp>
        <p:nvSpPr>
          <p:cNvPr id="13" name="Text 10"/>
          <p:cNvSpPr/>
          <p:nvPr/>
        </p:nvSpPr>
        <p:spPr>
          <a:xfrm>
            <a:off x="635000" y="4933947"/>
            <a:ext cx="5175250" cy="190500"/>
          </a:xfrm>
          <a:prstGeom prst="rect">
            <a:avLst/>
          </a:prstGeom>
          <a:noFill/>
          <a:ln/>
        </p:spPr>
        <p:txBody>
          <a:bodyPr wrap="square" lIns="0" tIns="0" rIns="0" bIns="0" rtlCol="0" anchor="ctr"/>
          <a:lstStyle/>
          <a:p>
            <a:pPr>
              <a:lnSpc>
                <a:spcPct val="130000"/>
              </a:lnSpc>
            </a:pPr>
            <a:r>
              <a:rPr lang="en-US" sz="1000" b="1" dirty="0">
                <a:solidFill>
                  <a:srgbClr val="34C759"/>
                </a:solidFill>
                <a:latin typeface="Quattrocento Sans" pitchFamily="34" charset="0"/>
                <a:ea typeface="Quattrocento Sans" pitchFamily="34" charset="-122"/>
                <a:cs typeface="Quattrocento Sans" pitchFamily="34" charset="-120"/>
              </a:rPr>
              <a:t>Choose Flutter if:</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You want best performance, beautiful UI, and don't mind learning Dart</a:t>
            </a:r>
            <a:endParaRPr lang="en-US" sz="1600" dirty="0"/>
          </a:p>
        </p:txBody>
      </p:sp>
      <p:sp>
        <p:nvSpPr>
          <p:cNvPr id="14" name="Shape 11"/>
          <p:cNvSpPr/>
          <p:nvPr/>
        </p:nvSpPr>
        <p:spPr>
          <a:xfrm>
            <a:off x="539750" y="5314947"/>
            <a:ext cx="5302250" cy="571500"/>
          </a:xfrm>
          <a:prstGeom prst="roundRect">
            <a:avLst>
              <a:gd name="adj" fmla="val 11111"/>
            </a:avLst>
          </a:prstGeom>
          <a:solidFill>
            <a:srgbClr val="1A1D21"/>
          </a:solidFill>
          <a:ln/>
        </p:spPr>
      </p:sp>
      <p:sp>
        <p:nvSpPr>
          <p:cNvPr id="15" name="Text 12"/>
          <p:cNvSpPr/>
          <p:nvPr/>
        </p:nvSpPr>
        <p:spPr>
          <a:xfrm>
            <a:off x="635000" y="5410197"/>
            <a:ext cx="5175250" cy="381000"/>
          </a:xfrm>
          <a:prstGeom prst="rect">
            <a:avLst/>
          </a:prstGeom>
          <a:noFill/>
          <a:ln/>
        </p:spPr>
        <p:txBody>
          <a:bodyPr wrap="square" lIns="0" tIns="0" rIns="0" bIns="0" rtlCol="0" anchor="ctr"/>
          <a:lstStyle/>
          <a:p>
            <a:pPr>
              <a:lnSpc>
                <a:spcPct val="130000"/>
              </a:lnSpc>
            </a:pPr>
            <a:r>
              <a:rPr lang="en-US" sz="1000" b="1" dirty="0">
                <a:solidFill>
                  <a:srgbClr val="0A84FF"/>
                </a:solidFill>
                <a:latin typeface="Quattrocento Sans" pitchFamily="34" charset="0"/>
                <a:ea typeface="Quattrocento Sans" pitchFamily="34" charset="-122"/>
                <a:cs typeface="Quattrocento Sans" pitchFamily="34" charset="-120"/>
              </a:rPr>
              <a:t>Choose React Native if:</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You know JavaScript, want larger community, or have web dev background</a:t>
            </a:r>
            <a:endParaRPr lang="en-US" sz="1600" dirty="0"/>
          </a:p>
        </p:txBody>
      </p:sp>
      <p:sp>
        <p:nvSpPr>
          <p:cNvPr id="16" name="Shape 13"/>
          <p:cNvSpPr/>
          <p:nvPr/>
        </p:nvSpPr>
        <p:spPr>
          <a:xfrm>
            <a:off x="320675" y="6924675"/>
            <a:ext cx="5705475" cy="1054100"/>
          </a:xfrm>
          <a:prstGeom prst="roundRect">
            <a:avLst>
              <a:gd name="adj" fmla="val 12048"/>
            </a:avLst>
          </a:prstGeom>
          <a:solidFill>
            <a:srgbClr val="0A84FF">
              <a:alpha val="10196"/>
            </a:srgbClr>
          </a:solidFill>
          <a:ln w="10160">
            <a:solidFill>
              <a:srgbClr val="0A84FF">
                <a:alpha val="30196"/>
              </a:srgbClr>
            </a:solidFill>
            <a:prstDash val="solid"/>
          </a:ln>
        </p:spPr>
      </p:sp>
      <p:sp>
        <p:nvSpPr>
          <p:cNvPr id="17" name="Shape 14"/>
          <p:cNvSpPr/>
          <p:nvPr/>
        </p:nvSpPr>
        <p:spPr>
          <a:xfrm>
            <a:off x="502444" y="7126294"/>
            <a:ext cx="142875" cy="142875"/>
          </a:xfrm>
          <a:custGeom>
            <a:avLst/>
            <a:gdLst/>
            <a:ahLst/>
            <a:cxnLst/>
            <a:rect l="l" t="t" r="r" b="b"/>
            <a:pathLst>
              <a:path w="142875" h="142875">
                <a:moveTo>
                  <a:pt x="71438" y="133945"/>
                </a:moveTo>
                <a:cubicBezTo>
                  <a:pt x="110896" y="133945"/>
                  <a:pt x="142875" y="103947"/>
                  <a:pt x="142875" y="66973"/>
                </a:cubicBezTo>
                <a:cubicBezTo>
                  <a:pt x="142875" y="29998"/>
                  <a:pt x="110896" y="0"/>
                  <a:pt x="71438" y="0"/>
                </a:cubicBezTo>
                <a:cubicBezTo>
                  <a:pt x="31979" y="0"/>
                  <a:pt x="0" y="29998"/>
                  <a:pt x="0" y="66973"/>
                </a:cubicBezTo>
                <a:cubicBezTo>
                  <a:pt x="0" y="82125"/>
                  <a:pt x="5358" y="96078"/>
                  <a:pt x="14399" y="107296"/>
                </a:cubicBezTo>
                <a:lnTo>
                  <a:pt x="781" y="133052"/>
                </a:lnTo>
                <a:cubicBezTo>
                  <a:pt x="-558" y="135564"/>
                  <a:pt x="-140" y="138633"/>
                  <a:pt x="1786" y="140726"/>
                </a:cubicBezTo>
                <a:cubicBezTo>
                  <a:pt x="3711" y="142819"/>
                  <a:pt x="6753" y="143461"/>
                  <a:pt x="9348" y="142345"/>
                </a:cubicBezTo>
                <a:lnTo>
                  <a:pt x="42388" y="128197"/>
                </a:lnTo>
                <a:cubicBezTo>
                  <a:pt x="51262" y="131880"/>
                  <a:pt x="61085" y="133945"/>
                  <a:pt x="71438" y="133945"/>
                </a:cubicBezTo>
                <a:close/>
                <a:moveTo>
                  <a:pt x="35719" y="58043"/>
                </a:moveTo>
                <a:cubicBezTo>
                  <a:pt x="40647" y="58043"/>
                  <a:pt x="44648" y="62044"/>
                  <a:pt x="44648" y="66973"/>
                </a:cubicBezTo>
                <a:cubicBezTo>
                  <a:pt x="44648" y="71901"/>
                  <a:pt x="40647" y="75902"/>
                  <a:pt x="35719" y="75902"/>
                </a:cubicBezTo>
                <a:cubicBezTo>
                  <a:pt x="30790" y="75902"/>
                  <a:pt x="26789" y="71901"/>
                  <a:pt x="26789" y="66973"/>
                </a:cubicBezTo>
                <a:cubicBezTo>
                  <a:pt x="26789" y="62044"/>
                  <a:pt x="30790" y="58043"/>
                  <a:pt x="35719" y="58043"/>
                </a:cubicBezTo>
                <a:close/>
                <a:moveTo>
                  <a:pt x="71438" y="58043"/>
                </a:moveTo>
                <a:cubicBezTo>
                  <a:pt x="76366" y="58043"/>
                  <a:pt x="80367" y="62044"/>
                  <a:pt x="80367" y="66973"/>
                </a:cubicBezTo>
                <a:cubicBezTo>
                  <a:pt x="80367" y="71901"/>
                  <a:pt x="76366" y="75902"/>
                  <a:pt x="71438" y="75902"/>
                </a:cubicBezTo>
                <a:cubicBezTo>
                  <a:pt x="66509" y="75902"/>
                  <a:pt x="62508" y="71901"/>
                  <a:pt x="62508" y="66973"/>
                </a:cubicBezTo>
                <a:cubicBezTo>
                  <a:pt x="62508" y="62044"/>
                  <a:pt x="66509" y="58043"/>
                  <a:pt x="71438" y="58043"/>
                </a:cubicBezTo>
                <a:close/>
                <a:moveTo>
                  <a:pt x="98227" y="66973"/>
                </a:moveTo>
                <a:cubicBezTo>
                  <a:pt x="98227" y="62044"/>
                  <a:pt x="102228" y="58043"/>
                  <a:pt x="107156" y="58043"/>
                </a:cubicBezTo>
                <a:cubicBezTo>
                  <a:pt x="112085" y="58043"/>
                  <a:pt x="116086" y="62044"/>
                  <a:pt x="116086" y="66973"/>
                </a:cubicBezTo>
                <a:cubicBezTo>
                  <a:pt x="116086" y="71901"/>
                  <a:pt x="112085" y="75902"/>
                  <a:pt x="107156" y="75902"/>
                </a:cubicBezTo>
                <a:cubicBezTo>
                  <a:pt x="102228" y="75902"/>
                  <a:pt x="98227" y="71901"/>
                  <a:pt x="98227" y="66973"/>
                </a:cubicBezTo>
                <a:close/>
              </a:path>
            </a:pathLst>
          </a:custGeom>
          <a:solidFill>
            <a:srgbClr val="0A84FF"/>
          </a:solidFill>
          <a:ln/>
        </p:spPr>
      </p:sp>
      <p:sp>
        <p:nvSpPr>
          <p:cNvPr id="18" name="Text 15"/>
          <p:cNvSpPr/>
          <p:nvPr/>
        </p:nvSpPr>
        <p:spPr>
          <a:xfrm>
            <a:off x="665162" y="7086606"/>
            <a:ext cx="5270500" cy="222250"/>
          </a:xfrm>
          <a:prstGeom prst="rect">
            <a:avLst/>
          </a:prstGeom>
          <a:noFill/>
          <a:ln/>
        </p:spPr>
        <p:txBody>
          <a:bodyPr wrap="square" lIns="0" tIns="0" rIns="0" bIns="0" rtlCol="0" anchor="ctr"/>
          <a:lstStyle/>
          <a:p>
            <a:pPr>
              <a:lnSpc>
                <a:spcPct val="130000"/>
              </a:lnSpc>
            </a:pPr>
            <a:r>
              <a:rPr lang="en-US" sz="1125" b="1" dirty="0">
                <a:solidFill>
                  <a:srgbClr val="0A84FF"/>
                </a:solidFill>
                <a:latin typeface="Liter" pitchFamily="34" charset="0"/>
                <a:ea typeface="Liter" pitchFamily="34" charset="-122"/>
                <a:cs typeface="Liter" pitchFamily="34" charset="-120"/>
              </a:rPr>
              <a:t>Simple Explanation</a:t>
            </a:r>
            <a:endParaRPr lang="en-US" sz="1600" dirty="0"/>
          </a:p>
        </p:txBody>
      </p:sp>
      <p:sp>
        <p:nvSpPr>
          <p:cNvPr id="19" name="Text 16"/>
          <p:cNvSpPr/>
          <p:nvPr/>
        </p:nvSpPr>
        <p:spPr>
          <a:xfrm>
            <a:off x="482600" y="7404106"/>
            <a:ext cx="5445125" cy="412750"/>
          </a:xfrm>
          <a:prstGeom prst="rect">
            <a:avLst/>
          </a:prstGeom>
          <a:noFill/>
          <a:ln/>
        </p:spPr>
        <p:txBody>
          <a:bodyPr wrap="square" lIns="0" tIns="0" rIns="0" bIns="0" rtlCol="0" anchor="ctr"/>
          <a:lstStyle/>
          <a:p>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Both are excellent choices! It's like choosing between </a:t>
            </a:r>
            <a:pPr>
              <a:lnSpc>
                <a:spcPct val="140000"/>
              </a:lnSpc>
            </a:pPr>
            <a:r>
              <a:rPr lang="en-US" sz="1000" b="1" dirty="0">
                <a:solidFill>
                  <a:srgbClr val="34C759"/>
                </a:solidFill>
                <a:latin typeface="Quattrocento Sans" pitchFamily="34" charset="0"/>
                <a:ea typeface="Quattrocento Sans" pitchFamily="34" charset="-122"/>
                <a:cs typeface="Quattrocento Sans" pitchFamily="34" charset="-120"/>
              </a:rPr>
              <a:t>iPhone and Android</a:t>
            </a:r>
            <a:pPr>
              <a:lnSpc>
                <a:spcPct val="140000"/>
              </a:lnSpc>
            </a:pPr>
            <a:r>
              <a:rPr lang="en-US" sz="1000" dirty="0">
                <a:solidFill>
                  <a:srgbClr val="F5F5F7"/>
                </a:solidFill>
                <a:latin typeface="Quattrocento Sans" pitchFamily="34" charset="0"/>
                <a:ea typeface="Quattrocento Sans" pitchFamily="34" charset="-122"/>
                <a:cs typeface="Quattrocento Sans" pitchFamily="34" charset="-120"/>
              </a:rPr>
              <a:t> – both work great, pick what feels right for you.</a:t>
            </a:r>
            <a:endParaRPr lang="en-US" sz="1600" dirty="0"/>
          </a:p>
        </p:txBody>
      </p:sp>
      <p:sp>
        <p:nvSpPr>
          <p:cNvPr id="20" name="Shape 17"/>
          <p:cNvSpPr/>
          <p:nvPr/>
        </p:nvSpPr>
        <p:spPr>
          <a:xfrm>
            <a:off x="6159500" y="4298947"/>
            <a:ext cx="5715000" cy="2635250"/>
          </a:xfrm>
          <a:prstGeom prst="roundRect">
            <a:avLst>
              <a:gd name="adj" fmla="val 4819"/>
            </a:avLst>
          </a:prstGeom>
          <a:solidFill>
            <a:srgbClr val="2C2C2E"/>
          </a:solidFill>
          <a:ln/>
        </p:spPr>
      </p:sp>
      <p:sp>
        <p:nvSpPr>
          <p:cNvPr id="21" name="Shape 18"/>
          <p:cNvSpPr/>
          <p:nvPr/>
        </p:nvSpPr>
        <p:spPr>
          <a:xfrm>
            <a:off x="6369844" y="4521197"/>
            <a:ext cx="158750" cy="158750"/>
          </a:xfrm>
          <a:custGeom>
            <a:avLst/>
            <a:gdLst/>
            <a:ahLst/>
            <a:cxnLst/>
            <a:rect l="l" t="t" r="r" b="b"/>
            <a:pathLst>
              <a:path w="158750" h="158750">
                <a:moveTo>
                  <a:pt x="9922" y="9922"/>
                </a:moveTo>
                <a:cubicBezTo>
                  <a:pt x="15410" y="9922"/>
                  <a:pt x="19844" y="14356"/>
                  <a:pt x="19844" y="19844"/>
                </a:cubicBezTo>
                <a:lnTo>
                  <a:pt x="19844" y="124023"/>
                </a:lnTo>
                <a:cubicBezTo>
                  <a:pt x="19844" y="126752"/>
                  <a:pt x="22076" y="128984"/>
                  <a:pt x="24805" y="128984"/>
                </a:cubicBezTo>
                <a:lnTo>
                  <a:pt x="148828" y="128984"/>
                </a:lnTo>
                <a:cubicBezTo>
                  <a:pt x="154316" y="128984"/>
                  <a:pt x="158750" y="133418"/>
                  <a:pt x="158750" y="138906"/>
                </a:cubicBezTo>
                <a:cubicBezTo>
                  <a:pt x="158750" y="144394"/>
                  <a:pt x="154316" y="148828"/>
                  <a:pt x="148828" y="148828"/>
                </a:cubicBezTo>
                <a:lnTo>
                  <a:pt x="24805" y="148828"/>
                </a:lnTo>
                <a:cubicBezTo>
                  <a:pt x="11100" y="148828"/>
                  <a:pt x="0" y="137728"/>
                  <a:pt x="0" y="124023"/>
                </a:cubicBezTo>
                <a:lnTo>
                  <a:pt x="0" y="19844"/>
                </a:lnTo>
                <a:cubicBezTo>
                  <a:pt x="0" y="14356"/>
                  <a:pt x="4434" y="9922"/>
                  <a:pt x="9922" y="9922"/>
                </a:cubicBezTo>
                <a:close/>
                <a:moveTo>
                  <a:pt x="39688" y="29766"/>
                </a:moveTo>
                <a:cubicBezTo>
                  <a:pt x="39688" y="24278"/>
                  <a:pt x="44121" y="19844"/>
                  <a:pt x="49609" y="19844"/>
                </a:cubicBezTo>
                <a:lnTo>
                  <a:pt x="109141" y="19844"/>
                </a:lnTo>
                <a:cubicBezTo>
                  <a:pt x="114629" y="19844"/>
                  <a:pt x="119062" y="24278"/>
                  <a:pt x="119062" y="29766"/>
                </a:cubicBezTo>
                <a:cubicBezTo>
                  <a:pt x="119062" y="35254"/>
                  <a:pt x="114629" y="39688"/>
                  <a:pt x="109141" y="39688"/>
                </a:cubicBezTo>
                <a:lnTo>
                  <a:pt x="49609" y="39688"/>
                </a:lnTo>
                <a:cubicBezTo>
                  <a:pt x="44121" y="39688"/>
                  <a:pt x="39688" y="35254"/>
                  <a:pt x="39688" y="29766"/>
                </a:cubicBezTo>
                <a:close/>
                <a:moveTo>
                  <a:pt x="49609" y="54570"/>
                </a:moveTo>
                <a:lnTo>
                  <a:pt x="89297" y="54570"/>
                </a:lnTo>
                <a:cubicBezTo>
                  <a:pt x="94785" y="54570"/>
                  <a:pt x="99219" y="59004"/>
                  <a:pt x="99219" y="64492"/>
                </a:cubicBezTo>
                <a:cubicBezTo>
                  <a:pt x="99219" y="69980"/>
                  <a:pt x="94785" y="74414"/>
                  <a:pt x="89297" y="74414"/>
                </a:cubicBezTo>
                <a:lnTo>
                  <a:pt x="49609" y="74414"/>
                </a:lnTo>
                <a:cubicBezTo>
                  <a:pt x="44121" y="74414"/>
                  <a:pt x="39688" y="69980"/>
                  <a:pt x="39688" y="64492"/>
                </a:cubicBezTo>
                <a:cubicBezTo>
                  <a:pt x="39688" y="59004"/>
                  <a:pt x="44121" y="54570"/>
                  <a:pt x="49609" y="54570"/>
                </a:cubicBezTo>
                <a:close/>
                <a:moveTo>
                  <a:pt x="49609" y="89297"/>
                </a:moveTo>
                <a:lnTo>
                  <a:pt x="128984" y="89297"/>
                </a:lnTo>
                <a:cubicBezTo>
                  <a:pt x="134472" y="89297"/>
                  <a:pt x="138906" y="93731"/>
                  <a:pt x="138906" y="99219"/>
                </a:cubicBezTo>
                <a:cubicBezTo>
                  <a:pt x="138906" y="104707"/>
                  <a:pt x="134472" y="109141"/>
                  <a:pt x="128984" y="109141"/>
                </a:cubicBezTo>
                <a:lnTo>
                  <a:pt x="49609" y="109141"/>
                </a:lnTo>
                <a:cubicBezTo>
                  <a:pt x="44121" y="109141"/>
                  <a:pt x="39688" y="104707"/>
                  <a:pt x="39688" y="99219"/>
                </a:cubicBezTo>
                <a:cubicBezTo>
                  <a:pt x="39688" y="93731"/>
                  <a:pt x="44121" y="89297"/>
                  <a:pt x="49609" y="89297"/>
                </a:cubicBezTo>
                <a:close/>
              </a:path>
            </a:pathLst>
          </a:custGeom>
          <a:solidFill>
            <a:srgbClr val="34C759"/>
          </a:solidFill>
          <a:ln/>
        </p:spPr>
      </p:sp>
      <p:sp>
        <p:nvSpPr>
          <p:cNvPr id="22" name="Text 19"/>
          <p:cNvSpPr/>
          <p:nvPr/>
        </p:nvSpPr>
        <p:spPr>
          <a:xfrm>
            <a:off x="6548438" y="4489447"/>
            <a:ext cx="5214938" cy="222250"/>
          </a:xfrm>
          <a:prstGeom prst="rect">
            <a:avLst/>
          </a:prstGeom>
          <a:noFill/>
          <a:ln/>
        </p:spPr>
        <p:txBody>
          <a:bodyPr wrap="square" lIns="0" tIns="0" rIns="0" bIns="0" rtlCol="0" anchor="ctr"/>
          <a:lstStyle/>
          <a:p>
            <a:pPr>
              <a:lnSpc>
                <a:spcPct val="120000"/>
              </a:lnSpc>
            </a:pPr>
            <a:r>
              <a:rPr lang="en-US" sz="1250" b="1" dirty="0">
                <a:solidFill>
                  <a:srgbClr val="34C759"/>
                </a:solidFill>
                <a:latin typeface="Liter" pitchFamily="34" charset="0"/>
                <a:ea typeface="Liter" pitchFamily="34" charset="-122"/>
                <a:cs typeface="Liter" pitchFamily="34" charset="-120"/>
              </a:rPr>
              <a:t>Popularity Trend</a:t>
            </a:r>
            <a:endParaRPr lang="en-US" sz="1600" dirty="0"/>
          </a:p>
        </p:txBody>
      </p:sp>
      <p:sp>
        <p:nvSpPr>
          <p:cNvPr id="23" name="Shape 20"/>
          <p:cNvSpPr/>
          <p:nvPr/>
        </p:nvSpPr>
        <p:spPr>
          <a:xfrm>
            <a:off x="6350000" y="4838697"/>
            <a:ext cx="5334000" cy="1905000"/>
          </a:xfrm>
          <a:prstGeom prst="roundRect">
            <a:avLst>
              <a:gd name="adj" fmla="val 5000"/>
            </a:avLst>
          </a:prstGeom>
          <a:solidFill>
            <a:srgbClr val="1A1D21"/>
          </a:solidFill>
          <a:ln/>
        </p:spPr>
      </p:sp>
      <p:pic>
        <p:nvPicPr>
          <p:cNvPr id="24" name="Image 0" descr="https://kimi-img.moonshot.cn/pub/slides/26-04-27-02:56:51-d7n5vstm2cijgatmnkg0.png">    </p:cNvPr>
          <p:cNvPicPr>
            <a:picLocks noChangeAspect="1"/>
          </p:cNvPicPr>
          <p:nvPr/>
        </p:nvPicPr>
        <p:blipFill>
          <a:blip r:embed="rId1"/>
          <a:srcRect l="0" r="0" t="0" b="0"/>
          <a:stretch/>
        </p:blipFill>
        <p:spPr>
          <a:xfrm>
            <a:off x="6508750" y="4997447"/>
            <a:ext cx="4000500" cy="1587500"/>
          </a:xfrm>
          <a:prstGeom prst="roundRect">
            <a:avLst>
              <a:gd name="adj" fmla="val 0"/>
            </a:avLst>
          </a:prstGeom>
        </p:spPr>
      </p:pic>
      <p:sp>
        <p:nvSpPr>
          <p:cNvPr id="25" name="Shape 21"/>
          <p:cNvSpPr/>
          <p:nvPr/>
        </p:nvSpPr>
        <p:spPr>
          <a:xfrm>
            <a:off x="6159500" y="7061197"/>
            <a:ext cx="5715000" cy="920750"/>
          </a:xfrm>
          <a:prstGeom prst="roundRect">
            <a:avLst>
              <a:gd name="adj" fmla="val 13793"/>
            </a:avLst>
          </a:prstGeom>
          <a:solidFill>
            <a:srgbClr val="2C2C2E"/>
          </a:solidFill>
          <a:ln/>
        </p:spPr>
      </p:sp>
      <p:sp>
        <p:nvSpPr>
          <p:cNvPr id="26" name="Shape 22"/>
          <p:cNvSpPr/>
          <p:nvPr/>
        </p:nvSpPr>
        <p:spPr>
          <a:xfrm>
            <a:off x="6310313" y="7219947"/>
            <a:ext cx="111125" cy="127000"/>
          </a:xfrm>
          <a:custGeom>
            <a:avLst/>
            <a:gdLst/>
            <a:ahLst/>
            <a:cxnLst/>
            <a:rect l="l" t="t" r="r" b="b"/>
            <a:pathLst>
              <a:path w="111125" h="127000">
                <a:moveTo>
                  <a:pt x="15875" y="7938"/>
                </a:moveTo>
                <a:cubicBezTo>
                  <a:pt x="7119" y="7938"/>
                  <a:pt x="0" y="15056"/>
                  <a:pt x="0" y="23812"/>
                </a:cubicBezTo>
                <a:lnTo>
                  <a:pt x="0" y="103188"/>
                </a:lnTo>
                <a:cubicBezTo>
                  <a:pt x="0" y="111944"/>
                  <a:pt x="7119" y="119063"/>
                  <a:pt x="15875" y="119063"/>
                </a:cubicBezTo>
                <a:lnTo>
                  <a:pt x="95250" y="119063"/>
                </a:lnTo>
                <a:cubicBezTo>
                  <a:pt x="104006" y="119063"/>
                  <a:pt x="111125" y="111944"/>
                  <a:pt x="111125" y="103188"/>
                </a:cubicBezTo>
                <a:lnTo>
                  <a:pt x="111125" y="23812"/>
                </a:lnTo>
                <a:cubicBezTo>
                  <a:pt x="111125" y="15056"/>
                  <a:pt x="104006" y="7938"/>
                  <a:pt x="95250" y="7938"/>
                </a:cubicBezTo>
                <a:lnTo>
                  <a:pt x="15875" y="7938"/>
                </a:lnTo>
                <a:close/>
                <a:moveTo>
                  <a:pt x="31750" y="27781"/>
                </a:moveTo>
                <a:cubicBezTo>
                  <a:pt x="38321" y="27781"/>
                  <a:pt x="43656" y="33116"/>
                  <a:pt x="43656" y="39688"/>
                </a:cubicBezTo>
                <a:cubicBezTo>
                  <a:pt x="43656" y="46259"/>
                  <a:pt x="38321" y="51594"/>
                  <a:pt x="31750" y="51594"/>
                </a:cubicBezTo>
                <a:cubicBezTo>
                  <a:pt x="25179" y="51594"/>
                  <a:pt x="19844" y="46259"/>
                  <a:pt x="19844" y="39688"/>
                </a:cubicBezTo>
                <a:cubicBezTo>
                  <a:pt x="19844" y="33116"/>
                  <a:pt x="25179" y="27781"/>
                  <a:pt x="31750" y="27781"/>
                </a:cubicBezTo>
                <a:close/>
                <a:moveTo>
                  <a:pt x="67469" y="55563"/>
                </a:moveTo>
                <a:cubicBezTo>
                  <a:pt x="69552" y="55563"/>
                  <a:pt x="71462" y="56654"/>
                  <a:pt x="72554" y="58415"/>
                </a:cubicBezTo>
                <a:lnTo>
                  <a:pt x="94382" y="94134"/>
                </a:lnTo>
                <a:cubicBezTo>
                  <a:pt x="95498" y="95969"/>
                  <a:pt x="95548" y="98276"/>
                  <a:pt x="94506" y="100161"/>
                </a:cubicBezTo>
                <a:cubicBezTo>
                  <a:pt x="93464" y="102046"/>
                  <a:pt x="91455" y="103188"/>
                  <a:pt x="89297" y="103188"/>
                </a:cubicBezTo>
                <a:lnTo>
                  <a:pt x="21828" y="103188"/>
                </a:lnTo>
                <a:cubicBezTo>
                  <a:pt x="19621" y="103188"/>
                  <a:pt x="17562" y="101947"/>
                  <a:pt x="16545" y="99988"/>
                </a:cubicBezTo>
                <a:cubicBezTo>
                  <a:pt x="15528" y="98028"/>
                  <a:pt x="15677" y="95647"/>
                  <a:pt x="16942" y="93836"/>
                </a:cubicBezTo>
                <a:lnTo>
                  <a:pt x="30832" y="73992"/>
                </a:lnTo>
                <a:cubicBezTo>
                  <a:pt x="31948" y="72405"/>
                  <a:pt x="33759" y="71462"/>
                  <a:pt x="35719" y="71462"/>
                </a:cubicBezTo>
                <a:cubicBezTo>
                  <a:pt x="37678" y="71462"/>
                  <a:pt x="39489" y="72405"/>
                  <a:pt x="40605" y="73992"/>
                </a:cubicBezTo>
                <a:lnTo>
                  <a:pt x="47154" y="83369"/>
                </a:lnTo>
                <a:lnTo>
                  <a:pt x="62384" y="58440"/>
                </a:lnTo>
                <a:cubicBezTo>
                  <a:pt x="63475" y="56679"/>
                  <a:pt x="65385" y="55587"/>
                  <a:pt x="67469" y="55587"/>
                </a:cubicBezTo>
                <a:close/>
              </a:path>
            </a:pathLst>
          </a:custGeom>
          <a:solidFill>
            <a:srgbClr val="8E8E93"/>
          </a:solidFill>
          <a:ln/>
        </p:spPr>
      </p:sp>
      <p:sp>
        <p:nvSpPr>
          <p:cNvPr id="27" name="Text 23"/>
          <p:cNvSpPr/>
          <p:nvPr/>
        </p:nvSpPr>
        <p:spPr>
          <a:xfrm>
            <a:off x="6445250" y="7188197"/>
            <a:ext cx="5365750" cy="190500"/>
          </a:xfrm>
          <a:prstGeom prst="rect">
            <a:avLst/>
          </a:prstGeom>
          <a:noFill/>
          <a:ln/>
        </p:spPr>
        <p:txBody>
          <a:bodyPr wrap="square" lIns="0" tIns="0" rIns="0" bIns="0" rtlCol="0" anchor="ctr"/>
          <a:lstStyle/>
          <a:p>
            <a:pPr>
              <a:lnSpc>
                <a:spcPct val="130000"/>
              </a:lnSpc>
            </a:pPr>
            <a:r>
              <a:rPr lang="en-US" sz="1000" b="1" dirty="0">
                <a:solidFill>
                  <a:srgbClr val="8E8E93"/>
                </a:solidFill>
                <a:latin typeface="Liter" pitchFamily="34" charset="0"/>
                <a:ea typeface="Liter" pitchFamily="34" charset="-122"/>
                <a:cs typeface="Liter" pitchFamily="34" charset="-120"/>
              </a:rPr>
              <a:t>Visual Suggestion</a:t>
            </a:r>
            <a:endParaRPr lang="en-US" sz="1600" dirty="0"/>
          </a:p>
        </p:txBody>
      </p:sp>
      <p:sp>
        <p:nvSpPr>
          <p:cNvPr id="28" name="Shape 24"/>
          <p:cNvSpPr/>
          <p:nvPr/>
        </p:nvSpPr>
        <p:spPr>
          <a:xfrm>
            <a:off x="6302375" y="7473947"/>
            <a:ext cx="127000" cy="127000"/>
          </a:xfrm>
          <a:custGeom>
            <a:avLst/>
            <a:gdLst/>
            <a:ahLst/>
            <a:cxnLst/>
            <a:rect l="l" t="t" r="r" b="b"/>
            <a:pathLst>
              <a:path w="127000" h="127000">
                <a:moveTo>
                  <a:pt x="0" y="19844"/>
                </a:moveTo>
                <a:cubicBezTo>
                  <a:pt x="0" y="13271"/>
                  <a:pt x="5333" y="7938"/>
                  <a:pt x="11906" y="7938"/>
                </a:cubicBezTo>
                <a:lnTo>
                  <a:pt x="35719" y="7938"/>
                </a:lnTo>
                <a:cubicBezTo>
                  <a:pt x="42292" y="7938"/>
                  <a:pt x="47625" y="13271"/>
                  <a:pt x="47625" y="19844"/>
                </a:cubicBezTo>
                <a:lnTo>
                  <a:pt x="47625" y="23812"/>
                </a:lnTo>
                <a:lnTo>
                  <a:pt x="79375" y="23812"/>
                </a:lnTo>
                <a:lnTo>
                  <a:pt x="79375" y="19844"/>
                </a:lnTo>
                <a:cubicBezTo>
                  <a:pt x="79375" y="13271"/>
                  <a:pt x="84708" y="7938"/>
                  <a:pt x="91281" y="7938"/>
                </a:cubicBezTo>
                <a:lnTo>
                  <a:pt x="115094" y="7938"/>
                </a:lnTo>
                <a:cubicBezTo>
                  <a:pt x="121667" y="7938"/>
                  <a:pt x="127000" y="13271"/>
                  <a:pt x="127000" y="19844"/>
                </a:cubicBezTo>
                <a:lnTo>
                  <a:pt x="127000" y="43656"/>
                </a:lnTo>
                <a:cubicBezTo>
                  <a:pt x="127000" y="50229"/>
                  <a:pt x="121667" y="55563"/>
                  <a:pt x="115094" y="55563"/>
                </a:cubicBezTo>
                <a:lnTo>
                  <a:pt x="91281" y="55563"/>
                </a:lnTo>
                <a:cubicBezTo>
                  <a:pt x="84708" y="55563"/>
                  <a:pt x="79375" y="50229"/>
                  <a:pt x="79375" y="43656"/>
                </a:cubicBezTo>
                <a:lnTo>
                  <a:pt x="79375" y="39688"/>
                </a:lnTo>
                <a:lnTo>
                  <a:pt x="47625" y="39688"/>
                </a:lnTo>
                <a:lnTo>
                  <a:pt x="47625" y="43656"/>
                </a:lnTo>
                <a:cubicBezTo>
                  <a:pt x="47625" y="45467"/>
                  <a:pt x="47203" y="47203"/>
                  <a:pt x="46484" y="48741"/>
                </a:cubicBezTo>
                <a:lnTo>
                  <a:pt x="63500" y="71438"/>
                </a:lnTo>
                <a:lnTo>
                  <a:pt x="83344" y="71438"/>
                </a:lnTo>
                <a:cubicBezTo>
                  <a:pt x="89917" y="71438"/>
                  <a:pt x="95250" y="76771"/>
                  <a:pt x="95250" y="83344"/>
                </a:cubicBezTo>
                <a:lnTo>
                  <a:pt x="95250" y="107156"/>
                </a:lnTo>
                <a:cubicBezTo>
                  <a:pt x="95250" y="113729"/>
                  <a:pt x="89917" y="119063"/>
                  <a:pt x="83344" y="119063"/>
                </a:cubicBezTo>
                <a:lnTo>
                  <a:pt x="59531" y="119063"/>
                </a:lnTo>
                <a:cubicBezTo>
                  <a:pt x="52958" y="119063"/>
                  <a:pt x="47625" y="113729"/>
                  <a:pt x="47625" y="107156"/>
                </a:cubicBezTo>
                <a:lnTo>
                  <a:pt x="47625" y="83344"/>
                </a:lnTo>
                <a:cubicBezTo>
                  <a:pt x="47625" y="81533"/>
                  <a:pt x="48047" y="79797"/>
                  <a:pt x="48766" y="78259"/>
                </a:cubicBezTo>
                <a:lnTo>
                  <a:pt x="31750" y="55563"/>
                </a:lnTo>
                <a:lnTo>
                  <a:pt x="11906" y="55563"/>
                </a:lnTo>
                <a:cubicBezTo>
                  <a:pt x="5333" y="55563"/>
                  <a:pt x="0" y="50229"/>
                  <a:pt x="0" y="43656"/>
                </a:cubicBezTo>
                <a:lnTo>
                  <a:pt x="0" y="19844"/>
                </a:lnTo>
                <a:close/>
              </a:path>
            </a:pathLst>
          </a:custGeom>
          <a:solidFill>
            <a:srgbClr val="34C759"/>
          </a:solidFill>
          <a:ln/>
        </p:spPr>
      </p:sp>
      <p:sp>
        <p:nvSpPr>
          <p:cNvPr id="29" name="Text 25"/>
          <p:cNvSpPr/>
          <p:nvPr/>
        </p:nvSpPr>
        <p:spPr>
          <a:xfrm>
            <a:off x="6508750" y="7442197"/>
            <a:ext cx="2413000" cy="190500"/>
          </a:xfrm>
          <a:prstGeom prst="rect">
            <a:avLst/>
          </a:prstGeom>
          <a:noFill/>
          <a:ln/>
        </p:spPr>
        <p:txBody>
          <a:bodyPr wrap="square" lIns="0" tIns="0" rIns="0" bIns="0" rtlCol="0" anchor="ctr"/>
          <a:lstStyle/>
          <a:p>
            <a:pP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Diagram:</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Side-by-side feature comparison</a:t>
            </a:r>
            <a:endParaRPr lang="en-US" sz="1600" dirty="0"/>
          </a:p>
        </p:txBody>
      </p:sp>
      <p:sp>
        <p:nvSpPr>
          <p:cNvPr id="30" name="Shape 26"/>
          <p:cNvSpPr/>
          <p:nvPr/>
        </p:nvSpPr>
        <p:spPr>
          <a:xfrm>
            <a:off x="6310313" y="7696197"/>
            <a:ext cx="111125" cy="127000"/>
          </a:xfrm>
          <a:custGeom>
            <a:avLst/>
            <a:gdLst/>
            <a:ahLst/>
            <a:cxnLst/>
            <a:rect l="l" t="t" r="r" b="b"/>
            <a:pathLst>
              <a:path w="111125" h="127000">
                <a:moveTo>
                  <a:pt x="15875" y="7938"/>
                </a:moveTo>
                <a:cubicBezTo>
                  <a:pt x="7119" y="7938"/>
                  <a:pt x="0" y="15056"/>
                  <a:pt x="0" y="23812"/>
                </a:cubicBezTo>
                <a:lnTo>
                  <a:pt x="0" y="103188"/>
                </a:lnTo>
                <a:cubicBezTo>
                  <a:pt x="0" y="111944"/>
                  <a:pt x="7119" y="119063"/>
                  <a:pt x="15875" y="119063"/>
                </a:cubicBezTo>
                <a:lnTo>
                  <a:pt x="95250" y="119063"/>
                </a:lnTo>
                <a:cubicBezTo>
                  <a:pt x="104006" y="119063"/>
                  <a:pt x="111125" y="111944"/>
                  <a:pt x="111125" y="103188"/>
                </a:cubicBezTo>
                <a:lnTo>
                  <a:pt x="111125" y="23812"/>
                </a:lnTo>
                <a:cubicBezTo>
                  <a:pt x="111125" y="15056"/>
                  <a:pt x="104006" y="7938"/>
                  <a:pt x="95250" y="7938"/>
                </a:cubicBezTo>
                <a:lnTo>
                  <a:pt x="15875" y="7938"/>
                </a:lnTo>
                <a:close/>
                <a:moveTo>
                  <a:pt x="31750" y="27781"/>
                </a:moveTo>
                <a:cubicBezTo>
                  <a:pt x="38321" y="27781"/>
                  <a:pt x="43656" y="33116"/>
                  <a:pt x="43656" y="39688"/>
                </a:cubicBezTo>
                <a:cubicBezTo>
                  <a:pt x="43656" y="46259"/>
                  <a:pt x="38321" y="51594"/>
                  <a:pt x="31750" y="51594"/>
                </a:cubicBezTo>
                <a:cubicBezTo>
                  <a:pt x="25179" y="51594"/>
                  <a:pt x="19844" y="46259"/>
                  <a:pt x="19844" y="39688"/>
                </a:cubicBezTo>
                <a:cubicBezTo>
                  <a:pt x="19844" y="33116"/>
                  <a:pt x="25179" y="27781"/>
                  <a:pt x="31750" y="27781"/>
                </a:cubicBezTo>
                <a:close/>
                <a:moveTo>
                  <a:pt x="67469" y="55563"/>
                </a:moveTo>
                <a:cubicBezTo>
                  <a:pt x="69552" y="55563"/>
                  <a:pt x="71462" y="56654"/>
                  <a:pt x="72554" y="58415"/>
                </a:cubicBezTo>
                <a:lnTo>
                  <a:pt x="94382" y="94134"/>
                </a:lnTo>
                <a:cubicBezTo>
                  <a:pt x="95498" y="95969"/>
                  <a:pt x="95548" y="98276"/>
                  <a:pt x="94506" y="100161"/>
                </a:cubicBezTo>
                <a:cubicBezTo>
                  <a:pt x="93464" y="102046"/>
                  <a:pt x="91455" y="103188"/>
                  <a:pt x="89297" y="103188"/>
                </a:cubicBezTo>
                <a:lnTo>
                  <a:pt x="21828" y="103188"/>
                </a:lnTo>
                <a:cubicBezTo>
                  <a:pt x="19621" y="103188"/>
                  <a:pt x="17562" y="101947"/>
                  <a:pt x="16545" y="99988"/>
                </a:cubicBezTo>
                <a:cubicBezTo>
                  <a:pt x="15528" y="98028"/>
                  <a:pt x="15677" y="95647"/>
                  <a:pt x="16942" y="93836"/>
                </a:cubicBezTo>
                <a:lnTo>
                  <a:pt x="30832" y="73992"/>
                </a:lnTo>
                <a:cubicBezTo>
                  <a:pt x="31948" y="72405"/>
                  <a:pt x="33759" y="71462"/>
                  <a:pt x="35719" y="71462"/>
                </a:cubicBezTo>
                <a:cubicBezTo>
                  <a:pt x="37678" y="71462"/>
                  <a:pt x="39489" y="72405"/>
                  <a:pt x="40605" y="73992"/>
                </a:cubicBezTo>
                <a:lnTo>
                  <a:pt x="47154" y="83369"/>
                </a:lnTo>
                <a:lnTo>
                  <a:pt x="62384" y="58440"/>
                </a:lnTo>
                <a:cubicBezTo>
                  <a:pt x="63475" y="56679"/>
                  <a:pt x="65385" y="55587"/>
                  <a:pt x="67469" y="55587"/>
                </a:cubicBezTo>
                <a:close/>
              </a:path>
            </a:pathLst>
          </a:custGeom>
          <a:solidFill>
            <a:srgbClr val="0A84FF"/>
          </a:solidFill>
          <a:ln/>
        </p:spPr>
      </p:sp>
      <p:sp>
        <p:nvSpPr>
          <p:cNvPr id="31" name="Text 27"/>
          <p:cNvSpPr/>
          <p:nvPr/>
        </p:nvSpPr>
        <p:spPr>
          <a:xfrm>
            <a:off x="6508750" y="7664447"/>
            <a:ext cx="2190750" cy="190500"/>
          </a:xfrm>
          <a:prstGeom prst="rect">
            <a:avLst/>
          </a:prstGeom>
          <a:noFill/>
          <a:ln/>
        </p:spPr>
        <p:txBody>
          <a:bodyPr wrap="square" lIns="0" tIns="0" rIns="0" bIns="0" rtlCol="0" anchor="ctr"/>
          <a:lstStyle/>
          <a:p>
            <a:pPr>
              <a:lnSpc>
                <a:spcPct val="130000"/>
              </a:lnSpc>
            </a:pPr>
            <a:r>
              <a:rPr lang="en-US" sz="1000" b="1" dirty="0">
                <a:solidFill>
                  <a:srgbClr val="F5F5F7"/>
                </a:solidFill>
                <a:latin typeface="Quattrocento Sans" pitchFamily="34" charset="0"/>
                <a:ea typeface="Quattrocento Sans" pitchFamily="34" charset="-122"/>
                <a:cs typeface="Quattrocento Sans" pitchFamily="34" charset="-120"/>
              </a:rPr>
              <a:t>Image:</a:t>
            </a:r>
            <a:pPr>
              <a:lnSpc>
                <a:spcPct val="130000"/>
              </a:lnSpc>
            </a:pPr>
            <a:r>
              <a:rPr lang="en-US" sz="1000" dirty="0">
                <a:solidFill>
                  <a:srgbClr val="F5F5F7"/>
                </a:solidFill>
                <a:latin typeface="Quattrocento Sans" pitchFamily="34" charset="0"/>
                <a:ea typeface="Quattrocento Sans" pitchFamily="34" charset="-122"/>
                <a:cs typeface="Quattrocento Sans" pitchFamily="34" charset="-120"/>
              </a:rPr>
              <a:t> Both logos with popularity stats</a:t>
            </a:r>
            <a:endParaRPr lang="en-US" sz="1600" dirty="0"/>
          </a:p>
        </p:txBody>
      </p:sp>
    </p:spTree>
  </p:cSld>
  <p:clrMapOvr>
    <a:masterClrMapping/>
  </p:clrMapOvr>
  <p:transition>
    <p:fade/>
    <p:spd val="med"/>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1D21"/>
        </a:solidFill>
      </p:bgPr>
    </p:bg>
    <p:spTree>
      <p:nvGrpSpPr>
        <p:cNvPr id="1" name=""/>
        <p:cNvGrpSpPr/>
        <p:nvPr/>
      </p:nvGrpSpPr>
      <p:grpSpPr>
        <a:xfrm>
          <a:off x="0" y="0"/>
          <a:ext cx="0" cy="0"/>
          <a:chOff x="0" y="0"/>
          <a:chExt cx="0" cy="0"/>
        </a:xfrm>
      </p:grpSpPr>
      <p:pic>
        <p:nvPicPr>
          <p:cNvPr id="2" name="Image 0" descr="https://kimi-web-img.moonshot.cn/img/www.addevice.io/53cb209a2f5d6219ec32660606ada725b9ee589c.png">    </p:cNvPr>
          <p:cNvPicPr>
            <a:picLocks noChangeAspect="1"/>
          </p:cNvPicPr>
          <p:nvPr/>
        </p:nvPicPr>
        <p:blipFill>
          <a:blip r:embed="rId1">
            <a:alphaModFix amt="20000"/>
          </a:blip>
          <a:srcRect l="7" r="7" t="0" b="0"/>
          <a:stretch/>
        </p:blipFill>
        <p:spPr>
          <a:xfrm>
            <a:off x="0" y="0"/>
            <a:ext cx="12192000" cy="6859004"/>
          </a:xfrm>
          <a:prstGeom prst="roundRect">
            <a:avLst>
              <a:gd name="adj" fmla="val 0"/>
            </a:avLst>
          </a:prstGeom>
        </p:spPr>
      </p:pic>
      <p:sp>
        <p:nvSpPr>
          <p:cNvPr id="3" name="Shape 0"/>
          <p:cNvSpPr/>
          <p:nvPr/>
        </p:nvSpPr>
        <p:spPr>
          <a:xfrm>
            <a:off x="0" y="0"/>
            <a:ext cx="12192000" cy="6859004"/>
          </a:xfrm>
          <a:prstGeom prst="roundRect">
            <a:avLst>
              <a:gd name="adj" fmla="val 0"/>
            </a:avLst>
          </a:prstGeom>
          <a:gradFill rotWithShape="1" flip="none">
            <a:gsLst>
              <a:gs pos="0">
                <a:srgbClr val="1A1D21">
                  <a:alpha val="95000"/>
                </a:srgbClr>
              </a:gs>
              <a:gs pos="50000">
                <a:srgbClr val="1A1D21">
                  <a:alpha val="90000"/>
                </a:srgbClr>
              </a:gs>
              <a:gs pos="100000">
                <a:srgbClr val="34C759">
                  <a:alpha val="20000"/>
                </a:srgbClr>
              </a:gs>
            </a:gsLst>
            <a:lin ang="2700000" scaled="1"/>
          </a:gradFill>
          <a:ln/>
        </p:spPr>
      </p:sp>
      <p:sp>
        <p:nvSpPr>
          <p:cNvPr id="4" name="Shape 1"/>
          <p:cNvSpPr/>
          <p:nvPr/>
        </p:nvSpPr>
        <p:spPr>
          <a:xfrm>
            <a:off x="321265" y="321265"/>
            <a:ext cx="1895462" cy="353391"/>
          </a:xfrm>
          <a:prstGeom prst="roundRect">
            <a:avLst>
              <a:gd name="adj" fmla="val 50000"/>
            </a:avLst>
          </a:prstGeom>
          <a:solidFill>
            <a:srgbClr val="34C759"/>
          </a:solidFill>
          <a:ln/>
        </p:spPr>
      </p:sp>
      <p:sp>
        <p:nvSpPr>
          <p:cNvPr id="5" name="Text 2"/>
          <p:cNvSpPr/>
          <p:nvPr/>
        </p:nvSpPr>
        <p:spPr>
          <a:xfrm>
            <a:off x="481897" y="417644"/>
            <a:ext cx="1647085" cy="160632"/>
          </a:xfrm>
          <a:prstGeom prst="rect">
            <a:avLst/>
          </a:prstGeom>
          <a:noFill/>
          <a:ln/>
        </p:spPr>
        <p:txBody>
          <a:bodyPr wrap="square" lIns="0" tIns="0" rIns="0" bIns="0" rtlCol="0" anchor="ctr"/>
          <a:lstStyle/>
          <a:p>
            <a:pPr>
              <a:lnSpc>
                <a:spcPct val="130000"/>
              </a:lnSpc>
            </a:pPr>
            <a:r>
              <a:rPr lang="en-US" sz="1138" b="1" spc="57" kern="0" dirty="0">
                <a:solidFill>
                  <a:srgbClr val="1D1D1F"/>
                </a:solidFill>
                <a:latin typeface="Quattrocento Sans" pitchFamily="34" charset="0"/>
                <a:ea typeface="Quattrocento Sans" pitchFamily="34" charset="-122"/>
                <a:cs typeface="Quattrocento Sans" pitchFamily="34" charset="-120"/>
              </a:rPr>
              <a:t>COURSE COMPLETION</a:t>
            </a:r>
            <a:endParaRPr lang="en-US" sz="1600" dirty="0"/>
          </a:p>
        </p:txBody>
      </p:sp>
      <p:sp>
        <p:nvSpPr>
          <p:cNvPr id="6" name="Text 3"/>
          <p:cNvSpPr/>
          <p:nvPr/>
        </p:nvSpPr>
        <p:spPr>
          <a:xfrm>
            <a:off x="321265" y="803162"/>
            <a:ext cx="11742229" cy="385518"/>
          </a:xfrm>
          <a:prstGeom prst="rect">
            <a:avLst/>
          </a:prstGeom>
          <a:noFill/>
          <a:ln/>
        </p:spPr>
        <p:txBody>
          <a:bodyPr wrap="square" lIns="0" tIns="0" rIns="0" bIns="0" rtlCol="0" anchor="ctr"/>
          <a:lstStyle/>
          <a:p>
            <a:pPr>
              <a:lnSpc>
                <a:spcPct val="80000"/>
              </a:lnSpc>
            </a:pPr>
            <a:r>
              <a:rPr lang="en-US" sz="3036" b="1" dirty="0">
                <a:solidFill>
                  <a:srgbClr val="F5F5F7"/>
                </a:solidFill>
                <a:latin typeface="Liter" pitchFamily="34" charset="0"/>
                <a:ea typeface="Liter" pitchFamily="34" charset="-122"/>
                <a:cs typeface="Liter" pitchFamily="34" charset="-120"/>
              </a:rPr>
              <a:t>Summary and Next Steps</a:t>
            </a:r>
            <a:endParaRPr lang="en-US" sz="1600" dirty="0"/>
          </a:p>
        </p:txBody>
      </p:sp>
      <p:sp>
        <p:nvSpPr>
          <p:cNvPr id="7" name="Text 4"/>
          <p:cNvSpPr/>
          <p:nvPr/>
        </p:nvSpPr>
        <p:spPr>
          <a:xfrm>
            <a:off x="321265" y="1285059"/>
            <a:ext cx="11629787" cy="224885"/>
          </a:xfrm>
          <a:prstGeom prst="rect">
            <a:avLst/>
          </a:prstGeom>
          <a:noFill/>
          <a:ln/>
        </p:spPr>
        <p:txBody>
          <a:bodyPr wrap="square" lIns="0" tIns="0" rIns="0" bIns="0" rtlCol="0" anchor="ctr"/>
          <a:lstStyle/>
          <a:p>
            <a:pPr>
              <a:lnSpc>
                <a:spcPct val="120000"/>
              </a:lnSpc>
            </a:pPr>
            <a:r>
              <a:rPr lang="en-US" sz="1265" dirty="0">
                <a:solidFill>
                  <a:srgbClr val="8E8E93"/>
                </a:solidFill>
                <a:latin typeface="Quattrocento Sans" pitchFamily="34" charset="0"/>
                <a:ea typeface="Quattrocento Sans" pitchFamily="34" charset="-122"/>
                <a:cs typeface="Quattrocento Sans" pitchFamily="34" charset="-120"/>
              </a:rPr>
              <a:t>Congratulations! You've completed Week 1 Lectures 1 &amp; 2</a:t>
            </a:r>
            <a:endParaRPr lang="en-US" sz="1600" dirty="0"/>
          </a:p>
        </p:txBody>
      </p:sp>
      <p:sp>
        <p:nvSpPr>
          <p:cNvPr id="8" name="Shape 5"/>
          <p:cNvSpPr/>
          <p:nvPr/>
        </p:nvSpPr>
        <p:spPr>
          <a:xfrm>
            <a:off x="337328" y="1702704"/>
            <a:ext cx="5662292" cy="4610150"/>
          </a:xfrm>
          <a:custGeom>
            <a:avLst/>
            <a:gdLst/>
            <a:ahLst/>
            <a:cxnLst/>
            <a:rect l="l" t="t" r="r" b="b"/>
            <a:pathLst>
              <a:path w="5662292" h="4610150">
                <a:moveTo>
                  <a:pt x="32131" y="0"/>
                </a:moveTo>
                <a:lnTo>
                  <a:pt x="5533771" y="0"/>
                </a:lnTo>
                <a:cubicBezTo>
                  <a:pt x="5604753" y="0"/>
                  <a:pt x="5662295" y="57542"/>
                  <a:pt x="5662295" y="128524"/>
                </a:cubicBezTo>
                <a:lnTo>
                  <a:pt x="5662295" y="4481703"/>
                </a:lnTo>
                <a:cubicBezTo>
                  <a:pt x="5662225" y="4552635"/>
                  <a:pt x="5604703" y="4610100"/>
                  <a:pt x="5533771" y="4610100"/>
                </a:cubicBezTo>
                <a:lnTo>
                  <a:pt x="32131" y="4610100"/>
                </a:lnTo>
                <a:cubicBezTo>
                  <a:pt x="14386" y="4610100"/>
                  <a:pt x="0" y="4595714"/>
                  <a:pt x="0" y="4577969"/>
                </a:cubicBezTo>
                <a:lnTo>
                  <a:pt x="0" y="32131"/>
                </a:lnTo>
                <a:cubicBezTo>
                  <a:pt x="0" y="14397"/>
                  <a:pt x="14397" y="0"/>
                  <a:pt x="32131" y="0"/>
                </a:cubicBezTo>
                <a:close/>
              </a:path>
            </a:pathLst>
          </a:custGeom>
          <a:solidFill>
            <a:srgbClr val="2C2C2E">
              <a:alpha val="80000"/>
            </a:srgbClr>
          </a:solidFill>
          <a:ln/>
        </p:spPr>
      </p:sp>
      <p:sp>
        <p:nvSpPr>
          <p:cNvPr id="9" name="Shape 6"/>
          <p:cNvSpPr/>
          <p:nvPr/>
        </p:nvSpPr>
        <p:spPr>
          <a:xfrm>
            <a:off x="337328" y="1702704"/>
            <a:ext cx="32126" cy="4610150"/>
          </a:xfrm>
          <a:custGeom>
            <a:avLst/>
            <a:gdLst/>
            <a:ahLst/>
            <a:cxnLst/>
            <a:rect l="l" t="t" r="r" b="b"/>
            <a:pathLst>
              <a:path w="32126" h="4610150">
                <a:moveTo>
                  <a:pt x="32131" y="0"/>
                </a:moveTo>
                <a:lnTo>
                  <a:pt x="32131" y="0"/>
                </a:lnTo>
                <a:lnTo>
                  <a:pt x="32131" y="4610100"/>
                </a:lnTo>
                <a:lnTo>
                  <a:pt x="32131" y="4610100"/>
                </a:lnTo>
                <a:cubicBezTo>
                  <a:pt x="14386" y="4610100"/>
                  <a:pt x="0" y="4595714"/>
                  <a:pt x="0" y="4577969"/>
                </a:cubicBezTo>
                <a:lnTo>
                  <a:pt x="0" y="32131"/>
                </a:lnTo>
                <a:cubicBezTo>
                  <a:pt x="0" y="14397"/>
                  <a:pt x="14397" y="0"/>
                  <a:pt x="32131" y="0"/>
                </a:cubicBezTo>
                <a:close/>
              </a:path>
            </a:pathLst>
          </a:custGeom>
          <a:solidFill>
            <a:srgbClr val="34C759"/>
          </a:solidFill>
          <a:ln/>
        </p:spPr>
      </p:sp>
      <p:sp>
        <p:nvSpPr>
          <p:cNvPr id="10" name="Shape 7"/>
          <p:cNvSpPr/>
          <p:nvPr/>
        </p:nvSpPr>
        <p:spPr>
          <a:xfrm>
            <a:off x="558198" y="1927495"/>
            <a:ext cx="216854" cy="192759"/>
          </a:xfrm>
          <a:custGeom>
            <a:avLst/>
            <a:gdLst/>
            <a:ahLst/>
            <a:cxnLst/>
            <a:rect l="l" t="t" r="r" b="b"/>
            <a:pathLst>
              <a:path w="216854" h="192759">
                <a:moveTo>
                  <a:pt x="18071" y="73715"/>
                </a:moveTo>
                <a:lnTo>
                  <a:pt x="96831" y="106130"/>
                </a:lnTo>
                <a:cubicBezTo>
                  <a:pt x="100521" y="107636"/>
                  <a:pt x="104436" y="108427"/>
                  <a:pt x="108427" y="108427"/>
                </a:cubicBezTo>
                <a:cubicBezTo>
                  <a:pt x="112418" y="108427"/>
                  <a:pt x="116333" y="107636"/>
                  <a:pt x="120023" y="106130"/>
                </a:cubicBezTo>
                <a:lnTo>
                  <a:pt x="211282" y="68557"/>
                </a:lnTo>
                <a:cubicBezTo>
                  <a:pt x="214670" y="67164"/>
                  <a:pt x="216854" y="63889"/>
                  <a:pt x="216854" y="60237"/>
                </a:cubicBezTo>
                <a:cubicBezTo>
                  <a:pt x="216854" y="56585"/>
                  <a:pt x="214670" y="53310"/>
                  <a:pt x="211282" y="51917"/>
                </a:cubicBezTo>
                <a:lnTo>
                  <a:pt x="120023" y="14344"/>
                </a:lnTo>
                <a:cubicBezTo>
                  <a:pt x="116333" y="12838"/>
                  <a:pt x="112418" y="12047"/>
                  <a:pt x="108427" y="12047"/>
                </a:cubicBezTo>
                <a:cubicBezTo>
                  <a:pt x="104436" y="12047"/>
                  <a:pt x="100521" y="12838"/>
                  <a:pt x="96831" y="14344"/>
                </a:cubicBezTo>
                <a:lnTo>
                  <a:pt x="5572" y="51917"/>
                </a:lnTo>
                <a:cubicBezTo>
                  <a:pt x="2184" y="53310"/>
                  <a:pt x="0" y="56585"/>
                  <a:pt x="0" y="60237"/>
                </a:cubicBezTo>
                <a:lnTo>
                  <a:pt x="0" y="171676"/>
                </a:lnTo>
                <a:cubicBezTo>
                  <a:pt x="0" y="176683"/>
                  <a:pt x="4028" y="180711"/>
                  <a:pt x="9036" y="180711"/>
                </a:cubicBezTo>
                <a:cubicBezTo>
                  <a:pt x="14043" y="180711"/>
                  <a:pt x="18071" y="176683"/>
                  <a:pt x="18071" y="171676"/>
                </a:cubicBezTo>
                <a:lnTo>
                  <a:pt x="18071" y="73715"/>
                </a:lnTo>
                <a:close/>
                <a:moveTo>
                  <a:pt x="36142" y="100709"/>
                </a:moveTo>
                <a:lnTo>
                  <a:pt x="36142" y="144569"/>
                </a:lnTo>
                <a:cubicBezTo>
                  <a:pt x="36142" y="164523"/>
                  <a:pt x="68520" y="180711"/>
                  <a:pt x="108427" y="180711"/>
                </a:cubicBezTo>
                <a:cubicBezTo>
                  <a:pt x="148334" y="180711"/>
                  <a:pt x="180711" y="164523"/>
                  <a:pt x="180711" y="144569"/>
                </a:cubicBezTo>
                <a:lnTo>
                  <a:pt x="180711" y="100671"/>
                </a:lnTo>
                <a:lnTo>
                  <a:pt x="126912" y="122846"/>
                </a:lnTo>
                <a:cubicBezTo>
                  <a:pt x="121039" y="125256"/>
                  <a:pt x="114789" y="126498"/>
                  <a:pt x="108427" y="126498"/>
                </a:cubicBezTo>
                <a:cubicBezTo>
                  <a:pt x="102064" y="126498"/>
                  <a:pt x="95815" y="125256"/>
                  <a:pt x="89942" y="122846"/>
                </a:cubicBezTo>
                <a:lnTo>
                  <a:pt x="36142" y="100671"/>
                </a:lnTo>
                <a:close/>
              </a:path>
            </a:pathLst>
          </a:custGeom>
          <a:solidFill>
            <a:srgbClr val="34C759"/>
          </a:solidFill>
          <a:ln/>
        </p:spPr>
      </p:sp>
      <p:sp>
        <p:nvSpPr>
          <p:cNvPr id="11" name="Text 8"/>
          <p:cNvSpPr/>
          <p:nvPr/>
        </p:nvSpPr>
        <p:spPr>
          <a:xfrm>
            <a:off x="787099" y="1895462"/>
            <a:ext cx="5116142" cy="257012"/>
          </a:xfrm>
          <a:prstGeom prst="rect">
            <a:avLst/>
          </a:prstGeom>
          <a:noFill/>
          <a:ln/>
        </p:spPr>
        <p:txBody>
          <a:bodyPr wrap="square" lIns="0" tIns="0" rIns="0" bIns="0" rtlCol="0" anchor="ctr"/>
          <a:lstStyle/>
          <a:p>
            <a:pPr>
              <a:lnSpc>
                <a:spcPct val="110000"/>
              </a:lnSpc>
            </a:pPr>
            <a:r>
              <a:rPr lang="en-US" sz="1518" b="1" dirty="0">
                <a:solidFill>
                  <a:srgbClr val="34C759"/>
                </a:solidFill>
                <a:latin typeface="Liter" pitchFamily="34" charset="0"/>
                <a:ea typeface="Liter" pitchFamily="34" charset="-122"/>
                <a:cs typeface="Liter" pitchFamily="34" charset="-120"/>
              </a:rPr>
              <a:t>What You've Learned</a:t>
            </a:r>
            <a:endParaRPr lang="en-US" sz="1600" dirty="0"/>
          </a:p>
        </p:txBody>
      </p:sp>
      <p:sp>
        <p:nvSpPr>
          <p:cNvPr id="12" name="Shape 9"/>
          <p:cNvSpPr/>
          <p:nvPr/>
        </p:nvSpPr>
        <p:spPr>
          <a:xfrm>
            <a:off x="546150" y="2329076"/>
            <a:ext cx="257012" cy="257012"/>
          </a:xfrm>
          <a:prstGeom prst="roundRect">
            <a:avLst>
              <a:gd name="adj" fmla="val 50000"/>
            </a:avLst>
          </a:prstGeom>
          <a:solidFill>
            <a:srgbClr val="34C759"/>
          </a:solidFill>
          <a:ln/>
        </p:spPr>
      </p:sp>
      <p:sp>
        <p:nvSpPr>
          <p:cNvPr id="13" name="Shape 10"/>
          <p:cNvSpPr/>
          <p:nvPr/>
        </p:nvSpPr>
        <p:spPr>
          <a:xfrm>
            <a:off x="627470" y="2401360"/>
            <a:ext cx="98387" cy="112443"/>
          </a:xfrm>
          <a:custGeom>
            <a:avLst/>
            <a:gdLst/>
            <a:ahLst/>
            <a:cxnLst/>
            <a:rect l="l" t="t" r="r" b="b"/>
            <a:pathLst>
              <a:path w="98387" h="112443">
                <a:moveTo>
                  <a:pt x="95488" y="15395"/>
                </a:moveTo>
                <a:cubicBezTo>
                  <a:pt x="98629" y="17679"/>
                  <a:pt x="99332" y="22071"/>
                  <a:pt x="97048" y="25212"/>
                </a:cubicBezTo>
                <a:lnTo>
                  <a:pt x="40826" y="102516"/>
                </a:lnTo>
                <a:cubicBezTo>
                  <a:pt x="39618" y="104185"/>
                  <a:pt x="37752" y="105217"/>
                  <a:pt x="35687" y="105393"/>
                </a:cubicBezTo>
                <a:cubicBezTo>
                  <a:pt x="33623" y="105569"/>
                  <a:pt x="31625" y="104800"/>
                  <a:pt x="30175" y="103351"/>
                </a:cubicBezTo>
                <a:lnTo>
                  <a:pt x="2064" y="75240"/>
                </a:lnTo>
                <a:cubicBezTo>
                  <a:pt x="-681" y="72495"/>
                  <a:pt x="-681" y="68037"/>
                  <a:pt x="2064" y="65291"/>
                </a:cubicBezTo>
                <a:cubicBezTo>
                  <a:pt x="4810" y="62546"/>
                  <a:pt x="9268" y="62546"/>
                  <a:pt x="12013" y="65291"/>
                </a:cubicBezTo>
                <a:lnTo>
                  <a:pt x="34304" y="87582"/>
                </a:lnTo>
                <a:lnTo>
                  <a:pt x="85694" y="16932"/>
                </a:lnTo>
                <a:cubicBezTo>
                  <a:pt x="87978" y="13792"/>
                  <a:pt x="92370" y="13089"/>
                  <a:pt x="95510" y="15373"/>
                </a:cubicBezTo>
                <a:close/>
              </a:path>
            </a:pathLst>
          </a:custGeom>
          <a:solidFill>
            <a:srgbClr val="1D1D1F"/>
          </a:solidFill>
          <a:ln/>
        </p:spPr>
      </p:sp>
      <p:sp>
        <p:nvSpPr>
          <p:cNvPr id="14" name="Text 11"/>
          <p:cNvSpPr/>
          <p:nvPr/>
        </p:nvSpPr>
        <p:spPr>
          <a:xfrm>
            <a:off x="899542" y="2313013"/>
            <a:ext cx="3541945" cy="192759"/>
          </a:xfrm>
          <a:prstGeom prst="rect">
            <a:avLst/>
          </a:prstGeom>
          <a:noFill/>
          <a:ln/>
        </p:spPr>
        <p:txBody>
          <a:bodyPr wrap="square" lIns="0" tIns="0" rIns="0" bIns="0" rtlCol="0" anchor="ctr"/>
          <a:lstStyle/>
          <a:p>
            <a:pPr>
              <a:lnSpc>
                <a:spcPct val="120000"/>
              </a:lnSpc>
            </a:pPr>
            <a:r>
              <a:rPr lang="en-US" sz="1012" b="1" dirty="0">
                <a:solidFill>
                  <a:srgbClr val="34C759"/>
                </a:solidFill>
                <a:latin typeface="Quattrocento Sans" pitchFamily="34" charset="0"/>
                <a:ea typeface="Quattrocento Sans" pitchFamily="34" charset="-122"/>
                <a:cs typeface="Quattrocento Sans" pitchFamily="34" charset="-120"/>
              </a:rPr>
              <a:t>Mobile App Basics</a:t>
            </a:r>
            <a:pPr>
              <a:lnSpc>
                <a:spcPct val="120000"/>
              </a:lnSpc>
            </a:pPr>
            <a:r>
              <a:rPr lang="en-US" sz="1012" dirty="0">
                <a:solidFill>
                  <a:srgbClr val="F5F5F7"/>
                </a:solidFill>
                <a:latin typeface="Quattrocento Sans" pitchFamily="34" charset="0"/>
                <a:ea typeface="Quattrocento Sans" pitchFamily="34" charset="-122"/>
                <a:cs typeface="Quattrocento Sans" pitchFamily="34" charset="-120"/>
              </a:rPr>
              <a:t> – What apps are, types, and how they work</a:t>
            </a:r>
            <a:endParaRPr lang="en-US" sz="1600" dirty="0"/>
          </a:p>
        </p:txBody>
      </p:sp>
      <p:sp>
        <p:nvSpPr>
          <p:cNvPr id="15" name="Shape 12"/>
          <p:cNvSpPr/>
          <p:nvPr/>
        </p:nvSpPr>
        <p:spPr>
          <a:xfrm>
            <a:off x="546150" y="2698530"/>
            <a:ext cx="257012" cy="257012"/>
          </a:xfrm>
          <a:prstGeom prst="roundRect">
            <a:avLst>
              <a:gd name="adj" fmla="val 50000"/>
            </a:avLst>
          </a:prstGeom>
          <a:solidFill>
            <a:srgbClr val="34C759"/>
          </a:solidFill>
          <a:ln/>
        </p:spPr>
      </p:sp>
      <p:sp>
        <p:nvSpPr>
          <p:cNvPr id="16" name="Shape 13"/>
          <p:cNvSpPr/>
          <p:nvPr/>
        </p:nvSpPr>
        <p:spPr>
          <a:xfrm>
            <a:off x="627470" y="2770815"/>
            <a:ext cx="98387" cy="112443"/>
          </a:xfrm>
          <a:custGeom>
            <a:avLst/>
            <a:gdLst/>
            <a:ahLst/>
            <a:cxnLst/>
            <a:rect l="l" t="t" r="r" b="b"/>
            <a:pathLst>
              <a:path w="98387" h="112443">
                <a:moveTo>
                  <a:pt x="95488" y="15395"/>
                </a:moveTo>
                <a:cubicBezTo>
                  <a:pt x="98629" y="17679"/>
                  <a:pt x="99332" y="22071"/>
                  <a:pt x="97048" y="25212"/>
                </a:cubicBezTo>
                <a:lnTo>
                  <a:pt x="40826" y="102516"/>
                </a:lnTo>
                <a:cubicBezTo>
                  <a:pt x="39618" y="104185"/>
                  <a:pt x="37752" y="105217"/>
                  <a:pt x="35687" y="105393"/>
                </a:cubicBezTo>
                <a:cubicBezTo>
                  <a:pt x="33623" y="105569"/>
                  <a:pt x="31625" y="104800"/>
                  <a:pt x="30175" y="103351"/>
                </a:cubicBezTo>
                <a:lnTo>
                  <a:pt x="2064" y="75240"/>
                </a:lnTo>
                <a:cubicBezTo>
                  <a:pt x="-681" y="72495"/>
                  <a:pt x="-681" y="68037"/>
                  <a:pt x="2064" y="65291"/>
                </a:cubicBezTo>
                <a:cubicBezTo>
                  <a:pt x="4810" y="62546"/>
                  <a:pt x="9268" y="62546"/>
                  <a:pt x="12013" y="65291"/>
                </a:cubicBezTo>
                <a:lnTo>
                  <a:pt x="34304" y="87582"/>
                </a:lnTo>
                <a:lnTo>
                  <a:pt x="85694" y="16932"/>
                </a:lnTo>
                <a:cubicBezTo>
                  <a:pt x="87978" y="13792"/>
                  <a:pt x="92370" y="13089"/>
                  <a:pt x="95510" y="15373"/>
                </a:cubicBezTo>
                <a:close/>
              </a:path>
            </a:pathLst>
          </a:custGeom>
          <a:solidFill>
            <a:srgbClr val="1D1D1F"/>
          </a:solidFill>
          <a:ln/>
        </p:spPr>
      </p:sp>
      <p:sp>
        <p:nvSpPr>
          <p:cNvPr id="17" name="Text 14"/>
          <p:cNvSpPr/>
          <p:nvPr/>
        </p:nvSpPr>
        <p:spPr>
          <a:xfrm>
            <a:off x="899542" y="2682467"/>
            <a:ext cx="3068079" cy="192759"/>
          </a:xfrm>
          <a:prstGeom prst="rect">
            <a:avLst/>
          </a:prstGeom>
          <a:noFill/>
          <a:ln/>
        </p:spPr>
        <p:txBody>
          <a:bodyPr wrap="square" lIns="0" tIns="0" rIns="0" bIns="0" rtlCol="0" anchor="ctr"/>
          <a:lstStyle/>
          <a:p>
            <a:pPr>
              <a:lnSpc>
                <a:spcPct val="120000"/>
              </a:lnSpc>
            </a:pPr>
            <a:r>
              <a:rPr lang="en-US" sz="1012" b="1" dirty="0">
                <a:solidFill>
                  <a:srgbClr val="34C759"/>
                </a:solidFill>
                <a:latin typeface="Quattrocento Sans" pitchFamily="34" charset="0"/>
                <a:ea typeface="Quattrocento Sans" pitchFamily="34" charset="-122"/>
                <a:cs typeface="Quattrocento Sans" pitchFamily="34" charset="-120"/>
              </a:rPr>
              <a:t>Course Overview</a:t>
            </a:r>
            <a:pPr>
              <a:lnSpc>
                <a:spcPct val="120000"/>
              </a:lnSpc>
            </a:pPr>
            <a:r>
              <a:rPr lang="en-US" sz="1012" dirty="0">
                <a:solidFill>
                  <a:srgbClr val="F5F5F7"/>
                </a:solidFill>
                <a:latin typeface="Quattrocento Sans" pitchFamily="34" charset="0"/>
                <a:ea typeface="Quattrocento Sans" pitchFamily="34" charset="-122"/>
                <a:cs typeface="Quattrocento Sans" pitchFamily="34" charset="-120"/>
              </a:rPr>
              <a:t> – Skills, objectives, and career paths</a:t>
            </a:r>
            <a:endParaRPr lang="en-US" sz="1600" dirty="0"/>
          </a:p>
        </p:txBody>
      </p:sp>
      <p:sp>
        <p:nvSpPr>
          <p:cNvPr id="18" name="Shape 15"/>
          <p:cNvSpPr/>
          <p:nvPr/>
        </p:nvSpPr>
        <p:spPr>
          <a:xfrm>
            <a:off x="546150" y="3067985"/>
            <a:ext cx="257012" cy="257012"/>
          </a:xfrm>
          <a:prstGeom prst="roundRect">
            <a:avLst>
              <a:gd name="adj" fmla="val 50000"/>
            </a:avLst>
          </a:prstGeom>
          <a:solidFill>
            <a:srgbClr val="34C759"/>
          </a:solidFill>
          <a:ln/>
        </p:spPr>
      </p:sp>
      <p:sp>
        <p:nvSpPr>
          <p:cNvPr id="19" name="Shape 16"/>
          <p:cNvSpPr/>
          <p:nvPr/>
        </p:nvSpPr>
        <p:spPr>
          <a:xfrm>
            <a:off x="627470" y="3140270"/>
            <a:ext cx="98387" cy="112443"/>
          </a:xfrm>
          <a:custGeom>
            <a:avLst/>
            <a:gdLst/>
            <a:ahLst/>
            <a:cxnLst/>
            <a:rect l="l" t="t" r="r" b="b"/>
            <a:pathLst>
              <a:path w="98387" h="112443">
                <a:moveTo>
                  <a:pt x="95488" y="15395"/>
                </a:moveTo>
                <a:cubicBezTo>
                  <a:pt x="98629" y="17679"/>
                  <a:pt x="99332" y="22071"/>
                  <a:pt x="97048" y="25212"/>
                </a:cubicBezTo>
                <a:lnTo>
                  <a:pt x="40826" y="102516"/>
                </a:lnTo>
                <a:cubicBezTo>
                  <a:pt x="39618" y="104185"/>
                  <a:pt x="37752" y="105217"/>
                  <a:pt x="35687" y="105393"/>
                </a:cubicBezTo>
                <a:cubicBezTo>
                  <a:pt x="33623" y="105569"/>
                  <a:pt x="31625" y="104800"/>
                  <a:pt x="30175" y="103351"/>
                </a:cubicBezTo>
                <a:lnTo>
                  <a:pt x="2064" y="75240"/>
                </a:lnTo>
                <a:cubicBezTo>
                  <a:pt x="-681" y="72495"/>
                  <a:pt x="-681" y="68037"/>
                  <a:pt x="2064" y="65291"/>
                </a:cubicBezTo>
                <a:cubicBezTo>
                  <a:pt x="4810" y="62546"/>
                  <a:pt x="9268" y="62546"/>
                  <a:pt x="12013" y="65291"/>
                </a:cubicBezTo>
                <a:lnTo>
                  <a:pt x="34304" y="87582"/>
                </a:lnTo>
                <a:lnTo>
                  <a:pt x="85694" y="16932"/>
                </a:lnTo>
                <a:cubicBezTo>
                  <a:pt x="87978" y="13792"/>
                  <a:pt x="92370" y="13089"/>
                  <a:pt x="95510" y="15373"/>
                </a:cubicBezTo>
                <a:close/>
              </a:path>
            </a:pathLst>
          </a:custGeom>
          <a:solidFill>
            <a:srgbClr val="1D1D1F"/>
          </a:solidFill>
          <a:ln/>
        </p:spPr>
      </p:sp>
      <p:sp>
        <p:nvSpPr>
          <p:cNvPr id="20" name="Text 17"/>
          <p:cNvSpPr/>
          <p:nvPr/>
        </p:nvSpPr>
        <p:spPr>
          <a:xfrm>
            <a:off x="899542" y="3051922"/>
            <a:ext cx="3606198" cy="192759"/>
          </a:xfrm>
          <a:prstGeom prst="rect">
            <a:avLst/>
          </a:prstGeom>
          <a:noFill/>
          <a:ln/>
        </p:spPr>
        <p:txBody>
          <a:bodyPr wrap="square" lIns="0" tIns="0" rIns="0" bIns="0" rtlCol="0" anchor="ctr"/>
          <a:lstStyle/>
          <a:p>
            <a:pPr>
              <a:lnSpc>
                <a:spcPct val="120000"/>
              </a:lnSpc>
            </a:pPr>
            <a:r>
              <a:rPr lang="en-US" sz="1012" b="1" dirty="0">
                <a:solidFill>
                  <a:srgbClr val="34C759"/>
                </a:solidFill>
                <a:latin typeface="Quattrocento Sans" pitchFamily="34" charset="0"/>
                <a:ea typeface="Quattrocento Sans" pitchFamily="34" charset="-122"/>
                <a:cs typeface="Quattrocento Sans" pitchFamily="34" charset="-120"/>
              </a:rPr>
              <a:t>Importance</a:t>
            </a:r>
            <a:pPr>
              <a:lnSpc>
                <a:spcPct val="120000"/>
              </a:lnSpc>
            </a:pPr>
            <a:r>
              <a:rPr lang="en-US" sz="1012" dirty="0">
                <a:solidFill>
                  <a:srgbClr val="F5F5F7"/>
                </a:solidFill>
                <a:latin typeface="Quattrocento Sans" pitchFamily="34" charset="0"/>
                <a:ea typeface="Quattrocento Sans" pitchFamily="34" charset="-122"/>
                <a:cs typeface="Quattrocento Sans" pitchFamily="34" charset="-120"/>
              </a:rPr>
              <a:t> – Why mobile apps matter in daily life and business</a:t>
            </a:r>
            <a:endParaRPr lang="en-US" sz="1600" dirty="0"/>
          </a:p>
        </p:txBody>
      </p:sp>
      <p:sp>
        <p:nvSpPr>
          <p:cNvPr id="21" name="Shape 18"/>
          <p:cNvSpPr/>
          <p:nvPr/>
        </p:nvSpPr>
        <p:spPr>
          <a:xfrm>
            <a:off x="546150" y="3437439"/>
            <a:ext cx="257012" cy="257012"/>
          </a:xfrm>
          <a:prstGeom prst="roundRect">
            <a:avLst>
              <a:gd name="adj" fmla="val 50000"/>
            </a:avLst>
          </a:prstGeom>
          <a:solidFill>
            <a:srgbClr val="34C759"/>
          </a:solidFill>
          <a:ln/>
        </p:spPr>
      </p:sp>
      <p:sp>
        <p:nvSpPr>
          <p:cNvPr id="22" name="Shape 19"/>
          <p:cNvSpPr/>
          <p:nvPr/>
        </p:nvSpPr>
        <p:spPr>
          <a:xfrm>
            <a:off x="627470" y="3509724"/>
            <a:ext cx="98387" cy="112443"/>
          </a:xfrm>
          <a:custGeom>
            <a:avLst/>
            <a:gdLst/>
            <a:ahLst/>
            <a:cxnLst/>
            <a:rect l="l" t="t" r="r" b="b"/>
            <a:pathLst>
              <a:path w="98387" h="112443">
                <a:moveTo>
                  <a:pt x="95488" y="15395"/>
                </a:moveTo>
                <a:cubicBezTo>
                  <a:pt x="98629" y="17679"/>
                  <a:pt x="99332" y="22071"/>
                  <a:pt x="97048" y="25212"/>
                </a:cubicBezTo>
                <a:lnTo>
                  <a:pt x="40826" y="102516"/>
                </a:lnTo>
                <a:cubicBezTo>
                  <a:pt x="39618" y="104185"/>
                  <a:pt x="37752" y="105217"/>
                  <a:pt x="35687" y="105393"/>
                </a:cubicBezTo>
                <a:cubicBezTo>
                  <a:pt x="33623" y="105569"/>
                  <a:pt x="31625" y="104800"/>
                  <a:pt x="30175" y="103351"/>
                </a:cubicBezTo>
                <a:lnTo>
                  <a:pt x="2064" y="75240"/>
                </a:lnTo>
                <a:cubicBezTo>
                  <a:pt x="-681" y="72495"/>
                  <a:pt x="-681" y="68037"/>
                  <a:pt x="2064" y="65291"/>
                </a:cubicBezTo>
                <a:cubicBezTo>
                  <a:pt x="4810" y="62546"/>
                  <a:pt x="9268" y="62546"/>
                  <a:pt x="12013" y="65291"/>
                </a:cubicBezTo>
                <a:lnTo>
                  <a:pt x="34304" y="87582"/>
                </a:lnTo>
                <a:lnTo>
                  <a:pt x="85694" y="16932"/>
                </a:lnTo>
                <a:cubicBezTo>
                  <a:pt x="87978" y="13792"/>
                  <a:pt x="92370" y="13089"/>
                  <a:pt x="95510" y="15373"/>
                </a:cubicBezTo>
                <a:close/>
              </a:path>
            </a:pathLst>
          </a:custGeom>
          <a:solidFill>
            <a:srgbClr val="1D1D1F"/>
          </a:solidFill>
          <a:ln/>
        </p:spPr>
      </p:sp>
      <p:sp>
        <p:nvSpPr>
          <p:cNvPr id="23" name="Text 20"/>
          <p:cNvSpPr/>
          <p:nvPr/>
        </p:nvSpPr>
        <p:spPr>
          <a:xfrm>
            <a:off x="899542" y="3421376"/>
            <a:ext cx="3758798" cy="192759"/>
          </a:xfrm>
          <a:prstGeom prst="rect">
            <a:avLst/>
          </a:prstGeom>
          <a:noFill/>
          <a:ln/>
        </p:spPr>
        <p:txBody>
          <a:bodyPr wrap="square" lIns="0" tIns="0" rIns="0" bIns="0" rtlCol="0" anchor="ctr"/>
          <a:lstStyle/>
          <a:p>
            <a:pPr>
              <a:lnSpc>
                <a:spcPct val="120000"/>
              </a:lnSpc>
            </a:pPr>
            <a:r>
              <a:rPr lang="en-US" sz="1012" b="1" dirty="0">
                <a:solidFill>
                  <a:srgbClr val="34C759"/>
                </a:solidFill>
                <a:latin typeface="Quattrocento Sans" pitchFamily="34" charset="0"/>
                <a:ea typeface="Quattrocento Sans" pitchFamily="34" charset="-122"/>
                <a:cs typeface="Quattrocento Sans" pitchFamily="34" charset="-120"/>
              </a:rPr>
              <a:t>Mobile Platforms</a:t>
            </a:r>
            <a:pPr>
              <a:lnSpc>
                <a:spcPct val="120000"/>
              </a:lnSpc>
            </a:pPr>
            <a:r>
              <a:rPr lang="en-US" sz="1012" dirty="0">
                <a:solidFill>
                  <a:srgbClr val="F5F5F7"/>
                </a:solidFill>
                <a:latin typeface="Quattrocento Sans" pitchFamily="34" charset="0"/>
                <a:ea typeface="Quattrocento Sans" pitchFamily="34" charset="-122"/>
                <a:cs typeface="Quattrocento Sans" pitchFamily="34" charset="-120"/>
              </a:rPr>
              <a:t> – Android, iOS, and Cross-Platform development</a:t>
            </a:r>
            <a:endParaRPr lang="en-US" sz="1600" dirty="0"/>
          </a:p>
        </p:txBody>
      </p:sp>
      <p:sp>
        <p:nvSpPr>
          <p:cNvPr id="24" name="Shape 21"/>
          <p:cNvSpPr/>
          <p:nvPr/>
        </p:nvSpPr>
        <p:spPr>
          <a:xfrm>
            <a:off x="546150" y="3806894"/>
            <a:ext cx="257012" cy="257012"/>
          </a:xfrm>
          <a:prstGeom prst="roundRect">
            <a:avLst>
              <a:gd name="adj" fmla="val 50000"/>
            </a:avLst>
          </a:prstGeom>
          <a:solidFill>
            <a:srgbClr val="34C759"/>
          </a:solidFill>
          <a:ln/>
        </p:spPr>
      </p:sp>
      <p:sp>
        <p:nvSpPr>
          <p:cNvPr id="25" name="Shape 22"/>
          <p:cNvSpPr/>
          <p:nvPr/>
        </p:nvSpPr>
        <p:spPr>
          <a:xfrm>
            <a:off x="627470" y="3879179"/>
            <a:ext cx="98387" cy="112443"/>
          </a:xfrm>
          <a:custGeom>
            <a:avLst/>
            <a:gdLst/>
            <a:ahLst/>
            <a:cxnLst/>
            <a:rect l="l" t="t" r="r" b="b"/>
            <a:pathLst>
              <a:path w="98387" h="112443">
                <a:moveTo>
                  <a:pt x="95488" y="15395"/>
                </a:moveTo>
                <a:cubicBezTo>
                  <a:pt x="98629" y="17679"/>
                  <a:pt x="99332" y="22071"/>
                  <a:pt x="97048" y="25212"/>
                </a:cubicBezTo>
                <a:lnTo>
                  <a:pt x="40826" y="102516"/>
                </a:lnTo>
                <a:cubicBezTo>
                  <a:pt x="39618" y="104185"/>
                  <a:pt x="37752" y="105217"/>
                  <a:pt x="35687" y="105393"/>
                </a:cubicBezTo>
                <a:cubicBezTo>
                  <a:pt x="33623" y="105569"/>
                  <a:pt x="31625" y="104800"/>
                  <a:pt x="30175" y="103351"/>
                </a:cubicBezTo>
                <a:lnTo>
                  <a:pt x="2064" y="75240"/>
                </a:lnTo>
                <a:cubicBezTo>
                  <a:pt x="-681" y="72495"/>
                  <a:pt x="-681" y="68037"/>
                  <a:pt x="2064" y="65291"/>
                </a:cubicBezTo>
                <a:cubicBezTo>
                  <a:pt x="4810" y="62546"/>
                  <a:pt x="9268" y="62546"/>
                  <a:pt x="12013" y="65291"/>
                </a:cubicBezTo>
                <a:lnTo>
                  <a:pt x="34304" y="87582"/>
                </a:lnTo>
                <a:lnTo>
                  <a:pt x="85694" y="16932"/>
                </a:lnTo>
                <a:cubicBezTo>
                  <a:pt x="87978" y="13792"/>
                  <a:pt x="92370" y="13089"/>
                  <a:pt x="95510" y="15373"/>
                </a:cubicBezTo>
                <a:close/>
              </a:path>
            </a:pathLst>
          </a:custGeom>
          <a:solidFill>
            <a:srgbClr val="1D1D1F"/>
          </a:solidFill>
          <a:ln/>
        </p:spPr>
      </p:sp>
      <p:sp>
        <p:nvSpPr>
          <p:cNvPr id="26" name="Text 23"/>
          <p:cNvSpPr/>
          <p:nvPr/>
        </p:nvSpPr>
        <p:spPr>
          <a:xfrm>
            <a:off x="899542" y="3790831"/>
            <a:ext cx="3662419" cy="192759"/>
          </a:xfrm>
          <a:prstGeom prst="rect">
            <a:avLst/>
          </a:prstGeom>
          <a:noFill/>
          <a:ln/>
        </p:spPr>
        <p:txBody>
          <a:bodyPr wrap="square" lIns="0" tIns="0" rIns="0" bIns="0" rtlCol="0" anchor="ctr"/>
          <a:lstStyle/>
          <a:p>
            <a:pPr>
              <a:lnSpc>
                <a:spcPct val="120000"/>
              </a:lnSpc>
            </a:pPr>
            <a:r>
              <a:rPr lang="en-US" sz="1012" b="1" dirty="0">
                <a:solidFill>
                  <a:srgbClr val="34C759"/>
                </a:solidFill>
                <a:latin typeface="Quattrocento Sans" pitchFamily="34" charset="0"/>
                <a:ea typeface="Quattrocento Sans" pitchFamily="34" charset="-122"/>
                <a:cs typeface="Quattrocento Sans" pitchFamily="34" charset="-120"/>
              </a:rPr>
              <a:t>Development Tools</a:t>
            </a:r>
            <a:pPr>
              <a:lnSpc>
                <a:spcPct val="120000"/>
              </a:lnSpc>
            </a:pPr>
            <a:r>
              <a:rPr lang="en-US" sz="1012" dirty="0">
                <a:solidFill>
                  <a:srgbClr val="F5F5F7"/>
                </a:solidFill>
                <a:latin typeface="Quattrocento Sans" pitchFamily="34" charset="0"/>
                <a:ea typeface="Quattrocento Sans" pitchFamily="34" charset="-122"/>
                <a:cs typeface="Quattrocento Sans" pitchFamily="34" charset="-120"/>
              </a:rPr>
              <a:t> – Android Studio, Xcode, and VS Code setup</a:t>
            </a:r>
            <a:endParaRPr lang="en-US" sz="1600" dirty="0"/>
          </a:p>
        </p:txBody>
      </p:sp>
      <p:sp>
        <p:nvSpPr>
          <p:cNvPr id="27" name="Shape 24"/>
          <p:cNvSpPr/>
          <p:nvPr/>
        </p:nvSpPr>
        <p:spPr>
          <a:xfrm>
            <a:off x="546150" y="4176349"/>
            <a:ext cx="257012" cy="257012"/>
          </a:xfrm>
          <a:prstGeom prst="roundRect">
            <a:avLst>
              <a:gd name="adj" fmla="val 50000"/>
            </a:avLst>
          </a:prstGeom>
          <a:solidFill>
            <a:srgbClr val="34C759"/>
          </a:solidFill>
          <a:ln/>
        </p:spPr>
      </p:sp>
      <p:sp>
        <p:nvSpPr>
          <p:cNvPr id="28" name="Shape 25"/>
          <p:cNvSpPr/>
          <p:nvPr/>
        </p:nvSpPr>
        <p:spPr>
          <a:xfrm>
            <a:off x="627470" y="4248633"/>
            <a:ext cx="98387" cy="112443"/>
          </a:xfrm>
          <a:custGeom>
            <a:avLst/>
            <a:gdLst/>
            <a:ahLst/>
            <a:cxnLst/>
            <a:rect l="l" t="t" r="r" b="b"/>
            <a:pathLst>
              <a:path w="98387" h="112443">
                <a:moveTo>
                  <a:pt x="95488" y="15395"/>
                </a:moveTo>
                <a:cubicBezTo>
                  <a:pt x="98629" y="17679"/>
                  <a:pt x="99332" y="22071"/>
                  <a:pt x="97048" y="25212"/>
                </a:cubicBezTo>
                <a:lnTo>
                  <a:pt x="40826" y="102516"/>
                </a:lnTo>
                <a:cubicBezTo>
                  <a:pt x="39618" y="104185"/>
                  <a:pt x="37752" y="105217"/>
                  <a:pt x="35687" y="105393"/>
                </a:cubicBezTo>
                <a:cubicBezTo>
                  <a:pt x="33623" y="105569"/>
                  <a:pt x="31625" y="104800"/>
                  <a:pt x="30175" y="103351"/>
                </a:cubicBezTo>
                <a:lnTo>
                  <a:pt x="2064" y="75240"/>
                </a:lnTo>
                <a:cubicBezTo>
                  <a:pt x="-681" y="72495"/>
                  <a:pt x="-681" y="68037"/>
                  <a:pt x="2064" y="65291"/>
                </a:cubicBezTo>
                <a:cubicBezTo>
                  <a:pt x="4810" y="62546"/>
                  <a:pt x="9268" y="62546"/>
                  <a:pt x="12013" y="65291"/>
                </a:cubicBezTo>
                <a:lnTo>
                  <a:pt x="34304" y="87582"/>
                </a:lnTo>
                <a:lnTo>
                  <a:pt x="85694" y="16932"/>
                </a:lnTo>
                <a:cubicBezTo>
                  <a:pt x="87978" y="13792"/>
                  <a:pt x="92370" y="13089"/>
                  <a:pt x="95510" y="15373"/>
                </a:cubicBezTo>
                <a:close/>
              </a:path>
            </a:pathLst>
          </a:custGeom>
          <a:solidFill>
            <a:srgbClr val="1D1D1F"/>
          </a:solidFill>
          <a:ln/>
        </p:spPr>
      </p:sp>
      <p:sp>
        <p:nvSpPr>
          <p:cNvPr id="29" name="Text 26"/>
          <p:cNvSpPr/>
          <p:nvPr/>
        </p:nvSpPr>
        <p:spPr>
          <a:xfrm>
            <a:off x="899542" y="4160285"/>
            <a:ext cx="3076111" cy="192759"/>
          </a:xfrm>
          <a:prstGeom prst="rect">
            <a:avLst/>
          </a:prstGeom>
          <a:noFill/>
          <a:ln/>
        </p:spPr>
        <p:txBody>
          <a:bodyPr wrap="square" lIns="0" tIns="0" rIns="0" bIns="0" rtlCol="0" anchor="ctr"/>
          <a:lstStyle/>
          <a:p>
            <a:pPr>
              <a:lnSpc>
                <a:spcPct val="120000"/>
              </a:lnSpc>
            </a:pPr>
            <a:r>
              <a:rPr lang="en-US" sz="1012" b="1" dirty="0">
                <a:solidFill>
                  <a:srgbClr val="34C759"/>
                </a:solidFill>
                <a:latin typeface="Quattrocento Sans" pitchFamily="34" charset="0"/>
                <a:ea typeface="Quattrocento Sans" pitchFamily="34" charset="-122"/>
                <a:cs typeface="Quattrocento Sans" pitchFamily="34" charset="-120"/>
              </a:rPr>
              <a:t>Frameworks</a:t>
            </a:r>
            <a:pPr>
              <a:lnSpc>
                <a:spcPct val="120000"/>
              </a:lnSpc>
            </a:pPr>
            <a:r>
              <a:rPr lang="en-US" sz="1012" dirty="0">
                <a:solidFill>
                  <a:srgbClr val="F5F5F7"/>
                </a:solidFill>
                <a:latin typeface="Quattrocento Sans" pitchFamily="34" charset="0"/>
                <a:ea typeface="Quattrocento Sans" pitchFamily="34" charset="-122"/>
                <a:cs typeface="Quattrocento Sans" pitchFamily="34" charset="-120"/>
              </a:rPr>
              <a:t> – Introduction to Flutter and React Native</a:t>
            </a:r>
            <a:endParaRPr lang="en-US" sz="1600" dirty="0"/>
          </a:p>
        </p:txBody>
      </p:sp>
      <p:sp>
        <p:nvSpPr>
          <p:cNvPr id="30" name="Shape 27"/>
          <p:cNvSpPr/>
          <p:nvPr/>
        </p:nvSpPr>
        <p:spPr>
          <a:xfrm>
            <a:off x="6209246" y="1702704"/>
            <a:ext cx="5662292" cy="3501787"/>
          </a:xfrm>
          <a:custGeom>
            <a:avLst/>
            <a:gdLst/>
            <a:ahLst/>
            <a:cxnLst/>
            <a:rect l="l" t="t" r="r" b="b"/>
            <a:pathLst>
              <a:path w="5662292" h="3501787">
                <a:moveTo>
                  <a:pt x="32131" y="0"/>
                </a:moveTo>
                <a:lnTo>
                  <a:pt x="5533771" y="0"/>
                </a:lnTo>
                <a:cubicBezTo>
                  <a:pt x="5604753" y="0"/>
                  <a:pt x="5662295" y="57542"/>
                  <a:pt x="5662295" y="128524"/>
                </a:cubicBezTo>
                <a:lnTo>
                  <a:pt x="5662295" y="3373247"/>
                </a:lnTo>
                <a:cubicBezTo>
                  <a:pt x="5662295" y="3444229"/>
                  <a:pt x="5604753" y="3501771"/>
                  <a:pt x="5533771" y="3501771"/>
                </a:cubicBezTo>
                <a:lnTo>
                  <a:pt x="32131" y="3501771"/>
                </a:lnTo>
                <a:cubicBezTo>
                  <a:pt x="14386" y="3501771"/>
                  <a:pt x="0" y="3487385"/>
                  <a:pt x="0" y="3469640"/>
                </a:cubicBezTo>
                <a:lnTo>
                  <a:pt x="0" y="32131"/>
                </a:lnTo>
                <a:cubicBezTo>
                  <a:pt x="0" y="14397"/>
                  <a:pt x="14397" y="0"/>
                  <a:pt x="32131" y="0"/>
                </a:cubicBezTo>
                <a:close/>
              </a:path>
            </a:pathLst>
          </a:custGeom>
          <a:solidFill>
            <a:srgbClr val="2C2C2E">
              <a:alpha val="80000"/>
            </a:srgbClr>
          </a:solidFill>
          <a:ln/>
        </p:spPr>
      </p:sp>
      <p:sp>
        <p:nvSpPr>
          <p:cNvPr id="31" name="Shape 28"/>
          <p:cNvSpPr/>
          <p:nvPr/>
        </p:nvSpPr>
        <p:spPr>
          <a:xfrm>
            <a:off x="6209246" y="1702704"/>
            <a:ext cx="32126" cy="3501787"/>
          </a:xfrm>
          <a:custGeom>
            <a:avLst/>
            <a:gdLst/>
            <a:ahLst/>
            <a:cxnLst/>
            <a:rect l="l" t="t" r="r" b="b"/>
            <a:pathLst>
              <a:path w="32126" h="3501787">
                <a:moveTo>
                  <a:pt x="32131" y="0"/>
                </a:moveTo>
                <a:lnTo>
                  <a:pt x="32131" y="0"/>
                </a:lnTo>
                <a:lnTo>
                  <a:pt x="32131" y="3501771"/>
                </a:lnTo>
                <a:lnTo>
                  <a:pt x="32131" y="3501771"/>
                </a:lnTo>
                <a:cubicBezTo>
                  <a:pt x="14386" y="3501771"/>
                  <a:pt x="0" y="3487385"/>
                  <a:pt x="0" y="3469640"/>
                </a:cubicBezTo>
                <a:lnTo>
                  <a:pt x="0" y="32131"/>
                </a:lnTo>
                <a:cubicBezTo>
                  <a:pt x="0" y="14397"/>
                  <a:pt x="14397" y="0"/>
                  <a:pt x="32131" y="0"/>
                </a:cubicBezTo>
                <a:close/>
              </a:path>
            </a:pathLst>
          </a:custGeom>
          <a:solidFill>
            <a:srgbClr val="0A84FF"/>
          </a:solidFill>
          <a:ln/>
        </p:spPr>
      </p:sp>
      <p:sp>
        <p:nvSpPr>
          <p:cNvPr id="32" name="Shape 29"/>
          <p:cNvSpPr/>
          <p:nvPr/>
        </p:nvSpPr>
        <p:spPr>
          <a:xfrm>
            <a:off x="6442163" y="1927495"/>
            <a:ext cx="192759" cy="192759"/>
          </a:xfrm>
          <a:custGeom>
            <a:avLst/>
            <a:gdLst/>
            <a:ahLst/>
            <a:cxnLst/>
            <a:rect l="l" t="t" r="r" b="b"/>
            <a:pathLst>
              <a:path w="192759" h="192759">
                <a:moveTo>
                  <a:pt x="48190" y="120474"/>
                </a:moveTo>
                <a:lnTo>
                  <a:pt x="9224" y="120474"/>
                </a:lnTo>
                <a:cubicBezTo>
                  <a:pt x="-151" y="120474"/>
                  <a:pt x="-5911" y="110272"/>
                  <a:pt x="-1092" y="102215"/>
                </a:cubicBezTo>
                <a:lnTo>
                  <a:pt x="18824" y="69009"/>
                </a:lnTo>
                <a:cubicBezTo>
                  <a:pt x="22100" y="63550"/>
                  <a:pt x="27973" y="60237"/>
                  <a:pt x="34335" y="60237"/>
                </a:cubicBezTo>
                <a:lnTo>
                  <a:pt x="70101" y="60237"/>
                </a:lnTo>
                <a:cubicBezTo>
                  <a:pt x="98751" y="11709"/>
                  <a:pt x="141482" y="9261"/>
                  <a:pt x="170057" y="13440"/>
                </a:cubicBezTo>
                <a:cubicBezTo>
                  <a:pt x="174876" y="14156"/>
                  <a:pt x="178641" y="17921"/>
                  <a:pt x="179318" y="22702"/>
                </a:cubicBezTo>
                <a:cubicBezTo>
                  <a:pt x="183497" y="51277"/>
                  <a:pt x="181050" y="94008"/>
                  <a:pt x="132522" y="122658"/>
                </a:cubicBezTo>
                <a:lnTo>
                  <a:pt x="132522" y="158424"/>
                </a:lnTo>
                <a:cubicBezTo>
                  <a:pt x="132522" y="164786"/>
                  <a:pt x="129209" y="170659"/>
                  <a:pt x="123750" y="173935"/>
                </a:cubicBezTo>
                <a:lnTo>
                  <a:pt x="90544" y="193851"/>
                </a:lnTo>
                <a:cubicBezTo>
                  <a:pt x="82525" y="198670"/>
                  <a:pt x="72285" y="192872"/>
                  <a:pt x="72285" y="183535"/>
                </a:cubicBezTo>
                <a:lnTo>
                  <a:pt x="72285" y="144569"/>
                </a:lnTo>
                <a:cubicBezTo>
                  <a:pt x="72285" y="131279"/>
                  <a:pt x="61480" y="120474"/>
                  <a:pt x="48190" y="120474"/>
                </a:cubicBezTo>
                <a:lnTo>
                  <a:pt x="48152" y="120474"/>
                </a:lnTo>
                <a:close/>
                <a:moveTo>
                  <a:pt x="150593" y="60237"/>
                </a:moveTo>
                <a:cubicBezTo>
                  <a:pt x="150593" y="50263"/>
                  <a:pt x="142495" y="42166"/>
                  <a:pt x="132522" y="42166"/>
                </a:cubicBezTo>
                <a:cubicBezTo>
                  <a:pt x="122548" y="42166"/>
                  <a:pt x="114451" y="50263"/>
                  <a:pt x="114451" y="60237"/>
                </a:cubicBezTo>
                <a:cubicBezTo>
                  <a:pt x="114451" y="70211"/>
                  <a:pt x="122548" y="78308"/>
                  <a:pt x="132522" y="78308"/>
                </a:cubicBezTo>
                <a:cubicBezTo>
                  <a:pt x="142495" y="78308"/>
                  <a:pt x="150593" y="70211"/>
                  <a:pt x="150593" y="60237"/>
                </a:cubicBezTo>
                <a:close/>
              </a:path>
            </a:pathLst>
          </a:custGeom>
          <a:solidFill>
            <a:srgbClr val="0A84FF"/>
          </a:solidFill>
          <a:ln/>
        </p:spPr>
      </p:sp>
      <p:sp>
        <p:nvSpPr>
          <p:cNvPr id="33" name="Text 30"/>
          <p:cNvSpPr/>
          <p:nvPr/>
        </p:nvSpPr>
        <p:spPr>
          <a:xfrm>
            <a:off x="6659017" y="1895462"/>
            <a:ext cx="5116142" cy="257012"/>
          </a:xfrm>
          <a:prstGeom prst="rect">
            <a:avLst/>
          </a:prstGeom>
          <a:noFill/>
          <a:ln/>
        </p:spPr>
        <p:txBody>
          <a:bodyPr wrap="square" lIns="0" tIns="0" rIns="0" bIns="0" rtlCol="0" anchor="ctr"/>
          <a:lstStyle/>
          <a:p>
            <a:pPr>
              <a:lnSpc>
                <a:spcPct val="110000"/>
              </a:lnSpc>
            </a:pPr>
            <a:r>
              <a:rPr lang="en-US" sz="1518" b="1" dirty="0">
                <a:solidFill>
                  <a:srgbClr val="0A84FF"/>
                </a:solidFill>
                <a:latin typeface="Liter" pitchFamily="34" charset="0"/>
                <a:ea typeface="Liter" pitchFamily="34" charset="-122"/>
                <a:cs typeface="Liter" pitchFamily="34" charset="-120"/>
              </a:rPr>
              <a:t>Your Next Steps</a:t>
            </a:r>
            <a:endParaRPr lang="en-US" sz="1600" dirty="0"/>
          </a:p>
        </p:txBody>
      </p:sp>
      <p:sp>
        <p:nvSpPr>
          <p:cNvPr id="34" name="Shape 31"/>
          <p:cNvSpPr/>
          <p:nvPr/>
        </p:nvSpPr>
        <p:spPr>
          <a:xfrm>
            <a:off x="6418068" y="2313013"/>
            <a:ext cx="5260711" cy="835289"/>
          </a:xfrm>
          <a:prstGeom prst="roundRect">
            <a:avLst>
              <a:gd name="adj" fmla="val 11538"/>
            </a:avLst>
          </a:prstGeom>
          <a:solidFill>
            <a:srgbClr val="1A1D21"/>
          </a:solidFill>
          <a:ln/>
        </p:spPr>
      </p:sp>
      <p:sp>
        <p:nvSpPr>
          <p:cNvPr id="35" name="Shape 32"/>
          <p:cNvSpPr/>
          <p:nvPr/>
        </p:nvSpPr>
        <p:spPr>
          <a:xfrm>
            <a:off x="6546574" y="2441519"/>
            <a:ext cx="321265" cy="321265"/>
          </a:xfrm>
          <a:prstGeom prst="roundRect">
            <a:avLst>
              <a:gd name="adj" fmla="val 20000"/>
            </a:avLst>
          </a:prstGeom>
          <a:solidFill>
            <a:srgbClr val="34C759"/>
          </a:solidFill>
          <a:ln/>
        </p:spPr>
      </p:sp>
      <p:sp>
        <p:nvSpPr>
          <p:cNvPr id="36" name="Text 33"/>
          <p:cNvSpPr/>
          <p:nvPr/>
        </p:nvSpPr>
        <p:spPr>
          <a:xfrm>
            <a:off x="6678292" y="2489708"/>
            <a:ext cx="128506" cy="224885"/>
          </a:xfrm>
          <a:prstGeom prst="rect">
            <a:avLst/>
          </a:prstGeom>
          <a:noFill/>
          <a:ln/>
        </p:spPr>
        <p:txBody>
          <a:bodyPr wrap="square" lIns="0" tIns="0" rIns="0" bIns="0" rtlCol="0" anchor="ctr"/>
          <a:lstStyle/>
          <a:p>
            <a:pPr>
              <a:lnSpc>
                <a:spcPct val="130000"/>
              </a:lnSpc>
            </a:pPr>
            <a:r>
              <a:rPr lang="en-US" sz="1138" b="1" dirty="0">
                <a:solidFill>
                  <a:srgbClr val="1D1D1F"/>
                </a:solidFill>
                <a:latin typeface="Liter" pitchFamily="34" charset="0"/>
                <a:ea typeface="Liter" pitchFamily="34" charset="-122"/>
                <a:cs typeface="Liter" pitchFamily="34" charset="-120"/>
              </a:rPr>
              <a:t>1</a:t>
            </a:r>
            <a:endParaRPr lang="en-US" sz="1600" dirty="0"/>
          </a:p>
        </p:txBody>
      </p:sp>
      <p:sp>
        <p:nvSpPr>
          <p:cNvPr id="37" name="Text 34"/>
          <p:cNvSpPr/>
          <p:nvPr/>
        </p:nvSpPr>
        <p:spPr>
          <a:xfrm>
            <a:off x="6964218" y="2489708"/>
            <a:ext cx="1028047" cy="224885"/>
          </a:xfrm>
          <a:prstGeom prst="rect">
            <a:avLst/>
          </a:prstGeom>
          <a:noFill/>
          <a:ln/>
        </p:spPr>
        <p:txBody>
          <a:bodyPr wrap="square" lIns="0" tIns="0" rIns="0" bIns="0" rtlCol="0" anchor="ctr"/>
          <a:lstStyle/>
          <a:p>
            <a:pPr>
              <a:lnSpc>
                <a:spcPct val="130000"/>
              </a:lnSpc>
            </a:pPr>
            <a:r>
              <a:rPr lang="en-US" sz="1138" b="1" dirty="0">
                <a:solidFill>
                  <a:srgbClr val="34C759"/>
                </a:solidFill>
                <a:latin typeface="Liter" pitchFamily="34" charset="0"/>
                <a:ea typeface="Liter" pitchFamily="34" charset="-122"/>
                <a:cs typeface="Liter" pitchFamily="34" charset="-120"/>
              </a:rPr>
              <a:t>Install Your IDE</a:t>
            </a:r>
            <a:endParaRPr lang="en-US" sz="1600" dirty="0"/>
          </a:p>
        </p:txBody>
      </p:sp>
      <p:sp>
        <p:nvSpPr>
          <p:cNvPr id="38" name="Text 35"/>
          <p:cNvSpPr/>
          <p:nvPr/>
        </p:nvSpPr>
        <p:spPr>
          <a:xfrm>
            <a:off x="6546574" y="2827036"/>
            <a:ext cx="5067953" cy="192759"/>
          </a:xfrm>
          <a:prstGeom prst="rect">
            <a:avLst/>
          </a:prstGeom>
          <a:noFill/>
          <a:ln/>
        </p:spPr>
        <p:txBody>
          <a:bodyPr wrap="square" lIns="0" tIns="0" rIns="0" bIns="0" rtlCol="0" anchor="ctr"/>
          <a:lstStyle/>
          <a:p>
            <a:pPr>
              <a:lnSpc>
                <a:spcPct val="120000"/>
              </a:lnSpc>
            </a:pPr>
            <a:r>
              <a:rPr lang="en-US" sz="1012" dirty="0">
                <a:solidFill>
                  <a:srgbClr val="F5F5F7"/>
                </a:solidFill>
                <a:latin typeface="Quattrocento Sans" pitchFamily="34" charset="0"/>
                <a:ea typeface="Quattrocento Sans" pitchFamily="34" charset="-122"/>
                <a:cs typeface="Quattrocento Sans" pitchFamily="34" charset="-120"/>
              </a:rPr>
              <a:t>Choose Android Studio, Xcode (Mac), or VS Code and complete installation</a:t>
            </a:r>
            <a:endParaRPr lang="en-US" sz="1600" dirty="0"/>
          </a:p>
        </p:txBody>
      </p:sp>
      <p:sp>
        <p:nvSpPr>
          <p:cNvPr id="39" name="Shape 36"/>
          <p:cNvSpPr/>
          <p:nvPr/>
        </p:nvSpPr>
        <p:spPr>
          <a:xfrm>
            <a:off x="6418068" y="3244681"/>
            <a:ext cx="5260711" cy="835289"/>
          </a:xfrm>
          <a:prstGeom prst="roundRect">
            <a:avLst>
              <a:gd name="adj" fmla="val 11538"/>
            </a:avLst>
          </a:prstGeom>
          <a:solidFill>
            <a:srgbClr val="1A1D21"/>
          </a:solidFill>
          <a:ln/>
        </p:spPr>
      </p:sp>
      <p:sp>
        <p:nvSpPr>
          <p:cNvPr id="40" name="Shape 37"/>
          <p:cNvSpPr/>
          <p:nvPr/>
        </p:nvSpPr>
        <p:spPr>
          <a:xfrm>
            <a:off x="6546574" y="3373187"/>
            <a:ext cx="321265" cy="321265"/>
          </a:xfrm>
          <a:prstGeom prst="roundRect">
            <a:avLst>
              <a:gd name="adj" fmla="val 20000"/>
            </a:avLst>
          </a:prstGeom>
          <a:solidFill>
            <a:srgbClr val="0A84FF"/>
          </a:solidFill>
          <a:ln/>
        </p:spPr>
      </p:sp>
      <p:sp>
        <p:nvSpPr>
          <p:cNvPr id="41" name="Text 38"/>
          <p:cNvSpPr/>
          <p:nvPr/>
        </p:nvSpPr>
        <p:spPr>
          <a:xfrm>
            <a:off x="6665141" y="3421376"/>
            <a:ext cx="152601" cy="224885"/>
          </a:xfrm>
          <a:prstGeom prst="rect">
            <a:avLst/>
          </a:prstGeom>
          <a:noFill/>
          <a:ln/>
        </p:spPr>
        <p:txBody>
          <a:bodyPr wrap="square" lIns="0" tIns="0" rIns="0" bIns="0" rtlCol="0" anchor="ctr"/>
          <a:lstStyle/>
          <a:p>
            <a:pPr>
              <a:lnSpc>
                <a:spcPct val="130000"/>
              </a:lnSpc>
            </a:pPr>
            <a:r>
              <a:rPr lang="en-US" sz="1138" b="1" dirty="0">
                <a:solidFill>
                  <a:srgbClr val="FFFFFF"/>
                </a:solidFill>
                <a:latin typeface="Liter" pitchFamily="34" charset="0"/>
                <a:ea typeface="Liter" pitchFamily="34" charset="-122"/>
                <a:cs typeface="Liter" pitchFamily="34" charset="-120"/>
              </a:rPr>
              <a:t>2</a:t>
            </a:r>
            <a:endParaRPr lang="en-US" sz="1600" dirty="0"/>
          </a:p>
        </p:txBody>
      </p:sp>
      <p:sp>
        <p:nvSpPr>
          <p:cNvPr id="42" name="Text 39"/>
          <p:cNvSpPr/>
          <p:nvPr/>
        </p:nvSpPr>
        <p:spPr>
          <a:xfrm>
            <a:off x="6964218" y="3421376"/>
            <a:ext cx="1389470" cy="224885"/>
          </a:xfrm>
          <a:prstGeom prst="rect">
            <a:avLst/>
          </a:prstGeom>
          <a:noFill/>
          <a:ln/>
        </p:spPr>
        <p:txBody>
          <a:bodyPr wrap="square" lIns="0" tIns="0" rIns="0" bIns="0" rtlCol="0" anchor="ctr"/>
          <a:lstStyle/>
          <a:p>
            <a:pPr>
              <a:lnSpc>
                <a:spcPct val="130000"/>
              </a:lnSpc>
            </a:pPr>
            <a:r>
              <a:rPr lang="en-US" sz="1138" b="1" dirty="0">
                <a:solidFill>
                  <a:srgbClr val="0A84FF"/>
                </a:solidFill>
                <a:latin typeface="Liter" pitchFamily="34" charset="0"/>
                <a:ea typeface="Liter" pitchFamily="34" charset="-122"/>
                <a:cs typeface="Liter" pitchFamily="34" charset="-120"/>
              </a:rPr>
              <a:t>Explore the Interface</a:t>
            </a:r>
            <a:endParaRPr lang="en-US" sz="1600" dirty="0"/>
          </a:p>
        </p:txBody>
      </p:sp>
      <p:sp>
        <p:nvSpPr>
          <p:cNvPr id="43" name="Text 40"/>
          <p:cNvSpPr/>
          <p:nvPr/>
        </p:nvSpPr>
        <p:spPr>
          <a:xfrm>
            <a:off x="6546574" y="3758704"/>
            <a:ext cx="5067953" cy="192759"/>
          </a:xfrm>
          <a:prstGeom prst="rect">
            <a:avLst/>
          </a:prstGeom>
          <a:noFill/>
          <a:ln/>
        </p:spPr>
        <p:txBody>
          <a:bodyPr wrap="square" lIns="0" tIns="0" rIns="0" bIns="0" rtlCol="0" anchor="ctr"/>
          <a:lstStyle/>
          <a:p>
            <a:pPr>
              <a:lnSpc>
                <a:spcPct val="120000"/>
              </a:lnSpc>
            </a:pPr>
            <a:r>
              <a:rPr lang="en-US" sz="1012" dirty="0">
                <a:solidFill>
                  <a:srgbClr val="F5F5F7"/>
                </a:solidFill>
                <a:latin typeface="Quattrocento Sans" pitchFamily="34" charset="0"/>
                <a:ea typeface="Quattrocento Sans" pitchFamily="34" charset="-122"/>
                <a:cs typeface="Quattrocento Sans" pitchFamily="34" charset="-120"/>
              </a:rPr>
              <a:t>Click around, open menus, and get familiar with the layout</a:t>
            </a:r>
            <a:endParaRPr lang="en-US" sz="1600" dirty="0"/>
          </a:p>
        </p:txBody>
      </p:sp>
      <p:sp>
        <p:nvSpPr>
          <p:cNvPr id="44" name="Shape 41"/>
          <p:cNvSpPr/>
          <p:nvPr/>
        </p:nvSpPr>
        <p:spPr>
          <a:xfrm>
            <a:off x="6418068" y="4176349"/>
            <a:ext cx="5260711" cy="835289"/>
          </a:xfrm>
          <a:prstGeom prst="roundRect">
            <a:avLst>
              <a:gd name="adj" fmla="val 11538"/>
            </a:avLst>
          </a:prstGeom>
          <a:solidFill>
            <a:srgbClr val="1A1D21"/>
          </a:solidFill>
          <a:ln/>
        </p:spPr>
      </p:sp>
      <p:sp>
        <p:nvSpPr>
          <p:cNvPr id="45" name="Shape 42"/>
          <p:cNvSpPr/>
          <p:nvPr/>
        </p:nvSpPr>
        <p:spPr>
          <a:xfrm>
            <a:off x="6546574" y="4304854"/>
            <a:ext cx="321265" cy="321265"/>
          </a:xfrm>
          <a:prstGeom prst="roundRect">
            <a:avLst>
              <a:gd name="adj" fmla="val 20000"/>
            </a:avLst>
          </a:prstGeom>
          <a:solidFill>
            <a:srgbClr val="8E8E93"/>
          </a:solidFill>
          <a:ln/>
        </p:spPr>
      </p:sp>
      <p:sp>
        <p:nvSpPr>
          <p:cNvPr id="46" name="Text 43"/>
          <p:cNvSpPr/>
          <p:nvPr/>
        </p:nvSpPr>
        <p:spPr>
          <a:xfrm>
            <a:off x="6664539" y="4353044"/>
            <a:ext cx="160632" cy="224885"/>
          </a:xfrm>
          <a:prstGeom prst="rect">
            <a:avLst/>
          </a:prstGeom>
          <a:noFill/>
          <a:ln/>
        </p:spPr>
        <p:txBody>
          <a:bodyPr wrap="square" lIns="0" tIns="0" rIns="0" bIns="0" rtlCol="0" anchor="ctr"/>
          <a:lstStyle/>
          <a:p>
            <a:pPr>
              <a:lnSpc>
                <a:spcPct val="130000"/>
              </a:lnSpc>
            </a:pPr>
            <a:r>
              <a:rPr lang="en-US" sz="1138" b="1" dirty="0">
                <a:solidFill>
                  <a:srgbClr val="FFFFFF"/>
                </a:solidFill>
                <a:latin typeface="Liter" pitchFamily="34" charset="0"/>
                <a:ea typeface="Liter" pitchFamily="34" charset="-122"/>
                <a:cs typeface="Liter" pitchFamily="34" charset="-120"/>
              </a:rPr>
              <a:t>3</a:t>
            </a:r>
            <a:endParaRPr lang="en-US" sz="1600" dirty="0"/>
          </a:p>
        </p:txBody>
      </p:sp>
      <p:sp>
        <p:nvSpPr>
          <p:cNvPr id="47" name="Text 44"/>
          <p:cNvSpPr/>
          <p:nvPr/>
        </p:nvSpPr>
        <p:spPr>
          <a:xfrm>
            <a:off x="6964218" y="4353044"/>
            <a:ext cx="1349312" cy="224885"/>
          </a:xfrm>
          <a:prstGeom prst="rect">
            <a:avLst/>
          </a:prstGeom>
          <a:noFill/>
          <a:ln/>
        </p:spPr>
        <p:txBody>
          <a:bodyPr wrap="square" lIns="0" tIns="0" rIns="0" bIns="0" rtlCol="0" anchor="ctr"/>
          <a:lstStyle/>
          <a:p>
            <a:pPr>
              <a:lnSpc>
                <a:spcPct val="130000"/>
              </a:lnSpc>
            </a:pPr>
            <a:r>
              <a:rPr lang="en-US" sz="1138" b="1" dirty="0">
                <a:solidFill>
                  <a:srgbClr val="8E8E93"/>
                </a:solidFill>
                <a:latin typeface="Liter" pitchFamily="34" charset="0"/>
                <a:ea typeface="Liter" pitchFamily="34" charset="-122"/>
                <a:cs typeface="Liter" pitchFamily="34" charset="-120"/>
              </a:rPr>
              <a:t>Start Basic Tutorials</a:t>
            </a:r>
            <a:endParaRPr lang="en-US" sz="1600" dirty="0"/>
          </a:p>
        </p:txBody>
      </p:sp>
      <p:sp>
        <p:nvSpPr>
          <p:cNvPr id="48" name="Text 45"/>
          <p:cNvSpPr/>
          <p:nvPr/>
        </p:nvSpPr>
        <p:spPr>
          <a:xfrm>
            <a:off x="6546574" y="4690372"/>
            <a:ext cx="5067953" cy="192759"/>
          </a:xfrm>
          <a:prstGeom prst="rect">
            <a:avLst/>
          </a:prstGeom>
          <a:noFill/>
          <a:ln/>
        </p:spPr>
        <p:txBody>
          <a:bodyPr wrap="square" lIns="0" tIns="0" rIns="0" bIns="0" rtlCol="0" anchor="ctr"/>
          <a:lstStyle/>
          <a:p>
            <a:pPr>
              <a:lnSpc>
                <a:spcPct val="120000"/>
              </a:lnSpc>
            </a:pPr>
            <a:r>
              <a:rPr lang="en-US" sz="1012" dirty="0">
                <a:solidFill>
                  <a:srgbClr val="F5F5F7"/>
                </a:solidFill>
                <a:latin typeface="Quattrocento Sans" pitchFamily="34" charset="0"/>
                <a:ea typeface="Quattrocento Sans" pitchFamily="34" charset="-122"/>
                <a:cs typeface="Quattrocento Sans" pitchFamily="34" charset="-120"/>
              </a:rPr>
              <a:t>Look for "Hello World" tutorials for your chosen framework</a:t>
            </a:r>
            <a:endParaRPr lang="en-US" sz="1600" dirty="0"/>
          </a:p>
        </p:txBody>
      </p:sp>
      <p:sp>
        <p:nvSpPr>
          <p:cNvPr id="49" name="Shape 46"/>
          <p:cNvSpPr/>
          <p:nvPr/>
        </p:nvSpPr>
        <p:spPr>
          <a:xfrm>
            <a:off x="6196396" y="5336115"/>
            <a:ext cx="5676749" cy="970220"/>
          </a:xfrm>
          <a:prstGeom prst="roundRect">
            <a:avLst>
              <a:gd name="adj" fmla="val 13245"/>
            </a:avLst>
          </a:prstGeom>
          <a:solidFill>
            <a:srgbClr val="34C759">
              <a:alpha val="20000"/>
            </a:srgbClr>
          </a:solidFill>
          <a:ln w="10160">
            <a:solidFill>
              <a:srgbClr val="34C759">
                <a:alpha val="50196"/>
              </a:srgbClr>
            </a:solidFill>
            <a:prstDash val="solid"/>
          </a:ln>
        </p:spPr>
      </p:sp>
      <p:sp>
        <p:nvSpPr>
          <p:cNvPr id="50" name="Shape 47"/>
          <p:cNvSpPr/>
          <p:nvPr/>
        </p:nvSpPr>
        <p:spPr>
          <a:xfrm>
            <a:off x="6360241" y="5596330"/>
            <a:ext cx="401581" cy="449771"/>
          </a:xfrm>
          <a:prstGeom prst="roundRect">
            <a:avLst>
              <a:gd name="adj" fmla="val 50000"/>
            </a:avLst>
          </a:prstGeom>
          <a:solidFill>
            <a:srgbClr val="34C759"/>
          </a:solidFill>
          <a:ln/>
        </p:spPr>
      </p:sp>
      <p:sp>
        <p:nvSpPr>
          <p:cNvPr id="51" name="Shape 48"/>
          <p:cNvSpPr/>
          <p:nvPr/>
        </p:nvSpPr>
        <p:spPr>
          <a:xfrm>
            <a:off x="6465254" y="5724836"/>
            <a:ext cx="192759" cy="192759"/>
          </a:xfrm>
          <a:custGeom>
            <a:avLst/>
            <a:gdLst/>
            <a:ahLst/>
            <a:cxnLst/>
            <a:rect l="l" t="t" r="r" b="b"/>
            <a:pathLst>
              <a:path w="192759" h="192759">
                <a:moveTo>
                  <a:pt x="90732" y="32792"/>
                </a:moveTo>
                <a:lnTo>
                  <a:pt x="96379" y="40585"/>
                </a:lnTo>
                <a:lnTo>
                  <a:pt x="102027" y="32792"/>
                </a:lnTo>
                <a:cubicBezTo>
                  <a:pt x="111439" y="19765"/>
                  <a:pt x="126573" y="12047"/>
                  <a:pt x="142649" y="12047"/>
                </a:cubicBezTo>
                <a:cubicBezTo>
                  <a:pt x="170321" y="12047"/>
                  <a:pt x="192759" y="34486"/>
                  <a:pt x="192759" y="62157"/>
                </a:cubicBezTo>
                <a:lnTo>
                  <a:pt x="192759" y="63136"/>
                </a:lnTo>
                <a:cubicBezTo>
                  <a:pt x="192759" y="105377"/>
                  <a:pt x="140089" y="154433"/>
                  <a:pt x="112606" y="175403"/>
                </a:cubicBezTo>
                <a:cubicBezTo>
                  <a:pt x="107937" y="178942"/>
                  <a:pt x="102215" y="180711"/>
                  <a:pt x="96379" y="180711"/>
                </a:cubicBezTo>
                <a:cubicBezTo>
                  <a:pt x="90544" y="180711"/>
                  <a:pt x="84784" y="178980"/>
                  <a:pt x="80153" y="175403"/>
                </a:cubicBezTo>
                <a:cubicBezTo>
                  <a:pt x="52670" y="154433"/>
                  <a:pt x="0" y="105377"/>
                  <a:pt x="0" y="63136"/>
                </a:cubicBezTo>
                <a:lnTo>
                  <a:pt x="0" y="62157"/>
                </a:lnTo>
                <a:cubicBezTo>
                  <a:pt x="0" y="34486"/>
                  <a:pt x="22438" y="12047"/>
                  <a:pt x="50110" y="12047"/>
                </a:cubicBezTo>
                <a:cubicBezTo>
                  <a:pt x="66186" y="12047"/>
                  <a:pt x="81320" y="19765"/>
                  <a:pt x="90732" y="32792"/>
                </a:cubicBezTo>
                <a:close/>
              </a:path>
            </a:pathLst>
          </a:custGeom>
          <a:solidFill>
            <a:srgbClr val="1D1D1F"/>
          </a:solidFill>
          <a:ln/>
        </p:spPr>
      </p:sp>
      <p:sp>
        <p:nvSpPr>
          <p:cNvPr id="52" name="Text 49"/>
          <p:cNvSpPr/>
          <p:nvPr/>
        </p:nvSpPr>
        <p:spPr>
          <a:xfrm>
            <a:off x="6891532" y="5499950"/>
            <a:ext cx="4891257" cy="224885"/>
          </a:xfrm>
          <a:prstGeom prst="rect">
            <a:avLst/>
          </a:prstGeom>
          <a:noFill/>
          <a:ln/>
        </p:spPr>
        <p:txBody>
          <a:bodyPr wrap="square" lIns="0" tIns="0" rIns="0" bIns="0" rtlCol="0" anchor="ctr"/>
          <a:lstStyle/>
          <a:p>
            <a:pPr>
              <a:lnSpc>
                <a:spcPct val="120000"/>
              </a:lnSpc>
            </a:pPr>
            <a:r>
              <a:rPr lang="en-US" sz="1265" b="1" dirty="0">
                <a:solidFill>
                  <a:srgbClr val="34C759"/>
                </a:solidFill>
                <a:latin typeface="Liter" pitchFamily="34" charset="0"/>
                <a:ea typeface="Liter" pitchFamily="34" charset="-122"/>
                <a:cs typeface="Liter" pitchFamily="34" charset="-120"/>
              </a:rPr>
              <a:t>Remember</a:t>
            </a:r>
            <a:endParaRPr lang="en-US" sz="1600" dirty="0"/>
          </a:p>
        </p:txBody>
      </p:sp>
      <p:sp>
        <p:nvSpPr>
          <p:cNvPr id="53" name="Text 50"/>
          <p:cNvSpPr/>
          <p:nvPr/>
        </p:nvSpPr>
        <p:spPr>
          <a:xfrm>
            <a:off x="6891532" y="5756962"/>
            <a:ext cx="4875194" cy="385518"/>
          </a:xfrm>
          <a:prstGeom prst="rect">
            <a:avLst/>
          </a:prstGeom>
          <a:noFill/>
          <a:ln/>
        </p:spPr>
        <p:txBody>
          <a:bodyPr wrap="square" lIns="0" tIns="0" rIns="0" bIns="0" rtlCol="0" anchor="ctr"/>
          <a:lstStyle/>
          <a:p>
            <a:pPr>
              <a:lnSpc>
                <a:spcPct val="120000"/>
              </a:lnSpc>
            </a:pPr>
            <a:r>
              <a:rPr lang="en-US" sz="1012" dirty="0">
                <a:solidFill>
                  <a:srgbClr val="F5F5F7"/>
                </a:solidFill>
                <a:latin typeface="Quattrocento Sans" pitchFamily="34" charset="0"/>
                <a:ea typeface="Quattrocento Sans" pitchFamily="34" charset="-122"/>
                <a:cs typeface="Quattrocento Sans" pitchFamily="34" charset="-120"/>
              </a:rPr>
              <a:t>Every expert was once a beginner. Your journey to becoming a mobile app developer starts now!</a:t>
            </a:r>
            <a:endParaRPr lang="en-US" sz="1600" dirty="0"/>
          </a:p>
        </p:txBody>
      </p:sp>
      <p:sp>
        <p:nvSpPr>
          <p:cNvPr id="54" name="Shape 51"/>
          <p:cNvSpPr/>
          <p:nvPr/>
        </p:nvSpPr>
        <p:spPr>
          <a:xfrm>
            <a:off x="4157870" y="6476608"/>
            <a:ext cx="144569" cy="144569"/>
          </a:xfrm>
          <a:custGeom>
            <a:avLst/>
            <a:gdLst/>
            <a:ahLst/>
            <a:cxnLst/>
            <a:rect l="l" t="t" r="r" b="b"/>
            <a:pathLst>
              <a:path w="144569" h="144569">
                <a:moveTo>
                  <a:pt x="13553" y="18071"/>
                </a:moveTo>
                <a:cubicBezTo>
                  <a:pt x="6071" y="18071"/>
                  <a:pt x="0" y="24142"/>
                  <a:pt x="0" y="31625"/>
                </a:cubicBezTo>
                <a:cubicBezTo>
                  <a:pt x="0" y="35888"/>
                  <a:pt x="2005" y="39898"/>
                  <a:pt x="5421" y="42467"/>
                </a:cubicBezTo>
                <a:lnTo>
                  <a:pt x="64153" y="86516"/>
                </a:lnTo>
                <a:cubicBezTo>
                  <a:pt x="68981" y="90130"/>
                  <a:pt x="75588" y="90130"/>
                  <a:pt x="80417" y="86516"/>
                </a:cubicBezTo>
                <a:lnTo>
                  <a:pt x="139148" y="42467"/>
                </a:lnTo>
                <a:cubicBezTo>
                  <a:pt x="142564" y="39898"/>
                  <a:pt x="144569" y="35888"/>
                  <a:pt x="144569" y="31625"/>
                </a:cubicBezTo>
                <a:cubicBezTo>
                  <a:pt x="144569" y="24142"/>
                  <a:pt x="138498" y="18071"/>
                  <a:pt x="131016" y="18071"/>
                </a:cubicBezTo>
                <a:lnTo>
                  <a:pt x="13553" y="18071"/>
                </a:lnTo>
                <a:close/>
                <a:moveTo>
                  <a:pt x="0" y="55343"/>
                </a:moveTo>
                <a:lnTo>
                  <a:pt x="0" y="108427"/>
                </a:lnTo>
                <a:cubicBezTo>
                  <a:pt x="0" y="118394"/>
                  <a:pt x="8104" y="126498"/>
                  <a:pt x="18071" y="126498"/>
                </a:cubicBezTo>
                <a:lnTo>
                  <a:pt x="126498" y="126498"/>
                </a:lnTo>
                <a:cubicBezTo>
                  <a:pt x="136465" y="126498"/>
                  <a:pt x="144569" y="118394"/>
                  <a:pt x="144569" y="108427"/>
                </a:cubicBezTo>
                <a:lnTo>
                  <a:pt x="144569" y="55343"/>
                </a:lnTo>
                <a:lnTo>
                  <a:pt x="88549" y="97358"/>
                </a:lnTo>
                <a:cubicBezTo>
                  <a:pt x="78920" y="104587"/>
                  <a:pt x="65649" y="104587"/>
                  <a:pt x="56021" y="97358"/>
                </a:cubicBezTo>
                <a:lnTo>
                  <a:pt x="0" y="55343"/>
                </a:lnTo>
                <a:close/>
              </a:path>
            </a:pathLst>
          </a:custGeom>
          <a:solidFill>
            <a:srgbClr val="34C759"/>
          </a:solidFill>
          <a:ln/>
        </p:spPr>
      </p:sp>
      <p:sp>
        <p:nvSpPr>
          <p:cNvPr id="55" name="Text 52"/>
          <p:cNvSpPr/>
          <p:nvPr/>
        </p:nvSpPr>
        <p:spPr>
          <a:xfrm>
            <a:off x="510484" y="6438050"/>
            <a:ext cx="11396393" cy="224885"/>
          </a:xfrm>
          <a:prstGeom prst="rect">
            <a:avLst/>
          </a:prstGeom>
          <a:noFill/>
          <a:ln/>
        </p:spPr>
        <p:txBody>
          <a:bodyPr wrap="square" lIns="0" tIns="0" rIns="0" bIns="0" rtlCol="0" anchor="ctr"/>
          <a:lstStyle/>
          <a:p>
            <a:pPr algn="ctr">
              <a:lnSpc>
                <a:spcPct val="130000"/>
              </a:lnSpc>
            </a:pPr>
            <a:r>
              <a:rPr lang="en-US" sz="1138" dirty="0">
                <a:solidFill>
                  <a:srgbClr val="8E8E93"/>
                </a:solidFill>
                <a:latin typeface="Quattrocento Sans" pitchFamily="34" charset="0"/>
                <a:ea typeface="Quattrocento Sans" pitchFamily="34" charset="-122"/>
                <a:cs typeface="Quattrocento Sans" pitchFamily="34" charset="-120"/>
              </a:rPr>
              <a:t>Questions? Reach out to your instructor or classmates</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Application Development – Introduction and Development Environment Setup</dc:title>
  <dc:subject>Mobile Application Development – Introduction and Development Environment Setup</dc:subject>
  <dc:creator>Kimi</dc:creator>
  <cp:lastModifiedBy>Kimi</cp:lastModifiedBy>
  <cp:revision>1</cp:revision>
  <dcterms:created xsi:type="dcterms:W3CDTF">2026-04-26T18:57:08Z</dcterms:created>
  <dcterms:modified xsi:type="dcterms:W3CDTF">2026-04-26T18:57:08Z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{"Label":"Mobile Application Development – Introduction and Development Environment Setup","ContentProducer":"001191110108MACG2KBH8F10000","ProduceID":"19dcb1eb-f9e2-8b27-8000-000018b0c112","ReservedCode1":"","ContentPropagator":"001191110108MACG2KBH8F20000","PropagateID":"19dcb1eb-f9e2-8b27-8000-000018b0c112","ReservedCode2":""}</vt:lpwstr>
  </property>
</Properties>
</file>