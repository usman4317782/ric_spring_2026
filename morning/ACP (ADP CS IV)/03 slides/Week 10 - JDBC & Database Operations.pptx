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5080000" h="3810000">
                <a:moveTo>
                  <a:pt x="0" y="0"/>
                </a:moveTo>
                <a:lnTo>
                  <a:pt x="5080000" y="0"/>
                </a:lnTo>
                <a:lnTo>
                  <a:pt x="5080000" y="1905000"/>
                </a:lnTo>
                <a:quadBezTo>
                  <a:pt x="4445000" y="2540000"/>
                  <a:pt x="3810000" y="2540000"/>
                </a:quadBezTo>
                <a:lnTo>
                  <a:pt x="1270000" y="2540000"/>
                </a:lnTo>
                <a:quadBezTo>
                  <a:pt x="635000" y="2540000"/>
                  <a:pt x="0" y="1905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/>
              </a:gs>
              <a:gs pos="50000">
                <a:srgbClr val="D0E0E3"/>
              </a:gs>
              <a:gs pos="100000">
                <a:srgbClr val="D0E0E3">
                  <a:alpha val="1300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1176000" y="6604000"/>
            <a:ext cx="5080000" cy="2540000"/>
          </a:xfrm>
          <a:custGeom>
            <a:avLst/>
            <a:gdLst/>
            <a:ahLst/>
            <a:cxnLst/>
            <a:rect l="l" t="t" r="r" b="b"/>
            <a:pathLst>
              <a:path w="5080000" h="2540000">
                <a:moveTo>
                  <a:pt x="5080000" y="2540000"/>
                </a:moveTo>
                <a:lnTo>
                  <a:pt x="0" y="2540000"/>
                </a:lnTo>
                <a:lnTo>
                  <a:pt x="0" y="1270000"/>
                </a:lnTo>
                <a:quadBezTo>
                  <a:pt x="635000" y="635000"/>
                  <a:pt x="1270000" y="635000"/>
                </a:quadBezTo>
                <a:lnTo>
                  <a:pt x="3810000" y="635000"/>
                </a:lnTo>
                <a:quadBezTo>
                  <a:pt x="4445000" y="635000"/>
                  <a:pt x="5080000" y="1270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25000"/>
                </a:srgbClr>
              </a:gs>
              <a:gs pos="50000">
                <a:srgbClr val="D0E0E3"/>
              </a:gs>
              <a:gs pos="100000">
                <a:srgbClr val="D0D6DC"/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2540000"/>
            <a:ext cx="12700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800" b="1" spc="100" kern="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10: JDBC &amp; Database Operations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1778000" y="4826000"/>
            <a:ext cx="1270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19 &amp; 20 — Relational Databases, SQL, JDBC, Inserting &amp; Updating Data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0" y="5842000"/>
            <a:ext cx="2540000" cy="25400"/>
          </a:xfrm>
          <a:prstGeom prst="rect">
            <a:avLst/>
          </a:prstGeom>
          <a:solidFill>
            <a:srgbClr val="6B9CB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318000" y="6096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Programming Course · Week 10 ·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0160000" y="1270000"/>
            <a:ext cx="4826000" cy="6350000"/>
          </a:xfrm>
          <a:custGeom>
            <a:avLst/>
            <a:gdLst/>
            <a:ahLst/>
            <a:cxnLst/>
            <a:rect l="l" t="t" r="r" b="b"/>
            <a:pathLst>
              <a:path w="4826000" h="6350000">
                <a:moveTo>
                  <a:pt x="4826000" y="0"/>
                </a:moveTo>
                <a:lnTo>
                  <a:pt x="4826000" y="6350000"/>
                </a:lnTo>
                <a:lnTo>
                  <a:pt x="2413000" y="6350000"/>
                </a:lnTo>
                <a:quadBezTo>
                  <a:pt x="1778000" y="6350000"/>
                  <a:pt x="1143000" y="5715000"/>
                </a:quadBezTo>
                <a:lnTo>
                  <a:pt x="1143000" y="635000"/>
                </a:lnTo>
                <a:quadBezTo>
                  <a:pt x="1143000" y="0"/>
                  <a:pt x="1778000" y="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6000"/>
                </a:srgbClr>
              </a:gs>
              <a:gs pos="70000">
                <a:srgbClr val="D0E0E3"/>
              </a:gs>
              <a:gs pos="100000">
                <a:srgbClr val="2E5E8A">
                  <a:alpha val="8000"/>
                </a:srgbClr>
              </a:gs>
            </a:gsLst>
            <a:lin ang="10800000" scaled="1"/>
          </a:gradFill>
          <a:ln/>
        </p:spPr>
      </p:sp>
      <p:sp>
        <p:nvSpPr>
          <p:cNvPr id="4" name="Shape 2"/>
          <p:cNvSpPr/>
          <p:nvPr/>
        </p:nvSpPr>
        <p:spPr>
          <a:xfrm>
            <a:off x="1524000" y="2540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476500"/>
            <a:ext cx="50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0" y="2540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Relational Databases &amp; SQL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524000" y="3429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3365500"/>
            <a:ext cx="50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286000" y="3429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JDBC Fundamentals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524000" y="4318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1524000" y="4254500"/>
            <a:ext cx="50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286000" y="4318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Inserting Data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524000" y="5207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1524000" y="5143500"/>
            <a:ext cx="50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286000" y="5207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Updating Data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Relational Databases &amp; SQL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Lecture 19 — Understanding data organization with relational databases and SQL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 Relational Database?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1524000" cy="4064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1841500"/>
            <a:ext cx="152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70000" y="2413000"/>
            <a:ext cx="1371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relational database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organizes data into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tables (relations)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rows (records) and columns (attributes). Tables are linked through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relationships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using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keys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(unique identifiers) and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foreign keys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(references to other tables).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70000" y="3594100"/>
            <a:ext cx="2286000" cy="4064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3594100"/>
            <a:ext cx="228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70000" y="41275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university database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stores students, courses, and enrollments in separate linked tables. When a student registers for a course, a new record is created in the Enrollments table linking the student to the course.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70000" y="5143500"/>
            <a:ext cx="2540000" cy="406400"/>
          </a:xfrm>
          <a:prstGeom prst="roundRect">
            <a:avLst>
              <a:gd name="adj" fmla="val 12000"/>
            </a:avLst>
          </a:prstGeom>
          <a:solidFill>
            <a:srgbClr val="3C4A5A"/>
          </a:solidFill>
          <a:ln/>
        </p:spPr>
      </p:sp>
      <p:sp>
        <p:nvSpPr>
          <p:cNvPr id="11" name="Text 9"/>
          <p:cNvSpPr/>
          <p:nvPr/>
        </p:nvSpPr>
        <p:spPr>
          <a:xfrm>
            <a:off x="1270000" y="5143500"/>
            <a:ext cx="279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Code Example — Tables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70000" y="5651500"/>
            <a:ext cx="13716000" cy="317500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24000" y="5778500"/>
            <a:ext cx="13208000" cy="298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Students Table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TABLE students (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student_id INT PRIMARY KEY AUTO_INCREMENT,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name VARCHAR(100), email VARCHAR(100), major VARCHAR(50)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Courses Table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|  </a:t>
            </a:r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Enrollments Table (links Students &amp; Courses)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TABLE courses (    CREATE TABLE enrollments (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course_id INT PRIMARY KEY,     enrollment_id INT PRIMARY KEY,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title VARCHAR(100),            student_id INT </a:t>
            </a:r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REFERENCES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students(student_id),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credits INT                    course_id INT </a:t>
            </a:r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REFERENCES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courses(course_id),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                                 grade VARCHAR(2) );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986000" y="86995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SELECT Statement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1524000" cy="4064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1841500"/>
            <a:ext cx="152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70000" y="24130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statement retrieves data from one or more tables. You can specify columns, filter rows, sort results, and join multiple tables for comprehensive data retrieval.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70000" y="3594100"/>
            <a:ext cx="2286000" cy="4064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3594100"/>
            <a:ext cx="228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70000" y="4127500"/>
            <a:ext cx="1371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bank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queries all transactions above $10,000 for regulatory compliance reporting, selecting specific columns like date, amount, and account number.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70000" y="5016500"/>
            <a:ext cx="2540000" cy="406400"/>
          </a:xfrm>
          <a:prstGeom prst="roundRect">
            <a:avLst>
              <a:gd name="adj" fmla="val 12000"/>
            </a:avLst>
          </a:prstGeom>
          <a:solidFill>
            <a:srgbClr val="3C4A5A"/>
          </a:solidFill>
          <a:ln/>
        </p:spPr>
      </p:sp>
      <p:sp>
        <p:nvSpPr>
          <p:cNvPr id="11" name="Text 9"/>
          <p:cNvSpPr/>
          <p:nvPr/>
        </p:nvSpPr>
        <p:spPr>
          <a:xfrm>
            <a:off x="1270000" y="50165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Code Example — SQL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70000" y="5524500"/>
            <a:ext cx="13716000" cy="311150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24000" y="5651500"/>
            <a:ext cx="13208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Select all columns from employees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 * FROM employees;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Select specific columns with a condition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 first_name, last_name, salary FROM employees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department = 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'IT'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salary &gt; 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50000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Select unique values and sort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 DISTINCT department FROM employees ORDER BY department;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986000" y="86995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Filtering, Sorting &amp; Joins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1524000" cy="4064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1841500"/>
            <a:ext cx="152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70000" y="24130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filters rows,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ORDER BY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sorts results,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GROUP BY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aggregates data, and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JOIN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combines tables for comprehensive queries across related data.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70000" y="3594100"/>
            <a:ext cx="2286000" cy="4064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3594100"/>
            <a:ext cx="228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70000" y="4127500"/>
            <a:ext cx="1371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e-commerce platform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finds top-selling products by category, joining Orders and Products tables, grouping by category, and sorting by total revenue.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70000" y="5016500"/>
            <a:ext cx="2540000" cy="406400"/>
          </a:xfrm>
          <a:prstGeom prst="roundRect">
            <a:avLst>
              <a:gd name="adj" fmla="val 12000"/>
            </a:avLst>
          </a:prstGeom>
          <a:solidFill>
            <a:srgbClr val="3C4A5A"/>
          </a:solidFill>
          <a:ln/>
        </p:spPr>
      </p:sp>
      <p:sp>
        <p:nvSpPr>
          <p:cNvPr id="11" name="Text 9"/>
          <p:cNvSpPr/>
          <p:nvPr/>
        </p:nvSpPr>
        <p:spPr>
          <a:xfrm>
            <a:off x="1270000" y="50165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Code Example — SQL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70000" y="5524500"/>
            <a:ext cx="13716000" cy="311150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24000" y="5651500"/>
            <a:ext cx="13208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Aggregation with GROUP BY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 category, COUNT(*) AS count, AVG(price) AS avg_price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products WHERE stock &gt; 0 GROUP BY category ORDER BY avg_price DESC;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INNER JOIN: combine Orders and Customers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 o.order_id, c.name, o.total FROM orders o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INNER JOIN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customers c ON o.customer_id = c.customer_id;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LEFT JOIN: all customers even without orders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 c.name, COUNT(o.order_id) AS order_count FROM customers c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LEFT JOIN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orders o ON c.customer_id = o.customer_id GROUP BY c.name;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986000" y="86995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ODBC — Open Database Connectivity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1524000" cy="4064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1841500"/>
            <a:ext cx="152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70000" y="24130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ODBC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a standard API that allows applications to access data from various database systems using SQL. It provides a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uniform interface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regardless of the underlying database vendor.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70000" y="3594100"/>
            <a:ext cx="2286000" cy="4064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3594100"/>
            <a:ext cx="228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70000" y="4127500"/>
            <a:ext cx="1371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Microsoft Excel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connects to an Oracle database via ODBC to pull financial data for pivot table analysis, without needing Oracle-specific code.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70000" y="5016500"/>
            <a:ext cx="3302000" cy="406400"/>
          </a:xfrm>
          <a:prstGeom prst="roundRect">
            <a:avLst>
              <a:gd name="adj" fmla="val 12000"/>
            </a:avLst>
          </a:prstGeom>
          <a:solidFill>
            <a:srgbClr val="3C4A5A"/>
          </a:solidFill>
          <a:ln/>
        </p:spPr>
      </p:sp>
      <p:sp>
        <p:nvSpPr>
          <p:cNvPr id="11" name="Text 9"/>
          <p:cNvSpPr/>
          <p:nvPr/>
        </p:nvSpPr>
        <p:spPr>
          <a:xfrm>
            <a:off x="1270000" y="5016500"/>
            <a:ext cx="330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ODBC Architecture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70000" y="5524500"/>
            <a:ext cx="2540000" cy="7620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</p:spPr>
      </p:sp>
      <p:sp>
        <p:nvSpPr>
          <p:cNvPr id="13" name="Text 11"/>
          <p:cNvSpPr/>
          <p:nvPr/>
        </p:nvSpPr>
        <p:spPr>
          <a:xfrm>
            <a:off x="1270000" y="55245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Application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Excel, C++ App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10000" y="5842000"/>
            <a:ext cx="1016000" cy="0"/>
          </a:xfrm>
          <a:prstGeom prst="straightConnector1">
            <a:avLst/>
          </a:prstGeom>
          <a:noFill/>
          <a:ln w="25400">
            <a:solidFill>
              <a:srgbClr val="2E5E8A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4826000" y="5524500"/>
            <a:ext cx="2540000" cy="762000"/>
          </a:xfrm>
          <a:prstGeom prst="roundRect">
            <a:avLst>
              <a:gd name="adj" fmla="val 8000"/>
            </a:avLst>
          </a:prstGeom>
          <a:solidFill>
            <a:srgbClr val="FF7F50"/>
          </a:solidFill>
          <a:ln/>
        </p:spPr>
      </p:sp>
      <p:sp>
        <p:nvSpPr>
          <p:cNvPr id="16" name="Text 14"/>
          <p:cNvSpPr/>
          <p:nvPr/>
        </p:nvSpPr>
        <p:spPr>
          <a:xfrm>
            <a:off x="4826000" y="55245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Driver Manager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ODBC Administrator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66000" y="5842000"/>
            <a:ext cx="1016000" cy="0"/>
          </a:xfrm>
          <a:prstGeom prst="straightConnector1">
            <a:avLst/>
          </a:prstGeom>
          <a:noFill/>
          <a:ln w="25400">
            <a:solidFill>
              <a:srgbClr val="FF7F50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8382000" y="5524500"/>
            <a:ext cx="2540000" cy="762000"/>
          </a:xfrm>
          <a:prstGeom prst="roundRect">
            <a:avLst>
              <a:gd name="adj" fmla="val 8000"/>
            </a:avLst>
          </a:prstGeom>
          <a:solidFill>
            <a:srgbClr val="6B9CBF"/>
          </a:solidFill>
          <a:ln/>
        </p:spPr>
      </p:sp>
      <p:sp>
        <p:nvSpPr>
          <p:cNvPr id="19" name="Text 17"/>
          <p:cNvSpPr/>
          <p:nvPr/>
        </p:nvSpPr>
        <p:spPr>
          <a:xfrm>
            <a:off x="8382000" y="5524500"/>
            <a:ext cx="25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ODBC Driver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Database-Specific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922000" y="5842000"/>
            <a:ext cx="1016000" cy="0"/>
          </a:xfrm>
          <a:prstGeom prst="straightConnector1">
            <a:avLst/>
          </a:prstGeom>
          <a:noFill/>
          <a:ln w="25400">
            <a:solidFill>
              <a:srgbClr val="6B9CBF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11938000" y="5524500"/>
            <a:ext cx="3048000" cy="762000"/>
          </a:xfrm>
          <a:prstGeom prst="roundRect">
            <a:avLst>
              <a:gd name="adj" fmla="val 8000"/>
            </a:avLst>
          </a:prstGeom>
          <a:solidFill>
            <a:srgbClr val="3C4A5A"/>
          </a:solidFill>
          <a:ln/>
        </p:spPr>
      </p:sp>
      <p:sp>
        <p:nvSpPr>
          <p:cNvPr id="22" name="Text 20"/>
          <p:cNvSpPr/>
          <p:nvPr/>
        </p:nvSpPr>
        <p:spPr>
          <a:xfrm>
            <a:off x="11938000" y="55245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Database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Oracle, SQL Server, MySQL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70000" y="6667500"/>
            <a:ext cx="13716000" cy="165100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24000" y="6794500"/>
            <a:ext cx="1320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ODBC Connection String Example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Driver={Oracle ODBC Driver};Server=dbserver:1521;Database=FINANCE;</a:t>
            </a:r>
            <a:endParaRPr lang="en-US" sz="1500" dirty="0"/>
          </a:p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Uid=admin;Pwd=secret; 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Same code works for any ODBC-compliant database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986000" y="86995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JDBC Fundamentals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Lecture 19 — Java Database Connectivity: Bridging Java with databases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JDBC?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1524000" cy="4064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1841500"/>
            <a:ext cx="152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70000" y="24130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JDBC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(Java Database Connectivity) is a Java API that enables Java applications to interact with relational databases. It provides classes and interfaces for executing SQL, retrieving results, and managing connections.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70000" y="3594100"/>
            <a:ext cx="2286000" cy="4064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3594100"/>
            <a:ext cx="228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70000" y="4127500"/>
            <a:ext cx="1371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online banking app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uses JDBC to verify account balances, process transfers, and log transactions in a MySQL database — all from Java code.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70000" y="5016500"/>
            <a:ext cx="3302000" cy="406400"/>
          </a:xfrm>
          <a:prstGeom prst="roundRect">
            <a:avLst>
              <a:gd name="adj" fmla="val 12000"/>
            </a:avLst>
          </a:prstGeom>
          <a:solidFill>
            <a:srgbClr val="3C4A5A"/>
          </a:solidFill>
          <a:ln/>
        </p:spPr>
      </p:sp>
      <p:sp>
        <p:nvSpPr>
          <p:cNvPr id="11" name="Text 9"/>
          <p:cNvSpPr/>
          <p:nvPr/>
        </p:nvSpPr>
        <p:spPr>
          <a:xfrm>
            <a:off x="1270000" y="5016500"/>
            <a:ext cx="330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JDBC Classes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70000" y="5524500"/>
            <a:ext cx="13716000" cy="311150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24000" y="5651500"/>
            <a:ext cx="13208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Key JDBC classes in the java.sql package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DriverManager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— Manages database drivers and creates connections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Connection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— Represents a session with the database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Statement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— Executes static SQL statements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PreparedStatement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Pre-compiled SQL with parameters (safer)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ResultSet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— Holds the data returned from a query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SQLException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— Handles database access errors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Maven dependency for MySQL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&lt;dependency&gt; &lt;groupId&gt;mysql&lt;/groupId&gt; &lt;artifactId&gt;mysql-connector-java&lt;/artifactId&gt; &lt;version&gt;8.0.33&lt;/version&gt; &lt;/dependency&gt;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986000" y="86995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JDBC Architecture &amp; Driver Types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778000"/>
            <a:ext cx="1524000" cy="381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1778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70000" y="22606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JDBC uses a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layered architecture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 driver types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(Type 1-4) that bridge Java applications to databases, from ODBC bridges to pure Java drivers.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70000" y="3213100"/>
            <a:ext cx="2286000" cy="3810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32131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Real-World Example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70000" y="3810000"/>
            <a:ext cx="1371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Enterprise apps use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 4 drivers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(e.g., MySQL Connector/J) for best performance without native OS dependencies.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70000" y="4762500"/>
            <a:ext cx="3048000" cy="1460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97000" y="4826000"/>
            <a:ext cx="279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Type 1</a:t>
            </a:r>
            <a:endParaRPr lang="en-US" sz="1500" dirty="0"/>
          </a:p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JDBC-ODBC Bridge</a:t>
            </a:r>
            <a:endParaRPr lang="en-US" sz="15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Translates JDBC → ODBC</a:t>
            </a:r>
            <a:endParaRPr lang="en-US" sz="15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Deprecated, not portable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0" y="4762500"/>
            <a:ext cx="3048000" cy="1460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99000" y="4826000"/>
            <a:ext cx="279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Type 2</a:t>
            </a:r>
            <a:endParaRPr lang="en-US" sz="1500" dirty="0"/>
          </a:p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Native-API</a:t>
            </a:r>
            <a:endParaRPr lang="en-US" sz="15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Uses native client libs</a:t>
            </a:r>
            <a:endParaRPr lang="en-US" sz="15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Platform-dependent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874000" y="4762500"/>
            <a:ext cx="3048000" cy="1460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01000" y="4826000"/>
            <a:ext cx="279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Type 3</a:t>
            </a:r>
            <a:endParaRPr lang="en-US" sz="1500" dirty="0"/>
          </a:p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Network Protocol</a:t>
            </a:r>
            <a:endParaRPr lang="en-US" sz="15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Middleware server</a:t>
            </a:r>
            <a:endParaRPr lang="en-US" sz="15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Pure Java, 3-tier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176000" y="4762500"/>
            <a:ext cx="3810000" cy="14605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303000" y="4826000"/>
            <a:ext cx="3556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Type 4 (Recommended)</a:t>
            </a:r>
            <a:endParaRPr lang="en-US" sz="1500" dirty="0"/>
          </a:p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Pure Java / Thin Driver</a:t>
            </a:r>
            <a:endParaRPr lang="en-US" sz="15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Direct protocol, no native</a:t>
            </a:r>
            <a:endParaRPr lang="en-US" sz="15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Best performance, portable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270000" y="6286500"/>
            <a:ext cx="13716000" cy="215900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24000" y="6413500"/>
            <a:ext cx="13208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Loading a Type 4 MySQL driver (Java 6+ does this automatically)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Class.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forName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("com.mysql.cj.jdbc.Driver");  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Registers driver with DriverManager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Common JDBC URLs for different databases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mysqlUrl = 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"jdbc:mysql://localhost:3306/mydb"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pgUrl   = 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"jdbc:postgresql://localhost:5432/mydb"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oracleUrl = 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"jdbc:oracle:thin:@localhost:1521:ORCL"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986000" y="86995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Establishing a Database Connection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778000"/>
            <a:ext cx="1524000" cy="381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1778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70000" y="22606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JDBC connection is established using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DriverManager.getConnection()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a URL, username, and password, creating a session between Java and the database.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70000" y="3213100"/>
            <a:ext cx="2286000" cy="3810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32131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Real-World Example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70000" y="3810000"/>
            <a:ext cx="1371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hospital system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connects to PostgreSQL to retrieve patient records when a doctor logs in, then closes the connection when done.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70000" y="4699000"/>
            <a:ext cx="13716000" cy="406400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24000" y="4826000"/>
            <a:ext cx="13208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java.sql.*;  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Import all JDBC classes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DatabaseConnection {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static void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main(String[] args) {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String url = 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"jdbc:mysql://localhost:3306/hospital_db"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String user = 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"admin"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String password = 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"secure_pass"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</a:t>
            </a:r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(Connection conn = DriverManager.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getConnection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(url, user, password)) {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    System.out.println(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"Connected successfully!"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    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Perform database operations here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} </a:t>
            </a:r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catch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(SQLException e) {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    System.err.println(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"Connection failed: "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e.getMessage());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}  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Connection auto-closed by try-with-resources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}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986000" y="86995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Executing SQL Queries with JDBC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778000"/>
            <a:ext cx="1524000" cy="381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1778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70000" y="22606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JDBC provides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Statement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ResultSet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interfaces to execute SQL queries and iterate over returned data rows, mapping database results to Java objects.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70000" y="3213100"/>
            <a:ext cx="2286000" cy="3810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32131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Real-World Example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70000" y="3810000"/>
            <a:ext cx="1371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library catalog system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fetches all available books and displays them in a Java GUI table for users to browse and borrow.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70000" y="4699000"/>
            <a:ext cx="13716000" cy="406400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24000" y="4826000"/>
            <a:ext cx="13208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4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Execute a query and process the results</a:t>
            </a:r>
            <a:endParaRPr lang="en-US" sz="1400" dirty="0"/>
          </a:p>
          <a:p>
            <a:pPr algn="l">
              <a:lnSpc>
                <a:spcPct val="145000"/>
              </a:lnSpc>
            </a:pPr>
            <a:r>
              <a:rPr lang="en-US" sz="14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</a:t>
            </a:r>
            <a:pPr algn="l">
              <a:lnSpc>
                <a:spcPct val="145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(Connection conn = DriverManager.getConnection(url, user, pass);</a:t>
            </a:r>
            <a:endParaRPr lang="en-US" sz="1400" dirty="0"/>
          </a:p>
          <a:p>
            <a:pPr algn="l">
              <a:lnSpc>
                <a:spcPct val="145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Statement stmt = conn.createStatement()) {</a:t>
            </a:r>
            <a:endParaRPr lang="en-US" sz="1400" dirty="0"/>
          </a:p>
          <a:p>
            <a:pPr algn="l">
              <a:lnSpc>
                <a:spcPct val="145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String sql = </a:t>
            </a:r>
            <a:pPr algn="l">
              <a:lnSpc>
                <a:spcPct val="145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"SELECT book_id, title, author, year FROM books WHERE available = true"</a:t>
            </a:r>
            <a:pPr algn="l">
              <a:lnSpc>
                <a:spcPct val="145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400" dirty="0"/>
          </a:p>
          <a:p>
            <a:pPr algn="l">
              <a:lnSpc>
                <a:spcPct val="145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ResultSet rs = stmt.</a:t>
            </a:r>
            <a:pPr algn="l">
              <a:lnSpc>
                <a:spcPct val="145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executeQuery</a:t>
            </a:r>
            <a:pPr algn="l">
              <a:lnSpc>
                <a:spcPct val="145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(sql);</a:t>
            </a:r>
            <a:endParaRPr lang="en-US" sz="1400" dirty="0"/>
          </a:p>
          <a:p>
            <a:pPr algn="l">
              <a:lnSpc>
                <a:spcPct val="145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45000"/>
              </a:lnSpc>
            </a:pPr>
            <a:r>
              <a:rPr lang="en-US" sz="14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</a:t>
            </a:r>
            <a:pPr algn="l">
              <a:lnSpc>
                <a:spcPct val="145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(rs.</a:t>
            </a:r>
            <a:pPr algn="l">
              <a:lnSpc>
                <a:spcPct val="145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</a:t>
            </a:r>
            <a:pPr algn="l">
              <a:lnSpc>
                <a:spcPct val="145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()) {</a:t>
            </a:r>
            <a:endParaRPr lang="en-US" sz="1400" dirty="0"/>
          </a:p>
          <a:p>
            <a:pPr algn="l">
              <a:lnSpc>
                <a:spcPct val="145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</a:t>
            </a:r>
            <a:pPr algn="l">
              <a:lnSpc>
                <a:spcPct val="145000"/>
              </a:lnSpc>
            </a:pPr>
            <a:r>
              <a:rPr lang="en-US" sz="14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 algn="l">
              <a:lnSpc>
                <a:spcPct val="145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id = rs.</a:t>
            </a:r>
            <a:pPr algn="l">
              <a:lnSpc>
                <a:spcPct val="145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getInt</a:t>
            </a:r>
            <a:pPr algn="l">
              <a:lnSpc>
                <a:spcPct val="145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pPr algn="l">
              <a:lnSpc>
                <a:spcPct val="145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"book_id"</a:t>
            </a:r>
            <a:pPr algn="l">
              <a:lnSpc>
                <a:spcPct val="145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400" dirty="0"/>
          </a:p>
          <a:p>
            <a:pPr algn="l">
              <a:lnSpc>
                <a:spcPct val="145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String title = rs.</a:t>
            </a:r>
            <a:pPr algn="l">
              <a:lnSpc>
                <a:spcPct val="145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getString</a:t>
            </a:r>
            <a:pPr algn="l">
              <a:lnSpc>
                <a:spcPct val="145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pPr algn="l">
              <a:lnSpc>
                <a:spcPct val="145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"title"</a:t>
            </a:r>
            <a:pPr algn="l">
              <a:lnSpc>
                <a:spcPct val="145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400" dirty="0"/>
          </a:p>
          <a:p>
            <a:pPr algn="l">
              <a:lnSpc>
                <a:spcPct val="145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</a:t>
            </a:r>
            <a:pPr algn="l">
              <a:lnSpc>
                <a:spcPct val="145000"/>
              </a:lnSpc>
            </a:pPr>
            <a:r>
              <a:rPr lang="en-US" sz="14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 algn="l">
              <a:lnSpc>
                <a:spcPct val="145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year = rs.</a:t>
            </a:r>
            <a:pPr algn="l">
              <a:lnSpc>
                <a:spcPct val="145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getInt</a:t>
            </a:r>
            <a:pPr algn="l">
              <a:lnSpc>
                <a:spcPct val="145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(3);</a:t>
            </a:r>
            <a:endParaRPr lang="en-US" sz="1400" dirty="0"/>
          </a:p>
          <a:p>
            <a:pPr algn="l">
              <a:lnSpc>
                <a:spcPct val="145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System.out.println(id + </a:t>
            </a:r>
            <a:pPr algn="l">
              <a:lnSpc>
                <a:spcPct val="145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": "</a:t>
            </a:r>
            <a:pPr algn="l">
              <a:lnSpc>
                <a:spcPct val="145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title + </a:t>
            </a:r>
            <a:pPr algn="l">
              <a:lnSpc>
                <a:spcPct val="145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("</a:t>
            </a:r>
            <a:pPr algn="l">
              <a:lnSpc>
                <a:spcPct val="145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year + </a:t>
            </a:r>
            <a:pPr algn="l">
              <a:lnSpc>
                <a:spcPct val="145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400" dirty="0"/>
          </a:p>
          <a:p>
            <a:pPr algn="l">
              <a:lnSpc>
                <a:spcPct val="145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}</a:t>
            </a:r>
            <a:endParaRPr lang="en-US" sz="1400" dirty="0"/>
          </a:p>
          <a:p>
            <a:pPr algn="l">
              <a:lnSpc>
                <a:spcPct val="145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 </a:t>
            </a:r>
            <a:pPr algn="l">
              <a:lnSpc>
                <a:spcPct val="145000"/>
              </a:lnSpc>
            </a:pPr>
            <a:r>
              <a:rPr lang="en-US" sz="14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catch</a:t>
            </a:r>
            <a:pPr algn="l">
              <a:lnSpc>
                <a:spcPct val="145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(SQLException e) { e.printStackTrace(); }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986000" y="86995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Inserting Data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Lecture 20 — Adding new records to database tables using SQL and JDBC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INSERT Statement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1524000" cy="4064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1841500"/>
            <a:ext cx="152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70000" y="24130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statement adds new rows to a table. You can specify values for all columns or explicitly list which columns to populate using the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clause.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70000" y="3594100"/>
            <a:ext cx="2286000" cy="4064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3594100"/>
            <a:ext cx="228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70000" y="4127500"/>
            <a:ext cx="1371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hospital registration desk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adds a new patient record when someone checks in for the first time, storing their name, DOB, and contact info.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70000" y="5016500"/>
            <a:ext cx="2540000" cy="406400"/>
          </a:xfrm>
          <a:prstGeom prst="roundRect">
            <a:avLst>
              <a:gd name="adj" fmla="val 12000"/>
            </a:avLst>
          </a:prstGeom>
          <a:solidFill>
            <a:srgbClr val="3C4A5A"/>
          </a:solidFill>
          <a:ln/>
        </p:spPr>
      </p:sp>
      <p:sp>
        <p:nvSpPr>
          <p:cNvPr id="11" name="Text 9"/>
          <p:cNvSpPr/>
          <p:nvPr/>
        </p:nvSpPr>
        <p:spPr>
          <a:xfrm>
            <a:off x="1270000" y="50165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Code Example — SQL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70000" y="5524500"/>
            <a:ext cx="13716000" cy="311150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24000" y="5651500"/>
            <a:ext cx="13208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Insert with all columns specified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 INTO patients (first_name, last_name, date_of_birth, phone)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VALUES (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'John'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'Smith'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'1985-03-15'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'555-0123'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Insert with auto-increment ID (omit primary key)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 INTO appointments (patient_id, doctor_id, appointment_date, status)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VALUES (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101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'2026-06-30'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'Scheduled'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Insert multiple rows at once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 INTO medications (name, dosage) VALUES (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'Aspirin'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'100mg'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), (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'Ibuprofen'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'200mg'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986000" y="86995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Inserting Data with JDBC Statement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778000"/>
            <a:ext cx="1524000" cy="381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1778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70000" y="22606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JDBC's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Statement.executeUpdate()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executes INSERT operations and returns the number of rows affected, allowing Java programs to add data to databases.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70000" y="3213100"/>
            <a:ext cx="2286000" cy="3810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32131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Real-World Example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70000" y="3810000"/>
            <a:ext cx="1371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e-commerce checkout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creates a new order record after payment confirmation, storing customer ID, total amount, and timestamp.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70000" y="4699000"/>
            <a:ext cx="13716000" cy="406400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24000" y="4826000"/>
            <a:ext cx="13208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Insert data using Statement.executeUpdate()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(Connection conn = DriverManager.getConnection(url, user, pass);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Statement stmt = conn.createStatement()) {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String sql = 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"INSERT INTO orders (customer_id, total_amount, order_date) "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         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"VALUES (42, 199.99, '2026-06-26')"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rowsAffected = stmt.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executeUpdate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(sql);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System.out.println(rowsAffected + 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row(s) inserted."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Insert another record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String sql2 = 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"INSERT INTO order_items (order_id, product_id, qty) "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          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"VALUES (1001, 55, 2)"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rows2 = stmt.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executeUpdate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(sql2);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System.out.println(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"Order items: "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rows2 + 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row(s) added."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986000" y="86995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Handling Auto-Generated Keys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778000"/>
            <a:ext cx="1524000" cy="381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1778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70000" y="22606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inserting into tables with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auto-increment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primary keys, JDBC's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getGeneratedKeys()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retrieves the newly created ID for use in related records.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70000" y="3213100"/>
            <a:ext cx="2286000" cy="3810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32131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Real-World Example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70000" y="3810000"/>
            <a:ext cx="1371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Creating an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order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immediately using its generated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order_id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insert line items in an order_details table.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70000" y="4699000"/>
            <a:ext cx="13716000" cy="431800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24000" y="4826000"/>
            <a:ext cx="13208000" cy="412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Insert and retrieve the auto-generated key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(Statement stmt = conn.createStatement()) {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String sql = 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"INSERT INTO orders (customer_id, total) VALUES (42, 199.99)"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stmt.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executeUpdate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(sql, Statement.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RETURN_GENERATED_KEYS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(ResultSet rs = stmt.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getGeneratedKeys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()) {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</a:t>
            </a:r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(rs.next()) {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    </a:t>
            </a:r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orderId = rs.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getInt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(1);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    System.out.println(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"New Order ID: "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orderId);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    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Use generated key for related records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    stmt.executeUpdate(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"INSERT INTO items (order_id, prod_id, qty) VALUES ("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                     + orderId + 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", 55, 2)"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}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}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986000" y="86995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Updating Data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Lecture 20 — Modifying existing records safely and efficiently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UPDATE Statement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1524000" cy="4064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1841500"/>
            <a:ext cx="152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70000" y="24130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statement modifies existing rows using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new values and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target specific records.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Warning: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Omitting WHERE updates ALL rows!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70000" y="3594100"/>
            <a:ext cx="2286000" cy="4064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3594100"/>
            <a:ext cx="228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Real-World Example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70000" y="4127500"/>
            <a:ext cx="1371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university system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updates a student's GPA after final grades are posted, and adjusts inventory when items are purchased.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70000" y="5016500"/>
            <a:ext cx="2540000" cy="406400"/>
          </a:xfrm>
          <a:prstGeom prst="roundRect">
            <a:avLst>
              <a:gd name="adj" fmla="val 12000"/>
            </a:avLst>
          </a:prstGeom>
          <a:solidFill>
            <a:srgbClr val="3C4A5A"/>
          </a:solidFill>
          <a:ln/>
        </p:spPr>
      </p:sp>
      <p:sp>
        <p:nvSpPr>
          <p:cNvPr id="11" name="Text 9"/>
          <p:cNvSpPr/>
          <p:nvPr/>
        </p:nvSpPr>
        <p:spPr>
          <a:xfrm>
            <a:off x="1270000" y="50165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Code Example — SQL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70000" y="5524500"/>
            <a:ext cx="13716000" cy="311150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24000" y="5651500"/>
            <a:ext cx="13208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Update specific student record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 students SET gpa = 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3.75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status = 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'active'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student_id = 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1001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Update with calculation (decrement inventory)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 inventory SET quantity = quantity - 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product_id = 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quantity &gt;= 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UPDATE with subquery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 employees SET salary = salary * 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1.05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department_id IN (SELECT dept_id FROM departments WHERE name = 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'Engineering'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986000" y="86995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Updating Data with JDBC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778000"/>
            <a:ext cx="1524000" cy="381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1778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70000" y="22606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JDBC executes UPDATE through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Statement.executeUpdate()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returning the count of modified rows to verify the operation's scope and success.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70000" y="3213100"/>
            <a:ext cx="2286000" cy="3810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32131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Real-World Example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70000" y="3810000"/>
            <a:ext cx="1371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airline system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updates a flight's available seats when a booking is confirmed, ensuring no overbooking occurs.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70000" y="4699000"/>
            <a:ext cx="13716000" cy="419100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24000" y="4826000"/>
            <a:ext cx="1320800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Update data and verify rows affected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(Connection conn = DriverManager.getConnection(url, user, pass);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Statement stmt = conn.createStatement()) {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String sql = 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"UPDATE flights SET available_seats = available_seats - 1 "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       + 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"WHERE flight_id = 'AA101' AND available_seats &gt; 0"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updated = stmt.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executeUpdate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(sql);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(updated == 1) {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System.out.println(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"Seat reserved successfully!"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} </a:t>
            </a:r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 if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(updated == 0) {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System.out.println(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"No seats available or flight not found."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} </a:t>
            </a:r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System.out.println(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"Warning: "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updated + 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rows updated!"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}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986000" y="86995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06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4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PreparedStatement for Safe Operations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778000"/>
            <a:ext cx="1524000" cy="381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1778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70000" y="22606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PreparedStatement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pre-compiles SQL templates with parameter placeholders (?), preventing SQL injection and improving performance for repeated executions.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70000" y="3213100"/>
            <a:ext cx="2286000" cy="3810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32131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Real-World Example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70000" y="3810000"/>
            <a:ext cx="1371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login system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uses PreparedStatement to authenticate users safely, blocking attacks like 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 OR '1'='1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70000" y="4699000"/>
            <a:ext cx="13716000" cy="419100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24000" y="4826000"/>
            <a:ext cx="13208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INSERT with PreparedStatement — prevents SQL injection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sql = 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"INSERT INTO users (username, email, password) VALUES (?, ?, ?)"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(PreparedStatement pstmt = conn.prepareStatement(sql)) {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pstmt.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setString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(1, 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"jsmith"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       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Parameter index starts at 1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pstmt.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setString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(2, 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"john@email.com"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pstmt.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setString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(3, hashedPassword);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pstmt.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executeUpdate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UPDATE with PreparedStatement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String updateSql = 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"UPDATE users SET email = ? WHERE user_id = ?"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(PreparedStatement pstmt2 = conn.prepareStatement(updateSql)) {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pstmt2.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setString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(1, 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"new@email.com"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pstmt2.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setInt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(2, 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1001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pstmt2.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executeUpdate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}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986000" y="86995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Batch Processing for Efficiency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778000"/>
            <a:ext cx="1524000" cy="381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1778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70000" y="22606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JDBC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batch processing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groups multiple INSERT/UPDATE operations into a single network round-trip, dramatically improving performance for bulk operations.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70000" y="3213100"/>
            <a:ext cx="2286000" cy="3810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32131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Real-World Example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70000" y="3810000"/>
            <a:ext cx="1371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payroll system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processes salary updates for thousands of employees at month-end, reducing 1,000 round-trips to just one.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70000" y="4699000"/>
            <a:ext cx="13716000" cy="431800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24000" y="4826000"/>
            <a:ext cx="13208000" cy="412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2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Batch insert: group many operations into one request</a:t>
            </a:r>
            <a:endParaRPr lang="en-US" sz="1200" dirty="0"/>
          </a:p>
          <a:p>
            <a:pPr algn="l">
              <a:lnSpc>
                <a:spcPct val="135000"/>
              </a:lnSpc>
            </a:pPr>
            <a:r>
              <a:rPr lang="en-US" sz="1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sql = 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"INSERT INTO sales (product_id, quantity, sale_date) VALUES (?, ?, ?)"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200" dirty="0"/>
          </a:p>
          <a:p>
            <a:pPr algn="l">
              <a:lnSpc>
                <a:spcPct val="135000"/>
              </a:lnSpc>
            </a:pPr>
            <a:r>
              <a:rPr lang="en-US" sz="12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(PreparedStatement pstmt = conn.prepareStatement(sql)) {</a:t>
            </a:r>
            <a:endParaRPr lang="en-US" sz="1200" dirty="0"/>
          </a:p>
          <a:p>
            <a:pPr algn="l">
              <a:lnSpc>
                <a:spcPct val="135000"/>
              </a:lnSpc>
            </a:pPr>
            <a:r>
              <a:rPr lang="en-US" sz="1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35000"/>
              </a:lnSpc>
            </a:pPr>
            <a:r>
              <a:rPr lang="en-US" sz="12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(Sale sale : salesList) {</a:t>
            </a:r>
            <a:endParaRPr lang="en-US" sz="1200" dirty="0"/>
          </a:p>
          <a:p>
            <a:pPr algn="l">
              <a:lnSpc>
                <a:spcPct val="135000"/>
              </a:lnSpc>
            </a:pPr>
            <a:r>
              <a:rPr lang="en-US" sz="1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pstmt.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setInt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(1, sale.getProductId());</a:t>
            </a:r>
            <a:endParaRPr lang="en-US" sz="1200" dirty="0"/>
          </a:p>
          <a:p>
            <a:pPr algn="l">
              <a:lnSpc>
                <a:spcPct val="135000"/>
              </a:lnSpc>
            </a:pPr>
            <a:r>
              <a:rPr lang="en-US" sz="1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pstmt.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setInt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(2, sale.getQuantity());</a:t>
            </a:r>
            <a:endParaRPr lang="en-US" sz="1200" dirty="0"/>
          </a:p>
          <a:p>
            <a:pPr algn="l">
              <a:lnSpc>
                <a:spcPct val="135000"/>
              </a:lnSpc>
            </a:pPr>
            <a:r>
              <a:rPr lang="en-US" sz="1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pstmt.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setDate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(3, Date.valueOf(sale.getDate()));</a:t>
            </a:r>
            <a:endParaRPr lang="en-US" sz="1200" dirty="0"/>
          </a:p>
          <a:p>
            <a:pPr algn="l">
              <a:lnSpc>
                <a:spcPct val="135000"/>
              </a:lnSpc>
            </a:pPr>
            <a:r>
              <a:rPr lang="en-US" sz="1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pstmt.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addBatch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();  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Add to batch, don't execute yet</a:t>
            </a:r>
            <a:endParaRPr lang="en-US" sz="1200" dirty="0"/>
          </a:p>
          <a:p>
            <a:pPr algn="l">
              <a:lnSpc>
                <a:spcPct val="135000"/>
              </a:lnSpc>
            </a:pPr>
            <a:r>
              <a:rPr lang="en-US" sz="1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}</a:t>
            </a:r>
            <a:endParaRPr lang="en-US" sz="1200" dirty="0"/>
          </a:p>
          <a:p>
            <a:pPr algn="l">
              <a:lnSpc>
                <a:spcPct val="135000"/>
              </a:lnSpc>
            </a:pPr>
            <a:r>
              <a:rPr lang="en-US" sz="1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35000"/>
              </a:lnSpc>
            </a:pPr>
            <a:r>
              <a:rPr lang="en-US" sz="12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[] results = pstmt.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executeBatch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();  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Execute all at once</a:t>
            </a:r>
            <a:endParaRPr lang="en-US" sz="1200" dirty="0"/>
          </a:p>
          <a:p>
            <a:pPr algn="l">
              <a:lnSpc>
                <a:spcPct val="135000"/>
              </a:lnSpc>
            </a:pPr>
            <a:r>
              <a:rPr lang="en-US" sz="1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System.out.println(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"Batch complete: "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results.length + 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records"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200" dirty="0"/>
          </a:p>
          <a:p>
            <a:pPr algn="l">
              <a:lnSpc>
                <a:spcPct val="135000"/>
              </a:lnSpc>
            </a:pPr>
            <a:r>
              <a:rPr lang="en-US" sz="1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  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Same pattern works for UPDATE batch operations</a:t>
            </a:r>
            <a:endParaRPr lang="en-US" sz="1200" dirty="0"/>
          </a:p>
          <a:p>
            <a:pPr algn="l">
              <a:lnSpc>
                <a:spcPct val="135000"/>
              </a:lnSpc>
            </a:pPr>
            <a:r>
              <a:rPr lang="en-US" sz="1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986000" y="86995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Transaction Management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778000"/>
            <a:ext cx="1524000" cy="381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1778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70000" y="22606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JDBC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transactions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group multiple operations into atomic units — all succeed (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commit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or all fail (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rollback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), ensuring data integrity through ACID properties.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70000" y="3213100"/>
            <a:ext cx="2286000" cy="3810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32131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Real-World Example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70000" y="3810000"/>
            <a:ext cx="1371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bank transfer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debits one account and credits another — both must succeed together or both fail to prevent lost money.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70000" y="4699000"/>
            <a:ext cx="13716000" cy="406400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24000" y="4826000"/>
            <a:ext cx="13208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Bank transfer: debit + credit must both succeed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conn.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setAutoCommit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false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  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Start transaction mode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(Statement stmt = conn.createStatement()) {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stmt.executeUpdate(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"UPDATE accounts SET balance = balance - 500 WHERE id = 1"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stmt.executeUpdate(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"UPDATE accounts SET balance = balance + 500 WHERE id = 2"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conn.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commit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();  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Both succeeded — save changes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System.out.println(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"Transfer completed!"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 </a:t>
            </a:r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catch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(SQLException e) {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conn.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rollback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(); } </a:t>
            </a:r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catch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(SQLException ex) { }  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Undo on failure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System.err.println(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"Transfer failed: "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e.getMessage());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 </a:t>
            </a:r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finally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 conn.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setAutoCommit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true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 } </a:t>
            </a:r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catch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(SQLException e) { }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986000" y="86995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Handling in JDBC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778000"/>
            <a:ext cx="1524000" cy="381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1778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70000" y="22606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JDBC operations throw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SQLException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database errors, providing SQLState codes and messages. Proper handling uses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try-catch-finally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or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try-with-resources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ensure cleanup.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70000" y="3213100"/>
            <a:ext cx="2286000" cy="3810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32131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Real-World Example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70000" y="3810000"/>
            <a:ext cx="1371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application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gracefully handles database timeouts by showing a friendly message instead of crashing with a stack trace.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70000" y="4699000"/>
            <a:ext cx="13716000" cy="419100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24000" y="4826000"/>
            <a:ext cx="13208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Modern approach: try-with-resources auto-closes everything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sql = 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"UPDATE inventory SET qty = qty - ? WHERE product_id = ?"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(Connection conn = DriverManager.getConnection(url, user, pass);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PreparedStatement pstmt = conn.prepareStatement(sql)) {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pstmt.setInt(1, quantity);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pstmt.setInt(2, productId);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rows = pstmt.executeUpdate();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(rows == 0) </a:t>
            </a:r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throw new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SQLException(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"Insufficient inventory"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 </a:t>
            </a:r>
            <a:pPr algn="l">
              <a:lnSpc>
                <a:spcPct val="135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catch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(SQLException e) {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System.err.println(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"Error Code: "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e.getErrorCode());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System.err.println(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"SQL State: "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e.getSQLState());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System.err.println(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"Message: "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e.getMessage());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35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Log error, notify user, trigger fallback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300" dirty="0"/>
          </a:p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Resources automatically closed — no finally block needed!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986000" y="86995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 &amp; Security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778000"/>
            <a:ext cx="1524000" cy="381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1778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70000" y="22606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JDBC best practices include using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connection pools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closing resources, preferring PreparedStatement, and never hardcoding credentials to ensure secure, scalable applications.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70000" y="3213100"/>
            <a:ext cx="2286000" cy="3810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32131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Real-World Example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70000" y="36830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high-traffic web app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uses HikariCP to manage 100 connections serving 10,000 users, with credentials from environment variables.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70000" y="4699000"/>
            <a:ext cx="6604000" cy="3746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51000" y="488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2" name="Text 10"/>
          <p:cNvSpPr/>
          <p:nvPr/>
        </p:nvSpPr>
        <p:spPr>
          <a:xfrm>
            <a:off x="2235200" y="4889500"/>
            <a:ext cx="533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Security Best Practices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51000" y="5397500"/>
            <a:ext cx="5969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Use PreparedStatement always — prevents SQL injection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Store credentials in environment variables, never in code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Enable SSL/TLS for database connections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Use least-privilege database users (no DROP/GRANT)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5.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Validate all inputs before sending to database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6.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Hash passwords — never store plaintext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7.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Log queries without exposing sensitive data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8000" y="4699000"/>
            <a:ext cx="6858000" cy="37465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9000" y="488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285750"/>
                </a:moveTo>
                <a:lnTo>
                  <a:pt x="21878" y="285750"/>
                </a:lnTo>
                <a:cubicBezTo>
                  <a:pt x="-357" y="285750"/>
                  <a:pt x="-14020" y="261551"/>
                  <a:pt x="-2590" y="242441"/>
                </a:cubicBezTo>
                <a:lnTo>
                  <a:pt x="44648" y="163681"/>
                </a:lnTo>
                <a:cubicBezTo>
                  <a:pt x="52417" y="150733"/>
                  <a:pt x="66348" y="142875"/>
                  <a:pt x="81439" y="142875"/>
                </a:cubicBezTo>
                <a:lnTo>
                  <a:pt x="166271" y="142875"/>
                </a:lnTo>
                <a:cubicBezTo>
                  <a:pt x="234226" y="27771"/>
                  <a:pt x="335578" y="21967"/>
                  <a:pt x="403354" y="31879"/>
                </a:cubicBezTo>
                <a:cubicBezTo>
                  <a:pt x="414784" y="33576"/>
                  <a:pt x="423714" y="42505"/>
                  <a:pt x="425321" y="53846"/>
                </a:cubicBezTo>
                <a:cubicBezTo>
                  <a:pt x="435233" y="121622"/>
                  <a:pt x="429429" y="222974"/>
                  <a:pt x="314325" y="290929"/>
                </a:cubicBezTo>
                <a:lnTo>
                  <a:pt x="314325" y="375761"/>
                </a:lnTo>
                <a:cubicBezTo>
                  <a:pt x="314325" y="390852"/>
                  <a:pt x="306467" y="404783"/>
                  <a:pt x="293519" y="412552"/>
                </a:cubicBezTo>
                <a:lnTo>
                  <a:pt x="214759" y="459790"/>
                </a:lnTo>
                <a:cubicBezTo>
                  <a:pt x="195739" y="471220"/>
                  <a:pt x="171450" y="457468"/>
                  <a:pt x="171450" y="435322"/>
                </a:cubicBezTo>
                <a:lnTo>
                  <a:pt x="171450" y="342900"/>
                </a:lnTo>
                <a:cubicBezTo>
                  <a:pt x="171450" y="311378"/>
                  <a:pt x="145822" y="285750"/>
                  <a:pt x="114300" y="285750"/>
                </a:cubicBezTo>
                <a:lnTo>
                  <a:pt x="114211" y="285750"/>
                </a:lnTo>
                <a:close/>
                <a:moveTo>
                  <a:pt x="357188" y="142875"/>
                </a:moveTo>
                <a:cubicBezTo>
                  <a:pt x="357188" y="119219"/>
                  <a:pt x="337981" y="100013"/>
                  <a:pt x="314325" y="100013"/>
                </a:cubicBezTo>
                <a:cubicBezTo>
                  <a:pt x="290669" y="100013"/>
                  <a:pt x="271463" y="119219"/>
                  <a:pt x="271463" y="142875"/>
                </a:cubicBezTo>
                <a:cubicBezTo>
                  <a:pt x="271463" y="166531"/>
                  <a:pt x="290669" y="185738"/>
                  <a:pt x="314325" y="185738"/>
                </a:cubicBezTo>
                <a:cubicBezTo>
                  <a:pt x="337981" y="185738"/>
                  <a:pt x="357188" y="166531"/>
                  <a:pt x="357188" y="142875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6" name="Text 14"/>
          <p:cNvSpPr/>
          <p:nvPr/>
        </p:nvSpPr>
        <p:spPr>
          <a:xfrm>
            <a:off x="9093200" y="48895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 Best Practices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09000" y="5397500"/>
            <a:ext cx="6223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Use connection pooling (HikariCP, DBCP, c3p0)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Always close resources (try-with-resources)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Use batch processing for bulk operations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Cache PreparedStatement when possible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5.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Use database indexes for frequent queries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6.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Set connection timeouts appropriately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7.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Monitor connection pool metrics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986000" y="86995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CRUD Application Example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778000"/>
            <a:ext cx="1524000" cy="381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1778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70000" y="22606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complete Java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CRUD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(Create, Read, Update, Delete) application demonstrating all JDBC operations in a unified student management system with proper structure.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70000" y="3213100"/>
            <a:ext cx="2286000" cy="3810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32131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Real-World Example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70000" y="36830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school's student information system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supporting full record lifecycle — add new students, view records, update grades, and remove graduates.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70000" y="4572000"/>
            <a:ext cx="13716000" cy="4127500"/>
          </a:xfrm>
          <a:prstGeom prst="roundRect">
            <a:avLst>
              <a:gd name="adj" fmla="val 6000"/>
            </a:avLst>
          </a:prstGeom>
          <a:solidFill>
            <a:srgbClr val="F0F0F0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24000" y="4699000"/>
            <a:ext cx="13208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StudentDAO {  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Data Access Object pattern</a:t>
            </a:r>
            <a:endParaRPr lang="en-US" sz="1300" dirty="0"/>
          </a:p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30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Connection getConnection() </a:t>
            </a:r>
            <a:pPr algn="l">
              <a:lnSpc>
                <a:spcPct val="130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throws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SQLException {</a:t>
            </a:r>
            <a:endParaRPr lang="en-US" sz="1300" dirty="0"/>
          </a:p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</a:t>
            </a:r>
            <a:pPr algn="l">
              <a:lnSpc>
                <a:spcPct val="130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DriverManager.getConnection(DB_URL, USER, PASS); }</a:t>
            </a:r>
            <a:endParaRPr lang="en-US" sz="1300" dirty="0"/>
          </a:p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CREATE</a:t>
            </a:r>
            <a:endParaRPr lang="en-US" sz="1300" dirty="0"/>
          </a:p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30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addStudent(String name, String email) </a:t>
            </a:r>
            <a:pPr algn="l">
              <a:lnSpc>
                <a:spcPct val="130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throws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SQLException {</a:t>
            </a:r>
            <a:endParaRPr lang="en-US" sz="1300" dirty="0"/>
          </a:p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String sql = 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"INSERT INTO students (name, email) VALUES (?, ?)"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300" dirty="0"/>
          </a:p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</a:t>
            </a:r>
            <a:pPr algn="l">
              <a:lnSpc>
                <a:spcPct val="130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(Connection c = getConnection(); PreparedStatement ps = c.prepareStatement(sql)) {</a:t>
            </a:r>
            <a:endParaRPr lang="en-US" sz="1300" dirty="0"/>
          </a:p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    ps.setString(1, name); ps.setString(2, email); ps.executeUpdate(); } }</a:t>
            </a:r>
            <a:endParaRPr lang="en-US" sz="1300" dirty="0"/>
          </a:p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READ</a:t>
            </a:r>
            <a:endParaRPr lang="en-US" sz="1300" dirty="0"/>
          </a:p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30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 getStudent(</a:t>
            </a:r>
            <a:pPr algn="l">
              <a:lnSpc>
                <a:spcPct val="130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id) </a:t>
            </a:r>
            <a:pPr algn="l">
              <a:lnSpc>
                <a:spcPct val="130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throws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SQLException {</a:t>
            </a:r>
            <a:endParaRPr lang="en-US" sz="1300" dirty="0"/>
          </a:p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String sql = 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"SELECT * FROM students WHERE student_id = ?"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300" dirty="0"/>
          </a:p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</a:t>
            </a:r>
            <a:pPr algn="l">
              <a:lnSpc>
                <a:spcPct val="130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(Connection c = getConnection(); PreparedStatement ps = c.prepareStatement(sql)) {</a:t>
            </a:r>
            <a:endParaRPr lang="en-US" sz="1300" dirty="0"/>
          </a:p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    ps.setInt(1, id); ResultSet rs = ps.executeQuery();</a:t>
            </a:r>
            <a:endParaRPr lang="en-US" sz="1300" dirty="0"/>
          </a:p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    </a:t>
            </a:r>
            <a:pPr algn="l">
              <a:lnSpc>
                <a:spcPct val="130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(rs.next()) </a:t>
            </a:r>
            <a:pPr algn="l">
              <a:lnSpc>
                <a:spcPct val="130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 new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Student(rs.getInt(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"student_id"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), rs.getString(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"name"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), rs.getString(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"email"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));</a:t>
            </a:r>
            <a:endParaRPr lang="en-US" sz="1300" dirty="0"/>
          </a:p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    </a:t>
            </a:r>
            <a:pPr algn="l">
              <a:lnSpc>
                <a:spcPct val="130000"/>
              </a:lnSpc>
            </a:pPr>
            <a:r>
              <a:rPr lang="en-US" sz="13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 null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} }  </a:t>
            </a:r>
            <a:pPr algn="l">
              <a:lnSpc>
                <a:spcPct val="130000"/>
              </a:lnSpc>
            </a:pPr>
            <a:r>
              <a:rPr lang="en-US" sz="13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UPDATE and DELETE follow same pattern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986000" y="86995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06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4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Statement vs PreparedStatement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778000"/>
            <a:ext cx="1524000" cy="381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1778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70000" y="22606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Comparing the two primary JDBC statement types across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performance, security, and usability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guide proper selection for different scenarios.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70000" y="3213100"/>
            <a:ext cx="2286000" cy="381000"/>
          </a:xfrm>
          <a:prstGeom prst="roundRect">
            <a:avLst>
              <a:gd name="adj" fmla="val 12000"/>
            </a:avLst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32131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Real-World Example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70000" y="36830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reporting tool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uses Statement for one-off complex queries, while the registration module uses PreparedStatement for secure, repeated inserts.</a:t>
            </a:r>
            <a:endParaRPr lang="en-US" sz="1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4635500"/>
          <a:ext cx="13716000" cy="3619500"/>
        </p:xfrm>
        <a:graphic>
          <a:graphicData uri="http://schemas.openxmlformats.org/drawingml/2006/table">
            <a:tbl>
              <a:tblPr/>
              <a:tblGrid>
                <a:gridCol w="3017520"/>
                <a:gridCol w="5349240"/>
                <a:gridCol w="5349240"/>
              </a:tblGrid>
              <a:tr h="50673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Feature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Statement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PreparedStatement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62255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SQL Injection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Vulnerable</a:t>
                      </a:r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— SQL concatenated with user input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Safe</a:t>
                      </a:r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— Parameters escaped automatically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2255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Performance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Compiled on each execution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Pre-compiled</a:t>
                      </a:r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, faster for repeated use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2255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Parameters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String concatenation only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setString(), setInt(), etc.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2255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Readability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Hard to read with long concatenations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Clean</a:t>
                      </a:r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SQL with ? placeholders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2255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Best For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One-off, static queries (DDL)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All DML operations</a:t>
                      </a:r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(INSERT, UPDATE, SELECT)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1270000" y="8318500"/>
            <a:ext cx="13716000" cy="571500"/>
          </a:xfrm>
          <a:prstGeom prst="roundRect">
            <a:avLst>
              <a:gd name="adj" fmla="val 8000"/>
            </a:avLst>
          </a:prstGeom>
          <a:solidFill>
            <a:srgbClr val="2E5E8A">
              <a:alpha val="8235"/>
            </a:srgbClr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24000" y="8318500"/>
            <a:ext cx="1320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Verdict: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Always use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PreparedStatement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for INSERT, UPDATE, and SELECT. Use Statement only for CREATE TABLE, DROP TABLE, and other DDL.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4986000" y="86995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0" y="0"/>
                </a:moveTo>
                <a:lnTo>
                  <a:pt x="8128000" y="0"/>
                </a:lnTo>
                <a:lnTo>
                  <a:pt x="8128000" y="2286000"/>
                </a:lnTo>
                <a:quadBezTo>
                  <a:pt x="6096000" y="4572000"/>
                  <a:pt x="4064000" y="4572000"/>
                </a:quadBezTo>
                <a:lnTo>
                  <a:pt x="2032000" y="4572000"/>
                </a:lnTo>
                <a:quadBezTo>
                  <a:pt x="0" y="4572000"/>
                  <a:pt x="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>
                  <a:alpha val="25000"/>
                </a:srgbClr>
              </a:gs>
              <a:gs pos="100000">
                <a:srgbClr val="D0E0E3"/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8128000" y="45720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8128000" y="4572000"/>
                </a:moveTo>
                <a:lnTo>
                  <a:pt x="0" y="4572000"/>
                </a:lnTo>
                <a:lnTo>
                  <a:pt x="0" y="2286000"/>
                </a:lnTo>
                <a:quadBezTo>
                  <a:pt x="2032000" y="0"/>
                  <a:pt x="4064000" y="0"/>
                </a:quadBezTo>
                <a:lnTo>
                  <a:pt x="6096000" y="0"/>
                </a:lnTo>
                <a:quadBezTo>
                  <a:pt x="8128000" y="0"/>
                  <a:pt x="812800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100000">
                <a:srgbClr val="FF7F50">
                  <a:alpha val="13000"/>
                </a:srgbClr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2286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Takeaways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2032000" y="3429000"/>
            <a:ext cx="12192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Relational databases organize data in linked tables using primary and foreign keys</a:t>
            </a:r>
            <a:endParaRPr lang="en-US" sz="2000" dirty="0"/>
          </a:p>
          <a:p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SQL provides powerful data manipulation with </a:t>
            </a:r>
            <a:pPr algn="ctr">
              <a:lnSpc>
                <a:spcPct val="18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SELECT</a:t>
            </a:r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pPr algn="ctr">
              <a:lnSpc>
                <a:spcPct val="18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INSERT</a:t>
            </a:r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pPr algn="ctr">
              <a:lnSpc>
                <a:spcPct val="18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UPDATE</a:t>
            </a:r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and </a:t>
            </a:r>
            <a:pPr algn="ctr">
              <a:lnSpc>
                <a:spcPct val="18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DELETE</a:t>
            </a:r>
            <a:endParaRPr lang="en-US" sz="2000" dirty="0"/>
          </a:p>
          <a:p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JDBC connects Java applications to any relational database</a:t>
            </a:r>
            <a:endParaRPr lang="en-US" sz="2000" dirty="0"/>
          </a:p>
          <a:p>
            <a:pPr algn="ctr">
              <a:lnSpc>
                <a:spcPct val="18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PreparedStatement</a:t>
            </a:r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prevents SQL injection and improves performance</a:t>
            </a:r>
            <a:endParaRPr lang="en-US" sz="2000" dirty="0"/>
          </a:p>
          <a:p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Transactions ensure data integrity — commit on success, rollback on failure</a:t>
            </a:r>
            <a:endParaRPr lang="en-US" sz="2000" dirty="0"/>
          </a:p>
          <a:p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Always close resources and use </a:t>
            </a:r>
            <a:pPr algn="ctr">
              <a:lnSpc>
                <a:spcPct val="18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connection pools</a:t>
            </a:r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for production apps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318000" y="6921500"/>
            <a:ext cx="762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Java Programming Course · Week 10 · Lecture 19 &amp; 20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10 - JDBC &amp; Database Operations</dc:title>
  <dc:subject>Week 10 - JDBC &amp; Database Operations</dc:subject>
  <dc:creator>Kimi</dc:creator>
  <cp:lastModifiedBy>Kimi</cp:lastModifiedBy>
  <cp:revision>1</cp:revision>
  <dcterms:created xsi:type="dcterms:W3CDTF">2026-06-26T05:10:56Z</dcterms:created>
  <dcterms:modified xsi:type="dcterms:W3CDTF">2026-06-26T05:10:56Z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{"Label":"Week 10 - JDBC &amp; Database Operations","ContentProducer":"001191110108MACG2KBH8F10000","ProduceID":"19f02293-7f32-8d01-8000-00008652b0e6","ReservedCode1":"","ContentPropagator":"001191110108MACG2KBH8F20000","PropagateID":"19f02275-a952-8310-8000-0901d6756afd","ReservedCode2":""}</vt:lpwstr>
  </property>
</Properties>
</file>