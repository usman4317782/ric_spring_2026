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45000" cy="2794000"/>
          </a:xfrm>
          <a:custGeom>
            <a:avLst/>
            <a:gdLst/>
            <a:ahLst/>
            <a:cxnLst/>
            <a:rect l="l" t="t" r="r" b="b"/>
            <a:pathLst>
              <a:path w="4445000" h="2794000">
                <a:moveTo>
                  <a:pt x="0" y="0"/>
                </a:moveTo>
                <a:lnTo>
                  <a:pt x="4445000" y="0"/>
                </a:lnTo>
                <a:lnTo>
                  <a:pt x="4445000" y="1397000"/>
                </a:lnTo>
                <a:quadBezTo>
                  <a:pt x="3889375" y="1862667"/>
                  <a:pt x="3333750" y="1862667"/>
                </a:quadBezTo>
                <a:lnTo>
                  <a:pt x="1111250" y="1862667"/>
                </a:lnTo>
                <a:quadBezTo>
                  <a:pt x="555625" y="1862667"/>
                  <a:pt x="0" y="1397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811000" y="7112000"/>
            <a:ext cx="4445000" cy="2032000"/>
          </a:xfrm>
          <a:custGeom>
            <a:avLst/>
            <a:gdLst/>
            <a:ahLst/>
            <a:cxnLst/>
            <a:rect l="l" t="t" r="r" b="b"/>
            <a:pathLst>
              <a:path w="4445000" h="2032000">
                <a:moveTo>
                  <a:pt x="4445000" y="2032000"/>
                </a:moveTo>
                <a:lnTo>
                  <a:pt x="0" y="2032000"/>
                </a:lnTo>
                <a:lnTo>
                  <a:pt x="0" y="1016000"/>
                </a:lnTo>
                <a:quadBezTo>
                  <a:pt x="555625" y="508000"/>
                  <a:pt x="1111250" y="508000"/>
                </a:quadBezTo>
                <a:lnTo>
                  <a:pt x="3333750" y="508000"/>
                </a:lnTo>
                <a:quadBezTo>
                  <a:pt x="3889375" y="508000"/>
                  <a:pt x="4445000" y="101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984500"/>
            <a:ext cx="1270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GUI Programming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3048000" y="4191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9 - Lecture 17 &amp; 18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4826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048000" y="50800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Interactive Applications with Java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18000" y="6096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 · Event Listeners · Layout Managers · Wrapper Classes · String Handling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476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 Drag &amp; Drop and Event Listeners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24000" y="3556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3492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0" y="3556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Layout Managers &amp; Wrapper Classes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524000" y="4572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4508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4572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Class and Associated Classes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524000" y="5588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5524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86000" y="5588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 &amp; Summary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17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Building GUI Through Drag And Drop &amp; Use Of Event Listeners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GUI in Java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350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GUI?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 (Graphical User Interface) lets users interact with applications through visual elements like buttons, text fields, and windows.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GUI Frameworks: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Abstract Window Toolkit (heavyweight)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Swing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Lightweight, platform-independent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JavaFX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Modern rich client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0" y="1905000"/>
            <a:ext cx="685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9000" y="2159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Swing Components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09000" y="2794000"/>
            <a:ext cx="6096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JFrame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Main application window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JPanel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Container for grouping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JButton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Clickable button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JLabel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Text or image display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JTextField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Single-line input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JTextArea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Multi-line text area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Drag and Drop - Definition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41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45143" y="39688"/>
                </a:moveTo>
                <a:cubicBezTo>
                  <a:pt x="145143" y="17760"/>
                  <a:pt x="165440" y="0"/>
                  <a:pt x="190500" y="0"/>
                </a:cubicBezTo>
                <a:cubicBezTo>
                  <a:pt x="215560" y="0"/>
                  <a:pt x="235857" y="17760"/>
                  <a:pt x="235857" y="39688"/>
                </a:cubicBezTo>
                <a:lnTo>
                  <a:pt x="235857" y="186730"/>
                </a:lnTo>
                <a:cubicBezTo>
                  <a:pt x="245496" y="179189"/>
                  <a:pt x="258196" y="174625"/>
                  <a:pt x="272143" y="174625"/>
                </a:cubicBezTo>
                <a:cubicBezTo>
                  <a:pt x="295502" y="174625"/>
                  <a:pt x="315459" y="187523"/>
                  <a:pt x="323170" y="205581"/>
                </a:cubicBezTo>
                <a:cubicBezTo>
                  <a:pt x="333148" y="196354"/>
                  <a:pt x="347209" y="190500"/>
                  <a:pt x="362857" y="190500"/>
                </a:cubicBezTo>
                <a:cubicBezTo>
                  <a:pt x="391546" y="190500"/>
                  <a:pt x="415018" y="209848"/>
                  <a:pt x="417172" y="234454"/>
                </a:cubicBezTo>
                <a:cubicBezTo>
                  <a:pt x="426811" y="226814"/>
                  <a:pt x="439624" y="222250"/>
                  <a:pt x="453571" y="222250"/>
                </a:cubicBezTo>
                <a:cubicBezTo>
                  <a:pt x="483621" y="222250"/>
                  <a:pt x="508000" y="243582"/>
                  <a:pt x="508000" y="269875"/>
                </a:cubicBezTo>
                <a:lnTo>
                  <a:pt x="508000" y="381000"/>
                </a:lnTo>
                <a:cubicBezTo>
                  <a:pt x="508000" y="451148"/>
                  <a:pt x="443026" y="508000"/>
                  <a:pt x="362857" y="508000"/>
                </a:cubicBezTo>
                <a:lnTo>
                  <a:pt x="266133" y="508000"/>
                </a:lnTo>
                <a:cubicBezTo>
                  <a:pt x="260463" y="508000"/>
                  <a:pt x="254907" y="507702"/>
                  <a:pt x="249464" y="507008"/>
                </a:cubicBezTo>
                <a:cubicBezTo>
                  <a:pt x="186758" y="501452"/>
                  <a:pt x="129041" y="473273"/>
                  <a:pt x="90714" y="428625"/>
                </a:cubicBezTo>
                <a:lnTo>
                  <a:pt x="9071" y="333375"/>
                </a:lnTo>
                <a:cubicBezTo>
                  <a:pt x="-6010" y="315813"/>
                  <a:pt x="-1928" y="291009"/>
                  <a:pt x="18143" y="277813"/>
                </a:cubicBezTo>
                <a:cubicBezTo>
                  <a:pt x="38213" y="264616"/>
                  <a:pt x="66562" y="268188"/>
                  <a:pt x="81643" y="285750"/>
                </a:cubicBezTo>
                <a:lnTo>
                  <a:pt x="145143" y="359866"/>
                </a:lnTo>
                <a:lnTo>
                  <a:pt x="145143" y="39688"/>
                </a:lnTo>
                <a:close/>
                <a:moveTo>
                  <a:pt x="272143" y="301625"/>
                </a:moveTo>
                <a:cubicBezTo>
                  <a:pt x="272143" y="292894"/>
                  <a:pt x="263979" y="285750"/>
                  <a:pt x="254000" y="285750"/>
                </a:cubicBezTo>
                <a:cubicBezTo>
                  <a:pt x="244021" y="285750"/>
                  <a:pt x="235857" y="292894"/>
                  <a:pt x="235857" y="301625"/>
                </a:cubicBezTo>
                <a:lnTo>
                  <a:pt x="235857" y="396875"/>
                </a:lnTo>
                <a:cubicBezTo>
                  <a:pt x="235857" y="405606"/>
                  <a:pt x="244021" y="412750"/>
                  <a:pt x="254000" y="412750"/>
                </a:cubicBezTo>
                <a:cubicBezTo>
                  <a:pt x="263979" y="412750"/>
                  <a:pt x="272143" y="405606"/>
                  <a:pt x="272143" y="396875"/>
                </a:cubicBezTo>
                <a:lnTo>
                  <a:pt x="272143" y="301625"/>
                </a:lnTo>
                <a:close/>
                <a:moveTo>
                  <a:pt x="326571" y="285750"/>
                </a:moveTo>
                <a:cubicBezTo>
                  <a:pt x="316593" y="285750"/>
                  <a:pt x="308429" y="292894"/>
                  <a:pt x="308429" y="301625"/>
                </a:cubicBezTo>
                <a:lnTo>
                  <a:pt x="308429" y="396875"/>
                </a:lnTo>
                <a:cubicBezTo>
                  <a:pt x="308429" y="405606"/>
                  <a:pt x="316593" y="412750"/>
                  <a:pt x="326571" y="412750"/>
                </a:cubicBezTo>
                <a:cubicBezTo>
                  <a:pt x="336550" y="412750"/>
                  <a:pt x="344714" y="405606"/>
                  <a:pt x="344714" y="396875"/>
                </a:cubicBezTo>
                <a:lnTo>
                  <a:pt x="344714" y="301625"/>
                </a:lnTo>
                <a:cubicBezTo>
                  <a:pt x="344714" y="292894"/>
                  <a:pt x="336550" y="285750"/>
                  <a:pt x="326571" y="285750"/>
                </a:cubicBezTo>
                <a:close/>
                <a:moveTo>
                  <a:pt x="417286" y="301625"/>
                </a:moveTo>
                <a:cubicBezTo>
                  <a:pt x="417286" y="292894"/>
                  <a:pt x="409121" y="285750"/>
                  <a:pt x="399143" y="285750"/>
                </a:cubicBezTo>
                <a:cubicBezTo>
                  <a:pt x="389164" y="285750"/>
                  <a:pt x="381000" y="292894"/>
                  <a:pt x="381000" y="301625"/>
                </a:cubicBezTo>
                <a:lnTo>
                  <a:pt x="381000" y="396875"/>
                </a:lnTo>
                <a:cubicBezTo>
                  <a:pt x="381000" y="405606"/>
                  <a:pt x="389164" y="412750"/>
                  <a:pt x="399143" y="412750"/>
                </a:cubicBezTo>
                <a:cubicBezTo>
                  <a:pt x="409121" y="412750"/>
                  <a:pt x="417286" y="405606"/>
                  <a:pt x="417286" y="396875"/>
                </a:cubicBezTo>
                <a:lnTo>
                  <a:pt x="417286" y="301625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413000" y="2032000"/>
            <a:ext cx="1219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Drag and Drop (DnD)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 GUI interaction technique that allows users to select an object, drag it to a different location, and drop it there. In Java Swing, DnD is implemented using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TransferHandler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Transferable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interface.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70000" y="4064000"/>
            <a:ext cx="4191000" cy="3556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8" name="Shape 6"/>
          <p:cNvSpPr/>
          <p:nvPr/>
        </p:nvSpPr>
        <p:spPr>
          <a:xfrm>
            <a:off x="2921000" y="431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5183" y="2977"/>
                </a:moveTo>
                <a:cubicBezTo>
                  <a:pt x="116205" y="-1905"/>
                  <a:pt x="129540" y="-833"/>
                  <a:pt x="139337" y="5715"/>
                </a:cubicBezTo>
                <a:lnTo>
                  <a:pt x="574766" y="291346"/>
                </a:lnTo>
                <a:cubicBezTo>
                  <a:pt x="586060" y="298728"/>
                  <a:pt x="590550" y="311587"/>
                  <a:pt x="586196" y="323255"/>
                </a:cubicBezTo>
                <a:cubicBezTo>
                  <a:pt x="581841" y="334923"/>
                  <a:pt x="569323" y="342781"/>
                  <a:pt x="555171" y="342781"/>
                </a:cubicBezTo>
                <a:lnTo>
                  <a:pt x="347935" y="342781"/>
                </a:lnTo>
                <a:lnTo>
                  <a:pt x="468902" y="554355"/>
                </a:lnTo>
                <a:cubicBezTo>
                  <a:pt x="479652" y="573167"/>
                  <a:pt x="470943" y="596027"/>
                  <a:pt x="449444" y="605433"/>
                </a:cubicBezTo>
                <a:cubicBezTo>
                  <a:pt x="427945" y="614839"/>
                  <a:pt x="401819" y="607219"/>
                  <a:pt x="391069" y="588407"/>
                </a:cubicBezTo>
                <a:lnTo>
                  <a:pt x="270102" y="376833"/>
                </a:lnTo>
                <a:lnTo>
                  <a:pt x="145869" y="521851"/>
                </a:lnTo>
                <a:cubicBezTo>
                  <a:pt x="137432" y="531733"/>
                  <a:pt x="122736" y="535662"/>
                  <a:pt x="109401" y="531852"/>
                </a:cubicBezTo>
                <a:cubicBezTo>
                  <a:pt x="96066" y="528042"/>
                  <a:pt x="87086" y="517088"/>
                  <a:pt x="87086" y="504825"/>
                </a:cubicBezTo>
                <a:lnTo>
                  <a:pt x="87086" y="28575"/>
                </a:lnTo>
                <a:cubicBezTo>
                  <a:pt x="87086" y="17740"/>
                  <a:pt x="94025" y="7858"/>
                  <a:pt x="105183" y="297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5080000"/>
            <a:ext cx="368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Drag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24000" y="5651500"/>
            <a:ext cx="368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Press and hold mouse button on a component, then move the cursor to initiate transfer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842000" y="4064000"/>
            <a:ext cx="4191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3000" y="431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31708" y="11192"/>
                </a:moveTo>
                <a:cubicBezTo>
                  <a:pt x="316825" y="-3691"/>
                  <a:pt x="292656" y="-3691"/>
                  <a:pt x="277773" y="11192"/>
                </a:cubicBezTo>
                <a:lnTo>
                  <a:pt x="201573" y="87392"/>
                </a:lnTo>
                <a:cubicBezTo>
                  <a:pt x="190619" y="98346"/>
                  <a:pt x="187404" y="114657"/>
                  <a:pt x="193358" y="128945"/>
                </a:cubicBezTo>
                <a:cubicBezTo>
                  <a:pt x="199311" y="143232"/>
                  <a:pt x="213241" y="152400"/>
                  <a:pt x="228600" y="152400"/>
                </a:cubicBezTo>
                <a:lnTo>
                  <a:pt x="266700" y="152400"/>
                </a:lnTo>
                <a:lnTo>
                  <a:pt x="266700" y="266700"/>
                </a:lnTo>
                <a:lnTo>
                  <a:pt x="152400" y="266700"/>
                </a:lnTo>
                <a:lnTo>
                  <a:pt x="152400" y="228600"/>
                </a:lnTo>
                <a:cubicBezTo>
                  <a:pt x="152400" y="213241"/>
                  <a:pt x="143113" y="199311"/>
                  <a:pt x="128826" y="193358"/>
                </a:cubicBezTo>
                <a:cubicBezTo>
                  <a:pt x="114538" y="187404"/>
                  <a:pt x="98227" y="190738"/>
                  <a:pt x="87273" y="201573"/>
                </a:cubicBezTo>
                <a:lnTo>
                  <a:pt x="11073" y="277773"/>
                </a:lnTo>
                <a:cubicBezTo>
                  <a:pt x="-3810" y="292656"/>
                  <a:pt x="-3810" y="316825"/>
                  <a:pt x="11073" y="331708"/>
                </a:cubicBezTo>
                <a:lnTo>
                  <a:pt x="87273" y="407908"/>
                </a:lnTo>
                <a:cubicBezTo>
                  <a:pt x="98227" y="418862"/>
                  <a:pt x="114538" y="422077"/>
                  <a:pt x="128826" y="416123"/>
                </a:cubicBezTo>
                <a:cubicBezTo>
                  <a:pt x="143113" y="410170"/>
                  <a:pt x="152400" y="396359"/>
                  <a:pt x="152400" y="381000"/>
                </a:cubicBezTo>
                <a:lnTo>
                  <a:pt x="152400" y="342900"/>
                </a:lnTo>
                <a:lnTo>
                  <a:pt x="266700" y="342900"/>
                </a:lnTo>
                <a:lnTo>
                  <a:pt x="266700" y="457200"/>
                </a:lnTo>
                <a:lnTo>
                  <a:pt x="228600" y="457200"/>
                </a:lnTo>
                <a:cubicBezTo>
                  <a:pt x="213241" y="457200"/>
                  <a:pt x="199311" y="466487"/>
                  <a:pt x="193358" y="480774"/>
                </a:cubicBezTo>
                <a:cubicBezTo>
                  <a:pt x="187404" y="495062"/>
                  <a:pt x="190738" y="511373"/>
                  <a:pt x="201573" y="522327"/>
                </a:cubicBezTo>
                <a:lnTo>
                  <a:pt x="277773" y="598527"/>
                </a:lnTo>
                <a:cubicBezTo>
                  <a:pt x="292656" y="613410"/>
                  <a:pt x="316825" y="613410"/>
                  <a:pt x="331708" y="598527"/>
                </a:cubicBezTo>
                <a:lnTo>
                  <a:pt x="407908" y="522327"/>
                </a:lnTo>
                <a:cubicBezTo>
                  <a:pt x="418862" y="511373"/>
                  <a:pt x="422077" y="495062"/>
                  <a:pt x="416123" y="480774"/>
                </a:cubicBezTo>
                <a:cubicBezTo>
                  <a:pt x="410170" y="466487"/>
                  <a:pt x="396359" y="457200"/>
                  <a:pt x="381000" y="457200"/>
                </a:cubicBezTo>
                <a:lnTo>
                  <a:pt x="342900" y="457200"/>
                </a:lnTo>
                <a:lnTo>
                  <a:pt x="342900" y="342900"/>
                </a:lnTo>
                <a:lnTo>
                  <a:pt x="457200" y="342900"/>
                </a:lnTo>
                <a:lnTo>
                  <a:pt x="457200" y="381000"/>
                </a:lnTo>
                <a:cubicBezTo>
                  <a:pt x="457200" y="396359"/>
                  <a:pt x="466487" y="410289"/>
                  <a:pt x="480774" y="416243"/>
                </a:cubicBezTo>
                <a:cubicBezTo>
                  <a:pt x="495062" y="422196"/>
                  <a:pt x="511373" y="418862"/>
                  <a:pt x="522327" y="408027"/>
                </a:cubicBezTo>
                <a:lnTo>
                  <a:pt x="598527" y="331827"/>
                </a:lnTo>
                <a:cubicBezTo>
                  <a:pt x="613410" y="316944"/>
                  <a:pt x="613410" y="292775"/>
                  <a:pt x="598527" y="277892"/>
                </a:cubicBezTo>
                <a:lnTo>
                  <a:pt x="522327" y="201692"/>
                </a:lnTo>
                <a:cubicBezTo>
                  <a:pt x="511373" y="190738"/>
                  <a:pt x="495062" y="187523"/>
                  <a:pt x="480774" y="193477"/>
                </a:cubicBezTo>
                <a:cubicBezTo>
                  <a:pt x="466487" y="199430"/>
                  <a:pt x="457200" y="213241"/>
                  <a:pt x="457200" y="228600"/>
                </a:cubicBezTo>
                <a:lnTo>
                  <a:pt x="457200" y="266700"/>
                </a:lnTo>
                <a:lnTo>
                  <a:pt x="342900" y="266700"/>
                </a:lnTo>
                <a:lnTo>
                  <a:pt x="342900" y="152400"/>
                </a:lnTo>
                <a:lnTo>
                  <a:pt x="381000" y="152400"/>
                </a:lnTo>
                <a:cubicBezTo>
                  <a:pt x="396359" y="152400"/>
                  <a:pt x="410289" y="143113"/>
                  <a:pt x="416243" y="128826"/>
                </a:cubicBezTo>
                <a:cubicBezTo>
                  <a:pt x="422196" y="114538"/>
                  <a:pt x="418862" y="98227"/>
                  <a:pt x="408027" y="87273"/>
                </a:cubicBezTo>
                <a:lnTo>
                  <a:pt x="331827" y="11073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3" name="Text 11"/>
          <p:cNvSpPr/>
          <p:nvPr/>
        </p:nvSpPr>
        <p:spPr>
          <a:xfrm>
            <a:off x="6096000" y="5080000"/>
            <a:ext cx="368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96000" y="5588000"/>
            <a:ext cx="368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moves from source to target via the Transferable interface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0414000" y="4064000"/>
            <a:ext cx="4572000" cy="355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6" name="Shape 14"/>
          <p:cNvSpPr/>
          <p:nvPr/>
        </p:nvSpPr>
        <p:spPr>
          <a:xfrm>
            <a:off x="12293600" y="431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800" y="571500"/>
                </a:moveTo>
                <a:cubicBezTo>
                  <a:pt x="50800" y="592574"/>
                  <a:pt x="73501" y="609600"/>
                  <a:pt x="101600" y="609600"/>
                </a:cubicBezTo>
                <a:cubicBezTo>
                  <a:pt x="129699" y="609600"/>
                  <a:pt x="152400" y="592574"/>
                  <a:pt x="152400" y="571500"/>
                </a:cubicBezTo>
                <a:lnTo>
                  <a:pt x="152400" y="323850"/>
                </a:lnTo>
                <a:lnTo>
                  <a:pt x="50800" y="323850"/>
                </a:lnTo>
                <a:lnTo>
                  <a:pt x="50800" y="571500"/>
                </a:lnTo>
                <a:close/>
                <a:moveTo>
                  <a:pt x="355600" y="381000"/>
                </a:moveTo>
                <a:cubicBezTo>
                  <a:pt x="355600" y="402074"/>
                  <a:pt x="378301" y="419100"/>
                  <a:pt x="406400" y="419100"/>
                </a:cubicBezTo>
                <a:cubicBezTo>
                  <a:pt x="434499" y="419100"/>
                  <a:pt x="457200" y="402074"/>
                  <a:pt x="457200" y="381000"/>
                </a:cubicBezTo>
                <a:lnTo>
                  <a:pt x="457200" y="304800"/>
                </a:lnTo>
                <a:cubicBezTo>
                  <a:pt x="457200" y="283726"/>
                  <a:pt x="434499" y="266700"/>
                  <a:pt x="406400" y="266700"/>
                </a:cubicBezTo>
                <a:cubicBezTo>
                  <a:pt x="378301" y="266700"/>
                  <a:pt x="355600" y="283726"/>
                  <a:pt x="355600" y="304800"/>
                </a:cubicBezTo>
                <a:lnTo>
                  <a:pt x="355600" y="381000"/>
                </a:lnTo>
                <a:close/>
                <a:moveTo>
                  <a:pt x="254000" y="457200"/>
                </a:moveTo>
                <a:cubicBezTo>
                  <a:pt x="282099" y="457200"/>
                  <a:pt x="304800" y="440174"/>
                  <a:pt x="304800" y="419100"/>
                </a:cubicBezTo>
                <a:lnTo>
                  <a:pt x="304800" y="361950"/>
                </a:lnTo>
                <a:cubicBezTo>
                  <a:pt x="304800" y="340876"/>
                  <a:pt x="282099" y="323850"/>
                  <a:pt x="254000" y="323850"/>
                </a:cubicBezTo>
                <a:cubicBezTo>
                  <a:pt x="225901" y="323850"/>
                  <a:pt x="203200" y="340876"/>
                  <a:pt x="203200" y="361950"/>
                </a:cubicBezTo>
                <a:lnTo>
                  <a:pt x="203200" y="419100"/>
                </a:lnTo>
                <a:cubicBezTo>
                  <a:pt x="203200" y="440174"/>
                  <a:pt x="225901" y="457200"/>
                  <a:pt x="254000" y="457200"/>
                </a:cubicBezTo>
                <a:close/>
                <a:moveTo>
                  <a:pt x="508000" y="342900"/>
                </a:moveTo>
                <a:cubicBezTo>
                  <a:pt x="508000" y="363974"/>
                  <a:pt x="530701" y="381000"/>
                  <a:pt x="558800" y="381000"/>
                </a:cubicBezTo>
                <a:cubicBezTo>
                  <a:pt x="586899" y="381000"/>
                  <a:pt x="609600" y="363974"/>
                  <a:pt x="609600" y="342900"/>
                </a:cubicBezTo>
                <a:lnTo>
                  <a:pt x="609600" y="266700"/>
                </a:lnTo>
                <a:cubicBezTo>
                  <a:pt x="609600" y="245626"/>
                  <a:pt x="586899" y="228600"/>
                  <a:pt x="558800" y="228600"/>
                </a:cubicBezTo>
                <a:cubicBezTo>
                  <a:pt x="530701" y="228600"/>
                  <a:pt x="508000" y="245626"/>
                  <a:pt x="508000" y="266700"/>
                </a:cubicBezTo>
                <a:lnTo>
                  <a:pt x="508000" y="342900"/>
                </a:lnTo>
                <a:close/>
                <a:moveTo>
                  <a:pt x="355600" y="238125"/>
                </a:moveTo>
                <a:lnTo>
                  <a:pt x="355600" y="238839"/>
                </a:lnTo>
                <a:cubicBezTo>
                  <a:pt x="370523" y="232410"/>
                  <a:pt x="387826" y="228600"/>
                  <a:pt x="406400" y="228600"/>
                </a:cubicBezTo>
                <a:cubicBezTo>
                  <a:pt x="427355" y="228600"/>
                  <a:pt x="446723" y="233363"/>
                  <a:pt x="462915" y="241459"/>
                </a:cubicBezTo>
                <a:cubicBezTo>
                  <a:pt x="476726" y="211812"/>
                  <a:pt x="514509" y="190500"/>
                  <a:pt x="558800" y="190500"/>
                </a:cubicBezTo>
                <a:cubicBezTo>
                  <a:pt x="577374" y="190500"/>
                  <a:pt x="594678" y="194191"/>
                  <a:pt x="609600" y="200739"/>
                </a:cubicBezTo>
                <a:lnTo>
                  <a:pt x="609600" y="190500"/>
                </a:lnTo>
                <a:cubicBezTo>
                  <a:pt x="609600" y="85249"/>
                  <a:pt x="495935" y="0"/>
                  <a:pt x="355600" y="0"/>
                </a:cubicBezTo>
                <a:lnTo>
                  <a:pt x="257651" y="0"/>
                </a:lnTo>
                <a:cubicBezTo>
                  <a:pt x="190182" y="0"/>
                  <a:pt x="125571" y="20122"/>
                  <a:pt x="77946" y="55840"/>
                </a:cubicBezTo>
                <a:lnTo>
                  <a:pt x="59531" y="69652"/>
                </a:lnTo>
                <a:cubicBezTo>
                  <a:pt x="21431" y="98227"/>
                  <a:pt x="0" y="137041"/>
                  <a:pt x="0" y="177403"/>
                </a:cubicBezTo>
                <a:lnTo>
                  <a:pt x="0" y="209550"/>
                </a:lnTo>
                <a:cubicBezTo>
                  <a:pt x="0" y="251579"/>
                  <a:pt x="45561" y="285750"/>
                  <a:pt x="101600" y="285750"/>
                </a:cubicBezTo>
                <a:lnTo>
                  <a:pt x="241300" y="285750"/>
                </a:lnTo>
                <a:cubicBezTo>
                  <a:pt x="276384" y="285750"/>
                  <a:pt x="304800" y="264438"/>
                  <a:pt x="304800" y="238125"/>
                </a:cubicBezTo>
                <a:cubicBezTo>
                  <a:pt x="304800" y="211812"/>
                  <a:pt x="276384" y="190500"/>
                  <a:pt x="241300" y="190500"/>
                </a:cubicBezTo>
                <a:lnTo>
                  <a:pt x="152400" y="190500"/>
                </a:lnTo>
                <a:cubicBezTo>
                  <a:pt x="138430" y="190500"/>
                  <a:pt x="127000" y="181928"/>
                  <a:pt x="127000" y="171450"/>
                </a:cubicBezTo>
                <a:cubicBezTo>
                  <a:pt x="127000" y="160973"/>
                  <a:pt x="138430" y="152400"/>
                  <a:pt x="152400" y="152400"/>
                </a:cubicBezTo>
                <a:lnTo>
                  <a:pt x="241300" y="152400"/>
                </a:lnTo>
                <a:cubicBezTo>
                  <a:pt x="304483" y="152400"/>
                  <a:pt x="355600" y="190738"/>
                  <a:pt x="355600" y="2381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0" y="5080000"/>
            <a:ext cx="406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Drop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668000" y="56515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Release the mouse button to complete the data transfer at the destination component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Drag and Drop - Real World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9389" y="223838"/>
                </a:moveTo>
                <a:lnTo>
                  <a:pt x="28575" y="293886"/>
                </a:lnTo>
                <a:lnTo>
                  <a:pt x="28575" y="95250"/>
                </a:lnTo>
                <a:cubicBezTo>
                  <a:pt x="28575" y="60226"/>
                  <a:pt x="53887" y="31750"/>
                  <a:pt x="85019" y="31750"/>
                </a:cubicBezTo>
                <a:lnTo>
                  <a:pt x="207345" y="31750"/>
                </a:lnTo>
                <a:cubicBezTo>
                  <a:pt x="219516" y="31750"/>
                  <a:pt x="231422" y="36215"/>
                  <a:pt x="241212" y="44450"/>
                </a:cubicBezTo>
                <a:lnTo>
                  <a:pt x="275078" y="73025"/>
                </a:lnTo>
                <a:cubicBezTo>
                  <a:pt x="279929" y="77192"/>
                  <a:pt x="285926" y="79375"/>
                  <a:pt x="292012" y="79375"/>
                </a:cubicBezTo>
                <a:lnTo>
                  <a:pt x="395464" y="79375"/>
                </a:lnTo>
                <a:cubicBezTo>
                  <a:pt x="426597" y="79375"/>
                  <a:pt x="451908" y="107851"/>
                  <a:pt x="451908" y="142875"/>
                </a:cubicBezTo>
                <a:lnTo>
                  <a:pt x="451908" y="158750"/>
                </a:lnTo>
                <a:lnTo>
                  <a:pt x="129646" y="158750"/>
                </a:lnTo>
                <a:cubicBezTo>
                  <a:pt x="93222" y="158750"/>
                  <a:pt x="60854" y="184944"/>
                  <a:pt x="49301" y="223838"/>
                </a:cubicBezTo>
                <a:close/>
                <a:moveTo>
                  <a:pt x="421393" y="444500"/>
                </a:moveTo>
                <a:lnTo>
                  <a:pt x="87313" y="444500"/>
                </a:lnTo>
                <a:cubicBezTo>
                  <a:pt x="58385" y="444500"/>
                  <a:pt x="38012" y="412651"/>
                  <a:pt x="47184" y="381794"/>
                </a:cubicBezTo>
                <a:lnTo>
                  <a:pt x="89517" y="238919"/>
                </a:lnTo>
                <a:cubicBezTo>
                  <a:pt x="95250" y="219472"/>
                  <a:pt x="111478" y="206375"/>
                  <a:pt x="129646" y="206375"/>
                </a:cubicBezTo>
                <a:lnTo>
                  <a:pt x="463726" y="206375"/>
                </a:lnTo>
                <a:cubicBezTo>
                  <a:pt x="492654" y="206375"/>
                  <a:pt x="513027" y="238224"/>
                  <a:pt x="503855" y="269081"/>
                </a:cubicBezTo>
                <a:lnTo>
                  <a:pt x="461522" y="411956"/>
                </a:lnTo>
                <a:cubicBezTo>
                  <a:pt x="455789" y="431403"/>
                  <a:pt x="439561" y="444500"/>
                  <a:pt x="421393" y="4445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222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 Manager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857500"/>
            <a:ext cx="584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 drag files from one folder and drop them into another to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move or copy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files. Visual feedback shows where the file will land.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63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8206" y="1191"/>
                </a:moveTo>
                <a:cubicBezTo>
                  <a:pt x="303213" y="-3671"/>
                  <a:pt x="287602" y="6152"/>
                  <a:pt x="283281" y="23019"/>
                </a:cubicBezTo>
                <a:lnTo>
                  <a:pt x="170392" y="467519"/>
                </a:lnTo>
                <a:cubicBezTo>
                  <a:pt x="166070" y="484386"/>
                  <a:pt x="174801" y="501948"/>
                  <a:pt x="189794" y="506809"/>
                </a:cubicBezTo>
                <a:cubicBezTo>
                  <a:pt x="204787" y="511671"/>
                  <a:pt x="220398" y="501848"/>
                  <a:pt x="224719" y="484981"/>
                </a:cubicBezTo>
                <a:lnTo>
                  <a:pt x="337608" y="40481"/>
                </a:lnTo>
                <a:cubicBezTo>
                  <a:pt x="341930" y="23614"/>
                  <a:pt x="333199" y="6052"/>
                  <a:pt x="318206" y="1191"/>
                </a:cubicBezTo>
                <a:close/>
                <a:moveTo>
                  <a:pt x="375179" y="136227"/>
                </a:moveTo>
                <a:cubicBezTo>
                  <a:pt x="364155" y="148630"/>
                  <a:pt x="364155" y="168771"/>
                  <a:pt x="375179" y="181173"/>
                </a:cubicBezTo>
                <a:lnTo>
                  <a:pt x="439914" y="254000"/>
                </a:lnTo>
                <a:lnTo>
                  <a:pt x="375179" y="326827"/>
                </a:lnTo>
                <a:cubicBezTo>
                  <a:pt x="364155" y="339229"/>
                  <a:pt x="364155" y="359370"/>
                  <a:pt x="375179" y="371773"/>
                </a:cubicBezTo>
                <a:cubicBezTo>
                  <a:pt x="386203" y="384175"/>
                  <a:pt x="404107" y="384175"/>
                  <a:pt x="415131" y="371773"/>
                </a:cubicBezTo>
                <a:lnTo>
                  <a:pt x="499798" y="276523"/>
                </a:lnTo>
                <a:cubicBezTo>
                  <a:pt x="510822" y="264120"/>
                  <a:pt x="510822" y="243979"/>
                  <a:pt x="499798" y="231577"/>
                </a:cubicBezTo>
                <a:lnTo>
                  <a:pt x="415131" y="136327"/>
                </a:lnTo>
                <a:cubicBezTo>
                  <a:pt x="404107" y="123924"/>
                  <a:pt x="386203" y="123924"/>
                  <a:pt x="375179" y="136327"/>
                </a:cubicBezTo>
                <a:close/>
                <a:moveTo>
                  <a:pt x="132909" y="136227"/>
                </a:moveTo>
                <a:cubicBezTo>
                  <a:pt x="121885" y="123825"/>
                  <a:pt x="103981" y="123825"/>
                  <a:pt x="92957" y="136227"/>
                </a:cubicBezTo>
                <a:lnTo>
                  <a:pt x="8290" y="231477"/>
                </a:lnTo>
                <a:cubicBezTo>
                  <a:pt x="-2734" y="243880"/>
                  <a:pt x="-2734" y="264021"/>
                  <a:pt x="8290" y="276423"/>
                </a:cubicBezTo>
                <a:lnTo>
                  <a:pt x="92957" y="371673"/>
                </a:lnTo>
                <a:cubicBezTo>
                  <a:pt x="103981" y="384076"/>
                  <a:pt x="121885" y="384076"/>
                  <a:pt x="132909" y="371673"/>
                </a:cubicBezTo>
                <a:cubicBezTo>
                  <a:pt x="143933" y="359271"/>
                  <a:pt x="143933" y="339130"/>
                  <a:pt x="132909" y="326727"/>
                </a:cubicBezTo>
                <a:lnTo>
                  <a:pt x="68174" y="254000"/>
                </a:lnTo>
                <a:lnTo>
                  <a:pt x="132821" y="181173"/>
                </a:lnTo>
                <a:cubicBezTo>
                  <a:pt x="143845" y="168771"/>
                  <a:pt x="143845" y="148630"/>
                  <a:pt x="132821" y="136227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9461500" y="2222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 Code Editor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63000" y="2857500"/>
            <a:ext cx="584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Eclipse and IntelliJ allow developers to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drag code snippets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between files, reorganize methods, and move classes between packages.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70000" y="52070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51000" y="552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7625" y="63500"/>
                </a:moveTo>
                <a:cubicBezTo>
                  <a:pt x="21332" y="63500"/>
                  <a:pt x="0" y="84832"/>
                  <a:pt x="0" y="111125"/>
                </a:cubicBezTo>
                <a:cubicBezTo>
                  <a:pt x="0" y="126107"/>
                  <a:pt x="7045" y="140196"/>
                  <a:pt x="19050" y="149225"/>
                </a:cubicBezTo>
                <a:lnTo>
                  <a:pt x="225425" y="304006"/>
                </a:lnTo>
                <a:cubicBezTo>
                  <a:pt x="242391" y="316706"/>
                  <a:pt x="265609" y="316706"/>
                  <a:pt x="282575" y="304006"/>
                </a:cubicBezTo>
                <a:lnTo>
                  <a:pt x="488950" y="149225"/>
                </a:lnTo>
                <a:cubicBezTo>
                  <a:pt x="500955" y="140196"/>
                  <a:pt x="508000" y="126107"/>
                  <a:pt x="508000" y="111125"/>
                </a:cubicBezTo>
                <a:cubicBezTo>
                  <a:pt x="508000" y="84832"/>
                  <a:pt x="486668" y="63500"/>
                  <a:pt x="460375" y="63500"/>
                </a:cubicBezTo>
                <a:lnTo>
                  <a:pt x="47625" y="63500"/>
                </a:lnTo>
                <a:close/>
                <a:moveTo>
                  <a:pt x="0" y="194469"/>
                </a:moveTo>
                <a:lnTo>
                  <a:pt x="0" y="381000"/>
                </a:lnTo>
                <a:cubicBezTo>
                  <a:pt x="0" y="416024"/>
                  <a:pt x="28476" y="444500"/>
                  <a:pt x="63500" y="444500"/>
                </a:cubicBezTo>
                <a:lnTo>
                  <a:pt x="444500" y="444500"/>
                </a:lnTo>
                <a:cubicBezTo>
                  <a:pt x="479524" y="444500"/>
                  <a:pt x="508000" y="416024"/>
                  <a:pt x="508000" y="381000"/>
                </a:cubicBezTo>
                <a:lnTo>
                  <a:pt x="508000" y="194469"/>
                </a:lnTo>
                <a:lnTo>
                  <a:pt x="311150" y="342106"/>
                </a:lnTo>
                <a:cubicBezTo>
                  <a:pt x="277316" y="367506"/>
                  <a:pt x="230684" y="367506"/>
                  <a:pt x="196850" y="342106"/>
                </a:cubicBezTo>
                <a:lnTo>
                  <a:pt x="0" y="194469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2349500" y="5524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Email Client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51000" y="6159500"/>
            <a:ext cx="584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Gmail and Outlook let users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drag attachments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from desktop into compose windows, or move emails between folders.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382000" y="5207000"/>
            <a:ext cx="6604000" cy="2921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8763000" y="552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64344" y="6945"/>
                </a:moveTo>
                <a:cubicBezTo>
                  <a:pt x="471884" y="12998"/>
                  <a:pt x="476250" y="22126"/>
                  <a:pt x="476250" y="31750"/>
                </a:cubicBezTo>
                <a:lnTo>
                  <a:pt x="476250" y="333375"/>
                </a:lnTo>
                <a:cubicBezTo>
                  <a:pt x="476250" y="377230"/>
                  <a:pt x="433586" y="412750"/>
                  <a:pt x="381000" y="412750"/>
                </a:cubicBezTo>
                <a:cubicBezTo>
                  <a:pt x="328414" y="412750"/>
                  <a:pt x="285750" y="377230"/>
                  <a:pt x="285750" y="333375"/>
                </a:cubicBezTo>
                <a:cubicBezTo>
                  <a:pt x="285750" y="289520"/>
                  <a:pt x="328414" y="254000"/>
                  <a:pt x="381000" y="254000"/>
                </a:cubicBezTo>
                <a:cubicBezTo>
                  <a:pt x="392113" y="254000"/>
                  <a:pt x="402828" y="255588"/>
                  <a:pt x="412750" y="258564"/>
                </a:cubicBezTo>
                <a:lnTo>
                  <a:pt x="412750" y="142776"/>
                </a:lnTo>
                <a:lnTo>
                  <a:pt x="190500" y="192187"/>
                </a:lnTo>
                <a:lnTo>
                  <a:pt x="190500" y="396875"/>
                </a:lnTo>
                <a:cubicBezTo>
                  <a:pt x="190500" y="440730"/>
                  <a:pt x="147836" y="476250"/>
                  <a:pt x="95250" y="476250"/>
                </a:cubicBezTo>
                <a:cubicBezTo>
                  <a:pt x="42664" y="476250"/>
                  <a:pt x="0" y="440730"/>
                  <a:pt x="0" y="396875"/>
                </a:cubicBezTo>
                <a:cubicBezTo>
                  <a:pt x="0" y="353020"/>
                  <a:pt x="42664" y="317500"/>
                  <a:pt x="95250" y="317500"/>
                </a:cubicBezTo>
                <a:cubicBezTo>
                  <a:pt x="106363" y="317500"/>
                  <a:pt x="117078" y="319088"/>
                  <a:pt x="127000" y="322064"/>
                </a:cubicBezTo>
                <a:lnTo>
                  <a:pt x="127000" y="95250"/>
                </a:lnTo>
                <a:cubicBezTo>
                  <a:pt x="127000" y="80367"/>
                  <a:pt x="137319" y="67469"/>
                  <a:pt x="151904" y="64294"/>
                </a:cubicBezTo>
                <a:lnTo>
                  <a:pt x="437654" y="794"/>
                </a:lnTo>
                <a:cubicBezTo>
                  <a:pt x="447080" y="-1290"/>
                  <a:pt x="456902" y="992"/>
                  <a:pt x="464443" y="704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461500" y="5524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Music Playlist App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763000" y="6159500"/>
            <a:ext cx="584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Spotify and iTunes allow users to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reorder songs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 playlists by dragging tracks to new positions in the queue.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Drag and Drop - Code Example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5080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DnD between two JLists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drag and drop between lists using TransferHandler.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steps: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Set dragEnabled to true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Set dropMode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Set TransferHandler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0" y="1905000"/>
            <a:ext cx="8128000" cy="65405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905000"/>
            <a:ext cx="8128000" cy="457200"/>
          </a:xfrm>
          <a:prstGeom prst="roundRect">
            <a:avLst>
              <a:gd name="adj" fmla="val 6000"/>
            </a:avLst>
          </a:pr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7112000" y="1905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DragDropExample.java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12000" y="2476500"/>
            <a:ext cx="7620000" cy="590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javax.swing.*;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java.awt.*;</a:t>
            </a:r>
            <a:endParaRPr lang="en-US" sz="1500" dirty="0"/>
          </a:p>
          <a:p>
            <a:pPr algn="l">
              <a:lnSpc>
                <a:spcPct val="150000"/>
              </a:lnSpc>
            </a:pP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DragDropExample {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static void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main(String[] a) {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JFrame f =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JFrame(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"DnD"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f.setLayout(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GridLayout(1,2));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String[] d = {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JList&lt;String&gt; l1 =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JList&lt;&gt;(d);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JList&lt;String&gt; l2 =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JList&lt;&gt;();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l1.setDragEnabled(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l2.setDropMode(DropMode.INSERT);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l2.setTransferHandler(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TransferHandler(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"move"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f.add(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JScrollPane(l1)); f.add(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JScrollPane(l2));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f.setSize(300,150); f.setVisible(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}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Listeners - Definition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51000" y="1968500"/>
            <a:ext cx="1295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Listener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an object that waits for and responds to user interactions (events). Java uses 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Delegation Event Model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Event Source generates events, Event Object encapsulates info, and Event Listener processes the event.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70000" y="3556000"/>
            <a:ext cx="4191000" cy="3175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7" name="Shape 5"/>
          <p:cNvSpPr/>
          <p:nvPr/>
        </p:nvSpPr>
        <p:spPr>
          <a:xfrm>
            <a:off x="2921000" y="3810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419100"/>
                </a:lnTo>
                <a:cubicBezTo>
                  <a:pt x="0" y="461129"/>
                  <a:pt x="34171" y="495300"/>
                  <a:pt x="76200" y="495300"/>
                </a:cubicBezTo>
                <a:lnTo>
                  <a:pt x="247650" y="495300"/>
                </a:lnTo>
                <a:lnTo>
                  <a:pt x="228600" y="552450"/>
                </a:lnTo>
                <a:lnTo>
                  <a:pt x="142875" y="552450"/>
                </a:lnTo>
                <a:cubicBezTo>
                  <a:pt x="127040" y="552450"/>
                  <a:pt x="114300" y="565190"/>
                  <a:pt x="114300" y="581025"/>
                </a:cubicBezTo>
                <a:cubicBezTo>
                  <a:pt x="114300" y="596860"/>
                  <a:pt x="127040" y="609600"/>
                  <a:pt x="142875" y="609600"/>
                </a:cubicBezTo>
                <a:lnTo>
                  <a:pt x="466725" y="609600"/>
                </a:lnTo>
                <a:cubicBezTo>
                  <a:pt x="482560" y="609600"/>
                  <a:pt x="495300" y="596860"/>
                  <a:pt x="495300" y="581025"/>
                </a:cubicBezTo>
                <a:cubicBezTo>
                  <a:pt x="495300" y="565190"/>
                  <a:pt x="482560" y="552450"/>
                  <a:pt x="466725" y="552450"/>
                </a:cubicBezTo>
                <a:lnTo>
                  <a:pt x="381000" y="552450"/>
                </a:lnTo>
                <a:lnTo>
                  <a:pt x="361950" y="495300"/>
                </a:lnTo>
                <a:lnTo>
                  <a:pt x="533400" y="495300"/>
                </a:lnTo>
                <a:cubicBezTo>
                  <a:pt x="575429" y="495300"/>
                  <a:pt x="609600" y="461129"/>
                  <a:pt x="609600" y="419100"/>
                </a:cubicBezTo>
                <a:lnTo>
                  <a:pt x="609600" y="114300"/>
                </a:lnTo>
                <a:cubicBezTo>
                  <a:pt x="609600" y="72271"/>
                  <a:pt x="575429" y="38100"/>
                  <a:pt x="533400" y="38100"/>
                </a:cubicBezTo>
                <a:lnTo>
                  <a:pt x="76200" y="38100"/>
                </a:lnTo>
                <a:close/>
                <a:moveTo>
                  <a:pt x="114300" y="114300"/>
                </a:moveTo>
                <a:lnTo>
                  <a:pt x="495300" y="114300"/>
                </a:lnTo>
                <a:cubicBezTo>
                  <a:pt x="516374" y="114300"/>
                  <a:pt x="533400" y="131326"/>
                  <a:pt x="533400" y="152400"/>
                </a:cubicBezTo>
                <a:lnTo>
                  <a:pt x="533400" y="342900"/>
                </a:lnTo>
                <a:cubicBezTo>
                  <a:pt x="533400" y="363974"/>
                  <a:pt x="516374" y="381000"/>
                  <a:pt x="495300" y="381000"/>
                </a:cubicBezTo>
                <a:lnTo>
                  <a:pt x="114300" y="381000"/>
                </a:lnTo>
                <a:cubicBezTo>
                  <a:pt x="93226" y="381000"/>
                  <a:pt x="76200" y="363974"/>
                  <a:pt x="76200" y="342900"/>
                </a:cubicBezTo>
                <a:lnTo>
                  <a:pt x="76200" y="152400"/>
                </a:lnTo>
                <a:cubicBezTo>
                  <a:pt x="76200" y="131326"/>
                  <a:pt x="93226" y="114300"/>
                  <a:pt x="114300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4572000"/>
            <a:ext cx="368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 Source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24000" y="5080000"/>
            <a:ext cx="368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component that generates the event (e.g., JButton, JTextField)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842000" y="3556000"/>
            <a:ext cx="4191000" cy="317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3000" y="3810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61010" y="-11787"/>
                </a:moveTo>
                <a:cubicBezTo>
                  <a:pt x="477203" y="-1548"/>
                  <a:pt x="483190" y="17026"/>
                  <a:pt x="475842" y="33218"/>
                </a:cubicBezTo>
                <a:lnTo>
                  <a:pt x="369162" y="266700"/>
                </a:lnTo>
                <a:lnTo>
                  <a:pt x="566057" y="266700"/>
                </a:lnTo>
                <a:cubicBezTo>
                  <a:pt x="584427" y="266700"/>
                  <a:pt x="600755" y="276701"/>
                  <a:pt x="607015" y="291822"/>
                </a:cubicBezTo>
                <a:cubicBezTo>
                  <a:pt x="613274" y="306943"/>
                  <a:pt x="607967" y="323850"/>
                  <a:pt x="593952" y="334089"/>
                </a:cubicBezTo>
                <a:lnTo>
                  <a:pt x="202066" y="619839"/>
                </a:lnTo>
                <a:cubicBezTo>
                  <a:pt x="186690" y="631031"/>
                  <a:pt x="164783" y="631627"/>
                  <a:pt x="148590" y="621387"/>
                </a:cubicBezTo>
                <a:cubicBezTo>
                  <a:pt x="132398" y="611148"/>
                  <a:pt x="126410" y="592574"/>
                  <a:pt x="133758" y="576382"/>
                </a:cubicBezTo>
                <a:lnTo>
                  <a:pt x="240438" y="342900"/>
                </a:lnTo>
                <a:lnTo>
                  <a:pt x="43543" y="342900"/>
                </a:lnTo>
                <a:cubicBezTo>
                  <a:pt x="25173" y="342900"/>
                  <a:pt x="8845" y="332899"/>
                  <a:pt x="2585" y="317778"/>
                </a:cubicBezTo>
                <a:cubicBezTo>
                  <a:pt x="-3674" y="302657"/>
                  <a:pt x="1633" y="285750"/>
                  <a:pt x="15648" y="275511"/>
                </a:cubicBezTo>
                <a:lnTo>
                  <a:pt x="407534" y="-10239"/>
                </a:lnTo>
                <a:cubicBezTo>
                  <a:pt x="422910" y="-21431"/>
                  <a:pt x="444818" y="-22027"/>
                  <a:pt x="461010" y="-11787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0" y="4572000"/>
            <a:ext cx="368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 Object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96000" y="5080000"/>
            <a:ext cx="368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Encapsulates event information like source, type, and timestamp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414000" y="3556000"/>
            <a:ext cx="4572000" cy="3175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12293600" y="3810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87086" y="266700"/>
                </a:moveTo>
                <a:cubicBezTo>
                  <a:pt x="87086" y="161449"/>
                  <a:pt x="184513" y="76200"/>
                  <a:pt x="304800" y="76200"/>
                </a:cubicBezTo>
                <a:cubicBezTo>
                  <a:pt x="425087" y="76200"/>
                  <a:pt x="522514" y="161449"/>
                  <a:pt x="522514" y="266700"/>
                </a:cubicBezTo>
                <a:lnTo>
                  <a:pt x="522514" y="311348"/>
                </a:lnTo>
                <a:cubicBezTo>
                  <a:pt x="508907" y="307181"/>
                  <a:pt x="494211" y="304800"/>
                  <a:pt x="478971" y="304800"/>
                </a:cubicBezTo>
                <a:lnTo>
                  <a:pt x="457200" y="304800"/>
                </a:lnTo>
                <a:cubicBezTo>
                  <a:pt x="421141" y="304800"/>
                  <a:pt x="391886" y="330398"/>
                  <a:pt x="391886" y="361950"/>
                </a:cubicBezTo>
                <a:lnTo>
                  <a:pt x="391886" y="514350"/>
                </a:lnTo>
                <a:cubicBezTo>
                  <a:pt x="391886" y="545902"/>
                  <a:pt x="421141" y="571500"/>
                  <a:pt x="457200" y="571500"/>
                </a:cubicBezTo>
                <a:lnTo>
                  <a:pt x="478971" y="571500"/>
                </a:lnTo>
                <a:cubicBezTo>
                  <a:pt x="551089" y="571500"/>
                  <a:pt x="609600" y="520303"/>
                  <a:pt x="609600" y="457200"/>
                </a:cubicBezTo>
                <a:lnTo>
                  <a:pt x="609600" y="266700"/>
                </a:lnTo>
                <a:cubicBezTo>
                  <a:pt x="609600" y="119420"/>
                  <a:pt x="473120" y="0"/>
                  <a:pt x="304800" y="0"/>
                </a:cubicBezTo>
                <a:cubicBezTo>
                  <a:pt x="136480" y="0"/>
                  <a:pt x="0" y="119420"/>
                  <a:pt x="0" y="266700"/>
                </a:cubicBezTo>
                <a:lnTo>
                  <a:pt x="0" y="457200"/>
                </a:lnTo>
                <a:cubicBezTo>
                  <a:pt x="0" y="520303"/>
                  <a:pt x="58511" y="571500"/>
                  <a:pt x="130629" y="571500"/>
                </a:cubicBezTo>
                <a:lnTo>
                  <a:pt x="152400" y="571500"/>
                </a:lnTo>
                <a:cubicBezTo>
                  <a:pt x="188459" y="571500"/>
                  <a:pt x="217714" y="545902"/>
                  <a:pt x="217714" y="514350"/>
                </a:cubicBezTo>
                <a:lnTo>
                  <a:pt x="217714" y="361950"/>
                </a:lnTo>
                <a:cubicBezTo>
                  <a:pt x="217714" y="330398"/>
                  <a:pt x="188459" y="304800"/>
                  <a:pt x="152400" y="304800"/>
                </a:cubicBezTo>
                <a:lnTo>
                  <a:pt x="130629" y="304800"/>
                </a:lnTo>
                <a:cubicBezTo>
                  <a:pt x="115389" y="304800"/>
                  <a:pt x="100693" y="307062"/>
                  <a:pt x="87086" y="311348"/>
                </a:cubicBezTo>
                <a:lnTo>
                  <a:pt x="87086" y="2667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0" y="4572000"/>
            <a:ext cx="406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 Listener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668000" y="5080000"/>
            <a:ext cx="406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Processes the event through callback methods like actionPerformed()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61000" y="4826000"/>
            <a:ext cx="381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0033000" y="4826000"/>
            <a:ext cx="381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1270000" y="71120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 Source  →  Event Object  →  Event Listener  (Delegation Model)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Listeners - Real World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3048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78000" y="2540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190500"/>
                </a:moveTo>
                <a:lnTo>
                  <a:pt x="0" y="238125"/>
                </a:lnTo>
                <a:lnTo>
                  <a:pt x="762000" y="238125"/>
                </a:lnTo>
                <a:lnTo>
                  <a:pt x="762000" y="190500"/>
                </a:lnTo>
                <a:cubicBezTo>
                  <a:pt x="762000" y="137964"/>
                  <a:pt x="719286" y="95250"/>
                  <a:pt x="666750" y="95250"/>
                </a:cubicBezTo>
                <a:lnTo>
                  <a:pt x="95250" y="95250"/>
                </a:lnTo>
                <a:cubicBezTo>
                  <a:pt x="42714" y="95250"/>
                  <a:pt x="0" y="137964"/>
                  <a:pt x="0" y="190500"/>
                </a:cubicBezTo>
                <a:close/>
                <a:moveTo>
                  <a:pt x="0" y="309563"/>
                </a:moveTo>
                <a:lnTo>
                  <a:pt x="0" y="571500"/>
                </a:lnTo>
                <a:cubicBezTo>
                  <a:pt x="0" y="624036"/>
                  <a:pt x="42714" y="666750"/>
                  <a:pt x="95250" y="666750"/>
                </a:cubicBezTo>
                <a:lnTo>
                  <a:pt x="666750" y="666750"/>
                </a:lnTo>
                <a:cubicBezTo>
                  <a:pt x="719286" y="666750"/>
                  <a:pt x="762000" y="624036"/>
                  <a:pt x="762000" y="571500"/>
                </a:cubicBezTo>
                <a:lnTo>
                  <a:pt x="762000" y="309563"/>
                </a:lnTo>
                <a:lnTo>
                  <a:pt x="0" y="309563"/>
                </a:lnTo>
                <a:close/>
                <a:moveTo>
                  <a:pt x="95250" y="535781"/>
                </a:moveTo>
                <a:cubicBezTo>
                  <a:pt x="95250" y="515987"/>
                  <a:pt x="111175" y="500063"/>
                  <a:pt x="130969" y="500063"/>
                </a:cubicBezTo>
                <a:lnTo>
                  <a:pt x="202406" y="500063"/>
                </a:lnTo>
                <a:cubicBezTo>
                  <a:pt x="222200" y="500063"/>
                  <a:pt x="238125" y="515987"/>
                  <a:pt x="238125" y="535781"/>
                </a:cubicBezTo>
                <a:cubicBezTo>
                  <a:pt x="238125" y="555575"/>
                  <a:pt x="222200" y="571500"/>
                  <a:pt x="202406" y="571500"/>
                </a:cubicBezTo>
                <a:lnTo>
                  <a:pt x="130969" y="571500"/>
                </a:lnTo>
                <a:cubicBezTo>
                  <a:pt x="111175" y="571500"/>
                  <a:pt x="95250" y="555575"/>
                  <a:pt x="95250" y="535781"/>
                </a:cubicBezTo>
                <a:close/>
                <a:moveTo>
                  <a:pt x="309563" y="535781"/>
                </a:moveTo>
                <a:cubicBezTo>
                  <a:pt x="309563" y="515987"/>
                  <a:pt x="325487" y="500063"/>
                  <a:pt x="345281" y="500063"/>
                </a:cubicBezTo>
                <a:lnTo>
                  <a:pt x="440531" y="500063"/>
                </a:lnTo>
                <a:cubicBezTo>
                  <a:pt x="460325" y="500063"/>
                  <a:pt x="476250" y="515987"/>
                  <a:pt x="476250" y="535781"/>
                </a:cubicBezTo>
                <a:cubicBezTo>
                  <a:pt x="476250" y="555575"/>
                  <a:pt x="460325" y="571500"/>
                  <a:pt x="440531" y="571500"/>
                </a:cubicBezTo>
                <a:lnTo>
                  <a:pt x="345281" y="571500"/>
                </a:lnTo>
                <a:cubicBezTo>
                  <a:pt x="325487" y="571500"/>
                  <a:pt x="309563" y="555575"/>
                  <a:pt x="309563" y="535781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921000" y="2222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ATM Machine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921000" y="2794000"/>
            <a:ext cx="11430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a user presses a button on an ATM: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Source: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physical button on the ATM keypad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button press action (ActionEvent)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Listener: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Banking software processes the transaction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70000" y="5334000"/>
            <a:ext cx="6604000" cy="2794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9" name="Shape 7"/>
          <p:cNvSpPr/>
          <p:nvPr/>
        </p:nvSpPr>
        <p:spPr>
          <a:xfrm>
            <a:off x="1651000" y="565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7" y="0"/>
                </a:moveTo>
                <a:cubicBezTo>
                  <a:pt x="37968" y="0"/>
                  <a:pt x="0" y="28476"/>
                  <a:pt x="0" y="63500"/>
                </a:cubicBezTo>
                <a:lnTo>
                  <a:pt x="0" y="444500"/>
                </a:lnTo>
                <a:cubicBezTo>
                  <a:pt x="0" y="479524"/>
                  <a:pt x="37968" y="508000"/>
                  <a:pt x="84667" y="508000"/>
                </a:cubicBezTo>
                <a:lnTo>
                  <a:pt x="423333" y="508000"/>
                </a:lnTo>
                <a:cubicBezTo>
                  <a:pt x="470032" y="508000"/>
                  <a:pt x="508000" y="479524"/>
                  <a:pt x="508000" y="444500"/>
                </a:cubicBezTo>
                <a:lnTo>
                  <a:pt x="508000" y="63500"/>
                </a:lnTo>
                <a:cubicBezTo>
                  <a:pt x="508000" y="28476"/>
                  <a:pt x="470032" y="0"/>
                  <a:pt x="423333" y="0"/>
                </a:cubicBezTo>
                <a:lnTo>
                  <a:pt x="84667" y="0"/>
                </a:lnTo>
                <a:close/>
                <a:moveTo>
                  <a:pt x="127000" y="63500"/>
                </a:moveTo>
                <a:lnTo>
                  <a:pt x="381000" y="63500"/>
                </a:lnTo>
                <a:cubicBezTo>
                  <a:pt x="404416" y="63500"/>
                  <a:pt x="423333" y="77688"/>
                  <a:pt x="423333" y="95250"/>
                </a:cubicBezTo>
                <a:lnTo>
                  <a:pt x="423333" y="127000"/>
                </a:lnTo>
                <a:cubicBezTo>
                  <a:pt x="423333" y="144562"/>
                  <a:pt x="404416" y="158750"/>
                  <a:pt x="381000" y="158750"/>
                </a:cubicBezTo>
                <a:lnTo>
                  <a:pt x="127000" y="158750"/>
                </a:lnTo>
                <a:cubicBezTo>
                  <a:pt x="103584" y="158750"/>
                  <a:pt x="84667" y="144562"/>
                  <a:pt x="84667" y="127000"/>
                </a:cubicBezTo>
                <a:lnTo>
                  <a:pt x="84667" y="95250"/>
                </a:lnTo>
                <a:cubicBezTo>
                  <a:pt x="84667" y="77688"/>
                  <a:pt x="103584" y="63500"/>
                  <a:pt x="127000" y="63500"/>
                </a:cubicBezTo>
                <a:close/>
                <a:moveTo>
                  <a:pt x="148167" y="230188"/>
                </a:moveTo>
                <a:cubicBezTo>
                  <a:pt x="148167" y="243330"/>
                  <a:pt x="133940" y="254000"/>
                  <a:pt x="116417" y="254000"/>
                </a:cubicBezTo>
                <a:cubicBezTo>
                  <a:pt x="98893" y="254000"/>
                  <a:pt x="84667" y="243330"/>
                  <a:pt x="84667" y="230188"/>
                </a:cubicBezTo>
                <a:cubicBezTo>
                  <a:pt x="84667" y="217045"/>
                  <a:pt x="98893" y="206375"/>
                  <a:pt x="116417" y="206375"/>
                </a:cubicBezTo>
                <a:cubicBezTo>
                  <a:pt x="133940" y="206375"/>
                  <a:pt x="148167" y="217045"/>
                  <a:pt x="148167" y="230188"/>
                </a:cubicBezTo>
                <a:close/>
                <a:moveTo>
                  <a:pt x="254000" y="254000"/>
                </a:moveTo>
                <a:cubicBezTo>
                  <a:pt x="236477" y="254000"/>
                  <a:pt x="222250" y="243330"/>
                  <a:pt x="222250" y="230188"/>
                </a:cubicBezTo>
                <a:cubicBezTo>
                  <a:pt x="222250" y="217045"/>
                  <a:pt x="236477" y="206375"/>
                  <a:pt x="254000" y="206375"/>
                </a:cubicBezTo>
                <a:cubicBezTo>
                  <a:pt x="271523" y="206375"/>
                  <a:pt x="285750" y="217045"/>
                  <a:pt x="285750" y="230188"/>
                </a:cubicBezTo>
                <a:cubicBezTo>
                  <a:pt x="285750" y="243330"/>
                  <a:pt x="271523" y="254000"/>
                  <a:pt x="254000" y="254000"/>
                </a:cubicBezTo>
                <a:close/>
                <a:moveTo>
                  <a:pt x="423333" y="230188"/>
                </a:moveTo>
                <a:cubicBezTo>
                  <a:pt x="423333" y="243330"/>
                  <a:pt x="409107" y="254000"/>
                  <a:pt x="391583" y="254000"/>
                </a:cubicBezTo>
                <a:cubicBezTo>
                  <a:pt x="374060" y="254000"/>
                  <a:pt x="359833" y="243330"/>
                  <a:pt x="359833" y="230188"/>
                </a:cubicBezTo>
                <a:cubicBezTo>
                  <a:pt x="359833" y="217045"/>
                  <a:pt x="374060" y="206375"/>
                  <a:pt x="391583" y="206375"/>
                </a:cubicBezTo>
                <a:cubicBezTo>
                  <a:pt x="409107" y="206375"/>
                  <a:pt x="423333" y="217045"/>
                  <a:pt x="423333" y="230188"/>
                </a:cubicBezTo>
                <a:close/>
                <a:moveTo>
                  <a:pt x="116417" y="349250"/>
                </a:moveTo>
                <a:cubicBezTo>
                  <a:pt x="98893" y="349250"/>
                  <a:pt x="84667" y="338580"/>
                  <a:pt x="84667" y="325438"/>
                </a:cubicBezTo>
                <a:cubicBezTo>
                  <a:pt x="84667" y="312295"/>
                  <a:pt x="98893" y="301625"/>
                  <a:pt x="116417" y="301625"/>
                </a:cubicBezTo>
                <a:cubicBezTo>
                  <a:pt x="133940" y="301625"/>
                  <a:pt x="148167" y="312295"/>
                  <a:pt x="148167" y="325438"/>
                </a:cubicBezTo>
                <a:cubicBezTo>
                  <a:pt x="148167" y="338580"/>
                  <a:pt x="133940" y="349250"/>
                  <a:pt x="116417" y="349250"/>
                </a:cubicBezTo>
                <a:close/>
                <a:moveTo>
                  <a:pt x="285750" y="325438"/>
                </a:moveTo>
                <a:cubicBezTo>
                  <a:pt x="285750" y="338580"/>
                  <a:pt x="271523" y="349250"/>
                  <a:pt x="254000" y="349250"/>
                </a:cubicBezTo>
                <a:cubicBezTo>
                  <a:pt x="236477" y="349250"/>
                  <a:pt x="222250" y="338580"/>
                  <a:pt x="222250" y="325438"/>
                </a:cubicBezTo>
                <a:cubicBezTo>
                  <a:pt x="222250" y="312295"/>
                  <a:pt x="236477" y="301625"/>
                  <a:pt x="254000" y="301625"/>
                </a:cubicBezTo>
                <a:cubicBezTo>
                  <a:pt x="271523" y="301625"/>
                  <a:pt x="285750" y="312295"/>
                  <a:pt x="285750" y="325438"/>
                </a:cubicBezTo>
                <a:close/>
                <a:moveTo>
                  <a:pt x="391583" y="349250"/>
                </a:moveTo>
                <a:cubicBezTo>
                  <a:pt x="374060" y="349250"/>
                  <a:pt x="359833" y="338580"/>
                  <a:pt x="359833" y="325438"/>
                </a:cubicBezTo>
                <a:cubicBezTo>
                  <a:pt x="359833" y="312295"/>
                  <a:pt x="374060" y="301625"/>
                  <a:pt x="391583" y="301625"/>
                </a:cubicBezTo>
                <a:cubicBezTo>
                  <a:pt x="409107" y="301625"/>
                  <a:pt x="423333" y="312295"/>
                  <a:pt x="423333" y="325438"/>
                </a:cubicBezTo>
                <a:cubicBezTo>
                  <a:pt x="423333" y="338580"/>
                  <a:pt x="409107" y="349250"/>
                  <a:pt x="391583" y="349250"/>
                </a:cubicBezTo>
                <a:close/>
                <a:moveTo>
                  <a:pt x="84667" y="420688"/>
                </a:moveTo>
                <a:cubicBezTo>
                  <a:pt x="84667" y="407491"/>
                  <a:pt x="98822" y="396875"/>
                  <a:pt x="116417" y="396875"/>
                </a:cubicBezTo>
                <a:lnTo>
                  <a:pt x="264583" y="396875"/>
                </a:lnTo>
                <a:cubicBezTo>
                  <a:pt x="282178" y="396875"/>
                  <a:pt x="296333" y="407491"/>
                  <a:pt x="296333" y="420688"/>
                </a:cubicBezTo>
                <a:cubicBezTo>
                  <a:pt x="296333" y="433884"/>
                  <a:pt x="282178" y="444500"/>
                  <a:pt x="264583" y="444500"/>
                </a:cubicBezTo>
                <a:lnTo>
                  <a:pt x="116417" y="444500"/>
                </a:lnTo>
                <a:cubicBezTo>
                  <a:pt x="98822" y="444500"/>
                  <a:pt x="84667" y="433884"/>
                  <a:pt x="84667" y="420688"/>
                </a:cubicBezTo>
                <a:close/>
                <a:moveTo>
                  <a:pt x="391583" y="396875"/>
                </a:moveTo>
                <a:cubicBezTo>
                  <a:pt x="409178" y="396875"/>
                  <a:pt x="423333" y="407491"/>
                  <a:pt x="423333" y="420688"/>
                </a:cubicBezTo>
                <a:cubicBezTo>
                  <a:pt x="423333" y="433884"/>
                  <a:pt x="409178" y="444500"/>
                  <a:pt x="391583" y="444500"/>
                </a:cubicBezTo>
                <a:cubicBezTo>
                  <a:pt x="373989" y="444500"/>
                  <a:pt x="359833" y="433884"/>
                  <a:pt x="359833" y="420688"/>
                </a:cubicBezTo>
                <a:cubicBezTo>
                  <a:pt x="359833" y="407491"/>
                  <a:pt x="373989" y="396875"/>
                  <a:pt x="391583" y="396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349500" y="5651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Calculator App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51000" y="6350000"/>
            <a:ext cx="584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Each number button generates an ActionEvent. The listener updates the display and performs calculations based on user input.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82000" y="5334000"/>
            <a:ext cx="6604000" cy="2794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8763000" y="565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7" y="0"/>
                </a:moveTo>
                <a:cubicBezTo>
                  <a:pt x="37968" y="0"/>
                  <a:pt x="0" y="28476"/>
                  <a:pt x="0" y="63500"/>
                </a:cubicBezTo>
                <a:lnTo>
                  <a:pt x="0" y="444500"/>
                </a:lnTo>
                <a:cubicBezTo>
                  <a:pt x="0" y="479524"/>
                  <a:pt x="37968" y="508000"/>
                  <a:pt x="84667" y="508000"/>
                </a:cubicBezTo>
                <a:lnTo>
                  <a:pt x="423333" y="508000"/>
                </a:lnTo>
                <a:cubicBezTo>
                  <a:pt x="470032" y="508000"/>
                  <a:pt x="508000" y="479524"/>
                  <a:pt x="508000" y="444500"/>
                </a:cubicBezTo>
                <a:lnTo>
                  <a:pt x="508000" y="63500"/>
                </a:lnTo>
                <a:cubicBezTo>
                  <a:pt x="508000" y="28476"/>
                  <a:pt x="470032" y="0"/>
                  <a:pt x="423333" y="0"/>
                </a:cubicBezTo>
                <a:lnTo>
                  <a:pt x="84667" y="0"/>
                </a:lnTo>
                <a:close/>
                <a:moveTo>
                  <a:pt x="232833" y="349250"/>
                </a:moveTo>
                <a:lnTo>
                  <a:pt x="275167" y="349250"/>
                </a:lnTo>
                <a:cubicBezTo>
                  <a:pt x="298582" y="349250"/>
                  <a:pt x="317500" y="363438"/>
                  <a:pt x="317500" y="381000"/>
                </a:cubicBezTo>
                <a:lnTo>
                  <a:pt x="317500" y="460375"/>
                </a:lnTo>
                <a:lnTo>
                  <a:pt x="190500" y="460375"/>
                </a:lnTo>
                <a:lnTo>
                  <a:pt x="190500" y="381000"/>
                </a:lnTo>
                <a:cubicBezTo>
                  <a:pt x="190500" y="363438"/>
                  <a:pt x="209418" y="349250"/>
                  <a:pt x="232833" y="349250"/>
                </a:cubicBezTo>
                <a:close/>
                <a:moveTo>
                  <a:pt x="127000" y="111125"/>
                </a:moveTo>
                <a:cubicBezTo>
                  <a:pt x="127000" y="102394"/>
                  <a:pt x="136525" y="95250"/>
                  <a:pt x="148167" y="95250"/>
                </a:cubicBezTo>
                <a:lnTo>
                  <a:pt x="190500" y="95250"/>
                </a:lnTo>
                <a:cubicBezTo>
                  <a:pt x="202142" y="95250"/>
                  <a:pt x="211667" y="102394"/>
                  <a:pt x="211667" y="111125"/>
                </a:cubicBezTo>
                <a:lnTo>
                  <a:pt x="211667" y="142875"/>
                </a:lnTo>
                <a:cubicBezTo>
                  <a:pt x="211667" y="151606"/>
                  <a:pt x="202142" y="158750"/>
                  <a:pt x="190500" y="158750"/>
                </a:cubicBezTo>
                <a:lnTo>
                  <a:pt x="148167" y="158750"/>
                </a:lnTo>
                <a:cubicBezTo>
                  <a:pt x="136525" y="158750"/>
                  <a:pt x="127000" y="151606"/>
                  <a:pt x="127000" y="142875"/>
                </a:cubicBezTo>
                <a:lnTo>
                  <a:pt x="127000" y="111125"/>
                </a:lnTo>
                <a:close/>
                <a:moveTo>
                  <a:pt x="317500" y="95250"/>
                </a:moveTo>
                <a:lnTo>
                  <a:pt x="359833" y="95250"/>
                </a:lnTo>
                <a:cubicBezTo>
                  <a:pt x="371475" y="95250"/>
                  <a:pt x="381000" y="102394"/>
                  <a:pt x="381000" y="111125"/>
                </a:cubicBezTo>
                <a:lnTo>
                  <a:pt x="381000" y="142875"/>
                </a:lnTo>
                <a:cubicBezTo>
                  <a:pt x="381000" y="151606"/>
                  <a:pt x="371475" y="158750"/>
                  <a:pt x="359833" y="158750"/>
                </a:cubicBezTo>
                <a:lnTo>
                  <a:pt x="317500" y="158750"/>
                </a:lnTo>
                <a:cubicBezTo>
                  <a:pt x="305858" y="158750"/>
                  <a:pt x="296333" y="151606"/>
                  <a:pt x="296333" y="142875"/>
                </a:cubicBezTo>
                <a:lnTo>
                  <a:pt x="296333" y="111125"/>
                </a:lnTo>
                <a:cubicBezTo>
                  <a:pt x="296333" y="102394"/>
                  <a:pt x="305858" y="95250"/>
                  <a:pt x="317500" y="95250"/>
                </a:cubicBezTo>
                <a:close/>
                <a:moveTo>
                  <a:pt x="127000" y="238125"/>
                </a:moveTo>
                <a:cubicBezTo>
                  <a:pt x="127000" y="229394"/>
                  <a:pt x="136525" y="222250"/>
                  <a:pt x="148167" y="222250"/>
                </a:cubicBezTo>
                <a:lnTo>
                  <a:pt x="190500" y="222250"/>
                </a:lnTo>
                <a:cubicBezTo>
                  <a:pt x="202142" y="222250"/>
                  <a:pt x="211667" y="229394"/>
                  <a:pt x="211667" y="238125"/>
                </a:cubicBezTo>
                <a:lnTo>
                  <a:pt x="211667" y="269875"/>
                </a:lnTo>
                <a:cubicBezTo>
                  <a:pt x="211667" y="278606"/>
                  <a:pt x="202142" y="285750"/>
                  <a:pt x="190500" y="285750"/>
                </a:cubicBezTo>
                <a:lnTo>
                  <a:pt x="148167" y="285750"/>
                </a:lnTo>
                <a:cubicBezTo>
                  <a:pt x="136525" y="285750"/>
                  <a:pt x="127000" y="278606"/>
                  <a:pt x="127000" y="269875"/>
                </a:cubicBezTo>
                <a:lnTo>
                  <a:pt x="127000" y="238125"/>
                </a:lnTo>
                <a:close/>
                <a:moveTo>
                  <a:pt x="317500" y="222250"/>
                </a:moveTo>
                <a:lnTo>
                  <a:pt x="359833" y="222250"/>
                </a:lnTo>
                <a:cubicBezTo>
                  <a:pt x="371475" y="222250"/>
                  <a:pt x="381000" y="229394"/>
                  <a:pt x="381000" y="238125"/>
                </a:cubicBezTo>
                <a:lnTo>
                  <a:pt x="381000" y="269875"/>
                </a:lnTo>
                <a:cubicBezTo>
                  <a:pt x="381000" y="278606"/>
                  <a:pt x="371475" y="285750"/>
                  <a:pt x="359833" y="285750"/>
                </a:cubicBezTo>
                <a:lnTo>
                  <a:pt x="317500" y="285750"/>
                </a:lnTo>
                <a:cubicBezTo>
                  <a:pt x="305858" y="285750"/>
                  <a:pt x="296333" y="278606"/>
                  <a:pt x="296333" y="269875"/>
                </a:cubicBezTo>
                <a:lnTo>
                  <a:pt x="296333" y="238125"/>
                </a:lnTo>
                <a:cubicBezTo>
                  <a:pt x="296333" y="229394"/>
                  <a:pt x="305858" y="222250"/>
                  <a:pt x="317500" y="222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461500" y="5651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Elevator Control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63000" y="6350000"/>
            <a:ext cx="584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Floor buttons generate ItemEvents. The controller (listener) queues requests and moves the elevator to the selected floor.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Listeners - Code Example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5080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ActionListener with JButton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Register an ActionListener to handle button click events.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addActionListener()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actionPerformed() method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Anonymous inner class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0" y="1905000"/>
            <a:ext cx="8128000" cy="6350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905000"/>
            <a:ext cx="8128000" cy="457200"/>
          </a:xfrm>
          <a:prstGeom prst="roundRect">
            <a:avLst>
              <a:gd name="adj" fmla="val 6000"/>
            </a:avLst>
          </a:pr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7112000" y="1905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EventListenerExample.java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12000" y="2476500"/>
            <a:ext cx="7620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javax.swing.*;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java.awt.event.*;</a:t>
            </a:r>
            <a:endParaRPr lang="en-US" sz="1500" dirty="0"/>
          </a:p>
          <a:p>
            <a:pPr algn="l">
              <a:lnSpc>
                <a:spcPct val="150000"/>
              </a:lnSpc>
            </a:pP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EventListenerExample {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static void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main(String[] a) {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JFrame f =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JFrame(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"Demo"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JButton b =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JButton(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"Click"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JLabel l =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JLabel(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"Ready"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b.addActionListener(e -&gt;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l.setText(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"Clicked!"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f.add(b); f.add(l);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f.setLayout(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FlowLayout());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f.setSize(300, 150);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f.setVisible(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}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Event Listeners in Java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6096000"/>
        </p:xfrm>
        <a:graphic>
          <a:graphicData uri="http://schemas.openxmlformats.org/drawingml/2006/table">
            <a:tbl>
              <a:tblPr/>
              <a:tblGrid>
                <a:gridCol w="3840480"/>
                <a:gridCol w="5486400"/>
                <a:gridCol w="438912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Listener Interface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Key Methods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Used For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ActionListener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actionPerformed()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Button clicks, menu items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MouseListener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mouseClicked(), mouseEntered()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Mouse click, enter, exit events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MouseMotionListener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mouseDragged(), mouseMoved()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Mouse drag and move tracking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KeyListener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keyPressed(), keyReleased()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Keyboard input handling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WindowListener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windowOpened(), windowClosing()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Window state changes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FocusListener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focusGained(), focusLost()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Component focus changes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ItemListener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itemStateChanged()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Checkbox, radio selections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ListSelectionListener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valueChanged()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List selection changes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GUI - Multi Listener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5080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Combined Listener Demo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Combines MouseListener and ActionListener in one app.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Responds to: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Mouse clicks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Button actions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Mouse enter/exit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0" y="1905000"/>
            <a:ext cx="8128000" cy="6350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905000"/>
            <a:ext cx="8128000" cy="457200"/>
          </a:xfrm>
          <a:prstGeom prst="roundRect">
            <a:avLst>
              <a:gd name="adj" fmla="val 6000"/>
            </a:avLst>
          </a:pr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7112000" y="1905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MultiListenerDemo.java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12000" y="2476500"/>
            <a:ext cx="7620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MultiListenerDemo {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int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count = 0;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static void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main(String[] a) {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JFrame f =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JFrame(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"Demo"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JButton b =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JButton(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"Go"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JLabel l =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JLabel(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"Count: 0"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b.addActionListener(e -&gt; {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count++;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l.setText(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"Count: 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+count);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});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b.addMouseListener(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MouseAdapter() {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mouseEntered(MouseEvent e) { b.setBackground(Color.GREEN); }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mouseExited(MouseEvent e) { b.setBackground(Color.GRAY); }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});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}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18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Functional GUIs, Layout Managers, Wrapper Classes &amp; String Handling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Fully Functional GUIs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780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fully functional GUI combines components, event handling, and proper layout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2667000"/>
            <a:ext cx="3175000" cy="3556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6" name="Shape 4"/>
          <p:cNvSpPr/>
          <p:nvPr/>
        </p:nvSpPr>
        <p:spPr>
          <a:xfrm>
            <a:off x="2540000" y="292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3867" y="142161"/>
                </a:moveTo>
                <a:cubicBezTo>
                  <a:pt x="13652" y="129064"/>
                  <a:pt x="0" y="104418"/>
                  <a:pt x="0" y="76200"/>
                </a:cubicBezTo>
                <a:cubicBezTo>
                  <a:pt x="0" y="34171"/>
                  <a:pt x="30374" y="0"/>
                  <a:pt x="67733" y="0"/>
                </a:cubicBezTo>
                <a:cubicBezTo>
                  <a:pt x="92816" y="0"/>
                  <a:pt x="114723" y="15359"/>
                  <a:pt x="126365" y="38100"/>
                </a:cubicBezTo>
                <a:lnTo>
                  <a:pt x="483129" y="38100"/>
                </a:lnTo>
                <a:cubicBezTo>
                  <a:pt x="494877" y="15359"/>
                  <a:pt x="516678" y="0"/>
                  <a:pt x="541761" y="0"/>
                </a:cubicBezTo>
                <a:cubicBezTo>
                  <a:pt x="579120" y="0"/>
                  <a:pt x="609494" y="34171"/>
                  <a:pt x="609494" y="76200"/>
                </a:cubicBezTo>
                <a:cubicBezTo>
                  <a:pt x="609494" y="104418"/>
                  <a:pt x="595842" y="129064"/>
                  <a:pt x="575627" y="142161"/>
                </a:cubicBezTo>
                <a:lnTo>
                  <a:pt x="575627" y="467320"/>
                </a:lnTo>
                <a:cubicBezTo>
                  <a:pt x="595842" y="480536"/>
                  <a:pt x="609494" y="505063"/>
                  <a:pt x="609494" y="533281"/>
                </a:cubicBezTo>
                <a:cubicBezTo>
                  <a:pt x="609494" y="575310"/>
                  <a:pt x="579120" y="609481"/>
                  <a:pt x="541761" y="609481"/>
                </a:cubicBezTo>
                <a:cubicBezTo>
                  <a:pt x="516678" y="609481"/>
                  <a:pt x="494771" y="594122"/>
                  <a:pt x="483129" y="571381"/>
                </a:cubicBezTo>
                <a:lnTo>
                  <a:pt x="126365" y="571381"/>
                </a:lnTo>
                <a:cubicBezTo>
                  <a:pt x="114617" y="594122"/>
                  <a:pt x="92816" y="609481"/>
                  <a:pt x="67733" y="609481"/>
                </a:cubicBezTo>
                <a:cubicBezTo>
                  <a:pt x="30374" y="609481"/>
                  <a:pt x="0" y="575310"/>
                  <a:pt x="0" y="533281"/>
                </a:cubicBezTo>
                <a:cubicBezTo>
                  <a:pt x="0" y="505063"/>
                  <a:pt x="13652" y="480417"/>
                  <a:pt x="33867" y="467320"/>
                </a:cubicBezTo>
                <a:lnTo>
                  <a:pt x="33867" y="142161"/>
                </a:lnTo>
                <a:close/>
                <a:moveTo>
                  <a:pt x="508000" y="142161"/>
                </a:moveTo>
                <a:cubicBezTo>
                  <a:pt x="497734" y="135493"/>
                  <a:pt x="489162" y="125849"/>
                  <a:pt x="483235" y="114300"/>
                </a:cubicBezTo>
                <a:lnTo>
                  <a:pt x="126365" y="114300"/>
                </a:lnTo>
                <a:cubicBezTo>
                  <a:pt x="120438" y="125849"/>
                  <a:pt x="111866" y="135493"/>
                  <a:pt x="101600" y="142161"/>
                </a:cubicBezTo>
                <a:lnTo>
                  <a:pt x="101600" y="467320"/>
                </a:lnTo>
                <a:cubicBezTo>
                  <a:pt x="111866" y="473988"/>
                  <a:pt x="120438" y="483632"/>
                  <a:pt x="126365" y="495181"/>
                </a:cubicBezTo>
                <a:lnTo>
                  <a:pt x="483129" y="495181"/>
                </a:lnTo>
                <a:cubicBezTo>
                  <a:pt x="489056" y="483632"/>
                  <a:pt x="497628" y="473988"/>
                  <a:pt x="507894" y="467320"/>
                </a:cubicBezTo>
                <a:lnTo>
                  <a:pt x="507894" y="142161"/>
                </a:lnTo>
                <a:close/>
                <a:moveTo>
                  <a:pt x="152400" y="209550"/>
                </a:moveTo>
                <a:cubicBezTo>
                  <a:pt x="152400" y="188476"/>
                  <a:pt x="167534" y="171450"/>
                  <a:pt x="186267" y="171450"/>
                </a:cubicBezTo>
                <a:lnTo>
                  <a:pt x="304800" y="171450"/>
                </a:lnTo>
                <a:cubicBezTo>
                  <a:pt x="323533" y="171450"/>
                  <a:pt x="338667" y="188476"/>
                  <a:pt x="338667" y="209550"/>
                </a:cubicBezTo>
                <a:lnTo>
                  <a:pt x="338667" y="285750"/>
                </a:lnTo>
                <a:cubicBezTo>
                  <a:pt x="338667" y="306824"/>
                  <a:pt x="323533" y="323850"/>
                  <a:pt x="304800" y="323850"/>
                </a:cubicBezTo>
                <a:lnTo>
                  <a:pt x="186267" y="323850"/>
                </a:lnTo>
                <a:cubicBezTo>
                  <a:pt x="167534" y="323850"/>
                  <a:pt x="152400" y="306824"/>
                  <a:pt x="152400" y="285750"/>
                </a:cubicBezTo>
                <a:lnTo>
                  <a:pt x="152400" y="209550"/>
                </a:lnTo>
                <a:close/>
                <a:moveTo>
                  <a:pt x="270933" y="381000"/>
                </a:moveTo>
                <a:lnTo>
                  <a:pt x="304800" y="381000"/>
                </a:lnTo>
                <a:cubicBezTo>
                  <a:pt x="351578" y="381000"/>
                  <a:pt x="389467" y="338376"/>
                  <a:pt x="389467" y="285750"/>
                </a:cubicBezTo>
                <a:lnTo>
                  <a:pt x="423333" y="285750"/>
                </a:lnTo>
                <a:cubicBezTo>
                  <a:pt x="442066" y="285750"/>
                  <a:pt x="457200" y="302776"/>
                  <a:pt x="457200" y="323850"/>
                </a:cubicBezTo>
                <a:lnTo>
                  <a:pt x="457200" y="400050"/>
                </a:lnTo>
                <a:cubicBezTo>
                  <a:pt x="457200" y="421124"/>
                  <a:pt x="442066" y="438150"/>
                  <a:pt x="423333" y="438150"/>
                </a:cubicBezTo>
                <a:lnTo>
                  <a:pt x="304800" y="438150"/>
                </a:lnTo>
                <a:cubicBezTo>
                  <a:pt x="286068" y="438150"/>
                  <a:pt x="270933" y="421124"/>
                  <a:pt x="270933" y="400050"/>
                </a:cubicBezTo>
                <a:lnTo>
                  <a:pt x="270933" y="3810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3683000"/>
            <a:ext cx="266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Organization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0500" y="4254500"/>
            <a:ext cx="279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related components together using panels and logical visual hierarchy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26000" y="2667000"/>
            <a:ext cx="3175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6000" y="292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61010" y="-11787"/>
                </a:moveTo>
                <a:cubicBezTo>
                  <a:pt x="477203" y="-1548"/>
                  <a:pt x="483190" y="17026"/>
                  <a:pt x="475842" y="33218"/>
                </a:cubicBezTo>
                <a:lnTo>
                  <a:pt x="369162" y="266700"/>
                </a:lnTo>
                <a:lnTo>
                  <a:pt x="566057" y="266700"/>
                </a:lnTo>
                <a:cubicBezTo>
                  <a:pt x="584427" y="266700"/>
                  <a:pt x="600755" y="276701"/>
                  <a:pt x="607015" y="291822"/>
                </a:cubicBezTo>
                <a:cubicBezTo>
                  <a:pt x="613274" y="306943"/>
                  <a:pt x="607967" y="323850"/>
                  <a:pt x="593952" y="334089"/>
                </a:cubicBezTo>
                <a:lnTo>
                  <a:pt x="202066" y="619839"/>
                </a:lnTo>
                <a:cubicBezTo>
                  <a:pt x="186690" y="631031"/>
                  <a:pt x="164783" y="631627"/>
                  <a:pt x="148590" y="621387"/>
                </a:cubicBezTo>
                <a:cubicBezTo>
                  <a:pt x="132398" y="611148"/>
                  <a:pt x="126410" y="592574"/>
                  <a:pt x="133758" y="576382"/>
                </a:cubicBezTo>
                <a:lnTo>
                  <a:pt x="240438" y="342900"/>
                </a:lnTo>
                <a:lnTo>
                  <a:pt x="43543" y="342900"/>
                </a:lnTo>
                <a:cubicBezTo>
                  <a:pt x="25173" y="342900"/>
                  <a:pt x="8845" y="332899"/>
                  <a:pt x="2585" y="317778"/>
                </a:cubicBezTo>
                <a:cubicBezTo>
                  <a:pt x="-3674" y="302657"/>
                  <a:pt x="1633" y="285750"/>
                  <a:pt x="15648" y="275511"/>
                </a:cubicBezTo>
                <a:lnTo>
                  <a:pt x="407534" y="-10239"/>
                </a:lnTo>
                <a:cubicBezTo>
                  <a:pt x="422910" y="-21431"/>
                  <a:pt x="444818" y="-22027"/>
                  <a:pt x="461010" y="-11787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5080000" y="3683000"/>
            <a:ext cx="266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Event-Driven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16500" y="4254500"/>
            <a:ext cx="279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Respond to user actions with appropriate event listeners and callbacks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2667000"/>
            <a:ext cx="3175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52000" y="292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38100"/>
                </a:moveTo>
                <a:cubicBezTo>
                  <a:pt x="219287" y="38100"/>
                  <a:pt x="150813" y="81915"/>
                  <a:pt x="100965" y="134064"/>
                </a:cubicBezTo>
                <a:cubicBezTo>
                  <a:pt x="51435" y="185857"/>
                  <a:pt x="18309" y="247650"/>
                  <a:pt x="2540" y="290155"/>
                </a:cubicBezTo>
                <a:cubicBezTo>
                  <a:pt x="-952" y="299561"/>
                  <a:pt x="-952" y="310039"/>
                  <a:pt x="2540" y="319445"/>
                </a:cubicBezTo>
                <a:cubicBezTo>
                  <a:pt x="18309" y="361950"/>
                  <a:pt x="51435" y="423863"/>
                  <a:pt x="100965" y="475536"/>
                </a:cubicBezTo>
                <a:cubicBezTo>
                  <a:pt x="150813" y="527566"/>
                  <a:pt x="219287" y="571500"/>
                  <a:pt x="304800" y="571500"/>
                </a:cubicBezTo>
                <a:cubicBezTo>
                  <a:pt x="390313" y="571500"/>
                  <a:pt x="458787" y="527685"/>
                  <a:pt x="508635" y="475536"/>
                </a:cubicBezTo>
                <a:cubicBezTo>
                  <a:pt x="558165" y="423743"/>
                  <a:pt x="591291" y="361950"/>
                  <a:pt x="607060" y="319445"/>
                </a:cubicBezTo>
                <a:cubicBezTo>
                  <a:pt x="610552" y="310039"/>
                  <a:pt x="610552" y="299561"/>
                  <a:pt x="607060" y="290155"/>
                </a:cubicBezTo>
                <a:cubicBezTo>
                  <a:pt x="591291" y="247650"/>
                  <a:pt x="558165" y="185737"/>
                  <a:pt x="508635" y="134064"/>
                </a:cubicBezTo>
                <a:cubicBezTo>
                  <a:pt x="458787" y="82034"/>
                  <a:pt x="390313" y="38100"/>
                  <a:pt x="304800" y="38100"/>
                </a:cubicBezTo>
                <a:close/>
                <a:moveTo>
                  <a:pt x="152400" y="304800"/>
                </a:moveTo>
                <a:cubicBezTo>
                  <a:pt x="152400" y="210174"/>
                  <a:pt x="220688" y="133350"/>
                  <a:pt x="304800" y="133350"/>
                </a:cubicBezTo>
                <a:cubicBezTo>
                  <a:pt x="388912" y="133350"/>
                  <a:pt x="457200" y="210174"/>
                  <a:pt x="457200" y="304800"/>
                </a:cubicBezTo>
                <a:cubicBezTo>
                  <a:pt x="457200" y="399426"/>
                  <a:pt x="388912" y="476250"/>
                  <a:pt x="304800" y="476250"/>
                </a:cubicBezTo>
                <a:cubicBezTo>
                  <a:pt x="220688" y="476250"/>
                  <a:pt x="152400" y="399426"/>
                  <a:pt x="152400" y="304800"/>
                </a:cubicBezTo>
                <a:close/>
                <a:moveTo>
                  <a:pt x="304800" y="228600"/>
                </a:moveTo>
                <a:cubicBezTo>
                  <a:pt x="304800" y="270629"/>
                  <a:pt x="274426" y="304800"/>
                  <a:pt x="237067" y="304800"/>
                </a:cubicBezTo>
                <a:cubicBezTo>
                  <a:pt x="224896" y="304800"/>
                  <a:pt x="213466" y="301228"/>
                  <a:pt x="203518" y="294799"/>
                </a:cubicBezTo>
                <a:cubicBezTo>
                  <a:pt x="202459" y="307777"/>
                  <a:pt x="203412" y="321112"/>
                  <a:pt x="206587" y="334328"/>
                </a:cubicBezTo>
                <a:cubicBezTo>
                  <a:pt x="221086" y="395287"/>
                  <a:pt x="276860" y="431483"/>
                  <a:pt x="331047" y="415171"/>
                </a:cubicBezTo>
                <a:cubicBezTo>
                  <a:pt x="385233" y="398859"/>
                  <a:pt x="417407" y="336113"/>
                  <a:pt x="402908" y="275153"/>
                </a:cubicBezTo>
                <a:cubicBezTo>
                  <a:pt x="389996" y="220742"/>
                  <a:pt x="344170" y="186095"/>
                  <a:pt x="295910" y="190857"/>
                </a:cubicBezTo>
                <a:cubicBezTo>
                  <a:pt x="301519" y="201930"/>
                  <a:pt x="304800" y="214789"/>
                  <a:pt x="304800" y="2286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5" name="Text 13"/>
          <p:cNvSpPr/>
          <p:nvPr/>
        </p:nvSpPr>
        <p:spPr>
          <a:xfrm>
            <a:off x="8636000" y="3683000"/>
            <a:ext cx="266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 Feedback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72500" y="4254500"/>
            <a:ext cx="279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Show results, status messages, and confirmation to guide the user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938000" y="2667000"/>
            <a:ext cx="3048000" cy="355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13157200" y="292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10277" y="0"/>
                  <a:pt x="315754" y="1191"/>
                  <a:pt x="320754" y="3453"/>
                </a:cubicBezTo>
                <a:lnTo>
                  <a:pt x="545068" y="98584"/>
                </a:lnTo>
                <a:cubicBezTo>
                  <a:pt x="571262" y="109657"/>
                  <a:pt x="590788" y="135493"/>
                  <a:pt x="590669" y="166688"/>
                </a:cubicBezTo>
                <a:cubicBezTo>
                  <a:pt x="590074" y="284797"/>
                  <a:pt x="541496" y="500896"/>
                  <a:pt x="336352" y="599123"/>
                </a:cubicBezTo>
                <a:cubicBezTo>
                  <a:pt x="316468" y="608647"/>
                  <a:pt x="293370" y="608647"/>
                  <a:pt x="273487" y="599123"/>
                </a:cubicBezTo>
                <a:cubicBezTo>
                  <a:pt x="68223" y="500896"/>
                  <a:pt x="19764" y="284797"/>
                  <a:pt x="19169" y="166688"/>
                </a:cubicBezTo>
                <a:cubicBezTo>
                  <a:pt x="19050" y="135493"/>
                  <a:pt x="38576" y="109657"/>
                  <a:pt x="64770" y="98584"/>
                </a:cubicBezTo>
                <a:lnTo>
                  <a:pt x="288965" y="3453"/>
                </a:lnTo>
                <a:cubicBezTo>
                  <a:pt x="293965" y="1191"/>
                  <a:pt x="299323" y="0"/>
                  <a:pt x="304800" y="0"/>
                </a:cubicBezTo>
                <a:close/>
                <a:moveTo>
                  <a:pt x="304800" y="79534"/>
                </a:moveTo>
                <a:lnTo>
                  <a:pt x="304800" y="529709"/>
                </a:lnTo>
                <a:cubicBezTo>
                  <a:pt x="469106" y="450175"/>
                  <a:pt x="513278" y="273963"/>
                  <a:pt x="514350" y="168473"/>
                </a:cubicBezTo>
                <a:lnTo>
                  <a:pt x="304800" y="79653"/>
                </a:lnTo>
                <a:lnTo>
                  <a:pt x="304800" y="7965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2128500" y="3683000"/>
            <a:ext cx="266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 Handling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065000" y="4254500"/>
            <a:ext cx="279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Manage invalid inputs gracefully with clear error messages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70000" y="6604000"/>
            <a:ext cx="13716000" cy="1270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51000" y="6858000"/>
            <a:ext cx="1295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Formula: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Functional GUI = Components + Event Handlers + Layout Manager + Feedback Loop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Layout Managers - Definition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34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35429" y="95250"/>
                </a:moveTo>
                <a:lnTo>
                  <a:pt x="290286" y="95250"/>
                </a:lnTo>
                <a:lnTo>
                  <a:pt x="290286" y="222250"/>
                </a:lnTo>
                <a:lnTo>
                  <a:pt x="435429" y="222250"/>
                </a:lnTo>
                <a:lnTo>
                  <a:pt x="435429" y="95250"/>
                </a:lnTo>
                <a:close/>
                <a:moveTo>
                  <a:pt x="508000" y="222250"/>
                </a:moveTo>
                <a:lnTo>
                  <a:pt x="508000" y="412750"/>
                </a:lnTo>
                <a:cubicBezTo>
                  <a:pt x="508000" y="447774"/>
                  <a:pt x="475456" y="476250"/>
                  <a:pt x="435429" y="476250"/>
                </a:cubicBezTo>
                <a:lnTo>
                  <a:pt x="72571" y="476250"/>
                </a:lnTo>
                <a:cubicBezTo>
                  <a:pt x="32544" y="476250"/>
                  <a:pt x="0" y="447774"/>
                  <a:pt x="0" y="412750"/>
                </a:cubicBezTo>
                <a:lnTo>
                  <a:pt x="0" y="95250"/>
                </a:lnTo>
                <a:cubicBezTo>
                  <a:pt x="0" y="60226"/>
                  <a:pt x="32544" y="31750"/>
                  <a:pt x="72571" y="31750"/>
                </a:cubicBezTo>
                <a:lnTo>
                  <a:pt x="435429" y="31750"/>
                </a:lnTo>
                <a:cubicBezTo>
                  <a:pt x="475456" y="31750"/>
                  <a:pt x="508000" y="60226"/>
                  <a:pt x="508000" y="95250"/>
                </a:cubicBezTo>
                <a:lnTo>
                  <a:pt x="508000" y="222250"/>
                </a:lnTo>
                <a:close/>
                <a:moveTo>
                  <a:pt x="72571" y="285750"/>
                </a:moveTo>
                <a:lnTo>
                  <a:pt x="72571" y="412750"/>
                </a:lnTo>
                <a:lnTo>
                  <a:pt x="217714" y="412750"/>
                </a:lnTo>
                <a:lnTo>
                  <a:pt x="217714" y="285750"/>
                </a:lnTo>
                <a:lnTo>
                  <a:pt x="72571" y="285750"/>
                </a:lnTo>
                <a:close/>
                <a:moveTo>
                  <a:pt x="217714" y="222250"/>
                </a:moveTo>
                <a:lnTo>
                  <a:pt x="217714" y="95250"/>
                </a:lnTo>
                <a:lnTo>
                  <a:pt x="72571" y="95250"/>
                </a:lnTo>
                <a:lnTo>
                  <a:pt x="72571" y="222250"/>
                </a:lnTo>
                <a:lnTo>
                  <a:pt x="217714" y="222250"/>
                </a:lnTo>
                <a:close/>
                <a:moveTo>
                  <a:pt x="290286" y="285750"/>
                </a:moveTo>
                <a:lnTo>
                  <a:pt x="290286" y="412750"/>
                </a:lnTo>
                <a:lnTo>
                  <a:pt x="435429" y="412750"/>
                </a:lnTo>
                <a:lnTo>
                  <a:pt x="435429" y="285750"/>
                </a:lnTo>
                <a:lnTo>
                  <a:pt x="290286" y="28575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413000" y="2032000"/>
            <a:ext cx="1219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Layout Manager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controls the positioning and sizing of components within a container. It automatically arranges components when the window is resized, ensuring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responsive design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across different screen sizes.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70000" y="3810000"/>
            <a:ext cx="2540000" cy="1905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9370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FlowLayout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97000" y="4445000"/>
            <a:ext cx="2286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Left to right, top to bottom flow like text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4000" y="3810000"/>
            <a:ext cx="2540000" cy="190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64000" y="39370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BorderLayout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91000" y="4445000"/>
            <a:ext cx="2286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NORTH, SOUTH, EAST, WEST, CENTER regions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0" y="3810000"/>
            <a:ext cx="2540000" cy="190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39370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GridLayout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85000" y="4445000"/>
            <a:ext cx="2286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Equal-sized cells in rows and columns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52000" y="3810000"/>
            <a:ext cx="2540000" cy="190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52000" y="39370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GridBagLayout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779000" y="4445000"/>
            <a:ext cx="2286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Flexible grid with constraints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2446000" y="3810000"/>
            <a:ext cx="2540000" cy="1905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0" name="Text 18"/>
          <p:cNvSpPr/>
          <p:nvPr/>
        </p:nvSpPr>
        <p:spPr>
          <a:xfrm>
            <a:off x="12446000" y="39370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BoxLayout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573000" y="4445000"/>
            <a:ext cx="2286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Single row or column alignment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270000" y="6096000"/>
            <a:ext cx="13716000" cy="1270000"/>
          </a:xfrm>
          <a:prstGeom prst="roundRect">
            <a:avLst>
              <a:gd name="adj" fmla="val 6000"/>
            </a:avLst>
          </a:prstGeom>
          <a:solidFill>
            <a:srgbClr val="2E5E8A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51000" y="6413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8734" y="342900"/>
                </a:moveTo>
                <a:cubicBezTo>
                  <a:pt x="357426" y="322987"/>
                  <a:pt x="374809" y="304949"/>
                  <a:pt x="394454" y="289411"/>
                </a:cubicBezTo>
                <a:cubicBezTo>
                  <a:pt x="433387" y="258693"/>
                  <a:pt x="457200" y="217170"/>
                  <a:pt x="457200" y="171450"/>
                </a:cubicBezTo>
                <a:cubicBezTo>
                  <a:pt x="457200" y="76795"/>
                  <a:pt x="354806" y="0"/>
                  <a:pt x="228600" y="0"/>
                </a:cubicBezTo>
                <a:cubicBezTo>
                  <a:pt x="102394" y="0"/>
                  <a:pt x="0" y="76795"/>
                  <a:pt x="0" y="171450"/>
                </a:cubicBezTo>
                <a:cubicBezTo>
                  <a:pt x="0" y="217170"/>
                  <a:pt x="23813" y="258693"/>
                  <a:pt x="62746" y="289411"/>
                </a:cubicBezTo>
                <a:cubicBezTo>
                  <a:pt x="82391" y="304949"/>
                  <a:pt x="99893" y="322987"/>
                  <a:pt x="108466" y="342900"/>
                </a:cubicBezTo>
                <a:lnTo>
                  <a:pt x="348615" y="342900"/>
                </a:lnTo>
                <a:close/>
                <a:moveTo>
                  <a:pt x="342900" y="385763"/>
                </a:moveTo>
                <a:lnTo>
                  <a:pt x="114300" y="385763"/>
                </a:lnTo>
                <a:lnTo>
                  <a:pt x="114300" y="400050"/>
                </a:lnTo>
                <a:cubicBezTo>
                  <a:pt x="114300" y="439519"/>
                  <a:pt x="156924" y="471488"/>
                  <a:pt x="209550" y="471488"/>
                </a:cubicBezTo>
                <a:lnTo>
                  <a:pt x="247650" y="471488"/>
                </a:lnTo>
                <a:cubicBezTo>
                  <a:pt x="300276" y="471488"/>
                  <a:pt x="342900" y="439519"/>
                  <a:pt x="342900" y="400050"/>
                </a:cubicBezTo>
                <a:lnTo>
                  <a:pt x="342900" y="385763"/>
                </a:lnTo>
                <a:close/>
                <a:moveTo>
                  <a:pt x="219075" y="100013"/>
                </a:moveTo>
                <a:cubicBezTo>
                  <a:pt x="171688" y="100013"/>
                  <a:pt x="133350" y="128766"/>
                  <a:pt x="133350" y="164306"/>
                </a:cubicBezTo>
                <a:cubicBezTo>
                  <a:pt x="133350" y="176183"/>
                  <a:pt x="120610" y="185738"/>
                  <a:pt x="104775" y="185738"/>
                </a:cubicBezTo>
                <a:cubicBezTo>
                  <a:pt x="88940" y="185738"/>
                  <a:pt x="76200" y="176183"/>
                  <a:pt x="76200" y="164306"/>
                </a:cubicBezTo>
                <a:cubicBezTo>
                  <a:pt x="76200" y="105102"/>
                  <a:pt x="140137" y="57150"/>
                  <a:pt x="219075" y="57150"/>
                </a:cubicBezTo>
                <a:cubicBezTo>
                  <a:pt x="234910" y="57150"/>
                  <a:pt x="247650" y="66705"/>
                  <a:pt x="247650" y="78581"/>
                </a:cubicBezTo>
                <a:cubicBezTo>
                  <a:pt x="247650" y="90458"/>
                  <a:pt x="234910" y="100013"/>
                  <a:pt x="219075" y="10001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0" y="6223000"/>
            <a:ext cx="1231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Always use Layout Managers instead of absolute positioning (setBounds) for portable, adaptable GUIs that work across different screen sizes.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Layout Managers - Types &amp; Examples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6096000"/>
        </p:xfrm>
        <a:graphic>
          <a:graphicData uri="http://schemas.openxmlformats.org/drawingml/2006/table">
            <a:tbl>
              <a:tblPr/>
              <a:tblGrid>
                <a:gridCol w="3017520"/>
                <a:gridCol w="5212080"/>
                <a:gridCol w="548640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Layout Manager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Real World Example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BorderLayout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 regions: NORTH, SOUTH, EAST, WEST, CENTER. Each region holds one component.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Web Browser: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NORTH=address bar, CENTER=web page, SOUTH=status bar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FlowLayout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Components flow left-to-right, wrapping to next row when space runs out.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Toolbar: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Icons flow horizontally and wrap based on window width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GridLayout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Components placed in equal-sized cells arranged in rows and columns.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Calculator: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Uniform button grid (4x4) for digits and operators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GridBagLayout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Flexible grid where components can span multiple cells with constraints.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Login Form: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Labels and fields of varying sizes aligned precisely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Layout Managers - Code Example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5080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BorderLayout Example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 components in all five regions of BorderLayout.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NORTH - Top (header)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SOUTH - Bottom (footer)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CENTER - Main content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EAST/WEST - Sides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0" y="1905000"/>
            <a:ext cx="8128000" cy="6350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905000"/>
            <a:ext cx="8128000" cy="457200"/>
          </a:xfrm>
          <a:prstGeom prst="roundRect">
            <a:avLst>
              <a:gd name="adj" fmla="val 6000"/>
            </a:avLst>
          </a:pr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7112000" y="1905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BorderLayoutExample.java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12000" y="2476500"/>
            <a:ext cx="7620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javax.swing.*;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java.awt.*;</a:t>
            </a:r>
            <a:endParaRPr lang="en-US" sz="1500" dirty="0"/>
          </a:p>
          <a:p>
            <a:pPr algn="l">
              <a:lnSpc>
                <a:spcPct val="150000"/>
              </a:lnSpc>
            </a:pP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BorderEx {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static void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main(String[] a) {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JFrame f =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JFrame(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"Border"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f.setLayout(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BorderLayout());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f.add(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JButton(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"N"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), BorderLayout.NORTH);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f.add(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JButton(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), BorderLayout.SOUTH);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f.add(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JButton(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), BorderLayout.EAST);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f.add(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JButton(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), BorderLayout.WEST);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f.add(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JButton(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), BorderLayout.CENTER);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f.setSize(400, 300);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f.setVisible(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}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Wrapper Classes - Definition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51000" y="1968500"/>
            <a:ext cx="1295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Wrapper Classes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provide an object representation for primitive data types. Java collections can only store objects, not primitives, making wrappers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essential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working with ArrayList, HashMap, etc.</a:t>
            </a:r>
            <a:endParaRPr lang="en-US" sz="2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3556000"/>
          <a:ext cx="13716000" cy="4318000"/>
        </p:xfrm>
        <a:graphic>
          <a:graphicData uri="http://schemas.openxmlformats.org/drawingml/2006/table">
            <a:tbl>
              <a:tblPr/>
              <a:tblGrid>
                <a:gridCol w="3429000"/>
                <a:gridCol w="3429000"/>
                <a:gridCol w="3429000"/>
                <a:gridCol w="3429000"/>
              </a:tblGrid>
              <a:tr h="6908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Primitive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Wrapper Class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Primitive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Wrapper Class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Integer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byte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Byte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double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Double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short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Short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char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Character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boolean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Boolean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float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Float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270000" y="8128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Wrapper classes also provide useful utility methods for parsing and type conversion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Wrapper Classes - Example &amp; Code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5080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E-commerce Shopping Cart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Prices stored as Double in ArrayList. Wrappers enable collection storage.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Autoboxing (int → Integer)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Unboxing (Integer → int)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parseInt(), valueOf()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0" y="1905000"/>
            <a:ext cx="8128000" cy="6350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905000"/>
            <a:ext cx="8128000" cy="457200"/>
          </a:xfrm>
          <a:prstGeom prst="roundRect">
            <a:avLst>
              <a:gd name="adj" fmla="val 6000"/>
            </a:avLst>
          </a:pr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7112000" y="1905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WrapperExample.java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12000" y="2476500"/>
            <a:ext cx="7620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java.util.ArrayList;</a:t>
            </a:r>
            <a:endParaRPr lang="en-US" sz="1500" dirty="0"/>
          </a:p>
          <a:p>
            <a:pPr algn="l">
              <a:lnSpc>
                <a:spcPct val="150000"/>
              </a:lnSpc>
            </a:pP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WrapperExample {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static void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main(String[] a) {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Integer obj = 100;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autobox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num = obj;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unbox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 = Integer.parseInt(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"42"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ArrayList&lt;Double&gt; p =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ArrayList&lt;&gt;();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p.add(19.99); p.add(29.50);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total = 0;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(Double d : p) total += d;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System.out.println(total);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}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Class - Definition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39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51000" y="1968500"/>
            <a:ext cx="1295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 sequence of characters. Strings are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immutable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once created, content cannot be changed. Any modification creates a new String object. The String class is final and implements CharSequence.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70000" y="3683000"/>
            <a:ext cx="6604000" cy="3810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7" name="Shape 5"/>
          <p:cNvSpPr/>
          <p:nvPr/>
        </p:nvSpPr>
        <p:spPr>
          <a:xfrm>
            <a:off x="1651000" y="393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69333" y="95250"/>
                </a:moveTo>
                <a:lnTo>
                  <a:pt x="169333" y="158750"/>
                </a:lnTo>
                <a:lnTo>
                  <a:pt x="338667" y="158750"/>
                </a:lnTo>
                <a:lnTo>
                  <a:pt x="338667" y="95250"/>
                </a:lnTo>
                <a:cubicBezTo>
                  <a:pt x="338667" y="60226"/>
                  <a:pt x="300699" y="31750"/>
                  <a:pt x="254000" y="31750"/>
                </a:cubicBezTo>
                <a:cubicBezTo>
                  <a:pt x="207301" y="31750"/>
                  <a:pt x="169333" y="60226"/>
                  <a:pt x="169333" y="95250"/>
                </a:cubicBezTo>
                <a:close/>
                <a:moveTo>
                  <a:pt x="84667" y="158750"/>
                </a:moveTo>
                <a:lnTo>
                  <a:pt x="84667" y="95250"/>
                </a:lnTo>
                <a:cubicBezTo>
                  <a:pt x="84667" y="25102"/>
                  <a:pt x="160470" y="-31750"/>
                  <a:pt x="254000" y="-31750"/>
                </a:cubicBezTo>
                <a:cubicBezTo>
                  <a:pt x="347530" y="-31750"/>
                  <a:pt x="423333" y="25102"/>
                  <a:pt x="423333" y="95250"/>
                </a:cubicBezTo>
                <a:lnTo>
                  <a:pt x="423333" y="158750"/>
                </a:lnTo>
                <a:cubicBezTo>
                  <a:pt x="470032" y="158750"/>
                  <a:pt x="508000" y="187226"/>
                  <a:pt x="508000" y="222250"/>
                </a:cubicBezTo>
                <a:lnTo>
                  <a:pt x="508000" y="444500"/>
                </a:lnTo>
                <a:cubicBezTo>
                  <a:pt x="508000" y="479524"/>
                  <a:pt x="470032" y="508000"/>
                  <a:pt x="423333" y="508000"/>
                </a:cubicBezTo>
                <a:lnTo>
                  <a:pt x="84667" y="508000"/>
                </a:lnTo>
                <a:cubicBezTo>
                  <a:pt x="37968" y="508000"/>
                  <a:pt x="0" y="479524"/>
                  <a:pt x="0" y="444500"/>
                </a:cubicBezTo>
                <a:lnTo>
                  <a:pt x="0" y="222250"/>
                </a:lnTo>
                <a:cubicBezTo>
                  <a:pt x="0" y="187226"/>
                  <a:pt x="37968" y="158750"/>
                  <a:pt x="84667" y="1587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349500" y="3937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Why Immutable?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51000" y="4635500"/>
            <a:ext cx="584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Security: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Prevents unauthorized changes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Thread-safe: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No synchronization needed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 Pool: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Enables memory optimization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Hashing: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Reliable hashCode caching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0" y="3683000"/>
            <a:ext cx="6604000" cy="381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63000" y="393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204192"/>
                </a:moveTo>
                <a:cubicBezTo>
                  <a:pt x="491218" y="213916"/>
                  <a:pt x="471941" y="221754"/>
                  <a:pt x="451871" y="228005"/>
                </a:cubicBezTo>
                <a:cubicBezTo>
                  <a:pt x="398576" y="244673"/>
                  <a:pt x="328613" y="254000"/>
                  <a:pt x="254000" y="254000"/>
                </a:cubicBezTo>
                <a:cubicBezTo>
                  <a:pt x="179387" y="254000"/>
                  <a:pt x="109311" y="244574"/>
                  <a:pt x="56129" y="228005"/>
                </a:cubicBezTo>
                <a:cubicBezTo>
                  <a:pt x="36172" y="221754"/>
                  <a:pt x="16782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113733" y="365125"/>
                  <a:pt x="254000" y="365125"/>
                </a:cubicBezTo>
                <a:cubicBezTo>
                  <a:pt x="394267" y="365125"/>
                  <a:pt x="508000" y="329605"/>
                  <a:pt x="508000" y="285750"/>
                </a:cubicBezTo>
                <a:lnTo>
                  <a:pt x="508000" y="204192"/>
                </a:lnTo>
                <a:close/>
                <a:moveTo>
                  <a:pt x="508000" y="127000"/>
                </a:moveTo>
                <a:lnTo>
                  <a:pt x="508000" y="79375"/>
                </a:lnTo>
                <a:cubicBezTo>
                  <a:pt x="508000" y="35520"/>
                  <a:pt x="394267" y="0"/>
                  <a:pt x="254000" y="0"/>
                </a:cubicBezTo>
                <a:cubicBezTo>
                  <a:pt x="113733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113733" y="206375"/>
                  <a:pt x="254000" y="206375"/>
                </a:cubicBezTo>
                <a:cubicBezTo>
                  <a:pt x="394267" y="206375"/>
                  <a:pt x="508000" y="170855"/>
                  <a:pt x="508000" y="127000"/>
                </a:cubicBezTo>
                <a:close/>
                <a:moveTo>
                  <a:pt x="451871" y="386755"/>
                </a:moveTo>
                <a:cubicBezTo>
                  <a:pt x="398689" y="403324"/>
                  <a:pt x="328726" y="412750"/>
                  <a:pt x="254000" y="412750"/>
                </a:cubicBezTo>
                <a:cubicBezTo>
                  <a:pt x="179274" y="412750"/>
                  <a:pt x="109311" y="403324"/>
                  <a:pt x="56129" y="386755"/>
                </a:cubicBezTo>
                <a:cubicBezTo>
                  <a:pt x="36172" y="380504"/>
                  <a:pt x="16782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113733" y="508000"/>
                  <a:pt x="254000" y="508000"/>
                </a:cubicBezTo>
                <a:cubicBezTo>
                  <a:pt x="394267" y="508000"/>
                  <a:pt x="508000" y="472480"/>
                  <a:pt x="508000" y="428625"/>
                </a:cubicBezTo>
                <a:lnTo>
                  <a:pt x="508000" y="362942"/>
                </a:lnTo>
                <a:cubicBezTo>
                  <a:pt x="491218" y="372666"/>
                  <a:pt x="471941" y="380504"/>
                  <a:pt x="451871" y="38675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9461500" y="3937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 Pool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763000" y="4635500"/>
            <a:ext cx="584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maintains a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Pool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heap for literal reuse: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s1 = 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"Hello"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s2 =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"Hello"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s1 == s2 →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(same pool)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String Functions - Part 1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6096000"/>
        </p:xfrm>
        <a:graphic>
          <a:graphicData uri="http://schemas.openxmlformats.org/drawingml/2006/table">
            <a:tbl>
              <a:tblPr/>
              <a:tblGrid>
                <a:gridCol w="3429000"/>
                <a:gridCol w="5486400"/>
                <a:gridCol w="48006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Method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length()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Returns the number of characters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"Hello".length() → 5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charAt(i)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Returns character at index i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"Hello".charAt(1) → 'e'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substring(b,e)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Extracts substring from begin to end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"Hello".substring(1,4) → "ell"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indexOf(str)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Returns index of first occurrence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"Hello".indexOf("l") → 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equals(str)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Compares content (case-sensitive)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"A".equals("a") → false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equalsIgnoreCase()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Compares ignoring case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"A".equalsIgnoreCase("a") → true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toUpperCase()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Converts to uppercase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"hello".toUpperCase() → "HELLO"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trim()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Removes leading/trailing spaces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  hi  ".trim() → "hi"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String Functions - Part 2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6096000"/>
        </p:xfrm>
        <a:graphic>
          <a:graphicData uri="http://schemas.openxmlformats.org/drawingml/2006/table">
            <a:tbl>
              <a:tblPr/>
              <a:tblGrid>
                <a:gridCol w="3429000"/>
                <a:gridCol w="5486400"/>
                <a:gridCol w="48006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Method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concat(str)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Joins two strings together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"Hi".concat("!") → "Hi!"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replace(o,n)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Replaces all occurrences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"a-b".replace("-","_") → "a_b"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split(regex)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Divides string into array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"a,b".split(",") → ["a","b"]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startsWith()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Checks prefix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"Hi".startsWith("H") → true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contains()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Checks substring presence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"Hey".contains("e") → true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isEmpty()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Checks if length is 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"".isEmpty() → true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compareTo()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Lexicographic comparison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"A".compareTo("B") → -1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toCharArray()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Converts to char array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"Hi".toCharArray() → ['H','i']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- Real World Example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32385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78000" y="2286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34938" y="158750"/>
                </a:moveTo>
                <a:cubicBezTo>
                  <a:pt x="134938" y="76610"/>
                  <a:pt x="188288" y="9922"/>
                  <a:pt x="254000" y="9922"/>
                </a:cubicBezTo>
                <a:cubicBezTo>
                  <a:pt x="319712" y="9922"/>
                  <a:pt x="373063" y="76610"/>
                  <a:pt x="373063" y="158750"/>
                </a:cubicBezTo>
                <a:cubicBezTo>
                  <a:pt x="373063" y="240890"/>
                  <a:pt x="319712" y="307578"/>
                  <a:pt x="254000" y="307578"/>
                </a:cubicBezTo>
                <a:cubicBezTo>
                  <a:pt x="188288" y="307578"/>
                  <a:pt x="134938" y="240890"/>
                  <a:pt x="134938" y="158750"/>
                </a:cubicBezTo>
                <a:close/>
                <a:moveTo>
                  <a:pt x="47625" y="598165"/>
                </a:moveTo>
                <a:cubicBezTo>
                  <a:pt x="47625" y="476002"/>
                  <a:pt x="126802" y="377031"/>
                  <a:pt x="224532" y="377031"/>
                </a:cubicBezTo>
                <a:lnTo>
                  <a:pt x="283468" y="377031"/>
                </a:lnTo>
                <a:cubicBezTo>
                  <a:pt x="381198" y="377031"/>
                  <a:pt x="460375" y="476002"/>
                  <a:pt x="460375" y="598165"/>
                </a:cubicBezTo>
                <a:cubicBezTo>
                  <a:pt x="460375" y="618505"/>
                  <a:pt x="447179" y="635000"/>
                  <a:pt x="430907" y="635000"/>
                </a:cubicBezTo>
                <a:lnTo>
                  <a:pt x="77093" y="635000"/>
                </a:lnTo>
                <a:cubicBezTo>
                  <a:pt x="60821" y="635000"/>
                  <a:pt x="47625" y="618505"/>
                  <a:pt x="47625" y="598165"/>
                </a:cubicBezTo>
                <a:close/>
                <a:moveTo>
                  <a:pt x="539750" y="119062"/>
                </a:moveTo>
                <a:cubicBezTo>
                  <a:pt x="552946" y="119062"/>
                  <a:pt x="563563" y="132333"/>
                  <a:pt x="563563" y="148828"/>
                </a:cubicBezTo>
                <a:lnTo>
                  <a:pt x="563563" y="208359"/>
                </a:lnTo>
                <a:lnTo>
                  <a:pt x="611188" y="208359"/>
                </a:lnTo>
                <a:cubicBezTo>
                  <a:pt x="624384" y="208359"/>
                  <a:pt x="635000" y="221630"/>
                  <a:pt x="635000" y="238125"/>
                </a:cubicBezTo>
                <a:cubicBezTo>
                  <a:pt x="635000" y="254620"/>
                  <a:pt x="624384" y="267891"/>
                  <a:pt x="611188" y="267891"/>
                </a:cubicBezTo>
                <a:lnTo>
                  <a:pt x="563563" y="267891"/>
                </a:lnTo>
                <a:lnTo>
                  <a:pt x="563563" y="327422"/>
                </a:lnTo>
                <a:cubicBezTo>
                  <a:pt x="563563" y="343917"/>
                  <a:pt x="552946" y="357188"/>
                  <a:pt x="539750" y="357188"/>
                </a:cubicBezTo>
                <a:cubicBezTo>
                  <a:pt x="526554" y="357188"/>
                  <a:pt x="515938" y="343917"/>
                  <a:pt x="515938" y="327422"/>
                </a:cubicBezTo>
                <a:lnTo>
                  <a:pt x="515938" y="267891"/>
                </a:lnTo>
                <a:lnTo>
                  <a:pt x="468313" y="267891"/>
                </a:lnTo>
                <a:cubicBezTo>
                  <a:pt x="455116" y="267891"/>
                  <a:pt x="444500" y="254620"/>
                  <a:pt x="444500" y="238125"/>
                </a:cubicBezTo>
                <a:cubicBezTo>
                  <a:pt x="444500" y="221630"/>
                  <a:pt x="455116" y="208359"/>
                  <a:pt x="468313" y="208359"/>
                </a:cubicBezTo>
                <a:lnTo>
                  <a:pt x="515938" y="208359"/>
                </a:lnTo>
                <a:lnTo>
                  <a:pt x="515938" y="148828"/>
                </a:lnTo>
                <a:cubicBezTo>
                  <a:pt x="515938" y="132333"/>
                  <a:pt x="526554" y="119062"/>
                  <a:pt x="539750" y="119062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667000" y="22225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Registration Form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78000" y="2984500"/>
            <a:ext cx="12700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Validating user input using String methods: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trim()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removes spaces from username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equalsIgnoreCase()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checks email domain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contains()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validates password chars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70000" y="5334000"/>
            <a:ext cx="4318000" cy="2794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9" name="Shape 7"/>
          <p:cNvSpPr/>
          <p:nvPr/>
        </p:nvSpPr>
        <p:spPr>
          <a:xfrm>
            <a:off x="2921000" y="558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84415" y="512167"/>
                </a:moveTo>
                <a:cubicBezTo>
                  <a:pt x="167922" y="530721"/>
                  <a:pt x="141111" y="530721"/>
                  <a:pt x="124531" y="512167"/>
                </a:cubicBezTo>
                <a:lnTo>
                  <a:pt x="24783" y="399951"/>
                </a:lnTo>
                <a:cubicBezTo>
                  <a:pt x="8290" y="381397"/>
                  <a:pt x="8290" y="351234"/>
                  <a:pt x="24783" y="332581"/>
                </a:cubicBezTo>
                <a:lnTo>
                  <a:pt x="39776" y="315714"/>
                </a:lnTo>
                <a:lnTo>
                  <a:pt x="104599" y="388640"/>
                </a:lnTo>
                <a:cubicBezTo>
                  <a:pt x="112889" y="397966"/>
                  <a:pt x="126294" y="397966"/>
                  <a:pt x="134497" y="388640"/>
                </a:cubicBezTo>
                <a:cubicBezTo>
                  <a:pt x="142699" y="379313"/>
                  <a:pt x="142787" y="364232"/>
                  <a:pt x="134497" y="355005"/>
                </a:cubicBezTo>
                <a:lnTo>
                  <a:pt x="69674" y="282079"/>
                </a:lnTo>
                <a:lnTo>
                  <a:pt x="99572" y="248444"/>
                </a:lnTo>
                <a:lnTo>
                  <a:pt x="144463" y="298946"/>
                </a:lnTo>
                <a:cubicBezTo>
                  <a:pt x="152753" y="308273"/>
                  <a:pt x="166158" y="308273"/>
                  <a:pt x="174360" y="298946"/>
                </a:cubicBezTo>
                <a:cubicBezTo>
                  <a:pt x="182563" y="289620"/>
                  <a:pt x="182651" y="274538"/>
                  <a:pt x="174360" y="265311"/>
                </a:cubicBezTo>
                <a:lnTo>
                  <a:pt x="129469" y="214809"/>
                </a:lnTo>
                <a:lnTo>
                  <a:pt x="159367" y="181173"/>
                </a:lnTo>
                <a:lnTo>
                  <a:pt x="224190" y="254099"/>
                </a:lnTo>
                <a:cubicBezTo>
                  <a:pt x="232481" y="263426"/>
                  <a:pt x="245886" y="263426"/>
                  <a:pt x="254088" y="254099"/>
                </a:cubicBezTo>
                <a:cubicBezTo>
                  <a:pt x="262290" y="244773"/>
                  <a:pt x="262378" y="229691"/>
                  <a:pt x="254088" y="220464"/>
                </a:cubicBezTo>
                <a:lnTo>
                  <a:pt x="189265" y="147538"/>
                </a:lnTo>
                <a:lnTo>
                  <a:pt x="219163" y="113903"/>
                </a:lnTo>
                <a:lnTo>
                  <a:pt x="264054" y="164405"/>
                </a:lnTo>
                <a:cubicBezTo>
                  <a:pt x="272344" y="173732"/>
                  <a:pt x="285750" y="173732"/>
                  <a:pt x="293952" y="164405"/>
                </a:cubicBezTo>
                <a:cubicBezTo>
                  <a:pt x="302154" y="155079"/>
                  <a:pt x="302242" y="139998"/>
                  <a:pt x="293952" y="130770"/>
                </a:cubicBezTo>
                <a:lnTo>
                  <a:pt x="249061" y="80268"/>
                </a:lnTo>
                <a:lnTo>
                  <a:pt x="278959" y="46633"/>
                </a:lnTo>
                <a:lnTo>
                  <a:pt x="343782" y="119559"/>
                </a:lnTo>
                <a:cubicBezTo>
                  <a:pt x="352072" y="128885"/>
                  <a:pt x="365478" y="128885"/>
                  <a:pt x="373680" y="119559"/>
                </a:cubicBezTo>
                <a:cubicBezTo>
                  <a:pt x="381882" y="110232"/>
                  <a:pt x="381970" y="95151"/>
                  <a:pt x="373680" y="85923"/>
                </a:cubicBezTo>
                <a:lnTo>
                  <a:pt x="308857" y="12998"/>
                </a:lnTo>
                <a:lnTo>
                  <a:pt x="323850" y="-3870"/>
                </a:lnTo>
                <a:cubicBezTo>
                  <a:pt x="340342" y="-22423"/>
                  <a:pt x="367153" y="-22423"/>
                  <a:pt x="383734" y="-3870"/>
                </a:cubicBezTo>
                <a:lnTo>
                  <a:pt x="483747" y="108049"/>
                </a:lnTo>
                <a:cubicBezTo>
                  <a:pt x="500239" y="126603"/>
                  <a:pt x="500239" y="156766"/>
                  <a:pt x="483747" y="175419"/>
                </a:cubicBezTo>
                <a:lnTo>
                  <a:pt x="184415" y="51216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6223000"/>
            <a:ext cx="381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Password Length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24000" y="6794500"/>
            <a:ext cx="381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length() ensures minimum 8 characters for secure passwords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69000" y="5334000"/>
            <a:ext cx="4318000" cy="279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20000" y="558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63500"/>
                </a:moveTo>
                <a:cubicBezTo>
                  <a:pt x="148828" y="63500"/>
                  <a:pt x="63500" y="148828"/>
                  <a:pt x="63500" y="254000"/>
                </a:cubicBezTo>
                <a:cubicBezTo>
                  <a:pt x="63500" y="359172"/>
                  <a:pt x="148828" y="444500"/>
                  <a:pt x="254000" y="444500"/>
                </a:cubicBezTo>
                <a:cubicBezTo>
                  <a:pt x="271562" y="444500"/>
                  <a:pt x="285750" y="458688"/>
                  <a:pt x="285750" y="476250"/>
                </a:cubicBezTo>
                <a:cubicBezTo>
                  <a:pt x="285750" y="493812"/>
                  <a:pt x="271562" y="508000"/>
                  <a:pt x="254000" y="508000"/>
                </a:cubicBezTo>
                <a:cubicBezTo>
                  <a:pt x="113705" y="508000"/>
                  <a:pt x="0" y="394295"/>
                  <a:pt x="0" y="254000"/>
                </a:cubicBezTo>
                <a:cubicBezTo>
                  <a:pt x="0" y="113705"/>
                  <a:pt x="113705" y="0"/>
                  <a:pt x="254000" y="0"/>
                </a:cubicBezTo>
                <a:cubicBezTo>
                  <a:pt x="394295" y="0"/>
                  <a:pt x="508000" y="113705"/>
                  <a:pt x="508000" y="254000"/>
                </a:cubicBezTo>
                <a:lnTo>
                  <a:pt x="508000" y="285750"/>
                </a:lnTo>
                <a:cubicBezTo>
                  <a:pt x="508000" y="338336"/>
                  <a:pt x="465336" y="381000"/>
                  <a:pt x="412750" y="381000"/>
                </a:cubicBezTo>
                <a:cubicBezTo>
                  <a:pt x="383679" y="381000"/>
                  <a:pt x="357584" y="367903"/>
                  <a:pt x="340122" y="347365"/>
                </a:cubicBezTo>
                <a:cubicBezTo>
                  <a:pt x="317500" y="368201"/>
                  <a:pt x="287238" y="381000"/>
                  <a:pt x="254000" y="381000"/>
                </a:cubicBezTo>
                <a:cubicBezTo>
                  <a:pt x="183852" y="381000"/>
                  <a:pt x="127000" y="324148"/>
                  <a:pt x="127000" y="254000"/>
                </a:cubicBezTo>
                <a:cubicBezTo>
                  <a:pt x="127000" y="183852"/>
                  <a:pt x="183852" y="127000"/>
                  <a:pt x="254000" y="127000"/>
                </a:cubicBezTo>
                <a:cubicBezTo>
                  <a:pt x="281682" y="127000"/>
                  <a:pt x="307280" y="135830"/>
                  <a:pt x="328116" y="150912"/>
                </a:cubicBezTo>
                <a:cubicBezTo>
                  <a:pt x="333772" y="145951"/>
                  <a:pt x="341114" y="142875"/>
                  <a:pt x="349250" y="142875"/>
                </a:cubicBezTo>
                <a:cubicBezTo>
                  <a:pt x="366812" y="142875"/>
                  <a:pt x="381000" y="157063"/>
                  <a:pt x="381000" y="174625"/>
                </a:cubicBezTo>
                <a:lnTo>
                  <a:pt x="381000" y="285750"/>
                </a:lnTo>
                <a:cubicBezTo>
                  <a:pt x="381000" y="303312"/>
                  <a:pt x="395188" y="317500"/>
                  <a:pt x="412750" y="317500"/>
                </a:cubicBezTo>
                <a:cubicBezTo>
                  <a:pt x="430312" y="317500"/>
                  <a:pt x="444500" y="303312"/>
                  <a:pt x="444500" y="285750"/>
                </a:cubicBezTo>
                <a:lnTo>
                  <a:pt x="444500" y="254000"/>
                </a:lnTo>
                <a:cubicBezTo>
                  <a:pt x="444500" y="148828"/>
                  <a:pt x="359172" y="63500"/>
                  <a:pt x="254000" y="63500"/>
                </a:cubicBezTo>
                <a:close/>
                <a:moveTo>
                  <a:pt x="317500" y="254000"/>
                </a:moveTo>
                <a:cubicBezTo>
                  <a:pt x="317500" y="218953"/>
                  <a:pt x="289047" y="190500"/>
                  <a:pt x="254000" y="190500"/>
                </a:cubicBezTo>
                <a:cubicBezTo>
                  <a:pt x="218953" y="190500"/>
                  <a:pt x="190500" y="218953"/>
                  <a:pt x="190500" y="254000"/>
                </a:cubicBezTo>
                <a:cubicBezTo>
                  <a:pt x="190500" y="289047"/>
                  <a:pt x="218953" y="317500"/>
                  <a:pt x="254000" y="317500"/>
                </a:cubicBezTo>
                <a:cubicBezTo>
                  <a:pt x="289047" y="317500"/>
                  <a:pt x="317500" y="289047"/>
                  <a:pt x="317500" y="2540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6223000" y="6223000"/>
            <a:ext cx="381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Username Extraction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23000" y="6794500"/>
            <a:ext cx="381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substring() extracts username from email before @ symbol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668000" y="5334000"/>
            <a:ext cx="4318000" cy="2794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12319000" y="558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922000" y="6223000"/>
            <a:ext cx="381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Email Validation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22000" y="6794500"/>
            <a:ext cx="381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endsWith() checks if email ends with @gmail.com or @edu.in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- Code Example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5080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String Operations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Frequently used String methods in Java.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Methods covered: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length(), charAt(), substring()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equals(), toUpperCase()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trim(), split(), concat()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0" y="1905000"/>
            <a:ext cx="8128000" cy="6350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905000"/>
            <a:ext cx="8128000" cy="457200"/>
          </a:xfrm>
          <a:prstGeom prst="roundRect">
            <a:avLst>
              <a:gd name="adj" fmla="val 6000"/>
            </a:avLst>
          </a:pr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7112000" y="1905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StringOperations.java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12000" y="2476500"/>
            <a:ext cx="7620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StringOperations {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static void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main(String[] a) {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String s =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 Hello World  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System.out.println(s.length());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15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System.out.println(s.charAt(4));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'o'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System.out.println(s.substring(4,9));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"o Wo"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System.out.println(s.trim());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"Hello World"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System.out.println(s.toUpperCase());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String[] parts = s.trim().split(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System.out.println(s.trim().concat(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"!"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}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StringBuilder &amp; StringBuffer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51000" y="1968500"/>
            <a:ext cx="1295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StringBuilder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StringBuffer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mutable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alternatives to String for frequent modifications. Use StringBuilder for single-threaded, StringBuffer for multi-threaded.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70000" y="3302000"/>
            <a:ext cx="6604000" cy="3810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7" name="Shape 5"/>
          <p:cNvSpPr/>
          <p:nvPr/>
        </p:nvSpPr>
        <p:spPr>
          <a:xfrm>
            <a:off x="1651000" y="355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317500"/>
                </a:moveTo>
                <a:lnTo>
                  <a:pt x="24309" y="317500"/>
                </a:lnTo>
                <a:cubicBezTo>
                  <a:pt x="-397" y="317500"/>
                  <a:pt x="-15577" y="290612"/>
                  <a:pt x="-2877" y="269379"/>
                </a:cubicBezTo>
                <a:lnTo>
                  <a:pt x="49609" y="181868"/>
                </a:lnTo>
                <a:cubicBezTo>
                  <a:pt x="58241" y="167481"/>
                  <a:pt x="73720" y="158750"/>
                  <a:pt x="90488" y="158750"/>
                </a:cubicBezTo>
                <a:lnTo>
                  <a:pt x="184745" y="158750"/>
                </a:lnTo>
                <a:cubicBezTo>
                  <a:pt x="260251" y="30857"/>
                  <a:pt x="372864" y="24408"/>
                  <a:pt x="448171" y="35421"/>
                </a:cubicBezTo>
                <a:cubicBezTo>
                  <a:pt x="460871" y="37306"/>
                  <a:pt x="470793" y="47228"/>
                  <a:pt x="472579" y="59829"/>
                </a:cubicBezTo>
                <a:cubicBezTo>
                  <a:pt x="483592" y="135136"/>
                  <a:pt x="477143" y="247749"/>
                  <a:pt x="349250" y="323255"/>
                </a:cubicBezTo>
                <a:lnTo>
                  <a:pt x="349250" y="417513"/>
                </a:lnTo>
                <a:cubicBezTo>
                  <a:pt x="349250" y="434280"/>
                  <a:pt x="340519" y="449759"/>
                  <a:pt x="326132" y="458391"/>
                </a:cubicBezTo>
                <a:lnTo>
                  <a:pt x="238621" y="510877"/>
                </a:lnTo>
                <a:cubicBezTo>
                  <a:pt x="217488" y="523577"/>
                  <a:pt x="190500" y="508298"/>
                  <a:pt x="190500" y="483691"/>
                </a:cubicBezTo>
                <a:lnTo>
                  <a:pt x="190500" y="381000"/>
                </a:lnTo>
                <a:cubicBezTo>
                  <a:pt x="190500" y="345976"/>
                  <a:pt x="162024" y="317500"/>
                  <a:pt x="127000" y="317500"/>
                </a:cubicBezTo>
                <a:lnTo>
                  <a:pt x="126901" y="317500"/>
                </a:lnTo>
                <a:close/>
                <a:moveTo>
                  <a:pt x="396875" y="158750"/>
                </a:moveTo>
                <a:cubicBezTo>
                  <a:pt x="396875" y="132465"/>
                  <a:pt x="375535" y="111125"/>
                  <a:pt x="349250" y="111125"/>
                </a:cubicBezTo>
                <a:cubicBezTo>
                  <a:pt x="322965" y="111125"/>
                  <a:pt x="301625" y="132465"/>
                  <a:pt x="301625" y="158750"/>
                </a:cubicBezTo>
                <a:cubicBezTo>
                  <a:pt x="301625" y="185035"/>
                  <a:pt x="322965" y="206375"/>
                  <a:pt x="349250" y="206375"/>
                </a:cubicBezTo>
                <a:cubicBezTo>
                  <a:pt x="375535" y="206375"/>
                  <a:pt x="396875" y="185035"/>
                  <a:pt x="396875" y="1587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349500" y="3556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StringBuilder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51000" y="4254500"/>
            <a:ext cx="584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Faster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performance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 thread-safe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Single-threaded use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Methods: append(), insert(), delete(), reverse()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Introduced in Java 1.5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0" y="3302000"/>
            <a:ext cx="6604000" cy="3810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8763000" y="355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69333" y="95250"/>
                </a:moveTo>
                <a:lnTo>
                  <a:pt x="169333" y="158750"/>
                </a:lnTo>
                <a:lnTo>
                  <a:pt x="338667" y="158750"/>
                </a:lnTo>
                <a:lnTo>
                  <a:pt x="338667" y="95250"/>
                </a:lnTo>
                <a:cubicBezTo>
                  <a:pt x="338667" y="60226"/>
                  <a:pt x="300699" y="31750"/>
                  <a:pt x="254000" y="31750"/>
                </a:cubicBezTo>
                <a:cubicBezTo>
                  <a:pt x="207301" y="31750"/>
                  <a:pt x="169333" y="60226"/>
                  <a:pt x="169333" y="95250"/>
                </a:cubicBezTo>
                <a:close/>
                <a:moveTo>
                  <a:pt x="84667" y="158750"/>
                </a:moveTo>
                <a:lnTo>
                  <a:pt x="84667" y="95250"/>
                </a:lnTo>
                <a:cubicBezTo>
                  <a:pt x="84667" y="25102"/>
                  <a:pt x="160470" y="-31750"/>
                  <a:pt x="254000" y="-31750"/>
                </a:cubicBezTo>
                <a:cubicBezTo>
                  <a:pt x="347530" y="-31750"/>
                  <a:pt x="423333" y="25102"/>
                  <a:pt x="423333" y="95250"/>
                </a:cubicBezTo>
                <a:lnTo>
                  <a:pt x="423333" y="158750"/>
                </a:lnTo>
                <a:cubicBezTo>
                  <a:pt x="470032" y="158750"/>
                  <a:pt x="508000" y="187226"/>
                  <a:pt x="508000" y="222250"/>
                </a:cubicBezTo>
                <a:lnTo>
                  <a:pt x="508000" y="444500"/>
                </a:lnTo>
                <a:cubicBezTo>
                  <a:pt x="508000" y="479524"/>
                  <a:pt x="470032" y="508000"/>
                  <a:pt x="423333" y="508000"/>
                </a:cubicBezTo>
                <a:lnTo>
                  <a:pt x="84667" y="508000"/>
                </a:lnTo>
                <a:cubicBezTo>
                  <a:pt x="37968" y="508000"/>
                  <a:pt x="0" y="479524"/>
                  <a:pt x="0" y="444500"/>
                </a:cubicBezTo>
                <a:lnTo>
                  <a:pt x="0" y="222250"/>
                </a:lnTo>
                <a:cubicBezTo>
                  <a:pt x="0" y="187226"/>
                  <a:pt x="37968" y="158750"/>
                  <a:pt x="84667" y="1587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461500" y="3556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StringBuffer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763000" y="4254500"/>
            <a:ext cx="584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Slower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(synchronized)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Thread-safe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Multi-threaded use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Same methods as StringBuilder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Available since Java 1.0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Use when shared across threads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70000" y="7366000"/>
            <a:ext cx="13716000" cy="762000"/>
          </a:xfrm>
          <a:prstGeom prst="roundRect">
            <a:avLst>
              <a:gd name="adj" fmla="val 6000"/>
            </a:avLst>
          </a:prstGeom>
          <a:solidFill>
            <a:srgbClr val="2E5E8A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51000" y="7429500"/>
            <a:ext cx="1295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 of Thumb: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 StringBuilder for loops and frequent modifications. Avoid String concatenation in loops - it creates many temporary objects!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StringBuilder - Code Example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5080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StringBuilder Methods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StringBuilder operations.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methods: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append() - add to end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insert() - insert at position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reverse() - reverse string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delete() - remove substring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0" y="1905000"/>
            <a:ext cx="8128000" cy="6350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905000"/>
            <a:ext cx="8128000" cy="457200"/>
          </a:xfrm>
          <a:prstGeom prst="roundRect">
            <a:avLst>
              <a:gd name="adj" fmla="val 6000"/>
            </a:avLst>
          </a:pr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7112000" y="1905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StringBuilderExample.java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12000" y="2476500"/>
            <a:ext cx="7620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StringBuilderExample {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static void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main(String[] a) {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StringBuilder sb =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StringBuilder(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sb.append(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World"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"Hello World"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sb.insert(5,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","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"Hello, World"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sb.reverse();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"dlroW ,olleH"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sb.delete(0, 7);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"olleH"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System.out.println(sb.toString());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}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70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9 - Key Takeaways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6223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0000" y="1905000"/>
            <a:ext cx="6604000" cy="635000"/>
          </a:xfrm>
          <a:prstGeom prst="roundRect">
            <a:avLst>
              <a:gd name="adj" fmla="val 6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1905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 17: GUI &amp; Event Listeners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794000"/>
            <a:ext cx="5842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Drag and Drop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TransferHandler &amp; Transferable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Drag → Transfer → Drop model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Listeners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Delegation Event Model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Source → Object → Listener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ActionListener, MouseListener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KeyListener, WindowListener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World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ATM, Calculator, File Manager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6223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382000" y="1905000"/>
            <a:ext cx="6604000" cy="635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0" name="Text 8"/>
          <p:cNvSpPr/>
          <p:nvPr/>
        </p:nvSpPr>
        <p:spPr>
          <a:xfrm>
            <a:off x="8636000" y="1905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 18: Layout, Wrapper &amp; String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63000" y="2794000"/>
            <a:ext cx="5842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Layout Managers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BorderLayout, FlowLayout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GridLayout, GridBagLayout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Wrapper Classes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int→Integer, double→Double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Autoboxing &amp; Unboxing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Handling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Immutable String class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length(), substring(), split()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StringBuilder for mutations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2413000"/>
          </a:xfrm>
          <a:custGeom>
            <a:avLst/>
            <a:gdLst/>
            <a:ahLst/>
            <a:cxnLst/>
            <a:rect l="l" t="t" r="r" b="b"/>
            <a:pathLst>
              <a:path w="8128000" h="2413000">
                <a:moveTo>
                  <a:pt x="0" y="0"/>
                </a:moveTo>
                <a:lnTo>
                  <a:pt x="8128000" y="0"/>
                </a:lnTo>
                <a:lnTo>
                  <a:pt x="8128000" y="1206500"/>
                </a:lnTo>
                <a:quadBezTo>
                  <a:pt x="6096000" y="2413000"/>
                  <a:pt x="4064000" y="2413000"/>
                </a:quadBezTo>
                <a:lnTo>
                  <a:pt x="2032000" y="2413000"/>
                </a:lnTo>
                <a:quadBezTo>
                  <a:pt x="0" y="2413000"/>
                  <a:pt x="0" y="12065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6350000"/>
            <a:ext cx="8128000" cy="2794000"/>
          </a:xfrm>
          <a:custGeom>
            <a:avLst/>
            <a:gdLst/>
            <a:ahLst/>
            <a:cxnLst/>
            <a:rect l="l" t="t" r="r" b="b"/>
            <a:pathLst>
              <a:path w="8128000" h="2794000">
                <a:moveTo>
                  <a:pt x="8128000" y="2794000"/>
                </a:moveTo>
                <a:lnTo>
                  <a:pt x="0" y="2794000"/>
                </a:lnTo>
                <a:lnTo>
                  <a:pt x="0" y="1397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1397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3048000" y="2667000"/>
            <a:ext cx="1016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048000" y="4191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Practice makes perfect. Keep coding, keep building!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318000" y="5207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GUI Programming - Week 9</a:t>
            </a:r>
            <a:endParaRPr lang="en-US" sz="18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 17 &amp; 18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GUI Programming &amp; String Handling - Week 9</dc:title>
  <dc:subject>Java GUI Programming &amp; String Handling - Week 9</dc:subject>
  <dc:creator>Kimi</dc:creator>
  <cp:lastModifiedBy>Kimi</cp:lastModifiedBy>
  <cp:revision>1</cp:revision>
  <dcterms:created xsi:type="dcterms:W3CDTF">2026-06-26T05:50:34Z</dcterms:created>
  <dcterms:modified xsi:type="dcterms:W3CDTF">2026-06-26T05:50:34Z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{"Label":"Java GUI Programming &amp; String Handling - Week 9","ContentProducer":"001191110108MACG2KBH8F10000","ProduceID":"19f02624-ba02-8022-8000-000016c64f36","ReservedCode1":"","ContentPropagator":"001191110108MACG2KBH8F20000","PropagateID":"19f02606-bfe2-8e1b-8000-09f414b4fe42","ReservedCode2":""}</vt:lpwstr>
  </property>
</Properties>
</file>