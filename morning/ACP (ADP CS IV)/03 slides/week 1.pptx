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6_Free_Futuristic_Coding_Workspace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60000">
                <a:srgbClr val="0F172A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81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JAVA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858000" y="5588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5842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 — Course Foundation &amp; Environment Setup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016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2222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7686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Integrated Development Environment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032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9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21500" y="2222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Java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21500" y="2768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language and its core components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032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176000" y="2222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01500" y="2222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&amp; Features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01500" y="2768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and characteristics of Java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10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6000" y="4000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41500" y="4000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41500" y="4546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source code to execution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3810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96000" y="4000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1500" y="4000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Applications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21500" y="4546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and real-world examples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2000" y="3810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176000" y="4000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01500" y="4000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&amp; Editions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01500" y="4546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Kit and platform editions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588000"/>
            <a:ext cx="4572000" cy="139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16000" y="5778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841500" y="5778500"/>
            <a:ext cx="323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841500" y="6324600"/>
            <a:ext cx="323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tools and the Java ecosystem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4" name="Text 3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2_Laptop_with_Programming_Code_Screen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IDE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Integrated Development Environment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838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968500"/>
            <a:ext cx="7302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Development Environment (IDE)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software application that provides comprehensive facilities to programmers for software development.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83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2950" y="4381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Text 8"/>
          <p:cNvSpPr/>
          <p:nvPr/>
        </p:nvSpPr>
        <p:spPr>
          <a:xfrm>
            <a:off x="1206500" y="4318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Editor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highlighting &amp; completion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950" y="5270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57150"/>
                </a:moveTo>
                <a:cubicBezTo>
                  <a:pt x="114300" y="25598"/>
                  <a:pt x="139898" y="0"/>
                  <a:pt x="171450" y="0"/>
                </a:cubicBezTo>
                <a:cubicBezTo>
                  <a:pt x="203002" y="0"/>
                  <a:pt x="228600" y="25598"/>
                  <a:pt x="228600" y="57150"/>
                </a:cubicBezTo>
                <a:lnTo>
                  <a:pt x="228600" y="59293"/>
                </a:lnTo>
                <a:cubicBezTo>
                  <a:pt x="228600" y="68640"/>
                  <a:pt x="221040" y="76200"/>
                  <a:pt x="211693" y="76200"/>
                </a:cubicBezTo>
                <a:lnTo>
                  <a:pt x="131266" y="76200"/>
                </a:lnTo>
                <a:cubicBezTo>
                  <a:pt x="121920" y="76200"/>
                  <a:pt x="114360" y="68640"/>
                  <a:pt x="114360" y="59293"/>
                </a:cubicBezTo>
                <a:lnTo>
                  <a:pt x="114360" y="57150"/>
                </a:lnTo>
                <a:close/>
                <a:moveTo>
                  <a:pt x="320040" y="64770"/>
                </a:moveTo>
                <a:cubicBezTo>
                  <a:pt x="326350" y="73164"/>
                  <a:pt x="324624" y="85130"/>
                  <a:pt x="316230" y="91440"/>
                </a:cubicBezTo>
                <a:lnTo>
                  <a:pt x="258008" y="135076"/>
                </a:lnTo>
                <a:cubicBezTo>
                  <a:pt x="261164" y="140375"/>
                  <a:pt x="263545" y="146209"/>
                  <a:pt x="265033" y="152400"/>
                </a:cubicBezTo>
                <a:lnTo>
                  <a:pt x="323850" y="152400"/>
                </a:lnTo>
                <a:cubicBezTo>
                  <a:pt x="334387" y="152400"/>
                  <a:pt x="342900" y="160913"/>
                  <a:pt x="342900" y="171450"/>
                </a:cubicBezTo>
                <a:cubicBezTo>
                  <a:pt x="342900" y="181987"/>
                  <a:pt x="334387" y="190500"/>
                  <a:pt x="323850" y="190500"/>
                </a:cubicBezTo>
                <a:lnTo>
                  <a:pt x="266700" y="190500"/>
                </a:lnTo>
                <a:lnTo>
                  <a:pt x="266700" y="209550"/>
                </a:lnTo>
                <a:cubicBezTo>
                  <a:pt x="266700" y="211098"/>
                  <a:pt x="266640" y="212705"/>
                  <a:pt x="266581" y="214253"/>
                </a:cubicBezTo>
                <a:lnTo>
                  <a:pt x="316230" y="251460"/>
                </a:lnTo>
                <a:cubicBezTo>
                  <a:pt x="324624" y="257770"/>
                  <a:pt x="326350" y="269736"/>
                  <a:pt x="320040" y="278130"/>
                </a:cubicBezTo>
                <a:cubicBezTo>
                  <a:pt x="313730" y="286524"/>
                  <a:pt x="301764" y="288250"/>
                  <a:pt x="293370" y="281940"/>
                </a:cubicBezTo>
                <a:lnTo>
                  <a:pt x="255806" y="253782"/>
                </a:lnTo>
                <a:cubicBezTo>
                  <a:pt x="241995" y="280095"/>
                  <a:pt x="216218" y="299145"/>
                  <a:pt x="185738" y="303728"/>
                </a:cubicBezTo>
                <a:lnTo>
                  <a:pt x="185738" y="166688"/>
                </a:lnTo>
                <a:cubicBezTo>
                  <a:pt x="185738" y="158770"/>
                  <a:pt x="179368" y="152400"/>
                  <a:pt x="171450" y="152400"/>
                </a:cubicBezTo>
                <a:cubicBezTo>
                  <a:pt x="163532" y="152400"/>
                  <a:pt x="157163" y="158770"/>
                  <a:pt x="157163" y="166688"/>
                </a:cubicBezTo>
                <a:lnTo>
                  <a:pt x="157163" y="303728"/>
                </a:lnTo>
                <a:cubicBezTo>
                  <a:pt x="126683" y="299145"/>
                  <a:pt x="100905" y="280095"/>
                  <a:pt x="87094" y="253782"/>
                </a:cubicBezTo>
                <a:lnTo>
                  <a:pt x="49530" y="281940"/>
                </a:lnTo>
                <a:cubicBezTo>
                  <a:pt x="41136" y="288250"/>
                  <a:pt x="29170" y="286524"/>
                  <a:pt x="22860" y="278130"/>
                </a:cubicBezTo>
                <a:cubicBezTo>
                  <a:pt x="16550" y="269736"/>
                  <a:pt x="18276" y="257770"/>
                  <a:pt x="26670" y="251460"/>
                </a:cubicBezTo>
                <a:lnTo>
                  <a:pt x="76319" y="214253"/>
                </a:lnTo>
                <a:cubicBezTo>
                  <a:pt x="76260" y="212705"/>
                  <a:pt x="76200" y="211157"/>
                  <a:pt x="76200" y="209550"/>
                </a:cubicBezTo>
                <a:lnTo>
                  <a:pt x="76200" y="190500"/>
                </a:lnTo>
                <a:lnTo>
                  <a:pt x="19050" y="190500"/>
                </a:lnTo>
                <a:cubicBezTo>
                  <a:pt x="8513" y="190500"/>
                  <a:pt x="0" y="181987"/>
                  <a:pt x="0" y="171450"/>
                </a:cubicBezTo>
                <a:cubicBezTo>
                  <a:pt x="0" y="160913"/>
                  <a:pt x="8513" y="152400"/>
                  <a:pt x="19050" y="152400"/>
                </a:cubicBezTo>
                <a:lnTo>
                  <a:pt x="77867" y="152400"/>
                </a:lnTo>
                <a:cubicBezTo>
                  <a:pt x="79355" y="146209"/>
                  <a:pt x="81736" y="140375"/>
                  <a:pt x="84892" y="135076"/>
                </a:cubicBezTo>
                <a:lnTo>
                  <a:pt x="26670" y="91440"/>
                </a:lnTo>
                <a:cubicBezTo>
                  <a:pt x="18276" y="85130"/>
                  <a:pt x="16550" y="73164"/>
                  <a:pt x="22860" y="64770"/>
                </a:cubicBezTo>
                <a:cubicBezTo>
                  <a:pt x="29170" y="56376"/>
                  <a:pt x="41136" y="54650"/>
                  <a:pt x="49530" y="60960"/>
                </a:cubicBezTo>
                <a:lnTo>
                  <a:pt x="114300" y="109537"/>
                </a:lnTo>
                <a:cubicBezTo>
                  <a:pt x="121622" y="106501"/>
                  <a:pt x="129659" y="104775"/>
                  <a:pt x="138113" y="104775"/>
                </a:cubicBezTo>
                <a:lnTo>
                  <a:pt x="204787" y="104775"/>
                </a:lnTo>
                <a:cubicBezTo>
                  <a:pt x="213241" y="104775"/>
                  <a:pt x="221278" y="106442"/>
                  <a:pt x="228600" y="109537"/>
                </a:cubicBezTo>
                <a:lnTo>
                  <a:pt x="293370" y="60960"/>
                </a:lnTo>
                <a:cubicBezTo>
                  <a:pt x="301764" y="54650"/>
                  <a:pt x="313730" y="56376"/>
                  <a:pt x="320040" y="6477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1206500" y="5207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error detection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615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06500" y="6096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Automation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Compile, test, and deploy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99050" y="4381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4"/>
          <p:cNvSpPr/>
          <p:nvPr/>
        </p:nvSpPr>
        <p:spPr>
          <a:xfrm>
            <a:off x="5524500" y="4318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 Control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&amp; SVN integration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0950" y="5270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6805" y="-16073"/>
                </a:moveTo>
                <a:lnTo>
                  <a:pt x="165616" y="5834"/>
                </a:lnTo>
                <a:lnTo>
                  <a:pt x="187523" y="14645"/>
                </a:lnTo>
                <a:cubicBezTo>
                  <a:pt x="189309" y="15359"/>
                  <a:pt x="190500" y="17145"/>
                  <a:pt x="190500" y="19050"/>
                </a:cubicBezTo>
                <a:cubicBezTo>
                  <a:pt x="190500" y="20955"/>
                  <a:pt x="189309" y="22741"/>
                  <a:pt x="187523" y="23455"/>
                </a:cubicBezTo>
                <a:lnTo>
                  <a:pt x="165616" y="32266"/>
                </a:lnTo>
                <a:lnTo>
                  <a:pt x="156805" y="54173"/>
                </a:lnTo>
                <a:cubicBezTo>
                  <a:pt x="156091" y="55959"/>
                  <a:pt x="154305" y="57150"/>
                  <a:pt x="152400" y="57150"/>
                </a:cubicBezTo>
                <a:cubicBezTo>
                  <a:pt x="150495" y="57150"/>
                  <a:pt x="148709" y="55959"/>
                  <a:pt x="147995" y="54173"/>
                </a:cubicBezTo>
                <a:lnTo>
                  <a:pt x="139184" y="32266"/>
                </a:lnTo>
                <a:lnTo>
                  <a:pt x="117277" y="23455"/>
                </a:lnTo>
                <a:cubicBezTo>
                  <a:pt x="115491" y="22741"/>
                  <a:pt x="114300" y="20955"/>
                  <a:pt x="114300" y="19050"/>
                </a:cubicBezTo>
                <a:cubicBezTo>
                  <a:pt x="114300" y="17145"/>
                  <a:pt x="115491" y="15359"/>
                  <a:pt x="117277" y="14645"/>
                </a:cubicBezTo>
                <a:lnTo>
                  <a:pt x="139184" y="5834"/>
                </a:lnTo>
                <a:lnTo>
                  <a:pt x="147995" y="-16073"/>
                </a:lnTo>
                <a:cubicBezTo>
                  <a:pt x="148709" y="-17859"/>
                  <a:pt x="150495" y="-19050"/>
                  <a:pt x="152400" y="-19050"/>
                </a:cubicBezTo>
                <a:cubicBezTo>
                  <a:pt x="154305" y="-19050"/>
                  <a:pt x="156091" y="-17859"/>
                  <a:pt x="156805" y="-16073"/>
                </a:cubicBezTo>
                <a:close/>
                <a:moveTo>
                  <a:pt x="65901" y="24825"/>
                </a:moveTo>
                <a:lnTo>
                  <a:pt x="78700" y="54650"/>
                </a:lnTo>
                <a:lnTo>
                  <a:pt x="108525" y="67449"/>
                </a:lnTo>
                <a:cubicBezTo>
                  <a:pt x="112038" y="68937"/>
                  <a:pt x="114300" y="72390"/>
                  <a:pt x="114300" y="76200"/>
                </a:cubicBezTo>
                <a:cubicBezTo>
                  <a:pt x="114300" y="80010"/>
                  <a:pt x="112038" y="83463"/>
                  <a:pt x="108525" y="84951"/>
                </a:cubicBezTo>
                <a:lnTo>
                  <a:pt x="78700" y="97750"/>
                </a:lnTo>
                <a:lnTo>
                  <a:pt x="65901" y="127575"/>
                </a:lnTo>
                <a:cubicBezTo>
                  <a:pt x="64413" y="131088"/>
                  <a:pt x="60960" y="133350"/>
                  <a:pt x="57150" y="133350"/>
                </a:cubicBezTo>
                <a:cubicBezTo>
                  <a:pt x="53340" y="133350"/>
                  <a:pt x="49887" y="131088"/>
                  <a:pt x="48399" y="127575"/>
                </a:cubicBezTo>
                <a:lnTo>
                  <a:pt x="35600" y="97750"/>
                </a:lnTo>
                <a:lnTo>
                  <a:pt x="5775" y="84951"/>
                </a:lnTo>
                <a:cubicBezTo>
                  <a:pt x="2262" y="83463"/>
                  <a:pt x="0" y="80010"/>
                  <a:pt x="0" y="76200"/>
                </a:cubicBezTo>
                <a:cubicBezTo>
                  <a:pt x="0" y="72390"/>
                  <a:pt x="2262" y="68937"/>
                  <a:pt x="5775" y="67449"/>
                </a:cubicBezTo>
                <a:lnTo>
                  <a:pt x="35600" y="54650"/>
                </a:lnTo>
                <a:lnTo>
                  <a:pt x="48399" y="24825"/>
                </a:lnTo>
                <a:cubicBezTo>
                  <a:pt x="49887" y="21312"/>
                  <a:pt x="53340" y="19050"/>
                  <a:pt x="57150" y="19050"/>
                </a:cubicBezTo>
                <a:cubicBezTo>
                  <a:pt x="60960" y="19050"/>
                  <a:pt x="64413" y="21312"/>
                  <a:pt x="65901" y="24825"/>
                </a:cubicBezTo>
                <a:close/>
                <a:moveTo>
                  <a:pt x="276225" y="180975"/>
                </a:moveTo>
                <a:cubicBezTo>
                  <a:pt x="280035" y="180975"/>
                  <a:pt x="283488" y="183237"/>
                  <a:pt x="284976" y="186750"/>
                </a:cubicBezTo>
                <a:lnTo>
                  <a:pt x="297775" y="216575"/>
                </a:lnTo>
                <a:lnTo>
                  <a:pt x="327600" y="229374"/>
                </a:lnTo>
                <a:cubicBezTo>
                  <a:pt x="331113" y="230862"/>
                  <a:pt x="333375" y="234315"/>
                  <a:pt x="333375" y="238125"/>
                </a:cubicBezTo>
                <a:cubicBezTo>
                  <a:pt x="333375" y="241935"/>
                  <a:pt x="331113" y="245388"/>
                  <a:pt x="327600" y="246876"/>
                </a:cubicBezTo>
                <a:lnTo>
                  <a:pt x="297775" y="259675"/>
                </a:lnTo>
                <a:lnTo>
                  <a:pt x="284976" y="289500"/>
                </a:lnTo>
                <a:cubicBezTo>
                  <a:pt x="283488" y="293013"/>
                  <a:pt x="280035" y="295275"/>
                  <a:pt x="276225" y="295275"/>
                </a:cubicBezTo>
                <a:cubicBezTo>
                  <a:pt x="272415" y="295275"/>
                  <a:pt x="268962" y="293013"/>
                  <a:pt x="267474" y="289500"/>
                </a:cubicBezTo>
                <a:lnTo>
                  <a:pt x="254675" y="259675"/>
                </a:lnTo>
                <a:lnTo>
                  <a:pt x="224850" y="246876"/>
                </a:lnTo>
                <a:cubicBezTo>
                  <a:pt x="221337" y="245388"/>
                  <a:pt x="219075" y="241935"/>
                  <a:pt x="219075" y="238125"/>
                </a:cubicBezTo>
                <a:cubicBezTo>
                  <a:pt x="219075" y="234315"/>
                  <a:pt x="221337" y="230862"/>
                  <a:pt x="224850" y="229374"/>
                </a:cubicBezTo>
                <a:lnTo>
                  <a:pt x="254675" y="216575"/>
                </a:lnTo>
                <a:lnTo>
                  <a:pt x="267474" y="186750"/>
                </a:lnTo>
                <a:cubicBezTo>
                  <a:pt x="268962" y="183237"/>
                  <a:pt x="272415" y="180975"/>
                  <a:pt x="276225" y="180975"/>
                </a:cubicBezTo>
                <a:close/>
                <a:moveTo>
                  <a:pt x="273844" y="0"/>
                </a:moveTo>
                <a:cubicBezTo>
                  <a:pt x="280392" y="0"/>
                  <a:pt x="286703" y="2619"/>
                  <a:pt x="291405" y="7263"/>
                </a:cubicBezTo>
                <a:lnTo>
                  <a:pt x="316587" y="32445"/>
                </a:lnTo>
                <a:cubicBezTo>
                  <a:pt x="321231" y="37148"/>
                  <a:pt x="323850" y="43458"/>
                  <a:pt x="323850" y="50006"/>
                </a:cubicBezTo>
                <a:cubicBezTo>
                  <a:pt x="323850" y="56555"/>
                  <a:pt x="321231" y="62865"/>
                  <a:pt x="316587" y="67568"/>
                </a:cubicBezTo>
                <a:lnTo>
                  <a:pt x="264081" y="120075"/>
                </a:lnTo>
                <a:lnTo>
                  <a:pt x="203775" y="59769"/>
                </a:lnTo>
                <a:lnTo>
                  <a:pt x="256282" y="7263"/>
                </a:lnTo>
                <a:cubicBezTo>
                  <a:pt x="260985" y="2619"/>
                  <a:pt x="267295" y="0"/>
                  <a:pt x="273844" y="0"/>
                </a:cubicBezTo>
                <a:close/>
                <a:moveTo>
                  <a:pt x="26313" y="237232"/>
                </a:moveTo>
                <a:lnTo>
                  <a:pt x="183594" y="79950"/>
                </a:lnTo>
                <a:lnTo>
                  <a:pt x="243900" y="140256"/>
                </a:lnTo>
                <a:lnTo>
                  <a:pt x="86618" y="297537"/>
                </a:lnTo>
                <a:cubicBezTo>
                  <a:pt x="81915" y="302181"/>
                  <a:pt x="75605" y="304800"/>
                  <a:pt x="69056" y="304800"/>
                </a:cubicBezTo>
                <a:cubicBezTo>
                  <a:pt x="62508" y="304800"/>
                  <a:pt x="56198" y="302181"/>
                  <a:pt x="51495" y="297537"/>
                </a:cubicBezTo>
                <a:lnTo>
                  <a:pt x="26313" y="272355"/>
                </a:lnTo>
                <a:cubicBezTo>
                  <a:pt x="21669" y="267653"/>
                  <a:pt x="19050" y="261342"/>
                  <a:pt x="19050" y="254794"/>
                </a:cubicBezTo>
                <a:cubicBezTo>
                  <a:pt x="19050" y="248245"/>
                  <a:pt x="21669" y="241935"/>
                  <a:pt x="26313" y="237232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8" name="Text 16"/>
          <p:cNvSpPr/>
          <p:nvPr/>
        </p:nvSpPr>
        <p:spPr>
          <a:xfrm>
            <a:off x="5524500" y="5207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Refactoring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restructuring tools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0950" y="615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4288"/>
                </a:moveTo>
                <a:cubicBezTo>
                  <a:pt x="28575" y="6370"/>
                  <a:pt x="22205" y="0"/>
                  <a:pt x="14288" y="0"/>
                </a:cubicBezTo>
                <a:cubicBezTo>
                  <a:pt x="6370" y="0"/>
                  <a:pt x="0" y="6370"/>
                  <a:pt x="0" y="14288"/>
                </a:cubicBezTo>
                <a:lnTo>
                  <a:pt x="0" y="233363"/>
                </a:lnTo>
                <a:cubicBezTo>
                  <a:pt x="0" y="251758"/>
                  <a:pt x="14942" y="266700"/>
                  <a:pt x="33338" y="266700"/>
                </a:cubicBezTo>
                <a:lnTo>
                  <a:pt x="142875" y="266700"/>
                </a:lnTo>
                <a:lnTo>
                  <a:pt x="142875" y="238125"/>
                </a:lnTo>
                <a:lnTo>
                  <a:pt x="33338" y="238125"/>
                </a:lnTo>
                <a:cubicBezTo>
                  <a:pt x="30718" y="238125"/>
                  <a:pt x="28575" y="235982"/>
                  <a:pt x="28575" y="233363"/>
                </a:cubicBezTo>
                <a:lnTo>
                  <a:pt x="28575" y="95250"/>
                </a:lnTo>
                <a:lnTo>
                  <a:pt x="142875" y="95250"/>
                </a:lnTo>
                <a:lnTo>
                  <a:pt x="142875" y="66675"/>
                </a:lnTo>
                <a:lnTo>
                  <a:pt x="28575" y="66675"/>
                </a:lnTo>
                <a:lnTo>
                  <a:pt x="28575" y="14288"/>
                </a:lnTo>
                <a:close/>
                <a:moveTo>
                  <a:pt x="200025" y="133350"/>
                </a:moveTo>
                <a:lnTo>
                  <a:pt x="314325" y="133350"/>
                </a:lnTo>
                <a:cubicBezTo>
                  <a:pt x="330101" y="133350"/>
                  <a:pt x="342900" y="120551"/>
                  <a:pt x="342900" y="104775"/>
                </a:cubicBezTo>
                <a:lnTo>
                  <a:pt x="342900" y="47625"/>
                </a:lnTo>
                <a:cubicBezTo>
                  <a:pt x="342900" y="31849"/>
                  <a:pt x="330101" y="19050"/>
                  <a:pt x="314325" y="19050"/>
                </a:cubicBezTo>
                <a:lnTo>
                  <a:pt x="265093" y="19050"/>
                </a:lnTo>
                <a:cubicBezTo>
                  <a:pt x="260033" y="19050"/>
                  <a:pt x="255210" y="17026"/>
                  <a:pt x="251639" y="13454"/>
                </a:cubicBezTo>
                <a:lnTo>
                  <a:pt x="246519" y="8334"/>
                </a:lnTo>
                <a:cubicBezTo>
                  <a:pt x="241161" y="2977"/>
                  <a:pt x="233898" y="-60"/>
                  <a:pt x="226338" y="-60"/>
                </a:cubicBezTo>
                <a:lnTo>
                  <a:pt x="200025" y="0"/>
                </a:lnTo>
                <a:cubicBezTo>
                  <a:pt x="184249" y="0"/>
                  <a:pt x="171450" y="12799"/>
                  <a:pt x="171450" y="28575"/>
                </a:cubicBezTo>
                <a:lnTo>
                  <a:pt x="171450" y="104775"/>
                </a:lnTo>
                <a:cubicBezTo>
                  <a:pt x="171450" y="120551"/>
                  <a:pt x="184249" y="133350"/>
                  <a:pt x="200025" y="133350"/>
                </a:cubicBezTo>
                <a:close/>
                <a:moveTo>
                  <a:pt x="200025" y="304800"/>
                </a:moveTo>
                <a:lnTo>
                  <a:pt x="314325" y="304800"/>
                </a:lnTo>
                <a:cubicBezTo>
                  <a:pt x="330101" y="304800"/>
                  <a:pt x="342900" y="292001"/>
                  <a:pt x="342900" y="276225"/>
                </a:cubicBezTo>
                <a:lnTo>
                  <a:pt x="342900" y="219075"/>
                </a:lnTo>
                <a:cubicBezTo>
                  <a:pt x="342900" y="203299"/>
                  <a:pt x="330101" y="190500"/>
                  <a:pt x="314325" y="190500"/>
                </a:cubicBezTo>
                <a:lnTo>
                  <a:pt x="265093" y="190500"/>
                </a:lnTo>
                <a:cubicBezTo>
                  <a:pt x="260033" y="190500"/>
                  <a:pt x="255210" y="188476"/>
                  <a:pt x="251639" y="184904"/>
                </a:cubicBezTo>
                <a:lnTo>
                  <a:pt x="246519" y="179784"/>
                </a:lnTo>
                <a:cubicBezTo>
                  <a:pt x="241161" y="174427"/>
                  <a:pt x="233898" y="171390"/>
                  <a:pt x="226338" y="171390"/>
                </a:cubicBezTo>
                <a:lnTo>
                  <a:pt x="200025" y="171450"/>
                </a:lnTo>
                <a:cubicBezTo>
                  <a:pt x="184249" y="171450"/>
                  <a:pt x="171450" y="184249"/>
                  <a:pt x="171450" y="200025"/>
                </a:cubicBezTo>
                <a:lnTo>
                  <a:pt x="171450" y="276225"/>
                </a:lnTo>
                <a:cubicBezTo>
                  <a:pt x="171450" y="292001"/>
                  <a:pt x="184249" y="304800"/>
                  <a:pt x="200025" y="3048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0" y="6096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Management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 files &amp; dependencies</a:t>
            </a:r>
            <a:endParaRPr lang="en-US" sz="1600" dirty="0"/>
          </a:p>
        </p:txBody>
      </p:sp>
      <p:pic>
        <p:nvPicPr>
          <p:cNvPr id="21" name="Image 0" descr="https://kimi-img.moonshot.cn/pub/slides/okc/tarkld4c3uayq/mnt/agents/output/java-course/images/3_Coding_workspace_setup_inspiration.png">    </p:cNvPr>
          <p:cNvPicPr>
            <a:picLocks noChangeAspect="1"/>
          </p:cNvPicPr>
          <p:nvPr/>
        </p:nvPicPr>
        <p:blipFill>
          <a:blip r:embed="rId1"/>
          <a:srcRect l="17676" r="17676" t="0" b="0"/>
          <a:stretch/>
        </p:blipFill>
        <p:spPr>
          <a:xfrm>
            <a:off x="9652000" y="1841500"/>
            <a:ext cx="5842000" cy="5080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62000" y="72390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IDEs significantly boost developer productivity by integrating all essential tools into a single, unified interface.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Components of an 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905000"/>
            <a:ext cx="508000" cy="50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0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0500" y="2006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Code Editor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2476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syntax highlighting, code completion, error detection, and intelligent suggestions as you type.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8500" y="1905000"/>
            <a:ext cx="508000" cy="50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5778500" y="190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2006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Compiler / Interpreter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0" y="2476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 human-readable code into machine-executable instructions and reports compilation errors.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95000" y="1905000"/>
            <a:ext cx="508000" cy="50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190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93500" y="2006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93500" y="2476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identify and fix errors by allowing step-by-step execution, breakpoints, and variable inspection.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2000" y="4191000"/>
            <a:ext cx="508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191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0500" y="4292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Automation Tools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0500" y="4762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Automates repetitive tasks like compilation, testing, and packaging of applications.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85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78500" y="4191000"/>
            <a:ext cx="508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778500" y="4191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7000" y="4292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4762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Git and SVN to manage code changes, branches, and collaboration directly within the IDE.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950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95000" y="4191000"/>
            <a:ext cx="508000" cy="50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0" y="4191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93500" y="4292600"/>
            <a:ext cx="374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93500" y="4762500"/>
            <a:ext cx="374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Organizes files, dependencies, libraries, and resources in a structured project hierarchy.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0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IDE integrates all these components into a single environment, dramatically improving developer productivity and code quality.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8" name="Text 3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Java IDEs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3241040"/>
                <a:gridCol w="3241040"/>
                <a:gridCol w="23571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IntelliJ IDEA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Eclipse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NetBeans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VS Code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(Community) / Paid (Ultimate)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&amp; Open 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&amp; Open 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 &amp; Open 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Strengths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Advanced code analysis, smart refactoring, modern UI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Highly customizable, vast plugin ecosystem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User-friendly, great for beginners, JavaFX support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Lightweight, highly extensible, fast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Professional &amp; enterprise development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Developers who want full control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Students &amp; Java beginners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Multi-language &amp; quick editing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Curve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Steep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Gentle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175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for this course: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suggest using IntelliJ IDEA (Community Edition) or Eclipse — both offer excellent Java support and are widely used in industry.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 Up Your Java 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68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968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and install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JDK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(Java Development Kit)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30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730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your preferred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(IntelliJ, Eclipse, or NetBeans)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492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92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3492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JDK path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your IDE settings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254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254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4254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new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project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IDE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16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01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5016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your first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"Hello, World!"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778500"/>
            <a:ext cx="558800" cy="558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778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57785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 and run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verify your setup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8800" y="2552700"/>
            <a:ext cx="0" cy="3683000"/>
          </a:xfrm>
          <a:prstGeom prst="straightConnector1">
            <a:avLst/>
          </a:prstGeom>
          <a:noFill/>
          <a:ln w="25400">
            <a:solidFill>
              <a:srgbClr val="E2E5EB"/>
            </a:solidFill>
            <a:prstDash val="sysDot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636000" y="1968500"/>
            <a:ext cx="6858000" cy="4368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61450" y="2222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9499600" y="21844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17000" y="2794000"/>
            <a:ext cx="6096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ensure your JDK version matches your project requirements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JAVA_HOME environment variable correctly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the latest stable LTS version of JDK for production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your IDE updated for latest features and security patches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Install essential plugins for your workflow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9_Abstract_Orange_Blue_Data_Wave_Digital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JAVA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Java and Its Core Components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Java?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8890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1968500"/>
            <a:ext cx="838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is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high-level, class-based, object-oriented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language designed to have as few implementation dependencies as possible.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follows the principle of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Anywhere" (WORA)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810000"/>
            <a:ext cx="4318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873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Billion+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508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 run Java worldwide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0" y="3810000"/>
            <a:ext cx="4318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588000" y="3873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by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88000" y="4318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James Gosling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8890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16000" y="5524500"/>
            <a:ext cx="838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in the Modern Era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969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released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1995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Sun Microsystems. Today, Java powers enterprise applications, Android development, web backends, big data systems, and cloud services.</a:t>
            </a:r>
            <a:endParaRPr lang="en-US" sz="1600" dirty="0"/>
          </a:p>
        </p:txBody>
      </p:sp>
      <p:pic>
        <p:nvPicPr>
          <p:cNvPr id="16" name="Image 0" descr="https://kimi-img.moonshot.cn/pub/slides/okc/tarkld4c3uayq/mnt/agents/output/java-course/images/1_Java_Mug_Java_Programming_Language.png">    </p:cNvPr>
          <p:cNvPicPr>
            <a:picLocks noChangeAspect="1"/>
          </p:cNvPicPr>
          <p:nvPr/>
        </p:nvPicPr>
        <p:blipFill>
          <a:blip r:embed="rId1"/>
          <a:srcRect l="0" r="0" t="1190" b="1190"/>
          <a:stretch/>
        </p:blipFill>
        <p:spPr>
          <a:xfrm>
            <a:off x="10160000" y="1841500"/>
            <a:ext cx="5334000" cy="5207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 of 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968500"/>
            <a:ext cx="1016000" cy="4572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68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8500" y="2057400"/>
            <a:ext cx="5651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Development Kit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software development environment for building Java applications. Includes JRE + compiler, debugger, and development tools.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735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" y="3873500"/>
            <a:ext cx="10160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73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8500" y="3962400"/>
            <a:ext cx="5651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Runtime Environment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445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libraries, JVM, and components needed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applications. Does not include development tools.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778500"/>
            <a:ext cx="7112000" cy="165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" y="5778500"/>
            <a:ext cx="101600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7785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68500" y="5867400"/>
            <a:ext cx="5651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Virtual Machine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350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engine that executes Java bytecode and enables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independence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Converts bytecode to native machine code.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968500"/>
            <a:ext cx="7112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7630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2" name="Text 20"/>
          <p:cNvSpPr/>
          <p:nvPr/>
        </p:nvSpPr>
        <p:spPr>
          <a:xfrm>
            <a:off x="9398000" y="2286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API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85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 of pre-written classes and packages for common programming tasks.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3873500"/>
            <a:ext cx="7112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734425" y="425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4878" y="88047"/>
                </a:moveTo>
                <a:cubicBezTo>
                  <a:pt x="461665" y="81260"/>
                  <a:pt x="473006" y="82957"/>
                  <a:pt x="476399" y="91886"/>
                </a:cubicBezTo>
                <a:cubicBezTo>
                  <a:pt x="482471" y="107692"/>
                  <a:pt x="485775" y="124926"/>
                  <a:pt x="485775" y="142875"/>
                </a:cubicBezTo>
                <a:cubicBezTo>
                  <a:pt x="485775" y="221813"/>
                  <a:pt x="421838" y="285750"/>
                  <a:pt x="342900" y="285750"/>
                </a:cubicBezTo>
                <a:cubicBezTo>
                  <a:pt x="327273" y="285750"/>
                  <a:pt x="312182" y="283250"/>
                  <a:pt x="298073" y="278606"/>
                </a:cubicBezTo>
                <a:lnTo>
                  <a:pt x="131177" y="445502"/>
                </a:lnTo>
                <a:cubicBezTo>
                  <a:pt x="106085" y="470595"/>
                  <a:pt x="65365" y="470595"/>
                  <a:pt x="40273" y="445502"/>
                </a:cubicBezTo>
                <a:cubicBezTo>
                  <a:pt x="15180" y="420410"/>
                  <a:pt x="15180" y="379690"/>
                  <a:pt x="40273" y="354598"/>
                </a:cubicBezTo>
                <a:lnTo>
                  <a:pt x="207169" y="187702"/>
                </a:lnTo>
                <a:cubicBezTo>
                  <a:pt x="202525" y="173593"/>
                  <a:pt x="200025" y="158591"/>
                  <a:pt x="200025" y="142875"/>
                </a:cubicBezTo>
                <a:cubicBezTo>
                  <a:pt x="200025" y="63937"/>
                  <a:pt x="263962" y="0"/>
                  <a:pt x="342900" y="0"/>
                </a:cubicBezTo>
                <a:cubicBezTo>
                  <a:pt x="360849" y="0"/>
                  <a:pt x="378083" y="3304"/>
                  <a:pt x="393889" y="9376"/>
                </a:cubicBezTo>
                <a:cubicBezTo>
                  <a:pt x="402818" y="12769"/>
                  <a:pt x="404426" y="24110"/>
                  <a:pt x="397728" y="30897"/>
                </a:cubicBezTo>
                <a:lnTo>
                  <a:pt x="318522" y="110103"/>
                </a:lnTo>
                <a:cubicBezTo>
                  <a:pt x="315843" y="112782"/>
                  <a:pt x="314325" y="116443"/>
                  <a:pt x="314325" y="120194"/>
                </a:cubicBezTo>
                <a:lnTo>
                  <a:pt x="314325" y="157163"/>
                </a:lnTo>
                <a:cubicBezTo>
                  <a:pt x="314325" y="165021"/>
                  <a:pt x="320754" y="171450"/>
                  <a:pt x="328613" y="171450"/>
                </a:cubicBezTo>
                <a:lnTo>
                  <a:pt x="365581" y="171450"/>
                </a:lnTo>
                <a:cubicBezTo>
                  <a:pt x="369332" y="171450"/>
                  <a:pt x="372993" y="169932"/>
                  <a:pt x="375672" y="167253"/>
                </a:cubicBezTo>
                <a:lnTo>
                  <a:pt x="454878" y="88047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9398000" y="419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4762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 (javac), debugger (jdb), archiver (jar), and documentation generator (javadoc).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5778500"/>
            <a:ext cx="7112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8763000" y="615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0" name="Text 28"/>
          <p:cNvSpPr/>
          <p:nvPr/>
        </p:nvSpPr>
        <p:spPr>
          <a:xfrm>
            <a:off x="9398000" y="6096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Libraries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63000" y="666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libraries for I/O, networking, collections, concurrency, and GUI development.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JDK, JRE, and JVM Relationship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3302000" y="2032000"/>
            <a:ext cx="9652000" cy="165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556000" y="21336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21336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Development Kit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56000" y="2641600"/>
            <a:ext cx="914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toolkit for Java development: JRE + Compiler (javac) + Debugger (jdb) + Archiver (jar) + Documentation tools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3937000"/>
            <a:ext cx="7112000" cy="1651000"/>
          </a:xfrm>
          <a:prstGeom prst="rect">
            <a:avLst/>
          </a:prstGeom>
          <a:solidFill>
            <a:srgbClr val="2D3F5E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4038600"/>
            <a:ext cx="196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40386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Runtime Environment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45466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needed to run Java: JVM + Class libraries + Supporting files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42000" y="5842000"/>
            <a:ext cx="4572000" cy="1460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59436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JVM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1500" y="59436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Virtual Machine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0" y="64516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Executes bytecode, enables platform independence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3683000"/>
            <a:ext cx="0" cy="25400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5588000"/>
            <a:ext cx="0" cy="25400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762000" y="7366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JDK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⊃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JRE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⊃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JVM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need JDK to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JRE to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JVM is the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engine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5_281_530_Background_Orange_Blue_Technology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&amp; FEATURES OF JAVA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Evolution and Characteristics That Define Java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Brief History of 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2032000"/>
            <a:ext cx="0" cy="5842000"/>
          </a:xfrm>
          <a:prstGeom prst="straightConnector1">
            <a:avLst/>
          </a:prstGeom>
          <a:noFill/>
          <a:ln w="38100">
            <a:solidFill>
              <a:srgbClr val="E2E5E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71600" y="20320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87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8500" y="1968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"Green"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started at Sun Microsystems by James Gosling. Initially called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"Oak"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9210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276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68500" y="2857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officially released with the slogan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8100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165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68500" y="3746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(Tiger)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annotations, and enhanced for-loop.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46990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054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8500" y="463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Oracle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acquired Sun Microsystems, taking over Java's development.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55880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943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68500" y="5524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most influential release: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expressions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streams, and new date API.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64770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8326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68500" y="6413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introduced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system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(Project Jigsaw) for better code organization.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73660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5" name="Text 23"/>
          <p:cNvSpPr/>
          <p:nvPr/>
        </p:nvSpPr>
        <p:spPr>
          <a:xfrm>
            <a:off x="635000" y="7721600"/>
            <a:ext cx="825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68500" y="7302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follows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6-month release cycles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Java 21 LTS brings virtual threads and pattern matching.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0" y="2032000"/>
            <a:ext cx="6350000" cy="5842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0" y="2286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25000" y="2984500"/>
            <a:ext cx="558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Originally designed for embedded systems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Renamed from "Oak" to "Java" (coffee-inspired)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Browser applets made it wildly popular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Enterprise adoption drove EE platform growth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Android (2008) made Java a mobile powerhouse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Open-sourced as OpenJDK in 2007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Java focuses on performance and cloud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of Java — Part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400" y="0"/>
                </a:moveTo>
                <a:cubicBezTo>
                  <a:pt x="311944" y="0"/>
                  <a:pt x="343138" y="12938"/>
                  <a:pt x="366077" y="35878"/>
                </a:cubicBezTo>
                <a:lnTo>
                  <a:pt x="370443" y="40243"/>
                </a:lnTo>
                <a:cubicBezTo>
                  <a:pt x="393462" y="63262"/>
                  <a:pt x="406400" y="94456"/>
                  <a:pt x="406400" y="126921"/>
                </a:cubicBezTo>
                <a:cubicBezTo>
                  <a:pt x="406400" y="146050"/>
                  <a:pt x="401876" y="164703"/>
                  <a:pt x="393541" y="181531"/>
                </a:cubicBezTo>
                <a:cubicBezTo>
                  <a:pt x="392033" y="184467"/>
                  <a:pt x="389334" y="186690"/>
                  <a:pt x="386159" y="187643"/>
                </a:cubicBezTo>
                <a:lnTo>
                  <a:pt x="297259" y="214313"/>
                </a:lnTo>
                <a:cubicBezTo>
                  <a:pt x="294164" y="215265"/>
                  <a:pt x="292100" y="218043"/>
                  <a:pt x="292100" y="221298"/>
                </a:cubicBezTo>
                <a:cubicBezTo>
                  <a:pt x="292100" y="225346"/>
                  <a:pt x="295354" y="228600"/>
                  <a:pt x="299403" y="228600"/>
                </a:cubicBezTo>
                <a:lnTo>
                  <a:pt x="324961" y="228600"/>
                </a:lnTo>
                <a:cubicBezTo>
                  <a:pt x="336312" y="228600"/>
                  <a:pt x="341947" y="242253"/>
                  <a:pt x="333931" y="250269"/>
                </a:cubicBezTo>
                <a:lnTo>
                  <a:pt x="316151" y="268049"/>
                </a:lnTo>
                <a:cubicBezTo>
                  <a:pt x="314643" y="269557"/>
                  <a:pt x="312817" y="270589"/>
                  <a:pt x="310833" y="271224"/>
                </a:cubicBezTo>
                <a:lnTo>
                  <a:pt x="246539" y="290513"/>
                </a:lnTo>
                <a:cubicBezTo>
                  <a:pt x="243443" y="291465"/>
                  <a:pt x="241379" y="294243"/>
                  <a:pt x="241379" y="297498"/>
                </a:cubicBezTo>
                <a:cubicBezTo>
                  <a:pt x="241379" y="301546"/>
                  <a:pt x="244634" y="304800"/>
                  <a:pt x="248682" y="304800"/>
                </a:cubicBezTo>
                <a:cubicBezTo>
                  <a:pt x="259159" y="304800"/>
                  <a:pt x="263684" y="317262"/>
                  <a:pt x="254873" y="322977"/>
                </a:cubicBezTo>
                <a:cubicBezTo>
                  <a:pt x="222250" y="344091"/>
                  <a:pt x="183991" y="355600"/>
                  <a:pt x="144542" y="355600"/>
                </a:cubicBezTo>
                <a:lnTo>
                  <a:pt x="76279" y="355600"/>
                </a:lnTo>
                <a:lnTo>
                  <a:pt x="38179" y="393700"/>
                </a:lnTo>
                <a:cubicBezTo>
                  <a:pt x="31194" y="400685"/>
                  <a:pt x="19764" y="400685"/>
                  <a:pt x="12779" y="393700"/>
                </a:cubicBezTo>
                <a:cubicBezTo>
                  <a:pt x="5794" y="386715"/>
                  <a:pt x="5794" y="375285"/>
                  <a:pt x="12779" y="368300"/>
                </a:cubicBezTo>
                <a:lnTo>
                  <a:pt x="203200" y="177800"/>
                </a:lnTo>
                <a:cubicBezTo>
                  <a:pt x="210185" y="170815"/>
                  <a:pt x="210185" y="159385"/>
                  <a:pt x="203200" y="152400"/>
                </a:cubicBezTo>
                <a:cubicBezTo>
                  <a:pt x="196215" y="145415"/>
                  <a:pt x="184785" y="145415"/>
                  <a:pt x="177800" y="152400"/>
                </a:cubicBezTo>
                <a:lnTo>
                  <a:pt x="63103" y="267097"/>
                </a:lnTo>
                <a:cubicBezTo>
                  <a:pt x="58579" y="271621"/>
                  <a:pt x="50800" y="268446"/>
                  <a:pt x="50800" y="262017"/>
                </a:cubicBezTo>
                <a:cubicBezTo>
                  <a:pt x="50800" y="208121"/>
                  <a:pt x="72231" y="156448"/>
                  <a:pt x="110331" y="118348"/>
                </a:cubicBezTo>
                <a:lnTo>
                  <a:pt x="192723" y="35878"/>
                </a:lnTo>
                <a:cubicBezTo>
                  <a:pt x="215662" y="12938"/>
                  <a:pt x="246856" y="0"/>
                  <a:pt x="279400" y="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learn with clean syntax. Derived from C/C++ but removes complex features like pointers and operator overloading.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5425" y="-1032"/>
                </a:moveTo>
                <a:cubicBezTo>
                  <a:pt x="211693" y="-8969"/>
                  <a:pt x="194707" y="-8969"/>
                  <a:pt x="180975" y="-1032"/>
                </a:cubicBezTo>
                <a:lnTo>
                  <a:pt x="114141" y="37544"/>
                </a:lnTo>
                <a:cubicBezTo>
                  <a:pt x="100409" y="45482"/>
                  <a:pt x="91916" y="60166"/>
                  <a:pt x="91916" y="76041"/>
                </a:cubicBezTo>
                <a:lnTo>
                  <a:pt x="91916" y="156924"/>
                </a:lnTo>
                <a:lnTo>
                  <a:pt x="21828" y="197406"/>
                </a:lnTo>
                <a:cubicBezTo>
                  <a:pt x="8096" y="205343"/>
                  <a:pt x="-397" y="220027"/>
                  <a:pt x="-397" y="235902"/>
                </a:cubicBezTo>
                <a:lnTo>
                  <a:pt x="-397" y="313134"/>
                </a:lnTo>
                <a:cubicBezTo>
                  <a:pt x="-397" y="329009"/>
                  <a:pt x="8096" y="343694"/>
                  <a:pt x="21828" y="351631"/>
                </a:cubicBezTo>
                <a:lnTo>
                  <a:pt x="88741" y="390208"/>
                </a:lnTo>
                <a:cubicBezTo>
                  <a:pt x="102473" y="398145"/>
                  <a:pt x="119459" y="398145"/>
                  <a:pt x="133191" y="390208"/>
                </a:cubicBezTo>
                <a:lnTo>
                  <a:pt x="203279" y="349726"/>
                </a:lnTo>
                <a:lnTo>
                  <a:pt x="273368" y="390208"/>
                </a:lnTo>
                <a:cubicBezTo>
                  <a:pt x="287099" y="398145"/>
                  <a:pt x="304086" y="398145"/>
                  <a:pt x="317818" y="390208"/>
                </a:cubicBezTo>
                <a:lnTo>
                  <a:pt x="384572" y="351631"/>
                </a:lnTo>
                <a:cubicBezTo>
                  <a:pt x="398304" y="343694"/>
                  <a:pt x="406797" y="329009"/>
                  <a:pt x="406797" y="313134"/>
                </a:cubicBezTo>
                <a:lnTo>
                  <a:pt x="406797" y="235902"/>
                </a:lnTo>
                <a:cubicBezTo>
                  <a:pt x="406797" y="220027"/>
                  <a:pt x="398304" y="205343"/>
                  <a:pt x="384572" y="197406"/>
                </a:cubicBezTo>
                <a:lnTo>
                  <a:pt x="314484" y="156924"/>
                </a:lnTo>
                <a:lnTo>
                  <a:pt x="314484" y="76041"/>
                </a:lnTo>
                <a:cubicBezTo>
                  <a:pt x="314484" y="60166"/>
                  <a:pt x="305991" y="45482"/>
                  <a:pt x="292259" y="37544"/>
                </a:cubicBezTo>
                <a:lnTo>
                  <a:pt x="225425" y="-1032"/>
                </a:lnTo>
                <a:close/>
                <a:moveTo>
                  <a:pt x="184150" y="232251"/>
                </a:moveTo>
                <a:lnTo>
                  <a:pt x="184150" y="316786"/>
                </a:lnTo>
                <a:lnTo>
                  <a:pt x="114062" y="357267"/>
                </a:lnTo>
                <a:cubicBezTo>
                  <a:pt x="113109" y="357823"/>
                  <a:pt x="111998" y="358140"/>
                  <a:pt x="110887" y="358140"/>
                </a:cubicBezTo>
                <a:lnTo>
                  <a:pt x="110887" y="274558"/>
                </a:lnTo>
                <a:lnTo>
                  <a:pt x="184150" y="232251"/>
                </a:lnTo>
                <a:close/>
                <a:moveTo>
                  <a:pt x="367824" y="232728"/>
                </a:moveTo>
                <a:cubicBezTo>
                  <a:pt x="368379" y="233680"/>
                  <a:pt x="368697" y="234791"/>
                  <a:pt x="368697" y="235903"/>
                </a:cubicBezTo>
                <a:lnTo>
                  <a:pt x="368697" y="313134"/>
                </a:lnTo>
                <a:cubicBezTo>
                  <a:pt x="368697" y="315436"/>
                  <a:pt x="367506" y="317500"/>
                  <a:pt x="365522" y="318611"/>
                </a:cubicBezTo>
                <a:lnTo>
                  <a:pt x="298609" y="357188"/>
                </a:lnTo>
                <a:cubicBezTo>
                  <a:pt x="297656" y="357743"/>
                  <a:pt x="296545" y="358061"/>
                  <a:pt x="295434" y="358061"/>
                </a:cubicBezTo>
                <a:lnTo>
                  <a:pt x="295434" y="274479"/>
                </a:lnTo>
                <a:lnTo>
                  <a:pt x="367824" y="232728"/>
                </a:lnTo>
                <a:close/>
                <a:moveTo>
                  <a:pt x="276463" y="76041"/>
                </a:moveTo>
                <a:lnTo>
                  <a:pt x="276463" y="156924"/>
                </a:lnTo>
                <a:lnTo>
                  <a:pt x="203200" y="199231"/>
                </a:lnTo>
                <a:lnTo>
                  <a:pt x="203200" y="114697"/>
                </a:lnTo>
                <a:lnTo>
                  <a:pt x="275590" y="72946"/>
                </a:lnTo>
                <a:cubicBezTo>
                  <a:pt x="276146" y="73898"/>
                  <a:pt x="276463" y="75009"/>
                  <a:pt x="276463" y="7612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Object-Oriented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revolves around objects and classes, promoting modular, reusable, and maintainable code.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116205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Independent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JVM and bytecode. Compile on Windows, run on Linux or macOS seamlessly.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160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4381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889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Bytecode verification, sandbox security model, and no explicit pointers protect against malicious code and unauthorized access.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191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1700" y="4381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5977" y="14526"/>
                </a:moveTo>
                <a:lnTo>
                  <a:pt x="215106" y="3016"/>
                </a:lnTo>
                <a:cubicBezTo>
                  <a:pt x="232251" y="-7302"/>
                  <a:pt x="251857" y="-12700"/>
                  <a:pt x="271859" y="-12700"/>
                </a:cubicBezTo>
                <a:cubicBezTo>
                  <a:pt x="301069" y="-12700"/>
                  <a:pt x="329168" y="-1111"/>
                  <a:pt x="349806" y="19606"/>
                </a:cubicBezTo>
                <a:lnTo>
                  <a:pt x="400526" y="70326"/>
                </a:lnTo>
                <a:cubicBezTo>
                  <a:pt x="412432" y="82233"/>
                  <a:pt x="419100" y="98425"/>
                  <a:pt x="419100" y="115253"/>
                </a:cubicBezTo>
                <a:lnTo>
                  <a:pt x="419100" y="139779"/>
                </a:lnTo>
                <a:lnTo>
                  <a:pt x="434737" y="155416"/>
                </a:lnTo>
                <a:lnTo>
                  <a:pt x="434737" y="155416"/>
                </a:lnTo>
                <a:cubicBezTo>
                  <a:pt x="447119" y="143034"/>
                  <a:pt x="467201" y="143034"/>
                  <a:pt x="479663" y="155416"/>
                </a:cubicBezTo>
                <a:cubicBezTo>
                  <a:pt x="492125" y="167799"/>
                  <a:pt x="492046" y="187881"/>
                  <a:pt x="479663" y="200342"/>
                </a:cubicBezTo>
                <a:lnTo>
                  <a:pt x="428863" y="251142"/>
                </a:lnTo>
                <a:cubicBezTo>
                  <a:pt x="416481" y="263525"/>
                  <a:pt x="396399" y="263525"/>
                  <a:pt x="383937" y="251142"/>
                </a:cubicBezTo>
                <a:cubicBezTo>
                  <a:pt x="371475" y="238760"/>
                  <a:pt x="371554" y="218678"/>
                  <a:pt x="383937" y="206216"/>
                </a:cubicBezTo>
                <a:lnTo>
                  <a:pt x="368300" y="190500"/>
                </a:lnTo>
                <a:lnTo>
                  <a:pt x="343773" y="190500"/>
                </a:lnTo>
                <a:cubicBezTo>
                  <a:pt x="326946" y="190500"/>
                  <a:pt x="310753" y="183833"/>
                  <a:pt x="298847" y="171926"/>
                </a:cubicBezTo>
                <a:lnTo>
                  <a:pt x="259874" y="132953"/>
                </a:lnTo>
                <a:cubicBezTo>
                  <a:pt x="247967" y="121047"/>
                  <a:pt x="241300" y="104854"/>
                  <a:pt x="241300" y="88027"/>
                </a:cubicBezTo>
                <a:lnTo>
                  <a:pt x="241300" y="77946"/>
                </a:lnTo>
                <a:cubicBezTo>
                  <a:pt x="241300" y="69056"/>
                  <a:pt x="236617" y="60722"/>
                  <a:pt x="228997" y="56198"/>
                </a:cubicBezTo>
                <a:lnTo>
                  <a:pt x="195977" y="36354"/>
                </a:lnTo>
                <a:cubicBezTo>
                  <a:pt x="187722" y="31433"/>
                  <a:pt x="187722" y="19526"/>
                  <a:pt x="195977" y="14605"/>
                </a:cubicBezTo>
                <a:close/>
                <a:moveTo>
                  <a:pt x="40243" y="319643"/>
                </a:moveTo>
                <a:lnTo>
                  <a:pt x="216535" y="143351"/>
                </a:lnTo>
                <a:lnTo>
                  <a:pt x="288369" y="215186"/>
                </a:lnTo>
                <a:lnTo>
                  <a:pt x="112078" y="391478"/>
                </a:lnTo>
                <a:cubicBezTo>
                  <a:pt x="92234" y="411321"/>
                  <a:pt x="60087" y="411321"/>
                  <a:pt x="40243" y="391478"/>
                </a:cubicBezTo>
                <a:cubicBezTo>
                  <a:pt x="20399" y="371634"/>
                  <a:pt x="20399" y="339487"/>
                  <a:pt x="40243" y="319643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604000" y="4381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889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memory management, automatic garbage collection, exception handling, and type checking.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191000"/>
            <a:ext cx="46990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1112500" y="4381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Matter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12500" y="48895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five features make Java ideal for beginners while being powerful enough for enterprise-scale applications.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of Java — Part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2349" y="190579"/>
                </a:moveTo>
                <a:cubicBezTo>
                  <a:pt x="368379" y="189627"/>
                  <a:pt x="356235" y="200104"/>
                  <a:pt x="355203" y="214154"/>
                </a:cubicBezTo>
                <a:cubicBezTo>
                  <a:pt x="352584" y="251460"/>
                  <a:pt x="336471" y="285115"/>
                  <a:pt x="311706" y="310198"/>
                </a:cubicBezTo>
                <a:lnTo>
                  <a:pt x="286544" y="284956"/>
                </a:lnTo>
                <a:cubicBezTo>
                  <a:pt x="281067" y="279479"/>
                  <a:pt x="272891" y="277892"/>
                  <a:pt x="265748" y="280829"/>
                </a:cubicBezTo>
                <a:cubicBezTo>
                  <a:pt x="258604" y="283766"/>
                  <a:pt x="254000" y="290751"/>
                  <a:pt x="254000" y="298450"/>
                </a:cubicBezTo>
                <a:lnTo>
                  <a:pt x="254000" y="387350"/>
                </a:lnTo>
                <a:cubicBezTo>
                  <a:pt x="254000" y="397907"/>
                  <a:pt x="262493" y="406400"/>
                  <a:pt x="273050" y="406400"/>
                </a:cubicBezTo>
                <a:lnTo>
                  <a:pt x="361950" y="406400"/>
                </a:lnTo>
                <a:cubicBezTo>
                  <a:pt x="369649" y="406400"/>
                  <a:pt x="376634" y="401796"/>
                  <a:pt x="379571" y="394652"/>
                </a:cubicBezTo>
                <a:cubicBezTo>
                  <a:pt x="382508" y="387509"/>
                  <a:pt x="380921" y="379333"/>
                  <a:pt x="375444" y="373856"/>
                </a:cubicBezTo>
                <a:lnTo>
                  <a:pt x="347663" y="346075"/>
                </a:lnTo>
                <a:cubicBezTo>
                  <a:pt x="380762" y="312579"/>
                  <a:pt x="402352" y="267653"/>
                  <a:pt x="405924" y="217646"/>
                </a:cubicBezTo>
                <a:cubicBezTo>
                  <a:pt x="406876" y="203676"/>
                  <a:pt x="396399" y="191532"/>
                  <a:pt x="382349" y="190500"/>
                </a:cubicBezTo>
                <a:close/>
                <a:moveTo>
                  <a:pt x="30956" y="32544"/>
                </a:moveTo>
                <a:lnTo>
                  <a:pt x="58737" y="60325"/>
                </a:lnTo>
                <a:cubicBezTo>
                  <a:pt x="25638" y="93821"/>
                  <a:pt x="4048" y="138748"/>
                  <a:pt x="476" y="188754"/>
                </a:cubicBezTo>
                <a:cubicBezTo>
                  <a:pt x="-476" y="202724"/>
                  <a:pt x="10001" y="214868"/>
                  <a:pt x="24051" y="215900"/>
                </a:cubicBezTo>
                <a:cubicBezTo>
                  <a:pt x="38100" y="216932"/>
                  <a:pt x="50165" y="206375"/>
                  <a:pt x="51197" y="192326"/>
                </a:cubicBezTo>
                <a:cubicBezTo>
                  <a:pt x="53816" y="155019"/>
                  <a:pt x="69929" y="121364"/>
                  <a:pt x="94694" y="96282"/>
                </a:cubicBezTo>
                <a:lnTo>
                  <a:pt x="119856" y="121444"/>
                </a:lnTo>
                <a:cubicBezTo>
                  <a:pt x="125333" y="126921"/>
                  <a:pt x="133509" y="128508"/>
                  <a:pt x="140652" y="125571"/>
                </a:cubicBezTo>
                <a:cubicBezTo>
                  <a:pt x="147796" y="122634"/>
                  <a:pt x="152400" y="115649"/>
                  <a:pt x="152400" y="107950"/>
                </a:cubicBezTo>
                <a:lnTo>
                  <a:pt x="152400" y="19050"/>
                </a:lnTo>
                <a:cubicBezTo>
                  <a:pt x="152400" y="8493"/>
                  <a:pt x="143907" y="0"/>
                  <a:pt x="133350" y="0"/>
                </a:cubicBezTo>
                <a:lnTo>
                  <a:pt x="44450" y="0"/>
                </a:lnTo>
                <a:cubicBezTo>
                  <a:pt x="36751" y="0"/>
                  <a:pt x="29766" y="4604"/>
                  <a:pt x="26829" y="11748"/>
                </a:cubicBezTo>
                <a:cubicBezTo>
                  <a:pt x="23892" y="18891"/>
                  <a:pt x="25559" y="27067"/>
                  <a:pt x="30956" y="32544"/>
                </a:cubicBezTo>
                <a:close/>
                <a:moveTo>
                  <a:pt x="190500" y="24051"/>
                </a:moveTo>
                <a:cubicBezTo>
                  <a:pt x="189548" y="38021"/>
                  <a:pt x="200025" y="50165"/>
                  <a:pt x="214074" y="51197"/>
                </a:cubicBezTo>
                <a:cubicBezTo>
                  <a:pt x="251381" y="53816"/>
                  <a:pt x="285036" y="69929"/>
                  <a:pt x="310118" y="94694"/>
                </a:cubicBezTo>
                <a:lnTo>
                  <a:pt x="284956" y="119856"/>
                </a:lnTo>
                <a:cubicBezTo>
                  <a:pt x="279479" y="125333"/>
                  <a:pt x="277892" y="133509"/>
                  <a:pt x="280829" y="140652"/>
                </a:cubicBezTo>
                <a:cubicBezTo>
                  <a:pt x="283766" y="147796"/>
                  <a:pt x="290751" y="152400"/>
                  <a:pt x="298450" y="152400"/>
                </a:cubicBez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44450"/>
                </a:lnTo>
                <a:cubicBezTo>
                  <a:pt x="406400" y="36751"/>
                  <a:pt x="401796" y="29766"/>
                  <a:pt x="394652" y="26829"/>
                </a:cubicBezTo>
                <a:cubicBezTo>
                  <a:pt x="387509" y="23892"/>
                  <a:pt x="379333" y="25559"/>
                  <a:pt x="373856" y="30956"/>
                </a:cubicBezTo>
                <a:lnTo>
                  <a:pt x="346075" y="58737"/>
                </a:lnTo>
                <a:cubicBezTo>
                  <a:pt x="312579" y="25638"/>
                  <a:pt x="267653" y="4048"/>
                  <a:pt x="217646" y="476"/>
                </a:cubicBezTo>
                <a:cubicBezTo>
                  <a:pt x="203676" y="-476"/>
                  <a:pt x="191532" y="10001"/>
                  <a:pt x="190500" y="24051"/>
                </a:cubicBezTo>
                <a:close/>
                <a:moveTo>
                  <a:pt x="32544" y="375444"/>
                </a:moveTo>
                <a:lnTo>
                  <a:pt x="60325" y="347663"/>
                </a:lnTo>
                <a:cubicBezTo>
                  <a:pt x="93821" y="380762"/>
                  <a:pt x="138748" y="402352"/>
                  <a:pt x="188754" y="405924"/>
                </a:cubicBezTo>
                <a:cubicBezTo>
                  <a:pt x="202724" y="406876"/>
                  <a:pt x="214868" y="396399"/>
                  <a:pt x="215900" y="382349"/>
                </a:cubicBezTo>
                <a:cubicBezTo>
                  <a:pt x="216932" y="368300"/>
                  <a:pt x="206375" y="356235"/>
                  <a:pt x="192326" y="355203"/>
                </a:cubicBezTo>
                <a:cubicBezTo>
                  <a:pt x="155019" y="352584"/>
                  <a:pt x="121364" y="336471"/>
                  <a:pt x="96282" y="311706"/>
                </a:cubicBezTo>
                <a:lnTo>
                  <a:pt x="121444" y="286544"/>
                </a:lnTo>
                <a:cubicBezTo>
                  <a:pt x="126921" y="281067"/>
                  <a:pt x="128508" y="272891"/>
                  <a:pt x="125571" y="265748"/>
                </a:cubicBezTo>
                <a:cubicBezTo>
                  <a:pt x="122634" y="258604"/>
                  <a:pt x="115649" y="254000"/>
                  <a:pt x="1079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61950"/>
                </a:lnTo>
                <a:cubicBezTo>
                  <a:pt x="0" y="369649"/>
                  <a:pt x="4604" y="376634"/>
                  <a:pt x="11748" y="379571"/>
                </a:cubicBezTo>
                <a:cubicBezTo>
                  <a:pt x="18891" y="382508"/>
                  <a:pt x="27067" y="380841"/>
                  <a:pt x="32544" y="37544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Multithreaded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concurrent execution of multiple threads for better performance.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381000"/>
                </a:lnTo>
                <a:lnTo>
                  <a:pt x="292100" y="3810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330200" y="76200"/>
                </a:moveTo>
                <a:lnTo>
                  <a:pt x="330200" y="381000"/>
                </a:ln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330200" y="76200"/>
                </a:lnTo>
                <a:close/>
                <a:moveTo>
                  <a:pt x="76200" y="381000"/>
                </a:moveTo>
                <a:lnTo>
                  <a:pt x="762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76200" y="3810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same bytecode runs on any platform with a JVM. No recompilation needed when moving between Windows, Linux, or macOS.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11620500" y="2095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603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JIT (Just-In-Time) compiler optimizes bytecode to native machine code at runtime, delivering near-native execution speed.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7112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90600" y="4381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96850" y="69850"/>
                </a:moveTo>
                <a:lnTo>
                  <a:pt x="260350" y="69850"/>
                </a:lnTo>
                <a:lnTo>
                  <a:pt x="260350" y="107950"/>
                </a:lnTo>
                <a:lnTo>
                  <a:pt x="196850" y="107950"/>
                </a:lnTo>
                <a:lnTo>
                  <a:pt x="196850" y="69850"/>
                </a:lnTo>
                <a:close/>
                <a:moveTo>
                  <a:pt x="190500" y="25400"/>
                </a:moveTo>
                <a:cubicBezTo>
                  <a:pt x="169466" y="25400"/>
                  <a:pt x="152400" y="42466"/>
                  <a:pt x="152400" y="63500"/>
                </a:cubicBezTo>
                <a:lnTo>
                  <a:pt x="152400" y="114300"/>
                </a:lnTo>
                <a:cubicBezTo>
                  <a:pt x="152400" y="135334"/>
                  <a:pt x="169466" y="152400"/>
                  <a:pt x="190500" y="152400"/>
                </a:cubicBezTo>
                <a:lnTo>
                  <a:pt x="203200" y="152400"/>
                </a:lnTo>
                <a:lnTo>
                  <a:pt x="203200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101600" y="228600"/>
                </a:lnTo>
                <a:lnTo>
                  <a:pt x="101600" y="254000"/>
                </a:lnTo>
                <a:lnTo>
                  <a:pt x="88900" y="254000"/>
                </a:lnTo>
                <a:cubicBezTo>
                  <a:pt x="67866" y="254000"/>
                  <a:pt x="50800" y="271066"/>
                  <a:pt x="50800" y="292100"/>
                </a:cubicBezTo>
                <a:lnTo>
                  <a:pt x="50800" y="342900"/>
                </a:lnTo>
                <a:cubicBezTo>
                  <a:pt x="50800" y="363934"/>
                  <a:pt x="67866" y="381000"/>
                  <a:pt x="88900" y="381000"/>
                </a:cubicBezTo>
                <a:lnTo>
                  <a:pt x="165100" y="381000"/>
                </a:lnTo>
                <a:cubicBezTo>
                  <a:pt x="186134" y="381000"/>
                  <a:pt x="203200" y="363934"/>
                  <a:pt x="203200" y="342900"/>
                </a:cubicBezTo>
                <a:lnTo>
                  <a:pt x="203200" y="292100"/>
                </a:lnTo>
                <a:cubicBezTo>
                  <a:pt x="203200" y="271066"/>
                  <a:pt x="186134" y="254000"/>
                  <a:pt x="165100" y="254000"/>
                </a:cubicBezTo>
                <a:lnTo>
                  <a:pt x="152400" y="254000"/>
                </a:lnTo>
                <a:lnTo>
                  <a:pt x="152400" y="228600"/>
                </a:lnTo>
                <a:lnTo>
                  <a:pt x="304800" y="228600"/>
                </a:lnTo>
                <a:lnTo>
                  <a:pt x="304800" y="254000"/>
                </a:lnTo>
                <a:lnTo>
                  <a:pt x="292100" y="254000"/>
                </a:lnTo>
                <a:cubicBezTo>
                  <a:pt x="271066" y="254000"/>
                  <a:pt x="254000" y="271066"/>
                  <a:pt x="254000" y="292100"/>
                </a:cubicBezTo>
                <a:lnTo>
                  <a:pt x="254000" y="342900"/>
                </a:lnTo>
                <a:cubicBezTo>
                  <a:pt x="254000" y="363934"/>
                  <a:pt x="271066" y="381000"/>
                  <a:pt x="292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292100"/>
                </a:lnTo>
                <a:cubicBezTo>
                  <a:pt x="406400" y="271066"/>
                  <a:pt x="389334" y="254000"/>
                  <a:pt x="368300" y="254000"/>
                </a:cubicBezTo>
                <a:lnTo>
                  <a:pt x="355600" y="254000"/>
                </a:lnTo>
                <a:lnTo>
                  <a:pt x="355600" y="228600"/>
                </a:lnTo>
                <a:lnTo>
                  <a:pt x="431800" y="228600"/>
                </a:lnTo>
                <a:cubicBezTo>
                  <a:pt x="445849" y="228600"/>
                  <a:pt x="457200" y="217249"/>
                  <a:pt x="457200" y="203200"/>
                </a:cubicBezTo>
                <a:cubicBezTo>
                  <a:pt x="457200" y="189151"/>
                  <a:pt x="445849" y="177800"/>
                  <a:pt x="431800" y="177800"/>
                </a:cubicBezTo>
                <a:lnTo>
                  <a:pt x="254000" y="177800"/>
                </a:lnTo>
                <a:lnTo>
                  <a:pt x="254000" y="152400"/>
                </a:lnTo>
                <a:lnTo>
                  <a:pt x="266700" y="152400"/>
                </a:lnTo>
                <a:cubicBezTo>
                  <a:pt x="287734" y="152400"/>
                  <a:pt x="304800" y="135334"/>
                  <a:pt x="304800" y="114300"/>
                </a:cubicBezTo>
                <a:lnTo>
                  <a:pt x="304800" y="63500"/>
                </a:lnTo>
                <a:cubicBezTo>
                  <a:pt x="304800" y="42466"/>
                  <a:pt x="287734" y="25400"/>
                  <a:pt x="266700" y="25400"/>
                </a:cubicBezTo>
                <a:lnTo>
                  <a:pt x="190500" y="25400"/>
                </a:lnTo>
                <a:close/>
                <a:moveTo>
                  <a:pt x="355600" y="298450"/>
                </a:moveTo>
                <a:lnTo>
                  <a:pt x="361950" y="298450"/>
                </a:lnTo>
                <a:lnTo>
                  <a:pt x="361950" y="336550"/>
                </a:lnTo>
                <a:lnTo>
                  <a:pt x="298450" y="336550"/>
                </a:lnTo>
                <a:lnTo>
                  <a:pt x="298450" y="298450"/>
                </a:lnTo>
                <a:lnTo>
                  <a:pt x="355600" y="298450"/>
                </a:lnTo>
                <a:close/>
                <a:moveTo>
                  <a:pt x="152400" y="298450"/>
                </a:moveTo>
                <a:lnTo>
                  <a:pt x="158750" y="298450"/>
                </a:lnTo>
                <a:lnTo>
                  <a:pt x="158750" y="336550"/>
                </a:lnTo>
                <a:lnTo>
                  <a:pt x="95250" y="336550"/>
                </a:lnTo>
                <a:lnTo>
                  <a:pt x="95250" y="298450"/>
                </a:lnTo>
                <a:lnTo>
                  <a:pt x="152400" y="298450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4381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889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networking support with RMI, CORBA, and sockets. Designed for creating applications that run across networks and the internet.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4191000"/>
            <a:ext cx="723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34400" y="4381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9080500" y="4381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4889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dynamic loading of classes and libraries at runtime. Adapts to evolving environments with reflection and dynamic compilation.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ten features — Simple, OOP, Platform-Independent, Secure, Robust, Multithreaded, Portable, High Performance, Distributed, and Dynamic — make Java one of the most versatile programming languages.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8_603_848_Software_Developing_Royalty.png">    </p:cNvPr>
          <p:cNvPicPr>
            <a:picLocks noChangeAspect="1"/>
          </p:cNvPicPr>
          <p:nvPr/>
        </p:nvPicPr>
        <p:blipFill>
          <a:blip r:embed="rId1"/>
          <a:srcRect l="0" r="0" t="9917" b="991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COMPILATION PROCESS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Source Code to Execution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Java Compilation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3810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574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WRITE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413000"/>
            <a:ext cx="342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Java source code in a .java file using a text editor or IDE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413000"/>
            <a:ext cx="635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207000" y="1968500"/>
            <a:ext cx="3810000" cy="1270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Text 8"/>
          <p:cNvSpPr/>
          <p:nvPr/>
        </p:nvSpPr>
        <p:spPr>
          <a:xfrm>
            <a:off x="5397500" y="20574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COMPILE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7500" y="2413000"/>
            <a:ext cx="342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javac compiler translates .java into bytecode (.class files)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17000" y="2413000"/>
            <a:ext cx="635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652000" y="1968500"/>
            <a:ext cx="5842000" cy="127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842500" y="2057400"/>
            <a:ext cx="546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EXECUTE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42500" y="24130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JVM loads .class file, verifies bytecode, and executes via interpreter or JIT compiler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683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Compilation (javac)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7112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6000" y="4318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Parses source code into Abstract Syntax Tree (AST)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Performs semantic analysis (type checking)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platform-independent bytecode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Output: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.class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files containing bytecode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3683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(JVM)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4191000"/>
            <a:ext cx="7112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36000" y="4318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Loader loads .class files into memory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Bytecode Verifier checks security and validity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Execution Engine interprets or JIT-compiles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Result: Native machine code execution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667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Unlike C/C++ that compile directly to machine code, Java compiles to intermediate bytecode that runs on any platform with a JVM — this is the foundation of "Write Once, Run Anywhere."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Inside the JVM Execution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3429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75912"/>
                </a:moveTo>
                <a:lnTo>
                  <a:pt x="177800" y="222250"/>
                </a:lnTo>
                <a:cubicBezTo>
                  <a:pt x="177800" y="234543"/>
                  <a:pt x="167868" y="244475"/>
                  <a:pt x="155575" y="244475"/>
                </a:cubicBezTo>
                <a:cubicBezTo>
                  <a:pt x="143282" y="244475"/>
                  <a:pt x="133350" y="234543"/>
                  <a:pt x="133350" y="222250"/>
                </a:cubicBezTo>
                <a:lnTo>
                  <a:pt x="133350" y="75912"/>
                </a:lnTo>
                <a:lnTo>
                  <a:pt x="104596" y="104666"/>
                </a:lnTo>
                <a:cubicBezTo>
                  <a:pt x="95915" y="113348"/>
                  <a:pt x="81816" y="113348"/>
                  <a:pt x="73134" y="104666"/>
                </a:cubicBezTo>
                <a:cubicBezTo>
                  <a:pt x="64453" y="95984"/>
                  <a:pt x="64453" y="81885"/>
                  <a:pt x="73134" y="73204"/>
                </a:cubicBezTo>
                <a:lnTo>
                  <a:pt x="139809" y="6529"/>
                </a:lnTo>
                <a:cubicBezTo>
                  <a:pt x="148491" y="-2153"/>
                  <a:pt x="162590" y="-2153"/>
                  <a:pt x="171271" y="6529"/>
                </a:cubicBezTo>
                <a:lnTo>
                  <a:pt x="237946" y="73204"/>
                </a:lnTo>
                <a:cubicBezTo>
                  <a:pt x="246628" y="81885"/>
                  <a:pt x="246628" y="95984"/>
                  <a:pt x="237946" y="104666"/>
                </a:cubicBezTo>
                <a:cubicBezTo>
                  <a:pt x="229265" y="113348"/>
                  <a:pt x="215166" y="113348"/>
                  <a:pt x="206484" y="104666"/>
                </a:cubicBezTo>
                <a:lnTo>
                  <a:pt x="177800" y="75912"/>
                </a:lnTo>
                <a:close/>
                <a:moveTo>
                  <a:pt x="155575" y="277813"/>
                </a:moveTo>
                <a:cubicBezTo>
                  <a:pt x="186273" y="277813"/>
                  <a:pt x="211138" y="252948"/>
                  <a:pt x="211138" y="222250"/>
                </a:cubicBezTo>
                <a:lnTo>
                  <a:pt x="266700" y="222250"/>
                </a:lnTo>
                <a:cubicBezTo>
                  <a:pt x="291217" y="222250"/>
                  <a:pt x="311150" y="242183"/>
                  <a:pt x="311150" y="266700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66700"/>
                </a:lnTo>
                <a:cubicBezTo>
                  <a:pt x="0" y="242183"/>
                  <a:pt x="19933" y="222250"/>
                  <a:pt x="44450" y="222250"/>
                </a:cubicBezTo>
                <a:lnTo>
                  <a:pt x="100013" y="222250"/>
                </a:lnTo>
                <a:cubicBezTo>
                  <a:pt x="100013" y="252948"/>
                  <a:pt x="124877" y="277813"/>
                  <a:pt x="155575" y="277813"/>
                </a:cubicBezTo>
                <a:close/>
                <a:moveTo>
                  <a:pt x="255587" y="294481"/>
                </a:moveTo>
                <a:cubicBezTo>
                  <a:pt x="264787" y="294481"/>
                  <a:pt x="272256" y="287012"/>
                  <a:pt x="272256" y="277813"/>
                </a:cubicBezTo>
                <a:cubicBezTo>
                  <a:pt x="272256" y="268613"/>
                  <a:pt x="264787" y="261144"/>
                  <a:pt x="255587" y="261144"/>
                </a:cubicBezTo>
                <a:cubicBezTo>
                  <a:pt x="246388" y="261144"/>
                  <a:pt x="238919" y="268613"/>
                  <a:pt x="238919" y="277813"/>
                </a:cubicBezTo>
                <a:cubicBezTo>
                  <a:pt x="238919" y="287012"/>
                  <a:pt x="246388" y="294481"/>
                  <a:pt x="255587" y="29448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133600"/>
            <a:ext cx="2476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Loader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67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Loads .class files into memory. Uses delegation model: Bootstrap → Extension → Application.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0" y="1968500"/>
            <a:ext cx="34290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4806950" y="215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73563" y="46395"/>
                </a:moveTo>
                <a:cubicBezTo>
                  <a:pt x="180786" y="36463"/>
                  <a:pt x="178564" y="22572"/>
                  <a:pt x="168632" y="15349"/>
                </a:cubicBezTo>
                <a:cubicBezTo>
                  <a:pt x="158700" y="8126"/>
                  <a:pt x="144810" y="10349"/>
                  <a:pt x="137587" y="20280"/>
                </a:cubicBezTo>
                <a:lnTo>
                  <a:pt x="63966" y="121474"/>
                </a:lnTo>
                <a:lnTo>
                  <a:pt x="37921" y="95429"/>
                </a:lnTo>
                <a:cubicBezTo>
                  <a:pt x="29240" y="86747"/>
                  <a:pt x="15141" y="86747"/>
                  <a:pt x="6459" y="95429"/>
                </a:cubicBezTo>
                <a:cubicBezTo>
                  <a:pt x="-2222" y="104110"/>
                  <a:pt x="-2222" y="118209"/>
                  <a:pt x="6459" y="126891"/>
                </a:cubicBezTo>
                <a:lnTo>
                  <a:pt x="50909" y="171341"/>
                </a:lnTo>
                <a:cubicBezTo>
                  <a:pt x="55493" y="175925"/>
                  <a:pt x="61883" y="178286"/>
                  <a:pt x="68342" y="177800"/>
                </a:cubicBezTo>
                <a:cubicBezTo>
                  <a:pt x="74801" y="177314"/>
                  <a:pt x="80774" y="173980"/>
                  <a:pt x="84594" y="168702"/>
                </a:cubicBezTo>
                <a:lnTo>
                  <a:pt x="173494" y="46464"/>
                </a:lnTo>
                <a:close/>
                <a:moveTo>
                  <a:pt x="262463" y="140851"/>
                </a:moveTo>
                <a:cubicBezTo>
                  <a:pt x="269686" y="130919"/>
                  <a:pt x="267464" y="117029"/>
                  <a:pt x="257532" y="109805"/>
                </a:cubicBezTo>
                <a:cubicBezTo>
                  <a:pt x="247600" y="102582"/>
                  <a:pt x="233710" y="104805"/>
                  <a:pt x="226487" y="114737"/>
                </a:cubicBezTo>
                <a:lnTo>
                  <a:pt x="108416" y="277049"/>
                </a:lnTo>
                <a:lnTo>
                  <a:pt x="60146" y="228779"/>
                </a:lnTo>
                <a:cubicBezTo>
                  <a:pt x="51465" y="220097"/>
                  <a:pt x="37366" y="220097"/>
                  <a:pt x="28684" y="228779"/>
                </a:cubicBezTo>
                <a:cubicBezTo>
                  <a:pt x="20002" y="237460"/>
                  <a:pt x="20002" y="251559"/>
                  <a:pt x="28684" y="260241"/>
                </a:cubicBezTo>
                <a:lnTo>
                  <a:pt x="95359" y="326916"/>
                </a:lnTo>
                <a:cubicBezTo>
                  <a:pt x="99943" y="331500"/>
                  <a:pt x="106333" y="333861"/>
                  <a:pt x="112792" y="333375"/>
                </a:cubicBezTo>
                <a:cubicBezTo>
                  <a:pt x="119251" y="332889"/>
                  <a:pt x="125224" y="329555"/>
                  <a:pt x="129044" y="324277"/>
                </a:cubicBezTo>
                <a:lnTo>
                  <a:pt x="262394" y="14092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5245100" y="2133600"/>
            <a:ext cx="2476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Bytecode Verifier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2667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bytecode is safe and valid. Checks type safety, stack overflow, and proper object usage.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55000" y="1968500"/>
            <a:ext cx="3429000" cy="2159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4550" y="2159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91600" y="2133600"/>
            <a:ext cx="2476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Engine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9000" y="2667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Interprets bytecode or uses JIT compilation. The core runtime that brings Java code to life.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01500" y="1968500"/>
            <a:ext cx="3492500" cy="2159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2233275" y="215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93521" y="37921"/>
                </a:moveTo>
                <a:cubicBezTo>
                  <a:pt x="402203" y="29240"/>
                  <a:pt x="402203" y="15141"/>
                  <a:pt x="393521" y="6459"/>
                </a:cubicBezTo>
                <a:cubicBezTo>
                  <a:pt x="384840" y="-2222"/>
                  <a:pt x="370741" y="-2222"/>
                  <a:pt x="362059" y="6459"/>
                </a:cubicBezTo>
                <a:lnTo>
                  <a:pt x="228709" y="139809"/>
                </a:lnTo>
                <a:lnTo>
                  <a:pt x="204609" y="115709"/>
                </a:lnTo>
                <a:cubicBezTo>
                  <a:pt x="201692" y="112792"/>
                  <a:pt x="197664" y="111125"/>
                  <a:pt x="193496" y="111125"/>
                </a:cubicBezTo>
                <a:cubicBezTo>
                  <a:pt x="184815" y="111125"/>
                  <a:pt x="177800" y="118140"/>
                  <a:pt x="177800" y="126821"/>
                </a:cubicBezTo>
                <a:lnTo>
                  <a:pt x="177800" y="147032"/>
                </a:lnTo>
                <a:lnTo>
                  <a:pt x="253018" y="222250"/>
                </a:lnTo>
                <a:lnTo>
                  <a:pt x="273229" y="222250"/>
                </a:lnTo>
                <a:cubicBezTo>
                  <a:pt x="281910" y="222250"/>
                  <a:pt x="288925" y="215235"/>
                  <a:pt x="288925" y="206554"/>
                </a:cubicBezTo>
                <a:cubicBezTo>
                  <a:pt x="288925" y="202386"/>
                  <a:pt x="287258" y="198358"/>
                  <a:pt x="284341" y="195441"/>
                </a:cubicBezTo>
                <a:lnTo>
                  <a:pt x="260241" y="171341"/>
                </a:lnTo>
                <a:lnTo>
                  <a:pt x="393591" y="37991"/>
                </a:lnTo>
                <a:close/>
                <a:moveTo>
                  <a:pt x="236905" y="245447"/>
                </a:moveTo>
                <a:lnTo>
                  <a:pt x="154603" y="163145"/>
                </a:lnTo>
                <a:cubicBezTo>
                  <a:pt x="124946" y="160576"/>
                  <a:pt x="95429" y="171271"/>
                  <a:pt x="74176" y="192524"/>
                </a:cubicBezTo>
                <a:lnTo>
                  <a:pt x="68620" y="198080"/>
                </a:lnTo>
                <a:cubicBezTo>
                  <a:pt x="53132" y="213568"/>
                  <a:pt x="44450" y="234543"/>
                  <a:pt x="44450" y="256421"/>
                </a:cubicBezTo>
                <a:cubicBezTo>
                  <a:pt x="44450" y="261144"/>
                  <a:pt x="49381" y="264200"/>
                  <a:pt x="53618" y="262116"/>
                </a:cubicBezTo>
                <a:lnTo>
                  <a:pt x="89108" y="244406"/>
                </a:lnTo>
                <a:cubicBezTo>
                  <a:pt x="92581" y="242669"/>
                  <a:pt x="95706" y="247253"/>
                  <a:pt x="92859" y="249892"/>
                </a:cubicBezTo>
                <a:lnTo>
                  <a:pt x="5070" y="328791"/>
                </a:lnTo>
                <a:cubicBezTo>
                  <a:pt x="1875" y="331708"/>
                  <a:pt x="0" y="335875"/>
                  <a:pt x="0" y="340251"/>
                </a:cubicBezTo>
                <a:cubicBezTo>
                  <a:pt x="0" y="348724"/>
                  <a:pt x="6876" y="355600"/>
                  <a:pt x="15349" y="355600"/>
                </a:cubicBezTo>
                <a:lnTo>
                  <a:pt x="135711" y="355600"/>
                </a:lnTo>
                <a:cubicBezTo>
                  <a:pt x="162659" y="355600"/>
                  <a:pt x="188426" y="344904"/>
                  <a:pt x="207526" y="325874"/>
                </a:cubicBezTo>
                <a:cubicBezTo>
                  <a:pt x="228779" y="304621"/>
                  <a:pt x="239405" y="275104"/>
                  <a:pt x="236905" y="245447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12738100" y="2133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Garbage Collector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0" y="2667000"/>
            <a:ext cx="298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removes unused objects from heap memory, preventing memory leaks.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50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Tiered Compilation Strategy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80000"/>
          <a:ext cx="14732000" cy="2540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4419600"/>
                <a:gridCol w="44196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Compiler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Strategy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 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100% interpreted, no compilation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Cold code, initial startup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 1-2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C1 (Client)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 compilation with basic profiling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Short-lived applications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C1 + Profile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 profiling data 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Gathering execution statistics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C2 (Server)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Aggressive optimizations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Long-running applications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4_Software_Development_images_Royalty.png">    </p:cNvPr>
          <p:cNvPicPr>
            <a:picLocks noChangeAspect="1"/>
          </p:cNvPicPr>
          <p:nvPr/>
        </p:nvPicPr>
        <p:blipFill>
          <a:blip r:embed="rId1"/>
          <a:srcRect l="0" r="0" t="7834" b="783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JAVA APPLICATIONS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the Diverse Applications Built with Java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 of Java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711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095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/ Desktop 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514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software running on a single machine using AWT, Swing, or JavaFX for GUI.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711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36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9271000" y="2095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Applications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0" y="2514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Server-side applications using Servlets, JSP, and Spring Framework for dynamic web content.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746500"/>
            <a:ext cx="711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3150" y="4064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3937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Applications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51000" y="43561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Large-scale distributed systems using Java EE/Jakarta EE for banking, insurance, and ERP.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746500"/>
            <a:ext cx="7112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93150" y="4064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114300" y="392906"/>
                </a:moveTo>
                <a:cubicBezTo>
                  <a:pt x="114300" y="404783"/>
                  <a:pt x="123855" y="414338"/>
                  <a:pt x="135731" y="414338"/>
                </a:cubicBezTo>
                <a:lnTo>
                  <a:pt x="207169" y="414338"/>
                </a:lnTo>
                <a:cubicBezTo>
                  <a:pt x="219045" y="414338"/>
                  <a:pt x="228600" y="404783"/>
                  <a:pt x="228600" y="392906"/>
                </a:cubicBezTo>
                <a:cubicBezTo>
                  <a:pt x="228600" y="381030"/>
                  <a:pt x="219045" y="371475"/>
                  <a:pt x="207169" y="371475"/>
                </a:cubicBezTo>
                <a:lnTo>
                  <a:pt x="135731" y="371475"/>
                </a:lnTo>
                <a:cubicBezTo>
                  <a:pt x="123855" y="371475"/>
                  <a:pt x="114300" y="381030"/>
                  <a:pt x="114300" y="392906"/>
                </a:cubicBezTo>
                <a:close/>
                <a:moveTo>
                  <a:pt x="271463" y="57150"/>
                </a:moveTo>
                <a:lnTo>
                  <a:pt x="71438" y="57150"/>
                </a:ln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0" y="3937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43561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apps (primarily Java or Kotlin) — millions of apps on Google Play Store.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5588000"/>
            <a:ext cx="7112000" cy="152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6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1"/>
          <p:cNvSpPr/>
          <p:nvPr/>
        </p:nvSpPr>
        <p:spPr>
          <a:xfrm>
            <a:off x="5461000" y="5778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Systems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1000" y="6197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 running on small devices, IoT, and microcontrollers using Java ME.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Application Examples in Industry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4699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0632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Industry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Companies / Platforms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LinkedIn, Amazon, Netflix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systems, microservices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Android ecosystem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Millions of apps on Google Play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Big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Hadoop, Apache Spark, Kafka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Distributed data 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Financial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Goldman Sachs, Barclays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Trading platforms, banking systems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E-commerce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eBay, Alibaba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High-volume transaction 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11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Government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NASA, IRS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Mission-critical systems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85000"/>
            <a:ext cx="14732000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4"/>
          <p:cNvSpPr/>
          <p:nvPr/>
        </p:nvSpPr>
        <p:spPr>
          <a:xfrm>
            <a:off x="1117600" y="723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7048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Java's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reliability, scalability, and security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 it the top choice for mission-critical applications across virtually every industry.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1_Modern_abstract_background_premium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DEVELOPMENT KIT &amp; EDITIONS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JDK, JRE, JVM and Java Platform Editions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Editions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7112000" cy="1587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06600"/>
            <a:ext cx="209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11500" y="2006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Edition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438400"/>
            <a:ext cx="673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platform for general-purpose programming. Includes JVM, JDK, JRE, and core libraries (Collections, IO, Networking, Concurrency, JDBC).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7112000" cy="1587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2006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EE / Jakarta 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0" y="2438400"/>
            <a:ext cx="673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Edition for large-scale, distributed apps. Includes Servlets, JSP, JPA, EJB, JMS, Web Services, and Dependency Injection.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810000"/>
            <a:ext cx="7112000" cy="1587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911600"/>
            <a:ext cx="209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1500" y="3911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 Edition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4343400"/>
            <a:ext cx="673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resource-constrained devices: mobile phones, IoT devices, and embedded systems. Uses subset of SE APIs with CLDC and MIDP.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810000"/>
            <a:ext cx="7112000" cy="1587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0" y="3911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JavaFX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72500" y="4343400"/>
            <a:ext cx="6731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client GUI applications with modern UI controls, 2D/3D graphics, charts, audio/video, and CSS styling support.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577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Comparison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86500"/>
          <a:ext cx="14732000" cy="1778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61788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JavaFX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8005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 web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Mobile/embedded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Desktop GUI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005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Scale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Desktop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Components and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5334000"/>
        </p:xfrm>
        <a:graphic>
          <a:graphicData uri="http://schemas.openxmlformats.org/drawingml/2006/table">
            <a:tbl>
              <a:tblPr/>
              <a:tblGrid>
                <a:gridCol w="2209800"/>
                <a:gridCol w="4419600"/>
                <a:gridCol w="8102600"/>
              </a:tblGrid>
              <a:tr h="53595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Compiler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Converts Java source code (.java) into platform-independent bytecode (.class)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Interpreter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Launches Java applications by loading and executing bytecode files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javadoc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Documentation Generator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Generates API documentation in HTML from source code comments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Archiver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Packages multiple class files and resources into a single JAR archive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jdb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Debugger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Helps find and fix bugs through breakpoints and step-by-step execution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Disassembler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Examines bytecode instructions within compiled .class files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jconsole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JVM Monitor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Monitors JVM performance: memory usage, threads, and garbage 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97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&amp; Certificate Tool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Manages security certificates, keystores, and truststores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3_Modern_abstract_background_dark_blue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4000"/>
                </a:srgbClr>
              </a:gs>
              <a:gs pos="55000">
                <a:srgbClr val="0F172A">
                  <a:alpha val="85000"/>
                </a:srgbClr>
              </a:gs>
              <a:gs pos="100000">
                <a:srgbClr val="0F172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27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DEVELOPMENT TOOLS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Tools, Frameworks, and the Java Ecosystem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Build Tools: Ant, Maven, Gradle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905000"/>
            <a:ext cx="4699000" cy="635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968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91000" y="1968500"/>
            <a:ext cx="1079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730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XML-based scripts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Philosophy: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"Do exactly what I say"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Very flexible and customizable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Good for small projects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Verbose XML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built-in dependency mgmt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905000"/>
            <a:ext cx="4699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8500" y="1905000"/>
            <a:ext cx="4699000" cy="635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969000" y="1968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Maven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07500" y="1968500"/>
            <a:ext cx="1079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730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Convention-over-config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Philosophy: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"Follow the rules"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Powerful dependency mgmt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Standardized structure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XML still verbose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flexible than Ant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05000"/>
            <a:ext cx="4699000" cy="3937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95000" y="1905000"/>
            <a:ext cx="4699000" cy="635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85500" y="1968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224000" y="1968500"/>
            <a:ext cx="1079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85500" y="2730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Groovy/Kotlin DSL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Philosophy: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"Best of both worlds"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Concise, readable scripts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Fastest builds (caching)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Steeper learning curve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DSL may be unfamiliar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159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Today's recommendation: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 Maven for enterprise Java projects. Learn Gradle for Android and modern large-scale projects. Ant is mostly legacy.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Java Development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6990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039812" y="21844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59531" y="77391"/>
                </a:moveTo>
                <a:cubicBezTo>
                  <a:pt x="69388" y="77391"/>
                  <a:pt x="77391" y="69388"/>
                  <a:pt x="77391" y="59531"/>
                </a:cubicBezTo>
                <a:cubicBezTo>
                  <a:pt x="77391" y="49674"/>
                  <a:pt x="69388" y="41672"/>
                  <a:pt x="59531" y="41672"/>
                </a:cubicBezTo>
                <a:cubicBezTo>
                  <a:pt x="49674" y="41672"/>
                  <a:pt x="41672" y="49674"/>
                  <a:pt x="41672" y="59531"/>
                </a:cubicBezTo>
                <a:cubicBezTo>
                  <a:pt x="41672" y="69388"/>
                  <a:pt x="49674" y="77391"/>
                  <a:pt x="59531" y="77391"/>
                </a:cubicBezTo>
                <a:close/>
                <a:moveTo>
                  <a:pt x="119063" y="59531"/>
                </a:moveTo>
                <a:cubicBezTo>
                  <a:pt x="119063" y="83939"/>
                  <a:pt x="104403" y="104924"/>
                  <a:pt x="83344" y="114077"/>
                </a:cubicBezTo>
                <a:lnTo>
                  <a:pt x="83344" y="166688"/>
                </a:lnTo>
                <a:lnTo>
                  <a:pt x="214313" y="166688"/>
                </a:lnTo>
                <a:cubicBezTo>
                  <a:pt x="234032" y="166688"/>
                  <a:pt x="250031" y="150688"/>
                  <a:pt x="250031" y="130969"/>
                </a:cubicBezTo>
                <a:lnTo>
                  <a:pt x="250031" y="114077"/>
                </a:lnTo>
                <a:cubicBezTo>
                  <a:pt x="228972" y="104924"/>
                  <a:pt x="214313" y="83939"/>
                  <a:pt x="214313" y="59531"/>
                </a:cubicBezTo>
                <a:cubicBezTo>
                  <a:pt x="214313" y="26640"/>
                  <a:pt x="240953" y="0"/>
                  <a:pt x="273844" y="0"/>
                </a:cubicBezTo>
                <a:cubicBezTo>
                  <a:pt x="306735" y="0"/>
                  <a:pt x="333375" y="26640"/>
                  <a:pt x="333375" y="59531"/>
                </a:cubicBezTo>
                <a:cubicBezTo>
                  <a:pt x="333375" y="83939"/>
                  <a:pt x="318715" y="104924"/>
                  <a:pt x="297656" y="114077"/>
                </a:cubicBezTo>
                <a:lnTo>
                  <a:pt x="297656" y="130969"/>
                </a:lnTo>
                <a:cubicBezTo>
                  <a:pt x="297656" y="177031"/>
                  <a:pt x="260375" y="214313"/>
                  <a:pt x="214313" y="214313"/>
                </a:cubicBezTo>
                <a:lnTo>
                  <a:pt x="83344" y="214313"/>
                </a:lnTo>
                <a:lnTo>
                  <a:pt x="83344" y="266923"/>
                </a:lnTo>
                <a:cubicBezTo>
                  <a:pt x="104403" y="276076"/>
                  <a:pt x="119063" y="297061"/>
                  <a:pt x="119063" y="321469"/>
                </a:cubicBezTo>
                <a:cubicBezTo>
                  <a:pt x="119063" y="354360"/>
                  <a:pt x="92422" y="381000"/>
                  <a:pt x="59531" y="381000"/>
                </a:cubicBezTo>
                <a:cubicBezTo>
                  <a:pt x="26640" y="381000"/>
                  <a:pt x="0" y="354360"/>
                  <a:pt x="0" y="321469"/>
                </a:cubicBezTo>
                <a:cubicBezTo>
                  <a:pt x="0" y="297061"/>
                  <a:pt x="14660" y="276076"/>
                  <a:pt x="35719" y="266923"/>
                </a:cubicBezTo>
                <a:lnTo>
                  <a:pt x="35719" y="114151"/>
                </a:lnTo>
                <a:cubicBezTo>
                  <a:pt x="14660" y="104924"/>
                  <a:pt x="0" y="83939"/>
                  <a:pt x="0" y="59531"/>
                </a:cubicBezTo>
                <a:cubicBezTo>
                  <a:pt x="0" y="26640"/>
                  <a:pt x="26640" y="0"/>
                  <a:pt x="59531" y="0"/>
                </a:cubicBezTo>
                <a:cubicBezTo>
                  <a:pt x="92422" y="0"/>
                  <a:pt x="119063" y="26640"/>
                  <a:pt x="119063" y="59531"/>
                </a:cubicBezTo>
                <a:close/>
                <a:moveTo>
                  <a:pt x="291703" y="59531"/>
                </a:moveTo>
                <a:cubicBezTo>
                  <a:pt x="291703" y="49674"/>
                  <a:pt x="283701" y="41672"/>
                  <a:pt x="273844" y="41672"/>
                </a:cubicBezTo>
                <a:cubicBezTo>
                  <a:pt x="263987" y="41672"/>
                  <a:pt x="255984" y="49674"/>
                  <a:pt x="255984" y="59531"/>
                </a:cubicBezTo>
                <a:cubicBezTo>
                  <a:pt x="255984" y="69388"/>
                  <a:pt x="263987" y="77391"/>
                  <a:pt x="273844" y="77391"/>
                </a:cubicBezTo>
                <a:cubicBezTo>
                  <a:pt x="283701" y="77391"/>
                  <a:pt x="291703" y="69388"/>
                  <a:pt x="291703" y="59531"/>
                </a:cubicBezTo>
                <a:close/>
                <a:moveTo>
                  <a:pt x="59531" y="339328"/>
                </a:moveTo>
                <a:cubicBezTo>
                  <a:pt x="69388" y="339328"/>
                  <a:pt x="77391" y="331326"/>
                  <a:pt x="77391" y="321469"/>
                </a:cubicBezTo>
                <a:cubicBezTo>
                  <a:pt x="77391" y="311612"/>
                  <a:pt x="69388" y="303609"/>
                  <a:pt x="59531" y="303609"/>
                </a:cubicBezTo>
                <a:cubicBezTo>
                  <a:pt x="49674" y="303609"/>
                  <a:pt x="41672" y="311612"/>
                  <a:pt x="41672" y="321469"/>
                </a:cubicBezTo>
                <a:cubicBezTo>
                  <a:pt x="41672" y="331326"/>
                  <a:pt x="49674" y="339328"/>
                  <a:pt x="59531" y="33932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159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Git, GitHub, GitLab, Bitbucket for code management, collaboration, and version tracking.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685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218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4943" y="6995"/>
                </a:moveTo>
                <a:cubicBezTo>
                  <a:pt x="245641" y="-2307"/>
                  <a:pt x="230535" y="-2307"/>
                  <a:pt x="221233" y="6995"/>
                </a:cubicBezTo>
                <a:cubicBezTo>
                  <a:pt x="211931" y="16297"/>
                  <a:pt x="211931" y="31403"/>
                  <a:pt x="221233" y="40704"/>
                </a:cubicBezTo>
                <a:lnTo>
                  <a:pt x="228228" y="47625"/>
                </a:lnTo>
                <a:lnTo>
                  <a:pt x="20910" y="254943"/>
                </a:lnTo>
                <a:cubicBezTo>
                  <a:pt x="7516" y="268337"/>
                  <a:pt x="0" y="286494"/>
                  <a:pt x="0" y="305470"/>
                </a:cubicBezTo>
                <a:lnTo>
                  <a:pt x="0" y="309563"/>
                </a:lnTo>
                <a:cubicBezTo>
                  <a:pt x="0" y="349002"/>
                  <a:pt x="31998" y="381000"/>
                  <a:pt x="71438" y="381000"/>
                </a:cubicBezTo>
                <a:lnTo>
                  <a:pt x="75530" y="381000"/>
                </a:lnTo>
                <a:cubicBezTo>
                  <a:pt x="94506" y="381000"/>
                  <a:pt x="112663" y="373484"/>
                  <a:pt x="126057" y="360090"/>
                </a:cubicBezTo>
                <a:lnTo>
                  <a:pt x="333375" y="152772"/>
                </a:lnTo>
                <a:lnTo>
                  <a:pt x="340370" y="159767"/>
                </a:lnTo>
                <a:cubicBezTo>
                  <a:pt x="349672" y="169069"/>
                  <a:pt x="364778" y="169069"/>
                  <a:pt x="374079" y="159767"/>
                </a:cubicBezTo>
                <a:cubicBezTo>
                  <a:pt x="383381" y="150465"/>
                  <a:pt x="383381" y="135359"/>
                  <a:pt x="374079" y="126057"/>
                </a:cubicBezTo>
                <a:lnTo>
                  <a:pt x="255017" y="6995"/>
                </a:lnTo>
                <a:close/>
                <a:moveTo>
                  <a:pt x="152772" y="190500"/>
                </a:moveTo>
                <a:lnTo>
                  <a:pt x="261938" y="81335"/>
                </a:lnTo>
                <a:lnTo>
                  <a:pt x="299665" y="119063"/>
                </a:lnTo>
                <a:lnTo>
                  <a:pt x="228228" y="190500"/>
                </a:lnTo>
                <a:lnTo>
                  <a:pt x="152698" y="1905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540500" y="2159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Frameworks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JUnit and TestNG for unit testing, integration testing, and behavior-driven development.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685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18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0713" y="4986"/>
                </a:moveTo>
                <a:cubicBezTo>
                  <a:pt x="355476" y="446"/>
                  <a:pt x="362396" y="-1191"/>
                  <a:pt x="368796" y="893"/>
                </a:cubicBezTo>
                <a:cubicBezTo>
                  <a:pt x="376089" y="3349"/>
                  <a:pt x="381000" y="10195"/>
                  <a:pt x="381000" y="17859"/>
                </a:cubicBezTo>
                <a:lnTo>
                  <a:pt x="381000" y="156939"/>
                </a:lnTo>
                <a:cubicBezTo>
                  <a:pt x="381000" y="254571"/>
                  <a:pt x="300558" y="333375"/>
                  <a:pt x="203299" y="333375"/>
                </a:cubicBezTo>
                <a:cubicBezTo>
                  <a:pt x="146000" y="333375"/>
                  <a:pt x="96589" y="296540"/>
                  <a:pt x="78656" y="245046"/>
                </a:cubicBezTo>
                <a:cubicBezTo>
                  <a:pt x="52313" y="267965"/>
                  <a:pt x="35719" y="301675"/>
                  <a:pt x="35719" y="339328"/>
                </a:cubicBezTo>
                <a:cubicBezTo>
                  <a:pt x="35719" y="349225"/>
                  <a:pt x="27756" y="357188"/>
                  <a:pt x="17859" y="357188"/>
                </a:cubicBezTo>
                <a:cubicBezTo>
                  <a:pt x="7962" y="357188"/>
                  <a:pt x="0" y="349225"/>
                  <a:pt x="0" y="339328"/>
                </a:cubicBezTo>
                <a:cubicBezTo>
                  <a:pt x="0" y="283592"/>
                  <a:pt x="28426" y="234479"/>
                  <a:pt x="71512" y="205606"/>
                </a:cubicBezTo>
                <a:cubicBezTo>
                  <a:pt x="97780" y="188044"/>
                  <a:pt x="129108" y="178594"/>
                  <a:pt x="160734" y="178594"/>
                </a:cubicBezTo>
                <a:lnTo>
                  <a:pt x="220266" y="178594"/>
                </a:lnTo>
                <a:cubicBezTo>
                  <a:pt x="230163" y="178594"/>
                  <a:pt x="238125" y="170631"/>
                  <a:pt x="238125" y="160734"/>
                </a:cubicBezTo>
                <a:cubicBezTo>
                  <a:pt x="238125" y="150837"/>
                  <a:pt x="230163" y="142875"/>
                  <a:pt x="220266" y="142875"/>
                </a:cubicBezTo>
                <a:lnTo>
                  <a:pt x="160734" y="142875"/>
                </a:lnTo>
                <a:cubicBezTo>
                  <a:pt x="131192" y="142875"/>
                  <a:pt x="103212" y="149423"/>
                  <a:pt x="78135" y="161106"/>
                </a:cubicBezTo>
                <a:cubicBezTo>
                  <a:pt x="95473" y="109017"/>
                  <a:pt x="144512" y="71438"/>
                  <a:pt x="202406" y="71438"/>
                </a:cubicBezTo>
                <a:cubicBezTo>
                  <a:pt x="251817" y="71438"/>
                  <a:pt x="288578" y="54992"/>
                  <a:pt x="313060" y="38695"/>
                </a:cubicBezTo>
                <a:cubicBezTo>
                  <a:pt x="327347" y="29170"/>
                  <a:pt x="339477" y="17785"/>
                  <a:pt x="350788" y="498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11557000" y="2159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/ Spring Boot for enterprise, Hibernate for ORM, Jakarta EE for web.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2545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16000" y="447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4445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 / CD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978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Jenkins, GitHub Actions, GitLab CI for automated building, testing, and deployment.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254500"/>
            <a:ext cx="4699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4875" y="44704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47625" y="71438"/>
                </a:moveTo>
                <a:cubicBezTo>
                  <a:pt x="47625" y="45169"/>
                  <a:pt x="68982" y="23812"/>
                  <a:pt x="95250" y="23812"/>
                </a:cubicBezTo>
                <a:lnTo>
                  <a:pt x="381000" y="23812"/>
                </a:lnTo>
                <a:cubicBezTo>
                  <a:pt x="407268" y="23812"/>
                  <a:pt x="428625" y="45169"/>
                  <a:pt x="428625" y="71438"/>
                </a:cubicBezTo>
                <a:lnTo>
                  <a:pt x="428625" y="250031"/>
                </a:lnTo>
                <a:lnTo>
                  <a:pt x="381000" y="250031"/>
                </a:lnTo>
                <a:lnTo>
                  <a:pt x="381000" y="71438"/>
                </a:lnTo>
                <a:lnTo>
                  <a:pt x="95250" y="71438"/>
                </a:lnTo>
                <a:lnTo>
                  <a:pt x="95250" y="250031"/>
                </a:lnTo>
                <a:lnTo>
                  <a:pt x="47625" y="250031"/>
                </a:lnTo>
                <a:lnTo>
                  <a:pt x="47625" y="71438"/>
                </a:lnTo>
                <a:close/>
                <a:moveTo>
                  <a:pt x="0" y="300038"/>
                </a:moveTo>
                <a:cubicBezTo>
                  <a:pt x="0" y="292150"/>
                  <a:pt x="6400" y="285750"/>
                  <a:pt x="14288" y="285750"/>
                </a:cubicBezTo>
                <a:lnTo>
                  <a:pt x="461963" y="285750"/>
                </a:lnTo>
                <a:cubicBezTo>
                  <a:pt x="469850" y="285750"/>
                  <a:pt x="476250" y="292150"/>
                  <a:pt x="476250" y="300038"/>
                </a:cubicBezTo>
                <a:cubicBezTo>
                  <a:pt x="476250" y="331589"/>
                  <a:pt x="450652" y="357188"/>
                  <a:pt x="419100" y="357188"/>
                </a:cubicBezTo>
                <a:lnTo>
                  <a:pt x="57150" y="357188"/>
                </a:lnTo>
                <a:cubicBezTo>
                  <a:pt x="25598" y="357188"/>
                  <a:pt x="0" y="331589"/>
                  <a:pt x="0" y="300038"/>
                </a:cubicBezTo>
                <a:close/>
                <a:moveTo>
                  <a:pt x="209104" y="155525"/>
                </a:moveTo>
                <a:lnTo>
                  <a:pt x="186035" y="178594"/>
                </a:lnTo>
                <a:lnTo>
                  <a:pt x="209104" y="201662"/>
                </a:lnTo>
                <a:cubicBezTo>
                  <a:pt x="216098" y="208657"/>
                  <a:pt x="216098" y="219968"/>
                  <a:pt x="209104" y="226888"/>
                </a:cubicBezTo>
                <a:cubicBezTo>
                  <a:pt x="202109" y="233809"/>
                  <a:pt x="190798" y="233883"/>
                  <a:pt x="183877" y="226888"/>
                </a:cubicBezTo>
                <a:lnTo>
                  <a:pt x="148158" y="191170"/>
                </a:lnTo>
                <a:cubicBezTo>
                  <a:pt x="141163" y="184175"/>
                  <a:pt x="141163" y="172864"/>
                  <a:pt x="148158" y="165943"/>
                </a:cubicBezTo>
                <a:lnTo>
                  <a:pt x="183877" y="130225"/>
                </a:lnTo>
                <a:cubicBezTo>
                  <a:pt x="190872" y="123230"/>
                  <a:pt x="202183" y="123230"/>
                  <a:pt x="209104" y="130225"/>
                </a:cubicBezTo>
                <a:cubicBezTo>
                  <a:pt x="216024" y="137220"/>
                  <a:pt x="216098" y="148530"/>
                  <a:pt x="209104" y="155451"/>
                </a:cubicBezTo>
                <a:close/>
                <a:moveTo>
                  <a:pt x="292447" y="130225"/>
                </a:moveTo>
                <a:lnTo>
                  <a:pt x="328166" y="165943"/>
                </a:lnTo>
                <a:cubicBezTo>
                  <a:pt x="335161" y="172938"/>
                  <a:pt x="335161" y="184249"/>
                  <a:pt x="328166" y="191170"/>
                </a:cubicBezTo>
                <a:lnTo>
                  <a:pt x="292447" y="226888"/>
                </a:lnTo>
                <a:cubicBezTo>
                  <a:pt x="285452" y="233883"/>
                  <a:pt x="274141" y="233883"/>
                  <a:pt x="267221" y="226888"/>
                </a:cubicBezTo>
                <a:cubicBezTo>
                  <a:pt x="260300" y="219894"/>
                  <a:pt x="260226" y="208583"/>
                  <a:pt x="267221" y="201662"/>
                </a:cubicBezTo>
                <a:lnTo>
                  <a:pt x="290289" y="178594"/>
                </a:lnTo>
                <a:lnTo>
                  <a:pt x="267221" y="155525"/>
                </a:lnTo>
                <a:cubicBezTo>
                  <a:pt x="260226" y="148530"/>
                  <a:pt x="260226" y="137220"/>
                  <a:pt x="267221" y="130299"/>
                </a:cubicBezTo>
                <a:cubicBezTo>
                  <a:pt x="274216" y="123379"/>
                  <a:pt x="285527" y="123304"/>
                  <a:pt x="292447" y="130299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40500" y="4445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978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IntelliJ IDEA, Eclipse, VS Code, NetBeans with rich plugin ecosystems.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254500"/>
            <a:ext cx="4699000" cy="1968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01375" y="44704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416942" y="176510"/>
                </a:moveTo>
                <a:cubicBezTo>
                  <a:pt x="424681" y="185291"/>
                  <a:pt x="438001" y="187226"/>
                  <a:pt x="448047" y="180603"/>
                </a:cubicBezTo>
                <a:cubicBezTo>
                  <a:pt x="458986" y="173310"/>
                  <a:pt x="461962" y="158502"/>
                  <a:pt x="454670" y="147563"/>
                </a:cubicBezTo>
                <a:lnTo>
                  <a:pt x="418951" y="93985"/>
                </a:lnTo>
                <a:cubicBezTo>
                  <a:pt x="416868" y="90860"/>
                  <a:pt x="414040" y="88255"/>
                  <a:pt x="410691" y="86395"/>
                </a:cubicBezTo>
                <a:lnTo>
                  <a:pt x="261491" y="3497"/>
                </a:lnTo>
                <a:cubicBezTo>
                  <a:pt x="247129" y="-4465"/>
                  <a:pt x="229642" y="-4465"/>
                  <a:pt x="215205" y="3497"/>
                </a:cubicBezTo>
                <a:lnTo>
                  <a:pt x="66080" y="86320"/>
                </a:lnTo>
                <a:cubicBezTo>
                  <a:pt x="62061" y="88553"/>
                  <a:pt x="58862" y="91827"/>
                  <a:pt x="56704" y="95845"/>
                </a:cubicBezTo>
                <a:lnTo>
                  <a:pt x="20613" y="162744"/>
                </a:lnTo>
                <a:cubicBezTo>
                  <a:pt x="11237" y="180156"/>
                  <a:pt x="17785" y="201811"/>
                  <a:pt x="35198" y="211187"/>
                </a:cubicBezTo>
                <a:lnTo>
                  <a:pt x="59754" y="224358"/>
                </a:lnTo>
                <a:lnTo>
                  <a:pt x="59754" y="264021"/>
                </a:lnTo>
                <a:cubicBezTo>
                  <a:pt x="59754" y="281136"/>
                  <a:pt x="68982" y="296987"/>
                  <a:pt x="83865" y="305470"/>
                </a:cubicBezTo>
                <a:lnTo>
                  <a:pt x="214833" y="379661"/>
                </a:lnTo>
                <a:cubicBezTo>
                  <a:pt x="229419" y="387921"/>
                  <a:pt x="247204" y="387921"/>
                  <a:pt x="261789" y="379661"/>
                </a:cubicBezTo>
                <a:lnTo>
                  <a:pt x="392757" y="305470"/>
                </a:lnTo>
                <a:cubicBezTo>
                  <a:pt x="407715" y="296987"/>
                  <a:pt x="416868" y="281211"/>
                  <a:pt x="416868" y="264021"/>
                </a:cubicBezTo>
                <a:lnTo>
                  <a:pt x="416868" y="176585"/>
                </a:lnTo>
                <a:close/>
                <a:moveTo>
                  <a:pt x="238348" y="169218"/>
                </a:moveTo>
                <a:lnTo>
                  <a:pt x="126653" y="107156"/>
                </a:lnTo>
                <a:lnTo>
                  <a:pt x="238348" y="45095"/>
                </a:lnTo>
                <a:lnTo>
                  <a:pt x="350044" y="107156"/>
                </a:lnTo>
                <a:lnTo>
                  <a:pt x="238348" y="169218"/>
                </a:lnTo>
                <a:close/>
                <a:moveTo>
                  <a:pt x="207466" y="206573"/>
                </a:moveTo>
                <a:lnTo>
                  <a:pt x="191616" y="240953"/>
                </a:lnTo>
                <a:lnTo>
                  <a:pt x="68238" y="174873"/>
                </a:lnTo>
                <a:lnTo>
                  <a:pt x="87139" y="139750"/>
                </a:lnTo>
                <a:lnTo>
                  <a:pt x="207466" y="206573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5"/>
          <p:cNvSpPr/>
          <p:nvPr/>
        </p:nvSpPr>
        <p:spPr>
          <a:xfrm>
            <a:off x="11557000" y="4445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 Repositories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978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Maven Central, JCenter for distributing and resolving project dependencies.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667500"/>
            <a:ext cx="14732000" cy="1016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6794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modern Java developer works with this entire ecosystem — not just the language, but the complete toolchain for professional development.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762000" cy="381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arkld4c3uayq/mnt/agents/output/java-course/images/9_Abstract_Orange_Blue_Data_Wave_Digital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94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540000"/>
            <a:ext cx="1270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111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1275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4508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is a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powerful, platform-independent, object-oriented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language with a rich ecosystem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13000" y="5080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Understanding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IDEs, JDK/JRE/JVM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the compilation process is essential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13000" y="5651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Development tools like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Maven and Gradle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streamline professional workflows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8000" y="6477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i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"Write Once, Run Anywhere"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48000" y="711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Java's core philosophy that has stood the test of time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E87722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Introduction to Java</dc:title>
  <dc:subject>Advanced Computer Programming - Introduction to Java</dc:subject>
  <dc:creator>Kimi</dc:creator>
  <cp:lastModifiedBy>Kimi</cp:lastModifiedBy>
  <cp:revision>1</cp:revision>
  <dcterms:created xsi:type="dcterms:W3CDTF">2026-05-25T16:52:33Z</dcterms:created>
  <dcterms:modified xsi:type="dcterms:W3CDTF">2026-05-25T16:52:33Z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Introduction to Java","ContentProducer":"001191110108MACG2KBH8F10000","ProduceID":"19e5ffed-9e02-8e93-8000-0000bc4e8071","ReservedCode1":"","ContentPropagator":"001191110108MACG2KBH8F20000","PropagateID":"19e5ffed-9e02-8e93-8000-0000bc4e8071","ReservedCode2":""}</vt:lpwstr>
  </property>
</Properties>
</file>