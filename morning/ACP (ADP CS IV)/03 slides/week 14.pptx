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size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5E8A"/>
              </a:solidFill>
              <a:effectLst/>
            </c:spPr>
          </c:dPt>
          <c:dPt>
            <c:idx val="1"/>
            <c:bubble3D val="0"/>
            <c:spPr>
              <a:solidFill>
                <a:srgbClr val="FF7F50"/>
              </a:solidFill>
              <a:effectLst/>
            </c:spPr>
          </c:dPt>
          <c:dPt>
            <c:idx val="2"/>
            <c:bubble3D val="0"/>
            <c:spPr>
              <a:solidFill>
                <a:srgbClr val="6B9CBF"/>
              </a:solidFill>
              <a:effectLst/>
            </c:spPr>
          </c:dPt>
          <c:dPt>
            <c:idx val="3"/>
            <c:bubble3D val="0"/>
            <c:spPr>
              <a:solidFill>
                <a:srgbClr val="D0E0E3"/>
              </a:solidFill>
              <a:effectLst/>
            </c:spPr>
          </c:dPt>
          <c:dPt>
            <c:idx val="4"/>
            <c:bubble3D val="0"/>
            <c:spPr>
              <a:solidFill>
                <a:srgbClr val="D0D6D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HTML</c:v>
                </c:pt>
                <c:pt idx="1">
                  <c:v>CSS</c:v>
                </c:pt>
                <c:pt idx="2">
                  <c:v>Images</c:v>
                </c:pt>
                <c:pt idx="3">
                  <c:v>JS</c:v>
                </c:pt>
                <c:pt idx="4">
                  <c:v>Fonts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45</c:v>
                </c:pt>
                <c:pt idx="1">
                  <c:v>12</c:v>
                </c:pt>
                <c:pt idx="2">
                  <c:v>1200</c:v>
                </c:pt>
                <c:pt idx="3">
                  <c:v>180</c:v>
                </c:pt>
                <c:pt idx="4">
                  <c:v>80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5080000" h="3810000">
                <a:moveTo>
                  <a:pt x="0" y="0"/>
                </a:moveTo>
                <a:lnTo>
                  <a:pt x="5080000" y="0"/>
                </a:lnTo>
                <a:lnTo>
                  <a:pt x="5080000" y="1905000"/>
                </a:lnTo>
                <a:quadBezTo>
                  <a:pt x="4445000" y="2540000"/>
                  <a:pt x="3810000" y="2540000"/>
                </a:quadBezTo>
                <a:lnTo>
                  <a:pt x="1270000" y="2540000"/>
                </a:lnTo>
                <a:quadBezTo>
                  <a:pt x="635000" y="2540000"/>
                  <a:pt x="0" y="1905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/>
              </a:gs>
              <a:gs pos="50000">
                <a:srgbClr val="D0E0E3"/>
              </a:gs>
              <a:gs pos="100000">
                <a:srgbClr val="D0E0E3">
                  <a:alpha val="1300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1176000" y="6604000"/>
            <a:ext cx="5080000" cy="2540000"/>
          </a:xfrm>
          <a:custGeom>
            <a:avLst/>
            <a:gdLst/>
            <a:ahLst/>
            <a:cxnLst/>
            <a:rect l="l" t="t" r="r" b="b"/>
            <a:pathLst>
              <a:path w="5080000" h="2540000">
                <a:moveTo>
                  <a:pt x="5080000" y="2540000"/>
                </a:moveTo>
                <a:lnTo>
                  <a:pt x="0" y="2540000"/>
                </a:lnTo>
                <a:lnTo>
                  <a:pt x="0" y="1270000"/>
                </a:lnTo>
                <a:quadBezTo>
                  <a:pt x="635000" y="635000"/>
                  <a:pt x="1270000" y="635000"/>
                </a:quadBezTo>
                <a:lnTo>
                  <a:pt x="3810000" y="635000"/>
                </a:lnTo>
                <a:quadBezTo>
                  <a:pt x="4445000" y="635000"/>
                  <a:pt x="5080000" y="1270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25000"/>
                </a:srgbClr>
              </a:gs>
              <a:gs pos="50000">
                <a:srgbClr val="D0E0E3"/>
              </a:gs>
              <a:gs pos="100000">
                <a:srgbClr val="D0D6DC"/>
              </a:gs>
            </a:gsLst>
            <a:lin ang="1890000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7493000" y="2032000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546806" y="218281"/>
                </a:moveTo>
                <a:lnTo>
                  <a:pt x="723194" y="218281"/>
                </a:lnTo>
                <a:lnTo>
                  <a:pt x="723194" y="337344"/>
                </a:lnTo>
                <a:lnTo>
                  <a:pt x="546806" y="337344"/>
                </a:lnTo>
                <a:lnTo>
                  <a:pt x="546806" y="218281"/>
                </a:lnTo>
                <a:close/>
                <a:moveTo>
                  <a:pt x="529167" y="79375"/>
                </a:moveTo>
                <a:cubicBezTo>
                  <a:pt x="470738" y="79375"/>
                  <a:pt x="423333" y="132705"/>
                  <a:pt x="423333" y="198438"/>
                </a:cubicBezTo>
                <a:lnTo>
                  <a:pt x="423333" y="357188"/>
                </a:lnTo>
                <a:cubicBezTo>
                  <a:pt x="423333" y="422920"/>
                  <a:pt x="470738" y="476250"/>
                  <a:pt x="529167" y="476250"/>
                </a:cubicBezTo>
                <a:lnTo>
                  <a:pt x="564444" y="476250"/>
                </a:lnTo>
                <a:lnTo>
                  <a:pt x="564444" y="555625"/>
                </a:lnTo>
                <a:lnTo>
                  <a:pt x="70556" y="555625"/>
                </a:lnTo>
                <a:cubicBezTo>
                  <a:pt x="31530" y="555625"/>
                  <a:pt x="0" y="591096"/>
                  <a:pt x="0" y="635000"/>
                </a:cubicBezTo>
                <a:cubicBezTo>
                  <a:pt x="0" y="678904"/>
                  <a:pt x="31530" y="714375"/>
                  <a:pt x="70556" y="714375"/>
                </a:cubicBezTo>
                <a:lnTo>
                  <a:pt x="282222" y="714375"/>
                </a:lnTo>
                <a:lnTo>
                  <a:pt x="282222" y="793750"/>
                </a:lnTo>
                <a:lnTo>
                  <a:pt x="246944" y="793750"/>
                </a:lnTo>
                <a:cubicBezTo>
                  <a:pt x="188516" y="793750"/>
                  <a:pt x="141111" y="847080"/>
                  <a:pt x="141111" y="912813"/>
                </a:cubicBezTo>
                <a:lnTo>
                  <a:pt x="141111" y="1071563"/>
                </a:lnTo>
                <a:cubicBezTo>
                  <a:pt x="141111" y="1137295"/>
                  <a:pt x="188516" y="1190625"/>
                  <a:pt x="246944" y="1190625"/>
                </a:cubicBezTo>
                <a:lnTo>
                  <a:pt x="458611" y="1190625"/>
                </a:lnTo>
                <a:cubicBezTo>
                  <a:pt x="517040" y="1190625"/>
                  <a:pt x="564444" y="1137295"/>
                  <a:pt x="564444" y="1071563"/>
                </a:cubicBezTo>
                <a:lnTo>
                  <a:pt x="564444" y="912813"/>
                </a:lnTo>
                <a:cubicBezTo>
                  <a:pt x="564444" y="847080"/>
                  <a:pt x="517040" y="793750"/>
                  <a:pt x="458611" y="793750"/>
                </a:cubicBezTo>
                <a:lnTo>
                  <a:pt x="423333" y="793750"/>
                </a:lnTo>
                <a:lnTo>
                  <a:pt x="423333" y="714375"/>
                </a:lnTo>
                <a:lnTo>
                  <a:pt x="846667" y="714375"/>
                </a:lnTo>
                <a:lnTo>
                  <a:pt x="846667" y="793750"/>
                </a:lnTo>
                <a:lnTo>
                  <a:pt x="811389" y="793750"/>
                </a:lnTo>
                <a:cubicBezTo>
                  <a:pt x="752960" y="793750"/>
                  <a:pt x="705556" y="847080"/>
                  <a:pt x="705556" y="912813"/>
                </a:cubicBezTo>
                <a:lnTo>
                  <a:pt x="705556" y="1071563"/>
                </a:lnTo>
                <a:cubicBezTo>
                  <a:pt x="705556" y="1137295"/>
                  <a:pt x="752960" y="1190625"/>
                  <a:pt x="811389" y="1190625"/>
                </a:cubicBezTo>
                <a:lnTo>
                  <a:pt x="1023056" y="1190625"/>
                </a:lnTo>
                <a:cubicBezTo>
                  <a:pt x="1081484" y="1190625"/>
                  <a:pt x="1128889" y="1137295"/>
                  <a:pt x="1128889" y="1071563"/>
                </a:cubicBezTo>
                <a:lnTo>
                  <a:pt x="1128889" y="912813"/>
                </a:lnTo>
                <a:cubicBezTo>
                  <a:pt x="1128889" y="847080"/>
                  <a:pt x="1081484" y="793750"/>
                  <a:pt x="1023056" y="793750"/>
                </a:cubicBezTo>
                <a:lnTo>
                  <a:pt x="987778" y="793750"/>
                </a:lnTo>
                <a:lnTo>
                  <a:pt x="987778" y="714375"/>
                </a:lnTo>
                <a:lnTo>
                  <a:pt x="1199444" y="714375"/>
                </a:lnTo>
                <a:cubicBezTo>
                  <a:pt x="1238470" y="714375"/>
                  <a:pt x="1270000" y="678904"/>
                  <a:pt x="1270000" y="635000"/>
                </a:cubicBezTo>
                <a:cubicBezTo>
                  <a:pt x="1270000" y="591096"/>
                  <a:pt x="1238470" y="555625"/>
                  <a:pt x="1199444" y="555625"/>
                </a:cubicBezTo>
                <a:lnTo>
                  <a:pt x="705556" y="555625"/>
                </a:lnTo>
                <a:lnTo>
                  <a:pt x="705556" y="476250"/>
                </a:lnTo>
                <a:lnTo>
                  <a:pt x="740833" y="476250"/>
                </a:lnTo>
                <a:cubicBezTo>
                  <a:pt x="799262" y="476250"/>
                  <a:pt x="846667" y="422920"/>
                  <a:pt x="846667" y="357188"/>
                </a:cubicBezTo>
                <a:lnTo>
                  <a:pt x="846667" y="198438"/>
                </a:lnTo>
                <a:cubicBezTo>
                  <a:pt x="846667" y="132705"/>
                  <a:pt x="799262" y="79375"/>
                  <a:pt x="740833" y="79375"/>
                </a:cubicBezTo>
                <a:lnTo>
                  <a:pt x="529167" y="79375"/>
                </a:lnTo>
                <a:close/>
                <a:moveTo>
                  <a:pt x="987778" y="932656"/>
                </a:moveTo>
                <a:lnTo>
                  <a:pt x="1005417" y="932656"/>
                </a:lnTo>
                <a:lnTo>
                  <a:pt x="1005417" y="1051719"/>
                </a:lnTo>
                <a:lnTo>
                  <a:pt x="829028" y="1051719"/>
                </a:lnTo>
                <a:lnTo>
                  <a:pt x="829028" y="932656"/>
                </a:lnTo>
                <a:lnTo>
                  <a:pt x="987778" y="932656"/>
                </a:lnTo>
                <a:close/>
                <a:moveTo>
                  <a:pt x="423333" y="932656"/>
                </a:moveTo>
                <a:lnTo>
                  <a:pt x="440972" y="932656"/>
                </a:lnTo>
                <a:lnTo>
                  <a:pt x="440972" y="1051719"/>
                </a:lnTo>
                <a:lnTo>
                  <a:pt x="264583" y="1051719"/>
                </a:lnTo>
                <a:lnTo>
                  <a:pt x="264583" y="932656"/>
                </a:lnTo>
                <a:lnTo>
                  <a:pt x="423333" y="932656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778000" y="3556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800" b="1" spc="100" kern="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Programming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3048000" y="4699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TCP &amp; UDP — Week 14 · Lecture 27 &amp; 28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0" y="5461000"/>
            <a:ext cx="2540000" cy="25400"/>
          </a:xfrm>
          <a:prstGeom prst="rect">
            <a:avLst/>
          </a:prstGeom>
          <a:solidFill>
            <a:srgbClr val="6B9CBF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318000" y="5842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Networks Course ·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0160000" y="1270000"/>
            <a:ext cx="4826000" cy="6350000"/>
          </a:xfrm>
          <a:custGeom>
            <a:avLst/>
            <a:gdLst/>
            <a:ahLst/>
            <a:cxnLst/>
            <a:rect l="l" t="t" r="r" b="b"/>
            <a:pathLst>
              <a:path w="4826000" h="6350000">
                <a:moveTo>
                  <a:pt x="4826000" y="0"/>
                </a:moveTo>
                <a:lnTo>
                  <a:pt x="4826000" y="6350000"/>
                </a:lnTo>
                <a:lnTo>
                  <a:pt x="2413000" y="6350000"/>
                </a:lnTo>
                <a:quadBezTo>
                  <a:pt x="1778000" y="6350000"/>
                  <a:pt x="1143000" y="5715000"/>
                </a:quadBezTo>
                <a:lnTo>
                  <a:pt x="1143000" y="635000"/>
                </a:lnTo>
                <a:quadBezTo>
                  <a:pt x="1143000" y="0"/>
                  <a:pt x="1778000" y="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6000"/>
                </a:srgbClr>
              </a:gs>
              <a:gs pos="70000">
                <a:srgbClr val="D0E0E3"/>
              </a:gs>
              <a:gs pos="100000">
                <a:srgbClr val="2E5E8A">
                  <a:alpha val="8000"/>
                </a:srgbClr>
              </a:gs>
            </a:gsLst>
            <a:lin ang="1080000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1524000" y="2540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476500"/>
            <a:ext cx="50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0" y="2540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27</a:t>
            </a:r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Network Programming TCP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0" y="304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Definition, Features, Real-World Examples, Code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524000" y="3937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3873500"/>
            <a:ext cx="50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286000" y="3937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28</a:t>
            </a:r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Network Programming UDP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4445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Definition, Features, Real-World Examples, Code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524000" y="5334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3" name="Text 11"/>
          <p:cNvSpPr/>
          <p:nvPr/>
        </p:nvSpPr>
        <p:spPr>
          <a:xfrm>
            <a:off x="1524000" y="5270500"/>
            <a:ext cx="50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286000" y="5334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Comparison</a:t>
            </a:r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TCP vs UDP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5842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Side-by-Side Comparison, When to Use Each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27 — TCP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Network Programming — Understanding the Reliable Transport Protocol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Network Programming?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7112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programming is writing software that enables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 between devices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across a network.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 involves creating applications that send and receive data using 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protocols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like TCP and UDP.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Concepts: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Sockets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Endpoints for two-way communication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Ports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Identify specific services on a device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 Addresses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Locate devices on a network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Client-Server Model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Request-response architecture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programming is the foundation of all internet-based applications — from web browsing to online gaming.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890000" y="1905000"/>
            <a:ext cx="6096000" cy="609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0" y="2286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437444" y="174625"/>
                </a:moveTo>
                <a:lnTo>
                  <a:pt x="578556" y="174625"/>
                </a:lnTo>
                <a:lnTo>
                  <a:pt x="578556" y="269875"/>
                </a:lnTo>
                <a:lnTo>
                  <a:pt x="437444" y="269875"/>
                </a:lnTo>
                <a:lnTo>
                  <a:pt x="437444" y="174625"/>
                </a:lnTo>
                <a:close/>
                <a:moveTo>
                  <a:pt x="423333" y="63500"/>
                </a:moveTo>
                <a:cubicBezTo>
                  <a:pt x="376590" y="63500"/>
                  <a:pt x="338667" y="106164"/>
                  <a:pt x="338667" y="158750"/>
                </a:cubicBezTo>
                <a:lnTo>
                  <a:pt x="338667" y="285750"/>
                </a:lnTo>
                <a:cubicBezTo>
                  <a:pt x="338667" y="338336"/>
                  <a:pt x="376590" y="381000"/>
                  <a:pt x="423333" y="381000"/>
                </a:cubicBezTo>
                <a:lnTo>
                  <a:pt x="451556" y="381000"/>
                </a:lnTo>
                <a:lnTo>
                  <a:pt x="451556" y="444500"/>
                </a:lnTo>
                <a:lnTo>
                  <a:pt x="56444" y="444500"/>
                </a:lnTo>
                <a:cubicBezTo>
                  <a:pt x="25224" y="444500"/>
                  <a:pt x="0" y="472877"/>
                  <a:pt x="0" y="508000"/>
                </a:cubicBezTo>
                <a:cubicBezTo>
                  <a:pt x="0" y="543123"/>
                  <a:pt x="25224" y="571500"/>
                  <a:pt x="56444" y="571500"/>
                </a:cubicBezTo>
                <a:lnTo>
                  <a:pt x="225778" y="571500"/>
                </a:lnTo>
                <a:lnTo>
                  <a:pt x="225778" y="635000"/>
                </a:lnTo>
                <a:lnTo>
                  <a:pt x="197556" y="635000"/>
                </a:lnTo>
                <a:cubicBezTo>
                  <a:pt x="150813" y="635000"/>
                  <a:pt x="112889" y="677664"/>
                  <a:pt x="112889" y="730250"/>
                </a:cubicBezTo>
                <a:lnTo>
                  <a:pt x="112889" y="857250"/>
                </a:lnTo>
                <a:cubicBezTo>
                  <a:pt x="112889" y="909836"/>
                  <a:pt x="150813" y="952500"/>
                  <a:pt x="197556" y="952500"/>
                </a:cubicBezTo>
                <a:lnTo>
                  <a:pt x="366889" y="952500"/>
                </a:lnTo>
                <a:cubicBezTo>
                  <a:pt x="413632" y="952500"/>
                  <a:pt x="451556" y="909836"/>
                  <a:pt x="451556" y="857250"/>
                </a:cubicBezTo>
                <a:lnTo>
                  <a:pt x="451556" y="730250"/>
                </a:lnTo>
                <a:cubicBezTo>
                  <a:pt x="451556" y="677664"/>
                  <a:pt x="413632" y="635000"/>
                  <a:pt x="366889" y="635000"/>
                </a:cubicBezTo>
                <a:lnTo>
                  <a:pt x="338667" y="635000"/>
                </a:lnTo>
                <a:lnTo>
                  <a:pt x="338667" y="571500"/>
                </a:lnTo>
                <a:lnTo>
                  <a:pt x="677333" y="571500"/>
                </a:lnTo>
                <a:lnTo>
                  <a:pt x="677333" y="635000"/>
                </a:lnTo>
                <a:lnTo>
                  <a:pt x="649111" y="635000"/>
                </a:lnTo>
                <a:cubicBezTo>
                  <a:pt x="602368" y="635000"/>
                  <a:pt x="564444" y="677664"/>
                  <a:pt x="564444" y="730250"/>
                </a:cubicBezTo>
                <a:lnTo>
                  <a:pt x="564444" y="857250"/>
                </a:lnTo>
                <a:cubicBezTo>
                  <a:pt x="564444" y="909836"/>
                  <a:pt x="602368" y="952500"/>
                  <a:pt x="649111" y="952500"/>
                </a:cubicBezTo>
                <a:lnTo>
                  <a:pt x="818444" y="952500"/>
                </a:lnTo>
                <a:cubicBezTo>
                  <a:pt x="865188" y="952500"/>
                  <a:pt x="903111" y="909836"/>
                  <a:pt x="903111" y="857250"/>
                </a:cubicBezTo>
                <a:lnTo>
                  <a:pt x="903111" y="730250"/>
                </a:lnTo>
                <a:cubicBezTo>
                  <a:pt x="903111" y="677664"/>
                  <a:pt x="865188" y="635000"/>
                  <a:pt x="818444" y="635000"/>
                </a:cubicBezTo>
                <a:lnTo>
                  <a:pt x="790222" y="635000"/>
                </a:lnTo>
                <a:lnTo>
                  <a:pt x="790222" y="571500"/>
                </a:lnTo>
                <a:lnTo>
                  <a:pt x="959556" y="571500"/>
                </a:lnTo>
                <a:cubicBezTo>
                  <a:pt x="990776" y="571500"/>
                  <a:pt x="1016000" y="543123"/>
                  <a:pt x="1016000" y="508000"/>
                </a:cubicBezTo>
                <a:cubicBezTo>
                  <a:pt x="1016000" y="472877"/>
                  <a:pt x="990776" y="444500"/>
                  <a:pt x="959556" y="444500"/>
                </a:cubicBezTo>
                <a:lnTo>
                  <a:pt x="564444" y="444500"/>
                </a:lnTo>
                <a:lnTo>
                  <a:pt x="564444" y="381000"/>
                </a:lnTo>
                <a:lnTo>
                  <a:pt x="592667" y="381000"/>
                </a:lnTo>
                <a:cubicBezTo>
                  <a:pt x="639410" y="381000"/>
                  <a:pt x="677333" y="338336"/>
                  <a:pt x="677333" y="285750"/>
                </a:cubicBezTo>
                <a:lnTo>
                  <a:pt x="677333" y="158750"/>
                </a:lnTo>
                <a:cubicBezTo>
                  <a:pt x="677333" y="106164"/>
                  <a:pt x="639410" y="63500"/>
                  <a:pt x="592667" y="63500"/>
                </a:cubicBezTo>
                <a:lnTo>
                  <a:pt x="423333" y="63500"/>
                </a:lnTo>
                <a:close/>
                <a:moveTo>
                  <a:pt x="790222" y="746125"/>
                </a:moveTo>
                <a:lnTo>
                  <a:pt x="804333" y="746125"/>
                </a:lnTo>
                <a:lnTo>
                  <a:pt x="804333" y="841375"/>
                </a:lnTo>
                <a:lnTo>
                  <a:pt x="663222" y="841375"/>
                </a:lnTo>
                <a:lnTo>
                  <a:pt x="663222" y="746125"/>
                </a:lnTo>
                <a:lnTo>
                  <a:pt x="790222" y="746125"/>
                </a:lnTo>
                <a:close/>
                <a:moveTo>
                  <a:pt x="338667" y="746125"/>
                </a:moveTo>
                <a:lnTo>
                  <a:pt x="352778" y="746125"/>
                </a:lnTo>
                <a:lnTo>
                  <a:pt x="352778" y="841375"/>
                </a:lnTo>
                <a:lnTo>
                  <a:pt x="211667" y="841375"/>
                </a:lnTo>
                <a:lnTo>
                  <a:pt x="211667" y="746125"/>
                </a:lnTo>
                <a:lnTo>
                  <a:pt x="338667" y="746125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7" name="Text 5"/>
          <p:cNvSpPr/>
          <p:nvPr/>
        </p:nvSpPr>
        <p:spPr>
          <a:xfrm>
            <a:off x="9271000" y="3556000"/>
            <a:ext cx="533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Network Stack (OSI Model)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271000" y="4191000"/>
            <a:ext cx="5334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7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Application (HTTP, FTP)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6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Presentation (SSL, TLS)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5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Session (NetBIOS)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4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Transport (TCP, UDP)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3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Network (IP, ICMP)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2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Data Link (Ethernet)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1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Physical (Cables, WiFi)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TCP — Definition &amp; Overview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7112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TCP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(Transmission Control Protocol) is a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connection-oriented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reliable transport layer protocol.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Ensures data is delivered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accurately and in order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protocol of the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Internet Protocol Suite (TCP/IP)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TCP Works: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Breaks data into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segments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seq numbers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Reassembles in order at destination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Guarantees delivery via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ACKs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Retransmits lost segments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Layer: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Transport (Layer 4)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Type: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Connection-Oriented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890000" y="1905000"/>
            <a:ext cx="6096000" cy="609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0" y="2286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cubicBezTo>
                  <a:pt x="517128" y="0"/>
                  <a:pt x="526256" y="1984"/>
                  <a:pt x="534591" y="5755"/>
                </a:cubicBezTo>
                <a:lnTo>
                  <a:pt x="908447" y="164306"/>
                </a:lnTo>
                <a:cubicBezTo>
                  <a:pt x="952103" y="182761"/>
                  <a:pt x="984647" y="225822"/>
                  <a:pt x="984448" y="277813"/>
                </a:cubicBezTo>
                <a:cubicBezTo>
                  <a:pt x="983456" y="474663"/>
                  <a:pt x="902494" y="834827"/>
                  <a:pt x="560586" y="998538"/>
                </a:cubicBezTo>
                <a:cubicBezTo>
                  <a:pt x="527447" y="1014413"/>
                  <a:pt x="488950" y="1014413"/>
                  <a:pt x="455811" y="998538"/>
                </a:cubicBezTo>
                <a:cubicBezTo>
                  <a:pt x="113705" y="834827"/>
                  <a:pt x="32941" y="474663"/>
                  <a:pt x="31948" y="277813"/>
                </a:cubicBezTo>
                <a:cubicBezTo>
                  <a:pt x="31750" y="225822"/>
                  <a:pt x="64294" y="182761"/>
                  <a:pt x="107950" y="164306"/>
                </a:cubicBezTo>
                <a:lnTo>
                  <a:pt x="481608" y="5755"/>
                </a:lnTo>
                <a:cubicBezTo>
                  <a:pt x="489942" y="1984"/>
                  <a:pt x="498872" y="0"/>
                  <a:pt x="508000" y="0"/>
                </a:cubicBezTo>
                <a:close/>
                <a:moveTo>
                  <a:pt x="508000" y="132556"/>
                </a:moveTo>
                <a:lnTo>
                  <a:pt x="508000" y="882848"/>
                </a:lnTo>
                <a:cubicBezTo>
                  <a:pt x="781844" y="750292"/>
                  <a:pt x="855464" y="456605"/>
                  <a:pt x="857250" y="280789"/>
                </a:cubicBezTo>
                <a:lnTo>
                  <a:pt x="508000" y="132755"/>
                </a:lnTo>
                <a:lnTo>
                  <a:pt x="508000" y="132755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7" name="Text 5"/>
          <p:cNvSpPr/>
          <p:nvPr/>
        </p:nvSpPr>
        <p:spPr>
          <a:xfrm>
            <a:off x="9271000" y="3556000"/>
            <a:ext cx="533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TCP at a Glance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271000" y="4191000"/>
            <a:ext cx="5334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Reliable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Every byte arrives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Ordered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Data in sequence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Connection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Handshake first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Check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Checksums + ACKs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Flow Control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Sliding window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Congestion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Rate adaptation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TCP — How It Works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778000" y="2286000"/>
            <a:ext cx="1016000" cy="1016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778000" y="2286000"/>
            <a:ext cx="10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270000" y="3429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Connection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16000" y="3937000"/>
            <a:ext cx="2540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Three-Way Handshake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SYN→SYN-ACK→ACK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Establishes connection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94000" y="2794000"/>
            <a:ext cx="2032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4826000" y="2286000"/>
            <a:ext cx="1016000" cy="1016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4826000" y="2286000"/>
            <a:ext cx="10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318000" y="3429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Transfer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064000" y="3937000"/>
            <a:ext cx="2540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Segments with seq numbers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ACK each segment</a:t>
            </a:r>
            <a:endParaRPr lang="en-US" sz="1800" dirty="0"/>
          </a:p>
          <a:p>
            <a:pPr algn="ctr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Retransmit lost ones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842000" y="2794000"/>
            <a:ext cx="2032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7874000" y="2286000"/>
            <a:ext cx="1016000" cy="1016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5" name="Text 13"/>
          <p:cNvSpPr/>
          <p:nvPr/>
        </p:nvSpPr>
        <p:spPr>
          <a:xfrm>
            <a:off x="7874000" y="2286000"/>
            <a:ext cx="10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366000" y="3429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Termination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112000" y="3937000"/>
            <a:ext cx="2540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Four-Way Handshake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FIN→ACK→FIN→ACK</a:t>
            </a:r>
            <a:endParaRPr lang="en-US" sz="1800" dirty="0"/>
          </a:p>
          <a:p>
            <a:pPr algn="ctr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Graceful close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890000" y="2794000"/>
            <a:ext cx="2032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0922000" y="2286000"/>
            <a:ext cx="1016000" cy="1016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20" name="Text 18"/>
          <p:cNvSpPr/>
          <p:nvPr/>
        </p:nvSpPr>
        <p:spPr>
          <a:xfrm>
            <a:off x="10922000" y="2286000"/>
            <a:ext cx="10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0414000" y="3429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Controls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160000" y="3937000"/>
            <a:ext cx="2540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Flow Control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Sliding window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Congestion Ctrl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Rate adaptation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270000" y="5969000"/>
            <a:ext cx="13716000" cy="127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778000" y="6096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TCP provides a </a:t>
            </a:r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reliable byte stream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service — data is delivered error-free, in order, with no duplicates, using acknowledgments, retransmissions, and sequence numbers.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TCP — Key Features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445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10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69976" y="95250"/>
                </a:moveTo>
                <a:cubicBezTo>
                  <a:pt x="355335" y="95250"/>
                  <a:pt x="341136" y="99715"/>
                  <a:pt x="328701" y="107851"/>
                </a:cubicBezTo>
                <a:cubicBezTo>
                  <a:pt x="314766" y="91976"/>
                  <a:pt x="298538" y="78680"/>
                  <a:pt x="280635" y="68659"/>
                </a:cubicBezTo>
                <a:cubicBezTo>
                  <a:pt x="305506" y="44847"/>
                  <a:pt x="337167" y="31750"/>
                  <a:pt x="369976" y="31750"/>
                </a:cubicBezTo>
                <a:cubicBezTo>
                  <a:pt x="446176" y="31750"/>
                  <a:pt x="508000" y="101203"/>
                  <a:pt x="508000" y="187027"/>
                </a:cubicBezTo>
                <a:cubicBezTo>
                  <a:pt x="508000" y="228203"/>
                  <a:pt x="493448" y="267692"/>
                  <a:pt x="467607" y="296763"/>
                </a:cubicBezTo>
                <a:lnTo>
                  <a:pt x="404901" y="367308"/>
                </a:lnTo>
                <a:cubicBezTo>
                  <a:pt x="379060" y="396379"/>
                  <a:pt x="343958" y="412750"/>
                  <a:pt x="307358" y="412750"/>
                </a:cubicBezTo>
                <a:cubicBezTo>
                  <a:pt x="231158" y="412750"/>
                  <a:pt x="169333" y="343297"/>
                  <a:pt x="169333" y="257473"/>
                </a:cubicBezTo>
                <a:cubicBezTo>
                  <a:pt x="169333" y="255984"/>
                  <a:pt x="169333" y="254496"/>
                  <a:pt x="169422" y="253008"/>
                </a:cubicBezTo>
                <a:cubicBezTo>
                  <a:pt x="169863" y="235446"/>
                  <a:pt x="182827" y="221655"/>
                  <a:pt x="198438" y="222151"/>
                </a:cubicBezTo>
                <a:cubicBezTo>
                  <a:pt x="214048" y="222647"/>
                  <a:pt x="226307" y="237232"/>
                  <a:pt x="225866" y="254794"/>
                </a:cubicBezTo>
                <a:cubicBezTo>
                  <a:pt x="225866" y="255687"/>
                  <a:pt x="225866" y="256580"/>
                  <a:pt x="225866" y="257373"/>
                </a:cubicBezTo>
                <a:cubicBezTo>
                  <a:pt x="225866" y="308074"/>
                  <a:pt x="262378" y="349151"/>
                  <a:pt x="307446" y="349151"/>
                </a:cubicBezTo>
                <a:cubicBezTo>
                  <a:pt x="329053" y="349151"/>
                  <a:pt x="349779" y="339527"/>
                  <a:pt x="365125" y="322263"/>
                </a:cubicBezTo>
                <a:lnTo>
                  <a:pt x="427831" y="251718"/>
                </a:lnTo>
                <a:cubicBezTo>
                  <a:pt x="443089" y="234553"/>
                  <a:pt x="451732" y="211138"/>
                  <a:pt x="451732" y="186829"/>
                </a:cubicBezTo>
                <a:cubicBezTo>
                  <a:pt x="451732" y="136128"/>
                  <a:pt x="415219" y="95052"/>
                  <a:pt x="370152" y="95052"/>
                </a:cubicBezTo>
                <a:close/>
                <a:moveTo>
                  <a:pt x="242711" y="171946"/>
                </a:moveTo>
                <a:cubicBezTo>
                  <a:pt x="241035" y="171152"/>
                  <a:pt x="239360" y="170061"/>
                  <a:pt x="237860" y="168870"/>
                </a:cubicBezTo>
                <a:cubicBezTo>
                  <a:pt x="226748" y="162421"/>
                  <a:pt x="214048" y="158750"/>
                  <a:pt x="200731" y="158750"/>
                </a:cubicBezTo>
                <a:cubicBezTo>
                  <a:pt x="179123" y="158750"/>
                  <a:pt x="158397" y="168374"/>
                  <a:pt x="143051" y="185638"/>
                </a:cubicBezTo>
                <a:lnTo>
                  <a:pt x="80345" y="256183"/>
                </a:lnTo>
                <a:cubicBezTo>
                  <a:pt x="65088" y="273348"/>
                  <a:pt x="56444" y="296763"/>
                  <a:pt x="56444" y="321072"/>
                </a:cubicBezTo>
                <a:cubicBezTo>
                  <a:pt x="56444" y="371773"/>
                  <a:pt x="92957" y="412849"/>
                  <a:pt x="138024" y="412849"/>
                </a:cubicBezTo>
                <a:cubicBezTo>
                  <a:pt x="152576" y="412849"/>
                  <a:pt x="166776" y="408484"/>
                  <a:pt x="179211" y="400348"/>
                </a:cubicBezTo>
                <a:cubicBezTo>
                  <a:pt x="193146" y="416223"/>
                  <a:pt x="209374" y="429518"/>
                  <a:pt x="227365" y="439539"/>
                </a:cubicBezTo>
                <a:cubicBezTo>
                  <a:pt x="202494" y="463252"/>
                  <a:pt x="170921" y="476448"/>
                  <a:pt x="138024" y="476448"/>
                </a:cubicBezTo>
                <a:cubicBezTo>
                  <a:pt x="61824" y="476448"/>
                  <a:pt x="0" y="406995"/>
                  <a:pt x="0" y="321171"/>
                </a:cubicBezTo>
                <a:cubicBezTo>
                  <a:pt x="0" y="279995"/>
                  <a:pt x="14552" y="240506"/>
                  <a:pt x="40393" y="211435"/>
                </a:cubicBezTo>
                <a:lnTo>
                  <a:pt x="103099" y="140891"/>
                </a:lnTo>
                <a:cubicBezTo>
                  <a:pt x="128940" y="111820"/>
                  <a:pt x="164042" y="95448"/>
                  <a:pt x="200642" y="95448"/>
                </a:cubicBezTo>
                <a:cubicBezTo>
                  <a:pt x="277019" y="95448"/>
                  <a:pt x="338667" y="165497"/>
                  <a:pt x="338667" y="251123"/>
                </a:cubicBezTo>
                <a:cubicBezTo>
                  <a:pt x="338667" y="252413"/>
                  <a:pt x="338667" y="253702"/>
                  <a:pt x="338667" y="254992"/>
                </a:cubicBezTo>
                <a:cubicBezTo>
                  <a:pt x="338314" y="272554"/>
                  <a:pt x="325349" y="286345"/>
                  <a:pt x="309739" y="285948"/>
                </a:cubicBezTo>
                <a:cubicBezTo>
                  <a:pt x="294128" y="285552"/>
                  <a:pt x="281869" y="270966"/>
                  <a:pt x="282222" y="253405"/>
                </a:cubicBezTo>
                <a:cubicBezTo>
                  <a:pt x="282222" y="252611"/>
                  <a:pt x="282222" y="251916"/>
                  <a:pt x="282222" y="251123"/>
                </a:cubicBezTo>
                <a:cubicBezTo>
                  <a:pt x="282222" y="217686"/>
                  <a:pt x="266347" y="188317"/>
                  <a:pt x="242711" y="172145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7940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Connection-Oriented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24000" y="3238500"/>
            <a:ext cx="393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Establishes a dedicated connection before data transfer via the Three-Way Handshake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69000" y="1905000"/>
            <a:ext cx="4445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200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30597" y="66278"/>
                </a:moveTo>
                <a:cubicBezTo>
                  <a:pt x="344355" y="52090"/>
                  <a:pt x="340122" y="32246"/>
                  <a:pt x="321204" y="21927"/>
                </a:cubicBezTo>
                <a:cubicBezTo>
                  <a:pt x="302286" y="11609"/>
                  <a:pt x="275828" y="14784"/>
                  <a:pt x="262070" y="28972"/>
                </a:cubicBezTo>
                <a:lnTo>
                  <a:pt x="121841" y="173534"/>
                </a:lnTo>
                <a:lnTo>
                  <a:pt x="72231" y="136327"/>
                </a:lnTo>
                <a:cubicBezTo>
                  <a:pt x="55695" y="123924"/>
                  <a:pt x="28840" y="123924"/>
                  <a:pt x="12303" y="136327"/>
                </a:cubicBezTo>
                <a:cubicBezTo>
                  <a:pt x="-4233" y="148729"/>
                  <a:pt x="-4233" y="168870"/>
                  <a:pt x="12303" y="181273"/>
                </a:cubicBezTo>
                <a:lnTo>
                  <a:pt x="96970" y="244773"/>
                </a:lnTo>
                <a:cubicBezTo>
                  <a:pt x="105701" y="251321"/>
                  <a:pt x="117872" y="254695"/>
                  <a:pt x="130175" y="254000"/>
                </a:cubicBezTo>
                <a:cubicBezTo>
                  <a:pt x="142478" y="253305"/>
                  <a:pt x="153855" y="248543"/>
                  <a:pt x="161131" y="241002"/>
                </a:cubicBezTo>
                <a:lnTo>
                  <a:pt x="330465" y="66377"/>
                </a:lnTo>
                <a:close/>
                <a:moveTo>
                  <a:pt x="499930" y="201216"/>
                </a:moveTo>
                <a:cubicBezTo>
                  <a:pt x="513689" y="187027"/>
                  <a:pt x="509455" y="167184"/>
                  <a:pt x="490537" y="156865"/>
                </a:cubicBezTo>
                <a:cubicBezTo>
                  <a:pt x="471620" y="146546"/>
                  <a:pt x="445161" y="149721"/>
                  <a:pt x="431403" y="163909"/>
                </a:cubicBezTo>
                <a:lnTo>
                  <a:pt x="206507" y="395784"/>
                </a:lnTo>
                <a:lnTo>
                  <a:pt x="114565" y="326827"/>
                </a:lnTo>
                <a:cubicBezTo>
                  <a:pt x="98028" y="314424"/>
                  <a:pt x="71173" y="314424"/>
                  <a:pt x="54636" y="326827"/>
                </a:cubicBezTo>
                <a:cubicBezTo>
                  <a:pt x="38100" y="339229"/>
                  <a:pt x="38100" y="359370"/>
                  <a:pt x="54636" y="371773"/>
                </a:cubicBezTo>
                <a:lnTo>
                  <a:pt x="181636" y="467023"/>
                </a:lnTo>
                <a:cubicBezTo>
                  <a:pt x="190368" y="473571"/>
                  <a:pt x="202539" y="476945"/>
                  <a:pt x="214842" y="476250"/>
                </a:cubicBezTo>
                <a:cubicBezTo>
                  <a:pt x="227145" y="475555"/>
                  <a:pt x="238522" y="470793"/>
                  <a:pt x="245798" y="463252"/>
                </a:cubicBezTo>
                <a:lnTo>
                  <a:pt x="499798" y="201315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6223000" y="27940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Reliable Delivery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23000" y="3238500"/>
            <a:ext cx="393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Guarantees every byte arrives; lost packets are automatically retransmitted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668000" y="1905000"/>
            <a:ext cx="4318000" cy="2921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23825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71438"/>
                </a:moveTo>
                <a:cubicBezTo>
                  <a:pt x="0" y="58341"/>
                  <a:pt x="10616" y="47625"/>
                  <a:pt x="23812" y="47625"/>
                </a:cubicBezTo>
                <a:lnTo>
                  <a:pt x="71438" y="47625"/>
                </a:lnTo>
                <a:cubicBezTo>
                  <a:pt x="84634" y="47625"/>
                  <a:pt x="95250" y="58241"/>
                  <a:pt x="95250" y="71438"/>
                </a:cubicBezTo>
                <a:lnTo>
                  <a:pt x="95250" y="174625"/>
                </a:lnTo>
                <a:lnTo>
                  <a:pt x="119063" y="174625"/>
                </a:lnTo>
                <a:cubicBezTo>
                  <a:pt x="132259" y="174625"/>
                  <a:pt x="142875" y="185241"/>
                  <a:pt x="142875" y="198438"/>
                </a:cubicBezTo>
                <a:cubicBezTo>
                  <a:pt x="142875" y="211634"/>
                  <a:pt x="132259" y="222250"/>
                  <a:pt x="119063" y="222250"/>
                </a:cubicBezTo>
                <a:lnTo>
                  <a:pt x="23812" y="222250"/>
                </a:lnTo>
                <a:cubicBezTo>
                  <a:pt x="10616" y="222250"/>
                  <a:pt x="0" y="211634"/>
                  <a:pt x="0" y="198438"/>
                </a:cubicBezTo>
                <a:cubicBezTo>
                  <a:pt x="0" y="185241"/>
                  <a:pt x="10616" y="174625"/>
                  <a:pt x="23812" y="174625"/>
                </a:cubicBezTo>
                <a:lnTo>
                  <a:pt x="47625" y="174625"/>
                </a:lnTo>
                <a:lnTo>
                  <a:pt x="47625" y="95250"/>
                </a:lnTo>
                <a:lnTo>
                  <a:pt x="23812" y="95250"/>
                </a:lnTo>
                <a:cubicBezTo>
                  <a:pt x="10616" y="95250"/>
                  <a:pt x="0" y="84634"/>
                  <a:pt x="0" y="71438"/>
                </a:cubicBezTo>
                <a:close/>
                <a:moveTo>
                  <a:pt x="30163" y="298847"/>
                </a:moveTo>
                <a:cubicBezTo>
                  <a:pt x="41473" y="290314"/>
                  <a:pt x="55265" y="285750"/>
                  <a:pt x="69453" y="285750"/>
                </a:cubicBezTo>
                <a:lnTo>
                  <a:pt x="74315" y="285750"/>
                </a:lnTo>
                <a:cubicBezTo>
                  <a:pt x="107752" y="285750"/>
                  <a:pt x="134938" y="312936"/>
                  <a:pt x="134938" y="346373"/>
                </a:cubicBezTo>
                <a:cubicBezTo>
                  <a:pt x="134938" y="365820"/>
                  <a:pt x="125611" y="383977"/>
                  <a:pt x="109934" y="395387"/>
                </a:cubicBezTo>
                <a:lnTo>
                  <a:pt x="86122" y="412750"/>
                </a:lnTo>
                <a:lnTo>
                  <a:pt x="119063" y="412750"/>
                </a:lnTo>
                <a:cubicBezTo>
                  <a:pt x="132259" y="412750"/>
                  <a:pt x="142875" y="423366"/>
                  <a:pt x="142875" y="436563"/>
                </a:cubicBezTo>
                <a:cubicBezTo>
                  <a:pt x="142875" y="449759"/>
                  <a:pt x="132259" y="460375"/>
                  <a:pt x="119063" y="460375"/>
                </a:cubicBezTo>
                <a:lnTo>
                  <a:pt x="29071" y="460375"/>
                </a:lnTo>
                <a:cubicBezTo>
                  <a:pt x="12998" y="460375"/>
                  <a:pt x="0" y="447377"/>
                  <a:pt x="0" y="431304"/>
                </a:cubicBezTo>
                <a:cubicBezTo>
                  <a:pt x="0" y="421977"/>
                  <a:pt x="4465" y="413246"/>
                  <a:pt x="12005" y="407789"/>
                </a:cubicBezTo>
                <a:lnTo>
                  <a:pt x="81955" y="356890"/>
                </a:lnTo>
                <a:cubicBezTo>
                  <a:pt x="85328" y="354409"/>
                  <a:pt x="87313" y="350540"/>
                  <a:pt x="87313" y="346373"/>
                </a:cubicBezTo>
                <a:cubicBezTo>
                  <a:pt x="87313" y="339229"/>
                  <a:pt x="81459" y="333375"/>
                  <a:pt x="74315" y="333375"/>
                </a:cubicBezTo>
                <a:lnTo>
                  <a:pt x="69453" y="333375"/>
                </a:lnTo>
                <a:cubicBezTo>
                  <a:pt x="65584" y="333375"/>
                  <a:pt x="61813" y="334665"/>
                  <a:pt x="58738" y="336947"/>
                </a:cubicBezTo>
                <a:lnTo>
                  <a:pt x="38100" y="352425"/>
                </a:lnTo>
                <a:cubicBezTo>
                  <a:pt x="27583" y="360363"/>
                  <a:pt x="12700" y="358180"/>
                  <a:pt x="4762" y="347663"/>
                </a:cubicBezTo>
                <a:cubicBezTo>
                  <a:pt x="-3175" y="337145"/>
                  <a:pt x="-992" y="322263"/>
                  <a:pt x="9525" y="314325"/>
                </a:cubicBezTo>
                <a:lnTo>
                  <a:pt x="30163" y="298847"/>
                </a:lnTo>
                <a:close/>
                <a:moveTo>
                  <a:pt x="222250" y="63500"/>
                </a:moveTo>
                <a:lnTo>
                  <a:pt x="476250" y="63500"/>
                </a:lnTo>
                <a:cubicBezTo>
                  <a:pt x="493812" y="63500"/>
                  <a:pt x="508000" y="77688"/>
                  <a:pt x="508000" y="95250"/>
                </a:cubicBezTo>
                <a:cubicBezTo>
                  <a:pt x="508000" y="112812"/>
                  <a:pt x="493812" y="127000"/>
                  <a:pt x="476250" y="127000"/>
                </a:cubicBezTo>
                <a:lnTo>
                  <a:pt x="222250" y="127000"/>
                </a:lnTo>
                <a:cubicBezTo>
                  <a:pt x="204688" y="127000"/>
                  <a:pt x="190500" y="112812"/>
                  <a:pt x="190500" y="95250"/>
                </a:cubicBezTo>
                <a:cubicBezTo>
                  <a:pt x="190500" y="77688"/>
                  <a:pt x="204688" y="63500"/>
                  <a:pt x="222250" y="63500"/>
                </a:cubicBezTo>
                <a:close/>
                <a:moveTo>
                  <a:pt x="222250" y="222250"/>
                </a:moveTo>
                <a:lnTo>
                  <a:pt x="476250" y="222250"/>
                </a:lnTo>
                <a:cubicBezTo>
                  <a:pt x="493812" y="222250"/>
                  <a:pt x="508000" y="236438"/>
                  <a:pt x="508000" y="254000"/>
                </a:cubicBezTo>
                <a:cubicBezTo>
                  <a:pt x="508000" y="271562"/>
                  <a:pt x="493812" y="285750"/>
                  <a:pt x="476250" y="285750"/>
                </a:cubicBezTo>
                <a:lnTo>
                  <a:pt x="222250" y="285750"/>
                </a:lnTo>
                <a:cubicBezTo>
                  <a:pt x="204688" y="285750"/>
                  <a:pt x="190500" y="271562"/>
                  <a:pt x="190500" y="254000"/>
                </a:cubicBezTo>
                <a:cubicBezTo>
                  <a:pt x="190500" y="236438"/>
                  <a:pt x="204688" y="222250"/>
                  <a:pt x="222250" y="222250"/>
                </a:cubicBezTo>
                <a:close/>
                <a:moveTo>
                  <a:pt x="222250" y="381000"/>
                </a:moveTo>
                <a:lnTo>
                  <a:pt x="476250" y="381000"/>
                </a:lnTo>
                <a:cubicBezTo>
                  <a:pt x="493812" y="381000"/>
                  <a:pt x="508000" y="395188"/>
                  <a:pt x="508000" y="412750"/>
                </a:cubicBezTo>
                <a:cubicBezTo>
                  <a:pt x="508000" y="430312"/>
                  <a:pt x="493812" y="444500"/>
                  <a:pt x="476250" y="444500"/>
                </a:cubicBezTo>
                <a:lnTo>
                  <a:pt x="222250" y="444500"/>
                </a:lnTo>
                <a:cubicBezTo>
                  <a:pt x="204688" y="444500"/>
                  <a:pt x="190500" y="430312"/>
                  <a:pt x="190500" y="412750"/>
                </a:cubicBezTo>
                <a:cubicBezTo>
                  <a:pt x="190500" y="395188"/>
                  <a:pt x="204688" y="381000"/>
                  <a:pt x="222250" y="3810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22000" y="279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Ordered Delivery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22000" y="3238500"/>
            <a:ext cx="381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Segments are reassembled in correct sequence at the destination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70000" y="5080000"/>
            <a:ext cx="4445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21000" y="533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12750" y="206375"/>
                </a:moveTo>
                <a:cubicBezTo>
                  <a:pt x="412750" y="251916"/>
                  <a:pt x="397966" y="293985"/>
                  <a:pt x="373063" y="328116"/>
                </a:cubicBezTo>
                <a:lnTo>
                  <a:pt x="498673" y="453827"/>
                </a:lnTo>
                <a:cubicBezTo>
                  <a:pt x="511076" y="466229"/>
                  <a:pt x="511076" y="486370"/>
                  <a:pt x="498673" y="498773"/>
                </a:cubicBezTo>
                <a:cubicBezTo>
                  <a:pt x="486271" y="511175"/>
                  <a:pt x="466130" y="511175"/>
                  <a:pt x="453727" y="498773"/>
                </a:cubicBezTo>
                <a:lnTo>
                  <a:pt x="328116" y="373063"/>
                </a:lnTo>
                <a:cubicBezTo>
                  <a:pt x="293985" y="397966"/>
                  <a:pt x="251916" y="412750"/>
                  <a:pt x="206375" y="412750"/>
                </a:cubicBezTo>
                <a:cubicBezTo>
                  <a:pt x="92373" y="412750"/>
                  <a:pt x="0" y="320377"/>
                  <a:pt x="0" y="206375"/>
                </a:cubicBezTo>
                <a:cubicBezTo>
                  <a:pt x="0" y="92373"/>
                  <a:pt x="92373" y="0"/>
                  <a:pt x="206375" y="0"/>
                </a:cubicBezTo>
                <a:cubicBezTo>
                  <a:pt x="320377" y="0"/>
                  <a:pt x="412750" y="92373"/>
                  <a:pt x="412750" y="206375"/>
                </a:cubicBezTo>
                <a:close/>
                <a:moveTo>
                  <a:pt x="206375" y="349250"/>
                </a:moveTo>
                <a:cubicBezTo>
                  <a:pt x="285230" y="349250"/>
                  <a:pt x="349250" y="285230"/>
                  <a:pt x="349250" y="206375"/>
                </a:cubicBezTo>
                <a:cubicBezTo>
                  <a:pt x="349250" y="127520"/>
                  <a:pt x="285230" y="63500"/>
                  <a:pt x="206375" y="63500"/>
                </a:cubicBezTo>
                <a:cubicBezTo>
                  <a:pt x="127520" y="63500"/>
                  <a:pt x="63500" y="127520"/>
                  <a:pt x="63500" y="206375"/>
                </a:cubicBezTo>
                <a:cubicBezTo>
                  <a:pt x="63500" y="285230"/>
                  <a:pt x="127520" y="349250"/>
                  <a:pt x="206375" y="34925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8" name="Text 16"/>
          <p:cNvSpPr/>
          <p:nvPr/>
        </p:nvSpPr>
        <p:spPr>
          <a:xfrm>
            <a:off x="1524000" y="59690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Error Checking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24000" y="6413500"/>
            <a:ext cx="393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Uses checksums to detect corrupted data and ensures integrity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969000" y="5080000"/>
            <a:ext cx="4445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20000" y="533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254000"/>
                </a:moveTo>
                <a:cubicBezTo>
                  <a:pt x="0" y="113814"/>
                  <a:pt x="113814" y="0"/>
                  <a:pt x="254000" y="0"/>
                </a:cubicBez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lose/>
                <a:moveTo>
                  <a:pt x="285750" y="95250"/>
                </a:moveTo>
                <a:cubicBezTo>
                  <a:pt x="285750" y="77727"/>
                  <a:pt x="271523" y="63500"/>
                  <a:pt x="254000" y="63500"/>
                </a:cubicBezTo>
                <a:cubicBezTo>
                  <a:pt x="236477" y="63500"/>
                  <a:pt x="222250" y="77727"/>
                  <a:pt x="222250" y="95250"/>
                </a:cubicBezTo>
                <a:cubicBezTo>
                  <a:pt x="222250" y="112773"/>
                  <a:pt x="236477" y="127000"/>
                  <a:pt x="254000" y="127000"/>
                </a:cubicBezTo>
                <a:cubicBezTo>
                  <a:pt x="271523" y="127000"/>
                  <a:pt x="285750" y="112773"/>
                  <a:pt x="285750" y="95250"/>
                </a:cubicBezTo>
                <a:close/>
                <a:moveTo>
                  <a:pt x="254000" y="412750"/>
                </a:moveTo>
                <a:cubicBezTo>
                  <a:pt x="289024" y="412750"/>
                  <a:pt x="317500" y="384274"/>
                  <a:pt x="317500" y="349250"/>
                </a:cubicBezTo>
                <a:cubicBezTo>
                  <a:pt x="317500" y="333177"/>
                  <a:pt x="311547" y="318393"/>
                  <a:pt x="301625" y="307280"/>
                </a:cubicBezTo>
                <a:lnTo>
                  <a:pt x="370582" y="169466"/>
                </a:lnTo>
                <a:cubicBezTo>
                  <a:pt x="376436" y="157659"/>
                  <a:pt x="371673" y="143371"/>
                  <a:pt x="359966" y="137517"/>
                </a:cubicBezTo>
                <a:cubicBezTo>
                  <a:pt x="348258" y="131663"/>
                  <a:pt x="333871" y="136426"/>
                  <a:pt x="328017" y="148134"/>
                </a:cubicBezTo>
                <a:lnTo>
                  <a:pt x="259060" y="285948"/>
                </a:lnTo>
                <a:cubicBezTo>
                  <a:pt x="257373" y="285849"/>
                  <a:pt x="255687" y="285750"/>
                  <a:pt x="254000" y="285750"/>
                </a:cubicBezTo>
                <a:cubicBezTo>
                  <a:pt x="218976" y="285750"/>
                  <a:pt x="190500" y="314226"/>
                  <a:pt x="190500" y="349250"/>
                </a:cubicBezTo>
                <a:cubicBezTo>
                  <a:pt x="190500" y="384274"/>
                  <a:pt x="218976" y="412750"/>
                  <a:pt x="254000" y="412750"/>
                </a:cubicBezTo>
                <a:close/>
                <a:moveTo>
                  <a:pt x="174625" y="142875"/>
                </a:moveTo>
                <a:cubicBezTo>
                  <a:pt x="174625" y="125352"/>
                  <a:pt x="160398" y="111125"/>
                  <a:pt x="142875" y="111125"/>
                </a:cubicBezTo>
                <a:cubicBezTo>
                  <a:pt x="125352" y="111125"/>
                  <a:pt x="111125" y="125352"/>
                  <a:pt x="111125" y="142875"/>
                </a:cubicBezTo>
                <a:cubicBezTo>
                  <a:pt x="111125" y="160398"/>
                  <a:pt x="125352" y="174625"/>
                  <a:pt x="142875" y="174625"/>
                </a:cubicBezTo>
                <a:cubicBezTo>
                  <a:pt x="160398" y="174625"/>
                  <a:pt x="174625" y="160398"/>
                  <a:pt x="174625" y="142875"/>
                </a:cubicBezTo>
                <a:close/>
                <a:moveTo>
                  <a:pt x="95250" y="285750"/>
                </a:moveTo>
                <a:cubicBezTo>
                  <a:pt x="112773" y="285750"/>
                  <a:pt x="127000" y="271523"/>
                  <a:pt x="127000" y="254000"/>
                </a:cubicBezTo>
                <a:cubicBezTo>
                  <a:pt x="127000" y="236477"/>
                  <a:pt x="112773" y="222250"/>
                  <a:pt x="95250" y="222250"/>
                </a:cubicBezTo>
                <a:cubicBezTo>
                  <a:pt x="77727" y="222250"/>
                  <a:pt x="63500" y="236477"/>
                  <a:pt x="63500" y="254000"/>
                </a:cubicBezTo>
                <a:cubicBezTo>
                  <a:pt x="63500" y="271523"/>
                  <a:pt x="77727" y="285750"/>
                  <a:pt x="95250" y="285750"/>
                </a:cubicBezTo>
                <a:close/>
                <a:moveTo>
                  <a:pt x="444500" y="254000"/>
                </a:moveTo>
                <a:cubicBezTo>
                  <a:pt x="444500" y="236477"/>
                  <a:pt x="430273" y="222250"/>
                  <a:pt x="412750" y="222250"/>
                </a:cubicBezTo>
                <a:cubicBezTo>
                  <a:pt x="395227" y="222250"/>
                  <a:pt x="381000" y="236477"/>
                  <a:pt x="381000" y="254000"/>
                </a:cubicBezTo>
                <a:cubicBezTo>
                  <a:pt x="381000" y="271523"/>
                  <a:pt x="395227" y="285750"/>
                  <a:pt x="412750" y="285750"/>
                </a:cubicBezTo>
                <a:cubicBezTo>
                  <a:pt x="430273" y="285750"/>
                  <a:pt x="444500" y="271523"/>
                  <a:pt x="444500" y="2540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22" name="Text 20"/>
          <p:cNvSpPr/>
          <p:nvPr/>
        </p:nvSpPr>
        <p:spPr>
          <a:xfrm>
            <a:off x="6223000" y="59690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Flow Control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23000" y="6413500"/>
            <a:ext cx="393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Sliding window mechanism prevents overwhelming the receiver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668000" y="5080000"/>
            <a:ext cx="4318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2382500" y="533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15043" y="371673"/>
                </a:moveTo>
                <a:lnTo>
                  <a:pt x="499710" y="276423"/>
                </a:lnTo>
                <a:cubicBezTo>
                  <a:pt x="510734" y="264021"/>
                  <a:pt x="510734" y="243880"/>
                  <a:pt x="499710" y="231477"/>
                </a:cubicBezTo>
                <a:lnTo>
                  <a:pt x="415043" y="136227"/>
                </a:lnTo>
                <a:cubicBezTo>
                  <a:pt x="404019" y="123825"/>
                  <a:pt x="386115" y="123825"/>
                  <a:pt x="375091" y="136227"/>
                </a:cubicBezTo>
                <a:cubicBezTo>
                  <a:pt x="364067" y="148630"/>
                  <a:pt x="364067" y="168771"/>
                  <a:pt x="375091" y="181173"/>
                </a:cubicBezTo>
                <a:lnTo>
                  <a:pt x="411603" y="222250"/>
                </a:lnTo>
                <a:lnTo>
                  <a:pt x="96308" y="222250"/>
                </a:lnTo>
                <a:lnTo>
                  <a:pt x="132821" y="181173"/>
                </a:lnTo>
                <a:cubicBezTo>
                  <a:pt x="143845" y="168771"/>
                  <a:pt x="143845" y="148630"/>
                  <a:pt x="132821" y="136227"/>
                </a:cubicBezTo>
                <a:cubicBezTo>
                  <a:pt x="121797" y="123825"/>
                  <a:pt x="103893" y="123825"/>
                  <a:pt x="92869" y="136227"/>
                </a:cubicBezTo>
                <a:lnTo>
                  <a:pt x="8202" y="231477"/>
                </a:lnTo>
                <a:cubicBezTo>
                  <a:pt x="2910" y="237430"/>
                  <a:pt x="-88" y="245467"/>
                  <a:pt x="-88" y="253901"/>
                </a:cubicBezTo>
                <a:cubicBezTo>
                  <a:pt x="-88" y="262334"/>
                  <a:pt x="2910" y="270371"/>
                  <a:pt x="8202" y="276324"/>
                </a:cubicBezTo>
                <a:lnTo>
                  <a:pt x="92869" y="371574"/>
                </a:lnTo>
                <a:cubicBezTo>
                  <a:pt x="103893" y="383977"/>
                  <a:pt x="121797" y="383977"/>
                  <a:pt x="132821" y="371574"/>
                </a:cubicBezTo>
                <a:cubicBezTo>
                  <a:pt x="143845" y="359172"/>
                  <a:pt x="143845" y="339030"/>
                  <a:pt x="132821" y="326628"/>
                </a:cubicBezTo>
                <a:lnTo>
                  <a:pt x="96308" y="285552"/>
                </a:lnTo>
                <a:lnTo>
                  <a:pt x="411603" y="285552"/>
                </a:lnTo>
                <a:lnTo>
                  <a:pt x="375091" y="326628"/>
                </a:lnTo>
                <a:cubicBezTo>
                  <a:pt x="364067" y="339030"/>
                  <a:pt x="364067" y="359172"/>
                  <a:pt x="375091" y="371574"/>
                </a:cubicBezTo>
                <a:cubicBezTo>
                  <a:pt x="386115" y="383977"/>
                  <a:pt x="404019" y="383977"/>
                  <a:pt x="415043" y="371574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26" name="Text 24"/>
          <p:cNvSpPr/>
          <p:nvPr/>
        </p:nvSpPr>
        <p:spPr>
          <a:xfrm>
            <a:off x="10922000" y="5969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Full-Duplex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922000" y="6413500"/>
            <a:ext cx="381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Both parties can send and receive data simultaneously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TCP Example — HTTP &amp; Web Browsing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7112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time you visit a website,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TCP is working behind the scenes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&amp; HTTPS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both rely on TCP: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Port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80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HTTP, Port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443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HTTPS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happens when you type a URL: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Browser establishes TCP connection to server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TCP ensures webpage data arrives completely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Lost packets are retransmitted automatically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Loading a webpage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HTML: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45 KB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(in segments)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CSS: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 KB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Images: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 × 150 KB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avg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Without TCP, pages load with missing content.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890000" y="1841500"/>
            <a:ext cx="6096000" cy="609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0" y="22225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523726" y="416719"/>
                </a:moveTo>
                <a:lnTo>
                  <a:pt x="239613" y="416719"/>
                </a:lnTo>
                <a:cubicBezTo>
                  <a:pt x="243929" y="512713"/>
                  <a:pt x="265212" y="601117"/>
                  <a:pt x="295424" y="665857"/>
                </a:cubicBezTo>
                <a:cubicBezTo>
                  <a:pt x="312390" y="702320"/>
                  <a:pt x="330696" y="728067"/>
                  <a:pt x="347662" y="743843"/>
                </a:cubicBezTo>
                <a:cubicBezTo>
                  <a:pt x="364331" y="759470"/>
                  <a:pt x="375791" y="762000"/>
                  <a:pt x="381744" y="762000"/>
                </a:cubicBezTo>
                <a:cubicBezTo>
                  <a:pt x="387697" y="762000"/>
                  <a:pt x="399157" y="759470"/>
                  <a:pt x="415826" y="743843"/>
                </a:cubicBezTo>
                <a:cubicBezTo>
                  <a:pt x="432792" y="728067"/>
                  <a:pt x="451098" y="702171"/>
                  <a:pt x="468064" y="665857"/>
                </a:cubicBezTo>
                <a:cubicBezTo>
                  <a:pt x="498277" y="601117"/>
                  <a:pt x="519559" y="512713"/>
                  <a:pt x="523875" y="416719"/>
                </a:cubicBezTo>
                <a:close/>
                <a:moveTo>
                  <a:pt x="239464" y="345281"/>
                </a:moveTo>
                <a:lnTo>
                  <a:pt x="523577" y="345281"/>
                </a:lnTo>
                <a:cubicBezTo>
                  <a:pt x="519410" y="249287"/>
                  <a:pt x="498128" y="160883"/>
                  <a:pt x="467916" y="96143"/>
                </a:cubicBezTo>
                <a:cubicBezTo>
                  <a:pt x="450949" y="59829"/>
                  <a:pt x="432643" y="33933"/>
                  <a:pt x="415677" y="18157"/>
                </a:cubicBezTo>
                <a:cubicBezTo>
                  <a:pt x="399008" y="2530"/>
                  <a:pt x="387548" y="0"/>
                  <a:pt x="381595" y="0"/>
                </a:cubicBezTo>
                <a:cubicBezTo>
                  <a:pt x="375642" y="0"/>
                  <a:pt x="364182" y="2530"/>
                  <a:pt x="347514" y="18157"/>
                </a:cubicBezTo>
                <a:cubicBezTo>
                  <a:pt x="330547" y="33933"/>
                  <a:pt x="312241" y="59829"/>
                  <a:pt x="295275" y="96143"/>
                </a:cubicBezTo>
                <a:cubicBezTo>
                  <a:pt x="265063" y="160883"/>
                  <a:pt x="243780" y="249287"/>
                  <a:pt x="239464" y="345281"/>
                </a:cubicBezTo>
                <a:close/>
                <a:moveTo>
                  <a:pt x="168027" y="345281"/>
                </a:moveTo>
                <a:cubicBezTo>
                  <a:pt x="173236" y="217884"/>
                  <a:pt x="206127" y="99566"/>
                  <a:pt x="254198" y="21878"/>
                </a:cubicBezTo>
                <a:cubicBezTo>
                  <a:pt x="117128" y="70396"/>
                  <a:pt x="16222" y="195262"/>
                  <a:pt x="2232" y="345281"/>
                </a:cubicBezTo>
                <a:lnTo>
                  <a:pt x="168027" y="345281"/>
                </a:lnTo>
                <a:close/>
                <a:moveTo>
                  <a:pt x="2232" y="416719"/>
                </a:moveTo>
                <a:cubicBezTo>
                  <a:pt x="16222" y="566738"/>
                  <a:pt x="117128" y="691604"/>
                  <a:pt x="254198" y="740122"/>
                </a:cubicBezTo>
                <a:cubicBezTo>
                  <a:pt x="206127" y="662434"/>
                  <a:pt x="173236" y="544116"/>
                  <a:pt x="168027" y="416719"/>
                </a:cubicBezTo>
                <a:lnTo>
                  <a:pt x="2232" y="416719"/>
                </a:lnTo>
                <a:close/>
                <a:moveTo>
                  <a:pt x="595164" y="416719"/>
                </a:moveTo>
                <a:cubicBezTo>
                  <a:pt x="589955" y="544116"/>
                  <a:pt x="557064" y="662434"/>
                  <a:pt x="508992" y="740122"/>
                </a:cubicBezTo>
                <a:cubicBezTo>
                  <a:pt x="646063" y="691455"/>
                  <a:pt x="746968" y="566738"/>
                  <a:pt x="760958" y="416719"/>
                </a:cubicBezTo>
                <a:lnTo>
                  <a:pt x="595164" y="416719"/>
                </a:lnTo>
                <a:close/>
                <a:moveTo>
                  <a:pt x="760958" y="345281"/>
                </a:moveTo>
                <a:cubicBezTo>
                  <a:pt x="746968" y="195262"/>
                  <a:pt x="646063" y="70396"/>
                  <a:pt x="508992" y="21878"/>
                </a:cubicBezTo>
                <a:cubicBezTo>
                  <a:pt x="557064" y="99566"/>
                  <a:pt x="589955" y="217884"/>
                  <a:pt x="595164" y="345281"/>
                </a:cubicBezTo>
                <a:lnTo>
                  <a:pt x="760958" y="345281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7" name="Text 5"/>
          <p:cNvSpPr/>
          <p:nvPr/>
        </p:nvSpPr>
        <p:spPr>
          <a:xfrm>
            <a:off x="9271000" y="3175000"/>
            <a:ext cx="533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Web Page Load Breakdown</a:t>
            </a:r>
            <a:endParaRPr lang="en-US" sz="2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9271000" y="3810000"/>
          <a:ext cx="5334000" cy="381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TCP Real World Example — Email &amp; File Transfer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604000" cy="609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64000" y="22225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59531" y="79375"/>
                </a:moveTo>
                <a:cubicBezTo>
                  <a:pt x="26665" y="79375"/>
                  <a:pt x="0" y="106040"/>
                  <a:pt x="0" y="138906"/>
                </a:cubicBezTo>
                <a:cubicBezTo>
                  <a:pt x="0" y="157634"/>
                  <a:pt x="8806" y="175245"/>
                  <a:pt x="23813" y="186531"/>
                </a:cubicBezTo>
                <a:lnTo>
                  <a:pt x="281781" y="380008"/>
                </a:lnTo>
                <a:cubicBezTo>
                  <a:pt x="302989" y="395883"/>
                  <a:pt x="332011" y="395883"/>
                  <a:pt x="353219" y="380008"/>
                </a:cubicBezTo>
                <a:lnTo>
                  <a:pt x="611188" y="186531"/>
                </a:lnTo>
                <a:cubicBezTo>
                  <a:pt x="626194" y="175245"/>
                  <a:pt x="635000" y="157634"/>
                  <a:pt x="635000" y="138906"/>
                </a:cubicBezTo>
                <a:cubicBezTo>
                  <a:pt x="635000" y="106040"/>
                  <a:pt x="608335" y="79375"/>
                  <a:pt x="575469" y="79375"/>
                </a:cubicBezTo>
                <a:lnTo>
                  <a:pt x="59531" y="79375"/>
                </a:lnTo>
                <a:close/>
                <a:moveTo>
                  <a:pt x="0" y="243086"/>
                </a:moveTo>
                <a:lnTo>
                  <a:pt x="0" y="476250"/>
                </a:lnTo>
                <a:cubicBezTo>
                  <a:pt x="0" y="520030"/>
                  <a:pt x="35595" y="555625"/>
                  <a:pt x="79375" y="555625"/>
                </a:cubicBezTo>
                <a:lnTo>
                  <a:pt x="555625" y="555625"/>
                </a:lnTo>
                <a:cubicBezTo>
                  <a:pt x="599405" y="555625"/>
                  <a:pt x="635000" y="520030"/>
                  <a:pt x="635000" y="476250"/>
                </a:cubicBezTo>
                <a:lnTo>
                  <a:pt x="635000" y="243086"/>
                </a:lnTo>
                <a:lnTo>
                  <a:pt x="388938" y="427633"/>
                </a:lnTo>
                <a:cubicBezTo>
                  <a:pt x="346646" y="459383"/>
                  <a:pt x="288354" y="459383"/>
                  <a:pt x="246063" y="427633"/>
                </a:cubicBezTo>
                <a:lnTo>
                  <a:pt x="0" y="243086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3048000"/>
            <a:ext cx="584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Email (SMTP / POP3 / IMAP)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51000" y="3619500"/>
            <a:ext cx="5842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you send email via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Gmail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or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Outlook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SMTP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uses TCP Port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25/587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to send messages to the server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POP3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uses TCP Port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110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to download emails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IMAP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uses TCP Port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143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for sync email access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attachment arrives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uncorrupted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6604000" cy="609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239500" y="22225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0" y="79375"/>
                </a:moveTo>
                <a:cubicBezTo>
                  <a:pt x="0" y="35595"/>
                  <a:pt x="47460" y="0"/>
                  <a:pt x="105833" y="0"/>
                </a:cubicBezTo>
                <a:lnTo>
                  <a:pt x="353053" y="0"/>
                </a:lnTo>
                <a:cubicBezTo>
                  <a:pt x="381165" y="0"/>
                  <a:pt x="408120" y="8310"/>
                  <a:pt x="427964" y="23192"/>
                </a:cubicBezTo>
                <a:lnTo>
                  <a:pt x="604077" y="155401"/>
                </a:lnTo>
                <a:cubicBezTo>
                  <a:pt x="623921" y="170284"/>
                  <a:pt x="635000" y="190500"/>
                  <a:pt x="635000" y="211584"/>
                </a:cubicBezTo>
                <a:lnTo>
                  <a:pt x="635000" y="555625"/>
                </a:lnTo>
                <a:cubicBezTo>
                  <a:pt x="635000" y="599405"/>
                  <a:pt x="587540" y="635000"/>
                  <a:pt x="529167" y="635000"/>
                </a:cubicBezTo>
                <a:lnTo>
                  <a:pt x="105833" y="635000"/>
                </a:lnTo>
                <a:cubicBezTo>
                  <a:pt x="47460" y="635000"/>
                  <a:pt x="0" y="599405"/>
                  <a:pt x="0" y="555625"/>
                </a:cubicBezTo>
                <a:lnTo>
                  <a:pt x="0" y="79375"/>
                </a:lnTo>
                <a:close/>
                <a:moveTo>
                  <a:pt x="343958" y="72554"/>
                </a:moveTo>
                <a:lnTo>
                  <a:pt x="343958" y="188516"/>
                </a:lnTo>
                <a:cubicBezTo>
                  <a:pt x="343958" y="205011"/>
                  <a:pt x="361652" y="218281"/>
                  <a:pt x="383646" y="218281"/>
                </a:cubicBezTo>
                <a:lnTo>
                  <a:pt x="538262" y="218281"/>
                </a:lnTo>
                <a:lnTo>
                  <a:pt x="343958" y="72554"/>
                </a:lnTo>
                <a:close/>
                <a:moveTo>
                  <a:pt x="345612" y="326182"/>
                </a:moveTo>
                <a:cubicBezTo>
                  <a:pt x="330068" y="314523"/>
                  <a:pt x="304932" y="314523"/>
                  <a:pt x="289553" y="326182"/>
                </a:cubicBezTo>
                <a:lnTo>
                  <a:pt x="183720" y="405557"/>
                </a:lnTo>
                <a:cubicBezTo>
                  <a:pt x="168176" y="417215"/>
                  <a:pt x="168176" y="436066"/>
                  <a:pt x="183720" y="447601"/>
                </a:cubicBezTo>
                <a:cubicBezTo>
                  <a:pt x="199264" y="459135"/>
                  <a:pt x="224400" y="459259"/>
                  <a:pt x="239779" y="447601"/>
                </a:cubicBezTo>
                <a:lnTo>
                  <a:pt x="277813" y="419075"/>
                </a:lnTo>
                <a:lnTo>
                  <a:pt x="277813" y="525859"/>
                </a:lnTo>
                <a:cubicBezTo>
                  <a:pt x="277813" y="542354"/>
                  <a:pt x="295507" y="555625"/>
                  <a:pt x="317500" y="555625"/>
                </a:cubicBezTo>
                <a:cubicBezTo>
                  <a:pt x="339493" y="555625"/>
                  <a:pt x="357188" y="542354"/>
                  <a:pt x="357188" y="525859"/>
                </a:cubicBezTo>
                <a:lnTo>
                  <a:pt x="357188" y="419075"/>
                </a:lnTo>
                <a:lnTo>
                  <a:pt x="395221" y="447601"/>
                </a:lnTo>
                <a:cubicBezTo>
                  <a:pt x="410766" y="459259"/>
                  <a:pt x="435901" y="459259"/>
                  <a:pt x="451280" y="447601"/>
                </a:cubicBezTo>
                <a:cubicBezTo>
                  <a:pt x="466659" y="435942"/>
                  <a:pt x="466824" y="417091"/>
                  <a:pt x="451280" y="405557"/>
                </a:cubicBezTo>
                <a:lnTo>
                  <a:pt x="345447" y="326182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8763000" y="3048000"/>
            <a:ext cx="584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 Transfer (FTP / SFTP)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763000" y="3619500"/>
            <a:ext cx="5842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uploading files to a server: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FTP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uses TCP Ports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20/21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for file transfer control &amp; data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SFTP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(secure) uses TCP Port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over SSH encryption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Uploading a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500 MB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video — TCP breaks it into segments, verifies each one, and reassembles the complete file with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 data loss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TCP Code Example — Server (Python)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4826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Steps: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socket()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Create TCP socket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bind()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Bind to IP &amp; port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listen()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Wait for clients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accept()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Accept connection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recv()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Receive data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6.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sendall()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Send response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7.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close()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Close socket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Socket Type: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AF_INET = IPv4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SOCK_STREAM = TCP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77000" y="1841500"/>
            <a:ext cx="8509000" cy="6096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  <a:effectLst>
            <a:outerShdw sx="100000" sy="100000" kx="0" ky="0" algn="bl" rotWithShape="0" blurRad="152400" dist="50800" dir="5400000">
              <a:srgbClr val="000000">
                <a:alpha val="8235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77000" y="1841500"/>
            <a:ext cx="8509000" cy="457200"/>
          </a:xfrm>
          <a:prstGeom prst="roundRect">
            <a:avLst>
              <a:gd name="adj" fmla="val 6000"/>
            </a:avLst>
          </a:prstGeom>
          <a:solidFill>
            <a:srgbClr val="3D3D3D"/>
          </a:solidFill>
          <a:ln/>
        </p:spPr>
      </p:sp>
      <p:sp>
        <p:nvSpPr>
          <p:cNvPr id="7" name="Text 5"/>
          <p:cNvSpPr/>
          <p:nvPr/>
        </p:nvSpPr>
        <p:spPr>
          <a:xfrm>
            <a:off x="6731000" y="18415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 ● ● tcp_server.py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31000" y="2413000"/>
            <a:ext cx="8001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socket</a:t>
            </a:r>
            <a:endParaRPr lang="en-US" sz="1200" dirty="0"/>
          </a:p>
          <a:p>
            <a:pPr algn="l">
              <a:lnSpc>
                <a:spcPct val="140000"/>
              </a:lnSpc>
            </a:pP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Create TCP socket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 = socket.socket(socket.AF_INET, socket.SOCK_STREAM)</a:t>
            </a:r>
            <a:endParaRPr lang="en-US" sz="1200" dirty="0"/>
          </a:p>
          <a:p>
            <a:pPr algn="l">
              <a:lnSpc>
                <a:spcPct val="140000"/>
              </a:lnSpc>
            </a:pP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Bind to address &amp; port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server.bind((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90EE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'127.0.0.1'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D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12345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))</a:t>
            </a:r>
            <a:endParaRPr lang="en-US" sz="1200" dirty="0"/>
          </a:p>
          <a:p>
            <a:pPr algn="l">
              <a:lnSpc>
                <a:spcPct val="140000"/>
              </a:lnSpc>
            </a:pP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Listen for connections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server.listen(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D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print(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90EE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"Server listening..."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200" dirty="0"/>
          </a:p>
          <a:p>
            <a:pPr algn="l">
              <a:lnSpc>
                <a:spcPct val="140000"/>
              </a:lnSpc>
            </a:pP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Accept client connection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conn, addr = server.accept()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print(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90EE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f"Connected: {addr}"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200" dirty="0"/>
          </a:p>
          <a:p>
            <a:pPr algn="l">
              <a:lnSpc>
                <a:spcPct val="140000"/>
              </a:lnSpc>
            </a:pP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Receive &amp; respond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= conn.recv(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D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1024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conn.sendall(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90EE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b"Hello TCP Server!"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conn.close()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TCP Code Example — Client (Python)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4826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Steps: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socket()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Create TCP socket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connect()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Connect to server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sendall()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Send message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recv()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Receive response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close()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Close socket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Difference: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 uses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connect()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instead of bind/listen/accept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 Order: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Start server first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Then run client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77000" y="1841500"/>
            <a:ext cx="8509000" cy="6096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  <a:effectLst>
            <a:outerShdw sx="100000" sy="100000" kx="0" ky="0" algn="bl" rotWithShape="0" blurRad="152400" dist="50800" dir="5400000">
              <a:srgbClr val="000000">
                <a:alpha val="8235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77000" y="1841500"/>
            <a:ext cx="8509000" cy="457200"/>
          </a:xfrm>
          <a:prstGeom prst="roundRect">
            <a:avLst>
              <a:gd name="adj" fmla="val 6000"/>
            </a:avLst>
          </a:prstGeom>
          <a:solidFill>
            <a:srgbClr val="3D3D3D"/>
          </a:solidFill>
          <a:ln/>
        </p:spPr>
      </p:sp>
      <p:sp>
        <p:nvSpPr>
          <p:cNvPr id="7" name="Text 5"/>
          <p:cNvSpPr/>
          <p:nvPr/>
        </p:nvSpPr>
        <p:spPr>
          <a:xfrm>
            <a:off x="6731000" y="18415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 ● ● tcp_client.py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31000" y="2413000"/>
            <a:ext cx="8001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socket</a:t>
            </a:r>
            <a:endParaRPr lang="en-US" sz="1300" dirty="0"/>
          </a:p>
          <a:p>
            <a:pPr algn="l">
              <a:lnSpc>
                <a:spcPct val="145000"/>
              </a:lnSpc>
            </a:pP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Create TCP socket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 = socket.socket(socket.AF_INET, socket.SOCK_STREAM)</a:t>
            </a:r>
            <a:endParaRPr lang="en-US" sz="1300" dirty="0"/>
          </a:p>
          <a:p>
            <a:pPr algn="l">
              <a:lnSpc>
                <a:spcPct val="145000"/>
              </a:lnSpc>
            </a:pP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Connect to server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client.connect((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90EE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'127.0.0.1'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FD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12345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))</a:t>
            </a:r>
            <a:endParaRPr lang="en-US" sz="1300" dirty="0"/>
          </a:p>
          <a:p>
            <a:pPr algn="l">
              <a:lnSpc>
                <a:spcPct val="145000"/>
              </a:lnSpc>
            </a:pP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Send message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client.sendall(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90EE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b"Hello TCP Server!"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300" dirty="0"/>
          </a:p>
          <a:p>
            <a:pPr algn="l">
              <a:lnSpc>
                <a:spcPct val="145000"/>
              </a:lnSpc>
            </a:pP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Receive response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= client.recv(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FD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1024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print(response.decode())</a:t>
            </a:r>
            <a:endParaRPr lang="en-US" sz="1300" dirty="0"/>
          </a:p>
          <a:p>
            <a:pPr algn="l">
              <a:lnSpc>
                <a:spcPct val="145000"/>
              </a:lnSpc>
            </a:pP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Close connection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client.close()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TCP Three-Way Handshake Explained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446000" y="1905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40000" y="2540000"/>
            <a:ext cx="0" cy="508000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3716000" y="2540000"/>
            <a:ext cx="0" cy="508000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540000" y="2921000"/>
            <a:ext cx="11176000" cy="762000"/>
          </a:xfrm>
          <a:prstGeom prst="straightConnector1">
            <a:avLst/>
          </a:prstGeom>
          <a:noFill/>
          <a:ln w="38100">
            <a:solidFill>
              <a:srgbClr val="2E5E8A"/>
            </a:solidFill>
            <a:prstDash val="solid"/>
            <a:headEnd type="none"/>
            <a:tailEnd type="arrow"/>
          </a:ln>
        </p:spPr>
      </p:sp>
      <p:sp>
        <p:nvSpPr>
          <p:cNvPr id="9" name="Text 7"/>
          <p:cNvSpPr/>
          <p:nvPr/>
        </p:nvSpPr>
        <p:spPr>
          <a:xfrm>
            <a:off x="5334000" y="26035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Step 1: SYN (Synchronize)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34000" y="2984500"/>
            <a:ext cx="558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 sends SYN with initial sequence number (seq=x)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 flipH="1">
            <a:off x="2540000" y="4445000"/>
            <a:ext cx="11176000" cy="762000"/>
          </a:xfrm>
          <a:prstGeom prst="straightConnector1">
            <a:avLst/>
          </a:prstGeom>
          <a:noFill/>
          <a:ln w="38100">
            <a:solidFill>
              <a:srgbClr val="FF7F50"/>
            </a:solidFill>
            <a:prstDash val="solid"/>
            <a:headEnd type="none"/>
            <a:tailEnd type="arrow"/>
          </a:ln>
        </p:spPr>
      </p:sp>
      <p:sp>
        <p:nvSpPr>
          <p:cNvPr id="12" name="Text 10"/>
          <p:cNvSpPr/>
          <p:nvPr/>
        </p:nvSpPr>
        <p:spPr>
          <a:xfrm>
            <a:off x="5334000" y="41275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Step 2: SYN-ACK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34000" y="4508500"/>
            <a:ext cx="558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Server responds with SYN (seq=y) + ACK (ack=x+1)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540000" y="5969000"/>
            <a:ext cx="11176000" cy="762000"/>
          </a:xfrm>
          <a:prstGeom prst="straightConnector1">
            <a:avLst/>
          </a:prstGeom>
          <a:noFill/>
          <a:ln w="38100">
            <a:solidFill>
              <a:srgbClr val="2E5E8A"/>
            </a:solidFill>
            <a:prstDash val="solid"/>
            <a:headEnd type="none"/>
            <a:tailEnd type="arrow"/>
          </a:ln>
        </p:spPr>
      </p:sp>
      <p:sp>
        <p:nvSpPr>
          <p:cNvPr id="15" name="Text 13"/>
          <p:cNvSpPr/>
          <p:nvPr/>
        </p:nvSpPr>
        <p:spPr>
          <a:xfrm>
            <a:off x="5334000" y="56515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Step 3: ACK (Acknowledge)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34000" y="6032500"/>
            <a:ext cx="558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 sends ACK (ack=y+1) — Connection Established!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70000" y="7112000"/>
            <a:ext cx="13716000" cy="762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FF7F50"/>
              </a:gs>
            </a:gsLst>
            <a:lin ang="0" scaled="1"/>
          </a:gradFill>
          <a:ln/>
        </p:spPr>
      </p:sp>
      <p:sp>
        <p:nvSpPr>
          <p:cNvPr id="18" name="Text 16"/>
          <p:cNvSpPr/>
          <p:nvPr/>
        </p:nvSpPr>
        <p:spPr>
          <a:xfrm>
            <a:off x="1778000" y="71120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Result: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Reliable, full-duplex connection established — data transfer can now begin!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TCP — Use Cases &amp; Summary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604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303967" y="189934"/>
                </a:moveTo>
                <a:lnTo>
                  <a:pt x="232529" y="304234"/>
                </a:lnTo>
                <a:cubicBezTo>
                  <a:pt x="228779" y="310217"/>
                  <a:pt x="222349" y="313968"/>
                  <a:pt x="215295" y="314325"/>
                </a:cubicBezTo>
                <a:cubicBezTo>
                  <a:pt x="208240" y="314682"/>
                  <a:pt x="201454" y="311468"/>
                  <a:pt x="197257" y="305753"/>
                </a:cubicBezTo>
                <a:lnTo>
                  <a:pt x="154394" y="248602"/>
                </a:lnTo>
                <a:cubicBezTo>
                  <a:pt x="147251" y="239137"/>
                  <a:pt x="149215" y="225743"/>
                  <a:pt x="158681" y="218599"/>
                </a:cubicBezTo>
                <a:cubicBezTo>
                  <a:pt x="168146" y="211455"/>
                  <a:pt x="181541" y="213420"/>
                  <a:pt x="188684" y="222885"/>
                </a:cubicBezTo>
                <a:lnTo>
                  <a:pt x="212794" y="255032"/>
                </a:lnTo>
                <a:lnTo>
                  <a:pt x="267623" y="167253"/>
                </a:lnTo>
                <a:cubicBezTo>
                  <a:pt x="273874" y="157252"/>
                  <a:pt x="287089" y="154126"/>
                  <a:pt x="297180" y="160466"/>
                </a:cubicBezTo>
                <a:cubicBezTo>
                  <a:pt x="307271" y="166807"/>
                  <a:pt x="310307" y="179933"/>
                  <a:pt x="303967" y="190024"/>
                </a:cubicBezTo>
                <a:close/>
              </a:path>
            </a:pathLst>
          </a:custGeom>
          <a:solidFill>
            <a:srgbClr val="2E8B57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2159000"/>
            <a:ext cx="508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TCP Pros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2730500"/>
            <a:ext cx="584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Guaranteed delivery — no data loss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Ordered data — correct sequence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Error correction — checksums + ACKs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Flow &amp; congestion control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6604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63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149126" y="149126"/>
                </a:moveTo>
                <a:cubicBezTo>
                  <a:pt x="157520" y="140732"/>
                  <a:pt x="171093" y="140732"/>
                  <a:pt x="179397" y="149126"/>
                </a:cubicBezTo>
                <a:lnTo>
                  <a:pt x="228511" y="198239"/>
                </a:lnTo>
                <a:lnTo>
                  <a:pt x="277624" y="149126"/>
                </a:lnTo>
                <a:cubicBezTo>
                  <a:pt x="286018" y="140732"/>
                  <a:pt x="299591" y="140732"/>
                  <a:pt x="307896" y="149126"/>
                </a:cubicBezTo>
                <a:cubicBezTo>
                  <a:pt x="316200" y="157520"/>
                  <a:pt x="316290" y="171093"/>
                  <a:pt x="307896" y="179397"/>
                </a:cubicBezTo>
                <a:lnTo>
                  <a:pt x="258782" y="228511"/>
                </a:lnTo>
                <a:lnTo>
                  <a:pt x="307896" y="277624"/>
                </a:lnTo>
                <a:cubicBezTo>
                  <a:pt x="316290" y="286018"/>
                  <a:pt x="316290" y="299591"/>
                  <a:pt x="307896" y="307896"/>
                </a:cubicBezTo>
                <a:cubicBezTo>
                  <a:pt x="299502" y="316200"/>
                  <a:pt x="285929" y="316290"/>
                  <a:pt x="277624" y="307896"/>
                </a:cubicBezTo>
                <a:lnTo>
                  <a:pt x="228511" y="258782"/>
                </a:lnTo>
                <a:lnTo>
                  <a:pt x="179397" y="307896"/>
                </a:lnTo>
                <a:cubicBezTo>
                  <a:pt x="171004" y="316290"/>
                  <a:pt x="157430" y="316290"/>
                  <a:pt x="149126" y="307896"/>
                </a:cubicBezTo>
                <a:cubicBezTo>
                  <a:pt x="140821" y="299502"/>
                  <a:pt x="140732" y="285929"/>
                  <a:pt x="149126" y="277624"/>
                </a:cubicBezTo>
                <a:lnTo>
                  <a:pt x="198239" y="228511"/>
                </a:lnTo>
                <a:lnTo>
                  <a:pt x="149126" y="179397"/>
                </a:lnTo>
                <a:cubicBezTo>
                  <a:pt x="140732" y="171004"/>
                  <a:pt x="140732" y="157430"/>
                  <a:pt x="149126" y="149126"/>
                </a:cubicBezTo>
                <a:close/>
              </a:path>
            </a:pathLst>
          </a:custGeom>
          <a:solidFill>
            <a:srgbClr val="CC4444"/>
          </a:solidFill>
          <a:ln/>
        </p:spPr>
      </p:sp>
      <p:sp>
        <p:nvSpPr>
          <p:cNvPr id="10" name="Text 8"/>
          <p:cNvSpPr/>
          <p:nvPr/>
        </p:nvSpPr>
        <p:spPr>
          <a:xfrm>
            <a:off x="9398000" y="2159000"/>
            <a:ext cx="508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TCP Cons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763000" y="2730500"/>
            <a:ext cx="584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Higher latency — connection setup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More overhead — 20-byte header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Slower than UDP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More resource-intensive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70000" y="5207000"/>
            <a:ext cx="13716000" cy="2794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778000" y="5397500"/>
            <a:ext cx="508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When to Use TCP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032000" y="6096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61863" y="208359"/>
                </a:moveTo>
                <a:lnTo>
                  <a:pt x="119807" y="208359"/>
                </a:lnTo>
                <a:cubicBezTo>
                  <a:pt x="121965" y="256356"/>
                  <a:pt x="132606" y="300558"/>
                  <a:pt x="147712" y="332929"/>
                </a:cubicBezTo>
                <a:cubicBezTo>
                  <a:pt x="156195" y="351160"/>
                  <a:pt x="165348" y="364034"/>
                  <a:pt x="173831" y="371921"/>
                </a:cubicBezTo>
                <a:cubicBezTo>
                  <a:pt x="182166" y="379735"/>
                  <a:pt x="187896" y="381000"/>
                  <a:pt x="190872" y="381000"/>
                </a:cubicBezTo>
                <a:cubicBezTo>
                  <a:pt x="193849" y="381000"/>
                  <a:pt x="199579" y="379735"/>
                  <a:pt x="207913" y="371921"/>
                </a:cubicBezTo>
                <a:cubicBezTo>
                  <a:pt x="216396" y="364034"/>
                  <a:pt x="225549" y="351086"/>
                  <a:pt x="234032" y="332929"/>
                </a:cubicBezTo>
                <a:cubicBezTo>
                  <a:pt x="249138" y="300558"/>
                  <a:pt x="259779" y="256356"/>
                  <a:pt x="261937" y="208359"/>
                </a:cubicBezTo>
                <a:close/>
                <a:moveTo>
                  <a:pt x="119732" y="172641"/>
                </a:moveTo>
                <a:lnTo>
                  <a:pt x="261789" y="172641"/>
                </a:lnTo>
                <a:cubicBezTo>
                  <a:pt x="259705" y="124644"/>
                  <a:pt x="249064" y="80442"/>
                  <a:pt x="233958" y="48071"/>
                </a:cubicBezTo>
                <a:cubicBezTo>
                  <a:pt x="225475" y="29914"/>
                  <a:pt x="216322" y="16966"/>
                  <a:pt x="207838" y="9079"/>
                </a:cubicBezTo>
                <a:cubicBezTo>
                  <a:pt x="199504" y="1265"/>
                  <a:pt x="193774" y="0"/>
                  <a:pt x="190798" y="0"/>
                </a:cubicBezTo>
                <a:cubicBezTo>
                  <a:pt x="187821" y="0"/>
                  <a:pt x="182091" y="1265"/>
                  <a:pt x="173757" y="9079"/>
                </a:cubicBezTo>
                <a:cubicBezTo>
                  <a:pt x="165274" y="16966"/>
                  <a:pt x="156121" y="29914"/>
                  <a:pt x="147637" y="48071"/>
                </a:cubicBezTo>
                <a:cubicBezTo>
                  <a:pt x="132531" y="80442"/>
                  <a:pt x="121890" y="124644"/>
                  <a:pt x="119732" y="172641"/>
                </a:cubicBezTo>
                <a:close/>
                <a:moveTo>
                  <a:pt x="84013" y="172641"/>
                </a:moveTo>
                <a:cubicBezTo>
                  <a:pt x="86618" y="108942"/>
                  <a:pt x="103063" y="49783"/>
                  <a:pt x="127099" y="10939"/>
                </a:cubicBezTo>
                <a:cubicBezTo>
                  <a:pt x="58564" y="35198"/>
                  <a:pt x="8111" y="97631"/>
                  <a:pt x="1116" y="172641"/>
                </a:cubicBezTo>
                <a:lnTo>
                  <a:pt x="84013" y="172641"/>
                </a:lnTo>
                <a:close/>
                <a:moveTo>
                  <a:pt x="1116" y="208359"/>
                </a:moveTo>
                <a:cubicBezTo>
                  <a:pt x="8111" y="283369"/>
                  <a:pt x="58564" y="345802"/>
                  <a:pt x="127099" y="370061"/>
                </a:cubicBezTo>
                <a:cubicBezTo>
                  <a:pt x="103063" y="331217"/>
                  <a:pt x="86618" y="272058"/>
                  <a:pt x="84013" y="208359"/>
                </a:cubicBezTo>
                <a:lnTo>
                  <a:pt x="1116" y="208359"/>
                </a:lnTo>
                <a:close/>
                <a:moveTo>
                  <a:pt x="297582" y="208359"/>
                </a:moveTo>
                <a:cubicBezTo>
                  <a:pt x="294977" y="272058"/>
                  <a:pt x="278532" y="331217"/>
                  <a:pt x="254496" y="370061"/>
                </a:cubicBezTo>
                <a:cubicBezTo>
                  <a:pt x="323031" y="345728"/>
                  <a:pt x="373484" y="283369"/>
                  <a:pt x="380479" y="208359"/>
                </a:cubicBezTo>
                <a:lnTo>
                  <a:pt x="297582" y="208359"/>
                </a:lnTo>
                <a:close/>
                <a:moveTo>
                  <a:pt x="380479" y="172641"/>
                </a:moveTo>
                <a:cubicBezTo>
                  <a:pt x="373484" y="97631"/>
                  <a:pt x="323031" y="35198"/>
                  <a:pt x="254496" y="10939"/>
                </a:cubicBezTo>
                <a:cubicBezTo>
                  <a:pt x="278532" y="49783"/>
                  <a:pt x="294977" y="108942"/>
                  <a:pt x="297582" y="172641"/>
                </a:cubicBezTo>
                <a:lnTo>
                  <a:pt x="380479" y="172641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2540000" y="60325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Web (HTTP/HTTPS)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334000" y="6096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5719" y="47625"/>
                </a:moveTo>
                <a:cubicBezTo>
                  <a:pt x="15999" y="47625"/>
                  <a:pt x="0" y="63624"/>
                  <a:pt x="0" y="83344"/>
                </a:cubicBezTo>
                <a:cubicBezTo>
                  <a:pt x="0" y="94580"/>
                  <a:pt x="5283" y="105147"/>
                  <a:pt x="14288" y="111919"/>
                </a:cubicBezTo>
                <a:lnTo>
                  <a:pt x="169069" y="228005"/>
                </a:lnTo>
                <a:cubicBezTo>
                  <a:pt x="181794" y="237530"/>
                  <a:pt x="199206" y="237530"/>
                  <a:pt x="211931" y="228005"/>
                </a:cubicBezTo>
                <a:lnTo>
                  <a:pt x="366713" y="111919"/>
                </a:lnTo>
                <a:cubicBezTo>
                  <a:pt x="375717" y="105147"/>
                  <a:pt x="381000" y="94580"/>
                  <a:pt x="381000" y="83344"/>
                </a:cubicBezTo>
                <a:cubicBezTo>
                  <a:pt x="381000" y="63624"/>
                  <a:pt x="365001" y="47625"/>
                  <a:pt x="345281" y="47625"/>
                </a:cubicBezTo>
                <a:lnTo>
                  <a:pt x="35719" y="47625"/>
                </a:lnTo>
                <a:close/>
                <a:moveTo>
                  <a:pt x="0" y="145852"/>
                </a:moveTo>
                <a:lnTo>
                  <a:pt x="0" y="285750"/>
                </a:lnTo>
                <a:cubicBezTo>
                  <a:pt x="0" y="312018"/>
                  <a:pt x="21357" y="333375"/>
                  <a:pt x="47625" y="333375"/>
                </a:cubicBezTo>
                <a:lnTo>
                  <a:pt x="333375" y="333375"/>
                </a:lnTo>
                <a:cubicBezTo>
                  <a:pt x="359643" y="333375"/>
                  <a:pt x="381000" y="312018"/>
                  <a:pt x="381000" y="285750"/>
                </a:cubicBezTo>
                <a:lnTo>
                  <a:pt x="381000" y="145852"/>
                </a:lnTo>
                <a:lnTo>
                  <a:pt x="233363" y="256580"/>
                </a:lnTo>
                <a:cubicBezTo>
                  <a:pt x="207987" y="275630"/>
                  <a:pt x="173013" y="275630"/>
                  <a:pt x="147638" y="256580"/>
                </a:cubicBezTo>
                <a:lnTo>
                  <a:pt x="0" y="145852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7" name="Text 15"/>
          <p:cNvSpPr/>
          <p:nvPr/>
        </p:nvSpPr>
        <p:spPr>
          <a:xfrm>
            <a:off x="5842000" y="60325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Email (SMTP/IMAP)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636000" y="6096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47625"/>
                </a:moveTo>
                <a:cubicBezTo>
                  <a:pt x="0" y="21357"/>
                  <a:pt x="28476" y="0"/>
                  <a:pt x="63500" y="0"/>
                </a:cubicBezTo>
                <a:lnTo>
                  <a:pt x="211832" y="0"/>
                </a:lnTo>
                <a:cubicBezTo>
                  <a:pt x="228699" y="0"/>
                  <a:pt x="244872" y="4986"/>
                  <a:pt x="256778" y="13915"/>
                </a:cubicBezTo>
                <a:lnTo>
                  <a:pt x="362446" y="93241"/>
                </a:lnTo>
                <a:cubicBezTo>
                  <a:pt x="374352" y="102171"/>
                  <a:pt x="381000" y="114300"/>
                  <a:pt x="381000" y="126950"/>
                </a:cubicBezTo>
                <a:lnTo>
                  <a:pt x="381000" y="333375"/>
                </a:lnTo>
                <a:cubicBezTo>
                  <a:pt x="381000" y="359643"/>
                  <a:pt x="352524" y="381000"/>
                  <a:pt x="317500" y="381000"/>
                </a:cubicBezTo>
                <a:lnTo>
                  <a:pt x="63500" y="381000"/>
                </a:lnTo>
                <a:cubicBezTo>
                  <a:pt x="28476" y="381000"/>
                  <a:pt x="0" y="359643"/>
                  <a:pt x="0" y="333375"/>
                </a:cubicBezTo>
                <a:lnTo>
                  <a:pt x="0" y="47625"/>
                </a:lnTo>
                <a:close/>
                <a:moveTo>
                  <a:pt x="206375" y="43532"/>
                </a:moveTo>
                <a:lnTo>
                  <a:pt x="206375" y="113109"/>
                </a:lnTo>
                <a:cubicBezTo>
                  <a:pt x="206375" y="123006"/>
                  <a:pt x="216991" y="130969"/>
                  <a:pt x="230188" y="130969"/>
                </a:cubicBezTo>
                <a:lnTo>
                  <a:pt x="322957" y="130969"/>
                </a:lnTo>
                <a:lnTo>
                  <a:pt x="206375" y="43532"/>
                </a:lnTo>
                <a:close/>
                <a:moveTo>
                  <a:pt x="207367" y="195709"/>
                </a:moveTo>
                <a:cubicBezTo>
                  <a:pt x="198041" y="188714"/>
                  <a:pt x="182959" y="188714"/>
                  <a:pt x="173732" y="195709"/>
                </a:cubicBezTo>
                <a:lnTo>
                  <a:pt x="110232" y="243334"/>
                </a:lnTo>
                <a:cubicBezTo>
                  <a:pt x="100905" y="250329"/>
                  <a:pt x="100905" y="261640"/>
                  <a:pt x="110232" y="268560"/>
                </a:cubicBezTo>
                <a:cubicBezTo>
                  <a:pt x="119559" y="275481"/>
                  <a:pt x="134640" y="275555"/>
                  <a:pt x="143867" y="268560"/>
                </a:cubicBezTo>
                <a:lnTo>
                  <a:pt x="166688" y="251445"/>
                </a:lnTo>
                <a:lnTo>
                  <a:pt x="166688" y="315516"/>
                </a:lnTo>
                <a:cubicBezTo>
                  <a:pt x="166688" y="325413"/>
                  <a:pt x="177304" y="333375"/>
                  <a:pt x="190500" y="333375"/>
                </a:cubicBezTo>
                <a:cubicBezTo>
                  <a:pt x="203696" y="333375"/>
                  <a:pt x="214313" y="325413"/>
                  <a:pt x="214313" y="315516"/>
                </a:cubicBezTo>
                <a:lnTo>
                  <a:pt x="214313" y="251445"/>
                </a:lnTo>
                <a:lnTo>
                  <a:pt x="237133" y="268560"/>
                </a:lnTo>
                <a:cubicBezTo>
                  <a:pt x="246459" y="275555"/>
                  <a:pt x="261541" y="275555"/>
                  <a:pt x="270768" y="268560"/>
                </a:cubicBezTo>
                <a:cubicBezTo>
                  <a:pt x="279995" y="261565"/>
                  <a:pt x="280095" y="250254"/>
                  <a:pt x="270768" y="243334"/>
                </a:cubicBezTo>
                <a:lnTo>
                  <a:pt x="207268" y="195709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0" y="60325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 Transfer (FTP)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032000" y="6858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0" y="153144"/>
                </a:moveTo>
                <a:cubicBezTo>
                  <a:pt x="368413" y="160437"/>
                  <a:pt x="353956" y="166315"/>
                  <a:pt x="338903" y="171004"/>
                </a:cubicBezTo>
                <a:cubicBezTo>
                  <a:pt x="298932" y="183505"/>
                  <a:pt x="246459" y="190500"/>
                  <a:pt x="190500" y="190500"/>
                </a:cubicBezTo>
                <a:cubicBezTo>
                  <a:pt x="134541" y="190500"/>
                  <a:pt x="81983" y="183431"/>
                  <a:pt x="42097" y="171004"/>
                </a:cubicBezTo>
                <a:cubicBezTo>
                  <a:pt x="27129" y="166315"/>
                  <a:pt x="12587" y="160437"/>
                  <a:pt x="0" y="153144"/>
                </a:cubicBezTo>
                <a:lnTo>
                  <a:pt x="0" y="214313"/>
                </a:lnTo>
                <a:cubicBezTo>
                  <a:pt x="0" y="247204"/>
                  <a:pt x="85300" y="273844"/>
                  <a:pt x="190500" y="273844"/>
                </a:cubicBezTo>
                <a:cubicBezTo>
                  <a:pt x="295700" y="273844"/>
                  <a:pt x="381000" y="247204"/>
                  <a:pt x="381000" y="214313"/>
                </a:cubicBezTo>
                <a:lnTo>
                  <a:pt x="381000" y="153144"/>
                </a:lnTo>
                <a:close/>
                <a:moveTo>
                  <a:pt x="381000" y="95250"/>
                </a:moveTo>
                <a:lnTo>
                  <a:pt x="381000" y="59531"/>
                </a:lnTo>
                <a:cubicBezTo>
                  <a:pt x="381000" y="26640"/>
                  <a:pt x="295700" y="0"/>
                  <a:pt x="190500" y="0"/>
                </a:cubicBezTo>
                <a:cubicBezTo>
                  <a:pt x="85300" y="0"/>
                  <a:pt x="0" y="26640"/>
                  <a:pt x="0" y="59531"/>
                </a:cubicBezTo>
                <a:lnTo>
                  <a:pt x="0" y="95250"/>
                </a:lnTo>
                <a:cubicBezTo>
                  <a:pt x="0" y="128141"/>
                  <a:pt x="85300" y="154781"/>
                  <a:pt x="190500" y="154781"/>
                </a:cubicBezTo>
                <a:cubicBezTo>
                  <a:pt x="295700" y="154781"/>
                  <a:pt x="381000" y="128141"/>
                  <a:pt x="381000" y="95250"/>
                </a:cubicBezTo>
                <a:close/>
                <a:moveTo>
                  <a:pt x="338903" y="290066"/>
                </a:moveTo>
                <a:cubicBezTo>
                  <a:pt x="299017" y="302493"/>
                  <a:pt x="246544" y="309563"/>
                  <a:pt x="190500" y="309563"/>
                </a:cubicBezTo>
                <a:cubicBezTo>
                  <a:pt x="134456" y="309563"/>
                  <a:pt x="81983" y="302493"/>
                  <a:pt x="42097" y="290066"/>
                </a:cubicBezTo>
                <a:cubicBezTo>
                  <a:pt x="27129" y="285378"/>
                  <a:pt x="12587" y="279499"/>
                  <a:pt x="0" y="272207"/>
                </a:cubicBezTo>
                <a:lnTo>
                  <a:pt x="0" y="321469"/>
                </a:lnTo>
                <a:cubicBezTo>
                  <a:pt x="0" y="354360"/>
                  <a:pt x="85300" y="381000"/>
                  <a:pt x="190500" y="381000"/>
                </a:cubicBezTo>
                <a:cubicBezTo>
                  <a:pt x="295700" y="381000"/>
                  <a:pt x="381000" y="354360"/>
                  <a:pt x="381000" y="321469"/>
                </a:cubicBezTo>
                <a:lnTo>
                  <a:pt x="381000" y="272207"/>
                </a:lnTo>
                <a:cubicBezTo>
                  <a:pt x="368413" y="279499"/>
                  <a:pt x="353956" y="285378"/>
                  <a:pt x="338903" y="290066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1" name="Text 19"/>
          <p:cNvSpPr/>
          <p:nvPr/>
        </p:nvSpPr>
        <p:spPr>
          <a:xfrm>
            <a:off x="2540000" y="6794500"/>
            <a:ext cx="279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Database Connections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334000" y="6858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995" y="88255"/>
                </a:moveTo>
                <a:cubicBezTo>
                  <a:pt x="-2307" y="78953"/>
                  <a:pt x="-2307" y="63847"/>
                  <a:pt x="6995" y="54546"/>
                </a:cubicBezTo>
                <a:cubicBezTo>
                  <a:pt x="16297" y="45244"/>
                  <a:pt x="31403" y="45244"/>
                  <a:pt x="40704" y="54546"/>
                </a:cubicBezTo>
                <a:lnTo>
                  <a:pt x="159767" y="173608"/>
                </a:lnTo>
                <a:cubicBezTo>
                  <a:pt x="169069" y="182910"/>
                  <a:pt x="169069" y="198016"/>
                  <a:pt x="159767" y="207318"/>
                </a:cubicBezTo>
                <a:lnTo>
                  <a:pt x="40704" y="326380"/>
                </a:lnTo>
                <a:cubicBezTo>
                  <a:pt x="31403" y="335682"/>
                  <a:pt x="16297" y="335682"/>
                  <a:pt x="6995" y="326380"/>
                </a:cubicBezTo>
                <a:cubicBezTo>
                  <a:pt x="-2307" y="317078"/>
                  <a:pt x="-2307" y="301972"/>
                  <a:pt x="6995" y="292671"/>
                </a:cubicBezTo>
                <a:lnTo>
                  <a:pt x="109165" y="190500"/>
                </a:lnTo>
                <a:lnTo>
                  <a:pt x="6995" y="88255"/>
                </a:lnTo>
                <a:close/>
                <a:moveTo>
                  <a:pt x="166688" y="285750"/>
                </a:moveTo>
                <a:lnTo>
                  <a:pt x="357188" y="285750"/>
                </a:lnTo>
                <a:cubicBezTo>
                  <a:pt x="370359" y="285750"/>
                  <a:pt x="381000" y="296391"/>
                  <a:pt x="381000" y="309563"/>
                </a:cubicBezTo>
                <a:cubicBezTo>
                  <a:pt x="381000" y="322734"/>
                  <a:pt x="370359" y="333375"/>
                  <a:pt x="357188" y="333375"/>
                </a:cubicBezTo>
                <a:lnTo>
                  <a:pt x="166688" y="333375"/>
                </a:lnTo>
                <a:cubicBezTo>
                  <a:pt x="153516" y="333375"/>
                  <a:pt x="142875" y="322734"/>
                  <a:pt x="142875" y="309563"/>
                </a:cubicBezTo>
                <a:cubicBezTo>
                  <a:pt x="142875" y="296391"/>
                  <a:pt x="153516" y="285750"/>
                  <a:pt x="166688" y="28575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3" name="Text 21"/>
          <p:cNvSpPr/>
          <p:nvPr/>
        </p:nvSpPr>
        <p:spPr>
          <a:xfrm>
            <a:off x="5842000" y="67945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Remote Access (SSH)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636000" y="6858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77626" y="3795"/>
                </a:moveTo>
                <a:cubicBezTo>
                  <a:pt x="185440" y="-1265"/>
                  <a:pt x="195560" y="-1265"/>
                  <a:pt x="203374" y="3795"/>
                </a:cubicBezTo>
                <a:lnTo>
                  <a:pt x="370061" y="110951"/>
                </a:lnTo>
                <a:cubicBezTo>
                  <a:pt x="378916" y="116681"/>
                  <a:pt x="383009" y="127546"/>
                  <a:pt x="380033" y="137666"/>
                </a:cubicBezTo>
                <a:cubicBezTo>
                  <a:pt x="377056" y="147786"/>
                  <a:pt x="367754" y="154781"/>
                  <a:pt x="357188" y="154781"/>
                </a:cubicBezTo>
                <a:lnTo>
                  <a:pt x="333375" y="154781"/>
                </a:lnTo>
                <a:lnTo>
                  <a:pt x="333375" y="309563"/>
                </a:lnTo>
                <a:lnTo>
                  <a:pt x="371475" y="338137"/>
                </a:lnTo>
                <a:cubicBezTo>
                  <a:pt x="377503" y="342602"/>
                  <a:pt x="381000" y="349672"/>
                  <a:pt x="381000" y="357188"/>
                </a:cubicBezTo>
                <a:cubicBezTo>
                  <a:pt x="381000" y="370359"/>
                  <a:pt x="370359" y="381000"/>
                  <a:pt x="357188" y="381000"/>
                </a:cubicBezTo>
                <a:lnTo>
                  <a:pt x="23812" y="381000"/>
                </a:lnTo>
                <a:cubicBezTo>
                  <a:pt x="10641" y="381000"/>
                  <a:pt x="0" y="370359"/>
                  <a:pt x="0" y="357188"/>
                </a:cubicBezTo>
                <a:cubicBezTo>
                  <a:pt x="0" y="349672"/>
                  <a:pt x="3497" y="342602"/>
                  <a:pt x="9525" y="338137"/>
                </a:cubicBezTo>
                <a:lnTo>
                  <a:pt x="47625" y="309563"/>
                </a:lnTo>
                <a:lnTo>
                  <a:pt x="47625" y="309563"/>
                </a:lnTo>
                <a:lnTo>
                  <a:pt x="47625" y="154781"/>
                </a:lnTo>
                <a:lnTo>
                  <a:pt x="23812" y="154781"/>
                </a:lnTo>
                <a:cubicBezTo>
                  <a:pt x="13246" y="154781"/>
                  <a:pt x="3944" y="147786"/>
                  <a:pt x="967" y="137666"/>
                </a:cubicBezTo>
                <a:cubicBezTo>
                  <a:pt x="-2009" y="127546"/>
                  <a:pt x="2084" y="116607"/>
                  <a:pt x="10939" y="110951"/>
                </a:cubicBezTo>
                <a:lnTo>
                  <a:pt x="177626" y="3795"/>
                </a:lnTo>
                <a:close/>
                <a:moveTo>
                  <a:pt x="250031" y="154781"/>
                </a:moveTo>
                <a:lnTo>
                  <a:pt x="250031" y="309563"/>
                </a:lnTo>
                <a:lnTo>
                  <a:pt x="297656" y="309563"/>
                </a:lnTo>
                <a:lnTo>
                  <a:pt x="297656" y="154781"/>
                </a:lnTo>
                <a:lnTo>
                  <a:pt x="250031" y="154781"/>
                </a:lnTo>
                <a:close/>
                <a:moveTo>
                  <a:pt x="166688" y="309563"/>
                </a:moveTo>
                <a:lnTo>
                  <a:pt x="214313" y="309563"/>
                </a:lnTo>
                <a:lnTo>
                  <a:pt x="214313" y="154781"/>
                </a:lnTo>
                <a:lnTo>
                  <a:pt x="166688" y="154781"/>
                </a:lnTo>
                <a:lnTo>
                  <a:pt x="166688" y="309563"/>
                </a:lnTo>
                <a:close/>
                <a:moveTo>
                  <a:pt x="83344" y="154781"/>
                </a:moveTo>
                <a:lnTo>
                  <a:pt x="83344" y="309563"/>
                </a:lnTo>
                <a:lnTo>
                  <a:pt x="130969" y="309563"/>
                </a:lnTo>
                <a:lnTo>
                  <a:pt x="130969" y="154781"/>
                </a:lnTo>
                <a:lnTo>
                  <a:pt x="83344" y="154781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0" y="6794500"/>
            <a:ext cx="317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Banking Transactions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70000" y="8255000"/>
            <a:ext cx="13716000" cy="5080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27" name="Text 2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28 — UDP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Network Programming — The Fast &amp; Lightweight Protocol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UDP — Definition &amp; Overview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7112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UDP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(User Datagram Protocol) is a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connectionless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lightweight transport layer protocol.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Sends data as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datagrams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without a connection.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Does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guarantee delivery, order, or recovery.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No setup — sends immediately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No ACKs — "fire and forget"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No retransmission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No ordering guarantee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Layer: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Transport (Layer 4)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Type: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Connectionless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890000" y="1905000"/>
            <a:ext cx="6096000" cy="609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0" y="2286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768350" y="-19645"/>
                </a:moveTo>
                <a:cubicBezTo>
                  <a:pt x="795338" y="-2580"/>
                  <a:pt x="805316" y="28377"/>
                  <a:pt x="793070" y="55364"/>
                </a:cubicBezTo>
                <a:lnTo>
                  <a:pt x="615270" y="444500"/>
                </a:lnTo>
                <a:lnTo>
                  <a:pt x="943429" y="444500"/>
                </a:lnTo>
                <a:cubicBezTo>
                  <a:pt x="974045" y="444500"/>
                  <a:pt x="1001259" y="461169"/>
                  <a:pt x="1011691" y="486370"/>
                </a:cubicBezTo>
                <a:cubicBezTo>
                  <a:pt x="1022123" y="511572"/>
                  <a:pt x="1013279" y="539750"/>
                  <a:pt x="989920" y="556816"/>
                </a:cubicBezTo>
                <a:lnTo>
                  <a:pt x="336777" y="1033066"/>
                </a:lnTo>
                <a:cubicBezTo>
                  <a:pt x="311150" y="1051719"/>
                  <a:pt x="274638" y="1052711"/>
                  <a:pt x="247650" y="1035645"/>
                </a:cubicBezTo>
                <a:cubicBezTo>
                  <a:pt x="220663" y="1018580"/>
                  <a:pt x="210684" y="987623"/>
                  <a:pt x="222930" y="960636"/>
                </a:cubicBezTo>
                <a:lnTo>
                  <a:pt x="400730" y="571500"/>
                </a:lnTo>
                <a:lnTo>
                  <a:pt x="72571" y="571500"/>
                </a:lnTo>
                <a:cubicBezTo>
                  <a:pt x="41955" y="571500"/>
                  <a:pt x="14741" y="554831"/>
                  <a:pt x="4309" y="529630"/>
                </a:cubicBezTo>
                <a:cubicBezTo>
                  <a:pt x="-6123" y="504428"/>
                  <a:pt x="2721" y="476250"/>
                  <a:pt x="26080" y="459184"/>
                </a:cubicBezTo>
                <a:lnTo>
                  <a:pt x="679223" y="-17066"/>
                </a:lnTo>
                <a:cubicBezTo>
                  <a:pt x="704850" y="-35719"/>
                  <a:pt x="741363" y="-36711"/>
                  <a:pt x="768350" y="-1964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7" name="Text 5"/>
          <p:cNvSpPr/>
          <p:nvPr/>
        </p:nvSpPr>
        <p:spPr>
          <a:xfrm>
            <a:off x="9271000" y="3556000"/>
            <a:ext cx="533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UDP at a Glance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271000" y="4191000"/>
            <a:ext cx="5334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No setup delay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Lightweight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8-byte header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Connectionless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No handshake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Best-Effort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No guarantees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Broadcast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Multicast support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Control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No flow/congestion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UDP — How It Works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524000" y="2286000"/>
            <a:ext cx="889000" cy="889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286000"/>
            <a:ext cx="88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667000" y="2286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Connection Setup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667000" y="2730500"/>
            <a:ext cx="1143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Sender transmits datagrams directly without any handshake or connection establishment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68500" y="3175000"/>
            <a:ext cx="0" cy="50800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1524000" y="3683000"/>
            <a:ext cx="889000" cy="889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1524000" y="3683000"/>
            <a:ext cx="88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67000" y="3683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Datagram Transmission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67000" y="4127500"/>
            <a:ext cx="1143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wrapped in UDP header (8 bytes) + sent as IP packets — minimal overhead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968500" y="4572000"/>
            <a:ext cx="0" cy="50800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524000" y="5080000"/>
            <a:ext cx="889000" cy="889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1524000" y="5080000"/>
            <a:ext cx="88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667000" y="5080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Acknowledgment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667000" y="5524500"/>
            <a:ext cx="1143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Sender does not wait for confirmation; lost packets are NOT retransmitted automatically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968500" y="5969000"/>
            <a:ext cx="0" cy="50800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524000" y="6477000"/>
            <a:ext cx="889000" cy="889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20" name="Text 18"/>
          <p:cNvSpPr/>
          <p:nvPr/>
        </p:nvSpPr>
        <p:spPr>
          <a:xfrm>
            <a:off x="1524000" y="6477000"/>
            <a:ext cx="88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667000" y="647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Flow Control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667000" y="6921500"/>
            <a:ext cx="1143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Transmits at full speed regardless of receiver capacity — no congestion management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270000" y="7747000"/>
            <a:ext cx="13716000" cy="508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78000" y="7747000"/>
            <a:ext cx="1270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UDP's motto: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"Speed first, reliability optional"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ideal for real-time applications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UDP — Key Features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445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1000" y="2159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7940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Connectionless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24000" y="3238500"/>
            <a:ext cx="393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setup or teardown overhead; sends data immediately without handshakes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69000" y="1905000"/>
            <a:ext cx="4445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200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254000"/>
                </a:moveTo>
                <a:cubicBezTo>
                  <a:pt x="0" y="113814"/>
                  <a:pt x="113814" y="0"/>
                  <a:pt x="254000" y="0"/>
                </a:cubicBez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lose/>
                <a:moveTo>
                  <a:pt x="285750" y="95250"/>
                </a:moveTo>
                <a:cubicBezTo>
                  <a:pt x="285750" y="77727"/>
                  <a:pt x="271523" y="63500"/>
                  <a:pt x="254000" y="63500"/>
                </a:cubicBezTo>
                <a:cubicBezTo>
                  <a:pt x="236477" y="63500"/>
                  <a:pt x="222250" y="77727"/>
                  <a:pt x="222250" y="95250"/>
                </a:cubicBezTo>
                <a:cubicBezTo>
                  <a:pt x="222250" y="112773"/>
                  <a:pt x="236477" y="127000"/>
                  <a:pt x="254000" y="127000"/>
                </a:cubicBezTo>
                <a:cubicBezTo>
                  <a:pt x="271523" y="127000"/>
                  <a:pt x="285750" y="112773"/>
                  <a:pt x="285750" y="95250"/>
                </a:cubicBezTo>
                <a:close/>
                <a:moveTo>
                  <a:pt x="254000" y="412750"/>
                </a:moveTo>
                <a:cubicBezTo>
                  <a:pt x="289024" y="412750"/>
                  <a:pt x="317500" y="384274"/>
                  <a:pt x="317500" y="349250"/>
                </a:cubicBezTo>
                <a:cubicBezTo>
                  <a:pt x="317500" y="333177"/>
                  <a:pt x="311547" y="318393"/>
                  <a:pt x="301625" y="307280"/>
                </a:cubicBezTo>
                <a:lnTo>
                  <a:pt x="370582" y="169466"/>
                </a:lnTo>
                <a:cubicBezTo>
                  <a:pt x="376436" y="157659"/>
                  <a:pt x="371673" y="143371"/>
                  <a:pt x="359966" y="137517"/>
                </a:cubicBezTo>
                <a:cubicBezTo>
                  <a:pt x="348258" y="131663"/>
                  <a:pt x="333871" y="136426"/>
                  <a:pt x="328017" y="148134"/>
                </a:cubicBezTo>
                <a:lnTo>
                  <a:pt x="259060" y="285948"/>
                </a:lnTo>
                <a:cubicBezTo>
                  <a:pt x="257373" y="285849"/>
                  <a:pt x="255687" y="285750"/>
                  <a:pt x="254000" y="285750"/>
                </a:cubicBezTo>
                <a:cubicBezTo>
                  <a:pt x="218976" y="285750"/>
                  <a:pt x="190500" y="314226"/>
                  <a:pt x="190500" y="349250"/>
                </a:cubicBezTo>
                <a:cubicBezTo>
                  <a:pt x="190500" y="384274"/>
                  <a:pt x="218976" y="412750"/>
                  <a:pt x="254000" y="412750"/>
                </a:cubicBezTo>
                <a:close/>
                <a:moveTo>
                  <a:pt x="174625" y="142875"/>
                </a:moveTo>
                <a:cubicBezTo>
                  <a:pt x="174625" y="125352"/>
                  <a:pt x="160398" y="111125"/>
                  <a:pt x="142875" y="111125"/>
                </a:cubicBezTo>
                <a:cubicBezTo>
                  <a:pt x="125352" y="111125"/>
                  <a:pt x="111125" y="125352"/>
                  <a:pt x="111125" y="142875"/>
                </a:cubicBezTo>
                <a:cubicBezTo>
                  <a:pt x="111125" y="160398"/>
                  <a:pt x="125352" y="174625"/>
                  <a:pt x="142875" y="174625"/>
                </a:cubicBezTo>
                <a:cubicBezTo>
                  <a:pt x="160398" y="174625"/>
                  <a:pt x="174625" y="160398"/>
                  <a:pt x="174625" y="142875"/>
                </a:cubicBezTo>
                <a:close/>
                <a:moveTo>
                  <a:pt x="95250" y="285750"/>
                </a:moveTo>
                <a:cubicBezTo>
                  <a:pt x="112773" y="285750"/>
                  <a:pt x="127000" y="271523"/>
                  <a:pt x="127000" y="254000"/>
                </a:cubicBezTo>
                <a:cubicBezTo>
                  <a:pt x="127000" y="236477"/>
                  <a:pt x="112773" y="222250"/>
                  <a:pt x="95250" y="222250"/>
                </a:cubicBezTo>
                <a:cubicBezTo>
                  <a:pt x="77727" y="222250"/>
                  <a:pt x="63500" y="236477"/>
                  <a:pt x="63500" y="254000"/>
                </a:cubicBezTo>
                <a:cubicBezTo>
                  <a:pt x="63500" y="271523"/>
                  <a:pt x="77727" y="285750"/>
                  <a:pt x="95250" y="285750"/>
                </a:cubicBezTo>
                <a:close/>
                <a:moveTo>
                  <a:pt x="444500" y="254000"/>
                </a:moveTo>
                <a:cubicBezTo>
                  <a:pt x="444500" y="236477"/>
                  <a:pt x="430273" y="222250"/>
                  <a:pt x="412750" y="222250"/>
                </a:cubicBezTo>
                <a:cubicBezTo>
                  <a:pt x="395227" y="222250"/>
                  <a:pt x="381000" y="236477"/>
                  <a:pt x="381000" y="254000"/>
                </a:cubicBezTo>
                <a:cubicBezTo>
                  <a:pt x="381000" y="271523"/>
                  <a:pt x="395227" y="285750"/>
                  <a:pt x="412750" y="285750"/>
                </a:cubicBezTo>
                <a:cubicBezTo>
                  <a:pt x="430273" y="285750"/>
                  <a:pt x="444500" y="271523"/>
                  <a:pt x="444500" y="2540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6223000" y="27940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Low Latency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23000" y="3238500"/>
            <a:ext cx="393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handshake, no acknowledgments, no retransmissions — minimal delay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668000" y="1905000"/>
            <a:ext cx="4318000" cy="2921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23825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49250" y="0"/>
                </a:moveTo>
                <a:cubicBezTo>
                  <a:pt x="389930" y="0"/>
                  <a:pt x="428923" y="16173"/>
                  <a:pt x="457597" y="44847"/>
                </a:cubicBezTo>
                <a:lnTo>
                  <a:pt x="463054" y="50304"/>
                </a:lnTo>
                <a:cubicBezTo>
                  <a:pt x="491827" y="79077"/>
                  <a:pt x="508000" y="118070"/>
                  <a:pt x="508000" y="158651"/>
                </a:cubicBezTo>
                <a:cubicBezTo>
                  <a:pt x="508000" y="182563"/>
                  <a:pt x="502345" y="205879"/>
                  <a:pt x="491927" y="226913"/>
                </a:cubicBezTo>
                <a:cubicBezTo>
                  <a:pt x="490041" y="230584"/>
                  <a:pt x="486668" y="233362"/>
                  <a:pt x="482699" y="234553"/>
                </a:cubicBezTo>
                <a:lnTo>
                  <a:pt x="371574" y="267891"/>
                </a:lnTo>
                <a:cubicBezTo>
                  <a:pt x="367705" y="269081"/>
                  <a:pt x="365125" y="272554"/>
                  <a:pt x="365125" y="276622"/>
                </a:cubicBezTo>
                <a:cubicBezTo>
                  <a:pt x="365125" y="281682"/>
                  <a:pt x="369193" y="285750"/>
                  <a:pt x="374253" y="285750"/>
                </a:cubicBezTo>
                <a:lnTo>
                  <a:pt x="406202" y="285750"/>
                </a:lnTo>
                <a:cubicBezTo>
                  <a:pt x="420390" y="285750"/>
                  <a:pt x="427434" y="302816"/>
                  <a:pt x="417413" y="312837"/>
                </a:cubicBezTo>
                <a:lnTo>
                  <a:pt x="395188" y="335062"/>
                </a:lnTo>
                <a:cubicBezTo>
                  <a:pt x="393303" y="336947"/>
                  <a:pt x="391021" y="338237"/>
                  <a:pt x="388541" y="339030"/>
                </a:cubicBezTo>
                <a:lnTo>
                  <a:pt x="308173" y="363141"/>
                </a:lnTo>
                <a:cubicBezTo>
                  <a:pt x="304304" y="364331"/>
                  <a:pt x="301724" y="367804"/>
                  <a:pt x="301724" y="371872"/>
                </a:cubicBezTo>
                <a:cubicBezTo>
                  <a:pt x="301724" y="376932"/>
                  <a:pt x="305792" y="381000"/>
                  <a:pt x="310852" y="381000"/>
                </a:cubicBezTo>
                <a:cubicBezTo>
                  <a:pt x="323949" y="381000"/>
                  <a:pt x="329605" y="396577"/>
                  <a:pt x="318591" y="403721"/>
                </a:cubicBezTo>
                <a:cubicBezTo>
                  <a:pt x="277813" y="430113"/>
                  <a:pt x="229989" y="444500"/>
                  <a:pt x="180677" y="444500"/>
                </a:cubicBezTo>
                <a:lnTo>
                  <a:pt x="95349" y="444500"/>
                </a:lnTo>
                <a:lnTo>
                  <a:pt x="47724" y="492125"/>
                </a:lnTo>
                <a:cubicBezTo>
                  <a:pt x="38993" y="500856"/>
                  <a:pt x="24705" y="500856"/>
                  <a:pt x="15974" y="492125"/>
                </a:cubicBezTo>
                <a:cubicBezTo>
                  <a:pt x="7243" y="483394"/>
                  <a:pt x="7243" y="469106"/>
                  <a:pt x="15974" y="460375"/>
                </a:cubicBezTo>
                <a:lnTo>
                  <a:pt x="254000" y="222250"/>
                </a:lnTo>
                <a:cubicBezTo>
                  <a:pt x="262731" y="213519"/>
                  <a:pt x="262731" y="199231"/>
                  <a:pt x="254000" y="190500"/>
                </a:cubicBezTo>
                <a:cubicBezTo>
                  <a:pt x="245269" y="181769"/>
                  <a:pt x="230981" y="181769"/>
                  <a:pt x="222250" y="190500"/>
                </a:cubicBezTo>
                <a:lnTo>
                  <a:pt x="78879" y="333871"/>
                </a:lnTo>
                <a:cubicBezTo>
                  <a:pt x="73223" y="339527"/>
                  <a:pt x="63500" y="335558"/>
                  <a:pt x="63500" y="327521"/>
                </a:cubicBezTo>
                <a:cubicBezTo>
                  <a:pt x="63500" y="260152"/>
                  <a:pt x="90289" y="195560"/>
                  <a:pt x="137914" y="147935"/>
                </a:cubicBezTo>
                <a:lnTo>
                  <a:pt x="240903" y="44847"/>
                </a:lnTo>
                <a:cubicBezTo>
                  <a:pt x="269577" y="16173"/>
                  <a:pt x="308570" y="0"/>
                  <a:pt x="34925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22000" y="279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Lightweight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22000" y="3238500"/>
            <a:ext cx="381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Only 8-byte header vs TCP's 20 bytes — minimal processing overhead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70000" y="5080000"/>
            <a:ext cx="4445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21000" y="533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77523" y="11410"/>
                </a:moveTo>
                <a:cubicBezTo>
                  <a:pt x="67557" y="4564"/>
                  <a:pt x="54504" y="8235"/>
                  <a:pt x="48419" y="19447"/>
                </a:cubicBezTo>
                <a:cubicBezTo>
                  <a:pt x="26547" y="60127"/>
                  <a:pt x="14023" y="107851"/>
                  <a:pt x="14023" y="158750"/>
                </a:cubicBezTo>
                <a:cubicBezTo>
                  <a:pt x="14023" y="209649"/>
                  <a:pt x="26547" y="257373"/>
                  <a:pt x="48419" y="298053"/>
                </a:cubicBezTo>
                <a:cubicBezTo>
                  <a:pt x="54504" y="309265"/>
                  <a:pt x="67469" y="312936"/>
                  <a:pt x="77523" y="306090"/>
                </a:cubicBezTo>
                <a:cubicBezTo>
                  <a:pt x="87577" y="299244"/>
                  <a:pt x="90752" y="284659"/>
                  <a:pt x="84667" y="273348"/>
                </a:cubicBezTo>
                <a:cubicBezTo>
                  <a:pt x="66763" y="240010"/>
                  <a:pt x="56444" y="200720"/>
                  <a:pt x="56444" y="158750"/>
                </a:cubicBezTo>
                <a:cubicBezTo>
                  <a:pt x="56444" y="116780"/>
                  <a:pt x="66763" y="77490"/>
                  <a:pt x="84755" y="44053"/>
                </a:cubicBezTo>
                <a:cubicBezTo>
                  <a:pt x="90840" y="32841"/>
                  <a:pt x="87577" y="18157"/>
                  <a:pt x="77611" y="11311"/>
                </a:cubicBezTo>
                <a:close/>
                <a:moveTo>
                  <a:pt x="430389" y="11410"/>
                </a:moveTo>
                <a:cubicBezTo>
                  <a:pt x="420423" y="18256"/>
                  <a:pt x="417160" y="32841"/>
                  <a:pt x="423245" y="44152"/>
                </a:cubicBezTo>
                <a:cubicBezTo>
                  <a:pt x="441237" y="77589"/>
                  <a:pt x="451556" y="116880"/>
                  <a:pt x="451556" y="158849"/>
                </a:cubicBezTo>
                <a:cubicBezTo>
                  <a:pt x="451556" y="200819"/>
                  <a:pt x="441237" y="240109"/>
                  <a:pt x="423245" y="273546"/>
                </a:cubicBezTo>
                <a:cubicBezTo>
                  <a:pt x="417160" y="284758"/>
                  <a:pt x="420423" y="299442"/>
                  <a:pt x="430389" y="306288"/>
                </a:cubicBezTo>
                <a:cubicBezTo>
                  <a:pt x="440355" y="313134"/>
                  <a:pt x="453408" y="309463"/>
                  <a:pt x="459493" y="298252"/>
                </a:cubicBezTo>
                <a:cubicBezTo>
                  <a:pt x="481365" y="257572"/>
                  <a:pt x="493889" y="209848"/>
                  <a:pt x="493889" y="158948"/>
                </a:cubicBezTo>
                <a:cubicBezTo>
                  <a:pt x="493889" y="108049"/>
                  <a:pt x="481365" y="60127"/>
                  <a:pt x="459493" y="19447"/>
                </a:cubicBezTo>
                <a:cubicBezTo>
                  <a:pt x="453408" y="8235"/>
                  <a:pt x="440443" y="4564"/>
                  <a:pt x="430389" y="11410"/>
                </a:cubicBezTo>
                <a:close/>
                <a:moveTo>
                  <a:pt x="282222" y="213717"/>
                </a:moveTo>
                <a:cubicBezTo>
                  <a:pt x="299067" y="202704"/>
                  <a:pt x="310444" y="182265"/>
                  <a:pt x="310444" y="158750"/>
                </a:cubicBezTo>
                <a:cubicBezTo>
                  <a:pt x="310444" y="123726"/>
                  <a:pt x="285133" y="95250"/>
                  <a:pt x="254000" y="95250"/>
                </a:cubicBezTo>
                <a:cubicBezTo>
                  <a:pt x="222867" y="95250"/>
                  <a:pt x="197556" y="123726"/>
                  <a:pt x="197556" y="158750"/>
                </a:cubicBezTo>
                <a:cubicBezTo>
                  <a:pt x="197556" y="182265"/>
                  <a:pt x="208933" y="202803"/>
                  <a:pt x="225778" y="213717"/>
                </a:cubicBezTo>
                <a:lnTo>
                  <a:pt x="225778" y="476250"/>
                </a:lnTo>
                <a:cubicBezTo>
                  <a:pt x="225778" y="493812"/>
                  <a:pt x="238390" y="508000"/>
                  <a:pt x="254000" y="508000"/>
                </a:cubicBezTo>
                <a:cubicBezTo>
                  <a:pt x="269610" y="508000"/>
                  <a:pt x="282222" y="493812"/>
                  <a:pt x="282222" y="476250"/>
                </a:cubicBezTo>
                <a:lnTo>
                  <a:pt x="282222" y="213717"/>
                </a:lnTo>
                <a:close/>
                <a:moveTo>
                  <a:pt x="158926" y="90289"/>
                </a:moveTo>
                <a:cubicBezTo>
                  <a:pt x="165276" y="79177"/>
                  <a:pt x="162366" y="64492"/>
                  <a:pt x="152576" y="57348"/>
                </a:cubicBezTo>
                <a:cubicBezTo>
                  <a:pt x="142787" y="50205"/>
                  <a:pt x="129646" y="53479"/>
                  <a:pt x="123296" y="64492"/>
                </a:cubicBezTo>
                <a:cubicBezTo>
                  <a:pt x="107774" y="91678"/>
                  <a:pt x="98778" y="124023"/>
                  <a:pt x="98778" y="158750"/>
                </a:cubicBezTo>
                <a:cubicBezTo>
                  <a:pt x="98778" y="193477"/>
                  <a:pt x="107774" y="225822"/>
                  <a:pt x="123296" y="253008"/>
                </a:cubicBezTo>
                <a:cubicBezTo>
                  <a:pt x="129646" y="264120"/>
                  <a:pt x="142699" y="267295"/>
                  <a:pt x="152576" y="260152"/>
                </a:cubicBezTo>
                <a:cubicBezTo>
                  <a:pt x="162454" y="253008"/>
                  <a:pt x="165276" y="238323"/>
                  <a:pt x="158926" y="227211"/>
                </a:cubicBezTo>
                <a:cubicBezTo>
                  <a:pt x="147637" y="207466"/>
                  <a:pt x="141111" y="183952"/>
                  <a:pt x="141111" y="158750"/>
                </a:cubicBezTo>
                <a:cubicBezTo>
                  <a:pt x="141111" y="133548"/>
                  <a:pt x="147638" y="110034"/>
                  <a:pt x="158926" y="90289"/>
                </a:cubicBezTo>
                <a:close/>
                <a:moveTo>
                  <a:pt x="384704" y="64492"/>
                </a:moveTo>
                <a:cubicBezTo>
                  <a:pt x="378354" y="53380"/>
                  <a:pt x="365301" y="50205"/>
                  <a:pt x="355424" y="57348"/>
                </a:cubicBezTo>
                <a:cubicBezTo>
                  <a:pt x="345546" y="64492"/>
                  <a:pt x="342724" y="79177"/>
                  <a:pt x="349074" y="90289"/>
                </a:cubicBezTo>
                <a:cubicBezTo>
                  <a:pt x="360363" y="110034"/>
                  <a:pt x="366889" y="133548"/>
                  <a:pt x="366889" y="158750"/>
                </a:cubicBezTo>
                <a:cubicBezTo>
                  <a:pt x="366889" y="183952"/>
                  <a:pt x="360363" y="207466"/>
                  <a:pt x="349074" y="227211"/>
                </a:cubicBezTo>
                <a:cubicBezTo>
                  <a:pt x="342724" y="238323"/>
                  <a:pt x="345634" y="253008"/>
                  <a:pt x="355424" y="260152"/>
                </a:cubicBezTo>
                <a:cubicBezTo>
                  <a:pt x="365213" y="267295"/>
                  <a:pt x="378354" y="264021"/>
                  <a:pt x="384704" y="253008"/>
                </a:cubicBezTo>
                <a:cubicBezTo>
                  <a:pt x="400226" y="225822"/>
                  <a:pt x="409222" y="193477"/>
                  <a:pt x="409222" y="158750"/>
                </a:cubicBezTo>
                <a:cubicBezTo>
                  <a:pt x="409222" y="124023"/>
                  <a:pt x="400226" y="91678"/>
                  <a:pt x="384704" y="64492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8" name="Text 16"/>
          <p:cNvSpPr/>
          <p:nvPr/>
        </p:nvSpPr>
        <p:spPr>
          <a:xfrm>
            <a:off x="1524000" y="59690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Broadcast &amp; Multicast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24000" y="6413500"/>
            <a:ext cx="393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One sender can reach multiple receivers simultaneously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969000" y="5080000"/>
            <a:ext cx="4445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20000" y="533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22151" y="31750"/>
                </a:moveTo>
                <a:lnTo>
                  <a:pt x="146546" y="31750"/>
                </a:lnTo>
                <a:cubicBezTo>
                  <a:pt x="117376" y="31750"/>
                  <a:pt x="91877" y="51693"/>
                  <a:pt x="84931" y="79970"/>
                </a:cubicBezTo>
                <a:lnTo>
                  <a:pt x="1389" y="417215"/>
                </a:lnTo>
                <a:cubicBezTo>
                  <a:pt x="-6052" y="447179"/>
                  <a:pt x="16669" y="476250"/>
                  <a:pt x="47625" y="476250"/>
                </a:cubicBezTo>
                <a:lnTo>
                  <a:pt x="222151" y="476250"/>
                </a:lnTo>
                <a:lnTo>
                  <a:pt x="222151" y="412750"/>
                </a:lnTo>
                <a:cubicBezTo>
                  <a:pt x="222151" y="395188"/>
                  <a:pt x="236339" y="381000"/>
                  <a:pt x="253901" y="381000"/>
                </a:cubicBezTo>
                <a:cubicBezTo>
                  <a:pt x="271463" y="381000"/>
                  <a:pt x="285651" y="395188"/>
                  <a:pt x="285651" y="412750"/>
                </a:cubicBezTo>
                <a:lnTo>
                  <a:pt x="285651" y="476250"/>
                </a:lnTo>
                <a:lnTo>
                  <a:pt x="460375" y="476250"/>
                </a:lnTo>
                <a:cubicBezTo>
                  <a:pt x="491331" y="476250"/>
                  <a:pt x="514052" y="447179"/>
                  <a:pt x="506611" y="417215"/>
                </a:cubicBezTo>
                <a:lnTo>
                  <a:pt x="423168" y="79970"/>
                </a:lnTo>
                <a:cubicBezTo>
                  <a:pt x="416123" y="51693"/>
                  <a:pt x="390723" y="31750"/>
                  <a:pt x="361454" y="31750"/>
                </a:cubicBezTo>
                <a:lnTo>
                  <a:pt x="285651" y="31750"/>
                </a:lnTo>
                <a:lnTo>
                  <a:pt x="285651" y="95250"/>
                </a:lnTo>
                <a:cubicBezTo>
                  <a:pt x="285651" y="112812"/>
                  <a:pt x="271462" y="127000"/>
                  <a:pt x="253901" y="127000"/>
                </a:cubicBezTo>
                <a:cubicBezTo>
                  <a:pt x="236339" y="127000"/>
                  <a:pt x="222151" y="112812"/>
                  <a:pt x="222151" y="95250"/>
                </a:cubicBezTo>
                <a:lnTo>
                  <a:pt x="222151" y="31750"/>
                </a:lnTo>
                <a:close/>
                <a:moveTo>
                  <a:pt x="285651" y="222250"/>
                </a:moveTo>
                <a:lnTo>
                  <a:pt x="285651" y="285750"/>
                </a:lnTo>
                <a:cubicBezTo>
                  <a:pt x="285651" y="303312"/>
                  <a:pt x="271462" y="317500"/>
                  <a:pt x="253901" y="317500"/>
                </a:cubicBezTo>
                <a:cubicBezTo>
                  <a:pt x="236339" y="317500"/>
                  <a:pt x="222151" y="303312"/>
                  <a:pt x="222151" y="285750"/>
                </a:cubicBezTo>
                <a:lnTo>
                  <a:pt x="222151" y="222250"/>
                </a:lnTo>
                <a:cubicBezTo>
                  <a:pt x="222151" y="204688"/>
                  <a:pt x="236339" y="190500"/>
                  <a:pt x="253901" y="190500"/>
                </a:cubicBezTo>
                <a:cubicBezTo>
                  <a:pt x="271462" y="190500"/>
                  <a:pt x="285651" y="204688"/>
                  <a:pt x="285651" y="22225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2" name="Text 20"/>
          <p:cNvSpPr/>
          <p:nvPr/>
        </p:nvSpPr>
        <p:spPr>
          <a:xfrm>
            <a:off x="6223000" y="59690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Congestion Control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23000" y="6413500"/>
            <a:ext cx="393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Transmits at constant rate regardless of network conditions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668000" y="5080000"/>
            <a:ext cx="4318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2382500" y="533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00645" y="34131"/>
                </a:moveTo>
                <a:cubicBezTo>
                  <a:pt x="412552" y="29170"/>
                  <a:pt x="426145" y="31948"/>
                  <a:pt x="435273" y="40977"/>
                </a:cubicBezTo>
                <a:lnTo>
                  <a:pt x="498773" y="104477"/>
                </a:lnTo>
                <a:cubicBezTo>
                  <a:pt x="504726" y="110430"/>
                  <a:pt x="508099" y="118467"/>
                  <a:pt x="508099" y="126901"/>
                </a:cubicBezTo>
                <a:cubicBezTo>
                  <a:pt x="508099" y="135334"/>
                  <a:pt x="504726" y="143371"/>
                  <a:pt x="498773" y="149324"/>
                </a:cubicBezTo>
                <a:lnTo>
                  <a:pt x="435273" y="212824"/>
                </a:lnTo>
                <a:cubicBezTo>
                  <a:pt x="426145" y="221952"/>
                  <a:pt x="412552" y="224631"/>
                  <a:pt x="400645" y="219670"/>
                </a:cubicBezTo>
                <a:cubicBezTo>
                  <a:pt x="388739" y="214709"/>
                  <a:pt x="381000" y="203299"/>
                  <a:pt x="381000" y="190500"/>
                </a:cubicBezTo>
                <a:lnTo>
                  <a:pt x="381000" y="158750"/>
                </a:lnTo>
                <a:lnTo>
                  <a:pt x="349250" y="158750"/>
                </a:lnTo>
                <a:cubicBezTo>
                  <a:pt x="339229" y="158750"/>
                  <a:pt x="329803" y="163413"/>
                  <a:pt x="323850" y="171450"/>
                </a:cubicBezTo>
                <a:lnTo>
                  <a:pt x="291703" y="214313"/>
                </a:lnTo>
                <a:lnTo>
                  <a:pt x="252016" y="161429"/>
                </a:lnTo>
                <a:lnTo>
                  <a:pt x="273050" y="133350"/>
                </a:lnTo>
                <a:cubicBezTo>
                  <a:pt x="291009" y="109339"/>
                  <a:pt x="319286" y="95250"/>
                  <a:pt x="349250" y="95250"/>
                </a:cubicBezTo>
                <a:lnTo>
                  <a:pt x="381000" y="95250"/>
                </a:lnTo>
                <a:lnTo>
                  <a:pt x="381000" y="63500"/>
                </a:lnTo>
                <a:cubicBezTo>
                  <a:pt x="381000" y="50701"/>
                  <a:pt x="388739" y="39092"/>
                  <a:pt x="400645" y="34131"/>
                </a:cubicBezTo>
                <a:close/>
                <a:moveTo>
                  <a:pt x="152797" y="293688"/>
                </a:moveTo>
                <a:lnTo>
                  <a:pt x="192484" y="346571"/>
                </a:lnTo>
                <a:lnTo>
                  <a:pt x="171450" y="374650"/>
                </a:lnTo>
                <a:cubicBezTo>
                  <a:pt x="153491" y="398661"/>
                  <a:pt x="125214" y="412750"/>
                  <a:pt x="95250" y="412750"/>
                </a:cubicBezTo>
                <a:lnTo>
                  <a:pt x="31750" y="412750"/>
                </a:lnTo>
                <a:cubicBezTo>
                  <a:pt x="14188" y="412750"/>
                  <a:pt x="0" y="398562"/>
                  <a:pt x="0" y="381000"/>
                </a:cubicBezTo>
                <a:cubicBezTo>
                  <a:pt x="0" y="363438"/>
                  <a:pt x="14188" y="349250"/>
                  <a:pt x="31750" y="349250"/>
                </a:cubicBezTo>
                <a:lnTo>
                  <a:pt x="95250" y="349250"/>
                </a:lnTo>
                <a:cubicBezTo>
                  <a:pt x="105271" y="349250"/>
                  <a:pt x="114697" y="344587"/>
                  <a:pt x="120650" y="336550"/>
                </a:cubicBezTo>
                <a:lnTo>
                  <a:pt x="152797" y="293688"/>
                </a:lnTo>
                <a:close/>
                <a:moveTo>
                  <a:pt x="435173" y="466923"/>
                </a:moveTo>
                <a:cubicBezTo>
                  <a:pt x="426045" y="476052"/>
                  <a:pt x="412452" y="478730"/>
                  <a:pt x="400546" y="473770"/>
                </a:cubicBezTo>
                <a:cubicBezTo>
                  <a:pt x="388640" y="468809"/>
                  <a:pt x="381000" y="457299"/>
                  <a:pt x="381000" y="444500"/>
                </a:cubicBezTo>
                <a:lnTo>
                  <a:pt x="381000" y="412750"/>
                </a:lnTo>
                <a:lnTo>
                  <a:pt x="349250" y="412750"/>
                </a:lnTo>
                <a:cubicBezTo>
                  <a:pt x="319286" y="412750"/>
                  <a:pt x="291009" y="398661"/>
                  <a:pt x="273050" y="374650"/>
                </a:cubicBezTo>
                <a:lnTo>
                  <a:pt x="120650" y="171450"/>
                </a:lnTo>
                <a:cubicBezTo>
                  <a:pt x="114697" y="163413"/>
                  <a:pt x="105271" y="158750"/>
                  <a:pt x="95250" y="158750"/>
                </a:cubicBezTo>
                <a:lnTo>
                  <a:pt x="31750" y="158750"/>
                </a:lnTo>
                <a:cubicBezTo>
                  <a:pt x="14188" y="158750"/>
                  <a:pt x="0" y="144562"/>
                  <a:pt x="0" y="127000"/>
                </a:cubicBezTo>
                <a:cubicBezTo>
                  <a:pt x="0" y="109438"/>
                  <a:pt x="14188" y="95250"/>
                  <a:pt x="31750" y="95250"/>
                </a:cubicBezTo>
                <a:lnTo>
                  <a:pt x="95250" y="95250"/>
                </a:lnTo>
                <a:cubicBezTo>
                  <a:pt x="125214" y="95250"/>
                  <a:pt x="153491" y="109339"/>
                  <a:pt x="171450" y="133350"/>
                </a:cubicBezTo>
                <a:lnTo>
                  <a:pt x="323850" y="336550"/>
                </a:lnTo>
                <a:cubicBezTo>
                  <a:pt x="329803" y="344587"/>
                  <a:pt x="339229" y="349250"/>
                  <a:pt x="349250" y="349250"/>
                </a:cubicBezTo>
                <a:lnTo>
                  <a:pt x="381000" y="349250"/>
                </a:lnTo>
                <a:lnTo>
                  <a:pt x="381000" y="317500"/>
                </a:lnTo>
                <a:cubicBezTo>
                  <a:pt x="381000" y="304701"/>
                  <a:pt x="388739" y="293092"/>
                  <a:pt x="400645" y="288131"/>
                </a:cubicBezTo>
                <a:cubicBezTo>
                  <a:pt x="412552" y="283170"/>
                  <a:pt x="426145" y="285948"/>
                  <a:pt x="435273" y="294977"/>
                </a:cubicBezTo>
                <a:lnTo>
                  <a:pt x="498773" y="358477"/>
                </a:lnTo>
                <a:cubicBezTo>
                  <a:pt x="504726" y="364430"/>
                  <a:pt x="508099" y="372467"/>
                  <a:pt x="508099" y="380901"/>
                </a:cubicBezTo>
                <a:cubicBezTo>
                  <a:pt x="508099" y="389334"/>
                  <a:pt x="504726" y="397371"/>
                  <a:pt x="498773" y="403324"/>
                </a:cubicBezTo>
                <a:lnTo>
                  <a:pt x="435273" y="466824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6" name="Text 24"/>
          <p:cNvSpPr/>
          <p:nvPr/>
        </p:nvSpPr>
        <p:spPr>
          <a:xfrm>
            <a:off x="10922000" y="5969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Best-Effort Delivery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922000" y="6413500"/>
            <a:ext cx="381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Packets may be lost, duplicated, or arrive out of order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UDP Real World Example — DNS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7112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DNS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(Domain Name System) is the most ubiquitous UDP application.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you type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"google.com"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Device sends UDP query to DNS resolver (port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53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DNS server responds with IP address in milliseconds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If lost, client simply retries — negligible overhead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UDP for DNS?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Queries are small (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&lt;100 bytes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Speed is critical — every page load needs DNS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Single datagram fits the query perfectly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TCP only used for large responses (&gt;512 bytes)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Billions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DNS queries happen daily, all powered by UDP.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890000" y="1841500"/>
            <a:ext cx="6096000" cy="609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0" y="22225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523726" y="416719"/>
                </a:moveTo>
                <a:lnTo>
                  <a:pt x="239613" y="416719"/>
                </a:lnTo>
                <a:cubicBezTo>
                  <a:pt x="243929" y="512713"/>
                  <a:pt x="265212" y="601117"/>
                  <a:pt x="295424" y="665857"/>
                </a:cubicBezTo>
                <a:cubicBezTo>
                  <a:pt x="312390" y="702320"/>
                  <a:pt x="330696" y="728067"/>
                  <a:pt x="347662" y="743843"/>
                </a:cubicBezTo>
                <a:cubicBezTo>
                  <a:pt x="364331" y="759470"/>
                  <a:pt x="375791" y="762000"/>
                  <a:pt x="381744" y="762000"/>
                </a:cubicBezTo>
                <a:cubicBezTo>
                  <a:pt x="387697" y="762000"/>
                  <a:pt x="399157" y="759470"/>
                  <a:pt x="415826" y="743843"/>
                </a:cubicBezTo>
                <a:cubicBezTo>
                  <a:pt x="432792" y="728067"/>
                  <a:pt x="451098" y="702171"/>
                  <a:pt x="468064" y="665857"/>
                </a:cubicBezTo>
                <a:cubicBezTo>
                  <a:pt x="498277" y="601117"/>
                  <a:pt x="519559" y="512713"/>
                  <a:pt x="523875" y="416719"/>
                </a:cubicBezTo>
                <a:close/>
                <a:moveTo>
                  <a:pt x="239464" y="345281"/>
                </a:moveTo>
                <a:lnTo>
                  <a:pt x="523577" y="345281"/>
                </a:lnTo>
                <a:cubicBezTo>
                  <a:pt x="519410" y="249287"/>
                  <a:pt x="498128" y="160883"/>
                  <a:pt x="467916" y="96143"/>
                </a:cubicBezTo>
                <a:cubicBezTo>
                  <a:pt x="450949" y="59829"/>
                  <a:pt x="432643" y="33933"/>
                  <a:pt x="415677" y="18157"/>
                </a:cubicBezTo>
                <a:cubicBezTo>
                  <a:pt x="399008" y="2530"/>
                  <a:pt x="387548" y="0"/>
                  <a:pt x="381595" y="0"/>
                </a:cubicBezTo>
                <a:cubicBezTo>
                  <a:pt x="375642" y="0"/>
                  <a:pt x="364182" y="2530"/>
                  <a:pt x="347514" y="18157"/>
                </a:cubicBezTo>
                <a:cubicBezTo>
                  <a:pt x="330547" y="33933"/>
                  <a:pt x="312241" y="59829"/>
                  <a:pt x="295275" y="96143"/>
                </a:cubicBezTo>
                <a:cubicBezTo>
                  <a:pt x="265063" y="160883"/>
                  <a:pt x="243780" y="249287"/>
                  <a:pt x="239464" y="345281"/>
                </a:cubicBezTo>
                <a:close/>
                <a:moveTo>
                  <a:pt x="168027" y="345281"/>
                </a:moveTo>
                <a:cubicBezTo>
                  <a:pt x="173236" y="217884"/>
                  <a:pt x="206127" y="99566"/>
                  <a:pt x="254198" y="21878"/>
                </a:cubicBezTo>
                <a:cubicBezTo>
                  <a:pt x="117128" y="70396"/>
                  <a:pt x="16222" y="195262"/>
                  <a:pt x="2232" y="345281"/>
                </a:cubicBezTo>
                <a:lnTo>
                  <a:pt x="168027" y="345281"/>
                </a:lnTo>
                <a:close/>
                <a:moveTo>
                  <a:pt x="2232" y="416719"/>
                </a:moveTo>
                <a:cubicBezTo>
                  <a:pt x="16222" y="566738"/>
                  <a:pt x="117128" y="691604"/>
                  <a:pt x="254198" y="740122"/>
                </a:cubicBezTo>
                <a:cubicBezTo>
                  <a:pt x="206127" y="662434"/>
                  <a:pt x="173236" y="544116"/>
                  <a:pt x="168027" y="416719"/>
                </a:cubicBezTo>
                <a:lnTo>
                  <a:pt x="2232" y="416719"/>
                </a:lnTo>
                <a:close/>
                <a:moveTo>
                  <a:pt x="595164" y="416719"/>
                </a:moveTo>
                <a:cubicBezTo>
                  <a:pt x="589955" y="544116"/>
                  <a:pt x="557064" y="662434"/>
                  <a:pt x="508992" y="740122"/>
                </a:cubicBezTo>
                <a:cubicBezTo>
                  <a:pt x="646063" y="691455"/>
                  <a:pt x="746968" y="566738"/>
                  <a:pt x="760958" y="416719"/>
                </a:cubicBezTo>
                <a:lnTo>
                  <a:pt x="595164" y="416719"/>
                </a:lnTo>
                <a:close/>
                <a:moveTo>
                  <a:pt x="760958" y="345281"/>
                </a:moveTo>
                <a:cubicBezTo>
                  <a:pt x="746968" y="195262"/>
                  <a:pt x="646063" y="70396"/>
                  <a:pt x="508992" y="21878"/>
                </a:cubicBezTo>
                <a:cubicBezTo>
                  <a:pt x="557064" y="99566"/>
                  <a:pt x="589955" y="217884"/>
                  <a:pt x="595164" y="345281"/>
                </a:cubicBezTo>
                <a:lnTo>
                  <a:pt x="760958" y="345281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7" name="Text 5"/>
          <p:cNvSpPr/>
          <p:nvPr/>
        </p:nvSpPr>
        <p:spPr>
          <a:xfrm>
            <a:off x="9271000" y="3175000"/>
            <a:ext cx="533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DNS Query Flow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652000" y="3937000"/>
            <a:ext cx="4572000" cy="635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9" name="Text 7"/>
          <p:cNvSpPr/>
          <p:nvPr/>
        </p:nvSpPr>
        <p:spPr>
          <a:xfrm>
            <a:off x="9652000" y="40640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You type: google.com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938000" y="4572000"/>
            <a:ext cx="0" cy="38100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9652000" y="4953000"/>
            <a:ext cx="4572000" cy="635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9652000" y="50800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UDP Query → DNS Server (port 53)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938000" y="5588000"/>
            <a:ext cx="0" cy="38100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9652000" y="5969000"/>
            <a:ext cx="4572000" cy="635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0" y="60960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DNS responds: 142.250.80.46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938000" y="6604000"/>
            <a:ext cx="0" cy="38100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9652000" y="6985000"/>
            <a:ext cx="4572000" cy="635000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/>
        </p:spPr>
      </p:sp>
      <p:sp>
        <p:nvSpPr>
          <p:cNvPr id="18" name="Text 16"/>
          <p:cNvSpPr/>
          <p:nvPr/>
        </p:nvSpPr>
        <p:spPr>
          <a:xfrm>
            <a:off x="9652000" y="71120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Browser loads the page!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UDP Real World — Streaming, Gaming &amp; VoIP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572000" cy="609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1000" y="22225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105833" y="79375"/>
                </a:moveTo>
                <a:cubicBezTo>
                  <a:pt x="66918" y="79375"/>
                  <a:pt x="35278" y="114970"/>
                  <a:pt x="35278" y="158750"/>
                </a:cubicBezTo>
                <a:lnTo>
                  <a:pt x="35278" y="476250"/>
                </a:lnTo>
                <a:cubicBezTo>
                  <a:pt x="35278" y="520030"/>
                  <a:pt x="66918" y="555625"/>
                  <a:pt x="105833" y="555625"/>
                </a:cubicBezTo>
                <a:lnTo>
                  <a:pt x="388056" y="555625"/>
                </a:lnTo>
                <a:cubicBezTo>
                  <a:pt x="426971" y="555625"/>
                  <a:pt x="458611" y="520030"/>
                  <a:pt x="458611" y="476250"/>
                </a:cubicBezTo>
                <a:lnTo>
                  <a:pt x="458611" y="158750"/>
                </a:lnTo>
                <a:cubicBezTo>
                  <a:pt x="458611" y="114970"/>
                  <a:pt x="426971" y="79375"/>
                  <a:pt x="388056" y="79375"/>
                </a:cubicBezTo>
                <a:lnTo>
                  <a:pt x="105833" y="79375"/>
                </a:lnTo>
                <a:close/>
                <a:moveTo>
                  <a:pt x="511528" y="416719"/>
                </a:moveTo>
                <a:lnTo>
                  <a:pt x="592556" y="489645"/>
                </a:lnTo>
                <a:cubicBezTo>
                  <a:pt x="597187" y="493861"/>
                  <a:pt x="602919" y="496094"/>
                  <a:pt x="608872" y="496094"/>
                </a:cubicBezTo>
                <a:cubicBezTo>
                  <a:pt x="623314" y="496094"/>
                  <a:pt x="635000" y="482947"/>
                  <a:pt x="635000" y="466700"/>
                </a:cubicBezTo>
                <a:lnTo>
                  <a:pt x="635000" y="168300"/>
                </a:lnTo>
                <a:cubicBezTo>
                  <a:pt x="635000" y="152053"/>
                  <a:pt x="623314" y="138906"/>
                  <a:pt x="608872" y="138906"/>
                </a:cubicBezTo>
                <a:cubicBezTo>
                  <a:pt x="602919" y="138906"/>
                  <a:pt x="597187" y="141139"/>
                  <a:pt x="592556" y="145355"/>
                </a:cubicBezTo>
                <a:lnTo>
                  <a:pt x="511528" y="218281"/>
                </a:lnTo>
                <a:lnTo>
                  <a:pt x="511528" y="416719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3048000"/>
            <a:ext cx="406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Video Streaming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24000" y="3619500"/>
            <a:ext cx="4064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Netflix, YouTube, Twitch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UDP delivers frames with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minimal delay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Occasional pixelation beats buffering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Latency under 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500ms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live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2-sec delay ruins live sports!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23000" y="1905000"/>
            <a:ext cx="4572000" cy="609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874000" y="22225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444500" y="79375"/>
                </a:moveTo>
                <a:cubicBezTo>
                  <a:pt x="549672" y="79375"/>
                  <a:pt x="635000" y="186035"/>
                  <a:pt x="635000" y="317500"/>
                </a:cubicBezTo>
                <a:cubicBezTo>
                  <a:pt x="635000" y="448965"/>
                  <a:pt x="549672" y="555625"/>
                  <a:pt x="444500" y="555625"/>
                </a:cubicBezTo>
                <a:lnTo>
                  <a:pt x="190500" y="555625"/>
                </a:lnTo>
                <a:cubicBezTo>
                  <a:pt x="85328" y="555625"/>
                  <a:pt x="0" y="448965"/>
                  <a:pt x="0" y="317500"/>
                </a:cubicBezTo>
                <a:cubicBezTo>
                  <a:pt x="0" y="186035"/>
                  <a:pt x="85328" y="79375"/>
                  <a:pt x="190500" y="79375"/>
                </a:cubicBezTo>
                <a:lnTo>
                  <a:pt x="444500" y="79375"/>
                </a:lnTo>
                <a:close/>
                <a:moveTo>
                  <a:pt x="190500" y="218281"/>
                </a:moveTo>
                <a:cubicBezTo>
                  <a:pt x="177304" y="218281"/>
                  <a:pt x="166688" y="231552"/>
                  <a:pt x="166688" y="248047"/>
                </a:cubicBezTo>
                <a:lnTo>
                  <a:pt x="166688" y="287734"/>
                </a:lnTo>
                <a:lnTo>
                  <a:pt x="134938" y="287734"/>
                </a:lnTo>
                <a:cubicBezTo>
                  <a:pt x="121741" y="287734"/>
                  <a:pt x="111125" y="301005"/>
                  <a:pt x="111125" y="317500"/>
                </a:cubicBezTo>
                <a:cubicBezTo>
                  <a:pt x="111125" y="333995"/>
                  <a:pt x="121741" y="347266"/>
                  <a:pt x="134938" y="347266"/>
                </a:cubicBezTo>
                <a:lnTo>
                  <a:pt x="166688" y="347266"/>
                </a:lnTo>
                <a:lnTo>
                  <a:pt x="166688" y="386953"/>
                </a:lnTo>
                <a:cubicBezTo>
                  <a:pt x="166688" y="403448"/>
                  <a:pt x="177304" y="416719"/>
                  <a:pt x="190500" y="416719"/>
                </a:cubicBezTo>
                <a:cubicBezTo>
                  <a:pt x="203696" y="416719"/>
                  <a:pt x="214313" y="403448"/>
                  <a:pt x="214313" y="386953"/>
                </a:cubicBezTo>
                <a:lnTo>
                  <a:pt x="214313" y="347266"/>
                </a:lnTo>
                <a:lnTo>
                  <a:pt x="246063" y="347266"/>
                </a:lnTo>
                <a:cubicBezTo>
                  <a:pt x="259259" y="347266"/>
                  <a:pt x="269875" y="333995"/>
                  <a:pt x="269875" y="317500"/>
                </a:cubicBezTo>
                <a:cubicBezTo>
                  <a:pt x="269875" y="301005"/>
                  <a:pt x="259259" y="287734"/>
                  <a:pt x="246063" y="287734"/>
                </a:cubicBezTo>
                <a:lnTo>
                  <a:pt x="214313" y="287734"/>
                </a:lnTo>
                <a:lnTo>
                  <a:pt x="214313" y="248047"/>
                </a:lnTo>
                <a:cubicBezTo>
                  <a:pt x="214313" y="231552"/>
                  <a:pt x="203696" y="218281"/>
                  <a:pt x="190500" y="218281"/>
                </a:cubicBezTo>
                <a:close/>
                <a:moveTo>
                  <a:pt x="428625" y="337344"/>
                </a:moveTo>
                <a:cubicBezTo>
                  <a:pt x="411102" y="337344"/>
                  <a:pt x="396875" y="355127"/>
                  <a:pt x="396875" y="377031"/>
                </a:cubicBezTo>
                <a:cubicBezTo>
                  <a:pt x="396875" y="398935"/>
                  <a:pt x="411102" y="416719"/>
                  <a:pt x="428625" y="416719"/>
                </a:cubicBezTo>
                <a:cubicBezTo>
                  <a:pt x="446148" y="416719"/>
                  <a:pt x="460375" y="398935"/>
                  <a:pt x="460375" y="377031"/>
                </a:cubicBezTo>
                <a:cubicBezTo>
                  <a:pt x="460375" y="355127"/>
                  <a:pt x="446148" y="337344"/>
                  <a:pt x="428625" y="337344"/>
                </a:cubicBezTo>
                <a:close/>
                <a:moveTo>
                  <a:pt x="492125" y="218281"/>
                </a:moveTo>
                <a:cubicBezTo>
                  <a:pt x="474602" y="218281"/>
                  <a:pt x="460375" y="236065"/>
                  <a:pt x="460375" y="257969"/>
                </a:cubicBezTo>
                <a:cubicBezTo>
                  <a:pt x="460375" y="279873"/>
                  <a:pt x="474602" y="297656"/>
                  <a:pt x="492125" y="297656"/>
                </a:cubicBezTo>
                <a:cubicBezTo>
                  <a:pt x="509648" y="297656"/>
                  <a:pt x="523875" y="279873"/>
                  <a:pt x="523875" y="257969"/>
                </a:cubicBezTo>
                <a:cubicBezTo>
                  <a:pt x="523875" y="236065"/>
                  <a:pt x="509648" y="218281"/>
                  <a:pt x="492125" y="218281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6477000" y="3048000"/>
            <a:ext cx="406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Online Gaming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77000" y="3619500"/>
            <a:ext cx="4064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Fortnite, PUBG, Valorant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UDP sends player position &amp; actions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20-60×/sec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100ms delay can lose a match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Lost packets are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interpolated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by game engine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Speed &gt; perfect accuracy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176000" y="1905000"/>
            <a:ext cx="3810000" cy="6096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2763500" y="22225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198686" y="31006"/>
                </a:moveTo>
                <a:cubicBezTo>
                  <a:pt x="188888" y="7565"/>
                  <a:pt x="163339" y="-4837"/>
                  <a:pt x="139030" y="1736"/>
                </a:cubicBezTo>
                <a:lnTo>
                  <a:pt x="132209" y="3597"/>
                </a:lnTo>
                <a:cubicBezTo>
                  <a:pt x="52090" y="25425"/>
                  <a:pt x="-16371" y="103063"/>
                  <a:pt x="3597" y="197569"/>
                </a:cubicBezTo>
                <a:cubicBezTo>
                  <a:pt x="49609" y="414610"/>
                  <a:pt x="220390" y="585391"/>
                  <a:pt x="437431" y="631403"/>
                </a:cubicBezTo>
                <a:cubicBezTo>
                  <a:pt x="532061" y="651495"/>
                  <a:pt x="609575" y="582910"/>
                  <a:pt x="631403" y="502791"/>
                </a:cubicBezTo>
                <a:lnTo>
                  <a:pt x="633264" y="495970"/>
                </a:lnTo>
                <a:cubicBezTo>
                  <a:pt x="639961" y="471537"/>
                  <a:pt x="627435" y="445988"/>
                  <a:pt x="604118" y="436314"/>
                </a:cubicBezTo>
                <a:lnTo>
                  <a:pt x="483443" y="386085"/>
                </a:lnTo>
                <a:cubicBezTo>
                  <a:pt x="462979" y="377527"/>
                  <a:pt x="439291" y="383480"/>
                  <a:pt x="425152" y="400720"/>
                </a:cubicBezTo>
                <a:lnTo>
                  <a:pt x="377279" y="459259"/>
                </a:lnTo>
                <a:cubicBezTo>
                  <a:pt x="290091" y="415975"/>
                  <a:pt x="219894" y="343545"/>
                  <a:pt x="179586" y="254620"/>
                </a:cubicBezTo>
                <a:lnTo>
                  <a:pt x="234404" y="209972"/>
                </a:lnTo>
                <a:cubicBezTo>
                  <a:pt x="251644" y="195957"/>
                  <a:pt x="257473" y="172269"/>
                  <a:pt x="249039" y="151681"/>
                </a:cubicBezTo>
                <a:lnTo>
                  <a:pt x="198686" y="3100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0" y="3048000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VoIP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430000" y="3619500"/>
            <a:ext cx="3302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Zoom, Skype, WhatsApp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UDP carries voice packets in real-time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Brief audio glitch &gt; 2-sec delay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Natural conversation flow requires low latency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UDP Code Example — Server (Python)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4826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Steps: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socket()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Create UDP socket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bind()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Bind to IP &amp; port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recvfrom()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Receive data + addr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sendto()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Send response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close()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Close socket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Differences from TCP: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No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listen()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or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accept()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No connection established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Uses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recvfrom()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not recv()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Uses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sendto()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not send()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Socket Type: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SOCK_DGRAM = UDP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77000" y="1841500"/>
            <a:ext cx="8509000" cy="6096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  <a:effectLst>
            <a:outerShdw sx="100000" sy="100000" kx="0" ky="0" algn="bl" rotWithShape="0" blurRad="152400" dist="50800" dir="5400000">
              <a:srgbClr val="000000">
                <a:alpha val="8235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77000" y="1841500"/>
            <a:ext cx="8509000" cy="457200"/>
          </a:xfrm>
          <a:prstGeom prst="roundRect">
            <a:avLst>
              <a:gd name="adj" fmla="val 6000"/>
            </a:avLst>
          </a:prstGeom>
          <a:solidFill>
            <a:srgbClr val="3D3D3D"/>
          </a:solidFill>
          <a:ln/>
        </p:spPr>
      </p:sp>
      <p:sp>
        <p:nvSpPr>
          <p:cNvPr id="7" name="Text 5"/>
          <p:cNvSpPr/>
          <p:nvPr/>
        </p:nvSpPr>
        <p:spPr>
          <a:xfrm>
            <a:off x="6731000" y="18415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 ● ● udp_server.py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31000" y="2413000"/>
            <a:ext cx="8001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socket</a:t>
            </a:r>
            <a:endParaRPr lang="en-US" sz="1300" dirty="0"/>
          </a:p>
          <a:p>
            <a:pPr algn="l">
              <a:lnSpc>
                <a:spcPct val="145000"/>
              </a:lnSpc>
            </a:pP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Create UDP socket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 = socket.socket(socket.AF_INET, socket.SOCK_DGRAM)</a:t>
            </a:r>
            <a:endParaRPr lang="en-US" sz="1300" dirty="0"/>
          </a:p>
          <a:p>
            <a:pPr algn="l">
              <a:lnSpc>
                <a:spcPct val="145000"/>
              </a:lnSpc>
            </a:pP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Bind to address &amp; port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server.bind((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90EE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'127.0.0.1'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FD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5001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))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print(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90EE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"UDP Server listening..."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300" dirty="0"/>
          </a:p>
          <a:p>
            <a:pPr algn="l">
              <a:lnSpc>
                <a:spcPct val="145000"/>
              </a:lnSpc>
            </a:pP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Loop to handle clients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 True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data, addr = server.recvfrom(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FD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4096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print(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90EE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f"From {addr}: {data.decode()}"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server.sendto(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90EE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b"Hello from UDP!"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addr)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UDP Code Example — Client (Python)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4826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Steps: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socket()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Create UDP socket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sendto()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Send to server address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recvfrom()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Receive response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close()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Close socket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Differences from TCP: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No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connect()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required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Each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sendto()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specifies destination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recvfrom()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returns (data, addr)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Truly connectionless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Note: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connect() is optional in UDP — it sets a default address for send().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77000" y="1841500"/>
            <a:ext cx="8509000" cy="6096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  <a:effectLst>
            <a:outerShdw sx="100000" sy="100000" kx="0" ky="0" algn="bl" rotWithShape="0" blurRad="152400" dist="50800" dir="5400000">
              <a:srgbClr val="000000">
                <a:alpha val="8235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77000" y="1841500"/>
            <a:ext cx="8509000" cy="457200"/>
          </a:xfrm>
          <a:prstGeom prst="roundRect">
            <a:avLst>
              <a:gd name="adj" fmla="val 6000"/>
            </a:avLst>
          </a:prstGeom>
          <a:solidFill>
            <a:srgbClr val="3D3D3D"/>
          </a:solidFill>
          <a:ln/>
        </p:spPr>
      </p:sp>
      <p:sp>
        <p:nvSpPr>
          <p:cNvPr id="7" name="Text 5"/>
          <p:cNvSpPr/>
          <p:nvPr/>
        </p:nvSpPr>
        <p:spPr>
          <a:xfrm>
            <a:off x="6731000" y="18415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 ● ● udp_client.py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31000" y="2413000"/>
            <a:ext cx="8001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socket</a:t>
            </a:r>
            <a:endParaRPr lang="en-US" sz="1300" dirty="0"/>
          </a:p>
          <a:p>
            <a:pPr algn="l">
              <a:lnSpc>
                <a:spcPct val="145000"/>
              </a:lnSpc>
            </a:pP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Create UDP socket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 = socket.socket(socket.AF_INET, socket.SOCK_DGRAM)</a:t>
            </a:r>
            <a:endParaRPr lang="en-US" sz="1300" dirty="0"/>
          </a:p>
          <a:p>
            <a:pPr algn="l">
              <a:lnSpc>
                <a:spcPct val="145000"/>
              </a:lnSpc>
            </a:pP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Server address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server_addr = (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90EE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'127.0.0.1'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FD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5001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300" dirty="0"/>
          </a:p>
          <a:p>
            <a:pPr algn="l">
              <a:lnSpc>
                <a:spcPct val="145000"/>
              </a:lnSpc>
            </a:pP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Send message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client.sendto(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90EE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b"Hello UDP Server!"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server_addr)</a:t>
            </a:r>
            <a:endParaRPr lang="en-US" sz="1300" dirty="0"/>
          </a:p>
          <a:p>
            <a:pPr algn="l">
              <a:lnSpc>
                <a:spcPct val="145000"/>
              </a:lnSpc>
            </a:pP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Receive response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data, addr = client.recvfrom(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FD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4096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print(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90EE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f"Server: {data.decode()}"</a:t>
            </a:r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300" dirty="0"/>
          </a:p>
          <a:p>
            <a:pPr algn="l">
              <a:lnSpc>
                <a:spcPct val="145000"/>
              </a:lnSpc>
            </a:pP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Close socket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client.close()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UDP Datagram Structure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2540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778000" y="20320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UDP Header — Only 8 Bytes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778000" y="2667000"/>
            <a:ext cx="3175000" cy="508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</p:spPr>
      </p:sp>
      <p:sp>
        <p:nvSpPr>
          <p:cNvPr id="7" name="Text 5"/>
          <p:cNvSpPr/>
          <p:nvPr/>
        </p:nvSpPr>
        <p:spPr>
          <a:xfrm>
            <a:off x="1778000" y="2667000"/>
            <a:ext cx="317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Source Port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(16 bits)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07000" y="2667000"/>
            <a:ext cx="3175000" cy="508000"/>
          </a:xfrm>
          <a:prstGeom prst="roundRect">
            <a:avLst>
              <a:gd name="adj" fmla="val 8000"/>
            </a:avLst>
          </a:pr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5207000" y="2667000"/>
            <a:ext cx="317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Dest Port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(16 bits)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36000" y="2667000"/>
            <a:ext cx="3175000" cy="508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</p:spPr>
      </p:sp>
      <p:sp>
        <p:nvSpPr>
          <p:cNvPr id="11" name="Text 9"/>
          <p:cNvSpPr/>
          <p:nvPr/>
        </p:nvSpPr>
        <p:spPr>
          <a:xfrm>
            <a:off x="8636000" y="2667000"/>
            <a:ext cx="317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Length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(16 bits)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065000" y="2667000"/>
            <a:ext cx="2540000" cy="508000"/>
          </a:xfrm>
          <a:prstGeom prst="roundRect">
            <a:avLst>
              <a:gd name="adj" fmla="val 8000"/>
            </a:avLst>
          </a:prstGeom>
          <a:solidFill>
            <a:srgbClr val="FF7F50"/>
          </a:solidFill>
          <a:ln/>
        </p:spPr>
      </p:sp>
      <p:sp>
        <p:nvSpPr>
          <p:cNvPr id="13" name="Text 11"/>
          <p:cNvSpPr/>
          <p:nvPr/>
        </p:nvSpPr>
        <p:spPr>
          <a:xfrm>
            <a:off x="12065000" y="2667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Checksum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(16 bits)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78000" y="3492500"/>
            <a:ext cx="1270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 Header: 8 bytes  |  Max Payload: 65,507 bytes  |  Max Total: 65,535 bytes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0000" y="4826000"/>
            <a:ext cx="6604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Field Descriptions: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 Port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Sender's port number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Dest Port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Receiver's port number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Length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Total length (header + data)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Checksum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Optional error detection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Ports are 16-bit: range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 – 65,535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382000" y="4826000"/>
            <a:ext cx="6604000" cy="3302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7" name="Text 15"/>
          <p:cNvSpPr/>
          <p:nvPr/>
        </p:nvSpPr>
        <p:spPr>
          <a:xfrm>
            <a:off x="8763000" y="5080000"/>
            <a:ext cx="5842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Why So Simple?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Minimal processing overhead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Fast packet creation &amp; parsing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No state to maintain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simplicity of UDP's header is what makes it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blazingly fast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the OS barely breaks a sweat!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UDP — Use Cases &amp; Summary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604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303967" y="189934"/>
                </a:moveTo>
                <a:lnTo>
                  <a:pt x="232529" y="304234"/>
                </a:lnTo>
                <a:cubicBezTo>
                  <a:pt x="228779" y="310217"/>
                  <a:pt x="222349" y="313968"/>
                  <a:pt x="215295" y="314325"/>
                </a:cubicBezTo>
                <a:cubicBezTo>
                  <a:pt x="208240" y="314682"/>
                  <a:pt x="201454" y="311468"/>
                  <a:pt x="197257" y="305753"/>
                </a:cubicBezTo>
                <a:lnTo>
                  <a:pt x="154394" y="248602"/>
                </a:lnTo>
                <a:cubicBezTo>
                  <a:pt x="147251" y="239137"/>
                  <a:pt x="149215" y="225743"/>
                  <a:pt x="158681" y="218599"/>
                </a:cubicBezTo>
                <a:cubicBezTo>
                  <a:pt x="168146" y="211455"/>
                  <a:pt x="181541" y="213420"/>
                  <a:pt x="188684" y="222885"/>
                </a:cubicBezTo>
                <a:lnTo>
                  <a:pt x="212794" y="255032"/>
                </a:lnTo>
                <a:lnTo>
                  <a:pt x="267623" y="167253"/>
                </a:lnTo>
                <a:cubicBezTo>
                  <a:pt x="273874" y="157252"/>
                  <a:pt x="287089" y="154126"/>
                  <a:pt x="297180" y="160466"/>
                </a:cubicBezTo>
                <a:cubicBezTo>
                  <a:pt x="307271" y="166807"/>
                  <a:pt x="310307" y="179933"/>
                  <a:pt x="303967" y="190024"/>
                </a:cubicBezTo>
                <a:close/>
              </a:path>
            </a:pathLst>
          </a:custGeom>
          <a:solidFill>
            <a:srgbClr val="2E8B57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2159000"/>
            <a:ext cx="508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UDP Pros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2730500"/>
            <a:ext cx="584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Extremely fast — no setup delay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Low overhead — 8-byte header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Supports broadcast &amp; multicast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No connection state to maintain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6604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63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149126" y="149126"/>
                </a:moveTo>
                <a:cubicBezTo>
                  <a:pt x="157520" y="140732"/>
                  <a:pt x="171093" y="140732"/>
                  <a:pt x="179397" y="149126"/>
                </a:cubicBezTo>
                <a:lnTo>
                  <a:pt x="228511" y="198239"/>
                </a:lnTo>
                <a:lnTo>
                  <a:pt x="277624" y="149126"/>
                </a:lnTo>
                <a:cubicBezTo>
                  <a:pt x="286018" y="140732"/>
                  <a:pt x="299591" y="140732"/>
                  <a:pt x="307896" y="149126"/>
                </a:cubicBezTo>
                <a:cubicBezTo>
                  <a:pt x="316200" y="157520"/>
                  <a:pt x="316290" y="171093"/>
                  <a:pt x="307896" y="179397"/>
                </a:cubicBezTo>
                <a:lnTo>
                  <a:pt x="258782" y="228511"/>
                </a:lnTo>
                <a:lnTo>
                  <a:pt x="307896" y="277624"/>
                </a:lnTo>
                <a:cubicBezTo>
                  <a:pt x="316290" y="286018"/>
                  <a:pt x="316290" y="299591"/>
                  <a:pt x="307896" y="307896"/>
                </a:cubicBezTo>
                <a:cubicBezTo>
                  <a:pt x="299502" y="316200"/>
                  <a:pt x="285929" y="316290"/>
                  <a:pt x="277624" y="307896"/>
                </a:cubicBezTo>
                <a:lnTo>
                  <a:pt x="228511" y="258782"/>
                </a:lnTo>
                <a:lnTo>
                  <a:pt x="179397" y="307896"/>
                </a:lnTo>
                <a:cubicBezTo>
                  <a:pt x="171004" y="316290"/>
                  <a:pt x="157430" y="316290"/>
                  <a:pt x="149126" y="307896"/>
                </a:cubicBezTo>
                <a:cubicBezTo>
                  <a:pt x="140821" y="299502"/>
                  <a:pt x="140732" y="285929"/>
                  <a:pt x="149126" y="277624"/>
                </a:cubicBezTo>
                <a:lnTo>
                  <a:pt x="198239" y="228511"/>
                </a:lnTo>
                <a:lnTo>
                  <a:pt x="149126" y="179397"/>
                </a:lnTo>
                <a:cubicBezTo>
                  <a:pt x="140732" y="171004"/>
                  <a:pt x="140732" y="157430"/>
                  <a:pt x="149126" y="149126"/>
                </a:cubicBezTo>
                <a:close/>
              </a:path>
            </a:pathLst>
          </a:custGeom>
          <a:solidFill>
            <a:srgbClr val="CC4444"/>
          </a:solidFill>
          <a:ln/>
        </p:spPr>
      </p:sp>
      <p:sp>
        <p:nvSpPr>
          <p:cNvPr id="10" name="Text 8"/>
          <p:cNvSpPr/>
          <p:nvPr/>
        </p:nvSpPr>
        <p:spPr>
          <a:xfrm>
            <a:off x="9398000" y="2159000"/>
            <a:ext cx="508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UDP Cons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763000" y="2730500"/>
            <a:ext cx="584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No delivery guarantee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No packet ordering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No flow or congestion control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Vulnerable to packet loss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70000" y="5207000"/>
            <a:ext cx="13716000" cy="2794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778000" y="5397500"/>
            <a:ext cx="508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When to Use UDP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032000" y="6096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61863" y="208359"/>
                </a:moveTo>
                <a:lnTo>
                  <a:pt x="119807" y="208359"/>
                </a:lnTo>
                <a:cubicBezTo>
                  <a:pt x="121965" y="256356"/>
                  <a:pt x="132606" y="300558"/>
                  <a:pt x="147712" y="332929"/>
                </a:cubicBezTo>
                <a:cubicBezTo>
                  <a:pt x="156195" y="351160"/>
                  <a:pt x="165348" y="364034"/>
                  <a:pt x="173831" y="371921"/>
                </a:cubicBezTo>
                <a:cubicBezTo>
                  <a:pt x="182166" y="379735"/>
                  <a:pt x="187896" y="381000"/>
                  <a:pt x="190872" y="381000"/>
                </a:cubicBezTo>
                <a:cubicBezTo>
                  <a:pt x="193849" y="381000"/>
                  <a:pt x="199579" y="379735"/>
                  <a:pt x="207913" y="371921"/>
                </a:cubicBezTo>
                <a:cubicBezTo>
                  <a:pt x="216396" y="364034"/>
                  <a:pt x="225549" y="351086"/>
                  <a:pt x="234032" y="332929"/>
                </a:cubicBezTo>
                <a:cubicBezTo>
                  <a:pt x="249138" y="300558"/>
                  <a:pt x="259779" y="256356"/>
                  <a:pt x="261937" y="208359"/>
                </a:cubicBezTo>
                <a:close/>
                <a:moveTo>
                  <a:pt x="119732" y="172641"/>
                </a:moveTo>
                <a:lnTo>
                  <a:pt x="261789" y="172641"/>
                </a:lnTo>
                <a:cubicBezTo>
                  <a:pt x="259705" y="124644"/>
                  <a:pt x="249064" y="80442"/>
                  <a:pt x="233958" y="48071"/>
                </a:cubicBezTo>
                <a:cubicBezTo>
                  <a:pt x="225475" y="29914"/>
                  <a:pt x="216322" y="16966"/>
                  <a:pt x="207838" y="9079"/>
                </a:cubicBezTo>
                <a:cubicBezTo>
                  <a:pt x="199504" y="1265"/>
                  <a:pt x="193774" y="0"/>
                  <a:pt x="190798" y="0"/>
                </a:cubicBezTo>
                <a:cubicBezTo>
                  <a:pt x="187821" y="0"/>
                  <a:pt x="182091" y="1265"/>
                  <a:pt x="173757" y="9079"/>
                </a:cubicBezTo>
                <a:cubicBezTo>
                  <a:pt x="165274" y="16966"/>
                  <a:pt x="156121" y="29914"/>
                  <a:pt x="147637" y="48071"/>
                </a:cubicBezTo>
                <a:cubicBezTo>
                  <a:pt x="132531" y="80442"/>
                  <a:pt x="121890" y="124644"/>
                  <a:pt x="119732" y="172641"/>
                </a:cubicBezTo>
                <a:close/>
                <a:moveTo>
                  <a:pt x="84013" y="172641"/>
                </a:moveTo>
                <a:cubicBezTo>
                  <a:pt x="86618" y="108942"/>
                  <a:pt x="103063" y="49783"/>
                  <a:pt x="127099" y="10939"/>
                </a:cubicBezTo>
                <a:cubicBezTo>
                  <a:pt x="58564" y="35198"/>
                  <a:pt x="8111" y="97631"/>
                  <a:pt x="1116" y="172641"/>
                </a:cubicBezTo>
                <a:lnTo>
                  <a:pt x="84013" y="172641"/>
                </a:lnTo>
                <a:close/>
                <a:moveTo>
                  <a:pt x="1116" y="208359"/>
                </a:moveTo>
                <a:cubicBezTo>
                  <a:pt x="8111" y="283369"/>
                  <a:pt x="58564" y="345802"/>
                  <a:pt x="127099" y="370061"/>
                </a:cubicBezTo>
                <a:cubicBezTo>
                  <a:pt x="103063" y="331217"/>
                  <a:pt x="86618" y="272058"/>
                  <a:pt x="84013" y="208359"/>
                </a:cubicBezTo>
                <a:lnTo>
                  <a:pt x="1116" y="208359"/>
                </a:lnTo>
                <a:close/>
                <a:moveTo>
                  <a:pt x="297582" y="208359"/>
                </a:moveTo>
                <a:cubicBezTo>
                  <a:pt x="294977" y="272058"/>
                  <a:pt x="278532" y="331217"/>
                  <a:pt x="254496" y="370061"/>
                </a:cubicBezTo>
                <a:cubicBezTo>
                  <a:pt x="323031" y="345728"/>
                  <a:pt x="373484" y="283369"/>
                  <a:pt x="380479" y="208359"/>
                </a:cubicBezTo>
                <a:lnTo>
                  <a:pt x="297582" y="208359"/>
                </a:lnTo>
                <a:close/>
                <a:moveTo>
                  <a:pt x="380479" y="172641"/>
                </a:moveTo>
                <a:cubicBezTo>
                  <a:pt x="373484" y="97631"/>
                  <a:pt x="323031" y="35198"/>
                  <a:pt x="254496" y="10939"/>
                </a:cubicBezTo>
                <a:cubicBezTo>
                  <a:pt x="278532" y="49783"/>
                  <a:pt x="294977" y="108942"/>
                  <a:pt x="297582" y="172641"/>
                </a:cubicBezTo>
                <a:lnTo>
                  <a:pt x="380479" y="172641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2540000" y="60325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DNS Lookups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334000" y="6096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0" y="47625"/>
                </a:moveTo>
                <a:cubicBezTo>
                  <a:pt x="40151" y="47625"/>
                  <a:pt x="21167" y="68982"/>
                  <a:pt x="21167" y="95250"/>
                </a:cubicBezTo>
                <a:lnTo>
                  <a:pt x="21167" y="285750"/>
                </a:lnTo>
                <a:cubicBezTo>
                  <a:pt x="21167" y="312018"/>
                  <a:pt x="40151" y="333375"/>
                  <a:pt x="63500" y="333375"/>
                </a:cubicBezTo>
                <a:lnTo>
                  <a:pt x="232833" y="333375"/>
                </a:lnTo>
                <a:cubicBezTo>
                  <a:pt x="256183" y="333375"/>
                  <a:pt x="275167" y="312018"/>
                  <a:pt x="275167" y="285750"/>
                </a:cubicBezTo>
                <a:lnTo>
                  <a:pt x="275167" y="95250"/>
                </a:lnTo>
                <a:cubicBezTo>
                  <a:pt x="275167" y="68982"/>
                  <a:pt x="256183" y="47625"/>
                  <a:pt x="232833" y="47625"/>
                </a:cubicBezTo>
                <a:lnTo>
                  <a:pt x="63500" y="47625"/>
                </a:lnTo>
                <a:close/>
                <a:moveTo>
                  <a:pt x="306917" y="250031"/>
                </a:moveTo>
                <a:lnTo>
                  <a:pt x="355534" y="293787"/>
                </a:lnTo>
                <a:cubicBezTo>
                  <a:pt x="358312" y="296317"/>
                  <a:pt x="361752" y="297656"/>
                  <a:pt x="365323" y="297656"/>
                </a:cubicBezTo>
                <a:cubicBezTo>
                  <a:pt x="373989" y="297656"/>
                  <a:pt x="381000" y="289768"/>
                  <a:pt x="381000" y="280020"/>
                </a:cubicBezTo>
                <a:lnTo>
                  <a:pt x="381000" y="100980"/>
                </a:lnTo>
                <a:cubicBezTo>
                  <a:pt x="381000" y="91232"/>
                  <a:pt x="373989" y="83344"/>
                  <a:pt x="365323" y="83344"/>
                </a:cubicBezTo>
                <a:cubicBezTo>
                  <a:pt x="361752" y="83344"/>
                  <a:pt x="358312" y="84683"/>
                  <a:pt x="355534" y="87213"/>
                </a:cubicBezTo>
                <a:lnTo>
                  <a:pt x="306917" y="130969"/>
                </a:lnTo>
                <a:lnTo>
                  <a:pt x="306917" y="250031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7" name="Text 15"/>
          <p:cNvSpPr/>
          <p:nvPr/>
        </p:nvSpPr>
        <p:spPr>
          <a:xfrm>
            <a:off x="5842000" y="60325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Live Streaming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636000" y="6096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66700" y="47625"/>
                </a:moveTo>
                <a:cubicBezTo>
                  <a:pt x="329803" y="47625"/>
                  <a:pt x="381000" y="111621"/>
                  <a:pt x="381000" y="190500"/>
                </a:cubicBezTo>
                <a:cubicBezTo>
                  <a:pt x="381000" y="269379"/>
                  <a:pt x="329803" y="333375"/>
                  <a:pt x="266700" y="333375"/>
                </a:cubicBezTo>
                <a:lnTo>
                  <a:pt x="114300" y="333375"/>
                </a:lnTo>
                <a:cubicBezTo>
                  <a:pt x="51197" y="333375"/>
                  <a:pt x="0" y="269379"/>
                  <a:pt x="0" y="190500"/>
                </a:cubicBezTo>
                <a:cubicBezTo>
                  <a:pt x="0" y="111621"/>
                  <a:pt x="51197" y="47625"/>
                  <a:pt x="114300" y="47625"/>
                </a:cubicBezTo>
                <a:lnTo>
                  <a:pt x="266700" y="47625"/>
                </a:lnTo>
                <a:close/>
                <a:moveTo>
                  <a:pt x="114300" y="130969"/>
                </a:moveTo>
                <a:cubicBezTo>
                  <a:pt x="106382" y="130969"/>
                  <a:pt x="100013" y="138931"/>
                  <a:pt x="100013" y="148828"/>
                </a:cubicBezTo>
                <a:lnTo>
                  <a:pt x="100013" y="172641"/>
                </a:lnTo>
                <a:lnTo>
                  <a:pt x="80962" y="172641"/>
                </a:lnTo>
                <a:cubicBezTo>
                  <a:pt x="73045" y="172641"/>
                  <a:pt x="66675" y="180603"/>
                  <a:pt x="66675" y="190500"/>
                </a:cubicBezTo>
                <a:cubicBezTo>
                  <a:pt x="66675" y="200397"/>
                  <a:pt x="73045" y="208359"/>
                  <a:pt x="80962" y="208359"/>
                </a:cubicBezTo>
                <a:lnTo>
                  <a:pt x="100013" y="208359"/>
                </a:lnTo>
                <a:lnTo>
                  <a:pt x="100013" y="232172"/>
                </a:lnTo>
                <a:cubicBezTo>
                  <a:pt x="100013" y="242069"/>
                  <a:pt x="106382" y="250031"/>
                  <a:pt x="114300" y="250031"/>
                </a:cubicBezTo>
                <a:cubicBezTo>
                  <a:pt x="122218" y="250031"/>
                  <a:pt x="128588" y="242069"/>
                  <a:pt x="128588" y="232172"/>
                </a:cubicBezTo>
                <a:lnTo>
                  <a:pt x="128588" y="208359"/>
                </a:lnTo>
                <a:lnTo>
                  <a:pt x="147638" y="208359"/>
                </a:lnTo>
                <a:cubicBezTo>
                  <a:pt x="155555" y="208359"/>
                  <a:pt x="161925" y="200397"/>
                  <a:pt x="161925" y="190500"/>
                </a:cubicBezTo>
                <a:cubicBezTo>
                  <a:pt x="161925" y="180603"/>
                  <a:pt x="155555" y="172641"/>
                  <a:pt x="147638" y="172641"/>
                </a:cubicBezTo>
                <a:lnTo>
                  <a:pt x="128588" y="172641"/>
                </a:lnTo>
                <a:lnTo>
                  <a:pt x="128588" y="148828"/>
                </a:lnTo>
                <a:cubicBezTo>
                  <a:pt x="128588" y="138931"/>
                  <a:pt x="122218" y="130969"/>
                  <a:pt x="114300" y="130969"/>
                </a:cubicBezTo>
                <a:close/>
                <a:moveTo>
                  <a:pt x="257175" y="202406"/>
                </a:moveTo>
                <a:cubicBezTo>
                  <a:pt x="246661" y="202406"/>
                  <a:pt x="238125" y="213076"/>
                  <a:pt x="238125" y="226219"/>
                </a:cubicBezTo>
                <a:cubicBezTo>
                  <a:pt x="238125" y="239361"/>
                  <a:pt x="246661" y="250031"/>
                  <a:pt x="257175" y="250031"/>
                </a:cubicBezTo>
                <a:cubicBezTo>
                  <a:pt x="267689" y="250031"/>
                  <a:pt x="276225" y="239361"/>
                  <a:pt x="276225" y="226219"/>
                </a:cubicBezTo>
                <a:cubicBezTo>
                  <a:pt x="276225" y="213076"/>
                  <a:pt x="267689" y="202406"/>
                  <a:pt x="257175" y="202406"/>
                </a:cubicBezTo>
                <a:close/>
                <a:moveTo>
                  <a:pt x="295275" y="130969"/>
                </a:moveTo>
                <a:cubicBezTo>
                  <a:pt x="284761" y="130969"/>
                  <a:pt x="276225" y="141639"/>
                  <a:pt x="276225" y="154781"/>
                </a:cubicBezTo>
                <a:cubicBezTo>
                  <a:pt x="276225" y="167924"/>
                  <a:pt x="284761" y="178594"/>
                  <a:pt x="295275" y="178594"/>
                </a:cubicBezTo>
                <a:cubicBezTo>
                  <a:pt x="305789" y="178594"/>
                  <a:pt x="314325" y="167924"/>
                  <a:pt x="314325" y="154781"/>
                </a:cubicBezTo>
                <a:cubicBezTo>
                  <a:pt x="314325" y="141639"/>
                  <a:pt x="305789" y="130969"/>
                  <a:pt x="295275" y="130969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0" y="60325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Online Gaming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032000" y="6858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9211" y="18604"/>
                </a:moveTo>
                <a:cubicBezTo>
                  <a:pt x="113333" y="4539"/>
                  <a:pt x="98003" y="-2902"/>
                  <a:pt x="83418" y="1042"/>
                </a:cubicBezTo>
                <a:lnTo>
                  <a:pt x="79325" y="2158"/>
                </a:lnTo>
                <a:cubicBezTo>
                  <a:pt x="31254" y="15255"/>
                  <a:pt x="-9823" y="61838"/>
                  <a:pt x="2158" y="118542"/>
                </a:cubicBezTo>
                <a:cubicBezTo>
                  <a:pt x="29766" y="248766"/>
                  <a:pt x="132234" y="351234"/>
                  <a:pt x="262458" y="378842"/>
                </a:cubicBezTo>
                <a:cubicBezTo>
                  <a:pt x="319236" y="390897"/>
                  <a:pt x="365745" y="349746"/>
                  <a:pt x="378842" y="301675"/>
                </a:cubicBezTo>
                <a:lnTo>
                  <a:pt x="379958" y="297582"/>
                </a:lnTo>
                <a:cubicBezTo>
                  <a:pt x="383977" y="282922"/>
                  <a:pt x="376461" y="267593"/>
                  <a:pt x="362471" y="261789"/>
                </a:cubicBezTo>
                <a:lnTo>
                  <a:pt x="290066" y="231651"/>
                </a:lnTo>
                <a:cubicBezTo>
                  <a:pt x="277788" y="226516"/>
                  <a:pt x="263575" y="230088"/>
                  <a:pt x="255091" y="240432"/>
                </a:cubicBezTo>
                <a:lnTo>
                  <a:pt x="226368" y="275555"/>
                </a:lnTo>
                <a:cubicBezTo>
                  <a:pt x="174054" y="249585"/>
                  <a:pt x="131936" y="206127"/>
                  <a:pt x="107752" y="152772"/>
                </a:cubicBezTo>
                <a:lnTo>
                  <a:pt x="140643" y="125983"/>
                </a:lnTo>
                <a:cubicBezTo>
                  <a:pt x="150986" y="117574"/>
                  <a:pt x="154484" y="103361"/>
                  <a:pt x="149423" y="91008"/>
                </a:cubicBezTo>
                <a:lnTo>
                  <a:pt x="119211" y="18604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1" name="Text 19"/>
          <p:cNvSpPr/>
          <p:nvPr/>
        </p:nvSpPr>
        <p:spPr>
          <a:xfrm>
            <a:off x="2540000" y="67945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VoIP / Video Calls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334000" y="6858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30969" y="17859"/>
                </a:moveTo>
                <a:cubicBezTo>
                  <a:pt x="130969" y="7962"/>
                  <a:pt x="123006" y="0"/>
                  <a:pt x="113109" y="0"/>
                </a:cubicBezTo>
                <a:cubicBezTo>
                  <a:pt x="103212" y="0"/>
                  <a:pt x="95250" y="7962"/>
                  <a:pt x="95250" y="17859"/>
                </a:cubicBezTo>
                <a:lnTo>
                  <a:pt x="95250" y="47625"/>
                </a:lnTo>
                <a:cubicBezTo>
                  <a:pt x="68982" y="47625"/>
                  <a:pt x="47625" y="68982"/>
                  <a:pt x="47625" y="95250"/>
                </a:cubicBezTo>
                <a:lnTo>
                  <a:pt x="17859" y="95250"/>
                </a:lnTo>
                <a:cubicBezTo>
                  <a:pt x="7962" y="95250"/>
                  <a:pt x="0" y="103212"/>
                  <a:pt x="0" y="113109"/>
                </a:cubicBezTo>
                <a:cubicBezTo>
                  <a:pt x="0" y="123006"/>
                  <a:pt x="7962" y="130969"/>
                  <a:pt x="17859" y="130969"/>
                </a:cubicBezTo>
                <a:lnTo>
                  <a:pt x="47625" y="130969"/>
                </a:lnTo>
                <a:lnTo>
                  <a:pt x="47625" y="172641"/>
                </a:lnTo>
                <a:lnTo>
                  <a:pt x="17859" y="172641"/>
                </a:lnTo>
                <a:cubicBezTo>
                  <a:pt x="7962" y="172641"/>
                  <a:pt x="0" y="180603"/>
                  <a:pt x="0" y="190500"/>
                </a:cubicBezTo>
                <a:cubicBezTo>
                  <a:pt x="0" y="200397"/>
                  <a:pt x="7962" y="208359"/>
                  <a:pt x="17859" y="208359"/>
                </a:cubicBezTo>
                <a:lnTo>
                  <a:pt x="47625" y="208359"/>
                </a:lnTo>
                <a:lnTo>
                  <a:pt x="47625" y="250031"/>
                </a:lnTo>
                <a:lnTo>
                  <a:pt x="17859" y="250031"/>
                </a:lnTo>
                <a:cubicBezTo>
                  <a:pt x="7962" y="250031"/>
                  <a:pt x="0" y="257994"/>
                  <a:pt x="0" y="267891"/>
                </a:cubicBezTo>
                <a:cubicBezTo>
                  <a:pt x="0" y="277788"/>
                  <a:pt x="7962" y="285750"/>
                  <a:pt x="17859" y="285750"/>
                </a:cubicBezTo>
                <a:lnTo>
                  <a:pt x="47625" y="285750"/>
                </a:lnTo>
                <a:cubicBezTo>
                  <a:pt x="47625" y="312018"/>
                  <a:pt x="68982" y="333375"/>
                  <a:pt x="95250" y="333375"/>
                </a:cubicBezTo>
                <a:lnTo>
                  <a:pt x="95250" y="363141"/>
                </a:lnTo>
                <a:cubicBezTo>
                  <a:pt x="95250" y="373038"/>
                  <a:pt x="103212" y="381000"/>
                  <a:pt x="113109" y="381000"/>
                </a:cubicBezTo>
                <a:cubicBezTo>
                  <a:pt x="123006" y="381000"/>
                  <a:pt x="130969" y="373038"/>
                  <a:pt x="130969" y="363141"/>
                </a:cubicBezTo>
                <a:lnTo>
                  <a:pt x="130969" y="333375"/>
                </a:lnTo>
                <a:lnTo>
                  <a:pt x="172641" y="333375"/>
                </a:lnTo>
                <a:lnTo>
                  <a:pt x="172641" y="363141"/>
                </a:lnTo>
                <a:cubicBezTo>
                  <a:pt x="172641" y="373038"/>
                  <a:pt x="180603" y="381000"/>
                  <a:pt x="190500" y="381000"/>
                </a:cubicBezTo>
                <a:cubicBezTo>
                  <a:pt x="200397" y="381000"/>
                  <a:pt x="208359" y="373038"/>
                  <a:pt x="208359" y="363141"/>
                </a:cubicBezTo>
                <a:lnTo>
                  <a:pt x="208359" y="333375"/>
                </a:lnTo>
                <a:lnTo>
                  <a:pt x="250031" y="333375"/>
                </a:lnTo>
                <a:lnTo>
                  <a:pt x="250031" y="363141"/>
                </a:lnTo>
                <a:cubicBezTo>
                  <a:pt x="250031" y="373038"/>
                  <a:pt x="257994" y="381000"/>
                  <a:pt x="267891" y="381000"/>
                </a:cubicBezTo>
                <a:cubicBezTo>
                  <a:pt x="277788" y="381000"/>
                  <a:pt x="285750" y="373038"/>
                  <a:pt x="285750" y="363141"/>
                </a:cubicBezTo>
                <a:lnTo>
                  <a:pt x="285750" y="333375"/>
                </a:lnTo>
                <a:cubicBezTo>
                  <a:pt x="312018" y="333375"/>
                  <a:pt x="333375" y="312018"/>
                  <a:pt x="333375" y="285750"/>
                </a:cubicBezTo>
                <a:lnTo>
                  <a:pt x="363141" y="285750"/>
                </a:lnTo>
                <a:cubicBezTo>
                  <a:pt x="373038" y="285750"/>
                  <a:pt x="381000" y="277788"/>
                  <a:pt x="381000" y="267891"/>
                </a:cubicBezTo>
                <a:cubicBezTo>
                  <a:pt x="381000" y="257994"/>
                  <a:pt x="373038" y="250031"/>
                  <a:pt x="363141" y="250031"/>
                </a:cubicBezTo>
                <a:lnTo>
                  <a:pt x="333375" y="250031"/>
                </a:lnTo>
                <a:lnTo>
                  <a:pt x="333375" y="208359"/>
                </a:lnTo>
                <a:lnTo>
                  <a:pt x="363141" y="208359"/>
                </a:lnTo>
                <a:cubicBezTo>
                  <a:pt x="373038" y="208359"/>
                  <a:pt x="381000" y="200397"/>
                  <a:pt x="381000" y="190500"/>
                </a:cubicBezTo>
                <a:cubicBezTo>
                  <a:pt x="381000" y="180603"/>
                  <a:pt x="373038" y="172641"/>
                  <a:pt x="363141" y="172641"/>
                </a:cubicBezTo>
                <a:lnTo>
                  <a:pt x="333375" y="172641"/>
                </a:lnTo>
                <a:lnTo>
                  <a:pt x="333375" y="130969"/>
                </a:lnTo>
                <a:lnTo>
                  <a:pt x="363141" y="130969"/>
                </a:lnTo>
                <a:cubicBezTo>
                  <a:pt x="373038" y="130969"/>
                  <a:pt x="381000" y="123006"/>
                  <a:pt x="381000" y="113109"/>
                </a:cubicBezTo>
                <a:cubicBezTo>
                  <a:pt x="381000" y="103212"/>
                  <a:pt x="373038" y="95250"/>
                  <a:pt x="363141" y="95250"/>
                </a:cubicBezTo>
                <a:lnTo>
                  <a:pt x="333375" y="95250"/>
                </a:lnTo>
                <a:cubicBezTo>
                  <a:pt x="333375" y="68982"/>
                  <a:pt x="312018" y="47625"/>
                  <a:pt x="285750" y="47625"/>
                </a:cubicBezTo>
                <a:lnTo>
                  <a:pt x="285750" y="17859"/>
                </a:lnTo>
                <a:cubicBezTo>
                  <a:pt x="285750" y="7962"/>
                  <a:pt x="277788" y="0"/>
                  <a:pt x="267891" y="0"/>
                </a:cubicBezTo>
                <a:cubicBezTo>
                  <a:pt x="257994" y="0"/>
                  <a:pt x="250031" y="7962"/>
                  <a:pt x="250031" y="17859"/>
                </a:cubicBezTo>
                <a:lnTo>
                  <a:pt x="250031" y="47625"/>
                </a:lnTo>
                <a:lnTo>
                  <a:pt x="208359" y="47625"/>
                </a:lnTo>
                <a:lnTo>
                  <a:pt x="208359" y="17859"/>
                </a:lnTo>
                <a:cubicBezTo>
                  <a:pt x="208359" y="7962"/>
                  <a:pt x="200397" y="0"/>
                  <a:pt x="190500" y="0"/>
                </a:cubicBezTo>
                <a:cubicBezTo>
                  <a:pt x="180603" y="0"/>
                  <a:pt x="172641" y="7962"/>
                  <a:pt x="172641" y="17859"/>
                </a:cubicBezTo>
                <a:lnTo>
                  <a:pt x="172641" y="47625"/>
                </a:lnTo>
                <a:lnTo>
                  <a:pt x="130969" y="47625"/>
                </a:lnTo>
                <a:lnTo>
                  <a:pt x="130969" y="17859"/>
                </a:lnTo>
                <a:close/>
                <a:moveTo>
                  <a:pt x="119063" y="95250"/>
                </a:moveTo>
                <a:lnTo>
                  <a:pt x="261938" y="95250"/>
                </a:lnTo>
                <a:cubicBezTo>
                  <a:pt x="275109" y="95250"/>
                  <a:pt x="285750" y="105891"/>
                  <a:pt x="285750" y="119063"/>
                </a:cubicBezTo>
                <a:lnTo>
                  <a:pt x="285750" y="261938"/>
                </a:lnTo>
                <a:cubicBezTo>
                  <a:pt x="285750" y="275109"/>
                  <a:pt x="275109" y="285750"/>
                  <a:pt x="261938" y="285750"/>
                </a:cubicBezTo>
                <a:lnTo>
                  <a:pt x="119063" y="285750"/>
                </a:lnTo>
                <a:cubicBezTo>
                  <a:pt x="105891" y="285750"/>
                  <a:pt x="95250" y="275109"/>
                  <a:pt x="95250" y="261938"/>
                </a:cubicBezTo>
                <a:lnTo>
                  <a:pt x="95250" y="119063"/>
                </a:lnTo>
                <a:cubicBezTo>
                  <a:pt x="95250" y="105891"/>
                  <a:pt x="105891" y="95250"/>
                  <a:pt x="119063" y="95250"/>
                </a:cubicBezTo>
                <a:close/>
                <a:moveTo>
                  <a:pt x="130969" y="130969"/>
                </a:moveTo>
                <a:lnTo>
                  <a:pt x="130969" y="250031"/>
                </a:lnTo>
                <a:lnTo>
                  <a:pt x="250031" y="250031"/>
                </a:lnTo>
                <a:lnTo>
                  <a:pt x="250031" y="130969"/>
                </a:lnTo>
                <a:lnTo>
                  <a:pt x="130969" y="130969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3" name="Text 21"/>
          <p:cNvSpPr/>
          <p:nvPr/>
        </p:nvSpPr>
        <p:spPr>
          <a:xfrm>
            <a:off x="5842000" y="67945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IoT Sensors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636000" y="6858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47625" y="47625"/>
                </a:moveTo>
                <a:cubicBezTo>
                  <a:pt x="47625" y="34454"/>
                  <a:pt x="36984" y="23812"/>
                  <a:pt x="23812" y="23812"/>
                </a:cubicBezTo>
                <a:cubicBezTo>
                  <a:pt x="10641" y="23812"/>
                  <a:pt x="0" y="34454"/>
                  <a:pt x="0" y="47625"/>
                </a:cubicBezTo>
                <a:lnTo>
                  <a:pt x="0" y="297656"/>
                </a:lnTo>
                <a:cubicBezTo>
                  <a:pt x="0" y="330547"/>
                  <a:pt x="26640" y="357188"/>
                  <a:pt x="59531" y="357188"/>
                </a:cubicBezTo>
                <a:lnTo>
                  <a:pt x="357188" y="357188"/>
                </a:lnTo>
                <a:cubicBezTo>
                  <a:pt x="370359" y="357188"/>
                  <a:pt x="381000" y="346546"/>
                  <a:pt x="381000" y="333375"/>
                </a:cubicBezTo>
                <a:cubicBezTo>
                  <a:pt x="381000" y="320204"/>
                  <a:pt x="370359" y="309563"/>
                  <a:pt x="357188" y="309563"/>
                </a:cubicBezTo>
                <a:lnTo>
                  <a:pt x="59531" y="309563"/>
                </a:lnTo>
                <a:cubicBezTo>
                  <a:pt x="52983" y="309563"/>
                  <a:pt x="47625" y="304205"/>
                  <a:pt x="47625" y="297656"/>
                </a:cubicBezTo>
                <a:lnTo>
                  <a:pt x="47625" y="47625"/>
                </a:lnTo>
                <a:close/>
                <a:moveTo>
                  <a:pt x="350193" y="112068"/>
                </a:moveTo>
                <a:cubicBezTo>
                  <a:pt x="359494" y="102766"/>
                  <a:pt x="359494" y="87660"/>
                  <a:pt x="350193" y="78358"/>
                </a:cubicBezTo>
                <a:cubicBezTo>
                  <a:pt x="340891" y="69056"/>
                  <a:pt x="325785" y="69056"/>
                  <a:pt x="316483" y="78358"/>
                </a:cubicBezTo>
                <a:lnTo>
                  <a:pt x="238125" y="156790"/>
                </a:lnTo>
                <a:lnTo>
                  <a:pt x="195411" y="114151"/>
                </a:lnTo>
                <a:cubicBezTo>
                  <a:pt x="186110" y="104849"/>
                  <a:pt x="171004" y="104849"/>
                  <a:pt x="161702" y="114151"/>
                </a:cubicBezTo>
                <a:lnTo>
                  <a:pt x="90264" y="185589"/>
                </a:lnTo>
                <a:cubicBezTo>
                  <a:pt x="80963" y="194890"/>
                  <a:pt x="80963" y="209996"/>
                  <a:pt x="90264" y="219298"/>
                </a:cubicBezTo>
                <a:cubicBezTo>
                  <a:pt x="99566" y="228600"/>
                  <a:pt x="114672" y="228600"/>
                  <a:pt x="123974" y="219298"/>
                </a:cubicBezTo>
                <a:lnTo>
                  <a:pt x="178594" y="164678"/>
                </a:lnTo>
                <a:lnTo>
                  <a:pt x="221307" y="207392"/>
                </a:lnTo>
                <a:cubicBezTo>
                  <a:pt x="230609" y="216694"/>
                  <a:pt x="245715" y="216694"/>
                  <a:pt x="255017" y="207392"/>
                </a:cubicBezTo>
                <a:lnTo>
                  <a:pt x="350267" y="112142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0" y="6794500"/>
            <a:ext cx="317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Network Monitoring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70000" y="8255000"/>
            <a:ext cx="13716000" cy="50800"/>
          </a:xfrm>
          <a:prstGeom prst="rect">
            <a:avLst/>
          </a:prstGeom>
          <a:solidFill>
            <a:srgbClr val="FF7F50"/>
          </a:solidFill>
          <a:ln/>
        </p:spPr>
      </p:sp>
      <p:sp>
        <p:nvSpPr>
          <p:cNvPr id="27" name="Text 2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TCP vs UDP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Comparison — Choosing the Right Protocol for Your Application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TCP vs UDP — Side by Side Comparison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13716000" cy="6096000"/>
        </p:xfrm>
        <a:graphic>
          <a:graphicData uri="http://schemas.openxmlformats.org/drawingml/2006/table">
            <a:tbl>
              <a:tblPr/>
              <a:tblGrid>
                <a:gridCol w="3429000"/>
                <a:gridCol w="5143500"/>
                <a:gridCol w="5143500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Feature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TCP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UDP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Connection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Connection-oriented (handshake)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Connectionless (no setup)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Reliability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2E8B5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Guaranteed delivery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CC444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Best-effort, no guarantee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Ordering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In-order guaranteed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 ordering guarantee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Speed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Slower (overhead)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2E8B5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Faster (minimal overhead)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Header Size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 bytes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2E8B5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8 bytes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Error Checking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Yes + recovery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Yes, no recovery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Flow Control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Yes (sliding window)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Congestion Control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Yes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 Cases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Web, Email, File Transfer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Streaming, Gaming, DNS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to Use TCP vs UDP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604000" cy="3937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0000" y="1905000"/>
            <a:ext cx="6604000" cy="635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19050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Choose TCP When...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2730500"/>
            <a:ext cx="5842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Data integrity is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(banking)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Files must be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(downloads)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Order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matters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(databases)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Reliability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&gt; Speed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6604000" cy="3937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382000" y="1905000"/>
            <a:ext cx="6604000" cy="635000"/>
          </a:xfrm>
          <a:prstGeom prst="roundRect">
            <a:avLst>
              <a:gd name="adj" fmla="val 8000"/>
            </a:avLst>
          </a:pr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8382000" y="19050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Choose UDP When...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763000" y="2730500"/>
            <a:ext cx="5842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comms (video calls)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Speed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critical (gaming)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Loss is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OK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(sensors)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Broadcasting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many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70000" y="6223000"/>
            <a:ext cx="13716000" cy="1778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>
                  <a:alpha val="8000"/>
                </a:srgbClr>
              </a:gs>
              <a:gs pos="100000">
                <a:srgbClr val="FF7F50">
                  <a:alpha val="8000"/>
                </a:srgbClr>
              </a:gs>
            </a:gsLst>
            <a:lin ang="0" scaled="1"/>
          </a:gradFill>
          <a:ln w="12700">
            <a:solidFill>
              <a:srgbClr val="D0D6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78000" y="660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87482" y="381000"/>
                </a:moveTo>
                <a:cubicBezTo>
                  <a:pt x="397140" y="358874"/>
                  <a:pt x="416454" y="338832"/>
                  <a:pt x="438282" y="321568"/>
                </a:cubicBezTo>
                <a:cubicBezTo>
                  <a:pt x="481542" y="287437"/>
                  <a:pt x="508000" y="241300"/>
                  <a:pt x="508000" y="190500"/>
                </a:cubicBezTo>
                <a:cubicBezTo>
                  <a:pt x="508000" y="85328"/>
                  <a:pt x="394229" y="0"/>
                  <a:pt x="254000" y="0"/>
                </a:cubicBezTo>
                <a:cubicBezTo>
                  <a:pt x="113771" y="0"/>
                  <a:pt x="0" y="85328"/>
                  <a:pt x="0" y="190500"/>
                </a:cubicBezTo>
                <a:cubicBezTo>
                  <a:pt x="0" y="241300"/>
                  <a:pt x="26458" y="287437"/>
                  <a:pt x="69718" y="321568"/>
                </a:cubicBezTo>
                <a:cubicBezTo>
                  <a:pt x="91546" y="338832"/>
                  <a:pt x="110993" y="358874"/>
                  <a:pt x="120518" y="381000"/>
                </a:cubicBezTo>
                <a:lnTo>
                  <a:pt x="387350" y="381000"/>
                </a:lnTo>
                <a:close/>
                <a:moveTo>
                  <a:pt x="381000" y="428625"/>
                </a:moveTo>
                <a:lnTo>
                  <a:pt x="127000" y="428625"/>
                </a:lnTo>
                <a:lnTo>
                  <a:pt x="127000" y="444500"/>
                </a:lnTo>
                <a:cubicBezTo>
                  <a:pt x="127000" y="488355"/>
                  <a:pt x="174360" y="523875"/>
                  <a:pt x="232833" y="523875"/>
                </a:cubicBezTo>
                <a:lnTo>
                  <a:pt x="275167" y="523875"/>
                </a:lnTo>
                <a:cubicBezTo>
                  <a:pt x="333640" y="523875"/>
                  <a:pt x="381000" y="488355"/>
                  <a:pt x="381000" y="444500"/>
                </a:cubicBezTo>
                <a:lnTo>
                  <a:pt x="381000" y="428625"/>
                </a:lnTo>
                <a:close/>
                <a:moveTo>
                  <a:pt x="243417" y="111125"/>
                </a:moveTo>
                <a:cubicBezTo>
                  <a:pt x="190765" y="111125"/>
                  <a:pt x="148167" y="143073"/>
                  <a:pt x="148167" y="182563"/>
                </a:cubicBezTo>
                <a:cubicBezTo>
                  <a:pt x="148167" y="195759"/>
                  <a:pt x="134011" y="206375"/>
                  <a:pt x="116417" y="206375"/>
                </a:cubicBezTo>
                <a:cubicBezTo>
                  <a:pt x="98822" y="206375"/>
                  <a:pt x="84667" y="195759"/>
                  <a:pt x="84667" y="182563"/>
                </a:cubicBezTo>
                <a:cubicBezTo>
                  <a:pt x="84667" y="116780"/>
                  <a:pt x="155707" y="63500"/>
                  <a:pt x="243417" y="63500"/>
                </a:cubicBezTo>
                <a:cubicBezTo>
                  <a:pt x="261011" y="63500"/>
                  <a:pt x="275167" y="74116"/>
                  <a:pt x="275167" y="87313"/>
                </a:cubicBezTo>
                <a:cubicBezTo>
                  <a:pt x="275167" y="100509"/>
                  <a:pt x="261011" y="111125"/>
                  <a:pt x="243417" y="11112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2540000" y="64770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Modern Hybrid Approaches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40000" y="6921500"/>
            <a:ext cx="1193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HTTP/3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uses QUIC (UDP-based) for faster web browsing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WebRTC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uses UDP for media, TCP for signaling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 &amp; Key Takeaways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604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58564" y="0"/>
                  <a:pt x="263128" y="992"/>
                  <a:pt x="267295" y="2877"/>
                </a:cubicBezTo>
                <a:lnTo>
                  <a:pt x="454223" y="82153"/>
                </a:lnTo>
                <a:cubicBezTo>
                  <a:pt x="476052" y="91380"/>
                  <a:pt x="492323" y="112911"/>
                  <a:pt x="492224" y="138906"/>
                </a:cubicBezTo>
                <a:cubicBezTo>
                  <a:pt x="491728" y="237331"/>
                  <a:pt x="451247" y="417413"/>
                  <a:pt x="280293" y="499269"/>
                </a:cubicBezTo>
                <a:cubicBezTo>
                  <a:pt x="263723" y="507206"/>
                  <a:pt x="244475" y="507206"/>
                  <a:pt x="227905" y="499269"/>
                </a:cubicBezTo>
                <a:cubicBezTo>
                  <a:pt x="56852" y="417413"/>
                  <a:pt x="16470" y="237331"/>
                  <a:pt x="15974" y="138906"/>
                </a:cubicBezTo>
                <a:cubicBezTo>
                  <a:pt x="15875" y="112911"/>
                  <a:pt x="32147" y="91380"/>
                  <a:pt x="53975" y="82153"/>
                </a:cubicBezTo>
                <a:lnTo>
                  <a:pt x="240804" y="2877"/>
                </a:lnTo>
                <a:cubicBezTo>
                  <a:pt x="244971" y="992"/>
                  <a:pt x="249436" y="0"/>
                  <a:pt x="254000" y="0"/>
                </a:cubicBezTo>
                <a:close/>
                <a:moveTo>
                  <a:pt x="254000" y="66278"/>
                </a:moveTo>
                <a:lnTo>
                  <a:pt x="254000" y="441424"/>
                </a:lnTo>
                <a:cubicBezTo>
                  <a:pt x="390922" y="375146"/>
                  <a:pt x="427732" y="228302"/>
                  <a:pt x="428625" y="140395"/>
                </a:cubicBezTo>
                <a:lnTo>
                  <a:pt x="254000" y="66377"/>
                </a:lnTo>
                <a:lnTo>
                  <a:pt x="254000" y="66377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349500" y="2159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TCP — The Reliable Choice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2794000"/>
            <a:ext cx="5842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Reliable, ordered, connection-oriented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Backbone of web, email, file transfers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Every byte guaranteed to arrive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Use when: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integrity matters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6604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630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84175" y="-9823"/>
                </a:moveTo>
                <a:cubicBezTo>
                  <a:pt x="397669" y="-1290"/>
                  <a:pt x="402658" y="14188"/>
                  <a:pt x="396535" y="27682"/>
                </a:cubicBezTo>
                <a:lnTo>
                  <a:pt x="307635" y="222250"/>
                </a:lnTo>
                <a:lnTo>
                  <a:pt x="471714" y="222250"/>
                </a:lnTo>
                <a:cubicBezTo>
                  <a:pt x="487022" y="222250"/>
                  <a:pt x="500629" y="230584"/>
                  <a:pt x="505846" y="243185"/>
                </a:cubicBezTo>
                <a:cubicBezTo>
                  <a:pt x="511062" y="255786"/>
                  <a:pt x="506639" y="269875"/>
                  <a:pt x="494960" y="278408"/>
                </a:cubicBezTo>
                <a:lnTo>
                  <a:pt x="168388" y="516533"/>
                </a:lnTo>
                <a:cubicBezTo>
                  <a:pt x="155575" y="525859"/>
                  <a:pt x="137319" y="526355"/>
                  <a:pt x="123825" y="517823"/>
                </a:cubicBezTo>
                <a:cubicBezTo>
                  <a:pt x="110331" y="509290"/>
                  <a:pt x="105342" y="493812"/>
                  <a:pt x="111465" y="480318"/>
                </a:cubicBezTo>
                <a:lnTo>
                  <a:pt x="200365" y="285750"/>
                </a:lnTo>
                <a:lnTo>
                  <a:pt x="36286" y="285750"/>
                </a:lnTo>
                <a:cubicBezTo>
                  <a:pt x="20978" y="285750"/>
                  <a:pt x="7371" y="277416"/>
                  <a:pt x="2154" y="264815"/>
                </a:cubicBezTo>
                <a:cubicBezTo>
                  <a:pt x="-3062" y="252214"/>
                  <a:pt x="1361" y="238125"/>
                  <a:pt x="13040" y="229592"/>
                </a:cubicBezTo>
                <a:lnTo>
                  <a:pt x="339612" y="-8533"/>
                </a:lnTo>
                <a:cubicBezTo>
                  <a:pt x="352425" y="-17859"/>
                  <a:pt x="370681" y="-18355"/>
                  <a:pt x="384175" y="-9823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9461500" y="2159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UDP — The Fast Choice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763000" y="2794000"/>
            <a:ext cx="5842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Fast, lightweight, connectionless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Powers streaming, gaming, VoIP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Speed over perfect reliability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Use when: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 latency matters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70000" y="5207000"/>
            <a:ext cx="13716000" cy="2794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778000" y="5397500"/>
            <a:ext cx="635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Skills Learned This Week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032000" y="6096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38654" y="893"/>
                </a:moveTo>
                <a:cubicBezTo>
                  <a:pt x="227409" y="-2753"/>
                  <a:pt x="215702" y="4614"/>
                  <a:pt x="212460" y="17264"/>
                </a:cubicBezTo>
                <a:lnTo>
                  <a:pt x="127794" y="350639"/>
                </a:lnTo>
                <a:cubicBezTo>
                  <a:pt x="124553" y="363289"/>
                  <a:pt x="131101" y="376461"/>
                  <a:pt x="142346" y="380107"/>
                </a:cubicBezTo>
                <a:cubicBezTo>
                  <a:pt x="153591" y="383753"/>
                  <a:pt x="165298" y="376386"/>
                  <a:pt x="168540" y="363736"/>
                </a:cubicBezTo>
                <a:lnTo>
                  <a:pt x="253206" y="30361"/>
                </a:lnTo>
                <a:cubicBezTo>
                  <a:pt x="256447" y="17711"/>
                  <a:pt x="249899" y="4539"/>
                  <a:pt x="238654" y="893"/>
                </a:cubicBezTo>
                <a:close/>
                <a:moveTo>
                  <a:pt x="281384" y="102171"/>
                </a:moveTo>
                <a:cubicBezTo>
                  <a:pt x="273116" y="111472"/>
                  <a:pt x="273116" y="126578"/>
                  <a:pt x="281384" y="135880"/>
                </a:cubicBezTo>
                <a:lnTo>
                  <a:pt x="329935" y="190500"/>
                </a:lnTo>
                <a:lnTo>
                  <a:pt x="281384" y="245120"/>
                </a:lnTo>
                <a:cubicBezTo>
                  <a:pt x="273116" y="254422"/>
                  <a:pt x="273116" y="269528"/>
                  <a:pt x="281384" y="278829"/>
                </a:cubicBezTo>
                <a:cubicBezTo>
                  <a:pt x="289653" y="288131"/>
                  <a:pt x="303080" y="288131"/>
                  <a:pt x="311348" y="278829"/>
                </a:cubicBezTo>
                <a:lnTo>
                  <a:pt x="374848" y="207392"/>
                </a:lnTo>
                <a:cubicBezTo>
                  <a:pt x="383117" y="198090"/>
                  <a:pt x="383117" y="182984"/>
                  <a:pt x="374848" y="173682"/>
                </a:cubicBezTo>
                <a:lnTo>
                  <a:pt x="311348" y="102245"/>
                </a:lnTo>
                <a:cubicBezTo>
                  <a:pt x="303080" y="92943"/>
                  <a:pt x="289653" y="92943"/>
                  <a:pt x="281384" y="102245"/>
                </a:cubicBezTo>
                <a:close/>
                <a:moveTo>
                  <a:pt x="99682" y="102171"/>
                </a:moveTo>
                <a:cubicBezTo>
                  <a:pt x="91414" y="92869"/>
                  <a:pt x="77986" y="92869"/>
                  <a:pt x="69718" y="102171"/>
                </a:cubicBezTo>
                <a:lnTo>
                  <a:pt x="6218" y="173608"/>
                </a:lnTo>
                <a:cubicBezTo>
                  <a:pt x="-2051" y="182910"/>
                  <a:pt x="-2051" y="198016"/>
                  <a:pt x="6218" y="207318"/>
                </a:cubicBezTo>
                <a:lnTo>
                  <a:pt x="69718" y="278755"/>
                </a:lnTo>
                <a:cubicBezTo>
                  <a:pt x="77986" y="288057"/>
                  <a:pt x="91414" y="288057"/>
                  <a:pt x="99682" y="278755"/>
                </a:cubicBezTo>
                <a:cubicBezTo>
                  <a:pt x="107950" y="269453"/>
                  <a:pt x="107950" y="254347"/>
                  <a:pt x="99682" y="245046"/>
                </a:cubicBezTo>
                <a:lnTo>
                  <a:pt x="51131" y="190500"/>
                </a:lnTo>
                <a:lnTo>
                  <a:pt x="99616" y="135880"/>
                </a:lnTo>
                <a:cubicBezTo>
                  <a:pt x="107884" y="126578"/>
                  <a:pt x="107884" y="111472"/>
                  <a:pt x="99616" y="102171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5" name="Text 13"/>
          <p:cNvSpPr/>
          <p:nvPr/>
        </p:nvSpPr>
        <p:spPr>
          <a:xfrm>
            <a:off x="2540000" y="60325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Creating TCP &amp; UDP sockets in Python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032000" y="6667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54429" y="23812"/>
                </a:moveTo>
                <a:cubicBezTo>
                  <a:pt x="24408" y="23812"/>
                  <a:pt x="0" y="45169"/>
                  <a:pt x="0" y="71438"/>
                </a:cubicBezTo>
                <a:lnTo>
                  <a:pt x="0" y="119063"/>
                </a:lnTo>
                <a:cubicBezTo>
                  <a:pt x="0" y="145331"/>
                  <a:pt x="24408" y="166688"/>
                  <a:pt x="54429" y="166688"/>
                </a:cubicBezTo>
                <a:lnTo>
                  <a:pt x="326571" y="166688"/>
                </a:lnTo>
                <a:cubicBezTo>
                  <a:pt x="356592" y="166688"/>
                  <a:pt x="381000" y="145331"/>
                  <a:pt x="381000" y="119063"/>
                </a:cubicBezTo>
                <a:lnTo>
                  <a:pt x="381000" y="71438"/>
                </a:lnTo>
                <a:cubicBezTo>
                  <a:pt x="381000" y="45169"/>
                  <a:pt x="356592" y="23812"/>
                  <a:pt x="326571" y="23812"/>
                </a:cubicBezTo>
                <a:lnTo>
                  <a:pt x="54429" y="23812"/>
                </a:lnTo>
                <a:close/>
                <a:moveTo>
                  <a:pt x="238125" y="77391"/>
                </a:moveTo>
                <a:cubicBezTo>
                  <a:pt x="249390" y="77391"/>
                  <a:pt x="258536" y="85393"/>
                  <a:pt x="258536" y="95250"/>
                </a:cubicBezTo>
                <a:cubicBezTo>
                  <a:pt x="258536" y="105107"/>
                  <a:pt x="249390" y="113109"/>
                  <a:pt x="238125" y="113109"/>
                </a:cubicBezTo>
                <a:cubicBezTo>
                  <a:pt x="226860" y="113109"/>
                  <a:pt x="217714" y="105107"/>
                  <a:pt x="217714" y="95250"/>
                </a:cubicBezTo>
                <a:cubicBezTo>
                  <a:pt x="217714" y="85393"/>
                  <a:pt x="226860" y="77391"/>
                  <a:pt x="238125" y="77391"/>
                </a:cubicBezTo>
                <a:close/>
                <a:moveTo>
                  <a:pt x="285750" y="95250"/>
                </a:moveTo>
                <a:cubicBezTo>
                  <a:pt x="285750" y="85393"/>
                  <a:pt x="294896" y="77391"/>
                  <a:pt x="306161" y="77391"/>
                </a:cubicBezTo>
                <a:cubicBezTo>
                  <a:pt x="317426" y="77391"/>
                  <a:pt x="326571" y="85393"/>
                  <a:pt x="326571" y="95250"/>
                </a:cubicBezTo>
                <a:cubicBezTo>
                  <a:pt x="326571" y="105107"/>
                  <a:pt x="317426" y="113109"/>
                  <a:pt x="306161" y="113109"/>
                </a:cubicBezTo>
                <a:cubicBezTo>
                  <a:pt x="294896" y="113109"/>
                  <a:pt x="285750" y="105107"/>
                  <a:pt x="285750" y="95250"/>
                </a:cubicBezTo>
                <a:close/>
                <a:moveTo>
                  <a:pt x="54429" y="214313"/>
                </a:moveTo>
                <a:cubicBezTo>
                  <a:pt x="24408" y="214313"/>
                  <a:pt x="0" y="235669"/>
                  <a:pt x="0" y="261938"/>
                </a:cubicBezTo>
                <a:lnTo>
                  <a:pt x="0" y="309563"/>
                </a:lnTo>
                <a:cubicBezTo>
                  <a:pt x="0" y="335831"/>
                  <a:pt x="24408" y="357188"/>
                  <a:pt x="54429" y="357188"/>
                </a:cubicBezTo>
                <a:lnTo>
                  <a:pt x="326571" y="357188"/>
                </a:lnTo>
                <a:cubicBezTo>
                  <a:pt x="356592" y="357188"/>
                  <a:pt x="381000" y="335831"/>
                  <a:pt x="381000" y="309563"/>
                </a:cubicBezTo>
                <a:lnTo>
                  <a:pt x="381000" y="261938"/>
                </a:lnTo>
                <a:cubicBezTo>
                  <a:pt x="381000" y="235669"/>
                  <a:pt x="356592" y="214313"/>
                  <a:pt x="326571" y="214313"/>
                </a:cubicBezTo>
                <a:lnTo>
                  <a:pt x="54429" y="214313"/>
                </a:lnTo>
                <a:close/>
                <a:moveTo>
                  <a:pt x="238125" y="267891"/>
                </a:moveTo>
                <a:cubicBezTo>
                  <a:pt x="249390" y="267891"/>
                  <a:pt x="258536" y="275893"/>
                  <a:pt x="258536" y="285750"/>
                </a:cubicBezTo>
                <a:cubicBezTo>
                  <a:pt x="258536" y="295607"/>
                  <a:pt x="249390" y="303609"/>
                  <a:pt x="238125" y="303609"/>
                </a:cubicBezTo>
                <a:cubicBezTo>
                  <a:pt x="226860" y="303609"/>
                  <a:pt x="217714" y="295607"/>
                  <a:pt x="217714" y="285750"/>
                </a:cubicBezTo>
                <a:cubicBezTo>
                  <a:pt x="217714" y="275893"/>
                  <a:pt x="226860" y="267891"/>
                  <a:pt x="238125" y="267891"/>
                </a:cubicBezTo>
                <a:close/>
                <a:moveTo>
                  <a:pt x="285750" y="285750"/>
                </a:moveTo>
                <a:cubicBezTo>
                  <a:pt x="285750" y="275893"/>
                  <a:pt x="294896" y="267891"/>
                  <a:pt x="306161" y="267891"/>
                </a:cubicBezTo>
                <a:cubicBezTo>
                  <a:pt x="317426" y="267891"/>
                  <a:pt x="326571" y="275893"/>
                  <a:pt x="326571" y="285750"/>
                </a:cubicBezTo>
                <a:cubicBezTo>
                  <a:pt x="326571" y="295607"/>
                  <a:pt x="317426" y="303609"/>
                  <a:pt x="306161" y="303609"/>
                </a:cubicBezTo>
                <a:cubicBezTo>
                  <a:pt x="294896" y="303609"/>
                  <a:pt x="285750" y="295607"/>
                  <a:pt x="285750" y="28575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7" name="Text 15"/>
          <p:cNvSpPr/>
          <p:nvPr/>
        </p:nvSpPr>
        <p:spPr>
          <a:xfrm>
            <a:off x="2540000" y="6604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Building client-server applications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874000" y="6096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28600" y="23812"/>
                </a:moveTo>
                <a:lnTo>
                  <a:pt x="304800" y="23812"/>
                </a:lnTo>
                <a:cubicBezTo>
                  <a:pt x="315337" y="23812"/>
                  <a:pt x="323850" y="34454"/>
                  <a:pt x="323850" y="47625"/>
                </a:cubicBezTo>
                <a:cubicBezTo>
                  <a:pt x="323850" y="60796"/>
                  <a:pt x="315337" y="71438"/>
                  <a:pt x="304800" y="71438"/>
                </a:cubicBezTo>
                <a:lnTo>
                  <a:pt x="237173" y="71438"/>
                </a:lnTo>
                <a:cubicBezTo>
                  <a:pt x="234077" y="90636"/>
                  <a:pt x="223540" y="106487"/>
                  <a:pt x="209550" y="114077"/>
                </a:cubicBezTo>
                <a:lnTo>
                  <a:pt x="209550" y="333375"/>
                </a:lnTo>
                <a:lnTo>
                  <a:pt x="304800" y="333375"/>
                </a:lnTo>
                <a:cubicBezTo>
                  <a:pt x="315337" y="333375"/>
                  <a:pt x="323850" y="344016"/>
                  <a:pt x="323850" y="357188"/>
                </a:cubicBezTo>
                <a:cubicBezTo>
                  <a:pt x="323850" y="370359"/>
                  <a:pt x="315337" y="381000"/>
                  <a:pt x="304800" y="381000"/>
                </a:cubicBezTo>
                <a:lnTo>
                  <a:pt x="76200" y="381000"/>
                </a:lnTo>
                <a:cubicBezTo>
                  <a:pt x="65663" y="381000"/>
                  <a:pt x="57150" y="370359"/>
                  <a:pt x="57150" y="357188"/>
                </a:cubicBezTo>
                <a:cubicBezTo>
                  <a:pt x="57150" y="344016"/>
                  <a:pt x="65663" y="333375"/>
                  <a:pt x="76200" y="333375"/>
                </a:cubicBezTo>
                <a:lnTo>
                  <a:pt x="171450" y="333375"/>
                </a:lnTo>
                <a:lnTo>
                  <a:pt x="171450" y="114077"/>
                </a:lnTo>
                <a:cubicBezTo>
                  <a:pt x="157460" y="106412"/>
                  <a:pt x="146923" y="90562"/>
                  <a:pt x="143828" y="71438"/>
                </a:cubicBezTo>
                <a:lnTo>
                  <a:pt x="76200" y="71438"/>
                </a:lnTo>
                <a:cubicBezTo>
                  <a:pt x="65663" y="71438"/>
                  <a:pt x="57150" y="60796"/>
                  <a:pt x="57150" y="47625"/>
                </a:cubicBezTo>
                <a:cubicBezTo>
                  <a:pt x="57150" y="34454"/>
                  <a:pt x="65663" y="23812"/>
                  <a:pt x="76200" y="23812"/>
                </a:cubicBezTo>
                <a:lnTo>
                  <a:pt x="152400" y="23812"/>
                </a:lnTo>
                <a:cubicBezTo>
                  <a:pt x="161092" y="9376"/>
                  <a:pt x="174903" y="0"/>
                  <a:pt x="190500" y="0"/>
                </a:cubicBezTo>
                <a:cubicBezTo>
                  <a:pt x="206097" y="0"/>
                  <a:pt x="219908" y="9376"/>
                  <a:pt x="228600" y="23812"/>
                </a:cubicBezTo>
                <a:close/>
                <a:moveTo>
                  <a:pt x="261699" y="238125"/>
                </a:moveTo>
                <a:lnTo>
                  <a:pt x="347901" y="238125"/>
                </a:lnTo>
                <a:lnTo>
                  <a:pt x="304800" y="145703"/>
                </a:lnTo>
                <a:lnTo>
                  <a:pt x="261699" y="238125"/>
                </a:lnTo>
                <a:close/>
                <a:moveTo>
                  <a:pt x="304800" y="309563"/>
                </a:moveTo>
                <a:cubicBezTo>
                  <a:pt x="267355" y="309563"/>
                  <a:pt x="236220" y="284262"/>
                  <a:pt x="229791" y="250850"/>
                </a:cubicBezTo>
                <a:cubicBezTo>
                  <a:pt x="228243" y="242664"/>
                  <a:pt x="230386" y="234255"/>
                  <a:pt x="233779" y="226963"/>
                </a:cubicBezTo>
                <a:lnTo>
                  <a:pt x="290453" y="105519"/>
                </a:lnTo>
                <a:cubicBezTo>
                  <a:pt x="293430" y="99120"/>
                  <a:pt x="298906" y="95250"/>
                  <a:pt x="304800" y="95250"/>
                </a:cubicBezTo>
                <a:cubicBezTo>
                  <a:pt x="310694" y="95250"/>
                  <a:pt x="316170" y="99194"/>
                  <a:pt x="319147" y="105519"/>
                </a:cubicBezTo>
                <a:lnTo>
                  <a:pt x="375821" y="226963"/>
                </a:lnTo>
                <a:cubicBezTo>
                  <a:pt x="379214" y="234255"/>
                  <a:pt x="381357" y="242664"/>
                  <a:pt x="379809" y="250850"/>
                </a:cubicBezTo>
                <a:cubicBezTo>
                  <a:pt x="373380" y="284187"/>
                  <a:pt x="342245" y="309563"/>
                  <a:pt x="304800" y="309563"/>
                </a:cubicBezTo>
                <a:close/>
                <a:moveTo>
                  <a:pt x="75486" y="145703"/>
                </a:moveTo>
                <a:lnTo>
                  <a:pt x="32385" y="238125"/>
                </a:lnTo>
                <a:lnTo>
                  <a:pt x="118646" y="238125"/>
                </a:lnTo>
                <a:lnTo>
                  <a:pt x="75486" y="145703"/>
                </a:lnTo>
                <a:close/>
                <a:moveTo>
                  <a:pt x="536" y="250850"/>
                </a:moveTo>
                <a:cubicBezTo>
                  <a:pt x="-1012" y="242664"/>
                  <a:pt x="1131" y="234255"/>
                  <a:pt x="4524" y="226963"/>
                </a:cubicBezTo>
                <a:lnTo>
                  <a:pt x="61198" y="105519"/>
                </a:lnTo>
                <a:cubicBezTo>
                  <a:pt x="64175" y="99120"/>
                  <a:pt x="69652" y="95250"/>
                  <a:pt x="75545" y="95250"/>
                </a:cubicBezTo>
                <a:cubicBezTo>
                  <a:pt x="81439" y="95250"/>
                  <a:pt x="86916" y="99194"/>
                  <a:pt x="89892" y="105519"/>
                </a:cubicBezTo>
                <a:lnTo>
                  <a:pt x="146566" y="226963"/>
                </a:lnTo>
                <a:cubicBezTo>
                  <a:pt x="149959" y="234255"/>
                  <a:pt x="152102" y="242664"/>
                  <a:pt x="150555" y="250850"/>
                </a:cubicBezTo>
                <a:cubicBezTo>
                  <a:pt x="144125" y="284187"/>
                  <a:pt x="112990" y="309563"/>
                  <a:pt x="75545" y="309563"/>
                </a:cubicBezTo>
                <a:cubicBezTo>
                  <a:pt x="38100" y="309563"/>
                  <a:pt x="6965" y="284262"/>
                  <a:pt x="536" y="25085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9" name="Text 17"/>
          <p:cNvSpPr/>
          <p:nvPr/>
        </p:nvSpPr>
        <p:spPr>
          <a:xfrm>
            <a:off x="8382000" y="60325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Understanding protocol trade-offs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874000" y="6667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228228" y="241920"/>
                </a:moveTo>
                <a:lnTo>
                  <a:pt x="120848" y="283220"/>
                </a:lnTo>
                <a:cubicBezTo>
                  <a:pt x="106412" y="288801"/>
                  <a:pt x="92199" y="274588"/>
                  <a:pt x="97780" y="260152"/>
                </a:cubicBezTo>
                <a:lnTo>
                  <a:pt x="139080" y="152772"/>
                </a:lnTo>
                <a:cubicBezTo>
                  <a:pt x="141536" y="146447"/>
                  <a:pt x="146447" y="141536"/>
                  <a:pt x="152772" y="139080"/>
                </a:cubicBezTo>
                <a:lnTo>
                  <a:pt x="260152" y="97780"/>
                </a:lnTo>
                <a:cubicBezTo>
                  <a:pt x="274588" y="92199"/>
                  <a:pt x="288801" y="106412"/>
                  <a:pt x="283220" y="120848"/>
                </a:cubicBezTo>
                <a:lnTo>
                  <a:pt x="241920" y="228228"/>
                </a:lnTo>
                <a:cubicBezTo>
                  <a:pt x="239539" y="234553"/>
                  <a:pt x="234553" y="239464"/>
                  <a:pt x="228228" y="241920"/>
                </a:cubicBezTo>
                <a:close/>
                <a:moveTo>
                  <a:pt x="214313" y="190500"/>
                </a:moveTo>
                <a:cubicBezTo>
                  <a:pt x="214313" y="177358"/>
                  <a:pt x="203642" y="166688"/>
                  <a:pt x="190500" y="166688"/>
                </a:cubicBezTo>
                <a:cubicBezTo>
                  <a:pt x="177358" y="166688"/>
                  <a:pt x="166688" y="177358"/>
                  <a:pt x="166688" y="190500"/>
                </a:cubicBezTo>
                <a:cubicBezTo>
                  <a:pt x="166688" y="203642"/>
                  <a:pt x="177358" y="214313"/>
                  <a:pt x="190500" y="214313"/>
                </a:cubicBezTo>
                <a:cubicBezTo>
                  <a:pt x="203642" y="214313"/>
                  <a:pt x="214313" y="203642"/>
                  <a:pt x="214313" y="1905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1" name="Text 19"/>
          <p:cNvSpPr/>
          <p:nvPr/>
        </p:nvSpPr>
        <p:spPr>
          <a:xfrm>
            <a:off x="8382000" y="6604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Choosing the right protocol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70000" y="7366000"/>
            <a:ext cx="137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i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"Both protocols serve essential roles in modern networking."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0" y="0"/>
                </a:moveTo>
                <a:lnTo>
                  <a:pt x="8128000" y="0"/>
                </a:lnTo>
                <a:lnTo>
                  <a:pt x="8128000" y="2286000"/>
                </a:lnTo>
                <a:quadBezTo>
                  <a:pt x="6096000" y="4572000"/>
                  <a:pt x="4064000" y="4572000"/>
                </a:quadBezTo>
                <a:lnTo>
                  <a:pt x="2032000" y="4572000"/>
                </a:lnTo>
                <a:quadBezTo>
                  <a:pt x="0" y="4572000"/>
                  <a:pt x="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>
                  <a:alpha val="25000"/>
                </a:srgbClr>
              </a:gs>
              <a:gs pos="100000">
                <a:srgbClr val="D0E0E3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8128000" y="45720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8128000" y="4572000"/>
                </a:moveTo>
                <a:lnTo>
                  <a:pt x="0" y="4572000"/>
                </a:lnTo>
                <a:lnTo>
                  <a:pt x="0" y="2286000"/>
                </a:lnTo>
                <a:quadBezTo>
                  <a:pt x="2032000" y="0"/>
                  <a:pt x="4064000" y="0"/>
                </a:quadBezTo>
                <a:lnTo>
                  <a:pt x="6096000" y="0"/>
                </a:lnTo>
                <a:quadBezTo>
                  <a:pt x="8128000" y="0"/>
                  <a:pt x="812800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100000">
                <a:srgbClr val="FF7F50">
                  <a:alpha val="13000"/>
                </a:srgbClr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3048000" y="2286000"/>
            <a:ext cx="1016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 You!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048000" y="3683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Network Programming — TCP &amp; UDP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318000" y="4445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Week 14 Complete · Lecture 27 &amp; 28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18000" y="5334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Questions? Let's discuss!</a:t>
            </a:r>
            <a:endParaRPr lang="en-US" sz="18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Computer Networks Course · 2026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93000" y="6604000"/>
            <a:ext cx="1270000" cy="1016000"/>
          </a:xfrm>
          <a:custGeom>
            <a:avLst/>
            <a:gdLst/>
            <a:ahLst/>
            <a:cxnLst/>
            <a:rect l="l" t="t" r="r" b="b"/>
            <a:pathLst>
              <a:path w="1270000" h="1016000">
                <a:moveTo>
                  <a:pt x="546806" y="174625"/>
                </a:moveTo>
                <a:lnTo>
                  <a:pt x="723194" y="174625"/>
                </a:lnTo>
                <a:lnTo>
                  <a:pt x="723194" y="269875"/>
                </a:lnTo>
                <a:lnTo>
                  <a:pt x="546806" y="269875"/>
                </a:lnTo>
                <a:lnTo>
                  <a:pt x="546806" y="174625"/>
                </a:lnTo>
                <a:close/>
                <a:moveTo>
                  <a:pt x="529167" y="63500"/>
                </a:moveTo>
                <a:cubicBezTo>
                  <a:pt x="470738" y="63500"/>
                  <a:pt x="423333" y="106164"/>
                  <a:pt x="423333" y="158750"/>
                </a:cubicBezTo>
                <a:lnTo>
                  <a:pt x="423333" y="285750"/>
                </a:lnTo>
                <a:cubicBezTo>
                  <a:pt x="423333" y="338336"/>
                  <a:pt x="470738" y="381000"/>
                  <a:pt x="529167" y="381000"/>
                </a:cubicBezTo>
                <a:lnTo>
                  <a:pt x="564444" y="381000"/>
                </a:lnTo>
                <a:lnTo>
                  <a:pt x="564444" y="444500"/>
                </a:lnTo>
                <a:lnTo>
                  <a:pt x="70556" y="444500"/>
                </a:lnTo>
                <a:cubicBezTo>
                  <a:pt x="31530" y="444500"/>
                  <a:pt x="0" y="472877"/>
                  <a:pt x="0" y="508000"/>
                </a:cubicBezTo>
                <a:cubicBezTo>
                  <a:pt x="0" y="543123"/>
                  <a:pt x="31530" y="571500"/>
                  <a:pt x="70556" y="571500"/>
                </a:cubicBezTo>
                <a:lnTo>
                  <a:pt x="282222" y="571500"/>
                </a:lnTo>
                <a:lnTo>
                  <a:pt x="282222" y="635000"/>
                </a:lnTo>
                <a:lnTo>
                  <a:pt x="246944" y="635000"/>
                </a:lnTo>
                <a:cubicBezTo>
                  <a:pt x="188516" y="635000"/>
                  <a:pt x="141111" y="677664"/>
                  <a:pt x="141111" y="730250"/>
                </a:cubicBezTo>
                <a:lnTo>
                  <a:pt x="141111" y="857250"/>
                </a:lnTo>
                <a:cubicBezTo>
                  <a:pt x="141111" y="909836"/>
                  <a:pt x="188516" y="952500"/>
                  <a:pt x="246944" y="952500"/>
                </a:cubicBezTo>
                <a:lnTo>
                  <a:pt x="458611" y="952500"/>
                </a:lnTo>
                <a:cubicBezTo>
                  <a:pt x="517040" y="952500"/>
                  <a:pt x="564444" y="909836"/>
                  <a:pt x="564444" y="857250"/>
                </a:cubicBezTo>
                <a:lnTo>
                  <a:pt x="564444" y="730250"/>
                </a:lnTo>
                <a:cubicBezTo>
                  <a:pt x="564444" y="677664"/>
                  <a:pt x="517040" y="635000"/>
                  <a:pt x="458611" y="635000"/>
                </a:cubicBezTo>
                <a:lnTo>
                  <a:pt x="423333" y="635000"/>
                </a:lnTo>
                <a:lnTo>
                  <a:pt x="423333" y="571500"/>
                </a:lnTo>
                <a:lnTo>
                  <a:pt x="846667" y="571500"/>
                </a:lnTo>
                <a:lnTo>
                  <a:pt x="846667" y="635000"/>
                </a:lnTo>
                <a:lnTo>
                  <a:pt x="811389" y="635000"/>
                </a:lnTo>
                <a:cubicBezTo>
                  <a:pt x="752960" y="635000"/>
                  <a:pt x="705556" y="677664"/>
                  <a:pt x="705556" y="730250"/>
                </a:cubicBezTo>
                <a:lnTo>
                  <a:pt x="705556" y="857250"/>
                </a:lnTo>
                <a:cubicBezTo>
                  <a:pt x="705556" y="909836"/>
                  <a:pt x="752960" y="952500"/>
                  <a:pt x="811389" y="952500"/>
                </a:cubicBezTo>
                <a:lnTo>
                  <a:pt x="1023056" y="952500"/>
                </a:lnTo>
                <a:cubicBezTo>
                  <a:pt x="1081484" y="952500"/>
                  <a:pt x="1128889" y="909836"/>
                  <a:pt x="1128889" y="857250"/>
                </a:cubicBezTo>
                <a:lnTo>
                  <a:pt x="1128889" y="730250"/>
                </a:lnTo>
                <a:cubicBezTo>
                  <a:pt x="1128889" y="677664"/>
                  <a:pt x="1081484" y="635000"/>
                  <a:pt x="1023056" y="635000"/>
                </a:cubicBezTo>
                <a:lnTo>
                  <a:pt x="987778" y="635000"/>
                </a:lnTo>
                <a:lnTo>
                  <a:pt x="987778" y="571500"/>
                </a:lnTo>
                <a:lnTo>
                  <a:pt x="1199444" y="571500"/>
                </a:lnTo>
                <a:cubicBezTo>
                  <a:pt x="1238470" y="571500"/>
                  <a:pt x="1270000" y="543123"/>
                  <a:pt x="1270000" y="508000"/>
                </a:cubicBezTo>
                <a:cubicBezTo>
                  <a:pt x="1270000" y="472877"/>
                  <a:pt x="1238470" y="444500"/>
                  <a:pt x="1199444" y="444500"/>
                </a:cubicBezTo>
                <a:lnTo>
                  <a:pt x="705556" y="444500"/>
                </a:lnTo>
                <a:lnTo>
                  <a:pt x="705556" y="381000"/>
                </a:lnTo>
                <a:lnTo>
                  <a:pt x="740833" y="381000"/>
                </a:lnTo>
                <a:cubicBezTo>
                  <a:pt x="799262" y="381000"/>
                  <a:pt x="846667" y="338336"/>
                  <a:pt x="846667" y="285750"/>
                </a:cubicBezTo>
                <a:lnTo>
                  <a:pt x="846667" y="158750"/>
                </a:lnTo>
                <a:cubicBezTo>
                  <a:pt x="846667" y="106164"/>
                  <a:pt x="799262" y="63500"/>
                  <a:pt x="740833" y="63500"/>
                </a:cubicBezTo>
                <a:lnTo>
                  <a:pt x="529167" y="63500"/>
                </a:lnTo>
                <a:close/>
                <a:moveTo>
                  <a:pt x="987778" y="746125"/>
                </a:moveTo>
                <a:lnTo>
                  <a:pt x="1005417" y="746125"/>
                </a:lnTo>
                <a:lnTo>
                  <a:pt x="1005417" y="841375"/>
                </a:lnTo>
                <a:lnTo>
                  <a:pt x="829028" y="841375"/>
                </a:lnTo>
                <a:lnTo>
                  <a:pt x="829028" y="746125"/>
                </a:lnTo>
                <a:lnTo>
                  <a:pt x="987778" y="746125"/>
                </a:lnTo>
                <a:close/>
                <a:moveTo>
                  <a:pt x="423333" y="746125"/>
                </a:moveTo>
                <a:lnTo>
                  <a:pt x="440972" y="746125"/>
                </a:lnTo>
                <a:lnTo>
                  <a:pt x="440972" y="841375"/>
                </a:lnTo>
                <a:lnTo>
                  <a:pt x="264583" y="841375"/>
                </a:lnTo>
                <a:lnTo>
                  <a:pt x="264583" y="746125"/>
                </a:lnTo>
                <a:lnTo>
                  <a:pt x="423333" y="746125"/>
                </a:lnTo>
                <a:close/>
              </a:path>
            </a:pathLst>
          </a:custGeom>
          <a:solidFill>
            <a:srgbClr val="FFFFFF">
              <a:alpha val="18824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Programming: TCP &amp; UDP</dc:title>
  <dc:subject>Network Programming: TCP &amp; UDP</dc:subject>
  <dc:creator>Kimi</dc:creator>
  <cp:lastModifiedBy>Kimi</cp:lastModifiedBy>
  <cp:revision>1</cp:revision>
  <dcterms:created xsi:type="dcterms:W3CDTF">2026-06-26T05:11:43Z</dcterms:created>
  <dcterms:modified xsi:type="dcterms:W3CDTF">2026-06-26T05:11:43Z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{"Label":"Network Programming: TCP &amp; UDP","ContentProducer":"001191110108MACG2KBH8F10000","ProduceID":"19f022d6-4472-86bd-8000-0000f75b9bed","ReservedCode1":"","ContentPropagator":"001191110108MACG2KBH8F20000","PropagateID":"19f022b2-1af2-8773-8000-0939b34d40ce","ReservedCode2":""}</vt:lpwstr>
  </property>
</Properties>
</file>