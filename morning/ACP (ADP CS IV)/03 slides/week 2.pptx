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  <p:embeddedFontLst>
    <p:embeddedFont>
      <p:font typeface="Quattrocento Sans" charset="-122" pitchFamily="34"/>
      <p:regular r:id="rId34"/>
    </p:embeddedFont>
    <p:embeddedFont>
      <p:font typeface="Liter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17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858000" y="4191000"/>
            <a:ext cx="2540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444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2 — Java Fundamentals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13000" y="5334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JRE • JDK • JVM • JIT • Java Execution Flow • Command-Line Compilation • PATH &amp; CLASSPATH • Program Anatomy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2582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4572000" cy="6350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4572000" cy="635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159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048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JRE, JDK, JVM &amp; JIT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3619500"/>
            <a:ext cx="406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core Java components, their differences, relationships, and how Java code executes from source to machine code.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16000" y="711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0684" y="5159"/>
                </a:moveTo>
                <a:cubicBezTo>
                  <a:pt x="245467" y="-1687"/>
                  <a:pt x="262533" y="-1687"/>
                  <a:pt x="277316" y="5159"/>
                </a:cubicBezTo>
                <a:lnTo>
                  <a:pt x="494209" y="105370"/>
                </a:lnTo>
                <a:cubicBezTo>
                  <a:pt x="502642" y="109240"/>
                  <a:pt x="508000" y="117673"/>
                  <a:pt x="508000" y="127000"/>
                </a:cubicBezTo>
                <a:cubicBezTo>
                  <a:pt x="508000" y="136327"/>
                  <a:pt x="502642" y="144760"/>
                  <a:pt x="494209" y="148630"/>
                </a:cubicBezTo>
                <a:lnTo>
                  <a:pt x="277316" y="248841"/>
                </a:lnTo>
                <a:cubicBezTo>
                  <a:pt x="262533" y="255687"/>
                  <a:pt x="245467" y="255687"/>
                  <a:pt x="230684" y="248841"/>
                </a:cubicBezTo>
                <a:lnTo>
                  <a:pt x="13791" y="148630"/>
                </a:lnTo>
                <a:cubicBezTo>
                  <a:pt x="5358" y="144661"/>
                  <a:pt x="0" y="136227"/>
                  <a:pt x="0" y="127000"/>
                </a:cubicBezTo>
                <a:cubicBezTo>
                  <a:pt x="0" y="117773"/>
                  <a:pt x="5358" y="109240"/>
                  <a:pt x="13791" y="105370"/>
                </a:cubicBezTo>
                <a:lnTo>
                  <a:pt x="230684" y="5159"/>
                </a:lnTo>
                <a:close/>
                <a:moveTo>
                  <a:pt x="47724" y="216694"/>
                </a:moveTo>
                <a:lnTo>
                  <a:pt x="210741" y="292001"/>
                </a:lnTo>
                <a:cubicBezTo>
                  <a:pt x="238224" y="304701"/>
                  <a:pt x="269875" y="304701"/>
                  <a:pt x="297359" y="292001"/>
                </a:cubicBezTo>
                <a:lnTo>
                  <a:pt x="460375" y="216694"/>
                </a:lnTo>
                <a:lnTo>
                  <a:pt x="494209" y="232370"/>
                </a:lnTo>
                <a:cubicBezTo>
                  <a:pt x="502642" y="236240"/>
                  <a:pt x="508000" y="244673"/>
                  <a:pt x="508000" y="254000"/>
                </a:cubicBezTo>
                <a:cubicBezTo>
                  <a:pt x="508000" y="263327"/>
                  <a:pt x="502642" y="271760"/>
                  <a:pt x="494209" y="275630"/>
                </a:cubicBezTo>
                <a:lnTo>
                  <a:pt x="277316" y="375841"/>
                </a:lnTo>
                <a:cubicBezTo>
                  <a:pt x="262533" y="382687"/>
                  <a:pt x="245467" y="382687"/>
                  <a:pt x="230684" y="375841"/>
                </a:cubicBezTo>
                <a:lnTo>
                  <a:pt x="13791" y="275630"/>
                </a:lnTo>
                <a:cubicBezTo>
                  <a:pt x="5358" y="271661"/>
                  <a:pt x="0" y="263227"/>
                  <a:pt x="0" y="254000"/>
                </a:cubicBezTo>
                <a:cubicBezTo>
                  <a:pt x="0" y="244773"/>
                  <a:pt x="5358" y="236240"/>
                  <a:pt x="13791" y="232370"/>
                </a:cubicBezTo>
                <a:lnTo>
                  <a:pt x="47625" y="216694"/>
                </a:lnTo>
                <a:close/>
                <a:moveTo>
                  <a:pt x="13791" y="359370"/>
                </a:moveTo>
                <a:lnTo>
                  <a:pt x="47625" y="343694"/>
                </a:lnTo>
                <a:lnTo>
                  <a:pt x="210641" y="419001"/>
                </a:lnTo>
                <a:cubicBezTo>
                  <a:pt x="238125" y="431701"/>
                  <a:pt x="269776" y="431701"/>
                  <a:pt x="297259" y="419001"/>
                </a:cubicBezTo>
                <a:lnTo>
                  <a:pt x="460276" y="343694"/>
                </a:lnTo>
                <a:lnTo>
                  <a:pt x="494109" y="359370"/>
                </a:lnTo>
                <a:cubicBezTo>
                  <a:pt x="502543" y="363240"/>
                  <a:pt x="507901" y="371673"/>
                  <a:pt x="507901" y="381000"/>
                </a:cubicBezTo>
                <a:cubicBezTo>
                  <a:pt x="507901" y="390327"/>
                  <a:pt x="502543" y="398760"/>
                  <a:pt x="494109" y="402630"/>
                </a:cubicBezTo>
                <a:lnTo>
                  <a:pt x="277217" y="502841"/>
                </a:lnTo>
                <a:cubicBezTo>
                  <a:pt x="262434" y="509687"/>
                  <a:pt x="245368" y="509687"/>
                  <a:pt x="230584" y="502841"/>
                </a:cubicBezTo>
                <a:lnTo>
                  <a:pt x="13791" y="402630"/>
                </a:lnTo>
                <a:cubicBezTo>
                  <a:pt x="5358" y="398661"/>
                  <a:pt x="0" y="390227"/>
                  <a:pt x="0" y="381000"/>
                </a:cubicBezTo>
                <a:cubicBezTo>
                  <a:pt x="0" y="371773"/>
                  <a:pt x="5358" y="363240"/>
                  <a:pt x="13791" y="359370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5842000" y="1778000"/>
            <a:ext cx="4572000" cy="6350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842000" y="1778000"/>
            <a:ext cx="4572000" cy="635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2159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3048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Compilation &amp; Execution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96000" y="3619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Writing, compiling, and running Java programs via Command Prompt, and configuring environment variables.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6000" y="711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327" y="117673"/>
                </a:moveTo>
                <a:cubicBezTo>
                  <a:pt x="-3076" y="105271"/>
                  <a:pt x="-3076" y="85130"/>
                  <a:pt x="9327" y="72727"/>
                </a:cubicBezTo>
                <a:cubicBezTo>
                  <a:pt x="21729" y="60325"/>
                  <a:pt x="41870" y="60325"/>
                  <a:pt x="54273" y="72727"/>
                </a:cubicBezTo>
                <a:lnTo>
                  <a:pt x="213023" y="231477"/>
                </a:lnTo>
                <a:cubicBezTo>
                  <a:pt x="225425" y="243880"/>
                  <a:pt x="225425" y="264021"/>
                  <a:pt x="213023" y="276423"/>
                </a:cubicBezTo>
                <a:lnTo>
                  <a:pt x="54273" y="435173"/>
                </a:lnTo>
                <a:cubicBezTo>
                  <a:pt x="41870" y="447576"/>
                  <a:pt x="21729" y="447576"/>
                  <a:pt x="9327" y="435173"/>
                </a:cubicBezTo>
                <a:cubicBezTo>
                  <a:pt x="-3076" y="422771"/>
                  <a:pt x="-3076" y="402630"/>
                  <a:pt x="9327" y="390227"/>
                </a:cubicBezTo>
                <a:lnTo>
                  <a:pt x="145554" y="254000"/>
                </a:lnTo>
                <a:lnTo>
                  <a:pt x="9327" y="117673"/>
                </a:lnTo>
                <a:close/>
                <a:moveTo>
                  <a:pt x="222250" y="381000"/>
                </a:moveTo>
                <a:lnTo>
                  <a:pt x="476250" y="381000"/>
                </a:lnTo>
                <a:cubicBezTo>
                  <a:pt x="493812" y="381000"/>
                  <a:pt x="508000" y="395188"/>
                  <a:pt x="508000" y="412750"/>
                </a:cubicBezTo>
                <a:cubicBezTo>
                  <a:pt x="508000" y="430312"/>
                  <a:pt x="493812" y="444500"/>
                  <a:pt x="476250" y="444500"/>
                </a:cubicBezTo>
                <a:lnTo>
                  <a:pt x="222250" y="444500"/>
                </a:lnTo>
                <a:cubicBezTo>
                  <a:pt x="204688" y="444500"/>
                  <a:pt x="190500" y="430312"/>
                  <a:pt x="190500" y="412750"/>
                </a:cubicBezTo>
                <a:cubicBezTo>
                  <a:pt x="190500" y="395188"/>
                  <a:pt x="204688" y="381000"/>
                  <a:pt x="222250" y="381000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22000" y="1778000"/>
            <a:ext cx="4572000" cy="6350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22000" y="1778000"/>
            <a:ext cx="4572000" cy="635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8" name="Text 16"/>
          <p:cNvSpPr/>
          <p:nvPr/>
        </p:nvSpPr>
        <p:spPr>
          <a:xfrm>
            <a:off x="11176000" y="2159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76000" y="3048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Anatomy of a Java Program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76000" y="3619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 of Java source code, the main method, keywords, identifiers, statements, and comments.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144250" y="7112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57981" y="1191"/>
                </a:moveTo>
                <a:cubicBezTo>
                  <a:pt x="341114" y="-3671"/>
                  <a:pt x="323552" y="6152"/>
                  <a:pt x="318691" y="23019"/>
                </a:cubicBezTo>
                <a:lnTo>
                  <a:pt x="191691" y="467519"/>
                </a:lnTo>
                <a:cubicBezTo>
                  <a:pt x="186829" y="484386"/>
                  <a:pt x="196652" y="501948"/>
                  <a:pt x="213519" y="506809"/>
                </a:cubicBezTo>
                <a:cubicBezTo>
                  <a:pt x="230386" y="511671"/>
                  <a:pt x="247948" y="501848"/>
                  <a:pt x="252809" y="484981"/>
                </a:cubicBezTo>
                <a:lnTo>
                  <a:pt x="379809" y="40481"/>
                </a:lnTo>
                <a:cubicBezTo>
                  <a:pt x="384671" y="23614"/>
                  <a:pt x="374848" y="6052"/>
                  <a:pt x="357981" y="1191"/>
                </a:cubicBezTo>
                <a:close/>
                <a:moveTo>
                  <a:pt x="422077" y="136227"/>
                </a:moveTo>
                <a:cubicBezTo>
                  <a:pt x="409674" y="148630"/>
                  <a:pt x="409674" y="168771"/>
                  <a:pt x="422077" y="181173"/>
                </a:cubicBezTo>
                <a:lnTo>
                  <a:pt x="494903" y="254000"/>
                </a:lnTo>
                <a:lnTo>
                  <a:pt x="422077" y="326827"/>
                </a:lnTo>
                <a:cubicBezTo>
                  <a:pt x="409674" y="339229"/>
                  <a:pt x="409674" y="359370"/>
                  <a:pt x="422077" y="371773"/>
                </a:cubicBezTo>
                <a:cubicBezTo>
                  <a:pt x="434479" y="384175"/>
                  <a:pt x="454620" y="384175"/>
                  <a:pt x="467023" y="371773"/>
                </a:cubicBezTo>
                <a:lnTo>
                  <a:pt x="562273" y="276523"/>
                </a:lnTo>
                <a:cubicBezTo>
                  <a:pt x="574675" y="264120"/>
                  <a:pt x="574675" y="243979"/>
                  <a:pt x="562273" y="231577"/>
                </a:cubicBezTo>
                <a:lnTo>
                  <a:pt x="467023" y="136327"/>
                </a:lnTo>
                <a:cubicBezTo>
                  <a:pt x="454620" y="123924"/>
                  <a:pt x="434479" y="123924"/>
                  <a:pt x="422077" y="136327"/>
                </a:cubicBezTo>
                <a:close/>
                <a:moveTo>
                  <a:pt x="149523" y="136227"/>
                </a:moveTo>
                <a:cubicBezTo>
                  <a:pt x="137120" y="123825"/>
                  <a:pt x="116979" y="123825"/>
                  <a:pt x="104577" y="136227"/>
                </a:cubicBezTo>
                <a:lnTo>
                  <a:pt x="9327" y="231477"/>
                </a:lnTo>
                <a:cubicBezTo>
                  <a:pt x="-3076" y="243880"/>
                  <a:pt x="-3076" y="264021"/>
                  <a:pt x="9327" y="276423"/>
                </a:cubicBezTo>
                <a:lnTo>
                  <a:pt x="104577" y="371673"/>
                </a:lnTo>
                <a:cubicBezTo>
                  <a:pt x="116979" y="384076"/>
                  <a:pt x="137120" y="384076"/>
                  <a:pt x="149523" y="371673"/>
                </a:cubicBezTo>
                <a:cubicBezTo>
                  <a:pt x="161925" y="359271"/>
                  <a:pt x="161925" y="339130"/>
                  <a:pt x="149523" y="326727"/>
                </a:cubicBezTo>
                <a:lnTo>
                  <a:pt x="76696" y="254000"/>
                </a:lnTo>
                <a:lnTo>
                  <a:pt x="149423" y="181173"/>
                </a:lnTo>
                <a:cubicBezTo>
                  <a:pt x="161826" y="168771"/>
                  <a:pt x="161826" y="148630"/>
                  <a:pt x="149423" y="136227"/>
                </a:cubicBezTo>
                <a:close/>
              </a:path>
            </a:pathLst>
          </a:custGeom>
          <a:solidFill>
            <a:srgbClr val="64748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556000"/>
            <a:ext cx="1524000" cy="508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JRE, JDK, JVM &amp; JIT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635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Java components that power development and execution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2582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JDK? (Java Development Kit)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JDK is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software development kit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building Java applications. It includes the JRE plus a set of development tools for writing, compiling, and debugging code.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7112000" cy="2921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349500"/>
            <a:ext cx="50800" cy="2921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47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Components of JDK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8956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JRE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(JVM + standard class libraries)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javac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Java compiler (source → bytecode)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javadoc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Documentation generator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Archive tool for packaging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Debugger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jdb for debugging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55000" y="2349500"/>
            <a:ext cx="7239000" cy="2921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8255000" y="2349500"/>
            <a:ext cx="50800" cy="2921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1" name="Text 9"/>
          <p:cNvSpPr/>
          <p:nvPr/>
        </p:nvSpPr>
        <p:spPr>
          <a:xfrm>
            <a:off x="8509000" y="247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of JDK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09000" y="2895600"/>
            <a:ext cx="673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Write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Source Code (.java file)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Compile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javac → .class (bytecode)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Execute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via JVM → native machine code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Debug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jdb if needed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JDK is platform-dependent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(different for Windows, Linux, macOS)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588000"/>
            <a:ext cx="14732000" cy="101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584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66688" y="119063"/>
                </a:moveTo>
                <a:cubicBezTo>
                  <a:pt x="166688" y="105920"/>
                  <a:pt x="177358" y="95250"/>
                  <a:pt x="190500" y="95250"/>
                </a:cubicBezTo>
                <a:cubicBezTo>
                  <a:pt x="203642" y="95250"/>
                  <a:pt x="214313" y="105920"/>
                  <a:pt x="214313" y="119063"/>
                </a:cubicBezTo>
                <a:cubicBezTo>
                  <a:pt x="214313" y="132205"/>
                  <a:pt x="203642" y="142875"/>
                  <a:pt x="190500" y="142875"/>
                </a:cubicBezTo>
                <a:cubicBezTo>
                  <a:pt x="177358" y="142875"/>
                  <a:pt x="166688" y="132205"/>
                  <a:pt x="166688" y="119063"/>
                </a:cubicBezTo>
                <a:close/>
                <a:moveTo>
                  <a:pt x="160734" y="166688"/>
                </a:moveTo>
                <a:lnTo>
                  <a:pt x="196453" y="166688"/>
                </a:lnTo>
                <a:cubicBezTo>
                  <a:pt x="206350" y="166688"/>
                  <a:pt x="214313" y="174650"/>
                  <a:pt x="214313" y="184547"/>
                </a:cubicBezTo>
                <a:lnTo>
                  <a:pt x="214313" y="250031"/>
                </a:lnTo>
                <a:lnTo>
                  <a:pt x="220266" y="250031"/>
                </a:lnTo>
                <a:cubicBezTo>
                  <a:pt x="230163" y="250031"/>
                  <a:pt x="238125" y="257994"/>
                  <a:pt x="238125" y="267891"/>
                </a:cubicBezTo>
                <a:cubicBezTo>
                  <a:pt x="238125" y="277788"/>
                  <a:pt x="230163" y="285750"/>
                  <a:pt x="220266" y="285750"/>
                </a:cubicBezTo>
                <a:lnTo>
                  <a:pt x="160734" y="285750"/>
                </a:lnTo>
                <a:cubicBezTo>
                  <a:pt x="150837" y="285750"/>
                  <a:pt x="142875" y="277788"/>
                  <a:pt x="142875" y="267891"/>
                </a:cubicBezTo>
                <a:cubicBezTo>
                  <a:pt x="142875" y="257994"/>
                  <a:pt x="150837" y="250031"/>
                  <a:pt x="160734" y="250031"/>
                </a:cubicBezTo>
                <a:lnTo>
                  <a:pt x="178594" y="250031"/>
                </a:lnTo>
                <a:lnTo>
                  <a:pt x="178594" y="202406"/>
                </a:lnTo>
                <a:lnTo>
                  <a:pt x="160734" y="202406"/>
                </a:lnTo>
                <a:cubicBezTo>
                  <a:pt x="150837" y="202406"/>
                  <a:pt x="142875" y="194444"/>
                  <a:pt x="142875" y="184547"/>
                </a:cubicBezTo>
                <a:cubicBezTo>
                  <a:pt x="142875" y="174650"/>
                  <a:pt x="150837" y="166688"/>
                  <a:pt x="160734" y="166688"/>
                </a:cubicBezTo>
                <a:close/>
              </a:path>
            </a:pathLst>
          </a:custGeom>
          <a:solidFill>
            <a:srgbClr val="E25822"/>
          </a:solidFill>
          <a:ln/>
        </p:spPr>
      </p:sp>
      <p:sp>
        <p:nvSpPr>
          <p:cNvPr id="15" name="Text 13"/>
          <p:cNvSpPr/>
          <p:nvPr/>
        </p:nvSpPr>
        <p:spPr>
          <a:xfrm>
            <a:off x="1587500" y="57150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JDK is used by developers. It includes the JRE, so it can also run Java programs. Installing JDK gives you everything needed for the full development lifecycle.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JRE? (Java Runtime Environment)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889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JRE provides the environment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run Java programs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but does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include development tools. It is for end-users.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7112000" cy="2794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50800" cy="2794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8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JRE Contains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705100"/>
            <a:ext cx="660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JVM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executes bytecode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Standard Class Libraries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(lang, io, util)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Deployment Technologies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User Interface Toolkits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Integration Libraries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55000" y="2159000"/>
            <a:ext cx="7239000" cy="2540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8255000" y="2159000"/>
            <a:ext cx="50800" cy="2540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1" name="Text 9"/>
          <p:cNvSpPr/>
          <p:nvPr/>
        </p:nvSpPr>
        <p:spPr>
          <a:xfrm>
            <a:off x="8509000" y="228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JRE Works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09000" y="2705100"/>
            <a:ext cx="673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Class Loading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loads .class files into memory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Bytecode Verification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checks security &amp; validity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Execution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JVM interpreter + JIT compiler run the code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JRE is platform-dependent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207000"/>
            <a:ext cx="14732000" cy="101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546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66688" y="119063"/>
                </a:moveTo>
                <a:cubicBezTo>
                  <a:pt x="166688" y="105920"/>
                  <a:pt x="177358" y="95250"/>
                  <a:pt x="190500" y="95250"/>
                </a:cubicBezTo>
                <a:cubicBezTo>
                  <a:pt x="203642" y="95250"/>
                  <a:pt x="214313" y="105920"/>
                  <a:pt x="214313" y="119063"/>
                </a:cubicBezTo>
                <a:cubicBezTo>
                  <a:pt x="214313" y="132205"/>
                  <a:pt x="203642" y="142875"/>
                  <a:pt x="190500" y="142875"/>
                </a:cubicBezTo>
                <a:cubicBezTo>
                  <a:pt x="177358" y="142875"/>
                  <a:pt x="166688" y="132205"/>
                  <a:pt x="166688" y="119063"/>
                </a:cubicBezTo>
                <a:close/>
                <a:moveTo>
                  <a:pt x="160734" y="166688"/>
                </a:moveTo>
                <a:lnTo>
                  <a:pt x="196453" y="166688"/>
                </a:lnTo>
                <a:cubicBezTo>
                  <a:pt x="206350" y="166688"/>
                  <a:pt x="214313" y="174650"/>
                  <a:pt x="214313" y="184547"/>
                </a:cubicBezTo>
                <a:lnTo>
                  <a:pt x="214313" y="250031"/>
                </a:lnTo>
                <a:lnTo>
                  <a:pt x="220266" y="250031"/>
                </a:lnTo>
                <a:cubicBezTo>
                  <a:pt x="230163" y="250031"/>
                  <a:pt x="238125" y="257994"/>
                  <a:pt x="238125" y="267891"/>
                </a:cubicBezTo>
                <a:cubicBezTo>
                  <a:pt x="238125" y="277788"/>
                  <a:pt x="230163" y="285750"/>
                  <a:pt x="220266" y="285750"/>
                </a:cubicBezTo>
                <a:lnTo>
                  <a:pt x="160734" y="285750"/>
                </a:lnTo>
                <a:cubicBezTo>
                  <a:pt x="150837" y="285750"/>
                  <a:pt x="142875" y="277788"/>
                  <a:pt x="142875" y="267891"/>
                </a:cubicBezTo>
                <a:cubicBezTo>
                  <a:pt x="142875" y="257994"/>
                  <a:pt x="150837" y="250031"/>
                  <a:pt x="160734" y="250031"/>
                </a:cubicBezTo>
                <a:lnTo>
                  <a:pt x="178594" y="250031"/>
                </a:lnTo>
                <a:lnTo>
                  <a:pt x="178594" y="202406"/>
                </a:lnTo>
                <a:lnTo>
                  <a:pt x="160734" y="202406"/>
                </a:lnTo>
                <a:cubicBezTo>
                  <a:pt x="150837" y="202406"/>
                  <a:pt x="142875" y="194444"/>
                  <a:pt x="142875" y="184547"/>
                </a:cubicBezTo>
                <a:cubicBezTo>
                  <a:pt x="142875" y="174650"/>
                  <a:pt x="150837" y="166688"/>
                  <a:pt x="160734" y="166688"/>
                </a:cubicBezTo>
                <a:close/>
              </a:path>
            </a:pathLst>
          </a:custGeom>
          <a:solidFill>
            <a:srgbClr val="E25822"/>
          </a:solidFill>
          <a:ln/>
        </p:spPr>
      </p:sp>
      <p:sp>
        <p:nvSpPr>
          <p:cNvPr id="15" name="Text 13"/>
          <p:cNvSpPr/>
          <p:nvPr/>
        </p:nvSpPr>
        <p:spPr>
          <a:xfrm>
            <a:off x="1587500" y="52705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JRE is only for running applications, not for developing them. If you only need to run Java apps, JRE is sufficient. For development, you need JDK.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JVM? (Java Virtual Machine)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889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JVM is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execution engine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an abstract computing machine that converts bytecode into platform-specific machine code.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3429000" cy="1651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2159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0500" y="2159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9000" y="2603500"/>
            <a:ext cx="311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ClassLoader loads bytecode into memory from .class files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8000" y="2794000"/>
            <a:ext cx="317500" cy="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762500" y="2095500"/>
            <a:ext cx="3429000" cy="1651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889500" y="2159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61000" y="2159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89500" y="2603500"/>
            <a:ext cx="311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Verification, preparation, and resolution of class references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18500" y="2794000"/>
            <a:ext cx="317500" cy="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8763000" y="2095500"/>
            <a:ext cx="3429000" cy="1651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0" y="2159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61500" y="2159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90000" y="2603500"/>
            <a:ext cx="311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Executes static initializers and static field assignments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319000" y="2794000"/>
            <a:ext cx="317500" cy="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763500" y="2095500"/>
            <a:ext cx="2730500" cy="1651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1" name="Text 19"/>
          <p:cNvSpPr/>
          <p:nvPr/>
        </p:nvSpPr>
        <p:spPr>
          <a:xfrm>
            <a:off x="12890500" y="2159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462000" y="21590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90500" y="26035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Interprets or JIT-compiles bytecode to native code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406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JVM Memory Areas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62000" y="4572000"/>
            <a:ext cx="3429000" cy="1270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46736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Area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2500" y="5016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info, methods, static variables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45000" y="4572000"/>
            <a:ext cx="3429000" cy="1270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4635500" y="46736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Heap Area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35500" y="5016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Objects created during runtime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28000" y="4572000"/>
            <a:ext cx="3429000" cy="1270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8318500" y="46736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 Area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18500" y="5016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variables and method calls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811000" y="4572000"/>
            <a:ext cx="3683000" cy="1270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12001500" y="46736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 Counter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001500" y="50165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Points to current instruction being executed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6223000"/>
            <a:ext cx="14732000" cy="101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3625" y="6477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E25822"/>
          </a:solidFill>
          <a:ln/>
        </p:spPr>
      </p:sp>
      <p:sp>
        <p:nvSpPr>
          <p:cNvPr id="39" name="Text 37"/>
          <p:cNvSpPr/>
          <p:nvPr/>
        </p:nvSpPr>
        <p:spPr>
          <a:xfrm>
            <a:off x="1587500" y="62865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"Write Once, Run Anywhere":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JVM implementations are platform-dependent, but bytecode is platform-independent. The same .class file runs on any OS with a JVM.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JIT? (Just-In-Time Compiler)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889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JIT is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component within the JVM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dynamically converts frequently-used bytecode into native machine code at runtime for better performance.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222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JIT Works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768600"/>
            <a:ext cx="355600" cy="3556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768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6500" y="2730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JVM identifies "hot spots"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frequently executed code blocks during runtime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721100"/>
            <a:ext cx="355600" cy="3556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7211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6500" y="36830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JIT compiles hot spots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native machine code, bypassing the interpreter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673600"/>
            <a:ext cx="355600" cy="3556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673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06500" y="4635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Native code is cached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reused for subsequent calls, eliminating re-interpretation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55000" y="2222500"/>
            <a:ext cx="7239000" cy="2921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55000" y="2222500"/>
            <a:ext cx="50800" cy="2921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234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JIT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9000" y="2768600"/>
            <a:ext cx="673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Much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faster execution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than pure interpretation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Optimizes code based on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actual runtime behavior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Transparent process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 manual intervention needed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Transforms Java from purely interpreted 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interpreted-compiled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Introduced in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JDK 1.2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5588000"/>
            <a:ext cx="14732000" cy="101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3625" y="5842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E25822"/>
          </a:solidFill>
          <a:ln/>
        </p:spPr>
      </p:sp>
      <p:sp>
        <p:nvSpPr>
          <p:cNvPr id="21" name="Text 19"/>
          <p:cNvSpPr/>
          <p:nvPr/>
        </p:nvSpPr>
        <p:spPr>
          <a:xfrm>
            <a:off x="1587500" y="56515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JIT combines the portability of interpretation with the speed of native compilation. The JVM uses the interpreter for rarely-used code and JIT for frequently-used "hot" code.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Relationship: JDK → JRE → JVM → JIT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Shape 2"/>
          <p:cNvSpPr/>
          <p:nvPr/>
        </p:nvSpPr>
        <p:spPr>
          <a:xfrm>
            <a:off x="4318000" y="1524000"/>
            <a:ext cx="7620000" cy="1270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318000" y="15494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JDK (Java Development Kit)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18000" y="20320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JRE + Development Tools (javac, javadoc, debugger, jar)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01000" y="2794000"/>
            <a:ext cx="0" cy="50800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8128000" y="28956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53000" y="3302000"/>
            <a:ext cx="6350000" cy="11430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4953000" y="3365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JRE (Java Runtime Environment)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3000" y="3810000"/>
            <a:ext cx="635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JVM + Standard Class Libraries + Deployment Tools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01000" y="4445000"/>
            <a:ext cx="0" cy="50800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8128000" y="45466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88000" y="4953000"/>
            <a:ext cx="5080000" cy="1143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5588000" y="501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JVM (Java Virtual Machine)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88000" y="54610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ClassLoader + Bytecode Verifier + Interpreter + JIT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01000" y="6096000"/>
            <a:ext cx="0" cy="50800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8128000" y="61976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23000" y="6604000"/>
            <a:ext cx="3810000" cy="889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0" name="Text 18"/>
          <p:cNvSpPr/>
          <p:nvPr/>
        </p:nvSpPr>
        <p:spPr>
          <a:xfrm>
            <a:off x="6223000" y="666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JIT Compiler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23000" y="70866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Compiles hot bytecode to native code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1778000"/>
            <a:ext cx="3175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Nested Structure: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component is a subset of the larger one.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Installing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JDK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gives you everything — JRE, JVM, JIT, and all development tools.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JDK is the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superset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JDK vs JRE vs JVM vs JIT —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6858000"/>
        </p:xfrm>
        <a:graphic>
          <a:graphicData uri="http://schemas.openxmlformats.org/drawingml/2006/table">
            <a:tbl>
              <a:tblPr/>
              <a:tblGrid>
                <a:gridCol w="2651760"/>
                <a:gridCol w="3020060"/>
                <a:gridCol w="3020060"/>
                <a:gridCol w="3020060"/>
                <a:gridCol w="302006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JDK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JVM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JIT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 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Development Kit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Runtime Environment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Virtual Machine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Just-In-Time Compiler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Develop, compile, and run Java applications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 Java applications only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Execute Java bytecode on any platform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Optimize performance by compiling bytecode to native code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Includes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JRE + dev tools (javac, debugger, javadoc)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JVM + class libraries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ClassLoader, JIT, Interpreter, GC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 of JVM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Platform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Platform-dependent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Platform-dependent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Platform-dependent (bytecode is not)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Platform-dependent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Audience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Developers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End users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Both (internal component)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Both (internal component)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 Tools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2582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Execution Flow —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14732000" cy="2540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778000"/>
            <a:ext cx="2794000" cy="1651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18415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14500" y="1841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2260600"/>
            <a:ext cx="2476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Java source code in a text editor or IDE. Save as .java file.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64000" y="2540000"/>
            <a:ext cx="635000" cy="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826000" y="1778000"/>
            <a:ext cx="2794000" cy="1651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953000" y="18415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7500" y="1841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53000" y="2260600"/>
            <a:ext cx="2476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javac compiles source code into platform-independent bytecode (.class)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47000" y="2540000"/>
            <a:ext cx="635000" cy="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8509000" y="1778000"/>
            <a:ext cx="2794000" cy="1651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18415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80500" y="1841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into JVM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36000" y="2260600"/>
            <a:ext cx="2476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ClassLoader loads bytecode. Bytecode Verifier checks security.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0" y="2540000"/>
            <a:ext cx="635000" cy="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192000" y="1778000"/>
            <a:ext cx="2794000" cy="1651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1" name="Text 19"/>
          <p:cNvSpPr/>
          <p:nvPr/>
        </p:nvSpPr>
        <p:spPr>
          <a:xfrm>
            <a:off x="12319000" y="18415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63500" y="1841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19000" y="2260600"/>
            <a:ext cx="2476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Interpreter runs bytecode. JIT compiles hot code to native machine code.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431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62000" y="4889500"/>
            <a:ext cx="7112000" cy="1524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4889500"/>
            <a:ext cx="50800" cy="1524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6000" y="501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E25822"/>
          </a:solidFill>
          <a:ln/>
        </p:spPr>
      </p:sp>
      <p:sp>
        <p:nvSpPr>
          <p:cNvPr id="28" name="Text 26"/>
          <p:cNvSpPr/>
          <p:nvPr/>
        </p:nvSpPr>
        <p:spPr>
          <a:xfrm>
            <a:off x="1460500" y="4953000"/>
            <a:ext cx="622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Platform Independence: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two-step process (compile to bytecode, then execute via JVM) makes Java platform-independent. The same .class runs on any OS.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255000" y="4889500"/>
            <a:ext cx="7239000" cy="1524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8255000" y="4889500"/>
            <a:ext cx="50800" cy="1524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31" name="Shape 29"/>
          <p:cNvSpPr/>
          <p:nvPr/>
        </p:nvSpPr>
        <p:spPr>
          <a:xfrm>
            <a:off x="8509000" y="501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E25822"/>
          </a:solidFill>
          <a:ln/>
        </p:spPr>
      </p:sp>
      <p:sp>
        <p:nvSpPr>
          <p:cNvPr id="32" name="Text 30"/>
          <p:cNvSpPr/>
          <p:nvPr/>
        </p:nvSpPr>
        <p:spPr>
          <a:xfrm>
            <a:off x="8953500" y="4953000"/>
            <a:ext cx="6350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Bytecode verification ensures code adheres to Java's safety constraints before execution, preventing malicious operations.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Execution Flow — Detailed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699000" cy="101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460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Write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source code in editor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 as HelloWorld.java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0" y="1778000"/>
            <a:ext cx="381000" cy="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6096000" y="1397000"/>
            <a:ext cx="4699000" cy="101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286500" y="1460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Compile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javac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javac HelloWorld.java → HelloWorld.class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22000" y="1778000"/>
            <a:ext cx="381000" cy="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1430000" y="1397000"/>
            <a:ext cx="4064000" cy="1016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1" name="Text 9"/>
          <p:cNvSpPr/>
          <p:nvPr/>
        </p:nvSpPr>
        <p:spPr>
          <a:xfrm>
            <a:off x="11620500" y="1460500"/>
            <a:ext cx="368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Bytecode Generated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Platform-independent .class file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462000" y="2413000"/>
            <a:ext cx="0" cy="38100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1430000" y="2794000"/>
            <a:ext cx="4064000" cy="101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620500" y="2857500"/>
            <a:ext cx="368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ClassLoader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loads .class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into JVM memory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462000" y="3810000"/>
            <a:ext cx="0" cy="38100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1430000" y="4191000"/>
            <a:ext cx="4064000" cy="101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11620500" y="4254500"/>
            <a:ext cx="368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Bytecode Verifier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Validates security &amp; integrity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462000" y="5207000"/>
            <a:ext cx="0" cy="38100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1430000" y="5588000"/>
            <a:ext cx="4064000" cy="101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1620500" y="5651500"/>
            <a:ext cx="368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Interpreter / JIT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Executes or compiles bytecode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462000" y="6604000"/>
            <a:ext cx="0" cy="38100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430000" y="6985000"/>
            <a:ext cx="4064000" cy="1016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3" name="Text 21"/>
          <p:cNvSpPr/>
          <p:nvPr/>
        </p:nvSpPr>
        <p:spPr>
          <a:xfrm>
            <a:off x="11620500" y="7048500"/>
            <a:ext cx="368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 Native Machine Code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 executes the program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279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Two-Step Process?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2000" y="3365500"/>
            <a:ext cx="698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Portability: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Bytecode runs on any OS with a JVM — "Write Once, Run Anywhere"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Bytecode verifier checks code before execution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Performance: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JIT optimizes frequently-used code at runtime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Classes loaded on-demand during execution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2000" y="596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 Summary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62000" y="6413500"/>
            <a:ext cx="6985000" cy="1524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6540500"/>
            <a:ext cx="647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javac HelloWorld.java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Compile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HelloWorld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Execute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 Hello, World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556000"/>
            <a:ext cx="1524000" cy="508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COMPILING &amp; EXECUTING JAVA PROGRAMS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635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Command-line compilation, environment setup, and execution workflow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2582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Writing Your First Java Program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673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text editor (Notepad, VS Code) or IDE (Eclipse, IntelliJ)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JDK installed and PATH configured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Command Prompt / Terminal access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683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Rules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4127500"/>
            <a:ext cx="673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File name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must match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public class name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File extension must be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.java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Java is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case-sensitive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Every statement ends with a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semicolon (;)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01000" y="1333500"/>
            <a:ext cx="7493000" cy="482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8001000" y="1333500"/>
            <a:ext cx="50800" cy="4826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0" name="Text 8"/>
          <p:cNvSpPr/>
          <p:nvPr/>
        </p:nvSpPr>
        <p:spPr>
          <a:xfrm>
            <a:off x="8255000" y="1422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HelloWorld.java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55000" y="1778000"/>
            <a:ext cx="6985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class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HelloWorld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static void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main(String[] args)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"Hello, World"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350000"/>
            <a:ext cx="14732000" cy="1016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6350000"/>
            <a:ext cx="50800" cy="1016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4100" y="6604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E25822"/>
          </a:solidFill>
          <a:ln/>
        </p:spPr>
      </p:sp>
      <p:sp>
        <p:nvSpPr>
          <p:cNvPr id="15" name="Text 13"/>
          <p:cNvSpPr/>
          <p:nvPr/>
        </p:nvSpPr>
        <p:spPr>
          <a:xfrm>
            <a:off x="1460500" y="6477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Tip: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Save the file as HelloWorld.java (case-sensitive). The class name and file name must match exactly, including capitalization.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Compiling Java with javac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889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Java compiler included in the JDK. It converts human-readable Java code into bytecode.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7112000" cy="1651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50800" cy="1651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84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 Syntax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2540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javac HelloWorld.java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Creates HelloWorld.class (bytecode) if successful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00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Compilation Process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62000" y="4508500"/>
            <a:ext cx="3429000" cy="1397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5974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2500" y="4953000"/>
            <a:ext cx="304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Reads source code and builds an Abstract Syntax Tree (AST)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18000" y="5143500"/>
            <a:ext cx="381000" cy="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826000" y="4508500"/>
            <a:ext cx="3429000" cy="1397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5016500" y="45974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16500" y="4953000"/>
            <a:ext cx="304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checking, error detection, and validation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5143500"/>
            <a:ext cx="381000" cy="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890000" y="4508500"/>
            <a:ext cx="3429000" cy="1397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9080500" y="45974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Bytecode Generation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80500" y="4953000"/>
            <a:ext cx="304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AST is translated into .class bytecode files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5000" y="2095500"/>
            <a:ext cx="7239000" cy="1651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8255000" y="2095500"/>
            <a:ext cx="50800" cy="1651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3" name="Text 21"/>
          <p:cNvSpPr/>
          <p:nvPr/>
        </p:nvSpPr>
        <p:spPr>
          <a:xfrm>
            <a:off x="8509000" y="2184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Compilation Outcomes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09000" y="25400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Success: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.class file(s) created for each class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Errors: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Compiler shows messages with line numbers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Common: missing semicolons, type mismatches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6286500"/>
            <a:ext cx="14732000" cy="101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654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66688" y="119063"/>
                </a:moveTo>
                <a:cubicBezTo>
                  <a:pt x="166688" y="105920"/>
                  <a:pt x="177358" y="95250"/>
                  <a:pt x="190500" y="95250"/>
                </a:cubicBezTo>
                <a:cubicBezTo>
                  <a:pt x="203642" y="95250"/>
                  <a:pt x="214313" y="105920"/>
                  <a:pt x="214313" y="119063"/>
                </a:cubicBezTo>
                <a:cubicBezTo>
                  <a:pt x="214313" y="132205"/>
                  <a:pt x="203642" y="142875"/>
                  <a:pt x="190500" y="142875"/>
                </a:cubicBezTo>
                <a:cubicBezTo>
                  <a:pt x="177358" y="142875"/>
                  <a:pt x="166688" y="132205"/>
                  <a:pt x="166688" y="119063"/>
                </a:cubicBezTo>
                <a:close/>
                <a:moveTo>
                  <a:pt x="160734" y="166688"/>
                </a:moveTo>
                <a:lnTo>
                  <a:pt x="196453" y="166688"/>
                </a:lnTo>
                <a:cubicBezTo>
                  <a:pt x="206350" y="166688"/>
                  <a:pt x="214313" y="174650"/>
                  <a:pt x="214313" y="184547"/>
                </a:cubicBezTo>
                <a:lnTo>
                  <a:pt x="214313" y="250031"/>
                </a:lnTo>
                <a:lnTo>
                  <a:pt x="220266" y="250031"/>
                </a:lnTo>
                <a:cubicBezTo>
                  <a:pt x="230163" y="250031"/>
                  <a:pt x="238125" y="257994"/>
                  <a:pt x="238125" y="267891"/>
                </a:cubicBezTo>
                <a:cubicBezTo>
                  <a:pt x="238125" y="277788"/>
                  <a:pt x="230163" y="285750"/>
                  <a:pt x="220266" y="285750"/>
                </a:cubicBezTo>
                <a:lnTo>
                  <a:pt x="160734" y="285750"/>
                </a:lnTo>
                <a:cubicBezTo>
                  <a:pt x="150837" y="285750"/>
                  <a:pt x="142875" y="277788"/>
                  <a:pt x="142875" y="267891"/>
                </a:cubicBezTo>
                <a:cubicBezTo>
                  <a:pt x="142875" y="257994"/>
                  <a:pt x="150837" y="250031"/>
                  <a:pt x="160734" y="250031"/>
                </a:cubicBezTo>
                <a:lnTo>
                  <a:pt x="178594" y="250031"/>
                </a:lnTo>
                <a:lnTo>
                  <a:pt x="178594" y="202406"/>
                </a:lnTo>
                <a:lnTo>
                  <a:pt x="160734" y="202406"/>
                </a:lnTo>
                <a:cubicBezTo>
                  <a:pt x="150837" y="202406"/>
                  <a:pt x="142875" y="194444"/>
                  <a:pt x="142875" y="184547"/>
                </a:cubicBezTo>
                <a:cubicBezTo>
                  <a:pt x="142875" y="174650"/>
                  <a:pt x="150837" y="166688"/>
                  <a:pt x="160734" y="166688"/>
                </a:cubicBezTo>
                <a:close/>
              </a:path>
            </a:pathLst>
          </a:custGeom>
          <a:solidFill>
            <a:srgbClr val="E25822"/>
          </a:solidFill>
          <a:ln/>
        </p:spPr>
      </p:sp>
      <p:sp>
        <p:nvSpPr>
          <p:cNvPr id="27" name="Text 25"/>
          <p:cNvSpPr/>
          <p:nvPr/>
        </p:nvSpPr>
        <p:spPr>
          <a:xfrm>
            <a:off x="1587500" y="63500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must fix all compilation errors before the program can be executed. Warnings do not prevent execution but should be addressed.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Executing Java with java Command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Java interpreter/launcher that starts the JVM and runs your compiled program.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7112000" cy="1651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50800" cy="1651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84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 Syntax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2540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HelloWorld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Do NOT include .class extension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00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Process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62000" y="4508500"/>
            <a:ext cx="2794000" cy="1270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889000" y="4597400"/>
            <a:ext cx="254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JVM Starts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Virtual Machine initializes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83000" y="5080000"/>
            <a:ext cx="381000" cy="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191000" y="4508500"/>
            <a:ext cx="2794000" cy="1270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318000" y="4597400"/>
            <a:ext cx="254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ClassLoader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and loads the class file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12000" y="5080000"/>
            <a:ext cx="381000" cy="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620000" y="4508500"/>
            <a:ext cx="2794000" cy="1270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747000" y="4597400"/>
            <a:ext cx="254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main()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Searches for the entry point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541000" y="5080000"/>
            <a:ext cx="381000" cy="0"/>
          </a:xfrm>
          <a:prstGeom prst="straightConnector1">
            <a:avLst/>
          </a:prstGeom>
          <a:noFill/>
          <a:ln w="25400">
            <a:solidFill>
              <a:srgbClr val="E25822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1049000" y="4508500"/>
            <a:ext cx="4445000" cy="1270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0" name="Text 18"/>
          <p:cNvSpPr/>
          <p:nvPr/>
        </p:nvSpPr>
        <p:spPr>
          <a:xfrm>
            <a:off x="11176000" y="45974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Begins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runs from main() method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609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2000" y="65405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 must contain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static void main(String[] args)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.class file must exist in current directory or CLASSPATH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55000" y="6096000"/>
            <a:ext cx="7239000" cy="1651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8255000" y="6096000"/>
            <a:ext cx="50800" cy="1651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9000" y="6197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Error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509000" y="65786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"Could not find or load main class"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 Check class name spelling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 Verify .class file exists and CLASSPATH is correct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Example: Hello World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355600" cy="3556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97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1371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Write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HelloWorld.java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1841500"/>
            <a:ext cx="6858000" cy="1524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1930400"/>
            <a:ext cx="6477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class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HelloWorld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static void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main(String[] args)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"Hello, World"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492500"/>
            <a:ext cx="355600" cy="3556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4925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0000" y="34671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Command Prompt / Terminal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064000"/>
            <a:ext cx="355600" cy="3556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064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70000" y="4038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Navigate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file directory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4508500"/>
            <a:ext cx="6858000" cy="444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546600"/>
            <a:ext cx="647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cd C:\Users\YourName\JavaPrograms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355600" cy="3556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207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0000" y="5181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Compile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javac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5651500"/>
            <a:ext cx="6858000" cy="444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5689600"/>
            <a:ext cx="647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javac HelloWorld.java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Creates HelloWorld.class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350000"/>
            <a:ext cx="355600" cy="3556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6350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0000" y="6324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java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6794500"/>
            <a:ext cx="6858000" cy="444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6832600"/>
            <a:ext cx="647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HelloWorld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55000" y="1397000"/>
            <a:ext cx="7239000" cy="6096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8255000" y="1397000"/>
            <a:ext cx="7239000" cy="635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9" name="Text 27"/>
          <p:cNvSpPr/>
          <p:nvPr/>
        </p:nvSpPr>
        <p:spPr>
          <a:xfrm>
            <a:off x="85725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Output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572500" y="2159000"/>
            <a:ext cx="6604000" cy="101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8826500" y="2286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Hello, World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72500" y="3492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of Commands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572500" y="3937000"/>
            <a:ext cx="660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javac HelloWorld.java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Compiles source → creates HelloWorld.class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 HelloWorld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Runs the program (no .class extension)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 -version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Checks installed Java version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javac -version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Checks compiler version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 the PATH Environment Variable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889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PATH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tells the OS where to find executable programs (javac, java). Without it, you must type the full path to JDK/bin every time.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159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603500"/>
            <a:ext cx="7112000" cy="2794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603500"/>
            <a:ext cx="50800" cy="2540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7305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Steps: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Control Panel → System → Advanced Settings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Environment Variables → Edit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PATH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Add: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C:\Program Files\Java\jdk-xx\bin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Click OK (3 times)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Open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Command Prompt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539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Linux / macOS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62000" y="5842000"/>
            <a:ext cx="7112000" cy="1651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5842000"/>
            <a:ext cx="50800" cy="1651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59690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Edit ~/.bashrc or ~/.zshrc: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export PATH=$PATH:/usr/lib/jdk/bin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Then run: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 ~/.bashrc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55000" y="2159000"/>
            <a:ext cx="7239000" cy="5334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572500" y="234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Verify PATH Setup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72500" y="2857500"/>
            <a:ext cx="6604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a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terminal and type: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-version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version "21.0.1" ...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javac -version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javac 21.0.1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you see version numbers, PATH is set correctly!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"java not recognized"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PATH not set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CLASSPATH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889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CLASSPATH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tells the JVM where to find user-defined classes and packages. Default is the current directory (.).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159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 CLASSPATH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641600"/>
            <a:ext cx="711200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7051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30226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CLASSPATH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=C:\MyClasses;C:\Libs\mylib.jar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975100"/>
            <a:ext cx="711200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4038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Linux / macOS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" y="43561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 CLASSPATH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=/home/user/classes:/home/libs.jar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39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Rules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2000" y="58420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Multiple paths: semicolon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(Win) or colon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(Mac/Linux)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Order matters — JVM searches in listed order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Include .jar filenames for archive libraries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55000" y="2159000"/>
            <a:ext cx="7239000" cy="5334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55000" y="2159000"/>
            <a:ext cx="50800" cy="5334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6" name="Text 14"/>
          <p:cNvSpPr/>
          <p:nvPr/>
        </p:nvSpPr>
        <p:spPr>
          <a:xfrm>
            <a:off x="8572500" y="234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Preferred Method: -classpath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72500" y="2857500"/>
            <a:ext cx="6604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Using the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-classpath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(or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-cp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 option is preferred over the environment variable: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$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java -classpath C:\MyClasses MyProgram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preferred?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per application individually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Doesn't affect other apps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global side effects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More portable across systems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 vs CLASSPATH — Key Differences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5080000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71298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CLASSPATH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2571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Helps OS find executable programs (javac, java)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Helps JVM find .class files and packages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571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 Via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 Environment Variables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-classpath flag or Environment Variable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72571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Points To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JDK/bin directory (executables)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Directories or .jar files (compiled classes)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571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Used By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Operating System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Virtual Machine (JVM)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72571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Applies To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 command-line tools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Only Java programs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844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C:\Program Files\Java\jdk\bin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C:\MyClasses;C:\Libs\mylib.jar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3"/>
          <p:cNvSpPr/>
          <p:nvPr/>
        </p:nvSpPr>
        <p:spPr>
          <a:xfrm>
            <a:off x="1063625" y="7112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E25822"/>
          </a:solidFill>
          <a:ln/>
        </p:spPr>
      </p:sp>
      <p:sp>
        <p:nvSpPr>
          <p:cNvPr id="7" name="Text 4"/>
          <p:cNvSpPr/>
          <p:nvPr/>
        </p:nvSpPr>
        <p:spPr>
          <a:xfrm>
            <a:off x="1587500" y="69215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PATH is for the OS to find Java tools; CLASSPATH is for the JVM to find your classes. Both are essential for smooth Java development.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556000"/>
            <a:ext cx="1524000" cy="508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810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ANATOMY OF A JAVA PROGRAM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635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structure and components of Java source 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2582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Structure of a Java Program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7620000" cy="5524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50800" cy="55245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22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ProgramStructure.java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1778000"/>
            <a:ext cx="7112000" cy="501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1. Package declaration (optional)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</a:t>
            </a:r>
            <a:pPr>
              <a:lnSpc>
                <a:spcPct val="170000"/>
              </a:lnSpc>
            </a:pPr>
            <a:r>
              <a:rPr lang="en-US" sz="11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com.example;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2. Import statements (optional)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</a:t>
            </a:r>
            <a:pPr>
              <a:lnSpc>
                <a:spcPct val="170000"/>
              </a:lnSpc>
            </a:pPr>
            <a:r>
              <a:rPr lang="en-US" sz="11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java.util.Scanner;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3. Class declaration (required)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class</a:t>
            </a:r>
            <a:pPr>
              <a:lnSpc>
                <a:spcPct val="170000"/>
              </a:lnSpc>
            </a:pPr>
            <a:r>
              <a:rPr lang="en-US" sz="11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ProgramStructure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4. Main method (required to run)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static void</a:t>
            </a:r>
            <a:pPr>
              <a:lnSpc>
                <a:spcPct val="170000"/>
              </a:lnSpc>
            </a:pPr>
            <a:r>
              <a:rPr lang="en-US" sz="11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main(String[] args)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5. Statements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</a:t>
            </a:r>
            <a:pPr>
              <a:lnSpc>
                <a:spcPct val="170000"/>
              </a:lnSpc>
            </a:pPr>
            <a:r>
              <a:rPr lang="en-US" sz="115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"Hello"</a:t>
            </a:r>
            <a:pPr>
              <a:lnSpc>
                <a:spcPct val="170000"/>
              </a:lnSpc>
            </a:pPr>
            <a:r>
              <a:rPr lang="en-US" sz="11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1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63000" y="133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Key Components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763000" y="1841500"/>
            <a:ext cx="6731000" cy="635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0" y="1905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71000" y="1879600"/>
            <a:ext cx="603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organizes related classes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63000" y="2603500"/>
            <a:ext cx="6731000" cy="635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0" y="2667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71000" y="2641600"/>
            <a:ext cx="603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brings in external classes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763000" y="3365500"/>
            <a:ext cx="6731000" cy="635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0" y="3429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71000" y="3403600"/>
            <a:ext cx="603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container for the program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763000" y="4127500"/>
            <a:ext cx="6731000" cy="635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0" y="4191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71000" y="4165600"/>
            <a:ext cx="603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Method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program entry point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63000" y="4889500"/>
            <a:ext cx="6731000" cy="635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0" y="4953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1000" y="4927600"/>
            <a:ext cx="603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Statements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instructions to execute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763000" y="5651500"/>
            <a:ext cx="6731000" cy="635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8890000" y="5715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71000" y="5689600"/>
            <a:ext cx="603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explanatory notes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7048500"/>
            <a:ext cx="14732000" cy="762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7048500"/>
            <a:ext cx="50800" cy="762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" y="7112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Rules: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Curly braces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{}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define code blocks. Every statement ends with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semicolon (;)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Java is case-sensitive.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main() Method — Program Entry Point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889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main() method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where program execution begins and ends. The JVM calls it automatically when the program starts.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14732000" cy="889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22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static void</a:t>
            </a:r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main(</a:t>
            </a:r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String[]</a:t>
            </a:r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args) { ... 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365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Breaking Down the Signature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2000" y="3873500"/>
            <a:ext cx="2794000" cy="1397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889000" y="393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9000" y="4381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 from anywhere — JVM needs to call 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0" y="3873500"/>
            <a:ext cx="2794000" cy="1397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3937000" y="393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7000" y="4381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Belongs to the class, not an object instance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3873500"/>
            <a:ext cx="2794000" cy="1397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6985000" y="393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85000" y="4381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Returns nothing — just executes statements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906000" y="3873500"/>
            <a:ext cx="2794000" cy="1397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33000" y="393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33000" y="4381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 name recognized by the JVM as entry point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954000" y="3873500"/>
            <a:ext cx="2540000" cy="1397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13081000" y="3937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E258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String[] args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081000" y="43815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 for command-line arguments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651500"/>
            <a:ext cx="14732000" cy="101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6000" y="590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66688" y="119063"/>
                </a:moveTo>
                <a:cubicBezTo>
                  <a:pt x="166688" y="105920"/>
                  <a:pt x="177358" y="95250"/>
                  <a:pt x="190500" y="95250"/>
                </a:cubicBezTo>
                <a:cubicBezTo>
                  <a:pt x="203642" y="95250"/>
                  <a:pt x="214313" y="105920"/>
                  <a:pt x="214313" y="119063"/>
                </a:cubicBezTo>
                <a:cubicBezTo>
                  <a:pt x="214313" y="132205"/>
                  <a:pt x="203642" y="142875"/>
                  <a:pt x="190500" y="142875"/>
                </a:cubicBezTo>
                <a:cubicBezTo>
                  <a:pt x="177358" y="142875"/>
                  <a:pt x="166688" y="132205"/>
                  <a:pt x="166688" y="119063"/>
                </a:cubicBezTo>
                <a:close/>
                <a:moveTo>
                  <a:pt x="160734" y="166688"/>
                </a:moveTo>
                <a:lnTo>
                  <a:pt x="196453" y="166688"/>
                </a:lnTo>
                <a:cubicBezTo>
                  <a:pt x="206350" y="166688"/>
                  <a:pt x="214313" y="174650"/>
                  <a:pt x="214313" y="184547"/>
                </a:cubicBezTo>
                <a:lnTo>
                  <a:pt x="214313" y="250031"/>
                </a:lnTo>
                <a:lnTo>
                  <a:pt x="220266" y="250031"/>
                </a:lnTo>
                <a:cubicBezTo>
                  <a:pt x="230163" y="250031"/>
                  <a:pt x="238125" y="257994"/>
                  <a:pt x="238125" y="267891"/>
                </a:cubicBezTo>
                <a:cubicBezTo>
                  <a:pt x="238125" y="277788"/>
                  <a:pt x="230163" y="285750"/>
                  <a:pt x="220266" y="285750"/>
                </a:cubicBezTo>
                <a:lnTo>
                  <a:pt x="160734" y="285750"/>
                </a:lnTo>
                <a:cubicBezTo>
                  <a:pt x="150837" y="285750"/>
                  <a:pt x="142875" y="277788"/>
                  <a:pt x="142875" y="267891"/>
                </a:cubicBezTo>
                <a:cubicBezTo>
                  <a:pt x="142875" y="257994"/>
                  <a:pt x="150837" y="250031"/>
                  <a:pt x="160734" y="250031"/>
                </a:cubicBezTo>
                <a:lnTo>
                  <a:pt x="178594" y="250031"/>
                </a:lnTo>
                <a:lnTo>
                  <a:pt x="178594" y="202406"/>
                </a:lnTo>
                <a:lnTo>
                  <a:pt x="160734" y="202406"/>
                </a:lnTo>
                <a:cubicBezTo>
                  <a:pt x="150837" y="202406"/>
                  <a:pt x="142875" y="194444"/>
                  <a:pt x="142875" y="184547"/>
                </a:cubicBezTo>
                <a:cubicBezTo>
                  <a:pt x="142875" y="174650"/>
                  <a:pt x="150837" y="166688"/>
                  <a:pt x="160734" y="166688"/>
                </a:cubicBezTo>
                <a:close/>
              </a:path>
            </a:pathLst>
          </a:custGeom>
          <a:solidFill>
            <a:srgbClr val="E25822"/>
          </a:solidFill>
          <a:ln/>
        </p:spPr>
      </p:sp>
      <p:sp>
        <p:nvSpPr>
          <p:cNvPr id="25" name="Text 23"/>
          <p:cNvSpPr/>
          <p:nvPr/>
        </p:nvSpPr>
        <p:spPr>
          <a:xfrm>
            <a:off x="1587500" y="57150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class with main() is an executable program. Without main(), the class can only be used as a library by other programs.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Keywords &amp; Identifiers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Reserved Keywords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1752600"/>
            <a:ext cx="711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Keywords have special meaning in Java and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 used as variable names.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86000"/>
            <a:ext cx="711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Access: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public, private, protected, static, final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Types: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int, double, char, boolean, void, long, float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Control: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if, else, for, while, do, switch, case, break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OOP: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class, extends, implements, interface, new, this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Other: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return, import, package, try, catch, throw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has 50+ reserved keywords in total.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33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2000" y="1752600"/>
            <a:ext cx="711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Names given to classes, methods, and variables.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2349500"/>
            <a:ext cx="7112000" cy="3556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8382000" y="2349500"/>
            <a:ext cx="50800" cy="3556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2476500"/>
            <a:ext cx="6604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Rules for Identifiers: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contain: letters, digits,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_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$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Must start with: letter,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_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or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$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Case-sensitive: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≠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Cannot be a keyword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Conventions: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Classes: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PascalCase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(HelloWorld)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Variables/Methods: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camelCase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(myVariable)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Statements &amp; Comments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Statements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7112000" cy="952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905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22606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age =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declares and initializes a variable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7112000" cy="952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2984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2500" y="33401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"Hello"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performs an action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000500"/>
            <a:ext cx="7112000" cy="952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4064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2500" y="44196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(age &gt; 18) { ... }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conditional execution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207000"/>
            <a:ext cx="711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Every statement in Java ends with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semicolon (;)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2000" y="133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Comments in Java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82000" y="1841500"/>
            <a:ext cx="7112000" cy="1270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382000" y="1841500"/>
            <a:ext cx="50800" cy="1270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19304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Single-Line Comment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36000" y="23114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This is a single-line comment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comment can also be at end of line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3302000"/>
            <a:ext cx="7112000" cy="1270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382000" y="3302000"/>
            <a:ext cx="50800" cy="1270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2" name="Text 20"/>
          <p:cNvSpPr/>
          <p:nvPr/>
        </p:nvSpPr>
        <p:spPr>
          <a:xfrm>
            <a:off x="8636000" y="33909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Multi-Line Comment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36000" y="37719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/* This spans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lines */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4762500"/>
            <a:ext cx="7112000" cy="1270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8382000" y="4762500"/>
            <a:ext cx="50800" cy="1270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0" y="4851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 Comment (Javadoc)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36000" y="52324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/** Generates documentation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* using the Javadoc tool */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350000"/>
            <a:ext cx="14732000" cy="762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" y="6413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comments to explain WHY, not WHAT. Good code should be self-documenting through clear naming.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Java Program — Annotated Example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9525000" cy="5524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50800" cy="55245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22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HelloWorld.java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1778000"/>
            <a:ext cx="9017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Package declaration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</a:t>
            </a:r>
            <a:pPr>
              <a:lnSpc>
                <a:spcPct val="17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com.example;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Import statement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</a:t>
            </a:r>
            <a:pPr>
              <a:lnSpc>
                <a:spcPct val="17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java.util.Scanner;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Class declaration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class</a:t>
            </a:r>
            <a:pPr>
              <a:lnSpc>
                <a:spcPct val="17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HelloWorld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Main method — entry point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static void</a:t>
            </a:r>
            <a:pPr>
              <a:lnSpc>
                <a:spcPct val="17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main(String[] args)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Print statement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</a:t>
            </a:r>
            <a:pPr>
              <a:lnSpc>
                <a:spcPct val="170000"/>
              </a:lnSpc>
            </a:pPr>
            <a:r>
              <a:rPr lang="en-US" sz="1200" dirty="0">
                <a:solidFill>
                  <a:srgbClr val="7DD3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"Hello, World!"</a:t>
            </a:r>
            <a:pPr>
              <a:lnSpc>
                <a:spcPct val="17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41000" y="1905000"/>
            <a:ext cx="381000" cy="0"/>
          </a:xfrm>
          <a:prstGeom prst="straightConnector1">
            <a:avLst/>
          </a:prstGeom>
          <a:noFill/>
          <a:ln w="12700">
            <a:solidFill>
              <a:srgbClr val="E2582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0985500" y="1778000"/>
            <a:ext cx="431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Package declaration (optional)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541000" y="2489200"/>
            <a:ext cx="381000" cy="0"/>
          </a:xfrm>
          <a:prstGeom prst="straightConnector1">
            <a:avLst/>
          </a:prstGeom>
          <a:noFill/>
          <a:ln w="12700">
            <a:solidFill>
              <a:srgbClr val="E25822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985500" y="2362200"/>
            <a:ext cx="431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Import statement (optional)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41000" y="3086100"/>
            <a:ext cx="381000" cy="0"/>
          </a:xfrm>
          <a:prstGeom prst="straightConnector1">
            <a:avLst/>
          </a:prstGeom>
          <a:noFill/>
          <a:ln w="12700">
            <a:solidFill>
              <a:srgbClr val="E25822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0985500" y="2959100"/>
            <a:ext cx="431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 declaration (required)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541000" y="4267200"/>
            <a:ext cx="381000" cy="0"/>
          </a:xfrm>
          <a:prstGeom prst="straightConnector1">
            <a:avLst/>
          </a:prstGeom>
          <a:noFill/>
          <a:ln w="12700">
            <a:solidFill>
              <a:srgbClr val="E25822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85500" y="4140200"/>
            <a:ext cx="431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 method (required to run)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41000" y="5448300"/>
            <a:ext cx="381000" cy="0"/>
          </a:xfrm>
          <a:prstGeom prst="straightConnector1">
            <a:avLst/>
          </a:prstGeom>
          <a:noFill/>
          <a:ln w="12700">
            <a:solidFill>
              <a:srgbClr val="E25822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0985500" y="5321300"/>
            <a:ext cx="431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Output statement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7048500"/>
            <a:ext cx="14732000" cy="762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7048500"/>
            <a:ext cx="50800" cy="7620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7112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file must be saved as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HelloWorld.java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(matching the class name), then compiled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javac HelloWorld.java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run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 HelloWorld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699000" cy="3429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4699000" cy="635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E25822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651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419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JDK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for development (JRE + tools)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JRE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for running (JVM + libraries)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JVM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executes bytecode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JIT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optimizes performance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JDK contains JRE contains JVM contains JIT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397000"/>
            <a:ext cx="4699000" cy="3429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778500" y="1397000"/>
            <a:ext cx="4699000" cy="635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1" name="Shape 9"/>
          <p:cNvSpPr/>
          <p:nvPr/>
        </p:nvSpPr>
        <p:spPr>
          <a:xfrm>
            <a:off x="60325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E25822"/>
          </a:solidFill>
          <a:ln/>
        </p:spPr>
      </p:sp>
      <p:sp>
        <p:nvSpPr>
          <p:cNvPr id="12" name="Text 10"/>
          <p:cNvSpPr/>
          <p:nvPr/>
        </p:nvSpPr>
        <p:spPr>
          <a:xfrm>
            <a:off x="6515100" y="1651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Compilation &amp; Execution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32500" y="2159000"/>
            <a:ext cx="419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Compile: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javac File.java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Execute: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 ClassName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PATH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OS to find tools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CLASSPATH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JVM to find classes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Java is platform-independent via bytecode + JVM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95000" y="1397000"/>
            <a:ext cx="4699000" cy="3429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5000" y="1397000"/>
            <a:ext cx="4699000" cy="635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26775" y="1651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E25822"/>
          </a:solidFill>
          <a:ln/>
        </p:spPr>
      </p:sp>
      <p:sp>
        <p:nvSpPr>
          <p:cNvPr id="17" name="Text 15"/>
          <p:cNvSpPr/>
          <p:nvPr/>
        </p:nvSpPr>
        <p:spPr>
          <a:xfrm>
            <a:off x="11531600" y="1651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 Structure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049000" y="2159000"/>
            <a:ext cx="419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Every program needs a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Every runnable program needs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main()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File name must match public class name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Statements end with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2582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comments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5207000"/>
            <a:ext cx="14732000" cy="1270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5334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E258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Tip: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Write, compile, and run Java programs regularly to reinforce these concepts. Start with simple programs and gradually add complexity.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0" y="3302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0" y="4381500"/>
            <a:ext cx="2540000" cy="38100"/>
          </a:xfrm>
          <a:prstGeom prst="rect">
            <a:avLst/>
          </a:prstGeom>
          <a:solidFill>
            <a:srgbClr val="E25822"/>
          </a:solidFill>
          <a:ln/>
        </p:spPr>
      </p:sp>
      <p:sp>
        <p:nvSpPr>
          <p:cNvPr id="5" name="Text 3"/>
          <p:cNvSpPr/>
          <p:nvPr/>
        </p:nvSpPr>
        <p:spPr>
          <a:xfrm>
            <a:off x="3683000" y="4699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Computer Programming — Week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48000" y="5461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writing, compiling, and running Java programs to reinforce these concepts.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25822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Computer Programming - Week 2</dc:title>
  <dc:subject>Advanced Computer Programming - Week 2</dc:subject>
  <dc:creator>Kimi</dc:creator>
  <cp:lastModifiedBy>Kimi</cp:lastModifiedBy>
  <cp:revision>1</cp:revision>
  <dcterms:created xsi:type="dcterms:W3CDTF">2026-05-25T16:51:53Z</dcterms:created>
  <dcterms:modified xsi:type="dcterms:W3CDTF">2026-05-25T16:51:53Z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{"Label":"Advanced Computer Programming - Week 2","ContentProducer":"001191110108MACG2KBH8F10000","ProduceID":"19e60007-a462-8585-8000-0000d007ec8c","ReservedCode1":"","ContentPropagator":"001191110108MACG2KBH8F20000","PropagateID":"19e60007-a462-8585-8000-0000d007ec8c","ReservedCode2":""}</vt:lpwstr>
  </property>
</Properties>
</file>