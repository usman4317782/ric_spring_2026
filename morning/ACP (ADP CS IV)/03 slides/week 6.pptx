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eeksforgeeks.org/java/difference-between-serializable-and-externalizable-in-java-serialization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bsqqgvqxcu4y/mnt/agents/output/acp_week6/images/2_Minimal_abstract_geometric_backgroun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72A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66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600" kern="0" dirty="0">
                <a:solidFill>
                  <a:srgbClr val="5EEAD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493000" y="3098800"/>
            <a:ext cx="1270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3528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493000" y="4318000"/>
            <a:ext cx="1270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457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&amp; I/O Stream | Object Serialization &amp; Externalization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620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&amp; 12 · 2026 Academic Year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6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794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606800"/>
            <a:ext cx="762000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93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week covers Java file handling, I/O stream architecture, and object persistence mechanisms.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203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2000" y="2057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and I/O Stream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12000" y="24892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class, byte &amp; character streams, buffered I/O, decorator pattern, data &amp; object streams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3429000"/>
            <a:ext cx="914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93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2000" y="3962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Serialization &amp; Externalization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2000" y="4394200"/>
            <a:ext cx="812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 interface, transient keyword, serialVersionUID, Externalizable interface, best practices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5334000"/>
            <a:ext cx="9144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6350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6 · 2 LECTURES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0" y="8382000"/>
            <a:ext cx="9398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850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Computer Programming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bsqqgvqxcu4y/mnt/agents/output/acp_week6/images/2_Minimal_abstract_geometric_backgroun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72A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368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6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70000" y="4140200"/>
            <a:ext cx="1016000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43942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AND I/O STREAM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270000" y="5207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Java's I/O framework for reading, writing, and manipulating file data through streams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0000" y="8382000"/>
            <a:ext cx="13716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1270000" y="850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 · Lecture 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Files in Java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Files are fundamental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persistent data storage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In Java, file handling begins with the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java.io.File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File class manages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 system metadata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it does NOT read or write file content.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3810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810000"/>
            <a:ext cx="50800" cy="2159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1054100" y="3962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393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368800"/>
            <a:ext cx="6604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Absolute Path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Full path from root (e.g., /home/user/file.txt)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 Path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Path relative to working directory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Metadata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exists(), length(), lastModified()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Directory Ops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list(), mkdir(), mkdirs()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651000"/>
            <a:ext cx="7112000" cy="4191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EXAMPLE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2108200"/>
            <a:ext cx="6604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22352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java.io.File;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file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"data.txt"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if file exists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(file.exists())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"Size: 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file.length());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"Path: 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file.getPath());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0" y="6096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File class only handles metadata. To read or write content, you need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I/O Streams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File Class API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01800"/>
          <a:ext cx="14732000" cy="6350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 Operations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getName(), getPath(), getAbsolutePath(), getCanonicalPath()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Retrieve various forms of the file's pathname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 Inspection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exists(), isFile(), isDirectory(), length(), lastModified()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Check properties and metadata of the file or directory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 Manipulation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createNewFile(), delete(), renameTo()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Create, remove, or rename files in the filesystem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Directory 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mkdir(), mkdirs(), list(), listFiles()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directories and list their contents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Permissions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canRead(), canWrite(), canExecute(), setReadable()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Check and modify file access permissions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getTotalSpace(), getFreeSpace(), getUsableSpace()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Query disk space information for the partition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I/O Streams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stream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continuous flow of data. Java I/O streams provide a uniform way to read from sources and write to destinations. The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java.io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package contains all stream classes.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Fundamental Categories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251200"/>
            <a:ext cx="7048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3479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3454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 Streams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9624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8-bit raw binary data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Superclasses: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InputStream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OutputStream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for: images, audio, video, binary files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end with: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InputStream / OutputStream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3251200"/>
            <a:ext cx="7048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99500" y="3479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182100" y="3454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Streams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3911600"/>
            <a:ext cx="65405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16-bit Unicode characters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Superclasses: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Reader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for: text files, Unicode data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end with: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Reader / Writer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223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642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422400" y="6400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Decorator Pattern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85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I/O uses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Decorator design pattern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streams can be wrapped by other streams to add functionality. A FileInputStream can be wrapped in a BufferedInputStream for buffering, then in a DataInputStream for primitive type access. This layered approach provides flexibility.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 Stream Hierarchy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Byte streams handle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raw 8-bit binary data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All byte stream classes extend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InputStream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OutputStream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86000"/>
            <a:ext cx="7048500" cy="508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286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HIERARCHY (Reading)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FileInputStream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80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BufferedInputStream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DataInputStream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180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80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ObjectInputStream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2286000"/>
            <a:ext cx="7048500" cy="508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445500" y="2286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HIERARCHY (Writing)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455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55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FileOutputStream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015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015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BufferedOutputStream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55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55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DataOutputStream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0015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015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ObjectOutputStream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13000" y="4241800"/>
            <a:ext cx="0" cy="381000"/>
          </a:xfrm>
          <a:prstGeom prst="straightConnector1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652500" y="4241800"/>
            <a:ext cx="0" cy="381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762000" y="4699000"/>
            <a:ext cx="704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extend </a:t>
            </a:r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java.io.InputStream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(abstract)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45500" y="4699000"/>
            <a:ext cx="704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extend </a:t>
            </a:r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java.io.OutputStream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(abstract)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34000"/>
          <a:ext cx="14732000" cy="2667000"/>
        </p:xfrm>
        <a:graphic>
          <a:graphicData uri="http://schemas.openxmlformats.org/drawingml/2006/table">
            <a:tbl>
              <a:tblPr/>
              <a:tblGrid>
                <a:gridCol w="3683000"/>
                <a:gridCol w="5892800"/>
                <a:gridCol w="51562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Method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FileInputStream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 bytes from a 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read(), read(byte[])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BufferedInputStream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Buffer byte input for efficiency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Wraps another InputStream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DataInputStream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 primitive data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readInt(), readDouble()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ObjectInputStream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 serialized objects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readObject()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0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FileInputStream &amp; FileOutputStream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FileInputStream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reads bytes from a file.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FileOutputStream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writes bytes to a file.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Basic read pattern using a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while loop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data; while((data = fis.read()) != -1) { ... }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close streams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prevent resource leaks. 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try-with-resources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automatic cleanup.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0"/>
            <a:ext cx="6858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69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COPY EXAMPLE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003800"/>
            <a:ext cx="6350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105400"/>
            <a:ext cx="6350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(FileInputStream fis =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FileInputStream(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"src.txt"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FileOutputStream fos =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FileOutputStream(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"dest.txt"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((data = fis.read()) != -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fos.write(data);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0" y="1651000"/>
            <a:ext cx="7366000" cy="1524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185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788400" y="18288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Note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2606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Reading one byte at a time is very inefficient. A 1MB file requires 1,048,576 system calls.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 streams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solve this by reading chunks at once.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3429000"/>
            <a:ext cx="736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0" y="358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Try-With-Resources Pattern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9878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Introduced in Java 7, this pattern automatically closes resources that implement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AutoCloseable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Resources are declared in parentheses after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closed in reverse order of creation when the block exits.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5842000"/>
            <a:ext cx="7366000" cy="2413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9463" y="61468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84884" y="-5402"/>
                </a:moveTo>
                <a:cubicBezTo>
                  <a:pt x="191378" y="-709"/>
                  <a:pt x="193779" y="7804"/>
                  <a:pt x="190832" y="15225"/>
                </a:cubicBezTo>
                <a:lnTo>
                  <a:pt x="148049" y="122238"/>
                </a:lnTo>
                <a:lnTo>
                  <a:pt x="227013" y="122238"/>
                </a:lnTo>
                <a:cubicBezTo>
                  <a:pt x="234379" y="122238"/>
                  <a:pt x="240928" y="126821"/>
                  <a:pt x="243438" y="133752"/>
                </a:cubicBezTo>
                <a:cubicBezTo>
                  <a:pt x="245948" y="140682"/>
                  <a:pt x="243820" y="148431"/>
                  <a:pt x="238199" y="153124"/>
                </a:cubicBezTo>
                <a:lnTo>
                  <a:pt x="81037" y="284093"/>
                </a:lnTo>
                <a:cubicBezTo>
                  <a:pt x="74870" y="289223"/>
                  <a:pt x="66085" y="289496"/>
                  <a:pt x="59591" y="284802"/>
                </a:cubicBezTo>
                <a:cubicBezTo>
                  <a:pt x="53097" y="280109"/>
                  <a:pt x="50696" y="271596"/>
                  <a:pt x="53643" y="264175"/>
                </a:cubicBezTo>
                <a:lnTo>
                  <a:pt x="96426" y="157163"/>
                </a:lnTo>
                <a:lnTo>
                  <a:pt x="17463" y="157163"/>
                </a:lnTo>
                <a:cubicBezTo>
                  <a:pt x="10096" y="157163"/>
                  <a:pt x="3547" y="152579"/>
                  <a:pt x="1037" y="145648"/>
                </a:cubicBezTo>
                <a:cubicBezTo>
                  <a:pt x="-1473" y="138718"/>
                  <a:pt x="655" y="130969"/>
                  <a:pt x="6276" y="126276"/>
                </a:cubicBezTo>
                <a:lnTo>
                  <a:pt x="163438" y="-4693"/>
                </a:lnTo>
                <a:cubicBezTo>
                  <a:pt x="169605" y="-9823"/>
                  <a:pt x="178390" y="-10096"/>
                  <a:pt x="184884" y="-5402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612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Approach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65532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(FileInputStream fis = ...;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BufferedInputStream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bis =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BufferedInputStream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(fis))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Much faster — reads 8KB chunks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Stream Hierarchy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 streams handle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16-bit Unicode characters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making them ideal for text files. All character stream classes extend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86000"/>
            <a:ext cx="7048500" cy="508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286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READER HIERARCHY (Reading)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FileReader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80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BufferedReader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InputStreamReader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180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80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PrintWriter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2286000"/>
            <a:ext cx="7048500" cy="508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445500" y="2286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WRITER HIERARCHY (Writing)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455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55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FileWriter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01500" y="2971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01500" y="2971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BufferedWriter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5500" y="3606800"/>
            <a:ext cx="3302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5500" y="36068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OutputStreamWriter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8000" y="4445000"/>
            <a:ext cx="7620000" cy="635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2950" y="459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0154" y="223004"/>
                </a:moveTo>
                <a:lnTo>
                  <a:pt x="337304" y="165854"/>
                </a:lnTo>
                <a:cubicBezTo>
                  <a:pt x="344745" y="158413"/>
                  <a:pt x="344745" y="146328"/>
                  <a:pt x="337304" y="138886"/>
                </a:cubicBezTo>
                <a:lnTo>
                  <a:pt x="280154" y="81736"/>
                </a:lnTo>
                <a:cubicBezTo>
                  <a:pt x="272713" y="74295"/>
                  <a:pt x="260628" y="74295"/>
                  <a:pt x="253186" y="81736"/>
                </a:cubicBezTo>
                <a:cubicBezTo>
                  <a:pt x="245745" y="89178"/>
                  <a:pt x="245745" y="101263"/>
                  <a:pt x="253186" y="108704"/>
                </a:cubicBezTo>
                <a:lnTo>
                  <a:pt x="277832" y="133350"/>
                </a:lnTo>
                <a:lnTo>
                  <a:pt x="65008" y="13335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ubicBezTo>
                  <a:pt x="82213" y="74295"/>
                  <a:pt x="70128" y="74295"/>
                  <a:pt x="62686" y="81736"/>
                </a:cubicBezTo>
                <a:lnTo>
                  <a:pt x="5536" y="138886"/>
                </a:lnTo>
                <a:cubicBezTo>
                  <a:pt x="1965" y="142458"/>
                  <a:pt x="-60" y="147280"/>
                  <a:pt x="-60" y="152340"/>
                </a:cubicBezTo>
                <a:cubicBezTo>
                  <a:pt x="-60" y="157401"/>
                  <a:pt x="1965" y="162223"/>
                  <a:pt x="5536" y="165795"/>
                </a:cubicBezTo>
                <a:lnTo>
                  <a:pt x="62686" y="222945"/>
                </a:lnTo>
                <a:cubicBezTo>
                  <a:pt x="70128" y="230386"/>
                  <a:pt x="82213" y="230386"/>
                  <a:pt x="89654" y="222945"/>
                </a:cubicBezTo>
                <a:cubicBezTo>
                  <a:pt x="97095" y="215503"/>
                  <a:pt x="97095" y="203418"/>
                  <a:pt x="89654" y="195977"/>
                </a:cubicBezTo>
                <a:lnTo>
                  <a:pt x="65008" y="171331"/>
                </a:lnTo>
                <a:lnTo>
                  <a:pt x="277832" y="171331"/>
                </a:lnTo>
                <a:lnTo>
                  <a:pt x="253186" y="195977"/>
                </a:lnTo>
                <a:cubicBezTo>
                  <a:pt x="245745" y="203418"/>
                  <a:pt x="245745" y="215503"/>
                  <a:pt x="253186" y="222945"/>
                </a:cubicBezTo>
                <a:cubicBezTo>
                  <a:pt x="260628" y="230386"/>
                  <a:pt x="272713" y="230386"/>
                  <a:pt x="280154" y="222945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5003800" y="44450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Classes: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InputStreamReader &amp; OutputStreamWriter convert between byte and character streams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14732000" cy="2540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FileReader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 characters from a file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default charset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BufferedReader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Buffer character input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readLine() method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InputStreamReader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Convert bytes to characters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Specify charset encoding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PrintWriter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Convenient text output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print(), println(), printf()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FileReader &amp; FileWriter in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FileReader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reads characters from a text file;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FileWriter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writes characters to a text file. Both extend the bridge classes and use the platform's default charset.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94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WITH FILEREADER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0988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225800"/>
            <a:ext cx="673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Wrap FileReader in BufferedReader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(BufferedReader br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BufferedReader(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FileReader(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"file.txt"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line;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((line = br.readLine()) !=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System.out.println(line);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0" y="26670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7178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WITH FILEWRITER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9000" y="30988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3225800"/>
            <a:ext cx="673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Wrap FileWriter in BufferedWriter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(BufferedWriter bw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BufferedWriter(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FileWriter(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"out.txt"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bw.write(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"Hello, World!"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bw.newLine();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bw.write(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"Second line"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6350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668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422400" y="6654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Consideration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7112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specify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charset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cross-platform compatibility. Use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InputStreamReader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OutputStreamWriter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explicit charset like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StandardCharsets.UTF_8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relying on the platform default.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 Streams for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Buffered streams reduce system I/O calls by using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buffer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(default 8KB). They can be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10-50x faster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unbuffered streams for file operations.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000" y="274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2717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 Buffered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4191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BufferedInputStream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BufferedOutputStream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Wraps byte streams with an internal buffer for efficient reading/writing of raw binary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2540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9000" y="274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724" y="30182"/>
                </a:moveTo>
                <a:cubicBezTo>
                  <a:pt x="166628" y="23396"/>
                  <a:pt x="159841" y="19050"/>
                  <a:pt x="152400" y="19050"/>
                </a:cubicBezTo>
                <a:cubicBezTo>
                  <a:pt x="144959" y="19050"/>
                  <a:pt x="138172" y="23396"/>
                  <a:pt x="135076" y="30182"/>
                </a:cubicBezTo>
                <a:lnTo>
                  <a:pt x="35421" y="247650"/>
                </a:lnTo>
                <a:lnTo>
                  <a:pt x="28575" y="247650"/>
                </a:lnTo>
                <a:cubicBezTo>
                  <a:pt x="18038" y="247650"/>
                  <a:pt x="9525" y="256163"/>
                  <a:pt x="9525" y="266700"/>
                </a:cubicBezTo>
                <a:cubicBezTo>
                  <a:pt x="9525" y="277237"/>
                  <a:pt x="18038" y="285750"/>
                  <a:pt x="28575" y="285750"/>
                </a:cubicBezTo>
                <a:lnTo>
                  <a:pt x="80962" y="285750"/>
                </a:lnTo>
                <a:cubicBezTo>
                  <a:pt x="91500" y="285750"/>
                  <a:pt x="100013" y="277237"/>
                  <a:pt x="100013" y="266700"/>
                </a:cubicBezTo>
                <a:cubicBezTo>
                  <a:pt x="100013" y="256163"/>
                  <a:pt x="91500" y="247650"/>
                  <a:pt x="80962" y="247650"/>
                </a:cubicBezTo>
                <a:lnTo>
                  <a:pt x="77331" y="247650"/>
                </a:lnTo>
                <a:lnTo>
                  <a:pt x="90428" y="219075"/>
                </a:lnTo>
                <a:lnTo>
                  <a:pt x="214432" y="219075"/>
                </a:lnTo>
                <a:lnTo>
                  <a:pt x="227528" y="247650"/>
                </a:lnTo>
                <a:lnTo>
                  <a:pt x="223897" y="247650"/>
                </a:lnTo>
                <a:cubicBezTo>
                  <a:pt x="213360" y="247650"/>
                  <a:pt x="204847" y="256163"/>
                  <a:pt x="204847" y="266700"/>
                </a:cubicBezTo>
                <a:cubicBezTo>
                  <a:pt x="204847" y="277237"/>
                  <a:pt x="213360" y="285750"/>
                  <a:pt x="223897" y="285750"/>
                </a:cubicBezTo>
                <a:lnTo>
                  <a:pt x="276285" y="285750"/>
                </a:lnTo>
                <a:cubicBezTo>
                  <a:pt x="286822" y="285750"/>
                  <a:pt x="295335" y="277237"/>
                  <a:pt x="295335" y="266700"/>
                </a:cubicBezTo>
                <a:cubicBezTo>
                  <a:pt x="295335" y="256163"/>
                  <a:pt x="286822" y="247650"/>
                  <a:pt x="276285" y="247650"/>
                </a:cubicBezTo>
                <a:lnTo>
                  <a:pt x="269438" y="247650"/>
                </a:lnTo>
                <a:lnTo>
                  <a:pt x="169783" y="30182"/>
                </a:lnTo>
                <a:close/>
                <a:moveTo>
                  <a:pt x="196929" y="180975"/>
                </a:moveTo>
                <a:lnTo>
                  <a:pt x="107871" y="180975"/>
                </a:lnTo>
                <a:lnTo>
                  <a:pt x="152400" y="83820"/>
                </a:lnTo>
                <a:lnTo>
                  <a:pt x="196929" y="1809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400" y="2717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Buffered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3175000"/>
            <a:ext cx="4191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BufferedReader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BufferedWriter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Wraps character streams with buffering. Adds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readLine()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newLine()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25400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41050" y="2743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1328400" y="2717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Gain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2000" y="31750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buffer: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8192 bytes (8KB)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Unbuffered: 1 call per byte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Buffered: 1 call per 8KB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10-50x faster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large files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1308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2578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COMPARISON: UNBUFFERED VS BUFFERED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5562600"/>
            <a:ext cx="14224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689600"/>
            <a:ext cx="6858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SLOW: Unbuffered — 1 byte at a time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FileInputStream fis =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FileInputStream(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"large.bin"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((b = fis.read()) != -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process(b);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1M syscalls for 1MB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82000" y="56896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FAST: Buffered — 8KB chunks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BufferedInputStream bis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BufferedInputStream(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FileInputStream(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"large.bin"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((b = bis.read()) != -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process(b);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~128 syscalls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Stream Wrapper (Decorator) Pattern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I/O extensively uses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Decorator design pattern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 stream is wrapped by another stream to add functionality — each wrapper adds one specific feature.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5908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5908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FileInputStream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76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raw bytes from file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4000" y="2895600"/>
            <a:ext cx="762000" cy="0"/>
          </a:xfrm>
          <a:prstGeom prst="straightConnector1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080000" y="25908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0" y="25908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InputStreamReader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0" y="3276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bytes → characters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2895600"/>
            <a:ext cx="762000" cy="0"/>
          </a:xfrm>
          <a:prstGeom prst="straightConnector1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398000" y="25908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398000" y="25908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BufferedReader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8000" y="3276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buffering + readLine()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0" y="28956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716000" y="25908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0" y="25908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937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4064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BufferedReader br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BufferedReader(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InputStreamReader(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FileInputStream(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"file.txt"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)));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000" y="5765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Design?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875" y="6350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117600" y="62992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Mix and match capabilities as needed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875" y="6756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1117600" y="67056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Responsibility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Each layer does one thing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7875" y="7162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1117600" y="71120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Extensibility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Add new decorators without changing existing code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875" y="75692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1117600" y="75184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Composition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Build stream chains dynamically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Streams &amp; Object Streams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5050" y="1905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1879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DataInputStream / DataOutputStream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622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and write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primitive data types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machine-independent way. Methods: readInt(), writeInt(), readDouble(), writeDouble(), readUTF(), writeUTF().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556000"/>
            <a:ext cx="6731000" cy="1879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683000"/>
            <a:ext cx="635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DataOutputStream dos =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DataOutputStream(fos);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dos.writeInt(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dos.writeDouble(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3.14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dos.writeUTF(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55000" y="1701800"/>
            <a:ext cx="7239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90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879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ObjectInputStream / ObjectOutputStream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0" y="23622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reading and writing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entire objects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foundation of serialization. writeObject() serializes; readObject() deserializes.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9000" y="3556000"/>
            <a:ext cx="6731000" cy="1879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712200" y="3683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ObjectOutputStream oos =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ObjectOutputStream(fos);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oos.writeObject(student);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serialize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 = (Student) ois.readObject();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54356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225" y="5638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17666" y="-4584"/>
                </a:moveTo>
                <a:cubicBezTo>
                  <a:pt x="226348" y="-13266"/>
                  <a:pt x="240447" y="-13266"/>
                  <a:pt x="249128" y="-4584"/>
                </a:cubicBezTo>
                <a:lnTo>
                  <a:pt x="304691" y="50979"/>
                </a:lnTo>
                <a:cubicBezTo>
                  <a:pt x="313373" y="59660"/>
                  <a:pt x="313373" y="73759"/>
                  <a:pt x="304691" y="82441"/>
                </a:cubicBezTo>
                <a:lnTo>
                  <a:pt x="249128" y="138003"/>
                </a:lnTo>
                <a:cubicBezTo>
                  <a:pt x="240447" y="146685"/>
                  <a:pt x="226348" y="146685"/>
                  <a:pt x="217666" y="138003"/>
                </a:cubicBezTo>
                <a:cubicBezTo>
                  <a:pt x="208984" y="129322"/>
                  <a:pt x="208984" y="115223"/>
                  <a:pt x="217666" y="106541"/>
                </a:cubicBezTo>
                <a:lnTo>
                  <a:pt x="235238" y="88900"/>
                </a:lnTo>
                <a:lnTo>
                  <a:pt x="88900" y="88900"/>
                </a:lnTo>
                <a:cubicBezTo>
                  <a:pt x="64383" y="88900"/>
                  <a:pt x="44450" y="108833"/>
                  <a:pt x="44450" y="133350"/>
                </a:cubicBezTo>
                <a:lnTo>
                  <a:pt x="44450" y="155575"/>
                </a:lnTo>
                <a:cubicBezTo>
                  <a:pt x="44450" y="167868"/>
                  <a:pt x="34518" y="177800"/>
                  <a:pt x="22225" y="177800"/>
                </a:cubicBezTo>
                <a:cubicBezTo>
                  <a:pt x="9932" y="177800"/>
                  <a:pt x="0" y="167868"/>
                  <a:pt x="0" y="155575"/>
                </a:cubicBezTo>
                <a:lnTo>
                  <a:pt x="0" y="133350"/>
                </a:lnTo>
                <a:cubicBezTo>
                  <a:pt x="0" y="84247"/>
                  <a:pt x="39797" y="44450"/>
                  <a:pt x="88900" y="44450"/>
                </a:cubicBezTo>
                <a:lnTo>
                  <a:pt x="235238" y="44450"/>
                </a:lnTo>
                <a:lnTo>
                  <a:pt x="217597" y="26809"/>
                </a:lnTo>
                <a:cubicBezTo>
                  <a:pt x="208915" y="18127"/>
                  <a:pt x="208915" y="4028"/>
                  <a:pt x="217597" y="-4653"/>
                </a:cubicBezTo>
                <a:close/>
                <a:moveTo>
                  <a:pt x="150991" y="173216"/>
                </a:moveTo>
                <a:cubicBezTo>
                  <a:pt x="159673" y="164534"/>
                  <a:pt x="173772" y="164534"/>
                  <a:pt x="182453" y="173216"/>
                </a:cubicBezTo>
                <a:lnTo>
                  <a:pt x="238016" y="228779"/>
                </a:lnTo>
                <a:cubicBezTo>
                  <a:pt x="246698" y="237460"/>
                  <a:pt x="246698" y="251559"/>
                  <a:pt x="238016" y="260241"/>
                </a:cubicBezTo>
                <a:lnTo>
                  <a:pt x="182453" y="315803"/>
                </a:lnTo>
                <a:cubicBezTo>
                  <a:pt x="173772" y="324485"/>
                  <a:pt x="159673" y="324485"/>
                  <a:pt x="150991" y="315803"/>
                </a:cubicBezTo>
                <a:cubicBezTo>
                  <a:pt x="142309" y="307122"/>
                  <a:pt x="142309" y="293023"/>
                  <a:pt x="150991" y="284341"/>
                </a:cubicBezTo>
                <a:lnTo>
                  <a:pt x="168563" y="266700"/>
                </a:lnTo>
                <a:lnTo>
                  <a:pt x="66675" y="266700"/>
                </a:lnTo>
                <a:cubicBezTo>
                  <a:pt x="54382" y="266700"/>
                  <a:pt x="44450" y="276632"/>
                  <a:pt x="44450" y="288925"/>
                </a:cubicBezTo>
                <a:lnTo>
                  <a:pt x="44450" y="311150"/>
                </a:lnTo>
                <a:cubicBezTo>
                  <a:pt x="44450" y="323443"/>
                  <a:pt x="34518" y="333375"/>
                  <a:pt x="22225" y="333375"/>
                </a:cubicBez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ubicBezTo>
                  <a:pt x="0" y="252115"/>
                  <a:pt x="29865" y="222250"/>
                  <a:pt x="66675" y="222250"/>
                </a:cubicBezTo>
                <a:lnTo>
                  <a:pt x="168563" y="222250"/>
                </a:lnTo>
                <a:lnTo>
                  <a:pt x="150922" y="204609"/>
                </a:lnTo>
                <a:cubicBezTo>
                  <a:pt x="142240" y="195927"/>
                  <a:pt x="142240" y="181828"/>
                  <a:pt x="150922" y="173147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" y="561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to Lecture 12: Object Serialization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1468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streams are the mechanism behind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Object Serialization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When you call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writeObject()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entire object graph is converted to a byte stream including: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object's instance data (all non-static, non-transient fields)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type information and metadata about the object's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referenced objects (the entire object graph)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828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3200" y="1854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2286000"/>
            <a:ext cx="4292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file system metadata and path operations. Does NOT handle file content — use streams for that.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7018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8200" y="1828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6200" y="1854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 Streams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18200" y="2286000"/>
            <a:ext cx="4292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InputStream/OutputStream for raw 8-bit binary data. Used for images, audio, video, and all non-text files.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7018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71200" y="1828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79200" y="1854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Streams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71200" y="2286000"/>
            <a:ext cx="441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Reader/Writer for 16-bit Unicode text. Automatically handles character encoding for text files.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9878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200" y="411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73200" y="4140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 Streams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" y="4572000"/>
            <a:ext cx="4292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internal 8KB buffers to dramatically improve I/O performance — 10-50x faster than unbuffered.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9878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8200" y="411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6200" y="4140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Decorator Pattern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18200" y="4572000"/>
            <a:ext cx="4292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 streams within streams to add functionality flexibly — each wrapper adds one specific feature.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9878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71200" y="411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79200" y="4140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Try-With-Resources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71200" y="4572000"/>
            <a:ext cx="441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try-with-resources for automatic stream cleanup. Prevents resource leaks and is cleaner code.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38500" y="62738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3450" y="6527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1278" y="25658"/>
                </a:moveTo>
                <a:cubicBezTo>
                  <a:pt x="214372" y="19050"/>
                  <a:pt x="204192" y="17205"/>
                  <a:pt x="195441" y="20955"/>
                </a:cubicBezTo>
                <a:cubicBezTo>
                  <a:pt x="186690" y="24705"/>
                  <a:pt x="180975" y="33338"/>
                  <a:pt x="180975" y="42863"/>
                </a:cubicBezTo>
                <a:lnTo>
                  <a:pt x="180975" y="124004"/>
                </a:lnTo>
                <a:lnTo>
                  <a:pt x="78403" y="25718"/>
                </a:lnTo>
                <a:cubicBezTo>
                  <a:pt x="71497" y="19050"/>
                  <a:pt x="61317" y="17205"/>
                  <a:pt x="52566" y="20955"/>
                </a:cubicBezTo>
                <a:cubicBezTo>
                  <a:pt x="43815" y="24705"/>
                  <a:pt x="38100" y="33338"/>
                  <a:pt x="38100" y="42863"/>
                </a:cubicBezTo>
                <a:lnTo>
                  <a:pt x="38100" y="261937"/>
                </a:lnTo>
                <a:cubicBezTo>
                  <a:pt x="38100" y="271463"/>
                  <a:pt x="43815" y="280095"/>
                  <a:pt x="52566" y="283845"/>
                </a:cubicBezTo>
                <a:cubicBezTo>
                  <a:pt x="61317" y="287595"/>
                  <a:pt x="71497" y="285750"/>
                  <a:pt x="78403" y="279142"/>
                </a:cubicBezTo>
                <a:lnTo>
                  <a:pt x="180975" y="180796"/>
                </a:lnTo>
                <a:lnTo>
                  <a:pt x="180975" y="261937"/>
                </a:lnTo>
                <a:cubicBezTo>
                  <a:pt x="180975" y="271463"/>
                  <a:pt x="186690" y="280095"/>
                  <a:pt x="195441" y="283845"/>
                </a:cubicBezTo>
                <a:cubicBezTo>
                  <a:pt x="204192" y="287595"/>
                  <a:pt x="214372" y="285750"/>
                  <a:pt x="221278" y="279142"/>
                </a:cubicBezTo>
                <a:lnTo>
                  <a:pt x="335578" y="169605"/>
                </a:lnTo>
                <a:cubicBezTo>
                  <a:pt x="340281" y="165140"/>
                  <a:pt x="342900" y="158889"/>
                  <a:pt x="342900" y="152400"/>
                </a:cubicBezTo>
                <a:cubicBezTo>
                  <a:pt x="342900" y="145911"/>
                  <a:pt x="340221" y="139720"/>
                  <a:pt x="335578" y="135195"/>
                </a:cubicBezTo>
                <a:lnTo>
                  <a:pt x="221278" y="256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898900" y="650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Next: Object Streams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92500" y="69596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CFB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streams handle primitives. Object streams handle entire objects — leading into Serialization.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0" y="62738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8610600" y="6527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5EEAD4"/>
          </a:solidFill>
          <a:ln/>
        </p:spPr>
      </p:sp>
      <p:sp>
        <p:nvSpPr>
          <p:cNvPr id="36" name="Text 34"/>
          <p:cNvSpPr/>
          <p:nvPr/>
        </p:nvSpPr>
        <p:spPr>
          <a:xfrm>
            <a:off x="8978900" y="650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2500" y="69596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stream type for your data. Text = Character streams. Binary = Byte streams.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11 · File and I/O Stream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bsqqgvqxcu4y/mnt/agents/output/acp_week6/images/2_Minimal_abstract_geometric_backgroun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72A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228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368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6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70000" y="4140200"/>
            <a:ext cx="1016000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4394200"/>
            <a:ext cx="1219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SERIALIZATION &amp; EXTERNALIZATION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270000" y="5207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Persisting object state and controlling the serialization process for efficient data storage and transfer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0000" y="8382000"/>
            <a:ext cx="13716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1270000" y="850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 · Lecture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Object Serialization?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8288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process of converting an object's state into a byte stream.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Deserialization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reverse — reconstructing the object from the byte stream. The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java.io.Serializable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is the key enabler.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971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79800"/>
            <a:ext cx="3429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462" y="368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94570"/>
                </a:lnTo>
                <a:cubicBezTo>
                  <a:pt x="244475" y="85293"/>
                  <a:pt x="240819" y="76398"/>
                  <a:pt x="234270" y="69850"/>
                </a:cubicBezTo>
                <a:lnTo>
                  <a:pt x="192088" y="27667"/>
                </a:lnTo>
                <a:cubicBezTo>
                  <a:pt x="185539" y="21119"/>
                  <a:pt x="176644" y="17463"/>
                  <a:pt x="167367" y="17463"/>
                </a:cubicBezTo>
                <a:lnTo>
                  <a:pt x="34925" y="17463"/>
                </a:lnTo>
                <a:close/>
                <a:moveTo>
                  <a:pt x="52388" y="69850"/>
                </a:moveTo>
                <a:cubicBezTo>
                  <a:pt x="52388" y="60191"/>
                  <a:pt x="60191" y="52388"/>
                  <a:pt x="69850" y="52388"/>
                </a:cubicBezTo>
                <a:lnTo>
                  <a:pt x="157163" y="52388"/>
                </a:lnTo>
                <a:cubicBezTo>
                  <a:pt x="166821" y="52388"/>
                  <a:pt x="174625" y="60191"/>
                  <a:pt x="174625" y="69850"/>
                </a:cubicBezTo>
                <a:lnTo>
                  <a:pt x="174625" y="104775"/>
                </a:lnTo>
                <a:cubicBezTo>
                  <a:pt x="174625" y="114434"/>
                  <a:pt x="166821" y="122238"/>
                  <a:pt x="157163" y="122238"/>
                </a:cubicBezTo>
                <a:lnTo>
                  <a:pt x="69850" y="122238"/>
                </a:lnTo>
                <a:cubicBezTo>
                  <a:pt x="60191" y="122238"/>
                  <a:pt x="52388" y="114434"/>
                  <a:pt x="52388" y="104775"/>
                </a:cubicBezTo>
                <a:lnTo>
                  <a:pt x="52388" y="69850"/>
                </a:lnTo>
                <a:close/>
                <a:moveTo>
                  <a:pt x="122238" y="157163"/>
                </a:moveTo>
                <a:cubicBezTo>
                  <a:pt x="141513" y="157163"/>
                  <a:pt x="157163" y="172812"/>
                  <a:pt x="157163" y="192088"/>
                </a:cubicBezTo>
                <a:cubicBezTo>
                  <a:pt x="157163" y="211363"/>
                  <a:pt x="141513" y="227013"/>
                  <a:pt x="122238" y="227013"/>
                </a:cubicBezTo>
                <a:cubicBezTo>
                  <a:pt x="102962" y="227013"/>
                  <a:pt x="87313" y="211363"/>
                  <a:pt x="87313" y="192088"/>
                </a:cubicBezTo>
                <a:cubicBezTo>
                  <a:pt x="87313" y="172812"/>
                  <a:pt x="102962" y="157163"/>
                  <a:pt x="122238" y="157163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0386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Persistence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3688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and restore application state across sessions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0" y="3479800"/>
            <a:ext cx="3429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538" y="3683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35334" y="48022"/>
                </a:moveTo>
                <a:lnTo>
                  <a:pt x="178991" y="48022"/>
                </a:lnTo>
                <a:lnTo>
                  <a:pt x="178991" y="74216"/>
                </a:lnTo>
                <a:lnTo>
                  <a:pt x="135334" y="74216"/>
                </a:lnTo>
                <a:lnTo>
                  <a:pt x="135334" y="48022"/>
                </a:lnTo>
                <a:close/>
                <a:moveTo>
                  <a:pt x="130969" y="17463"/>
                </a:moveTo>
                <a:cubicBezTo>
                  <a:pt x="116508" y="17463"/>
                  <a:pt x="104775" y="29195"/>
                  <a:pt x="104775" y="43656"/>
                </a:cubicBezTo>
                <a:lnTo>
                  <a:pt x="104775" y="78581"/>
                </a:lnTo>
                <a:cubicBezTo>
                  <a:pt x="104775" y="93042"/>
                  <a:pt x="116508" y="104775"/>
                  <a:pt x="130969" y="104775"/>
                </a:cubicBezTo>
                <a:lnTo>
                  <a:pt x="139700" y="104775"/>
                </a:lnTo>
                <a:lnTo>
                  <a:pt x="139700" y="122238"/>
                </a:lnTo>
                <a:lnTo>
                  <a:pt x="17463" y="122238"/>
                </a:lnTo>
                <a:cubicBezTo>
                  <a:pt x="7804" y="122238"/>
                  <a:pt x="0" y="130041"/>
                  <a:pt x="0" y="139700"/>
                </a:cubicBezTo>
                <a:cubicBezTo>
                  <a:pt x="0" y="149359"/>
                  <a:pt x="7804" y="157163"/>
                  <a:pt x="17463" y="157163"/>
                </a:cubicBezTo>
                <a:lnTo>
                  <a:pt x="69850" y="157163"/>
                </a:lnTo>
                <a:lnTo>
                  <a:pt x="69850" y="174625"/>
                </a:lnTo>
                <a:lnTo>
                  <a:pt x="61119" y="174625"/>
                </a:lnTo>
                <a:cubicBezTo>
                  <a:pt x="46658" y="174625"/>
                  <a:pt x="34925" y="186358"/>
                  <a:pt x="34925" y="200819"/>
                </a:cubicBezTo>
                <a:lnTo>
                  <a:pt x="34925" y="235744"/>
                </a:lnTo>
                <a:cubicBezTo>
                  <a:pt x="34925" y="250205"/>
                  <a:pt x="46658" y="261938"/>
                  <a:pt x="61119" y="261938"/>
                </a:cubicBezTo>
                <a:lnTo>
                  <a:pt x="113506" y="261938"/>
                </a:lnTo>
                <a:cubicBezTo>
                  <a:pt x="127967" y="261938"/>
                  <a:pt x="139700" y="250205"/>
                  <a:pt x="139700" y="235744"/>
                </a:cubicBezTo>
                <a:lnTo>
                  <a:pt x="139700" y="200819"/>
                </a:lnTo>
                <a:cubicBezTo>
                  <a:pt x="139700" y="186358"/>
                  <a:pt x="127967" y="174625"/>
                  <a:pt x="113506" y="174625"/>
                </a:cubicBezTo>
                <a:lnTo>
                  <a:pt x="104775" y="174625"/>
                </a:lnTo>
                <a:lnTo>
                  <a:pt x="104775" y="157163"/>
                </a:lnTo>
                <a:lnTo>
                  <a:pt x="209550" y="157163"/>
                </a:lnTo>
                <a:lnTo>
                  <a:pt x="209550" y="174625"/>
                </a:lnTo>
                <a:lnTo>
                  <a:pt x="200819" y="174625"/>
                </a:lnTo>
                <a:cubicBezTo>
                  <a:pt x="186358" y="174625"/>
                  <a:pt x="174625" y="186358"/>
                  <a:pt x="174625" y="200819"/>
                </a:cubicBezTo>
                <a:lnTo>
                  <a:pt x="174625" y="235744"/>
                </a:lnTo>
                <a:cubicBezTo>
                  <a:pt x="174625" y="250205"/>
                  <a:pt x="186358" y="261938"/>
                  <a:pt x="200819" y="261938"/>
                </a:cubicBezTo>
                <a:lnTo>
                  <a:pt x="253206" y="261938"/>
                </a:lnTo>
                <a:cubicBezTo>
                  <a:pt x="267667" y="261938"/>
                  <a:pt x="279400" y="250205"/>
                  <a:pt x="279400" y="235744"/>
                </a:cubicBezTo>
                <a:lnTo>
                  <a:pt x="279400" y="200819"/>
                </a:lnTo>
                <a:cubicBezTo>
                  <a:pt x="279400" y="186358"/>
                  <a:pt x="267667" y="174625"/>
                  <a:pt x="253206" y="174625"/>
                </a:cubicBezTo>
                <a:lnTo>
                  <a:pt x="244475" y="174625"/>
                </a:lnTo>
                <a:lnTo>
                  <a:pt x="244475" y="157163"/>
                </a:lnTo>
                <a:lnTo>
                  <a:pt x="296863" y="157163"/>
                </a:lnTo>
                <a:cubicBezTo>
                  <a:pt x="306521" y="157163"/>
                  <a:pt x="314325" y="149359"/>
                  <a:pt x="314325" y="139700"/>
                </a:cubicBezTo>
                <a:cubicBezTo>
                  <a:pt x="314325" y="130041"/>
                  <a:pt x="306521" y="122238"/>
                  <a:pt x="296863" y="122238"/>
                </a:cubicBezTo>
                <a:lnTo>
                  <a:pt x="174625" y="122238"/>
                </a:lnTo>
                <a:lnTo>
                  <a:pt x="174625" y="104775"/>
                </a:lnTo>
                <a:lnTo>
                  <a:pt x="183356" y="104775"/>
                </a:lnTo>
                <a:cubicBezTo>
                  <a:pt x="197817" y="104775"/>
                  <a:pt x="209550" y="93042"/>
                  <a:pt x="209550" y="78581"/>
                </a:cubicBezTo>
                <a:lnTo>
                  <a:pt x="209550" y="43656"/>
                </a:lnTo>
                <a:cubicBezTo>
                  <a:pt x="209550" y="29195"/>
                  <a:pt x="197817" y="17463"/>
                  <a:pt x="183356" y="17463"/>
                </a:cubicBezTo>
                <a:lnTo>
                  <a:pt x="130969" y="17463"/>
                </a:lnTo>
                <a:close/>
                <a:moveTo>
                  <a:pt x="244475" y="205184"/>
                </a:moveTo>
                <a:lnTo>
                  <a:pt x="248841" y="205184"/>
                </a:lnTo>
                <a:lnTo>
                  <a:pt x="248841" y="231378"/>
                </a:lnTo>
                <a:lnTo>
                  <a:pt x="205184" y="231378"/>
                </a:lnTo>
                <a:lnTo>
                  <a:pt x="205184" y="205184"/>
                </a:lnTo>
                <a:lnTo>
                  <a:pt x="244475" y="205184"/>
                </a:lnTo>
                <a:close/>
                <a:moveTo>
                  <a:pt x="104775" y="205184"/>
                </a:moveTo>
                <a:lnTo>
                  <a:pt x="109141" y="205184"/>
                </a:lnTo>
                <a:lnTo>
                  <a:pt x="109141" y="231378"/>
                </a:lnTo>
                <a:lnTo>
                  <a:pt x="65484" y="231378"/>
                </a:lnTo>
                <a:lnTo>
                  <a:pt x="65484" y="205184"/>
                </a:lnTo>
                <a:lnTo>
                  <a:pt x="104775" y="205184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4699000" y="40386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Method Invocation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9000" y="43688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objects across the network in distributed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3479800"/>
            <a:ext cx="3429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368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15662" y="34925"/>
                  <a:pt x="0" y="50587"/>
                  <a:pt x="0" y="69850"/>
                </a:cubicBezTo>
                <a:lnTo>
                  <a:pt x="0" y="73888"/>
                </a:lnTo>
                <a:cubicBezTo>
                  <a:pt x="0" y="77599"/>
                  <a:pt x="2401" y="80764"/>
                  <a:pt x="5512" y="82783"/>
                </a:cubicBezTo>
                <a:cubicBezTo>
                  <a:pt x="12715" y="87476"/>
                  <a:pt x="17463" y="95553"/>
                  <a:pt x="17463" y="104775"/>
                </a:cubicBezTo>
                <a:cubicBezTo>
                  <a:pt x="17463" y="113997"/>
                  <a:pt x="12715" y="122074"/>
                  <a:pt x="5512" y="126767"/>
                </a:cubicBezTo>
                <a:cubicBezTo>
                  <a:pt x="2401" y="128786"/>
                  <a:pt x="0" y="131951"/>
                  <a:pt x="0" y="135662"/>
                </a:cubicBezTo>
                <a:lnTo>
                  <a:pt x="0" y="165894"/>
                </a:lnTo>
                <a:lnTo>
                  <a:pt x="279400" y="165894"/>
                </a:lnTo>
                <a:lnTo>
                  <a:pt x="279400" y="135662"/>
                </a:lnTo>
                <a:cubicBezTo>
                  <a:pt x="279400" y="131951"/>
                  <a:pt x="276999" y="128786"/>
                  <a:pt x="273888" y="126767"/>
                </a:cubicBezTo>
                <a:cubicBezTo>
                  <a:pt x="266685" y="122074"/>
                  <a:pt x="261938" y="113997"/>
                  <a:pt x="261938" y="104775"/>
                </a:cubicBezTo>
                <a:cubicBezTo>
                  <a:pt x="261938" y="95553"/>
                  <a:pt x="266685" y="87476"/>
                  <a:pt x="273888" y="82783"/>
                </a:cubicBezTo>
                <a:cubicBezTo>
                  <a:pt x="276999" y="80764"/>
                  <a:pt x="279400" y="77599"/>
                  <a:pt x="279400" y="73888"/>
                </a:cubicBezTo>
                <a:lnTo>
                  <a:pt x="279400" y="69850"/>
                </a:lnTo>
                <a:cubicBezTo>
                  <a:pt x="279400" y="50587"/>
                  <a:pt x="263738" y="34925"/>
                  <a:pt x="244475" y="34925"/>
                </a:cubicBezTo>
                <a:lnTo>
                  <a:pt x="34925" y="34925"/>
                </a:lnTo>
                <a:close/>
                <a:moveTo>
                  <a:pt x="279400" y="227013"/>
                </a:moveTo>
                <a:lnTo>
                  <a:pt x="279400" y="192088"/>
                </a:lnTo>
                <a:lnTo>
                  <a:pt x="0" y="192088"/>
                </a:lnTo>
                <a:lnTo>
                  <a:pt x="0" y="227013"/>
                </a:lnTo>
                <a:cubicBezTo>
                  <a:pt x="0" y="236671"/>
                  <a:pt x="7804" y="244475"/>
                  <a:pt x="17463" y="244475"/>
                </a:cubicBezTo>
                <a:lnTo>
                  <a:pt x="52388" y="244475"/>
                </a:lnTo>
                <a:lnTo>
                  <a:pt x="52388" y="231378"/>
                </a:lnTo>
                <a:cubicBezTo>
                  <a:pt x="52388" y="224120"/>
                  <a:pt x="58227" y="218281"/>
                  <a:pt x="65484" y="218281"/>
                </a:cubicBezTo>
                <a:cubicBezTo>
                  <a:pt x="72742" y="218281"/>
                  <a:pt x="78581" y="224120"/>
                  <a:pt x="78581" y="231378"/>
                </a:cubicBezTo>
                <a:lnTo>
                  <a:pt x="78581" y="244475"/>
                </a:lnTo>
                <a:lnTo>
                  <a:pt x="126603" y="244475"/>
                </a:lnTo>
                <a:lnTo>
                  <a:pt x="126603" y="231378"/>
                </a:lnTo>
                <a:cubicBezTo>
                  <a:pt x="126603" y="224120"/>
                  <a:pt x="132442" y="218281"/>
                  <a:pt x="139700" y="218281"/>
                </a:cubicBezTo>
                <a:cubicBezTo>
                  <a:pt x="146958" y="218281"/>
                  <a:pt x="152797" y="224120"/>
                  <a:pt x="152797" y="231378"/>
                </a:cubicBezTo>
                <a:lnTo>
                  <a:pt x="152797" y="244475"/>
                </a:lnTo>
                <a:lnTo>
                  <a:pt x="200819" y="244475"/>
                </a:lnTo>
                <a:lnTo>
                  <a:pt x="200819" y="231378"/>
                </a:lnTo>
                <a:cubicBezTo>
                  <a:pt x="200819" y="224120"/>
                  <a:pt x="206658" y="218281"/>
                  <a:pt x="213916" y="218281"/>
                </a:cubicBezTo>
                <a:cubicBezTo>
                  <a:pt x="221173" y="218281"/>
                  <a:pt x="227013" y="224120"/>
                  <a:pt x="227013" y="231378"/>
                </a:cubicBezTo>
                <a:lnTo>
                  <a:pt x="227013" y="244475"/>
                </a:lnTo>
                <a:lnTo>
                  <a:pt x="261938" y="244475"/>
                </a:lnTo>
                <a:cubicBezTo>
                  <a:pt x="271596" y="244475"/>
                  <a:pt x="279400" y="236671"/>
                  <a:pt x="279400" y="227013"/>
                </a:cubicBezTo>
                <a:close/>
                <a:moveTo>
                  <a:pt x="87313" y="87313"/>
                </a:moveTo>
                <a:lnTo>
                  <a:pt x="87313" y="122238"/>
                </a:lnTo>
                <a:cubicBezTo>
                  <a:pt x="87313" y="131896"/>
                  <a:pt x="79509" y="139700"/>
                  <a:pt x="69850" y="139700"/>
                </a:cubicBezTo>
                <a:cubicBezTo>
                  <a:pt x="60191" y="139700"/>
                  <a:pt x="52388" y="131896"/>
                  <a:pt x="52388" y="122238"/>
                </a:cubicBezTo>
                <a:lnTo>
                  <a:pt x="52388" y="87313"/>
                </a:lnTo>
                <a:cubicBezTo>
                  <a:pt x="52388" y="77654"/>
                  <a:pt x="60191" y="69850"/>
                  <a:pt x="69850" y="69850"/>
                </a:cubicBezTo>
                <a:cubicBezTo>
                  <a:pt x="79509" y="69850"/>
                  <a:pt x="87313" y="77654"/>
                  <a:pt x="87313" y="87313"/>
                </a:cubicBezTo>
                <a:close/>
                <a:moveTo>
                  <a:pt x="157163" y="87313"/>
                </a:moveTo>
                <a:lnTo>
                  <a:pt x="157163" y="122238"/>
                </a:lnTo>
                <a:cubicBezTo>
                  <a:pt x="157163" y="131896"/>
                  <a:pt x="149359" y="139700"/>
                  <a:pt x="139700" y="139700"/>
                </a:cubicBezTo>
                <a:cubicBezTo>
                  <a:pt x="130041" y="139700"/>
                  <a:pt x="122238" y="131896"/>
                  <a:pt x="122238" y="122238"/>
                </a:cubicBezTo>
                <a:lnTo>
                  <a:pt x="122238" y="87313"/>
                </a:lnTo>
                <a:cubicBezTo>
                  <a:pt x="122238" y="77654"/>
                  <a:pt x="130041" y="69850"/>
                  <a:pt x="139700" y="69850"/>
                </a:cubicBezTo>
                <a:cubicBezTo>
                  <a:pt x="149359" y="69850"/>
                  <a:pt x="157163" y="77654"/>
                  <a:pt x="157163" y="87313"/>
                </a:cubicBezTo>
                <a:close/>
                <a:moveTo>
                  <a:pt x="227013" y="87313"/>
                </a:moveTo>
                <a:lnTo>
                  <a:pt x="227013" y="122238"/>
                </a:lnTo>
                <a:cubicBezTo>
                  <a:pt x="227013" y="131896"/>
                  <a:pt x="219209" y="139700"/>
                  <a:pt x="209550" y="139700"/>
                </a:cubicBezTo>
                <a:cubicBezTo>
                  <a:pt x="199891" y="139700"/>
                  <a:pt x="192088" y="131896"/>
                  <a:pt x="192088" y="122238"/>
                </a:cubicBezTo>
                <a:lnTo>
                  <a:pt x="192088" y="87313"/>
                </a:lnTo>
                <a:cubicBezTo>
                  <a:pt x="192088" y="77654"/>
                  <a:pt x="199891" y="69850"/>
                  <a:pt x="209550" y="69850"/>
                </a:cubicBezTo>
                <a:cubicBezTo>
                  <a:pt x="219209" y="69850"/>
                  <a:pt x="227013" y="77654"/>
                  <a:pt x="227013" y="873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40386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3688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computed objects to avoid recalculation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11000" y="3479800"/>
            <a:ext cx="3683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65000" y="368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57163" y="244475"/>
                </a:moveTo>
                <a:lnTo>
                  <a:pt x="34925" y="244475"/>
                </a:lnTo>
                <a:lnTo>
                  <a:pt x="34925" y="122238"/>
                </a:lnTo>
                <a:lnTo>
                  <a:pt x="61119" y="122238"/>
                </a:lnTo>
                <a:lnTo>
                  <a:pt x="61119" y="87313"/>
                </a:lnTo>
                <a:lnTo>
                  <a:pt x="34925" y="87313"/>
                </a:lnTo>
                <a:cubicBezTo>
                  <a:pt x="15662" y="87313"/>
                  <a:pt x="0" y="102974"/>
                  <a:pt x="0" y="122238"/>
                </a:cubicBezTo>
                <a:lnTo>
                  <a:pt x="0" y="244475"/>
                </a:lnTo>
                <a:cubicBezTo>
                  <a:pt x="0" y="263738"/>
                  <a:pt x="15662" y="279400"/>
                  <a:pt x="34925" y="279400"/>
                </a:cubicBezTo>
                <a:lnTo>
                  <a:pt x="157163" y="279400"/>
                </a:lnTo>
                <a:cubicBezTo>
                  <a:pt x="176426" y="279400"/>
                  <a:pt x="192088" y="263738"/>
                  <a:pt x="192088" y="244475"/>
                </a:cubicBezTo>
                <a:lnTo>
                  <a:pt x="192088" y="218281"/>
                </a:lnTo>
                <a:lnTo>
                  <a:pt x="157163" y="218281"/>
                </a:lnTo>
                <a:lnTo>
                  <a:pt x="157163" y="244475"/>
                </a:lnTo>
                <a:close/>
                <a:moveTo>
                  <a:pt x="122238" y="192088"/>
                </a:moveTo>
                <a:lnTo>
                  <a:pt x="244475" y="192088"/>
                </a:lnTo>
                <a:cubicBezTo>
                  <a:pt x="263738" y="192088"/>
                  <a:pt x="279400" y="176426"/>
                  <a:pt x="279400" y="157163"/>
                </a:cubicBezTo>
                <a:lnTo>
                  <a:pt x="279400" y="34925"/>
                </a:lnTo>
                <a:cubicBezTo>
                  <a:pt x="279400" y="15662"/>
                  <a:pt x="263738" y="0"/>
                  <a:pt x="244475" y="0"/>
                </a:cubicBezTo>
                <a:lnTo>
                  <a:pt x="122238" y="0"/>
                </a:lnTo>
                <a:cubicBezTo>
                  <a:pt x="102974" y="0"/>
                  <a:pt x="87313" y="15662"/>
                  <a:pt x="87313" y="34925"/>
                </a:cubicBezTo>
                <a:lnTo>
                  <a:pt x="87313" y="157163"/>
                </a:lnTo>
                <a:cubicBezTo>
                  <a:pt x="87313" y="176426"/>
                  <a:pt x="102974" y="192088"/>
                  <a:pt x="122238" y="1920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2065000" y="4038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Cloning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65000" y="43688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complete copies of complex object graphs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30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Gets Serialized?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892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200" y="58420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object's instance data (non-static, non-transient fields)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29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1092200" y="62484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type information and metadata about the object's class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705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1092200" y="665480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referenced objects (the entire reachable object graph)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28000" y="5308600"/>
            <a:ext cx="7366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5435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9000" y="5918200"/>
            <a:ext cx="165100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8509000" y="59182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Object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60000" y="6146800"/>
            <a:ext cx="635000" cy="0"/>
          </a:xfrm>
          <a:prstGeom prst="straightConnector1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0795000" y="5918200"/>
            <a:ext cx="1651000" cy="4572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10795000" y="59182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 Stream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446000" y="6146800"/>
            <a:ext cx="635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13081000" y="5918200"/>
            <a:ext cx="1651000" cy="4572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</p:sp>
      <p:sp>
        <p:nvSpPr>
          <p:cNvPr id="42" name="Text 40"/>
          <p:cNvSpPr/>
          <p:nvPr/>
        </p:nvSpPr>
        <p:spPr>
          <a:xfrm>
            <a:off x="13081000" y="59182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/ Network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09000" y="6604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Deserialization reverses this flow: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/ Network → Byte Stream → Java Object (deep copy)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deserialized object is independent of the original.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Serializable Interface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98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8288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 is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marker interface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has no methods and serves only to identify serializable classes. Implementing it signals to the JVM: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"Objects of this class can be serialized."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098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 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83000"/>
            <a:ext cx="101600" cy="10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581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non-transient, non-static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fields are automatically serialized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318000"/>
            <a:ext cx="101600" cy="10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216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referenced objects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also be serializable (or marked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101600" cy="10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851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NotSerializableException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thrown if a non-serializable object is encountered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588000"/>
            <a:ext cx="101600" cy="1016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486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Primitive types and their wrapper classes are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serializable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223000"/>
            <a:ext cx="101600" cy="1016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121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Java collections (ArrayList, HashMap) already implement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3098800"/>
            <a:ext cx="7366000" cy="444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3225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SERIALIZABLE CLASS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3530600"/>
            <a:ext cx="6858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657600"/>
            <a:ext cx="6858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java.io.Serializable;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Serializable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static final long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serialVersionUID = 1L;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name;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transient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pwd;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 in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25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CODE WALKTHROUGH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82800"/>
            <a:ext cx="7239000" cy="3937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098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1-3: SERIALIZE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5146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641600"/>
            <a:ext cx="6731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Create object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Serialize to file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(ObjectOutputStream oos =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ObjectOutputStream(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FileOutputStream(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"student.ser"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oos.writeObject(s1);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"Serialized!"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0" y="2082800"/>
            <a:ext cx="7239000" cy="3937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2098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4-6: DESERIALIZE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9000" y="25146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641600"/>
            <a:ext cx="6731000" cy="309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Deserialize from file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(ObjectInputStream ois =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ObjectInputStream(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FileInputStream(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CD3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"student.ser"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s2 = (Student)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ois.readObject();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System.out.println(s2.getName());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Alice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61722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637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4224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68072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deserialized object is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copy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changes to the original do not affect 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readObject()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you must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correct type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handle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IOException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ClassNotFoundException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Controlling Serialization with transient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transient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keyword prevents a field from being serialized. It's the simplest way to exclude data from the serialization process.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489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transient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97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950" y="3175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3505200"/>
            <a:ext cx="3022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37846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Passwords, API keys, tokens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45000" y="2997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9950" y="3175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47625" y="31750"/>
                </a:moveTo>
                <a:lnTo>
                  <a:pt x="142875" y="31750"/>
                </a:lnTo>
                <a:cubicBezTo>
                  <a:pt x="151656" y="31750"/>
                  <a:pt x="158750" y="38844"/>
                  <a:pt x="158750" y="47625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47625" y="79375"/>
                </a:lnTo>
                <a:cubicBezTo>
                  <a:pt x="38844" y="79375"/>
                  <a:pt x="31750" y="72281"/>
                  <a:pt x="31750" y="63500"/>
                </a:cubicBezTo>
                <a:lnTo>
                  <a:pt x="31750" y="47625"/>
                </a:lnTo>
                <a:cubicBezTo>
                  <a:pt x="31750" y="38844"/>
                  <a:pt x="38844" y="31750"/>
                  <a:pt x="47625" y="31750"/>
                </a:cubicBezTo>
                <a:close/>
                <a:moveTo>
                  <a:pt x="55563" y="115094"/>
                </a:moveTo>
                <a:cubicBezTo>
                  <a:pt x="55563" y="121665"/>
                  <a:pt x="50227" y="127000"/>
                  <a:pt x="43656" y="127000"/>
                </a:cubicBezTo>
                <a:cubicBezTo>
                  <a:pt x="37085" y="127000"/>
                  <a:pt x="31750" y="121665"/>
                  <a:pt x="31750" y="115094"/>
                </a:cubicBezTo>
                <a:cubicBezTo>
                  <a:pt x="31750" y="108523"/>
                  <a:pt x="37085" y="103188"/>
                  <a:pt x="43656" y="103188"/>
                </a:cubicBezTo>
                <a:cubicBezTo>
                  <a:pt x="50227" y="103188"/>
                  <a:pt x="55563" y="108523"/>
                  <a:pt x="55563" y="115094"/>
                </a:cubicBezTo>
                <a:close/>
                <a:moveTo>
                  <a:pt x="95250" y="127000"/>
                </a:moveTo>
                <a:cubicBezTo>
                  <a:pt x="88679" y="127000"/>
                  <a:pt x="83344" y="121665"/>
                  <a:pt x="83344" y="115094"/>
                </a:cubicBezTo>
                <a:cubicBezTo>
                  <a:pt x="83344" y="108523"/>
                  <a:pt x="88679" y="103188"/>
                  <a:pt x="95250" y="103188"/>
                </a:cubicBezTo>
                <a:cubicBezTo>
                  <a:pt x="101821" y="103188"/>
                  <a:pt x="107156" y="108523"/>
                  <a:pt x="107156" y="115094"/>
                </a:cubicBezTo>
                <a:cubicBezTo>
                  <a:pt x="107156" y="121665"/>
                  <a:pt x="101821" y="127000"/>
                  <a:pt x="95250" y="127000"/>
                </a:cubicBezTo>
                <a:close/>
                <a:moveTo>
                  <a:pt x="158750" y="115094"/>
                </a:moveTo>
                <a:cubicBezTo>
                  <a:pt x="158750" y="121665"/>
                  <a:pt x="153415" y="127000"/>
                  <a:pt x="146844" y="127000"/>
                </a:cubicBezTo>
                <a:cubicBezTo>
                  <a:pt x="140273" y="127000"/>
                  <a:pt x="134938" y="121665"/>
                  <a:pt x="134938" y="115094"/>
                </a:cubicBezTo>
                <a:cubicBezTo>
                  <a:pt x="134938" y="108523"/>
                  <a:pt x="140273" y="103188"/>
                  <a:pt x="146844" y="103188"/>
                </a:cubicBezTo>
                <a:cubicBezTo>
                  <a:pt x="153415" y="103188"/>
                  <a:pt x="158750" y="108523"/>
                  <a:pt x="158750" y="115094"/>
                </a:cubicBezTo>
                <a:close/>
                <a:moveTo>
                  <a:pt x="43656" y="174625"/>
                </a:moveTo>
                <a:cubicBezTo>
                  <a:pt x="37085" y="174625"/>
                  <a:pt x="31750" y="169290"/>
                  <a:pt x="31750" y="162719"/>
                </a:cubicBezTo>
                <a:cubicBezTo>
                  <a:pt x="31750" y="156148"/>
                  <a:pt x="37085" y="150813"/>
                  <a:pt x="43656" y="150813"/>
                </a:cubicBezTo>
                <a:cubicBezTo>
                  <a:pt x="50227" y="150813"/>
                  <a:pt x="55563" y="156148"/>
                  <a:pt x="55563" y="162719"/>
                </a:cubicBezTo>
                <a:cubicBezTo>
                  <a:pt x="55563" y="169290"/>
                  <a:pt x="50227" y="174625"/>
                  <a:pt x="43656" y="174625"/>
                </a:cubicBezTo>
                <a:close/>
                <a:moveTo>
                  <a:pt x="107156" y="162719"/>
                </a:moveTo>
                <a:cubicBezTo>
                  <a:pt x="107156" y="169290"/>
                  <a:pt x="101821" y="174625"/>
                  <a:pt x="95250" y="174625"/>
                </a:cubicBezTo>
                <a:cubicBezTo>
                  <a:pt x="88679" y="174625"/>
                  <a:pt x="83344" y="169290"/>
                  <a:pt x="83344" y="162719"/>
                </a:cubicBezTo>
                <a:cubicBezTo>
                  <a:pt x="83344" y="156148"/>
                  <a:pt x="88679" y="150813"/>
                  <a:pt x="95250" y="150813"/>
                </a:cubicBezTo>
                <a:cubicBezTo>
                  <a:pt x="101821" y="150813"/>
                  <a:pt x="107156" y="156148"/>
                  <a:pt x="107156" y="162719"/>
                </a:cubicBezTo>
                <a:close/>
                <a:moveTo>
                  <a:pt x="146844" y="174625"/>
                </a:moveTo>
                <a:cubicBezTo>
                  <a:pt x="140273" y="174625"/>
                  <a:pt x="134938" y="169290"/>
                  <a:pt x="134938" y="162719"/>
                </a:cubicBezTo>
                <a:cubicBezTo>
                  <a:pt x="134938" y="156148"/>
                  <a:pt x="140273" y="150813"/>
                  <a:pt x="146844" y="150813"/>
                </a:cubicBezTo>
                <a:cubicBezTo>
                  <a:pt x="153415" y="150813"/>
                  <a:pt x="158750" y="156148"/>
                  <a:pt x="158750" y="162719"/>
                </a:cubicBezTo>
                <a:cubicBezTo>
                  <a:pt x="158750" y="169290"/>
                  <a:pt x="153415" y="174625"/>
                  <a:pt x="146844" y="174625"/>
                </a:cubicBezTo>
                <a:close/>
                <a:moveTo>
                  <a:pt x="31750" y="210344"/>
                </a:moveTo>
                <a:cubicBezTo>
                  <a:pt x="31750" y="203746"/>
                  <a:pt x="37058" y="198438"/>
                  <a:pt x="43656" y="198438"/>
                </a:cubicBezTo>
                <a:lnTo>
                  <a:pt x="99219" y="198438"/>
                </a:lnTo>
                <a:cubicBezTo>
                  <a:pt x="105817" y="198438"/>
                  <a:pt x="111125" y="203746"/>
                  <a:pt x="111125" y="210344"/>
                </a:cubicBezTo>
                <a:cubicBezTo>
                  <a:pt x="111125" y="216942"/>
                  <a:pt x="105817" y="222250"/>
                  <a:pt x="99219" y="222250"/>
                </a:cubicBezTo>
                <a:lnTo>
                  <a:pt x="43656" y="222250"/>
                </a:lnTo>
                <a:cubicBezTo>
                  <a:pt x="37058" y="222250"/>
                  <a:pt x="31750" y="216942"/>
                  <a:pt x="31750" y="210344"/>
                </a:cubicBezTo>
                <a:close/>
                <a:moveTo>
                  <a:pt x="146844" y="198438"/>
                </a:moveTo>
                <a:cubicBezTo>
                  <a:pt x="153442" y="198438"/>
                  <a:pt x="158750" y="203746"/>
                  <a:pt x="158750" y="210344"/>
                </a:cubicBezTo>
                <a:cubicBezTo>
                  <a:pt x="158750" y="216942"/>
                  <a:pt x="153442" y="222250"/>
                  <a:pt x="146844" y="222250"/>
                </a:cubicBezTo>
                <a:cubicBezTo>
                  <a:pt x="140246" y="222250"/>
                  <a:pt x="134938" y="216942"/>
                  <a:pt x="134938" y="210344"/>
                </a:cubicBezTo>
                <a:cubicBezTo>
                  <a:pt x="134938" y="203746"/>
                  <a:pt x="140246" y="198438"/>
                  <a:pt x="146844" y="19843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200" y="3505200"/>
            <a:ext cx="3022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8200" y="37846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Computed or derived fields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2997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5325" y="3175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340" y="-12353"/>
                </a:moveTo>
                <a:cubicBezTo>
                  <a:pt x="15677" y="-17016"/>
                  <a:pt x="8136" y="-17016"/>
                  <a:pt x="3522" y="-12353"/>
                </a:cubicBezTo>
                <a:cubicBezTo>
                  <a:pt x="-1091" y="-7689"/>
                  <a:pt x="-1141" y="-149"/>
                  <a:pt x="3473" y="4514"/>
                </a:cubicBezTo>
                <a:lnTo>
                  <a:pt x="265410" y="266452"/>
                </a:lnTo>
                <a:cubicBezTo>
                  <a:pt x="270073" y="271115"/>
                  <a:pt x="277614" y="271115"/>
                  <a:pt x="282228" y="266452"/>
                </a:cubicBezTo>
                <a:cubicBezTo>
                  <a:pt x="286841" y="261789"/>
                  <a:pt x="286891" y="254248"/>
                  <a:pt x="282228" y="249634"/>
                </a:cubicBezTo>
                <a:lnTo>
                  <a:pt x="221704" y="189111"/>
                </a:lnTo>
                <a:cubicBezTo>
                  <a:pt x="223788" y="187424"/>
                  <a:pt x="225822" y="185589"/>
                  <a:pt x="227707" y="183704"/>
                </a:cubicBezTo>
                <a:lnTo>
                  <a:pt x="262979" y="148431"/>
                </a:lnTo>
                <a:cubicBezTo>
                  <a:pt x="277515" y="133896"/>
                  <a:pt x="285700" y="114151"/>
                  <a:pt x="285700" y="93563"/>
                </a:cubicBezTo>
                <a:cubicBezTo>
                  <a:pt x="285700" y="50701"/>
                  <a:pt x="250974" y="15925"/>
                  <a:pt x="208062" y="15925"/>
                </a:cubicBezTo>
                <a:cubicBezTo>
                  <a:pt x="189557" y="15925"/>
                  <a:pt x="171797" y="22523"/>
                  <a:pt x="157807" y="34379"/>
                </a:cubicBezTo>
                <a:cubicBezTo>
                  <a:pt x="167878" y="39390"/>
                  <a:pt x="177006" y="46038"/>
                  <a:pt x="184845" y="53975"/>
                </a:cubicBezTo>
                <a:cubicBezTo>
                  <a:pt x="191839" y="49857"/>
                  <a:pt x="199827" y="47675"/>
                  <a:pt x="208062" y="47675"/>
                </a:cubicBezTo>
                <a:cubicBezTo>
                  <a:pt x="233412" y="47675"/>
                  <a:pt x="253950" y="68213"/>
                  <a:pt x="253950" y="93563"/>
                </a:cubicBezTo>
                <a:cubicBezTo>
                  <a:pt x="253950" y="105718"/>
                  <a:pt x="249138" y="117376"/>
                  <a:pt x="240506" y="126008"/>
                </a:cubicBezTo>
                <a:lnTo>
                  <a:pt x="205234" y="161280"/>
                </a:lnTo>
                <a:cubicBezTo>
                  <a:pt x="203299" y="163215"/>
                  <a:pt x="201216" y="164951"/>
                  <a:pt x="198983" y="166489"/>
                </a:cubicBezTo>
                <a:lnTo>
                  <a:pt x="175419" y="142925"/>
                </a:lnTo>
                <a:cubicBezTo>
                  <a:pt x="183604" y="142478"/>
                  <a:pt x="190153" y="135781"/>
                  <a:pt x="190401" y="127496"/>
                </a:cubicBezTo>
                <a:cubicBezTo>
                  <a:pt x="190401" y="126851"/>
                  <a:pt x="190401" y="126206"/>
                  <a:pt x="190401" y="125561"/>
                </a:cubicBezTo>
                <a:cubicBezTo>
                  <a:pt x="190401" y="82748"/>
                  <a:pt x="155724" y="47724"/>
                  <a:pt x="112762" y="47724"/>
                </a:cubicBezTo>
                <a:cubicBezTo>
                  <a:pt x="103237" y="47724"/>
                  <a:pt x="93960" y="49461"/>
                  <a:pt x="85229" y="52784"/>
                </a:cubicBezTo>
                <a:lnTo>
                  <a:pt x="20340" y="-12353"/>
                </a:lnTo>
                <a:close/>
                <a:moveTo>
                  <a:pt x="112068" y="79375"/>
                </a:moveTo>
                <a:cubicBezTo>
                  <a:pt x="112365" y="79375"/>
                  <a:pt x="112613" y="79375"/>
                  <a:pt x="112911" y="79375"/>
                </a:cubicBezTo>
                <a:cubicBezTo>
                  <a:pt x="120402" y="79375"/>
                  <a:pt x="127546" y="81211"/>
                  <a:pt x="133796" y="84435"/>
                </a:cubicBezTo>
                <a:cubicBezTo>
                  <a:pt x="134689" y="85030"/>
                  <a:pt x="135582" y="85576"/>
                  <a:pt x="136525" y="85973"/>
                </a:cubicBezTo>
                <a:cubicBezTo>
                  <a:pt x="149820" y="94059"/>
                  <a:pt x="158750" y="108744"/>
                  <a:pt x="158750" y="125462"/>
                </a:cubicBezTo>
                <a:cubicBezTo>
                  <a:pt x="158750" y="125661"/>
                  <a:pt x="158750" y="125859"/>
                  <a:pt x="158750" y="126057"/>
                </a:cubicBezTo>
                <a:lnTo>
                  <a:pt x="112068" y="79375"/>
                </a:lnTo>
                <a:close/>
                <a:moveTo>
                  <a:pt x="171748" y="206375"/>
                </a:moveTo>
                <a:lnTo>
                  <a:pt x="95250" y="129877"/>
                </a:lnTo>
                <a:cubicBezTo>
                  <a:pt x="95845" y="171847"/>
                  <a:pt x="129778" y="205730"/>
                  <a:pt x="171698" y="206325"/>
                </a:cubicBezTo>
                <a:close/>
                <a:moveTo>
                  <a:pt x="69304" y="103932"/>
                </a:moveTo>
                <a:lnTo>
                  <a:pt x="46831" y="81459"/>
                </a:lnTo>
                <a:lnTo>
                  <a:pt x="22721" y="105569"/>
                </a:lnTo>
                <a:cubicBezTo>
                  <a:pt x="8186" y="120104"/>
                  <a:pt x="0" y="139849"/>
                  <a:pt x="0" y="160437"/>
                </a:cubicBezTo>
                <a:cubicBezTo>
                  <a:pt x="0" y="203299"/>
                  <a:pt x="34727" y="238075"/>
                  <a:pt x="77639" y="238075"/>
                </a:cubicBezTo>
                <a:cubicBezTo>
                  <a:pt x="96093" y="238075"/>
                  <a:pt x="113903" y="231477"/>
                  <a:pt x="127893" y="219621"/>
                </a:cubicBezTo>
                <a:cubicBezTo>
                  <a:pt x="117822" y="214610"/>
                  <a:pt x="108645" y="207963"/>
                  <a:pt x="100806" y="200025"/>
                </a:cubicBezTo>
                <a:cubicBezTo>
                  <a:pt x="93861" y="204093"/>
                  <a:pt x="85874" y="206276"/>
                  <a:pt x="77639" y="206276"/>
                </a:cubicBezTo>
                <a:cubicBezTo>
                  <a:pt x="52288" y="206276"/>
                  <a:pt x="31750" y="185738"/>
                  <a:pt x="31750" y="160387"/>
                </a:cubicBezTo>
                <a:cubicBezTo>
                  <a:pt x="31750" y="148233"/>
                  <a:pt x="36562" y="136575"/>
                  <a:pt x="45194" y="127943"/>
                </a:cubicBezTo>
                <a:lnTo>
                  <a:pt x="69304" y="103832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1200" y="3505200"/>
            <a:ext cx="3022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Non-Serializable References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1200" y="37846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connections, threads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11000" y="2997200"/>
            <a:ext cx="3683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14200" y="317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2014200" y="3505200"/>
            <a:ext cx="3276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Temporary State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14200" y="3784600"/>
            <a:ext cx="327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data, progress indicators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4450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457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TRANSIENT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" y="48768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003800"/>
            <a:ext cx="673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Serializable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username;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transient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password;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email;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password will NOT be serialized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After deserialization: password = null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55000" y="44450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9000" y="467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915400" y="4648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Deserialization Behavior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9000" y="5130800"/>
            <a:ext cx="673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transient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field is deserialized, it receives its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value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(int, double, etc.) →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need to restore transient values after deserialization, implement a custom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readObject()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serialVersionUID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93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152400"/>
                </a:moveTo>
                <a:cubicBezTo>
                  <a:pt x="28575" y="83999"/>
                  <a:pt x="83999" y="28575"/>
                  <a:pt x="152400" y="28575"/>
                </a:cubicBezTo>
                <a:cubicBezTo>
                  <a:pt x="189964" y="28575"/>
                  <a:pt x="223599" y="45303"/>
                  <a:pt x="246340" y="71735"/>
                </a:cubicBezTo>
                <a:cubicBezTo>
                  <a:pt x="251460" y="77748"/>
                  <a:pt x="260509" y="78403"/>
                  <a:pt x="266462" y="73283"/>
                </a:cubicBezTo>
                <a:cubicBezTo>
                  <a:pt x="272415" y="68163"/>
                  <a:pt x="273129" y="59115"/>
                  <a:pt x="268010" y="53161"/>
                </a:cubicBezTo>
                <a:cubicBezTo>
                  <a:pt x="240090" y="20598"/>
                  <a:pt x="198656" y="0"/>
                  <a:pt x="152400" y="0"/>
                </a:cubicBezTo>
                <a:cubicBezTo>
                  <a:pt x="68223" y="0"/>
                  <a:pt x="0" y="68223"/>
                  <a:pt x="0" y="152400"/>
                </a:cubicBezTo>
                <a:lnTo>
                  <a:pt x="0" y="176212"/>
                </a:lnTo>
                <a:cubicBezTo>
                  <a:pt x="0" y="184130"/>
                  <a:pt x="6370" y="190500"/>
                  <a:pt x="14288" y="190500"/>
                </a:cubicBezTo>
                <a:cubicBezTo>
                  <a:pt x="22205" y="190500"/>
                  <a:pt x="28575" y="184130"/>
                  <a:pt x="28575" y="176212"/>
                </a:cubicBezTo>
                <a:lnTo>
                  <a:pt x="28575" y="152400"/>
                </a:lnTo>
                <a:close/>
                <a:moveTo>
                  <a:pt x="301526" y="120908"/>
                </a:moveTo>
                <a:cubicBezTo>
                  <a:pt x="299918" y="113169"/>
                  <a:pt x="292298" y="108228"/>
                  <a:pt x="284619" y="109895"/>
                </a:cubicBezTo>
                <a:cubicBezTo>
                  <a:pt x="276939" y="111562"/>
                  <a:pt x="271939" y="119122"/>
                  <a:pt x="273606" y="126802"/>
                </a:cubicBezTo>
                <a:cubicBezTo>
                  <a:pt x="275332" y="135076"/>
                  <a:pt x="276285" y="143649"/>
                  <a:pt x="276285" y="152460"/>
                </a:cubicBezTo>
                <a:lnTo>
                  <a:pt x="276285" y="176272"/>
                </a:lnTo>
                <a:cubicBezTo>
                  <a:pt x="276285" y="184190"/>
                  <a:pt x="282654" y="190560"/>
                  <a:pt x="290572" y="190560"/>
                </a:cubicBezTo>
                <a:cubicBezTo>
                  <a:pt x="298490" y="190560"/>
                  <a:pt x="304860" y="184190"/>
                  <a:pt x="304860" y="176272"/>
                </a:cubicBezTo>
                <a:lnTo>
                  <a:pt x="304860" y="152460"/>
                </a:lnTo>
                <a:cubicBezTo>
                  <a:pt x="304860" y="141684"/>
                  <a:pt x="303728" y="131147"/>
                  <a:pt x="301585" y="120968"/>
                </a:cubicBezTo>
                <a:close/>
                <a:moveTo>
                  <a:pt x="152400" y="47625"/>
                </a:moveTo>
                <a:cubicBezTo>
                  <a:pt x="141089" y="47625"/>
                  <a:pt x="130135" y="49411"/>
                  <a:pt x="119955" y="52745"/>
                </a:cubicBezTo>
                <a:cubicBezTo>
                  <a:pt x="110907" y="55721"/>
                  <a:pt x="108823" y="66854"/>
                  <a:pt x="115014" y="74116"/>
                </a:cubicBezTo>
                <a:cubicBezTo>
                  <a:pt x="119241" y="79058"/>
                  <a:pt x="126206" y="80546"/>
                  <a:pt x="132517" y="78819"/>
                </a:cubicBezTo>
                <a:cubicBezTo>
                  <a:pt x="138827" y="77093"/>
                  <a:pt x="145494" y="76200"/>
                  <a:pt x="152400" y="76200"/>
                </a:cubicBezTo>
                <a:cubicBezTo>
                  <a:pt x="194489" y="76200"/>
                  <a:pt x="228600" y="110311"/>
                  <a:pt x="228600" y="152400"/>
                </a:cubicBezTo>
                <a:lnTo>
                  <a:pt x="228600" y="167223"/>
                </a:lnTo>
                <a:cubicBezTo>
                  <a:pt x="228600" y="182225"/>
                  <a:pt x="227707" y="197167"/>
                  <a:pt x="225981" y="212050"/>
                </a:cubicBezTo>
                <a:cubicBezTo>
                  <a:pt x="224969" y="220742"/>
                  <a:pt x="231577" y="228600"/>
                  <a:pt x="240387" y="228600"/>
                </a:cubicBezTo>
                <a:cubicBezTo>
                  <a:pt x="247412" y="228600"/>
                  <a:pt x="253425" y="223480"/>
                  <a:pt x="254258" y="216515"/>
                </a:cubicBezTo>
                <a:cubicBezTo>
                  <a:pt x="256223" y="200204"/>
                  <a:pt x="257235" y="183773"/>
                  <a:pt x="257235" y="167283"/>
                </a:cubicBezTo>
                <a:lnTo>
                  <a:pt x="257235" y="152460"/>
                </a:lnTo>
                <a:cubicBezTo>
                  <a:pt x="257235" y="94595"/>
                  <a:pt x="210324" y="47685"/>
                  <a:pt x="152460" y="47685"/>
                </a:cubicBezTo>
                <a:close/>
                <a:moveTo>
                  <a:pt x="89714" y="88523"/>
                </a:moveTo>
                <a:cubicBezTo>
                  <a:pt x="84296" y="82213"/>
                  <a:pt x="74652" y="81736"/>
                  <a:pt x="69533" y="88285"/>
                </a:cubicBezTo>
                <a:cubicBezTo>
                  <a:pt x="55781" y="106025"/>
                  <a:pt x="47625" y="128230"/>
                  <a:pt x="47625" y="152400"/>
                </a:cubicBezTo>
                <a:lnTo>
                  <a:pt x="47625" y="167223"/>
                </a:lnTo>
                <a:cubicBezTo>
                  <a:pt x="47625" y="181630"/>
                  <a:pt x="46077" y="196036"/>
                  <a:pt x="42982" y="210026"/>
                </a:cubicBezTo>
                <a:cubicBezTo>
                  <a:pt x="40957" y="219313"/>
                  <a:pt x="47685" y="228540"/>
                  <a:pt x="57210" y="228540"/>
                </a:cubicBezTo>
                <a:cubicBezTo>
                  <a:pt x="63460" y="228540"/>
                  <a:pt x="69056" y="224373"/>
                  <a:pt x="70425" y="218242"/>
                </a:cubicBezTo>
                <a:cubicBezTo>
                  <a:pt x="74235" y="201513"/>
                  <a:pt x="76200" y="184428"/>
                  <a:pt x="76200" y="167164"/>
                </a:cubicBezTo>
                <a:lnTo>
                  <a:pt x="76200" y="152340"/>
                </a:lnTo>
                <a:cubicBezTo>
                  <a:pt x="76200" y="136148"/>
                  <a:pt x="81260" y="121146"/>
                  <a:pt x="89833" y="108823"/>
                </a:cubicBezTo>
                <a:cubicBezTo>
                  <a:pt x="94119" y="102632"/>
                  <a:pt x="94595" y="94178"/>
                  <a:pt x="89714" y="88463"/>
                </a:cubicBezTo>
                <a:close/>
                <a:moveTo>
                  <a:pt x="152400" y="95250"/>
                </a:moveTo>
                <a:cubicBezTo>
                  <a:pt x="120848" y="95250"/>
                  <a:pt x="95250" y="120848"/>
                  <a:pt x="95250" y="152400"/>
                </a:cubicBezTo>
                <a:lnTo>
                  <a:pt x="95250" y="167223"/>
                </a:lnTo>
                <a:cubicBezTo>
                  <a:pt x="95250" y="188595"/>
                  <a:pt x="92512" y="209788"/>
                  <a:pt x="87035" y="230386"/>
                </a:cubicBezTo>
                <a:cubicBezTo>
                  <a:pt x="84772" y="238899"/>
                  <a:pt x="91023" y="247650"/>
                  <a:pt x="99834" y="247650"/>
                </a:cubicBezTo>
                <a:cubicBezTo>
                  <a:pt x="105489" y="247650"/>
                  <a:pt x="110490" y="243959"/>
                  <a:pt x="111978" y="238482"/>
                </a:cubicBezTo>
                <a:cubicBezTo>
                  <a:pt x="118229" y="215265"/>
                  <a:pt x="121444" y="191333"/>
                  <a:pt x="121444" y="167223"/>
                </a:cubicBezTo>
                <a:lnTo>
                  <a:pt x="121444" y="152400"/>
                </a:lnTo>
                <a:cubicBezTo>
                  <a:pt x="121444" y="135315"/>
                  <a:pt x="135315" y="121444"/>
                  <a:pt x="152400" y="121444"/>
                </a:cubicBezTo>
                <a:cubicBezTo>
                  <a:pt x="169485" y="121444"/>
                  <a:pt x="183356" y="135315"/>
                  <a:pt x="183356" y="152400"/>
                </a:cubicBezTo>
                <a:lnTo>
                  <a:pt x="183356" y="167223"/>
                </a:lnTo>
                <a:cubicBezTo>
                  <a:pt x="183356" y="188833"/>
                  <a:pt x="181273" y="210324"/>
                  <a:pt x="177165" y="231458"/>
                </a:cubicBezTo>
                <a:cubicBezTo>
                  <a:pt x="175558" y="239732"/>
                  <a:pt x="181749" y="247650"/>
                  <a:pt x="190143" y="247650"/>
                </a:cubicBezTo>
                <a:cubicBezTo>
                  <a:pt x="196215" y="247650"/>
                  <a:pt x="201454" y="243483"/>
                  <a:pt x="202644" y="237530"/>
                </a:cubicBezTo>
                <a:cubicBezTo>
                  <a:pt x="207228" y="214432"/>
                  <a:pt x="209550" y="190917"/>
                  <a:pt x="209550" y="167223"/>
                </a:cubicBezTo>
                <a:lnTo>
                  <a:pt x="209550" y="152400"/>
                </a:lnTo>
                <a:cubicBezTo>
                  <a:pt x="209550" y="120848"/>
                  <a:pt x="183952" y="95250"/>
                  <a:pt x="152400" y="95250"/>
                </a:cubicBezTo>
                <a:close/>
                <a:moveTo>
                  <a:pt x="166688" y="152400"/>
                </a:moveTo>
                <a:cubicBezTo>
                  <a:pt x="166688" y="144482"/>
                  <a:pt x="160318" y="138113"/>
                  <a:pt x="152400" y="138113"/>
                </a:cubicBezTo>
                <a:cubicBezTo>
                  <a:pt x="144482" y="138113"/>
                  <a:pt x="138113" y="144482"/>
                  <a:pt x="138113" y="152400"/>
                </a:cubicBezTo>
                <a:lnTo>
                  <a:pt x="138113" y="167223"/>
                </a:lnTo>
                <a:cubicBezTo>
                  <a:pt x="138113" y="202882"/>
                  <a:pt x="131564" y="238244"/>
                  <a:pt x="118765" y="271522"/>
                </a:cubicBezTo>
                <a:lnTo>
                  <a:pt x="115253" y="280630"/>
                </a:lnTo>
                <a:cubicBezTo>
                  <a:pt x="112395" y="288012"/>
                  <a:pt x="116086" y="296287"/>
                  <a:pt x="123468" y="299085"/>
                </a:cubicBezTo>
                <a:cubicBezTo>
                  <a:pt x="130850" y="301883"/>
                  <a:pt x="139125" y="298252"/>
                  <a:pt x="141923" y="290870"/>
                </a:cubicBezTo>
                <a:lnTo>
                  <a:pt x="145435" y="281761"/>
                </a:lnTo>
                <a:cubicBezTo>
                  <a:pt x="159484" y="245209"/>
                  <a:pt x="166688" y="206395"/>
                  <a:pt x="166688" y="167223"/>
                </a:cubicBezTo>
                <a:lnTo>
                  <a:pt x="166688" y="1524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1778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serialVersionUID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identifier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Serializable classes. During deserialization, Java compares it to ensure class compatibility. Mismatch →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InvalidClassException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44800"/>
            <a:ext cx="70485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8538" y="3048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43738" y="-14734"/>
                </a:moveTo>
                <a:lnTo>
                  <a:pt x="151815" y="5348"/>
                </a:lnTo>
                <a:lnTo>
                  <a:pt x="171896" y="13424"/>
                </a:lnTo>
                <a:cubicBezTo>
                  <a:pt x="173534" y="14079"/>
                  <a:pt x="174625" y="15716"/>
                  <a:pt x="174625" y="17463"/>
                </a:cubicBezTo>
                <a:cubicBezTo>
                  <a:pt x="174625" y="19209"/>
                  <a:pt x="173534" y="20846"/>
                  <a:pt x="171896" y="21501"/>
                </a:cubicBezTo>
                <a:lnTo>
                  <a:pt x="151815" y="29577"/>
                </a:lnTo>
                <a:lnTo>
                  <a:pt x="143738" y="49659"/>
                </a:lnTo>
                <a:cubicBezTo>
                  <a:pt x="143083" y="51296"/>
                  <a:pt x="141446" y="52388"/>
                  <a:pt x="139700" y="52388"/>
                </a:cubicBezTo>
                <a:cubicBezTo>
                  <a:pt x="137954" y="52388"/>
                  <a:pt x="136317" y="51296"/>
                  <a:pt x="135662" y="49659"/>
                </a:cubicBezTo>
                <a:lnTo>
                  <a:pt x="127585" y="29577"/>
                </a:lnTo>
                <a:lnTo>
                  <a:pt x="107504" y="21501"/>
                </a:lnTo>
                <a:cubicBezTo>
                  <a:pt x="105866" y="20846"/>
                  <a:pt x="104775" y="19209"/>
                  <a:pt x="104775" y="17463"/>
                </a:cubicBezTo>
                <a:cubicBezTo>
                  <a:pt x="104775" y="15716"/>
                  <a:pt x="105866" y="14079"/>
                  <a:pt x="107504" y="13424"/>
                </a:cubicBezTo>
                <a:lnTo>
                  <a:pt x="127585" y="5348"/>
                </a:lnTo>
                <a:lnTo>
                  <a:pt x="135662" y="-14734"/>
                </a:lnTo>
                <a:cubicBezTo>
                  <a:pt x="136317" y="-16371"/>
                  <a:pt x="137954" y="-17462"/>
                  <a:pt x="139700" y="-17462"/>
                </a:cubicBezTo>
                <a:cubicBezTo>
                  <a:pt x="141446" y="-17462"/>
                  <a:pt x="143083" y="-16371"/>
                  <a:pt x="143738" y="-14734"/>
                </a:cubicBezTo>
                <a:close/>
                <a:moveTo>
                  <a:pt x="60409" y="22756"/>
                </a:moveTo>
                <a:lnTo>
                  <a:pt x="72142" y="50096"/>
                </a:lnTo>
                <a:lnTo>
                  <a:pt x="99482" y="61828"/>
                </a:lnTo>
                <a:cubicBezTo>
                  <a:pt x="102701" y="63192"/>
                  <a:pt x="104775" y="66358"/>
                  <a:pt x="104775" y="69850"/>
                </a:cubicBezTo>
                <a:cubicBezTo>
                  <a:pt x="104775" y="73342"/>
                  <a:pt x="102701" y="76508"/>
                  <a:pt x="99482" y="77872"/>
                </a:cubicBezTo>
                <a:lnTo>
                  <a:pt x="72142" y="89604"/>
                </a:lnTo>
                <a:lnTo>
                  <a:pt x="60409" y="116944"/>
                </a:lnTo>
                <a:cubicBezTo>
                  <a:pt x="59045" y="120164"/>
                  <a:pt x="55880" y="122237"/>
                  <a:pt x="52387" y="122237"/>
                </a:cubicBezTo>
                <a:cubicBezTo>
                  <a:pt x="48895" y="122237"/>
                  <a:pt x="45730" y="120164"/>
                  <a:pt x="44366" y="116944"/>
                </a:cubicBezTo>
                <a:lnTo>
                  <a:pt x="32633" y="89604"/>
                </a:lnTo>
                <a:lnTo>
                  <a:pt x="5293" y="77872"/>
                </a:lnTo>
                <a:cubicBezTo>
                  <a:pt x="2074" y="76508"/>
                  <a:pt x="0" y="73343"/>
                  <a:pt x="0" y="69850"/>
                </a:cubicBezTo>
                <a:cubicBezTo>
                  <a:pt x="0" y="66358"/>
                  <a:pt x="2074" y="63192"/>
                  <a:pt x="5293" y="61828"/>
                </a:cubicBezTo>
                <a:lnTo>
                  <a:pt x="32633" y="50096"/>
                </a:lnTo>
                <a:lnTo>
                  <a:pt x="44366" y="22756"/>
                </a:lnTo>
                <a:cubicBezTo>
                  <a:pt x="45730" y="19536"/>
                  <a:pt x="48895" y="17463"/>
                  <a:pt x="52388" y="17463"/>
                </a:cubicBezTo>
                <a:cubicBezTo>
                  <a:pt x="55880" y="17463"/>
                  <a:pt x="59045" y="19536"/>
                  <a:pt x="60409" y="22756"/>
                </a:cubicBezTo>
                <a:close/>
                <a:moveTo>
                  <a:pt x="253206" y="165894"/>
                </a:moveTo>
                <a:cubicBezTo>
                  <a:pt x="256699" y="165894"/>
                  <a:pt x="259864" y="167967"/>
                  <a:pt x="261228" y="171187"/>
                </a:cubicBezTo>
                <a:lnTo>
                  <a:pt x="272961" y="198527"/>
                </a:lnTo>
                <a:lnTo>
                  <a:pt x="300300" y="210259"/>
                </a:lnTo>
                <a:cubicBezTo>
                  <a:pt x="303520" y="211624"/>
                  <a:pt x="305594" y="214789"/>
                  <a:pt x="305594" y="218281"/>
                </a:cubicBezTo>
                <a:cubicBezTo>
                  <a:pt x="305594" y="221774"/>
                  <a:pt x="303520" y="224939"/>
                  <a:pt x="300300" y="226303"/>
                </a:cubicBezTo>
                <a:lnTo>
                  <a:pt x="272961" y="238036"/>
                </a:lnTo>
                <a:lnTo>
                  <a:pt x="261228" y="265375"/>
                </a:lnTo>
                <a:cubicBezTo>
                  <a:pt x="259864" y="268595"/>
                  <a:pt x="256699" y="270669"/>
                  <a:pt x="253206" y="270669"/>
                </a:cubicBezTo>
                <a:cubicBezTo>
                  <a:pt x="249714" y="270669"/>
                  <a:pt x="246549" y="268595"/>
                  <a:pt x="245184" y="265375"/>
                </a:cubicBezTo>
                <a:lnTo>
                  <a:pt x="233452" y="238036"/>
                </a:lnTo>
                <a:lnTo>
                  <a:pt x="206112" y="226303"/>
                </a:lnTo>
                <a:cubicBezTo>
                  <a:pt x="202892" y="224939"/>
                  <a:pt x="200819" y="221774"/>
                  <a:pt x="200819" y="218281"/>
                </a:cubicBezTo>
                <a:cubicBezTo>
                  <a:pt x="200819" y="214789"/>
                  <a:pt x="202892" y="211624"/>
                  <a:pt x="206112" y="210259"/>
                </a:cubicBezTo>
                <a:lnTo>
                  <a:pt x="233452" y="198527"/>
                </a:lnTo>
                <a:lnTo>
                  <a:pt x="245184" y="171187"/>
                </a:lnTo>
                <a:cubicBezTo>
                  <a:pt x="246549" y="167967"/>
                  <a:pt x="249714" y="165894"/>
                  <a:pt x="253206" y="165894"/>
                </a:cubicBezTo>
                <a:close/>
                <a:moveTo>
                  <a:pt x="251023" y="0"/>
                </a:moveTo>
                <a:cubicBezTo>
                  <a:pt x="257026" y="0"/>
                  <a:pt x="262811" y="2401"/>
                  <a:pt x="267122" y="6658"/>
                </a:cubicBezTo>
                <a:lnTo>
                  <a:pt x="290205" y="29741"/>
                </a:lnTo>
                <a:cubicBezTo>
                  <a:pt x="294461" y="34052"/>
                  <a:pt x="296863" y="39836"/>
                  <a:pt x="296863" y="45839"/>
                </a:cubicBezTo>
                <a:cubicBezTo>
                  <a:pt x="296863" y="51842"/>
                  <a:pt x="294461" y="57626"/>
                  <a:pt x="290205" y="61937"/>
                </a:cubicBezTo>
                <a:lnTo>
                  <a:pt x="242074" y="110068"/>
                </a:lnTo>
                <a:lnTo>
                  <a:pt x="186794" y="54789"/>
                </a:lnTo>
                <a:lnTo>
                  <a:pt x="234925" y="6658"/>
                </a:lnTo>
                <a:cubicBezTo>
                  <a:pt x="239236" y="2401"/>
                  <a:pt x="245021" y="0"/>
                  <a:pt x="251023" y="0"/>
                </a:cubicBezTo>
                <a:close/>
                <a:moveTo>
                  <a:pt x="24120" y="217463"/>
                </a:moveTo>
                <a:lnTo>
                  <a:pt x="168295" y="73288"/>
                </a:lnTo>
                <a:lnTo>
                  <a:pt x="223575" y="128568"/>
                </a:lnTo>
                <a:lnTo>
                  <a:pt x="79400" y="272742"/>
                </a:lnTo>
                <a:cubicBezTo>
                  <a:pt x="75089" y="276999"/>
                  <a:pt x="69304" y="279400"/>
                  <a:pt x="63302" y="279400"/>
                </a:cubicBezTo>
                <a:cubicBezTo>
                  <a:pt x="57299" y="279400"/>
                  <a:pt x="51514" y="276999"/>
                  <a:pt x="47203" y="272742"/>
                </a:cubicBezTo>
                <a:lnTo>
                  <a:pt x="24120" y="249659"/>
                </a:lnTo>
                <a:cubicBezTo>
                  <a:pt x="19864" y="245348"/>
                  <a:pt x="17463" y="239564"/>
                  <a:pt x="17463" y="233561"/>
                </a:cubicBezTo>
                <a:cubicBezTo>
                  <a:pt x="17463" y="227558"/>
                  <a:pt x="19864" y="221774"/>
                  <a:pt x="24120" y="217463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" y="3022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Auto-Generated UID (Risky!)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479800"/>
            <a:ext cx="6540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not declared, Java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UID based on class structure: class name, fields, methods, interfaces.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Any class change (even adding a method) changes the auto-UID, breaking deserialization of existing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4500" y="2844800"/>
            <a:ext cx="7429500" cy="254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3425" y="30480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36371" y="36453"/>
                </a:moveTo>
                <a:cubicBezTo>
                  <a:pt x="142047" y="28649"/>
                  <a:pt x="140300" y="17735"/>
                  <a:pt x="132497" y="12060"/>
                </a:cubicBezTo>
                <a:cubicBezTo>
                  <a:pt x="124693" y="6385"/>
                  <a:pt x="113779" y="8131"/>
                  <a:pt x="108104" y="15935"/>
                </a:cubicBezTo>
                <a:lnTo>
                  <a:pt x="50259" y="95443"/>
                </a:lnTo>
                <a:lnTo>
                  <a:pt x="29795" y="74980"/>
                </a:lnTo>
                <a:cubicBezTo>
                  <a:pt x="22974" y="68158"/>
                  <a:pt x="11896" y="68158"/>
                  <a:pt x="5075" y="74980"/>
                </a:cubicBezTo>
                <a:cubicBezTo>
                  <a:pt x="-1746" y="81801"/>
                  <a:pt x="-1746" y="92879"/>
                  <a:pt x="5075" y="99700"/>
                </a:cubicBezTo>
                <a:lnTo>
                  <a:pt x="40000" y="134625"/>
                </a:lnTo>
                <a:cubicBezTo>
                  <a:pt x="43602" y="138227"/>
                  <a:pt x="48622" y="140082"/>
                  <a:pt x="53697" y="139700"/>
                </a:cubicBezTo>
                <a:cubicBezTo>
                  <a:pt x="58772" y="139318"/>
                  <a:pt x="63465" y="136699"/>
                  <a:pt x="66467" y="132551"/>
                </a:cubicBezTo>
                <a:lnTo>
                  <a:pt x="136317" y="36508"/>
                </a:lnTo>
                <a:close/>
                <a:moveTo>
                  <a:pt x="206221" y="110669"/>
                </a:moveTo>
                <a:cubicBezTo>
                  <a:pt x="211897" y="102865"/>
                  <a:pt x="210150" y="91951"/>
                  <a:pt x="202347" y="86276"/>
                </a:cubicBezTo>
                <a:cubicBezTo>
                  <a:pt x="194543" y="80600"/>
                  <a:pt x="183629" y="82347"/>
                  <a:pt x="177954" y="90150"/>
                </a:cubicBezTo>
                <a:lnTo>
                  <a:pt x="85184" y="217681"/>
                </a:lnTo>
                <a:lnTo>
                  <a:pt x="47258" y="179755"/>
                </a:lnTo>
                <a:cubicBezTo>
                  <a:pt x="40437" y="172933"/>
                  <a:pt x="29359" y="172933"/>
                  <a:pt x="22538" y="179755"/>
                </a:cubicBezTo>
                <a:cubicBezTo>
                  <a:pt x="15716" y="186576"/>
                  <a:pt x="15716" y="197654"/>
                  <a:pt x="22538" y="204475"/>
                </a:cubicBezTo>
                <a:lnTo>
                  <a:pt x="74925" y="256862"/>
                </a:lnTo>
                <a:cubicBezTo>
                  <a:pt x="78527" y="260464"/>
                  <a:pt x="83547" y="262319"/>
                  <a:pt x="88622" y="261938"/>
                </a:cubicBezTo>
                <a:cubicBezTo>
                  <a:pt x="93697" y="261556"/>
                  <a:pt x="98390" y="258936"/>
                  <a:pt x="101392" y="254789"/>
                </a:cubicBezTo>
                <a:lnTo>
                  <a:pt x="206167" y="110723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699500" y="3022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UID (Best Practice)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8500" y="3479800"/>
            <a:ext cx="692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explicitly declare a stable UID: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static final long serialVersionUID = 1L;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control version compatibility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Safe to add new fields (compatible change)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664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Change serialVersionUID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172200"/>
            <a:ext cx="7048500" cy="1778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750" y="6375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27335" y="36413"/>
                </a:moveTo>
                <a:cubicBezTo>
                  <a:pt x="21134" y="30212"/>
                  <a:pt x="11063" y="30212"/>
                  <a:pt x="4862" y="36413"/>
                </a:cubicBezTo>
                <a:cubicBezTo>
                  <a:pt x="-1339" y="42614"/>
                  <a:pt x="-1339" y="52685"/>
                  <a:pt x="4862" y="58886"/>
                </a:cubicBezTo>
                <a:lnTo>
                  <a:pt x="73025" y="127000"/>
                </a:lnTo>
                <a:lnTo>
                  <a:pt x="4911" y="195163"/>
                </a:lnTo>
                <a:cubicBezTo>
                  <a:pt x="-1290" y="201364"/>
                  <a:pt x="-1290" y="211435"/>
                  <a:pt x="4911" y="217636"/>
                </a:cubicBezTo>
                <a:cubicBezTo>
                  <a:pt x="11113" y="223838"/>
                  <a:pt x="21183" y="223838"/>
                  <a:pt x="27384" y="217636"/>
                </a:cubicBezTo>
                <a:lnTo>
                  <a:pt x="95498" y="149473"/>
                </a:lnTo>
                <a:lnTo>
                  <a:pt x="163661" y="217587"/>
                </a:lnTo>
                <a:cubicBezTo>
                  <a:pt x="169863" y="223788"/>
                  <a:pt x="179933" y="223788"/>
                  <a:pt x="186134" y="217587"/>
                </a:cubicBezTo>
                <a:cubicBezTo>
                  <a:pt x="192336" y="211386"/>
                  <a:pt x="192336" y="201315"/>
                  <a:pt x="186134" y="195114"/>
                </a:cubicBezTo>
                <a:lnTo>
                  <a:pt x="117971" y="127000"/>
                </a:lnTo>
                <a:lnTo>
                  <a:pt x="186085" y="58837"/>
                </a:lnTo>
                <a:cubicBezTo>
                  <a:pt x="192286" y="52636"/>
                  <a:pt x="192286" y="42565"/>
                  <a:pt x="186085" y="36364"/>
                </a:cubicBezTo>
                <a:cubicBezTo>
                  <a:pt x="179884" y="30163"/>
                  <a:pt x="169813" y="30163"/>
                  <a:pt x="163612" y="36364"/>
                </a:cubicBezTo>
                <a:lnTo>
                  <a:pt x="95498" y="104527"/>
                </a:lnTo>
                <a:lnTo>
                  <a:pt x="27335" y="36413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635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Incompatible Changes (Change UID)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7564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Removing fields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Changing field types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Changing class hierarchy (superclass)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4500" y="6172200"/>
            <a:ext cx="7429500" cy="1778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4375" y="6375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8674100" y="635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Compatible Changes (Keep UID)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18500" y="6756400"/>
            <a:ext cx="692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Adding new fields (get default values)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Adding classes to the class hierarchy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Adding/removing methods (not serialized)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Serialization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provides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hooks for custom serialization logic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implementing Externalizable. These private methods give you control while keeping the simplicity of Serializable.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7239000" cy="3378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432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WRITE OBJECT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9972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225800"/>
            <a:ext cx="673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writeObject(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ObjectOutputStream oos)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oos.defaultWriteObject();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Add custom logic here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oos.writeObject(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encrypt(sensitiveField));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0" y="2667000"/>
            <a:ext cx="7239000" cy="368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7432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READ OBJECT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9000" y="2997200"/>
            <a:ext cx="673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3225800"/>
            <a:ext cx="673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readObject(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ObjectInputStream ois)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IOException,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ClassNotFoundException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ois.defaultReadObject();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Restore custom data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sensitiveField = decrypt(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(String) ois.readObject());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6299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858000"/>
            <a:ext cx="101600" cy="10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7818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Encrypting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sensitive fields before writing to the stream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239000"/>
            <a:ext cx="101600" cy="101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71628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Validating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deserialized data before accepting it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620000"/>
            <a:ext cx="101600" cy="1016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5438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non-serializable fields with custom conversion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001000"/>
            <a:ext cx="101600" cy="1016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79248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Computing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derived values after deserialization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Externalizable Interface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8288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Externalizable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extends Serializable and provides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programmer control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serialization. Unlike Serializable (JVM-controlled), you implement two methods to define exactly what gets saved and how.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971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Requirements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798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5200" y="36068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2400" y="3581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must implement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Externalizable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34798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7400" y="3606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6200" y="3581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writeExternal()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readExternal()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3479800"/>
            <a:ext cx="4826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20400" y="3606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79200" y="35814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no-arg constructor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(required for deserialization)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800600"/>
            <a:ext cx="14732000" cy="355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927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EXTERNALIZABLE INTERFACE SIGNATURE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5232400"/>
            <a:ext cx="14224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359400"/>
            <a:ext cx="1422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interface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Externalizable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Serializable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Called during serialization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writeExternal(ObjectOutput out)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Called during deserialization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readExternal(ObjectInput in)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IOException, ClassNotFoundException;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Externalization in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14732000" cy="5334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28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EXTERNALIZABLE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133600"/>
            <a:ext cx="14224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260600"/>
            <a:ext cx="1422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Externalizable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name, ssn;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int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Employee() {}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req'd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@Override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writeExternal(ObjectOutput out)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out.writeObject(name);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out.writeInt(age);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ssn excluded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@Override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readExternal(ObjectInput in)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IOException, ClassNotFoundException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(String) in.readObject();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in.readInt();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ssn =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excluded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0358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728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473200" y="71628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 from Serializable: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choose exactly which fields to serialize and in what format. Can save partial objects for performance. The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has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effect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Externalizable classes.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 vs Externalization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01800"/>
          <a:ext cx="14732000" cy="6350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0396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Serializable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Externalizable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Marker interface (no methods)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Two methods: writeExternal() &amp; readExternal()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JVM-controlled serialization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Programmer-controlled serialization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Slower — uses reflection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Faster — no reflection overhead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Constructor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constructor called during deserialization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no-arg constructor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transient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Respected — fields excluded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Ignored — has no effect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Entire object saved automatically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Save partial object — full 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— just implement interface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code — implement both methods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object persistence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Performance-critical custom logic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8128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</a:t>
            </a:r>
            <a:pPr>
              <a:lnSpc>
                <a:spcPct val="100000"/>
              </a:lnSpc>
            </a:pPr>
            <a:r>
              <a:rPr lang="en-US" sz="1200" u="sng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 — Serializable vs Externalizable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 Best Practices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8288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2400" y="1854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Declare serialVersionUID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2260600"/>
            <a:ext cx="4292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explicitly declare to ensure version compatibility and prevent InvalidClassException.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7018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8200" y="18542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5400" y="1854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transient for Sensitive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18200" y="2286000"/>
            <a:ext cx="429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 passwords, keys, and tokens as transient to prevent them from being serialized.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7018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71200" y="18542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28400" y="18542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writeObject / readObject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71200" y="2286000"/>
            <a:ext cx="4419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custom methods for validation, encryption, and handling non-serializable fields.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4798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200" y="36322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2400" y="3632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Serialization Proxies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" y="4064000"/>
            <a:ext cx="429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writeReplace() and readResolve() for immutable classes to enhance security.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4798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8200" y="36322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5400" y="3632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Aware of Security Risks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18200" y="4064000"/>
            <a:ext cx="429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Deserialization of untrusted data can be exploited. Validate all input and use whitelists.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4798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71200" y="3632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28400" y="36322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Cross-Language Formats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71200" y="4064000"/>
            <a:ext cx="4419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interoperability, prefer JSON, XML, Protocol Buffers, or Avro over Java serialization.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257800"/>
            <a:ext cx="7239000" cy="127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6000" y="558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43656"/>
                </a:moveTo>
                <a:cubicBezTo>
                  <a:pt x="0" y="29195"/>
                  <a:pt x="11733" y="17463"/>
                  <a:pt x="26194" y="17463"/>
                </a:cubicBezTo>
                <a:lnTo>
                  <a:pt x="78581" y="17463"/>
                </a:lnTo>
                <a:cubicBezTo>
                  <a:pt x="93042" y="17463"/>
                  <a:pt x="104775" y="29195"/>
                  <a:pt x="104775" y="43656"/>
                </a:cubicBezTo>
                <a:lnTo>
                  <a:pt x="104775" y="52388"/>
                </a:lnTo>
                <a:lnTo>
                  <a:pt x="174625" y="52388"/>
                </a:lnTo>
                <a:lnTo>
                  <a:pt x="174625" y="43656"/>
                </a:lnTo>
                <a:cubicBezTo>
                  <a:pt x="174625" y="29195"/>
                  <a:pt x="186358" y="17463"/>
                  <a:pt x="200819" y="17463"/>
                </a:cubicBezTo>
                <a:lnTo>
                  <a:pt x="253206" y="17463"/>
                </a:lnTo>
                <a:cubicBezTo>
                  <a:pt x="267667" y="17463"/>
                  <a:pt x="279400" y="29195"/>
                  <a:pt x="279400" y="43656"/>
                </a:cubicBezTo>
                <a:lnTo>
                  <a:pt x="279400" y="96044"/>
                </a:lnTo>
                <a:cubicBezTo>
                  <a:pt x="279400" y="110505"/>
                  <a:pt x="267667" y="122238"/>
                  <a:pt x="253206" y="122238"/>
                </a:cubicBezTo>
                <a:lnTo>
                  <a:pt x="200819" y="122238"/>
                </a:lnTo>
                <a:cubicBezTo>
                  <a:pt x="186358" y="122238"/>
                  <a:pt x="174625" y="110505"/>
                  <a:pt x="174625" y="96044"/>
                </a:cubicBezTo>
                <a:lnTo>
                  <a:pt x="174625" y="87313"/>
                </a:lnTo>
                <a:lnTo>
                  <a:pt x="104775" y="87313"/>
                </a:lnTo>
                <a:lnTo>
                  <a:pt x="104775" y="96044"/>
                </a:lnTo>
                <a:cubicBezTo>
                  <a:pt x="104775" y="100027"/>
                  <a:pt x="103847" y="103847"/>
                  <a:pt x="102265" y="107231"/>
                </a:cubicBezTo>
                <a:lnTo>
                  <a:pt x="139700" y="157163"/>
                </a:lnTo>
                <a:lnTo>
                  <a:pt x="183356" y="157163"/>
                </a:lnTo>
                <a:cubicBezTo>
                  <a:pt x="197817" y="157163"/>
                  <a:pt x="209550" y="168895"/>
                  <a:pt x="209550" y="183356"/>
                </a:cubicBezTo>
                <a:lnTo>
                  <a:pt x="209550" y="235744"/>
                </a:lnTo>
                <a:cubicBezTo>
                  <a:pt x="209550" y="250205"/>
                  <a:pt x="197817" y="261938"/>
                  <a:pt x="183356" y="261938"/>
                </a:cubicBezTo>
                <a:lnTo>
                  <a:pt x="130969" y="261938"/>
                </a:lnTo>
                <a:cubicBezTo>
                  <a:pt x="116508" y="261938"/>
                  <a:pt x="104775" y="250205"/>
                  <a:pt x="104775" y="235744"/>
                </a:cubicBezTo>
                <a:lnTo>
                  <a:pt x="104775" y="183356"/>
                </a:lnTo>
                <a:cubicBezTo>
                  <a:pt x="104775" y="179373"/>
                  <a:pt x="105703" y="175553"/>
                  <a:pt x="107285" y="172169"/>
                </a:cubicBezTo>
                <a:lnTo>
                  <a:pt x="69850" y="122238"/>
                </a:lnTo>
                <a:lnTo>
                  <a:pt x="26194" y="122238"/>
                </a:lnTo>
                <a:cubicBezTo>
                  <a:pt x="11733" y="122238"/>
                  <a:pt x="0" y="110505"/>
                  <a:pt x="0" y="96044"/>
                </a:cubicBezTo>
                <a:lnTo>
                  <a:pt x="0" y="43656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1422400" y="5410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Object Graphs Simple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57658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nested objects increase serialization overhead and memory usage. Flatten when possible.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5000" y="5257800"/>
            <a:ext cx="7239000" cy="127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9000" y="558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86958" y="5130"/>
                </a:moveTo>
                <a:cubicBezTo>
                  <a:pt x="180137" y="-1692"/>
                  <a:pt x="169059" y="-1692"/>
                  <a:pt x="162238" y="5130"/>
                </a:cubicBezTo>
                <a:cubicBezTo>
                  <a:pt x="155416" y="11951"/>
                  <a:pt x="155416" y="23029"/>
                  <a:pt x="162238" y="29850"/>
                </a:cubicBezTo>
                <a:lnTo>
                  <a:pt x="167367" y="34925"/>
                </a:lnTo>
                <a:lnTo>
                  <a:pt x="15334" y="186958"/>
                </a:lnTo>
                <a:cubicBezTo>
                  <a:pt x="5512" y="196781"/>
                  <a:pt x="0" y="210096"/>
                  <a:pt x="0" y="224011"/>
                </a:cubicBezTo>
                <a:lnTo>
                  <a:pt x="0" y="227013"/>
                </a:lnTo>
                <a:cubicBezTo>
                  <a:pt x="0" y="255935"/>
                  <a:pt x="23465" y="279400"/>
                  <a:pt x="52388" y="279400"/>
                </a:cubicBezTo>
                <a:lnTo>
                  <a:pt x="55389" y="279400"/>
                </a:lnTo>
                <a:cubicBezTo>
                  <a:pt x="69304" y="279400"/>
                  <a:pt x="82619" y="273888"/>
                  <a:pt x="92442" y="264066"/>
                </a:cubicBezTo>
                <a:lnTo>
                  <a:pt x="244475" y="112033"/>
                </a:lnTo>
                <a:lnTo>
                  <a:pt x="249605" y="117162"/>
                </a:lnTo>
                <a:cubicBezTo>
                  <a:pt x="256426" y="123984"/>
                  <a:pt x="267504" y="123984"/>
                  <a:pt x="274325" y="117162"/>
                </a:cubicBezTo>
                <a:cubicBezTo>
                  <a:pt x="281146" y="110341"/>
                  <a:pt x="281146" y="99263"/>
                  <a:pt x="274325" y="92442"/>
                </a:cubicBezTo>
                <a:lnTo>
                  <a:pt x="187012" y="5130"/>
                </a:lnTo>
                <a:close/>
                <a:moveTo>
                  <a:pt x="112033" y="139700"/>
                </a:moveTo>
                <a:lnTo>
                  <a:pt x="192088" y="59645"/>
                </a:lnTo>
                <a:lnTo>
                  <a:pt x="219755" y="87313"/>
                </a:lnTo>
                <a:lnTo>
                  <a:pt x="167367" y="139700"/>
                </a:lnTo>
                <a:lnTo>
                  <a:pt x="111978" y="139700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8915400" y="5410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Serialization Round-Trips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09000" y="5765800"/>
            <a:ext cx="673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unit tests that serialize and deserialize objects, then verify fields match the originals.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68072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6000" y="713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1422400" y="698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Warning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6000" y="74168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serialization has known security vulnerabilities. Never deserialize untrusted data. Consider using safer alternatives like JSON for data exchange between systems.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12 · Object Serialization &amp; Externalization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6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704850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018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11: FILE AND I/O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3680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class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metadata and path operations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 streams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(InputStream/OutputStream) for binary data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 streams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(Reader/Writer) for Unicode text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 streams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10-50x performance gain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Decorator pattern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flexible stream composition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Try-with-resources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automatic cleanup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Data/Object streams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structured I/O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701800"/>
            <a:ext cx="7048500" cy="4572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445500" y="17018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12: SERIALIZATION &amp; EXTERNALIZATION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45500" y="233680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Serialization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converts objects to byte streams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marker interface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transient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excludes fields from serialization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serialVersionUID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manages version compatibility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methods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fine-grained control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Externalizable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gives full control + better performance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never deserialize untrusted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715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6222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4100" y="5943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1473200" y="581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EE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2992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tool for your I/O and persistence needs. Understand the trade-offs between simplicity, performance, and control.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7035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5438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75438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I/O?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02000" y="7772400"/>
            <a:ext cx="508000" cy="0"/>
          </a:xfrm>
          <a:prstGeom prst="straightConnector1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810000" y="75438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3810000" y="75438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or Binary?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0000" y="7772400"/>
            <a:ext cx="508000" cy="0"/>
          </a:xfrm>
          <a:prstGeom prst="straightConnector1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858000" y="75438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75438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Objects?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98000" y="77724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9906000" y="75438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75438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or Fast?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446000" y="7772400"/>
            <a:ext cx="508000" cy="0"/>
          </a:xfrm>
          <a:prstGeom prst="straightConnector1">
            <a:avLst/>
          </a:prstGeom>
          <a:noFill/>
          <a:ln w="25400">
            <a:solidFill>
              <a:srgbClr val="0F172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2954000" y="75438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0" y="75438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Serializable vs Ext.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Summary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57200"/>
            <a:ext cx="101600" cy="30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4572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47800"/>
            <a:ext cx="14732000" cy="25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018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803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2400" y="1828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Buffered File Copy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2286000"/>
            <a:ext cx="660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a program to copy a text file using buffered character streams. Measure and compare performance vs unbuffered approach.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7018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8700" y="1803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05900" y="1828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Student Serialization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8700" y="2286000"/>
            <a:ext cx="660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Student class with name, ID, GPA, and password. Serialize it ensuring the password field is not saved to disk.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528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200" y="3454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2400" y="3479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Externalizable Student Class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3937000"/>
            <a:ext cx="660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the same Student class using Externalizable. Only serialize name and ID fields. Exclude GPA and password entirely.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5500" y="33528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8700" y="3454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05900" y="3479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serialVersionUID Experiment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48700" y="3937000"/>
            <a:ext cx="660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a new field to a serialized class. Observe the effect with and without an explicit serialVersionUID declaration.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003800"/>
            <a:ext cx="14732000" cy="1397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65200" y="5105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22400" y="5130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Book with Object Serialization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5200" y="55880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CFB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simple address book application that can save and load contacts using Object serialization. Include add, delete, list, and save/load functionality.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76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Submission Guidelines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72390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try-with-resources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stream operations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76200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Include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explaining your design choices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0010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76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edge cases: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empty files, null values, large data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45500" y="72390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 all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gracefully with meaningful messages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45500" y="7620000"/>
            <a:ext cx="704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Submit as a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ZIP file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source code and README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· Practice Exercises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bsqqgvqxcu4y/mnt/agents/output/acp_week6/images/2_Minimal_abstract_geometric_backgroun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72A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8000" y="2794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8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75500" y="3810000"/>
            <a:ext cx="1905000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3683000" y="4064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 — Week 6 Complete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18000" y="482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EEA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70000" y="8382000"/>
            <a:ext cx="13716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1270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Academic Year · Advanced Computer Programming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6</dc:title>
  <dc:subject>Advanced Computer Programming - Week 6</dc:subject>
  <dc:creator>Kimi</dc:creator>
  <cp:lastModifiedBy>Kimi</cp:lastModifiedBy>
  <cp:revision>1</cp:revision>
  <dcterms:created xsi:type="dcterms:W3CDTF">2026-05-25T17:20:51Z</dcterms:created>
  <dcterms:modified xsi:type="dcterms:W3CDTF">2026-05-25T17:20:51Z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6","ContentProducer":"001191110108MACG2KBH8F10000","ProduceID":"19e601b6-10c2-8f1f-8000-000000b47673","ReservedCode1":"","ContentPropagator":"001191110108MACG2KBH8F20000","PropagateID":"19e601b6-10c2-8f1f-8000-000000b47673","ReservedCode2":""}</vt:lpwstr>
  </property>
</Properties>
</file>