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540000"/>
            <a:ext cx="1270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11: Deleting Records, Meta Data &amp; JDBC Revision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Programming with JDBC — Lecture 21 &amp; 22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969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Science Course · Database Programming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21: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Deleting Records &amp; Meta 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operations · DatabaseMetaData · ResultSetMetaData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000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22: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JDBC Revision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Drivers · Connection · Statement · ResultSet · Transactions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57150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Lecture 22 includes definition, real-world example, and code example for each JDBC topic.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794000"/>
            <a:ext cx="1016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21: Deleting Records &amp; Meta Data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Mastering data removal operations and exploring database structure programmatically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Deleting Records: An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Delete Data?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Remove obsolete or incorrect records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Maintain data quality and relevance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Comply with data retention policies (e.g., GDPR)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Free up storage space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Considerations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before deletion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data loss is irreversible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Understand cascade effects on related tables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Always use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clause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limit scope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Verify the number of rows affected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Test deletion logic in a safe environment first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350000" cy="2540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9017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0" y="2286000"/>
            <a:ext cx="495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Warning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017000" y="2857500"/>
            <a:ext cx="558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Deleting without a WHERE clause removes ALL rows from a table. This operation is irreversible without a backup. Always double-check your DELETE statements before execution.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36000" y="4953000"/>
            <a:ext cx="6350000" cy="2921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017000" y="520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5207000"/>
            <a:ext cx="495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017000" y="5842000"/>
            <a:ext cx="558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 running DELETE, execute the same query with SELECT to preview which rows will be affected: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table WHERE condition;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DELETE Statement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2413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 </a:t>
            </a:r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condition;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3746500"/>
            <a:ext cx="660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 of DELETE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DML operation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can be rolled back in transactions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Row-level operation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deletes specific rows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Triggers may fire on deletion (if defined)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Foreign key constraints can prevent deletion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Returns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of rows deleted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WHERE Clause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 from the table — equivalent to TRUNCATE but slower and logged row-by-row.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3746500"/>
            <a:ext cx="6604000" cy="4191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JDBC 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63000" y="4318000"/>
            <a:ext cx="584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Delete a specific employee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"DELETE FROM employees 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"WHERE emp_id = ?"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(PreparedStatement ps =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conn.prepareStatement(sql))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ps.setInt(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employeeId);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 = ps.executeUpdate();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System.out.println(rows +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rows deleted"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with WHERE Clause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Conditions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3556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ID: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FROM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employees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emp_id = 101;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Date Range: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FROM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order_date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&lt; '2023-01-01';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Conditions: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FROM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stock = 0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discontinued = 1;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0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921500" y="2159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Using Subqueries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0" y="2794000"/>
            <a:ext cx="3556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with IN: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FROM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employees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dept_id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id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departments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loc = 'Closed');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with EXISTS: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FROM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orders o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EXISTS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cancelled c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c.order_id = o.id);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96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1049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0" y="2159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Safe Practices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049000" y="2794000"/>
            <a:ext cx="3556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Preview First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 SELECT with same WHERE before DELETE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Use Transactions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 in transaction for ROLLBACK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Limit Deletions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LIMIT: DELETE ... LIMIT 100;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Parameterized Queries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PreparedStatement (anti-injection)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vs TRUNCATE vs DROP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6990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3566160"/>
                <a:gridCol w="3566160"/>
              </a:tblGrid>
              <a:tr h="6578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DELETE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TRUNCATE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DROP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DML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DDL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DDL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Specific rows (WHERE)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rows only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Entire table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Rollback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(most DBs)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Triggers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 not fire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 (row-by-row)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19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Identity Reset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985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7112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of Thumb: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selective removal · Use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TRUNCATE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empty a table · Use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remove the table entirely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Constraints &amp; Foreign Keys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DELETE Behaviors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CASCADE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deletes child rows when parent is deleted. Use when child data has no meaning without parent.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NULL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 the foreign key column to NULL. Use when child records should remain but lose the relationship.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RESTRICT / NO ACTION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deletion if child rows exist (default). Safest option — forces explicit handling of dependencies.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DEFAULT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 FK to its default value. Rarely used in practice.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17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" y="-12700"/>
                </a:moveTo>
                <a:cubicBezTo>
                  <a:pt x="6795" y="-12700"/>
                  <a:pt x="0" y="-4207"/>
                  <a:pt x="0" y="6350"/>
                </a:cubicBezTo>
                <a:cubicBezTo>
                  <a:pt x="0" y="16907"/>
                  <a:pt x="6795" y="25400"/>
                  <a:pt x="15240" y="25400"/>
                </a:cubicBezTo>
                <a:lnTo>
                  <a:pt x="44006" y="25400"/>
                </a:lnTo>
                <a:cubicBezTo>
                  <a:pt x="46482" y="25400"/>
                  <a:pt x="48578" y="27622"/>
                  <a:pt x="49022" y="30639"/>
                </a:cubicBezTo>
                <a:lnTo>
                  <a:pt x="82106" y="257889"/>
                </a:lnTo>
                <a:cubicBezTo>
                  <a:pt x="86043" y="285036"/>
                  <a:pt x="104966" y="304800"/>
                  <a:pt x="127064" y="304800"/>
                </a:cubicBezTo>
                <a:lnTo>
                  <a:pt x="289560" y="304800"/>
                </a:lnTo>
                <a:cubicBezTo>
                  <a:pt x="298006" y="304800"/>
                  <a:pt x="304800" y="296307"/>
                  <a:pt x="304800" y="285750"/>
                </a:cubicBezTo>
                <a:cubicBezTo>
                  <a:pt x="304800" y="275193"/>
                  <a:pt x="298006" y="266700"/>
                  <a:pt x="289560" y="266700"/>
                </a:cubicBezTo>
                <a:lnTo>
                  <a:pt x="127064" y="266700"/>
                </a:lnTo>
                <a:cubicBezTo>
                  <a:pt x="119698" y="266700"/>
                  <a:pt x="113411" y="260112"/>
                  <a:pt x="112078" y="251063"/>
                </a:cubicBezTo>
                <a:lnTo>
                  <a:pt x="108839" y="228600"/>
                </a:lnTo>
                <a:lnTo>
                  <a:pt x="301625" y="228600"/>
                </a:lnTo>
                <a:cubicBezTo>
                  <a:pt x="321183" y="228600"/>
                  <a:pt x="337947" y="211217"/>
                  <a:pt x="341567" y="187166"/>
                </a:cubicBezTo>
                <a:lnTo>
                  <a:pt x="361252" y="55483"/>
                </a:lnTo>
                <a:cubicBezTo>
                  <a:pt x="363601" y="39846"/>
                  <a:pt x="354013" y="25400"/>
                  <a:pt x="341249" y="25400"/>
                </a:cubicBezTo>
                <a:lnTo>
                  <a:pt x="79185" y="25400"/>
                </a:lnTo>
                <a:lnTo>
                  <a:pt x="78931" y="23813"/>
                </a:lnTo>
                <a:cubicBezTo>
                  <a:pt x="75883" y="2699"/>
                  <a:pt x="61150" y="-12700"/>
                  <a:pt x="43942" y="-12700"/>
                </a:cubicBezTo>
                <a:lnTo>
                  <a:pt x="15240" y="-12700"/>
                </a:lnTo>
                <a:close/>
                <a:moveTo>
                  <a:pt x="132080" y="406400"/>
                </a:moveTo>
                <a:cubicBezTo>
                  <a:pt x="148902" y="406400"/>
                  <a:pt x="162560" y="389328"/>
                  <a:pt x="162560" y="368300"/>
                </a:cubicBezTo>
                <a:cubicBezTo>
                  <a:pt x="162560" y="347272"/>
                  <a:pt x="148902" y="330200"/>
                  <a:pt x="132080" y="330200"/>
                </a:cubicBezTo>
                <a:cubicBezTo>
                  <a:pt x="115258" y="330200"/>
                  <a:pt x="101600" y="347272"/>
                  <a:pt x="101600" y="368300"/>
                </a:cubicBezTo>
                <a:cubicBezTo>
                  <a:pt x="101600" y="389328"/>
                  <a:pt x="115258" y="406400"/>
                  <a:pt x="132080" y="406400"/>
                </a:cubicBezTo>
                <a:close/>
                <a:moveTo>
                  <a:pt x="274320" y="406400"/>
                </a:moveTo>
                <a:cubicBezTo>
                  <a:pt x="291142" y="406400"/>
                  <a:pt x="304800" y="389328"/>
                  <a:pt x="304800" y="368300"/>
                </a:cubicBezTo>
                <a:cubicBezTo>
                  <a:pt x="304800" y="347272"/>
                  <a:pt x="291142" y="330200"/>
                  <a:pt x="274320" y="330200"/>
                </a:cubicBezTo>
                <a:cubicBezTo>
                  <a:pt x="257498" y="330200"/>
                  <a:pt x="243840" y="347272"/>
                  <a:pt x="243840" y="368300"/>
                </a:cubicBezTo>
                <a:cubicBezTo>
                  <a:pt x="243840" y="389328"/>
                  <a:pt x="257498" y="406400"/>
                  <a:pt x="274320" y="406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9588500" y="2159000"/>
            <a:ext cx="495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Real-World: E-Commerce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17000" y="2794000"/>
            <a:ext cx="558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Deleting a customer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 A — CASCADE: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Deletes customer + all orders. Clean but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!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 B — RESTRICT: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delete until orders handled.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Safest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 C — SET NULL: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orders, set customer_id = NULL.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FOREIGN KEY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(cust_id)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customers(id)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 DELETE RESTRICT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Meta Data: Introduction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Data = "Data about Data"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Information describing the structure, properties, and capabilities of database objects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1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81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DatabaseMetaData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51000" y="4508500"/>
            <a:ext cx="584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about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as a whole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Database product name &amp; version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JDBC driver information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Supported features (transactions, batch updates)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Connection limits (max connections, statements)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Schema information (tables, columns, keys)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Obtained via: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connection.getMetaData()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5560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158750"/>
                </a:moveTo>
                <a:lnTo>
                  <a:pt x="290286" y="254000"/>
                </a:lnTo>
                <a:lnTo>
                  <a:pt x="435429" y="254000"/>
                </a:lnTo>
                <a:lnTo>
                  <a:pt x="435429" y="158750"/>
                </a:lnTo>
                <a:lnTo>
                  <a:pt x="290286" y="158750"/>
                </a:lnTo>
                <a:close/>
                <a:moveTo>
                  <a:pt x="217714" y="158750"/>
                </a:moveTo>
                <a:lnTo>
                  <a:pt x="72571" y="158750"/>
                </a:lnTo>
                <a:lnTo>
                  <a:pt x="72571" y="254000"/>
                </a:lnTo>
                <a:lnTo>
                  <a:pt x="217714" y="254000"/>
                </a:lnTo>
                <a:lnTo>
                  <a:pt x="217714" y="158750"/>
                </a:lnTo>
                <a:close/>
                <a:moveTo>
                  <a:pt x="0" y="317500"/>
                </a:moveTo>
                <a:lnTo>
                  <a:pt x="0" y="95250"/>
                </a:lnTo>
                <a:cubicBezTo>
                  <a:pt x="0" y="60226"/>
                  <a:pt x="32544" y="31750"/>
                  <a:pt x="72571" y="31750"/>
                </a:cubicBezTo>
                <a:lnTo>
                  <a:pt x="435429" y="31750"/>
                </a:lnTo>
                <a:cubicBezTo>
                  <a:pt x="475456" y="31750"/>
                  <a:pt x="508000" y="60226"/>
                  <a:pt x="508000" y="95250"/>
                </a:cubicBezTo>
                <a:lnTo>
                  <a:pt x="508000" y="412750"/>
                </a:lnTo>
                <a:cubicBezTo>
                  <a:pt x="508000" y="447774"/>
                  <a:pt x="475456" y="476250"/>
                  <a:pt x="435429" y="476250"/>
                </a:cubicBezTo>
                <a:lnTo>
                  <a:pt x="72571" y="476250"/>
                </a:lnTo>
                <a:cubicBezTo>
                  <a:pt x="32544" y="476250"/>
                  <a:pt x="0" y="447774"/>
                  <a:pt x="0" y="412750"/>
                </a:cubicBezTo>
                <a:lnTo>
                  <a:pt x="0" y="317500"/>
                </a:lnTo>
                <a:close/>
                <a:moveTo>
                  <a:pt x="435429" y="317500"/>
                </a:moveTo>
                <a:lnTo>
                  <a:pt x="290286" y="317500"/>
                </a:lnTo>
                <a:lnTo>
                  <a:pt x="290286" y="412750"/>
                </a:lnTo>
                <a:lnTo>
                  <a:pt x="435429" y="412750"/>
                </a:lnTo>
                <a:lnTo>
                  <a:pt x="435429" y="317500"/>
                </a:lnTo>
                <a:close/>
                <a:moveTo>
                  <a:pt x="217714" y="412750"/>
                </a:moveTo>
                <a:lnTo>
                  <a:pt x="217714" y="317500"/>
                </a:lnTo>
                <a:lnTo>
                  <a:pt x="72571" y="317500"/>
                </a:lnTo>
                <a:lnTo>
                  <a:pt x="72571" y="412750"/>
                </a:lnTo>
                <a:lnTo>
                  <a:pt x="217714" y="4127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81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ResultSetMetaData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63000" y="4508500"/>
            <a:ext cx="584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about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specific query result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Number of columns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Column names and labels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SQL data types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Source table names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Column display sizes &amp; nullability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Obtained via: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resultSet.getMetaData()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DatabaseMetaData Interface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Info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getDatabaseProductName()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getDatabaseProductVersion()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getDriverName() / getURL()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Capability Checks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supportsTransactions()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supportsBatchUpdates()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getMaxConnections()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Exploration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getTables(catalog, schema, pattern, types)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getColumns(catalog, schema, table, pattern)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getPrimaryKeys() / getImportedKeys()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71000" y="247650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DatabaseMetaData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DatabaseMetaData dbmd =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conn.getMetaData();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Display database info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"Product: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dbmd.getDatabaseProductName());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"Version: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dbmd.getDatabaseProductVersion());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"URL: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dbmd.getURL());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capabilities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tx = dbmd.supportsTransactions();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"Tx: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tx);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ResultSetMetaData Interface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 Info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getColumnCount() — # of columns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getColumnName(col) — name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getColumnType(col) — SQL type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getColumnTypeName(col) — type name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getTableName(col) — source table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getColumnDisplaySize(col) — width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isNullable(col) — nullability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isAutoIncrement(col)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Build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query browsers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admin tools.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71000" y="247650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query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 stmt = conn.createStatement();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rs = stmt.executeQuery(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employees"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ResultSetMetaData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ResultSetMetaData rsmd = rs.getMetaData();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cols = rsmd.getColumnCount();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 column headers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1; i &lt;= cols; i++)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System.out.print(rsmd.getColumnName(i)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("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rsmd.getColumnTypeName(i)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")\t"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 Data: Complete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6477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Meta Data Example — Generic Query Browser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java.sql.*;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QueryBrowser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args)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SQLException {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"jdbc:mysql://localhost/mydb"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"user"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"pass"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 {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DatabaseMetaData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DatabaseMetaData dbmd = conn.getMetaData();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System.out.println(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"DB: 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dbmd.getDatabaseProductName());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System.out.println(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"Ver: 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dbmd.getDatabaseProductVersion());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Query + ResultSetMetaData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Statement stmt = conn.createStatement();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ResultSet rs = stmt.executeQuery(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employees"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ResultSetMetaData rsmd = rs.getMetaData();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cols = rsmd.getColumnCount();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Print headers dynamically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1; i &lt;= cols; i++)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System.out.printf(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"%-15s"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rsmd.getColumnName(i));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System.out.println();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4. Iterate with meta data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{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1; i &lt;= cols; i++)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System.out.printf(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"%-15s"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rs.getObject(i));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System.out.println();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}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22: JDBC Revision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review with definitions, real-world examples, and code demonstrations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JDBC: Definition &amp; Architecture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(Java Database Connectivity)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 Java API that enables applications to interact with relational databases using standard SQL.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49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Architecture Layers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4191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0000" y="4318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Application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10000" y="4508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4191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43180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API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0" y="4508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0" y="4191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0" y="4318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Manager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160000" y="4508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22000" y="4191000"/>
            <a:ext cx="2032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0" y="4318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Driver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54000" y="4508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716000" y="4191000"/>
            <a:ext cx="1270000" cy="76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0" y="431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70000" y="5334000"/>
            <a:ext cx="13716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JDBC API is in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java.sql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javax.sql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packages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Provides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vendor-independent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 access — write once, switch DB by changing the driver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Core interfaces: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DriverManager, Connection, Statement, PreparedStatement, CallableStatement, ResultSet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Since JDBC 4.0 (Java 6+), drivers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auto-loaded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need for Class.forName()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Drivers: Types &amp; Examples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1841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JDBC driver translates JDBC API calls into database-specific protocol calls.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4 (Thin/Pure Java)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most common in production.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2921000"/>
          <a:ext cx="8128000" cy="2921000"/>
        </p:xfrm>
        <a:graphic>
          <a:graphicData uri="http://schemas.openxmlformats.org/drawingml/2006/table">
            <a:tbl>
              <a:tblPr/>
              <a:tblGrid>
                <a:gridCol w="1219200"/>
                <a:gridCol w="2032000"/>
                <a:gridCol w="2438400"/>
                <a:gridCol w="2438400"/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How It Works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JDBC-ODBC Bridge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Translates to ODBC calls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Deprecated, not used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Native-API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Uses DB client libraries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 dependent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Network Protocol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Middle-tier server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Rare, middleware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Thin / Pure Java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 DB protocol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Production standard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906000" y="2921000"/>
            <a:ext cx="5080000" cy="3175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8" name="Text 5"/>
          <p:cNvSpPr/>
          <p:nvPr/>
        </p:nvSpPr>
        <p:spPr>
          <a:xfrm>
            <a:off x="10287000" y="3048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Driver Examples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287000" y="34925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MySQL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"com.mysql.cj.jdbc.Driver"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PostgreSQL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"org.postgresql.Driver"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Oracle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"oracle.jdbc.OracleDriver"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51000" y="635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Code: JDBC 4.0+ Auto-Loading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51000" y="67945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Modern approach — auto-loading with DriverManager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conn = DriverManager.getConnection(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"jdbc:mysql://localhost:3306/mydb"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"username"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"password"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Connection &amp;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Connection represents a session with a specific database. All JDBC operations require an active connection.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URL Format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jdbc:subprotocol:host:port/database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MySQL: jdbc:mysql://localhost:3306/mydb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PostgreSQL: jdbc:postgresql://localhost/mydb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Oracle: jdbc:oracle:thin:@localhost:1521:XE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HikariCP pooling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production.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2921000"/>
            <a:ext cx="6350000" cy="3302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304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17000" y="3492500"/>
            <a:ext cx="558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Modern approach (Java 7+)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url =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"jdbc:mysql://localhost/mydb"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DriverManager.getConnection(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url,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"user"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"pass"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Connection auto-closes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queries here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70000" y="6604000"/>
            <a:ext cx="13716000" cy="139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51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2222500" y="6858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Real-World: HikariCP Pool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51000" y="7366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HikariConfig config =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HikariConfig(); config.setJdbcUrl(url); config.setMaximumPoolSize(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HikariDataSource ds =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HikariDataSource(config); Connection conn = ds.getConnection();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 &amp; PreparedStatement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492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27000" y="203200"/>
                </a:moveTo>
                <a:cubicBezTo>
                  <a:pt x="112924" y="203200"/>
                  <a:pt x="101600" y="211693"/>
                  <a:pt x="101600" y="222250"/>
                </a:cubicBezTo>
                <a:cubicBezTo>
                  <a:pt x="101600" y="232807"/>
                  <a:pt x="112924" y="241300"/>
                  <a:pt x="127000" y="241300"/>
                </a:cubicBezTo>
                <a:lnTo>
                  <a:pt x="279400" y="241300"/>
                </a:lnTo>
                <a:cubicBezTo>
                  <a:pt x="293476" y="241300"/>
                  <a:pt x="304800" y="232807"/>
                  <a:pt x="304800" y="222250"/>
                </a:cubicBezTo>
                <a:cubicBezTo>
                  <a:pt x="304800" y="211693"/>
                  <a:pt x="293476" y="203200"/>
                  <a:pt x="279400" y="203200"/>
                </a:cubicBezTo>
                <a:lnTo>
                  <a:pt x="127000" y="203200"/>
                </a:lnTo>
                <a:close/>
                <a:moveTo>
                  <a:pt x="127000" y="279400"/>
                </a:moveTo>
                <a:cubicBezTo>
                  <a:pt x="112924" y="279400"/>
                  <a:pt x="101600" y="287893"/>
                  <a:pt x="101600" y="298450"/>
                </a:cubicBezTo>
                <a:cubicBezTo>
                  <a:pt x="101600" y="309007"/>
                  <a:pt x="112924" y="317500"/>
                  <a:pt x="127000" y="317500"/>
                </a:cubicBezTo>
                <a:lnTo>
                  <a:pt x="279400" y="317500"/>
                </a:lnTo>
                <a:cubicBezTo>
                  <a:pt x="293476" y="317500"/>
                  <a:pt x="304800" y="309007"/>
                  <a:pt x="304800" y="298450"/>
                </a:cubicBezTo>
                <a:cubicBezTo>
                  <a:pt x="304800" y="287893"/>
                  <a:pt x="293476" y="279400"/>
                  <a:pt x="279400" y="279400"/>
                </a:cubicBezTo>
                <a:lnTo>
                  <a:pt x="127000" y="2794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2730500"/>
            <a:ext cx="584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Executes a static SQL statement. Created via conn.createStatement().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3327400"/>
            <a:ext cx="584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Statement — static SQL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 stmt = conn.createStatement();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 = stmt.executeUpdate(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students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"VALUES (1, 'Alice', 20)"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368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8763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215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PreparedStatement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63000" y="2730500"/>
            <a:ext cx="584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Pre-compiled SQL with parameter placeholders (?). Prevents SQL injection.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3274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PreparedStatement — parameterized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students"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(name, age) VALUES (?, ?)"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conn.prepareStatement(sql);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ps.setString(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ps.executeUpdate();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70000" y="5588000"/>
            <a:ext cx="13716000" cy="241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51000" y="5715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Use PreparedStatement?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51000" y="6223000"/>
            <a:ext cx="1295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SQL Injection Prevention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Parameters are escaped, malicious input cannot alter query structure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Performance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SQL is pre-compiled and cached; repeated executions with different params are faster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Readability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Separates SQL logic from data values, cleaner and easier to maintain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PreparedStatement: Security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24765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730500"/>
            <a:ext cx="6604000" cy="3429000"/>
          </a:xfrm>
          <a:prstGeom prst="roundRect">
            <a:avLst>
              <a:gd name="adj" fmla="val 8000"/>
            </a:avLst>
          </a:prstGeom>
          <a:solidFill>
            <a:srgbClr val="8B3A3A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298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5467" y="76200"/>
                </a:moveTo>
                <a:cubicBezTo>
                  <a:pt x="135467" y="34131"/>
                  <a:pt x="165806" y="0"/>
                  <a:pt x="203200" y="0"/>
                </a:cubicBezTo>
                <a:cubicBezTo>
                  <a:pt x="240594" y="0"/>
                  <a:pt x="270933" y="34131"/>
                  <a:pt x="270933" y="76200"/>
                </a:cubicBezTo>
                <a:lnTo>
                  <a:pt x="270933" y="79058"/>
                </a:lnTo>
                <a:cubicBezTo>
                  <a:pt x="270933" y="91519"/>
                  <a:pt x="261973" y="101600"/>
                  <a:pt x="250896" y="101600"/>
                </a:cubicBezTo>
                <a:lnTo>
                  <a:pt x="155575" y="101600"/>
                </a:lnTo>
                <a:cubicBezTo>
                  <a:pt x="144498" y="101600"/>
                  <a:pt x="135537" y="91519"/>
                  <a:pt x="135537" y="79058"/>
                </a:cubicBezTo>
                <a:lnTo>
                  <a:pt x="135537" y="76200"/>
                </a:lnTo>
                <a:close/>
                <a:moveTo>
                  <a:pt x="379307" y="86360"/>
                </a:moveTo>
                <a:cubicBezTo>
                  <a:pt x="386786" y="97552"/>
                  <a:pt x="384739" y="113506"/>
                  <a:pt x="374791" y="121920"/>
                </a:cubicBezTo>
                <a:lnTo>
                  <a:pt x="305788" y="180102"/>
                </a:lnTo>
                <a:cubicBezTo>
                  <a:pt x="309527" y="187166"/>
                  <a:pt x="312349" y="194945"/>
                  <a:pt x="314113" y="203200"/>
                </a:cubicBezTo>
                <a:lnTo>
                  <a:pt x="383822" y="203200"/>
                </a:lnTo>
                <a:cubicBezTo>
                  <a:pt x="396311" y="203200"/>
                  <a:pt x="406400" y="214551"/>
                  <a:pt x="406400" y="228600"/>
                </a:cubicBezTo>
                <a:cubicBezTo>
                  <a:pt x="406400" y="242649"/>
                  <a:pt x="396311" y="254000"/>
                  <a:pt x="383822" y="254000"/>
                </a:cubicBezTo>
                <a:lnTo>
                  <a:pt x="316089" y="254000"/>
                </a:lnTo>
                <a:lnTo>
                  <a:pt x="316089" y="279400"/>
                </a:lnTo>
                <a:cubicBezTo>
                  <a:pt x="316089" y="281464"/>
                  <a:pt x="316018" y="283607"/>
                  <a:pt x="315948" y="285671"/>
                </a:cubicBezTo>
                <a:lnTo>
                  <a:pt x="374791" y="335280"/>
                </a:lnTo>
                <a:cubicBezTo>
                  <a:pt x="384739" y="343694"/>
                  <a:pt x="386786" y="359648"/>
                  <a:pt x="379307" y="370840"/>
                </a:cubicBezTo>
                <a:cubicBezTo>
                  <a:pt x="371828" y="382032"/>
                  <a:pt x="357646" y="384334"/>
                  <a:pt x="347698" y="375920"/>
                </a:cubicBezTo>
                <a:lnTo>
                  <a:pt x="303177" y="338376"/>
                </a:lnTo>
                <a:cubicBezTo>
                  <a:pt x="286808" y="373459"/>
                  <a:pt x="256258" y="398859"/>
                  <a:pt x="220133" y="404971"/>
                </a:cubicBezTo>
                <a:lnTo>
                  <a:pt x="220133" y="222250"/>
                </a:lnTo>
                <a:cubicBezTo>
                  <a:pt x="220133" y="211693"/>
                  <a:pt x="212584" y="203200"/>
                  <a:pt x="203200" y="203200"/>
                </a:cubicBezTo>
                <a:cubicBezTo>
                  <a:pt x="193816" y="203200"/>
                  <a:pt x="186267" y="211693"/>
                  <a:pt x="186267" y="222250"/>
                </a:cubicBezTo>
                <a:lnTo>
                  <a:pt x="186267" y="404971"/>
                </a:lnTo>
                <a:cubicBezTo>
                  <a:pt x="150142" y="398859"/>
                  <a:pt x="119592" y="373459"/>
                  <a:pt x="103223" y="338376"/>
                </a:cubicBezTo>
                <a:lnTo>
                  <a:pt x="58702" y="375920"/>
                </a:lnTo>
                <a:cubicBezTo>
                  <a:pt x="48754" y="384334"/>
                  <a:pt x="34572" y="382032"/>
                  <a:pt x="27093" y="370840"/>
                </a:cubicBezTo>
                <a:cubicBezTo>
                  <a:pt x="19614" y="359648"/>
                  <a:pt x="21661" y="343694"/>
                  <a:pt x="31609" y="335280"/>
                </a:cubicBezTo>
                <a:lnTo>
                  <a:pt x="90452" y="285671"/>
                </a:lnTo>
                <a:cubicBezTo>
                  <a:pt x="90382" y="283607"/>
                  <a:pt x="90311" y="281543"/>
                  <a:pt x="90311" y="279400"/>
                </a:cubicBezTo>
                <a:lnTo>
                  <a:pt x="90311" y="254000"/>
                </a:lnTo>
                <a:lnTo>
                  <a:pt x="22578" y="254000"/>
                </a:lnTo>
                <a:cubicBezTo>
                  <a:pt x="10089" y="254000"/>
                  <a:pt x="0" y="242649"/>
                  <a:pt x="0" y="228600"/>
                </a:cubicBezTo>
                <a:cubicBezTo>
                  <a:pt x="0" y="214551"/>
                  <a:pt x="10089" y="203200"/>
                  <a:pt x="22578" y="203200"/>
                </a:cubicBezTo>
                <a:lnTo>
                  <a:pt x="92287" y="203200"/>
                </a:lnTo>
                <a:cubicBezTo>
                  <a:pt x="94051" y="194945"/>
                  <a:pt x="96873" y="187166"/>
                  <a:pt x="100612" y="180102"/>
                </a:cubicBezTo>
                <a:lnTo>
                  <a:pt x="31609" y="121920"/>
                </a:lnTo>
                <a:cubicBezTo>
                  <a:pt x="21661" y="113506"/>
                  <a:pt x="19614" y="97552"/>
                  <a:pt x="27093" y="86360"/>
                </a:cubicBezTo>
                <a:cubicBezTo>
                  <a:pt x="34572" y="75168"/>
                  <a:pt x="48754" y="72866"/>
                  <a:pt x="58702" y="81280"/>
                </a:cubicBezTo>
                <a:lnTo>
                  <a:pt x="135467" y="146050"/>
                </a:lnTo>
                <a:cubicBezTo>
                  <a:pt x="144145" y="142002"/>
                  <a:pt x="153670" y="139700"/>
                  <a:pt x="163689" y="139700"/>
                </a:cubicBezTo>
                <a:lnTo>
                  <a:pt x="242711" y="139700"/>
                </a:lnTo>
                <a:cubicBezTo>
                  <a:pt x="252730" y="139700"/>
                  <a:pt x="262255" y="141923"/>
                  <a:pt x="270933" y="146050"/>
                </a:cubicBezTo>
                <a:lnTo>
                  <a:pt x="347698" y="81280"/>
                </a:lnTo>
                <a:cubicBezTo>
                  <a:pt x="357646" y="72866"/>
                  <a:pt x="371828" y="75168"/>
                  <a:pt x="379307" y="863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984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VULNERABLE: Statement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35560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String concatenation — DANGEROUS!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users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"WHERE username='"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username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"' AND password='"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password +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"'"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Attacker input: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username = admin' OR '1'='1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Result: bypasses authentication!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82000" y="2730500"/>
            <a:ext cx="6604000" cy="3429000"/>
          </a:xfrm>
          <a:prstGeom prst="roundRect">
            <a:avLst>
              <a:gd name="adj" fmla="val 8000"/>
            </a:avLst>
          </a:prstGeom>
          <a:solidFill>
            <a:srgbClr val="2D5A3D"/>
          </a:solidFill>
          <a:ln/>
        </p:spPr>
      </p:sp>
      <p:sp>
        <p:nvSpPr>
          <p:cNvPr id="9" name="Shape 7"/>
          <p:cNvSpPr/>
          <p:nvPr/>
        </p:nvSpPr>
        <p:spPr>
          <a:xfrm>
            <a:off x="8763000" y="298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984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SECURE: PreparedStatement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63000" y="35560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AFF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Parameterized query — SAFE!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users 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"WHERE username=? AND password=?"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conn.prepareStatement(sql);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ps.setString(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username);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ps.setString(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hashedPassword);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rs = ps.executeQuery();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70000" y="6604000"/>
            <a:ext cx="13716000" cy="1714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22500" y="673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" y="72390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concatenate user input into SQL strings — #1 security risk.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PreparedStatement for user input queries.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hashed passwords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(bcrypt) — never plain text.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ResultSet: Definition &amp; Navigation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ResultSet represents query results as a table of data. A cursor points to the current row; initially positioned before the first row.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857500"/>
            <a:ext cx="6858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 Methods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next()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forward one row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previous()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backward one row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first()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last()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jump to first/last row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absolute(int)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jump to specific row number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Types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TYPE_FORWARD_ONLY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default, scroll forward only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TYPE_SCROLL_INSENSITIVE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bidirectional, snapshot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36000" y="2857500"/>
            <a:ext cx="6350000" cy="3175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298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17000" y="3429000"/>
            <a:ext cx="558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query and process results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 stmt = conn.createStatement();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rs = stmt.executeQuery(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employees"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 = rs.getInt(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"emp_id"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String name = rs.getString(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"name"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sal = rs.getDouble(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System.out.println(id +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| 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name);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70000" y="6350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10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Retrieval Methods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51000" y="6921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column name: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getString("name"), getInt("age"), getDouble("salary"), getDate("hire_date"), getBoolean("active")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column index: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getString(1), getInt(2), getDouble(3) —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indices start at 1, not 0!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ResultSet: Pagination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1841500"/>
            <a:ext cx="1295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Employee management dashboard displaying paginated employee records with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LIMIT/OFFSET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scrollable ResultSet.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2857500"/>
            <a:ext cx="13716000" cy="4318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98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Code: Paginated Employee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51000" y="3429000"/>
            <a:ext cx="12954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Scrollable ResultSet for pagination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pageSize =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pageNum =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employees LIMIT ? OFFSET ?"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 conn.prepareStatement(sql,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ResultSet.TYPE_SCROLL_INSENSITIVE,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ResultSet.CONCUR_READ_ONLY);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ps.setInt(1, pageSize);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ps.setInt(2, (pageNum-1) * pageSize);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rs = ps.executeQuery();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{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System.out.printf(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"%d | %s | $%.2f%n"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rs.getInt(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"emp_id"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rs.getString(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"name"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rs.getDouble(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"salary"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 }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total rows for pagination UI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(rs.last())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totalRows = rs.getRow();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70000" y="7493000"/>
            <a:ext cx="13716000" cy="69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51000" y="7556500"/>
            <a:ext cx="1295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large datasets, prefer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keyset pagination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(WHERE id &gt; last_seen) over OFFSET — it's significantly faster for deep pagination.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 Operations in JDBC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2385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59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49500" y="2222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3048000"/>
            <a:ext cx="273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INSERT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students"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VALUES (?,?)"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conn.prepareStatement(sql);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ps.setString(1, name);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ps.setInt(2, age);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rows = ps.executeUpdate();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62500" y="1905000"/>
            <a:ext cx="32385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16500" y="2159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5016500" y="2159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42000" y="2222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16500" y="3048000"/>
            <a:ext cx="273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SELECT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students"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WHERE id=?"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conn.prepareStatement(sql);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ps.setInt(1, studentId);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 rs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ps.executeQuery();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55000" y="1905000"/>
            <a:ext cx="32385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9000" y="2159000"/>
            <a:ext cx="635000" cy="635000"/>
          </a:xfrm>
          <a:prstGeom prst="ellipse">
            <a:avLst/>
          </a:prstGeom>
          <a:solidFill>
            <a:srgbClr val="6B9CB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2159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34500" y="2222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9000" y="3048000"/>
            <a:ext cx="273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UPDATE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students"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SET name=?"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WHERE id=?"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conn.prepareStatement(sql);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ps.setString(1, newName);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ps.setInt(2, studentId);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rows = ps.executeUpdate();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747500" y="1905000"/>
            <a:ext cx="32385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8B3A3A"/>
              </a:gs>
              <a:gs pos="100000">
                <a:srgbClr val="8B3A3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12001500" y="2159000"/>
            <a:ext cx="635000" cy="635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001500" y="2159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8B3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27000" y="2222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001500" y="3048000"/>
            <a:ext cx="273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DELETE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"DELETE FROM"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students"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+ 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WHERE id=?"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ps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conn.prepareStatement(sql);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ps.setInt(1, studentId);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rows =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F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ps.executeUpdate();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70000" y="5588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51000" y="5715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Differences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51000" y="6223000"/>
            <a:ext cx="1295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executeQuery()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returns ResultSet, used only for SELECT statements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executeUpdate()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returns int (rows affected), used for INSERT, UPDATE, DELETE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returns boolean, used when statement type is unknown; true = ResultSet, false = update count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ps.addBatch() + ps.executeBatch() — for bulk operations, returns int[] of row counts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Management in JDBC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841500"/>
            <a:ext cx="1270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transaction is a logical unit of work that satisfies ACID properties — all operations succeed or all are rolled back.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8575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Control Methods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setAutoCommit(false)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save changes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rollback()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undo changes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setSavepoint()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savepoint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rollback(Savepoint)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to savepoint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Auto-commit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2857500"/>
            <a:ext cx="6350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017000" y="311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0" y="311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Real-World: Bank Transfer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17000" y="3683000"/>
            <a:ext cx="558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$500 from Account A to B: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Debit $500 from 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Credit $500 to B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succeed or both fail. Partial transfer = lost $500!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 ensure consistency.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6350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647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Code: Transaction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51000" y="6858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conn.setAutoCommit(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debitStmt.executeUpdate(); creditStmt.executeUpdate(); conn.commit(); }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 conn.rollback();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e; }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finally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conn.setAutoCommit(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Best Practices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&amp; Safety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096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Always use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try-with-resources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Connection, Statement, ResultSet — automatic cleanup prevents connection leaks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PreparedStatement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over Statement — prevents SQL injection attacks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 hardcode credentials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use environment variables or config files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Close resources in reverse order: ResultSet → Statement → Connection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63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15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&amp; Reliability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 pooling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(HikariCP) — creating connections is expensive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 operations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(addBatch + executeBatch) for bulk inserts/updates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Set appropriate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fetch sizes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large ResultSets to reduce memory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Handle exceptions with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specific SQLException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catch blocks — log error codes and SQL states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JDBC Errors &amp; Debugging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445000"/>
        </p:xfrm>
        <a:graphic>
          <a:graphicData uri="http://schemas.openxmlformats.org/drawingml/2006/table">
            <a:tbl>
              <a:tblPr/>
              <a:tblGrid>
                <a:gridCol w="3840480"/>
                <a:gridCol w="5212080"/>
                <a:gridCol w="46634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Solution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ClassNotFoundException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JDBC driver JAR not in classpath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 driver JAR to project dependencies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SQLException "Access denied"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Wrong username/password or privileges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Verify credentials and GRANT permissions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"Communications link failure"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DB server down or wrong host/port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 DB service status and connection URL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"Table doesn't exist"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Wrong database selected or typo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correct schema; check table name spelling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Connection pool exhausted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Connections not being closed (leak)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try-with-resources; check pool max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 timeout / slow performance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Missing indexes, N+1 query problem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 indexes; use JOINs; enable query caching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731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51000" y="698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4"/>
          <p:cNvSpPr/>
          <p:nvPr/>
        </p:nvSpPr>
        <p:spPr>
          <a:xfrm>
            <a:off x="2222500" y="6985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Debugging Tips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51000" y="7429500"/>
            <a:ext cx="1295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Enable SQL logging: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?logger=Slf4JLogger&amp;profileSQL=true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(MySQL)  •  Call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e.printStackTrace()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full error details  •  Check database server logs for server-side errors  •  Use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getErrorCode()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getSQLState()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SQLException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Complete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6858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Complete JDBC Example — All Concepts in One Program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java.sql.*;</a:t>
            </a:r>
            <a:endParaRPr lang="en-US" sz="1000" dirty="0"/>
          </a:p>
          <a:p>
            <a:pPr algn="l">
              <a:lnSpc>
                <a:spcPct val="130000"/>
              </a:lnSpc>
            </a:pP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JDBCCompleteDemo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args) {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url =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"jdbc:mysql://localhost/mydb"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DriverManager.getConnection(url,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"user"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"pass"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 {</a:t>
            </a:r>
            <a:endParaRPr lang="en-US" sz="1000" dirty="0"/>
          </a:p>
          <a:p>
            <a:pPr algn="l">
              <a:lnSpc>
                <a:spcPct val="130000"/>
              </a:lnSpc>
            </a:pP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DatabaseMetaData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DatabaseMetaData dbmd = conn.getMetaData();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System.out.println(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"DB: 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dbmd.getDatabaseProductName());</a:t>
            </a:r>
            <a:endParaRPr lang="en-US" sz="1000" dirty="0"/>
          </a:p>
          <a:p>
            <a:pPr algn="l">
              <a:lnSpc>
                <a:spcPct val="130000"/>
              </a:lnSpc>
            </a:pP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CREATE table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Statement stmt = conn.createStatement();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stmt.executeUpdate(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"CREATE TABLE IF NOT EXISTS students (id INT PRIMARY KEY, name VARCHAR(50), age INT)"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000" dirty="0"/>
          </a:p>
          <a:p>
            <a:pPr algn="l">
              <a:lnSpc>
                <a:spcPct val="130000"/>
              </a:lnSpc>
            </a:pP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INSERT with PreparedStatement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String insert =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students VALUES (?, ?, ?)"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(PreparedStatement ps = conn.prepareStatement(insert)) {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conn.setAutoCommit(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ps.setInt(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ps.setString(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ps.setInt(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ps.addBatch();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ps.setInt(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ps.setString(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ps.setInt(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ps.addBatch();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ps.executeBatch(); conn.commit();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}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 conn.rollback();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e; }</a:t>
            </a:r>
            <a:endParaRPr lang="en-US" sz="1000" dirty="0"/>
          </a:p>
          <a:p>
            <a:pPr algn="l">
              <a:lnSpc>
                <a:spcPct val="130000"/>
              </a:lnSpc>
            </a:pP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4. SELECT with ResultSetMetaData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ResultSet rs = stmt.executeQuery(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students"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ResultSetMetaData rsmd = rs.getMetaData();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&lt;= rsmd.getColumnCount(); i++)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System.out.print(rsmd.getColumnName(i) +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"\t"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System.out.println(rs.getInt(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+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"\t"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rs.getString(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+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"\t"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rs.getInt(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 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D0E0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 e.printStackTrace(); }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000" dirty="0"/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429000"/>
            <a:ext cx="1143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</a:t>
            </a:r>
            <a:pPr algn="ctr">
              <a:lnSpc>
                <a:spcPct val="18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operations with proper WHERE clauses and constraint handling</a:t>
            </a:r>
            <a:endParaRPr lang="en-US" sz="2200" dirty="0"/>
          </a:p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Leverage </a:t>
            </a:r>
            <a:pPr algn="ctr">
              <a:lnSpc>
                <a:spcPct val="18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Data</a:t>
            </a:r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flexible, database-independent applications</a:t>
            </a:r>
            <a:endParaRPr lang="en-US" sz="2200" dirty="0"/>
          </a:p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 JDBC best practices: </a:t>
            </a:r>
            <a:pPr algn="ctr">
              <a:lnSpc>
                <a:spcPct val="18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PreparedStatement</a:t>
            </a:r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connection pooling, try-with-resources</a:t>
            </a:r>
            <a:endParaRPr lang="en-US" sz="2200" dirty="0"/>
          </a:p>
          <a:p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prioritize </a:t>
            </a:r>
            <a:pPr algn="ctr">
              <a:lnSpc>
                <a:spcPct val="18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</a:t>
            </a:r>
            <a:pPr algn="ctr">
              <a:lnSpc>
                <a:spcPct val="18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prevent SQL injection and handle credentials safely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48000" y="66675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11 Complete — Keep Coding!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8000" y="7302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Programming Course · Lecture 21 &amp; 22 · 2026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11: Deleting Records, Meta Data &amp; JDBC Revision</dc:title>
  <dc:subject>Week 11: Deleting Records, Meta Data &amp; JDBC Revision</dc:subject>
  <dc:creator>Kimi</dc:creator>
  <cp:lastModifiedBy>Kimi</cp:lastModifiedBy>
  <cp:revision>1</cp:revision>
  <dcterms:created xsi:type="dcterms:W3CDTF">2026-06-26T05:11:10Z</dcterms:created>
  <dcterms:modified xsi:type="dcterms:W3CDTF">2026-06-26T05:11:10Z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11: Deleting Records, Meta Data &amp; JDBC Revision","ContentProducer":"001191110108MACG2KBH8F10000","ProduceID":"19f0229d-b592-839b-8000-00002b5e73b7","ReservedCode1":"","ContentPropagator":"001191110108MACG2KBH8F20000","PropagateID":"19f0227f-3142-8fde-8000-0901762c06e1","ReservedCode2":""}</vt:lpwstr>
  </property>
</Properties>
</file>