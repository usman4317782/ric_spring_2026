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794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Concurrency and Threading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19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13 - Lecture 25 &amp; 26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4953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83000" y="533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Single Thread and Multi-threading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53000" y="5969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Science Course - Spring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54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711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25: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Concurrency and Threading, Single Thread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111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Concurrency, Thread, Single Thread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Examples, Code Examples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24000" y="482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82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826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26: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Multi-threading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5397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Multi-threading, Synchronization, Race Conditions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Deadlocks, Best Practices, Comparison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2794000"/>
            <a:ext cx="1066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25: Concurrency and Threading, Single Thread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953000"/>
            <a:ext cx="952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Foundations of concurrent programming and single-threaded execution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Concurrency?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57400"/>
            <a:ext cx="1270000" cy="3810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057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25400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Concurrency is the ability of a system to handle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tasks simultaneously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making progress on more than one task at a time through task switching. It is about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dealing with lots of things at once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873500"/>
            <a:ext cx="6350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875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2222500" y="4064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87500" y="4635500"/>
            <a:ext cx="577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Concurrency exists because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waiting exists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While one task waits (I/O, network), another task can make progress.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01000" y="3873500"/>
            <a:ext cx="6985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185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8847" y="204043"/>
                </a:moveTo>
                <a:cubicBezTo>
                  <a:pt x="70723" y="120997"/>
                  <a:pt x="142250" y="57150"/>
                  <a:pt x="228600" y="57150"/>
                </a:cubicBezTo>
                <a:cubicBezTo>
                  <a:pt x="275927" y="57150"/>
                  <a:pt x="318790" y="76349"/>
                  <a:pt x="349865" y="107335"/>
                </a:cubicBezTo>
                <a:cubicBezTo>
                  <a:pt x="350044" y="107513"/>
                  <a:pt x="350222" y="107692"/>
                  <a:pt x="350401" y="107871"/>
                </a:cubicBezTo>
                <a:lnTo>
                  <a:pt x="357188" y="114300"/>
                </a:lnTo>
                <a:lnTo>
                  <a:pt x="314414" y="114300"/>
                </a:lnTo>
                <a:cubicBezTo>
                  <a:pt x="298609" y="114300"/>
                  <a:pt x="285839" y="127069"/>
                  <a:pt x="285839" y="142875"/>
                </a:cubicBezTo>
                <a:cubicBezTo>
                  <a:pt x="285839" y="158681"/>
                  <a:pt x="298609" y="171450"/>
                  <a:pt x="314414" y="171450"/>
                </a:cubicBezTo>
                <a:lnTo>
                  <a:pt x="428714" y="171450"/>
                </a:lnTo>
                <a:cubicBezTo>
                  <a:pt x="444520" y="171450"/>
                  <a:pt x="457289" y="158681"/>
                  <a:pt x="457289" y="142875"/>
                </a:cubicBezTo>
                <a:lnTo>
                  <a:pt x="457289" y="28575"/>
                </a:lnTo>
                <a:cubicBezTo>
                  <a:pt x="457289" y="12769"/>
                  <a:pt x="444520" y="0"/>
                  <a:pt x="428714" y="0"/>
                </a:cubicBezTo>
                <a:cubicBezTo>
                  <a:pt x="412909" y="0"/>
                  <a:pt x="400139" y="12769"/>
                  <a:pt x="400139" y="28575"/>
                </a:cubicBezTo>
                <a:lnTo>
                  <a:pt x="400139" y="76260"/>
                </a:lnTo>
                <a:lnTo>
                  <a:pt x="390049" y="66705"/>
                </a:lnTo>
                <a:cubicBezTo>
                  <a:pt x="348704" y="25539"/>
                  <a:pt x="29155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lose/>
                <a:moveTo>
                  <a:pt x="454878" y="261193"/>
                </a:moveTo>
                <a:cubicBezTo>
                  <a:pt x="457111" y="245566"/>
                  <a:pt x="446216" y="231100"/>
                  <a:pt x="430679" y="228868"/>
                </a:cubicBezTo>
                <a:cubicBezTo>
                  <a:pt x="415141" y="226635"/>
                  <a:pt x="400586" y="237530"/>
                  <a:pt x="398353" y="253067"/>
                </a:cubicBezTo>
                <a:cubicBezTo>
                  <a:pt x="386477" y="336113"/>
                  <a:pt x="314950" y="399961"/>
                  <a:pt x="228600" y="399961"/>
                </a:cubicBezTo>
                <a:cubicBezTo>
                  <a:pt x="181273" y="399961"/>
                  <a:pt x="138410" y="380762"/>
                  <a:pt x="107335" y="349776"/>
                </a:cubicBezTo>
                <a:cubicBezTo>
                  <a:pt x="107156" y="349597"/>
                  <a:pt x="106978" y="349419"/>
                  <a:pt x="106799" y="349240"/>
                </a:cubicBezTo>
                <a:lnTo>
                  <a:pt x="100012" y="342811"/>
                </a:lnTo>
                <a:lnTo>
                  <a:pt x="142786" y="342811"/>
                </a:lnTo>
                <a:cubicBezTo>
                  <a:pt x="158591" y="342811"/>
                  <a:pt x="171361" y="330041"/>
                  <a:pt x="171361" y="314236"/>
                </a:cubicBezTo>
                <a:cubicBezTo>
                  <a:pt x="171361" y="298430"/>
                  <a:pt x="158591" y="285661"/>
                  <a:pt x="142786" y="285661"/>
                </a:cubicBezTo>
                <a:lnTo>
                  <a:pt x="28575" y="285750"/>
                </a:lnTo>
                <a:cubicBezTo>
                  <a:pt x="20985" y="285750"/>
                  <a:pt x="13662" y="288786"/>
                  <a:pt x="8305" y="294233"/>
                </a:cubicBezTo>
                <a:cubicBezTo>
                  <a:pt x="2947" y="299680"/>
                  <a:pt x="-89" y="306913"/>
                  <a:pt x="0" y="314593"/>
                </a:cubicBezTo>
                <a:lnTo>
                  <a:pt x="893" y="428000"/>
                </a:lnTo>
                <a:cubicBezTo>
                  <a:pt x="982" y="443805"/>
                  <a:pt x="13930" y="456486"/>
                  <a:pt x="29736" y="456307"/>
                </a:cubicBezTo>
                <a:cubicBezTo>
                  <a:pt x="45541" y="456128"/>
                  <a:pt x="58222" y="443270"/>
                  <a:pt x="58043" y="427464"/>
                </a:cubicBezTo>
                <a:lnTo>
                  <a:pt x="57686" y="381476"/>
                </a:lnTo>
                <a:lnTo>
                  <a:pt x="67241" y="390495"/>
                </a:lnTo>
                <a:cubicBezTo>
                  <a:pt x="108585" y="431661"/>
                  <a:pt x="16564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8953500" y="4064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18500" y="4635500"/>
            <a:ext cx="6413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juggling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you handle multiple balls but only touch one at a time. The skill is in efficient switching.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5969000"/>
            <a:ext cx="13716000" cy="228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651000" y="622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401" y="14288"/>
                </a:moveTo>
                <a:cubicBezTo>
                  <a:pt x="62607" y="6152"/>
                  <a:pt x="55761" y="0"/>
                  <a:pt x="47625" y="0"/>
                </a:cubicBezTo>
                <a:cubicBezTo>
                  <a:pt x="39489" y="0"/>
                  <a:pt x="32643" y="6152"/>
                  <a:pt x="31750" y="14188"/>
                </a:cubicBezTo>
                <a:lnTo>
                  <a:pt x="17760" y="148530"/>
                </a:lnTo>
                <a:cubicBezTo>
                  <a:pt x="16470" y="154484"/>
                  <a:pt x="15875" y="160536"/>
                  <a:pt x="15875" y="166588"/>
                </a:cubicBezTo>
                <a:cubicBezTo>
                  <a:pt x="15875" y="212130"/>
                  <a:pt x="50701" y="249535"/>
                  <a:pt x="95250" y="253603"/>
                </a:cubicBezTo>
                <a:lnTo>
                  <a:pt x="95250" y="476250"/>
                </a:lnTo>
                <a:cubicBezTo>
                  <a:pt x="95250" y="493812"/>
                  <a:pt x="109438" y="508000"/>
                  <a:pt x="127000" y="508000"/>
                </a:cubicBezTo>
                <a:cubicBezTo>
                  <a:pt x="144562" y="508000"/>
                  <a:pt x="158750" y="493812"/>
                  <a:pt x="158750" y="476250"/>
                </a:cubicBezTo>
                <a:lnTo>
                  <a:pt x="158750" y="253603"/>
                </a:lnTo>
                <a:cubicBezTo>
                  <a:pt x="203299" y="249535"/>
                  <a:pt x="238125" y="212130"/>
                  <a:pt x="238125" y="166588"/>
                </a:cubicBezTo>
                <a:cubicBezTo>
                  <a:pt x="238125" y="160536"/>
                  <a:pt x="237530" y="154484"/>
                  <a:pt x="236240" y="148530"/>
                </a:cubicBezTo>
                <a:lnTo>
                  <a:pt x="222151" y="14188"/>
                </a:lnTo>
                <a:cubicBezTo>
                  <a:pt x="221357" y="6152"/>
                  <a:pt x="214511" y="0"/>
                  <a:pt x="206375" y="0"/>
                </a:cubicBezTo>
                <a:cubicBezTo>
                  <a:pt x="198239" y="0"/>
                  <a:pt x="191393" y="6152"/>
                  <a:pt x="190599" y="14288"/>
                </a:cubicBezTo>
                <a:lnTo>
                  <a:pt x="177105" y="148729"/>
                </a:lnTo>
                <a:cubicBezTo>
                  <a:pt x="176510" y="154384"/>
                  <a:pt x="171748" y="158750"/>
                  <a:pt x="166092" y="158750"/>
                </a:cubicBezTo>
                <a:cubicBezTo>
                  <a:pt x="160338" y="158750"/>
                  <a:pt x="155575" y="154384"/>
                  <a:pt x="154980" y="148630"/>
                </a:cubicBezTo>
                <a:lnTo>
                  <a:pt x="142776" y="14486"/>
                </a:lnTo>
                <a:cubicBezTo>
                  <a:pt x="142081" y="6251"/>
                  <a:pt x="135235" y="0"/>
                  <a:pt x="127000" y="0"/>
                </a:cubicBezTo>
                <a:cubicBezTo>
                  <a:pt x="118765" y="0"/>
                  <a:pt x="111919" y="6251"/>
                  <a:pt x="111224" y="14486"/>
                </a:cubicBezTo>
                <a:lnTo>
                  <a:pt x="99020" y="148630"/>
                </a:lnTo>
                <a:cubicBezTo>
                  <a:pt x="98524" y="154384"/>
                  <a:pt x="93662" y="158750"/>
                  <a:pt x="87908" y="158750"/>
                </a:cubicBezTo>
                <a:cubicBezTo>
                  <a:pt x="82153" y="158750"/>
                  <a:pt x="77391" y="154384"/>
                  <a:pt x="76895" y="148729"/>
                </a:cubicBezTo>
                <a:lnTo>
                  <a:pt x="63401" y="14288"/>
                </a:lnTo>
                <a:close/>
                <a:moveTo>
                  <a:pt x="444500" y="0"/>
                </a:moveTo>
                <a:cubicBezTo>
                  <a:pt x="428625" y="0"/>
                  <a:pt x="317500" y="31750"/>
                  <a:pt x="317500" y="174625"/>
                </a:cubicBezTo>
                <a:lnTo>
                  <a:pt x="317500" y="285750"/>
                </a:lnTo>
                <a:cubicBezTo>
                  <a:pt x="317500" y="320774"/>
                  <a:pt x="345976" y="349250"/>
                  <a:pt x="381000" y="349250"/>
                </a:cubicBezTo>
                <a:lnTo>
                  <a:pt x="412750" y="349250"/>
                </a:lnTo>
                <a:lnTo>
                  <a:pt x="412750" y="476250"/>
                </a:lnTo>
                <a:cubicBezTo>
                  <a:pt x="412750" y="493812"/>
                  <a:pt x="426938" y="508000"/>
                  <a:pt x="444500" y="508000"/>
                </a:cubicBezTo>
                <a:cubicBezTo>
                  <a:pt x="462062" y="508000"/>
                  <a:pt x="476250" y="493812"/>
                  <a:pt x="476250" y="476250"/>
                </a:cubicBezTo>
                <a:lnTo>
                  <a:pt x="476250" y="31750"/>
                </a:lnTo>
                <a:cubicBezTo>
                  <a:pt x="476250" y="14188"/>
                  <a:pt x="462062" y="0"/>
                  <a:pt x="4445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349500" y="6223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World Example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51000" y="6858000"/>
            <a:ext cx="1295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chef in a kitchen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preparing multiple dishes: starts chopping vegetables, then stirs the soup before it boils over, checks the oven. The chef isn't doing all tasks at the exact same time but manages them so they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together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Thread?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714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57400"/>
            <a:ext cx="1270000" cy="3810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057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25400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thread is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smallest unit of execution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within a process. It is a separate flow of control that executes independently while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sharing the same memory space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other threads.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619500"/>
            <a:ext cx="6477000" cy="2730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510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28476" y="63500"/>
                  <a:pt x="0" y="91976"/>
                  <a:pt x="0" y="127000"/>
                </a:cubicBezTo>
                <a:lnTo>
                  <a:pt x="0" y="381000"/>
                </a:lnTo>
                <a:cubicBezTo>
                  <a:pt x="0" y="416024"/>
                  <a:pt x="28476" y="444500"/>
                  <a:pt x="63500" y="444500"/>
                </a:cubicBezTo>
                <a:lnTo>
                  <a:pt x="444500" y="444500"/>
                </a:lnTo>
                <a:cubicBezTo>
                  <a:pt x="479524" y="444500"/>
                  <a:pt x="508000" y="416024"/>
                  <a:pt x="508000" y="381000"/>
                </a:cubicBezTo>
                <a:lnTo>
                  <a:pt x="508000" y="127000"/>
                </a:lnTo>
                <a:cubicBezTo>
                  <a:pt x="508000" y="91976"/>
                  <a:pt x="479524" y="63500"/>
                  <a:pt x="444500" y="63500"/>
                </a:cubicBezTo>
                <a:lnTo>
                  <a:pt x="63500" y="63500"/>
                </a:lnTo>
                <a:close/>
                <a:moveTo>
                  <a:pt x="87313" y="127000"/>
                </a:moveTo>
                <a:lnTo>
                  <a:pt x="420688" y="127000"/>
                </a:lnTo>
                <a:cubicBezTo>
                  <a:pt x="433884" y="127000"/>
                  <a:pt x="444500" y="137616"/>
                  <a:pt x="444500" y="150813"/>
                </a:cubicBezTo>
                <a:cubicBezTo>
                  <a:pt x="444500" y="164009"/>
                  <a:pt x="433884" y="174625"/>
                  <a:pt x="420688" y="174625"/>
                </a:cubicBezTo>
                <a:lnTo>
                  <a:pt x="87313" y="174625"/>
                </a:lnTo>
                <a:cubicBezTo>
                  <a:pt x="74116" y="174625"/>
                  <a:pt x="63500" y="164009"/>
                  <a:pt x="63500" y="150813"/>
                </a:cubicBezTo>
                <a:cubicBezTo>
                  <a:pt x="63500" y="137616"/>
                  <a:pt x="74116" y="127000"/>
                  <a:pt x="87313" y="1270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2349500" y="3873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51000" y="4508500"/>
            <a:ext cx="584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independent program with its own memory space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Own address space &amp; resources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Heavyweight - high creation cost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IPC needed for communication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8000" y="3619500"/>
            <a:ext cx="6858000" cy="2730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85090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0714" y="103188"/>
                </a:moveTo>
                <a:cubicBezTo>
                  <a:pt x="105734" y="103188"/>
                  <a:pt x="117929" y="92517"/>
                  <a:pt x="117929" y="79375"/>
                </a:cubicBezTo>
                <a:cubicBezTo>
                  <a:pt x="117929" y="66233"/>
                  <a:pt x="105734" y="55563"/>
                  <a:pt x="90714" y="55563"/>
                </a:cubicBezTo>
                <a:cubicBezTo>
                  <a:pt x="75694" y="55563"/>
                  <a:pt x="63500" y="66233"/>
                  <a:pt x="63500" y="79375"/>
                </a:cubicBezTo>
                <a:cubicBezTo>
                  <a:pt x="63500" y="92517"/>
                  <a:pt x="75694" y="103188"/>
                  <a:pt x="90714" y="103188"/>
                </a:cubicBezTo>
                <a:close/>
                <a:moveTo>
                  <a:pt x="181429" y="79375"/>
                </a:moveTo>
                <a:cubicBezTo>
                  <a:pt x="181429" y="111919"/>
                  <a:pt x="159090" y="139898"/>
                  <a:pt x="127000" y="152102"/>
                </a:cubicBezTo>
                <a:lnTo>
                  <a:pt x="127000" y="222250"/>
                </a:lnTo>
                <a:lnTo>
                  <a:pt x="326571" y="222250"/>
                </a:lnTo>
                <a:cubicBezTo>
                  <a:pt x="356621" y="222250"/>
                  <a:pt x="381000" y="200918"/>
                  <a:pt x="381000" y="174625"/>
                </a:cubicBezTo>
                <a:lnTo>
                  <a:pt x="381000" y="152102"/>
                </a:lnTo>
                <a:cubicBezTo>
                  <a:pt x="348910" y="139898"/>
                  <a:pt x="326571" y="111919"/>
                  <a:pt x="326571" y="79375"/>
                </a:cubicBezTo>
                <a:cubicBezTo>
                  <a:pt x="326571" y="35520"/>
                  <a:pt x="367166" y="0"/>
                  <a:pt x="417286" y="0"/>
                </a:cubicBezTo>
                <a:cubicBezTo>
                  <a:pt x="467405" y="0"/>
                  <a:pt x="508000" y="35520"/>
                  <a:pt x="508000" y="79375"/>
                </a:cubicBezTo>
                <a:cubicBezTo>
                  <a:pt x="508000" y="111919"/>
                  <a:pt x="485662" y="139898"/>
                  <a:pt x="453571" y="152102"/>
                </a:cubicBezTo>
                <a:lnTo>
                  <a:pt x="453571" y="174625"/>
                </a:lnTo>
                <a:cubicBezTo>
                  <a:pt x="453571" y="236041"/>
                  <a:pt x="396762" y="285750"/>
                  <a:pt x="326571" y="285750"/>
                </a:cubicBezTo>
                <a:lnTo>
                  <a:pt x="127000" y="285750"/>
                </a:lnTo>
                <a:lnTo>
                  <a:pt x="127000" y="355898"/>
                </a:lnTo>
                <a:cubicBezTo>
                  <a:pt x="159090" y="368102"/>
                  <a:pt x="181429" y="396081"/>
                  <a:pt x="181429" y="428625"/>
                </a:cubicBezTo>
                <a:cubicBezTo>
                  <a:pt x="181429" y="472480"/>
                  <a:pt x="140834" y="508000"/>
                  <a:pt x="90714" y="508000"/>
                </a:cubicBezTo>
                <a:cubicBezTo>
                  <a:pt x="40595" y="508000"/>
                  <a:pt x="0" y="472480"/>
                  <a:pt x="0" y="428625"/>
                </a:cubicBezTo>
                <a:cubicBezTo>
                  <a:pt x="0" y="396081"/>
                  <a:pt x="22338" y="368102"/>
                  <a:pt x="54429" y="355898"/>
                </a:cubicBezTo>
                <a:lnTo>
                  <a:pt x="54429" y="152202"/>
                </a:lnTo>
                <a:cubicBezTo>
                  <a:pt x="22338" y="139898"/>
                  <a:pt x="0" y="111919"/>
                  <a:pt x="0" y="79375"/>
                </a:cubicBezTo>
                <a:cubicBezTo>
                  <a:pt x="0" y="35520"/>
                  <a:pt x="40595" y="0"/>
                  <a:pt x="90714" y="0"/>
                </a:cubicBezTo>
                <a:cubicBezTo>
                  <a:pt x="140834" y="0"/>
                  <a:pt x="181429" y="35520"/>
                  <a:pt x="181429" y="79375"/>
                </a:cubicBezTo>
                <a:close/>
                <a:moveTo>
                  <a:pt x="444500" y="79375"/>
                </a:moveTo>
                <a:cubicBezTo>
                  <a:pt x="444500" y="66233"/>
                  <a:pt x="432306" y="55563"/>
                  <a:pt x="417286" y="55563"/>
                </a:cubicBezTo>
                <a:cubicBezTo>
                  <a:pt x="402266" y="55563"/>
                  <a:pt x="390071" y="66233"/>
                  <a:pt x="390071" y="79375"/>
                </a:cubicBezTo>
                <a:cubicBezTo>
                  <a:pt x="390071" y="92517"/>
                  <a:pt x="402266" y="103188"/>
                  <a:pt x="417286" y="103188"/>
                </a:cubicBezTo>
                <a:cubicBezTo>
                  <a:pt x="432306" y="103188"/>
                  <a:pt x="444500" y="92517"/>
                  <a:pt x="444500" y="79375"/>
                </a:cubicBezTo>
                <a:close/>
                <a:moveTo>
                  <a:pt x="90714" y="452437"/>
                </a:moveTo>
                <a:cubicBezTo>
                  <a:pt x="105734" y="452437"/>
                  <a:pt x="117929" y="441767"/>
                  <a:pt x="117929" y="428625"/>
                </a:cubicBezTo>
                <a:cubicBezTo>
                  <a:pt x="117929" y="415483"/>
                  <a:pt x="105734" y="404813"/>
                  <a:pt x="90714" y="404813"/>
                </a:cubicBezTo>
                <a:cubicBezTo>
                  <a:pt x="75694" y="404813"/>
                  <a:pt x="63500" y="415483"/>
                  <a:pt x="63500" y="428625"/>
                </a:cubicBezTo>
                <a:cubicBezTo>
                  <a:pt x="63500" y="441767"/>
                  <a:pt x="75694" y="452437"/>
                  <a:pt x="90714" y="45243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207500" y="3873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09000" y="4508500"/>
            <a:ext cx="622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unit of execution within a process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Shares process memory space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Lightweight - low creation cost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Direct memory sharing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270000" y="6477000"/>
            <a:ext cx="13716000" cy="1778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51000" y="673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6731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World Example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51000" y="7302500"/>
            <a:ext cx="1295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browser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(process) with multiple threads: one for rendering the page, one for running JavaScript, one for handling network requests. Each thread handles a different task within the same browser process.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Single Thread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714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57400"/>
            <a:ext cx="1270000" cy="3810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057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25400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Single-threaded execution means a program has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sequential flow of control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Only one instruction is executed at a time, in order, from start to finish.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619500"/>
            <a:ext cx="6350000" cy="247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7500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9479" y="32415"/>
                </a:moveTo>
                <a:cubicBezTo>
                  <a:pt x="129213" y="39201"/>
                  <a:pt x="131534" y="52596"/>
                  <a:pt x="124748" y="62240"/>
                </a:cubicBezTo>
                <a:lnTo>
                  <a:pt x="74741" y="133677"/>
                </a:lnTo>
                <a:cubicBezTo>
                  <a:pt x="71080" y="138857"/>
                  <a:pt x="65365" y="142161"/>
                  <a:pt x="59025" y="142696"/>
                </a:cubicBezTo>
                <a:cubicBezTo>
                  <a:pt x="52685" y="143232"/>
                  <a:pt x="46434" y="141089"/>
                  <a:pt x="41970" y="136624"/>
                </a:cubicBezTo>
                <a:lnTo>
                  <a:pt x="6251" y="100905"/>
                </a:lnTo>
                <a:cubicBezTo>
                  <a:pt x="-2054" y="92512"/>
                  <a:pt x="-2054" y="78938"/>
                  <a:pt x="6251" y="70545"/>
                </a:cubicBezTo>
                <a:cubicBezTo>
                  <a:pt x="14555" y="62151"/>
                  <a:pt x="28218" y="62240"/>
                  <a:pt x="36612" y="70545"/>
                </a:cubicBezTo>
                <a:lnTo>
                  <a:pt x="54293" y="88225"/>
                </a:lnTo>
                <a:lnTo>
                  <a:pt x="89654" y="37683"/>
                </a:lnTo>
                <a:cubicBezTo>
                  <a:pt x="96441" y="27950"/>
                  <a:pt x="109835" y="25628"/>
                  <a:pt x="119479" y="32415"/>
                </a:cubicBezTo>
                <a:close/>
                <a:moveTo>
                  <a:pt x="119479" y="175290"/>
                </a:moveTo>
                <a:cubicBezTo>
                  <a:pt x="129213" y="182076"/>
                  <a:pt x="131534" y="195471"/>
                  <a:pt x="124748" y="205115"/>
                </a:cubicBezTo>
                <a:lnTo>
                  <a:pt x="74741" y="276552"/>
                </a:lnTo>
                <a:cubicBezTo>
                  <a:pt x="71080" y="281732"/>
                  <a:pt x="65365" y="285036"/>
                  <a:pt x="59025" y="285571"/>
                </a:cubicBezTo>
                <a:cubicBezTo>
                  <a:pt x="52685" y="286107"/>
                  <a:pt x="46434" y="283964"/>
                  <a:pt x="41970" y="279499"/>
                </a:cubicBezTo>
                <a:lnTo>
                  <a:pt x="6251" y="243780"/>
                </a:lnTo>
                <a:cubicBezTo>
                  <a:pt x="-2143" y="235387"/>
                  <a:pt x="-2143" y="221813"/>
                  <a:pt x="6251" y="213509"/>
                </a:cubicBezTo>
                <a:cubicBezTo>
                  <a:pt x="14645" y="205204"/>
                  <a:pt x="28218" y="205115"/>
                  <a:pt x="36522" y="213509"/>
                </a:cubicBezTo>
                <a:lnTo>
                  <a:pt x="54203" y="231190"/>
                </a:lnTo>
                <a:lnTo>
                  <a:pt x="89565" y="180648"/>
                </a:lnTo>
                <a:cubicBezTo>
                  <a:pt x="96351" y="170914"/>
                  <a:pt x="109746" y="168592"/>
                  <a:pt x="119390" y="175379"/>
                </a:cubicBezTo>
                <a:close/>
                <a:moveTo>
                  <a:pt x="200025" y="85725"/>
                </a:moveTo>
                <a:cubicBezTo>
                  <a:pt x="200025" y="69919"/>
                  <a:pt x="212794" y="57150"/>
                  <a:pt x="228600" y="57150"/>
                </a:cubicBezTo>
                <a:lnTo>
                  <a:pt x="428625" y="57150"/>
                </a:lnTo>
                <a:cubicBezTo>
                  <a:pt x="444431" y="57150"/>
                  <a:pt x="457200" y="69919"/>
                  <a:pt x="457200" y="85725"/>
                </a:cubicBezTo>
                <a:cubicBezTo>
                  <a:pt x="457200" y="101531"/>
                  <a:pt x="444431" y="114300"/>
                  <a:pt x="428625" y="114300"/>
                </a:cubicBezTo>
                <a:lnTo>
                  <a:pt x="228600" y="114300"/>
                </a:lnTo>
                <a:cubicBezTo>
                  <a:pt x="212794" y="114300"/>
                  <a:pt x="200025" y="101531"/>
                  <a:pt x="200025" y="85725"/>
                </a:cubicBezTo>
                <a:close/>
                <a:moveTo>
                  <a:pt x="200025" y="228600"/>
                </a:moveTo>
                <a:cubicBezTo>
                  <a:pt x="200025" y="212794"/>
                  <a:pt x="212794" y="200025"/>
                  <a:pt x="228600" y="200025"/>
                </a:cubicBez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228600" y="257175"/>
                </a:lnTo>
                <a:cubicBezTo>
                  <a:pt x="212794" y="257175"/>
                  <a:pt x="200025" y="244406"/>
                  <a:pt x="200025" y="228600"/>
                </a:cubicBezTo>
                <a:close/>
                <a:moveTo>
                  <a:pt x="142875" y="371475"/>
                </a:moveTo>
                <a:cubicBezTo>
                  <a:pt x="142875" y="355669"/>
                  <a:pt x="155644" y="342900"/>
                  <a:pt x="171450" y="342900"/>
                </a:cubicBezTo>
                <a:lnTo>
                  <a:pt x="428625" y="342900"/>
                </a:lnTo>
                <a:cubicBezTo>
                  <a:pt x="444431" y="342900"/>
                  <a:pt x="457200" y="355669"/>
                  <a:pt x="457200" y="371475"/>
                </a:cubicBezTo>
                <a:cubicBezTo>
                  <a:pt x="457200" y="387281"/>
                  <a:pt x="444431" y="400050"/>
                  <a:pt x="428625" y="400050"/>
                </a:cubicBezTo>
                <a:lnTo>
                  <a:pt x="171450" y="400050"/>
                </a:lnTo>
                <a:cubicBezTo>
                  <a:pt x="155644" y="400050"/>
                  <a:pt x="142875" y="387281"/>
                  <a:pt x="142875" y="371475"/>
                </a:cubicBezTo>
                <a:close/>
                <a:moveTo>
                  <a:pt x="57150" y="335756"/>
                </a:moveTo>
                <a:cubicBezTo>
                  <a:pt x="76864" y="335756"/>
                  <a:pt x="92869" y="351761"/>
                  <a:pt x="92869" y="371475"/>
                </a:cubicBezTo>
                <a:cubicBezTo>
                  <a:pt x="92869" y="391189"/>
                  <a:pt x="76864" y="407194"/>
                  <a:pt x="57150" y="407194"/>
                </a:cubicBezTo>
                <a:cubicBezTo>
                  <a:pt x="37436" y="407194"/>
                  <a:pt x="21431" y="391189"/>
                  <a:pt x="21431" y="371475"/>
                </a:cubicBezTo>
                <a:cubicBezTo>
                  <a:pt x="21431" y="351761"/>
                  <a:pt x="37436" y="335756"/>
                  <a:pt x="57150" y="335756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2222500" y="3810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87500" y="4381500"/>
            <a:ext cx="5778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One task executed at a time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Sequential execution order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Simple to understand and debug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synchronization needed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01000" y="3619500"/>
            <a:ext cx="6985000" cy="247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18500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" y="85725"/>
                </a:moveTo>
                <a:cubicBezTo>
                  <a:pt x="45720" y="54203"/>
                  <a:pt x="66223" y="28575"/>
                  <a:pt x="91440" y="28575"/>
                </a:cubicBezTo>
                <a:lnTo>
                  <a:pt x="365760" y="28575"/>
                </a:lnTo>
                <a:cubicBezTo>
                  <a:pt x="390977" y="28575"/>
                  <a:pt x="411480" y="54203"/>
                  <a:pt x="411480" y="85725"/>
                </a:cubicBezTo>
                <a:lnTo>
                  <a:pt x="411480" y="300038"/>
                </a:lnTo>
                <a:lnTo>
                  <a:pt x="365760" y="300038"/>
                </a:lnTo>
                <a:lnTo>
                  <a:pt x="365760" y="85725"/>
                </a:lnTo>
                <a:lnTo>
                  <a:pt x="91440" y="85725"/>
                </a:lnTo>
                <a:lnTo>
                  <a:pt x="91440" y="300038"/>
                </a:lnTo>
                <a:lnTo>
                  <a:pt x="45720" y="300038"/>
                </a:lnTo>
                <a:lnTo>
                  <a:pt x="45720" y="85725"/>
                </a:lnTo>
                <a:close/>
                <a:moveTo>
                  <a:pt x="0" y="360045"/>
                </a:moveTo>
                <a:cubicBezTo>
                  <a:pt x="0" y="350580"/>
                  <a:pt x="6144" y="342900"/>
                  <a:pt x="13716" y="342900"/>
                </a:cubicBezTo>
                <a:lnTo>
                  <a:pt x="443484" y="342900"/>
                </a:lnTo>
                <a:cubicBezTo>
                  <a:pt x="451056" y="342900"/>
                  <a:pt x="457200" y="350580"/>
                  <a:pt x="457200" y="360045"/>
                </a:cubicBezTo>
                <a:cubicBezTo>
                  <a:pt x="457200" y="397907"/>
                  <a:pt x="432626" y="428625"/>
                  <a:pt x="402336" y="428625"/>
                </a:cubicBezTo>
                <a:lnTo>
                  <a:pt x="54864" y="428625"/>
                </a:lnTo>
                <a:cubicBezTo>
                  <a:pt x="24575" y="428625"/>
                  <a:pt x="0" y="397907"/>
                  <a:pt x="0" y="360045"/>
                </a:cubicBezTo>
                <a:close/>
                <a:moveTo>
                  <a:pt x="200739" y="186630"/>
                </a:moveTo>
                <a:lnTo>
                  <a:pt x="178594" y="214313"/>
                </a:lnTo>
                <a:lnTo>
                  <a:pt x="200739" y="241995"/>
                </a:lnTo>
                <a:cubicBezTo>
                  <a:pt x="207455" y="250388"/>
                  <a:pt x="207455" y="263962"/>
                  <a:pt x="200739" y="272266"/>
                </a:cubicBezTo>
                <a:cubicBezTo>
                  <a:pt x="194024" y="280571"/>
                  <a:pt x="183166" y="280660"/>
                  <a:pt x="176522" y="272266"/>
                </a:cubicBezTo>
                <a:lnTo>
                  <a:pt x="142232" y="229404"/>
                </a:lnTo>
                <a:cubicBezTo>
                  <a:pt x="135517" y="221010"/>
                  <a:pt x="135517" y="207437"/>
                  <a:pt x="142232" y="199132"/>
                </a:cubicBezTo>
                <a:lnTo>
                  <a:pt x="176522" y="156270"/>
                </a:lnTo>
                <a:cubicBezTo>
                  <a:pt x="183237" y="147876"/>
                  <a:pt x="194096" y="147876"/>
                  <a:pt x="200739" y="156270"/>
                </a:cubicBezTo>
                <a:cubicBezTo>
                  <a:pt x="207383" y="164663"/>
                  <a:pt x="207455" y="178237"/>
                  <a:pt x="200739" y="186541"/>
                </a:cubicBezTo>
                <a:close/>
                <a:moveTo>
                  <a:pt x="280749" y="156270"/>
                </a:moveTo>
                <a:lnTo>
                  <a:pt x="315039" y="199132"/>
                </a:lnTo>
                <a:cubicBezTo>
                  <a:pt x="321755" y="207526"/>
                  <a:pt x="321755" y="221099"/>
                  <a:pt x="315039" y="229404"/>
                </a:cubicBezTo>
                <a:lnTo>
                  <a:pt x="280749" y="272266"/>
                </a:lnTo>
                <a:cubicBezTo>
                  <a:pt x="274034" y="280660"/>
                  <a:pt x="263176" y="280660"/>
                  <a:pt x="256532" y="272266"/>
                </a:cubicBezTo>
                <a:cubicBezTo>
                  <a:pt x="249888" y="263872"/>
                  <a:pt x="249817" y="250299"/>
                  <a:pt x="256532" y="241995"/>
                </a:cubicBezTo>
                <a:lnTo>
                  <a:pt x="278678" y="214313"/>
                </a:lnTo>
                <a:lnTo>
                  <a:pt x="256532" y="186630"/>
                </a:lnTo>
                <a:cubicBezTo>
                  <a:pt x="249817" y="178237"/>
                  <a:pt x="249817" y="164663"/>
                  <a:pt x="256532" y="156359"/>
                </a:cubicBezTo>
                <a:cubicBezTo>
                  <a:pt x="263247" y="148054"/>
                  <a:pt x="274106" y="147965"/>
                  <a:pt x="280749" y="156359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8953500" y="3810000"/>
            <a:ext cx="444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Environments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18500" y="4381500"/>
            <a:ext cx="6413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browsers (event loop)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(GIL limitation)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(async I/O model)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Simple command-line scripts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270000" y="6413500"/>
            <a:ext cx="13716000" cy="18415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651000" y="666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" y="-15875"/>
                </a:moveTo>
                <a:cubicBezTo>
                  <a:pt x="8493" y="-15875"/>
                  <a:pt x="0" y="-5259"/>
                  <a:pt x="0" y="7938"/>
                </a:cubicBezTo>
                <a:cubicBezTo>
                  <a:pt x="0" y="21134"/>
                  <a:pt x="8493" y="31750"/>
                  <a:pt x="19050" y="31750"/>
                </a:cubicBezTo>
                <a:lnTo>
                  <a:pt x="55007" y="31750"/>
                </a:lnTo>
                <a:cubicBezTo>
                  <a:pt x="58103" y="31750"/>
                  <a:pt x="60722" y="34528"/>
                  <a:pt x="61278" y="38298"/>
                </a:cubicBezTo>
                <a:lnTo>
                  <a:pt x="102632" y="322362"/>
                </a:lnTo>
                <a:cubicBezTo>
                  <a:pt x="107553" y="356295"/>
                  <a:pt x="131207" y="381000"/>
                  <a:pt x="158829" y="381000"/>
                </a:cubicBezTo>
                <a:lnTo>
                  <a:pt x="361950" y="381000"/>
                </a:lnTo>
                <a:cubicBezTo>
                  <a:pt x="372507" y="381000"/>
                  <a:pt x="381000" y="370384"/>
                  <a:pt x="381000" y="357188"/>
                </a:cubicBezTo>
                <a:cubicBezTo>
                  <a:pt x="381000" y="343991"/>
                  <a:pt x="372507" y="333375"/>
                  <a:pt x="361950" y="333375"/>
                </a:cubicBezTo>
                <a:lnTo>
                  <a:pt x="158829" y="333375"/>
                </a:lnTo>
                <a:cubicBezTo>
                  <a:pt x="149622" y="333375"/>
                  <a:pt x="141764" y="325140"/>
                  <a:pt x="140097" y="313829"/>
                </a:cubicBezTo>
                <a:lnTo>
                  <a:pt x="136049" y="285750"/>
                </a:lnTo>
                <a:lnTo>
                  <a:pt x="377031" y="285750"/>
                </a:lnTo>
                <a:cubicBezTo>
                  <a:pt x="401479" y="285750"/>
                  <a:pt x="422434" y="264021"/>
                  <a:pt x="426958" y="233958"/>
                </a:cubicBezTo>
                <a:lnTo>
                  <a:pt x="451564" y="69354"/>
                </a:lnTo>
                <a:cubicBezTo>
                  <a:pt x="454501" y="49808"/>
                  <a:pt x="442516" y="31750"/>
                  <a:pt x="426561" y="31750"/>
                </a:cubicBezTo>
                <a:lnTo>
                  <a:pt x="98981" y="31750"/>
                </a:lnTo>
                <a:lnTo>
                  <a:pt x="98663" y="29766"/>
                </a:lnTo>
                <a:cubicBezTo>
                  <a:pt x="94853" y="3373"/>
                  <a:pt x="76438" y="-15875"/>
                  <a:pt x="54927" y="-15875"/>
                </a:cubicBezTo>
                <a:lnTo>
                  <a:pt x="19050" y="-15875"/>
                </a:lnTo>
                <a:close/>
                <a:moveTo>
                  <a:pt x="165100" y="508000"/>
                </a:moveTo>
                <a:cubicBezTo>
                  <a:pt x="186128" y="508000"/>
                  <a:pt x="203200" y="486660"/>
                  <a:pt x="203200" y="460375"/>
                </a:cubicBezTo>
                <a:cubicBezTo>
                  <a:pt x="203200" y="434090"/>
                  <a:pt x="186128" y="412750"/>
                  <a:pt x="165100" y="412750"/>
                </a:cubicBezTo>
                <a:cubicBezTo>
                  <a:pt x="144072" y="412750"/>
                  <a:pt x="127000" y="434090"/>
                  <a:pt x="127000" y="460375"/>
                </a:cubicBezTo>
                <a:cubicBezTo>
                  <a:pt x="127000" y="486660"/>
                  <a:pt x="144072" y="508000"/>
                  <a:pt x="165100" y="508000"/>
                </a:cubicBezTo>
                <a:close/>
                <a:moveTo>
                  <a:pt x="342900" y="508000"/>
                </a:moveTo>
                <a:cubicBezTo>
                  <a:pt x="363928" y="508000"/>
                  <a:pt x="381000" y="486660"/>
                  <a:pt x="381000" y="460375"/>
                </a:cubicBezTo>
                <a:cubicBezTo>
                  <a:pt x="381000" y="434090"/>
                  <a:pt x="363928" y="412750"/>
                  <a:pt x="342900" y="412750"/>
                </a:cubicBezTo>
                <a:cubicBezTo>
                  <a:pt x="321872" y="412750"/>
                  <a:pt x="304800" y="434090"/>
                  <a:pt x="304800" y="460375"/>
                </a:cubicBezTo>
                <a:cubicBezTo>
                  <a:pt x="304800" y="486660"/>
                  <a:pt x="321872" y="508000"/>
                  <a:pt x="342900" y="508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349500" y="666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World Example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51000" y="7302500"/>
            <a:ext cx="1295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cashier at a grocery store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customers are served one at a time in order. While one customer is being served, all others wait in line. Simple and predictable but can create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bottlenecks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during busy periods.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Thread - Code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8890000" cy="6350000"/>
          </a:xfrm>
          <a:prstGeom prst="roundRect">
            <a:avLst>
              <a:gd name="adj" fmla="val 6000"/>
            </a:avLst>
          </a:prstGeom>
          <a:solidFill>
            <a:srgbClr val="2D3748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1841500"/>
            <a:ext cx="8890000" cy="4572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6" name="Shape 4"/>
          <p:cNvSpPr/>
          <p:nvPr/>
        </p:nvSpPr>
        <p:spPr>
          <a:xfrm>
            <a:off x="1473200" y="1993900"/>
            <a:ext cx="152400" cy="1524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727200" y="1993900"/>
            <a:ext cx="152400" cy="15240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981200" y="1993900"/>
            <a:ext cx="152400" cy="1524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841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single_thread.py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24000" y="2413000"/>
            <a:ext cx="8382000" cy="565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Single-threaded execution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time</a:t>
            </a:r>
            <a:endParaRPr lang="en-US" sz="1300" dirty="0"/>
          </a:p>
          <a:p>
            <a:pPr algn="l">
              <a:lnSpc>
                <a:spcPct val="150000"/>
              </a:lnSpc>
            </a:pP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task_a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range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(1, 4):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f"Task A: Step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{i}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time.sleep(1)</a:t>
            </a:r>
            <a:endParaRPr lang="en-US" sz="1300" dirty="0"/>
          </a:p>
          <a:p>
            <a:pPr algn="l">
              <a:lnSpc>
                <a:spcPct val="150000"/>
              </a:lnSpc>
            </a:pP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task_b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range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(1, 4):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f"Task B: Step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{i}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time.sleep(1)</a:t>
            </a:r>
            <a:endParaRPr lang="en-US" sz="1300" dirty="0"/>
          </a:p>
          <a:p>
            <a:pPr algn="l">
              <a:lnSpc>
                <a:spcPct val="150000"/>
              </a:lnSpc>
            </a:pP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= time.time()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task_a()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Runs first (3s)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task_b()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Then runs (3s)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f"Total: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{time.time()-start:.1f}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s"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Output: Total: ~6.0 seconds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41000" y="1841500"/>
            <a:ext cx="4445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8585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8575"/>
                </a:moveTo>
                <a:cubicBezTo>
                  <a:pt x="164465" y="28575"/>
                  <a:pt x="113109" y="61436"/>
                  <a:pt x="75724" y="100548"/>
                </a:cubicBezTo>
                <a:cubicBezTo>
                  <a:pt x="38576" y="139392"/>
                  <a:pt x="13732" y="185738"/>
                  <a:pt x="1905" y="217616"/>
                </a:cubicBezTo>
                <a:cubicBezTo>
                  <a:pt x="-714" y="224671"/>
                  <a:pt x="-714" y="232529"/>
                  <a:pt x="1905" y="239584"/>
                </a:cubicBezTo>
                <a:cubicBezTo>
                  <a:pt x="13732" y="271463"/>
                  <a:pt x="38576" y="317897"/>
                  <a:pt x="75724" y="356652"/>
                </a:cubicBezTo>
                <a:cubicBezTo>
                  <a:pt x="113109" y="395674"/>
                  <a:pt x="164465" y="428625"/>
                  <a:pt x="228600" y="428625"/>
                </a:cubicBezTo>
                <a:cubicBezTo>
                  <a:pt x="292735" y="428625"/>
                  <a:pt x="344091" y="395764"/>
                  <a:pt x="381476" y="356652"/>
                </a:cubicBezTo>
                <a:cubicBezTo>
                  <a:pt x="418624" y="317808"/>
                  <a:pt x="443468" y="271463"/>
                  <a:pt x="455295" y="239584"/>
                </a:cubicBezTo>
                <a:cubicBezTo>
                  <a:pt x="457914" y="232529"/>
                  <a:pt x="457914" y="224671"/>
                  <a:pt x="455295" y="217616"/>
                </a:cubicBezTo>
                <a:cubicBezTo>
                  <a:pt x="443468" y="185737"/>
                  <a:pt x="418624" y="139303"/>
                  <a:pt x="381476" y="100548"/>
                </a:cubicBezTo>
                <a:cubicBezTo>
                  <a:pt x="344091" y="61526"/>
                  <a:pt x="292735" y="28575"/>
                  <a:pt x="228600" y="28575"/>
                </a:cubicBezTo>
                <a:close/>
                <a:moveTo>
                  <a:pt x="114300" y="228600"/>
                </a:moveTo>
                <a:cubicBezTo>
                  <a:pt x="114300" y="157631"/>
                  <a:pt x="165516" y="100013"/>
                  <a:pt x="228600" y="100013"/>
                </a:cubicBezTo>
                <a:cubicBezTo>
                  <a:pt x="291684" y="100013"/>
                  <a:pt x="342900" y="157631"/>
                  <a:pt x="342900" y="228600"/>
                </a:cubicBezTo>
                <a:cubicBezTo>
                  <a:pt x="342900" y="299569"/>
                  <a:pt x="291684" y="357188"/>
                  <a:pt x="228600" y="357188"/>
                </a:cubicBezTo>
                <a:cubicBezTo>
                  <a:pt x="165516" y="357188"/>
                  <a:pt x="114300" y="299569"/>
                  <a:pt x="114300" y="228600"/>
                </a:cubicBezTo>
                <a:close/>
                <a:moveTo>
                  <a:pt x="228600" y="171450"/>
                </a:moveTo>
                <a:cubicBezTo>
                  <a:pt x="228600" y="202972"/>
                  <a:pt x="205819" y="228600"/>
                  <a:pt x="177800" y="228600"/>
                </a:cubicBezTo>
                <a:cubicBezTo>
                  <a:pt x="168672" y="228600"/>
                  <a:pt x="160099" y="225921"/>
                  <a:pt x="152638" y="221099"/>
                </a:cubicBezTo>
                <a:cubicBezTo>
                  <a:pt x="151844" y="230832"/>
                  <a:pt x="152559" y="240834"/>
                  <a:pt x="154940" y="250746"/>
                </a:cubicBezTo>
                <a:cubicBezTo>
                  <a:pt x="165814" y="296466"/>
                  <a:pt x="207645" y="323612"/>
                  <a:pt x="248285" y="311378"/>
                </a:cubicBezTo>
                <a:cubicBezTo>
                  <a:pt x="288925" y="299145"/>
                  <a:pt x="313055" y="252085"/>
                  <a:pt x="302181" y="206365"/>
                </a:cubicBezTo>
                <a:cubicBezTo>
                  <a:pt x="292497" y="165556"/>
                  <a:pt x="258128" y="139571"/>
                  <a:pt x="221933" y="143143"/>
                </a:cubicBezTo>
                <a:cubicBezTo>
                  <a:pt x="226139" y="151448"/>
                  <a:pt x="228600" y="161092"/>
                  <a:pt x="228600" y="1714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93500" y="20955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858500" y="2730500"/>
            <a:ext cx="3873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B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cannot start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until Task A completes.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time =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 of both tasks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41000" y="4635500"/>
            <a:ext cx="4445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10541000" y="4762500"/>
            <a:ext cx="444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~6.0s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10541000" y="5715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Execution Time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41000" y="65405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58500" y="67310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Thread Time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 = t(Task A) + t(Task B)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Thread Execution Flow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Timeline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3937000"/>
            <a:ext cx="13716000" cy="381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6" name="Shape 4"/>
          <p:cNvSpPr/>
          <p:nvPr/>
        </p:nvSpPr>
        <p:spPr>
          <a:xfrm>
            <a:off x="1270000" y="3873500"/>
            <a:ext cx="38100" cy="1651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4127500"/>
            <a:ext cx="50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3873500"/>
            <a:ext cx="38100" cy="1651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6667500" y="4127500"/>
            <a:ext cx="50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446000" y="3873500"/>
            <a:ext cx="38100" cy="1651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12255500" y="4127500"/>
            <a:ext cx="50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70000" y="2921000"/>
            <a:ext cx="5588000" cy="635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000" y="2921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A (Step 1 - 3)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58000" y="4445000"/>
            <a:ext cx="5588000" cy="6350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4445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B (Step 1 - 3)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0" y="3556000"/>
            <a:ext cx="0" cy="698500"/>
          </a:xfrm>
          <a:prstGeom prst="straightConnector1">
            <a:avLst/>
          </a:prstGeom>
          <a:noFill/>
          <a:ln w="25400">
            <a:solidFill>
              <a:srgbClr val="6B9CB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3970000" y="2921000"/>
            <a:ext cx="1016000" cy="215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70000" y="3556000"/>
            <a:ext cx="10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CPU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70000" y="5461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Flow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6096000"/>
            <a:ext cx="1270000" cy="5715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21" name="Text 19"/>
          <p:cNvSpPr/>
          <p:nvPr/>
        </p:nvSpPr>
        <p:spPr>
          <a:xfrm>
            <a:off x="1270000" y="60960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540000" y="63754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3048000" y="6096000"/>
            <a:ext cx="1778000" cy="5715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24" name="Text 22"/>
          <p:cNvSpPr/>
          <p:nvPr/>
        </p:nvSpPr>
        <p:spPr>
          <a:xfrm>
            <a:off x="3048000" y="6096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A (3s)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26000" y="63754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5334000" y="6096000"/>
            <a:ext cx="1778000" cy="5715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27" name="Text 25"/>
          <p:cNvSpPr/>
          <p:nvPr/>
        </p:nvSpPr>
        <p:spPr>
          <a:xfrm>
            <a:off x="5334000" y="6096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B (3s)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12000" y="63754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7620000" y="6096000"/>
            <a:ext cx="1270000" cy="5715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0" y="6096000"/>
            <a:ext cx="12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70000" y="7048500"/>
            <a:ext cx="13716000" cy="1143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778000" y="7175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Thread Formula: </a:t>
            </a:r>
            <a:pPr algn="ctr">
              <a:lnSpc>
                <a:spcPct val="120000"/>
              </a:lnSpc>
            </a:pPr>
            <a:r>
              <a:rPr lang="en-US" sz="2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Time = Time(Task A) + Time(Task B)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3s + 3s = 6s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Thread - Advantages &amp; Limitations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477000" cy="469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51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159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2857500"/>
            <a:ext cx="5842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write and understand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race conditions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deadlocks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Predictable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execution order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Easier debugging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step through code linearly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synchronization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overhead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 memory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footprint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28000" y="1905000"/>
            <a:ext cx="6858000" cy="469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9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165695" y="165695"/>
                </a:moveTo>
                <a:cubicBezTo>
                  <a:pt x="175022" y="156369"/>
                  <a:pt x="190103" y="156369"/>
                  <a:pt x="199330" y="165695"/>
                </a:cubicBezTo>
                <a:lnTo>
                  <a:pt x="253901" y="220266"/>
                </a:lnTo>
                <a:lnTo>
                  <a:pt x="308471" y="165695"/>
                </a:lnTo>
                <a:cubicBezTo>
                  <a:pt x="317798" y="156369"/>
                  <a:pt x="332879" y="156369"/>
                  <a:pt x="342106" y="165695"/>
                </a:cubicBezTo>
                <a:cubicBezTo>
                  <a:pt x="351334" y="175022"/>
                  <a:pt x="351433" y="190103"/>
                  <a:pt x="342106" y="199330"/>
                </a:cubicBezTo>
                <a:lnTo>
                  <a:pt x="287536" y="253901"/>
                </a:lnTo>
                <a:lnTo>
                  <a:pt x="342106" y="308471"/>
                </a:lnTo>
                <a:cubicBezTo>
                  <a:pt x="351433" y="317798"/>
                  <a:pt x="351433" y="332879"/>
                  <a:pt x="342106" y="342106"/>
                </a:cubicBezTo>
                <a:cubicBezTo>
                  <a:pt x="332780" y="351334"/>
                  <a:pt x="317698" y="351433"/>
                  <a:pt x="308471" y="342106"/>
                </a:cubicBezTo>
                <a:lnTo>
                  <a:pt x="253901" y="287536"/>
                </a:lnTo>
                <a:lnTo>
                  <a:pt x="199330" y="342106"/>
                </a:lnTo>
                <a:cubicBezTo>
                  <a:pt x="190004" y="351433"/>
                  <a:pt x="174923" y="351433"/>
                  <a:pt x="165695" y="342106"/>
                </a:cubicBezTo>
                <a:cubicBezTo>
                  <a:pt x="156468" y="332780"/>
                  <a:pt x="156369" y="317698"/>
                  <a:pt x="165695" y="308471"/>
                </a:cubicBezTo>
                <a:lnTo>
                  <a:pt x="220266" y="253901"/>
                </a:lnTo>
                <a:lnTo>
                  <a:pt x="165695" y="199330"/>
                </a:lnTo>
                <a:cubicBezTo>
                  <a:pt x="156369" y="190004"/>
                  <a:pt x="156369" y="174923"/>
                  <a:pt x="165695" y="165695"/>
                </a:cubicBezTo>
                <a:close/>
              </a:path>
            </a:pathLst>
          </a:cu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9207500" y="2159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509000" y="2857500"/>
            <a:ext cx="6223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Cannot utilize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multiple CPU cores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Tasks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 each other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Slower for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I/O-bound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operations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responsiveness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UI apps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time =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 of all tasks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true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parallelism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69215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651000" y="717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7175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51000" y="7683500"/>
            <a:ext cx="1295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scripts  |  Event-driven models (Node.js)  |  Order matters  |  Debugging simplicity is critical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26: Multi-threading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952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Executing multiple threads concurrently for improved performance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Multi-threading?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714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57400"/>
            <a:ext cx="1270000" cy="3810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057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25400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Multi-threading is a programming technique that allows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threads to exist within a single process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executing concurrently. It enables a program to perform multiple operations simultaneously.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746500"/>
            <a:ext cx="4191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75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4097" y="167084"/>
                </a:moveTo>
                <a:cubicBezTo>
                  <a:pt x="271844" y="164465"/>
                  <a:pt x="279972" y="169069"/>
                  <a:pt x="283464" y="178038"/>
                </a:cubicBezTo>
                <a:lnTo>
                  <a:pt x="295275" y="207883"/>
                </a:lnTo>
                <a:cubicBezTo>
                  <a:pt x="301816" y="208994"/>
                  <a:pt x="308229" y="211217"/>
                  <a:pt x="314262" y="214313"/>
                </a:cubicBezTo>
                <a:lnTo>
                  <a:pt x="336487" y="195818"/>
                </a:lnTo>
                <a:cubicBezTo>
                  <a:pt x="343154" y="190262"/>
                  <a:pt x="351981" y="191373"/>
                  <a:pt x="357632" y="198438"/>
                </a:cubicBezTo>
                <a:lnTo>
                  <a:pt x="369824" y="213678"/>
                </a:lnTo>
                <a:cubicBezTo>
                  <a:pt x="375475" y="220742"/>
                  <a:pt x="376365" y="231854"/>
                  <a:pt x="371919" y="240109"/>
                </a:cubicBezTo>
                <a:lnTo>
                  <a:pt x="357124" y="267811"/>
                </a:lnTo>
                <a:cubicBezTo>
                  <a:pt x="358331" y="271542"/>
                  <a:pt x="359410" y="275431"/>
                  <a:pt x="360299" y="279479"/>
                </a:cubicBezTo>
                <a:cubicBezTo>
                  <a:pt x="361188" y="283528"/>
                  <a:pt x="361759" y="287496"/>
                  <a:pt x="362204" y="291544"/>
                </a:cubicBezTo>
                <a:lnTo>
                  <a:pt x="386144" y="306308"/>
                </a:lnTo>
                <a:cubicBezTo>
                  <a:pt x="393319" y="310753"/>
                  <a:pt x="397002" y="320913"/>
                  <a:pt x="394907" y="330518"/>
                </a:cubicBezTo>
                <a:lnTo>
                  <a:pt x="390462" y="351314"/>
                </a:lnTo>
                <a:cubicBezTo>
                  <a:pt x="388366" y="360918"/>
                  <a:pt x="381190" y="367427"/>
                  <a:pt x="373190" y="366792"/>
                </a:cubicBezTo>
                <a:lnTo>
                  <a:pt x="346519" y="364649"/>
                </a:lnTo>
                <a:cubicBezTo>
                  <a:pt x="342519" y="371078"/>
                  <a:pt x="337884" y="377031"/>
                  <a:pt x="332613" y="382111"/>
                </a:cubicBezTo>
                <a:lnTo>
                  <a:pt x="334328" y="415369"/>
                </a:lnTo>
                <a:cubicBezTo>
                  <a:pt x="334835" y="425371"/>
                  <a:pt x="329629" y="434419"/>
                  <a:pt x="321945" y="436959"/>
                </a:cubicBezTo>
                <a:lnTo>
                  <a:pt x="305308" y="442516"/>
                </a:lnTo>
                <a:cubicBezTo>
                  <a:pt x="297561" y="445135"/>
                  <a:pt x="289497" y="440531"/>
                  <a:pt x="285941" y="431562"/>
                </a:cubicBezTo>
                <a:lnTo>
                  <a:pt x="274130" y="401717"/>
                </a:lnTo>
                <a:cubicBezTo>
                  <a:pt x="267589" y="400606"/>
                  <a:pt x="261176" y="398383"/>
                  <a:pt x="255143" y="395288"/>
                </a:cubicBezTo>
                <a:lnTo>
                  <a:pt x="232918" y="413782"/>
                </a:lnTo>
                <a:cubicBezTo>
                  <a:pt x="226251" y="419338"/>
                  <a:pt x="217424" y="418227"/>
                  <a:pt x="211773" y="411163"/>
                </a:cubicBezTo>
                <a:lnTo>
                  <a:pt x="199581" y="395923"/>
                </a:lnTo>
                <a:cubicBezTo>
                  <a:pt x="193929" y="388858"/>
                  <a:pt x="193040" y="377825"/>
                  <a:pt x="197485" y="369491"/>
                </a:cubicBezTo>
                <a:lnTo>
                  <a:pt x="212281" y="341709"/>
                </a:lnTo>
                <a:cubicBezTo>
                  <a:pt x="211074" y="337979"/>
                  <a:pt x="209994" y="334089"/>
                  <a:pt x="209106" y="330041"/>
                </a:cubicBezTo>
                <a:cubicBezTo>
                  <a:pt x="208217" y="325993"/>
                  <a:pt x="207645" y="321945"/>
                  <a:pt x="207201" y="317976"/>
                </a:cubicBezTo>
                <a:lnTo>
                  <a:pt x="183261" y="303213"/>
                </a:lnTo>
                <a:cubicBezTo>
                  <a:pt x="176086" y="298768"/>
                  <a:pt x="172466" y="288608"/>
                  <a:pt x="174498" y="279003"/>
                </a:cubicBezTo>
                <a:lnTo>
                  <a:pt x="178943" y="258207"/>
                </a:lnTo>
                <a:cubicBezTo>
                  <a:pt x="181039" y="248602"/>
                  <a:pt x="188214" y="242094"/>
                  <a:pt x="196215" y="242729"/>
                </a:cubicBezTo>
                <a:lnTo>
                  <a:pt x="222822" y="244872"/>
                </a:lnTo>
                <a:cubicBezTo>
                  <a:pt x="226822" y="238442"/>
                  <a:pt x="231458" y="232489"/>
                  <a:pt x="236728" y="227409"/>
                </a:cubicBezTo>
                <a:lnTo>
                  <a:pt x="235014" y="194231"/>
                </a:lnTo>
                <a:cubicBezTo>
                  <a:pt x="234506" y="184229"/>
                  <a:pt x="239712" y="175181"/>
                  <a:pt x="247396" y="172641"/>
                </a:cubicBezTo>
                <a:lnTo>
                  <a:pt x="264033" y="167084"/>
                </a:lnTo>
                <a:close/>
                <a:moveTo>
                  <a:pt x="284734" y="269875"/>
                </a:moveTo>
                <a:cubicBezTo>
                  <a:pt x="269313" y="269897"/>
                  <a:pt x="256808" y="285564"/>
                  <a:pt x="256826" y="304840"/>
                </a:cubicBezTo>
                <a:cubicBezTo>
                  <a:pt x="256843" y="324115"/>
                  <a:pt x="269377" y="339747"/>
                  <a:pt x="284798" y="339725"/>
                </a:cubicBezTo>
                <a:cubicBezTo>
                  <a:pt x="300218" y="339703"/>
                  <a:pt x="312723" y="324036"/>
                  <a:pt x="312706" y="304760"/>
                </a:cubicBezTo>
                <a:cubicBezTo>
                  <a:pt x="312688" y="285485"/>
                  <a:pt x="300155" y="269853"/>
                  <a:pt x="284734" y="269875"/>
                </a:cubicBezTo>
                <a:close/>
                <a:moveTo>
                  <a:pt x="142812" y="-36116"/>
                </a:moveTo>
                <a:lnTo>
                  <a:pt x="159449" y="-30559"/>
                </a:lnTo>
                <a:cubicBezTo>
                  <a:pt x="167132" y="-27940"/>
                  <a:pt x="172339" y="-18891"/>
                  <a:pt x="171831" y="-8969"/>
                </a:cubicBezTo>
                <a:lnTo>
                  <a:pt x="170117" y="24209"/>
                </a:lnTo>
                <a:cubicBezTo>
                  <a:pt x="175387" y="29289"/>
                  <a:pt x="180023" y="35163"/>
                  <a:pt x="184023" y="41672"/>
                </a:cubicBezTo>
                <a:lnTo>
                  <a:pt x="210693" y="39529"/>
                </a:lnTo>
                <a:cubicBezTo>
                  <a:pt x="218631" y="38894"/>
                  <a:pt x="225869" y="45403"/>
                  <a:pt x="227965" y="55007"/>
                </a:cubicBezTo>
                <a:lnTo>
                  <a:pt x="232410" y="75803"/>
                </a:lnTo>
                <a:cubicBezTo>
                  <a:pt x="234442" y="85408"/>
                  <a:pt x="230823" y="95568"/>
                  <a:pt x="223647" y="100013"/>
                </a:cubicBezTo>
                <a:lnTo>
                  <a:pt x="199708" y="114776"/>
                </a:lnTo>
                <a:cubicBezTo>
                  <a:pt x="199263" y="118824"/>
                  <a:pt x="198628" y="122873"/>
                  <a:pt x="197803" y="126841"/>
                </a:cubicBezTo>
                <a:cubicBezTo>
                  <a:pt x="196977" y="130810"/>
                  <a:pt x="195834" y="134779"/>
                  <a:pt x="194628" y="138509"/>
                </a:cubicBezTo>
                <a:lnTo>
                  <a:pt x="209423" y="166291"/>
                </a:lnTo>
                <a:cubicBezTo>
                  <a:pt x="213868" y="174625"/>
                  <a:pt x="212979" y="185658"/>
                  <a:pt x="207328" y="192722"/>
                </a:cubicBezTo>
                <a:lnTo>
                  <a:pt x="195136" y="207963"/>
                </a:lnTo>
                <a:cubicBezTo>
                  <a:pt x="189484" y="215027"/>
                  <a:pt x="180658" y="216138"/>
                  <a:pt x="173990" y="210582"/>
                </a:cubicBezTo>
                <a:lnTo>
                  <a:pt x="151765" y="192088"/>
                </a:lnTo>
                <a:cubicBezTo>
                  <a:pt x="145733" y="195183"/>
                  <a:pt x="139319" y="197406"/>
                  <a:pt x="132779" y="198517"/>
                </a:cubicBezTo>
                <a:lnTo>
                  <a:pt x="120968" y="228362"/>
                </a:lnTo>
                <a:cubicBezTo>
                  <a:pt x="117412" y="237331"/>
                  <a:pt x="109283" y="241856"/>
                  <a:pt x="101600" y="239316"/>
                </a:cubicBezTo>
                <a:lnTo>
                  <a:pt x="84963" y="233759"/>
                </a:lnTo>
                <a:cubicBezTo>
                  <a:pt x="77216" y="231140"/>
                  <a:pt x="72073" y="222091"/>
                  <a:pt x="72581" y="212169"/>
                </a:cubicBezTo>
                <a:lnTo>
                  <a:pt x="74295" y="178911"/>
                </a:lnTo>
                <a:cubicBezTo>
                  <a:pt x="69025" y="173831"/>
                  <a:pt x="64389" y="167958"/>
                  <a:pt x="60389" y="161449"/>
                </a:cubicBezTo>
                <a:lnTo>
                  <a:pt x="33719" y="163592"/>
                </a:lnTo>
                <a:cubicBezTo>
                  <a:pt x="25781" y="164227"/>
                  <a:pt x="18542" y="157718"/>
                  <a:pt x="16447" y="148114"/>
                </a:cubicBezTo>
                <a:lnTo>
                  <a:pt x="12002" y="127318"/>
                </a:lnTo>
                <a:cubicBezTo>
                  <a:pt x="9970" y="117713"/>
                  <a:pt x="13589" y="107553"/>
                  <a:pt x="20765" y="103108"/>
                </a:cubicBezTo>
                <a:lnTo>
                  <a:pt x="44704" y="88344"/>
                </a:lnTo>
                <a:cubicBezTo>
                  <a:pt x="45149" y="84296"/>
                  <a:pt x="45784" y="80328"/>
                  <a:pt x="46609" y="76279"/>
                </a:cubicBezTo>
                <a:cubicBezTo>
                  <a:pt x="47498" y="72231"/>
                  <a:pt x="48514" y="68342"/>
                  <a:pt x="49784" y="64611"/>
                </a:cubicBezTo>
                <a:lnTo>
                  <a:pt x="34989" y="36909"/>
                </a:lnTo>
                <a:cubicBezTo>
                  <a:pt x="30544" y="28575"/>
                  <a:pt x="31433" y="17542"/>
                  <a:pt x="37084" y="10478"/>
                </a:cubicBezTo>
                <a:lnTo>
                  <a:pt x="49276" y="-4762"/>
                </a:lnTo>
                <a:cubicBezTo>
                  <a:pt x="54928" y="-11827"/>
                  <a:pt x="63754" y="-12938"/>
                  <a:pt x="70422" y="-7382"/>
                </a:cubicBezTo>
                <a:lnTo>
                  <a:pt x="92646" y="11113"/>
                </a:lnTo>
                <a:cubicBezTo>
                  <a:pt x="98679" y="8017"/>
                  <a:pt x="105092" y="5794"/>
                  <a:pt x="111633" y="4683"/>
                </a:cubicBezTo>
                <a:lnTo>
                  <a:pt x="123444" y="-25162"/>
                </a:lnTo>
                <a:cubicBezTo>
                  <a:pt x="127000" y="-34131"/>
                  <a:pt x="135065" y="-38656"/>
                  <a:pt x="142812" y="-36116"/>
                </a:cubicBezTo>
                <a:close/>
                <a:moveTo>
                  <a:pt x="122174" y="66675"/>
                </a:moveTo>
                <a:cubicBezTo>
                  <a:pt x="106753" y="66675"/>
                  <a:pt x="94234" y="82324"/>
                  <a:pt x="94234" y="101600"/>
                </a:cubicBezTo>
                <a:cubicBezTo>
                  <a:pt x="94234" y="120876"/>
                  <a:pt x="106753" y="136525"/>
                  <a:pt x="122174" y="136525"/>
                </a:cubicBezTo>
                <a:cubicBezTo>
                  <a:pt x="137595" y="136525"/>
                  <a:pt x="150114" y="120876"/>
                  <a:pt x="150114" y="101600"/>
                </a:cubicBezTo>
                <a:cubicBezTo>
                  <a:pt x="150114" y="82324"/>
                  <a:pt x="137595" y="66675"/>
                  <a:pt x="122174" y="6667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2159000" y="39370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87500" y="4470400"/>
            <a:ext cx="3619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OS scheduler rapidly switches between threads, giving each a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slice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the CPU.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42000" y="3746500"/>
            <a:ext cx="4191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595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6700" y="279400"/>
                </a:moveTo>
                <a:cubicBezTo>
                  <a:pt x="343853" y="279400"/>
                  <a:pt x="406400" y="216853"/>
                  <a:pt x="406400" y="139700"/>
                </a:cubicBezTo>
                <a:cubicBezTo>
                  <a:pt x="406400" y="62548"/>
                  <a:pt x="343853" y="0"/>
                  <a:pt x="266700" y="0"/>
                </a:cubicBezTo>
                <a:cubicBezTo>
                  <a:pt x="189548" y="0"/>
                  <a:pt x="127000" y="62547"/>
                  <a:pt x="127000" y="139700"/>
                </a:cubicBezTo>
                <a:cubicBezTo>
                  <a:pt x="127000" y="154543"/>
                  <a:pt x="129302" y="168910"/>
                  <a:pt x="133588" y="182324"/>
                </a:cubicBezTo>
                <a:lnTo>
                  <a:pt x="5556" y="310356"/>
                </a:lnTo>
                <a:cubicBezTo>
                  <a:pt x="1984" y="313928"/>
                  <a:pt x="0" y="318770"/>
                  <a:pt x="0" y="323850"/>
                </a:cubicBezTo>
                <a:lnTo>
                  <a:pt x="0" y="387350"/>
                </a:lnTo>
                <a:cubicBezTo>
                  <a:pt x="0" y="397907"/>
                  <a:pt x="8493" y="406400"/>
                  <a:pt x="19050" y="406400"/>
                </a:cubicBezTo>
                <a:lnTo>
                  <a:pt x="82550" y="406400"/>
                </a:lnTo>
                <a:cubicBezTo>
                  <a:pt x="93107" y="406400"/>
                  <a:pt x="101600" y="397907"/>
                  <a:pt x="101600" y="387350"/>
                </a:cubicBezTo>
                <a:lnTo>
                  <a:pt x="101600" y="355600"/>
                </a:lnTo>
                <a:lnTo>
                  <a:pt x="133350" y="355600"/>
                </a:lnTo>
                <a:cubicBezTo>
                  <a:pt x="143907" y="355600"/>
                  <a:pt x="152400" y="347107"/>
                  <a:pt x="152400" y="336550"/>
                </a:cubicBezTo>
                <a:lnTo>
                  <a:pt x="152400" y="304800"/>
                </a:lnTo>
                <a:lnTo>
                  <a:pt x="184150" y="304800"/>
                </a:lnTo>
                <a:cubicBezTo>
                  <a:pt x="189230" y="304800"/>
                  <a:pt x="194072" y="302816"/>
                  <a:pt x="197644" y="299244"/>
                </a:cubicBezTo>
                <a:lnTo>
                  <a:pt x="224076" y="272812"/>
                </a:lnTo>
                <a:cubicBezTo>
                  <a:pt x="237490" y="277098"/>
                  <a:pt x="251857" y="279400"/>
                  <a:pt x="266700" y="279400"/>
                </a:cubicBezTo>
                <a:close/>
                <a:moveTo>
                  <a:pt x="298450" y="76200"/>
                </a:moveTo>
                <a:cubicBezTo>
                  <a:pt x="315973" y="76200"/>
                  <a:pt x="330200" y="90427"/>
                  <a:pt x="330200" y="107950"/>
                </a:cubicBezTo>
                <a:cubicBezTo>
                  <a:pt x="330200" y="125473"/>
                  <a:pt x="315973" y="139700"/>
                  <a:pt x="298450" y="139700"/>
                </a:cubicBezTo>
                <a:cubicBezTo>
                  <a:pt x="280927" y="139700"/>
                  <a:pt x="266700" y="125473"/>
                  <a:pt x="266700" y="107950"/>
                </a:cubicBezTo>
                <a:cubicBezTo>
                  <a:pt x="266700" y="90427"/>
                  <a:pt x="280927" y="76200"/>
                  <a:pt x="298450" y="76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731000" y="39370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59500" y="4470400"/>
            <a:ext cx="3619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single process can have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threads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each handling a different task, sharing the same memory.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414000" y="3746500"/>
            <a:ext cx="4572000" cy="2159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07315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3000" y="39370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 Parallelism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31500" y="4470400"/>
            <a:ext cx="4000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multi-core systems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threads can truly run in parallel on different CPU cores.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6223000"/>
            <a:ext cx="13716000" cy="2032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1651000" y="654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11667" y="142875"/>
                </a:moveTo>
                <a:cubicBezTo>
                  <a:pt x="211667" y="90305"/>
                  <a:pt x="173729" y="47625"/>
                  <a:pt x="127000" y="47625"/>
                </a:cubicBezTo>
                <a:cubicBezTo>
                  <a:pt x="80271" y="47625"/>
                  <a:pt x="42333" y="90305"/>
                  <a:pt x="42333" y="142875"/>
                </a:cubicBezTo>
                <a:cubicBezTo>
                  <a:pt x="42333" y="195445"/>
                  <a:pt x="80271" y="238125"/>
                  <a:pt x="127000" y="238125"/>
                </a:cubicBezTo>
                <a:cubicBezTo>
                  <a:pt x="173729" y="238125"/>
                  <a:pt x="211667" y="195445"/>
                  <a:pt x="211667" y="142875"/>
                </a:cubicBezTo>
                <a:close/>
                <a:moveTo>
                  <a:pt x="250825" y="174625"/>
                </a:moveTo>
                <a:cubicBezTo>
                  <a:pt x="238037" y="238224"/>
                  <a:pt x="187413" y="285750"/>
                  <a:pt x="127000" y="285750"/>
                </a:cubicBezTo>
                <a:cubicBezTo>
                  <a:pt x="56885" y="285750"/>
                  <a:pt x="0" y="221754"/>
                  <a:pt x="0" y="142875"/>
                </a:cubicBezTo>
                <a:cubicBezTo>
                  <a:pt x="0" y="63996"/>
                  <a:pt x="56885" y="0"/>
                  <a:pt x="127000" y="0"/>
                </a:cubicBezTo>
                <a:cubicBezTo>
                  <a:pt x="187413" y="0"/>
                  <a:pt x="238037" y="47526"/>
                  <a:pt x="250825" y="111125"/>
                </a:cubicBezTo>
                <a:lnTo>
                  <a:pt x="314149" y="111125"/>
                </a:lnTo>
                <a:cubicBezTo>
                  <a:pt x="321910" y="101402"/>
                  <a:pt x="333199" y="95250"/>
                  <a:pt x="345722" y="95250"/>
                </a:cubicBezTo>
                <a:lnTo>
                  <a:pt x="437444" y="95250"/>
                </a:lnTo>
                <a:cubicBezTo>
                  <a:pt x="460816" y="95250"/>
                  <a:pt x="479778" y="116582"/>
                  <a:pt x="479778" y="142875"/>
                </a:cubicBezTo>
                <a:cubicBezTo>
                  <a:pt x="479778" y="169168"/>
                  <a:pt x="460816" y="190500"/>
                  <a:pt x="437444" y="190500"/>
                </a:cubicBezTo>
                <a:lnTo>
                  <a:pt x="345722" y="190500"/>
                </a:lnTo>
                <a:cubicBezTo>
                  <a:pt x="333199" y="190500"/>
                  <a:pt x="321910" y="184348"/>
                  <a:pt x="314149" y="174625"/>
                </a:cubicBezTo>
                <a:lnTo>
                  <a:pt x="250825" y="174625"/>
                </a:lnTo>
                <a:close/>
                <a:moveTo>
                  <a:pt x="127000" y="79375"/>
                </a:moveTo>
                <a:cubicBezTo>
                  <a:pt x="158153" y="79375"/>
                  <a:pt x="183444" y="107828"/>
                  <a:pt x="183444" y="142875"/>
                </a:cubicBezTo>
                <a:cubicBezTo>
                  <a:pt x="183444" y="177922"/>
                  <a:pt x="158153" y="206375"/>
                  <a:pt x="127000" y="206375"/>
                </a:cubicBezTo>
                <a:cubicBezTo>
                  <a:pt x="95847" y="206375"/>
                  <a:pt x="70556" y="177922"/>
                  <a:pt x="70556" y="142875"/>
                </a:cubicBezTo>
                <a:cubicBezTo>
                  <a:pt x="70556" y="107828"/>
                  <a:pt x="95847" y="79375"/>
                  <a:pt x="127000" y="79375"/>
                </a:cubicBezTo>
                <a:close/>
                <a:moveTo>
                  <a:pt x="352778" y="238125"/>
                </a:moveTo>
                <a:cubicBezTo>
                  <a:pt x="364508" y="238125"/>
                  <a:pt x="373944" y="248741"/>
                  <a:pt x="373944" y="261937"/>
                </a:cubicBezTo>
                <a:lnTo>
                  <a:pt x="373944" y="269875"/>
                </a:lnTo>
                <a:lnTo>
                  <a:pt x="458611" y="269875"/>
                </a:lnTo>
                <a:cubicBezTo>
                  <a:pt x="470341" y="269875"/>
                  <a:pt x="479778" y="280491"/>
                  <a:pt x="479778" y="293688"/>
                </a:cubicBezTo>
                <a:cubicBezTo>
                  <a:pt x="479778" y="306884"/>
                  <a:pt x="470341" y="317500"/>
                  <a:pt x="458611" y="317500"/>
                </a:cubicBezTo>
                <a:lnTo>
                  <a:pt x="246944" y="317500"/>
                </a:lnTo>
                <a:cubicBezTo>
                  <a:pt x="235215" y="317500"/>
                  <a:pt x="225778" y="306884"/>
                  <a:pt x="225778" y="293688"/>
                </a:cubicBezTo>
                <a:cubicBezTo>
                  <a:pt x="225778" y="280491"/>
                  <a:pt x="235215" y="269875"/>
                  <a:pt x="246944" y="269875"/>
                </a:cubicBezTo>
                <a:lnTo>
                  <a:pt x="331611" y="269875"/>
                </a:lnTo>
                <a:lnTo>
                  <a:pt x="331611" y="261937"/>
                </a:lnTo>
                <a:cubicBezTo>
                  <a:pt x="331611" y="248741"/>
                  <a:pt x="341048" y="238125"/>
                  <a:pt x="352778" y="238125"/>
                </a:cubicBezTo>
                <a:close/>
                <a:moveTo>
                  <a:pt x="254000" y="460375"/>
                </a:moveTo>
                <a:lnTo>
                  <a:pt x="254000" y="349250"/>
                </a:lnTo>
                <a:lnTo>
                  <a:pt x="451556" y="349250"/>
                </a:lnTo>
                <a:lnTo>
                  <a:pt x="451556" y="460375"/>
                </a:lnTo>
                <a:cubicBezTo>
                  <a:pt x="451556" y="486668"/>
                  <a:pt x="432594" y="508000"/>
                  <a:pt x="409222" y="508000"/>
                </a:cubicBezTo>
                <a:lnTo>
                  <a:pt x="296333" y="508000"/>
                </a:lnTo>
                <a:cubicBezTo>
                  <a:pt x="272962" y="508000"/>
                  <a:pt x="254000" y="486668"/>
                  <a:pt x="254000" y="460375"/>
                </a:cubicBezTo>
                <a:close/>
                <a:moveTo>
                  <a:pt x="42333" y="317500"/>
                </a:moveTo>
                <a:lnTo>
                  <a:pt x="155222" y="317500"/>
                </a:lnTo>
                <a:cubicBezTo>
                  <a:pt x="178594" y="317500"/>
                  <a:pt x="197556" y="338832"/>
                  <a:pt x="197556" y="365125"/>
                </a:cubicBezTo>
                <a:cubicBezTo>
                  <a:pt x="197556" y="391418"/>
                  <a:pt x="178594" y="412750"/>
                  <a:pt x="155222" y="412750"/>
                </a:cubicBezTo>
                <a:lnTo>
                  <a:pt x="141111" y="412750"/>
                </a:lnTo>
                <a:cubicBezTo>
                  <a:pt x="141111" y="430312"/>
                  <a:pt x="128499" y="444500"/>
                  <a:pt x="112889" y="444500"/>
                </a:cubicBezTo>
                <a:lnTo>
                  <a:pt x="56444" y="444500"/>
                </a:lnTo>
                <a:cubicBezTo>
                  <a:pt x="40834" y="444500"/>
                  <a:pt x="28222" y="430312"/>
                  <a:pt x="28222" y="412750"/>
                </a:cubicBezTo>
                <a:lnTo>
                  <a:pt x="28222" y="333375"/>
                </a:lnTo>
                <a:cubicBezTo>
                  <a:pt x="28222" y="324644"/>
                  <a:pt x="34572" y="317500"/>
                  <a:pt x="42333" y="317500"/>
                </a:cubicBezTo>
                <a:close/>
                <a:moveTo>
                  <a:pt x="155222" y="381000"/>
                </a:moveTo>
                <a:cubicBezTo>
                  <a:pt x="162983" y="381000"/>
                  <a:pt x="169333" y="373856"/>
                  <a:pt x="169333" y="365125"/>
                </a:cubicBezTo>
                <a:cubicBezTo>
                  <a:pt x="169333" y="356394"/>
                  <a:pt x="162983" y="349250"/>
                  <a:pt x="155222" y="349250"/>
                </a:cubicBezTo>
                <a:lnTo>
                  <a:pt x="141111" y="349250"/>
                </a:lnTo>
                <a:lnTo>
                  <a:pt x="141111" y="381000"/>
                </a:lnTo>
                <a:lnTo>
                  <a:pt x="155222" y="381000"/>
                </a:lnTo>
                <a:close/>
                <a:moveTo>
                  <a:pt x="21167" y="460375"/>
                </a:moveTo>
                <a:lnTo>
                  <a:pt x="176389" y="460375"/>
                </a:lnTo>
                <a:cubicBezTo>
                  <a:pt x="188119" y="460375"/>
                  <a:pt x="197556" y="470991"/>
                  <a:pt x="197556" y="484187"/>
                </a:cubicBezTo>
                <a:cubicBezTo>
                  <a:pt x="197556" y="497384"/>
                  <a:pt x="188119" y="508000"/>
                  <a:pt x="176389" y="508000"/>
                </a:cubicBezTo>
                <a:lnTo>
                  <a:pt x="21167" y="508000"/>
                </a:lnTo>
                <a:cubicBezTo>
                  <a:pt x="9437" y="508000"/>
                  <a:pt x="0" y="497384"/>
                  <a:pt x="0" y="484187"/>
                </a:cubicBezTo>
                <a:cubicBezTo>
                  <a:pt x="0" y="470991"/>
                  <a:pt x="9437" y="460375"/>
                  <a:pt x="21167" y="4603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49500" y="6540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World Example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51000" y="7175500"/>
            <a:ext cx="1295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restaurant kitchen with multiple chefs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one chef prepares appetizers, another grills mains, another makes desserts. All work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simultaneously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the same kitchen (shared space), coordinating to complete orders faster.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Multi-threading - Code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8890000" cy="6413500"/>
          </a:xfrm>
          <a:prstGeom prst="roundRect">
            <a:avLst>
              <a:gd name="adj" fmla="val 6000"/>
            </a:avLst>
          </a:prstGeom>
          <a:solidFill>
            <a:srgbClr val="2D3748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1841500"/>
            <a:ext cx="8890000" cy="4572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6" name="Shape 4"/>
          <p:cNvSpPr/>
          <p:nvPr/>
        </p:nvSpPr>
        <p:spPr>
          <a:xfrm>
            <a:off x="1473200" y="1993900"/>
            <a:ext cx="152400" cy="1524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727200" y="1993900"/>
            <a:ext cx="152400" cy="15240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981200" y="1993900"/>
            <a:ext cx="152400" cy="1524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8415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multi_threading.py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24000" y="2413000"/>
            <a:ext cx="838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Multi-threaded execution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threading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time</a:t>
            </a:r>
            <a:endParaRPr lang="en-US" sz="1100" dirty="0"/>
          </a:p>
          <a:p>
            <a:pPr algn="l">
              <a:lnSpc>
                <a:spcPct val="150000"/>
              </a:lnSpc>
            </a:pP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task_a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():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range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(1, 4):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f"Task A: Step 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{i}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time.sleep(1)</a:t>
            </a:r>
            <a:endParaRPr lang="en-US" sz="1100" dirty="0"/>
          </a:p>
          <a:p>
            <a:pPr algn="l">
              <a:lnSpc>
                <a:spcPct val="150000"/>
              </a:lnSpc>
            </a:pP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task_b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():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range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(1, 4):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f"Task B: Step 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{i}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time.sleep(1)</a:t>
            </a:r>
            <a:endParaRPr lang="en-US" sz="1100" dirty="0"/>
          </a:p>
          <a:p>
            <a:pPr algn="l">
              <a:lnSpc>
                <a:spcPct val="150000"/>
              </a:lnSpc>
            </a:pP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= time.time()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t1 = threading.Thread(target=task_a)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t2 = threading.Thread(target=task_b)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t1.start();  t2.start()  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Both run!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t1.join();   t2.join()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f"Total: 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{time.time()-start:.1f}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s"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Output: Total: ~3.0 seconds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41000" y="1841500"/>
            <a:ext cx="4445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8585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8575"/>
                </a:moveTo>
                <a:cubicBezTo>
                  <a:pt x="164465" y="28575"/>
                  <a:pt x="113109" y="61436"/>
                  <a:pt x="75724" y="100548"/>
                </a:cubicBezTo>
                <a:cubicBezTo>
                  <a:pt x="38576" y="139392"/>
                  <a:pt x="13732" y="185738"/>
                  <a:pt x="1905" y="217616"/>
                </a:cubicBezTo>
                <a:cubicBezTo>
                  <a:pt x="-714" y="224671"/>
                  <a:pt x="-714" y="232529"/>
                  <a:pt x="1905" y="239584"/>
                </a:cubicBezTo>
                <a:cubicBezTo>
                  <a:pt x="13732" y="271463"/>
                  <a:pt x="38576" y="317897"/>
                  <a:pt x="75724" y="356652"/>
                </a:cubicBezTo>
                <a:cubicBezTo>
                  <a:pt x="113109" y="395674"/>
                  <a:pt x="164465" y="428625"/>
                  <a:pt x="228600" y="428625"/>
                </a:cubicBezTo>
                <a:cubicBezTo>
                  <a:pt x="292735" y="428625"/>
                  <a:pt x="344091" y="395764"/>
                  <a:pt x="381476" y="356652"/>
                </a:cubicBezTo>
                <a:cubicBezTo>
                  <a:pt x="418624" y="317808"/>
                  <a:pt x="443468" y="271463"/>
                  <a:pt x="455295" y="239584"/>
                </a:cubicBezTo>
                <a:cubicBezTo>
                  <a:pt x="457914" y="232529"/>
                  <a:pt x="457914" y="224671"/>
                  <a:pt x="455295" y="217616"/>
                </a:cubicBezTo>
                <a:cubicBezTo>
                  <a:pt x="443468" y="185737"/>
                  <a:pt x="418624" y="139303"/>
                  <a:pt x="381476" y="100548"/>
                </a:cubicBezTo>
                <a:cubicBezTo>
                  <a:pt x="344091" y="61526"/>
                  <a:pt x="292735" y="28575"/>
                  <a:pt x="228600" y="28575"/>
                </a:cubicBezTo>
                <a:close/>
                <a:moveTo>
                  <a:pt x="114300" y="228600"/>
                </a:moveTo>
                <a:cubicBezTo>
                  <a:pt x="114300" y="157631"/>
                  <a:pt x="165516" y="100013"/>
                  <a:pt x="228600" y="100013"/>
                </a:cubicBezTo>
                <a:cubicBezTo>
                  <a:pt x="291684" y="100013"/>
                  <a:pt x="342900" y="157631"/>
                  <a:pt x="342900" y="228600"/>
                </a:cubicBezTo>
                <a:cubicBezTo>
                  <a:pt x="342900" y="299569"/>
                  <a:pt x="291684" y="357188"/>
                  <a:pt x="228600" y="357188"/>
                </a:cubicBezTo>
                <a:cubicBezTo>
                  <a:pt x="165516" y="357188"/>
                  <a:pt x="114300" y="299569"/>
                  <a:pt x="114300" y="228600"/>
                </a:cubicBezTo>
                <a:close/>
                <a:moveTo>
                  <a:pt x="228600" y="171450"/>
                </a:moveTo>
                <a:cubicBezTo>
                  <a:pt x="228600" y="202972"/>
                  <a:pt x="205819" y="228600"/>
                  <a:pt x="177800" y="228600"/>
                </a:cubicBezTo>
                <a:cubicBezTo>
                  <a:pt x="168672" y="228600"/>
                  <a:pt x="160099" y="225921"/>
                  <a:pt x="152638" y="221099"/>
                </a:cubicBezTo>
                <a:cubicBezTo>
                  <a:pt x="151844" y="230832"/>
                  <a:pt x="152559" y="240834"/>
                  <a:pt x="154940" y="250746"/>
                </a:cubicBezTo>
                <a:cubicBezTo>
                  <a:pt x="165814" y="296466"/>
                  <a:pt x="207645" y="323612"/>
                  <a:pt x="248285" y="311378"/>
                </a:cubicBezTo>
                <a:cubicBezTo>
                  <a:pt x="288925" y="299145"/>
                  <a:pt x="313055" y="252085"/>
                  <a:pt x="302181" y="206365"/>
                </a:cubicBezTo>
                <a:cubicBezTo>
                  <a:pt x="292497" y="165556"/>
                  <a:pt x="258128" y="139571"/>
                  <a:pt x="221933" y="143143"/>
                </a:cubicBezTo>
                <a:cubicBezTo>
                  <a:pt x="226139" y="151448"/>
                  <a:pt x="228600" y="161092"/>
                  <a:pt x="228600" y="1714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93500" y="20955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858500" y="2730500"/>
            <a:ext cx="3873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tasks run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simultaneously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Total time =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longest task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the sum.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41000" y="4635500"/>
            <a:ext cx="4445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8A745"/>
              </a:gs>
              <a:gs pos="100000">
                <a:srgbClr val="20C997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10541000" y="4762500"/>
            <a:ext cx="444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~3.0s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10541000" y="5715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Execution Time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41000" y="65405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58500" y="67310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 Time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 = max(t(Task A), t(Task B))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Lifecycle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1651000" cy="698500"/>
          </a:xfrm>
          <a:prstGeom prst="roundRect">
            <a:avLst>
              <a:gd name="adj" fmla="val 12000"/>
            </a:avLst>
          </a:prstGeom>
          <a:solidFill>
            <a:srgbClr val="D0D6DC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0320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1000" y="2374900"/>
            <a:ext cx="635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556000" y="2032000"/>
            <a:ext cx="1778000" cy="6985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3556000" y="2032000"/>
            <a:ext cx="177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RUNNABLE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34000" y="2374900"/>
            <a:ext cx="635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969000" y="2032000"/>
            <a:ext cx="1778000" cy="6985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5969000" y="2032000"/>
            <a:ext cx="177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RUNNING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0" y="2730500"/>
            <a:ext cx="0" cy="508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191000" y="3365500"/>
            <a:ext cx="1651000" cy="6350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191000" y="3365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2500" y="3365500"/>
            <a:ext cx="1651000" cy="6350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032500" y="3365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WAITING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74000" y="3365500"/>
            <a:ext cx="1968500" cy="6350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7874000" y="3365500"/>
            <a:ext cx="1968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TIMED_WAITING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16500" y="4000500"/>
            <a:ext cx="0" cy="444500"/>
          </a:xfrm>
          <a:prstGeom prst="straightConnector1">
            <a:avLst/>
          </a:prstGeom>
          <a:noFill/>
          <a:ln w="25400">
            <a:solidFill>
              <a:srgbClr val="6B9CBF"/>
            </a:solidFill>
            <a:prstDash val="dash"/>
            <a:headEnd type="none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5080000" y="4127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to RUNNABLE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47000" y="2374900"/>
            <a:ext cx="635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8382000" y="2032000"/>
            <a:ext cx="1968500" cy="698500"/>
          </a:xfrm>
          <a:prstGeom prst="roundRect">
            <a:avLst>
              <a:gd name="adj" fmla="val 12000"/>
            </a:avLst>
          </a:prstGeom>
          <a:solidFill>
            <a:srgbClr val="DC3545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2032000"/>
            <a:ext cx="1968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TERMINATED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270000" y="4699000"/>
            <a:ext cx="4445000" cy="114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24000" y="4762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24000" y="50800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created but not started. start() not yet called.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69000" y="4699000"/>
            <a:ext cx="4445000" cy="114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23000" y="4762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RUNNABLE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23000" y="50800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to run, waiting for CPU scheduler to dispatch.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668000" y="4699000"/>
            <a:ext cx="4318000" cy="114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922000" y="4762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RUNNING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22000" y="50800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Actively executing on the CPU. run() method in progress.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270000" y="6096000"/>
            <a:ext cx="4445000" cy="114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524000" y="6159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24000" y="64770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Waiting to acquire a lock held by another thread.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969000" y="6096000"/>
            <a:ext cx="4445000" cy="114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23000" y="6159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WAITING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23000" y="64770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Waiting indefinitely for another thread's notification.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0668000" y="6096000"/>
            <a:ext cx="4318000" cy="114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0922000" y="61595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TERMINATED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922000" y="64770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completed or thread stopped. Cannot restart.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270000" y="7493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Transitions between states are controlled by methods: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start()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sleep()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wait()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notify()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join()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synchronized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blocks.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and Managing Threads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95500"/>
            <a:ext cx="1651000" cy="3556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0955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02000" y="2057400"/>
            <a:ext cx="4445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Thread Class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524000" y="2603500"/>
            <a:ext cx="6223000" cy="1651000"/>
          </a:xfrm>
          <a:prstGeom prst="roundRect">
            <a:avLst>
              <a:gd name="adj" fmla="val 6000"/>
            </a:avLst>
          </a:prstGeom>
          <a:solidFill>
            <a:srgbClr val="2D3748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2667000"/>
            <a:ext cx="5842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threading</a:t>
            </a:r>
            <a:endParaRPr lang="en-US" sz="1100" dirty="0"/>
          </a:p>
          <a:p>
            <a:pPr algn="l">
              <a:lnSpc>
                <a:spcPct val="150000"/>
              </a:lnSpc>
            </a:pP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1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my_func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():</a:t>
            </a: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"Thread running"</a:t>
            </a:r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100" dirty="0"/>
          </a:p>
          <a:p>
            <a:pPr algn="l">
              <a:lnSpc>
                <a:spcPct val="150000"/>
              </a:lnSpc>
            </a:pPr>
            <a:endParaRPr lang="en-US" sz="1100" dirty="0"/>
          </a:p>
          <a:p>
            <a:pPr algn="l">
              <a:lnSpc>
                <a:spcPct val="150000"/>
              </a:lnSpc>
            </a:pPr>
            <a:r>
              <a:rPr lang="en-US" sz="1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= threading.Thread(target=my_func)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24000" y="4381500"/>
            <a:ext cx="622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 the target function to the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constructor. Most common and flexible approach. Supports any callable function.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1905000"/>
            <a:ext cx="6604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36000" y="2095500"/>
            <a:ext cx="1651000" cy="3556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20955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14000" y="2057400"/>
            <a:ext cx="431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Extending Thread Class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36000" y="2603500"/>
            <a:ext cx="6096000" cy="1651000"/>
          </a:xfrm>
          <a:prstGeom prst="roundRect">
            <a:avLst>
              <a:gd name="adj" fmla="val 6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826500" y="2667000"/>
            <a:ext cx="5715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9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threading</a:t>
            </a:r>
            <a:endParaRPr lang="en-US" sz="900" dirty="0"/>
          </a:p>
          <a:p>
            <a:pPr algn="l">
              <a:lnSpc>
                <a:spcPct val="150000"/>
              </a:lnSpc>
            </a:pPr>
            <a:endParaRPr lang="en-US" sz="900" dirty="0"/>
          </a:p>
          <a:p>
            <a:pPr algn="l">
              <a:lnSpc>
                <a:spcPct val="150000"/>
              </a:lnSpc>
            </a:pPr>
            <a:r>
              <a:rPr lang="en-US" sz="9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 algn="l">
              <a:lnSpc>
                <a:spcPct val="150000"/>
              </a:lnSpc>
            </a:pPr>
            <a:r>
              <a:rPr lang="en-US" sz="9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9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MyThread</a:t>
            </a:r>
            <a:pPr algn="l">
              <a:lnSpc>
                <a:spcPct val="150000"/>
              </a:lnSpc>
            </a:pPr>
            <a:r>
              <a:rPr lang="en-US" sz="9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(threading.Thread):</a:t>
            </a:r>
            <a:endParaRPr lang="en-US" sz="900" dirty="0"/>
          </a:p>
          <a:p>
            <a:pPr algn="l">
              <a:lnSpc>
                <a:spcPct val="150000"/>
              </a:lnSpc>
            </a:pPr>
            <a:r>
              <a:rPr lang="en-US" sz="9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9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</a:t>
            </a:r>
            <a:pPr algn="l">
              <a:lnSpc>
                <a:spcPct val="150000"/>
              </a:lnSpc>
            </a:pPr>
            <a:r>
              <a:rPr lang="en-US" sz="9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9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</a:t>
            </a:r>
            <a:pPr algn="l">
              <a:lnSpc>
                <a:spcPct val="150000"/>
              </a:lnSpc>
            </a:pPr>
            <a:r>
              <a:rPr lang="en-US" sz="9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(self):</a:t>
            </a:r>
            <a:endParaRPr lang="en-US" sz="900" dirty="0"/>
          </a:p>
          <a:p>
            <a:pPr algn="l">
              <a:lnSpc>
                <a:spcPct val="150000"/>
              </a:lnSpc>
            </a:pPr>
            <a:r>
              <a:rPr lang="en-US" sz="9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50000"/>
              </a:lnSpc>
            </a:pPr>
            <a:r>
              <a:rPr lang="en-US" sz="9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50000"/>
              </a:lnSpc>
            </a:pPr>
            <a:r>
              <a:rPr lang="en-US" sz="9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50000"/>
              </a:lnSpc>
            </a:pPr>
            <a:r>
              <a:rPr lang="en-US" sz="9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"Thread running"</a:t>
            </a:r>
            <a:pPr algn="l">
              <a:lnSpc>
                <a:spcPct val="150000"/>
              </a:lnSpc>
            </a:pPr>
            <a:r>
              <a:rPr lang="en-US" sz="9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900" dirty="0"/>
          </a:p>
          <a:p>
            <a:pPr algn="l">
              <a:lnSpc>
                <a:spcPct val="150000"/>
              </a:lnSpc>
            </a:pPr>
            <a:endParaRPr lang="en-US" sz="900" dirty="0"/>
          </a:p>
          <a:p>
            <a:pPr algn="l">
              <a:lnSpc>
                <a:spcPct val="150000"/>
              </a:lnSpc>
            </a:pPr>
            <a:r>
              <a:rPr lang="en-US" sz="9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= MyThread()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36000" y="43815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 the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run()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method in a subclass. Good for encapsulating thread logic within a class. Override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__init__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custom parameters.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" y="6159500"/>
            <a:ext cx="13716000" cy="203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51000" y="63246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Thread Methods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651000" y="6921500"/>
            <a:ext cx="2921000" cy="101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1651000" y="69215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start()</a:t>
            </a:r>
            <a:endParaRPr lang="en-US" sz="15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Begins thread execution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26000" y="6921500"/>
            <a:ext cx="2921000" cy="101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4826000" y="69215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join()</a:t>
            </a:r>
            <a:endParaRPr lang="en-US" sz="15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Wait for completion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01000" y="6921500"/>
            <a:ext cx="2921000" cy="10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6921500"/>
            <a:ext cx="292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is_alive()</a:t>
            </a:r>
            <a:endParaRPr lang="en-US" sz="15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thread status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1176000" y="69215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11176000" y="6921500"/>
            <a:ext cx="342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current_thread()</a:t>
            </a:r>
            <a:endParaRPr lang="en-US" sz="1500" dirty="0"/>
          </a:p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thread info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Synchronization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714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57400"/>
            <a:ext cx="1270000" cy="3810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057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25400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synchronization is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coordination of multiple threads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ensure safe access to shared resources. Without it, race conditions can corrupt data.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619500"/>
            <a:ext cx="6350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7500" y="387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2159000" y="3873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Needed?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87500" y="4381500"/>
            <a:ext cx="5778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threads share memory, concurrent access to the same variable can lead to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inconsistent data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01000" y="3619500"/>
            <a:ext cx="698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18500" y="387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5467" y="76200"/>
                </a:moveTo>
                <a:lnTo>
                  <a:pt x="135467" y="127000"/>
                </a:lnTo>
                <a:lnTo>
                  <a:pt x="270933" y="127000"/>
                </a:lnTo>
                <a:lnTo>
                  <a:pt x="270933" y="76200"/>
                </a:lnTo>
                <a:cubicBezTo>
                  <a:pt x="270933" y="48181"/>
                  <a:pt x="240559" y="25400"/>
                  <a:pt x="203200" y="25400"/>
                </a:cubicBezTo>
                <a:cubicBezTo>
                  <a:pt x="165841" y="25400"/>
                  <a:pt x="135467" y="48181"/>
                  <a:pt x="135467" y="76200"/>
                </a:cubicBezTo>
                <a:close/>
                <a:moveTo>
                  <a:pt x="67733" y="127000"/>
                </a:moveTo>
                <a:lnTo>
                  <a:pt x="67733" y="76200"/>
                </a:lnTo>
                <a:cubicBezTo>
                  <a:pt x="67733" y="20082"/>
                  <a:pt x="128376" y="-25400"/>
                  <a:pt x="203200" y="-25400"/>
                </a:cubicBezTo>
                <a:cubicBezTo>
                  <a:pt x="278024" y="-25400"/>
                  <a:pt x="338667" y="20082"/>
                  <a:pt x="338667" y="76200"/>
                </a:cubicBezTo>
                <a:lnTo>
                  <a:pt x="338667" y="127000"/>
                </a:lnTo>
                <a:cubicBezTo>
                  <a:pt x="376026" y="127000"/>
                  <a:pt x="406400" y="149781"/>
                  <a:pt x="406400" y="177800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30374" y="127000"/>
                  <a:pt x="67733" y="1270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0" y="3873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18500" y="4381500"/>
            <a:ext cx="6413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Locks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(Mutex),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Semaphores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Monitors, Atomic operations, Condition variables.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5588000"/>
            <a:ext cx="13716000" cy="2667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651000" y="590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69776" y="20042"/>
                </a:moveTo>
                <a:cubicBezTo>
                  <a:pt x="260052" y="14486"/>
                  <a:pt x="248047" y="14486"/>
                  <a:pt x="238224" y="20042"/>
                </a:cubicBezTo>
                <a:lnTo>
                  <a:pt x="15974" y="147042"/>
                </a:lnTo>
                <a:cubicBezTo>
                  <a:pt x="3473" y="154186"/>
                  <a:pt x="-2679" y="168870"/>
                  <a:pt x="992" y="182761"/>
                </a:cubicBezTo>
                <a:cubicBezTo>
                  <a:pt x="4663" y="196652"/>
                  <a:pt x="17363" y="206375"/>
                  <a:pt x="31750" y="206375"/>
                </a:cubicBezTo>
                <a:lnTo>
                  <a:pt x="63500" y="206375"/>
                </a:lnTo>
                <a:lnTo>
                  <a:pt x="63500" y="412750"/>
                </a:lnTo>
                <a:lnTo>
                  <a:pt x="63500" y="412750"/>
                </a:lnTo>
                <a:lnTo>
                  <a:pt x="12700" y="450850"/>
                </a:lnTo>
                <a:cubicBezTo>
                  <a:pt x="4663" y="456803"/>
                  <a:pt x="0" y="466229"/>
                  <a:pt x="0" y="476250"/>
                </a:cubicBezTo>
                <a:cubicBezTo>
                  <a:pt x="0" y="493812"/>
                  <a:pt x="14188" y="508000"/>
                  <a:pt x="31750" y="508000"/>
                </a:cubicBezTo>
                <a:lnTo>
                  <a:pt x="476250" y="508000"/>
                </a:lnTo>
                <a:cubicBezTo>
                  <a:pt x="493812" y="508000"/>
                  <a:pt x="508000" y="493812"/>
                  <a:pt x="508000" y="476250"/>
                </a:cubicBezTo>
                <a:cubicBezTo>
                  <a:pt x="508000" y="466229"/>
                  <a:pt x="503337" y="456803"/>
                  <a:pt x="495300" y="450850"/>
                </a:cubicBezTo>
                <a:lnTo>
                  <a:pt x="444500" y="412750"/>
                </a:lnTo>
                <a:lnTo>
                  <a:pt x="444500" y="206375"/>
                </a:lnTo>
                <a:lnTo>
                  <a:pt x="476250" y="206375"/>
                </a:lnTo>
                <a:cubicBezTo>
                  <a:pt x="490637" y="206375"/>
                  <a:pt x="503238" y="196652"/>
                  <a:pt x="506909" y="182761"/>
                </a:cubicBezTo>
                <a:cubicBezTo>
                  <a:pt x="510580" y="168870"/>
                  <a:pt x="504428" y="154186"/>
                  <a:pt x="491927" y="147042"/>
                </a:cubicBezTo>
                <a:lnTo>
                  <a:pt x="269677" y="20042"/>
                </a:lnTo>
                <a:close/>
                <a:moveTo>
                  <a:pt x="396875" y="206375"/>
                </a:moveTo>
                <a:lnTo>
                  <a:pt x="396875" y="412750"/>
                </a:lnTo>
                <a:lnTo>
                  <a:pt x="333375" y="412750"/>
                </a:lnTo>
                <a:lnTo>
                  <a:pt x="333375" y="206375"/>
                </a:lnTo>
                <a:lnTo>
                  <a:pt x="396875" y="206375"/>
                </a:lnTo>
                <a:close/>
                <a:moveTo>
                  <a:pt x="285750" y="206375"/>
                </a:moveTo>
                <a:lnTo>
                  <a:pt x="285750" y="412750"/>
                </a:lnTo>
                <a:lnTo>
                  <a:pt x="222250" y="412750"/>
                </a:lnTo>
                <a:lnTo>
                  <a:pt x="222250" y="206375"/>
                </a:lnTo>
                <a:lnTo>
                  <a:pt x="285750" y="206375"/>
                </a:lnTo>
                <a:close/>
                <a:moveTo>
                  <a:pt x="174625" y="206375"/>
                </a:moveTo>
                <a:lnTo>
                  <a:pt x="174625" y="412750"/>
                </a:lnTo>
                <a:lnTo>
                  <a:pt x="111125" y="412750"/>
                </a:lnTo>
                <a:lnTo>
                  <a:pt x="111125" y="206375"/>
                </a:lnTo>
                <a:lnTo>
                  <a:pt x="174625" y="206375"/>
                </a:lnTo>
                <a:close/>
                <a:moveTo>
                  <a:pt x="254000" y="95250"/>
                </a:moveTo>
                <a:cubicBezTo>
                  <a:pt x="271523" y="95250"/>
                  <a:pt x="285750" y="109477"/>
                  <a:pt x="285750" y="127000"/>
                </a:cubicBezTo>
                <a:cubicBezTo>
                  <a:pt x="285750" y="144523"/>
                  <a:pt x="271523" y="158750"/>
                  <a:pt x="254000" y="158750"/>
                </a:cubicBezTo>
                <a:cubicBezTo>
                  <a:pt x="236477" y="158750"/>
                  <a:pt x="222250" y="144523"/>
                  <a:pt x="222250" y="127000"/>
                </a:cubicBezTo>
                <a:cubicBezTo>
                  <a:pt x="222250" y="109477"/>
                  <a:pt x="236477" y="95250"/>
                  <a:pt x="254000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349500" y="5905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World Example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51000" y="6540500"/>
            <a:ext cx="1295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bank account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if two people (threads) try to withdraw money at the same time without coordination, the balance might become incorrect.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Synchronization ensures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one person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accesses the account at a time, maintaining data integrity.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06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Synchronization - Lock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8890000" cy="6350000"/>
          </a:xfrm>
          <a:prstGeom prst="roundRect">
            <a:avLst>
              <a:gd name="adj" fmla="val 6000"/>
            </a:avLst>
          </a:prstGeom>
          <a:solidFill>
            <a:srgbClr val="2D3748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1841500"/>
            <a:ext cx="8890000" cy="4572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6" name="Shape 4"/>
          <p:cNvSpPr/>
          <p:nvPr/>
        </p:nvSpPr>
        <p:spPr>
          <a:xfrm>
            <a:off x="1473200" y="1993900"/>
            <a:ext cx="152400" cy="1524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727200" y="1993900"/>
            <a:ext cx="152400" cy="15240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981200" y="1993900"/>
            <a:ext cx="152400" cy="1524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8415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lock_example.py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24000" y="2413000"/>
            <a:ext cx="8382000" cy="565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threading</a:t>
            </a:r>
            <a:endParaRPr lang="en-US" sz="1300" dirty="0"/>
          </a:p>
          <a:p>
            <a:pPr algn="l">
              <a:lnSpc>
                <a:spcPct val="150000"/>
              </a:lnSpc>
            </a:pP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counter = 0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lock = threading.Lock()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Create lock</a:t>
            </a:r>
            <a:endParaRPr lang="en-US" sz="1300" dirty="0"/>
          </a:p>
          <a:p>
            <a:pPr algn="l">
              <a:lnSpc>
                <a:spcPct val="150000"/>
              </a:lnSpc>
            </a:pP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counter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_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range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(100000):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lock:         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Acquire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counter += 1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Critical section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Lock released!</a:t>
            </a:r>
            <a:endParaRPr lang="en-US" sz="1300" dirty="0"/>
          </a:p>
          <a:p>
            <a:pPr algn="l">
              <a:lnSpc>
                <a:spcPct val="150000"/>
              </a:lnSpc>
            </a:pP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t1 = threading.Thread(target=increment)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t2 = threading.Thread(target=increment)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t1.start(); t2.start()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t1.join();  t2.join()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f"Counter: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{counter}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Output: Counter: 200000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41000" y="1841500"/>
            <a:ext cx="4445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8585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93500" y="20955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858500" y="2730500"/>
            <a:ext cx="3873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Lock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ensures only one thread enters the critical section at a time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statement auto-acquires and releases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Prevents race condition on shared counter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541000" y="5016500"/>
            <a:ext cx="4445000" cy="1460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8A745"/>
              </a:gs>
              <a:gs pos="100000">
                <a:srgbClr val="20C997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10858500" y="514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Lock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41000" y="5524500"/>
            <a:ext cx="444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200,000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10541000" y="6667500"/>
            <a:ext cx="4445000" cy="1397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DC3545"/>
              </a:gs>
              <a:gs pos="100000">
                <a:srgbClr val="FF6B6B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10858500" y="679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Lock (Race Condition)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41000" y="7175500"/>
            <a:ext cx="444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200,000 (random)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Synchronization - Semaphore Example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8890000" cy="6413500"/>
          </a:xfrm>
          <a:prstGeom prst="roundRect">
            <a:avLst>
              <a:gd name="adj" fmla="val 6000"/>
            </a:avLst>
          </a:prstGeom>
          <a:solidFill>
            <a:srgbClr val="2D3748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1841500"/>
            <a:ext cx="8890000" cy="4572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6" name="Shape 4"/>
          <p:cNvSpPr/>
          <p:nvPr/>
        </p:nvSpPr>
        <p:spPr>
          <a:xfrm>
            <a:off x="1473200" y="1993900"/>
            <a:ext cx="152400" cy="1524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727200" y="1993900"/>
            <a:ext cx="152400" cy="15240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981200" y="1993900"/>
            <a:ext cx="152400" cy="1524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8415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semaphore_example.py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24000" y="2413000"/>
            <a:ext cx="838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threading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time</a:t>
            </a:r>
            <a:endParaRPr lang="en-US" sz="1300" dirty="0"/>
          </a:p>
          <a:p>
            <a:pPr algn="l">
              <a:lnSpc>
                <a:spcPct val="150000"/>
              </a:lnSpc>
            </a:pP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Max 2 threads can access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semaphore = threading.Semaphore(2)</a:t>
            </a:r>
            <a:endParaRPr lang="en-US" sz="1300" dirty="0"/>
          </a:p>
          <a:p>
            <a:pPr algn="l">
              <a:lnSpc>
                <a:spcPct val="150000"/>
              </a:lnSpc>
            </a:pP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access_resource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(tid):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semaphore: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f"Thread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{tid}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accessing"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time.sleep(2)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f"Thread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{tid}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done"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50000"/>
              </a:lnSpc>
            </a:pP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threads = []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range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(5):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t = threading.Thread(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target=access_resource, args=(i,))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threads.append(t)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t.start()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threads: t.join()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41000" y="1841500"/>
            <a:ext cx="4445000" cy="317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8585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0800" y="57150"/>
                </a:moveTo>
                <a:cubicBezTo>
                  <a:pt x="22781" y="57150"/>
                  <a:pt x="0" y="82778"/>
                  <a:pt x="0" y="114300"/>
                </a:cubicBezTo>
                <a:lnTo>
                  <a:pt x="0" y="171450"/>
                </a:lnTo>
                <a:cubicBezTo>
                  <a:pt x="0" y="179308"/>
                  <a:pt x="5874" y="185470"/>
                  <a:pt x="12462" y="188059"/>
                </a:cubicBezTo>
                <a:cubicBezTo>
                  <a:pt x="27384" y="193864"/>
                  <a:pt x="38100" y="209848"/>
                  <a:pt x="38100" y="228600"/>
                </a:cubicBezTo>
                <a:cubicBezTo>
                  <a:pt x="38100" y="247352"/>
                  <a:pt x="27384" y="263336"/>
                  <a:pt x="12462" y="269141"/>
                </a:cubicBezTo>
                <a:cubicBezTo>
                  <a:pt x="5874" y="271730"/>
                  <a:pt x="0" y="277892"/>
                  <a:pt x="0" y="285750"/>
                </a:cubicBezTo>
                <a:lnTo>
                  <a:pt x="0" y="342900"/>
                </a:lnTo>
                <a:cubicBezTo>
                  <a:pt x="0" y="374422"/>
                  <a:pt x="22781" y="400050"/>
                  <a:pt x="50800" y="400050"/>
                </a:cubicBezTo>
                <a:lnTo>
                  <a:pt x="406400" y="400050"/>
                </a:lnTo>
                <a:cubicBezTo>
                  <a:pt x="434419" y="400050"/>
                  <a:pt x="457200" y="374422"/>
                  <a:pt x="457200" y="342900"/>
                </a:cubicBezTo>
                <a:lnTo>
                  <a:pt x="457200" y="285750"/>
                </a:lnTo>
                <a:cubicBezTo>
                  <a:pt x="457200" y="277892"/>
                  <a:pt x="451326" y="271730"/>
                  <a:pt x="444738" y="269141"/>
                </a:cubicBezTo>
                <a:cubicBezTo>
                  <a:pt x="429816" y="263336"/>
                  <a:pt x="419100" y="247352"/>
                  <a:pt x="419100" y="228600"/>
                </a:cubicBezTo>
                <a:cubicBezTo>
                  <a:pt x="419100" y="209848"/>
                  <a:pt x="429816" y="193864"/>
                  <a:pt x="444738" y="188059"/>
                </a:cubicBezTo>
                <a:cubicBezTo>
                  <a:pt x="451326" y="185470"/>
                  <a:pt x="457200" y="179308"/>
                  <a:pt x="457200" y="171450"/>
                </a:cubicBezTo>
                <a:lnTo>
                  <a:pt x="457200" y="114300"/>
                </a:lnTo>
                <a:cubicBezTo>
                  <a:pt x="457200" y="82778"/>
                  <a:pt x="434419" y="57150"/>
                  <a:pt x="406400" y="57150"/>
                </a:cubicBezTo>
                <a:lnTo>
                  <a:pt x="50800" y="57150"/>
                </a:lnTo>
                <a:close/>
                <a:moveTo>
                  <a:pt x="330200" y="300038"/>
                </a:moveTo>
                <a:lnTo>
                  <a:pt x="330200" y="157163"/>
                </a:lnTo>
                <a:lnTo>
                  <a:pt x="127000" y="157163"/>
                </a:lnTo>
                <a:lnTo>
                  <a:pt x="127000" y="300038"/>
                </a:lnTo>
                <a:lnTo>
                  <a:pt x="330200" y="300038"/>
                </a:lnTo>
                <a:close/>
                <a:moveTo>
                  <a:pt x="88900" y="142875"/>
                </a:moveTo>
                <a:cubicBezTo>
                  <a:pt x="88900" y="127069"/>
                  <a:pt x="100251" y="114300"/>
                  <a:pt x="114300" y="114300"/>
                </a:cubicBezTo>
                <a:lnTo>
                  <a:pt x="342900" y="114300"/>
                </a:lnTo>
                <a:cubicBezTo>
                  <a:pt x="356949" y="114300"/>
                  <a:pt x="368300" y="127069"/>
                  <a:pt x="368300" y="142875"/>
                </a:cubicBezTo>
                <a:lnTo>
                  <a:pt x="368300" y="314325"/>
                </a:lnTo>
                <a:cubicBezTo>
                  <a:pt x="368300" y="330131"/>
                  <a:pt x="356949" y="342900"/>
                  <a:pt x="342900" y="342900"/>
                </a:cubicBezTo>
                <a:lnTo>
                  <a:pt x="114300" y="342900"/>
                </a:lnTo>
                <a:cubicBezTo>
                  <a:pt x="100251" y="342900"/>
                  <a:pt x="88900" y="330131"/>
                  <a:pt x="88900" y="314325"/>
                </a:cubicBezTo>
                <a:lnTo>
                  <a:pt x="88900" y="142875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93500" y="20955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858500" y="2730500"/>
            <a:ext cx="3873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Semaphore(2) =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permits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available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Only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threads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enter critical section at once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Others wait until a permit is released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Like a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capacity-limited venue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41000" y="5080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Threads, 2 Slots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31500" y="55880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731500" y="5588000"/>
            <a:ext cx="196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827000" y="5588000"/>
            <a:ext cx="1968500" cy="508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12827000" y="5588000"/>
            <a:ext cx="196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731500" y="6286500"/>
            <a:ext cx="1270000" cy="508000"/>
          </a:xfrm>
          <a:prstGeom prst="roundRect">
            <a:avLst>
              <a:gd name="adj" fmla="val 12000"/>
            </a:avLst>
          </a:prstGeom>
          <a:solidFill>
            <a:srgbClr val="D0D6DC"/>
          </a:solidFill>
          <a:ln/>
        </p:spPr>
      </p:sp>
      <p:sp>
        <p:nvSpPr>
          <p:cNvPr id="21" name="Text 19"/>
          <p:cNvSpPr/>
          <p:nvPr/>
        </p:nvSpPr>
        <p:spPr>
          <a:xfrm>
            <a:off x="10731500" y="6286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128500" y="6286500"/>
            <a:ext cx="1270000" cy="508000"/>
          </a:xfrm>
          <a:prstGeom prst="roundRect">
            <a:avLst>
              <a:gd name="adj" fmla="val 12000"/>
            </a:avLst>
          </a:prstGeom>
          <a:solidFill>
            <a:srgbClr val="D0D6DC"/>
          </a:solidFill>
          <a:ln/>
        </p:spPr>
      </p:sp>
      <p:sp>
        <p:nvSpPr>
          <p:cNvPr id="23" name="Text 21"/>
          <p:cNvSpPr/>
          <p:nvPr/>
        </p:nvSpPr>
        <p:spPr>
          <a:xfrm>
            <a:off x="12128500" y="6286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3525500" y="6286500"/>
            <a:ext cx="1270000" cy="508000"/>
          </a:xfrm>
          <a:prstGeom prst="roundRect">
            <a:avLst>
              <a:gd name="adj" fmla="val 12000"/>
            </a:avLst>
          </a:prstGeom>
          <a:solidFill>
            <a:srgbClr val="D0D6DC"/>
          </a:solidFill>
          <a:ln/>
        </p:spPr>
      </p:sp>
      <p:sp>
        <p:nvSpPr>
          <p:cNvPr id="25" name="Text 23"/>
          <p:cNvSpPr/>
          <p:nvPr/>
        </p:nvSpPr>
        <p:spPr>
          <a:xfrm>
            <a:off x="13525500" y="6286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541000" y="6985000"/>
            <a:ext cx="4445000" cy="1079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58500" y="70866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cases: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Connection pools, API rate limiting, resource-constrained systems.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of Multi-threading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477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279400"/>
                </a:moveTo>
                <a:cubicBezTo>
                  <a:pt x="0" y="125195"/>
                  <a:pt x="125195" y="0"/>
                  <a:pt x="279400" y="0"/>
                </a:cubicBezTo>
                <a:cubicBezTo>
                  <a:pt x="433605" y="0"/>
                  <a:pt x="558800" y="125195"/>
                  <a:pt x="558800" y="279400"/>
                </a:cubicBezTo>
                <a:cubicBezTo>
                  <a:pt x="558800" y="433605"/>
                  <a:pt x="433605" y="558800"/>
                  <a:pt x="279400" y="558800"/>
                </a:cubicBezTo>
                <a:cubicBezTo>
                  <a:pt x="125195" y="558800"/>
                  <a:pt x="0" y="433605"/>
                  <a:pt x="0" y="279400"/>
                </a:cubicBezTo>
                <a:close/>
                <a:moveTo>
                  <a:pt x="314325" y="104775"/>
                </a:moveTo>
                <a:cubicBezTo>
                  <a:pt x="314325" y="85499"/>
                  <a:pt x="298676" y="69850"/>
                  <a:pt x="279400" y="69850"/>
                </a:cubicBezTo>
                <a:cubicBezTo>
                  <a:pt x="260124" y="69850"/>
                  <a:pt x="244475" y="85499"/>
                  <a:pt x="244475" y="104775"/>
                </a:cubicBezTo>
                <a:cubicBezTo>
                  <a:pt x="244475" y="124051"/>
                  <a:pt x="260124" y="139700"/>
                  <a:pt x="279400" y="139700"/>
                </a:cubicBezTo>
                <a:cubicBezTo>
                  <a:pt x="298676" y="139700"/>
                  <a:pt x="314325" y="124051"/>
                  <a:pt x="314325" y="104775"/>
                </a:cubicBezTo>
                <a:close/>
                <a:moveTo>
                  <a:pt x="279400" y="454025"/>
                </a:moveTo>
                <a:cubicBezTo>
                  <a:pt x="317927" y="454025"/>
                  <a:pt x="349250" y="422702"/>
                  <a:pt x="349250" y="384175"/>
                </a:cubicBezTo>
                <a:cubicBezTo>
                  <a:pt x="349250" y="366494"/>
                  <a:pt x="342702" y="350232"/>
                  <a:pt x="331788" y="338009"/>
                </a:cubicBezTo>
                <a:lnTo>
                  <a:pt x="407640" y="186412"/>
                </a:lnTo>
                <a:cubicBezTo>
                  <a:pt x="414080" y="173424"/>
                  <a:pt x="408841" y="157708"/>
                  <a:pt x="395962" y="151269"/>
                </a:cubicBezTo>
                <a:cubicBezTo>
                  <a:pt x="383084" y="144830"/>
                  <a:pt x="367258" y="150068"/>
                  <a:pt x="360819" y="162947"/>
                </a:cubicBezTo>
                <a:lnTo>
                  <a:pt x="284966" y="314543"/>
                </a:lnTo>
                <a:cubicBezTo>
                  <a:pt x="283111" y="314434"/>
                  <a:pt x="281255" y="314325"/>
                  <a:pt x="279400" y="314325"/>
                </a:cubicBezTo>
                <a:cubicBezTo>
                  <a:pt x="240873" y="314325"/>
                  <a:pt x="209550" y="345648"/>
                  <a:pt x="209550" y="384175"/>
                </a:cubicBezTo>
                <a:cubicBezTo>
                  <a:pt x="209550" y="422702"/>
                  <a:pt x="240873" y="454025"/>
                  <a:pt x="279400" y="454025"/>
                </a:cubicBezTo>
                <a:close/>
                <a:moveTo>
                  <a:pt x="192088" y="157163"/>
                </a:moveTo>
                <a:cubicBezTo>
                  <a:pt x="192088" y="137887"/>
                  <a:pt x="176438" y="122238"/>
                  <a:pt x="157163" y="122238"/>
                </a:cubicBezTo>
                <a:cubicBezTo>
                  <a:pt x="137887" y="122238"/>
                  <a:pt x="122238" y="137887"/>
                  <a:pt x="122238" y="157163"/>
                </a:cubicBezTo>
                <a:cubicBezTo>
                  <a:pt x="122238" y="176438"/>
                  <a:pt x="137887" y="192088"/>
                  <a:pt x="157163" y="192088"/>
                </a:cubicBezTo>
                <a:cubicBezTo>
                  <a:pt x="176438" y="192088"/>
                  <a:pt x="192088" y="176438"/>
                  <a:pt x="192088" y="157163"/>
                </a:cubicBezTo>
                <a:close/>
                <a:moveTo>
                  <a:pt x="104775" y="314325"/>
                </a:moveTo>
                <a:cubicBezTo>
                  <a:pt x="124051" y="314325"/>
                  <a:pt x="139700" y="298676"/>
                  <a:pt x="139700" y="279400"/>
                </a:cubicBezTo>
                <a:cubicBezTo>
                  <a:pt x="139700" y="260124"/>
                  <a:pt x="124051" y="244475"/>
                  <a:pt x="104775" y="244475"/>
                </a:cubicBezTo>
                <a:cubicBezTo>
                  <a:pt x="85499" y="244475"/>
                  <a:pt x="69850" y="260124"/>
                  <a:pt x="69850" y="279400"/>
                </a:cubicBezTo>
                <a:cubicBezTo>
                  <a:pt x="69850" y="298676"/>
                  <a:pt x="85499" y="314325"/>
                  <a:pt x="104775" y="314325"/>
                </a:cubicBezTo>
                <a:close/>
                <a:moveTo>
                  <a:pt x="488950" y="279400"/>
                </a:moveTo>
                <a:cubicBezTo>
                  <a:pt x="488950" y="260124"/>
                  <a:pt x="473301" y="244475"/>
                  <a:pt x="454025" y="244475"/>
                </a:cubicBezTo>
                <a:cubicBezTo>
                  <a:pt x="434749" y="244475"/>
                  <a:pt x="419100" y="260124"/>
                  <a:pt x="419100" y="279400"/>
                </a:cubicBezTo>
                <a:cubicBezTo>
                  <a:pt x="419100" y="298676"/>
                  <a:pt x="434749" y="314325"/>
                  <a:pt x="454025" y="314325"/>
                </a:cubicBezTo>
                <a:cubicBezTo>
                  <a:pt x="473301" y="314325"/>
                  <a:pt x="488950" y="298676"/>
                  <a:pt x="488950" y="2794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2222500"/>
            <a:ext cx="381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921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utilization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especially on multi-core processors. Multiple tasks execute simultaneously, reducing total execution time significantly.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28000" y="1905000"/>
            <a:ext cx="6858000" cy="241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9000" y="2222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422593" y="-10805"/>
                </a:moveTo>
                <a:cubicBezTo>
                  <a:pt x="437436" y="-1419"/>
                  <a:pt x="442924" y="15607"/>
                  <a:pt x="436188" y="30450"/>
                </a:cubicBezTo>
                <a:lnTo>
                  <a:pt x="338398" y="244475"/>
                </a:lnTo>
                <a:lnTo>
                  <a:pt x="518886" y="244475"/>
                </a:lnTo>
                <a:cubicBezTo>
                  <a:pt x="535725" y="244475"/>
                  <a:pt x="550692" y="253643"/>
                  <a:pt x="556430" y="267504"/>
                </a:cubicBezTo>
                <a:cubicBezTo>
                  <a:pt x="562168" y="281365"/>
                  <a:pt x="557303" y="296863"/>
                  <a:pt x="544456" y="306249"/>
                </a:cubicBezTo>
                <a:lnTo>
                  <a:pt x="185227" y="568186"/>
                </a:lnTo>
                <a:cubicBezTo>
                  <a:pt x="171132" y="578445"/>
                  <a:pt x="151051" y="578991"/>
                  <a:pt x="136208" y="569605"/>
                </a:cubicBezTo>
                <a:cubicBezTo>
                  <a:pt x="121364" y="560219"/>
                  <a:pt x="115876" y="543193"/>
                  <a:pt x="122612" y="528350"/>
                </a:cubicBezTo>
                <a:lnTo>
                  <a:pt x="220402" y="314325"/>
                </a:lnTo>
                <a:lnTo>
                  <a:pt x="39914" y="314325"/>
                </a:lnTo>
                <a:cubicBezTo>
                  <a:pt x="23075" y="314325"/>
                  <a:pt x="8108" y="305157"/>
                  <a:pt x="2370" y="291296"/>
                </a:cubicBezTo>
                <a:cubicBezTo>
                  <a:pt x="-3368" y="277435"/>
                  <a:pt x="1497" y="261937"/>
                  <a:pt x="14344" y="252551"/>
                </a:cubicBezTo>
                <a:lnTo>
                  <a:pt x="373573" y="-9386"/>
                </a:lnTo>
                <a:cubicBezTo>
                  <a:pt x="387668" y="-19645"/>
                  <a:pt x="407749" y="-20191"/>
                  <a:pt x="422593" y="-10805"/>
                </a:cubicBezTo>
                <a:close/>
              </a:path>
            </a:pathLst>
          </a:cu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9271000" y="2222500"/>
            <a:ext cx="381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Responsiveness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09000" y="2921000"/>
            <a:ext cx="622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remain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 to user input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while performing background tasks. UI threads stay unblocked for smooth experience.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4508500"/>
            <a:ext cx="6477000" cy="241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51000" y="4826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419100" y="209550"/>
                </a:moveTo>
                <a:cubicBezTo>
                  <a:pt x="476945" y="209550"/>
                  <a:pt x="523875" y="162620"/>
                  <a:pt x="523875" y="104775"/>
                </a:cubicBezTo>
                <a:cubicBezTo>
                  <a:pt x="523875" y="46930"/>
                  <a:pt x="476945" y="0"/>
                  <a:pt x="419100" y="0"/>
                </a:cubicBezTo>
                <a:cubicBezTo>
                  <a:pt x="361255" y="0"/>
                  <a:pt x="314325" y="46930"/>
                  <a:pt x="314325" y="104775"/>
                </a:cubicBezTo>
                <a:cubicBezTo>
                  <a:pt x="314325" y="110669"/>
                  <a:pt x="314871" y="116562"/>
                  <a:pt x="315744" y="122238"/>
                </a:cubicBezTo>
                <a:lnTo>
                  <a:pt x="174188" y="200928"/>
                </a:lnTo>
                <a:cubicBezTo>
                  <a:pt x="155744" y="184557"/>
                  <a:pt x="131405" y="174625"/>
                  <a:pt x="104775" y="174625"/>
                </a:cubicBezTo>
                <a:cubicBezTo>
                  <a:pt x="46930" y="174625"/>
                  <a:pt x="0" y="221555"/>
                  <a:pt x="0" y="279400"/>
                </a:cubicBezTo>
                <a:cubicBezTo>
                  <a:pt x="0" y="337245"/>
                  <a:pt x="46930" y="384175"/>
                  <a:pt x="104775" y="384175"/>
                </a:cubicBezTo>
                <a:cubicBezTo>
                  <a:pt x="131405" y="384175"/>
                  <a:pt x="155635" y="374243"/>
                  <a:pt x="174188" y="357872"/>
                </a:cubicBezTo>
                <a:lnTo>
                  <a:pt x="315744" y="436563"/>
                </a:lnTo>
                <a:cubicBezTo>
                  <a:pt x="314762" y="442238"/>
                  <a:pt x="314325" y="448022"/>
                  <a:pt x="314325" y="454025"/>
                </a:cubicBezTo>
                <a:cubicBezTo>
                  <a:pt x="314325" y="511870"/>
                  <a:pt x="361255" y="558800"/>
                  <a:pt x="419100" y="558800"/>
                </a:cubicBezTo>
                <a:cubicBezTo>
                  <a:pt x="476945" y="558800"/>
                  <a:pt x="523875" y="511870"/>
                  <a:pt x="523875" y="454025"/>
                </a:cubicBezTo>
                <a:cubicBezTo>
                  <a:pt x="523875" y="396180"/>
                  <a:pt x="476945" y="349250"/>
                  <a:pt x="419100" y="349250"/>
                </a:cubicBezTo>
                <a:cubicBezTo>
                  <a:pt x="392470" y="349250"/>
                  <a:pt x="368240" y="359182"/>
                  <a:pt x="349687" y="375553"/>
                </a:cubicBezTo>
                <a:lnTo>
                  <a:pt x="208131" y="296863"/>
                </a:lnTo>
                <a:cubicBezTo>
                  <a:pt x="209113" y="291187"/>
                  <a:pt x="209550" y="285403"/>
                  <a:pt x="209550" y="279400"/>
                </a:cubicBezTo>
                <a:cubicBezTo>
                  <a:pt x="209550" y="273397"/>
                  <a:pt x="209004" y="267613"/>
                  <a:pt x="208131" y="261938"/>
                </a:cubicBezTo>
                <a:lnTo>
                  <a:pt x="349687" y="183247"/>
                </a:lnTo>
                <a:cubicBezTo>
                  <a:pt x="368131" y="199618"/>
                  <a:pt x="392470" y="209550"/>
                  <a:pt x="419100" y="2095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2413000" y="4826000"/>
            <a:ext cx="381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Sharing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51000" y="5524500"/>
            <a:ext cx="584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Threads share the same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space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making data sharing efficient compared to inter-process communication overhead.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28000" y="4508500"/>
            <a:ext cx="6858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9000" y="4826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104775" y="34925"/>
                </a:moveTo>
                <a:cubicBezTo>
                  <a:pt x="85457" y="34925"/>
                  <a:pt x="69850" y="50532"/>
                  <a:pt x="69850" y="69850"/>
                </a:cubicBezTo>
                <a:cubicBezTo>
                  <a:pt x="69850" y="89168"/>
                  <a:pt x="85457" y="104775"/>
                  <a:pt x="104775" y="104775"/>
                </a:cubicBezTo>
                <a:lnTo>
                  <a:pt x="125184" y="104775"/>
                </a:lnTo>
                <a:lnTo>
                  <a:pt x="10259" y="219809"/>
                </a:lnTo>
                <a:cubicBezTo>
                  <a:pt x="-3383" y="233452"/>
                  <a:pt x="-3383" y="255607"/>
                  <a:pt x="10259" y="269250"/>
                </a:cubicBezTo>
                <a:cubicBezTo>
                  <a:pt x="23902" y="282892"/>
                  <a:pt x="46057" y="282892"/>
                  <a:pt x="59700" y="269250"/>
                </a:cubicBezTo>
                <a:lnTo>
                  <a:pt x="174625" y="154216"/>
                </a:lnTo>
                <a:lnTo>
                  <a:pt x="174625" y="174625"/>
                </a:lnTo>
                <a:cubicBezTo>
                  <a:pt x="174625" y="193943"/>
                  <a:pt x="190232" y="209550"/>
                  <a:pt x="209550" y="209550"/>
                </a:cubicBezTo>
                <a:cubicBezTo>
                  <a:pt x="228868" y="209550"/>
                  <a:pt x="244475" y="193943"/>
                  <a:pt x="244475" y="174625"/>
                </a:cubicBezTo>
                <a:lnTo>
                  <a:pt x="244475" y="69850"/>
                </a:lnTo>
                <a:cubicBezTo>
                  <a:pt x="244475" y="50532"/>
                  <a:pt x="228868" y="34925"/>
                  <a:pt x="209550" y="34925"/>
                </a:cubicBezTo>
                <a:lnTo>
                  <a:pt x="104775" y="34925"/>
                </a:lnTo>
                <a:close/>
                <a:moveTo>
                  <a:pt x="440710" y="76508"/>
                </a:moveTo>
                <a:cubicBezTo>
                  <a:pt x="440710" y="91364"/>
                  <a:pt x="448635" y="105091"/>
                  <a:pt x="461501" y="112519"/>
                </a:cubicBezTo>
                <a:cubicBezTo>
                  <a:pt x="474367" y="119947"/>
                  <a:pt x="490218" y="119947"/>
                  <a:pt x="503084" y="112519"/>
                </a:cubicBezTo>
                <a:cubicBezTo>
                  <a:pt x="515949" y="105091"/>
                  <a:pt x="523875" y="91364"/>
                  <a:pt x="523875" y="76508"/>
                </a:cubicBezTo>
                <a:cubicBezTo>
                  <a:pt x="523875" y="61652"/>
                  <a:pt x="515949" y="47924"/>
                  <a:pt x="503084" y="40496"/>
                </a:cubicBezTo>
                <a:cubicBezTo>
                  <a:pt x="490218" y="33068"/>
                  <a:pt x="474367" y="33068"/>
                  <a:pt x="461501" y="40496"/>
                </a:cubicBezTo>
                <a:cubicBezTo>
                  <a:pt x="448635" y="47924"/>
                  <a:pt x="440710" y="61652"/>
                  <a:pt x="440710" y="76508"/>
                </a:cubicBezTo>
                <a:close/>
                <a:moveTo>
                  <a:pt x="305266" y="211951"/>
                </a:moveTo>
                <a:cubicBezTo>
                  <a:pt x="305266" y="226807"/>
                  <a:pt x="313192" y="240535"/>
                  <a:pt x="326058" y="247963"/>
                </a:cubicBezTo>
                <a:cubicBezTo>
                  <a:pt x="338923" y="255391"/>
                  <a:pt x="354775" y="255391"/>
                  <a:pt x="367640" y="247963"/>
                </a:cubicBezTo>
                <a:cubicBezTo>
                  <a:pt x="380506" y="240535"/>
                  <a:pt x="388431" y="226807"/>
                  <a:pt x="388431" y="211951"/>
                </a:cubicBezTo>
                <a:cubicBezTo>
                  <a:pt x="388431" y="197095"/>
                  <a:pt x="380506" y="183368"/>
                  <a:pt x="367640" y="175940"/>
                </a:cubicBezTo>
                <a:cubicBezTo>
                  <a:pt x="354775" y="168512"/>
                  <a:pt x="338923" y="168512"/>
                  <a:pt x="326058" y="175940"/>
                </a:cubicBezTo>
                <a:cubicBezTo>
                  <a:pt x="313192" y="183368"/>
                  <a:pt x="305266" y="197095"/>
                  <a:pt x="305266" y="211951"/>
                </a:cubicBezTo>
                <a:close/>
                <a:moveTo>
                  <a:pt x="482292" y="170369"/>
                </a:moveTo>
                <a:cubicBezTo>
                  <a:pt x="459342" y="170369"/>
                  <a:pt x="440710" y="189001"/>
                  <a:pt x="440710" y="211951"/>
                </a:cubicBezTo>
                <a:cubicBezTo>
                  <a:pt x="440710" y="234901"/>
                  <a:pt x="459342" y="253534"/>
                  <a:pt x="482292" y="253534"/>
                </a:cubicBezTo>
                <a:cubicBezTo>
                  <a:pt x="497148" y="253534"/>
                  <a:pt x="510876" y="245608"/>
                  <a:pt x="518304" y="232742"/>
                </a:cubicBezTo>
                <a:cubicBezTo>
                  <a:pt x="525732" y="219877"/>
                  <a:pt x="525732" y="204025"/>
                  <a:pt x="518304" y="191160"/>
                </a:cubicBezTo>
                <a:cubicBezTo>
                  <a:pt x="510876" y="178294"/>
                  <a:pt x="497148" y="170369"/>
                  <a:pt x="482292" y="170369"/>
                </a:cubicBezTo>
                <a:close/>
                <a:moveTo>
                  <a:pt x="170478" y="346849"/>
                </a:moveTo>
                <a:cubicBezTo>
                  <a:pt x="170478" y="361705"/>
                  <a:pt x="178403" y="375432"/>
                  <a:pt x="191269" y="382860"/>
                </a:cubicBezTo>
                <a:cubicBezTo>
                  <a:pt x="204135" y="390288"/>
                  <a:pt x="219986" y="390288"/>
                  <a:pt x="232852" y="382860"/>
                </a:cubicBezTo>
                <a:cubicBezTo>
                  <a:pt x="245717" y="375432"/>
                  <a:pt x="253643" y="361705"/>
                  <a:pt x="253643" y="346849"/>
                </a:cubicBezTo>
                <a:cubicBezTo>
                  <a:pt x="253643" y="331993"/>
                  <a:pt x="245717" y="318265"/>
                  <a:pt x="232852" y="310837"/>
                </a:cubicBezTo>
                <a:cubicBezTo>
                  <a:pt x="219986" y="303409"/>
                  <a:pt x="204135" y="303409"/>
                  <a:pt x="191269" y="310837"/>
                </a:cubicBezTo>
                <a:cubicBezTo>
                  <a:pt x="178403" y="318265"/>
                  <a:pt x="170478" y="331993"/>
                  <a:pt x="170478" y="346849"/>
                </a:cubicBezTo>
                <a:close/>
                <a:moveTo>
                  <a:pt x="346849" y="305266"/>
                </a:moveTo>
                <a:cubicBezTo>
                  <a:pt x="331993" y="305266"/>
                  <a:pt x="318265" y="313192"/>
                  <a:pt x="310837" y="326058"/>
                </a:cubicBezTo>
                <a:cubicBezTo>
                  <a:pt x="303409" y="338923"/>
                  <a:pt x="303409" y="354775"/>
                  <a:pt x="310837" y="367640"/>
                </a:cubicBezTo>
                <a:cubicBezTo>
                  <a:pt x="318265" y="380506"/>
                  <a:pt x="331993" y="388431"/>
                  <a:pt x="346849" y="388431"/>
                </a:cubicBezTo>
                <a:cubicBezTo>
                  <a:pt x="361705" y="388431"/>
                  <a:pt x="375432" y="380506"/>
                  <a:pt x="382860" y="367640"/>
                </a:cubicBezTo>
                <a:cubicBezTo>
                  <a:pt x="390288" y="354775"/>
                  <a:pt x="390288" y="338923"/>
                  <a:pt x="382860" y="326058"/>
                </a:cubicBezTo>
                <a:cubicBezTo>
                  <a:pt x="375432" y="313192"/>
                  <a:pt x="361705" y="305266"/>
                  <a:pt x="346849" y="305266"/>
                </a:cubicBezTo>
                <a:close/>
                <a:moveTo>
                  <a:pt x="440819" y="346849"/>
                </a:moveTo>
                <a:cubicBezTo>
                  <a:pt x="440819" y="361705"/>
                  <a:pt x="448745" y="375432"/>
                  <a:pt x="461610" y="382860"/>
                </a:cubicBezTo>
                <a:cubicBezTo>
                  <a:pt x="474476" y="390288"/>
                  <a:pt x="490327" y="390288"/>
                  <a:pt x="503193" y="382860"/>
                </a:cubicBezTo>
                <a:cubicBezTo>
                  <a:pt x="516059" y="375432"/>
                  <a:pt x="523984" y="361705"/>
                  <a:pt x="523984" y="346849"/>
                </a:cubicBezTo>
                <a:cubicBezTo>
                  <a:pt x="523984" y="323899"/>
                  <a:pt x="505352" y="305266"/>
                  <a:pt x="482402" y="305266"/>
                </a:cubicBezTo>
                <a:cubicBezTo>
                  <a:pt x="459452" y="305266"/>
                  <a:pt x="440819" y="323899"/>
                  <a:pt x="440819" y="346849"/>
                </a:cubicBezTo>
                <a:close/>
                <a:moveTo>
                  <a:pt x="76508" y="440710"/>
                </a:moveTo>
                <a:cubicBezTo>
                  <a:pt x="61652" y="440710"/>
                  <a:pt x="47924" y="448635"/>
                  <a:pt x="40496" y="461501"/>
                </a:cubicBezTo>
                <a:cubicBezTo>
                  <a:pt x="33068" y="474367"/>
                  <a:pt x="33068" y="490218"/>
                  <a:pt x="40496" y="503084"/>
                </a:cubicBezTo>
                <a:cubicBezTo>
                  <a:pt x="47924" y="515949"/>
                  <a:pt x="61652" y="523875"/>
                  <a:pt x="76508" y="523875"/>
                </a:cubicBezTo>
                <a:cubicBezTo>
                  <a:pt x="91364" y="523875"/>
                  <a:pt x="105091" y="515949"/>
                  <a:pt x="112519" y="503084"/>
                </a:cubicBezTo>
                <a:cubicBezTo>
                  <a:pt x="119947" y="490218"/>
                  <a:pt x="119947" y="474367"/>
                  <a:pt x="112519" y="461501"/>
                </a:cubicBezTo>
                <a:cubicBezTo>
                  <a:pt x="105091" y="448635"/>
                  <a:pt x="91364" y="440710"/>
                  <a:pt x="76508" y="440710"/>
                </a:cubicBezTo>
                <a:close/>
                <a:moveTo>
                  <a:pt x="170478" y="482292"/>
                </a:moveTo>
                <a:cubicBezTo>
                  <a:pt x="170478" y="497148"/>
                  <a:pt x="178403" y="510876"/>
                  <a:pt x="191269" y="518304"/>
                </a:cubicBezTo>
                <a:cubicBezTo>
                  <a:pt x="204135" y="525732"/>
                  <a:pt x="219986" y="525732"/>
                  <a:pt x="232852" y="518304"/>
                </a:cubicBezTo>
                <a:cubicBezTo>
                  <a:pt x="245717" y="510876"/>
                  <a:pt x="253643" y="497148"/>
                  <a:pt x="253643" y="482292"/>
                </a:cubicBezTo>
                <a:cubicBezTo>
                  <a:pt x="253643" y="467436"/>
                  <a:pt x="245717" y="453709"/>
                  <a:pt x="232852" y="446281"/>
                </a:cubicBezTo>
                <a:cubicBezTo>
                  <a:pt x="219986" y="438853"/>
                  <a:pt x="204135" y="438853"/>
                  <a:pt x="191269" y="446281"/>
                </a:cubicBezTo>
                <a:cubicBezTo>
                  <a:pt x="178403" y="453709"/>
                  <a:pt x="170478" y="467436"/>
                  <a:pt x="170478" y="482292"/>
                </a:cubicBezTo>
                <a:close/>
                <a:moveTo>
                  <a:pt x="346849" y="440710"/>
                </a:moveTo>
                <a:cubicBezTo>
                  <a:pt x="331993" y="440710"/>
                  <a:pt x="318265" y="448635"/>
                  <a:pt x="310837" y="461501"/>
                </a:cubicBezTo>
                <a:cubicBezTo>
                  <a:pt x="303409" y="474367"/>
                  <a:pt x="303409" y="490218"/>
                  <a:pt x="310837" y="503084"/>
                </a:cubicBezTo>
                <a:cubicBezTo>
                  <a:pt x="318265" y="515949"/>
                  <a:pt x="331993" y="523875"/>
                  <a:pt x="346849" y="523875"/>
                </a:cubicBezTo>
                <a:cubicBezTo>
                  <a:pt x="361705" y="523875"/>
                  <a:pt x="375432" y="515949"/>
                  <a:pt x="382860" y="503084"/>
                </a:cubicBezTo>
                <a:cubicBezTo>
                  <a:pt x="390288" y="490218"/>
                  <a:pt x="390288" y="474367"/>
                  <a:pt x="382860" y="461501"/>
                </a:cubicBezTo>
                <a:cubicBezTo>
                  <a:pt x="375432" y="448635"/>
                  <a:pt x="361705" y="440710"/>
                  <a:pt x="346849" y="440710"/>
                </a:cubicBezTo>
                <a:close/>
                <a:moveTo>
                  <a:pt x="440819" y="482292"/>
                </a:moveTo>
                <a:cubicBezTo>
                  <a:pt x="440819" y="497148"/>
                  <a:pt x="448745" y="510876"/>
                  <a:pt x="461610" y="518304"/>
                </a:cubicBezTo>
                <a:cubicBezTo>
                  <a:pt x="474476" y="525732"/>
                  <a:pt x="490327" y="525732"/>
                  <a:pt x="503193" y="518304"/>
                </a:cubicBezTo>
                <a:cubicBezTo>
                  <a:pt x="516059" y="510876"/>
                  <a:pt x="523984" y="497148"/>
                  <a:pt x="523984" y="482292"/>
                </a:cubicBezTo>
                <a:cubicBezTo>
                  <a:pt x="523984" y="459342"/>
                  <a:pt x="505352" y="440710"/>
                  <a:pt x="482402" y="440710"/>
                </a:cubicBezTo>
                <a:cubicBezTo>
                  <a:pt x="459452" y="440710"/>
                  <a:pt x="440819" y="459342"/>
                  <a:pt x="440819" y="482292"/>
                </a:cubicBezTo>
                <a:close/>
              </a:path>
            </a:pathLst>
          </a:custGeom>
          <a:solidFill>
            <a:srgbClr val="6F42C1"/>
          </a:solidFill>
          <a:ln/>
        </p:spPr>
      </p:sp>
      <p:sp>
        <p:nvSpPr>
          <p:cNvPr id="18" name="Text 16"/>
          <p:cNvSpPr/>
          <p:nvPr/>
        </p:nvSpPr>
        <p:spPr>
          <a:xfrm>
            <a:off x="9271000" y="4826000"/>
            <a:ext cx="381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09000" y="5524500"/>
            <a:ext cx="622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Programs can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6F42C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to utilize more CPU cores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as they become available. More cores = more parallel threads.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70000" y="7112000"/>
            <a:ext cx="13716000" cy="10795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1651000" y="730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222500" y="7239000"/>
            <a:ext cx="12509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impact: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Web servers handle thousands of concurrent connections; games render graphics while processing physics and AI simultaneously.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in Multi-threading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90853" y="-31750"/>
                </a:moveTo>
                <a:cubicBezTo>
                  <a:pt x="325899" y="-31750"/>
                  <a:pt x="354353" y="-6853"/>
                  <a:pt x="354353" y="23812"/>
                </a:cubicBezTo>
                <a:cubicBezTo>
                  <a:pt x="354353" y="54478"/>
                  <a:pt x="325899" y="79375"/>
                  <a:pt x="290853" y="79375"/>
                </a:cubicBezTo>
                <a:cubicBezTo>
                  <a:pt x="255806" y="79375"/>
                  <a:pt x="227353" y="54478"/>
                  <a:pt x="227353" y="23813"/>
                </a:cubicBezTo>
                <a:cubicBezTo>
                  <a:pt x="227353" y="-6853"/>
                  <a:pt x="255806" y="-31750"/>
                  <a:pt x="290853" y="-31750"/>
                </a:cubicBezTo>
                <a:close/>
                <a:moveTo>
                  <a:pt x="140154" y="174625"/>
                </a:moveTo>
                <a:cubicBezTo>
                  <a:pt x="136412" y="174625"/>
                  <a:pt x="133123" y="176609"/>
                  <a:pt x="131763" y="179586"/>
                </a:cubicBezTo>
                <a:lnTo>
                  <a:pt x="106816" y="234057"/>
                </a:lnTo>
                <a:cubicBezTo>
                  <a:pt x="99332" y="250329"/>
                  <a:pt x="78241" y="258266"/>
                  <a:pt x="59645" y="251718"/>
                </a:cubicBezTo>
                <a:cubicBezTo>
                  <a:pt x="41048" y="245170"/>
                  <a:pt x="31977" y="226715"/>
                  <a:pt x="39461" y="210443"/>
                </a:cubicBezTo>
                <a:lnTo>
                  <a:pt x="64294" y="155972"/>
                </a:lnTo>
                <a:cubicBezTo>
                  <a:pt x="76767" y="128885"/>
                  <a:pt x="106703" y="111125"/>
                  <a:pt x="140154" y="111125"/>
                </a:cubicBezTo>
                <a:lnTo>
                  <a:pt x="250485" y="111125"/>
                </a:lnTo>
                <a:cubicBezTo>
                  <a:pt x="282802" y="111125"/>
                  <a:pt x="312624" y="126107"/>
                  <a:pt x="328839" y="150515"/>
                </a:cubicBezTo>
                <a:lnTo>
                  <a:pt x="366032" y="206375"/>
                </a:lnTo>
                <a:lnTo>
                  <a:pt x="435882" y="206375"/>
                </a:lnTo>
                <a:cubicBezTo>
                  <a:pt x="455953" y="206375"/>
                  <a:pt x="472168" y="220563"/>
                  <a:pt x="472168" y="238125"/>
                </a:cubicBezTo>
                <a:cubicBezTo>
                  <a:pt x="472168" y="255687"/>
                  <a:pt x="455953" y="269875"/>
                  <a:pt x="435882" y="269875"/>
                </a:cubicBezTo>
                <a:lnTo>
                  <a:pt x="366032" y="269875"/>
                </a:lnTo>
                <a:cubicBezTo>
                  <a:pt x="340179" y="269875"/>
                  <a:pt x="316366" y="257870"/>
                  <a:pt x="303326" y="238323"/>
                </a:cubicBezTo>
                <a:lnTo>
                  <a:pt x="291987" y="221357"/>
                </a:lnTo>
                <a:lnTo>
                  <a:pt x="268514" y="291207"/>
                </a:lnTo>
                <a:lnTo>
                  <a:pt x="354013" y="313630"/>
                </a:lnTo>
                <a:cubicBezTo>
                  <a:pt x="385422" y="321866"/>
                  <a:pt x="401411" y="352326"/>
                  <a:pt x="388144" y="378619"/>
                </a:cubicBezTo>
                <a:lnTo>
                  <a:pt x="323963" y="505023"/>
                </a:lnTo>
                <a:cubicBezTo>
                  <a:pt x="315799" y="521097"/>
                  <a:pt x="294368" y="528241"/>
                  <a:pt x="276112" y="521097"/>
                </a:cubicBezTo>
                <a:cubicBezTo>
                  <a:pt x="257855" y="513953"/>
                  <a:pt x="249578" y="495201"/>
                  <a:pt x="257742" y="479227"/>
                </a:cubicBezTo>
                <a:lnTo>
                  <a:pt x="313531" y="369292"/>
                </a:lnTo>
                <a:lnTo>
                  <a:pt x="204788" y="340717"/>
                </a:lnTo>
                <a:cubicBezTo>
                  <a:pt x="167708" y="330994"/>
                  <a:pt x="145823" y="297359"/>
                  <a:pt x="155235" y="264517"/>
                </a:cubicBezTo>
                <a:lnTo>
                  <a:pt x="180975" y="174625"/>
                </a:lnTo>
                <a:lnTo>
                  <a:pt x="140267" y="174625"/>
                </a:lnTo>
                <a:close/>
                <a:moveTo>
                  <a:pt x="131082" y="354211"/>
                </a:moveTo>
                <a:cubicBezTo>
                  <a:pt x="146163" y="368995"/>
                  <a:pt x="165894" y="380305"/>
                  <a:pt x="189139" y="386358"/>
                </a:cubicBezTo>
                <a:lnTo>
                  <a:pt x="194469" y="387747"/>
                </a:lnTo>
                <a:lnTo>
                  <a:pt x="186645" y="406896"/>
                </a:lnTo>
                <a:cubicBezTo>
                  <a:pt x="180068" y="423069"/>
                  <a:pt x="168502" y="437455"/>
                  <a:pt x="153421" y="448370"/>
                </a:cubicBezTo>
                <a:lnTo>
                  <a:pt x="59985" y="515739"/>
                </a:lnTo>
                <a:cubicBezTo>
                  <a:pt x="44563" y="526852"/>
                  <a:pt x="21658" y="524966"/>
                  <a:pt x="8958" y="511473"/>
                </a:cubicBezTo>
                <a:cubicBezTo>
                  <a:pt x="-3742" y="497979"/>
                  <a:pt x="-1588" y="477937"/>
                  <a:pt x="13834" y="466824"/>
                </a:cubicBezTo>
                <a:lnTo>
                  <a:pt x="107270" y="399455"/>
                </a:lnTo>
                <a:cubicBezTo>
                  <a:pt x="112372" y="395784"/>
                  <a:pt x="116114" y="391021"/>
                  <a:pt x="118382" y="385663"/>
                </a:cubicBezTo>
                <a:lnTo>
                  <a:pt x="131082" y="354211"/>
                </a:lnTo>
                <a:close/>
              </a:path>
            </a:pathLst>
          </a:cu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1587500" y="279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Race Conditions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87500" y="3238500"/>
            <a:ext cx="368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threads access shared data simultaneously, leading to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unpredictable results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6160" y="-24705"/>
                </a:moveTo>
                <a:cubicBezTo>
                  <a:pt x="27869" y="-34032"/>
                  <a:pt x="14464" y="-34032"/>
                  <a:pt x="6262" y="-24705"/>
                </a:cubicBezTo>
                <a:cubicBezTo>
                  <a:pt x="-1940" y="-15379"/>
                  <a:pt x="-2028" y="-298"/>
                  <a:pt x="6174" y="9029"/>
                </a:cubicBezTo>
                <a:lnTo>
                  <a:pt x="471840" y="532904"/>
                </a:lnTo>
                <a:cubicBezTo>
                  <a:pt x="480131" y="542230"/>
                  <a:pt x="493536" y="542230"/>
                  <a:pt x="501738" y="532904"/>
                </a:cubicBezTo>
                <a:cubicBezTo>
                  <a:pt x="509940" y="523577"/>
                  <a:pt x="510028" y="508496"/>
                  <a:pt x="501738" y="499269"/>
                </a:cubicBezTo>
                <a:lnTo>
                  <a:pt x="394141" y="378222"/>
                </a:lnTo>
                <a:cubicBezTo>
                  <a:pt x="397845" y="374848"/>
                  <a:pt x="401461" y="371177"/>
                  <a:pt x="404813" y="367407"/>
                </a:cubicBezTo>
                <a:lnTo>
                  <a:pt x="467519" y="296863"/>
                </a:lnTo>
                <a:cubicBezTo>
                  <a:pt x="493360" y="267791"/>
                  <a:pt x="507912" y="228302"/>
                  <a:pt x="507912" y="187127"/>
                </a:cubicBezTo>
                <a:cubicBezTo>
                  <a:pt x="507912" y="101402"/>
                  <a:pt x="446176" y="31849"/>
                  <a:pt x="369887" y="31849"/>
                </a:cubicBezTo>
                <a:cubicBezTo>
                  <a:pt x="336991" y="31849"/>
                  <a:pt x="305417" y="45045"/>
                  <a:pt x="280547" y="68759"/>
                </a:cubicBezTo>
                <a:cubicBezTo>
                  <a:pt x="298450" y="78780"/>
                  <a:pt x="314678" y="92075"/>
                  <a:pt x="328613" y="107950"/>
                </a:cubicBezTo>
                <a:cubicBezTo>
                  <a:pt x="341048" y="99715"/>
                  <a:pt x="355247" y="95349"/>
                  <a:pt x="369887" y="95349"/>
                </a:cubicBezTo>
                <a:cubicBezTo>
                  <a:pt x="414955" y="95349"/>
                  <a:pt x="451467" y="136426"/>
                  <a:pt x="451467" y="187127"/>
                </a:cubicBezTo>
                <a:cubicBezTo>
                  <a:pt x="451467" y="211435"/>
                  <a:pt x="442913" y="234752"/>
                  <a:pt x="427567" y="252016"/>
                </a:cubicBezTo>
                <a:lnTo>
                  <a:pt x="364860" y="322560"/>
                </a:lnTo>
                <a:cubicBezTo>
                  <a:pt x="361421" y="326430"/>
                  <a:pt x="357717" y="329902"/>
                  <a:pt x="353748" y="332978"/>
                </a:cubicBezTo>
                <a:lnTo>
                  <a:pt x="311856" y="285849"/>
                </a:lnTo>
                <a:cubicBezTo>
                  <a:pt x="326408" y="284956"/>
                  <a:pt x="338049" y="271562"/>
                  <a:pt x="338490" y="254992"/>
                </a:cubicBezTo>
                <a:cubicBezTo>
                  <a:pt x="338490" y="253702"/>
                  <a:pt x="338490" y="252412"/>
                  <a:pt x="338490" y="251123"/>
                </a:cubicBezTo>
                <a:cubicBezTo>
                  <a:pt x="338490" y="165497"/>
                  <a:pt x="276842" y="95448"/>
                  <a:pt x="200466" y="95448"/>
                </a:cubicBezTo>
                <a:cubicBezTo>
                  <a:pt x="183533" y="95448"/>
                  <a:pt x="167040" y="98921"/>
                  <a:pt x="151518" y="105569"/>
                </a:cubicBezTo>
                <a:lnTo>
                  <a:pt x="36160" y="-24705"/>
                </a:lnTo>
                <a:close/>
                <a:moveTo>
                  <a:pt x="199231" y="158750"/>
                </a:moveTo>
                <a:cubicBezTo>
                  <a:pt x="199760" y="158750"/>
                  <a:pt x="200201" y="158750"/>
                  <a:pt x="200731" y="158750"/>
                </a:cubicBezTo>
                <a:cubicBezTo>
                  <a:pt x="214048" y="158750"/>
                  <a:pt x="226748" y="162421"/>
                  <a:pt x="237860" y="168870"/>
                </a:cubicBezTo>
                <a:cubicBezTo>
                  <a:pt x="239448" y="170061"/>
                  <a:pt x="241035" y="171152"/>
                  <a:pt x="242711" y="171946"/>
                </a:cubicBezTo>
                <a:cubicBezTo>
                  <a:pt x="266347" y="188119"/>
                  <a:pt x="282222" y="217488"/>
                  <a:pt x="282222" y="250924"/>
                </a:cubicBezTo>
                <a:cubicBezTo>
                  <a:pt x="282222" y="251321"/>
                  <a:pt x="282222" y="251718"/>
                  <a:pt x="282222" y="252115"/>
                </a:cubicBezTo>
                <a:lnTo>
                  <a:pt x="199231" y="158750"/>
                </a:lnTo>
                <a:close/>
                <a:moveTo>
                  <a:pt x="305329" y="412750"/>
                </a:moveTo>
                <a:lnTo>
                  <a:pt x="169333" y="259755"/>
                </a:lnTo>
                <a:cubicBezTo>
                  <a:pt x="170392" y="343694"/>
                  <a:pt x="230717" y="411460"/>
                  <a:pt x="305241" y="412651"/>
                </a:cubicBezTo>
                <a:close/>
                <a:moveTo>
                  <a:pt x="123208" y="207863"/>
                </a:moveTo>
                <a:lnTo>
                  <a:pt x="83256" y="162917"/>
                </a:lnTo>
                <a:lnTo>
                  <a:pt x="40393" y="211138"/>
                </a:lnTo>
                <a:cubicBezTo>
                  <a:pt x="14552" y="240209"/>
                  <a:pt x="0" y="279698"/>
                  <a:pt x="0" y="320873"/>
                </a:cubicBezTo>
                <a:cubicBezTo>
                  <a:pt x="0" y="406598"/>
                  <a:pt x="61736" y="476151"/>
                  <a:pt x="138024" y="476151"/>
                </a:cubicBezTo>
                <a:cubicBezTo>
                  <a:pt x="170833" y="476151"/>
                  <a:pt x="202494" y="462955"/>
                  <a:pt x="227365" y="439241"/>
                </a:cubicBezTo>
                <a:cubicBezTo>
                  <a:pt x="209462" y="429220"/>
                  <a:pt x="193146" y="415925"/>
                  <a:pt x="179211" y="400050"/>
                </a:cubicBezTo>
                <a:cubicBezTo>
                  <a:pt x="166864" y="408186"/>
                  <a:pt x="152665" y="412552"/>
                  <a:pt x="138024" y="412552"/>
                </a:cubicBezTo>
                <a:cubicBezTo>
                  <a:pt x="92957" y="412552"/>
                  <a:pt x="56444" y="371475"/>
                  <a:pt x="56444" y="320774"/>
                </a:cubicBezTo>
                <a:cubicBezTo>
                  <a:pt x="56444" y="296466"/>
                  <a:pt x="64999" y="273149"/>
                  <a:pt x="80345" y="255885"/>
                </a:cubicBezTo>
                <a:lnTo>
                  <a:pt x="123208" y="207665"/>
                </a:lnTo>
                <a:close/>
              </a:path>
            </a:pathLst>
          </a:custGeom>
          <a:solidFill>
            <a:srgbClr val="FD7E14"/>
          </a:solidFill>
          <a:ln/>
        </p:spPr>
      </p:sp>
      <p:sp>
        <p:nvSpPr>
          <p:cNvPr id="10" name="Text 8"/>
          <p:cNvSpPr/>
          <p:nvPr/>
        </p:nvSpPr>
        <p:spPr>
          <a:xfrm>
            <a:off x="6286500" y="279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D7E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Deadlocks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86500" y="3238500"/>
            <a:ext cx="368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Threads blocked forever, each waiting for the other to release a resource.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D7E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Circular wait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855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ubicBezTo>
                  <a:pt x="0" y="113814"/>
                  <a:pt x="113814" y="0"/>
                  <a:pt x="254000" y="0"/>
                </a:cubicBezTo>
                <a:close/>
                <a:moveTo>
                  <a:pt x="230188" y="119063"/>
                </a:moveTo>
                <a:lnTo>
                  <a:pt x="230188" y="254000"/>
                </a:lnTo>
                <a:cubicBezTo>
                  <a:pt x="230188" y="261937"/>
                  <a:pt x="234156" y="269379"/>
                  <a:pt x="240804" y="273844"/>
                </a:cubicBezTo>
                <a:lnTo>
                  <a:pt x="336054" y="337344"/>
                </a:lnTo>
                <a:cubicBezTo>
                  <a:pt x="346968" y="344686"/>
                  <a:pt x="361752" y="341709"/>
                  <a:pt x="369094" y="330696"/>
                </a:cubicBezTo>
                <a:cubicBezTo>
                  <a:pt x="376436" y="319683"/>
                  <a:pt x="373459" y="304998"/>
                  <a:pt x="362446" y="297656"/>
                </a:cubicBezTo>
                <a:lnTo>
                  <a:pt x="277813" y="241300"/>
                </a:lnTo>
                <a:lnTo>
                  <a:pt x="277813" y="119063"/>
                </a:lnTo>
                <a:cubicBezTo>
                  <a:pt x="277813" y="105866"/>
                  <a:pt x="267196" y="95250"/>
                  <a:pt x="254000" y="95250"/>
                </a:cubicBezTo>
                <a:cubicBezTo>
                  <a:pt x="240804" y="95250"/>
                  <a:pt x="230188" y="105866"/>
                  <a:pt x="230188" y="119063"/>
                </a:cubicBezTo>
                <a:close/>
              </a:path>
            </a:pathLst>
          </a:custGeom>
          <a:solidFill>
            <a:srgbClr val="6F42C1"/>
          </a:solidFill>
          <a:ln/>
        </p:spPr>
      </p:sp>
      <p:sp>
        <p:nvSpPr>
          <p:cNvPr id="14" name="Text 12"/>
          <p:cNvSpPr/>
          <p:nvPr/>
        </p:nvSpPr>
        <p:spPr>
          <a:xfrm>
            <a:off x="10985500" y="2794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6F42C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Starvation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85500" y="3238500"/>
            <a:ext cx="368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thread is perpetually denied access to resources because other threads always get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6F42C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priority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5016500"/>
            <a:ext cx="6731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87500" y="527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69333" y="95250"/>
                </a:moveTo>
                <a:cubicBezTo>
                  <a:pt x="169333" y="42664"/>
                  <a:pt x="207257" y="0"/>
                  <a:pt x="254000" y="0"/>
                </a:cubicBezTo>
                <a:cubicBezTo>
                  <a:pt x="300743" y="0"/>
                  <a:pt x="338667" y="42664"/>
                  <a:pt x="338667" y="95250"/>
                </a:cubicBezTo>
                <a:lnTo>
                  <a:pt x="338667" y="98822"/>
                </a:lnTo>
                <a:cubicBezTo>
                  <a:pt x="338667" y="114399"/>
                  <a:pt x="327466" y="127000"/>
                  <a:pt x="313619" y="127000"/>
                </a:cubicBezTo>
                <a:lnTo>
                  <a:pt x="194469" y="127000"/>
                </a:lnTo>
                <a:cubicBezTo>
                  <a:pt x="180622" y="127000"/>
                  <a:pt x="169422" y="114399"/>
                  <a:pt x="169422" y="98822"/>
                </a:cubicBezTo>
                <a:lnTo>
                  <a:pt x="169422" y="95250"/>
                </a:lnTo>
                <a:close/>
                <a:moveTo>
                  <a:pt x="474133" y="107950"/>
                </a:moveTo>
                <a:cubicBezTo>
                  <a:pt x="483482" y="121940"/>
                  <a:pt x="480924" y="141883"/>
                  <a:pt x="468489" y="152400"/>
                </a:cubicBezTo>
                <a:lnTo>
                  <a:pt x="382235" y="225127"/>
                </a:lnTo>
                <a:cubicBezTo>
                  <a:pt x="386909" y="233958"/>
                  <a:pt x="390437" y="243681"/>
                  <a:pt x="392642" y="254000"/>
                </a:cubicBezTo>
                <a:lnTo>
                  <a:pt x="479778" y="254000"/>
                </a:lnTo>
                <a:cubicBezTo>
                  <a:pt x="495388" y="254000"/>
                  <a:pt x="508000" y="268188"/>
                  <a:pt x="508000" y="285750"/>
                </a:cubicBezTo>
                <a:cubicBezTo>
                  <a:pt x="508000" y="303312"/>
                  <a:pt x="495388" y="317500"/>
                  <a:pt x="479778" y="317500"/>
                </a:cubicBezTo>
                <a:lnTo>
                  <a:pt x="395111" y="317500"/>
                </a:lnTo>
                <a:lnTo>
                  <a:pt x="395111" y="349250"/>
                </a:lnTo>
                <a:cubicBezTo>
                  <a:pt x="395111" y="351830"/>
                  <a:pt x="395023" y="354509"/>
                  <a:pt x="394935" y="357088"/>
                </a:cubicBezTo>
                <a:lnTo>
                  <a:pt x="468489" y="419100"/>
                </a:lnTo>
                <a:cubicBezTo>
                  <a:pt x="480924" y="429617"/>
                  <a:pt x="483482" y="449560"/>
                  <a:pt x="474133" y="463550"/>
                </a:cubicBezTo>
                <a:cubicBezTo>
                  <a:pt x="464785" y="477540"/>
                  <a:pt x="447058" y="480417"/>
                  <a:pt x="434622" y="469900"/>
                </a:cubicBezTo>
                <a:lnTo>
                  <a:pt x="378972" y="422970"/>
                </a:lnTo>
                <a:cubicBezTo>
                  <a:pt x="358510" y="466824"/>
                  <a:pt x="320322" y="498574"/>
                  <a:pt x="275167" y="506214"/>
                </a:cubicBezTo>
                <a:lnTo>
                  <a:pt x="275167" y="277813"/>
                </a:lnTo>
                <a:cubicBezTo>
                  <a:pt x="275167" y="264616"/>
                  <a:pt x="265730" y="254000"/>
                  <a:pt x="254000" y="254000"/>
                </a:cubicBezTo>
                <a:cubicBezTo>
                  <a:pt x="242270" y="254000"/>
                  <a:pt x="232833" y="264616"/>
                  <a:pt x="232833" y="277813"/>
                </a:cubicBezTo>
                <a:lnTo>
                  <a:pt x="232833" y="506214"/>
                </a:lnTo>
                <a:cubicBezTo>
                  <a:pt x="187678" y="498574"/>
                  <a:pt x="149490" y="466824"/>
                  <a:pt x="129028" y="422970"/>
                </a:cubicBezTo>
                <a:lnTo>
                  <a:pt x="73378" y="469900"/>
                </a:lnTo>
                <a:cubicBezTo>
                  <a:pt x="60942" y="480417"/>
                  <a:pt x="43215" y="477540"/>
                  <a:pt x="33867" y="463550"/>
                </a:cubicBezTo>
                <a:cubicBezTo>
                  <a:pt x="24518" y="449560"/>
                  <a:pt x="27076" y="429617"/>
                  <a:pt x="39511" y="419100"/>
                </a:cubicBezTo>
                <a:lnTo>
                  <a:pt x="113065" y="357088"/>
                </a:lnTo>
                <a:cubicBezTo>
                  <a:pt x="112977" y="354509"/>
                  <a:pt x="112889" y="351929"/>
                  <a:pt x="112889" y="349250"/>
                </a:cubicBezTo>
                <a:lnTo>
                  <a:pt x="112889" y="317500"/>
                </a:lnTo>
                <a:lnTo>
                  <a:pt x="28222" y="317500"/>
                </a:lnTo>
                <a:cubicBezTo>
                  <a:pt x="12612" y="317500"/>
                  <a:pt x="0" y="303312"/>
                  <a:pt x="0" y="285750"/>
                </a:cubicBezTo>
                <a:cubicBezTo>
                  <a:pt x="0" y="268188"/>
                  <a:pt x="12612" y="254000"/>
                  <a:pt x="28222" y="254000"/>
                </a:cubicBezTo>
                <a:lnTo>
                  <a:pt x="115358" y="254000"/>
                </a:lnTo>
                <a:cubicBezTo>
                  <a:pt x="117563" y="243681"/>
                  <a:pt x="121091" y="233958"/>
                  <a:pt x="125765" y="225127"/>
                </a:cubicBezTo>
                <a:lnTo>
                  <a:pt x="39511" y="152400"/>
                </a:lnTo>
                <a:cubicBezTo>
                  <a:pt x="27076" y="141883"/>
                  <a:pt x="24518" y="121940"/>
                  <a:pt x="33867" y="107950"/>
                </a:cubicBezTo>
                <a:cubicBezTo>
                  <a:pt x="43215" y="93960"/>
                  <a:pt x="60942" y="91083"/>
                  <a:pt x="73378" y="101600"/>
                </a:cubicBezTo>
                <a:lnTo>
                  <a:pt x="169333" y="182563"/>
                </a:lnTo>
                <a:cubicBezTo>
                  <a:pt x="180181" y="177502"/>
                  <a:pt x="192088" y="174625"/>
                  <a:pt x="204611" y="174625"/>
                </a:cubicBezTo>
                <a:lnTo>
                  <a:pt x="303389" y="174625"/>
                </a:lnTo>
                <a:cubicBezTo>
                  <a:pt x="315913" y="174625"/>
                  <a:pt x="327819" y="177403"/>
                  <a:pt x="338667" y="182563"/>
                </a:cubicBezTo>
                <a:lnTo>
                  <a:pt x="434622" y="101600"/>
                </a:lnTo>
                <a:cubicBezTo>
                  <a:pt x="447058" y="91083"/>
                  <a:pt x="464785" y="93960"/>
                  <a:pt x="474133" y="1079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1587500" y="590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Debugging Complexity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87500" y="6350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Thread-related bugs are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non-deterministic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hard to reproduce.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5016500"/>
            <a:ext cx="6604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99500" y="527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250" y="95250"/>
                </a:moveTo>
                <a:cubicBezTo>
                  <a:pt x="222250" y="77727"/>
                  <a:pt x="236477" y="63500"/>
                  <a:pt x="254000" y="63500"/>
                </a:cubicBezTo>
                <a:cubicBezTo>
                  <a:pt x="271523" y="63500"/>
                  <a:pt x="285750" y="77727"/>
                  <a:pt x="285750" y="95250"/>
                </a:cubicBezTo>
                <a:cubicBezTo>
                  <a:pt x="285750" y="112773"/>
                  <a:pt x="271523" y="127000"/>
                  <a:pt x="254000" y="127000"/>
                </a:cubicBezTo>
                <a:cubicBezTo>
                  <a:pt x="236477" y="127000"/>
                  <a:pt x="222250" y="112773"/>
                  <a:pt x="222250" y="95250"/>
                </a:cubicBezTo>
                <a:close/>
                <a:moveTo>
                  <a:pt x="343793" y="127000"/>
                </a:moveTo>
                <a:cubicBezTo>
                  <a:pt x="347266" y="117078"/>
                  <a:pt x="349250" y="106363"/>
                  <a:pt x="349250" y="95250"/>
                </a:cubicBezTo>
                <a:cubicBezTo>
                  <a:pt x="349250" y="42664"/>
                  <a:pt x="306586" y="0"/>
                  <a:pt x="254000" y="0"/>
                </a:cubicBezTo>
                <a:cubicBezTo>
                  <a:pt x="201414" y="0"/>
                  <a:pt x="158750" y="42664"/>
                  <a:pt x="158750" y="95250"/>
                </a:cubicBezTo>
                <a:cubicBezTo>
                  <a:pt x="158750" y="106363"/>
                  <a:pt x="160635" y="117078"/>
                  <a:pt x="164207" y="127000"/>
                </a:cubicBezTo>
                <a:lnTo>
                  <a:pt x="142577" y="127000"/>
                </a:lnTo>
                <a:cubicBezTo>
                  <a:pt x="114498" y="127000"/>
                  <a:pt x="89793" y="145355"/>
                  <a:pt x="81756" y="172244"/>
                </a:cubicBezTo>
                <a:lnTo>
                  <a:pt x="2381" y="436761"/>
                </a:lnTo>
                <a:cubicBezTo>
                  <a:pt x="794" y="441920"/>
                  <a:pt x="0" y="447278"/>
                  <a:pt x="0" y="452636"/>
                </a:cubicBezTo>
                <a:cubicBezTo>
                  <a:pt x="0" y="483195"/>
                  <a:pt x="24805" y="508000"/>
                  <a:pt x="55364" y="508000"/>
                </a:cubicBezTo>
                <a:lnTo>
                  <a:pt x="452636" y="508000"/>
                </a:lnTo>
                <a:cubicBezTo>
                  <a:pt x="483195" y="508000"/>
                  <a:pt x="508000" y="483195"/>
                  <a:pt x="508000" y="452636"/>
                </a:cubicBezTo>
                <a:cubicBezTo>
                  <a:pt x="508000" y="447278"/>
                  <a:pt x="507206" y="441920"/>
                  <a:pt x="505619" y="436761"/>
                </a:cubicBezTo>
                <a:lnTo>
                  <a:pt x="426244" y="172343"/>
                </a:lnTo>
                <a:cubicBezTo>
                  <a:pt x="418207" y="145455"/>
                  <a:pt x="393502" y="127099"/>
                  <a:pt x="365423" y="127099"/>
                </a:cubicBezTo>
                <a:lnTo>
                  <a:pt x="343793" y="127099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22" name="Text 20"/>
          <p:cNvSpPr/>
          <p:nvPr/>
        </p:nvSpPr>
        <p:spPr>
          <a:xfrm>
            <a:off x="8699500" y="590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Overhead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99500" y="6350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creation and context switching consume resources. Too many threads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degrade performance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70000" y="7493000"/>
            <a:ext cx="13716000" cy="635000"/>
          </a:xfrm>
          <a:prstGeom prst="roundRect">
            <a:avLst>
              <a:gd name="adj" fmla="val 6000"/>
            </a:avLst>
          </a:prstGeom>
          <a:solidFill>
            <a:srgbClr val="FFF3CD"/>
          </a:solidFill>
          <a:ln/>
        </p:spPr>
      </p:sp>
      <p:sp>
        <p:nvSpPr>
          <p:cNvPr id="25" name="Shape 23"/>
          <p:cNvSpPr/>
          <p:nvPr/>
        </p:nvSpPr>
        <p:spPr>
          <a:xfrm>
            <a:off x="1587500" y="762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856404"/>
          </a:solidFill>
          <a:ln/>
        </p:spPr>
      </p:sp>
      <p:sp>
        <p:nvSpPr>
          <p:cNvPr id="26" name="Text 24"/>
          <p:cNvSpPr/>
          <p:nvPr/>
        </p:nvSpPr>
        <p:spPr>
          <a:xfrm>
            <a:off x="2095500" y="7556500"/>
            <a:ext cx="1257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8564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8564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challenges make multi-threading powerful but require careful design and thorough testing.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Race Conditions Explained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14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57400"/>
            <a:ext cx="1524000" cy="3556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0574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38500" y="2032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race condition occurs when program behavior depends on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relative timing of thread execution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causing incorrect results.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70000" y="3175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70000" y="3619500"/>
            <a:ext cx="6350000" cy="2667000"/>
          </a:xfrm>
          <a:prstGeom prst="roundRect">
            <a:avLst>
              <a:gd name="adj" fmla="val 6000"/>
            </a:avLst>
          </a:prstGeom>
          <a:solidFill>
            <a:srgbClr val="2D3748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3746500"/>
            <a:ext cx="584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WITHOUT sync - Race Condition!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 = 1000</a:t>
            </a:r>
            <a:endParaRPr lang="en-US" sz="1300" dirty="0"/>
          </a:p>
          <a:p>
            <a:pPr algn="l">
              <a:lnSpc>
                <a:spcPct val="150000"/>
              </a:lnSpc>
            </a:pP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withdraw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(amount):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 &gt;= amount: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Check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Context switch!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balance -= amount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Modify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Interleaved Execution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28000" y="3746500"/>
            <a:ext cx="2921000" cy="4445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0" y="3746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A: check balance &gt;= 500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76000" y="3746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 (balance=1000)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0" y="4318000"/>
            <a:ext cx="2921000" cy="4445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8128000" y="43180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B: check balance &gt;= 500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76000" y="4318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 (balance=1000)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8000" y="4889500"/>
            <a:ext cx="2921000" cy="4445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19" name="Text 17"/>
          <p:cNvSpPr/>
          <p:nvPr/>
        </p:nvSpPr>
        <p:spPr>
          <a:xfrm>
            <a:off x="8128000" y="4889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A: balance -= 500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76000" y="4889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 = 500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28000" y="5461000"/>
            <a:ext cx="2921000" cy="4445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8128000" y="54610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B: balance -= 500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76000" y="5461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 = 0 (WRONG!)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28000" y="6096000"/>
            <a:ext cx="6731000" cy="444500"/>
          </a:xfrm>
          <a:prstGeom prst="roundRect">
            <a:avLst>
              <a:gd name="adj" fmla="val 8000"/>
            </a:avLst>
          </a:prstGeom>
          <a:solidFill>
            <a:srgbClr val="DC3545">
              <a:alpha val="12549"/>
            </a:srgbClr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8000" y="6096000"/>
            <a:ext cx="673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Expected: 500 | Actual: 0 | Both withdrew!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70000" y="6731000"/>
            <a:ext cx="13716000" cy="14605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8A745"/>
              </a:gs>
              <a:gs pos="100000">
                <a:srgbClr val="20C997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1651000" y="698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6985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651000" y="7556500"/>
            <a:ext cx="1295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Locks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make the check-and-modify operation atomic. Only one thread can execute the critical section at a time.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Deadlock Explained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14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057400"/>
            <a:ext cx="1524000" cy="355600"/>
          </a:xfrm>
          <a:prstGeom prst="roundRect">
            <a:avLst>
              <a:gd name="adj" fmla="val 20000"/>
            </a:avLst>
          </a:prstGeom>
          <a:solidFill>
            <a:srgbClr val="FD7E14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0574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38500" y="2032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deadlock is when two or more threads are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D7E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blocked forever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each waiting for a resource held by another thread in a circular chain.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70000" y="3238500"/>
            <a:ext cx="6350000" cy="2730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7500" y="3403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Coffman Conditions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87500" y="3873500"/>
            <a:ext cx="571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Mutual Exclusion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Resources are non-shareable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Hold and Wait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Thread holds resource while waiting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Preemption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Resources cannot be forcibly taken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Circular Wait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Circular chain of waiting threads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0" y="3238500"/>
            <a:ext cx="6985000" cy="2730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8318500" y="349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0729" y="104835"/>
                </a:moveTo>
                <a:lnTo>
                  <a:pt x="97423" y="171450"/>
                </a:lnTo>
                <a:lnTo>
                  <a:pt x="359777" y="171450"/>
                </a:lnTo>
                <a:lnTo>
                  <a:pt x="336471" y="104835"/>
                </a:lnTo>
                <a:cubicBezTo>
                  <a:pt x="332452" y="93405"/>
                  <a:pt x="321647" y="85725"/>
                  <a:pt x="309503" y="85725"/>
                </a:cubicBezTo>
                <a:lnTo>
                  <a:pt x="147697" y="85725"/>
                </a:lnTo>
                <a:cubicBezTo>
                  <a:pt x="135553" y="85725"/>
                  <a:pt x="124748" y="93405"/>
                  <a:pt x="120729" y="104835"/>
                </a:cubicBezTo>
                <a:close/>
                <a:moveTo>
                  <a:pt x="35362" y="175736"/>
                </a:moveTo>
                <a:lnTo>
                  <a:pt x="66794" y="85993"/>
                </a:lnTo>
                <a:cubicBezTo>
                  <a:pt x="78849" y="51614"/>
                  <a:pt x="111264" y="28575"/>
                  <a:pt x="147697" y="28575"/>
                </a:cubicBezTo>
                <a:lnTo>
                  <a:pt x="309503" y="28575"/>
                </a:lnTo>
                <a:cubicBezTo>
                  <a:pt x="345936" y="28575"/>
                  <a:pt x="378351" y="51614"/>
                  <a:pt x="390406" y="85993"/>
                </a:cubicBezTo>
                <a:lnTo>
                  <a:pt x="421838" y="175736"/>
                </a:lnTo>
                <a:cubicBezTo>
                  <a:pt x="442555" y="184309"/>
                  <a:pt x="457200" y="204758"/>
                  <a:pt x="457200" y="2286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400050" y="428625"/>
                </a:lnTo>
                <a:cubicBezTo>
                  <a:pt x="384244" y="428625"/>
                  <a:pt x="371475" y="415856"/>
                  <a:pt x="371475" y="400050"/>
                </a:cubicBezTo>
                <a:lnTo>
                  <a:pt x="371475" y="371475"/>
                </a:lnTo>
                <a:lnTo>
                  <a:pt x="85725" y="371475"/>
                </a:lnTo>
                <a:lnTo>
                  <a:pt x="85725" y="400050"/>
                </a:lnTo>
                <a:cubicBezTo>
                  <a:pt x="85725" y="415856"/>
                  <a:pt x="72956" y="428625"/>
                  <a:pt x="57150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228600"/>
                </a:lnTo>
                <a:cubicBezTo>
                  <a:pt x="0" y="204758"/>
                  <a:pt x="14645" y="184309"/>
                  <a:pt x="35362" y="175736"/>
                </a:cubicBezTo>
                <a:close/>
                <a:moveTo>
                  <a:pt x="114300" y="271463"/>
                </a:moveTo>
                <a:cubicBezTo>
                  <a:pt x="114300" y="255692"/>
                  <a:pt x="101496" y="242888"/>
                  <a:pt x="85725" y="242888"/>
                </a:cubicBezTo>
                <a:cubicBezTo>
                  <a:pt x="69954" y="242888"/>
                  <a:pt x="57150" y="255692"/>
                  <a:pt x="57150" y="271463"/>
                </a:cubicBezTo>
                <a:cubicBezTo>
                  <a:pt x="57150" y="287233"/>
                  <a:pt x="69954" y="300038"/>
                  <a:pt x="85725" y="300038"/>
                </a:cubicBezTo>
                <a:cubicBezTo>
                  <a:pt x="101496" y="300038"/>
                  <a:pt x="114300" y="287233"/>
                  <a:pt x="114300" y="271463"/>
                </a:cubicBezTo>
                <a:close/>
                <a:moveTo>
                  <a:pt x="371475" y="300038"/>
                </a:moveTo>
                <a:cubicBezTo>
                  <a:pt x="387246" y="300038"/>
                  <a:pt x="400050" y="287233"/>
                  <a:pt x="400050" y="271463"/>
                </a:cubicBezTo>
                <a:cubicBezTo>
                  <a:pt x="400050" y="255692"/>
                  <a:pt x="387246" y="242888"/>
                  <a:pt x="371475" y="242888"/>
                </a:cubicBezTo>
                <a:cubicBezTo>
                  <a:pt x="355704" y="242888"/>
                  <a:pt x="342900" y="255692"/>
                  <a:pt x="342900" y="271463"/>
                </a:cubicBezTo>
                <a:cubicBezTo>
                  <a:pt x="342900" y="287233"/>
                  <a:pt x="355704" y="300038"/>
                  <a:pt x="371475" y="3000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953500" y="3492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World Example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18500" y="4064000"/>
            <a:ext cx="635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cars at a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narrow bridge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Car A waits for Car B to back up, Car B waits for Car A to back up.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Neither can move.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 a traffic jam where every car is blocked.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70000" y="6286500"/>
            <a:ext cx="13716000" cy="1905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51000" y="647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28A745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6477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Prevention Strategies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651000" y="7048500"/>
            <a:ext cx="39370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1841500" y="71120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8A7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Lock Ordering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acquire locks in the same order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42000" y="7048500"/>
            <a:ext cx="3937000" cy="9525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/>
        </p:spPr>
      </p:sp>
      <p:sp>
        <p:nvSpPr>
          <p:cNvPr id="21" name="Text 19"/>
          <p:cNvSpPr/>
          <p:nvPr/>
        </p:nvSpPr>
        <p:spPr>
          <a:xfrm>
            <a:off x="6032500" y="71120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 Locking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tryLock() with timeout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033000" y="7048500"/>
            <a:ext cx="4572000" cy="9525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/>
        </p:spPr>
      </p:sp>
      <p:sp>
        <p:nvSpPr>
          <p:cNvPr id="23" name="Text 21"/>
          <p:cNvSpPr/>
          <p:nvPr/>
        </p:nvSpPr>
        <p:spPr>
          <a:xfrm>
            <a:off x="10223500" y="7112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D7E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Deadlock Detection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algorithms to detect cycles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for Thread Safety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1841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0500" y="2057400"/>
            <a:ext cx="406400" cy="4064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460500" y="2057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06600" y="20574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Minimize Shared State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0500" y="2565400"/>
            <a:ext cx="387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local variables instead of shared data. Use thread-local storage for thread-specific data.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69000" y="1905000"/>
            <a:ext cx="4318000" cy="1841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59500" y="2057400"/>
            <a:ext cx="406400" cy="4064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6159500" y="2057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05600" y="20574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Immutable Objects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59500" y="2565400"/>
            <a:ext cx="387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Objects that cannot be modified after creation are inherently thread-safe. No locks needed.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668000" y="1905000"/>
            <a:ext cx="4318000" cy="1841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858500" y="2057400"/>
            <a:ext cx="406400" cy="4064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057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04600" y="20574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Synchronize Wisely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858500" y="2565400"/>
            <a:ext cx="387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synchronized blocks as small as possible. Synchronize only when necessary to reduce contention.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70000" y="4064000"/>
            <a:ext cx="4318000" cy="1841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460500" y="4216400"/>
            <a:ext cx="406400" cy="406400"/>
          </a:xfrm>
          <a:prstGeom prst="ellipse">
            <a:avLst/>
          </a:prstGeom>
          <a:solidFill>
            <a:srgbClr val="6F42C1"/>
          </a:solidFill>
          <a:ln/>
        </p:spPr>
      </p:sp>
      <p:sp>
        <p:nvSpPr>
          <p:cNvPr id="21" name="Text 19"/>
          <p:cNvSpPr/>
          <p:nvPr/>
        </p:nvSpPr>
        <p:spPr>
          <a:xfrm>
            <a:off x="1460500" y="4216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06600" y="42164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High-Level Utilities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0500" y="4724400"/>
            <a:ext cx="387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concurrent.futures, ExecutorService, thread pools instead of managing raw threads manually.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69000" y="4064000"/>
            <a:ext cx="4318000" cy="1841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59500" y="4216400"/>
            <a:ext cx="406400" cy="406400"/>
          </a:xfrm>
          <a:prstGeom prst="ellipse">
            <a:avLst/>
          </a:prstGeom>
          <a:solidFill>
            <a:srgbClr val="FD7E14"/>
          </a:solidFill>
          <a:ln/>
        </p:spPr>
      </p:sp>
      <p:sp>
        <p:nvSpPr>
          <p:cNvPr id="26" name="Text 24"/>
          <p:cNvSpPr/>
          <p:nvPr/>
        </p:nvSpPr>
        <p:spPr>
          <a:xfrm>
            <a:off x="6159500" y="4216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05600" y="42164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Lock Order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59500" y="4724400"/>
            <a:ext cx="387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acquire multiple locks in the same order. Prevents circular wait and deadlocks.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668000" y="4064000"/>
            <a:ext cx="4318000" cy="1841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858500" y="4216400"/>
            <a:ext cx="406400" cy="4064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1" name="Text 29"/>
          <p:cNvSpPr/>
          <p:nvPr/>
        </p:nvSpPr>
        <p:spPr>
          <a:xfrm>
            <a:off x="10858500" y="4216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04600" y="42164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Thread Safety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858500" y="4724400"/>
            <a:ext cx="387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Clearly mark classes and methods as thread-safe or not. Use try-lock with timeout to avoid indefinite blocking.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270000" y="6286500"/>
            <a:ext cx="13716000" cy="1905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16510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2962" y="-18752"/>
                </a:moveTo>
                <a:cubicBezTo>
                  <a:pt x="269346" y="-26690"/>
                  <a:pt x="262026" y="-31750"/>
                  <a:pt x="254088" y="-31750"/>
                </a:cubicBezTo>
                <a:cubicBezTo>
                  <a:pt x="246151" y="-31750"/>
                  <a:pt x="238831" y="-26690"/>
                  <a:pt x="235215" y="-18752"/>
                </a:cubicBezTo>
                <a:lnTo>
                  <a:pt x="170303" y="124321"/>
                </a:lnTo>
                <a:lnTo>
                  <a:pt x="29281" y="149523"/>
                </a:lnTo>
                <a:cubicBezTo>
                  <a:pt x="21431" y="150912"/>
                  <a:pt x="14905" y="157162"/>
                  <a:pt x="12435" y="165695"/>
                </a:cubicBezTo>
                <a:cubicBezTo>
                  <a:pt x="9966" y="174228"/>
                  <a:pt x="11994" y="183555"/>
                  <a:pt x="17551" y="189905"/>
                </a:cubicBezTo>
                <a:lnTo>
                  <a:pt x="118445" y="303510"/>
                </a:lnTo>
                <a:lnTo>
                  <a:pt x="96220" y="462161"/>
                </a:lnTo>
                <a:cubicBezTo>
                  <a:pt x="94985" y="470991"/>
                  <a:pt x="98249" y="479921"/>
                  <a:pt x="104687" y="485180"/>
                </a:cubicBezTo>
                <a:cubicBezTo>
                  <a:pt x="111125" y="490438"/>
                  <a:pt x="119592" y="491232"/>
                  <a:pt x="126735" y="487164"/>
                </a:cubicBezTo>
                <a:lnTo>
                  <a:pt x="254088" y="414338"/>
                </a:lnTo>
                <a:lnTo>
                  <a:pt x="381353" y="487164"/>
                </a:lnTo>
                <a:cubicBezTo>
                  <a:pt x="388408" y="491232"/>
                  <a:pt x="396963" y="490438"/>
                  <a:pt x="403401" y="485180"/>
                </a:cubicBezTo>
                <a:cubicBezTo>
                  <a:pt x="409840" y="479921"/>
                  <a:pt x="413103" y="471091"/>
                  <a:pt x="411868" y="462161"/>
                </a:cubicBezTo>
                <a:lnTo>
                  <a:pt x="389555" y="303510"/>
                </a:lnTo>
                <a:lnTo>
                  <a:pt x="490449" y="189905"/>
                </a:lnTo>
                <a:cubicBezTo>
                  <a:pt x="496094" y="183555"/>
                  <a:pt x="498034" y="174228"/>
                  <a:pt x="495565" y="165695"/>
                </a:cubicBezTo>
                <a:cubicBezTo>
                  <a:pt x="493095" y="157163"/>
                  <a:pt x="486657" y="150912"/>
                  <a:pt x="478719" y="149523"/>
                </a:cubicBezTo>
                <a:lnTo>
                  <a:pt x="337785" y="124321"/>
                </a:lnTo>
                <a:lnTo>
                  <a:pt x="272962" y="-18752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36" name="Text 34"/>
          <p:cNvSpPr/>
          <p:nvPr/>
        </p:nvSpPr>
        <p:spPr>
          <a:xfrm>
            <a:off x="2349500" y="660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Golden Rule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651000" y="717550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"The best synchronization is no synchronization."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Design your code to minimize shared mutable state, and threading becomes much simpler.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Thread vs Multi-threading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826000"/>
        </p:xfrm>
        <a:graphic>
          <a:graphicData uri="http://schemas.openxmlformats.org/drawingml/2006/table">
            <a:tbl>
              <a:tblPr/>
              <a:tblGrid>
                <a:gridCol w="3429000"/>
                <a:gridCol w="5143500"/>
                <a:gridCol w="514350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Aspect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Single Thread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Multi-threading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7094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Execution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Sequential, one at a time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Concurrent, multiple simultaneously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094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Complexity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Simple, easy to debug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Complex, harder to debug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094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CPU Usage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One core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Multiple cores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094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Memory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28A745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Lower overhead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Higher overhead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094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Shared Data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28A745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conflicts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Requires synchronization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094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Responsiveness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Can block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Better responsiveness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7048500"/>
            <a:ext cx="13716000" cy="1143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778000" y="7175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Thread =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Simplicity &amp; Predictability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|  Multi-threading =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&amp; Concurrency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Which?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8890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587500" y="2070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254000" y="174625"/>
                </a:moveTo>
                <a:cubicBezTo>
                  <a:pt x="236438" y="174625"/>
                  <a:pt x="222250" y="188813"/>
                  <a:pt x="222250" y="206375"/>
                </a:cubicBezTo>
                <a:cubicBezTo>
                  <a:pt x="222250" y="219571"/>
                  <a:pt x="211634" y="230188"/>
                  <a:pt x="198438" y="230188"/>
                </a:cubicBezTo>
                <a:cubicBezTo>
                  <a:pt x="185241" y="230188"/>
                  <a:pt x="174625" y="219571"/>
                  <a:pt x="174625" y="206375"/>
                </a:cubicBezTo>
                <a:cubicBezTo>
                  <a:pt x="174625" y="162520"/>
                  <a:pt x="210145" y="127000"/>
                  <a:pt x="254000" y="127000"/>
                </a:cubicBezTo>
                <a:cubicBezTo>
                  <a:pt x="297855" y="127000"/>
                  <a:pt x="333375" y="162520"/>
                  <a:pt x="333375" y="206375"/>
                </a:cubicBezTo>
                <a:cubicBezTo>
                  <a:pt x="333375" y="253206"/>
                  <a:pt x="297656" y="273050"/>
                  <a:pt x="277813" y="280293"/>
                </a:cubicBezTo>
                <a:lnTo>
                  <a:pt x="277813" y="284063"/>
                </a:lnTo>
                <a:cubicBezTo>
                  <a:pt x="277813" y="297259"/>
                  <a:pt x="267196" y="307876"/>
                  <a:pt x="254000" y="307876"/>
                </a:cubicBezTo>
                <a:cubicBezTo>
                  <a:pt x="240804" y="307876"/>
                  <a:pt x="230188" y="297259"/>
                  <a:pt x="230188" y="284063"/>
                </a:cubicBezTo>
                <a:lnTo>
                  <a:pt x="230188" y="276027"/>
                </a:lnTo>
                <a:cubicBezTo>
                  <a:pt x="230188" y="255687"/>
                  <a:pt x="244872" y="241102"/>
                  <a:pt x="260052" y="236141"/>
                </a:cubicBezTo>
                <a:cubicBezTo>
                  <a:pt x="266402" y="234057"/>
                  <a:pt x="273149" y="230684"/>
                  <a:pt x="278110" y="225921"/>
                </a:cubicBezTo>
                <a:cubicBezTo>
                  <a:pt x="282377" y="221754"/>
                  <a:pt x="285750" y="215999"/>
                  <a:pt x="285750" y="206474"/>
                </a:cubicBezTo>
                <a:cubicBezTo>
                  <a:pt x="285750" y="188913"/>
                  <a:pt x="271562" y="174724"/>
                  <a:pt x="254000" y="174724"/>
                </a:cubicBezTo>
                <a:close/>
                <a:moveTo>
                  <a:pt x="222250" y="365125"/>
                </a:moveTo>
                <a:cubicBezTo>
                  <a:pt x="222250" y="347602"/>
                  <a:pt x="236477" y="333375"/>
                  <a:pt x="254000" y="333375"/>
                </a:cubicBezTo>
                <a:cubicBezTo>
                  <a:pt x="271523" y="333375"/>
                  <a:pt x="285750" y="347602"/>
                  <a:pt x="285750" y="365125"/>
                </a:cubicBezTo>
                <a:cubicBezTo>
                  <a:pt x="285750" y="382648"/>
                  <a:pt x="271523" y="396875"/>
                  <a:pt x="254000" y="396875"/>
                </a:cubicBezTo>
                <a:cubicBezTo>
                  <a:pt x="236477" y="396875"/>
                  <a:pt x="222250" y="382648"/>
                  <a:pt x="222250" y="3651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095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Are your tasks independent and can run in parallel?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70000" y="3048000"/>
            <a:ext cx="6350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8A745"/>
              </a:gs>
              <a:gs pos="100000">
                <a:srgbClr val="20C997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1524000" y="3175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24000" y="36195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run tasks concurrently and utilize multiple CPU cores.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01000" y="3048000"/>
            <a:ext cx="698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5000" y="3175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5000" y="3619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 to next question. Single thread may still be suitable.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70000" y="5016500"/>
            <a:ext cx="13716000" cy="889000"/>
          </a:xfrm>
          <a:prstGeom prst="roundRect">
            <a:avLst>
              <a:gd name="adj" fmla="val 6000"/>
            </a:avLst>
          </a:prstGeom>
          <a:solidFill>
            <a:srgbClr val="FF7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1587500" y="5181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254000" y="174625"/>
                </a:moveTo>
                <a:cubicBezTo>
                  <a:pt x="236438" y="174625"/>
                  <a:pt x="222250" y="188813"/>
                  <a:pt x="222250" y="206375"/>
                </a:cubicBezTo>
                <a:cubicBezTo>
                  <a:pt x="222250" y="219571"/>
                  <a:pt x="211634" y="230188"/>
                  <a:pt x="198438" y="230188"/>
                </a:cubicBezTo>
                <a:cubicBezTo>
                  <a:pt x="185241" y="230188"/>
                  <a:pt x="174625" y="219571"/>
                  <a:pt x="174625" y="206375"/>
                </a:cubicBezTo>
                <a:cubicBezTo>
                  <a:pt x="174625" y="162520"/>
                  <a:pt x="210145" y="127000"/>
                  <a:pt x="254000" y="127000"/>
                </a:cubicBezTo>
                <a:cubicBezTo>
                  <a:pt x="297855" y="127000"/>
                  <a:pt x="333375" y="162520"/>
                  <a:pt x="333375" y="206375"/>
                </a:cubicBezTo>
                <a:cubicBezTo>
                  <a:pt x="333375" y="253206"/>
                  <a:pt x="297656" y="273050"/>
                  <a:pt x="277813" y="280293"/>
                </a:cubicBezTo>
                <a:lnTo>
                  <a:pt x="277813" y="284063"/>
                </a:lnTo>
                <a:cubicBezTo>
                  <a:pt x="277813" y="297259"/>
                  <a:pt x="267196" y="307876"/>
                  <a:pt x="254000" y="307876"/>
                </a:cubicBezTo>
                <a:cubicBezTo>
                  <a:pt x="240804" y="307876"/>
                  <a:pt x="230188" y="297259"/>
                  <a:pt x="230188" y="284063"/>
                </a:cubicBezTo>
                <a:lnTo>
                  <a:pt x="230188" y="276027"/>
                </a:lnTo>
                <a:cubicBezTo>
                  <a:pt x="230188" y="255687"/>
                  <a:pt x="244872" y="241102"/>
                  <a:pt x="260052" y="236141"/>
                </a:cubicBezTo>
                <a:cubicBezTo>
                  <a:pt x="266402" y="234057"/>
                  <a:pt x="273149" y="230684"/>
                  <a:pt x="278110" y="225921"/>
                </a:cubicBezTo>
                <a:cubicBezTo>
                  <a:pt x="282377" y="221754"/>
                  <a:pt x="285750" y="215999"/>
                  <a:pt x="285750" y="206474"/>
                </a:cubicBezTo>
                <a:cubicBezTo>
                  <a:pt x="285750" y="188913"/>
                  <a:pt x="271562" y="174724"/>
                  <a:pt x="254000" y="174724"/>
                </a:cubicBezTo>
                <a:close/>
                <a:moveTo>
                  <a:pt x="222250" y="365125"/>
                </a:moveTo>
                <a:cubicBezTo>
                  <a:pt x="222250" y="347602"/>
                  <a:pt x="236477" y="333375"/>
                  <a:pt x="254000" y="333375"/>
                </a:cubicBezTo>
                <a:cubicBezTo>
                  <a:pt x="271523" y="333375"/>
                  <a:pt x="285750" y="347602"/>
                  <a:pt x="285750" y="365125"/>
                </a:cubicBezTo>
                <a:cubicBezTo>
                  <a:pt x="285750" y="382648"/>
                  <a:pt x="271523" y="396875"/>
                  <a:pt x="254000" y="396875"/>
                </a:cubicBezTo>
                <a:cubicBezTo>
                  <a:pt x="236477" y="396875"/>
                  <a:pt x="222250" y="382648"/>
                  <a:pt x="222250" y="3651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5207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Does your application need to remain responsive during heavy tasks?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270000" y="6159500"/>
            <a:ext cx="6350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8A745"/>
              </a:gs>
              <a:gs pos="100000">
                <a:srgbClr val="20C997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1524000" y="62865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24000" y="67310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async/await to keep the UI responsive.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01000" y="6159500"/>
            <a:ext cx="6985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5000" y="62865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55000" y="67310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Thread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likely sufficient. Simpler code, fewer bugs.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70000" y="8064500"/>
            <a:ext cx="137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approaches: Async/Await (Python asyncio)  |  Thread Pools  |  Actor Model (message passing)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1079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0500" y="21336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460500" y="2133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95500" y="2032000"/>
            <a:ext cx="5651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Concurrency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about making progress on multiple tasks by managing waiting time efficiently.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270000" y="3175000"/>
            <a:ext cx="6731000" cy="1079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0500" y="34036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1460500" y="3403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95500" y="3302000"/>
            <a:ext cx="5651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smallest unit of execution; multi-threading enables concurrent execution.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70000" y="4445000"/>
            <a:ext cx="6731000" cy="1079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60500" y="467360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4673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95500" y="4572000"/>
            <a:ext cx="5651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Thread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simple and predictable but limited to one core.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270000" y="5715000"/>
            <a:ext cx="6731000" cy="1079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460500" y="5943600"/>
            <a:ext cx="457200" cy="457200"/>
          </a:xfrm>
          <a:prstGeom prst="ellipse">
            <a:avLst/>
          </a:prstGeom>
          <a:solidFill>
            <a:srgbClr val="FD7E14"/>
          </a:solidFill>
          <a:ln/>
        </p:spPr>
      </p:sp>
      <p:sp>
        <p:nvSpPr>
          <p:cNvPr id="18" name="Text 16"/>
          <p:cNvSpPr/>
          <p:nvPr/>
        </p:nvSpPr>
        <p:spPr>
          <a:xfrm>
            <a:off x="1460500" y="5943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95500" y="5842000"/>
            <a:ext cx="5651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Multi-threading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powerful but requires careful synchronization.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382000" y="1905000"/>
            <a:ext cx="6604000" cy="1079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72500" y="2133600"/>
            <a:ext cx="457200" cy="457200"/>
          </a:xfrm>
          <a:prstGeom prst="ellipse">
            <a:avLst/>
          </a:prstGeom>
          <a:solidFill>
            <a:srgbClr val="6F42C1"/>
          </a:solidFill>
          <a:ln/>
        </p:spPr>
      </p:sp>
      <p:sp>
        <p:nvSpPr>
          <p:cNvPr id="22" name="Text 20"/>
          <p:cNvSpPr/>
          <p:nvPr/>
        </p:nvSpPr>
        <p:spPr>
          <a:xfrm>
            <a:off x="8572500" y="2133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07500" y="2032000"/>
            <a:ext cx="5524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synchronize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access to shared resources using Locks or Semaphores.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382000" y="3175000"/>
            <a:ext cx="6604000" cy="1079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72500" y="3403600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8572500" y="3403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07500" y="3302000"/>
            <a:ext cx="5524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Watch out for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Race Conditions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Deadlocks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the two most common problems.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382000" y="4445000"/>
            <a:ext cx="6604000" cy="1079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72500" y="46736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30" name="Text 28"/>
          <p:cNvSpPr/>
          <p:nvPr/>
        </p:nvSpPr>
        <p:spPr>
          <a:xfrm>
            <a:off x="8572500" y="4673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07500" y="4572000"/>
            <a:ext cx="5524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 best practices: minimize shared state, use immutable objects, acquire locks consistently.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1270000" y="7048500"/>
            <a:ext cx="13716000" cy="1143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33" name="Text 31"/>
          <p:cNvSpPr/>
          <p:nvPr/>
        </p:nvSpPr>
        <p:spPr>
          <a:xfrm>
            <a:off x="1778000" y="7239000"/>
            <a:ext cx="1270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the right approach based on your </a:t>
            </a:r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characteristics</a:t>
            </a:r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 Summary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477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75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248781"/>
                </a:moveTo>
                <a:cubicBezTo>
                  <a:pt x="459968" y="237619"/>
                  <a:pt x="459968" y="219492"/>
                  <a:pt x="448806" y="208330"/>
                </a:cubicBezTo>
                <a:lnTo>
                  <a:pt x="305931" y="65455"/>
                </a:lnTo>
                <a:cubicBezTo>
                  <a:pt x="294769" y="54293"/>
                  <a:pt x="276642" y="54293"/>
                  <a:pt x="265480" y="65455"/>
                </a:cubicBezTo>
                <a:cubicBezTo>
                  <a:pt x="254318" y="76617"/>
                  <a:pt x="254318" y="94744"/>
                  <a:pt x="265480" y="105906"/>
                </a:cubicBezTo>
                <a:lnTo>
                  <a:pt x="35959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59599" y="257175"/>
                </a:lnTo>
                <a:lnTo>
                  <a:pt x="265480" y="351294"/>
                </a:lnTo>
                <a:cubicBezTo>
                  <a:pt x="254317" y="362456"/>
                  <a:pt x="254317" y="380583"/>
                  <a:pt x="265480" y="391745"/>
                </a:cubicBezTo>
                <a:cubicBezTo>
                  <a:pt x="276642" y="402908"/>
                  <a:pt x="294769" y="402908"/>
                  <a:pt x="305931" y="391745"/>
                </a:cubicBezTo>
                <a:lnTo>
                  <a:pt x="448806" y="24887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2159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Thread Use Cases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87500" y="2794000"/>
            <a:ext cx="5842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Command-line scripts and utilities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Simple file processing tasks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Event-driven web servers (Node.js)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Real-time systems requiring deterministic behavior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Embedded systems with limited resources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28000" y="1905000"/>
            <a:ext cx="6858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455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5931" y="-20181"/>
                </a:moveTo>
                <a:cubicBezTo>
                  <a:pt x="294769" y="-31343"/>
                  <a:pt x="276642" y="-31343"/>
                  <a:pt x="265480" y="-20181"/>
                </a:cubicBezTo>
                <a:lnTo>
                  <a:pt x="179755" y="65544"/>
                </a:lnTo>
                <a:cubicBezTo>
                  <a:pt x="168593" y="76706"/>
                  <a:pt x="168593" y="94833"/>
                  <a:pt x="179755" y="105995"/>
                </a:cubicBezTo>
                <a:cubicBezTo>
                  <a:pt x="190917" y="117157"/>
                  <a:pt x="209044" y="117157"/>
                  <a:pt x="220206" y="105995"/>
                </a:cubicBezTo>
                <a:lnTo>
                  <a:pt x="257175" y="69026"/>
                </a:lnTo>
                <a:lnTo>
                  <a:pt x="257175" y="243959"/>
                </a:lnTo>
                <a:cubicBezTo>
                  <a:pt x="240387" y="234226"/>
                  <a:pt x="220831" y="228689"/>
                  <a:pt x="200025" y="228689"/>
                </a:cubicBezTo>
                <a:lnTo>
                  <a:pt x="97601" y="228689"/>
                </a:lnTo>
                <a:lnTo>
                  <a:pt x="134570" y="191720"/>
                </a:lnTo>
                <a:cubicBezTo>
                  <a:pt x="145733" y="180558"/>
                  <a:pt x="145733" y="162431"/>
                  <a:pt x="134570" y="151269"/>
                </a:cubicBezTo>
                <a:cubicBezTo>
                  <a:pt x="123408" y="140107"/>
                  <a:pt x="105281" y="140107"/>
                  <a:pt x="94119" y="151269"/>
                </a:cubicBezTo>
                <a:lnTo>
                  <a:pt x="8394" y="236994"/>
                </a:lnTo>
                <a:cubicBezTo>
                  <a:pt x="-2768" y="248156"/>
                  <a:pt x="-2768" y="266283"/>
                  <a:pt x="8394" y="277445"/>
                </a:cubicBezTo>
                <a:lnTo>
                  <a:pt x="94119" y="363170"/>
                </a:lnTo>
                <a:cubicBezTo>
                  <a:pt x="105281" y="374333"/>
                  <a:pt x="123408" y="374333"/>
                  <a:pt x="134570" y="363170"/>
                </a:cubicBezTo>
                <a:cubicBezTo>
                  <a:pt x="145733" y="352008"/>
                  <a:pt x="145733" y="333881"/>
                  <a:pt x="134570" y="322719"/>
                </a:cubicBezTo>
                <a:lnTo>
                  <a:pt x="97601" y="285750"/>
                </a:lnTo>
                <a:lnTo>
                  <a:pt x="200025" y="285750"/>
                </a:lnTo>
                <a:cubicBezTo>
                  <a:pt x="231547" y="285750"/>
                  <a:pt x="257175" y="311378"/>
                  <a:pt x="257175" y="342900"/>
                </a:cubicBezTo>
                <a:cubicBezTo>
                  <a:pt x="257175" y="406033"/>
                  <a:pt x="308342" y="457200"/>
                  <a:pt x="371475" y="457200"/>
                </a:cubicBezTo>
                <a:lnTo>
                  <a:pt x="400050" y="457200"/>
                </a:lnTo>
                <a:cubicBezTo>
                  <a:pt x="415856" y="457200"/>
                  <a:pt x="428625" y="444431"/>
                  <a:pt x="428625" y="428625"/>
                </a:cubicBezTo>
                <a:cubicBezTo>
                  <a:pt x="428625" y="412819"/>
                  <a:pt x="415856" y="400050"/>
                  <a:pt x="400050" y="400050"/>
                </a:cubicBezTo>
                <a:lnTo>
                  <a:pt x="371475" y="400050"/>
                </a:lnTo>
                <a:cubicBezTo>
                  <a:pt x="339953" y="400050"/>
                  <a:pt x="314325" y="374422"/>
                  <a:pt x="314325" y="342900"/>
                </a:cubicBezTo>
                <a:lnTo>
                  <a:pt x="314325" y="69026"/>
                </a:lnTo>
                <a:lnTo>
                  <a:pt x="351294" y="105995"/>
                </a:lnTo>
                <a:cubicBezTo>
                  <a:pt x="362456" y="117158"/>
                  <a:pt x="380583" y="117158"/>
                  <a:pt x="391745" y="105995"/>
                </a:cubicBezTo>
                <a:cubicBezTo>
                  <a:pt x="402908" y="94833"/>
                  <a:pt x="402908" y="76706"/>
                  <a:pt x="391745" y="65544"/>
                </a:cubicBezTo>
                <a:lnTo>
                  <a:pt x="306020" y="-20181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080500" y="2159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Multi-threading Use Cases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45500" y="2794000"/>
            <a:ext cx="6223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Web servers (Apache, Tomcat)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Video games (rendering + physics + AI)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Data processing pipelines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Database servers and media encoding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Scientific computing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70000" y="5778500"/>
            <a:ext cx="13716000" cy="2413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651000" y="603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60325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Approaches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651000" y="66675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305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778000" y="72136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 Pools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Reuse threads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26000" y="66675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055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53000" y="72136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Async/Await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Cooperative multitasking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01000" y="66675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805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75" y="0"/>
                </a:moveTo>
                <a:cubicBezTo>
                  <a:pt x="272951" y="0"/>
                  <a:pt x="300246" y="11321"/>
                  <a:pt x="320318" y="31393"/>
                </a:cubicBezTo>
                <a:lnTo>
                  <a:pt x="324138" y="35213"/>
                </a:lnTo>
                <a:cubicBezTo>
                  <a:pt x="344279" y="55354"/>
                  <a:pt x="355600" y="82649"/>
                  <a:pt x="355600" y="111056"/>
                </a:cubicBezTo>
                <a:cubicBezTo>
                  <a:pt x="355600" y="127794"/>
                  <a:pt x="351641" y="144115"/>
                  <a:pt x="344349" y="158839"/>
                </a:cubicBezTo>
                <a:cubicBezTo>
                  <a:pt x="343029" y="161409"/>
                  <a:pt x="340668" y="163354"/>
                  <a:pt x="337889" y="164187"/>
                </a:cubicBezTo>
                <a:lnTo>
                  <a:pt x="260102" y="187523"/>
                </a:lnTo>
                <a:cubicBezTo>
                  <a:pt x="257393" y="188357"/>
                  <a:pt x="255587" y="190788"/>
                  <a:pt x="255587" y="193635"/>
                </a:cubicBezTo>
                <a:cubicBezTo>
                  <a:pt x="255587" y="197177"/>
                  <a:pt x="258435" y="200025"/>
                  <a:pt x="261977" y="200025"/>
                </a:cubicBezTo>
                <a:lnTo>
                  <a:pt x="284341" y="200025"/>
                </a:lnTo>
                <a:cubicBezTo>
                  <a:pt x="294273" y="200025"/>
                  <a:pt x="299204" y="211971"/>
                  <a:pt x="292189" y="218986"/>
                </a:cubicBezTo>
                <a:lnTo>
                  <a:pt x="276632" y="234543"/>
                </a:lnTo>
                <a:cubicBezTo>
                  <a:pt x="275312" y="235863"/>
                  <a:pt x="273715" y="236766"/>
                  <a:pt x="271978" y="237321"/>
                </a:cubicBezTo>
                <a:lnTo>
                  <a:pt x="215721" y="254198"/>
                </a:lnTo>
                <a:cubicBezTo>
                  <a:pt x="213013" y="255032"/>
                  <a:pt x="211207" y="257463"/>
                  <a:pt x="211207" y="260310"/>
                </a:cubicBezTo>
                <a:cubicBezTo>
                  <a:pt x="211207" y="263852"/>
                  <a:pt x="214055" y="266700"/>
                  <a:pt x="217597" y="266700"/>
                </a:cubicBezTo>
                <a:cubicBezTo>
                  <a:pt x="226764" y="266700"/>
                  <a:pt x="230723" y="277604"/>
                  <a:pt x="223014" y="282605"/>
                </a:cubicBezTo>
                <a:cubicBezTo>
                  <a:pt x="194469" y="301079"/>
                  <a:pt x="160992" y="311150"/>
                  <a:pt x="126474" y="311150"/>
                </a:cubicBezTo>
                <a:lnTo>
                  <a:pt x="66744" y="311150"/>
                </a:lnTo>
                <a:lnTo>
                  <a:pt x="33407" y="344488"/>
                </a:lnTo>
                <a:cubicBezTo>
                  <a:pt x="27295" y="350599"/>
                  <a:pt x="17294" y="350599"/>
                  <a:pt x="11182" y="344488"/>
                </a:cubicBezTo>
                <a:cubicBezTo>
                  <a:pt x="5070" y="338376"/>
                  <a:pt x="5070" y="328374"/>
                  <a:pt x="11182" y="322263"/>
                </a:cubicBezTo>
                <a:lnTo>
                  <a:pt x="177800" y="155575"/>
                </a:lnTo>
                <a:cubicBezTo>
                  <a:pt x="183912" y="149463"/>
                  <a:pt x="183912" y="139462"/>
                  <a:pt x="177800" y="133350"/>
                </a:cubicBezTo>
                <a:cubicBezTo>
                  <a:pt x="171688" y="127238"/>
                  <a:pt x="161687" y="127238"/>
                  <a:pt x="155575" y="133350"/>
                </a:cubicBezTo>
                <a:lnTo>
                  <a:pt x="55215" y="233710"/>
                </a:lnTo>
                <a:cubicBezTo>
                  <a:pt x="51256" y="237669"/>
                  <a:pt x="44450" y="234890"/>
                  <a:pt x="44450" y="229265"/>
                </a:cubicBezTo>
                <a:cubicBezTo>
                  <a:pt x="44450" y="182106"/>
                  <a:pt x="63202" y="136892"/>
                  <a:pt x="96540" y="103555"/>
                </a:cubicBezTo>
                <a:lnTo>
                  <a:pt x="168632" y="31393"/>
                </a:lnTo>
                <a:cubicBezTo>
                  <a:pt x="188704" y="11321"/>
                  <a:pt x="215999" y="0"/>
                  <a:pt x="24447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128000" y="72136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Green Threads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 threads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176000" y="66675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09500" y="679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37" y="44450"/>
                </a:moveTo>
                <a:cubicBezTo>
                  <a:pt x="14932" y="44450"/>
                  <a:pt x="0" y="59382"/>
                  <a:pt x="0" y="77788"/>
                </a:cubicBezTo>
                <a:cubicBezTo>
                  <a:pt x="0" y="88275"/>
                  <a:pt x="4931" y="98137"/>
                  <a:pt x="13335" y="104458"/>
                </a:cubicBezTo>
                <a:lnTo>
                  <a:pt x="157798" y="212804"/>
                </a:lnTo>
                <a:cubicBezTo>
                  <a:pt x="169674" y="221694"/>
                  <a:pt x="185926" y="221694"/>
                  <a:pt x="197803" y="212804"/>
                </a:cubicBezTo>
                <a:lnTo>
                  <a:pt x="342265" y="104457"/>
                </a:lnTo>
                <a:cubicBezTo>
                  <a:pt x="350669" y="98137"/>
                  <a:pt x="355600" y="88275"/>
                  <a:pt x="355600" y="77787"/>
                </a:cubicBezTo>
                <a:cubicBezTo>
                  <a:pt x="355600" y="59382"/>
                  <a:pt x="340668" y="44450"/>
                  <a:pt x="322263" y="44450"/>
                </a:cubicBezTo>
                <a:lnTo>
                  <a:pt x="33337" y="44450"/>
                </a:lnTo>
                <a:close/>
                <a:moveTo>
                  <a:pt x="0" y="136128"/>
                </a:move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36128"/>
                </a:lnTo>
                <a:lnTo>
                  <a:pt x="217805" y="239474"/>
                </a:lnTo>
                <a:cubicBezTo>
                  <a:pt x="194121" y="257254"/>
                  <a:pt x="161479" y="257254"/>
                  <a:pt x="137795" y="239474"/>
                </a:cubicBezTo>
                <a:lnTo>
                  <a:pt x="0" y="13612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303000" y="72136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Actor Model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Message passing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Reference Guide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431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13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564" y="953"/>
                </a:moveTo>
                <a:cubicBezTo>
                  <a:pt x="242570" y="-2937"/>
                  <a:pt x="230082" y="4921"/>
                  <a:pt x="226624" y="18415"/>
                </a:cubicBezTo>
                <a:lnTo>
                  <a:pt x="136313" y="374015"/>
                </a:lnTo>
                <a:cubicBezTo>
                  <a:pt x="132856" y="387509"/>
                  <a:pt x="139841" y="401558"/>
                  <a:pt x="151836" y="405448"/>
                </a:cubicBezTo>
                <a:cubicBezTo>
                  <a:pt x="163830" y="409337"/>
                  <a:pt x="176318" y="401479"/>
                  <a:pt x="179776" y="387985"/>
                </a:cubicBezTo>
                <a:lnTo>
                  <a:pt x="270087" y="32385"/>
                </a:lnTo>
                <a:cubicBezTo>
                  <a:pt x="273544" y="18891"/>
                  <a:pt x="266559" y="4842"/>
                  <a:pt x="254564" y="953"/>
                </a:cubicBezTo>
                <a:close/>
                <a:moveTo>
                  <a:pt x="300143" y="108982"/>
                </a:moveTo>
                <a:cubicBezTo>
                  <a:pt x="291324" y="118904"/>
                  <a:pt x="291324" y="135017"/>
                  <a:pt x="300143" y="144939"/>
                </a:cubicBezTo>
                <a:lnTo>
                  <a:pt x="351931" y="203200"/>
                </a:lnTo>
                <a:lnTo>
                  <a:pt x="300143" y="261461"/>
                </a:lnTo>
                <a:cubicBezTo>
                  <a:pt x="291324" y="271383"/>
                  <a:pt x="291324" y="287496"/>
                  <a:pt x="300143" y="297418"/>
                </a:cubicBezTo>
                <a:cubicBezTo>
                  <a:pt x="308963" y="307340"/>
                  <a:pt x="323286" y="307340"/>
                  <a:pt x="332105" y="297418"/>
                </a:cubicBezTo>
                <a:lnTo>
                  <a:pt x="399838" y="221218"/>
                </a:lnTo>
                <a:cubicBezTo>
                  <a:pt x="408658" y="211296"/>
                  <a:pt x="408658" y="195183"/>
                  <a:pt x="399838" y="185261"/>
                </a:cubicBezTo>
                <a:lnTo>
                  <a:pt x="332105" y="109061"/>
                </a:lnTo>
                <a:cubicBezTo>
                  <a:pt x="323286" y="99139"/>
                  <a:pt x="308963" y="99139"/>
                  <a:pt x="300143" y="109061"/>
                </a:cubicBezTo>
                <a:close/>
                <a:moveTo>
                  <a:pt x="106327" y="108982"/>
                </a:moveTo>
                <a:cubicBezTo>
                  <a:pt x="97508" y="99060"/>
                  <a:pt x="83185" y="99060"/>
                  <a:pt x="74366" y="108982"/>
                </a:cubicBezTo>
                <a:lnTo>
                  <a:pt x="6632" y="185182"/>
                </a:lnTo>
                <a:cubicBezTo>
                  <a:pt x="-2187" y="195104"/>
                  <a:pt x="-2187" y="211217"/>
                  <a:pt x="6632" y="221139"/>
                </a:cubicBezTo>
                <a:lnTo>
                  <a:pt x="74366" y="297339"/>
                </a:lnTo>
                <a:cubicBezTo>
                  <a:pt x="83185" y="307261"/>
                  <a:pt x="97508" y="307261"/>
                  <a:pt x="106327" y="297339"/>
                </a:cubicBezTo>
                <a:cubicBezTo>
                  <a:pt x="115147" y="287417"/>
                  <a:pt x="115147" y="271304"/>
                  <a:pt x="106327" y="261382"/>
                </a:cubicBezTo>
                <a:lnTo>
                  <a:pt x="54539" y="203200"/>
                </a:lnTo>
                <a:lnTo>
                  <a:pt x="106257" y="144939"/>
                </a:lnTo>
                <a:cubicBezTo>
                  <a:pt x="115076" y="135017"/>
                  <a:pt x="115076" y="118904"/>
                  <a:pt x="106257" y="108982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2133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Threading Essentials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24000" y="2667000"/>
            <a:ext cx="6223000" cy="3302000"/>
          </a:xfrm>
          <a:prstGeom prst="roundRect">
            <a:avLst>
              <a:gd name="adj" fmla="val 6000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2794000"/>
            <a:ext cx="584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Creating and managing threads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threading.Thread(target=func) 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Create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thread.start()                 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Start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thread.join()                  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Wait</a:t>
            </a:r>
            <a:endParaRPr lang="en-US" sz="1300" dirty="0"/>
          </a:p>
          <a:p>
            <a:pPr algn="l">
              <a:lnSpc>
                <a:spcPct val="160000"/>
              </a:lnSpc>
            </a:pP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Synchronization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threading.Lock()               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Mutex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threading.Semaphore(n)         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Semaphore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threading.current_thread()     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Info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82000" y="1905000"/>
            <a:ext cx="6604000" cy="444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99500" y="213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9271000" y="2133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Pitfalls to Avoid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99500" y="2730500"/>
            <a:ext cx="60325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Forgetting to call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join()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main exits before threads finish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Lock ordering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inconsistencies - causes deadlocks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Modifying shared data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locks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race conditions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Creating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 many threads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resource exhaustion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Not handling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InterruptedException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properly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C354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threads for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CPU-bound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tasks in Python (use multiprocessing)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270000" y="6540500"/>
            <a:ext cx="13716000" cy="1651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8A745"/>
              </a:gs>
              <a:gs pos="100000">
                <a:srgbClr val="20C997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1651000" y="692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6921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Tip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51000" y="7493000"/>
            <a:ext cx="1295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Python, use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concurrent.futures.ThreadPoolExecutor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simple tasks - it handles thread management automatically.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048000" y="3810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13 - Concurrency and Threading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0" y="4572000"/>
            <a:ext cx="2540000" cy="25400"/>
          </a:xfrm>
          <a:prstGeom prst="rect">
            <a:avLst/>
          </a:prstGeom>
          <a:solidFill>
            <a:srgbClr val="FFFFFF">
              <a:alpha val="31373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4953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Science Course - Spring 2026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53000" y="622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25 &amp; 26 - Single Thread &amp; Multi-threading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13 - Concurrency and Threading</dc:title>
  <dc:subject>Week 13 - Concurrency and Threading</dc:subject>
  <dc:creator>Kimi</dc:creator>
  <cp:lastModifiedBy>Kimi</cp:lastModifiedBy>
  <cp:revision>1</cp:revision>
  <dcterms:created xsi:type="dcterms:W3CDTF">2026-06-26T05:11:46Z</dcterms:created>
  <dcterms:modified xsi:type="dcterms:W3CDTF">2026-06-26T05:11:46Z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13 - Concurrency and Threading","ContentProducer":"001191110108MACG2KBH8F10000","ProduceID":"19f022d9-e8b2-8915-8000-00007d51c804","ReservedCode1":"","ContentPropagator":"001191110108MACG2KBH8F20000","PropagateID":"19f022a8-0272-8432-8000-0939da31fb68","ReservedCode2":""}</vt:lpwstr>
  </property>
</Properties>
</file>