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Liter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3556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286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3937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CBD5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7 — Graphical User Interface (GUI)</a:t>
            </a:r>
            <a:endParaRPr lang="en-US" sz="2000" dirty="0"/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CBD5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Java Swing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A3D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8813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13 &amp; 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0485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778000"/>
            <a:ext cx="76200" cy="5842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921000"/>
            <a:ext cx="622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13: GUI Using Swing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3556000"/>
            <a:ext cx="6223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is a Graphical User Interface?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Introduction to Java Swing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Swing vs. AWT: Key Differences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Swing Component Hierarchy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Swing Container Classes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GUI Helper Classes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Creating GUI Components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Common Swing Components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Event Handling in Swing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45500" y="1778000"/>
            <a:ext cx="70485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45500" y="1778000"/>
            <a:ext cx="76200" cy="5842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8265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26500" y="2921000"/>
            <a:ext cx="622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14: Layouts, Panels &amp; Graphics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26500" y="3556000"/>
            <a:ext cx="6223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Working with JFrame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Frame Configuration Methods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Introduction to Layout Managers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FlowLayout, GridLayout, BorderLayout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Panels in a Frame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JPanel and Graphics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Drawing with Graphics2D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Color Class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Practical GUI Example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16000" y="330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810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064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Using Swing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4889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components to containers, building interactive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applications with Java's powerful GUI toolkit.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684000" y="2286000"/>
            <a:ext cx="4064000" cy="4064000"/>
          </a:xfrm>
          <a:prstGeom prst="ellipse">
            <a:avLst/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46000" y="3048000"/>
            <a:ext cx="2540000" cy="2540000"/>
          </a:xfrm>
          <a:prstGeom prst="ellipse">
            <a:avLst/>
          </a:prstGeom>
          <a:solidFill>
            <a:srgbClr val="FFFFFF">
              <a:alpha val="1961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Graphical User Interface?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812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 (Graphical User Interface)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visual way for users to interact with software through graphical elements like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windows, buttons, menus, and icons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rather than text-based command lines.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GUIs revolutionized computing by making technology accessible to non-technical users. Today, virtually every application uses a GUI.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Java, GUI development is handled through the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Swing toolkit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providing platform-independent components for building desktop applications.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587500"/>
            <a:ext cx="6096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98000" y="1714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ELEMENTS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33000" y="2222500"/>
            <a:ext cx="48260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235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133350"/>
                </a:moveTo>
                <a:lnTo>
                  <a:pt x="28575" y="228600"/>
                </a:lnTo>
                <a:cubicBezTo>
                  <a:pt x="28575" y="233839"/>
                  <a:pt x="32861" y="238125"/>
                  <a:pt x="38100" y="238125"/>
                </a:cubicBezTo>
                <a:lnTo>
                  <a:pt x="266700" y="238125"/>
                </a:lnTo>
                <a:cubicBezTo>
                  <a:pt x="271939" y="238125"/>
                  <a:pt x="276225" y="233839"/>
                  <a:pt x="276225" y="228600"/>
                </a:cubicBezTo>
                <a:lnTo>
                  <a:pt x="276225" y="133350"/>
                </a:lnTo>
                <a:lnTo>
                  <a:pt x="28575" y="133350"/>
                </a:lnTo>
                <a:close/>
                <a:moveTo>
                  <a:pt x="0" y="76200"/>
                </a:moveTo>
                <a:cubicBezTo>
                  <a:pt x="0" y="55185"/>
                  <a:pt x="17085" y="38100"/>
                  <a:pt x="38100" y="38100"/>
                </a:cubicBezTo>
                <a:lnTo>
                  <a:pt x="266700" y="38100"/>
                </a:lnTo>
                <a:cubicBezTo>
                  <a:pt x="287715" y="38100"/>
                  <a:pt x="304800" y="55185"/>
                  <a:pt x="304800" y="76200"/>
                </a:cubicBezTo>
                <a:lnTo>
                  <a:pt x="304800" y="228600"/>
                </a:lnTo>
                <a:cubicBezTo>
                  <a:pt x="304800" y="249615"/>
                  <a:pt x="287715" y="266700"/>
                  <a:pt x="266700" y="266700"/>
                </a:cubicBezTo>
                <a:lnTo>
                  <a:pt x="38100" y="266700"/>
                </a:lnTo>
                <a:cubicBezTo>
                  <a:pt x="17085" y="266700"/>
                  <a:pt x="0" y="249615"/>
                  <a:pt x="0" y="228600"/>
                </a:cubicBezTo>
                <a:lnTo>
                  <a:pt x="0" y="7620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10642600" y="2222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/ JFrame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Main container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33000" y="3073400"/>
            <a:ext cx="48260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2550" y="32639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8600" y="47625"/>
                </a:moveTo>
                <a:cubicBezTo>
                  <a:pt x="233839" y="47625"/>
                  <a:pt x="238125" y="51911"/>
                  <a:pt x="238125" y="57150"/>
                </a:cubicBezTo>
                <a:lnTo>
                  <a:pt x="238125" y="247650"/>
                </a:lnTo>
                <a:cubicBezTo>
                  <a:pt x="238125" y="252889"/>
                  <a:pt x="233839" y="257175"/>
                  <a:pt x="228600" y="257175"/>
                </a:cubicBezTo>
                <a:lnTo>
                  <a:pt x="38100" y="257175"/>
                </a:lnTo>
                <a:cubicBezTo>
                  <a:pt x="32861" y="257175"/>
                  <a:pt x="28575" y="252889"/>
                  <a:pt x="28575" y="247650"/>
                </a:cubicBezTo>
                <a:lnTo>
                  <a:pt x="28575" y="57150"/>
                </a:lnTo>
                <a:cubicBezTo>
                  <a:pt x="28575" y="51911"/>
                  <a:pt x="32861" y="47625"/>
                  <a:pt x="38100" y="47625"/>
                </a:cubicBezTo>
                <a:lnTo>
                  <a:pt x="228600" y="47625"/>
                </a:lnTo>
                <a:close/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642600" y="30734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Button / JButton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User action trigger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33000" y="3924300"/>
            <a:ext cx="48260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04450" y="4114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66675"/>
                </a:moveTo>
                <a:cubicBezTo>
                  <a:pt x="32861" y="66675"/>
                  <a:pt x="28575" y="70961"/>
                  <a:pt x="28575" y="76200"/>
                </a:cubicBezTo>
                <a:lnTo>
                  <a:pt x="28575" y="228600"/>
                </a:lnTo>
                <a:cubicBezTo>
                  <a:pt x="28575" y="233839"/>
                  <a:pt x="32861" y="238125"/>
                  <a:pt x="38100" y="238125"/>
                </a:cubicBezTo>
                <a:lnTo>
                  <a:pt x="304800" y="238125"/>
                </a:lnTo>
                <a:cubicBezTo>
                  <a:pt x="310039" y="238125"/>
                  <a:pt x="314325" y="233839"/>
                  <a:pt x="314325" y="228600"/>
                </a:cubicBezTo>
                <a:lnTo>
                  <a:pt x="314325" y="76200"/>
                </a:lnTo>
                <a:cubicBezTo>
                  <a:pt x="314325" y="70961"/>
                  <a:pt x="310039" y="66675"/>
                  <a:pt x="304800" y="66675"/>
                </a:cubicBezTo>
                <a:lnTo>
                  <a:pt x="38100" y="66675"/>
                </a:lnTo>
                <a:close/>
                <a:moveTo>
                  <a:pt x="0" y="76200"/>
                </a:moveTo>
                <a:cubicBezTo>
                  <a:pt x="0" y="55185"/>
                  <a:pt x="17085" y="38100"/>
                  <a:pt x="38100" y="38100"/>
                </a:cubicBezTo>
                <a:lnTo>
                  <a:pt x="304800" y="38100"/>
                </a:lnTo>
                <a:cubicBezTo>
                  <a:pt x="325815" y="38100"/>
                  <a:pt x="342900" y="55185"/>
                  <a:pt x="342900" y="76200"/>
                </a:cubicBezTo>
                <a:lnTo>
                  <a:pt x="342900" y="228600"/>
                </a:lnTo>
                <a:cubicBezTo>
                  <a:pt x="342900" y="249615"/>
                  <a:pt x="325815" y="266700"/>
                  <a:pt x="304800" y="266700"/>
                </a:cubicBezTo>
                <a:lnTo>
                  <a:pt x="38100" y="266700"/>
                </a:lnTo>
                <a:cubicBezTo>
                  <a:pt x="17085" y="266700"/>
                  <a:pt x="0" y="249615"/>
                  <a:pt x="0" y="228600"/>
                </a:cubicBezTo>
                <a:lnTo>
                  <a:pt x="0" y="76200"/>
                </a:lnTo>
                <a:close/>
                <a:moveTo>
                  <a:pt x="104775" y="190500"/>
                </a:moveTo>
                <a:lnTo>
                  <a:pt x="238125" y="190500"/>
                </a:lnTo>
                <a:cubicBezTo>
                  <a:pt x="243364" y="190500"/>
                  <a:pt x="247650" y="194786"/>
                  <a:pt x="247650" y="200025"/>
                </a:cubicBezTo>
                <a:lnTo>
                  <a:pt x="247650" y="209550"/>
                </a:lnTo>
                <a:cubicBezTo>
                  <a:pt x="247650" y="214789"/>
                  <a:pt x="243364" y="219075"/>
                  <a:pt x="238125" y="219075"/>
                </a:cubicBezTo>
                <a:lnTo>
                  <a:pt x="104775" y="219075"/>
                </a:lnTo>
                <a:cubicBezTo>
                  <a:pt x="99536" y="219075"/>
                  <a:pt x="95250" y="214789"/>
                  <a:pt x="95250" y="209550"/>
                </a:cubicBezTo>
                <a:lnTo>
                  <a:pt x="95250" y="200025"/>
                </a:lnTo>
                <a:cubicBezTo>
                  <a:pt x="95250" y="194786"/>
                  <a:pt x="99536" y="190500"/>
                  <a:pt x="104775" y="190500"/>
                </a:cubicBezTo>
                <a:close/>
                <a:moveTo>
                  <a:pt x="61912" y="147638"/>
                </a:moveTo>
                <a:cubicBezTo>
                  <a:pt x="61912" y="142399"/>
                  <a:pt x="66199" y="138113"/>
                  <a:pt x="71438" y="138113"/>
                </a:cubicBezTo>
                <a:lnTo>
                  <a:pt x="80962" y="138113"/>
                </a:lnTo>
                <a:cubicBezTo>
                  <a:pt x="86201" y="138113"/>
                  <a:pt x="90488" y="142399"/>
                  <a:pt x="90488" y="147638"/>
                </a:cubicBezTo>
                <a:lnTo>
                  <a:pt x="90488" y="157163"/>
                </a:lnTo>
                <a:cubicBezTo>
                  <a:pt x="90488" y="162401"/>
                  <a:pt x="86201" y="166688"/>
                  <a:pt x="80962" y="166688"/>
                </a:cubicBezTo>
                <a:lnTo>
                  <a:pt x="71438" y="166688"/>
                </a:lnTo>
                <a:cubicBezTo>
                  <a:pt x="66199" y="166688"/>
                  <a:pt x="61912" y="162401"/>
                  <a:pt x="61912" y="157163"/>
                </a:cubicBezTo>
                <a:lnTo>
                  <a:pt x="61912" y="147638"/>
                </a:lnTo>
                <a:close/>
                <a:moveTo>
                  <a:pt x="71438" y="90488"/>
                </a:moveTo>
                <a:lnTo>
                  <a:pt x="80962" y="90488"/>
                </a:lnTo>
                <a:cubicBezTo>
                  <a:pt x="86201" y="90488"/>
                  <a:pt x="90488" y="94774"/>
                  <a:pt x="90488" y="100013"/>
                </a:cubicBezTo>
                <a:lnTo>
                  <a:pt x="90488" y="109537"/>
                </a:lnTo>
                <a:cubicBezTo>
                  <a:pt x="90488" y="114776"/>
                  <a:pt x="86201" y="119062"/>
                  <a:pt x="80962" y="119062"/>
                </a:cubicBezTo>
                <a:lnTo>
                  <a:pt x="71438" y="119062"/>
                </a:lnTo>
                <a:cubicBezTo>
                  <a:pt x="66199" y="119062"/>
                  <a:pt x="61912" y="114776"/>
                  <a:pt x="61912" y="109537"/>
                </a:cubicBezTo>
                <a:lnTo>
                  <a:pt x="61912" y="100013"/>
                </a:lnTo>
                <a:cubicBezTo>
                  <a:pt x="61912" y="94774"/>
                  <a:pt x="66199" y="90488"/>
                  <a:pt x="71438" y="90488"/>
                </a:cubicBezTo>
                <a:close/>
                <a:moveTo>
                  <a:pt x="109537" y="147638"/>
                </a:moveTo>
                <a:cubicBezTo>
                  <a:pt x="109537" y="142399"/>
                  <a:pt x="113824" y="138113"/>
                  <a:pt x="119062" y="138113"/>
                </a:cubicBezTo>
                <a:lnTo>
                  <a:pt x="128588" y="138113"/>
                </a:lnTo>
                <a:cubicBezTo>
                  <a:pt x="133826" y="138113"/>
                  <a:pt x="138113" y="142399"/>
                  <a:pt x="138113" y="147638"/>
                </a:cubicBezTo>
                <a:lnTo>
                  <a:pt x="138113" y="157163"/>
                </a:lnTo>
                <a:cubicBezTo>
                  <a:pt x="138113" y="162401"/>
                  <a:pt x="133826" y="166688"/>
                  <a:pt x="128588" y="166688"/>
                </a:cubicBezTo>
                <a:lnTo>
                  <a:pt x="119062" y="166688"/>
                </a:lnTo>
                <a:cubicBezTo>
                  <a:pt x="113824" y="166688"/>
                  <a:pt x="109537" y="162401"/>
                  <a:pt x="109537" y="157163"/>
                </a:cubicBezTo>
                <a:lnTo>
                  <a:pt x="109537" y="147638"/>
                </a:lnTo>
                <a:close/>
                <a:moveTo>
                  <a:pt x="119062" y="90488"/>
                </a:moveTo>
                <a:lnTo>
                  <a:pt x="128588" y="90488"/>
                </a:lnTo>
                <a:cubicBezTo>
                  <a:pt x="133826" y="90488"/>
                  <a:pt x="138113" y="94774"/>
                  <a:pt x="138113" y="100013"/>
                </a:cubicBezTo>
                <a:lnTo>
                  <a:pt x="138113" y="109537"/>
                </a:lnTo>
                <a:cubicBezTo>
                  <a:pt x="138113" y="114776"/>
                  <a:pt x="133826" y="119062"/>
                  <a:pt x="128588" y="119062"/>
                </a:cubicBezTo>
                <a:lnTo>
                  <a:pt x="119062" y="119062"/>
                </a:lnTo>
                <a:cubicBezTo>
                  <a:pt x="113824" y="119062"/>
                  <a:pt x="109537" y="114776"/>
                  <a:pt x="109537" y="109537"/>
                </a:cubicBezTo>
                <a:lnTo>
                  <a:pt x="109537" y="100013"/>
                </a:lnTo>
                <a:cubicBezTo>
                  <a:pt x="109537" y="94774"/>
                  <a:pt x="113824" y="90488"/>
                  <a:pt x="119062" y="90488"/>
                </a:cubicBezTo>
                <a:close/>
                <a:moveTo>
                  <a:pt x="157163" y="147638"/>
                </a:moveTo>
                <a:cubicBezTo>
                  <a:pt x="157163" y="142399"/>
                  <a:pt x="161449" y="138113"/>
                  <a:pt x="166688" y="138113"/>
                </a:cubicBezTo>
                <a:lnTo>
                  <a:pt x="176212" y="138113"/>
                </a:lnTo>
                <a:cubicBezTo>
                  <a:pt x="181451" y="138113"/>
                  <a:pt x="185738" y="142399"/>
                  <a:pt x="185738" y="147638"/>
                </a:cubicBezTo>
                <a:lnTo>
                  <a:pt x="185738" y="157163"/>
                </a:lnTo>
                <a:cubicBezTo>
                  <a:pt x="185738" y="162401"/>
                  <a:pt x="181451" y="166688"/>
                  <a:pt x="176212" y="166688"/>
                </a:cubicBezTo>
                <a:lnTo>
                  <a:pt x="166688" y="166688"/>
                </a:lnTo>
                <a:cubicBezTo>
                  <a:pt x="161449" y="166688"/>
                  <a:pt x="157163" y="162401"/>
                  <a:pt x="157163" y="157163"/>
                </a:cubicBezTo>
                <a:lnTo>
                  <a:pt x="157163" y="147638"/>
                </a:lnTo>
                <a:close/>
                <a:moveTo>
                  <a:pt x="166688" y="90488"/>
                </a:moveTo>
                <a:lnTo>
                  <a:pt x="176212" y="90488"/>
                </a:lnTo>
                <a:cubicBezTo>
                  <a:pt x="181451" y="90488"/>
                  <a:pt x="185738" y="94774"/>
                  <a:pt x="185738" y="100013"/>
                </a:cubicBezTo>
                <a:lnTo>
                  <a:pt x="185738" y="109537"/>
                </a:lnTo>
                <a:cubicBezTo>
                  <a:pt x="185738" y="114776"/>
                  <a:pt x="181451" y="119062"/>
                  <a:pt x="176212" y="119062"/>
                </a:cubicBezTo>
                <a:lnTo>
                  <a:pt x="166688" y="119062"/>
                </a:lnTo>
                <a:cubicBezTo>
                  <a:pt x="161449" y="119062"/>
                  <a:pt x="157163" y="114776"/>
                  <a:pt x="157163" y="109537"/>
                </a:cubicBezTo>
                <a:lnTo>
                  <a:pt x="157163" y="100013"/>
                </a:lnTo>
                <a:cubicBezTo>
                  <a:pt x="157163" y="94774"/>
                  <a:pt x="161449" y="90488"/>
                  <a:pt x="166688" y="90488"/>
                </a:cubicBezTo>
                <a:close/>
                <a:moveTo>
                  <a:pt x="204787" y="147638"/>
                </a:moveTo>
                <a:cubicBezTo>
                  <a:pt x="204787" y="142399"/>
                  <a:pt x="209074" y="138113"/>
                  <a:pt x="214313" y="138113"/>
                </a:cubicBezTo>
                <a:lnTo>
                  <a:pt x="223838" y="138113"/>
                </a:lnTo>
                <a:cubicBezTo>
                  <a:pt x="229076" y="138113"/>
                  <a:pt x="233363" y="142399"/>
                  <a:pt x="233363" y="147638"/>
                </a:cubicBezTo>
                <a:lnTo>
                  <a:pt x="233363" y="157163"/>
                </a:lnTo>
                <a:cubicBezTo>
                  <a:pt x="233363" y="162401"/>
                  <a:pt x="229076" y="166688"/>
                  <a:pt x="223838" y="166688"/>
                </a:cubicBezTo>
                <a:lnTo>
                  <a:pt x="214313" y="166688"/>
                </a:lnTo>
                <a:cubicBezTo>
                  <a:pt x="209074" y="166688"/>
                  <a:pt x="204787" y="162401"/>
                  <a:pt x="204787" y="157163"/>
                </a:cubicBezTo>
                <a:lnTo>
                  <a:pt x="204787" y="147638"/>
                </a:lnTo>
                <a:close/>
                <a:moveTo>
                  <a:pt x="214313" y="90488"/>
                </a:moveTo>
                <a:lnTo>
                  <a:pt x="223838" y="90488"/>
                </a:lnTo>
                <a:cubicBezTo>
                  <a:pt x="229076" y="90488"/>
                  <a:pt x="233363" y="94774"/>
                  <a:pt x="233363" y="100013"/>
                </a:cubicBezTo>
                <a:lnTo>
                  <a:pt x="233363" y="109537"/>
                </a:lnTo>
                <a:cubicBezTo>
                  <a:pt x="233363" y="114776"/>
                  <a:pt x="229076" y="119062"/>
                  <a:pt x="223838" y="119062"/>
                </a:cubicBezTo>
                <a:lnTo>
                  <a:pt x="214313" y="119062"/>
                </a:lnTo>
                <a:cubicBezTo>
                  <a:pt x="209074" y="119062"/>
                  <a:pt x="204787" y="114776"/>
                  <a:pt x="204787" y="109537"/>
                </a:cubicBezTo>
                <a:lnTo>
                  <a:pt x="204787" y="100013"/>
                </a:lnTo>
                <a:cubicBezTo>
                  <a:pt x="204787" y="94774"/>
                  <a:pt x="209074" y="90488"/>
                  <a:pt x="214313" y="90488"/>
                </a:cubicBezTo>
                <a:close/>
                <a:moveTo>
                  <a:pt x="252413" y="147638"/>
                </a:moveTo>
                <a:cubicBezTo>
                  <a:pt x="252413" y="142399"/>
                  <a:pt x="256699" y="138113"/>
                  <a:pt x="261937" y="138113"/>
                </a:cubicBezTo>
                <a:lnTo>
                  <a:pt x="271463" y="138113"/>
                </a:lnTo>
                <a:cubicBezTo>
                  <a:pt x="276701" y="138113"/>
                  <a:pt x="280987" y="142399"/>
                  <a:pt x="280987" y="147638"/>
                </a:cubicBezTo>
                <a:lnTo>
                  <a:pt x="280987" y="157163"/>
                </a:lnTo>
                <a:cubicBezTo>
                  <a:pt x="280987" y="162401"/>
                  <a:pt x="276701" y="166688"/>
                  <a:pt x="271463" y="166688"/>
                </a:cubicBezTo>
                <a:lnTo>
                  <a:pt x="261937" y="166688"/>
                </a:lnTo>
                <a:cubicBezTo>
                  <a:pt x="256699" y="166688"/>
                  <a:pt x="252413" y="162401"/>
                  <a:pt x="252413" y="157163"/>
                </a:cubicBezTo>
                <a:lnTo>
                  <a:pt x="252413" y="147638"/>
                </a:lnTo>
                <a:close/>
                <a:moveTo>
                  <a:pt x="261937" y="90488"/>
                </a:moveTo>
                <a:lnTo>
                  <a:pt x="271463" y="90488"/>
                </a:lnTo>
                <a:cubicBezTo>
                  <a:pt x="276701" y="90488"/>
                  <a:pt x="280987" y="94774"/>
                  <a:pt x="280987" y="100013"/>
                </a:cubicBezTo>
                <a:lnTo>
                  <a:pt x="280987" y="109537"/>
                </a:lnTo>
                <a:cubicBezTo>
                  <a:pt x="280987" y="114776"/>
                  <a:pt x="276701" y="119062"/>
                  <a:pt x="271463" y="119062"/>
                </a:cubicBezTo>
                <a:lnTo>
                  <a:pt x="261937" y="119062"/>
                </a:lnTo>
                <a:cubicBezTo>
                  <a:pt x="256699" y="119062"/>
                  <a:pt x="252413" y="114776"/>
                  <a:pt x="252413" y="109537"/>
                </a:cubicBezTo>
                <a:lnTo>
                  <a:pt x="252413" y="100013"/>
                </a:lnTo>
                <a:cubicBezTo>
                  <a:pt x="252413" y="94774"/>
                  <a:pt x="256699" y="90488"/>
                  <a:pt x="261937" y="90488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642600" y="39243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Field / JTextField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User input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715000"/>
            <a:ext cx="14732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5715000"/>
            <a:ext cx="76200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" y="5867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2200" y="62992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provides two main toolkits for GUI development: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(Abstract Window Toolkit) — Java's original GUI toolkit, uses native OS components.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Built on AWT, provides lightweight, platform-independent components with richer functionality.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Java Swing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Java's primary GUI toolkit for building desktop applications. Introduced in 1998 as part of JFC (Java Foundation Classes), it is built on top of AWT with a more comprehensive component set.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1550" y="2857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88900" y="22225"/>
                </a:moveTo>
                <a:cubicBezTo>
                  <a:pt x="64383" y="22225"/>
                  <a:pt x="44450" y="42158"/>
                  <a:pt x="44450" y="66675"/>
                </a:cubicBezTo>
                <a:lnTo>
                  <a:pt x="44450" y="233363"/>
                </a:lnTo>
                <a:lnTo>
                  <a:pt x="88900" y="233363"/>
                </a:lnTo>
                <a:lnTo>
                  <a:pt x="88900" y="66675"/>
                </a:lnTo>
                <a:lnTo>
                  <a:pt x="355600" y="66675"/>
                </a:lnTo>
                <a:lnTo>
                  <a:pt x="355600" y="233363"/>
                </a:lnTo>
                <a:lnTo>
                  <a:pt x="400050" y="233363"/>
                </a:lnTo>
                <a:lnTo>
                  <a:pt x="400050" y="66675"/>
                </a:lnTo>
                <a:cubicBezTo>
                  <a:pt x="400050" y="42158"/>
                  <a:pt x="380117" y="22225"/>
                  <a:pt x="355600" y="22225"/>
                </a:cubicBezTo>
                <a:lnTo>
                  <a:pt x="88900" y="22225"/>
                </a:lnTo>
                <a:close/>
                <a:moveTo>
                  <a:pt x="13335" y="266700"/>
                </a:moveTo>
                <a:cubicBezTo>
                  <a:pt x="5973" y="266700"/>
                  <a:pt x="0" y="272673"/>
                  <a:pt x="0" y="280035"/>
                </a:cubicBezTo>
                <a:cubicBezTo>
                  <a:pt x="0" y="309483"/>
                  <a:pt x="23892" y="333375"/>
                  <a:pt x="53340" y="333375"/>
                </a:cubicBezTo>
                <a:lnTo>
                  <a:pt x="391160" y="333375"/>
                </a:lnTo>
                <a:cubicBezTo>
                  <a:pt x="420608" y="333375"/>
                  <a:pt x="444500" y="309483"/>
                  <a:pt x="444500" y="280035"/>
                </a:cubicBezTo>
                <a:cubicBezTo>
                  <a:pt x="444500" y="272673"/>
                  <a:pt x="438527" y="266700"/>
                  <a:pt x="431165" y="266700"/>
                </a:cubicBezTo>
                <a:lnTo>
                  <a:pt x="13335" y="26670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857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Platform-Independent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3274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look and behavior across all operating systems — Windows, macOS, and Linux.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0" y="2667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42000" y="285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75" y="0"/>
                </a:moveTo>
                <a:cubicBezTo>
                  <a:pt x="272951" y="0"/>
                  <a:pt x="300246" y="11321"/>
                  <a:pt x="320318" y="31393"/>
                </a:cubicBezTo>
                <a:lnTo>
                  <a:pt x="324138" y="35213"/>
                </a:lnTo>
                <a:cubicBezTo>
                  <a:pt x="344279" y="55354"/>
                  <a:pt x="355600" y="82649"/>
                  <a:pt x="355600" y="111056"/>
                </a:cubicBezTo>
                <a:cubicBezTo>
                  <a:pt x="355600" y="127794"/>
                  <a:pt x="351641" y="144115"/>
                  <a:pt x="344349" y="158839"/>
                </a:cubicBezTo>
                <a:cubicBezTo>
                  <a:pt x="343029" y="161409"/>
                  <a:pt x="340668" y="163354"/>
                  <a:pt x="337889" y="164187"/>
                </a:cubicBezTo>
                <a:lnTo>
                  <a:pt x="260102" y="187523"/>
                </a:lnTo>
                <a:cubicBezTo>
                  <a:pt x="257393" y="188357"/>
                  <a:pt x="255587" y="190788"/>
                  <a:pt x="255587" y="193635"/>
                </a:cubicBezTo>
                <a:cubicBezTo>
                  <a:pt x="255587" y="197177"/>
                  <a:pt x="258435" y="200025"/>
                  <a:pt x="261977" y="200025"/>
                </a:cubicBezTo>
                <a:lnTo>
                  <a:pt x="284341" y="200025"/>
                </a:lnTo>
                <a:cubicBezTo>
                  <a:pt x="294273" y="200025"/>
                  <a:pt x="299204" y="211971"/>
                  <a:pt x="292189" y="218986"/>
                </a:cubicBezTo>
                <a:lnTo>
                  <a:pt x="276632" y="234543"/>
                </a:lnTo>
                <a:cubicBezTo>
                  <a:pt x="275312" y="235863"/>
                  <a:pt x="273715" y="236766"/>
                  <a:pt x="271978" y="237321"/>
                </a:cubicBezTo>
                <a:lnTo>
                  <a:pt x="215721" y="254198"/>
                </a:lnTo>
                <a:cubicBezTo>
                  <a:pt x="213013" y="255032"/>
                  <a:pt x="211207" y="257463"/>
                  <a:pt x="211207" y="260310"/>
                </a:cubicBezTo>
                <a:cubicBezTo>
                  <a:pt x="211207" y="263852"/>
                  <a:pt x="214055" y="266700"/>
                  <a:pt x="217597" y="266700"/>
                </a:cubicBezTo>
                <a:cubicBezTo>
                  <a:pt x="226764" y="266700"/>
                  <a:pt x="230723" y="277604"/>
                  <a:pt x="223014" y="282605"/>
                </a:cubicBezTo>
                <a:cubicBezTo>
                  <a:pt x="194469" y="301079"/>
                  <a:pt x="160992" y="311150"/>
                  <a:pt x="126474" y="311150"/>
                </a:cubicBezTo>
                <a:lnTo>
                  <a:pt x="66744" y="311150"/>
                </a:lnTo>
                <a:lnTo>
                  <a:pt x="33407" y="344488"/>
                </a:lnTo>
                <a:cubicBezTo>
                  <a:pt x="27295" y="350599"/>
                  <a:pt x="17294" y="350599"/>
                  <a:pt x="11182" y="344488"/>
                </a:cubicBezTo>
                <a:cubicBezTo>
                  <a:pt x="5070" y="338376"/>
                  <a:pt x="5070" y="328374"/>
                  <a:pt x="11182" y="322263"/>
                </a:cubicBezTo>
                <a:lnTo>
                  <a:pt x="177800" y="155575"/>
                </a:lnTo>
                <a:cubicBezTo>
                  <a:pt x="183912" y="149463"/>
                  <a:pt x="183912" y="139462"/>
                  <a:pt x="177800" y="133350"/>
                </a:cubicBezTo>
                <a:cubicBezTo>
                  <a:pt x="171688" y="127238"/>
                  <a:pt x="161687" y="127238"/>
                  <a:pt x="155575" y="133350"/>
                </a:cubicBezTo>
                <a:lnTo>
                  <a:pt x="55215" y="233710"/>
                </a:lnTo>
                <a:cubicBezTo>
                  <a:pt x="51256" y="237669"/>
                  <a:pt x="44450" y="234890"/>
                  <a:pt x="44450" y="229265"/>
                </a:cubicBezTo>
                <a:cubicBezTo>
                  <a:pt x="44450" y="182106"/>
                  <a:pt x="63202" y="136892"/>
                  <a:pt x="96540" y="103555"/>
                </a:cubicBezTo>
                <a:lnTo>
                  <a:pt x="168632" y="31393"/>
                </a:lnTo>
                <a:cubicBezTo>
                  <a:pt x="188704" y="11321"/>
                  <a:pt x="215999" y="0"/>
                  <a:pt x="244475" y="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324600" y="2857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42000" y="33274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 are drawn by Java, not native OS. More control and consistency.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14000" y="2667000"/>
            <a:ext cx="5080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68000" y="285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77800"/>
                </a:moveTo>
                <a:cubicBezTo>
                  <a:pt x="355600" y="178425"/>
                  <a:pt x="355600" y="179050"/>
                  <a:pt x="355600" y="179675"/>
                </a:cubicBezTo>
                <a:cubicBezTo>
                  <a:pt x="355322" y="205026"/>
                  <a:pt x="332264" y="222250"/>
                  <a:pt x="306913" y="222250"/>
                </a:cubicBezTo>
                <a:lnTo>
                  <a:pt x="238919" y="222250"/>
                </a:lnTo>
                <a:cubicBezTo>
                  <a:pt x="220514" y="222250"/>
                  <a:pt x="205581" y="237182"/>
                  <a:pt x="205581" y="255587"/>
                </a:cubicBezTo>
                <a:cubicBezTo>
                  <a:pt x="205581" y="257949"/>
                  <a:pt x="205859" y="260241"/>
                  <a:pt x="206276" y="262463"/>
                </a:cubicBezTo>
                <a:cubicBezTo>
                  <a:pt x="207734" y="269548"/>
                  <a:pt x="210790" y="276354"/>
                  <a:pt x="213777" y="283230"/>
                </a:cubicBezTo>
                <a:cubicBezTo>
                  <a:pt x="218013" y="292814"/>
                  <a:pt x="222181" y="302329"/>
                  <a:pt x="222181" y="312400"/>
                </a:cubicBezTo>
                <a:cubicBezTo>
                  <a:pt x="222181" y="334486"/>
                  <a:pt x="207179" y="354558"/>
                  <a:pt x="185093" y="355461"/>
                </a:cubicBezTo>
                <a:cubicBezTo>
                  <a:pt x="182662" y="355531"/>
                  <a:pt x="180231" y="355600"/>
                  <a:pt x="177731" y="355600"/>
                </a:cubicBezTo>
                <a:cubicBezTo>
                  <a:pt x="79524" y="355600"/>
                  <a:pt x="-69" y="276007"/>
                  <a:pt x="-69" y="177800"/>
                </a:cubicBezTo>
                <a:cubicBezTo>
                  <a:pt x="-69" y="79593"/>
                  <a:pt x="79593" y="0"/>
                  <a:pt x="177800" y="0"/>
                </a:cubicBezTo>
                <a:cubicBezTo>
                  <a:pt x="276007" y="0"/>
                  <a:pt x="355600" y="79593"/>
                  <a:pt x="355600" y="177800"/>
                </a:cubicBezTo>
                <a:close/>
                <a:moveTo>
                  <a:pt x="88900" y="200025"/>
                </a:moveTo>
                <a:cubicBezTo>
                  <a:pt x="88900" y="187759"/>
                  <a:pt x="78941" y="177800"/>
                  <a:pt x="66675" y="177800"/>
                </a:cubicBezTo>
                <a:cubicBezTo>
                  <a:pt x="54409" y="177800"/>
                  <a:pt x="44450" y="187759"/>
                  <a:pt x="44450" y="200025"/>
                </a:cubicBezTo>
                <a:cubicBezTo>
                  <a:pt x="44450" y="212291"/>
                  <a:pt x="54409" y="222250"/>
                  <a:pt x="66675" y="222250"/>
                </a:cubicBezTo>
                <a:cubicBezTo>
                  <a:pt x="78941" y="222250"/>
                  <a:pt x="88900" y="212291"/>
                  <a:pt x="88900" y="200025"/>
                </a:cubicBezTo>
                <a:close/>
                <a:moveTo>
                  <a:pt x="88900" y="133350"/>
                </a:moveTo>
                <a:cubicBezTo>
                  <a:pt x="101166" y="133350"/>
                  <a:pt x="111125" y="123391"/>
                  <a:pt x="111125" y="111125"/>
                </a:cubicBezTo>
                <a:cubicBezTo>
                  <a:pt x="111125" y="98859"/>
                  <a:pt x="101166" y="88900"/>
                  <a:pt x="88900" y="88900"/>
                </a:cubicBezTo>
                <a:cubicBezTo>
                  <a:pt x="76634" y="88900"/>
                  <a:pt x="66675" y="98859"/>
                  <a:pt x="66675" y="111125"/>
                </a:cubicBezTo>
                <a:cubicBezTo>
                  <a:pt x="66675" y="123391"/>
                  <a:pt x="76634" y="133350"/>
                  <a:pt x="88900" y="13335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266700" y="133350"/>
                </a:moveTo>
                <a:cubicBezTo>
                  <a:pt x="278966" y="133350"/>
                  <a:pt x="288925" y="123391"/>
                  <a:pt x="288925" y="111125"/>
                </a:cubicBezTo>
                <a:cubicBezTo>
                  <a:pt x="288925" y="98859"/>
                  <a:pt x="278966" y="88900"/>
                  <a:pt x="266700" y="88900"/>
                </a:cubicBezTo>
                <a:cubicBezTo>
                  <a:pt x="254434" y="88900"/>
                  <a:pt x="244475" y="98859"/>
                  <a:pt x="244475" y="111125"/>
                </a:cubicBezTo>
                <a:cubicBezTo>
                  <a:pt x="244475" y="123391"/>
                  <a:pt x="254434" y="133350"/>
                  <a:pt x="266700" y="1333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0600" y="2857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Customizable Look &amp; Feel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0" y="3327400"/>
            <a:ext cx="457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pluggable look-and-feel. Change the entire appearance without code changes.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207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16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lnTo>
                  <a:pt x="155575" y="44450"/>
                </a:lnTo>
                <a:cubicBezTo>
                  <a:pt x="155575" y="50562"/>
                  <a:pt x="160576" y="55563"/>
                  <a:pt x="166688" y="55563"/>
                </a:cubicBezTo>
                <a:lnTo>
                  <a:pt x="188913" y="55563"/>
                </a:lnTo>
                <a:cubicBezTo>
                  <a:pt x="195024" y="55563"/>
                  <a:pt x="200025" y="50562"/>
                  <a:pt x="200025" y="44450"/>
                </a:cubicBezTo>
                <a:lnTo>
                  <a:pt x="200025" y="0"/>
                </a:lnTo>
                <a:lnTo>
                  <a:pt x="222250" y="0"/>
                </a:lnTo>
                <a:cubicBezTo>
                  <a:pt x="246767" y="0"/>
                  <a:pt x="266700" y="19933"/>
                  <a:pt x="266700" y="44450"/>
                </a:cubicBezTo>
                <a:lnTo>
                  <a:pt x="266700" y="133350"/>
                </a:lnTo>
                <a:cubicBezTo>
                  <a:pt x="266700" y="137170"/>
                  <a:pt x="266214" y="140920"/>
                  <a:pt x="265311" y="144463"/>
                </a:cubicBezTo>
                <a:lnTo>
                  <a:pt x="90289" y="144463"/>
                </a:lnTo>
                <a:cubicBezTo>
                  <a:pt x="89386" y="140920"/>
                  <a:pt x="88900" y="137170"/>
                  <a:pt x="88900" y="133350"/>
                </a:cubicBezTo>
                <a:lnTo>
                  <a:pt x="88900" y="44450"/>
                </a:lnTo>
                <a:cubicBezTo>
                  <a:pt x="88900" y="19933"/>
                  <a:pt x="108833" y="0"/>
                  <a:pt x="133350" y="0"/>
                </a:cubicBezTo>
                <a:lnTo>
                  <a:pt x="155575" y="0"/>
                </a:lnTo>
                <a:close/>
                <a:moveTo>
                  <a:pt x="222250" y="355600"/>
                </a:moveTo>
                <a:cubicBezTo>
                  <a:pt x="214471" y="355600"/>
                  <a:pt x="207109" y="353586"/>
                  <a:pt x="200720" y="350044"/>
                </a:cubicBezTo>
                <a:cubicBezTo>
                  <a:pt x="207318" y="338584"/>
                  <a:pt x="211138" y="325318"/>
                  <a:pt x="211138" y="311150"/>
                </a:cubicBezTo>
                <a:lnTo>
                  <a:pt x="211138" y="222250"/>
                </a:lnTo>
                <a:cubicBezTo>
                  <a:pt x="211138" y="208082"/>
                  <a:pt x="207318" y="194816"/>
                  <a:pt x="200720" y="183356"/>
                </a:cubicBezTo>
                <a:cubicBezTo>
                  <a:pt x="207109" y="179814"/>
                  <a:pt x="214402" y="177800"/>
                  <a:pt x="222250" y="177800"/>
                </a:cubicBezTo>
                <a:lnTo>
                  <a:pt x="244475" y="177800"/>
                </a:lnTo>
                <a:lnTo>
                  <a:pt x="244475" y="222250"/>
                </a:lnTo>
                <a:cubicBezTo>
                  <a:pt x="244475" y="228362"/>
                  <a:pt x="249476" y="233363"/>
                  <a:pt x="255587" y="233363"/>
                </a:cubicBezTo>
                <a:lnTo>
                  <a:pt x="277813" y="233363"/>
                </a:lnTo>
                <a:cubicBezTo>
                  <a:pt x="283924" y="233363"/>
                  <a:pt x="288925" y="228362"/>
                  <a:pt x="288925" y="222250"/>
                </a:cubicBezTo>
                <a:lnTo>
                  <a:pt x="288925" y="177800"/>
                </a:lnTo>
                <a:lnTo>
                  <a:pt x="311150" y="177800"/>
                </a:lnTo>
                <a:cubicBezTo>
                  <a:pt x="335667" y="177800"/>
                  <a:pt x="355600" y="197733"/>
                  <a:pt x="355600" y="222250"/>
                </a:cubicBezTo>
                <a:lnTo>
                  <a:pt x="355600" y="311150"/>
                </a:lnTo>
                <a:cubicBezTo>
                  <a:pt x="355600" y="335667"/>
                  <a:pt x="335667" y="355600"/>
                  <a:pt x="311150" y="355600"/>
                </a:cubicBezTo>
                <a:lnTo>
                  <a:pt x="222250" y="355600"/>
                </a:lnTo>
                <a:close/>
                <a:moveTo>
                  <a:pt x="0" y="222250"/>
                </a:moveTo>
                <a:cubicBezTo>
                  <a:pt x="0" y="197733"/>
                  <a:pt x="19933" y="177800"/>
                  <a:pt x="44450" y="177800"/>
                </a:cubicBezTo>
                <a:lnTo>
                  <a:pt x="66675" y="177800"/>
                </a:lnTo>
                <a:lnTo>
                  <a:pt x="66675" y="222250"/>
                </a:lnTo>
                <a:cubicBezTo>
                  <a:pt x="66675" y="228362"/>
                  <a:pt x="71676" y="233363"/>
                  <a:pt x="77788" y="233363"/>
                </a:cubicBezTo>
                <a:lnTo>
                  <a:pt x="100013" y="233363"/>
                </a:lnTo>
                <a:cubicBezTo>
                  <a:pt x="106124" y="233363"/>
                  <a:pt x="111125" y="228362"/>
                  <a:pt x="111125" y="222250"/>
                </a:cubicBezTo>
                <a:lnTo>
                  <a:pt x="111125" y="177800"/>
                </a:lnTo>
                <a:lnTo>
                  <a:pt x="133350" y="177800"/>
                </a:lnTo>
                <a:cubicBezTo>
                  <a:pt x="157867" y="177800"/>
                  <a:pt x="177800" y="197733"/>
                  <a:pt x="177800" y="222250"/>
                </a:cubicBezTo>
                <a:lnTo>
                  <a:pt x="177800" y="311150"/>
                </a:lnTo>
                <a:cubicBezTo>
                  <a:pt x="177800" y="335667"/>
                  <a:pt x="157867" y="355600"/>
                  <a:pt x="1333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2222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" y="5397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Component Set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58674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Buttons, tables, trees, tabs, sliders, progress bars, and many more advanced components.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88000" y="5207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42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6324600" y="5397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MVC Architecture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42000" y="58674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Separates data model, user interface, and application logic for maintainable code.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Swing vs. AWT: Key Differences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4699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6031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2773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Heavyweight — uses native OS components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Lightweight — drawn by Java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773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 Set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 (basic components only)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Extensive (tables, trees, tabs, etc.)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2773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Look &amp; Feel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Platform-dependent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Platform-independent, pluggable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773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Button, Label, Frame (no prefix)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JButton, JLabel, JFrame ('J' prefix)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2773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JDK Version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Introduced in JDK 1.0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Introduced in JDK 1.2 (1998)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604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2000" y="6604000"/>
            <a:ext cx="76200" cy="139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5"/>
          <p:cNvSpPr/>
          <p:nvPr/>
        </p:nvSpPr>
        <p:spPr>
          <a:xfrm>
            <a:off x="1092200" y="673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2200" y="7112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Swing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top of AWT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uses AWT for event handling and top-level containers, but renders its own lightweight components. For modern Java desktop applications,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Swing is the recommended choice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Swing Component Hierarchy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Swing components inherit from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javax.swing.JComponent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which extends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java.awt.Container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Understanding this hierarchy is essential for effective GUI development.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77000" y="2349500"/>
            <a:ext cx="3302000" cy="5334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0" y="2349500"/>
            <a:ext cx="330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java.lang.Object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2882900"/>
            <a:ext cx="0" cy="2794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096000" y="3162300"/>
            <a:ext cx="4064000" cy="5334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3162300"/>
            <a:ext cx="406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java.awt.Component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3695700"/>
            <a:ext cx="0" cy="2794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96000" y="3975100"/>
            <a:ext cx="4064000" cy="5334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3975100"/>
            <a:ext cx="406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java.awt.Container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4508500"/>
            <a:ext cx="0" cy="279400"/>
          </a:xfrm>
          <a:prstGeom prst="straightConnector1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715000" y="4787900"/>
            <a:ext cx="4826000" cy="533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4787900"/>
            <a:ext cx="482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javax.swing.JComponent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0" y="5321300"/>
            <a:ext cx="4318000" cy="2794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 flipH="1">
            <a:off x="8128000" y="5321300"/>
            <a:ext cx="4318000" cy="2794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651000" y="5600700"/>
            <a:ext cx="3556000" cy="5334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5600700"/>
            <a:ext cx="355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Top-Level Containers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049000" y="5600700"/>
            <a:ext cx="3556000" cy="5334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5600700"/>
            <a:ext cx="355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Components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0000" y="63500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JFrame — Main window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JDialog — Popup dialogs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JWindow — Borderless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JApplet — Web embed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0" y="63500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JButton, JLabel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JTextField, JTextArea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JCheckBox, JRadioButton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JTable, JTree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Swing Container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Containers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components that can hold other components. Every GUI application uses a hierarchy of containers to organize its interface.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Top-Level Containers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5400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768600"/>
            <a:ext cx="6858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2768600"/>
            <a:ext cx="6400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JFrame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Main application window with title bar, borders, and controls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530600"/>
            <a:ext cx="6858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3530600"/>
            <a:ext cx="6400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JDialog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Popup windows for alerts, confirmations, and input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292600"/>
            <a:ext cx="6858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4292600"/>
            <a:ext cx="6400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JWindow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Borderless window, often used for splash screens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2095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General-Purpose Containers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28000" y="25400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8000" y="2768600"/>
            <a:ext cx="7366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6600" y="2768600"/>
            <a:ext cx="690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JPanel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Basic grouping container, most versatile Swing container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3530600"/>
            <a:ext cx="7366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6600" y="3530600"/>
            <a:ext cx="690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JScrollPane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Adds scrollbars to any component automatically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0" y="4292600"/>
            <a:ext cx="7366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6600" y="4292600"/>
            <a:ext cx="690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JTabbedPane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Tabbed interface for organizing content in pages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0960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22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ADDING COMPONENTS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5786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For JFrame, use getContentPane() or direct add()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JFrame frame =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JFrame(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"My App"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JButton button =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JButton(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"Click"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frame.add(button);   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Adds to content pane (Java 5+)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Helper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Helper classes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 GUI creation without being visible components. They are essential for positioning, sizing, and styling.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2500" y="2260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5908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java.awt.Dimension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895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Specifies width and height of components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21336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5500" y="2260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5500" y="25908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5500" y="2895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Represents x,y coordinate position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1336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18500" y="2260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18500" y="25908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java.awt.Insets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8500" y="2895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Specifies padding around container edges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2133600"/>
            <a:ext cx="3683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001500" y="22606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01500" y="25908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java.awt.Rectangle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01500" y="28956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a rectangular area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0386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52500" y="4165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ImageIcon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2500" y="44958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javax.swing.ImageIcon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500" y="48006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images for buttons, labels, and other components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0" y="40386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05500" y="4165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05500" y="44958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java.awt.Font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05500" y="48006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text font family, style, and size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8000" y="40386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858500" y="41656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58500" y="44958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java.awt.Color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58500" y="4800600"/>
            <a:ext cx="444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Represents colors using RGB values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6032500"/>
            <a:ext cx="14732000" cy="215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1016000" y="615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EXAMPLES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16000" y="6502400"/>
            <a:ext cx="1422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JButton btn =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JButton(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"OK"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btn.setPreferredSize(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Dimension(100, 30));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btn.setFont(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Font(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"Arial"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Font.BOLD, 14));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btn.setBackground(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Color(15, 76, 92));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GUI Components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Top-Level Container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06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JFrame frame =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JFrame(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"My App"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400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54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4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Default Close Operation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9591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frame.setDefaultCloseOperation(JFrame.EXIT_ON_CLOSE);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4925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492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9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and Configure Components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911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JButton button =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JButton(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"Click Me"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4450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44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4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Components to Container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8641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frame.add(button);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3975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39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Size and Make Visible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816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frame.setSize(400, 300); frame.setVisible(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413500"/>
            <a:ext cx="14732000" cy="184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6413500"/>
            <a:ext cx="76200" cy="1841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1092200" y="6540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PRACTICE: EVENT DISPATCH THREAD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" y="69215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GUI creation should be done on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Dispatch Thread (EDT)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SwingUtilities.invokeLater(() -&gt; {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/* GUI code here */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});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ensures thread safety and prevents potential race conditions in Swing applications.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Swing Components — Part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 interactive components every GUI developer needs to know: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0600" y="222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348" y="57150"/>
                </a:moveTo>
                <a:lnTo>
                  <a:pt x="19348" y="146149"/>
                </a:lnTo>
                <a:cubicBezTo>
                  <a:pt x="19348" y="156270"/>
                  <a:pt x="23336" y="165973"/>
                  <a:pt x="30480" y="173117"/>
                </a:cubicBezTo>
                <a:lnTo>
                  <a:pt x="144780" y="287417"/>
                </a:lnTo>
                <a:cubicBezTo>
                  <a:pt x="159663" y="302300"/>
                  <a:pt x="183773" y="302300"/>
                  <a:pt x="198656" y="287417"/>
                </a:cubicBezTo>
                <a:lnTo>
                  <a:pt x="287655" y="198418"/>
                </a:lnTo>
                <a:cubicBezTo>
                  <a:pt x="302538" y="183535"/>
                  <a:pt x="302538" y="159425"/>
                  <a:pt x="287655" y="144542"/>
                </a:cubicBezTo>
                <a:lnTo>
                  <a:pt x="173355" y="30242"/>
                </a:lnTo>
                <a:cubicBezTo>
                  <a:pt x="166211" y="23039"/>
                  <a:pt x="156567" y="19050"/>
                  <a:pt x="146447" y="19050"/>
                </a:cubicBezTo>
                <a:lnTo>
                  <a:pt x="57448" y="19050"/>
                </a:lnTo>
                <a:cubicBezTo>
                  <a:pt x="36433" y="19050"/>
                  <a:pt x="19348" y="36135"/>
                  <a:pt x="19348" y="57150"/>
                </a:cubicBezTo>
                <a:close/>
                <a:moveTo>
                  <a:pt x="86023" y="66675"/>
                </a:moveTo>
                <a:cubicBezTo>
                  <a:pt x="96537" y="66675"/>
                  <a:pt x="105073" y="75211"/>
                  <a:pt x="105073" y="85725"/>
                </a:cubicBezTo>
                <a:cubicBezTo>
                  <a:pt x="105073" y="96239"/>
                  <a:pt x="96537" y="104775"/>
                  <a:pt x="86023" y="104775"/>
                </a:cubicBezTo>
                <a:cubicBezTo>
                  <a:pt x="75509" y="104775"/>
                  <a:pt x="66973" y="96239"/>
                  <a:pt x="66973" y="85725"/>
                </a:cubicBezTo>
                <a:cubicBezTo>
                  <a:pt x="66973" y="75211"/>
                  <a:pt x="75509" y="66675"/>
                  <a:pt x="86023" y="6667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19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JLabel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603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Displays text or images. Non-editable, used for labels and descriptions.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032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19800" y="22225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60" y="17443"/>
                </a:moveTo>
                <a:cubicBezTo>
                  <a:pt x="-833" y="27980"/>
                  <a:pt x="6965" y="37148"/>
                  <a:pt x="17443" y="38040"/>
                </a:cubicBezTo>
                <a:lnTo>
                  <a:pt x="22205" y="38457"/>
                </a:lnTo>
                <a:cubicBezTo>
                  <a:pt x="41970" y="40065"/>
                  <a:pt x="57150" y="56555"/>
                  <a:pt x="57150" y="76379"/>
                </a:cubicBezTo>
                <a:lnTo>
                  <a:pt x="57150" y="133350"/>
                </a:lnTo>
                <a:lnTo>
                  <a:pt x="38100" y="133350"/>
                </a:lnTo>
                <a:cubicBezTo>
                  <a:pt x="27563" y="133350"/>
                  <a:pt x="19050" y="141863"/>
                  <a:pt x="19050" y="152400"/>
                </a:cubicBezTo>
                <a:cubicBezTo>
                  <a:pt x="19050" y="162937"/>
                  <a:pt x="27563" y="171450"/>
                  <a:pt x="38100" y="171450"/>
                </a:cubicBezTo>
                <a:lnTo>
                  <a:pt x="57150" y="171450"/>
                </a:lnTo>
                <a:lnTo>
                  <a:pt x="57150" y="228421"/>
                </a:lnTo>
                <a:cubicBezTo>
                  <a:pt x="57150" y="248245"/>
                  <a:pt x="41970" y="264735"/>
                  <a:pt x="22205" y="266402"/>
                </a:cubicBezTo>
                <a:lnTo>
                  <a:pt x="17443" y="266819"/>
                </a:lnTo>
                <a:cubicBezTo>
                  <a:pt x="6965" y="267653"/>
                  <a:pt x="-833" y="276820"/>
                  <a:pt x="60" y="287357"/>
                </a:cubicBezTo>
                <a:cubicBezTo>
                  <a:pt x="952" y="297894"/>
                  <a:pt x="10120" y="305633"/>
                  <a:pt x="20657" y="304740"/>
                </a:cubicBezTo>
                <a:lnTo>
                  <a:pt x="25420" y="304324"/>
                </a:lnTo>
                <a:cubicBezTo>
                  <a:pt x="45720" y="302657"/>
                  <a:pt x="63639" y="293072"/>
                  <a:pt x="76260" y="278785"/>
                </a:cubicBezTo>
                <a:cubicBezTo>
                  <a:pt x="88880" y="293072"/>
                  <a:pt x="106740" y="302597"/>
                  <a:pt x="127099" y="304324"/>
                </a:cubicBezTo>
                <a:lnTo>
                  <a:pt x="131862" y="304740"/>
                </a:lnTo>
                <a:cubicBezTo>
                  <a:pt x="142339" y="305633"/>
                  <a:pt x="151567" y="297835"/>
                  <a:pt x="152400" y="287357"/>
                </a:cubicBezTo>
                <a:cubicBezTo>
                  <a:pt x="153233" y="276880"/>
                  <a:pt x="145494" y="267652"/>
                  <a:pt x="135017" y="266819"/>
                </a:cubicBezTo>
                <a:lnTo>
                  <a:pt x="130254" y="266402"/>
                </a:lnTo>
                <a:cubicBezTo>
                  <a:pt x="110430" y="264735"/>
                  <a:pt x="95250" y="248245"/>
                  <a:pt x="95250" y="228421"/>
                </a:cubicBezTo>
                <a:lnTo>
                  <a:pt x="95250" y="171450"/>
                </a:lnTo>
                <a:lnTo>
                  <a:pt x="114300" y="171450"/>
                </a:lnTo>
                <a:cubicBezTo>
                  <a:pt x="124837" y="171450"/>
                  <a:pt x="133350" y="162937"/>
                  <a:pt x="133350" y="152400"/>
                </a:cubicBezTo>
                <a:cubicBezTo>
                  <a:pt x="133350" y="141863"/>
                  <a:pt x="124837" y="133350"/>
                  <a:pt x="114300" y="133350"/>
                </a:cubicBezTo>
                <a:lnTo>
                  <a:pt x="95250" y="133350"/>
                </a:lnTo>
                <a:lnTo>
                  <a:pt x="95250" y="76379"/>
                </a:lnTo>
                <a:cubicBezTo>
                  <a:pt x="95250" y="56555"/>
                  <a:pt x="110430" y="40065"/>
                  <a:pt x="130195" y="38398"/>
                </a:cubicBezTo>
                <a:lnTo>
                  <a:pt x="134957" y="37981"/>
                </a:lnTo>
                <a:cubicBezTo>
                  <a:pt x="145435" y="37088"/>
                  <a:pt x="153233" y="27920"/>
                  <a:pt x="152340" y="17443"/>
                </a:cubicBezTo>
                <a:cubicBezTo>
                  <a:pt x="151448" y="6965"/>
                  <a:pt x="142280" y="-833"/>
                  <a:pt x="131743" y="60"/>
                </a:cubicBezTo>
                <a:lnTo>
                  <a:pt x="126980" y="476"/>
                </a:lnTo>
                <a:cubicBezTo>
                  <a:pt x="106680" y="2143"/>
                  <a:pt x="88761" y="11728"/>
                  <a:pt x="76140" y="26015"/>
                </a:cubicBezTo>
                <a:cubicBezTo>
                  <a:pt x="63520" y="11728"/>
                  <a:pt x="45660" y="2203"/>
                  <a:pt x="25301" y="476"/>
                </a:cubicBezTo>
                <a:lnTo>
                  <a:pt x="20538" y="60"/>
                </a:lnTo>
                <a:cubicBezTo>
                  <a:pt x="10120" y="-833"/>
                  <a:pt x="953" y="6965"/>
                  <a:pt x="60" y="17443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219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JTextField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603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Single-line text input field. Editable by the user.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2032000"/>
            <a:ext cx="482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15650" y="2222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71450" y="38100"/>
                </a:moveTo>
                <a:cubicBezTo>
                  <a:pt x="171450" y="48637"/>
                  <a:pt x="162937" y="57150"/>
                  <a:pt x="152400" y="57150"/>
                </a:cubicBezTo>
                <a:lnTo>
                  <a:pt x="19050" y="57150"/>
                </a:lnTo>
                <a:cubicBezTo>
                  <a:pt x="8513" y="57150"/>
                  <a:pt x="0" y="48637"/>
                  <a:pt x="0" y="38100"/>
                </a:cubicBezTo>
                <a:cubicBezTo>
                  <a:pt x="0" y="27563"/>
                  <a:pt x="8513" y="19050"/>
                  <a:pt x="19050" y="19050"/>
                </a:cubicBezTo>
                <a:lnTo>
                  <a:pt x="152400" y="19050"/>
                </a:lnTo>
                <a:cubicBezTo>
                  <a:pt x="162937" y="19050"/>
                  <a:pt x="171450" y="27563"/>
                  <a:pt x="171450" y="38100"/>
                </a:cubicBezTo>
                <a:close/>
                <a:moveTo>
                  <a:pt x="171450" y="190500"/>
                </a:moveTo>
                <a:cubicBezTo>
                  <a:pt x="171450" y="201037"/>
                  <a:pt x="162937" y="209550"/>
                  <a:pt x="152400" y="209550"/>
                </a:cubicBezTo>
                <a:lnTo>
                  <a:pt x="19050" y="209550"/>
                </a:lnTo>
                <a:cubicBezTo>
                  <a:pt x="8513" y="209550"/>
                  <a:pt x="0" y="201037"/>
                  <a:pt x="0" y="190500"/>
                </a:cubicBezTo>
                <a:cubicBezTo>
                  <a:pt x="0" y="179963"/>
                  <a:pt x="8513" y="171450"/>
                  <a:pt x="19050" y="171450"/>
                </a:cubicBezTo>
                <a:lnTo>
                  <a:pt x="152400" y="171450"/>
                </a:lnTo>
                <a:cubicBezTo>
                  <a:pt x="162937" y="171450"/>
                  <a:pt x="171450" y="179963"/>
                  <a:pt x="171450" y="190500"/>
                </a:cubicBezTo>
                <a:close/>
                <a:moveTo>
                  <a:pt x="0" y="114300"/>
                </a:moveTo>
                <a:cubicBezTo>
                  <a:pt x="0" y="103763"/>
                  <a:pt x="8513" y="95250"/>
                  <a:pt x="19050" y="95250"/>
                </a:cubicBezTo>
                <a:lnTo>
                  <a:pt x="247650" y="95250"/>
                </a:lnTo>
                <a:cubicBezTo>
                  <a:pt x="258187" y="95250"/>
                  <a:pt x="266700" y="103763"/>
                  <a:pt x="266700" y="114300"/>
                </a:cubicBezTo>
                <a:cubicBezTo>
                  <a:pt x="266700" y="124837"/>
                  <a:pt x="258187" y="133350"/>
                  <a:pt x="247650" y="133350"/>
                </a:cubicBezTo>
                <a:lnTo>
                  <a:pt x="19050" y="133350"/>
                </a:lnTo>
                <a:cubicBezTo>
                  <a:pt x="8513" y="133350"/>
                  <a:pt x="0" y="124837"/>
                  <a:pt x="0" y="114300"/>
                </a:cubicBezTo>
                <a:close/>
                <a:moveTo>
                  <a:pt x="266700" y="266700"/>
                </a:moveTo>
                <a:cubicBezTo>
                  <a:pt x="266700" y="277237"/>
                  <a:pt x="258187" y="285750"/>
                  <a:pt x="2476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cubicBezTo>
                  <a:pt x="0" y="256163"/>
                  <a:pt x="8513" y="247650"/>
                  <a:pt x="19050" y="247650"/>
                </a:cubicBezTo>
                <a:lnTo>
                  <a:pt x="247650" y="247650"/>
                </a:lnTo>
                <a:cubicBezTo>
                  <a:pt x="258187" y="247650"/>
                  <a:pt x="266700" y="256163"/>
                  <a:pt x="266700" y="2667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1328400" y="2197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JTextArea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96600" y="2603500"/>
            <a:ext cx="439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Multi-line text input area. Supports multiple rows of text.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683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28700" y="3873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422400" y="3848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JPasswordField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4254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Masked text input for passwords. Displays dots instead of characters.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683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62650" y="3873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23813"/>
                </a:moveTo>
                <a:cubicBezTo>
                  <a:pt x="76200" y="10656"/>
                  <a:pt x="86856" y="0"/>
                  <a:pt x="100013" y="0"/>
                </a:cubicBezTo>
                <a:cubicBezTo>
                  <a:pt x="113169" y="0"/>
                  <a:pt x="123825" y="10656"/>
                  <a:pt x="123825" y="23813"/>
                </a:cubicBezTo>
                <a:lnTo>
                  <a:pt x="123825" y="112038"/>
                </a:lnTo>
                <a:cubicBezTo>
                  <a:pt x="128885" y="107513"/>
                  <a:pt x="135553" y="104775"/>
                  <a:pt x="142875" y="104775"/>
                </a:cubicBezTo>
                <a:cubicBezTo>
                  <a:pt x="155138" y="104775"/>
                  <a:pt x="165616" y="112514"/>
                  <a:pt x="169664" y="123349"/>
                </a:cubicBezTo>
                <a:cubicBezTo>
                  <a:pt x="174903" y="117812"/>
                  <a:pt x="182285" y="114300"/>
                  <a:pt x="190500" y="114300"/>
                </a:cubicBezTo>
                <a:cubicBezTo>
                  <a:pt x="205561" y="114300"/>
                  <a:pt x="217884" y="125909"/>
                  <a:pt x="219015" y="140672"/>
                </a:cubicBezTo>
                <a:cubicBezTo>
                  <a:pt x="224076" y="136088"/>
                  <a:pt x="230803" y="133350"/>
                  <a:pt x="238125" y="133350"/>
                </a:cubicBezTo>
                <a:cubicBezTo>
                  <a:pt x="253901" y="133350"/>
                  <a:pt x="266700" y="146149"/>
                  <a:pt x="266700" y="161925"/>
                </a:cubicBezTo>
                <a:lnTo>
                  <a:pt x="266700" y="228600"/>
                </a:lnTo>
                <a:cubicBezTo>
                  <a:pt x="266700" y="270689"/>
                  <a:pt x="232589" y="304800"/>
                  <a:pt x="190500" y="304800"/>
                </a:cubicBezTo>
                <a:lnTo>
                  <a:pt x="139720" y="304800"/>
                </a:lnTo>
                <a:cubicBezTo>
                  <a:pt x="136743" y="304800"/>
                  <a:pt x="133826" y="304621"/>
                  <a:pt x="130969" y="304205"/>
                </a:cubicBezTo>
                <a:cubicBezTo>
                  <a:pt x="98048" y="300871"/>
                  <a:pt x="67747" y="283964"/>
                  <a:pt x="47625" y="257175"/>
                </a:cubicBezTo>
                <a:lnTo>
                  <a:pt x="4763" y="200025"/>
                </a:lnTo>
                <a:cubicBezTo>
                  <a:pt x="-3155" y="189488"/>
                  <a:pt x="-1012" y="174605"/>
                  <a:pt x="9525" y="166688"/>
                </a:cubicBezTo>
                <a:cubicBezTo>
                  <a:pt x="20062" y="158770"/>
                  <a:pt x="34945" y="160913"/>
                  <a:pt x="42863" y="171450"/>
                </a:cubicBezTo>
                <a:lnTo>
                  <a:pt x="76200" y="215920"/>
                </a:lnTo>
                <a:lnTo>
                  <a:pt x="76200" y="23813"/>
                </a:lnTo>
                <a:close/>
                <a:moveTo>
                  <a:pt x="142875" y="180975"/>
                </a:moveTo>
                <a:cubicBezTo>
                  <a:pt x="142875" y="175736"/>
                  <a:pt x="138589" y="171450"/>
                  <a:pt x="133350" y="171450"/>
                </a:cubicBezTo>
                <a:cubicBezTo>
                  <a:pt x="128111" y="171450"/>
                  <a:pt x="123825" y="175736"/>
                  <a:pt x="123825" y="180975"/>
                </a:cubicBezTo>
                <a:lnTo>
                  <a:pt x="123825" y="238125"/>
                </a:lnTo>
                <a:cubicBezTo>
                  <a:pt x="123825" y="243364"/>
                  <a:pt x="128111" y="247650"/>
                  <a:pt x="133350" y="247650"/>
                </a:cubicBezTo>
                <a:cubicBezTo>
                  <a:pt x="138589" y="247650"/>
                  <a:pt x="142875" y="243364"/>
                  <a:pt x="142875" y="238125"/>
                </a:cubicBezTo>
                <a:lnTo>
                  <a:pt x="142875" y="180975"/>
                </a:lnTo>
                <a:close/>
                <a:moveTo>
                  <a:pt x="171450" y="171450"/>
                </a:moveTo>
                <a:cubicBezTo>
                  <a:pt x="166211" y="171450"/>
                  <a:pt x="161925" y="175736"/>
                  <a:pt x="161925" y="180975"/>
                </a:cubicBezTo>
                <a:lnTo>
                  <a:pt x="161925" y="238125"/>
                </a:lnTo>
                <a:cubicBezTo>
                  <a:pt x="161925" y="243364"/>
                  <a:pt x="166211" y="247650"/>
                  <a:pt x="171450" y="247650"/>
                </a:cubicBezTo>
                <a:cubicBezTo>
                  <a:pt x="176689" y="247650"/>
                  <a:pt x="180975" y="243364"/>
                  <a:pt x="180975" y="238125"/>
                </a:cubicBezTo>
                <a:lnTo>
                  <a:pt x="180975" y="180975"/>
                </a:lnTo>
                <a:cubicBezTo>
                  <a:pt x="180975" y="175736"/>
                  <a:pt x="176689" y="171450"/>
                  <a:pt x="171450" y="171450"/>
                </a:cubicBezTo>
                <a:close/>
                <a:moveTo>
                  <a:pt x="219075" y="180975"/>
                </a:moveTo>
                <a:cubicBezTo>
                  <a:pt x="219075" y="175736"/>
                  <a:pt x="214789" y="171450"/>
                  <a:pt x="209550" y="171450"/>
                </a:cubicBezTo>
                <a:cubicBezTo>
                  <a:pt x="204311" y="171450"/>
                  <a:pt x="200025" y="175736"/>
                  <a:pt x="200025" y="180975"/>
                </a:cubicBezTo>
                <a:lnTo>
                  <a:pt x="200025" y="238125"/>
                </a:lnTo>
                <a:cubicBezTo>
                  <a:pt x="200025" y="243364"/>
                  <a:pt x="204311" y="247650"/>
                  <a:pt x="209550" y="247650"/>
                </a:cubicBezTo>
                <a:cubicBezTo>
                  <a:pt x="214789" y="247650"/>
                  <a:pt x="219075" y="243364"/>
                  <a:pt x="219075" y="238125"/>
                </a:cubicBezTo>
                <a:lnTo>
                  <a:pt x="219075" y="18097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6375400" y="3848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4254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Clickable button that triggers actions via ActionListener.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683000"/>
            <a:ext cx="482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15650" y="3873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83594" y="126623"/>
                </a:moveTo>
                <a:lnTo>
                  <a:pt x="135969" y="202823"/>
                </a:lnTo>
                <a:cubicBezTo>
                  <a:pt x="133469" y="206812"/>
                  <a:pt x="129183" y="209312"/>
                  <a:pt x="124480" y="209550"/>
                </a:cubicBezTo>
                <a:cubicBezTo>
                  <a:pt x="119777" y="209788"/>
                  <a:pt x="115252" y="207645"/>
                  <a:pt x="112455" y="203835"/>
                </a:cubicBezTo>
                <a:lnTo>
                  <a:pt x="83880" y="165735"/>
                </a:lnTo>
                <a:cubicBezTo>
                  <a:pt x="79117" y="159425"/>
                  <a:pt x="80427" y="150495"/>
                  <a:pt x="86737" y="145733"/>
                </a:cubicBezTo>
                <a:cubicBezTo>
                  <a:pt x="93047" y="140970"/>
                  <a:pt x="101977" y="142280"/>
                  <a:pt x="106740" y="148590"/>
                </a:cubicBezTo>
                <a:lnTo>
                  <a:pt x="122813" y="170021"/>
                </a:lnTo>
                <a:lnTo>
                  <a:pt x="159365" y="111502"/>
                </a:lnTo>
                <a:cubicBezTo>
                  <a:pt x="163532" y="104835"/>
                  <a:pt x="172343" y="102751"/>
                  <a:pt x="179070" y="106978"/>
                </a:cubicBezTo>
                <a:cubicBezTo>
                  <a:pt x="185797" y="111204"/>
                  <a:pt x="187821" y="119955"/>
                  <a:pt x="183594" y="126683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11328400" y="3848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JCheckBox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96600" y="4254500"/>
            <a:ext cx="439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Toggleable on/off selection. Multiple checkboxes can be selected.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334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90600" y="552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95250"/>
                </a:moveTo>
                <a:cubicBezTo>
                  <a:pt x="183942" y="95250"/>
                  <a:pt x="209550" y="120858"/>
                  <a:pt x="209550" y="152400"/>
                </a:cubicBezTo>
                <a:cubicBezTo>
                  <a:pt x="209550" y="183942"/>
                  <a:pt x="183942" y="209550"/>
                  <a:pt x="152400" y="209550"/>
                </a:cubicBezTo>
                <a:cubicBezTo>
                  <a:pt x="120858" y="209550"/>
                  <a:pt x="95250" y="183942"/>
                  <a:pt x="95250" y="152400"/>
                </a:cubicBezTo>
                <a:cubicBezTo>
                  <a:pt x="95250" y="120858"/>
                  <a:pt x="120858" y="95250"/>
                  <a:pt x="152400" y="952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32" name="Text 30"/>
          <p:cNvSpPr/>
          <p:nvPr/>
        </p:nvSpPr>
        <p:spPr>
          <a:xfrm>
            <a:off x="1422400" y="5499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JRadioButton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0600" y="5905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Grouped mutually exclusive selection. Only one can be selected.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0" y="5334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552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813" y="28575"/>
                </a:moveTo>
                <a:cubicBezTo>
                  <a:pt x="15895" y="28575"/>
                  <a:pt x="9525" y="34945"/>
                  <a:pt x="9525" y="42863"/>
                </a:cubicBezTo>
                <a:lnTo>
                  <a:pt x="9525" y="71438"/>
                </a:lnTo>
                <a:cubicBezTo>
                  <a:pt x="9525" y="79355"/>
                  <a:pt x="15895" y="85725"/>
                  <a:pt x="23813" y="85725"/>
                </a:cubicBezTo>
                <a:lnTo>
                  <a:pt x="52388" y="85725"/>
                </a:lnTo>
                <a:cubicBezTo>
                  <a:pt x="60305" y="85725"/>
                  <a:pt x="66675" y="79355"/>
                  <a:pt x="66675" y="71438"/>
                </a:cubicBezTo>
                <a:lnTo>
                  <a:pt x="66675" y="42863"/>
                </a:lnTo>
                <a:cubicBezTo>
                  <a:pt x="66675" y="34945"/>
                  <a:pt x="60305" y="28575"/>
                  <a:pt x="52388" y="28575"/>
                </a:cubicBezTo>
                <a:lnTo>
                  <a:pt x="23813" y="28575"/>
                </a:ln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9525" y="138113"/>
                </a:moveTo>
                <a:lnTo>
                  <a:pt x="9525" y="166688"/>
                </a:lnTo>
                <a:cubicBezTo>
                  <a:pt x="9525" y="174605"/>
                  <a:pt x="15895" y="180975"/>
                  <a:pt x="23813" y="180975"/>
                </a:cubicBezTo>
                <a:lnTo>
                  <a:pt x="52388" y="180975"/>
                </a:lnTo>
                <a:cubicBezTo>
                  <a:pt x="60305" y="180975"/>
                  <a:pt x="66675" y="174605"/>
                  <a:pt x="66675" y="166688"/>
                </a:cubicBezTo>
                <a:lnTo>
                  <a:pt x="66675" y="138113"/>
                </a:lnTo>
                <a:cubicBezTo>
                  <a:pt x="66675" y="130195"/>
                  <a:pt x="60305" y="123825"/>
                  <a:pt x="52388" y="123825"/>
                </a:cubicBezTo>
                <a:lnTo>
                  <a:pt x="23813" y="123825"/>
                </a:lnTo>
                <a:cubicBezTo>
                  <a:pt x="15895" y="123825"/>
                  <a:pt x="9525" y="130195"/>
                  <a:pt x="9525" y="138113"/>
                </a:cubicBezTo>
                <a:close/>
                <a:moveTo>
                  <a:pt x="23813" y="219075"/>
                </a:moveTo>
                <a:cubicBezTo>
                  <a:pt x="15895" y="219075"/>
                  <a:pt x="9525" y="225445"/>
                  <a:pt x="9525" y="233363"/>
                </a:cubicBezTo>
                <a:lnTo>
                  <a:pt x="9525" y="261937"/>
                </a:lnTo>
                <a:cubicBezTo>
                  <a:pt x="9525" y="269855"/>
                  <a:pt x="15895" y="276225"/>
                  <a:pt x="23813" y="276225"/>
                </a:cubicBezTo>
                <a:lnTo>
                  <a:pt x="52388" y="276225"/>
                </a:lnTo>
                <a:cubicBezTo>
                  <a:pt x="60305" y="276225"/>
                  <a:pt x="66675" y="269855"/>
                  <a:pt x="66675" y="261937"/>
                </a:cubicBezTo>
                <a:lnTo>
                  <a:pt x="66675" y="233363"/>
                </a:lnTo>
                <a:cubicBezTo>
                  <a:pt x="66675" y="225445"/>
                  <a:pt x="60305" y="219075"/>
                  <a:pt x="52388" y="219075"/>
                </a:cubicBezTo>
                <a:lnTo>
                  <a:pt x="23813" y="21907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36" name="Text 34"/>
          <p:cNvSpPr/>
          <p:nvPr/>
        </p:nvSpPr>
        <p:spPr>
          <a:xfrm>
            <a:off x="6375400" y="5499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JComboBox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0" y="5905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Dropdown list of options. User selects one item from the list.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668000" y="5334000"/>
            <a:ext cx="482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915650" y="552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57150"/>
                </a:move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57150"/>
                </a:lnTo>
                <a:close/>
                <a:moveTo>
                  <a:pt x="38100" y="57150"/>
                </a:moveTo>
                <a:lnTo>
                  <a:pt x="38100" y="95250"/>
                </a:lnTo>
                <a:lnTo>
                  <a:pt x="76200" y="95250"/>
                </a:lnTo>
                <a:lnTo>
                  <a:pt x="76200" y="57150"/>
                </a:lnTo>
                <a:lnTo>
                  <a:pt x="38100" y="57150"/>
                </a:lnTo>
                <a:close/>
                <a:moveTo>
                  <a:pt x="228600" y="57150"/>
                </a:moveTo>
                <a:lnTo>
                  <a:pt x="114300" y="57150"/>
                </a:lnTo>
                <a:lnTo>
                  <a:pt x="114300" y="95250"/>
                </a:lnTo>
                <a:lnTo>
                  <a:pt x="228600" y="95250"/>
                </a:lnTo>
                <a:lnTo>
                  <a:pt x="228600" y="57150"/>
                </a:lnTo>
                <a:close/>
                <a:moveTo>
                  <a:pt x="38100" y="133350"/>
                </a:moveTo>
                <a:lnTo>
                  <a:pt x="38100" y="171450"/>
                </a:lnTo>
                <a:lnTo>
                  <a:pt x="76200" y="171450"/>
                </a:lnTo>
                <a:lnTo>
                  <a:pt x="76200" y="133350"/>
                </a:lnTo>
                <a:lnTo>
                  <a:pt x="38100" y="133350"/>
                </a:lnTo>
                <a:close/>
                <a:moveTo>
                  <a:pt x="228600" y="133350"/>
                </a:moveTo>
                <a:lnTo>
                  <a:pt x="114300" y="13335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33350"/>
                </a:lnTo>
                <a:close/>
                <a:moveTo>
                  <a:pt x="38100" y="209550"/>
                </a:moveTo>
                <a:lnTo>
                  <a:pt x="38100" y="247650"/>
                </a:lnTo>
                <a:lnTo>
                  <a:pt x="76200" y="247650"/>
                </a:lnTo>
                <a:lnTo>
                  <a:pt x="76200" y="209550"/>
                </a:lnTo>
                <a:lnTo>
                  <a:pt x="38100" y="209550"/>
                </a:lnTo>
                <a:close/>
                <a:moveTo>
                  <a:pt x="228600" y="209550"/>
                </a:moveTo>
                <a:lnTo>
                  <a:pt x="114300" y="209550"/>
                </a:lnTo>
                <a:lnTo>
                  <a:pt x="114300" y="247650"/>
                </a:lnTo>
                <a:lnTo>
                  <a:pt x="228600" y="247650"/>
                </a:lnTo>
                <a:lnTo>
                  <a:pt x="228600" y="2095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40" name="Text 38"/>
          <p:cNvSpPr/>
          <p:nvPr/>
        </p:nvSpPr>
        <p:spPr>
          <a:xfrm>
            <a:off x="11328400" y="5499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JList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96600" y="5905500"/>
            <a:ext cx="439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Scrollable list of items. Supports single or multiple selection.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2000" y="7048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component has common methods: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setText()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setEnabled()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setVisible()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setToolTipText()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generates events when the user interacts with them.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Swing Components — Part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components for building professional-grade desktop applications: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9650" y="2222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95250"/>
                </a:moveTo>
                <a:lnTo>
                  <a:pt x="152400" y="152400"/>
                </a:lnTo>
                <a:lnTo>
                  <a:pt x="228600" y="152400"/>
                </a:lnTo>
                <a:lnTo>
                  <a:pt x="228600" y="95250"/>
                </a:lnTo>
                <a:lnTo>
                  <a:pt x="152400" y="95250"/>
                </a:lnTo>
                <a:close/>
                <a:moveTo>
                  <a:pt x="114300" y="95250"/>
                </a:moveTo>
                <a:lnTo>
                  <a:pt x="38100" y="95250"/>
                </a:lnTo>
                <a:lnTo>
                  <a:pt x="38100" y="152400"/>
                </a:lnTo>
                <a:lnTo>
                  <a:pt x="114300" y="152400"/>
                </a:lnTo>
                <a:lnTo>
                  <a:pt x="114300" y="95250"/>
                </a:lnTo>
                <a:close/>
                <a:moveTo>
                  <a:pt x="0" y="190500"/>
                </a:move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90500"/>
                </a:lnTo>
                <a:close/>
                <a:moveTo>
                  <a:pt x="228600" y="190500"/>
                </a:moveTo>
                <a:lnTo>
                  <a:pt x="152400" y="19050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190500"/>
                </a:lnTo>
                <a:close/>
                <a:moveTo>
                  <a:pt x="114300" y="247650"/>
                </a:moveTo>
                <a:lnTo>
                  <a:pt x="114300" y="190500"/>
                </a:lnTo>
                <a:lnTo>
                  <a:pt x="38100" y="190500"/>
                </a:lnTo>
                <a:lnTo>
                  <a:pt x="38100" y="247650"/>
                </a:lnTo>
                <a:lnTo>
                  <a:pt x="114300" y="2476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19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603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Displays data in rows and columns with editing and sorting support.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032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222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219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603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data display with expandable and collapsible nodes.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2032000"/>
            <a:ext cx="482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96600" y="222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1328400" y="2197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JSlider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96600" y="2603500"/>
            <a:ext cx="439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 value selection via a sliding control within a range.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683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906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9654" y="24646"/>
                </a:moveTo>
                <a:cubicBezTo>
                  <a:pt x="82213" y="17205"/>
                  <a:pt x="70128" y="17205"/>
                  <a:pt x="62686" y="24646"/>
                </a:cubicBezTo>
                <a:lnTo>
                  <a:pt x="5536" y="81796"/>
                </a:lnTo>
                <a:cubicBezTo>
                  <a:pt x="-1905" y="89237"/>
                  <a:pt x="-1905" y="101322"/>
                  <a:pt x="5536" y="108764"/>
                </a:cubicBezTo>
                <a:cubicBezTo>
                  <a:pt x="12978" y="116205"/>
                  <a:pt x="25063" y="116205"/>
                  <a:pt x="32504" y="108764"/>
                </a:cubicBezTo>
                <a:lnTo>
                  <a:pt x="57150" y="84118"/>
                </a:lnTo>
                <a:lnTo>
                  <a:pt x="57150" y="266700"/>
                </a:lnTo>
                <a:cubicBezTo>
                  <a:pt x="57150" y="277237"/>
                  <a:pt x="65663" y="285750"/>
                  <a:pt x="76200" y="285750"/>
                </a:cubicBezTo>
                <a:cubicBezTo>
                  <a:pt x="86737" y="285750"/>
                  <a:pt x="95250" y="277237"/>
                  <a:pt x="95250" y="266700"/>
                </a:cubicBezTo>
                <a:lnTo>
                  <a:pt x="95250" y="84118"/>
                </a:lnTo>
                <a:lnTo>
                  <a:pt x="119896" y="108764"/>
                </a:lnTo>
                <a:cubicBezTo>
                  <a:pt x="127337" y="116205"/>
                  <a:pt x="139422" y="116205"/>
                  <a:pt x="146864" y="108764"/>
                </a:cubicBezTo>
                <a:cubicBezTo>
                  <a:pt x="154305" y="101322"/>
                  <a:pt x="154305" y="89237"/>
                  <a:pt x="146864" y="81796"/>
                </a:cubicBezTo>
                <a:lnTo>
                  <a:pt x="89714" y="24646"/>
                </a:lnTo>
                <a:close/>
                <a:moveTo>
                  <a:pt x="249257" y="22622"/>
                </a:moveTo>
                <a:cubicBezTo>
                  <a:pt x="244316" y="19050"/>
                  <a:pt x="237887" y="18038"/>
                  <a:pt x="232112" y="20003"/>
                </a:cubicBezTo>
                <a:lnTo>
                  <a:pt x="203537" y="29527"/>
                </a:lnTo>
                <a:cubicBezTo>
                  <a:pt x="193536" y="32861"/>
                  <a:pt x="188178" y="43636"/>
                  <a:pt x="191512" y="53638"/>
                </a:cubicBezTo>
                <a:cubicBezTo>
                  <a:pt x="194846" y="63639"/>
                  <a:pt x="205621" y="68997"/>
                  <a:pt x="215622" y="65663"/>
                </a:cubicBezTo>
                <a:lnTo>
                  <a:pt x="219135" y="64472"/>
                </a:lnTo>
                <a:lnTo>
                  <a:pt x="219135" y="95190"/>
                </a:lnTo>
                <a:lnTo>
                  <a:pt x="209610" y="95190"/>
                </a:lnTo>
                <a:cubicBezTo>
                  <a:pt x="199072" y="95190"/>
                  <a:pt x="190560" y="103703"/>
                  <a:pt x="190560" y="114240"/>
                </a:cubicBezTo>
                <a:cubicBezTo>
                  <a:pt x="190560" y="124777"/>
                  <a:pt x="199072" y="133290"/>
                  <a:pt x="209610" y="133290"/>
                </a:cubicBezTo>
                <a:lnTo>
                  <a:pt x="266760" y="133290"/>
                </a:lnTo>
                <a:cubicBezTo>
                  <a:pt x="277297" y="133290"/>
                  <a:pt x="285810" y="124777"/>
                  <a:pt x="285810" y="114240"/>
                </a:cubicBezTo>
                <a:cubicBezTo>
                  <a:pt x="285810" y="103703"/>
                  <a:pt x="277297" y="95190"/>
                  <a:pt x="266760" y="95190"/>
                </a:cubicBezTo>
                <a:lnTo>
                  <a:pt x="257235" y="95190"/>
                </a:lnTo>
                <a:lnTo>
                  <a:pt x="257235" y="38040"/>
                </a:lnTo>
                <a:cubicBezTo>
                  <a:pt x="257235" y="31909"/>
                  <a:pt x="254318" y="26194"/>
                  <a:pt x="249317" y="22562"/>
                </a:cubicBezTo>
                <a:close/>
                <a:moveTo>
                  <a:pt x="217349" y="256342"/>
                </a:moveTo>
                <a:cubicBezTo>
                  <a:pt x="211634" y="265152"/>
                  <a:pt x="214134" y="276939"/>
                  <a:pt x="222945" y="282714"/>
                </a:cubicBezTo>
                <a:cubicBezTo>
                  <a:pt x="231755" y="288488"/>
                  <a:pt x="243542" y="285929"/>
                  <a:pt x="249317" y="277118"/>
                </a:cubicBezTo>
                <a:lnTo>
                  <a:pt x="274380" y="238482"/>
                </a:lnTo>
                <a:cubicBezTo>
                  <a:pt x="281761" y="227052"/>
                  <a:pt x="285750" y="213717"/>
                  <a:pt x="285750" y="200085"/>
                </a:cubicBezTo>
                <a:cubicBezTo>
                  <a:pt x="285750" y="173772"/>
                  <a:pt x="264438" y="152460"/>
                  <a:pt x="238125" y="152460"/>
                </a:cubicBezTo>
                <a:cubicBezTo>
                  <a:pt x="211812" y="152460"/>
                  <a:pt x="190500" y="173772"/>
                  <a:pt x="190500" y="200085"/>
                </a:cubicBezTo>
                <a:cubicBezTo>
                  <a:pt x="190500" y="221575"/>
                  <a:pt x="204728" y="239792"/>
                  <a:pt x="224314" y="245685"/>
                </a:cubicBezTo>
                <a:lnTo>
                  <a:pt x="217349" y="256401"/>
                </a:lnTo>
                <a:close/>
                <a:moveTo>
                  <a:pt x="223838" y="200025"/>
                </a:moveTo>
                <a:cubicBezTo>
                  <a:pt x="223838" y="192140"/>
                  <a:pt x="230240" y="185738"/>
                  <a:pt x="238125" y="185738"/>
                </a:cubicBezTo>
                <a:cubicBezTo>
                  <a:pt x="246010" y="185738"/>
                  <a:pt x="252413" y="192140"/>
                  <a:pt x="252413" y="200025"/>
                </a:cubicBezTo>
                <a:cubicBezTo>
                  <a:pt x="252413" y="207910"/>
                  <a:pt x="246010" y="214313"/>
                  <a:pt x="238125" y="214313"/>
                </a:cubicBezTo>
                <a:cubicBezTo>
                  <a:pt x="230240" y="214313"/>
                  <a:pt x="223838" y="207910"/>
                  <a:pt x="223838" y="2000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422400" y="3848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JSpinner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4254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 or list value selection with up/down arrow buttons.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683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375400" y="3848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JProgressBar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4254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indicator showing task completion percentage.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683000"/>
            <a:ext cx="482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15650" y="3873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57150"/>
                </a:moveTo>
                <a:cubicBezTo>
                  <a:pt x="0" y="46613"/>
                  <a:pt x="8513" y="38100"/>
                  <a:pt x="19050" y="38100"/>
                </a:cubicBezTo>
                <a:lnTo>
                  <a:pt x="247650" y="38100"/>
                </a:lnTo>
                <a:cubicBezTo>
                  <a:pt x="258187" y="38100"/>
                  <a:pt x="266700" y="46613"/>
                  <a:pt x="266700" y="57150"/>
                </a:cubicBezTo>
                <a:cubicBezTo>
                  <a:pt x="266700" y="67687"/>
                  <a:pt x="258187" y="76200"/>
                  <a:pt x="247650" y="76200"/>
                </a:cubicBezTo>
                <a:lnTo>
                  <a:pt x="19050" y="76200"/>
                </a:lnTo>
                <a:cubicBezTo>
                  <a:pt x="8513" y="76200"/>
                  <a:pt x="0" y="67687"/>
                  <a:pt x="0" y="57150"/>
                </a:cubicBezTo>
                <a:close/>
                <a:moveTo>
                  <a:pt x="0" y="152400"/>
                </a:moveTo>
                <a:cubicBezTo>
                  <a:pt x="0" y="141863"/>
                  <a:pt x="8513" y="133350"/>
                  <a:pt x="19050" y="133350"/>
                </a:cubicBezTo>
                <a:lnTo>
                  <a:pt x="247650" y="133350"/>
                </a:lnTo>
                <a:cubicBezTo>
                  <a:pt x="258187" y="133350"/>
                  <a:pt x="266700" y="141863"/>
                  <a:pt x="266700" y="152400"/>
                </a:cubicBezTo>
                <a:cubicBezTo>
                  <a:pt x="266700" y="162937"/>
                  <a:pt x="258187" y="171450"/>
                  <a:pt x="247650" y="171450"/>
                </a:cubicBezTo>
                <a:lnTo>
                  <a:pt x="19050" y="171450"/>
                </a:lnTo>
                <a:cubicBezTo>
                  <a:pt x="8513" y="171450"/>
                  <a:pt x="0" y="162937"/>
                  <a:pt x="0" y="152400"/>
                </a:cubicBezTo>
                <a:close/>
                <a:moveTo>
                  <a:pt x="266700" y="247650"/>
                </a:moveTo>
                <a:cubicBezTo>
                  <a:pt x="266700" y="258187"/>
                  <a:pt x="258187" y="266700"/>
                  <a:pt x="247650" y="266700"/>
                </a:cubicBezTo>
                <a:lnTo>
                  <a:pt x="19050" y="266700"/>
                </a:lnTo>
                <a:cubicBezTo>
                  <a:pt x="8513" y="266700"/>
                  <a:pt x="0" y="258187"/>
                  <a:pt x="0" y="247650"/>
                </a:cubicBezTo>
                <a:cubicBezTo>
                  <a:pt x="0" y="237113"/>
                  <a:pt x="8513" y="228600"/>
                  <a:pt x="19050" y="228600"/>
                </a:cubicBezTo>
                <a:lnTo>
                  <a:pt x="247650" y="228600"/>
                </a:lnTo>
                <a:cubicBezTo>
                  <a:pt x="258187" y="228600"/>
                  <a:pt x="266700" y="237113"/>
                  <a:pt x="266700" y="2476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1328400" y="3848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JMenuBar / JMenu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96600" y="4254500"/>
            <a:ext cx="439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 system for application commands and navigation.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334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71550" y="552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1422400" y="5499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JToolBar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0600" y="5905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Draggable bar containing frequently used action buttons.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0" y="5334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552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285750"/>
                </a:moveTo>
                <a:cubicBezTo>
                  <a:pt x="236577" y="285750"/>
                  <a:pt x="304800" y="221754"/>
                  <a:pt x="304800" y="142875"/>
                </a:cubicBezTo>
                <a:cubicBezTo>
                  <a:pt x="304800" y="63996"/>
                  <a:pt x="236577" y="0"/>
                  <a:pt x="152400" y="0"/>
                </a:cubicBezTo>
                <a:cubicBezTo>
                  <a:pt x="68223" y="0"/>
                  <a:pt x="0" y="63996"/>
                  <a:pt x="0" y="142875"/>
                </a:cubicBezTo>
                <a:cubicBezTo>
                  <a:pt x="0" y="175200"/>
                  <a:pt x="11430" y="204966"/>
                  <a:pt x="30718" y="228898"/>
                </a:cubicBezTo>
                <a:lnTo>
                  <a:pt x="1667" y="283845"/>
                </a:lnTo>
                <a:cubicBezTo>
                  <a:pt x="-1191" y="289203"/>
                  <a:pt x="-298" y="295751"/>
                  <a:pt x="3810" y="300216"/>
                </a:cubicBezTo>
                <a:cubicBezTo>
                  <a:pt x="7918" y="304681"/>
                  <a:pt x="14407" y="306050"/>
                  <a:pt x="19943" y="303669"/>
                </a:cubicBezTo>
                <a:lnTo>
                  <a:pt x="90428" y="273487"/>
                </a:lnTo>
                <a:cubicBezTo>
                  <a:pt x="109359" y="281345"/>
                  <a:pt x="130314" y="285750"/>
                  <a:pt x="152400" y="285750"/>
                </a:cubicBezTo>
                <a:close/>
                <a:moveTo>
                  <a:pt x="76200" y="123825"/>
                </a:moveTo>
                <a:cubicBezTo>
                  <a:pt x="86714" y="123825"/>
                  <a:pt x="95250" y="132361"/>
                  <a:pt x="95250" y="142875"/>
                </a:cubicBezTo>
                <a:cubicBezTo>
                  <a:pt x="95250" y="153389"/>
                  <a:pt x="86714" y="161925"/>
                  <a:pt x="76200" y="161925"/>
                </a:cubicBezTo>
                <a:cubicBezTo>
                  <a:pt x="65686" y="161925"/>
                  <a:pt x="57150" y="153389"/>
                  <a:pt x="57150" y="142875"/>
                </a:cubicBezTo>
                <a:cubicBezTo>
                  <a:pt x="57150" y="132361"/>
                  <a:pt x="65686" y="123825"/>
                  <a:pt x="76200" y="123825"/>
                </a:cubicBezTo>
                <a:close/>
                <a:moveTo>
                  <a:pt x="152400" y="123825"/>
                </a:moveTo>
                <a:cubicBezTo>
                  <a:pt x="162914" y="123825"/>
                  <a:pt x="171450" y="132361"/>
                  <a:pt x="171450" y="142875"/>
                </a:cubicBezTo>
                <a:cubicBezTo>
                  <a:pt x="171450" y="153389"/>
                  <a:pt x="162914" y="161925"/>
                  <a:pt x="152400" y="161925"/>
                </a:cubicBezTo>
                <a:cubicBezTo>
                  <a:pt x="141886" y="161925"/>
                  <a:pt x="133350" y="153389"/>
                  <a:pt x="133350" y="142875"/>
                </a:cubicBezTo>
                <a:cubicBezTo>
                  <a:pt x="133350" y="132361"/>
                  <a:pt x="141886" y="123825"/>
                  <a:pt x="152400" y="123825"/>
                </a:cubicBezTo>
                <a:close/>
                <a:moveTo>
                  <a:pt x="209550" y="142875"/>
                </a:moveTo>
                <a:cubicBezTo>
                  <a:pt x="209550" y="132361"/>
                  <a:pt x="218086" y="123825"/>
                  <a:pt x="228600" y="123825"/>
                </a:cubicBezTo>
                <a:cubicBezTo>
                  <a:pt x="239114" y="123825"/>
                  <a:pt x="247650" y="132361"/>
                  <a:pt x="247650" y="142875"/>
                </a:cubicBezTo>
                <a:cubicBezTo>
                  <a:pt x="247650" y="153389"/>
                  <a:pt x="239114" y="161925"/>
                  <a:pt x="228600" y="161925"/>
                </a:cubicBezTo>
                <a:cubicBezTo>
                  <a:pt x="218086" y="161925"/>
                  <a:pt x="209550" y="153389"/>
                  <a:pt x="209550" y="1428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375400" y="5499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JOptionPane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0" y="5905500"/>
            <a:ext cx="426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dialog boxes: message, confirm, input, and error.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668000" y="5334000"/>
            <a:ext cx="4826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877550" y="552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66675"/>
                </a:moveTo>
                <a:cubicBezTo>
                  <a:pt x="0" y="41970"/>
                  <a:pt x="18812" y="21669"/>
                  <a:pt x="42863" y="19288"/>
                </a:cubicBezTo>
                <a:lnTo>
                  <a:pt x="42863" y="19050"/>
                </a:lnTo>
                <a:lnTo>
                  <a:pt x="209550" y="19050"/>
                </a:lnTo>
                <a:cubicBezTo>
                  <a:pt x="241102" y="19050"/>
                  <a:pt x="266700" y="44648"/>
                  <a:pt x="266700" y="76200"/>
                </a:cubicBezTo>
                <a:lnTo>
                  <a:pt x="266700" y="180975"/>
                </a:lnTo>
                <a:lnTo>
                  <a:pt x="161925" y="180975"/>
                </a:lnTo>
                <a:cubicBezTo>
                  <a:pt x="138232" y="180975"/>
                  <a:pt x="119062" y="200144"/>
                  <a:pt x="119062" y="223838"/>
                </a:cubicBezTo>
                <a:lnTo>
                  <a:pt x="119062" y="259556"/>
                </a:lnTo>
                <a:cubicBezTo>
                  <a:pt x="119062" y="274022"/>
                  <a:pt x="107335" y="285750"/>
                  <a:pt x="92869" y="285750"/>
                </a:cubicBezTo>
                <a:cubicBezTo>
                  <a:pt x="78403" y="285750"/>
                  <a:pt x="66675" y="274022"/>
                  <a:pt x="66675" y="259556"/>
                </a:cubicBezTo>
                <a:lnTo>
                  <a:pt x="66675" y="123825"/>
                </a:lnTo>
                <a:lnTo>
                  <a:pt x="28575" y="123825"/>
                </a:lnTo>
                <a:cubicBezTo>
                  <a:pt x="12799" y="123825"/>
                  <a:pt x="0" y="111026"/>
                  <a:pt x="0" y="95250"/>
                </a:cubicBezTo>
                <a:lnTo>
                  <a:pt x="0" y="66675"/>
                </a:lnTo>
                <a:close/>
                <a:moveTo>
                  <a:pt x="140970" y="285750"/>
                </a:moveTo>
                <a:cubicBezTo>
                  <a:pt x="145197" y="277951"/>
                  <a:pt x="147638" y="269022"/>
                  <a:pt x="147638" y="259556"/>
                </a:cubicBezTo>
                <a:lnTo>
                  <a:pt x="147638" y="223838"/>
                </a:lnTo>
                <a:cubicBezTo>
                  <a:pt x="147638" y="215920"/>
                  <a:pt x="154007" y="209550"/>
                  <a:pt x="161925" y="209550"/>
                </a:cubicBezTo>
                <a:lnTo>
                  <a:pt x="309563" y="209550"/>
                </a:lnTo>
                <a:cubicBezTo>
                  <a:pt x="317480" y="209550"/>
                  <a:pt x="323850" y="215920"/>
                  <a:pt x="323850" y="223838"/>
                </a:cubicBezTo>
                <a:lnTo>
                  <a:pt x="323850" y="238125"/>
                </a:lnTo>
                <a:cubicBezTo>
                  <a:pt x="323850" y="264438"/>
                  <a:pt x="302538" y="285750"/>
                  <a:pt x="276225" y="285750"/>
                </a:cubicBezTo>
                <a:lnTo>
                  <a:pt x="140970" y="285750"/>
                </a:lnTo>
                <a:close/>
                <a:moveTo>
                  <a:pt x="47625" y="47625"/>
                </a:moveTo>
                <a:cubicBezTo>
                  <a:pt x="37088" y="47625"/>
                  <a:pt x="28575" y="56138"/>
                  <a:pt x="28575" y="66675"/>
                </a:cubicBezTo>
                <a:lnTo>
                  <a:pt x="28575" y="95250"/>
                </a:lnTo>
                <a:lnTo>
                  <a:pt x="66675" y="95250"/>
                </a:lnTo>
                <a:lnTo>
                  <a:pt x="66675" y="66675"/>
                </a:lnTo>
                <a:cubicBezTo>
                  <a:pt x="66675" y="56138"/>
                  <a:pt x="58162" y="47625"/>
                  <a:pt x="47625" y="476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11328400" y="5499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JScrollPane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96600" y="5905500"/>
            <a:ext cx="439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Wraps components to add scrollbars when content overflows.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Handling in Swing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Swing uses 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event-driven programming model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When a user interacts with a component, an event object is created and passed to registered listeners.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2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Event-Listener Pattern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4318000" cy="1016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794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Event Source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component (e.g., JButton)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0" y="31750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842000" y="2794000"/>
            <a:ext cx="4318000" cy="1016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5842000" y="2794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Event Object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Carries event info (ActionEvent)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0" y="31750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922000" y="27940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794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Event Listener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the event (ActionListener)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19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Event Listeners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699000"/>
          <a:ext cx="7112000" cy="3302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52932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Listener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Triggered By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ActionListener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 clicks, menu selections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MouseListener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 press, release, click, enter, exit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KeyListener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Keyboard key press, release,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6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WindowListener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open, close, minimize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255000" y="4191000"/>
            <a:ext cx="7239000" cy="3810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18" name="Text 15"/>
          <p:cNvSpPr/>
          <p:nvPr/>
        </p:nvSpPr>
        <p:spPr>
          <a:xfrm>
            <a:off x="8509000" y="4343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CODE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09000" y="4699000"/>
            <a:ext cx="6731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JButton btn =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JButton(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"Click"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Method 1: Anonymous inner class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btn.addActionListener(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ActionListener()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void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actionPerformed(ActionEvent e)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System.out.println(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"Clicked!"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Method 2: Lambda (Java 8+)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btn.addActionListener(e -&gt;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System.out.println(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"Clicked!"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));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16891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689100"/>
            <a:ext cx="3746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Java's primary GUI toolkit — platform-independent and lightweight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875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05500" y="16891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0" y="1689100"/>
            <a:ext cx="3746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Swing components extend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JComponent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clear inheritance hierarchy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8000" y="1587500"/>
            <a:ext cx="4826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58500" y="16891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1689100"/>
            <a:ext cx="3873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Top-level containers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(JFrame) hold intermediate containers (JPanel) which hold components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02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2500" y="34036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3403600"/>
            <a:ext cx="3746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Helper classes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(Dimension, Point, Color, Font) support positioning and styling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0" y="3302000"/>
            <a:ext cx="4699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05500" y="34036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0" y="3403600"/>
            <a:ext cx="3746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creation follows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5-step process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create, configure, create components, add, display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3302000"/>
            <a:ext cx="4826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858500" y="34036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0" y="3403600"/>
            <a:ext cx="3873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Swing provides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components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basic (JButton) to advanced (JTable, JTree)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016500"/>
            <a:ext cx="14732000" cy="14605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1181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" y="51181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handling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follows the Event-Listener pattern: Event Source generates Event Object, which is handled by an Event Listener registered on the source component.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16000" y="330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810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Layouts, Panels &amp; Graphics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4889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window management, organizing components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layout strategies, and creating custom visuals.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684000" y="2286000"/>
            <a:ext cx="4064000" cy="4064000"/>
          </a:xfrm>
          <a:prstGeom prst="ellipse">
            <a:avLst/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46000" y="3048000"/>
            <a:ext cx="2540000" cy="2540000"/>
          </a:xfrm>
          <a:prstGeom prst="ellipse">
            <a:avLst/>
          </a:prstGeom>
          <a:solidFill>
            <a:srgbClr val="FFFFFF">
              <a:alpha val="1961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JFrame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JFrame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primary top-level container for Swing applications. It represents a window with a title bar, border, and control buttons.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22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6416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819400"/>
            <a:ext cx="6858000" cy="1270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9464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JFrame()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Creates invisible frame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JFrame(String title)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Frame with title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3434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Methods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7625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953000"/>
          <a:ext cx="6858000" cy="3175000"/>
        </p:xfrm>
        <a:graphic>
          <a:graphicData uri="http://schemas.openxmlformats.org/drawingml/2006/table">
            <a:tbl>
              <a:tblPr/>
              <a:tblGrid>
                <a:gridCol w="3086100"/>
                <a:gridCol w="3771900"/>
              </a:tblGrid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setTitle(String)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Sets window title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setSize(int w, int 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Sets dimensions in pixels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setLocation(int x, int 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Positions on screen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setVisible(boolean)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Shows or hides frame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setBounds(x,y,w,h)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Location + size combined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setDefaultCloseOperation()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Defines close behavior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128000" y="22225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 Operation Constants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128000" y="26416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2819400"/>
          <a:ext cx="7366000" cy="24765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Constant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Behavior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EXIT_ON_CLOSE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Exits application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DISPOSE_ON_CLOSE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Closes and frees window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HIDE_ON_CLOSE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Hides window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DO_NOTHING_ON_CLOSE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Ignores close 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0" y="5588000"/>
            <a:ext cx="7366000" cy="2794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17" name="Text 13"/>
          <p:cNvSpPr/>
          <p:nvPr/>
        </p:nvSpPr>
        <p:spPr>
          <a:xfrm>
            <a:off x="8382000" y="5740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START EXAMPLE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382000" y="60960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JFrame frame =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JFrame(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"My App"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frame.setSize(600, 400);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frame.setDefaultCloseOperation(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JFrame.EXIT_ON_CLOSE);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frame.setLocationRelativeTo(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frame.setVisible(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 Configuration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Additional JFrame configuration options for controlling window behavior and appearance: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57400"/>
          <a:ext cx="14732000" cy="4699000"/>
        </p:xfrm>
        <a:graphic>
          <a:graphicData uri="http://schemas.openxmlformats.org/drawingml/2006/table">
            <a:tbl>
              <a:tblPr/>
              <a:tblGrid>
                <a:gridCol w="4419600"/>
                <a:gridCol w="5156200"/>
                <a:gridCol w="5156200"/>
              </a:tblGrid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setResizable()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/ 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Allows or prevents resizing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setIconImage()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Image object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Sets title bar icon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setExtendedState()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MAXIMIZED_BOTH, etc.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Controls window state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setAlwaysOnTop()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/ 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Keeps above other windows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setUndecorated()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/ false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Removes title bar, borders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setOpacity()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0.0f to 1.0f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Sets transparency level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toFront() / toBack()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Controls stacking order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70866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2000" y="7086600"/>
            <a:ext cx="76200" cy="1143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1092200" y="7213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2200" y="75438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JFrame uses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BorderLayout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its default layout manager. The content pane is where components are added —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frame.add(component)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Java 5+.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Layout Managers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Layout Manager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determines how components are arranged within a container. Without one, you must manually set positions and sizes — which doesn't adapt to window resizing.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layout managers implement the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LayoutManager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interface.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7940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FlowLayout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3175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Left-to-right flow, wrapping to next line. Default for JPanel.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2667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4635500" y="27940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GridLayout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5500" y="3175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Equal-sized grid cells. Components fill each cell completely.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667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318500" y="27940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BorderLayout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18500" y="3175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EF3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regions: NORTH, SOUTH, EAST, WEST, CENTER. Default for JFrame.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11000" y="2667000"/>
            <a:ext cx="3683000" cy="15240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12001500" y="27940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GridBagLayout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01500" y="3175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grid with constraints. Most powerful but complex.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508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Layout Managers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49276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143500"/>
          <a:ext cx="14732000" cy="2921000"/>
        </p:xfrm>
        <a:graphic>
          <a:graphicData uri="http://schemas.openxmlformats.org/drawingml/2006/table">
            <a:tbl>
              <a:tblPr/>
              <a:tblGrid>
                <a:gridCol w="3683000"/>
                <a:gridCol w="11049000"/>
              </a:tblGrid>
              <a:tr h="49746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Layout Manager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84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CardLayout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Stacks components like cards, shows one at a time. Useful for wizards.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BoxLayout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row or column. Respects component maximum sizes.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4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SpringLayout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Constraint-based positioning with springs between edges.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GroupLayout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Nested groups in horizontal and vertical dimensions. Used by GUI builders.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4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Absolute (null)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layout manager. Manual setBounds(). Not recommended for production.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FlowLayout — Left-to-Right Arrangement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FlowLayout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simplest layout manager — it arranges components in a left-to-right flow, like text in a paragraph. When a row is full, it wraps to the next line. It's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layout for JPanel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051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895600"/>
            <a:ext cx="6858000" cy="1651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0226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FlowLayout()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CENTER, 5px gaps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FlowLayout(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align)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Custom alignment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FlowLayout(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align,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hgap,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vgap)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00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Alignment Options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2197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97500"/>
          <a:ext cx="6858000" cy="16510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Constant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FlowLayout.LEFT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Left-aligned in each row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FlowLayout.CENTER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Centered (default)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FlowLayout.RIGHT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Right-aligned in each row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128000" y="2286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128000" y="27051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2"/>
          <p:cNvSpPr/>
          <p:nvPr/>
        </p:nvSpPr>
        <p:spPr>
          <a:xfrm>
            <a:off x="8128000" y="2895600"/>
            <a:ext cx="7366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18500" y="2984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3365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2000" y="3365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Btn 1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525000" y="3365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25000" y="3365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Btn 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668000" y="3365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68000" y="3365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Btn 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82000" y="4000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82000" y="4000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Btn 4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25000" y="40005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25000" y="4000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Btn 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82000" y="45720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Left to right flow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Wraps when row is full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128000" y="5715000"/>
            <a:ext cx="7366000" cy="133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28000" y="5715000"/>
            <a:ext cx="76200" cy="133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7"/>
          <p:cNvSpPr/>
          <p:nvPr/>
        </p:nvSpPr>
        <p:spPr>
          <a:xfrm>
            <a:off x="8458200" y="581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458200" y="6146800"/>
            <a:ext cx="680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Toolbars, button groups, and situations where components should flow naturally like text.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GridLayout — Equal Cell Grid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GridLayout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divides the container into a specified number of rows and columns, creating equal-sized cells. Each component fills its entire cell. Components are added row by row.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051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895600"/>
            <a:ext cx="6858000" cy="1270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0226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GridLayout(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rows,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GridLayout(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rows,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cols,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hgap,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vgap)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419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8387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5016500"/>
            <a:ext cx="685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cells have identical width and height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Components added left-to-right, top-to-bottom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Specify 0 for rows to auto-calculate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Ignores component preferred sizes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Forces equal sizing for all components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0" y="2286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Visual: GridLayout(3, 3)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28000" y="27051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8000" y="2895600"/>
            <a:ext cx="7366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8500" y="2984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ROWS x 3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365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0" y="3365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3365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68000" y="3365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954000" y="3365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54000" y="3365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4381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2000" y="4381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4381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68000" y="4381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954000" y="4381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54000" y="4381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5397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2000" y="5397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668000" y="5397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68000" y="5397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954000" y="5397500"/>
            <a:ext cx="2159000" cy="88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954000" y="5397500"/>
            <a:ext cx="215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7366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2000" y="7366000"/>
            <a:ext cx="762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1092200" y="7467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2200" y="7797800"/>
            <a:ext cx="140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Calculator keypads, forms with uniform fields, game boards, any interface needing a regular grid pattern.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BorderLayout — Five-Region Division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BorderLayout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divides the container into five distinct regions. It's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layout for JFrame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JDialog. Each region holds only one component.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 &amp; Usage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051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895600"/>
            <a:ext cx="6858000" cy="1524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0226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BorderLayout()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No gaps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BorderLayout(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hgap,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vgap)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frame.add(component, BorderLayout.NORTH);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673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 Constants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0927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6858000" cy="2667000"/>
        </p:xfrm>
        <a:graphic>
          <a:graphicData uri="http://schemas.openxmlformats.org/drawingml/2006/table">
            <a:tbl>
              <a:tblPr/>
              <a:tblGrid>
                <a:gridCol w="2400300"/>
                <a:gridCol w="44577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Behavior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Top, full width, preferred height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Bottom, full width, preferred height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Right side, preferred width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Left side, preferred width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remaining space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128000" y="2286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128000" y="27051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2"/>
          <p:cNvSpPr/>
          <p:nvPr/>
        </p:nvSpPr>
        <p:spPr>
          <a:xfrm>
            <a:off x="8128000" y="2895600"/>
            <a:ext cx="7366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82000" y="3048000"/>
            <a:ext cx="6858000" cy="571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82000" y="3048000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2000" y="3746500"/>
            <a:ext cx="1270000" cy="215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82000" y="3746500"/>
            <a:ext cx="1270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779000" y="3746500"/>
            <a:ext cx="4064000" cy="2159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21" name="Text 18"/>
          <p:cNvSpPr/>
          <p:nvPr/>
        </p:nvSpPr>
        <p:spPr>
          <a:xfrm>
            <a:off x="9779000" y="3746500"/>
            <a:ext cx="4064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(gets all remaining space)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3970000" y="3746500"/>
            <a:ext cx="1270000" cy="2159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970000" y="3746500"/>
            <a:ext cx="12700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82000" y="6032500"/>
            <a:ext cx="6858000" cy="571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82000" y="6032500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SOUTH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128000" y="7086600"/>
            <a:ext cx="7366000" cy="133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28000" y="7086600"/>
            <a:ext cx="76200" cy="133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8458200" y="7188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458200" y="7518400"/>
            <a:ext cx="6807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application windows with header, footer, sidebar, and central content area.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Layout Managers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810000"/>
        </p:xfrm>
        <a:graphic>
          <a:graphicData uri="http://schemas.openxmlformats.org/drawingml/2006/table">
            <a:tbl>
              <a:tblPr/>
              <a:tblGrid>
                <a:gridCol w="2651760"/>
                <a:gridCol w="4124960"/>
                <a:gridCol w="4124960"/>
                <a:gridCol w="3830320"/>
              </a:tblGrid>
              <a:tr h="52986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FlowLayout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GridLayout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BorderLayout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2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Arrangement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Left-to-right, wraps to next 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 grid cells (rows x cols)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Five regions (N, S, E, W, C)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preferred 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Forces equal sizes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CENTER expands on resize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2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Simple, natural flow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Predictable grid 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Clear region 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00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Unpredictable on resize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Inflexible for varying sizes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 to 5 regions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651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the Right Layout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6096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6350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64770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FlowLayout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90600" y="6858000"/>
            <a:ext cx="4241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button groups, toolbars, and simple component flows where natural wrapping is desired.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6350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64770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GridLayout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0" y="6858000"/>
            <a:ext cx="4241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equal-sized elements like calculator keypads, game boards, and uniform form fields.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668000" y="6350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5" name="Text 12"/>
          <p:cNvSpPr/>
          <p:nvPr/>
        </p:nvSpPr>
        <p:spPr>
          <a:xfrm>
            <a:off x="10896600" y="6477000"/>
            <a:ext cx="4368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BorderLayout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896600" y="6858000"/>
            <a:ext cx="436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main window organization with header, footer, sidebar, and central content areas.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Panels in a Frame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GUIs require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combining multiple panels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each with its own layout manager. This approach creates maintainable, well-organized interfaces.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60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6797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857500"/>
            <a:ext cx="685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separate JPanel instances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a layout for each panel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components to their panels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panels to the main frame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016500"/>
            <a:ext cx="6858000" cy="31115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143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54864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JPanel toolbar = 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JPanel();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toolbar.setLayout(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FlowLayout());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toolbar.add(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JButton(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"Save"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JPanel main = 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JPanel();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main.setLayout(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BorderLayout());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main.add(toolbar, BorderLayout.NORTH);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0" y="22606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Structure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28000" y="26797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8000" y="2857500"/>
            <a:ext cx="7366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3048000"/>
            <a:ext cx="6858000" cy="571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2000" y="3048000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 Panel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(FlowLayout) — Toolbar buttons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746500"/>
            <a:ext cx="1524000" cy="1524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0" y="37465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WEST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(GridLayout)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33000" y="3746500"/>
            <a:ext cx="3937000" cy="1524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3000" y="3746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 Panel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(BorderLayout)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Content Area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097000" y="3746500"/>
            <a:ext cx="1143000" cy="1016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97000" y="3746500"/>
            <a:ext cx="114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6032500"/>
            <a:ext cx="6858000" cy="571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2000" y="6032500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SOUTH Panel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(FlowLayout) — Status bar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JPanel and Graphics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JPanel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most versatile Swing container — a blank canvas for organizing components or creating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 drawings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Override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paintComponent()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custom graphics.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JPanel Key Features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051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8956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Lightweight container with transparent background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have its own layout manager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Supports custom painting via paintComponent()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have borders (line, titled, etched, beveled)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143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 Methods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55626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40400"/>
          <a:ext cx="6858000" cy="2476500"/>
        </p:xfrm>
        <a:graphic>
          <a:graphicData uri="http://schemas.openxmlformats.org/drawingml/2006/table">
            <a:tbl>
              <a:tblPr/>
              <a:tblGrid>
                <a:gridCol w="3086100"/>
                <a:gridCol w="3771900"/>
              </a:tblGrid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drawLine(x1,y1,x2,y2)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Draws a 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drawRect(x,y,w,h)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Draws a rectangle outline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fillRect(x,y,w,h)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Fills a rectangle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drawOval(x,y,w,h)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Draws an oval/circle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drawString(text,x,y)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Draws text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78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setColor(Color)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Sets drawing color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8128000" y="2286000"/>
            <a:ext cx="7366000" cy="6096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13" name="Text 10"/>
          <p:cNvSpPr/>
          <p:nvPr/>
        </p:nvSpPr>
        <p:spPr>
          <a:xfrm>
            <a:off x="8382000" y="2438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PANEL EXAMPLE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2000" y="2794000"/>
            <a:ext cx="6858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class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MyPanel 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extends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JPanel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@Override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 void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paintComponent(Graphics g) {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</a:t>
            </a:r>
            <a:pPr>
              <a:lnSpc>
                <a:spcPct val="170000"/>
              </a:lnSpc>
            </a:pPr>
            <a:r>
              <a:rPr lang="en-US" sz="13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.paintComponent(g);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Set color and draw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g.setColor(Color.BLUE);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g.fillRect(50, 50, 100, 80);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g.setColor(Color.RED);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g.drawOval(200, 50, 80, 80);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g.setColor(Color.BLACK);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g.drawString(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"Hello!"</a:t>
            </a:r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150, 200);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Drawing with Graphics2D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Graphics2D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enhanced subclass of Graphics providing advanced 2D rendering capabilities. Cast the Graphics parameter to access these features.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Graphics2D g2d = (Graphics2D) g;   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Cast to access advanced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238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Features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3657600"/>
            <a:ext cx="7112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873500"/>
            <a:ext cx="7112000" cy="69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3873500"/>
            <a:ext cx="6654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Anti-aliasing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Smoother edges with setRenderingHint()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7112000" cy="69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4699000"/>
            <a:ext cx="6654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Shapes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GeneralPath, Arc2D, Ellipse2D, Rectangle2D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524500"/>
            <a:ext cx="7112000" cy="69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" y="5524500"/>
            <a:ext cx="6654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Fills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GradientPaint for smooth color transitions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350000"/>
            <a:ext cx="7112000" cy="69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6350000"/>
            <a:ext cx="6654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Stroke &amp; Transparency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Custom line styles and AlphaComposite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238500"/>
            <a:ext cx="7112000" cy="5334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3390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GRAPHICS2D EXAMPLE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3746500"/>
            <a:ext cx="6604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 void</a:t>
            </a:r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paintComponent(Graphics g) {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</a:t>
            </a:r>
            <a:pPr>
              <a:lnSpc>
                <a:spcPct val="165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</a:t>
            </a:r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.paintComponent(g);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Graphics2D g2d = (Graphics2D) g;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</a:t>
            </a:r>
            <a:pPr>
              <a:lnSpc>
                <a:spcPct val="165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Enable anti-aliasing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g2d.setRenderingHint(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RenderingHints.KEY_ANTIALIASING,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RenderingHints.VALUE_ANTIALIAS_ON);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</a:t>
            </a:r>
            <a:pPr>
              <a:lnSpc>
                <a:spcPct val="165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Draw with gradient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GradientPaint gp = </a:t>
            </a:r>
            <a:pPr>
              <a:lnSpc>
                <a:spcPct val="165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GradientPaint(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0, 0, Color.BLUE, 200, 200, Color.RED);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g2d.setPaint(gp);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g2d.fill(</a:t>
            </a:r>
            <a:pPr>
              <a:lnSpc>
                <a:spcPct val="165000"/>
              </a:lnSpc>
            </a:pPr>
            <a:r>
              <a:rPr lang="en-US" sz="12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Rectangle2D.Float(50,50,150,150));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2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Color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java.awt.Color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represents colors using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RGB (Red, Green, Blue)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color model. Each component ranges from 0 to 255, giving over 16 million possible colors.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7051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895600"/>
            <a:ext cx="6858000" cy="1651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0226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Color(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b)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RGB 0-255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Color(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a)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+ alpha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Color.getHSBColor(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s,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00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Usage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219700"/>
            <a:ext cx="6858000" cy="25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5397500"/>
            <a:ext cx="6858000" cy="15240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5524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btn.setBackground(Color.BLUE);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btn.setForeground(Color.WHITE);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g.setColor(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Color(128, 64, 200));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2286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Predefined Color Constants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28000" y="27051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5000" y="2895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55000" y="3454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61500" y="2895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00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9461500" y="3454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2895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0000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0" y="3454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74500" y="2895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874500" y="3454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081000" y="2895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81000" y="3454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287500" y="2895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FFFF00"/>
          </a:solidFill>
          <a:ln/>
        </p:spPr>
      </p:sp>
      <p:sp>
        <p:nvSpPr>
          <p:cNvPr id="27" name="Text 25"/>
          <p:cNvSpPr/>
          <p:nvPr/>
        </p:nvSpPr>
        <p:spPr>
          <a:xfrm>
            <a:off x="14287500" y="3454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YELLOW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55000" y="3911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00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55000" y="4470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CYAN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61500" y="3911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FF00FF"/>
          </a:solidFill>
          <a:ln/>
        </p:spPr>
      </p:sp>
      <p:sp>
        <p:nvSpPr>
          <p:cNvPr id="31" name="Text 29"/>
          <p:cNvSpPr/>
          <p:nvPr/>
        </p:nvSpPr>
        <p:spPr>
          <a:xfrm>
            <a:off x="9461500" y="4470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MAGENTA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668000" y="3911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0" y="4470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ORANGE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874500" y="3911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FFC0CB"/>
          </a:solidFill>
          <a:ln/>
        </p:spPr>
      </p:sp>
      <p:sp>
        <p:nvSpPr>
          <p:cNvPr id="35" name="Text 33"/>
          <p:cNvSpPr/>
          <p:nvPr/>
        </p:nvSpPr>
        <p:spPr>
          <a:xfrm>
            <a:off x="11874500" y="4470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PINK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081000" y="39116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808080"/>
          </a:solidFill>
          <a:ln/>
        </p:spPr>
      </p:sp>
      <p:sp>
        <p:nvSpPr>
          <p:cNvPr id="37" name="Text 35"/>
          <p:cNvSpPr/>
          <p:nvPr/>
        </p:nvSpPr>
        <p:spPr>
          <a:xfrm>
            <a:off x="13081000" y="4470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224000" y="3911600"/>
            <a:ext cx="1143000" cy="508000"/>
          </a:xfrm>
          <a:prstGeom prst="roundRect">
            <a:avLst>
              <a:gd name="adj" fmla="val 8000"/>
            </a:avLst>
          </a:prstGeom>
          <a:solidFill>
            <a:srgbClr val="404040"/>
          </a:solidFill>
          <a:ln/>
        </p:spPr>
      </p:sp>
      <p:sp>
        <p:nvSpPr>
          <p:cNvPr id="39" name="Text 37"/>
          <p:cNvSpPr/>
          <p:nvPr/>
        </p:nvSpPr>
        <p:spPr>
          <a:xfrm>
            <a:off x="14224000" y="4470400"/>
            <a:ext cx="11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DARK_GRAY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28000" y="5080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RGB Color Model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128000" y="5499100"/>
            <a:ext cx="7366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8128000" y="5689600"/>
            <a:ext cx="736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RGB value ranges from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 to 255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(0, 0, 0) = Black   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(255, 255, 255) = White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256 x 256 x 256 =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16,777,216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possible colors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Example: Calculator GUI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calculator GUI using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GridLayout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buttons and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BorderLayout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overall structure: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7874000" cy="6413500"/>
          </a:xfrm>
          <a:prstGeom prst="roundRect">
            <a:avLst>
              <a:gd name="adj" fmla="val 6000"/>
            </a:avLst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84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CALCULATOR GUI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7366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class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Calculator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static void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main(String[] args)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JFrame f =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JFrame(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"Calc"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f.setDefaultCloseOperation(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  JFrame.EXIT_ON_CLOSE);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JTextField disp =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JTextField();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disp.setEditable(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JPanel p =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JPanel();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p.setLayout(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GridLayout(4,4,5,5));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String[] lbls = {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"7","8","9","/",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  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"4","5","6","*",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  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"1","2","3","-",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  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"0",".","=","+"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(String l : lbls)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  p.add(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JButton(l));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f.add(disp, BorderLayout.NORTH);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f.add(p, BorderLayout.CENTER);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f.setSize(300, 400);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  f.setVisible(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2032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Preview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0" y="2451100"/>
            <a:ext cx="6350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9652000" y="2794000"/>
            <a:ext cx="4826000" cy="520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906000" y="3048000"/>
            <a:ext cx="4318000" cy="63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0" y="3048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0   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06000" y="3937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0" y="3937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023600" y="3937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23600" y="3937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41200" y="3937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41200" y="3937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258800" y="3937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0" y="3937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06000" y="4826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4826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023600" y="4826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23600" y="4826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41200" y="4826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41200" y="4826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258800" y="4826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13258800" y="4826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06000" y="5715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06000" y="5715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023600" y="5715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23600" y="5715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141200" y="5715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41200" y="5715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258800" y="5715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13258800" y="5715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06000" y="6604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6000" y="6604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23600" y="6604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23600" y="6604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141200" y="6604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43" name="Text 41"/>
          <p:cNvSpPr/>
          <p:nvPr/>
        </p:nvSpPr>
        <p:spPr>
          <a:xfrm>
            <a:off x="12141200" y="6604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3258800" y="6604000"/>
            <a:ext cx="9652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13258800" y="6604000"/>
            <a:ext cx="9652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in GUI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1689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1689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Layout Managers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095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use absolute positioning (null layout) for production applications.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587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05500" y="1689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3500" y="1689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 Panels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05500" y="2095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multiple JPanel instances with different layouts for complex designs.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5875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58500" y="1689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66500" y="1689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Safety (EDT)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58500" y="2095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modify Swing components on the Event Dispatch Thread.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111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2500" y="3213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3213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Spacing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3619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appropriate gaps and insets for visual breathing room between elements.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3111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05500" y="3213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3500" y="3213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05500" y="3619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your GUI at different window sizes to ensure proper layout behavior.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31115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858500" y="3213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366500" y="3213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Meaningful Labels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58500" y="3619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clear, descriptive text for buttons and input fields.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4635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52500" y="4737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0500" y="473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Feedback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2500" y="5143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clear indication of interactive elements and their state.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5000" y="4635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05500" y="4737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3500" y="473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05500" y="5143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JOptionPane for user-friendly error and confirmation dialogs.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668000" y="46355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858500" y="47371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66500" y="47371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858500" y="5143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UI code separate from business logic for maintainability.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6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524000"/>
            <a:ext cx="76200" cy="635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006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Using Swing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514600"/>
            <a:ext cx="6477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GUI fundamentals and concepts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Swing toolkit overview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Swing vs AWT differences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Component hierarchy (JComponent)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Container classes (JFrame, JPanel)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GUI helper classes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Creating components step-by-step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Common Swing components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Event handling with listeners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1524000"/>
            <a:ext cx="7366000" cy="6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28000" y="1524000"/>
            <a:ext cx="76200" cy="635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432800" y="1676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32800" y="20066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Layouts, Panels &amp; Graphics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2800" y="2514600"/>
            <a:ext cx="6731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JFrame configuration and methods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Layout manager introduction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FlowLayout, GridLayout, BorderLayout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Comparing layout managers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panels in a frame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JPanel and custom graphics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Drawing with Graphics2D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Color class and RGB model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Practical calculator example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GUI design best practices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3302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2286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368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Computer Programming — Week 7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Graphical User Interface (GUI) with Java Swing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5080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building GUIs with Java Swing to reinforce your understanding.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week: Advanced Swing topics and event-driven programming patterns.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A3D4A"/>
          </a:solidFill>
          <a:ln/>
        </p:spPr>
      </p:sp>
      <p:sp>
        <p:nvSpPr>
          <p:cNvPr id="7" name="Text 5"/>
          <p:cNvSpPr/>
          <p:nvPr/>
        </p:nvSpPr>
        <p:spPr>
          <a:xfrm>
            <a:off x="5588000" y="8813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13 &amp; 14 | Week 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Week 7: GUI with Java Swing</dc:title>
  <dc:subject>Advanced Computer Programming - Week 7: GUI with Java Swing</dc:subject>
  <dc:creator>Kimi</dc:creator>
  <cp:lastModifiedBy>Kimi</cp:lastModifiedBy>
  <cp:revision>1</cp:revision>
  <dcterms:created xsi:type="dcterms:W3CDTF">2026-05-25T17:20:59Z</dcterms:created>
  <dcterms:modified xsi:type="dcterms:W3CDTF">2026-05-25T17:20:59Z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Week 7: GUI with Java Swing","ContentProducer":"001191110108MACG2KBH8F10000","ProduceID":"19e60140-0922-8db6-8000-0000ca22f862","ReservedCode1":"","ContentPropagator":"001191110108MACG2KBH8F20000","PropagateID":"19e60140-0922-8db6-8000-0000ca22f862","ReservedCode2":""}</vt:lpwstr>
  </property>
</Properties>
</file>