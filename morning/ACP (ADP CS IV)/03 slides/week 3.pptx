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1270000"/>
            <a:ext cx="1270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spc="800" kern="0" dirty="0">
                <a:solidFill>
                  <a:srgbClr val="FFFFFF">
                    <a:alpha val="4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8000" y="457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6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0" y="5334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 Input, Data Types, Operators &amp; Object-Oriented Foundations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6477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5 &amp; Lecture 6 | Java Programming Fundamentals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0F2E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52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159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048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3020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lectures covering input handling, data types, operators, and object-oriented programming basics.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0" y="1524000"/>
            <a:ext cx="91440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7000" y="1778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0" y="2730500"/>
            <a:ext cx="838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0" y="32385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 Input with Scanner &amp; JOptionPane | Identifiers &amp; Constants | Primitive Data Types | Java Operators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0" y="5080000"/>
            <a:ext cx="91440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77000" y="5334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6286500"/>
            <a:ext cx="838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0" y="67945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Shorthand Operators | Type Casting | String Type | Classes &amp; Objects | Constructors | Reference Variables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223000" y="279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5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93000" y="3302000"/>
            <a:ext cx="127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3556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Console Input, Data Types &amp; Operators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83000" y="4572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foundation for Java program construction — from reading user input to performing calculations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6096000"/>
            <a:ext cx="254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Console Input with Scanner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6858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Scanner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(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java.util.Scanner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reads input from the console.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 create a Scanner: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Scanner input = new Scanner(System.in);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methods: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nextInt()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reads an integer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nextDouble()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reads a decimal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next()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reads a word (token)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nextLine()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reads an entire line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close: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input.close();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1524000"/>
            <a:ext cx="7366000" cy="4445000"/>
          </a:xfrm>
          <a:prstGeom prst="roundRect">
            <a:avLst>
              <a:gd name="adj" fmla="val 5000"/>
            </a:avLst>
          </a:prstGeom>
          <a:solidFill>
            <a:srgbClr val="1A2528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0" y="1524000"/>
            <a:ext cx="7366000" cy="457200"/>
          </a:xfrm>
          <a:prstGeom prst="roundRect">
            <a:avLst>
              <a:gd name="adj" fmla="val 5000"/>
            </a:avLst>
          </a:prstGeom>
          <a:solidFill>
            <a:srgbClr val="11181A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5748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5F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BD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7C9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0" y="15748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ScannerExample.java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133600"/>
            <a:ext cx="6858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java.util.Scanner;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ScannerExample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static 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main(String[] args)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Scanner input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Scanner(System.in);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System.out.print(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"Enter age: 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age = input.nextInt();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System.out.print(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"Enter salary: 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salary = input.nextDouble();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input.close();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" y="647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93800" y="64135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nextLine()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numeric input to consume the leftover newline character, preventing input skipping issues.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Scanner Methods 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572000"/>
        </p:xfrm>
        <a:graphic>
          <a:graphicData uri="http://schemas.openxmlformats.org/drawingml/2006/table">
            <a:tbl>
              <a:tblPr/>
              <a:tblGrid>
                <a:gridCol w="4124960"/>
                <a:gridCol w="3241040"/>
                <a:gridCol w="73660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nextByte()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byte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Reads a byte value from the input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nextShort()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Reads a short integer 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nextInt()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Reads an integer value — most commonly used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nextLong()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Reads a long integer 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nextFloat()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Reads a single-precision floating-point 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nextDouble()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Reads a double-precision floating-point 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next() / nextLine()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Reads a token (next) or entire line (nextLine)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47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1193800" y="6451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Pitfall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9215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nextInt()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nextLine()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causes input skipping because nextInt() does not consume the newline character. After calling nextInt(), call an extra nextLine() to clear the buffer before reading string input.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 num = input.nextInt(); input.nextLine(); String text = input.nextLine();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Text 7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Input with JOptionPane Dialogs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685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JOptionPane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javax.swing.JOptionPane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provides GUI-based input dialogs for user-friendly data entry.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 an input dialog: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input = JOptionPane.showInputDialog("Enter a value:");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method always returns a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Parse it to numeric types: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value = Integer.parseInt(input);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 value = Double.parseDouble(input);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GUI programs, terminate with: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System.exit(0);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1524000"/>
            <a:ext cx="7366000" cy="3556000"/>
          </a:xfrm>
          <a:prstGeom prst="roundRect">
            <a:avLst>
              <a:gd name="adj" fmla="val 5000"/>
            </a:avLst>
          </a:prstGeom>
          <a:solidFill>
            <a:srgbClr val="1A2528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0" y="1524000"/>
            <a:ext cx="7366000" cy="457200"/>
          </a:xfrm>
          <a:prstGeom prst="roundRect">
            <a:avLst>
              <a:gd name="adj" fmla="val 5000"/>
            </a:avLst>
          </a:prstGeom>
          <a:solidFill>
            <a:srgbClr val="11181A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5748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5F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BD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7C9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0" y="15748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JOptionPaneExample.java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1336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javax.swing.JOptionPane;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DialogExample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static 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main(String[] args)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s = JOptionPane.showInputDialog(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"Enter radius:"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 = Double.parseDouble(s);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area = r * r * Math.PI;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JOptionPane.showMessageDialog(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null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"Area: 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area);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0" y="5461000"/>
            <a:ext cx="7366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2000" y="5588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Scanner vs JOptionPane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5969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Scanner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Console-based, requires System.in, good for command-line apps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JOptionPane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GUI dialog boxes, user-friendly, good for desktop apps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 Rules — Identifiers in Java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Identifier Rules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 start with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letter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$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or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_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Subsequent chars: letters, digits,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$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_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start with a digit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be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reserved keyword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Case-sensitive: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different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length limit, but keep names clear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 Conventions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28000" y="1968500"/>
            <a:ext cx="7366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0" y="20955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camelCase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variables &amp; methods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studentAge, calculateTotal()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PascalCase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class names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Student, Circle, BankAccount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UPPER_SNAKE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constants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MAX_VALUE, PI, TAX_RATE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20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vs Invalid Examples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71500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462" y="58674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1422400" y="58420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62484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$salary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_count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studentName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MAX_SIZE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calculateArea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5715000"/>
            <a:ext cx="7366000" cy="1270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6925" y="58674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30068" y="40055"/>
                </a:moveTo>
                <a:cubicBezTo>
                  <a:pt x="23247" y="33233"/>
                  <a:pt x="12169" y="33233"/>
                  <a:pt x="5348" y="40055"/>
                </a:cubicBezTo>
                <a:cubicBezTo>
                  <a:pt x="-1473" y="46876"/>
                  <a:pt x="-1473" y="57954"/>
                  <a:pt x="5348" y="64775"/>
                </a:cubicBezTo>
                <a:lnTo>
                  <a:pt x="80328" y="139700"/>
                </a:lnTo>
                <a:lnTo>
                  <a:pt x="5402" y="214680"/>
                </a:lnTo>
                <a:cubicBezTo>
                  <a:pt x="-1419" y="221501"/>
                  <a:pt x="-1419" y="232579"/>
                  <a:pt x="5402" y="239400"/>
                </a:cubicBezTo>
                <a:cubicBezTo>
                  <a:pt x="12224" y="246221"/>
                  <a:pt x="23302" y="246221"/>
                  <a:pt x="30123" y="239400"/>
                </a:cubicBezTo>
                <a:lnTo>
                  <a:pt x="105048" y="164420"/>
                </a:lnTo>
                <a:lnTo>
                  <a:pt x="180027" y="239345"/>
                </a:lnTo>
                <a:cubicBezTo>
                  <a:pt x="186849" y="246167"/>
                  <a:pt x="197927" y="246167"/>
                  <a:pt x="204748" y="239345"/>
                </a:cubicBezTo>
                <a:cubicBezTo>
                  <a:pt x="211569" y="232524"/>
                  <a:pt x="211569" y="221446"/>
                  <a:pt x="204748" y="214625"/>
                </a:cubicBezTo>
                <a:lnTo>
                  <a:pt x="129768" y="139700"/>
                </a:lnTo>
                <a:lnTo>
                  <a:pt x="204693" y="64720"/>
                </a:lnTo>
                <a:cubicBezTo>
                  <a:pt x="211515" y="57899"/>
                  <a:pt x="211515" y="46821"/>
                  <a:pt x="204693" y="40000"/>
                </a:cubicBezTo>
                <a:cubicBezTo>
                  <a:pt x="197872" y="33179"/>
                  <a:pt x="186794" y="33179"/>
                  <a:pt x="179973" y="40000"/>
                </a:cubicBezTo>
                <a:lnTo>
                  <a:pt x="105048" y="114980"/>
                </a:lnTo>
                <a:lnTo>
                  <a:pt x="30068" y="40055"/>
                </a:lnTo>
                <a:close/>
              </a:path>
            </a:pathLst>
          </a:cu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8788400" y="58420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62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62484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2ndValue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(starts with digit),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(keyword),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my-variable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(hyphen)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7366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meaningful names.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studentAge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better than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Good names make code self-documenting and easier to maintain.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Storing Permanent Data with Constants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constant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stores a value that never changes during program execution. Declare with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keyword.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7112000" cy="762000"/>
          </a:xfrm>
          <a:prstGeom prst="roundRect">
            <a:avLst>
              <a:gd name="adj" fmla="val 5000"/>
            </a:avLst>
          </a:prstGeom>
          <a:solidFill>
            <a:srgbClr val="1A252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41600"/>
            <a:ext cx="660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5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5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PI =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3.14159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5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61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Constants?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4089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Prevents accidental modification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compile-time error if reassigned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Improves readability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PI is clearer than 3.14159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Easier maintenance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change in one place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Self-documenting code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names explain purpose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Examples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382000" y="19685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6000" y="2133600"/>
            <a:ext cx="6604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double PI = 3.14159;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double E = 2.71828;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int MAX_STUDENTS = 30;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double TAX_RATE = 0.07;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int INCHES_PER_FOOT = 12;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985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721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91132" y="91132"/>
                </a:moveTo>
                <a:cubicBezTo>
                  <a:pt x="96262" y="86003"/>
                  <a:pt x="104557" y="86003"/>
                  <a:pt x="109632" y="91132"/>
                </a:cubicBezTo>
                <a:lnTo>
                  <a:pt x="139645" y="121146"/>
                </a:lnTo>
                <a:lnTo>
                  <a:pt x="169659" y="91132"/>
                </a:lnTo>
                <a:cubicBezTo>
                  <a:pt x="174789" y="86003"/>
                  <a:pt x="183083" y="86003"/>
                  <a:pt x="188158" y="91132"/>
                </a:cubicBezTo>
                <a:cubicBezTo>
                  <a:pt x="193233" y="96262"/>
                  <a:pt x="193288" y="104557"/>
                  <a:pt x="188158" y="109632"/>
                </a:cubicBezTo>
                <a:lnTo>
                  <a:pt x="158145" y="139645"/>
                </a:lnTo>
                <a:lnTo>
                  <a:pt x="188158" y="169659"/>
                </a:lnTo>
                <a:cubicBezTo>
                  <a:pt x="193288" y="174789"/>
                  <a:pt x="193288" y="183083"/>
                  <a:pt x="188158" y="188158"/>
                </a:cubicBezTo>
                <a:cubicBezTo>
                  <a:pt x="183029" y="193233"/>
                  <a:pt x="174734" y="193288"/>
                  <a:pt x="169659" y="188158"/>
                </a:cubicBezTo>
                <a:lnTo>
                  <a:pt x="139645" y="158145"/>
                </a:lnTo>
                <a:lnTo>
                  <a:pt x="109632" y="188158"/>
                </a:lnTo>
                <a:cubicBezTo>
                  <a:pt x="104502" y="193288"/>
                  <a:pt x="96207" y="193288"/>
                  <a:pt x="91132" y="188158"/>
                </a:cubicBezTo>
                <a:cubicBezTo>
                  <a:pt x="86057" y="183029"/>
                  <a:pt x="86003" y="174734"/>
                  <a:pt x="91132" y="169659"/>
                </a:cubicBezTo>
                <a:lnTo>
                  <a:pt x="121146" y="139645"/>
                </a:lnTo>
                <a:lnTo>
                  <a:pt x="91132" y="109632"/>
                </a:lnTo>
                <a:cubicBezTo>
                  <a:pt x="86003" y="104502"/>
                  <a:pt x="86003" y="96207"/>
                  <a:pt x="91132" y="91132"/>
                </a:cubicBezTo>
                <a:close/>
              </a:path>
            </a:pathLst>
          </a:cu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447800" y="7086600"/>
            <a:ext cx="1371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 Error: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Attempting to reassign a constant —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 = 3.14;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// Error: cannot assign a value to final variable PI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Primitive Data Types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has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primitive data types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store actual values directly in memory. Primitives are not objects — they are the most basic data types.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342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9116" y="486"/>
                </a:moveTo>
                <a:cubicBezTo>
                  <a:pt x="161131" y="3056"/>
                  <a:pt x="168771" y="14863"/>
                  <a:pt x="166201" y="26878"/>
                </a:cubicBezTo>
                <a:lnTo>
                  <a:pt x="152936" y="88900"/>
                </a:lnTo>
                <a:lnTo>
                  <a:pt x="240794" y="88900"/>
                </a:lnTo>
                <a:lnTo>
                  <a:pt x="256074" y="17572"/>
                </a:lnTo>
                <a:cubicBezTo>
                  <a:pt x="258643" y="5556"/>
                  <a:pt x="270450" y="-2084"/>
                  <a:pt x="282466" y="486"/>
                </a:cubicBezTo>
                <a:cubicBezTo>
                  <a:pt x="294481" y="3056"/>
                  <a:pt x="302121" y="14863"/>
                  <a:pt x="299551" y="26878"/>
                </a:cubicBezTo>
                <a:lnTo>
                  <a:pt x="286286" y="88900"/>
                </a:lnTo>
                <a:lnTo>
                  <a:pt x="333375" y="88900"/>
                </a:lnTo>
                <a:cubicBezTo>
                  <a:pt x="345668" y="88900"/>
                  <a:pt x="355600" y="98832"/>
                  <a:pt x="355600" y="111125"/>
                </a:cubicBezTo>
                <a:cubicBezTo>
                  <a:pt x="355600" y="123418"/>
                  <a:pt x="345668" y="133350"/>
                  <a:pt x="333375" y="133350"/>
                </a:cubicBezTo>
                <a:lnTo>
                  <a:pt x="276701" y="133350"/>
                </a:lnTo>
                <a:lnTo>
                  <a:pt x="257671" y="222250"/>
                </a:lnTo>
                <a:lnTo>
                  <a:pt x="304760" y="222250"/>
                </a:lnTo>
                <a:cubicBezTo>
                  <a:pt x="317054" y="222250"/>
                  <a:pt x="326985" y="232182"/>
                  <a:pt x="326985" y="244475"/>
                </a:cubicBezTo>
                <a:cubicBezTo>
                  <a:pt x="326985" y="256768"/>
                  <a:pt x="317054" y="266700"/>
                  <a:pt x="304760" y="266700"/>
                </a:cubicBezTo>
                <a:lnTo>
                  <a:pt x="248087" y="266700"/>
                </a:lnTo>
                <a:lnTo>
                  <a:pt x="232807" y="338028"/>
                </a:lnTo>
                <a:cubicBezTo>
                  <a:pt x="230237" y="350044"/>
                  <a:pt x="218430" y="357684"/>
                  <a:pt x="206415" y="355114"/>
                </a:cubicBezTo>
                <a:cubicBezTo>
                  <a:pt x="194399" y="352544"/>
                  <a:pt x="186759" y="340737"/>
                  <a:pt x="189329" y="328722"/>
                </a:cubicBezTo>
                <a:lnTo>
                  <a:pt x="202595" y="266700"/>
                </a:lnTo>
                <a:lnTo>
                  <a:pt x="114737" y="266700"/>
                </a:lnTo>
                <a:lnTo>
                  <a:pt x="99457" y="338028"/>
                </a:lnTo>
                <a:cubicBezTo>
                  <a:pt x="96887" y="350044"/>
                  <a:pt x="85080" y="357684"/>
                  <a:pt x="73065" y="355114"/>
                </a:cubicBezTo>
                <a:cubicBezTo>
                  <a:pt x="61049" y="352544"/>
                  <a:pt x="53409" y="340737"/>
                  <a:pt x="55979" y="328722"/>
                </a:cubicBezTo>
                <a:lnTo>
                  <a:pt x="69314" y="266700"/>
                </a:lnTo>
                <a:lnTo>
                  <a:pt x="22225" y="266700"/>
                </a:lnTo>
                <a:cubicBezTo>
                  <a:pt x="9932" y="266700"/>
                  <a:pt x="0" y="256768"/>
                  <a:pt x="0" y="244475"/>
                </a:cubicBezTo>
                <a:cubicBezTo>
                  <a:pt x="0" y="232182"/>
                  <a:pt x="9932" y="222250"/>
                  <a:pt x="22225" y="222250"/>
                </a:cubicBezTo>
                <a:lnTo>
                  <a:pt x="78899" y="222250"/>
                </a:lnTo>
                <a:lnTo>
                  <a:pt x="97929" y="133350"/>
                </a:lnTo>
                <a:lnTo>
                  <a:pt x="50840" y="133350"/>
                </a:lnTo>
                <a:cubicBezTo>
                  <a:pt x="38546" y="133350"/>
                  <a:pt x="28615" y="123418"/>
                  <a:pt x="28615" y="111125"/>
                </a:cubicBezTo>
                <a:cubicBezTo>
                  <a:pt x="28615" y="98832"/>
                  <a:pt x="38546" y="88900"/>
                  <a:pt x="50840" y="88900"/>
                </a:cubicBezTo>
                <a:lnTo>
                  <a:pt x="107513" y="88900"/>
                </a:lnTo>
                <a:lnTo>
                  <a:pt x="122793" y="17572"/>
                </a:lnTo>
                <a:cubicBezTo>
                  <a:pt x="125293" y="5556"/>
                  <a:pt x="137100" y="-2084"/>
                  <a:pt x="149116" y="486"/>
                </a:cubicBezTo>
                <a:close/>
                <a:moveTo>
                  <a:pt x="143351" y="133350"/>
                </a:moveTo>
                <a:lnTo>
                  <a:pt x="124321" y="222250"/>
                </a:lnTo>
                <a:lnTo>
                  <a:pt x="212179" y="222250"/>
                </a:lnTo>
                <a:lnTo>
                  <a:pt x="231209" y="133350"/>
                </a:lnTo>
                <a:lnTo>
                  <a:pt x="143351" y="1333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73200" y="2476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Types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946400"/>
            <a:ext cx="292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8-bit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16-bit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32-bit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64-bit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1200" y="2286000"/>
            <a:ext cx="342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9650" y="2476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66675" y="44450"/>
                </a:moveTo>
                <a:lnTo>
                  <a:pt x="200025" y="44450"/>
                </a:lnTo>
                <a:cubicBezTo>
                  <a:pt x="212318" y="44450"/>
                  <a:pt x="222250" y="54382"/>
                  <a:pt x="222250" y="66675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66675" y="111125"/>
                </a:lnTo>
                <a:cubicBezTo>
                  <a:pt x="54382" y="111125"/>
                  <a:pt x="44450" y="101193"/>
                  <a:pt x="44450" y="88900"/>
                </a:cubicBezTo>
                <a:lnTo>
                  <a:pt x="44450" y="66675"/>
                </a:lnTo>
                <a:cubicBezTo>
                  <a:pt x="44450" y="54382"/>
                  <a:pt x="54382" y="44450"/>
                  <a:pt x="66675" y="44450"/>
                </a:cubicBezTo>
                <a:close/>
                <a:moveTo>
                  <a:pt x="77788" y="161131"/>
                </a:moveTo>
                <a:cubicBezTo>
                  <a:pt x="77788" y="170331"/>
                  <a:pt x="70318" y="177800"/>
                  <a:pt x="61119" y="177800"/>
                </a:cubicBezTo>
                <a:cubicBezTo>
                  <a:pt x="51919" y="177800"/>
                  <a:pt x="44450" y="170331"/>
                  <a:pt x="44450" y="161131"/>
                </a:cubicBezTo>
                <a:cubicBezTo>
                  <a:pt x="44450" y="151932"/>
                  <a:pt x="51919" y="144463"/>
                  <a:pt x="61119" y="144463"/>
                </a:cubicBezTo>
                <a:cubicBezTo>
                  <a:pt x="70318" y="144463"/>
                  <a:pt x="77788" y="151932"/>
                  <a:pt x="77788" y="161131"/>
                </a:cubicBezTo>
                <a:close/>
                <a:moveTo>
                  <a:pt x="133350" y="177800"/>
                </a:moveTo>
                <a:cubicBezTo>
                  <a:pt x="124150" y="177800"/>
                  <a:pt x="116681" y="170331"/>
                  <a:pt x="116681" y="161131"/>
                </a:cubicBezTo>
                <a:cubicBezTo>
                  <a:pt x="116681" y="151932"/>
                  <a:pt x="124150" y="144463"/>
                  <a:pt x="133350" y="144463"/>
                </a:cubicBezTo>
                <a:cubicBezTo>
                  <a:pt x="142550" y="144463"/>
                  <a:pt x="150019" y="151932"/>
                  <a:pt x="150019" y="161131"/>
                </a:cubicBezTo>
                <a:cubicBezTo>
                  <a:pt x="150019" y="170331"/>
                  <a:pt x="142550" y="177800"/>
                  <a:pt x="133350" y="177800"/>
                </a:cubicBezTo>
                <a:close/>
                <a:moveTo>
                  <a:pt x="222250" y="161131"/>
                </a:moveTo>
                <a:cubicBezTo>
                  <a:pt x="222250" y="170331"/>
                  <a:pt x="214781" y="177800"/>
                  <a:pt x="205581" y="177800"/>
                </a:cubicBezTo>
                <a:cubicBezTo>
                  <a:pt x="196382" y="177800"/>
                  <a:pt x="188913" y="170331"/>
                  <a:pt x="188913" y="161131"/>
                </a:cubicBezTo>
                <a:cubicBezTo>
                  <a:pt x="188913" y="151932"/>
                  <a:pt x="196382" y="144463"/>
                  <a:pt x="205581" y="144463"/>
                </a:cubicBezTo>
                <a:cubicBezTo>
                  <a:pt x="214781" y="144463"/>
                  <a:pt x="222250" y="151932"/>
                  <a:pt x="222250" y="161131"/>
                </a:cubicBezTo>
                <a:close/>
                <a:moveTo>
                  <a:pt x="61119" y="244475"/>
                </a:moveTo>
                <a:cubicBezTo>
                  <a:pt x="51919" y="244475"/>
                  <a:pt x="44450" y="237006"/>
                  <a:pt x="44450" y="227806"/>
                </a:cubicBezTo>
                <a:cubicBezTo>
                  <a:pt x="44450" y="218607"/>
                  <a:pt x="51919" y="211138"/>
                  <a:pt x="61119" y="211138"/>
                </a:cubicBezTo>
                <a:cubicBezTo>
                  <a:pt x="70318" y="211138"/>
                  <a:pt x="77788" y="218607"/>
                  <a:pt x="77788" y="227806"/>
                </a:cubicBezTo>
                <a:cubicBezTo>
                  <a:pt x="77788" y="237006"/>
                  <a:pt x="70318" y="244475"/>
                  <a:pt x="61119" y="244475"/>
                </a:cubicBezTo>
                <a:close/>
                <a:moveTo>
                  <a:pt x="150019" y="227806"/>
                </a:moveTo>
                <a:cubicBezTo>
                  <a:pt x="150019" y="237006"/>
                  <a:pt x="142550" y="244475"/>
                  <a:pt x="133350" y="244475"/>
                </a:cubicBezTo>
                <a:cubicBezTo>
                  <a:pt x="124150" y="244475"/>
                  <a:pt x="116681" y="237006"/>
                  <a:pt x="116681" y="227806"/>
                </a:cubicBezTo>
                <a:cubicBezTo>
                  <a:pt x="116681" y="218607"/>
                  <a:pt x="124150" y="211138"/>
                  <a:pt x="133350" y="211138"/>
                </a:cubicBezTo>
                <a:cubicBezTo>
                  <a:pt x="142550" y="211138"/>
                  <a:pt x="150019" y="218607"/>
                  <a:pt x="150019" y="227806"/>
                </a:cubicBezTo>
                <a:close/>
                <a:moveTo>
                  <a:pt x="205581" y="244475"/>
                </a:moveTo>
                <a:cubicBezTo>
                  <a:pt x="196382" y="244475"/>
                  <a:pt x="188913" y="237006"/>
                  <a:pt x="188913" y="227806"/>
                </a:cubicBezTo>
                <a:cubicBezTo>
                  <a:pt x="188913" y="218607"/>
                  <a:pt x="196382" y="211138"/>
                  <a:pt x="205581" y="211138"/>
                </a:cubicBezTo>
                <a:cubicBezTo>
                  <a:pt x="214781" y="211138"/>
                  <a:pt x="222250" y="218607"/>
                  <a:pt x="222250" y="227806"/>
                </a:cubicBezTo>
                <a:cubicBezTo>
                  <a:pt x="222250" y="237006"/>
                  <a:pt x="214781" y="244475"/>
                  <a:pt x="205581" y="244475"/>
                </a:cubicBezTo>
                <a:close/>
                <a:moveTo>
                  <a:pt x="44450" y="294481"/>
                </a:moveTo>
                <a:cubicBezTo>
                  <a:pt x="44450" y="285244"/>
                  <a:pt x="51881" y="277813"/>
                  <a:pt x="61119" y="277813"/>
                </a:cubicBezTo>
                <a:lnTo>
                  <a:pt x="138906" y="277813"/>
                </a:lnTo>
                <a:cubicBezTo>
                  <a:pt x="148144" y="277813"/>
                  <a:pt x="155575" y="285244"/>
                  <a:pt x="155575" y="294481"/>
                </a:cubicBezTo>
                <a:cubicBezTo>
                  <a:pt x="155575" y="303719"/>
                  <a:pt x="148144" y="311150"/>
                  <a:pt x="138906" y="311150"/>
                </a:cubicBezTo>
                <a:lnTo>
                  <a:pt x="61119" y="311150"/>
                </a:lnTo>
                <a:cubicBezTo>
                  <a:pt x="51881" y="311150"/>
                  <a:pt x="44450" y="303719"/>
                  <a:pt x="44450" y="294481"/>
                </a:cubicBezTo>
                <a:close/>
                <a:moveTo>
                  <a:pt x="205581" y="277813"/>
                </a:moveTo>
                <a:cubicBezTo>
                  <a:pt x="214819" y="277813"/>
                  <a:pt x="222250" y="285244"/>
                  <a:pt x="222250" y="294481"/>
                </a:cubicBezTo>
                <a:cubicBezTo>
                  <a:pt x="222250" y="303719"/>
                  <a:pt x="214819" y="311150"/>
                  <a:pt x="205581" y="311150"/>
                </a:cubicBezTo>
                <a:cubicBezTo>
                  <a:pt x="196344" y="311150"/>
                  <a:pt x="188913" y="303719"/>
                  <a:pt x="188913" y="294481"/>
                </a:cubicBezTo>
                <a:cubicBezTo>
                  <a:pt x="188913" y="285244"/>
                  <a:pt x="196344" y="277813"/>
                  <a:pt x="205581" y="27781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5232400" y="2476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Floating-Point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75200" y="29464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32-bit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64-bit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80400" y="2286000"/>
            <a:ext cx="342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344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8991600" y="2476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34400" y="29464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16-bit Unicode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39600" y="2286000"/>
            <a:ext cx="342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71375" y="247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33350" y="44450"/>
                </a:moveTo>
                <a:cubicBezTo>
                  <a:pt x="59730" y="44450"/>
                  <a:pt x="0" y="104180"/>
                  <a:pt x="0" y="177800"/>
                </a:cubicBezTo>
                <a:cubicBezTo>
                  <a:pt x="0" y="251420"/>
                  <a:pt x="59730" y="311150"/>
                  <a:pt x="133350" y="311150"/>
                </a:cubicBezTo>
                <a:lnTo>
                  <a:pt x="266700" y="311150"/>
                </a:lnTo>
                <a:cubicBezTo>
                  <a:pt x="340320" y="311150"/>
                  <a:pt x="400050" y="251420"/>
                  <a:pt x="400050" y="177800"/>
                </a:cubicBezTo>
                <a:cubicBezTo>
                  <a:pt x="400050" y="104180"/>
                  <a:pt x="340320" y="44450"/>
                  <a:pt x="266700" y="44450"/>
                </a:cubicBezTo>
                <a:lnTo>
                  <a:pt x="133350" y="44450"/>
                </a:lnTo>
                <a:close/>
                <a:moveTo>
                  <a:pt x="266700" y="111125"/>
                </a:moveTo>
                <a:cubicBezTo>
                  <a:pt x="303499" y="111125"/>
                  <a:pt x="333375" y="141001"/>
                  <a:pt x="333375" y="177800"/>
                </a:cubicBezTo>
                <a:cubicBezTo>
                  <a:pt x="333375" y="214599"/>
                  <a:pt x="303499" y="244475"/>
                  <a:pt x="266700" y="244475"/>
                </a:cubicBezTo>
                <a:cubicBezTo>
                  <a:pt x="229901" y="244475"/>
                  <a:pt x="200025" y="214599"/>
                  <a:pt x="200025" y="177800"/>
                </a:cubicBezTo>
                <a:cubicBezTo>
                  <a:pt x="200025" y="141001"/>
                  <a:pt x="229901" y="111125"/>
                  <a:pt x="266700" y="1111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2750800" y="2476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93600" y="29464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boolean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true/false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20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Values for Fields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715000"/>
          <a:ext cx="14732000" cy="2286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79568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 Category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byte, short, int, long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float, double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74516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Default 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'\u0000'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516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 (bits)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/ 16 / 32 / 64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 / 64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(JVM dependent)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5" name="Text 22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Types — byte, short, int, long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302000"/>
        </p:xfrm>
        <a:graphic>
          <a:graphicData uri="http://schemas.openxmlformats.org/drawingml/2006/table">
            <a:tbl>
              <a:tblPr/>
              <a:tblGrid>
                <a:gridCol w="1767840"/>
                <a:gridCol w="1473200"/>
                <a:gridCol w="5598160"/>
                <a:gridCol w="5892800"/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byte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-128 to 127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byte b = 100;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-32,768 to 32,767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 s = 30000;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-2,147,483,648 to 2,147,483,647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 age = 25;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-9 quintillion to +9 quintillion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 pop = 8000000000L;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20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715000"/>
            <a:ext cx="4572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98538" y="59055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68895" y="-10314"/>
                </a:moveTo>
                <a:cubicBezTo>
                  <a:pt x="166658" y="-14679"/>
                  <a:pt x="162128" y="-17462"/>
                  <a:pt x="157217" y="-17462"/>
                </a:cubicBezTo>
                <a:cubicBezTo>
                  <a:pt x="152306" y="-17462"/>
                  <a:pt x="147776" y="-14679"/>
                  <a:pt x="145539" y="-10314"/>
                </a:cubicBezTo>
                <a:lnTo>
                  <a:pt x="105375" y="68377"/>
                </a:lnTo>
                <a:lnTo>
                  <a:pt x="18117" y="82237"/>
                </a:lnTo>
                <a:cubicBezTo>
                  <a:pt x="13261" y="83001"/>
                  <a:pt x="9222" y="86439"/>
                  <a:pt x="7694" y="91132"/>
                </a:cubicBezTo>
                <a:cubicBezTo>
                  <a:pt x="6166" y="95825"/>
                  <a:pt x="7422" y="100955"/>
                  <a:pt x="10859" y="104448"/>
                </a:cubicBezTo>
                <a:lnTo>
                  <a:pt x="73288" y="166931"/>
                </a:lnTo>
                <a:lnTo>
                  <a:pt x="59536" y="254189"/>
                </a:lnTo>
                <a:cubicBezTo>
                  <a:pt x="58772" y="259045"/>
                  <a:pt x="60791" y="263957"/>
                  <a:pt x="64775" y="266849"/>
                </a:cubicBezTo>
                <a:cubicBezTo>
                  <a:pt x="68759" y="269741"/>
                  <a:pt x="73997" y="270178"/>
                  <a:pt x="78418" y="267940"/>
                </a:cubicBezTo>
                <a:lnTo>
                  <a:pt x="157217" y="227886"/>
                </a:lnTo>
                <a:lnTo>
                  <a:pt x="235962" y="267940"/>
                </a:lnTo>
                <a:cubicBezTo>
                  <a:pt x="240328" y="270178"/>
                  <a:pt x="245621" y="269741"/>
                  <a:pt x="249605" y="266849"/>
                </a:cubicBezTo>
                <a:cubicBezTo>
                  <a:pt x="253588" y="263957"/>
                  <a:pt x="255607" y="259100"/>
                  <a:pt x="254843" y="254189"/>
                </a:cubicBezTo>
                <a:lnTo>
                  <a:pt x="241037" y="166931"/>
                </a:lnTo>
                <a:lnTo>
                  <a:pt x="303466" y="104448"/>
                </a:lnTo>
                <a:cubicBezTo>
                  <a:pt x="306958" y="100955"/>
                  <a:pt x="308159" y="95825"/>
                  <a:pt x="306631" y="91132"/>
                </a:cubicBezTo>
                <a:cubicBezTo>
                  <a:pt x="305103" y="86439"/>
                  <a:pt x="301119" y="83001"/>
                  <a:pt x="296208" y="82237"/>
                </a:cubicBezTo>
                <a:lnTo>
                  <a:pt x="209004" y="68377"/>
                </a:lnTo>
                <a:lnTo>
                  <a:pt x="168895" y="-10314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1422400" y="5816600"/>
            <a:ext cx="3683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type: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default for integer literals. Use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suffix for long.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0" y="5715000"/>
            <a:ext cx="4572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69000" y="5905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9"/>
          <p:cNvSpPr/>
          <p:nvPr/>
        </p:nvSpPr>
        <p:spPr>
          <a:xfrm>
            <a:off x="6375400" y="5816600"/>
            <a:ext cx="3683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Overflow: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Exceeding a type's range causes overflow. Choose the smallest fitting type.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668000" y="5715000"/>
            <a:ext cx="4826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56925" y="59055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59836" y="209550"/>
                </a:moveTo>
                <a:cubicBezTo>
                  <a:pt x="163820" y="197381"/>
                  <a:pt x="171787" y="186358"/>
                  <a:pt x="180791" y="176862"/>
                </a:cubicBezTo>
                <a:cubicBezTo>
                  <a:pt x="198636" y="158090"/>
                  <a:pt x="209550" y="132715"/>
                  <a:pt x="209550" y="104775"/>
                </a:cubicBezTo>
                <a:cubicBezTo>
                  <a:pt x="209550" y="46930"/>
                  <a:pt x="162620" y="0"/>
                  <a:pt x="104775" y="0"/>
                </a:cubicBezTo>
                <a:cubicBezTo>
                  <a:pt x="46930" y="0"/>
                  <a:pt x="0" y="46930"/>
                  <a:pt x="0" y="104775"/>
                </a:cubicBezTo>
                <a:cubicBezTo>
                  <a:pt x="0" y="132715"/>
                  <a:pt x="10914" y="158090"/>
                  <a:pt x="28759" y="176862"/>
                </a:cubicBezTo>
                <a:cubicBezTo>
                  <a:pt x="37763" y="186358"/>
                  <a:pt x="45784" y="197381"/>
                  <a:pt x="49714" y="209550"/>
                </a:cubicBezTo>
                <a:lnTo>
                  <a:pt x="159782" y="209550"/>
                </a:lnTo>
                <a:close/>
                <a:moveTo>
                  <a:pt x="157163" y="235744"/>
                </a:moveTo>
                <a:lnTo>
                  <a:pt x="52388" y="235744"/>
                </a:lnTo>
                <a:lnTo>
                  <a:pt x="52388" y="244475"/>
                </a:lnTo>
                <a:cubicBezTo>
                  <a:pt x="52388" y="268595"/>
                  <a:pt x="71924" y="288131"/>
                  <a:pt x="96044" y="288131"/>
                </a:cubicBezTo>
                <a:lnTo>
                  <a:pt x="113506" y="288131"/>
                </a:lnTo>
                <a:cubicBezTo>
                  <a:pt x="137626" y="288131"/>
                  <a:pt x="157163" y="268595"/>
                  <a:pt x="157163" y="244475"/>
                </a:cubicBezTo>
                <a:lnTo>
                  <a:pt x="157163" y="235744"/>
                </a:lnTo>
                <a:close/>
                <a:moveTo>
                  <a:pt x="100409" y="61119"/>
                </a:moveTo>
                <a:cubicBezTo>
                  <a:pt x="78690" y="61119"/>
                  <a:pt x="61119" y="78690"/>
                  <a:pt x="61119" y="100409"/>
                </a:cubicBezTo>
                <a:cubicBezTo>
                  <a:pt x="61119" y="107667"/>
                  <a:pt x="55280" y="113506"/>
                  <a:pt x="48022" y="113506"/>
                </a:cubicBezTo>
                <a:cubicBezTo>
                  <a:pt x="40764" y="113506"/>
                  <a:pt x="34925" y="107667"/>
                  <a:pt x="34925" y="100409"/>
                </a:cubicBezTo>
                <a:cubicBezTo>
                  <a:pt x="34925" y="64229"/>
                  <a:pt x="64229" y="34925"/>
                  <a:pt x="100409" y="34925"/>
                </a:cubicBezTo>
                <a:cubicBezTo>
                  <a:pt x="107667" y="34925"/>
                  <a:pt x="113506" y="40764"/>
                  <a:pt x="113506" y="48022"/>
                </a:cubicBezTo>
                <a:cubicBezTo>
                  <a:pt x="113506" y="55280"/>
                  <a:pt x="107667" y="61119"/>
                  <a:pt x="100409" y="6111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2"/>
          <p:cNvSpPr/>
          <p:nvPr/>
        </p:nvSpPr>
        <p:spPr>
          <a:xfrm>
            <a:off x="11328400" y="5816600"/>
            <a:ext cx="3937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large arrays to save memory when values are small.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7302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7429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count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big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10000000000L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small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short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med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1000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9" name="Text 16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Floating-Point and Character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Floating-Point Types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6858000" cy="2032000"/>
        </p:xfrm>
        <a:graphic>
          <a:graphicData uri="http://schemas.openxmlformats.org/drawingml/2006/table">
            <a:tbl>
              <a:tblPr/>
              <a:tblGrid>
                <a:gridCol w="1371600"/>
                <a:gridCol w="1028700"/>
                <a:gridCol w="2400300"/>
                <a:gridCol w="2057400"/>
              </a:tblGrid>
              <a:tr h="6689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6815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±3.4E-38 to ±3.4E+38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~7 digits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5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±1.7E-308 to ±1.7E+308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~15 digits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191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default for decimal literals. Use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suffix for float: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3.14F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82000" y="14986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Type — char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82000" y="1968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stores a single Unicode character in single quotes: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 grade = 'A';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 symbol = '$';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 used in arithmetic (Unicode value):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 c = 'A'; int i = c + 1; // i = 66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Escape Sequences</a:t>
            </a:r>
            <a:endParaRPr lang="en-US" sz="2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6858000" cy="2286000"/>
        </p:xfrm>
        <a:graphic>
          <a:graphicData uri="http://schemas.openxmlformats.org/drawingml/2006/table">
            <a:tbl>
              <a:tblPr/>
              <a:tblGrid>
                <a:gridCol w="1714500"/>
                <a:gridCol w="24003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Sequence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Newline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"Line1\nLine2"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"Col1\tCol2"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\\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Backslash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"C:\\folder"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quote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'\''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382000" y="55880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16950" y="5816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14300" y="38100"/>
                </a:moveTo>
                <a:cubicBezTo>
                  <a:pt x="51197" y="38100"/>
                  <a:pt x="0" y="89297"/>
                  <a:pt x="0" y="152400"/>
                </a:cubicBezTo>
                <a:cubicBezTo>
                  <a:pt x="0" y="215503"/>
                  <a:pt x="51197" y="266700"/>
                  <a:pt x="114300" y="266700"/>
                </a:cubicBezTo>
                <a:lnTo>
                  <a:pt x="228600" y="266700"/>
                </a:lnTo>
                <a:cubicBezTo>
                  <a:pt x="291703" y="266700"/>
                  <a:pt x="342900" y="215503"/>
                  <a:pt x="342900" y="152400"/>
                </a:cubicBezTo>
                <a:cubicBezTo>
                  <a:pt x="342900" y="89297"/>
                  <a:pt x="291703" y="38100"/>
                  <a:pt x="228600" y="38100"/>
                </a:cubicBezTo>
                <a:lnTo>
                  <a:pt x="114300" y="38100"/>
                </a:lnTo>
                <a:close/>
                <a:moveTo>
                  <a:pt x="228600" y="95250"/>
                </a:moveTo>
                <a:cubicBezTo>
                  <a:pt x="260142" y="95250"/>
                  <a:pt x="285750" y="120858"/>
                  <a:pt x="285750" y="152400"/>
                </a:cubicBezTo>
                <a:cubicBezTo>
                  <a:pt x="285750" y="183942"/>
                  <a:pt x="260142" y="209550"/>
                  <a:pt x="228600" y="209550"/>
                </a:cubicBezTo>
                <a:cubicBezTo>
                  <a:pt x="197058" y="209550"/>
                  <a:pt x="171450" y="183942"/>
                  <a:pt x="171450" y="152400"/>
                </a:cubicBezTo>
                <a:cubicBezTo>
                  <a:pt x="171450" y="120858"/>
                  <a:pt x="197058" y="95250"/>
                  <a:pt x="228600" y="952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0"/>
          <p:cNvSpPr/>
          <p:nvPr/>
        </p:nvSpPr>
        <p:spPr>
          <a:xfrm>
            <a:off x="9067800" y="577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 Type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636000" y="6286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values.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boolean isActive = true;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for logical conditions and control flow statements.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3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 Numeric Expressions with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Arithmetic Operators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6858000" cy="2921000"/>
        </p:xfrm>
        <a:graphic>
          <a:graphicData uri="http://schemas.openxmlformats.org/drawingml/2006/table">
            <a:tbl>
              <a:tblPr/>
              <a:tblGrid>
                <a:gridCol w="1234440"/>
                <a:gridCol w="2057400"/>
                <a:gridCol w="3566160"/>
              </a:tblGrid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Addition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+ 3 → 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Subtraction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5 - 3 →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* 3 → 15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Division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/ 2 → 2 (integer!)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Modulus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17 % 5 →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382000" y="1498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 Precedence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82000" y="19685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to lowest priority: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Parentheses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 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Multiplication, Division, Modulus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 / 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Addition, Subtraction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-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Same-precedence: left to right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parentheses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clarity: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 + b) * 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+ b * c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52705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6000" y="546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8"/>
          <p:cNvSpPr/>
          <p:nvPr/>
        </p:nvSpPr>
        <p:spPr>
          <a:xfrm>
            <a:off x="1447800" y="5435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Division Trap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58674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evaluates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2.5) because both operands are integers. To get a decimal result, cast one operand: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(double)5 / 2 → 2.5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858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4" name="Text 11"/>
          <p:cNvSpPr/>
          <p:nvPr/>
        </p:nvSpPr>
        <p:spPr>
          <a:xfrm>
            <a:off x="1016000" y="6985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result1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/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result1 = 2 (integer division)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result2 = 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/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result2 = 2.5 (cast to double)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6" name="Text 13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5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3775" y="1752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55563" y="88900"/>
                </a:moveTo>
                <a:lnTo>
                  <a:pt x="77788" y="88900"/>
                </a:lnTo>
                <a:cubicBezTo>
                  <a:pt x="83899" y="88900"/>
                  <a:pt x="88900" y="93901"/>
                  <a:pt x="88900" y="100013"/>
                </a:cubicBezTo>
                <a:lnTo>
                  <a:pt x="88900" y="122238"/>
                </a:lnTo>
                <a:cubicBezTo>
                  <a:pt x="88900" y="128349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28349"/>
                  <a:pt x="44450" y="122238"/>
                </a:cubicBezTo>
                <a:lnTo>
                  <a:pt x="44450" y="100013"/>
                </a:lnTo>
                <a:cubicBezTo>
                  <a:pt x="44450" y="93901"/>
                  <a:pt x="49451" y="88900"/>
                  <a:pt x="55563" y="88900"/>
                </a:cubicBezTo>
                <a:close/>
                <a:moveTo>
                  <a:pt x="44450" y="166688"/>
                </a:moveTo>
                <a:cubicBezTo>
                  <a:pt x="44450" y="160576"/>
                  <a:pt x="49451" y="155575"/>
                  <a:pt x="55563" y="155575"/>
                </a:cubicBezTo>
                <a:lnTo>
                  <a:pt x="77788" y="155575"/>
                </a:lnTo>
                <a:cubicBezTo>
                  <a:pt x="83899" y="155575"/>
                  <a:pt x="88900" y="160576"/>
                  <a:pt x="88900" y="166688"/>
                </a:cubicBezTo>
                <a:lnTo>
                  <a:pt x="88900" y="188913"/>
                </a:lnTo>
                <a:cubicBezTo>
                  <a:pt x="88900" y="195024"/>
                  <a:pt x="83899" y="200025"/>
                  <a:pt x="77788" y="200025"/>
                </a:cubicBezTo>
                <a:lnTo>
                  <a:pt x="55563" y="200025"/>
                </a:lnTo>
                <a:cubicBezTo>
                  <a:pt x="49451" y="200025"/>
                  <a:pt x="44450" y="195024"/>
                  <a:pt x="44450" y="188913"/>
                </a:cubicBezTo>
                <a:lnTo>
                  <a:pt x="44450" y="166688"/>
                </a:lnTo>
                <a:close/>
                <a:moveTo>
                  <a:pt x="122238" y="88900"/>
                </a:moveTo>
                <a:lnTo>
                  <a:pt x="144463" y="88900"/>
                </a:lnTo>
                <a:cubicBezTo>
                  <a:pt x="150574" y="88900"/>
                  <a:pt x="155575" y="93901"/>
                  <a:pt x="155575" y="100013"/>
                </a:cubicBezTo>
                <a:lnTo>
                  <a:pt x="155575" y="122238"/>
                </a:lnTo>
                <a:cubicBezTo>
                  <a:pt x="155575" y="128349"/>
                  <a:pt x="150574" y="133350"/>
                  <a:pt x="144463" y="133350"/>
                </a:cubicBezTo>
                <a:lnTo>
                  <a:pt x="122238" y="133350"/>
                </a:lnTo>
                <a:cubicBezTo>
                  <a:pt x="116126" y="133350"/>
                  <a:pt x="111125" y="128349"/>
                  <a:pt x="111125" y="122238"/>
                </a:cubicBezTo>
                <a:lnTo>
                  <a:pt x="111125" y="100013"/>
                </a:lnTo>
                <a:cubicBezTo>
                  <a:pt x="111125" y="93901"/>
                  <a:pt x="116126" y="88900"/>
                  <a:pt x="122238" y="88900"/>
                </a:cubicBezTo>
                <a:close/>
                <a:moveTo>
                  <a:pt x="111125" y="166688"/>
                </a:moveTo>
                <a:cubicBezTo>
                  <a:pt x="111125" y="160576"/>
                  <a:pt x="116126" y="155575"/>
                  <a:pt x="122238" y="155575"/>
                </a:cubicBezTo>
                <a:lnTo>
                  <a:pt x="144463" y="155575"/>
                </a:lnTo>
                <a:cubicBezTo>
                  <a:pt x="150574" y="155575"/>
                  <a:pt x="155575" y="160576"/>
                  <a:pt x="155575" y="166688"/>
                </a:cubicBezTo>
                <a:lnTo>
                  <a:pt x="155575" y="188913"/>
                </a:lnTo>
                <a:cubicBezTo>
                  <a:pt x="155575" y="195024"/>
                  <a:pt x="150574" y="200025"/>
                  <a:pt x="144463" y="200025"/>
                </a:cubicBezTo>
                <a:lnTo>
                  <a:pt x="122238" y="200025"/>
                </a:lnTo>
                <a:cubicBezTo>
                  <a:pt x="116126" y="200025"/>
                  <a:pt x="111125" y="195024"/>
                  <a:pt x="111125" y="188913"/>
                </a:cubicBezTo>
                <a:lnTo>
                  <a:pt x="111125" y="166688"/>
                </a:lnTo>
                <a:close/>
                <a:moveTo>
                  <a:pt x="122238" y="222250"/>
                </a:moveTo>
                <a:lnTo>
                  <a:pt x="277813" y="222250"/>
                </a:lnTo>
                <a:cubicBezTo>
                  <a:pt x="283924" y="222250"/>
                  <a:pt x="288925" y="227251"/>
                  <a:pt x="288925" y="233363"/>
                </a:cubicBezTo>
                <a:lnTo>
                  <a:pt x="288925" y="255587"/>
                </a:lnTo>
                <a:cubicBezTo>
                  <a:pt x="288925" y="261699"/>
                  <a:pt x="283924" y="266700"/>
                  <a:pt x="277813" y="266700"/>
                </a:cubicBezTo>
                <a:lnTo>
                  <a:pt x="122238" y="266700"/>
                </a:lnTo>
                <a:cubicBezTo>
                  <a:pt x="116126" y="266700"/>
                  <a:pt x="111125" y="261699"/>
                  <a:pt x="111125" y="255587"/>
                </a:cubicBezTo>
                <a:lnTo>
                  <a:pt x="111125" y="233363"/>
                </a:lnTo>
                <a:cubicBezTo>
                  <a:pt x="111125" y="227251"/>
                  <a:pt x="116126" y="222250"/>
                  <a:pt x="122238" y="222250"/>
                </a:cubicBezTo>
                <a:close/>
                <a:moveTo>
                  <a:pt x="177800" y="100013"/>
                </a:moveTo>
                <a:cubicBezTo>
                  <a:pt x="177800" y="93901"/>
                  <a:pt x="182801" y="88900"/>
                  <a:pt x="188913" y="88900"/>
                </a:cubicBezTo>
                <a:lnTo>
                  <a:pt x="211138" y="88900"/>
                </a:lnTo>
                <a:cubicBezTo>
                  <a:pt x="217249" y="88900"/>
                  <a:pt x="222250" y="93901"/>
                  <a:pt x="222250" y="100013"/>
                </a:cubicBezTo>
                <a:lnTo>
                  <a:pt x="222250" y="122238"/>
                </a:lnTo>
                <a:cubicBezTo>
                  <a:pt x="222250" y="128349"/>
                  <a:pt x="217249" y="133350"/>
                  <a:pt x="211138" y="133350"/>
                </a:cubicBezTo>
                <a:lnTo>
                  <a:pt x="188913" y="133350"/>
                </a:lnTo>
                <a:cubicBezTo>
                  <a:pt x="182801" y="133350"/>
                  <a:pt x="177800" y="128349"/>
                  <a:pt x="177800" y="122238"/>
                </a:cubicBezTo>
                <a:lnTo>
                  <a:pt x="177800" y="100013"/>
                </a:lnTo>
                <a:close/>
                <a:moveTo>
                  <a:pt x="188913" y="155575"/>
                </a:moveTo>
                <a:lnTo>
                  <a:pt x="211138" y="155575"/>
                </a:lnTo>
                <a:cubicBezTo>
                  <a:pt x="217249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17249" y="200025"/>
                  <a:pt x="211138" y="200025"/>
                </a:cubicBezTo>
                <a:lnTo>
                  <a:pt x="188913" y="200025"/>
                </a:lnTo>
                <a:cubicBezTo>
                  <a:pt x="182801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82801" y="155575"/>
                  <a:pt x="188913" y="155575"/>
                </a:cubicBezTo>
                <a:close/>
                <a:moveTo>
                  <a:pt x="244475" y="100013"/>
                </a:moveTo>
                <a:cubicBezTo>
                  <a:pt x="244475" y="93901"/>
                  <a:pt x="249476" y="88900"/>
                  <a:pt x="255587" y="88900"/>
                </a:cubicBezTo>
                <a:lnTo>
                  <a:pt x="277813" y="88900"/>
                </a:lnTo>
                <a:cubicBezTo>
                  <a:pt x="283924" y="88900"/>
                  <a:pt x="288925" y="93901"/>
                  <a:pt x="288925" y="100013"/>
                </a:cubicBezTo>
                <a:lnTo>
                  <a:pt x="288925" y="122238"/>
                </a:lnTo>
                <a:cubicBezTo>
                  <a:pt x="288925" y="128349"/>
                  <a:pt x="283924" y="133350"/>
                  <a:pt x="277813" y="133350"/>
                </a:cubicBezTo>
                <a:lnTo>
                  <a:pt x="255587" y="133350"/>
                </a:lnTo>
                <a:cubicBezTo>
                  <a:pt x="249476" y="133350"/>
                  <a:pt x="244475" y="128349"/>
                  <a:pt x="244475" y="122238"/>
                </a:cubicBezTo>
                <a:lnTo>
                  <a:pt x="244475" y="100013"/>
                </a:lnTo>
                <a:close/>
                <a:moveTo>
                  <a:pt x="255587" y="155575"/>
                </a:moveTo>
                <a:lnTo>
                  <a:pt x="277813" y="155575"/>
                </a:lnTo>
                <a:cubicBezTo>
                  <a:pt x="283924" y="155575"/>
                  <a:pt x="288925" y="160576"/>
                  <a:pt x="288925" y="166688"/>
                </a:cubicBezTo>
                <a:lnTo>
                  <a:pt x="288925" y="188913"/>
                </a:lnTo>
                <a:cubicBezTo>
                  <a:pt x="288925" y="195024"/>
                  <a:pt x="283924" y="200025"/>
                  <a:pt x="277813" y="200025"/>
                </a:cubicBezTo>
                <a:lnTo>
                  <a:pt x="255587" y="200025"/>
                </a:lnTo>
                <a:cubicBezTo>
                  <a:pt x="249476" y="200025"/>
                  <a:pt x="244475" y="195024"/>
                  <a:pt x="244475" y="188913"/>
                </a:cubicBezTo>
                <a:lnTo>
                  <a:pt x="244475" y="166688"/>
                </a:lnTo>
                <a:cubicBezTo>
                  <a:pt x="244475" y="160576"/>
                  <a:pt x="249476" y="155575"/>
                  <a:pt x="255587" y="155575"/>
                </a:cubicBezTo>
                <a:close/>
                <a:moveTo>
                  <a:pt x="311150" y="100013"/>
                </a:moveTo>
                <a:cubicBezTo>
                  <a:pt x="311150" y="93901"/>
                  <a:pt x="316151" y="88900"/>
                  <a:pt x="322263" y="88900"/>
                </a:cubicBezTo>
                <a:lnTo>
                  <a:pt x="344488" y="88900"/>
                </a:lnTo>
                <a:cubicBezTo>
                  <a:pt x="350599" y="88900"/>
                  <a:pt x="355600" y="93901"/>
                  <a:pt x="355600" y="100013"/>
                </a:cubicBezTo>
                <a:lnTo>
                  <a:pt x="355600" y="122238"/>
                </a:lnTo>
                <a:cubicBezTo>
                  <a:pt x="355600" y="128349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28349"/>
                  <a:pt x="311150" y="122238"/>
                </a:cubicBezTo>
                <a:lnTo>
                  <a:pt x="311150" y="100013"/>
                </a:lnTo>
                <a:close/>
                <a:moveTo>
                  <a:pt x="322263" y="155575"/>
                </a:moveTo>
                <a:lnTo>
                  <a:pt x="344488" y="155575"/>
                </a:lnTo>
                <a:cubicBezTo>
                  <a:pt x="350599" y="155575"/>
                  <a:pt x="355600" y="160576"/>
                  <a:pt x="355600" y="166688"/>
                </a:cubicBezTo>
                <a:lnTo>
                  <a:pt x="355600" y="188913"/>
                </a:lnTo>
                <a:cubicBezTo>
                  <a:pt x="355600" y="195024"/>
                  <a:pt x="350599" y="200025"/>
                  <a:pt x="344488" y="200025"/>
                </a:cubicBezTo>
                <a:lnTo>
                  <a:pt x="322263" y="200025"/>
                </a:lnTo>
                <a:cubicBezTo>
                  <a:pt x="316151" y="200025"/>
                  <a:pt x="311150" y="195024"/>
                  <a:pt x="311150" y="188913"/>
                </a:cubicBezTo>
                <a:lnTo>
                  <a:pt x="311150" y="166688"/>
                </a:lnTo>
                <a:cubicBezTo>
                  <a:pt x="311150" y="160576"/>
                  <a:pt x="316151" y="155575"/>
                  <a:pt x="322263" y="1555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4732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Console &amp; GUI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60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Scanner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reads console input with methods like nextInt(), nextDouble()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JOptionPane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GUI dialogs; always parse String result to numeric types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524000"/>
            <a:ext cx="46990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25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572" y="66675"/>
                </a:moveTo>
                <a:lnTo>
                  <a:pt x="22572" y="170507"/>
                </a:lnTo>
                <a:cubicBezTo>
                  <a:pt x="22572" y="182314"/>
                  <a:pt x="27226" y="193635"/>
                  <a:pt x="35560" y="201970"/>
                </a:cubicBezTo>
                <a:lnTo>
                  <a:pt x="168910" y="335320"/>
                </a:lnTo>
                <a:cubicBezTo>
                  <a:pt x="186273" y="352683"/>
                  <a:pt x="214402" y="352683"/>
                  <a:pt x="231765" y="335320"/>
                </a:cubicBezTo>
                <a:lnTo>
                  <a:pt x="335598" y="231487"/>
                </a:lnTo>
                <a:cubicBezTo>
                  <a:pt x="352961" y="214124"/>
                  <a:pt x="352961" y="185995"/>
                  <a:pt x="335598" y="168632"/>
                </a:cubicBezTo>
                <a:lnTo>
                  <a:pt x="202248" y="35282"/>
                </a:lnTo>
                <a:cubicBezTo>
                  <a:pt x="193913" y="26878"/>
                  <a:pt x="182662" y="22225"/>
                  <a:pt x="170855" y="22225"/>
                </a:cubicBezTo>
                <a:lnTo>
                  <a:pt x="67022" y="22225"/>
                </a:lnTo>
                <a:cubicBezTo>
                  <a:pt x="42505" y="22225"/>
                  <a:pt x="22572" y="42158"/>
                  <a:pt x="22572" y="66675"/>
                </a:cubicBezTo>
                <a:close/>
                <a:moveTo>
                  <a:pt x="100360" y="77788"/>
                </a:moveTo>
                <a:cubicBezTo>
                  <a:pt x="112626" y="77788"/>
                  <a:pt x="122585" y="87746"/>
                  <a:pt x="122585" y="100013"/>
                </a:cubicBezTo>
                <a:cubicBezTo>
                  <a:pt x="122585" y="112279"/>
                  <a:pt x="112626" y="122238"/>
                  <a:pt x="100360" y="122238"/>
                </a:cubicBezTo>
                <a:cubicBezTo>
                  <a:pt x="88093" y="122238"/>
                  <a:pt x="78135" y="112279"/>
                  <a:pt x="78135" y="100013"/>
                </a:cubicBezTo>
                <a:cubicBezTo>
                  <a:pt x="78135" y="87746"/>
                  <a:pt x="88093" y="77788"/>
                  <a:pt x="100360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64897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Identifiers &amp; Constants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260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camelCase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PascalCase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UPPER_SNAKE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conventions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constants — prevents modification, improves readability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24000"/>
            <a:ext cx="46990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5062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Primitive Data Types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260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types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byte, short, int, long, float, double, char, boolean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based on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needs. Default: int and double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800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0F2E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93800" y="5461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50800"/>
                </a:lnTo>
                <a:cubicBezTo>
                  <a:pt x="304800" y="22781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76200" y="50800"/>
                </a:moveTo>
                <a:lnTo>
                  <a:pt x="228600" y="50800"/>
                </a:lnTo>
                <a:cubicBezTo>
                  <a:pt x="242649" y="50800"/>
                  <a:pt x="254000" y="62151"/>
                  <a:pt x="254000" y="762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76200" y="127000"/>
                </a:lnTo>
                <a:cubicBezTo>
                  <a:pt x="62151" y="127000"/>
                  <a:pt x="50800" y="115649"/>
                  <a:pt x="50800" y="101600"/>
                </a:cubicBezTo>
                <a:lnTo>
                  <a:pt x="50800" y="76200"/>
                </a:lnTo>
                <a:cubicBezTo>
                  <a:pt x="50800" y="62151"/>
                  <a:pt x="62151" y="50800"/>
                  <a:pt x="76200" y="50800"/>
                </a:cubicBezTo>
                <a:close/>
                <a:moveTo>
                  <a:pt x="88900" y="184150"/>
                </a:moveTo>
                <a:cubicBezTo>
                  <a:pt x="88900" y="194664"/>
                  <a:pt x="80364" y="203200"/>
                  <a:pt x="69850" y="203200"/>
                </a:cubicBezTo>
                <a:cubicBezTo>
                  <a:pt x="59336" y="203200"/>
                  <a:pt x="50800" y="194664"/>
                  <a:pt x="50800" y="184150"/>
                </a:cubicBezTo>
                <a:cubicBezTo>
                  <a:pt x="50800" y="173636"/>
                  <a:pt x="59336" y="165100"/>
                  <a:pt x="69850" y="165100"/>
                </a:cubicBezTo>
                <a:cubicBezTo>
                  <a:pt x="80364" y="165100"/>
                  <a:pt x="88900" y="173636"/>
                  <a:pt x="88900" y="184150"/>
                </a:cubicBezTo>
                <a:close/>
                <a:moveTo>
                  <a:pt x="152400" y="203200"/>
                </a:moveTo>
                <a:cubicBezTo>
                  <a:pt x="141886" y="203200"/>
                  <a:pt x="133350" y="194664"/>
                  <a:pt x="133350" y="184150"/>
                </a:cubicBezTo>
                <a:cubicBezTo>
                  <a:pt x="133350" y="173636"/>
                  <a:pt x="141886" y="165100"/>
                  <a:pt x="152400" y="165100"/>
                </a:cubicBezTo>
                <a:cubicBezTo>
                  <a:pt x="162914" y="165100"/>
                  <a:pt x="171450" y="173636"/>
                  <a:pt x="171450" y="184150"/>
                </a:cubicBezTo>
                <a:cubicBezTo>
                  <a:pt x="171450" y="194664"/>
                  <a:pt x="162914" y="203200"/>
                  <a:pt x="152400" y="203200"/>
                </a:cubicBezTo>
                <a:close/>
                <a:moveTo>
                  <a:pt x="254000" y="184150"/>
                </a:moveTo>
                <a:cubicBezTo>
                  <a:pt x="254000" y="194664"/>
                  <a:pt x="245464" y="203200"/>
                  <a:pt x="234950" y="203200"/>
                </a:cubicBezTo>
                <a:cubicBezTo>
                  <a:pt x="224436" y="203200"/>
                  <a:pt x="215900" y="194664"/>
                  <a:pt x="215900" y="184150"/>
                </a:cubicBezTo>
                <a:cubicBezTo>
                  <a:pt x="215900" y="173636"/>
                  <a:pt x="224436" y="165100"/>
                  <a:pt x="234950" y="165100"/>
                </a:cubicBezTo>
                <a:cubicBezTo>
                  <a:pt x="245464" y="165100"/>
                  <a:pt x="254000" y="173636"/>
                  <a:pt x="254000" y="184150"/>
                </a:cubicBezTo>
                <a:close/>
                <a:moveTo>
                  <a:pt x="69850" y="279400"/>
                </a:moveTo>
                <a:cubicBezTo>
                  <a:pt x="59336" y="279400"/>
                  <a:pt x="50800" y="270864"/>
                  <a:pt x="50800" y="260350"/>
                </a:cubicBezTo>
                <a:cubicBezTo>
                  <a:pt x="50800" y="249836"/>
                  <a:pt x="59336" y="241300"/>
                  <a:pt x="69850" y="241300"/>
                </a:cubicBezTo>
                <a:cubicBezTo>
                  <a:pt x="80364" y="241300"/>
                  <a:pt x="88900" y="249836"/>
                  <a:pt x="88900" y="260350"/>
                </a:cubicBezTo>
                <a:cubicBezTo>
                  <a:pt x="88900" y="270864"/>
                  <a:pt x="80364" y="279400"/>
                  <a:pt x="69850" y="279400"/>
                </a:cubicBezTo>
                <a:close/>
                <a:moveTo>
                  <a:pt x="171450" y="260350"/>
                </a:moveTo>
                <a:cubicBezTo>
                  <a:pt x="171450" y="270864"/>
                  <a:pt x="162914" y="279400"/>
                  <a:pt x="152400" y="279400"/>
                </a:cubicBezTo>
                <a:cubicBezTo>
                  <a:pt x="141886" y="279400"/>
                  <a:pt x="133350" y="270864"/>
                  <a:pt x="133350" y="260350"/>
                </a:cubicBezTo>
                <a:cubicBezTo>
                  <a:pt x="133350" y="249836"/>
                  <a:pt x="141886" y="241300"/>
                  <a:pt x="152400" y="241300"/>
                </a:cubicBezTo>
                <a:cubicBezTo>
                  <a:pt x="162914" y="241300"/>
                  <a:pt x="171450" y="249836"/>
                  <a:pt x="171450" y="260350"/>
                </a:cubicBezTo>
                <a:close/>
                <a:moveTo>
                  <a:pt x="234950" y="279400"/>
                </a:moveTo>
                <a:cubicBezTo>
                  <a:pt x="224436" y="279400"/>
                  <a:pt x="215900" y="270864"/>
                  <a:pt x="215900" y="260350"/>
                </a:cubicBezTo>
                <a:cubicBezTo>
                  <a:pt x="215900" y="249836"/>
                  <a:pt x="224436" y="241300"/>
                  <a:pt x="234950" y="241300"/>
                </a:cubicBezTo>
                <a:cubicBezTo>
                  <a:pt x="245464" y="241300"/>
                  <a:pt x="254000" y="249836"/>
                  <a:pt x="254000" y="260350"/>
                </a:cubicBezTo>
                <a:cubicBezTo>
                  <a:pt x="254000" y="270864"/>
                  <a:pt x="245464" y="279400"/>
                  <a:pt x="234950" y="279400"/>
                </a:cubicBezTo>
                <a:close/>
                <a:moveTo>
                  <a:pt x="50800" y="336550"/>
                </a:moveTo>
                <a:cubicBezTo>
                  <a:pt x="50800" y="325993"/>
                  <a:pt x="59293" y="317500"/>
                  <a:pt x="69850" y="317500"/>
                </a:cubicBezTo>
                <a:lnTo>
                  <a:pt x="158750" y="317500"/>
                </a:lnTo>
                <a:cubicBezTo>
                  <a:pt x="169307" y="317500"/>
                  <a:pt x="177800" y="325993"/>
                  <a:pt x="177800" y="336550"/>
                </a:cubicBezTo>
                <a:cubicBezTo>
                  <a:pt x="177800" y="347107"/>
                  <a:pt x="169307" y="355600"/>
                  <a:pt x="158750" y="355600"/>
                </a:cubicBezTo>
                <a:lnTo>
                  <a:pt x="69850" y="355600"/>
                </a:lnTo>
                <a:cubicBezTo>
                  <a:pt x="59293" y="355600"/>
                  <a:pt x="50800" y="347107"/>
                  <a:pt x="50800" y="336550"/>
                </a:cubicBezTo>
                <a:close/>
                <a:moveTo>
                  <a:pt x="234950" y="317500"/>
                </a:moveTo>
                <a:cubicBezTo>
                  <a:pt x="245507" y="317500"/>
                  <a:pt x="254000" y="325993"/>
                  <a:pt x="254000" y="336550"/>
                </a:cubicBezTo>
                <a:cubicBezTo>
                  <a:pt x="254000" y="347107"/>
                  <a:pt x="245507" y="355600"/>
                  <a:pt x="234950" y="355600"/>
                </a:cubicBezTo>
                <a:cubicBezTo>
                  <a:pt x="224393" y="355600"/>
                  <a:pt x="215900" y="347107"/>
                  <a:pt x="215900" y="336550"/>
                </a:cubicBezTo>
                <a:cubicBezTo>
                  <a:pt x="215900" y="325993"/>
                  <a:pt x="224393" y="317500"/>
                  <a:pt x="234950" y="3175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701800" y="533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Operators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01800" y="5740400"/>
            <a:ext cx="1346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+, -, *, /, % and their precedence. Remember: integer division truncates. Cast to double for decimal results. Use parentheses for clarity.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048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Practice: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these skills in small programs — read input, store in variables, perform calculations, display formatted output.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223000" y="279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5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93000" y="3302000"/>
            <a:ext cx="127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3556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Operators, Strings &amp; OOP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0" y="4572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Expanding your Java toolkit — from shorthand operators to building classes and creating objects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5842000"/>
            <a:ext cx="254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Shorthand Assignment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Shorthand operators combine an arithmetic operation with assignment, making code more concise and efficient.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14732000" cy="3556000"/>
        </p:xfrm>
        <a:graphic>
          <a:graphicData uri="http://schemas.openxmlformats.org/drawingml/2006/table">
            <a:tbl>
              <a:tblPr/>
              <a:tblGrid>
                <a:gridCol w="2209800"/>
                <a:gridCol w="4419600"/>
                <a:gridCol w="4419600"/>
                <a:gridCol w="3683000"/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Shorthand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Equivalent 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+=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= a +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 +=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-=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= a -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 -= discount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*=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*=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= a *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salary *= 1.1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/=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= a /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avg /= count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%=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= a %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 %= 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22300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35050" y="6477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" y="641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" y="68326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typing, cleaner code, works with expressions: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 += num1 + num2;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8000" y="6223000"/>
            <a:ext cx="7366000" cy="1270000"/>
          </a:xfrm>
          <a:prstGeom prst="roundRect">
            <a:avLst>
              <a:gd name="adj" fmla="val 5000"/>
            </a:avLst>
          </a:prstGeom>
          <a:solidFill>
            <a:srgbClr val="1A2528"/>
          </a:solidFill>
          <a:ln/>
        </p:spPr>
      </p:sp>
      <p:sp>
        <p:nvSpPr>
          <p:cNvPr id="12" name="Text 9"/>
          <p:cNvSpPr/>
          <p:nvPr/>
        </p:nvSpPr>
        <p:spPr>
          <a:xfrm>
            <a:off x="8382000" y="6324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in Loops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82000" y="6654800"/>
            <a:ext cx="685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i &lt;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i++) { ... 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i++ is shorthand for i += 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2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 and Decrement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++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(increment)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--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(decrement) operators add or subtract 1 from a variable. They come in two forms with different behavior.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286000"/>
            <a:ext cx="1524000" cy="4064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286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PREFIX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8194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++i or --i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258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 first, then use the value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variable is updated before its value is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3937000"/>
            <a:ext cx="6604000" cy="6604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4013200"/>
            <a:ext cx="619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 = ++i;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i=6, j=6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82000" y="22860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2000" y="2286000"/>
            <a:ext cx="1524000" cy="406400"/>
          </a:xfrm>
          <a:prstGeom prst="roundRect">
            <a:avLst>
              <a:gd name="adj" fmla="val 8000"/>
            </a:avLst>
          </a:prstGeom>
          <a:solidFill>
            <a:srgbClr val="0F2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2286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POSTFIX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28194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i++ or i--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6000" y="32258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the value first, then increment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current value is used, then the variable is updated.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36000" y="3937000"/>
            <a:ext cx="6604000" cy="6604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9" name="Text 17"/>
          <p:cNvSpPr/>
          <p:nvPr/>
        </p:nvSpPr>
        <p:spPr>
          <a:xfrm>
            <a:off x="8839200" y="4013200"/>
            <a:ext cx="619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 = i++;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i=6, j=5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0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 Usage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2000" y="57404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used alone (not in an expression), prefix and postfix behave identically: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i++;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++i;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both simply increment i by 1. Common in for loops.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6604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731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i &lt;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i++) {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i++ is shorthand for i += 1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System.out.println(i); }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Casting — Converting Between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524000"/>
            <a:ext cx="2032000" cy="4064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WIDENING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82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Implicit Casting (Automatic)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146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type → Larger type. No data loss. No cast syntax needed.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512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 → short → int → long → float → double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3784600"/>
            <a:ext cx="6604000" cy="762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3886200"/>
            <a:ext cx="619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 = i;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d = 5.0 (automatic)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82000" y="15240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2000" y="1524000"/>
            <a:ext cx="2032000" cy="40640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1524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NARROWING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2082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Casting (Manual)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6000" y="25146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type → Smaller type. Requires cast syntax. Risk of data loss.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32512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→ float → long → int → short → byte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36000" y="3784600"/>
            <a:ext cx="6604000" cy="762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20" name="Text 18"/>
          <p:cNvSpPr/>
          <p:nvPr/>
        </p:nvSpPr>
        <p:spPr>
          <a:xfrm>
            <a:off x="8839200" y="3886200"/>
            <a:ext cx="619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5.7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 = 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)d;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i = 5 (truncated)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20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Casting Rules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000" y="5778500"/>
            <a:ext cx="1473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be cast to/from numeric types using its Unicode value: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code = 'A'; // code = 65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boolean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be cast to or from any other type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Casting is often required in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mixed-type expressions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Narrowing fractional types causes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truncation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not rounding: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(int)5.9 → 5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Math.round()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proper rounding: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(int)Math.round(5.7) → 6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the String 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 type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(not primitive) that stores sequences of characters.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Declaration: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message = "Hello, World!";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property: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Strings are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immutable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once created, cannot be changed. Any "modification" creates a new String.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Concatenation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+ operator: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full = "Hello" + " " + "World";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498600"/>
            <a:ext cx="7112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6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String Methods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0" y="2082800"/>
            <a:ext cx="660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length()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returns character count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charAt(i)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character at index 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substring(a,b)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extract portion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indexOf(s)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find position of 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toUpperCase()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convert to uppercase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toLowerCase()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convert to lowercase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trim()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remove leading/trailing spaces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concat(s)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append another string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651500"/>
            <a:ext cx="7112000" cy="12700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5905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422400" y="5816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Comparison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61976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.equals()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== for content comparison. == compares references (memory addresses).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5651500"/>
            <a:ext cx="7112000" cy="1270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5753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Formatting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60960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s = String.format(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"%.2f"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value);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Formats to 2 decimal places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Methods and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98600"/>
          <a:ext cx="14732000" cy="3810000"/>
        </p:xfrm>
        <a:graphic>
          <a:graphicData uri="http://schemas.openxmlformats.org/drawingml/2006/table">
            <a:tbl>
              <a:tblPr/>
              <a:tblGrid>
                <a:gridCol w="3683000"/>
                <a:gridCol w="5156200"/>
                <a:gridCol w="58928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 (on "Hello")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length()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number of characters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"Hello".length() →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charAt(int)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char at given index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"Hello".charAt(1) → 'e'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substring(a,b)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Extracts chars from a to b-1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"Hello".substring(0,2) → "He"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indexOf(String)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first position of substring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"Hello".indexOf("l") →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toUpperCase()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Converts to uppercase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"hello".toUpperCase() → "HELLO"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trim()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Removes leading/trailing spaces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  hi  ".trim() → "hi"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concat(String)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Appends another string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"He".concat("llo") → "Hello"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651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Parsing Strings to Numbers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6159500"/>
            <a:ext cx="6858000" cy="1016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261100"/>
            <a:ext cx="635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 = Integer.parseInt(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"123"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 = Double.parseDouble(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"3.14"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82000" y="5651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Converting Numbers to Strings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382000" y="6159500"/>
            <a:ext cx="7112000" cy="1016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1" name="Text 8"/>
          <p:cNvSpPr/>
          <p:nvPr/>
        </p:nvSpPr>
        <p:spPr>
          <a:xfrm>
            <a:off x="8636000" y="6261100"/>
            <a:ext cx="660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s1 = String.valueOf(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123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s2 = Integer.toString(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123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2000" y="749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String indices start at 0. "Hello" has indices 0='H', 1='e', 2='l', 3='l', 4='o'.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 Classes — The Blueprint of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template or blueprint that defines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properties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(data fields)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behaviors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(methods) of objects.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Structure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fields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store the object's state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create and initialize objects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define the object's behaviors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520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Classes?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56515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reuse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define once, use many times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Organization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group related data and behavior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represent real-world entities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1460500"/>
            <a:ext cx="7112000" cy="5588000"/>
          </a:xfrm>
          <a:prstGeom prst="roundRect">
            <a:avLst>
              <a:gd name="adj" fmla="val 5000"/>
            </a:avLst>
          </a:prstGeom>
          <a:solidFill>
            <a:srgbClr val="1A2528"/>
          </a:solidFill>
          <a:ln/>
        </p:spPr>
      </p:sp>
      <p:sp>
        <p:nvSpPr>
          <p:cNvPr id="11" name="Shape 9"/>
          <p:cNvSpPr/>
          <p:nvPr/>
        </p:nvSpPr>
        <p:spPr>
          <a:xfrm>
            <a:off x="8382000" y="1460500"/>
            <a:ext cx="7112000" cy="457200"/>
          </a:xfrm>
          <a:prstGeom prst="roundRect">
            <a:avLst>
              <a:gd name="adj" fmla="val 5000"/>
            </a:avLst>
          </a:prstGeom>
          <a:solidFill>
            <a:srgbClr val="11181A"/>
          </a:solidFill>
          <a:ln/>
        </p:spPr>
      </p:sp>
      <p:sp>
        <p:nvSpPr>
          <p:cNvPr id="12" name="Text 10"/>
          <p:cNvSpPr/>
          <p:nvPr/>
        </p:nvSpPr>
        <p:spPr>
          <a:xfrm>
            <a:off x="8636000" y="15113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5F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BD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7C9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08000" y="15113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Circle.java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2070100"/>
            <a:ext cx="6604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Circle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Data field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radius;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Constructor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Circle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radius = r;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Method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getArea()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radius * radius * Math.PI;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82000" y="7175500"/>
            <a:ext cx="711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names use </a:t>
            </a:r>
            <a:pPr>
              <a:lnSpc>
                <a:spcPct val="100000"/>
              </a:lnSpc>
            </a:pPr>
            <a:r>
              <a:rPr lang="en-US" sz="1300" b="1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PascalCase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should be nouns: Circle, Student, BankAccount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Objects with Constructors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special method that creates and initializes objects.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Rules: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name as the class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return type (not even void)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Called with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keyword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Types: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provided automatically if none defined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Parameterized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accepts arguments to initialize fields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Overloading: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constructors with different parameter lists.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498600"/>
            <a:ext cx="7112000" cy="4318000"/>
          </a:xfrm>
          <a:prstGeom prst="roundRect">
            <a:avLst>
              <a:gd name="adj" fmla="val 5000"/>
            </a:avLst>
          </a:prstGeom>
          <a:solidFill>
            <a:srgbClr val="1A2528"/>
          </a:solidFill>
          <a:ln/>
        </p:spPr>
      </p:sp>
      <p:sp>
        <p:nvSpPr>
          <p:cNvPr id="7" name="Shape 5"/>
          <p:cNvSpPr/>
          <p:nvPr/>
        </p:nvSpPr>
        <p:spPr>
          <a:xfrm>
            <a:off x="8382000" y="1498600"/>
            <a:ext cx="7112000" cy="457200"/>
          </a:xfrm>
          <a:prstGeom prst="roundRect">
            <a:avLst>
              <a:gd name="adj" fmla="val 5000"/>
            </a:avLst>
          </a:prstGeom>
          <a:solidFill>
            <a:srgbClr val="11181A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5494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5F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BD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27C9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08000" y="15494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Student.java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21082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name;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age;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Parameterized constructor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(String n,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a)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 = n; age = a;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Creating an object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15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operator: allocates memory → calls constructor → returns a reference to the new object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0" y="704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0F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2540000" y="704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Allocate Memory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0" y="7302500"/>
            <a:ext cx="1016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096000" y="704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0F2E2E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0" y="704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Constructor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36000" y="7302500"/>
            <a:ext cx="1016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9652000" y="7048500"/>
            <a:ext cx="3302000" cy="6350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0" y="7048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Reference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Reference Variables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 variable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stores the memory address of an object — not the object itself. Think of it as a pointer to where the object lives in memory.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Steps to Using Objects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768600"/>
            <a:ext cx="4572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8194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0500" y="28448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302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Circle c;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reference only, no object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2768600"/>
            <a:ext cx="4572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5500" y="28194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3500" y="28448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Instantiate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3302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 = new Circle(5.0);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creates the object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2768600"/>
            <a:ext cx="4826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58500" y="28194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6500" y="2844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22000" y="33020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a = c.getArea();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access via reference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Declaration &amp; Instantiation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2000" y="5181600"/>
            <a:ext cx="6858000" cy="635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5257800"/>
            <a:ext cx="635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Circle c = new Circle(5.0);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all in one 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82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82000" y="51816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 vs Primitive: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Primitives store values; references store addresses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references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point to the same object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null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means the reference points to no object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Assignment copies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not the object: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obj2 = obj1;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6223000"/>
            <a:ext cx="6858000" cy="10160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00" y="6324600"/>
            <a:ext cx="635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NullPointerException: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Calling a method on a null reference causes a runtime crash. Always check: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(obj != null)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Object Members with the Dot Operator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dot operator (.)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gateway to an object's data and methods. It connects the reference variable to the member being accessed.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6638" y="25400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88925" y="132725"/>
                </a:moveTo>
                <a:cubicBezTo>
                  <a:pt x="279380" y="139045"/>
                  <a:pt x="268416" y="144140"/>
                  <a:pt x="257001" y="148203"/>
                </a:cubicBezTo>
                <a:cubicBezTo>
                  <a:pt x="226690" y="159038"/>
                  <a:pt x="186898" y="165100"/>
                  <a:pt x="144463" y="165100"/>
                </a:cubicBezTo>
                <a:cubicBezTo>
                  <a:pt x="102027" y="165100"/>
                  <a:pt x="62170" y="158973"/>
                  <a:pt x="31924" y="148203"/>
                </a:cubicBezTo>
                <a:cubicBezTo>
                  <a:pt x="20573" y="144140"/>
                  <a:pt x="9545" y="139045"/>
                  <a:pt x="0" y="132725"/>
                </a:cubicBezTo>
                <a:lnTo>
                  <a:pt x="0" y="185738"/>
                </a:lnTo>
                <a:cubicBezTo>
                  <a:pt x="0" y="214243"/>
                  <a:pt x="64686" y="237331"/>
                  <a:pt x="144463" y="237331"/>
                </a:cubicBezTo>
                <a:cubicBezTo>
                  <a:pt x="224239" y="237331"/>
                  <a:pt x="288925" y="214243"/>
                  <a:pt x="288925" y="185738"/>
                </a:cubicBezTo>
                <a:lnTo>
                  <a:pt x="288925" y="132725"/>
                </a:lnTo>
                <a:close/>
                <a:moveTo>
                  <a:pt x="288925" y="82550"/>
                </a:moveTo>
                <a:lnTo>
                  <a:pt x="288925" y="51594"/>
                </a:lnTo>
                <a:cubicBezTo>
                  <a:pt x="288925" y="23088"/>
                  <a:pt x="224239" y="0"/>
                  <a:pt x="144463" y="0"/>
                </a:cubicBezTo>
                <a:cubicBezTo>
                  <a:pt x="64686" y="0"/>
                  <a:pt x="0" y="23088"/>
                  <a:pt x="0" y="51594"/>
                </a:cubicBezTo>
                <a:lnTo>
                  <a:pt x="0" y="82550"/>
                </a:lnTo>
                <a:cubicBezTo>
                  <a:pt x="0" y="111056"/>
                  <a:pt x="64686" y="134144"/>
                  <a:pt x="144463" y="134144"/>
                </a:cubicBezTo>
                <a:cubicBezTo>
                  <a:pt x="224239" y="134144"/>
                  <a:pt x="288925" y="111056"/>
                  <a:pt x="288925" y="82550"/>
                </a:cubicBezTo>
                <a:close/>
                <a:moveTo>
                  <a:pt x="257001" y="251391"/>
                </a:moveTo>
                <a:cubicBezTo>
                  <a:pt x="226755" y="262161"/>
                  <a:pt x="186963" y="268288"/>
                  <a:pt x="144463" y="268288"/>
                </a:cubicBezTo>
                <a:cubicBezTo>
                  <a:pt x="101962" y="268288"/>
                  <a:pt x="62170" y="262161"/>
                  <a:pt x="31924" y="251391"/>
                </a:cubicBezTo>
                <a:cubicBezTo>
                  <a:pt x="20573" y="247328"/>
                  <a:pt x="9545" y="242233"/>
                  <a:pt x="0" y="235912"/>
                </a:cubicBezTo>
                <a:lnTo>
                  <a:pt x="0" y="278606"/>
                </a:lnTo>
                <a:cubicBezTo>
                  <a:pt x="0" y="307112"/>
                  <a:pt x="64686" y="330200"/>
                  <a:pt x="144463" y="330200"/>
                </a:cubicBezTo>
                <a:cubicBezTo>
                  <a:pt x="224239" y="330200"/>
                  <a:pt x="288925" y="307112"/>
                  <a:pt x="288925" y="278606"/>
                </a:cubicBezTo>
                <a:lnTo>
                  <a:pt x="288925" y="235912"/>
                </a:lnTo>
                <a:cubicBezTo>
                  <a:pt x="279380" y="242233"/>
                  <a:pt x="268416" y="247328"/>
                  <a:pt x="257001" y="25139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2514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Data Fields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226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Syntax: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objectName.fieldName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530600"/>
            <a:ext cx="6604000" cy="889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6322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Circle c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Circle();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c.radius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set field value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82000" y="23495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4725" y="2540000"/>
            <a:ext cx="412750" cy="330200"/>
          </a:xfrm>
          <a:custGeom>
            <a:avLst/>
            <a:gdLst/>
            <a:ahLst/>
            <a:cxnLst/>
            <a:rect l="l" t="t" r="r" b="b"/>
            <a:pathLst>
              <a:path w="412750" h="330200">
                <a:moveTo>
                  <a:pt x="268223" y="135756"/>
                </a:moveTo>
                <a:cubicBezTo>
                  <a:pt x="276091" y="133628"/>
                  <a:pt x="284346" y="137368"/>
                  <a:pt x="287893" y="144656"/>
                </a:cubicBezTo>
                <a:lnTo>
                  <a:pt x="299889" y="168905"/>
                </a:lnTo>
                <a:cubicBezTo>
                  <a:pt x="306531" y="169808"/>
                  <a:pt x="313045" y="171614"/>
                  <a:pt x="319172" y="174129"/>
                </a:cubicBezTo>
                <a:lnTo>
                  <a:pt x="341744" y="159102"/>
                </a:lnTo>
                <a:cubicBezTo>
                  <a:pt x="348516" y="154588"/>
                  <a:pt x="357480" y="155491"/>
                  <a:pt x="363220" y="161230"/>
                </a:cubicBezTo>
                <a:lnTo>
                  <a:pt x="375603" y="173613"/>
                </a:lnTo>
                <a:cubicBezTo>
                  <a:pt x="381342" y="179353"/>
                  <a:pt x="382245" y="188382"/>
                  <a:pt x="377731" y="195089"/>
                </a:cubicBezTo>
                <a:lnTo>
                  <a:pt x="362704" y="217597"/>
                </a:lnTo>
                <a:cubicBezTo>
                  <a:pt x="363929" y="220628"/>
                  <a:pt x="365026" y="223788"/>
                  <a:pt x="365929" y="227077"/>
                </a:cubicBezTo>
                <a:cubicBezTo>
                  <a:pt x="366832" y="230366"/>
                  <a:pt x="367412" y="233591"/>
                  <a:pt x="367863" y="236880"/>
                </a:cubicBezTo>
                <a:lnTo>
                  <a:pt x="392177" y="248875"/>
                </a:lnTo>
                <a:cubicBezTo>
                  <a:pt x="399465" y="252487"/>
                  <a:pt x="403205" y="260742"/>
                  <a:pt x="401077" y="268545"/>
                </a:cubicBezTo>
                <a:lnTo>
                  <a:pt x="396562" y="285442"/>
                </a:lnTo>
                <a:cubicBezTo>
                  <a:pt x="394434" y="293246"/>
                  <a:pt x="387147" y="298534"/>
                  <a:pt x="379021" y="298018"/>
                </a:cubicBezTo>
                <a:lnTo>
                  <a:pt x="351934" y="296277"/>
                </a:lnTo>
                <a:cubicBezTo>
                  <a:pt x="347871" y="301501"/>
                  <a:pt x="343163" y="306338"/>
                  <a:pt x="337810" y="310465"/>
                </a:cubicBezTo>
                <a:lnTo>
                  <a:pt x="339551" y="337488"/>
                </a:lnTo>
                <a:cubicBezTo>
                  <a:pt x="340067" y="345614"/>
                  <a:pt x="334779" y="352966"/>
                  <a:pt x="326975" y="355029"/>
                </a:cubicBezTo>
                <a:lnTo>
                  <a:pt x="310078" y="359544"/>
                </a:lnTo>
                <a:cubicBezTo>
                  <a:pt x="302210" y="361672"/>
                  <a:pt x="294020" y="357932"/>
                  <a:pt x="290408" y="350644"/>
                </a:cubicBezTo>
                <a:lnTo>
                  <a:pt x="278413" y="326395"/>
                </a:lnTo>
                <a:cubicBezTo>
                  <a:pt x="271770" y="325492"/>
                  <a:pt x="265256" y="323686"/>
                  <a:pt x="259130" y="321171"/>
                </a:cubicBezTo>
                <a:lnTo>
                  <a:pt x="236557" y="336198"/>
                </a:lnTo>
                <a:cubicBezTo>
                  <a:pt x="229786" y="340712"/>
                  <a:pt x="220821" y="339809"/>
                  <a:pt x="215081" y="334070"/>
                </a:cubicBezTo>
                <a:lnTo>
                  <a:pt x="202699" y="321687"/>
                </a:lnTo>
                <a:cubicBezTo>
                  <a:pt x="196959" y="315947"/>
                  <a:pt x="196056" y="306983"/>
                  <a:pt x="200571" y="300211"/>
                </a:cubicBezTo>
                <a:lnTo>
                  <a:pt x="215597" y="277639"/>
                </a:lnTo>
                <a:cubicBezTo>
                  <a:pt x="214372" y="274608"/>
                  <a:pt x="213276" y="271448"/>
                  <a:pt x="212373" y="268159"/>
                </a:cubicBezTo>
                <a:cubicBezTo>
                  <a:pt x="211470" y="264869"/>
                  <a:pt x="210889" y="261580"/>
                  <a:pt x="210438" y="258356"/>
                </a:cubicBezTo>
                <a:lnTo>
                  <a:pt x="186124" y="246360"/>
                </a:lnTo>
                <a:cubicBezTo>
                  <a:pt x="178837" y="242749"/>
                  <a:pt x="175161" y="234494"/>
                  <a:pt x="177225" y="226690"/>
                </a:cubicBezTo>
                <a:lnTo>
                  <a:pt x="181739" y="209793"/>
                </a:lnTo>
                <a:cubicBezTo>
                  <a:pt x="183867" y="201990"/>
                  <a:pt x="191155" y="196701"/>
                  <a:pt x="199281" y="197217"/>
                </a:cubicBezTo>
                <a:lnTo>
                  <a:pt x="226303" y="198958"/>
                </a:lnTo>
                <a:cubicBezTo>
                  <a:pt x="230366" y="193735"/>
                  <a:pt x="235074" y="188898"/>
                  <a:pt x="240427" y="184770"/>
                </a:cubicBezTo>
                <a:lnTo>
                  <a:pt x="238686" y="157812"/>
                </a:lnTo>
                <a:cubicBezTo>
                  <a:pt x="238170" y="149686"/>
                  <a:pt x="243458" y="142334"/>
                  <a:pt x="251262" y="140271"/>
                </a:cubicBezTo>
                <a:lnTo>
                  <a:pt x="268159" y="135756"/>
                </a:lnTo>
                <a:close/>
                <a:moveTo>
                  <a:pt x="289183" y="219273"/>
                </a:moveTo>
                <a:cubicBezTo>
                  <a:pt x="273522" y="219291"/>
                  <a:pt x="260821" y="232021"/>
                  <a:pt x="260839" y="247682"/>
                </a:cubicBezTo>
                <a:cubicBezTo>
                  <a:pt x="260856" y="263344"/>
                  <a:pt x="273586" y="276044"/>
                  <a:pt x="289247" y="276027"/>
                </a:cubicBezTo>
                <a:cubicBezTo>
                  <a:pt x="304909" y="276009"/>
                  <a:pt x="317610" y="263279"/>
                  <a:pt x="317592" y="247618"/>
                </a:cubicBezTo>
                <a:cubicBezTo>
                  <a:pt x="317574" y="231956"/>
                  <a:pt x="304844" y="219256"/>
                  <a:pt x="289183" y="219273"/>
                </a:cubicBezTo>
                <a:close/>
                <a:moveTo>
                  <a:pt x="145043" y="-29344"/>
                </a:moveTo>
                <a:lnTo>
                  <a:pt x="161940" y="-24829"/>
                </a:lnTo>
                <a:cubicBezTo>
                  <a:pt x="169743" y="-22701"/>
                  <a:pt x="175032" y="-15349"/>
                  <a:pt x="174516" y="-7288"/>
                </a:cubicBezTo>
                <a:lnTo>
                  <a:pt x="172775" y="19670"/>
                </a:lnTo>
                <a:cubicBezTo>
                  <a:pt x="178127" y="23798"/>
                  <a:pt x="182835" y="28570"/>
                  <a:pt x="186898" y="33858"/>
                </a:cubicBezTo>
                <a:lnTo>
                  <a:pt x="213985" y="32117"/>
                </a:lnTo>
                <a:cubicBezTo>
                  <a:pt x="222047" y="31601"/>
                  <a:pt x="229399" y="36890"/>
                  <a:pt x="231527" y="44693"/>
                </a:cubicBezTo>
                <a:lnTo>
                  <a:pt x="236041" y="61590"/>
                </a:lnTo>
                <a:cubicBezTo>
                  <a:pt x="238105" y="69394"/>
                  <a:pt x="234429" y="77649"/>
                  <a:pt x="227141" y="81260"/>
                </a:cubicBezTo>
                <a:lnTo>
                  <a:pt x="202828" y="93256"/>
                </a:lnTo>
                <a:cubicBezTo>
                  <a:pt x="202376" y="96545"/>
                  <a:pt x="201732" y="99834"/>
                  <a:pt x="200893" y="103059"/>
                </a:cubicBezTo>
                <a:cubicBezTo>
                  <a:pt x="200055" y="106283"/>
                  <a:pt x="198894" y="109508"/>
                  <a:pt x="197669" y="112539"/>
                </a:cubicBezTo>
                <a:lnTo>
                  <a:pt x="212695" y="135111"/>
                </a:lnTo>
                <a:cubicBezTo>
                  <a:pt x="217210" y="141883"/>
                  <a:pt x="216307" y="150847"/>
                  <a:pt x="210567" y="156587"/>
                </a:cubicBezTo>
                <a:lnTo>
                  <a:pt x="198184" y="168970"/>
                </a:lnTo>
                <a:cubicBezTo>
                  <a:pt x="192445" y="174709"/>
                  <a:pt x="183480" y="175612"/>
                  <a:pt x="176709" y="171098"/>
                </a:cubicBezTo>
                <a:lnTo>
                  <a:pt x="154136" y="156071"/>
                </a:lnTo>
                <a:cubicBezTo>
                  <a:pt x="148010" y="158586"/>
                  <a:pt x="141496" y="160392"/>
                  <a:pt x="134853" y="161295"/>
                </a:cubicBezTo>
                <a:lnTo>
                  <a:pt x="122858" y="185544"/>
                </a:lnTo>
                <a:cubicBezTo>
                  <a:pt x="119246" y="192832"/>
                  <a:pt x="110991" y="196508"/>
                  <a:pt x="103188" y="194444"/>
                </a:cubicBezTo>
                <a:lnTo>
                  <a:pt x="86291" y="189929"/>
                </a:lnTo>
                <a:cubicBezTo>
                  <a:pt x="78423" y="187801"/>
                  <a:pt x="73199" y="180449"/>
                  <a:pt x="73715" y="172388"/>
                </a:cubicBezTo>
                <a:lnTo>
                  <a:pt x="75456" y="145365"/>
                </a:lnTo>
                <a:cubicBezTo>
                  <a:pt x="70103" y="141238"/>
                  <a:pt x="65395" y="136465"/>
                  <a:pt x="61332" y="131177"/>
                </a:cubicBezTo>
                <a:lnTo>
                  <a:pt x="34245" y="132918"/>
                </a:lnTo>
                <a:cubicBezTo>
                  <a:pt x="26184" y="133434"/>
                  <a:pt x="18832" y="128146"/>
                  <a:pt x="16703" y="120342"/>
                </a:cubicBezTo>
                <a:lnTo>
                  <a:pt x="12189" y="103445"/>
                </a:lnTo>
                <a:cubicBezTo>
                  <a:pt x="10125" y="95642"/>
                  <a:pt x="13801" y="87387"/>
                  <a:pt x="21089" y="83775"/>
                </a:cubicBezTo>
                <a:lnTo>
                  <a:pt x="45403" y="71780"/>
                </a:lnTo>
                <a:cubicBezTo>
                  <a:pt x="45854" y="68491"/>
                  <a:pt x="46499" y="65266"/>
                  <a:pt x="47337" y="61977"/>
                </a:cubicBezTo>
                <a:cubicBezTo>
                  <a:pt x="48240" y="58688"/>
                  <a:pt x="49272" y="55528"/>
                  <a:pt x="50562" y="52497"/>
                </a:cubicBezTo>
                <a:lnTo>
                  <a:pt x="35535" y="29989"/>
                </a:lnTo>
                <a:cubicBezTo>
                  <a:pt x="31021" y="23217"/>
                  <a:pt x="31924" y="14253"/>
                  <a:pt x="37663" y="8513"/>
                </a:cubicBezTo>
                <a:lnTo>
                  <a:pt x="50046" y="-3870"/>
                </a:lnTo>
                <a:cubicBezTo>
                  <a:pt x="55786" y="-9609"/>
                  <a:pt x="64750" y="-10512"/>
                  <a:pt x="71522" y="-5998"/>
                </a:cubicBezTo>
                <a:lnTo>
                  <a:pt x="94094" y="9029"/>
                </a:lnTo>
                <a:cubicBezTo>
                  <a:pt x="100221" y="6514"/>
                  <a:pt x="106735" y="4708"/>
                  <a:pt x="113377" y="3805"/>
                </a:cubicBezTo>
                <a:lnTo>
                  <a:pt x="125373" y="-20444"/>
                </a:lnTo>
                <a:cubicBezTo>
                  <a:pt x="128984" y="-27732"/>
                  <a:pt x="137175" y="-31408"/>
                  <a:pt x="145043" y="-29344"/>
                </a:cubicBezTo>
                <a:close/>
                <a:moveTo>
                  <a:pt x="124083" y="54173"/>
                </a:moveTo>
                <a:cubicBezTo>
                  <a:pt x="108422" y="54173"/>
                  <a:pt x="95706" y="66889"/>
                  <a:pt x="95706" y="82550"/>
                </a:cubicBezTo>
                <a:cubicBezTo>
                  <a:pt x="95706" y="98211"/>
                  <a:pt x="108422" y="110927"/>
                  <a:pt x="124083" y="110927"/>
                </a:cubicBezTo>
                <a:cubicBezTo>
                  <a:pt x="139744" y="110927"/>
                  <a:pt x="152460" y="98211"/>
                  <a:pt x="152460" y="82550"/>
                </a:cubicBezTo>
                <a:cubicBezTo>
                  <a:pt x="152460" y="66889"/>
                  <a:pt x="139744" y="54173"/>
                  <a:pt x="124083" y="5417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9067800" y="2514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Calling Methods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30226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Syntax: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objectName.methodName()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36000" y="3530600"/>
            <a:ext cx="6604000" cy="889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7" name="Text 15"/>
          <p:cNvSpPr/>
          <p:nvPr/>
        </p:nvSpPr>
        <p:spPr>
          <a:xfrm>
            <a:off x="8839200" y="36322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area = c.getArea();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call method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System.out.println(c.toString());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508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 Best Practice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000" y="55372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Make fields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provide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getter/setter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methods. This protects data integrity and hides implementation details. Access via: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obj.getField()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obj.setField(value)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666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Members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2000" y="7112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 belong to the class, not an instance. Access with the class name — no object needed: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Math.PI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Integer.parseInt()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 Type Data Fields and Default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data fields can be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 types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(not just primitives). Uninitialized fields receive default values automatically.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Student with Reference Fields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768600"/>
            <a:ext cx="7112000" cy="2667000"/>
          </a:xfrm>
          <a:prstGeom prst="roundRect">
            <a:avLst>
              <a:gd name="adj" fmla="val 5000"/>
            </a:avLst>
          </a:prstGeom>
          <a:solidFill>
            <a:srgbClr val="1A252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921000"/>
            <a:ext cx="66040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name;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reference type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 birthDate;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reference type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age;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primitive type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gpa;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primitive type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2000" y="228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Values for Uninitialized Fields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768600"/>
          <a:ext cx="7112000" cy="2667000"/>
        </p:xfrm>
        <a:graphic>
          <a:graphicData uri="http://schemas.openxmlformats.org/drawingml/2006/table">
            <a:tbl>
              <a:tblPr/>
              <a:tblGrid>
                <a:gridCol w="3200400"/>
                <a:gridCol w="39116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Default 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2E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 (byte, short, int, long)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Floating-point (float, double)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'\u0000' (null character)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Reference types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2000" y="5842000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6000" y="609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91132" y="91132"/>
                </a:moveTo>
                <a:cubicBezTo>
                  <a:pt x="96262" y="86003"/>
                  <a:pt x="104557" y="86003"/>
                  <a:pt x="109632" y="91132"/>
                </a:cubicBezTo>
                <a:lnTo>
                  <a:pt x="139645" y="121146"/>
                </a:lnTo>
                <a:lnTo>
                  <a:pt x="169659" y="91132"/>
                </a:lnTo>
                <a:cubicBezTo>
                  <a:pt x="174789" y="86003"/>
                  <a:pt x="183083" y="86003"/>
                  <a:pt x="188158" y="91132"/>
                </a:cubicBezTo>
                <a:cubicBezTo>
                  <a:pt x="193233" y="96262"/>
                  <a:pt x="193288" y="104557"/>
                  <a:pt x="188158" y="109632"/>
                </a:cubicBezTo>
                <a:lnTo>
                  <a:pt x="158145" y="139645"/>
                </a:lnTo>
                <a:lnTo>
                  <a:pt x="188158" y="169659"/>
                </a:lnTo>
                <a:cubicBezTo>
                  <a:pt x="193288" y="174789"/>
                  <a:pt x="193288" y="183083"/>
                  <a:pt x="188158" y="188158"/>
                </a:cubicBezTo>
                <a:cubicBezTo>
                  <a:pt x="183029" y="193233"/>
                  <a:pt x="174734" y="193288"/>
                  <a:pt x="169659" y="188158"/>
                </a:cubicBezTo>
                <a:lnTo>
                  <a:pt x="139645" y="158145"/>
                </a:lnTo>
                <a:lnTo>
                  <a:pt x="109632" y="188158"/>
                </a:lnTo>
                <a:cubicBezTo>
                  <a:pt x="104502" y="193288"/>
                  <a:pt x="96207" y="193288"/>
                  <a:pt x="91132" y="188158"/>
                </a:cubicBezTo>
                <a:cubicBezTo>
                  <a:pt x="86057" y="183029"/>
                  <a:pt x="86003" y="174734"/>
                  <a:pt x="91132" y="169659"/>
                </a:cubicBezTo>
                <a:lnTo>
                  <a:pt x="121146" y="139645"/>
                </a:lnTo>
                <a:lnTo>
                  <a:pt x="91132" y="109632"/>
                </a:lnTo>
                <a:cubicBezTo>
                  <a:pt x="86003" y="104502"/>
                  <a:pt x="86003" y="96207"/>
                  <a:pt x="91132" y="91132"/>
                </a:cubicBezTo>
                <a:close/>
              </a:path>
            </a:pathLst>
          </a:custGeom>
          <a:solidFill>
            <a:srgbClr val="C62828"/>
          </a:solidFill>
          <a:ln/>
        </p:spPr>
      </p:sp>
      <p:sp>
        <p:nvSpPr>
          <p:cNvPr id="13" name="Text 10"/>
          <p:cNvSpPr/>
          <p:nvPr/>
        </p:nvSpPr>
        <p:spPr>
          <a:xfrm>
            <a:off x="1422400" y="5994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C62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Variables Have No Defaults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6000" y="64008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declared inside methods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be initialized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use. The compiler will report an error for uninitialized local variables.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7366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Initialize fields in constructors rather than relying on default values. This makes your intent explicit and prevents null-related bugs.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4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Visualizing Objects and References in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3302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159000"/>
            <a:ext cx="279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Variables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Vars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 → 0xA1B2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 → 100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access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LIFO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6000" y="1498600"/>
            <a:ext cx="1066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6000" y="1905000"/>
            <a:ext cx="10668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0000" y="2159000"/>
            <a:ext cx="1016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 (created with new)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at 0xA1B2: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Circle { radius = 5.0 }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allocation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Managed by Garbage Collector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 access than stack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3302000"/>
            <a:ext cx="762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4127500" y="3048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During Execution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6070600"/>
            <a:ext cx="7112000" cy="1270000"/>
          </a:xfrm>
          <a:prstGeom prst="roundRect">
            <a:avLst>
              <a:gd name="adj" fmla="val 4000"/>
            </a:avLst>
          </a:prstGeom>
          <a:solidFill>
            <a:srgbClr val="1A2528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1976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Circle 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Circle(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5E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 (reference) on stack, Circle object on heap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2000" y="60706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c1 = c2 makes both references point to the same object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 object with no references is garbage collected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reference means no object is assigned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6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1752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4732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Shorthand Operators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606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+=, -=, *=, /=, %=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code concise.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++ and --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increment/decrement by 1. Know prefix vs postfix behavior.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524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25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04596"/>
                </a:moveTo>
                <a:lnTo>
                  <a:pt x="282396" y="171271"/>
                </a:lnTo>
                <a:cubicBezTo>
                  <a:pt x="273715" y="179953"/>
                  <a:pt x="259616" y="179953"/>
                  <a:pt x="250934" y="171271"/>
                </a:cubicBezTo>
                <a:cubicBezTo>
                  <a:pt x="242253" y="162590"/>
                  <a:pt x="242253" y="148491"/>
                  <a:pt x="250934" y="139809"/>
                </a:cubicBezTo>
                <a:lnTo>
                  <a:pt x="279688" y="111125"/>
                </a:ln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279688" y="66675"/>
                </a:lnTo>
                <a:lnTo>
                  <a:pt x="250934" y="37921"/>
                </a:lnTo>
                <a:cubicBezTo>
                  <a:pt x="242253" y="29240"/>
                  <a:pt x="242253" y="15141"/>
                  <a:pt x="250934" y="6459"/>
                </a:cubicBezTo>
                <a:cubicBezTo>
                  <a:pt x="259616" y="-2222"/>
                  <a:pt x="273715" y="-2222"/>
                  <a:pt x="282396" y="6459"/>
                </a:cubicBezTo>
                <a:lnTo>
                  <a:pt x="349071" y="73134"/>
                </a:lnTo>
                <a:cubicBezTo>
                  <a:pt x="357753" y="81816"/>
                  <a:pt x="357753" y="95915"/>
                  <a:pt x="349071" y="104596"/>
                </a:cubicBezTo>
                <a:close/>
                <a:moveTo>
                  <a:pt x="73134" y="349071"/>
                </a:moveTo>
                <a:lnTo>
                  <a:pt x="6459" y="282396"/>
                </a:lnTo>
                <a:cubicBezTo>
                  <a:pt x="-2222" y="273715"/>
                  <a:pt x="-2222" y="259616"/>
                  <a:pt x="6459" y="250934"/>
                </a:cubicBezTo>
                <a:lnTo>
                  <a:pt x="73134" y="184259"/>
                </a:lnTo>
                <a:cubicBezTo>
                  <a:pt x="81816" y="175577"/>
                  <a:pt x="95915" y="175577"/>
                  <a:pt x="104596" y="184259"/>
                </a:cubicBezTo>
                <a:cubicBezTo>
                  <a:pt x="113278" y="192941"/>
                  <a:pt x="113278" y="207040"/>
                  <a:pt x="104596" y="215721"/>
                </a:cubicBezTo>
                <a:lnTo>
                  <a:pt x="75912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cubicBezTo>
                  <a:pt x="355600" y="278993"/>
                  <a:pt x="345668" y="288925"/>
                  <a:pt x="333375" y="288925"/>
                </a:cubicBezTo>
                <a:lnTo>
                  <a:pt x="75912" y="288925"/>
                </a:lnTo>
                <a:lnTo>
                  <a:pt x="104666" y="317679"/>
                </a:lnTo>
                <a:cubicBezTo>
                  <a:pt x="113348" y="326360"/>
                  <a:pt x="113348" y="340459"/>
                  <a:pt x="104666" y="349141"/>
                </a:cubicBezTo>
                <a:cubicBezTo>
                  <a:pt x="95984" y="357823"/>
                  <a:pt x="81885" y="357823"/>
                  <a:pt x="73204" y="34914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64897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Casting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2606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Widening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automatic (safe).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Narrowing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explicit cast and risks data loss. boolean cannot be cast.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240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5062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Type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2606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Strings are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immutable reference types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Use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.equals()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comparison, not ==. Rich method library for manipulation.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4450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0F2E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467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7247" y="-903"/>
                </a:moveTo>
                <a:cubicBezTo>
                  <a:pt x="185231" y="-7848"/>
                  <a:pt x="170369" y="-7848"/>
                  <a:pt x="158353" y="-903"/>
                </a:cubicBezTo>
                <a:lnTo>
                  <a:pt x="99874" y="32851"/>
                </a:lnTo>
                <a:cubicBezTo>
                  <a:pt x="87858" y="39797"/>
                  <a:pt x="80427" y="52645"/>
                  <a:pt x="80427" y="66536"/>
                </a:cubicBezTo>
                <a:lnTo>
                  <a:pt x="80427" y="137309"/>
                </a:lnTo>
                <a:lnTo>
                  <a:pt x="19100" y="172730"/>
                </a:lnTo>
                <a:cubicBezTo>
                  <a:pt x="7084" y="179675"/>
                  <a:pt x="-347" y="192524"/>
                  <a:pt x="-347" y="206415"/>
                </a:cubicBezTo>
                <a:lnTo>
                  <a:pt x="-347" y="273993"/>
                </a:lnTo>
                <a:cubicBezTo>
                  <a:pt x="-347" y="287883"/>
                  <a:pt x="7084" y="300732"/>
                  <a:pt x="19100" y="307677"/>
                </a:cubicBezTo>
                <a:lnTo>
                  <a:pt x="77649" y="341432"/>
                </a:lnTo>
                <a:cubicBezTo>
                  <a:pt x="89664" y="348377"/>
                  <a:pt x="104527" y="348377"/>
                  <a:pt x="116542" y="341432"/>
                </a:cubicBezTo>
                <a:lnTo>
                  <a:pt x="177869" y="306010"/>
                </a:lnTo>
                <a:lnTo>
                  <a:pt x="239197" y="341432"/>
                </a:lnTo>
                <a:cubicBezTo>
                  <a:pt x="251212" y="348377"/>
                  <a:pt x="266075" y="348377"/>
                  <a:pt x="278090" y="341432"/>
                </a:cubicBezTo>
                <a:lnTo>
                  <a:pt x="336500" y="307677"/>
                </a:lnTo>
                <a:cubicBezTo>
                  <a:pt x="348516" y="300732"/>
                  <a:pt x="355947" y="287883"/>
                  <a:pt x="355947" y="273993"/>
                </a:cubicBezTo>
                <a:lnTo>
                  <a:pt x="355947" y="206415"/>
                </a:lnTo>
                <a:cubicBezTo>
                  <a:pt x="355947" y="192524"/>
                  <a:pt x="348516" y="179675"/>
                  <a:pt x="336500" y="172730"/>
                </a:cubicBezTo>
                <a:lnTo>
                  <a:pt x="275173" y="137309"/>
                </a:lnTo>
                <a:lnTo>
                  <a:pt x="275173" y="66536"/>
                </a:lnTo>
                <a:cubicBezTo>
                  <a:pt x="275173" y="52645"/>
                  <a:pt x="267742" y="39797"/>
                  <a:pt x="255726" y="32851"/>
                </a:cubicBezTo>
                <a:lnTo>
                  <a:pt x="197247" y="-903"/>
                </a:lnTo>
                <a:close/>
                <a:moveTo>
                  <a:pt x="161131" y="203220"/>
                </a:moveTo>
                <a:lnTo>
                  <a:pt x="161131" y="277187"/>
                </a:lnTo>
                <a:lnTo>
                  <a:pt x="99804" y="312609"/>
                </a:lnTo>
                <a:cubicBezTo>
                  <a:pt x="98971" y="313095"/>
                  <a:pt x="97998" y="313373"/>
                  <a:pt x="97026" y="313373"/>
                </a:cubicBezTo>
                <a:lnTo>
                  <a:pt x="97026" y="240238"/>
                </a:lnTo>
                <a:lnTo>
                  <a:pt x="161131" y="203220"/>
                </a:lnTo>
                <a:close/>
                <a:moveTo>
                  <a:pt x="321846" y="203637"/>
                </a:moveTo>
                <a:cubicBezTo>
                  <a:pt x="322332" y="204470"/>
                  <a:pt x="322610" y="205442"/>
                  <a:pt x="322610" y="206415"/>
                </a:cubicBezTo>
                <a:lnTo>
                  <a:pt x="322610" y="273993"/>
                </a:lnTo>
                <a:cubicBezTo>
                  <a:pt x="322610" y="276007"/>
                  <a:pt x="321568" y="277813"/>
                  <a:pt x="319832" y="278785"/>
                </a:cubicBezTo>
                <a:lnTo>
                  <a:pt x="261283" y="312539"/>
                </a:lnTo>
                <a:cubicBezTo>
                  <a:pt x="260449" y="313025"/>
                  <a:pt x="259477" y="313303"/>
                  <a:pt x="258505" y="313303"/>
                </a:cubicBezTo>
                <a:lnTo>
                  <a:pt x="258505" y="240169"/>
                </a:lnTo>
                <a:lnTo>
                  <a:pt x="321846" y="203637"/>
                </a:lnTo>
                <a:close/>
                <a:moveTo>
                  <a:pt x="241905" y="66536"/>
                </a:moveTo>
                <a:lnTo>
                  <a:pt x="241905" y="137309"/>
                </a:lnTo>
                <a:lnTo>
                  <a:pt x="177800" y="174327"/>
                </a:lnTo>
                <a:lnTo>
                  <a:pt x="177800" y="100360"/>
                </a:lnTo>
                <a:lnTo>
                  <a:pt x="241141" y="63827"/>
                </a:lnTo>
                <a:cubicBezTo>
                  <a:pt x="241627" y="64661"/>
                  <a:pt x="241905" y="65633"/>
                  <a:pt x="241905" y="6660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" y="4673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 and Objects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1816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define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blueprints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Constructors create and initialize objects. The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allocates memory. Multiple constructors can be overloaded.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44450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0F2E2E"/>
          </a:solidFill>
          <a:ln/>
        </p:spPr>
      </p:sp>
      <p:sp>
        <p:nvSpPr>
          <p:cNvPr id="22" name="Shape 20"/>
          <p:cNvSpPr/>
          <p:nvPr/>
        </p:nvSpPr>
        <p:spPr>
          <a:xfrm>
            <a:off x="8613775" y="4673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9093200" y="4673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 Variables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6000" y="51816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 store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addresses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objects. The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dot operator (.)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accesses members. Understand stack vs heap memory.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366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F2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OOP concepts form the foundation for all Java development.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200" kern="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 Review — Connecting the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input to objects — the complete picture of Week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286000"/>
            <a:ext cx="1524000" cy="4064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286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844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Input, Data &amp;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3274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(Scanner / JOptionPane)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variables (primitives)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operators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results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2860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2286000"/>
            <a:ext cx="1524000" cy="406400"/>
          </a:xfrm>
          <a:prstGeom prst="roundRect">
            <a:avLst>
              <a:gd name="adj" fmla="val 8000"/>
            </a:avLst>
          </a:prstGeom>
          <a:solidFill>
            <a:srgbClr val="0F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2286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28448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Tools &amp; 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33274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shorthand operators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types differ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strings effectively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classes and objects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0" y="36830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arrow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62000" y="6032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0F2E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6134100"/>
            <a:ext cx="142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Progression: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Procedural Programming → Object-Oriented Thinking. You now have the tools to build structured, reusable Java programs.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742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F2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Recommendation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2000" y="7874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small program: 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Scanner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input → store data in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process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display formatted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output.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0" y="8839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762000"/>
            <a:ext cx="1270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spc="800" kern="0" dirty="0">
                <a:solidFill>
                  <a:srgbClr val="FFFFFF">
                    <a:alpha val="4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2413000" y="3302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only way to learn a new programming language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by writing programs in it."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8000" y="444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Dennis Ritchie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5207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842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83000" y="6477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Flow Statements — if, switch, loops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8000" y="762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Computer Programming | Week 3 Complete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Programming - Week 3</dc:title>
  <dc:subject>Advanced Computer Programming - Week 3</dc:subject>
  <dc:creator>Kimi</dc:creator>
  <cp:lastModifiedBy>Kimi</cp:lastModifiedBy>
  <cp:revision>1</cp:revision>
  <dcterms:created xsi:type="dcterms:W3CDTF">2026-05-25T16:51:58Z</dcterms:created>
  <dcterms:modified xsi:type="dcterms:W3CDTF">2026-05-25T16:51:58Z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{"Label":"Advanced Computer Programming - Week 3","ContentProducer":"001191110108MACG2KBH8F10000","ProduceID":"19e6002f-3312-8f07-8000-00003eff5815","ReservedCode1":"","ContentPropagator":"001191110108MACG2KBH8F20000","PropagateID":"19e6002f-3312-8f07-8000-00003eff5815","ReservedCode2":""}</vt:lpwstr>
  </property>
</Properties>
</file>