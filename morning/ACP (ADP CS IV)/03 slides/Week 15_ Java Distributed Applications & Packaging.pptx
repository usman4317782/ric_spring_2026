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6256000" cy="9144000"/>
  <p:notesSz cx="9144000" cy="16256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00" cy="3810000"/>
          </a:xfrm>
          <a:custGeom>
            <a:avLst/>
            <a:gdLst/>
            <a:ahLst/>
            <a:cxnLst/>
            <a:rect l="l" t="t" r="r" b="b"/>
            <a:pathLst>
              <a:path w="5080000" h="3810000">
                <a:moveTo>
                  <a:pt x="0" y="0"/>
                </a:moveTo>
                <a:lnTo>
                  <a:pt x="5080000" y="0"/>
                </a:lnTo>
                <a:lnTo>
                  <a:pt x="5080000" y="1905000"/>
                </a:lnTo>
                <a:quadBezTo>
                  <a:pt x="4445000" y="2540000"/>
                  <a:pt x="3810000" y="2540000"/>
                </a:quadBezTo>
                <a:lnTo>
                  <a:pt x="1270000" y="2540000"/>
                </a:lnTo>
                <a:quadBezTo>
                  <a:pt x="635000" y="2540000"/>
                  <a:pt x="0" y="1905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/>
              </a:gs>
              <a:gs pos="50000">
                <a:srgbClr val="D0E0E3"/>
              </a:gs>
              <a:gs pos="100000">
                <a:srgbClr val="D0E0E3">
                  <a:alpha val="13000"/>
                </a:srgbClr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11176000" y="6604000"/>
            <a:ext cx="5080000" cy="2540000"/>
          </a:xfrm>
          <a:custGeom>
            <a:avLst/>
            <a:gdLst/>
            <a:ahLst/>
            <a:cxnLst/>
            <a:rect l="l" t="t" r="r" b="b"/>
            <a:pathLst>
              <a:path w="5080000" h="2540000">
                <a:moveTo>
                  <a:pt x="5080000" y="2540000"/>
                </a:moveTo>
                <a:lnTo>
                  <a:pt x="0" y="2540000"/>
                </a:lnTo>
                <a:lnTo>
                  <a:pt x="0" y="1270000"/>
                </a:lnTo>
                <a:quadBezTo>
                  <a:pt x="635000" y="635000"/>
                  <a:pt x="1270000" y="635000"/>
                </a:quadBezTo>
                <a:lnTo>
                  <a:pt x="3810000" y="635000"/>
                </a:lnTo>
                <a:quadBezTo>
                  <a:pt x="4445000" y="635000"/>
                  <a:pt x="5080000" y="1270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25000"/>
                </a:srgbClr>
              </a:gs>
              <a:gs pos="50000">
                <a:srgbClr val="D0E0E3"/>
              </a:gs>
              <a:gs pos="100000">
                <a:srgbClr val="D0D6DC"/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1778000" y="2286000"/>
            <a:ext cx="12700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6800" b="1" spc="100" kern="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15: Java Distributed Applications &amp; Packaging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3048000" y="4572000"/>
            <a:ext cx="1016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29 — RMI  ·  Lecture 30 — Documenting &amp; Packaging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5334000"/>
            <a:ext cx="2540000" cy="25400"/>
          </a:xfrm>
          <a:prstGeom prst="rect">
            <a:avLst/>
          </a:prstGeom>
          <a:solidFill>
            <a:srgbClr val="6B9CB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953000" y="558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Programming Course · Week 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1016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0160000" y="1270000"/>
            <a:ext cx="4826000" cy="6350000"/>
          </a:xfrm>
          <a:custGeom>
            <a:avLst/>
            <a:gdLst/>
            <a:ahLst/>
            <a:cxnLst/>
            <a:rect l="l" t="t" r="r" b="b"/>
            <a:pathLst>
              <a:path w="4826000" h="6350000">
                <a:moveTo>
                  <a:pt x="4826000" y="0"/>
                </a:moveTo>
                <a:lnTo>
                  <a:pt x="4826000" y="6350000"/>
                </a:lnTo>
                <a:lnTo>
                  <a:pt x="2413000" y="6350000"/>
                </a:lnTo>
                <a:quadBezTo>
                  <a:pt x="1778000" y="6350000"/>
                  <a:pt x="1143000" y="5715000"/>
                </a:quadBezTo>
                <a:lnTo>
                  <a:pt x="1143000" y="635000"/>
                </a:lnTo>
                <a:quadBezTo>
                  <a:pt x="1143000" y="0"/>
                  <a:pt x="1778000" y="0"/>
                </a:quadBezTo>
                <a:close/>
              </a:path>
            </a:pathLst>
          </a:custGeom>
          <a:gradFill rotWithShape="1" flip="none">
            <a:gsLst>
              <a:gs pos="0">
                <a:srgbClr val="D0E0E3">
                  <a:alpha val="6000"/>
                </a:srgbClr>
              </a:gs>
              <a:gs pos="70000">
                <a:srgbClr val="D0E0E3"/>
              </a:gs>
              <a:gs pos="100000">
                <a:srgbClr val="2E5E8A">
                  <a:alpha val="8000"/>
                </a:srgbClr>
              </a:gs>
            </a:gsLst>
            <a:lin ang="10800000" scaled="1"/>
          </a:gra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476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540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Distributed Applications using RMI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0" y="3048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Definition · Architecture · Real-World Example · Code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24000" y="4318000"/>
            <a:ext cx="508000" cy="508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4254500"/>
            <a:ext cx="50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286000" y="43180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2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Documenting and Packaging Java Applications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4826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Javadoc · JAR Files · Build Tools · Code Examples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29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2921000"/>
            <a:ext cx="1016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Distributed Applications using RMI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953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Building remote method invocation systems in Java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RMI? — Definition &amp; Core Concepts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RMI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(Remote Method Invocation) is a Java API that allows an object in one JVM to invoke methods on an object in another JVM — possibly on a different host.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Concepts: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Location Transparency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caller doesn't know the object is remote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Built on Java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Serialization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TCP/IP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Introduced in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JDK 1.1 (1997)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Foundation for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EJB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enterprise frameworks</a:t>
            </a:r>
            <a:endParaRPr lang="en-US" sz="20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Purpose:</a:t>
            </a:r>
            <a:endParaRPr lang="en-US" sz="2000" dirty="0"/>
          </a:p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distributed applications where objects communicate across network boundaries as if they were local.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6096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71000" y="21590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RMI vs. Other Technologies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271000" y="2794000"/>
            <a:ext cx="5334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RMI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Java-to-Java only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Object-oriented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Automatic serialization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Tight Java integration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REST API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Language-agnostic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HTTP-based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Manual data conversion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Loose coupling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gRPC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Cross-language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Protocol Buffers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High performance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RMI Architecture — How It Works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524000" y="2540000"/>
            <a:ext cx="1270000" cy="1270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5" name="Shape 3"/>
          <p:cNvSpPr/>
          <p:nvPr/>
        </p:nvSpPr>
        <p:spPr>
          <a:xfrm>
            <a:off x="1854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47650" y="495300"/>
                </a:lnTo>
                <a:lnTo>
                  <a:pt x="228600" y="552450"/>
                </a:lnTo>
                <a:lnTo>
                  <a:pt x="142875" y="552450"/>
                </a:lnTo>
                <a:cubicBezTo>
                  <a:pt x="127040" y="552450"/>
                  <a:pt x="114300" y="565190"/>
                  <a:pt x="114300" y="581025"/>
                </a:cubicBezTo>
                <a:cubicBezTo>
                  <a:pt x="114300" y="596860"/>
                  <a:pt x="127040" y="609600"/>
                  <a:pt x="142875" y="609600"/>
                </a:cubicBezTo>
                <a:lnTo>
                  <a:pt x="466725" y="609600"/>
                </a:lnTo>
                <a:cubicBezTo>
                  <a:pt x="482560" y="609600"/>
                  <a:pt x="495300" y="596860"/>
                  <a:pt x="495300" y="581025"/>
                </a:cubicBezTo>
                <a:cubicBezTo>
                  <a:pt x="495300" y="565190"/>
                  <a:pt x="482560" y="552450"/>
                  <a:pt x="466725" y="552450"/>
                </a:cubicBezTo>
                <a:lnTo>
                  <a:pt x="381000" y="552450"/>
                </a:lnTo>
                <a:lnTo>
                  <a:pt x="361950" y="495300"/>
                </a:lnTo>
                <a:lnTo>
                  <a:pt x="533400" y="495300"/>
                </a:lnTo>
                <a:cubicBezTo>
                  <a:pt x="575429" y="495300"/>
                  <a:pt x="609600" y="461129"/>
                  <a:pt x="609600" y="419100"/>
                </a:cubicBezTo>
                <a:lnTo>
                  <a:pt x="609600" y="114300"/>
                </a:lnTo>
                <a:cubicBezTo>
                  <a:pt x="609600" y="72271"/>
                  <a:pt x="575429" y="38100"/>
                  <a:pt x="533400" y="38100"/>
                </a:cubicBezTo>
                <a:lnTo>
                  <a:pt x="76200" y="38100"/>
                </a:lnTo>
                <a:close/>
                <a:moveTo>
                  <a:pt x="114300" y="114300"/>
                </a:move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lnTo>
                  <a:pt x="533400" y="342900"/>
                </a:lnTo>
                <a:cubicBezTo>
                  <a:pt x="533400" y="363974"/>
                  <a:pt x="516374" y="381000"/>
                  <a:pt x="495300" y="381000"/>
                </a:cubicBezTo>
                <a:lnTo>
                  <a:pt x="114300" y="381000"/>
                </a:lnTo>
                <a:cubicBezTo>
                  <a:pt x="93226" y="381000"/>
                  <a:pt x="76200" y="363974"/>
                  <a:pt x="76200" y="342900"/>
                </a:cubicBezTo>
                <a:lnTo>
                  <a:pt x="76200" y="152400"/>
                </a:lnTo>
                <a:cubicBezTo>
                  <a:pt x="76200" y="131326"/>
                  <a:pt x="93226" y="114300"/>
                  <a:pt x="114300" y="1143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270000" y="3937000"/>
            <a:ext cx="17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16000" y="4381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Calls methods on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Stub</a:t>
            </a:r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(local proxy)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94000" y="3175000"/>
            <a:ext cx="127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064000" y="2540000"/>
            <a:ext cx="1270000" cy="1270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0" name="Shape 8"/>
          <p:cNvSpPr/>
          <p:nvPr/>
        </p:nvSpPr>
        <p:spPr>
          <a:xfrm>
            <a:off x="4394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0" y="76200"/>
                </a:moveTo>
                <a:cubicBezTo>
                  <a:pt x="0" y="34171"/>
                  <a:pt x="45561" y="0"/>
                  <a:pt x="101600" y="0"/>
                </a:cubicBezTo>
                <a:lnTo>
                  <a:pt x="338931" y="0"/>
                </a:lnTo>
                <a:cubicBezTo>
                  <a:pt x="365919" y="0"/>
                  <a:pt x="391795" y="7977"/>
                  <a:pt x="410845" y="22265"/>
                </a:cubicBezTo>
                <a:lnTo>
                  <a:pt x="579914" y="149185"/>
                </a:lnTo>
                <a:cubicBezTo>
                  <a:pt x="598964" y="163473"/>
                  <a:pt x="609600" y="182880"/>
                  <a:pt x="609600" y="203121"/>
                </a:cubicBezTo>
                <a:lnTo>
                  <a:pt x="609600" y="533400"/>
                </a:lnTo>
                <a:cubicBezTo>
                  <a:pt x="609600" y="575429"/>
                  <a:pt x="564039" y="609600"/>
                  <a:pt x="508000" y="609600"/>
                </a:cubicBezTo>
                <a:lnTo>
                  <a:pt x="101600" y="609600"/>
                </a:lnTo>
                <a:cubicBezTo>
                  <a:pt x="45561" y="609600"/>
                  <a:pt x="0" y="575429"/>
                  <a:pt x="0" y="533400"/>
                </a:cubicBezTo>
                <a:lnTo>
                  <a:pt x="0" y="76200"/>
                </a:lnTo>
                <a:close/>
                <a:moveTo>
                  <a:pt x="330200" y="69652"/>
                </a:moveTo>
                <a:lnTo>
                  <a:pt x="330200" y="180975"/>
                </a:lnTo>
                <a:cubicBezTo>
                  <a:pt x="330200" y="196810"/>
                  <a:pt x="347186" y="209550"/>
                  <a:pt x="368300" y="209550"/>
                </a:cubicBezTo>
                <a:lnTo>
                  <a:pt x="516731" y="209550"/>
                </a:lnTo>
                <a:lnTo>
                  <a:pt x="330200" y="69652"/>
                </a:lnTo>
                <a:close/>
                <a:moveTo>
                  <a:pt x="244793" y="351949"/>
                </a:moveTo>
                <a:cubicBezTo>
                  <a:pt x="258445" y="339923"/>
                  <a:pt x="256699" y="321945"/>
                  <a:pt x="240665" y="311706"/>
                </a:cubicBezTo>
                <a:cubicBezTo>
                  <a:pt x="224631" y="301466"/>
                  <a:pt x="200660" y="302776"/>
                  <a:pt x="187008" y="314801"/>
                </a:cubicBezTo>
                <a:lnTo>
                  <a:pt x="110808" y="381476"/>
                </a:lnTo>
                <a:cubicBezTo>
                  <a:pt x="98584" y="392192"/>
                  <a:pt x="98584" y="407908"/>
                  <a:pt x="110808" y="418624"/>
                </a:cubicBezTo>
                <a:lnTo>
                  <a:pt x="187008" y="485299"/>
                </a:lnTo>
                <a:cubicBezTo>
                  <a:pt x="200660" y="497324"/>
                  <a:pt x="224790" y="498634"/>
                  <a:pt x="240665" y="488394"/>
                </a:cubicBezTo>
                <a:cubicBezTo>
                  <a:pt x="256540" y="478155"/>
                  <a:pt x="258445" y="460058"/>
                  <a:pt x="244793" y="448151"/>
                </a:cubicBezTo>
                <a:lnTo>
                  <a:pt x="189865" y="400050"/>
                </a:lnTo>
                <a:lnTo>
                  <a:pt x="244793" y="351949"/>
                </a:lnTo>
                <a:close/>
                <a:moveTo>
                  <a:pt x="422592" y="314801"/>
                </a:moveTo>
                <a:cubicBezTo>
                  <a:pt x="408940" y="302776"/>
                  <a:pt x="384810" y="301466"/>
                  <a:pt x="368935" y="311706"/>
                </a:cubicBezTo>
                <a:cubicBezTo>
                  <a:pt x="353060" y="321945"/>
                  <a:pt x="351155" y="340043"/>
                  <a:pt x="364808" y="351949"/>
                </a:cubicBezTo>
                <a:lnTo>
                  <a:pt x="419735" y="400050"/>
                </a:lnTo>
                <a:lnTo>
                  <a:pt x="364808" y="448151"/>
                </a:lnTo>
                <a:cubicBezTo>
                  <a:pt x="351155" y="460177"/>
                  <a:pt x="352901" y="478155"/>
                  <a:pt x="368935" y="488394"/>
                </a:cubicBezTo>
                <a:cubicBezTo>
                  <a:pt x="384969" y="498634"/>
                  <a:pt x="408940" y="497324"/>
                  <a:pt x="422592" y="485299"/>
                </a:cubicBezTo>
                <a:lnTo>
                  <a:pt x="498793" y="418624"/>
                </a:lnTo>
                <a:cubicBezTo>
                  <a:pt x="511016" y="407908"/>
                  <a:pt x="511016" y="392192"/>
                  <a:pt x="498793" y="381476"/>
                </a:cubicBezTo>
                <a:lnTo>
                  <a:pt x="422592" y="31480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37000" y="39370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Stub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83000" y="4381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Marshals call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 serializes args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334000" y="3175000"/>
            <a:ext cx="127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6604000" y="2540000"/>
            <a:ext cx="1270000" cy="1270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15" name="Shape 13"/>
          <p:cNvSpPr/>
          <p:nvPr/>
        </p:nvSpPr>
        <p:spPr>
          <a:xfrm>
            <a:off x="6934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22514" y="609600"/>
                </a:moveTo>
                <a:lnTo>
                  <a:pt x="130629" y="609600"/>
                </a:lnTo>
                <a:cubicBezTo>
                  <a:pt x="58511" y="609600"/>
                  <a:pt x="0" y="558403"/>
                  <a:pt x="0" y="495300"/>
                </a:cubicBezTo>
                <a:lnTo>
                  <a:pt x="0" y="114300"/>
                </a:lnTo>
                <a:cubicBezTo>
                  <a:pt x="0" y="51197"/>
                  <a:pt x="58511" y="0"/>
                  <a:pt x="130629" y="0"/>
                </a:cubicBezTo>
                <a:lnTo>
                  <a:pt x="544286" y="0"/>
                </a:lnTo>
                <a:cubicBezTo>
                  <a:pt x="580345" y="0"/>
                  <a:pt x="609600" y="25598"/>
                  <a:pt x="609600" y="57150"/>
                </a:cubicBezTo>
                <a:lnTo>
                  <a:pt x="609600" y="400050"/>
                </a:lnTo>
                <a:cubicBezTo>
                  <a:pt x="609600" y="424934"/>
                  <a:pt x="591366" y="446127"/>
                  <a:pt x="566057" y="453985"/>
                </a:cubicBezTo>
                <a:lnTo>
                  <a:pt x="566057" y="533400"/>
                </a:lnTo>
                <a:cubicBezTo>
                  <a:pt x="590142" y="533400"/>
                  <a:pt x="609600" y="550426"/>
                  <a:pt x="609600" y="571500"/>
                </a:cubicBezTo>
                <a:cubicBezTo>
                  <a:pt x="609600" y="592574"/>
                  <a:pt x="590142" y="609600"/>
                  <a:pt x="566057" y="609600"/>
                </a:cubicBezTo>
                <a:lnTo>
                  <a:pt x="522514" y="609600"/>
                </a:lnTo>
                <a:close/>
                <a:moveTo>
                  <a:pt x="130629" y="457200"/>
                </a:moveTo>
                <a:cubicBezTo>
                  <a:pt x="106544" y="457200"/>
                  <a:pt x="87086" y="474226"/>
                  <a:pt x="87086" y="495300"/>
                </a:cubicBezTo>
                <a:cubicBezTo>
                  <a:pt x="87086" y="516374"/>
                  <a:pt x="106544" y="533400"/>
                  <a:pt x="130629" y="533400"/>
                </a:cubicBezTo>
                <a:lnTo>
                  <a:pt x="478971" y="533400"/>
                </a:lnTo>
                <a:lnTo>
                  <a:pt x="478971" y="457200"/>
                </a:lnTo>
                <a:lnTo>
                  <a:pt x="130629" y="457200"/>
                </a:lnTo>
                <a:close/>
                <a:moveTo>
                  <a:pt x="174171" y="180975"/>
                </a:moveTo>
                <a:cubicBezTo>
                  <a:pt x="174171" y="196810"/>
                  <a:pt x="188731" y="209550"/>
                  <a:pt x="206829" y="209550"/>
                </a:cubicBezTo>
                <a:lnTo>
                  <a:pt x="446314" y="209550"/>
                </a:lnTo>
                <a:cubicBezTo>
                  <a:pt x="464412" y="209550"/>
                  <a:pt x="478971" y="196810"/>
                  <a:pt x="478971" y="180975"/>
                </a:cubicBezTo>
                <a:cubicBezTo>
                  <a:pt x="478971" y="165140"/>
                  <a:pt x="464412" y="152400"/>
                  <a:pt x="446314" y="152400"/>
                </a:cubicBezTo>
                <a:lnTo>
                  <a:pt x="206829" y="152400"/>
                </a:lnTo>
                <a:cubicBezTo>
                  <a:pt x="188731" y="152400"/>
                  <a:pt x="174171" y="165140"/>
                  <a:pt x="174171" y="180975"/>
                </a:cubicBezTo>
                <a:close/>
                <a:moveTo>
                  <a:pt x="206829" y="266700"/>
                </a:moveTo>
                <a:cubicBezTo>
                  <a:pt x="188731" y="266700"/>
                  <a:pt x="174171" y="279440"/>
                  <a:pt x="174171" y="295275"/>
                </a:cubicBezTo>
                <a:cubicBezTo>
                  <a:pt x="174171" y="311110"/>
                  <a:pt x="188731" y="323850"/>
                  <a:pt x="206829" y="323850"/>
                </a:cubicBezTo>
                <a:lnTo>
                  <a:pt x="446314" y="323850"/>
                </a:lnTo>
                <a:cubicBezTo>
                  <a:pt x="464412" y="323850"/>
                  <a:pt x="478971" y="311110"/>
                  <a:pt x="478971" y="295275"/>
                </a:cubicBezTo>
                <a:cubicBezTo>
                  <a:pt x="478971" y="279440"/>
                  <a:pt x="464412" y="266700"/>
                  <a:pt x="446314" y="266700"/>
                </a:cubicBezTo>
                <a:lnTo>
                  <a:pt x="206829" y="26670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223000" y="3937000"/>
            <a:ext cx="20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RMI Registry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96000" y="4381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Lookup service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binds name → object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874000" y="3175000"/>
            <a:ext cx="127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9144000" y="2540000"/>
            <a:ext cx="1270000" cy="1270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20" name="Shape 18"/>
          <p:cNvSpPr/>
          <p:nvPr/>
        </p:nvSpPr>
        <p:spPr>
          <a:xfrm>
            <a:off x="9474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87086" y="38100"/>
                </a:moveTo>
                <a:cubicBezTo>
                  <a:pt x="39052" y="38100"/>
                  <a:pt x="0" y="72271"/>
                  <a:pt x="0" y="114300"/>
                </a:cubicBezTo>
                <a:lnTo>
                  <a:pt x="0" y="190500"/>
                </a:lnTo>
                <a:cubicBezTo>
                  <a:pt x="0" y="232529"/>
                  <a:pt x="39052" y="266700"/>
                  <a:pt x="87086" y="266700"/>
                </a:cubicBezTo>
                <a:lnTo>
                  <a:pt x="522514" y="266700"/>
                </a:lnTo>
                <a:cubicBezTo>
                  <a:pt x="570548" y="266700"/>
                  <a:pt x="609600" y="232529"/>
                  <a:pt x="609600" y="190500"/>
                </a:cubicBezTo>
                <a:lnTo>
                  <a:pt x="609600" y="114300"/>
                </a:lnTo>
                <a:cubicBezTo>
                  <a:pt x="609600" y="72271"/>
                  <a:pt x="570548" y="38100"/>
                  <a:pt x="522514" y="38100"/>
                </a:cubicBezTo>
                <a:lnTo>
                  <a:pt x="87086" y="38100"/>
                </a:lnTo>
                <a:close/>
                <a:moveTo>
                  <a:pt x="381000" y="123825"/>
                </a:moveTo>
                <a:cubicBezTo>
                  <a:pt x="399024" y="123825"/>
                  <a:pt x="413657" y="136629"/>
                  <a:pt x="413657" y="152400"/>
                </a:cubicBezTo>
                <a:cubicBezTo>
                  <a:pt x="413657" y="168171"/>
                  <a:pt x="399024" y="180975"/>
                  <a:pt x="381000" y="180975"/>
                </a:cubicBezTo>
                <a:cubicBezTo>
                  <a:pt x="362976" y="180975"/>
                  <a:pt x="348343" y="168171"/>
                  <a:pt x="348343" y="152400"/>
                </a:cubicBezTo>
                <a:cubicBezTo>
                  <a:pt x="348343" y="136629"/>
                  <a:pt x="362976" y="123825"/>
                  <a:pt x="381000" y="123825"/>
                </a:cubicBezTo>
                <a:close/>
                <a:moveTo>
                  <a:pt x="457200" y="152400"/>
                </a:moveTo>
                <a:cubicBezTo>
                  <a:pt x="457200" y="136629"/>
                  <a:pt x="471833" y="123825"/>
                  <a:pt x="489857" y="123825"/>
                </a:cubicBezTo>
                <a:cubicBezTo>
                  <a:pt x="507881" y="123825"/>
                  <a:pt x="522514" y="136629"/>
                  <a:pt x="522514" y="152400"/>
                </a:cubicBezTo>
                <a:cubicBezTo>
                  <a:pt x="522514" y="168171"/>
                  <a:pt x="507881" y="180975"/>
                  <a:pt x="489857" y="180975"/>
                </a:cubicBezTo>
                <a:cubicBezTo>
                  <a:pt x="471833" y="180975"/>
                  <a:pt x="457200" y="168171"/>
                  <a:pt x="457200" y="152400"/>
                </a:cubicBezTo>
                <a:close/>
                <a:moveTo>
                  <a:pt x="87086" y="342900"/>
                </a:moveTo>
                <a:cubicBezTo>
                  <a:pt x="39053" y="342900"/>
                  <a:pt x="0" y="377071"/>
                  <a:pt x="0" y="419100"/>
                </a:cubicBezTo>
                <a:lnTo>
                  <a:pt x="0" y="495300"/>
                </a:lnTo>
                <a:cubicBezTo>
                  <a:pt x="0" y="537329"/>
                  <a:pt x="39052" y="571500"/>
                  <a:pt x="87086" y="571500"/>
                </a:cubicBezTo>
                <a:lnTo>
                  <a:pt x="522514" y="571500"/>
                </a:lnTo>
                <a:cubicBezTo>
                  <a:pt x="570548" y="571500"/>
                  <a:pt x="609600" y="537329"/>
                  <a:pt x="609600" y="495300"/>
                </a:cubicBezTo>
                <a:lnTo>
                  <a:pt x="609600" y="419100"/>
                </a:lnTo>
                <a:cubicBezTo>
                  <a:pt x="609600" y="377071"/>
                  <a:pt x="570548" y="342900"/>
                  <a:pt x="522514" y="342900"/>
                </a:cubicBezTo>
                <a:lnTo>
                  <a:pt x="87086" y="342900"/>
                </a:lnTo>
                <a:close/>
                <a:moveTo>
                  <a:pt x="381000" y="428625"/>
                </a:moveTo>
                <a:cubicBezTo>
                  <a:pt x="399024" y="428625"/>
                  <a:pt x="413657" y="441429"/>
                  <a:pt x="413657" y="457200"/>
                </a:cubicBezTo>
                <a:cubicBezTo>
                  <a:pt x="413657" y="472971"/>
                  <a:pt x="399024" y="485775"/>
                  <a:pt x="381000" y="485775"/>
                </a:cubicBezTo>
                <a:cubicBezTo>
                  <a:pt x="362976" y="485775"/>
                  <a:pt x="348343" y="472971"/>
                  <a:pt x="348343" y="457200"/>
                </a:cubicBezTo>
                <a:cubicBezTo>
                  <a:pt x="348343" y="441429"/>
                  <a:pt x="362976" y="428625"/>
                  <a:pt x="381000" y="428625"/>
                </a:cubicBezTo>
                <a:close/>
                <a:moveTo>
                  <a:pt x="457200" y="457200"/>
                </a:moveTo>
                <a:cubicBezTo>
                  <a:pt x="457200" y="441429"/>
                  <a:pt x="471833" y="428625"/>
                  <a:pt x="489857" y="428625"/>
                </a:cubicBezTo>
                <a:cubicBezTo>
                  <a:pt x="507881" y="428625"/>
                  <a:pt x="522514" y="441429"/>
                  <a:pt x="522514" y="457200"/>
                </a:cubicBezTo>
                <a:cubicBezTo>
                  <a:pt x="522514" y="472971"/>
                  <a:pt x="507881" y="485775"/>
                  <a:pt x="489857" y="485775"/>
                </a:cubicBezTo>
                <a:cubicBezTo>
                  <a:pt x="471833" y="485775"/>
                  <a:pt x="457200" y="472971"/>
                  <a:pt x="457200" y="4572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017000" y="39370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Skeleton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763000" y="4381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Unmarshals call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dispatches to object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414000" y="3175000"/>
            <a:ext cx="1270000" cy="0"/>
          </a:xfrm>
          <a:prstGeom prst="straightConnector1">
            <a:avLst/>
          </a:prstGeom>
          <a:noFill/>
          <a:ln w="38100">
            <a:solidFill>
              <a:srgbClr val="D0D6DC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1684000" y="2540000"/>
            <a:ext cx="1270000" cy="1270000"/>
          </a:xfrm>
          <a:prstGeom prst="ellipse">
            <a:avLst/>
          </a:prstGeom>
          <a:solidFill>
            <a:srgbClr val="2E5E8A"/>
          </a:solidFill>
          <a:ln/>
        </p:spPr>
      </p:sp>
      <p:sp>
        <p:nvSpPr>
          <p:cNvPr id="25" name="Shape 23"/>
          <p:cNvSpPr/>
          <p:nvPr/>
        </p:nvSpPr>
        <p:spPr>
          <a:xfrm>
            <a:off x="12014200" y="287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600" y="245031"/>
                </a:moveTo>
                <a:cubicBezTo>
                  <a:pt x="589461" y="256699"/>
                  <a:pt x="566329" y="266105"/>
                  <a:pt x="542245" y="273606"/>
                </a:cubicBezTo>
                <a:cubicBezTo>
                  <a:pt x="478291" y="293608"/>
                  <a:pt x="394335" y="304800"/>
                  <a:pt x="304800" y="304800"/>
                </a:cubicBezTo>
                <a:cubicBezTo>
                  <a:pt x="215265" y="304800"/>
                  <a:pt x="131173" y="293489"/>
                  <a:pt x="67355" y="273606"/>
                </a:cubicBezTo>
                <a:cubicBezTo>
                  <a:pt x="43407" y="266105"/>
                  <a:pt x="20139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36480" y="438150"/>
                  <a:pt x="304800" y="438150"/>
                </a:cubicBezTo>
                <a:cubicBezTo>
                  <a:pt x="473120" y="438150"/>
                  <a:pt x="609600" y="395526"/>
                  <a:pt x="609600" y="342900"/>
                </a:cubicBezTo>
                <a:lnTo>
                  <a:pt x="609600" y="245031"/>
                </a:lnTo>
                <a:close/>
                <a:moveTo>
                  <a:pt x="609600" y="152400"/>
                </a:moveTo>
                <a:lnTo>
                  <a:pt x="609600" y="95250"/>
                </a:lnTo>
                <a:cubicBezTo>
                  <a:pt x="609600" y="42624"/>
                  <a:pt x="473120" y="0"/>
                  <a:pt x="304800" y="0"/>
                </a:cubicBezTo>
                <a:cubicBezTo>
                  <a:pt x="13648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36480" y="247650"/>
                  <a:pt x="304800" y="247650"/>
                </a:cubicBezTo>
                <a:cubicBezTo>
                  <a:pt x="473120" y="247650"/>
                  <a:pt x="609600" y="205026"/>
                  <a:pt x="609600" y="152400"/>
                </a:cubicBezTo>
                <a:close/>
                <a:moveTo>
                  <a:pt x="542245" y="464106"/>
                </a:moveTo>
                <a:cubicBezTo>
                  <a:pt x="478427" y="483989"/>
                  <a:pt x="394471" y="495300"/>
                  <a:pt x="304800" y="495300"/>
                </a:cubicBezTo>
                <a:cubicBezTo>
                  <a:pt x="215129" y="495300"/>
                  <a:pt x="131173" y="483989"/>
                  <a:pt x="67355" y="464106"/>
                </a:cubicBezTo>
                <a:cubicBezTo>
                  <a:pt x="43407" y="456605"/>
                  <a:pt x="20139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36480" y="609600"/>
                  <a:pt x="304800" y="609600"/>
                </a:cubicBezTo>
                <a:cubicBezTo>
                  <a:pt x="473120" y="609600"/>
                  <a:pt x="609600" y="566976"/>
                  <a:pt x="609600" y="514350"/>
                </a:cubicBezTo>
                <a:lnTo>
                  <a:pt x="609600" y="435531"/>
                </a:lnTo>
                <a:cubicBezTo>
                  <a:pt x="589461" y="447199"/>
                  <a:pt x="566329" y="456605"/>
                  <a:pt x="542245" y="46410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11557000" y="3937000"/>
            <a:ext cx="152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Server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303000" y="43815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Executes method</a:t>
            </a:r>
            <a:endParaRPr lang="en-US" sz="1800" dirty="0"/>
          </a:p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returns result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70000" y="5715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Client → Stub → </a:t>
            </a:r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Network (JRMP)</a:t>
            </a:r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Skeleton → Remote Object → Result flows back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1270000" y="6477000"/>
            <a:ext cx="13716000" cy="1270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51000" y="6604000"/>
            <a:ext cx="1295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JRMP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(Java Remote Method Protocol) handles communication between Stub and Skeleton. In modern Java (5+), dynamic proxy generation replaces static skeletons, simplifying deployment.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RMI Real-World Example — Banking System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350000" cy="254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69776" y="20042"/>
                </a:moveTo>
                <a:cubicBezTo>
                  <a:pt x="260052" y="14486"/>
                  <a:pt x="248047" y="14486"/>
                  <a:pt x="238224" y="20042"/>
                </a:cubicBezTo>
                <a:lnTo>
                  <a:pt x="15974" y="147042"/>
                </a:lnTo>
                <a:cubicBezTo>
                  <a:pt x="3473" y="154186"/>
                  <a:pt x="-2679" y="168870"/>
                  <a:pt x="992" y="182761"/>
                </a:cubicBezTo>
                <a:cubicBezTo>
                  <a:pt x="4663" y="196652"/>
                  <a:pt x="17363" y="206375"/>
                  <a:pt x="31750" y="206375"/>
                </a:cubicBezTo>
                <a:lnTo>
                  <a:pt x="63500" y="206375"/>
                </a:lnTo>
                <a:lnTo>
                  <a:pt x="63500" y="412750"/>
                </a:lnTo>
                <a:lnTo>
                  <a:pt x="63500" y="412750"/>
                </a:lnTo>
                <a:lnTo>
                  <a:pt x="12700" y="450850"/>
                </a:lnTo>
                <a:cubicBezTo>
                  <a:pt x="4663" y="456803"/>
                  <a:pt x="0" y="466229"/>
                  <a:pt x="0" y="476250"/>
                </a:cubicBezTo>
                <a:cubicBezTo>
                  <a:pt x="0" y="493812"/>
                  <a:pt x="14188" y="508000"/>
                  <a:pt x="31750" y="508000"/>
                </a:cubicBezTo>
                <a:lnTo>
                  <a:pt x="476250" y="508000"/>
                </a:lnTo>
                <a:cubicBezTo>
                  <a:pt x="493812" y="508000"/>
                  <a:pt x="508000" y="493812"/>
                  <a:pt x="508000" y="476250"/>
                </a:cubicBezTo>
                <a:cubicBezTo>
                  <a:pt x="508000" y="466229"/>
                  <a:pt x="503337" y="456803"/>
                  <a:pt x="495300" y="450850"/>
                </a:cubicBezTo>
                <a:lnTo>
                  <a:pt x="444500" y="412750"/>
                </a:lnTo>
                <a:lnTo>
                  <a:pt x="444500" y="206375"/>
                </a:lnTo>
                <a:lnTo>
                  <a:pt x="476250" y="206375"/>
                </a:lnTo>
                <a:cubicBezTo>
                  <a:pt x="490637" y="206375"/>
                  <a:pt x="503238" y="196652"/>
                  <a:pt x="506909" y="182761"/>
                </a:cubicBezTo>
                <a:cubicBezTo>
                  <a:pt x="510580" y="168870"/>
                  <a:pt x="504428" y="154186"/>
                  <a:pt x="491927" y="147042"/>
                </a:cubicBezTo>
                <a:lnTo>
                  <a:pt x="269677" y="20042"/>
                </a:lnTo>
                <a:close/>
                <a:moveTo>
                  <a:pt x="396875" y="206375"/>
                </a:moveTo>
                <a:lnTo>
                  <a:pt x="396875" y="412750"/>
                </a:lnTo>
                <a:lnTo>
                  <a:pt x="333375" y="412750"/>
                </a:lnTo>
                <a:lnTo>
                  <a:pt x="333375" y="206375"/>
                </a:lnTo>
                <a:lnTo>
                  <a:pt x="396875" y="206375"/>
                </a:lnTo>
                <a:close/>
                <a:moveTo>
                  <a:pt x="285750" y="206375"/>
                </a:moveTo>
                <a:lnTo>
                  <a:pt x="285750" y="412750"/>
                </a:lnTo>
                <a:lnTo>
                  <a:pt x="222250" y="412750"/>
                </a:lnTo>
                <a:lnTo>
                  <a:pt x="222250" y="206375"/>
                </a:lnTo>
                <a:lnTo>
                  <a:pt x="285750" y="206375"/>
                </a:lnTo>
                <a:close/>
                <a:moveTo>
                  <a:pt x="174625" y="206375"/>
                </a:moveTo>
                <a:lnTo>
                  <a:pt x="174625" y="412750"/>
                </a:lnTo>
                <a:lnTo>
                  <a:pt x="111125" y="412750"/>
                </a:lnTo>
                <a:lnTo>
                  <a:pt x="111125" y="206375"/>
                </a:lnTo>
                <a:lnTo>
                  <a:pt x="174625" y="206375"/>
                </a:lnTo>
                <a:close/>
                <a:moveTo>
                  <a:pt x="254000" y="95250"/>
                </a:moveTo>
                <a:cubicBezTo>
                  <a:pt x="271523" y="95250"/>
                  <a:pt x="285750" y="109477"/>
                  <a:pt x="285750" y="127000"/>
                </a:cubicBezTo>
                <a:cubicBezTo>
                  <a:pt x="285750" y="144523"/>
                  <a:pt x="271523" y="158750"/>
                  <a:pt x="254000" y="158750"/>
                </a:cubicBezTo>
                <a:cubicBezTo>
                  <a:pt x="236477" y="158750"/>
                  <a:pt x="222250" y="144523"/>
                  <a:pt x="222250" y="127000"/>
                </a:cubicBezTo>
                <a:cubicBezTo>
                  <a:pt x="222250" y="109477"/>
                  <a:pt x="236477" y="95250"/>
                  <a:pt x="254000" y="952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1590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Scenario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558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national bank with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branch offices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needs a centralized account management system. Each branch runs its own JVM but must access a central account database.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01000" y="1905000"/>
            <a:ext cx="6985000" cy="2540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382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080500" y="2159000"/>
            <a:ext cx="546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RMI Solution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82000" y="2794000"/>
            <a:ext cx="622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 central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AccountServer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hosts remote Account objects. Each branch looks up accounts via the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RMI Registry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and performs deposits, withdrawals, and balance inquiries remotely.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4826000"/>
            <a:ext cx="381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Benefits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270000" y="5461000"/>
            <a:ext cx="3175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24000" y="565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5" name="Text 13"/>
          <p:cNvSpPr/>
          <p:nvPr/>
        </p:nvSpPr>
        <p:spPr>
          <a:xfrm>
            <a:off x="2095500" y="5588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Consistency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Centralized database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99000" y="5461000"/>
            <a:ext cx="3175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53000" y="565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6114" y="-25400"/>
                </a:moveTo>
                <a:cubicBezTo>
                  <a:pt x="132171" y="-25400"/>
                  <a:pt x="145143" y="-14049"/>
                  <a:pt x="145143" y="0"/>
                </a:cubicBezTo>
                <a:lnTo>
                  <a:pt x="145143" y="76200"/>
                </a:lnTo>
                <a:lnTo>
                  <a:pt x="261257" y="76200"/>
                </a:lnTo>
                <a:lnTo>
                  <a:pt x="261257" y="0"/>
                </a:lnTo>
                <a:cubicBezTo>
                  <a:pt x="261257" y="-14049"/>
                  <a:pt x="274229" y="-25400"/>
                  <a:pt x="290286" y="-25400"/>
                </a:cubicBezTo>
                <a:cubicBezTo>
                  <a:pt x="306342" y="-25400"/>
                  <a:pt x="319314" y="-14049"/>
                  <a:pt x="319314" y="0"/>
                </a:cubicBezTo>
                <a:lnTo>
                  <a:pt x="319314" y="76200"/>
                </a:lnTo>
                <a:lnTo>
                  <a:pt x="377371" y="76200"/>
                </a:lnTo>
                <a:cubicBezTo>
                  <a:pt x="393428" y="76200"/>
                  <a:pt x="406400" y="87551"/>
                  <a:pt x="406400" y="101600"/>
                </a:cubicBezTo>
                <a:cubicBezTo>
                  <a:pt x="406400" y="115649"/>
                  <a:pt x="393428" y="127000"/>
                  <a:pt x="377371" y="127000"/>
                </a:cubicBezTo>
                <a:lnTo>
                  <a:pt x="377371" y="177800"/>
                </a:lnTo>
                <a:cubicBezTo>
                  <a:pt x="377371" y="253286"/>
                  <a:pt x="314597" y="315992"/>
                  <a:pt x="232229" y="328057"/>
                </a:cubicBezTo>
                <a:lnTo>
                  <a:pt x="232229" y="381000"/>
                </a:lnTo>
                <a:cubicBezTo>
                  <a:pt x="232229" y="395049"/>
                  <a:pt x="219256" y="406400"/>
                  <a:pt x="203200" y="406400"/>
                </a:cubicBezTo>
                <a:cubicBezTo>
                  <a:pt x="187144" y="406400"/>
                  <a:pt x="174171" y="395049"/>
                  <a:pt x="174171" y="381000"/>
                </a:cubicBezTo>
                <a:lnTo>
                  <a:pt x="174171" y="328057"/>
                </a:lnTo>
                <a:cubicBezTo>
                  <a:pt x="91803" y="315992"/>
                  <a:pt x="29029" y="253286"/>
                  <a:pt x="29029" y="177800"/>
                </a:cubicBezTo>
                <a:lnTo>
                  <a:pt x="29029" y="127000"/>
                </a:lnTo>
                <a:cubicBezTo>
                  <a:pt x="12972" y="127000"/>
                  <a:pt x="0" y="115649"/>
                  <a:pt x="0" y="101600"/>
                </a:cubicBezTo>
                <a:cubicBezTo>
                  <a:pt x="0" y="87551"/>
                  <a:pt x="12972" y="76200"/>
                  <a:pt x="29029" y="76200"/>
                </a:cubicBezTo>
                <a:lnTo>
                  <a:pt x="87086" y="76200"/>
                </a:lnTo>
                <a:lnTo>
                  <a:pt x="87086" y="0"/>
                </a:lnTo>
                <a:cubicBezTo>
                  <a:pt x="87086" y="-14049"/>
                  <a:pt x="100058" y="-25400"/>
                  <a:pt x="116114" y="-254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8" name="Text 16"/>
          <p:cNvSpPr/>
          <p:nvPr/>
        </p:nvSpPr>
        <p:spPr>
          <a:xfrm>
            <a:off x="5524500" y="5588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Seamless Integration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 REST APIs needed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0" y="5461000"/>
            <a:ext cx="3175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82000" y="565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1" name="Text 19"/>
          <p:cNvSpPr/>
          <p:nvPr/>
        </p:nvSpPr>
        <p:spPr>
          <a:xfrm>
            <a:off x="8953500" y="5588000"/>
            <a:ext cx="215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High Performance</a:t>
            </a:r>
            <a:endParaRPr lang="en-US" sz="1800" dirty="0"/>
          </a:p>
          <a:p>
            <a:pPr algn="l">
              <a:lnSpc>
                <a:spcPct val="15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Binary protocol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557000" y="54610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11000" y="565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2571" y="82550"/>
                </a:moveTo>
                <a:cubicBezTo>
                  <a:pt x="84587" y="82550"/>
                  <a:pt x="94343" y="74014"/>
                  <a:pt x="94343" y="63500"/>
                </a:cubicBezTo>
                <a:cubicBezTo>
                  <a:pt x="94343" y="52986"/>
                  <a:pt x="84587" y="44450"/>
                  <a:pt x="72571" y="44450"/>
                </a:cubicBezTo>
                <a:cubicBezTo>
                  <a:pt x="60555" y="44450"/>
                  <a:pt x="50800" y="52986"/>
                  <a:pt x="50800" y="63500"/>
                </a:cubicBezTo>
                <a:cubicBezTo>
                  <a:pt x="50800" y="74014"/>
                  <a:pt x="60555" y="82550"/>
                  <a:pt x="72571" y="82550"/>
                </a:cubicBezTo>
                <a:close/>
                <a:moveTo>
                  <a:pt x="145143" y="63500"/>
                </a:moveTo>
                <a:cubicBezTo>
                  <a:pt x="145143" y="89535"/>
                  <a:pt x="127272" y="111919"/>
                  <a:pt x="101600" y="121682"/>
                </a:cubicBezTo>
                <a:lnTo>
                  <a:pt x="101600" y="177800"/>
                </a:lnTo>
                <a:lnTo>
                  <a:pt x="261257" y="177800"/>
                </a:lnTo>
                <a:cubicBezTo>
                  <a:pt x="285296" y="177800"/>
                  <a:pt x="304800" y="160734"/>
                  <a:pt x="304800" y="139700"/>
                </a:cubicBezTo>
                <a:lnTo>
                  <a:pt x="304800" y="121682"/>
                </a:lnTo>
                <a:cubicBezTo>
                  <a:pt x="279128" y="111919"/>
                  <a:pt x="261257" y="89535"/>
                  <a:pt x="261257" y="63500"/>
                </a:cubicBezTo>
                <a:cubicBezTo>
                  <a:pt x="261257" y="28416"/>
                  <a:pt x="293733" y="0"/>
                  <a:pt x="333829" y="0"/>
                </a:cubicBezTo>
                <a:cubicBezTo>
                  <a:pt x="373924" y="0"/>
                  <a:pt x="406400" y="28416"/>
                  <a:pt x="406400" y="63500"/>
                </a:cubicBezTo>
                <a:cubicBezTo>
                  <a:pt x="406400" y="89535"/>
                  <a:pt x="388529" y="111919"/>
                  <a:pt x="362857" y="121682"/>
                </a:cubicBezTo>
                <a:lnTo>
                  <a:pt x="362857" y="139700"/>
                </a:lnTo>
                <a:cubicBezTo>
                  <a:pt x="362857" y="188833"/>
                  <a:pt x="317409" y="228600"/>
                  <a:pt x="261257" y="228600"/>
                </a:cubicBezTo>
                <a:lnTo>
                  <a:pt x="101600" y="228600"/>
                </a:lnTo>
                <a:lnTo>
                  <a:pt x="101600" y="284718"/>
                </a:lnTo>
                <a:cubicBezTo>
                  <a:pt x="127272" y="294481"/>
                  <a:pt x="145143" y="316865"/>
                  <a:pt x="145143" y="342900"/>
                </a:cubicBezTo>
                <a:cubicBezTo>
                  <a:pt x="145143" y="377984"/>
                  <a:pt x="112667" y="406400"/>
                  <a:pt x="72571" y="406400"/>
                </a:cubicBezTo>
                <a:cubicBezTo>
                  <a:pt x="32476" y="406400"/>
                  <a:pt x="0" y="377984"/>
                  <a:pt x="0" y="342900"/>
                </a:cubicBezTo>
                <a:cubicBezTo>
                  <a:pt x="0" y="316865"/>
                  <a:pt x="17871" y="294481"/>
                  <a:pt x="43543" y="284718"/>
                </a:cubicBezTo>
                <a:lnTo>
                  <a:pt x="43543" y="121761"/>
                </a:lnTo>
                <a:cubicBezTo>
                  <a:pt x="17871" y="111919"/>
                  <a:pt x="0" y="89535"/>
                  <a:pt x="0" y="63500"/>
                </a:cubicBezTo>
                <a:cubicBezTo>
                  <a:pt x="0" y="28416"/>
                  <a:pt x="32476" y="0"/>
                  <a:pt x="72571" y="0"/>
                </a:cubicBezTo>
                <a:cubicBezTo>
                  <a:pt x="112667" y="0"/>
                  <a:pt x="145143" y="28416"/>
                  <a:pt x="145143" y="63500"/>
                </a:cubicBezTo>
                <a:close/>
                <a:moveTo>
                  <a:pt x="355600" y="63500"/>
                </a:moveTo>
                <a:cubicBezTo>
                  <a:pt x="355600" y="52986"/>
                  <a:pt x="345845" y="44450"/>
                  <a:pt x="333829" y="44450"/>
                </a:cubicBezTo>
                <a:cubicBezTo>
                  <a:pt x="321813" y="44450"/>
                  <a:pt x="312057" y="52986"/>
                  <a:pt x="312057" y="63500"/>
                </a:cubicBezTo>
                <a:cubicBezTo>
                  <a:pt x="312057" y="74014"/>
                  <a:pt x="321813" y="82550"/>
                  <a:pt x="333829" y="82550"/>
                </a:cubicBezTo>
                <a:cubicBezTo>
                  <a:pt x="345845" y="82550"/>
                  <a:pt x="355600" y="74014"/>
                  <a:pt x="355600" y="63500"/>
                </a:cubicBezTo>
                <a:close/>
                <a:moveTo>
                  <a:pt x="72571" y="361950"/>
                </a:moveTo>
                <a:cubicBezTo>
                  <a:pt x="84587" y="361950"/>
                  <a:pt x="94343" y="353414"/>
                  <a:pt x="94343" y="342900"/>
                </a:cubicBezTo>
                <a:cubicBezTo>
                  <a:pt x="94343" y="332386"/>
                  <a:pt x="84587" y="323850"/>
                  <a:pt x="72571" y="323850"/>
                </a:cubicBezTo>
                <a:cubicBezTo>
                  <a:pt x="60555" y="323850"/>
                  <a:pt x="50800" y="332386"/>
                  <a:pt x="50800" y="342900"/>
                </a:cubicBezTo>
                <a:cubicBezTo>
                  <a:pt x="50800" y="353414"/>
                  <a:pt x="60555" y="361950"/>
                  <a:pt x="72571" y="361950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4" name="Text 22"/>
          <p:cNvSpPr/>
          <p:nvPr/>
        </p:nvSpPr>
        <p:spPr>
          <a:xfrm>
            <a:off x="12382500" y="5588000"/>
            <a:ext cx="2413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 Safety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Compile-time checks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70000" y="70485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Other Real-World Uses: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ERP systems · Distributed inventory management · Multi-node scientific computing · Centralized configuration services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RMI Code — Step 1: Remote Interface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Define a remote interface extending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java.rmi.Remote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Every method must throw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RemoteException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13716000" cy="48260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4000" y="2641600"/>
            <a:ext cx="381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Calculator.java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3048000"/>
            <a:ext cx="1320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java.rmi.Remote;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java.rmi.RemoteException;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/** Remote interface for a calculator service */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interface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Calculator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Remote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RemoteException;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subtract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RemoteException;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multiply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RemoteException;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divide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RemoteException;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7620000"/>
            <a:ext cx="13716000" cy="635000"/>
          </a:xfrm>
          <a:prstGeom prst="roundRect">
            <a:avLst>
              <a:gd name="adj" fmla="val 6000"/>
            </a:avLst>
          </a:prstGeom>
          <a:solidFill>
            <a:srgbClr val="2E5E8A">
              <a:alpha val="6275"/>
            </a:srgbClr>
          </a:solidFill>
          <a:ln w="12700">
            <a:solidFill>
              <a:srgbClr val="2E5E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4000" y="7772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2489" y="228600"/>
                </a:moveTo>
                <a:cubicBezTo>
                  <a:pt x="238284" y="215325"/>
                  <a:pt x="249872" y="203299"/>
                  <a:pt x="262969" y="192941"/>
                </a:cubicBezTo>
                <a:cubicBezTo>
                  <a:pt x="288925" y="172462"/>
                  <a:pt x="304800" y="144780"/>
                  <a:pt x="304800" y="114300"/>
                </a:cubicBezTo>
                <a:cubicBezTo>
                  <a:pt x="304800" y="51197"/>
                  <a:pt x="236537" y="0"/>
                  <a:pt x="152400" y="0"/>
                </a:cubicBezTo>
                <a:cubicBezTo>
                  <a:pt x="68262" y="0"/>
                  <a:pt x="0" y="51197"/>
                  <a:pt x="0" y="114300"/>
                </a:cubicBezTo>
                <a:cubicBezTo>
                  <a:pt x="0" y="144780"/>
                  <a:pt x="15875" y="172462"/>
                  <a:pt x="41831" y="192941"/>
                </a:cubicBezTo>
                <a:cubicBezTo>
                  <a:pt x="54928" y="203299"/>
                  <a:pt x="66596" y="215325"/>
                  <a:pt x="72311" y="228600"/>
                </a:cubicBezTo>
                <a:lnTo>
                  <a:pt x="232410" y="228600"/>
                </a:lnTo>
                <a:close/>
                <a:moveTo>
                  <a:pt x="228600" y="257175"/>
                </a:moveTo>
                <a:lnTo>
                  <a:pt x="76200" y="257175"/>
                </a:lnTo>
                <a:lnTo>
                  <a:pt x="76200" y="266700"/>
                </a:lnTo>
                <a:cubicBezTo>
                  <a:pt x="76200" y="293013"/>
                  <a:pt x="104616" y="314325"/>
                  <a:pt x="139700" y="314325"/>
                </a:cubicBezTo>
                <a:lnTo>
                  <a:pt x="165100" y="314325"/>
                </a:lnTo>
                <a:cubicBezTo>
                  <a:pt x="200184" y="314325"/>
                  <a:pt x="228600" y="293013"/>
                  <a:pt x="228600" y="266700"/>
                </a:cubicBezTo>
                <a:lnTo>
                  <a:pt x="228600" y="257175"/>
                </a:lnTo>
                <a:close/>
                <a:moveTo>
                  <a:pt x="146050" y="66675"/>
                </a:moveTo>
                <a:cubicBezTo>
                  <a:pt x="114459" y="66675"/>
                  <a:pt x="88900" y="85844"/>
                  <a:pt x="88900" y="109537"/>
                </a:cubicBezTo>
                <a:cubicBezTo>
                  <a:pt x="88900" y="117455"/>
                  <a:pt x="80407" y="123825"/>
                  <a:pt x="69850" y="123825"/>
                </a:cubicBezTo>
                <a:cubicBezTo>
                  <a:pt x="59293" y="123825"/>
                  <a:pt x="50800" y="117455"/>
                  <a:pt x="50800" y="109537"/>
                </a:cubicBezTo>
                <a:cubicBezTo>
                  <a:pt x="50800" y="70068"/>
                  <a:pt x="93424" y="38100"/>
                  <a:pt x="146050" y="38100"/>
                </a:cubicBezTo>
                <a:cubicBezTo>
                  <a:pt x="156607" y="38100"/>
                  <a:pt x="165100" y="44470"/>
                  <a:pt x="165100" y="52388"/>
                </a:cubicBezTo>
                <a:cubicBezTo>
                  <a:pt x="165100" y="60305"/>
                  <a:pt x="156607" y="66675"/>
                  <a:pt x="146050" y="6667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1968500" y="76835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Rule: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All methods MUST declare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throws RemoteException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this is how RMI handles network failures.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RMI Code — Step 2: Server Implementation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the remote interface and register the object with the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RMI Registry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Naming.rebind()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13716000" cy="53340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4000" y="2641600"/>
            <a:ext cx="381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CalculatorImpl.java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3048000"/>
            <a:ext cx="13208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java.rmi.*;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java.rmi.server.*;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CalculatorImpl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extends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UnicastRemoteObject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Calculator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CalculatorImpl()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RemoteException {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super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(); 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add(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 {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+ b; 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subtract(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 {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- b; 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multiply(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 {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* b; 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divide(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b) {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/ b; 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static void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(String[] args)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throws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Exception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Calculator c =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new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CalculatorImpl();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Naming.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rebind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"rmi://localhost/CalcService"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c);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System.out.println(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"Server ready..."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 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8001000"/>
            <a:ext cx="13716000" cy="444500"/>
          </a:xfrm>
          <a:prstGeom prst="roundRect">
            <a:avLst>
              <a:gd name="adj" fmla="val 6000"/>
            </a:avLst>
          </a:prstGeom>
          <a:solidFill>
            <a:srgbClr val="2E5E8A">
              <a:alpha val="6275"/>
            </a:srgbClr>
          </a:solidFill>
          <a:ln w="12700">
            <a:solidFill>
              <a:srgbClr val="2E5E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4000" y="8077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2489" y="228600"/>
                </a:moveTo>
                <a:cubicBezTo>
                  <a:pt x="238284" y="215325"/>
                  <a:pt x="249872" y="203299"/>
                  <a:pt x="262969" y="192941"/>
                </a:cubicBezTo>
                <a:cubicBezTo>
                  <a:pt x="288925" y="172462"/>
                  <a:pt x="304800" y="144780"/>
                  <a:pt x="304800" y="114300"/>
                </a:cubicBezTo>
                <a:cubicBezTo>
                  <a:pt x="304800" y="51197"/>
                  <a:pt x="236537" y="0"/>
                  <a:pt x="152400" y="0"/>
                </a:cubicBezTo>
                <a:cubicBezTo>
                  <a:pt x="68262" y="0"/>
                  <a:pt x="0" y="51197"/>
                  <a:pt x="0" y="114300"/>
                </a:cubicBezTo>
                <a:cubicBezTo>
                  <a:pt x="0" y="144780"/>
                  <a:pt x="15875" y="172462"/>
                  <a:pt x="41831" y="192941"/>
                </a:cubicBezTo>
                <a:cubicBezTo>
                  <a:pt x="54928" y="203299"/>
                  <a:pt x="66596" y="215325"/>
                  <a:pt x="72311" y="228600"/>
                </a:cubicBezTo>
                <a:lnTo>
                  <a:pt x="232410" y="228600"/>
                </a:lnTo>
                <a:close/>
                <a:moveTo>
                  <a:pt x="228600" y="257175"/>
                </a:moveTo>
                <a:lnTo>
                  <a:pt x="76200" y="257175"/>
                </a:lnTo>
                <a:lnTo>
                  <a:pt x="76200" y="266700"/>
                </a:lnTo>
                <a:cubicBezTo>
                  <a:pt x="76200" y="293013"/>
                  <a:pt x="104616" y="314325"/>
                  <a:pt x="139700" y="314325"/>
                </a:cubicBezTo>
                <a:lnTo>
                  <a:pt x="165100" y="314325"/>
                </a:lnTo>
                <a:cubicBezTo>
                  <a:pt x="200184" y="314325"/>
                  <a:pt x="228600" y="293013"/>
                  <a:pt x="228600" y="266700"/>
                </a:cubicBezTo>
                <a:lnTo>
                  <a:pt x="228600" y="257175"/>
                </a:lnTo>
                <a:close/>
                <a:moveTo>
                  <a:pt x="146050" y="66675"/>
                </a:moveTo>
                <a:cubicBezTo>
                  <a:pt x="114459" y="66675"/>
                  <a:pt x="88900" y="85844"/>
                  <a:pt x="88900" y="109537"/>
                </a:cubicBezTo>
                <a:cubicBezTo>
                  <a:pt x="88900" y="117455"/>
                  <a:pt x="80407" y="123825"/>
                  <a:pt x="69850" y="123825"/>
                </a:cubicBezTo>
                <a:cubicBezTo>
                  <a:pt x="59293" y="123825"/>
                  <a:pt x="50800" y="117455"/>
                  <a:pt x="50800" y="109537"/>
                </a:cubicBezTo>
                <a:cubicBezTo>
                  <a:pt x="50800" y="70068"/>
                  <a:pt x="93424" y="38100"/>
                  <a:pt x="146050" y="38100"/>
                </a:cubicBezTo>
                <a:cubicBezTo>
                  <a:pt x="156607" y="38100"/>
                  <a:pt x="165100" y="44470"/>
                  <a:pt x="165100" y="52388"/>
                </a:cubicBezTo>
                <a:cubicBezTo>
                  <a:pt x="165100" y="60305"/>
                  <a:pt x="156607" y="66675"/>
                  <a:pt x="146050" y="6667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1968500" y="8001000"/>
            <a:ext cx="1270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UnicastRemoteObject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exports the object.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rebind()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registers it in the RMI Registry under the given name.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RMI Code — Step 3: Client Implementation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client looks up the remote object using </a:t>
            </a:r>
            <a:pPr algn="l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Naming.lookup()</a:t>
            </a:r>
            <a:pPr algn="l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calls methods just like local objects.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540000"/>
            <a:ext cx="13716000" cy="50800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4000" y="2641600"/>
            <a:ext cx="381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CalculatorClient.java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4000" y="3048000"/>
            <a:ext cx="13208000" cy="450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java.rmi.*;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CalculatorClient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static void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(String[] args)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try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Calculator calc = (Calculator) Naming.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lookup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  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"rmi://localhost:1099/CalcService"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System.out.println(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"10+20="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calc.add(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System.out.println(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"50-15="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calc.subtract(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System.out.println(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"5*8="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calc.multiply(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    System.out.println(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"100/4="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calc.divide(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));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    }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catch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(Exception e) { e.printStackTrace(); } 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7747000"/>
            <a:ext cx="13716000" cy="571500"/>
          </a:xfrm>
          <a:prstGeom prst="roundRect">
            <a:avLst>
              <a:gd name="adj" fmla="val 6000"/>
            </a:avLst>
          </a:prstGeom>
          <a:solidFill>
            <a:srgbClr val="2E5E8A">
              <a:alpha val="6275"/>
            </a:srgbClr>
          </a:solidFill>
          <a:ln w="12700">
            <a:solidFill>
              <a:srgbClr val="2E5E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24000" y="787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2489" y="228600"/>
                </a:moveTo>
                <a:cubicBezTo>
                  <a:pt x="238284" y="215325"/>
                  <a:pt x="249872" y="203299"/>
                  <a:pt x="262969" y="192941"/>
                </a:cubicBezTo>
                <a:cubicBezTo>
                  <a:pt x="288925" y="172462"/>
                  <a:pt x="304800" y="144780"/>
                  <a:pt x="304800" y="114300"/>
                </a:cubicBezTo>
                <a:cubicBezTo>
                  <a:pt x="304800" y="51197"/>
                  <a:pt x="236537" y="0"/>
                  <a:pt x="152400" y="0"/>
                </a:cubicBezTo>
                <a:cubicBezTo>
                  <a:pt x="68262" y="0"/>
                  <a:pt x="0" y="51197"/>
                  <a:pt x="0" y="114300"/>
                </a:cubicBezTo>
                <a:cubicBezTo>
                  <a:pt x="0" y="144780"/>
                  <a:pt x="15875" y="172462"/>
                  <a:pt x="41831" y="192941"/>
                </a:cubicBezTo>
                <a:cubicBezTo>
                  <a:pt x="54928" y="203299"/>
                  <a:pt x="66596" y="215325"/>
                  <a:pt x="72311" y="228600"/>
                </a:cubicBezTo>
                <a:lnTo>
                  <a:pt x="232410" y="228600"/>
                </a:lnTo>
                <a:close/>
                <a:moveTo>
                  <a:pt x="228600" y="257175"/>
                </a:moveTo>
                <a:lnTo>
                  <a:pt x="76200" y="257175"/>
                </a:lnTo>
                <a:lnTo>
                  <a:pt x="76200" y="266700"/>
                </a:lnTo>
                <a:cubicBezTo>
                  <a:pt x="76200" y="293013"/>
                  <a:pt x="104616" y="314325"/>
                  <a:pt x="139700" y="314325"/>
                </a:cubicBezTo>
                <a:lnTo>
                  <a:pt x="165100" y="314325"/>
                </a:lnTo>
                <a:cubicBezTo>
                  <a:pt x="200184" y="314325"/>
                  <a:pt x="228600" y="293013"/>
                  <a:pt x="228600" y="266700"/>
                </a:cubicBezTo>
                <a:lnTo>
                  <a:pt x="228600" y="257175"/>
                </a:lnTo>
                <a:close/>
                <a:moveTo>
                  <a:pt x="146050" y="66675"/>
                </a:moveTo>
                <a:cubicBezTo>
                  <a:pt x="114459" y="66675"/>
                  <a:pt x="88900" y="85844"/>
                  <a:pt x="88900" y="109537"/>
                </a:cubicBezTo>
                <a:cubicBezTo>
                  <a:pt x="88900" y="117455"/>
                  <a:pt x="80407" y="123825"/>
                  <a:pt x="69850" y="123825"/>
                </a:cubicBezTo>
                <a:cubicBezTo>
                  <a:pt x="59293" y="123825"/>
                  <a:pt x="50800" y="117455"/>
                  <a:pt x="50800" y="109537"/>
                </a:cubicBezTo>
                <a:cubicBezTo>
                  <a:pt x="50800" y="70068"/>
                  <a:pt x="93424" y="38100"/>
                  <a:pt x="146050" y="38100"/>
                </a:cubicBezTo>
                <a:cubicBezTo>
                  <a:pt x="156607" y="38100"/>
                  <a:pt x="165100" y="44470"/>
                  <a:pt x="165100" y="52388"/>
                </a:cubicBezTo>
                <a:cubicBezTo>
                  <a:pt x="165100" y="60305"/>
                  <a:pt x="156607" y="66675"/>
                  <a:pt x="146050" y="6667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1968500" y="7810500"/>
            <a:ext cx="1270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Location Transparency: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Client code looks like local calls — RMI handles all network communication behind the scenes.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Running the RMI Application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651000" y="2032000"/>
            <a:ext cx="635000" cy="635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5" name="Text 3"/>
          <p:cNvSpPr/>
          <p:nvPr/>
        </p:nvSpPr>
        <p:spPr>
          <a:xfrm>
            <a:off x="1651000" y="2032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540000" y="1905000"/>
            <a:ext cx="1219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Compile all Java files: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javac Calculator.java CalculatorImpl.java CalculatorClient.java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651000" y="3048000"/>
            <a:ext cx="635000" cy="635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1651000" y="3048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40000" y="2921000"/>
            <a:ext cx="1219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RMI Registry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(port 1099):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rmiregistry &amp;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51000" y="4064000"/>
            <a:ext cx="635000" cy="635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1" name="Text 9"/>
          <p:cNvSpPr/>
          <p:nvPr/>
        </p:nvSpPr>
        <p:spPr>
          <a:xfrm>
            <a:off x="1651000" y="4064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40000" y="3937000"/>
            <a:ext cx="1219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 the Server: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CalculatorImpl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→  "Server ready..."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651000" y="5080000"/>
            <a:ext cx="635000" cy="635000"/>
          </a:xfrm>
          <a:prstGeom prst="ellipse">
            <a:avLst/>
          </a:prstGeom>
          <a:solidFill>
            <a:srgbClr val="FF7F50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5080000"/>
            <a:ext cx="63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540000" y="4953000"/>
            <a:ext cx="1219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 the Client: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CalculatorClient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→  Shows results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70000" y="6096000"/>
            <a:ext cx="13716000" cy="2032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651000" y="6159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Troubleshooting &amp; Best Practices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651000" y="6667500"/>
            <a:ext cx="1295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SecurityManager: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Set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java.security.policy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 for RMI permissions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Classpath: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Ensure all classes are in the classpath on both client and server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Firewall: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Port 1099 (RMI Registry) must be open for network access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Always handle 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RemoteException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network failures can happen anytime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00"/>
            <a:ext cx="16256000" cy="4064000"/>
          </a:xfrm>
          <a:custGeom>
            <a:avLst/>
            <a:gdLst/>
            <a:ahLst/>
            <a:cxnLst/>
            <a:rect l="l" t="t" r="r" b="b"/>
            <a:pathLst>
              <a:path w="16256000" h="4064000">
                <a:moveTo>
                  <a:pt x="0" y="2032000"/>
                </a:moveTo>
                <a:quadBezTo>
                  <a:pt x="4064000" y="0"/>
                  <a:pt x="8128000" y="0"/>
                </a:quadBezTo>
                <a:quadBezTo>
                  <a:pt x="12192000" y="0"/>
                  <a:pt x="16256000" y="2032000"/>
                </a:quadBezTo>
                <a:lnTo>
                  <a:pt x="16256000" y="4064000"/>
                </a:lnTo>
                <a:lnTo>
                  <a:pt x="0" y="4064000"/>
                </a:ln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50000">
                <a:srgbClr val="D0E0E3">
                  <a:alpha val="31000"/>
                </a:srgbClr>
              </a:gs>
              <a:gs pos="100000">
                <a:srgbClr val="2E5E8A">
                  <a:alpha val="19000"/>
                </a:srgbClr>
              </a:gs>
            </a:gsLst>
            <a:lin ang="54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1270000" y="3175000"/>
            <a:ext cx="254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72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318000" y="2921000"/>
            <a:ext cx="1016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6000" dirty="0">
                <a:solidFill>
                  <a:srgbClr val="FCFDF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Documenting &amp; Packaging Java Applications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8000" y="4953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CFDF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 code documentation to production-ready JARs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Documentation with Javadoc — Definition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Javadoc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a documentation generation tool that parses specially formatted comments in Java source code to produce HTML documentation.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Facts: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Introduced with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JDK 1.0 (1995)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Standard tool for Java API documentation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/** ... */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comment format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Generates professional HTML output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Generated Output: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Class hierarchies and method signatures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Parameter descriptions and return values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Cross-references and package overviews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@deprecated warnings and @see links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6096000" cy="609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71000" y="21590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Essential Javadoc Tags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0" y="2794000"/>
          <a:ext cx="5588000" cy="4953000"/>
        </p:xfrm>
        <a:graphic>
          <a:graphicData uri="http://schemas.openxmlformats.org/drawingml/2006/table">
            <a:tbl>
              <a:tblPr/>
              <a:tblGrid>
                <a:gridCol w="1676400"/>
                <a:gridCol w="3911600"/>
              </a:tblGrid>
              <a:tr h="619125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Tag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Purpose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8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@param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Describes a method parameter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@return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Describes the return value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@throws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Documents exceptions thrown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@author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Identifies the author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@version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Specifies version number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@see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Links to related documentation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@deprecated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3C4A5A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Marks as no longer recommended</a:t>
                      </a:r>
                      <a:endParaRPr lang="en-US" sz="18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D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Javadoc Best Practices &amp; Real-World Example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731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5666" y="-16877"/>
                </a:moveTo>
                <a:cubicBezTo>
                  <a:pt x="242411" y="-24021"/>
                  <a:pt x="235823" y="-28575"/>
                  <a:pt x="228679" y="-28575"/>
                </a:cubicBezTo>
                <a:cubicBezTo>
                  <a:pt x="221536" y="-28575"/>
                  <a:pt x="214948" y="-24021"/>
                  <a:pt x="211693" y="-16877"/>
                </a:cubicBezTo>
                <a:lnTo>
                  <a:pt x="153273" y="111889"/>
                </a:lnTo>
                <a:lnTo>
                  <a:pt x="26353" y="134570"/>
                </a:lnTo>
                <a:cubicBezTo>
                  <a:pt x="19288" y="135821"/>
                  <a:pt x="13414" y="141446"/>
                  <a:pt x="11192" y="149126"/>
                </a:cubicBezTo>
                <a:cubicBezTo>
                  <a:pt x="8969" y="156805"/>
                  <a:pt x="10795" y="165199"/>
                  <a:pt x="15796" y="170914"/>
                </a:cubicBezTo>
                <a:lnTo>
                  <a:pt x="106601" y="273159"/>
                </a:lnTo>
                <a:lnTo>
                  <a:pt x="86598" y="415945"/>
                </a:lnTo>
                <a:cubicBezTo>
                  <a:pt x="85487" y="423892"/>
                  <a:pt x="88424" y="431929"/>
                  <a:pt x="94218" y="436662"/>
                </a:cubicBezTo>
                <a:cubicBezTo>
                  <a:pt x="100013" y="441394"/>
                  <a:pt x="107633" y="442109"/>
                  <a:pt x="114062" y="438448"/>
                </a:cubicBezTo>
                <a:lnTo>
                  <a:pt x="228679" y="372904"/>
                </a:lnTo>
                <a:lnTo>
                  <a:pt x="343218" y="438448"/>
                </a:lnTo>
                <a:cubicBezTo>
                  <a:pt x="349568" y="442109"/>
                  <a:pt x="357267" y="441394"/>
                  <a:pt x="363061" y="436662"/>
                </a:cubicBezTo>
                <a:cubicBezTo>
                  <a:pt x="368856" y="431929"/>
                  <a:pt x="371793" y="423982"/>
                  <a:pt x="370681" y="415945"/>
                </a:cubicBezTo>
                <a:lnTo>
                  <a:pt x="350599" y="273159"/>
                </a:lnTo>
                <a:lnTo>
                  <a:pt x="441404" y="170914"/>
                </a:lnTo>
                <a:cubicBezTo>
                  <a:pt x="446484" y="165199"/>
                  <a:pt x="448231" y="156805"/>
                  <a:pt x="446008" y="149126"/>
                </a:cubicBezTo>
                <a:cubicBezTo>
                  <a:pt x="443786" y="141446"/>
                  <a:pt x="437991" y="135821"/>
                  <a:pt x="430847" y="134570"/>
                </a:cubicBezTo>
                <a:lnTo>
                  <a:pt x="304006" y="111889"/>
                </a:lnTo>
                <a:lnTo>
                  <a:pt x="245666" y="-16877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159000"/>
            <a:ext cx="533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Practices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5969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Document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public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class and method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@param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ALL parameters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Describe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@return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values clearly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Document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@throws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all exceptions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Keep descriptions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concise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actionable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sentences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clarity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Update docs when code changes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3937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159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10" name="Text 8"/>
          <p:cNvSpPr/>
          <p:nvPr/>
        </p:nvSpPr>
        <p:spPr>
          <a:xfrm>
            <a:off x="9398000" y="2159000"/>
            <a:ext cx="508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Real-World Examples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763000" y="2794000"/>
            <a:ext cx="5842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Standard Library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entire JDK documented with Javadoc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Apache Commons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open-source libraries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Spring Framework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enterprise Java docs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Hibernate ORM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persistence framework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fintech company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mandates Javadoc for all public APIs, enabling new developers to onboard 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 faster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6223000"/>
            <a:ext cx="13716000" cy="1778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651000" y="6604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0121" y="208855"/>
                </a:moveTo>
                <a:cubicBezTo>
                  <a:pt x="339804" y="205581"/>
                  <a:pt x="349964" y="211336"/>
                  <a:pt x="354330" y="222548"/>
                </a:cubicBezTo>
                <a:lnTo>
                  <a:pt x="369094" y="259854"/>
                </a:lnTo>
                <a:cubicBezTo>
                  <a:pt x="377269" y="261243"/>
                  <a:pt x="385286" y="264021"/>
                  <a:pt x="392827" y="267891"/>
                </a:cubicBezTo>
                <a:lnTo>
                  <a:pt x="420608" y="244773"/>
                </a:lnTo>
                <a:cubicBezTo>
                  <a:pt x="428943" y="237827"/>
                  <a:pt x="439976" y="239216"/>
                  <a:pt x="447040" y="248047"/>
                </a:cubicBezTo>
                <a:lnTo>
                  <a:pt x="462280" y="267097"/>
                </a:lnTo>
                <a:cubicBezTo>
                  <a:pt x="469344" y="275927"/>
                  <a:pt x="470456" y="289818"/>
                  <a:pt x="464899" y="300137"/>
                </a:cubicBezTo>
                <a:lnTo>
                  <a:pt x="446405" y="334764"/>
                </a:lnTo>
                <a:cubicBezTo>
                  <a:pt x="447913" y="339427"/>
                  <a:pt x="449263" y="344289"/>
                  <a:pt x="450374" y="349349"/>
                </a:cubicBezTo>
                <a:cubicBezTo>
                  <a:pt x="451485" y="354409"/>
                  <a:pt x="452199" y="359370"/>
                  <a:pt x="452755" y="364430"/>
                </a:cubicBezTo>
                <a:lnTo>
                  <a:pt x="482679" y="382885"/>
                </a:lnTo>
                <a:cubicBezTo>
                  <a:pt x="491649" y="388441"/>
                  <a:pt x="496253" y="401141"/>
                  <a:pt x="493633" y="413147"/>
                </a:cubicBezTo>
                <a:lnTo>
                  <a:pt x="488077" y="439142"/>
                </a:lnTo>
                <a:cubicBezTo>
                  <a:pt x="485458" y="451148"/>
                  <a:pt x="476488" y="459284"/>
                  <a:pt x="466487" y="458490"/>
                </a:cubicBezTo>
                <a:lnTo>
                  <a:pt x="433149" y="455811"/>
                </a:lnTo>
                <a:cubicBezTo>
                  <a:pt x="428149" y="463848"/>
                  <a:pt x="422354" y="471289"/>
                  <a:pt x="415766" y="477639"/>
                </a:cubicBezTo>
                <a:lnTo>
                  <a:pt x="417909" y="519212"/>
                </a:lnTo>
                <a:cubicBezTo>
                  <a:pt x="418544" y="531713"/>
                  <a:pt x="412036" y="543024"/>
                  <a:pt x="402431" y="546199"/>
                </a:cubicBezTo>
                <a:lnTo>
                  <a:pt x="381635" y="553145"/>
                </a:lnTo>
                <a:cubicBezTo>
                  <a:pt x="371951" y="556419"/>
                  <a:pt x="361871" y="550664"/>
                  <a:pt x="357426" y="539452"/>
                </a:cubicBezTo>
                <a:lnTo>
                  <a:pt x="342662" y="502146"/>
                </a:lnTo>
                <a:cubicBezTo>
                  <a:pt x="334486" y="500757"/>
                  <a:pt x="326469" y="497979"/>
                  <a:pt x="318929" y="494109"/>
                </a:cubicBezTo>
                <a:lnTo>
                  <a:pt x="291148" y="517227"/>
                </a:lnTo>
                <a:cubicBezTo>
                  <a:pt x="282813" y="524173"/>
                  <a:pt x="271780" y="522784"/>
                  <a:pt x="264716" y="513953"/>
                </a:cubicBezTo>
                <a:lnTo>
                  <a:pt x="249476" y="494903"/>
                </a:lnTo>
                <a:cubicBezTo>
                  <a:pt x="242411" y="486073"/>
                  <a:pt x="241300" y="472281"/>
                  <a:pt x="246856" y="461863"/>
                </a:cubicBezTo>
                <a:lnTo>
                  <a:pt x="265351" y="427137"/>
                </a:lnTo>
                <a:cubicBezTo>
                  <a:pt x="263843" y="422473"/>
                  <a:pt x="262493" y="417612"/>
                  <a:pt x="261382" y="412552"/>
                </a:cubicBezTo>
                <a:cubicBezTo>
                  <a:pt x="260271" y="407491"/>
                  <a:pt x="259556" y="402431"/>
                  <a:pt x="259001" y="397470"/>
                </a:cubicBezTo>
                <a:lnTo>
                  <a:pt x="229076" y="379016"/>
                </a:lnTo>
                <a:cubicBezTo>
                  <a:pt x="220107" y="373459"/>
                  <a:pt x="215583" y="360759"/>
                  <a:pt x="218123" y="348754"/>
                </a:cubicBezTo>
                <a:lnTo>
                  <a:pt x="223679" y="322759"/>
                </a:lnTo>
                <a:cubicBezTo>
                  <a:pt x="226298" y="310753"/>
                  <a:pt x="235268" y="302617"/>
                  <a:pt x="245269" y="303411"/>
                </a:cubicBezTo>
                <a:lnTo>
                  <a:pt x="278527" y="306090"/>
                </a:lnTo>
                <a:cubicBezTo>
                  <a:pt x="283528" y="298053"/>
                  <a:pt x="289322" y="290612"/>
                  <a:pt x="295910" y="284262"/>
                </a:cubicBezTo>
                <a:lnTo>
                  <a:pt x="293767" y="242788"/>
                </a:lnTo>
                <a:cubicBezTo>
                  <a:pt x="293132" y="230287"/>
                  <a:pt x="299641" y="218976"/>
                  <a:pt x="309245" y="215801"/>
                </a:cubicBezTo>
                <a:lnTo>
                  <a:pt x="330041" y="208855"/>
                </a:lnTo>
                <a:close/>
                <a:moveTo>
                  <a:pt x="355918" y="337344"/>
                </a:moveTo>
                <a:cubicBezTo>
                  <a:pt x="336642" y="337371"/>
                  <a:pt x="321010" y="356955"/>
                  <a:pt x="321032" y="381050"/>
                </a:cubicBezTo>
                <a:cubicBezTo>
                  <a:pt x="321054" y="405144"/>
                  <a:pt x="336721" y="424684"/>
                  <a:pt x="355997" y="424656"/>
                </a:cubicBezTo>
                <a:cubicBezTo>
                  <a:pt x="375273" y="424629"/>
                  <a:pt x="390904" y="405045"/>
                  <a:pt x="390882" y="380950"/>
                </a:cubicBezTo>
                <a:cubicBezTo>
                  <a:pt x="390860" y="356856"/>
                  <a:pt x="375193" y="337316"/>
                  <a:pt x="355918" y="337344"/>
                </a:cubicBezTo>
                <a:close/>
                <a:moveTo>
                  <a:pt x="178514" y="-45145"/>
                </a:moveTo>
                <a:lnTo>
                  <a:pt x="199311" y="-38199"/>
                </a:lnTo>
                <a:cubicBezTo>
                  <a:pt x="208915" y="-34925"/>
                  <a:pt x="215424" y="-23614"/>
                  <a:pt x="214789" y="-11212"/>
                </a:cubicBezTo>
                <a:lnTo>
                  <a:pt x="212646" y="30262"/>
                </a:lnTo>
                <a:cubicBezTo>
                  <a:pt x="219234" y="36612"/>
                  <a:pt x="225028" y="43954"/>
                  <a:pt x="230029" y="52090"/>
                </a:cubicBezTo>
                <a:lnTo>
                  <a:pt x="263366" y="49411"/>
                </a:lnTo>
                <a:cubicBezTo>
                  <a:pt x="273288" y="48617"/>
                  <a:pt x="282337" y="56753"/>
                  <a:pt x="284956" y="68759"/>
                </a:cubicBezTo>
                <a:lnTo>
                  <a:pt x="290513" y="94754"/>
                </a:lnTo>
                <a:cubicBezTo>
                  <a:pt x="293053" y="106759"/>
                  <a:pt x="288528" y="119459"/>
                  <a:pt x="279559" y="125016"/>
                </a:cubicBezTo>
                <a:lnTo>
                  <a:pt x="249634" y="143470"/>
                </a:lnTo>
                <a:cubicBezTo>
                  <a:pt x="249079" y="148530"/>
                  <a:pt x="248285" y="153591"/>
                  <a:pt x="247253" y="158552"/>
                </a:cubicBezTo>
                <a:cubicBezTo>
                  <a:pt x="246221" y="163512"/>
                  <a:pt x="244793" y="168473"/>
                  <a:pt x="243284" y="173137"/>
                </a:cubicBezTo>
                <a:lnTo>
                  <a:pt x="261779" y="207863"/>
                </a:lnTo>
                <a:cubicBezTo>
                  <a:pt x="267335" y="218281"/>
                  <a:pt x="266224" y="232073"/>
                  <a:pt x="259159" y="240903"/>
                </a:cubicBezTo>
                <a:lnTo>
                  <a:pt x="243919" y="259953"/>
                </a:lnTo>
                <a:cubicBezTo>
                  <a:pt x="236855" y="268784"/>
                  <a:pt x="225822" y="270173"/>
                  <a:pt x="217488" y="263227"/>
                </a:cubicBezTo>
                <a:lnTo>
                  <a:pt x="189706" y="240109"/>
                </a:lnTo>
                <a:cubicBezTo>
                  <a:pt x="182166" y="243979"/>
                  <a:pt x="174149" y="246757"/>
                  <a:pt x="165973" y="248146"/>
                </a:cubicBezTo>
                <a:lnTo>
                  <a:pt x="151209" y="285452"/>
                </a:lnTo>
                <a:cubicBezTo>
                  <a:pt x="146764" y="296664"/>
                  <a:pt x="136604" y="302320"/>
                  <a:pt x="127000" y="299145"/>
                </a:cubicBezTo>
                <a:lnTo>
                  <a:pt x="106204" y="292199"/>
                </a:lnTo>
                <a:cubicBezTo>
                  <a:pt x="96520" y="288925"/>
                  <a:pt x="90091" y="277614"/>
                  <a:pt x="90726" y="265212"/>
                </a:cubicBezTo>
                <a:lnTo>
                  <a:pt x="92869" y="223639"/>
                </a:lnTo>
                <a:cubicBezTo>
                  <a:pt x="86281" y="217289"/>
                  <a:pt x="80486" y="209947"/>
                  <a:pt x="75486" y="201811"/>
                </a:cubicBezTo>
                <a:lnTo>
                  <a:pt x="42148" y="204490"/>
                </a:lnTo>
                <a:cubicBezTo>
                  <a:pt x="32226" y="205284"/>
                  <a:pt x="23178" y="197148"/>
                  <a:pt x="20558" y="185142"/>
                </a:cubicBezTo>
                <a:lnTo>
                  <a:pt x="15002" y="159147"/>
                </a:lnTo>
                <a:cubicBezTo>
                  <a:pt x="12462" y="147141"/>
                  <a:pt x="16986" y="134441"/>
                  <a:pt x="25956" y="128885"/>
                </a:cubicBezTo>
                <a:lnTo>
                  <a:pt x="55880" y="110430"/>
                </a:lnTo>
                <a:cubicBezTo>
                  <a:pt x="56436" y="105370"/>
                  <a:pt x="57229" y="100409"/>
                  <a:pt x="58261" y="95349"/>
                </a:cubicBezTo>
                <a:cubicBezTo>
                  <a:pt x="59373" y="90289"/>
                  <a:pt x="60643" y="85427"/>
                  <a:pt x="62230" y="80764"/>
                </a:cubicBezTo>
                <a:lnTo>
                  <a:pt x="43736" y="46137"/>
                </a:lnTo>
                <a:cubicBezTo>
                  <a:pt x="38179" y="35719"/>
                  <a:pt x="39291" y="21927"/>
                  <a:pt x="46355" y="13097"/>
                </a:cubicBezTo>
                <a:lnTo>
                  <a:pt x="61595" y="-5953"/>
                </a:lnTo>
                <a:cubicBezTo>
                  <a:pt x="68659" y="-14784"/>
                  <a:pt x="79693" y="-16173"/>
                  <a:pt x="88027" y="-9227"/>
                </a:cubicBezTo>
                <a:lnTo>
                  <a:pt x="115808" y="13891"/>
                </a:lnTo>
                <a:cubicBezTo>
                  <a:pt x="123349" y="10021"/>
                  <a:pt x="131366" y="7243"/>
                  <a:pt x="139541" y="5854"/>
                </a:cubicBezTo>
                <a:lnTo>
                  <a:pt x="154305" y="-31452"/>
                </a:lnTo>
                <a:cubicBezTo>
                  <a:pt x="158750" y="-42664"/>
                  <a:pt x="168831" y="-48320"/>
                  <a:pt x="178514" y="-45145"/>
                </a:cubicBezTo>
                <a:close/>
                <a:moveTo>
                  <a:pt x="152718" y="83344"/>
                </a:moveTo>
                <a:cubicBezTo>
                  <a:pt x="133442" y="83344"/>
                  <a:pt x="117793" y="102905"/>
                  <a:pt x="117793" y="127000"/>
                </a:cubicBezTo>
                <a:cubicBezTo>
                  <a:pt x="117793" y="151095"/>
                  <a:pt x="133442" y="170656"/>
                  <a:pt x="152718" y="170656"/>
                </a:cubicBezTo>
                <a:cubicBezTo>
                  <a:pt x="171993" y="170656"/>
                  <a:pt x="187643" y="151095"/>
                  <a:pt x="187643" y="127000"/>
                </a:cubicBezTo>
                <a:cubicBezTo>
                  <a:pt x="187643" y="102905"/>
                  <a:pt x="171993" y="83344"/>
                  <a:pt x="152718" y="83344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349500" y="6477000"/>
            <a:ext cx="508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Build Tool Integration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49500" y="6985000"/>
            <a:ext cx="1231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Javadoc is integrated into Maven and Gradle to generate documentation automatically during the build process, ensuring docs are always in sync with the code.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Javadoc Code Example — Documenting a Class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778000"/>
            <a:ext cx="13716000" cy="53340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1879600"/>
            <a:ext cx="381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BankAccount.java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24000" y="2286000"/>
            <a:ext cx="13208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/** Represents a bank account with basic operations.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*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@author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John Smith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@version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1.2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@since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2024-01-15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*/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class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BankAccount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balance;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/** Deposits amount.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@param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amount to deposit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@throws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IllegalArgumentException */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void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deposit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amount) { ... }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/** Returns balance. 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@return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account balance  */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  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double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getBalance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2E5E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balance; }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70000" y="7366000"/>
            <a:ext cx="13716000" cy="762000"/>
          </a:xfrm>
          <a:prstGeom prst="roundRect">
            <a:avLst>
              <a:gd name="adj" fmla="val 6000"/>
            </a:avLst>
          </a:prstGeom>
          <a:solidFill>
            <a:srgbClr val="2E5E8A">
              <a:alpha val="6275"/>
            </a:srgbClr>
          </a:solidFill>
          <a:ln w="12700">
            <a:solidFill>
              <a:srgbClr val="2E5E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24000" y="7569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2489" y="228600"/>
                </a:moveTo>
                <a:cubicBezTo>
                  <a:pt x="238284" y="215325"/>
                  <a:pt x="249872" y="203299"/>
                  <a:pt x="262969" y="192941"/>
                </a:cubicBezTo>
                <a:cubicBezTo>
                  <a:pt x="288925" y="172462"/>
                  <a:pt x="304800" y="144780"/>
                  <a:pt x="304800" y="114300"/>
                </a:cubicBezTo>
                <a:cubicBezTo>
                  <a:pt x="304800" y="51197"/>
                  <a:pt x="236537" y="0"/>
                  <a:pt x="152400" y="0"/>
                </a:cubicBezTo>
                <a:cubicBezTo>
                  <a:pt x="68262" y="0"/>
                  <a:pt x="0" y="51197"/>
                  <a:pt x="0" y="114300"/>
                </a:cubicBezTo>
                <a:cubicBezTo>
                  <a:pt x="0" y="144780"/>
                  <a:pt x="15875" y="172462"/>
                  <a:pt x="41831" y="192941"/>
                </a:cubicBezTo>
                <a:cubicBezTo>
                  <a:pt x="54928" y="203299"/>
                  <a:pt x="66596" y="215325"/>
                  <a:pt x="72311" y="228600"/>
                </a:cubicBezTo>
                <a:lnTo>
                  <a:pt x="232410" y="228600"/>
                </a:lnTo>
                <a:close/>
                <a:moveTo>
                  <a:pt x="228600" y="257175"/>
                </a:moveTo>
                <a:lnTo>
                  <a:pt x="76200" y="257175"/>
                </a:lnTo>
                <a:lnTo>
                  <a:pt x="76200" y="266700"/>
                </a:lnTo>
                <a:cubicBezTo>
                  <a:pt x="76200" y="293013"/>
                  <a:pt x="104616" y="314325"/>
                  <a:pt x="139700" y="314325"/>
                </a:cubicBezTo>
                <a:lnTo>
                  <a:pt x="165100" y="314325"/>
                </a:lnTo>
                <a:cubicBezTo>
                  <a:pt x="200184" y="314325"/>
                  <a:pt x="228600" y="293013"/>
                  <a:pt x="228600" y="266700"/>
                </a:cubicBezTo>
                <a:lnTo>
                  <a:pt x="228600" y="257175"/>
                </a:lnTo>
                <a:close/>
                <a:moveTo>
                  <a:pt x="146050" y="66675"/>
                </a:moveTo>
                <a:cubicBezTo>
                  <a:pt x="114459" y="66675"/>
                  <a:pt x="88900" y="85844"/>
                  <a:pt x="88900" y="109537"/>
                </a:cubicBezTo>
                <a:cubicBezTo>
                  <a:pt x="88900" y="117455"/>
                  <a:pt x="80407" y="123825"/>
                  <a:pt x="69850" y="123825"/>
                </a:cubicBezTo>
                <a:cubicBezTo>
                  <a:pt x="59293" y="123825"/>
                  <a:pt x="50800" y="117455"/>
                  <a:pt x="50800" y="109537"/>
                </a:cubicBezTo>
                <a:cubicBezTo>
                  <a:pt x="50800" y="70068"/>
                  <a:pt x="93424" y="38100"/>
                  <a:pt x="146050" y="38100"/>
                </a:cubicBezTo>
                <a:cubicBezTo>
                  <a:pt x="156607" y="38100"/>
                  <a:pt x="165100" y="44470"/>
                  <a:pt x="165100" y="52388"/>
                </a:cubicBezTo>
                <a:cubicBezTo>
                  <a:pt x="165100" y="60305"/>
                  <a:pt x="156607" y="66675"/>
                  <a:pt x="146050" y="6667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9" name="Text 7"/>
          <p:cNvSpPr/>
          <p:nvPr/>
        </p:nvSpPr>
        <p:spPr>
          <a:xfrm>
            <a:off x="1968500" y="74295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Generate docs: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javadoc -d docs BankAccount.java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 →  Produces professional HTML documentation in the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docs/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folder.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Packaging Java Applications — JAR Files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905000"/>
            <a:ext cx="7112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JAR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(Java Archive) is a package file format that aggregates Java class files, metadata, and resources into a single file for distribution.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ZIP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format with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.jar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extension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Contains a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META-INF/MANIFEST.MF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Standard for Java library distribution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Can be digitally signed for security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890000" y="1905000"/>
            <a:ext cx="6096000" cy="355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271000" y="2095500"/>
            <a:ext cx="5334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Types of JAR Files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271000" y="279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93211" y="88900"/>
                </a:moveTo>
                <a:lnTo>
                  <a:pt x="265986" y="55563"/>
                </a:lnTo>
                <a:lnTo>
                  <a:pt x="89694" y="55563"/>
                </a:lnTo>
                <a:lnTo>
                  <a:pt x="62468" y="88900"/>
                </a:lnTo>
                <a:lnTo>
                  <a:pt x="293211" y="88900"/>
                </a:lnTo>
                <a:close/>
                <a:moveTo>
                  <a:pt x="0" y="103138"/>
                </a:moveTo>
                <a:cubicBezTo>
                  <a:pt x="0" y="93901"/>
                  <a:pt x="3334" y="84872"/>
                  <a:pt x="9446" y="77301"/>
                </a:cubicBezTo>
                <a:lnTo>
                  <a:pt x="48339" y="29726"/>
                </a:lnTo>
                <a:cubicBezTo>
                  <a:pt x="57864" y="18058"/>
                  <a:pt x="73263" y="11112"/>
                  <a:pt x="89614" y="11112"/>
                </a:cubicBezTo>
                <a:lnTo>
                  <a:pt x="265906" y="11112"/>
                </a:lnTo>
                <a:cubicBezTo>
                  <a:pt x="282337" y="11112"/>
                  <a:pt x="297736" y="18058"/>
                  <a:pt x="307261" y="29726"/>
                </a:cubicBezTo>
                <a:lnTo>
                  <a:pt x="346075" y="77301"/>
                </a:lnTo>
                <a:cubicBezTo>
                  <a:pt x="352266" y="84872"/>
                  <a:pt x="355521" y="93901"/>
                  <a:pt x="355521" y="103138"/>
                </a:cubicBezTo>
                <a:lnTo>
                  <a:pt x="355600" y="288925"/>
                </a:lnTo>
                <a:cubicBezTo>
                  <a:pt x="355600" y="313442"/>
                  <a:pt x="332819" y="333375"/>
                  <a:pt x="304800" y="333375"/>
                </a:cubicBezTo>
                <a:lnTo>
                  <a:pt x="50800" y="333375"/>
                </a:lnTo>
                <a:cubicBezTo>
                  <a:pt x="22781" y="333375"/>
                  <a:pt x="0" y="313442"/>
                  <a:pt x="0" y="288925"/>
                </a:cubicBezTo>
                <a:lnTo>
                  <a:pt x="0" y="103138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8" name="Text 6"/>
          <p:cNvSpPr/>
          <p:nvPr/>
        </p:nvSpPr>
        <p:spPr>
          <a:xfrm>
            <a:off x="9779000" y="27305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Regular JAR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Library of reusable classes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71000" y="361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72390" y="25628"/>
                </a:moveTo>
                <a:cubicBezTo>
                  <a:pt x="62547" y="20905"/>
                  <a:pt x="50641" y="21114"/>
                  <a:pt x="40958" y="26114"/>
                </a:cubicBezTo>
                <a:cubicBezTo>
                  <a:pt x="31274" y="31115"/>
                  <a:pt x="25400" y="40213"/>
                  <a:pt x="25400" y="50006"/>
                </a:cubicBezTo>
                <a:lnTo>
                  <a:pt x="25400" y="305594"/>
                </a:lnTo>
                <a:cubicBezTo>
                  <a:pt x="25400" y="315387"/>
                  <a:pt x="31353" y="324485"/>
                  <a:pt x="40958" y="329486"/>
                </a:cubicBezTo>
                <a:cubicBezTo>
                  <a:pt x="50562" y="334486"/>
                  <a:pt x="62547" y="334695"/>
                  <a:pt x="72390" y="329972"/>
                </a:cubicBezTo>
                <a:lnTo>
                  <a:pt x="339090" y="202178"/>
                </a:lnTo>
                <a:cubicBezTo>
                  <a:pt x="349250" y="197316"/>
                  <a:pt x="355600" y="187940"/>
                  <a:pt x="355600" y="177800"/>
                </a:cubicBezTo>
                <a:cubicBezTo>
                  <a:pt x="355600" y="167660"/>
                  <a:pt x="349250" y="158284"/>
                  <a:pt x="339090" y="153422"/>
                </a:cubicBezTo>
                <a:lnTo>
                  <a:pt x="72390" y="25628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779000" y="35560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6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Executable JAR</a:t>
            </a:r>
            <a:pPr algn="l">
              <a:lnSpc>
                <a:spcPct val="130000"/>
              </a:lnSpc>
            </a:pPr>
            <a:r>
              <a:rPr lang="en-US" sz="16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Runnable app with Main-Class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271000" y="4445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7247" y="-903"/>
                </a:moveTo>
                <a:cubicBezTo>
                  <a:pt x="185231" y="-7848"/>
                  <a:pt x="170369" y="-7848"/>
                  <a:pt x="158353" y="-903"/>
                </a:cubicBezTo>
                <a:lnTo>
                  <a:pt x="99874" y="32851"/>
                </a:lnTo>
                <a:cubicBezTo>
                  <a:pt x="87858" y="39797"/>
                  <a:pt x="80427" y="52645"/>
                  <a:pt x="80427" y="66536"/>
                </a:cubicBezTo>
                <a:lnTo>
                  <a:pt x="80427" y="137309"/>
                </a:lnTo>
                <a:lnTo>
                  <a:pt x="19100" y="172730"/>
                </a:lnTo>
                <a:cubicBezTo>
                  <a:pt x="7084" y="179675"/>
                  <a:pt x="-347" y="192524"/>
                  <a:pt x="-347" y="206415"/>
                </a:cubicBezTo>
                <a:lnTo>
                  <a:pt x="-347" y="273993"/>
                </a:lnTo>
                <a:cubicBezTo>
                  <a:pt x="-347" y="287883"/>
                  <a:pt x="7084" y="300732"/>
                  <a:pt x="19100" y="307677"/>
                </a:cubicBezTo>
                <a:lnTo>
                  <a:pt x="77649" y="341432"/>
                </a:lnTo>
                <a:cubicBezTo>
                  <a:pt x="89664" y="348377"/>
                  <a:pt x="104527" y="348377"/>
                  <a:pt x="116542" y="341432"/>
                </a:cubicBezTo>
                <a:lnTo>
                  <a:pt x="177869" y="306010"/>
                </a:lnTo>
                <a:lnTo>
                  <a:pt x="239197" y="341432"/>
                </a:lnTo>
                <a:cubicBezTo>
                  <a:pt x="251212" y="348377"/>
                  <a:pt x="266075" y="348377"/>
                  <a:pt x="278090" y="341432"/>
                </a:cubicBezTo>
                <a:lnTo>
                  <a:pt x="336500" y="307677"/>
                </a:lnTo>
                <a:cubicBezTo>
                  <a:pt x="348516" y="300732"/>
                  <a:pt x="355947" y="287883"/>
                  <a:pt x="355947" y="273993"/>
                </a:cubicBezTo>
                <a:lnTo>
                  <a:pt x="355947" y="206415"/>
                </a:lnTo>
                <a:cubicBezTo>
                  <a:pt x="355947" y="192524"/>
                  <a:pt x="348516" y="179675"/>
                  <a:pt x="336500" y="172730"/>
                </a:cubicBezTo>
                <a:lnTo>
                  <a:pt x="275173" y="137309"/>
                </a:lnTo>
                <a:lnTo>
                  <a:pt x="275173" y="66536"/>
                </a:lnTo>
                <a:cubicBezTo>
                  <a:pt x="275173" y="52645"/>
                  <a:pt x="267742" y="39797"/>
                  <a:pt x="255726" y="32851"/>
                </a:cubicBezTo>
                <a:lnTo>
                  <a:pt x="197247" y="-903"/>
                </a:lnTo>
                <a:close/>
                <a:moveTo>
                  <a:pt x="161131" y="203220"/>
                </a:moveTo>
                <a:lnTo>
                  <a:pt x="161131" y="277187"/>
                </a:lnTo>
                <a:lnTo>
                  <a:pt x="99804" y="312609"/>
                </a:lnTo>
                <a:cubicBezTo>
                  <a:pt x="98971" y="313095"/>
                  <a:pt x="97998" y="313373"/>
                  <a:pt x="97026" y="313373"/>
                </a:cubicBezTo>
                <a:lnTo>
                  <a:pt x="97026" y="240238"/>
                </a:lnTo>
                <a:lnTo>
                  <a:pt x="161131" y="203220"/>
                </a:lnTo>
                <a:close/>
                <a:moveTo>
                  <a:pt x="321846" y="203637"/>
                </a:moveTo>
                <a:cubicBezTo>
                  <a:pt x="322332" y="204470"/>
                  <a:pt x="322610" y="205442"/>
                  <a:pt x="322610" y="206415"/>
                </a:cubicBezTo>
                <a:lnTo>
                  <a:pt x="322610" y="273993"/>
                </a:lnTo>
                <a:cubicBezTo>
                  <a:pt x="322610" y="276007"/>
                  <a:pt x="321568" y="277813"/>
                  <a:pt x="319832" y="278785"/>
                </a:cubicBezTo>
                <a:lnTo>
                  <a:pt x="261283" y="312539"/>
                </a:lnTo>
                <a:cubicBezTo>
                  <a:pt x="260449" y="313025"/>
                  <a:pt x="259477" y="313303"/>
                  <a:pt x="258505" y="313303"/>
                </a:cubicBezTo>
                <a:lnTo>
                  <a:pt x="258505" y="240169"/>
                </a:lnTo>
                <a:lnTo>
                  <a:pt x="321846" y="203637"/>
                </a:lnTo>
                <a:close/>
                <a:moveTo>
                  <a:pt x="241905" y="66536"/>
                </a:moveTo>
                <a:lnTo>
                  <a:pt x="241905" y="137309"/>
                </a:lnTo>
                <a:lnTo>
                  <a:pt x="177800" y="174327"/>
                </a:lnTo>
                <a:lnTo>
                  <a:pt x="177800" y="100360"/>
                </a:lnTo>
                <a:lnTo>
                  <a:pt x="241141" y="63827"/>
                </a:lnTo>
                <a:cubicBezTo>
                  <a:pt x="241627" y="64661"/>
                  <a:pt x="241905" y="65633"/>
                  <a:pt x="241905" y="6660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2" name="Text 10"/>
          <p:cNvSpPr/>
          <p:nvPr/>
        </p:nvSpPr>
        <p:spPr>
          <a:xfrm>
            <a:off x="9779000" y="4381500"/>
            <a:ext cx="4826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Fat/Uber JAR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— Includes all dependencies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70000" y="5842000"/>
            <a:ext cx="381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Why Use JAR Files?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270000" y="6413500"/>
            <a:ext cx="3175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24000" y="660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17714" y="23812"/>
                </a:moveTo>
                <a:cubicBezTo>
                  <a:pt x="217714" y="10641"/>
                  <a:pt x="205553" y="0"/>
                  <a:pt x="190500" y="0"/>
                </a:cubicBezTo>
                <a:cubicBezTo>
                  <a:pt x="175447" y="0"/>
                  <a:pt x="163286" y="10641"/>
                  <a:pt x="163286" y="23812"/>
                </a:cubicBezTo>
                <a:lnTo>
                  <a:pt x="163286" y="180603"/>
                </a:lnTo>
                <a:lnTo>
                  <a:pt x="128077" y="149796"/>
                </a:lnTo>
                <a:cubicBezTo>
                  <a:pt x="117447" y="140494"/>
                  <a:pt x="100183" y="140494"/>
                  <a:pt x="89552" y="149796"/>
                </a:cubicBezTo>
                <a:cubicBezTo>
                  <a:pt x="78921" y="159097"/>
                  <a:pt x="78921" y="174203"/>
                  <a:pt x="89552" y="183505"/>
                </a:cubicBezTo>
                <a:lnTo>
                  <a:pt x="171195" y="254943"/>
                </a:lnTo>
                <a:cubicBezTo>
                  <a:pt x="181825" y="264244"/>
                  <a:pt x="199090" y="264244"/>
                  <a:pt x="209720" y="254943"/>
                </a:cubicBezTo>
                <a:lnTo>
                  <a:pt x="291363" y="183505"/>
                </a:lnTo>
                <a:cubicBezTo>
                  <a:pt x="301994" y="174203"/>
                  <a:pt x="301994" y="159097"/>
                  <a:pt x="291363" y="149796"/>
                </a:cubicBezTo>
                <a:cubicBezTo>
                  <a:pt x="280732" y="140494"/>
                  <a:pt x="263468" y="140494"/>
                  <a:pt x="252838" y="149796"/>
                </a:cubicBezTo>
                <a:lnTo>
                  <a:pt x="217714" y="180603"/>
                </a:lnTo>
                <a:lnTo>
                  <a:pt x="217714" y="23812"/>
                </a:lnTo>
                <a:close/>
                <a:moveTo>
                  <a:pt x="54429" y="238125"/>
                </a:moveTo>
                <a:cubicBezTo>
                  <a:pt x="24408" y="238125"/>
                  <a:pt x="0" y="259482"/>
                  <a:pt x="0" y="285750"/>
                </a:cubicBezTo>
                <a:lnTo>
                  <a:pt x="0" y="309563"/>
                </a:lnTo>
                <a:cubicBezTo>
                  <a:pt x="0" y="335831"/>
                  <a:pt x="24408" y="357188"/>
                  <a:pt x="54429" y="357188"/>
                </a:cubicBezTo>
                <a:lnTo>
                  <a:pt x="326571" y="357188"/>
                </a:lnTo>
                <a:cubicBezTo>
                  <a:pt x="356592" y="357188"/>
                  <a:pt x="381000" y="335831"/>
                  <a:pt x="381000" y="309563"/>
                </a:cubicBezTo>
                <a:lnTo>
                  <a:pt x="381000" y="285750"/>
                </a:lnTo>
                <a:cubicBezTo>
                  <a:pt x="381000" y="259482"/>
                  <a:pt x="356592" y="238125"/>
                  <a:pt x="326571" y="238125"/>
                </a:cubicBezTo>
                <a:lnTo>
                  <a:pt x="286685" y="238125"/>
                </a:lnTo>
                <a:lnTo>
                  <a:pt x="238550" y="280243"/>
                </a:lnTo>
                <a:cubicBezTo>
                  <a:pt x="212016" y="303461"/>
                  <a:pt x="168899" y="303461"/>
                  <a:pt x="142365" y="280243"/>
                </a:cubicBezTo>
                <a:lnTo>
                  <a:pt x="94315" y="238125"/>
                </a:lnTo>
                <a:lnTo>
                  <a:pt x="54429" y="238125"/>
                </a:lnTo>
                <a:close/>
                <a:moveTo>
                  <a:pt x="312964" y="279797"/>
                </a:moveTo>
                <a:cubicBezTo>
                  <a:pt x="324229" y="279797"/>
                  <a:pt x="333375" y="287799"/>
                  <a:pt x="333375" y="297656"/>
                </a:cubicBezTo>
                <a:cubicBezTo>
                  <a:pt x="333375" y="307513"/>
                  <a:pt x="324229" y="315516"/>
                  <a:pt x="312964" y="315516"/>
                </a:cubicBezTo>
                <a:cubicBezTo>
                  <a:pt x="301699" y="315516"/>
                  <a:pt x="292554" y="307513"/>
                  <a:pt x="292554" y="297656"/>
                </a:cubicBezTo>
                <a:cubicBezTo>
                  <a:pt x="292554" y="287799"/>
                  <a:pt x="301699" y="279797"/>
                  <a:pt x="312964" y="279797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2032000" y="6540500"/>
            <a:ext cx="222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Simplified Distribution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Single file to share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99000" y="6413500"/>
            <a:ext cx="3175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660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36071" y="47625"/>
                </a:moveTo>
                <a:cubicBezTo>
                  <a:pt x="136071" y="34454"/>
                  <a:pt x="123910" y="23812"/>
                  <a:pt x="108857" y="23812"/>
                </a:cubicBezTo>
                <a:cubicBezTo>
                  <a:pt x="93804" y="23812"/>
                  <a:pt x="81643" y="34454"/>
                  <a:pt x="81643" y="47625"/>
                </a:cubicBezTo>
                <a:lnTo>
                  <a:pt x="81643" y="95250"/>
                </a:lnTo>
                <a:lnTo>
                  <a:pt x="27214" y="95250"/>
                </a:lnTo>
                <a:cubicBezTo>
                  <a:pt x="12161" y="95250"/>
                  <a:pt x="0" y="105891"/>
                  <a:pt x="0" y="119063"/>
                </a:cubicBezTo>
                <a:cubicBezTo>
                  <a:pt x="0" y="132234"/>
                  <a:pt x="12161" y="142875"/>
                  <a:pt x="27214" y="142875"/>
                </a:cubicBezTo>
                <a:lnTo>
                  <a:pt x="108857" y="142875"/>
                </a:lnTo>
                <a:cubicBezTo>
                  <a:pt x="123910" y="142875"/>
                  <a:pt x="136071" y="132234"/>
                  <a:pt x="136071" y="119063"/>
                </a:cubicBezTo>
                <a:lnTo>
                  <a:pt x="136071" y="47625"/>
                </a:lnTo>
                <a:close/>
                <a:moveTo>
                  <a:pt x="27214" y="238125"/>
                </a:moveTo>
                <a:cubicBezTo>
                  <a:pt x="12161" y="238125"/>
                  <a:pt x="0" y="248766"/>
                  <a:pt x="0" y="261938"/>
                </a:cubicBezTo>
                <a:cubicBezTo>
                  <a:pt x="0" y="275109"/>
                  <a:pt x="12161" y="285750"/>
                  <a:pt x="27214" y="285750"/>
                </a:cubicBezTo>
                <a:lnTo>
                  <a:pt x="81643" y="285750"/>
                </a:lnTo>
                <a:lnTo>
                  <a:pt x="81643" y="333375"/>
                </a:lnTo>
                <a:cubicBezTo>
                  <a:pt x="81643" y="346546"/>
                  <a:pt x="93804" y="357188"/>
                  <a:pt x="108857" y="357188"/>
                </a:cubicBezTo>
                <a:cubicBezTo>
                  <a:pt x="123910" y="357188"/>
                  <a:pt x="136071" y="346546"/>
                  <a:pt x="136071" y="333375"/>
                </a:cubicBezTo>
                <a:lnTo>
                  <a:pt x="136071" y="261938"/>
                </a:lnTo>
                <a:cubicBezTo>
                  <a:pt x="136071" y="248766"/>
                  <a:pt x="123910" y="238125"/>
                  <a:pt x="108857" y="238125"/>
                </a:cubicBezTo>
                <a:lnTo>
                  <a:pt x="27214" y="238125"/>
                </a:lnTo>
                <a:close/>
                <a:moveTo>
                  <a:pt x="299357" y="47625"/>
                </a:moveTo>
                <a:cubicBezTo>
                  <a:pt x="299357" y="34454"/>
                  <a:pt x="287196" y="23812"/>
                  <a:pt x="272143" y="23812"/>
                </a:cubicBezTo>
                <a:cubicBezTo>
                  <a:pt x="257090" y="23812"/>
                  <a:pt x="244929" y="34454"/>
                  <a:pt x="244929" y="47625"/>
                </a:cubicBezTo>
                <a:lnTo>
                  <a:pt x="244929" y="119063"/>
                </a:lnTo>
                <a:cubicBezTo>
                  <a:pt x="244929" y="132234"/>
                  <a:pt x="257090" y="142875"/>
                  <a:pt x="272143" y="142875"/>
                </a:cubicBezTo>
                <a:lnTo>
                  <a:pt x="353786" y="142875"/>
                </a:lnTo>
                <a:cubicBezTo>
                  <a:pt x="368839" y="142875"/>
                  <a:pt x="381000" y="132234"/>
                  <a:pt x="381000" y="119063"/>
                </a:cubicBezTo>
                <a:cubicBezTo>
                  <a:pt x="381000" y="105891"/>
                  <a:pt x="368839" y="95250"/>
                  <a:pt x="353786" y="95250"/>
                </a:cubicBezTo>
                <a:lnTo>
                  <a:pt x="299357" y="95250"/>
                </a:lnTo>
                <a:lnTo>
                  <a:pt x="299357" y="47625"/>
                </a:lnTo>
                <a:close/>
                <a:moveTo>
                  <a:pt x="272143" y="238125"/>
                </a:moveTo>
                <a:cubicBezTo>
                  <a:pt x="257090" y="238125"/>
                  <a:pt x="244929" y="248766"/>
                  <a:pt x="244929" y="261938"/>
                </a:cubicBezTo>
                <a:lnTo>
                  <a:pt x="244929" y="333375"/>
                </a:lnTo>
                <a:cubicBezTo>
                  <a:pt x="244929" y="346546"/>
                  <a:pt x="257090" y="357188"/>
                  <a:pt x="272143" y="357188"/>
                </a:cubicBezTo>
                <a:cubicBezTo>
                  <a:pt x="287196" y="357188"/>
                  <a:pt x="299357" y="346546"/>
                  <a:pt x="299357" y="333375"/>
                </a:cubicBezTo>
                <a:lnTo>
                  <a:pt x="299357" y="285750"/>
                </a:lnTo>
                <a:lnTo>
                  <a:pt x="353786" y="285750"/>
                </a:lnTo>
                <a:cubicBezTo>
                  <a:pt x="368839" y="285750"/>
                  <a:pt x="381000" y="275109"/>
                  <a:pt x="381000" y="261938"/>
                </a:cubicBezTo>
                <a:cubicBezTo>
                  <a:pt x="381000" y="248766"/>
                  <a:pt x="368839" y="238125"/>
                  <a:pt x="353786" y="238125"/>
                </a:cubicBezTo>
                <a:lnTo>
                  <a:pt x="272143" y="238125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9" name="Text 17"/>
          <p:cNvSpPr/>
          <p:nvPr/>
        </p:nvSpPr>
        <p:spPr>
          <a:xfrm>
            <a:off x="5461000" y="6540500"/>
            <a:ext cx="222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Compression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Smaller file size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128000" y="6413500"/>
            <a:ext cx="3175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82000" y="660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27000" y="71438"/>
                </a:moveTo>
                <a:lnTo>
                  <a:pt x="127000" y="119063"/>
                </a:lnTo>
                <a:lnTo>
                  <a:pt x="254000" y="119063"/>
                </a:lnTo>
                <a:lnTo>
                  <a:pt x="254000" y="71438"/>
                </a:lnTo>
                <a:cubicBezTo>
                  <a:pt x="254000" y="45169"/>
                  <a:pt x="225524" y="23812"/>
                  <a:pt x="190500" y="23812"/>
                </a:cubicBezTo>
                <a:cubicBezTo>
                  <a:pt x="155476" y="23812"/>
                  <a:pt x="127000" y="45169"/>
                  <a:pt x="127000" y="71438"/>
                </a:cubicBezTo>
                <a:close/>
                <a:moveTo>
                  <a:pt x="63500" y="119063"/>
                </a:moveTo>
                <a:lnTo>
                  <a:pt x="63500" y="71438"/>
                </a:lnTo>
                <a:cubicBezTo>
                  <a:pt x="63500" y="18827"/>
                  <a:pt x="120352" y="-23812"/>
                  <a:pt x="190500" y="-23812"/>
                </a:cubicBezTo>
                <a:cubicBezTo>
                  <a:pt x="260648" y="-23812"/>
                  <a:pt x="317500" y="18827"/>
                  <a:pt x="317500" y="71438"/>
                </a:cubicBezTo>
                <a:lnTo>
                  <a:pt x="317500" y="119063"/>
                </a:lnTo>
                <a:cubicBezTo>
                  <a:pt x="352524" y="119063"/>
                  <a:pt x="381000" y="140419"/>
                  <a:pt x="381000" y="166688"/>
                </a:cubicBezTo>
                <a:lnTo>
                  <a:pt x="381000" y="333375"/>
                </a:lnTo>
                <a:cubicBezTo>
                  <a:pt x="381000" y="359643"/>
                  <a:pt x="352524" y="381000"/>
                  <a:pt x="317500" y="381000"/>
                </a:cubicBezTo>
                <a:lnTo>
                  <a:pt x="63500" y="381000"/>
                </a:lnTo>
                <a:cubicBezTo>
                  <a:pt x="28476" y="381000"/>
                  <a:pt x="0" y="359643"/>
                  <a:pt x="0" y="333375"/>
                </a:cubicBezTo>
                <a:lnTo>
                  <a:pt x="0" y="166688"/>
                </a:lnTo>
                <a:cubicBezTo>
                  <a:pt x="0" y="140419"/>
                  <a:pt x="28476" y="119063"/>
                  <a:pt x="63500" y="119063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0" y="6540500"/>
            <a:ext cx="2222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Security</a:t>
            </a:r>
            <a:endParaRPr lang="en-US" sz="1400" dirty="0"/>
          </a:p>
          <a:p>
            <a:pPr algn="l">
              <a:lnSpc>
                <a:spcPct val="130000"/>
              </a:lnSpc>
            </a:pPr>
            <a:r>
              <a:rPr lang="en-US" sz="14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Digital signing support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1557000" y="64135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11000" y="6604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65377" y="29096"/>
                </a:moveTo>
                <a:lnTo>
                  <a:pt x="363405" y="140940"/>
                </a:lnTo>
                <a:cubicBezTo>
                  <a:pt x="381728" y="161851"/>
                  <a:pt x="381728" y="195337"/>
                  <a:pt x="363405" y="216247"/>
                </a:cubicBezTo>
                <a:lnTo>
                  <a:pt x="259953" y="334045"/>
                </a:lnTo>
                <a:cubicBezTo>
                  <a:pt x="253802" y="341040"/>
                  <a:pt x="243747" y="341114"/>
                  <a:pt x="237530" y="334194"/>
                </a:cubicBezTo>
                <a:cubicBezTo>
                  <a:pt x="231312" y="327273"/>
                  <a:pt x="231246" y="315962"/>
                  <a:pt x="237397" y="308967"/>
                </a:cubicBezTo>
                <a:lnTo>
                  <a:pt x="340849" y="191095"/>
                </a:lnTo>
                <a:cubicBezTo>
                  <a:pt x="346935" y="184175"/>
                  <a:pt x="346935" y="172938"/>
                  <a:pt x="340849" y="166018"/>
                </a:cubicBezTo>
                <a:lnTo>
                  <a:pt x="242755" y="54248"/>
                </a:lnTo>
                <a:cubicBezTo>
                  <a:pt x="236604" y="47253"/>
                  <a:pt x="236670" y="35942"/>
                  <a:pt x="242888" y="29021"/>
                </a:cubicBezTo>
                <a:cubicBezTo>
                  <a:pt x="249105" y="22101"/>
                  <a:pt x="259159" y="22175"/>
                  <a:pt x="265311" y="29170"/>
                </a:cubicBezTo>
                <a:close/>
                <a:moveTo>
                  <a:pt x="21233" y="170780"/>
                </a:moveTo>
                <a:lnTo>
                  <a:pt x="21233" y="71438"/>
                </a:lnTo>
                <a:cubicBezTo>
                  <a:pt x="21233" y="45169"/>
                  <a:pt x="40217" y="23812"/>
                  <a:pt x="63566" y="23812"/>
                </a:cubicBezTo>
                <a:lnTo>
                  <a:pt x="151871" y="23812"/>
                </a:lnTo>
                <a:cubicBezTo>
                  <a:pt x="163116" y="23812"/>
                  <a:pt x="173897" y="28798"/>
                  <a:pt x="181835" y="37728"/>
                </a:cubicBezTo>
                <a:lnTo>
                  <a:pt x="277085" y="144884"/>
                </a:lnTo>
                <a:cubicBezTo>
                  <a:pt x="293621" y="163488"/>
                  <a:pt x="293621" y="193625"/>
                  <a:pt x="277085" y="212229"/>
                </a:cubicBezTo>
                <a:lnTo>
                  <a:pt x="188780" y="311572"/>
                </a:lnTo>
                <a:cubicBezTo>
                  <a:pt x="172244" y="330175"/>
                  <a:pt x="145455" y="330175"/>
                  <a:pt x="128918" y="311572"/>
                </a:cubicBezTo>
                <a:lnTo>
                  <a:pt x="33668" y="204415"/>
                </a:lnTo>
                <a:cubicBezTo>
                  <a:pt x="25731" y="195486"/>
                  <a:pt x="21299" y="183356"/>
                  <a:pt x="21299" y="170706"/>
                </a:cubicBezTo>
                <a:close/>
                <a:moveTo>
                  <a:pt x="116483" y="107156"/>
                </a:moveTo>
                <a:cubicBezTo>
                  <a:pt x="116483" y="94014"/>
                  <a:pt x="106998" y="83344"/>
                  <a:pt x="95316" y="83344"/>
                </a:cubicBezTo>
                <a:cubicBezTo>
                  <a:pt x="83634" y="83344"/>
                  <a:pt x="74149" y="94014"/>
                  <a:pt x="74149" y="107156"/>
                </a:cubicBezTo>
                <a:cubicBezTo>
                  <a:pt x="74149" y="120299"/>
                  <a:pt x="83634" y="130969"/>
                  <a:pt x="95316" y="130969"/>
                </a:cubicBezTo>
                <a:cubicBezTo>
                  <a:pt x="106998" y="130969"/>
                  <a:pt x="116483" y="120299"/>
                  <a:pt x="116483" y="107156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25" name="Text 23"/>
          <p:cNvSpPr/>
          <p:nvPr/>
        </p:nvSpPr>
        <p:spPr>
          <a:xfrm>
            <a:off x="12319000" y="65405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 Control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Easy management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JAR Real-World Example — Library Distribution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350000" cy="2921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11956" y="31750"/>
                </a:moveTo>
                <a:lnTo>
                  <a:pt x="423333" y="31750"/>
                </a:lnTo>
                <a:cubicBezTo>
                  <a:pt x="470032" y="31750"/>
                  <a:pt x="508000" y="60226"/>
                  <a:pt x="508000" y="95250"/>
                </a:cubicBezTo>
                <a:lnTo>
                  <a:pt x="508000" y="444500"/>
                </a:lnTo>
                <a:cubicBezTo>
                  <a:pt x="508000" y="479524"/>
                  <a:pt x="470032" y="508000"/>
                  <a:pt x="423333" y="508000"/>
                </a:cubicBezTo>
                <a:lnTo>
                  <a:pt x="84667" y="508000"/>
                </a:lnTo>
                <a:cubicBezTo>
                  <a:pt x="37968" y="508000"/>
                  <a:pt x="0" y="479524"/>
                  <a:pt x="0" y="444500"/>
                </a:cubicBezTo>
                <a:lnTo>
                  <a:pt x="0" y="95250"/>
                </a:lnTo>
                <a:cubicBezTo>
                  <a:pt x="0" y="60226"/>
                  <a:pt x="37968" y="31750"/>
                  <a:pt x="84667" y="31750"/>
                </a:cubicBezTo>
                <a:lnTo>
                  <a:pt x="96044" y="31750"/>
                </a:lnTo>
                <a:cubicBezTo>
                  <a:pt x="110596" y="12799"/>
                  <a:pt x="137980" y="0"/>
                  <a:pt x="169333" y="0"/>
                </a:cubicBezTo>
                <a:lnTo>
                  <a:pt x="338667" y="0"/>
                </a:lnTo>
                <a:cubicBezTo>
                  <a:pt x="370020" y="0"/>
                  <a:pt x="397404" y="12799"/>
                  <a:pt x="411956" y="31750"/>
                </a:cubicBezTo>
                <a:close/>
                <a:moveTo>
                  <a:pt x="328083" y="111125"/>
                </a:moveTo>
                <a:cubicBezTo>
                  <a:pt x="345678" y="111125"/>
                  <a:pt x="359833" y="100509"/>
                  <a:pt x="359833" y="87313"/>
                </a:cubicBezTo>
                <a:cubicBezTo>
                  <a:pt x="359833" y="74116"/>
                  <a:pt x="345678" y="63500"/>
                  <a:pt x="328083" y="63500"/>
                </a:cubicBezTo>
                <a:lnTo>
                  <a:pt x="179917" y="63500"/>
                </a:lnTo>
                <a:cubicBezTo>
                  <a:pt x="162322" y="63500"/>
                  <a:pt x="148167" y="74116"/>
                  <a:pt x="148167" y="87313"/>
                </a:cubicBezTo>
                <a:cubicBezTo>
                  <a:pt x="148167" y="100509"/>
                  <a:pt x="162322" y="111125"/>
                  <a:pt x="179917" y="111125"/>
                </a:cubicBezTo>
                <a:lnTo>
                  <a:pt x="328083" y="111125"/>
                </a:lnTo>
                <a:close/>
                <a:moveTo>
                  <a:pt x="169333" y="254000"/>
                </a:moveTo>
                <a:cubicBezTo>
                  <a:pt x="169333" y="236477"/>
                  <a:pt x="150364" y="222250"/>
                  <a:pt x="127000" y="222250"/>
                </a:cubicBezTo>
                <a:cubicBezTo>
                  <a:pt x="103636" y="222250"/>
                  <a:pt x="84667" y="236477"/>
                  <a:pt x="84667" y="254000"/>
                </a:cubicBezTo>
                <a:cubicBezTo>
                  <a:pt x="84667" y="271523"/>
                  <a:pt x="103636" y="285750"/>
                  <a:pt x="127000" y="285750"/>
                </a:cubicBezTo>
                <a:cubicBezTo>
                  <a:pt x="150364" y="285750"/>
                  <a:pt x="169333" y="271523"/>
                  <a:pt x="169333" y="254000"/>
                </a:cubicBezTo>
                <a:close/>
                <a:moveTo>
                  <a:pt x="211667" y="254000"/>
                </a:moveTo>
                <a:cubicBezTo>
                  <a:pt x="211667" y="267196"/>
                  <a:pt x="225822" y="277813"/>
                  <a:pt x="243417" y="277813"/>
                </a:cubicBezTo>
                <a:lnTo>
                  <a:pt x="391583" y="277813"/>
                </a:lnTo>
                <a:cubicBezTo>
                  <a:pt x="409178" y="277813"/>
                  <a:pt x="423333" y="267196"/>
                  <a:pt x="423333" y="254000"/>
                </a:cubicBezTo>
                <a:cubicBezTo>
                  <a:pt x="423333" y="240804"/>
                  <a:pt x="409178" y="230188"/>
                  <a:pt x="391583" y="230188"/>
                </a:cubicBezTo>
                <a:lnTo>
                  <a:pt x="243417" y="230188"/>
                </a:lnTo>
                <a:cubicBezTo>
                  <a:pt x="225822" y="230188"/>
                  <a:pt x="211667" y="240804"/>
                  <a:pt x="211667" y="254000"/>
                </a:cubicBezTo>
                <a:close/>
                <a:moveTo>
                  <a:pt x="211667" y="381000"/>
                </a:moveTo>
                <a:cubicBezTo>
                  <a:pt x="211667" y="394196"/>
                  <a:pt x="225822" y="404813"/>
                  <a:pt x="243417" y="404813"/>
                </a:cubicBezTo>
                <a:lnTo>
                  <a:pt x="391583" y="404813"/>
                </a:lnTo>
                <a:cubicBezTo>
                  <a:pt x="409178" y="404813"/>
                  <a:pt x="423333" y="394196"/>
                  <a:pt x="423333" y="381000"/>
                </a:cubicBezTo>
                <a:cubicBezTo>
                  <a:pt x="423333" y="367804"/>
                  <a:pt x="409178" y="357188"/>
                  <a:pt x="391583" y="357188"/>
                </a:cubicBezTo>
                <a:lnTo>
                  <a:pt x="243417" y="357188"/>
                </a:lnTo>
                <a:cubicBezTo>
                  <a:pt x="225822" y="357188"/>
                  <a:pt x="211667" y="367804"/>
                  <a:pt x="211667" y="381000"/>
                </a:cubicBezTo>
                <a:close/>
                <a:moveTo>
                  <a:pt x="127000" y="412750"/>
                </a:moveTo>
                <a:cubicBezTo>
                  <a:pt x="150364" y="412750"/>
                  <a:pt x="169333" y="398523"/>
                  <a:pt x="169333" y="381000"/>
                </a:cubicBezTo>
                <a:cubicBezTo>
                  <a:pt x="169333" y="363477"/>
                  <a:pt x="150364" y="349250"/>
                  <a:pt x="127000" y="349250"/>
                </a:cubicBezTo>
                <a:cubicBezTo>
                  <a:pt x="103636" y="349250"/>
                  <a:pt x="84667" y="363477"/>
                  <a:pt x="84667" y="381000"/>
                </a:cubicBezTo>
                <a:cubicBezTo>
                  <a:pt x="84667" y="398523"/>
                  <a:pt x="103636" y="412750"/>
                  <a:pt x="127000" y="412750"/>
                </a:cubicBez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159000"/>
            <a:ext cx="482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Scenario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51000" y="2794000"/>
            <a:ext cx="5588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team develops a reusable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logging utility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used across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15 projects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their organization.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Distributing individual .class files is error-prone and version management is difficult.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01000" y="1905000"/>
            <a:ext cx="6985000" cy="2921000"/>
          </a:xfrm>
          <a:prstGeom prst="roundRect">
            <a:avLst>
              <a:gd name="adj" fmla="val 8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8382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508000"/>
                </a:moveTo>
                <a:cubicBezTo>
                  <a:pt x="394186" y="508000"/>
                  <a:pt x="508000" y="394186"/>
                  <a:pt x="508000" y="254000"/>
                </a:cubicBezTo>
                <a:cubicBezTo>
                  <a:pt x="508000" y="113814"/>
                  <a:pt x="394186" y="0"/>
                  <a:pt x="254000" y="0"/>
                </a:cubicBezTo>
                <a:cubicBezTo>
                  <a:pt x="113814" y="0"/>
                  <a:pt x="0" y="113814"/>
                  <a:pt x="0" y="254000"/>
                </a:cubicBezTo>
                <a:cubicBezTo>
                  <a:pt x="0" y="394186"/>
                  <a:pt x="113814" y="508000"/>
                  <a:pt x="254000" y="508000"/>
                </a:cubicBezTo>
                <a:close/>
                <a:moveTo>
                  <a:pt x="337741" y="211038"/>
                </a:moveTo>
                <a:lnTo>
                  <a:pt x="258366" y="338038"/>
                </a:lnTo>
                <a:cubicBezTo>
                  <a:pt x="254198" y="344686"/>
                  <a:pt x="247055" y="348853"/>
                  <a:pt x="239216" y="349250"/>
                </a:cubicBezTo>
                <a:cubicBezTo>
                  <a:pt x="231378" y="349647"/>
                  <a:pt x="223837" y="346075"/>
                  <a:pt x="219174" y="339725"/>
                </a:cubicBezTo>
                <a:lnTo>
                  <a:pt x="171549" y="276225"/>
                </a:lnTo>
                <a:cubicBezTo>
                  <a:pt x="163612" y="265708"/>
                  <a:pt x="165795" y="250825"/>
                  <a:pt x="176312" y="242888"/>
                </a:cubicBezTo>
                <a:cubicBezTo>
                  <a:pt x="186829" y="234950"/>
                  <a:pt x="201712" y="237133"/>
                  <a:pt x="209649" y="247650"/>
                </a:cubicBezTo>
                <a:lnTo>
                  <a:pt x="236438" y="283369"/>
                </a:lnTo>
                <a:lnTo>
                  <a:pt x="297359" y="185837"/>
                </a:lnTo>
                <a:cubicBezTo>
                  <a:pt x="304304" y="174724"/>
                  <a:pt x="318988" y="171252"/>
                  <a:pt x="330200" y="178296"/>
                </a:cubicBezTo>
                <a:cubicBezTo>
                  <a:pt x="341412" y="185341"/>
                  <a:pt x="344785" y="199926"/>
                  <a:pt x="337741" y="211138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080500" y="2159000"/>
            <a:ext cx="546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JAR Solution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382000" y="2794000"/>
            <a:ext cx="622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Package the utility as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logging-utils-1.2.3.jar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with proper manifest, version info, and Javadoc.</a:t>
            </a:r>
            <a:endParaRPr lang="en-US" sz="1600" dirty="0"/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Publish to an internal </a:t>
            </a:r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Maven repository</a:t>
            </a:r>
            <a:pPr algn="l">
              <a:lnSpc>
                <a:spcPct val="14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 Other projects reference it via dependency management.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0000" y="52070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Popular JAR Files You Already Use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1270000" y="5842000"/>
            <a:ext cx="4318000" cy="101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4000" y="59055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commons-lang3-3.12.0.jar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Commons Lang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842000" y="5842000"/>
            <a:ext cx="4318000" cy="101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96000" y="59055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gson-2.10.1.jar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JSON Library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414000" y="5842000"/>
            <a:ext cx="4572000" cy="1016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68000" y="5905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7F5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jackson-databind-2.15.0.jar</a:t>
            </a:r>
            <a:endParaRPr lang="en-US" sz="1800" dirty="0"/>
          </a:p>
          <a:p>
            <a:pPr algn="l">
              <a:lnSpc>
                <a:spcPct val="14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 Processing Library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70000" y="7239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Java developer uses JAR files daily — they are the </a:t>
            </a:r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 of Java's ecosystem</a:t>
            </a:r>
            <a:pPr algn="ctr">
              <a:lnSpc>
                <a:spcPct val="160000"/>
              </a:lnSpc>
            </a:pPr>
            <a:r>
              <a:rPr lang="en-US" sz="20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JAR Files — Commands &amp; Manifest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Text 2"/>
          <p:cNvSpPr/>
          <p:nvPr/>
        </p:nvSpPr>
        <p:spPr>
          <a:xfrm>
            <a:off x="1270000" y="17780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 1: Using the jar Command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270000" y="2286000"/>
            <a:ext cx="6731000" cy="29210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4000" y="2413000"/>
            <a:ext cx="6223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Create a regular JAR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jar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cf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myapp.jar *.class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Create an executable JAR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jar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cfe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myapp.jar MainClass *.class</a:t>
            </a:r>
            <a:endParaRPr lang="en-US" sz="1600" dirty="0"/>
          </a:p>
          <a:p>
            <a:pPr algn="l">
              <a:lnSpc>
                <a:spcPct val="140000"/>
              </a:lnSpc>
            </a:pP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List JAR contents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jar </a:t>
            </a:r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tf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myapp.jar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2000" y="17780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 2: Using a Manifest File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382000" y="2286000"/>
            <a:ext cx="6604000" cy="25400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36000" y="23876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9CB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META-INF/MANIFEST.MF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36000" y="27432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Manifest-Version: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1.0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Main-Class: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com.example.MainClass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Class-Path: lib/gson-2.10.1.jar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Implementation-Version: </a:t>
            </a:r>
            <a:pPr algn="l">
              <a:lnSpc>
                <a:spcPct val="14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1.2.3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Implementation-Vendor: MyCompany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0000" y="52070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Running a JAR File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270000" y="5715000"/>
            <a:ext cx="6731000" cy="1016000"/>
          </a:xfrm>
          <a:prstGeom prst="roundRect">
            <a:avLst>
              <a:gd name="adj" fmla="val 6000"/>
            </a:avLst>
          </a:prstGeom>
          <a:solidFill>
            <a:srgbClr val="F0F2F5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24000" y="58420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 Run an executable JAR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 -jar myapp.jar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5207000"/>
            <a:ext cx="635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b="1" dirty="0">
                <a:solidFill>
                  <a:srgbClr val="2E5E8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Method 3: Using Your IDE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382000" y="5715000"/>
            <a:ext cx="6604000" cy="1016000"/>
          </a:xfrm>
          <a:prstGeom prst="roundRect">
            <a:avLst>
              <a:gd name="adj" fmla="val 6000"/>
            </a:avLst>
          </a:prstGeom>
          <a:solidFill>
            <a:srgbClr val="FCFDFD"/>
          </a:solidFill>
          <a:ln w="12700">
            <a:solidFill>
              <a:srgbClr val="D0D6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6000" y="57785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IntelliJ: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 → Project Structure → Artifacts → + JAR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Eclipse: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File → Export → Java → JAR File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270000" y="7112000"/>
            <a:ext cx="13716000" cy="762000"/>
          </a:xfrm>
          <a:prstGeom prst="roundRect">
            <a:avLst>
              <a:gd name="adj" fmla="val 6000"/>
            </a:avLst>
          </a:prstGeom>
          <a:solidFill>
            <a:srgbClr val="2E5E8A">
              <a:alpha val="6275"/>
            </a:srgbClr>
          </a:solidFill>
          <a:ln w="12700">
            <a:solidFill>
              <a:srgbClr val="2E5E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24000" y="7315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32489" y="228600"/>
                </a:moveTo>
                <a:cubicBezTo>
                  <a:pt x="238284" y="215325"/>
                  <a:pt x="249872" y="203299"/>
                  <a:pt x="262969" y="192941"/>
                </a:cubicBezTo>
                <a:cubicBezTo>
                  <a:pt x="288925" y="172462"/>
                  <a:pt x="304800" y="144780"/>
                  <a:pt x="304800" y="114300"/>
                </a:cubicBezTo>
                <a:cubicBezTo>
                  <a:pt x="304800" y="51197"/>
                  <a:pt x="236537" y="0"/>
                  <a:pt x="152400" y="0"/>
                </a:cubicBezTo>
                <a:cubicBezTo>
                  <a:pt x="68262" y="0"/>
                  <a:pt x="0" y="51197"/>
                  <a:pt x="0" y="114300"/>
                </a:cubicBezTo>
                <a:cubicBezTo>
                  <a:pt x="0" y="144780"/>
                  <a:pt x="15875" y="172462"/>
                  <a:pt x="41831" y="192941"/>
                </a:cubicBezTo>
                <a:cubicBezTo>
                  <a:pt x="54928" y="203299"/>
                  <a:pt x="66596" y="215325"/>
                  <a:pt x="72311" y="228600"/>
                </a:cubicBezTo>
                <a:lnTo>
                  <a:pt x="232410" y="228600"/>
                </a:lnTo>
                <a:close/>
                <a:moveTo>
                  <a:pt x="228600" y="257175"/>
                </a:moveTo>
                <a:lnTo>
                  <a:pt x="76200" y="257175"/>
                </a:lnTo>
                <a:lnTo>
                  <a:pt x="76200" y="266700"/>
                </a:lnTo>
                <a:cubicBezTo>
                  <a:pt x="76200" y="293013"/>
                  <a:pt x="104616" y="314325"/>
                  <a:pt x="139700" y="314325"/>
                </a:cubicBezTo>
                <a:lnTo>
                  <a:pt x="165100" y="314325"/>
                </a:lnTo>
                <a:cubicBezTo>
                  <a:pt x="200184" y="314325"/>
                  <a:pt x="228600" y="293013"/>
                  <a:pt x="228600" y="266700"/>
                </a:cubicBezTo>
                <a:lnTo>
                  <a:pt x="228600" y="257175"/>
                </a:lnTo>
                <a:close/>
                <a:moveTo>
                  <a:pt x="146050" y="66675"/>
                </a:moveTo>
                <a:cubicBezTo>
                  <a:pt x="114459" y="66675"/>
                  <a:pt x="88900" y="85844"/>
                  <a:pt x="88900" y="109537"/>
                </a:cubicBezTo>
                <a:cubicBezTo>
                  <a:pt x="88900" y="117455"/>
                  <a:pt x="80407" y="123825"/>
                  <a:pt x="69850" y="123825"/>
                </a:cubicBezTo>
                <a:cubicBezTo>
                  <a:pt x="59293" y="123825"/>
                  <a:pt x="50800" y="117455"/>
                  <a:pt x="50800" y="109537"/>
                </a:cubicBezTo>
                <a:cubicBezTo>
                  <a:pt x="50800" y="70068"/>
                  <a:pt x="93424" y="38100"/>
                  <a:pt x="146050" y="38100"/>
                </a:cubicBezTo>
                <a:cubicBezTo>
                  <a:pt x="156607" y="38100"/>
                  <a:pt x="165100" y="44470"/>
                  <a:pt x="165100" y="52388"/>
                </a:cubicBezTo>
                <a:cubicBezTo>
                  <a:pt x="165100" y="60305"/>
                  <a:pt x="156607" y="66675"/>
                  <a:pt x="146050" y="66675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9" name="Text 17"/>
          <p:cNvSpPr/>
          <p:nvPr/>
        </p:nvSpPr>
        <p:spPr>
          <a:xfrm>
            <a:off x="1968500" y="7175500"/>
            <a:ext cx="1270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 Tip: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For production applications, use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Maven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or </a:t>
            </a:r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Gradle</a:t>
            </a:r>
            <a:pPr algn="l">
              <a:lnSpc>
                <a:spcPct val="120000"/>
              </a:lnSpc>
            </a:pPr>
            <a:r>
              <a:rPr lang="en-US" sz="1800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to automate JAR creation instead of manual commands.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0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Tools — Maven &amp; Gradle for Packaging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731000" cy="469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22548" y="-2480"/>
                </a:moveTo>
                <a:cubicBezTo>
                  <a:pt x="242193" y="-13791"/>
                  <a:pt x="266402" y="-13791"/>
                  <a:pt x="286048" y="-2480"/>
                </a:cubicBezTo>
                <a:lnTo>
                  <a:pt x="460573" y="98227"/>
                </a:lnTo>
                <a:cubicBezTo>
                  <a:pt x="480219" y="109538"/>
                  <a:pt x="492323" y="130572"/>
                  <a:pt x="492323" y="153194"/>
                </a:cubicBezTo>
                <a:lnTo>
                  <a:pt x="492323" y="354608"/>
                </a:lnTo>
                <a:cubicBezTo>
                  <a:pt x="492323" y="377329"/>
                  <a:pt x="480219" y="398264"/>
                  <a:pt x="460573" y="409575"/>
                </a:cubicBezTo>
                <a:lnTo>
                  <a:pt x="286048" y="510480"/>
                </a:lnTo>
                <a:cubicBezTo>
                  <a:pt x="266402" y="521791"/>
                  <a:pt x="242193" y="521791"/>
                  <a:pt x="222548" y="510480"/>
                </a:cubicBezTo>
                <a:lnTo>
                  <a:pt x="48121" y="409773"/>
                </a:lnTo>
                <a:cubicBezTo>
                  <a:pt x="28476" y="398463"/>
                  <a:pt x="16371" y="377428"/>
                  <a:pt x="16371" y="354806"/>
                </a:cubicBezTo>
                <a:lnTo>
                  <a:pt x="16371" y="153392"/>
                </a:lnTo>
                <a:cubicBezTo>
                  <a:pt x="16371" y="130671"/>
                  <a:pt x="28476" y="109736"/>
                  <a:pt x="48121" y="98425"/>
                </a:cubicBezTo>
                <a:lnTo>
                  <a:pt x="222548" y="-2480"/>
                </a:lnTo>
                <a:close/>
                <a:moveTo>
                  <a:pt x="428724" y="354707"/>
                </a:moveTo>
                <a:lnTo>
                  <a:pt x="428724" y="189905"/>
                </a:lnTo>
                <a:lnTo>
                  <a:pt x="286048" y="272256"/>
                </a:lnTo>
                <a:lnTo>
                  <a:pt x="286048" y="437059"/>
                </a:lnTo>
                <a:lnTo>
                  <a:pt x="428724" y="354707"/>
                </a:lnTo>
                <a:close/>
              </a:path>
            </a:pathLst>
          </a:custGeom>
          <a:solidFill>
            <a:srgbClr val="2E5E8A"/>
          </a:solidFill>
          <a:ln/>
        </p:spPr>
      </p:sp>
      <p:sp>
        <p:nvSpPr>
          <p:cNvPr id="6" name="Text 4"/>
          <p:cNvSpPr/>
          <p:nvPr/>
        </p:nvSpPr>
        <p:spPr>
          <a:xfrm>
            <a:off x="2349500" y="2159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Maven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51000" y="2857500"/>
            <a:ext cx="5969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</a:t>
            </a:r>
            <a:pPr algn="l">
              <a:lnSpc>
                <a:spcPct val="160000"/>
              </a:lnSpc>
            </a:pPr>
            <a:r>
              <a:rPr lang="en-US" sz="1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pom.xml</a:t>
            </a:r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project config: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Package JAR:</a:t>
            </a:r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mvn package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Javadoc: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mvn javadoc:javadoc</a:t>
            </a:r>
            <a:endParaRPr lang="en-US" sz="1800" dirty="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Plugins: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maven-jar-plugin</a:t>
            </a:r>
            <a:endParaRPr lang="en-US" sz="1800" dirty="0"/>
          </a:p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maven-shade-plugin (fat JARs)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82000" y="1905000"/>
            <a:ext cx="6604000" cy="4699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763000" y="2159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30121" y="208855"/>
                </a:moveTo>
                <a:cubicBezTo>
                  <a:pt x="339804" y="205581"/>
                  <a:pt x="349964" y="211336"/>
                  <a:pt x="354330" y="222548"/>
                </a:cubicBezTo>
                <a:lnTo>
                  <a:pt x="369094" y="259854"/>
                </a:lnTo>
                <a:cubicBezTo>
                  <a:pt x="377269" y="261243"/>
                  <a:pt x="385286" y="264021"/>
                  <a:pt x="392827" y="267891"/>
                </a:cubicBezTo>
                <a:lnTo>
                  <a:pt x="420608" y="244773"/>
                </a:lnTo>
                <a:cubicBezTo>
                  <a:pt x="428943" y="237827"/>
                  <a:pt x="439976" y="239216"/>
                  <a:pt x="447040" y="248047"/>
                </a:cubicBezTo>
                <a:lnTo>
                  <a:pt x="462280" y="267097"/>
                </a:lnTo>
                <a:cubicBezTo>
                  <a:pt x="469344" y="275927"/>
                  <a:pt x="470456" y="289818"/>
                  <a:pt x="464899" y="300137"/>
                </a:cubicBezTo>
                <a:lnTo>
                  <a:pt x="446405" y="334764"/>
                </a:lnTo>
                <a:cubicBezTo>
                  <a:pt x="447913" y="339427"/>
                  <a:pt x="449263" y="344289"/>
                  <a:pt x="450374" y="349349"/>
                </a:cubicBezTo>
                <a:cubicBezTo>
                  <a:pt x="451485" y="354409"/>
                  <a:pt x="452199" y="359370"/>
                  <a:pt x="452755" y="364430"/>
                </a:cubicBezTo>
                <a:lnTo>
                  <a:pt x="482679" y="382885"/>
                </a:lnTo>
                <a:cubicBezTo>
                  <a:pt x="491649" y="388441"/>
                  <a:pt x="496253" y="401141"/>
                  <a:pt x="493633" y="413147"/>
                </a:cubicBezTo>
                <a:lnTo>
                  <a:pt x="488077" y="439142"/>
                </a:lnTo>
                <a:cubicBezTo>
                  <a:pt x="485458" y="451148"/>
                  <a:pt x="476488" y="459284"/>
                  <a:pt x="466487" y="458490"/>
                </a:cubicBezTo>
                <a:lnTo>
                  <a:pt x="433149" y="455811"/>
                </a:lnTo>
                <a:cubicBezTo>
                  <a:pt x="428149" y="463848"/>
                  <a:pt x="422354" y="471289"/>
                  <a:pt x="415766" y="477639"/>
                </a:cubicBezTo>
                <a:lnTo>
                  <a:pt x="417909" y="519212"/>
                </a:lnTo>
                <a:cubicBezTo>
                  <a:pt x="418544" y="531713"/>
                  <a:pt x="412036" y="543024"/>
                  <a:pt x="402431" y="546199"/>
                </a:cubicBezTo>
                <a:lnTo>
                  <a:pt x="381635" y="553145"/>
                </a:lnTo>
                <a:cubicBezTo>
                  <a:pt x="371951" y="556419"/>
                  <a:pt x="361871" y="550664"/>
                  <a:pt x="357426" y="539452"/>
                </a:cubicBezTo>
                <a:lnTo>
                  <a:pt x="342662" y="502146"/>
                </a:lnTo>
                <a:cubicBezTo>
                  <a:pt x="334486" y="500757"/>
                  <a:pt x="326469" y="497979"/>
                  <a:pt x="318929" y="494109"/>
                </a:cubicBezTo>
                <a:lnTo>
                  <a:pt x="291148" y="517227"/>
                </a:lnTo>
                <a:cubicBezTo>
                  <a:pt x="282813" y="524173"/>
                  <a:pt x="271780" y="522784"/>
                  <a:pt x="264716" y="513953"/>
                </a:cubicBezTo>
                <a:lnTo>
                  <a:pt x="249476" y="494903"/>
                </a:lnTo>
                <a:cubicBezTo>
                  <a:pt x="242411" y="486073"/>
                  <a:pt x="241300" y="472281"/>
                  <a:pt x="246856" y="461863"/>
                </a:cubicBezTo>
                <a:lnTo>
                  <a:pt x="265351" y="427137"/>
                </a:lnTo>
                <a:cubicBezTo>
                  <a:pt x="263843" y="422473"/>
                  <a:pt x="262493" y="417612"/>
                  <a:pt x="261382" y="412552"/>
                </a:cubicBezTo>
                <a:cubicBezTo>
                  <a:pt x="260271" y="407491"/>
                  <a:pt x="259556" y="402431"/>
                  <a:pt x="259001" y="397470"/>
                </a:cubicBezTo>
                <a:lnTo>
                  <a:pt x="229076" y="379016"/>
                </a:lnTo>
                <a:cubicBezTo>
                  <a:pt x="220107" y="373459"/>
                  <a:pt x="215583" y="360759"/>
                  <a:pt x="218123" y="348754"/>
                </a:cubicBezTo>
                <a:lnTo>
                  <a:pt x="223679" y="322759"/>
                </a:lnTo>
                <a:cubicBezTo>
                  <a:pt x="226298" y="310753"/>
                  <a:pt x="235268" y="302617"/>
                  <a:pt x="245269" y="303411"/>
                </a:cubicBezTo>
                <a:lnTo>
                  <a:pt x="278527" y="306090"/>
                </a:lnTo>
                <a:cubicBezTo>
                  <a:pt x="283528" y="298053"/>
                  <a:pt x="289322" y="290612"/>
                  <a:pt x="295910" y="284262"/>
                </a:cubicBezTo>
                <a:lnTo>
                  <a:pt x="293767" y="242788"/>
                </a:lnTo>
                <a:cubicBezTo>
                  <a:pt x="293132" y="230287"/>
                  <a:pt x="299641" y="218976"/>
                  <a:pt x="309245" y="215801"/>
                </a:cubicBezTo>
                <a:lnTo>
                  <a:pt x="330041" y="208855"/>
                </a:lnTo>
                <a:close/>
                <a:moveTo>
                  <a:pt x="355918" y="337344"/>
                </a:moveTo>
                <a:cubicBezTo>
                  <a:pt x="336642" y="337371"/>
                  <a:pt x="321010" y="356955"/>
                  <a:pt x="321032" y="381050"/>
                </a:cubicBezTo>
                <a:cubicBezTo>
                  <a:pt x="321054" y="405144"/>
                  <a:pt x="336721" y="424684"/>
                  <a:pt x="355997" y="424656"/>
                </a:cubicBezTo>
                <a:cubicBezTo>
                  <a:pt x="375273" y="424629"/>
                  <a:pt x="390904" y="405045"/>
                  <a:pt x="390882" y="380950"/>
                </a:cubicBezTo>
                <a:cubicBezTo>
                  <a:pt x="390860" y="356856"/>
                  <a:pt x="375193" y="337316"/>
                  <a:pt x="355918" y="337344"/>
                </a:cubicBezTo>
                <a:close/>
                <a:moveTo>
                  <a:pt x="178514" y="-45145"/>
                </a:moveTo>
                <a:lnTo>
                  <a:pt x="199311" y="-38199"/>
                </a:lnTo>
                <a:cubicBezTo>
                  <a:pt x="208915" y="-34925"/>
                  <a:pt x="215424" y="-23614"/>
                  <a:pt x="214789" y="-11212"/>
                </a:cubicBezTo>
                <a:lnTo>
                  <a:pt x="212646" y="30262"/>
                </a:lnTo>
                <a:cubicBezTo>
                  <a:pt x="219234" y="36612"/>
                  <a:pt x="225028" y="43954"/>
                  <a:pt x="230029" y="52090"/>
                </a:cubicBezTo>
                <a:lnTo>
                  <a:pt x="263366" y="49411"/>
                </a:lnTo>
                <a:cubicBezTo>
                  <a:pt x="273288" y="48617"/>
                  <a:pt x="282337" y="56753"/>
                  <a:pt x="284956" y="68759"/>
                </a:cubicBezTo>
                <a:lnTo>
                  <a:pt x="290513" y="94754"/>
                </a:lnTo>
                <a:cubicBezTo>
                  <a:pt x="293053" y="106759"/>
                  <a:pt x="288528" y="119459"/>
                  <a:pt x="279559" y="125016"/>
                </a:cubicBezTo>
                <a:lnTo>
                  <a:pt x="249634" y="143470"/>
                </a:lnTo>
                <a:cubicBezTo>
                  <a:pt x="249079" y="148530"/>
                  <a:pt x="248285" y="153591"/>
                  <a:pt x="247253" y="158552"/>
                </a:cubicBezTo>
                <a:cubicBezTo>
                  <a:pt x="246221" y="163512"/>
                  <a:pt x="244793" y="168473"/>
                  <a:pt x="243284" y="173137"/>
                </a:cubicBezTo>
                <a:lnTo>
                  <a:pt x="261779" y="207863"/>
                </a:lnTo>
                <a:cubicBezTo>
                  <a:pt x="267335" y="218281"/>
                  <a:pt x="266224" y="232073"/>
                  <a:pt x="259159" y="240903"/>
                </a:cubicBezTo>
                <a:lnTo>
                  <a:pt x="243919" y="259953"/>
                </a:lnTo>
                <a:cubicBezTo>
                  <a:pt x="236855" y="268784"/>
                  <a:pt x="225822" y="270173"/>
                  <a:pt x="217488" y="263227"/>
                </a:cubicBezTo>
                <a:lnTo>
                  <a:pt x="189706" y="240109"/>
                </a:lnTo>
                <a:cubicBezTo>
                  <a:pt x="182166" y="243979"/>
                  <a:pt x="174149" y="246757"/>
                  <a:pt x="165973" y="248146"/>
                </a:cubicBezTo>
                <a:lnTo>
                  <a:pt x="151209" y="285452"/>
                </a:lnTo>
                <a:cubicBezTo>
                  <a:pt x="146764" y="296664"/>
                  <a:pt x="136604" y="302320"/>
                  <a:pt x="127000" y="299145"/>
                </a:cubicBezTo>
                <a:lnTo>
                  <a:pt x="106204" y="292199"/>
                </a:lnTo>
                <a:cubicBezTo>
                  <a:pt x="96520" y="288925"/>
                  <a:pt x="90091" y="277614"/>
                  <a:pt x="90726" y="265212"/>
                </a:cubicBezTo>
                <a:lnTo>
                  <a:pt x="92869" y="223639"/>
                </a:lnTo>
                <a:cubicBezTo>
                  <a:pt x="86281" y="217289"/>
                  <a:pt x="80486" y="209947"/>
                  <a:pt x="75486" y="201811"/>
                </a:cubicBezTo>
                <a:lnTo>
                  <a:pt x="42148" y="204490"/>
                </a:lnTo>
                <a:cubicBezTo>
                  <a:pt x="32226" y="205284"/>
                  <a:pt x="23178" y="197148"/>
                  <a:pt x="20558" y="185142"/>
                </a:cubicBezTo>
                <a:lnTo>
                  <a:pt x="15002" y="159147"/>
                </a:lnTo>
                <a:cubicBezTo>
                  <a:pt x="12462" y="147141"/>
                  <a:pt x="16986" y="134441"/>
                  <a:pt x="25956" y="128885"/>
                </a:cubicBezTo>
                <a:lnTo>
                  <a:pt x="55880" y="110430"/>
                </a:lnTo>
                <a:cubicBezTo>
                  <a:pt x="56436" y="105370"/>
                  <a:pt x="57229" y="100409"/>
                  <a:pt x="58261" y="95349"/>
                </a:cubicBezTo>
                <a:cubicBezTo>
                  <a:pt x="59373" y="90289"/>
                  <a:pt x="60643" y="85427"/>
                  <a:pt x="62230" y="80764"/>
                </a:cubicBezTo>
                <a:lnTo>
                  <a:pt x="43736" y="46137"/>
                </a:lnTo>
                <a:cubicBezTo>
                  <a:pt x="38179" y="35719"/>
                  <a:pt x="39291" y="21927"/>
                  <a:pt x="46355" y="13097"/>
                </a:cubicBezTo>
                <a:lnTo>
                  <a:pt x="61595" y="-5953"/>
                </a:lnTo>
                <a:cubicBezTo>
                  <a:pt x="68659" y="-14784"/>
                  <a:pt x="79693" y="-16173"/>
                  <a:pt x="88027" y="-9227"/>
                </a:cubicBezTo>
                <a:lnTo>
                  <a:pt x="115808" y="13891"/>
                </a:lnTo>
                <a:cubicBezTo>
                  <a:pt x="123349" y="10021"/>
                  <a:pt x="131366" y="7243"/>
                  <a:pt x="139541" y="5854"/>
                </a:cubicBezTo>
                <a:lnTo>
                  <a:pt x="154305" y="-31452"/>
                </a:lnTo>
                <a:cubicBezTo>
                  <a:pt x="158750" y="-42664"/>
                  <a:pt x="168831" y="-48320"/>
                  <a:pt x="178514" y="-45145"/>
                </a:cubicBezTo>
                <a:close/>
                <a:moveTo>
                  <a:pt x="152718" y="83344"/>
                </a:moveTo>
                <a:cubicBezTo>
                  <a:pt x="133442" y="83344"/>
                  <a:pt x="117793" y="102905"/>
                  <a:pt x="117793" y="127000"/>
                </a:cubicBezTo>
                <a:cubicBezTo>
                  <a:pt x="117793" y="151095"/>
                  <a:pt x="133442" y="170656"/>
                  <a:pt x="152718" y="170656"/>
                </a:cubicBezTo>
                <a:cubicBezTo>
                  <a:pt x="171993" y="170656"/>
                  <a:pt x="187643" y="151095"/>
                  <a:pt x="187643" y="127000"/>
                </a:cubicBezTo>
                <a:cubicBezTo>
                  <a:pt x="187643" y="102905"/>
                  <a:pt x="171993" y="83344"/>
                  <a:pt x="152718" y="83344"/>
                </a:cubicBez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0" name="Text 8"/>
          <p:cNvSpPr/>
          <p:nvPr/>
        </p:nvSpPr>
        <p:spPr>
          <a:xfrm>
            <a:off x="9461500" y="2159000"/>
            <a:ext cx="508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Gradle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763000" y="2857500"/>
            <a:ext cx="58420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Uses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build.gradle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(Groovy/Kotlin DSL):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Package JAR: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gradle build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Javadoc:</a:t>
            </a:r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gradle javadoc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Advantages: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Faster incremental builds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More flexible configuration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Better for large projects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70000" y="6921500"/>
            <a:ext cx="13716000" cy="1143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1651000" y="7175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2" y="232489"/>
                  <a:pt x="-2302" y="215503"/>
                </a:cubicBezTo>
                <a:lnTo>
                  <a:pt x="39688" y="145494"/>
                </a:lnTo>
                <a:cubicBezTo>
                  <a:pt x="46593" y="133985"/>
                  <a:pt x="58976" y="127000"/>
                  <a:pt x="72390" y="127000"/>
                </a:cubicBezTo>
                <a:lnTo>
                  <a:pt x="147796" y="127000"/>
                </a:lnTo>
                <a:cubicBezTo>
                  <a:pt x="208201" y="24686"/>
                  <a:pt x="298291" y="19526"/>
                  <a:pt x="358537" y="28337"/>
                </a:cubicBezTo>
                <a:cubicBezTo>
                  <a:pt x="368697" y="29845"/>
                  <a:pt x="376634" y="37783"/>
                  <a:pt x="378063" y="47863"/>
                </a:cubicBezTo>
                <a:cubicBezTo>
                  <a:pt x="386874" y="108109"/>
                  <a:pt x="381714" y="198199"/>
                  <a:pt x="279400" y="258604"/>
                </a:cubicBezTo>
                <a:lnTo>
                  <a:pt x="279400" y="334010"/>
                </a:lnTo>
                <a:cubicBezTo>
                  <a:pt x="279400" y="347424"/>
                  <a:pt x="272415" y="359807"/>
                  <a:pt x="260906" y="366713"/>
                </a:cubicBezTo>
                <a:lnTo>
                  <a:pt x="190897" y="408702"/>
                </a:lnTo>
                <a:cubicBezTo>
                  <a:pt x="173990" y="418862"/>
                  <a:pt x="152400" y="406638"/>
                  <a:pt x="152400" y="386953"/>
                </a:cubicBezTo>
                <a:lnTo>
                  <a:pt x="152400" y="304800"/>
                </a:lnTo>
                <a:cubicBezTo>
                  <a:pt x="152400" y="276781"/>
                  <a:pt x="129619" y="254000"/>
                  <a:pt x="101600" y="254000"/>
                </a:cubicBezTo>
                <a:lnTo>
                  <a:pt x="101521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7048500"/>
            <a:ext cx="12319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CI/CD Integration:</a:t>
            </a:r>
            <a:pPr algn="l"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Both Maven and Gradle integrate seamlessly with Jenkins, GitHub Actions, and GitLab CI for automated builds, testing, and deployment pipelines.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000" y="762000"/>
            <a:ext cx="1143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Week 15 Summary — Key Takeaways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270000" y="1524000"/>
            <a:ext cx="13716000" cy="12700"/>
          </a:xfrm>
          <a:prstGeom prst="rect">
            <a:avLst/>
          </a:prstGeom>
          <a:solidFill>
            <a:srgbClr val="D0D6DC"/>
          </a:solidFill>
          <a:ln/>
        </p:spPr>
      </p:sp>
      <p:sp>
        <p:nvSpPr>
          <p:cNvPr id="4" name="Shape 2"/>
          <p:cNvSpPr/>
          <p:nvPr/>
        </p:nvSpPr>
        <p:spPr>
          <a:xfrm>
            <a:off x="1270000" y="1905000"/>
            <a:ext cx="6731000" cy="457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51000" y="2159000"/>
            <a:ext cx="1016000" cy="444500"/>
          </a:xfrm>
          <a:prstGeom prst="roundRect">
            <a:avLst>
              <a:gd name="adj" fmla="val 20000"/>
            </a:avLst>
          </a:prstGeom>
          <a:solidFill>
            <a:srgbClr val="FF7F50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2159000"/>
            <a:ext cx="101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 29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57500" y="2159000"/>
            <a:ext cx="469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Distributed Apps with RMI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51000" y="2857500"/>
            <a:ext cx="5969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RMI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enables objects in different JVMs to communicate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Uses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Stubs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Skeletons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and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RMI Registry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Location transparency — remote calls look local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Ideal for enterprise systems with centralized services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Banking systems, ERP, inventory management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Classes: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Remote, UnicastRemoteObject, Naming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905000"/>
            <a:ext cx="6604000" cy="4572000"/>
          </a:xfrm>
          <a:prstGeom prst="roundRect">
            <a:avLst>
              <a:gd name="adj" fmla="val 8000"/>
            </a:avLst>
          </a:prstGeom>
          <a:solidFill>
            <a:srgbClr val="FCFDFD"/>
          </a:solidFill>
          <a:ln/>
          <a:effectLst>
            <a:outerShdw sx="100000" sy="100000" kx="0" ky="0" algn="bl" rotWithShape="0" blurRad="127000" dist="50800" dir="5400000">
              <a:srgbClr val="000000">
                <a:alpha val="3137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763000" y="2159000"/>
            <a:ext cx="1016000" cy="444500"/>
          </a:xfrm>
          <a:prstGeom prst="roundRect">
            <a:avLst>
              <a:gd name="adj" fmla="val 20000"/>
            </a:avLst>
          </a:prstGeom>
          <a:solidFill>
            <a:srgbClr val="2E5E8A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0" y="2159000"/>
            <a:ext cx="1016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 30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969500" y="2159000"/>
            <a:ext cx="4699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b="1" dirty="0">
                <a:solidFill>
                  <a:srgbClr val="3C4A5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Documenting &amp; Packaging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763000" y="2857500"/>
            <a:ext cx="5842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Javadoc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generates HTML docs from source comments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Use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@param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@return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@throws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F7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@author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tags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JAR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packages classes into a single distributable file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Regular, Executable, and Fat JAR types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Maven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 algn="l">
              <a:lnSpc>
                <a:spcPct val="160000"/>
              </a:lnSpc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Gradle</a:t>
            </a:r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automate packaging</a:t>
            </a:r>
            <a:endParaRPr lang="en-US" sz="1600" dirty="0"/>
          </a:p>
          <a:p>
            <a:pPr algn="l">
              <a:lnSpc>
                <a:spcPct val="16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Commands:</a:t>
            </a:r>
            <a:endParaRPr lang="en-US" sz="1600" dirty="0"/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3C4A5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javadoc, jar, mvn package, gradle build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70000" y="6794500"/>
            <a:ext cx="13716000" cy="1270000"/>
          </a:xfrm>
          <a:prstGeom prst="roundRect">
            <a:avLst>
              <a:gd name="adj" fmla="val 6000"/>
            </a:avLst>
          </a:prstGeom>
          <a:gradFill rotWithShape="1" flip="none">
            <a:gsLst>
              <a:gs pos="0">
                <a:srgbClr val="2E5E8A"/>
              </a:gs>
              <a:gs pos="100000">
                <a:srgbClr val="2E5E8A">
                  <a:alpha val="80000"/>
                </a:srgbClr>
              </a:gs>
            </a:gsLst>
            <a:lin ang="81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1651000" y="711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18369" y="-15002"/>
                </a:moveTo>
                <a:cubicBezTo>
                  <a:pt x="215477" y="-21352"/>
                  <a:pt x="209621" y="-25400"/>
                  <a:pt x="203271" y="-25400"/>
                </a:cubicBezTo>
                <a:cubicBezTo>
                  <a:pt x="196921" y="-25400"/>
                  <a:pt x="191064" y="-21352"/>
                  <a:pt x="188172" y="-15002"/>
                </a:cubicBezTo>
                <a:lnTo>
                  <a:pt x="136243" y="99457"/>
                </a:lnTo>
                <a:lnTo>
                  <a:pt x="23424" y="119618"/>
                </a:lnTo>
                <a:cubicBezTo>
                  <a:pt x="17145" y="120729"/>
                  <a:pt x="11924" y="125730"/>
                  <a:pt x="9948" y="132556"/>
                </a:cubicBezTo>
                <a:cubicBezTo>
                  <a:pt x="7973" y="139383"/>
                  <a:pt x="9596" y="146844"/>
                  <a:pt x="14041" y="151924"/>
                </a:cubicBezTo>
                <a:lnTo>
                  <a:pt x="94756" y="242808"/>
                </a:lnTo>
                <a:lnTo>
                  <a:pt x="76976" y="369729"/>
                </a:lnTo>
                <a:cubicBezTo>
                  <a:pt x="75988" y="376793"/>
                  <a:pt x="78599" y="383937"/>
                  <a:pt x="83749" y="388144"/>
                </a:cubicBezTo>
                <a:cubicBezTo>
                  <a:pt x="88900" y="392351"/>
                  <a:pt x="95673" y="392986"/>
                  <a:pt x="101388" y="389731"/>
                </a:cubicBezTo>
                <a:lnTo>
                  <a:pt x="203271" y="331470"/>
                </a:lnTo>
                <a:lnTo>
                  <a:pt x="305082" y="389731"/>
                </a:lnTo>
                <a:cubicBezTo>
                  <a:pt x="310727" y="392986"/>
                  <a:pt x="317571" y="392351"/>
                  <a:pt x="322721" y="388144"/>
                </a:cubicBezTo>
                <a:cubicBezTo>
                  <a:pt x="327872" y="383937"/>
                  <a:pt x="330482" y="376873"/>
                  <a:pt x="329494" y="369729"/>
                </a:cubicBezTo>
                <a:lnTo>
                  <a:pt x="311644" y="242808"/>
                </a:lnTo>
                <a:lnTo>
                  <a:pt x="392359" y="151924"/>
                </a:lnTo>
                <a:cubicBezTo>
                  <a:pt x="396875" y="146844"/>
                  <a:pt x="398427" y="139383"/>
                  <a:pt x="396452" y="132556"/>
                </a:cubicBezTo>
                <a:cubicBezTo>
                  <a:pt x="394476" y="125730"/>
                  <a:pt x="389326" y="120729"/>
                  <a:pt x="382976" y="119618"/>
                </a:cubicBezTo>
                <a:lnTo>
                  <a:pt x="270228" y="99457"/>
                </a:lnTo>
                <a:lnTo>
                  <a:pt x="218369" y="-15002"/>
                </a:lnTo>
                <a:close/>
              </a:path>
            </a:pathLst>
          </a:custGeom>
          <a:solidFill>
            <a:srgbClr val="FF7F50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6921500"/>
            <a:ext cx="12319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Best Practice:</a:t>
            </a:r>
            <a:pPr algn="l"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Always document public APIs with Javadoc, package applications as executable JARs, and use build tools (Maven/Gradle) for automation. This is the professional standard in Java development.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986000" y="8509000"/>
            <a:ext cx="10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600" dirty="0">
                <a:solidFill>
                  <a:srgbClr val="6B9CB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5E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0" y="0"/>
                </a:moveTo>
                <a:lnTo>
                  <a:pt x="8128000" y="0"/>
                </a:lnTo>
                <a:lnTo>
                  <a:pt x="8128000" y="2286000"/>
                </a:lnTo>
                <a:quadBezTo>
                  <a:pt x="6096000" y="4572000"/>
                  <a:pt x="4064000" y="4572000"/>
                </a:quadBezTo>
                <a:lnTo>
                  <a:pt x="2032000" y="4572000"/>
                </a:lnTo>
                <a:quadBezTo>
                  <a:pt x="0" y="4572000"/>
                  <a:pt x="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2E5E8A">
                  <a:alpha val="25000"/>
                </a:srgbClr>
              </a:gs>
              <a:gs pos="100000">
                <a:srgbClr val="D0E0E3"/>
              </a:gs>
            </a:gsLst>
            <a:lin ang="81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8128000" y="45720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8128000" h="4572000">
                <a:moveTo>
                  <a:pt x="8128000" y="4572000"/>
                </a:moveTo>
                <a:lnTo>
                  <a:pt x="0" y="4572000"/>
                </a:lnTo>
                <a:lnTo>
                  <a:pt x="0" y="2286000"/>
                </a:lnTo>
                <a:quadBezTo>
                  <a:pt x="2032000" y="0"/>
                  <a:pt x="4064000" y="0"/>
                </a:quadBezTo>
                <a:lnTo>
                  <a:pt x="6096000" y="0"/>
                </a:lnTo>
                <a:quadBezTo>
                  <a:pt x="8128000" y="0"/>
                  <a:pt x="8128000" y="2286000"/>
                </a:quadBezTo>
                <a:close/>
              </a:path>
            </a:pathLst>
          </a:custGeom>
          <a:gradFill rotWithShape="1" flip="none">
            <a:gsLst>
              <a:gs pos="0">
                <a:srgbClr val="D0E0E3"/>
              </a:gs>
              <a:gs pos="100000">
                <a:srgbClr val="FF7F50">
                  <a:alpha val="13000"/>
                </a:srgbClr>
              </a:gs>
            </a:gsLst>
            <a:lin ang="18900000" scaled="1"/>
          </a:gradFill>
          <a:ln/>
        </p:spPr>
      </p:sp>
      <p:sp>
        <p:nvSpPr>
          <p:cNvPr id="4" name="Text 2"/>
          <p:cNvSpPr/>
          <p:nvPr/>
        </p:nvSpPr>
        <p:spPr>
          <a:xfrm>
            <a:off x="3048000" y="2286000"/>
            <a:ext cx="1016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048000" y="3810000"/>
            <a:ext cx="1016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Week 15 Complete — Keep Coding, Keep Learning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0" y="4572000"/>
            <a:ext cx="2540000" cy="25400"/>
          </a:xfrm>
          <a:prstGeom prst="rect">
            <a:avLst/>
          </a:prstGeom>
          <a:solidFill>
            <a:srgbClr val="FFFFFF">
              <a:alpha val="31373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3683000" y="4889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29: Distributed Applications using RMI</a:t>
            </a:r>
            <a:endParaRPr lang="en-US" sz="2000" dirty="0"/>
          </a:p>
          <a:p>
            <a:pPr algn="ctr">
              <a:lnSpc>
                <a:spcPct val="18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Lecture 30: Documenting and Packaging Java Applications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53000" y="6223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Java Programming Course · Week 15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15: Java Distributed Applications &amp; Packaging</dc:title>
  <dc:subject>Week 15: Java Distributed Applications &amp; Packaging</dc:subject>
  <dc:creator>Kimi</dc:creator>
  <cp:lastModifiedBy>Kimi</cp:lastModifiedBy>
  <cp:revision>1</cp:revision>
  <dcterms:created xsi:type="dcterms:W3CDTF">2026-06-26T05:11:50Z</dcterms:created>
  <dcterms:modified xsi:type="dcterms:W3CDTF">2026-06-26T05:11:50Z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{"Label":"Week 15: Java Distributed Applications &amp; Packaging","ContentProducer":"001191110108MACG2KBH8F10000","ProduceID":"19f022f5-ef42-8c6c-8000-00009fcb491f","ReservedCode1":"","ContentPropagator":"001191110108MACG2KBH8F20000","PropagateID":"19f022bd-4112-8063-8000-09f96ad6b961","ReservedCode2":""}</vt:lpwstr>
  </property>
</Properties>
</file>