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6aqsv4t2xlfa/mnt/agents/output/acp-week4/images/1_Green_technology_background_Vectors.png">    </p:cNvPr>
          <p:cNvPicPr>
            <a:picLocks noChangeAspect="1"/>
          </p:cNvPicPr>
          <p:nvPr/>
        </p:nvPicPr>
        <p:blipFill>
          <a:blip r:embed="rId1"/>
          <a:srcRect l="0" r="0" t="7869" b="78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0000"/>
                </a:srgbClr>
              </a:gs>
              <a:gs pos="50000">
                <a:srgbClr val="1B4332">
                  <a:alpha val="80000"/>
                </a:srgbClr>
              </a:gs>
              <a:gs pos="100000">
                <a:srgbClr val="1B43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4765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COMPUTER PROGRAMMING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0" y="2921000"/>
            <a:ext cx="2540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238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spc="6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4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5334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1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Object-Oriented Programming in Java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1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Inheritance, Polymorphism, Encapsulation, Abstract &amp; Interface Classes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53000" y="711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5F1EB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7 &amp; 8 |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905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7200" spc="400" kern="0" dirty="0">
                <a:solidFill>
                  <a:srgbClr val="1B4332">
                    <a:alpha val="941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81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3810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 — OOP Review, Inheritance &amp; Polymorphism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4254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pillars of OOP, Classes &amp; Objects, Access Modifiers, Inheritance hierarchies, Method Overriding, Polymorphism &amp; Dynamic Dispatch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397500"/>
            <a:ext cx="6858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381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71000" y="3810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 — Encapsulation, Abstract &amp; Interface Classes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271000" y="4254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Encapsulation principles, Getters &amp; Setters, Immutability, Abstract classes &amp; methods, Interfaces, Default methods, Abstract vs Interface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5397500"/>
            <a:ext cx="711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6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000500"/>
            <a:ext cx="137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OOP REVIEW, INHERITANCE &amp; POLYMORPHISM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Review of Object-Oriented Programming using Java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Pillars of Object-Oriented Programming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0485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413000"/>
            <a:ext cx="6413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Bundling data and methods into a single unit (class) while controlling access. Hides internal state, exposes only necessary operations through public interfaces.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it as a capsule — the outside sees only the shell, not the contents inside.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587500"/>
            <a:ext cx="70485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63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2413000"/>
            <a:ext cx="6413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Creating new classes that reuse, extend, and modify behavior from existing classes. Establishes an "is-a" relationship between parent and child.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Dog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Animal — it inherits everything Animal has.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0485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533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9500" y="5905500"/>
            <a:ext cx="6413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ability of an object to take on many forms. A single interface can represent different underlying implementations — enabling flexible, extensible code.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method call, many possible behaviors — decided at runtime.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45500" y="5080000"/>
            <a:ext cx="70485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37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375047" y="322898"/>
                </a:lnTo>
                <a:cubicBezTo>
                  <a:pt x="377190" y="320993"/>
                  <a:pt x="379333" y="319088"/>
                  <a:pt x="381397" y="317183"/>
                </a:cubicBezTo>
                <a:cubicBezTo>
                  <a:pt x="418544" y="282654"/>
                  <a:pt x="443389" y="241459"/>
                  <a:pt x="455216" y="213122"/>
                </a:cubicBezTo>
                <a:cubicBezTo>
                  <a:pt x="457835" y="206851"/>
                  <a:pt x="457835" y="199866"/>
                  <a:pt x="455216" y="193596"/>
                </a:cubicBezTo>
                <a:cubicBezTo>
                  <a:pt x="443389" y="165259"/>
                  <a:pt x="418544" y="123984"/>
                  <a:pt x="381397" y="89535"/>
                </a:cubicBezTo>
                <a:cubicBezTo>
                  <a:pt x="344011" y="54848"/>
                  <a:pt x="292656" y="25559"/>
                  <a:pt x="228521" y="25559"/>
                </a:cubicBezTo>
                <a:cubicBezTo>
                  <a:pt x="183436" y="25559"/>
                  <a:pt x="144701" y="40005"/>
                  <a:pt x="112633" y="60643"/>
                </a:cubicBezTo>
                <a:lnTo>
                  <a:pt x="32544" y="-19764"/>
                </a:lnTo>
                <a:close/>
                <a:moveTo>
                  <a:pt x="162322" y="110093"/>
                </a:moveTo>
                <a:cubicBezTo>
                  <a:pt x="180975" y="96758"/>
                  <a:pt x="203914" y="88900"/>
                  <a:pt x="228600" y="88900"/>
                </a:cubicBezTo>
                <a:cubicBezTo>
                  <a:pt x="291703" y="88900"/>
                  <a:pt x="342900" y="140097"/>
                  <a:pt x="342900" y="203200"/>
                </a:cubicBezTo>
                <a:cubicBezTo>
                  <a:pt x="342900" y="227886"/>
                  <a:pt x="335042" y="250746"/>
                  <a:pt x="321707" y="269478"/>
                </a:cubicBezTo>
                <a:lnTo>
                  <a:pt x="294164" y="241935"/>
                </a:lnTo>
                <a:cubicBezTo>
                  <a:pt x="304244" y="224949"/>
                  <a:pt x="307658" y="204073"/>
                  <a:pt x="302181" y="183436"/>
                </a:cubicBezTo>
                <a:cubicBezTo>
                  <a:pt x="291306" y="142796"/>
                  <a:pt x="249476" y="118666"/>
                  <a:pt x="208836" y="129540"/>
                </a:cubicBezTo>
                <a:cubicBezTo>
                  <a:pt x="202009" y="131366"/>
                  <a:pt x="195580" y="134064"/>
                  <a:pt x="189786" y="137478"/>
                </a:cubicBezTo>
                <a:lnTo>
                  <a:pt x="162243" y="109934"/>
                </a:lnTo>
                <a:close/>
                <a:moveTo>
                  <a:pt x="258207" y="313611"/>
                </a:moveTo>
                <a:cubicBezTo>
                  <a:pt x="248761" y="316151"/>
                  <a:pt x="238839" y="317500"/>
                  <a:pt x="228600" y="317500"/>
                </a:cubicBezTo>
                <a:cubicBezTo>
                  <a:pt x="165497" y="317500"/>
                  <a:pt x="114300" y="266303"/>
                  <a:pt x="114300" y="203200"/>
                </a:cubicBezTo>
                <a:cubicBezTo>
                  <a:pt x="114300" y="192961"/>
                  <a:pt x="115649" y="183039"/>
                  <a:pt x="118189" y="173593"/>
                </a:cubicBezTo>
                <a:lnTo>
                  <a:pt x="55086" y="110490"/>
                </a:lnTo>
                <a:cubicBezTo>
                  <a:pt x="29210" y="139700"/>
                  <a:pt x="11430" y="170656"/>
                  <a:pt x="1984" y="193437"/>
                </a:cubicBezTo>
                <a:cubicBezTo>
                  <a:pt x="-635" y="199708"/>
                  <a:pt x="-635" y="206692"/>
                  <a:pt x="1984" y="212963"/>
                </a:cubicBezTo>
                <a:cubicBezTo>
                  <a:pt x="13811" y="241300"/>
                  <a:pt x="38656" y="282575"/>
                  <a:pt x="75803" y="317024"/>
                </a:cubicBezTo>
                <a:cubicBezTo>
                  <a:pt x="113189" y="351711"/>
                  <a:pt x="164544" y="381000"/>
                  <a:pt x="228679" y="381000"/>
                </a:cubicBezTo>
                <a:cubicBezTo>
                  <a:pt x="258286" y="381000"/>
                  <a:pt x="285194" y="374729"/>
                  <a:pt x="309245" y="364649"/>
                </a:cubicBezTo>
                <a:lnTo>
                  <a:pt x="258286" y="313690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9334500" y="533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63000" y="5905500"/>
            <a:ext cx="6413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Hiding complex implementation details and showing only essential features. Simplifies the interface by reducing the conceptual load on the user.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drive a car without knowing how the engine works internally.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Classes and Objects — The Building Blocks of Java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Class?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blueprint defining properties (fields) and behaviors (methods) that objects will have.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instance — a concrete realization in memory.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Fields store object state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 define behavior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Constructors initialize objects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creates instances in heap memory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524000"/>
            <a:ext cx="7366000" cy="3683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0" y="1524000"/>
            <a:ext cx="63500" cy="368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162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82000" y="19304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name;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Fields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Student(String n,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a) {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Constructor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n; age = a;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study() { ... }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Method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20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and Using Objects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5778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79500" y="59055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Declaration // Instantiation // Initialization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s1 =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20);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s1.study();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the study() method on the object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variable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holds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Student object in heap memory, not the object itself. Multiple references can point to the same object.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Members — Fields, Methods &amp; Constructors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8225" y="1752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Fields (Variables)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Instance Variables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Belong to each object. Each instance has its own copy.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String name;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Variables (static)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Shared across all instances of the class.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static int count;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Variables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Declared inside methods. Exist only during method execution.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temp = value * 2;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10275" y="1752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2500" y="2286000"/>
            <a:ext cx="419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Instance Methods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Operate on object state. Require an instance to call.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void deposit(double amt)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Methods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Belong to the class. Called on the class name.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int getCount()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Keyword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Refers to the current object instance. Distinguishes instance variables from parameters.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this.name = name;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04550" y="1752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71480" y="12710"/>
                </a:moveTo>
                <a:lnTo>
                  <a:pt x="188218" y="2639"/>
                </a:lnTo>
                <a:cubicBezTo>
                  <a:pt x="203220" y="-6390"/>
                  <a:pt x="220375" y="-11112"/>
                  <a:pt x="237877" y="-11112"/>
                </a:cubicBezTo>
                <a:cubicBezTo>
                  <a:pt x="263436" y="-11112"/>
                  <a:pt x="288022" y="-972"/>
                  <a:pt x="306080" y="17155"/>
                </a:cubicBezTo>
                <a:lnTo>
                  <a:pt x="350460" y="61535"/>
                </a:lnTo>
                <a:cubicBezTo>
                  <a:pt x="360878" y="71953"/>
                  <a:pt x="366712" y="86122"/>
                  <a:pt x="366712" y="100846"/>
                </a:cubicBezTo>
                <a:lnTo>
                  <a:pt x="366712" y="122307"/>
                </a:lnTo>
                <a:lnTo>
                  <a:pt x="380395" y="135989"/>
                </a:lnTo>
                <a:lnTo>
                  <a:pt x="380395" y="135989"/>
                </a:lnTo>
                <a:cubicBezTo>
                  <a:pt x="391229" y="125155"/>
                  <a:pt x="408801" y="125155"/>
                  <a:pt x="419705" y="135989"/>
                </a:cubicBezTo>
                <a:cubicBezTo>
                  <a:pt x="430609" y="146824"/>
                  <a:pt x="430540" y="164396"/>
                  <a:pt x="419705" y="175300"/>
                </a:cubicBezTo>
                <a:lnTo>
                  <a:pt x="375255" y="219750"/>
                </a:lnTo>
                <a:cubicBezTo>
                  <a:pt x="364421" y="230584"/>
                  <a:pt x="346849" y="230584"/>
                  <a:pt x="335945" y="219750"/>
                </a:cubicBezTo>
                <a:cubicBezTo>
                  <a:pt x="325041" y="208915"/>
                  <a:pt x="325110" y="191343"/>
                  <a:pt x="335945" y="180439"/>
                </a:cubicBezTo>
                <a:lnTo>
                  <a:pt x="322263" y="166688"/>
                </a:lnTo>
                <a:lnTo>
                  <a:pt x="300801" y="166688"/>
                </a:lnTo>
                <a:cubicBezTo>
                  <a:pt x="286077" y="166688"/>
                  <a:pt x="271909" y="160853"/>
                  <a:pt x="261491" y="150435"/>
                </a:cubicBezTo>
                <a:lnTo>
                  <a:pt x="227390" y="116334"/>
                </a:lnTo>
                <a:cubicBezTo>
                  <a:pt x="216972" y="105916"/>
                  <a:pt x="211138" y="91748"/>
                  <a:pt x="211138" y="77024"/>
                </a:cubicBezTo>
                <a:lnTo>
                  <a:pt x="211138" y="68203"/>
                </a:lnTo>
                <a:cubicBezTo>
                  <a:pt x="211138" y="60424"/>
                  <a:pt x="207040" y="53132"/>
                  <a:pt x="200372" y="49173"/>
                </a:cubicBezTo>
                <a:lnTo>
                  <a:pt x="171480" y="31810"/>
                </a:lnTo>
                <a:cubicBezTo>
                  <a:pt x="164257" y="27503"/>
                  <a:pt x="164257" y="17085"/>
                  <a:pt x="171480" y="12779"/>
                </a:cubicBezTo>
                <a:close/>
                <a:moveTo>
                  <a:pt x="35213" y="279688"/>
                </a:moveTo>
                <a:lnTo>
                  <a:pt x="189468" y="125432"/>
                </a:lnTo>
                <a:lnTo>
                  <a:pt x="252323" y="188287"/>
                </a:lnTo>
                <a:lnTo>
                  <a:pt x="98068" y="342543"/>
                </a:lnTo>
                <a:cubicBezTo>
                  <a:pt x="80705" y="359906"/>
                  <a:pt x="52576" y="359906"/>
                  <a:pt x="35213" y="342543"/>
                </a:cubicBezTo>
                <a:cubicBezTo>
                  <a:pt x="17849" y="325180"/>
                  <a:pt x="17849" y="297051"/>
                  <a:pt x="35213" y="279688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49000" y="2286000"/>
            <a:ext cx="4191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Purpose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 methods invoked when objects are created. Initialize new objects.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Overloading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constructors with different parameter lists.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BankAccount() { ... }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BankAccount(double b) { ... }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Constructor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Provided automatically if no constructor is defined. Initializes fields to default values.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Modifiers in Java — Controlling Visibility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048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2946400"/>
                <a:gridCol w="2946400"/>
                <a:gridCol w="294640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Modifier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Same 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Same Package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Everywhere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B4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762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(package-private):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keyword needed. Accessible within the same package only — same as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without subclass access.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39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704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Fields should be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encapsulate data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getter/setter methods provide controlled access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45500" y="5969000"/>
            <a:ext cx="7048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methods define the class API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members enable subclass customization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7175500"/>
            <a:ext cx="14732000" cy="1460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730250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BankAccount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getBalance()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3" name="Text 10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0" y="1270000"/>
            <a:ext cx="5588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4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IS-A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 Class Hierarchies and Reusing Code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Inheritance — The "is-a" Relationship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 lets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acquire properties and behaviors from an existing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establishes an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Dog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Animal. A Car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Vehicle.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Benefits: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reuse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common functionality in superclass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subclasses add/override behavior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Hierarchy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natural classification of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524000"/>
            <a:ext cx="7366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82000" y="1676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HIERARCHY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14000" y="2159000"/>
            <a:ext cx="2794000" cy="5715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0" y="2159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 (Superclass)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11000" y="2730500"/>
            <a:ext cx="0" cy="38100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906000" y="3111500"/>
            <a:ext cx="1905000" cy="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811000" y="3111500"/>
            <a:ext cx="1905000" cy="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906000" y="3111500"/>
            <a:ext cx="0" cy="38100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3716000" y="3111500"/>
            <a:ext cx="0" cy="38100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890000" y="34925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0" y="3492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0" y="3492500"/>
            <a:ext cx="2032000" cy="508000"/>
          </a:xfrm>
          <a:prstGeom prst="roundRect">
            <a:avLst>
              <a:gd name="adj" fmla="val 10000"/>
            </a:avLst>
          </a:prstGeom>
          <a:solidFill>
            <a:srgbClr val="52796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0" y="34925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4254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 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 ... 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78500"/>
            <a:ext cx="14732000" cy="2730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778500"/>
            <a:ext cx="63500" cy="2730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905500"/>
            <a:ext cx="1409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Java supports single inheritance only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name;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eat() { ...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Inherits name and eat(), can override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Keyword — Accessing Parent Class Members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1676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super()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2500" y="2159000"/>
            <a:ext cx="431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Calls the superclass constructor. Must be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statement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subclass constructor.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omitted, compiler inserts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super()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automatically.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no default constructor exists, you must call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super(args)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explicitly.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690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4000" y="1676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super.method()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69000" y="2159000"/>
            <a:ext cx="431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Calls a superclass method that has been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overridden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subclass.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Useful when the subclass wants to extend (not replace) parent behavior.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pattern: call super first, then add subclass-specific code.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85500" y="16764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20500" y="16764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super.field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85500" y="2159000"/>
            <a:ext cx="431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Accesses a superclass field hidden by a subclass field with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Rarely needed — better to use different field names.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be used in static contexts.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016500"/>
            <a:ext cx="14732000" cy="355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016500"/>
            <a:ext cx="63500" cy="355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08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6000" y="5397500"/>
            <a:ext cx="1422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name;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salary;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Employee(String n,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s) { name = n; salary = s;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Manager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bonus;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Manager(String n,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(n, s); bonus = b;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Calls Employee ctor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getSalary()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super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.salary + bonus;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Overriding — Redefining Parent Behavior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for Overriding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subclass provides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specific implementation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 method already defined in its superclass.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 name and parameters must be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identical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type: same or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covariant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subtype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modifier: cannot be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restrictive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throw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broader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checked exceptions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@Override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annotation for safety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3556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0" y="1498600"/>
            <a:ext cx="63500" cy="3556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1600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82000" y="1905000"/>
            <a:ext cx="6858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speak()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"Sound"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Animal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@Override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speak()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"Bark"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20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@Override Matters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7150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@Override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annotation tells the compiler you intend to override a superclass method. If the method signature doesn't match any parent method, the compiler generates an error — catching typos and signature mismatches at compile time rather than causing subtle bugs at runtime.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@Override: a typo creates a new method instead of overriding. With @Override: the compiler catches the mistake immediately.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4100" y="7239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7213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16000" y="75946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overriding is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 of runtime polymorphism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Java. When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speak()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called on a Dog reference, the overridden version executes — even when accessed through an Animal reference.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Class — Root of All Java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class in Java directly or indirectly inherits from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java.lang.Object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All classes inherit these key methods: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651760"/>
                <a:gridCol w="6187440"/>
                <a:gridCol w="5892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 Behavior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Common Override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toString()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class name + @ + hashcode hex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 meaningful object 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equals()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Compares references (==)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Compare object values for equality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hashCode()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native memory address hash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Consistent with equals() contract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getClass()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runtime Class object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Rarely overridden (final)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clone()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Creates shallow copy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Implement Cloneable, deep copy if needed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finalize()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Called by GC before destruction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5279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Deprecated since Java 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15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equals() and hashCode() Contract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6604000"/>
            <a:ext cx="14732000" cy="2032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6731000"/>
            <a:ext cx="14097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Equal objects must have same hash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@Override public boolean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equals(Object o)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== o)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true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(o ==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|| getClass() != o.getClass())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false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 p = (Person) o;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== p.age &amp;&amp; Objects.equals(name, p.name);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@Override public 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hashCode() {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Objects.hash(name, age); }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1" name="Text 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0" y="1016000"/>
            <a:ext cx="5588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4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Forms, One Interface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— Objects Taking Many 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714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14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COMPILE-TIME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Polymorphism (Overloading)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methods with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parameter lists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Resolved at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 time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the method signature.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add(int a, int b)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add(double a, double b)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 add(int a, int b, int c)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1524000"/>
            <a:ext cx="7048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99500" y="1714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8699500" y="1714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100" kern="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22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Polymorphism (Overriding)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26670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subclass method is invoked through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superclass reference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Resolved at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runtime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dynamic method dispatch.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 a = new Dog();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a.speak(); // Calls Dog's speak()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JVM decides which method to run based on the actual object type.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539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5905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79500" y="6032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superclass reference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point to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 subclass object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enables writing generic code that works with any subclass, dramatically improving code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flexibility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extensibility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7239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Write code that works with superclass types — works with any subclass automatically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New subclasses can be added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modifying existing code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Open-Closed Principle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Method Dispatch — Runtime Polymorphism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JVM determines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actual object's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runtime and invokes the overridden method in that class.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at runtime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decided by actual object type, not reference type.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 declares the method; object type decides implementation.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62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DISPATCH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9000" y="2006600"/>
            <a:ext cx="165100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8509000" y="20066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calls method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0" y="2235200"/>
            <a:ext cx="508000" cy="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0668000" y="2006600"/>
            <a:ext cx="1905000" cy="457200"/>
          </a:xfrm>
          <a:prstGeom prst="roundRect">
            <a:avLst>
              <a:gd name="adj" fmla="val 10000"/>
            </a:avLst>
          </a:prstGeom>
          <a:solidFill>
            <a:srgbClr val="52796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0" y="20066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 checks actual type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573000" y="2235200"/>
            <a:ext cx="254000" cy="0"/>
          </a:xfrm>
          <a:prstGeom prst="straightConnector1">
            <a:avLst/>
          </a:prstGeom>
          <a:noFill/>
          <a:ln w="25400">
            <a:solidFill>
              <a:srgbClr val="52796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827000" y="2006600"/>
            <a:ext cx="1778000" cy="457200"/>
          </a:xfrm>
          <a:prstGeom prst="roundRect">
            <a:avLst>
              <a:gd name="adj" fmla="val 10000"/>
            </a:avLst>
          </a:pr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27000" y="20066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 executes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26670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Compiler verifies method exists in reference type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At runtime, JVM looks up actual object's class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JVM invokes the most specific overridden version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4762500"/>
            <a:ext cx="14732000" cy="342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762500"/>
            <a:ext cx="63500" cy="3429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4889500"/>
            <a:ext cx="1409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Polymorphic array — all Animal references, different actual objects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Animal[] animals = {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Dog(),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Cat(),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Bird() };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(Animal a : animals)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a.speak();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Dog says "Bark", Cat says "Meow", Bird says "Tweet"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Method accepting superclass parameter works with any subclass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makeItSpeak(Animal animal)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animal.speak();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Works with Dog, Cat, Bird — any Animal subclass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 with Arrays and Method Parameters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0485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Polymorphic Arrays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Arrays of superclass type can hold any subclass objects: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Shape[] shapes = {new Circle(), new Rectangle(), new Triangle()};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(Shape s : shapes) s.draw(); // Each draws differently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524000"/>
            <a:ext cx="70485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99500" y="175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1313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 Parameters &amp; Return Types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99500" y="21590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Methods accepting superclass parameters work with any subclass: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void drawShape(Shape s) { s.draw(); }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Returns subclass as superclass type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Shape createShape(String type) { ... 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06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Ubiquitous in Java APIs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46355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160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55580" y="27667"/>
                </a:moveTo>
                <a:cubicBezTo>
                  <a:pt x="152742" y="21446"/>
                  <a:pt x="146521" y="17463"/>
                  <a:pt x="139700" y="17463"/>
                </a:cubicBezTo>
                <a:cubicBezTo>
                  <a:pt x="132879" y="17463"/>
                  <a:pt x="126658" y="21446"/>
                  <a:pt x="123820" y="27667"/>
                </a:cubicBezTo>
                <a:lnTo>
                  <a:pt x="32469" y="227013"/>
                </a:lnTo>
                <a:lnTo>
                  <a:pt x="26194" y="227013"/>
                </a:lnTo>
                <a:cubicBezTo>
                  <a:pt x="16535" y="227013"/>
                  <a:pt x="8731" y="234816"/>
                  <a:pt x="8731" y="244475"/>
                </a:cubicBezTo>
                <a:cubicBezTo>
                  <a:pt x="8731" y="254134"/>
                  <a:pt x="16535" y="261938"/>
                  <a:pt x="26194" y="261938"/>
                </a:cubicBezTo>
                <a:lnTo>
                  <a:pt x="74216" y="261938"/>
                </a:lnTo>
                <a:cubicBezTo>
                  <a:pt x="83875" y="261938"/>
                  <a:pt x="91678" y="254134"/>
                  <a:pt x="91678" y="244475"/>
                </a:cubicBezTo>
                <a:cubicBezTo>
                  <a:pt x="91678" y="234816"/>
                  <a:pt x="83875" y="227013"/>
                  <a:pt x="74216" y="227013"/>
                </a:cubicBezTo>
                <a:lnTo>
                  <a:pt x="70887" y="227013"/>
                </a:lnTo>
                <a:lnTo>
                  <a:pt x="82892" y="200819"/>
                </a:lnTo>
                <a:lnTo>
                  <a:pt x="196562" y="200819"/>
                </a:lnTo>
                <a:lnTo>
                  <a:pt x="208568" y="227013"/>
                </a:lnTo>
                <a:lnTo>
                  <a:pt x="205239" y="227013"/>
                </a:lnTo>
                <a:cubicBezTo>
                  <a:pt x="195580" y="227013"/>
                  <a:pt x="187776" y="234816"/>
                  <a:pt x="187776" y="244475"/>
                </a:cubicBezTo>
                <a:cubicBezTo>
                  <a:pt x="187776" y="254134"/>
                  <a:pt x="195580" y="261938"/>
                  <a:pt x="205239" y="261938"/>
                </a:cubicBezTo>
                <a:lnTo>
                  <a:pt x="253261" y="261938"/>
                </a:lnTo>
                <a:cubicBezTo>
                  <a:pt x="262920" y="261938"/>
                  <a:pt x="270723" y="254134"/>
                  <a:pt x="270723" y="244475"/>
                </a:cubicBezTo>
                <a:cubicBezTo>
                  <a:pt x="270723" y="234816"/>
                  <a:pt x="262920" y="227013"/>
                  <a:pt x="253261" y="227013"/>
                </a:cubicBezTo>
                <a:lnTo>
                  <a:pt x="246985" y="227013"/>
                </a:lnTo>
                <a:lnTo>
                  <a:pt x="155635" y="27667"/>
                </a:lnTo>
                <a:close/>
                <a:moveTo>
                  <a:pt x="180519" y="165894"/>
                </a:moveTo>
                <a:lnTo>
                  <a:pt x="98881" y="165894"/>
                </a:lnTo>
                <a:lnTo>
                  <a:pt x="139700" y="76835"/>
                </a:lnTo>
                <a:lnTo>
                  <a:pt x="180519" y="165894"/>
                </a:ln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4800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toString()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5207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class overrides toString() for meaningful output. Called implicitly in string concatenation.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78500" y="46355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25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192088"/>
                </a:lnTo>
                <a:cubicBezTo>
                  <a:pt x="0" y="211351"/>
                  <a:pt x="15662" y="227013"/>
                  <a:pt x="34925" y="227013"/>
                </a:cubicBezTo>
                <a:lnTo>
                  <a:pt x="113506" y="227013"/>
                </a:lnTo>
                <a:lnTo>
                  <a:pt x="104775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213916" y="279400"/>
                </a:lnTo>
                <a:cubicBezTo>
                  <a:pt x="221173" y="279400"/>
                  <a:pt x="227013" y="273561"/>
                  <a:pt x="227013" y="266303"/>
                </a:cubicBezTo>
                <a:cubicBezTo>
                  <a:pt x="227013" y="259045"/>
                  <a:pt x="221173" y="253206"/>
                  <a:pt x="213916" y="253206"/>
                </a:cubicBezTo>
                <a:lnTo>
                  <a:pt x="174625" y="253206"/>
                </a:lnTo>
                <a:lnTo>
                  <a:pt x="165894" y="227013"/>
                </a:lnTo>
                <a:lnTo>
                  <a:pt x="244475" y="227013"/>
                </a:lnTo>
                <a:cubicBezTo>
                  <a:pt x="263738" y="227013"/>
                  <a:pt x="279400" y="211351"/>
                  <a:pt x="279400" y="192088"/>
                </a:cubicBezTo>
                <a:lnTo>
                  <a:pt x="279400" y="52388"/>
                </a:lnTo>
                <a:cubicBezTo>
                  <a:pt x="279400" y="33124"/>
                  <a:pt x="263738" y="17463"/>
                  <a:pt x="244475" y="17463"/>
                </a:cubicBezTo>
                <a:lnTo>
                  <a:pt x="34925" y="17463"/>
                </a:lnTo>
                <a:close/>
                <a:moveTo>
                  <a:pt x="52388" y="52388"/>
                </a:move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lnTo>
                  <a:pt x="244475" y="157163"/>
                </a:lnTo>
                <a:cubicBezTo>
                  <a:pt x="244475" y="166821"/>
                  <a:pt x="236671" y="174625"/>
                  <a:pt x="227013" y="174625"/>
                </a:cubicBezTo>
                <a:lnTo>
                  <a:pt x="52388" y="174625"/>
                </a:lnTo>
                <a:cubicBezTo>
                  <a:pt x="42729" y="174625"/>
                  <a:pt x="34925" y="166821"/>
                  <a:pt x="34925" y="157163"/>
                </a:cubicBezTo>
                <a:lnTo>
                  <a:pt x="34925" y="69850"/>
                </a:lnTo>
                <a:cubicBezTo>
                  <a:pt x="34925" y="60191"/>
                  <a:pt x="42729" y="52388"/>
                  <a:pt x="52388" y="52388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20" name="Text 18"/>
          <p:cNvSpPr/>
          <p:nvPr/>
        </p:nvSpPr>
        <p:spPr>
          <a:xfrm>
            <a:off x="6438900" y="4800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Event Listeners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2500" y="5207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ActionListener, MouseListener — all polymorphic. Register different listeners for different behaviors.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95000" y="46355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0490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52388"/>
                </a:moveTo>
                <a:cubicBezTo>
                  <a:pt x="0" y="42729"/>
                  <a:pt x="7804" y="34925"/>
                  <a:pt x="17463" y="34925"/>
                </a:cubicBezTo>
                <a:lnTo>
                  <a:pt x="227013" y="34925"/>
                </a:lnTo>
                <a:cubicBezTo>
                  <a:pt x="236671" y="34925"/>
                  <a:pt x="244475" y="42729"/>
                  <a:pt x="244475" y="52388"/>
                </a:cubicBezTo>
                <a:cubicBezTo>
                  <a:pt x="244475" y="62046"/>
                  <a:pt x="236671" y="69850"/>
                  <a:pt x="227013" y="69850"/>
                </a:cubicBezTo>
                <a:lnTo>
                  <a:pt x="17463" y="69850"/>
                </a:lnTo>
                <a:cubicBezTo>
                  <a:pt x="7804" y="69850"/>
                  <a:pt x="0" y="62046"/>
                  <a:pt x="0" y="52388"/>
                </a:cubicBezTo>
                <a:close/>
                <a:moveTo>
                  <a:pt x="34925" y="139700"/>
                </a:moveTo>
                <a:cubicBezTo>
                  <a:pt x="34925" y="130041"/>
                  <a:pt x="42729" y="122238"/>
                  <a:pt x="52388" y="122238"/>
                </a:cubicBezTo>
                <a:lnTo>
                  <a:pt x="261938" y="122238"/>
                </a:lnTo>
                <a:cubicBezTo>
                  <a:pt x="271596" y="122238"/>
                  <a:pt x="279400" y="130041"/>
                  <a:pt x="279400" y="139700"/>
                </a:cubicBezTo>
                <a:cubicBezTo>
                  <a:pt x="279400" y="149359"/>
                  <a:pt x="271596" y="157163"/>
                  <a:pt x="261938" y="157163"/>
                </a:cubicBezTo>
                <a:lnTo>
                  <a:pt x="52388" y="157163"/>
                </a:lnTo>
                <a:cubicBezTo>
                  <a:pt x="42729" y="157163"/>
                  <a:pt x="34925" y="149359"/>
                  <a:pt x="34925" y="139700"/>
                </a:cubicBezTo>
                <a:close/>
                <a:moveTo>
                  <a:pt x="244475" y="227013"/>
                </a:moveTo>
                <a:cubicBezTo>
                  <a:pt x="244475" y="236671"/>
                  <a:pt x="236671" y="244475"/>
                  <a:pt x="227013" y="244475"/>
                </a:cubicBezTo>
                <a:lnTo>
                  <a:pt x="17463" y="244475"/>
                </a:lnTo>
                <a:cubicBezTo>
                  <a:pt x="7804" y="244475"/>
                  <a:pt x="0" y="236671"/>
                  <a:pt x="0" y="227013"/>
                </a:cubicBezTo>
                <a:cubicBezTo>
                  <a:pt x="0" y="217354"/>
                  <a:pt x="7804" y="209550"/>
                  <a:pt x="17463" y="209550"/>
                </a:cubicBezTo>
                <a:lnTo>
                  <a:pt x="227013" y="209550"/>
                </a:lnTo>
                <a:cubicBezTo>
                  <a:pt x="236671" y="209550"/>
                  <a:pt x="244475" y="217354"/>
                  <a:pt x="244475" y="227013"/>
                </a:cubicBezTo>
                <a:close/>
              </a:path>
            </a:pathLst>
          </a:custGeom>
          <a:solidFill>
            <a:srgbClr val="52796F"/>
          </a:solidFill>
          <a:ln/>
        </p:spPr>
      </p:sp>
      <p:sp>
        <p:nvSpPr>
          <p:cNvPr id="24" name="Text 22"/>
          <p:cNvSpPr/>
          <p:nvPr/>
        </p:nvSpPr>
        <p:spPr>
          <a:xfrm>
            <a:off x="11455400" y="4800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I/O Streams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049000" y="5207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InputStream, OutputStream hierarchies — FileInputStream, BufferedInputStream all polymorphic.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6731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Collections: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ArrayList&lt;Animal&gt;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store Dog, Cat, and any Animal subclass.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benefit: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Polymorphism eliminates type-checking code (if-else chains) and enables elegant, extensible designs. You write code once that works with existing and future subclasses.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instanceof</a:t>
            </a:r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Operator and Casting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instanceof Operator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Tests whether an object is an instance of a particular class or interface: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(animal instanceof Dog) { ... }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the object's class and all superclasses and interfaces it implements.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 checking before downcasting; implementing type-specific behavior when polymorphism alone isn't sufficient.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Casting Rules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2000" y="20955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Upcasting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(implicit, always safe)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 a = new Dog();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Downcasting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(explicit, may fail)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 d = (Dog) animal;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Throws ClassCastException if not a Dog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use instanceof before downcasting.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63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Matching (Java 14+)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080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5080000"/>
            <a:ext cx="63500" cy="1270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20700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Old way: test then cast separately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(animal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instanceof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Dog) { Dog d = (Dog) animal; d.fetch();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Java 14+: test and cast in one step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(animal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instanceof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Dog d) { d.fetch(); 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667500"/>
            <a:ext cx="14732000" cy="146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16000" y="685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683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6000" y="7239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Prefer polymorphism over instanceof checks.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Excessive casting and instanceof often indicate a design problem. If you find yourself writing many instanceof checks, consider whether a polymorphic method in the superclass would be cleaner. Use the Visitor pattern for complex type-specific operations.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6aqsv4t2xlfa/mnt/agents/output/acp-week4/images/1_Green_technology_background_Vectors.png">    </p:cNvPr>
          <p:cNvPicPr>
            <a:picLocks noChangeAspect="1"/>
          </p:cNvPicPr>
          <p:nvPr/>
        </p:nvPicPr>
        <p:blipFill>
          <a:blip r:embed="rId1"/>
          <a:srcRect l="0" r="0" t="7869" b="78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0000"/>
                </a:srgbClr>
              </a:gs>
              <a:gs pos="50000">
                <a:srgbClr val="1B4332">
                  <a:alpha val="80000"/>
                </a:srgbClr>
              </a:gs>
              <a:gs pos="100000">
                <a:srgbClr val="1B43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6350000" cy="381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4000500"/>
            <a:ext cx="1422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400" spc="2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ENCAPSULATION, ABSTRACT &amp; INTERFACE CLASSES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Hiding, Abstract Classes and Interface Contracts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 — Data Hiding and Controlled Access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Encapsulation?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Encapsulation bundles data and methods into a single unit (class) while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restricting direct access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internal components.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 in Java: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Declare fields as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public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 to read values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public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 with validation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 implementation details private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368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2000" y="2133600"/>
            <a:ext cx="6858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Integrity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Validation in setters prevents invalid states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Flexibility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 implementation can change without affecting client code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Sensitive data is protected from direct modification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Modularity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class manages its own state independently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BankAccount Class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715000"/>
            <a:ext cx="14732000" cy="2857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5715000"/>
            <a:ext cx="63500" cy="2794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842000"/>
            <a:ext cx="1409700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BankAccount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getBalance()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deposit(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amt)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(amt &gt; 0) balance += amt;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throw new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IllegalArgumentException(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withdraw(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amt)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(amt &gt; 0 &amp;&amp; amt &lt;= balance) balance -= amt;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Getters, Setters &amp; JavaBeans Convention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2286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Convention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Type getPropertyName()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String getName()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 Getter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boolean isPropertyName()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boolean isActive()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void setPropertyName(Type value)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void setName(String n)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Property Types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4508500"/>
            <a:ext cx="469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Read-Only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getter only — no setter. Value set at construction.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String getId() { return id; }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78500" y="4508500"/>
            <a:ext cx="4699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Write-Only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(rare)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setter only. Used for sensitive data like passwords.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void setPassword(String p) { ... }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95000" y="4508500"/>
            <a:ext cx="469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backing field — value derived from other fields.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double getArea() { return w * h; }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000" y="603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62000" y="6540500"/>
            <a:ext cx="14732000" cy="196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16000" y="66675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Validate input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setters — throw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IllegalArgumentException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invalid values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defensive copies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mutable objects (dates, arrays, collections)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Document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thread-safety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are getters/setters safe for concurrent use?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Consider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immutability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objects that cannot change after creation are inherently thread-safe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Modern frameworks (Spring, Hibernate) rely heavily on the JavaBeans convention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Immutability — Creating Unchangeable Objects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Immutability?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immutable object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be modified after creation.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Thread safety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synchronization needed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state cannot be tampered with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Simplicity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 defensive copies needed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Reliable hash codes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safe as HashMap keys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Classic examples: String, Integer, LocalDate, BigDecimal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Immutable Classes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2000" y="21336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Declare class as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prevent subclassing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Make all fields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setter methods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Initialize all fields in the constructor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mutable fields, store and return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defensive copies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Ensure mutable components cannot be modified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Immutable Point Class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2000" y="5524500"/>
            <a:ext cx="14732000" cy="2984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5524500"/>
            <a:ext cx="63500" cy="2984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651500"/>
            <a:ext cx="1409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final 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final 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final 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.x = x;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.y = y;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getX()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getY()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 translate(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dx,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dy)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new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Point(x + dx, y + dy);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New instance, original unchanged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0" y="1016000"/>
            <a:ext cx="5588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4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 Partial Implementations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Classes — Templates for Subclass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be instantiated directly and may contain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methods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methods without implementation.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Purpose: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a common base with shared implementation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Force subclasses to implement specific methods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 a template for a family of related classes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characteristics: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have both abstract and concrete methods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have fields, constructors, static methods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Subclasses must implement all abstract methods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498600"/>
            <a:ext cx="7366000" cy="40005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0" y="1498600"/>
            <a:ext cx="63500" cy="4000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625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82000" y="1930400"/>
            <a:ext cx="6858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abstract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String color;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abstract 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getArea();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setColor(String c) { color = c;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Subclass must implement getArea()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radius;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getArea()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Math.PI * r * r;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689600"/>
            <a:ext cx="14732000" cy="1079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584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5816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Abstract Classes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6223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classes are ideal when classes share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code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but have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specific behaviors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Methods and Concrete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Methods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methods declare a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signature without a body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forcing subclasses to provide implementation: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abstract double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calculateArea();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No method body, ends with semicolon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Concrete methods in abstract classes provide 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shared functionality</a:t>
            </a:r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subclasses inherit directly.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498600"/>
            <a:ext cx="7366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0" y="1676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Constructors in Abstract Classes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2000" y="2133600"/>
            <a:ext cx="6858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exist and are called via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Initialize shared fields for all subclasses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Cannot be called directly with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 chaining ensures all superclass constructors execute from Object downward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 Method Pattern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2000" y="4699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abstract class defines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skeleton of an algorithm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Abstract methods represent customizable steps; concrete methods represent fixed steps. Subclasses override only the customizable parts.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524500"/>
            <a:ext cx="14732000" cy="30734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5524500"/>
            <a:ext cx="63500" cy="2984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651500"/>
            <a:ext cx="1409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DataParser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final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parse() {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Template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openFile(); readData(); processData(); closeFile();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abstract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readData();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abstract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processData();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openFile() { ...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closeFile() { ...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0" y="1016000"/>
            <a:ext cx="5588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4000" dirty="0">
                <a:solidFill>
                  <a:srgbClr val="F5F1EB">
                    <a:alpha val="392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000" y="330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746500"/>
            <a:ext cx="1524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000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0000" y="4889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1EB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 Contracts for Implementation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 — Defining Behavioral Contracts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a contract of methods that implementing classes must provide.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Java interfaces can contain: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Abstract methods (implicitly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methods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implementation (Java 8+)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methods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(Java 8+)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methods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(Java 9+)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points: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class can </a:t>
            </a:r>
            <a:pPr>
              <a:lnSpc>
                <a:spcPct val="145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 multiple interfaces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fields are 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final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(constants)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Ideal for cross-hierarchy capabilities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0" y="1498600"/>
            <a:ext cx="7366000" cy="4318000"/>
          </a:xfrm>
          <a:prstGeom prst="roundRect">
            <a:avLst>
              <a:gd name="adj" fmla="val 6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0" y="1498600"/>
            <a:ext cx="63500" cy="431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625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00" kern="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82000" y="19304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Interface declaration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interface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Drawable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draw();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implicitly public abstract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method (Java 8+)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print()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"Printing..."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Implementation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Circle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Drawable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draw()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279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Draw a circle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905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16000" y="5994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Java Interfaces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16000" y="6350000"/>
            <a:ext cx="1422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Comparable&lt;T&gt;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natural ordering |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Serializable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object serialization |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Runnable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threads |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Iterable&lt;T&gt;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foreach loops |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Comparator&lt;T&gt;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custom sorting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4" name="Text 12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Methods and Static Methods in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Methods (Java 8+)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Allow interfaces to provide </a:t>
            </a:r>
            <a:pPr>
              <a:lnSpc>
                <a:spcPct val="145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implementations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implementing classes inherit: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void log(String msg) {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System.out.println("[LOG] " + msg);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800" dirty="0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Rules: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Classes can override default methods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Same default in two interfaces? Must override and resolve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Methods (Java 8+)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0" y="20066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Belong to the interface, not instances. Called with the interface name: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List.of("a", "b", "c");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Comparator.naturalOrder();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for: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Utility/helper methods related to the interface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Factory methods for creating instances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Methods (Java 9+)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5207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internally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default and static methods within the interface. Cannot be accessed by implementing classes. Reduces code duplication when multiple default methods share logic.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6096000"/>
            <a:ext cx="14732000" cy="2413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6096000"/>
            <a:ext cx="63500" cy="2413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6223000"/>
            <a:ext cx="14097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interface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Logger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logInfo(String m) { log(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"INFO"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logError(String m) { log(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"ERROR"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m);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log(String lvl, String m)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"["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lvl +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"] "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m);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 Class vs. Interface — When to Use Which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5665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 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5F1E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Interface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6958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"is-a" with shared implementation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"can-do" or "is-able-to"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58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 + concrete methods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Abstract + default + static + private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6958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Fields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instance variables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Only public static final constants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787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Inheritance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inheritance (extends one)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Multiple implementation (implements many)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14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Guidance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651500"/>
            <a:ext cx="7048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16000" y="577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Abstract Class When: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6000" y="61595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Classes share common code; you need non-public members; partial implementation with customizable steps; the Template Method Pattern applies.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45500" y="5651500"/>
            <a:ext cx="7048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99500" y="577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Interface When: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99500" y="6159500"/>
            <a:ext cx="6540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 a capability for any class; multiple inheritance of type needed; specifying a contract without implementation; crossing unrelated class hierarchies.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2000" y="7239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Program to interfaces, not implementations. Use interfaces for type definitions; use abstract classes for shared code.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class can extend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abstract class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implement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interfaces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Consider sealed classes (Java 17+) for controlled inheritance.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4 Summary — The Complete OOP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000000">
                <a:alpha val="784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Pillars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Encapsulation — data hiding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Inheritance — code reuse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Polymorphism — many forms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Abstraction — simplify complexity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F5F1EB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pillars work together to create modular, reusable, and maintainable code.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3"/>
                </a:moveTo>
                <a:cubicBezTo>
                  <a:pt x="0" y="37157"/>
                  <a:pt x="14932" y="22225"/>
                  <a:pt x="33337" y="22225"/>
                </a:cubicBezTo>
                <a:lnTo>
                  <a:pt x="100013" y="22225"/>
                </a:lnTo>
                <a:cubicBezTo>
                  <a:pt x="118418" y="22225"/>
                  <a:pt x="133350" y="37157"/>
                  <a:pt x="133350" y="55563"/>
                </a:cubicBezTo>
                <a:lnTo>
                  <a:pt x="133350" y="66675"/>
                </a:lnTo>
                <a:lnTo>
                  <a:pt x="222250" y="66675"/>
                </a:lnTo>
                <a:lnTo>
                  <a:pt x="222250" y="55563"/>
                </a:lnTo>
                <a:cubicBezTo>
                  <a:pt x="222250" y="37157"/>
                  <a:pt x="237182" y="22225"/>
                  <a:pt x="255587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122238"/>
                </a:lnTo>
                <a:cubicBezTo>
                  <a:pt x="355600" y="140643"/>
                  <a:pt x="340668" y="155575"/>
                  <a:pt x="322263" y="155575"/>
                </a:cubicBezTo>
                <a:lnTo>
                  <a:pt x="255587" y="155575"/>
                </a:lnTo>
                <a:cubicBezTo>
                  <a:pt x="237182" y="155575"/>
                  <a:pt x="222250" y="140643"/>
                  <a:pt x="222250" y="122238"/>
                </a:cubicBezTo>
                <a:lnTo>
                  <a:pt x="222250" y="111125"/>
                </a:lnTo>
                <a:lnTo>
                  <a:pt x="133350" y="111125"/>
                </a:lnTo>
                <a:lnTo>
                  <a:pt x="133350" y="122238"/>
                </a:lnTo>
                <a:cubicBezTo>
                  <a:pt x="133350" y="127308"/>
                  <a:pt x="132169" y="132169"/>
                  <a:pt x="130155" y="136475"/>
                </a:cubicBezTo>
                <a:lnTo>
                  <a:pt x="177800" y="200025"/>
                </a:lnTo>
                <a:lnTo>
                  <a:pt x="233363" y="200025"/>
                </a:lnTo>
                <a:cubicBezTo>
                  <a:pt x="251768" y="200025"/>
                  <a:pt x="266700" y="214957"/>
                  <a:pt x="266700" y="233363"/>
                </a:cubicBezTo>
                <a:lnTo>
                  <a:pt x="266700" y="300038"/>
                </a:lnTo>
                <a:cubicBezTo>
                  <a:pt x="266700" y="318443"/>
                  <a:pt x="251768" y="333375"/>
                  <a:pt x="233363" y="333375"/>
                </a:cubicBezTo>
                <a:lnTo>
                  <a:pt x="166688" y="333375"/>
                </a:lnTo>
                <a:cubicBezTo>
                  <a:pt x="148282" y="333375"/>
                  <a:pt x="133350" y="318443"/>
                  <a:pt x="133350" y="300038"/>
                </a:cubicBezTo>
                <a:lnTo>
                  <a:pt x="133350" y="233363"/>
                </a:lnTo>
                <a:cubicBezTo>
                  <a:pt x="133350" y="228292"/>
                  <a:pt x="134531" y="223431"/>
                  <a:pt x="136545" y="219125"/>
                </a:cubicBezTo>
                <a:lnTo>
                  <a:pt x="88900" y="155575"/>
                </a:lnTo>
                <a:lnTo>
                  <a:pt x="33337" y="155575"/>
                </a:lnTo>
                <a:cubicBezTo>
                  <a:pt x="14932" y="155575"/>
                  <a:pt x="0" y="140643"/>
                  <a:pt x="0" y="122238"/>
                </a:cubicBezTo>
                <a:lnTo>
                  <a:pt x="0" y="55563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&amp; Polymorphism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2500" y="2286000"/>
            <a:ext cx="419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creates "is-a" hierarchies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Override methods for specialization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accesses parent members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Dynamic dispatch enables flexible code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Superclass refs point to subclass objects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Open-Closed Principle: open for extension, closed for modification.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93450" y="1752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172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 &amp; Design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49000" y="2286000"/>
            <a:ext cx="4191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Private fields + public accessors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Immutability for thread safety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Abstract classes for shared 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Interfaces define contracts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9C4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Default methods enable evolution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 favor composition over inheritance.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292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9500" y="5842000"/>
            <a:ext cx="1409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Understanding the four pillars is essential for designing robust Java applications. Each pillar addresses a specific challenge in software design.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Inheritance and polymorphism enable code reuse and flexibility, but should be used judiciously — prefer composition when behavior doesn't fit an "is-a" relationship.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B4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Encapsulation with immutability creates the most reliable objects. Abstract classes and interfaces provide powerful abstraction mechanisms — choose based on whether you need to share code or define a contract.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00" dirty="0">
                <a:solidFill>
                  <a:srgbClr val="5279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6aqsv4t2xlfa/mnt/agents/output/acp-week4/images/1_Green_technology_background_Vectors.png">    </p:cNvPr>
          <p:cNvPicPr>
            <a:picLocks noChangeAspect="1"/>
          </p:cNvPicPr>
          <p:nvPr/>
        </p:nvPicPr>
        <p:blipFill>
          <a:blip r:embed="rId1"/>
          <a:srcRect l="0" r="0" t="7869" b="78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332">
                  <a:alpha val="90000"/>
                </a:srgbClr>
              </a:gs>
              <a:gs pos="50000">
                <a:srgbClr val="1B4332">
                  <a:alpha val="80000"/>
                </a:srgbClr>
              </a:gs>
              <a:gs pos="100000">
                <a:srgbClr val="1B43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3238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50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MAKES PERFECT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381500"/>
            <a:ext cx="2540000" cy="25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4762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5F1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OOP principles to build robust, maintainable Java applications.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18000" y="6096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 EXCEPTION HANDLING AND FILE I/O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711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5F1EB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 | Week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4</dc:title>
  <dc:subject>Advanced Computer Programming - Week 4</dc:subject>
  <dc:creator>Kimi</dc:creator>
  <cp:lastModifiedBy>Kimi</cp:lastModifiedBy>
  <cp:revision>1</cp:revision>
  <dcterms:created xsi:type="dcterms:W3CDTF">2026-05-25T16:52:32Z</dcterms:created>
  <dcterms:modified xsi:type="dcterms:W3CDTF">2026-05-25T16:52:32Z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4","ContentProducer":"001191110108MACG2KBH8F10000","ProduceID":"19e600cc-9702-8996-8000-0000854eda6c","ReservedCode1":"","ContentPropagator":"001191110108MACG2KBH8F20000","PropagateID":"19e600cc-9702-8996-8000-0000854eda6c","ReservedCode2":""}</vt:lpwstr>
  </property>
</Properties>
</file>