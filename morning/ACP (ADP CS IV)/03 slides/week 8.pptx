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udqyr7nww3t2/mnt/agents/output/acp-week8/images/2_Abstract_glowing_coding_big_dat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2B38">
                  <a:alpha val="90000"/>
                </a:srgbClr>
              </a:gs>
              <a:gs pos="50000">
                <a:srgbClr val="162B38">
                  <a:alpha val="80000"/>
                </a:srgbClr>
              </a:gs>
              <a:gs pos="100000">
                <a:srgbClr val="162B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175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Computer Programming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3048000" y="4127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spc="300" kern="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8 — LECTURES 15 &amp; 16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23000" y="48895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5143500"/>
            <a:ext cx="1143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vs Event-Driven Programming · Event Classes · Delegation Model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Class Listeners · Anonymous Inner Classes · Event Handlers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1F29"/>
          </a:solidFill>
          <a:ln/>
        </p:spPr>
      </p:sp>
      <p:sp>
        <p:nvSpPr>
          <p:cNvPr id="10" name="Text 7"/>
          <p:cNvSpPr/>
          <p:nvPr/>
        </p:nvSpPr>
        <p:spPr>
          <a:xfrm>
            <a:off x="762000" y="88011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Computer Programming — 2026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76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62000" y="1206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101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2476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vs Event-Driven Programming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2857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fundamental paradigm shift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429000"/>
            <a:ext cx="6858000" cy="127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74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3746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Classes &amp; Event Information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4127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Java event class hierarchy and extracting event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699000"/>
            <a:ext cx="6858000" cy="127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01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5016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User Actions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5397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ActionEvent, MouseEvent, KeyEvent &amp; WindowEvent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969000"/>
            <a:ext cx="6858000" cy="127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28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6286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Delegation Model &amp; Inner Class Listeners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4000" y="6667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 event delegation mechanism and listener implementation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239000"/>
            <a:ext cx="6858000" cy="12700"/>
          </a:xfrm>
          <a:prstGeom prst="rect">
            <a:avLst/>
          </a:prstGeom>
          <a:solidFill>
            <a:srgbClr val="D5D5D5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755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7556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Anonymous Inner Classes &amp; Event Handlers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79375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Concise listener patterns and complete coding examples</a:t>
            </a:r>
            <a:endParaRPr lang="en-US" sz="1600" dirty="0"/>
          </a:p>
        </p:txBody>
      </p:sp>
      <p:pic>
        <p:nvPicPr>
          <p:cNvPr id="25" name="Image 0" descr="https://kimi-img.moonshot.cn/pub/slides/okc/rudqyr7nww3t2/mnt/agents/output/acp-week8/images/4_Creative_dark_coding_background_with.png">    </p:cNvPr>
          <p:cNvPicPr>
            <a:picLocks noChangeAspect="1"/>
          </p:cNvPicPr>
          <p:nvPr/>
        </p:nvPicPr>
        <p:blipFill>
          <a:blip r:embed="rId1"/>
          <a:srcRect l="21041" r="21041" t="0" b="0"/>
          <a:stretch/>
        </p:blipFill>
        <p:spPr>
          <a:xfrm>
            <a:off x="8636000" y="1016000"/>
            <a:ext cx="6858000" cy="7112000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Shape 23"/>
          <p:cNvSpPr/>
          <p:nvPr/>
        </p:nvSpPr>
        <p:spPr>
          <a:xfrm>
            <a:off x="8636000" y="1016000"/>
            <a:ext cx="6858000" cy="7112000"/>
          </a:xfrm>
          <a:prstGeom prst="roundRect">
            <a:avLst>
              <a:gd name="adj" fmla="val 4000"/>
            </a:avLst>
          </a:prstGeom>
          <a:gradFill rotWithShape="1" flip="none">
            <a:gsLst>
              <a:gs pos="0">
                <a:srgbClr val="F4F2EE"/>
              </a:gs>
              <a:gs pos="30000">
                <a:srgbClr val="F4F2EE">
                  <a:alpha val="0"/>
                </a:srgbClr>
              </a:gs>
              <a:gs pos="100000">
                <a:srgbClr val="F4F2EE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Text 24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udqyr7nww3t2/mnt/agents/output/acp-week8/images/2_Abstract_glowing_coding_big_dat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2B38">
                  <a:alpha val="94000"/>
                </a:srgbClr>
              </a:gs>
              <a:gs pos="60000">
                <a:srgbClr val="162B38">
                  <a:alpha val="88000"/>
                </a:srgbClr>
              </a:gs>
              <a:gs pos="100000">
                <a:srgbClr val="162B38">
                  <a:alpha val="6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D4763A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292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365500"/>
            <a:ext cx="762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619500"/>
            <a:ext cx="914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vs Event-Driven Programming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44450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fundamental paradigm shift in program execution flow, event classes, and user actions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7150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Procedural vs Event-Driven Programming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 Classes &amp; Event Information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Selected User Actions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Procedural Programming?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12000" cy="9525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programming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follows a step-by-step approach using procedures/functions, with a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predetermined execution flow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2863"/>
                </a:moveTo>
                <a:cubicBezTo>
                  <a:pt x="0" y="35004"/>
                  <a:pt x="6370" y="28575"/>
                  <a:pt x="14288" y="28575"/>
                </a:cubicBezTo>
                <a:lnTo>
                  <a:pt x="42863" y="28575"/>
                </a:lnTo>
                <a:cubicBezTo>
                  <a:pt x="50780" y="28575"/>
                  <a:pt x="57150" y="34945"/>
                  <a:pt x="57150" y="42863"/>
                </a:cubicBezTo>
                <a:lnTo>
                  <a:pt x="57150" y="104775"/>
                </a:lnTo>
                <a:lnTo>
                  <a:pt x="71438" y="104775"/>
                </a:lnTo>
                <a:cubicBezTo>
                  <a:pt x="79355" y="104775"/>
                  <a:pt x="85725" y="111145"/>
                  <a:pt x="85725" y="119062"/>
                </a:cubicBezTo>
                <a:cubicBezTo>
                  <a:pt x="85725" y="126980"/>
                  <a:pt x="79355" y="133350"/>
                  <a:pt x="71438" y="133350"/>
                </a:cubicBezTo>
                <a:lnTo>
                  <a:pt x="14288" y="133350"/>
                </a:lnTo>
                <a:cubicBezTo>
                  <a:pt x="6370" y="133350"/>
                  <a:pt x="0" y="126980"/>
                  <a:pt x="0" y="119062"/>
                </a:cubicBezTo>
                <a:cubicBezTo>
                  <a:pt x="0" y="111145"/>
                  <a:pt x="6370" y="104775"/>
                  <a:pt x="14288" y="104775"/>
                </a:cubicBezTo>
                <a:lnTo>
                  <a:pt x="28575" y="104775"/>
                </a:lnTo>
                <a:lnTo>
                  <a:pt x="28575" y="57150"/>
                </a:lnTo>
                <a:lnTo>
                  <a:pt x="14288" y="57150"/>
                </a:lnTo>
                <a:cubicBezTo>
                  <a:pt x="6370" y="57150"/>
                  <a:pt x="0" y="50780"/>
                  <a:pt x="0" y="42863"/>
                </a:cubicBezTo>
                <a:close/>
                <a:moveTo>
                  <a:pt x="18098" y="179308"/>
                </a:moveTo>
                <a:cubicBezTo>
                  <a:pt x="24884" y="174188"/>
                  <a:pt x="33159" y="171450"/>
                  <a:pt x="41672" y="171450"/>
                </a:cubicBezTo>
                <a:lnTo>
                  <a:pt x="44589" y="171450"/>
                </a:lnTo>
                <a:cubicBezTo>
                  <a:pt x="64651" y="171450"/>
                  <a:pt x="80962" y="187762"/>
                  <a:pt x="80962" y="207824"/>
                </a:cubicBezTo>
                <a:cubicBezTo>
                  <a:pt x="80962" y="219492"/>
                  <a:pt x="75367" y="230386"/>
                  <a:pt x="65961" y="237232"/>
                </a:cubicBezTo>
                <a:lnTo>
                  <a:pt x="51673" y="247650"/>
                </a:lnTo>
                <a:lnTo>
                  <a:pt x="71438" y="247650"/>
                </a:lnTo>
                <a:cubicBezTo>
                  <a:pt x="79355" y="247650"/>
                  <a:pt x="85725" y="254020"/>
                  <a:pt x="85725" y="261937"/>
                </a:cubicBezTo>
                <a:cubicBezTo>
                  <a:pt x="85725" y="269855"/>
                  <a:pt x="79355" y="276225"/>
                  <a:pt x="71438" y="276225"/>
                </a:cubicBezTo>
                <a:lnTo>
                  <a:pt x="17443" y="276225"/>
                </a:lnTo>
                <a:cubicBezTo>
                  <a:pt x="7799" y="276225"/>
                  <a:pt x="0" y="268426"/>
                  <a:pt x="0" y="258782"/>
                </a:cubicBezTo>
                <a:cubicBezTo>
                  <a:pt x="0" y="253186"/>
                  <a:pt x="2679" y="247948"/>
                  <a:pt x="7203" y="244673"/>
                </a:cubicBezTo>
                <a:lnTo>
                  <a:pt x="49173" y="214134"/>
                </a:lnTo>
                <a:cubicBezTo>
                  <a:pt x="51197" y="212646"/>
                  <a:pt x="52388" y="210324"/>
                  <a:pt x="52388" y="207824"/>
                </a:cubicBezTo>
                <a:cubicBezTo>
                  <a:pt x="52388" y="203537"/>
                  <a:pt x="48875" y="200025"/>
                  <a:pt x="44589" y="200025"/>
                </a:cubicBezTo>
                <a:lnTo>
                  <a:pt x="41672" y="200025"/>
                </a:lnTo>
                <a:cubicBezTo>
                  <a:pt x="39350" y="200025"/>
                  <a:pt x="37088" y="200799"/>
                  <a:pt x="35243" y="202168"/>
                </a:cubicBezTo>
                <a:lnTo>
                  <a:pt x="22860" y="211455"/>
                </a:lnTo>
                <a:cubicBezTo>
                  <a:pt x="16550" y="216218"/>
                  <a:pt x="7620" y="214908"/>
                  <a:pt x="2857" y="208597"/>
                </a:cubicBezTo>
                <a:cubicBezTo>
                  <a:pt x="-1905" y="202287"/>
                  <a:pt x="-595" y="193358"/>
                  <a:pt x="5715" y="188595"/>
                </a:cubicBezTo>
                <a:lnTo>
                  <a:pt x="18098" y="179308"/>
                </a:lnTo>
                <a:close/>
                <a:moveTo>
                  <a:pt x="133350" y="38100"/>
                </a:moveTo>
                <a:lnTo>
                  <a:pt x="285750" y="38100"/>
                </a:lnTo>
                <a:cubicBezTo>
                  <a:pt x="296287" y="38100"/>
                  <a:pt x="304800" y="46613"/>
                  <a:pt x="304800" y="57150"/>
                </a:cubicBezTo>
                <a:cubicBezTo>
                  <a:pt x="304800" y="67687"/>
                  <a:pt x="296287" y="76200"/>
                  <a:pt x="285750" y="76200"/>
                </a:cubicBezTo>
                <a:lnTo>
                  <a:pt x="133350" y="76200"/>
                </a:lnTo>
                <a:cubicBezTo>
                  <a:pt x="122813" y="76200"/>
                  <a:pt x="114300" y="67687"/>
                  <a:pt x="114300" y="57150"/>
                </a:cubicBezTo>
                <a:cubicBezTo>
                  <a:pt x="114300" y="46613"/>
                  <a:pt x="122813" y="38100"/>
                  <a:pt x="133350" y="38100"/>
                </a:cubicBezTo>
                <a:close/>
                <a:moveTo>
                  <a:pt x="133350" y="133350"/>
                </a:move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133350" y="171450"/>
                </a:lnTo>
                <a:cubicBezTo>
                  <a:pt x="122813" y="171450"/>
                  <a:pt x="114300" y="162937"/>
                  <a:pt x="114300" y="152400"/>
                </a:cubicBezTo>
                <a:cubicBezTo>
                  <a:pt x="114300" y="141863"/>
                  <a:pt x="122813" y="133350"/>
                  <a:pt x="133350" y="133350"/>
                </a:cubicBezTo>
                <a:close/>
                <a:moveTo>
                  <a:pt x="133350" y="228600"/>
                </a:moveTo>
                <a:lnTo>
                  <a:pt x="285750" y="228600"/>
                </a:lnTo>
                <a:cubicBezTo>
                  <a:pt x="296287" y="228600"/>
                  <a:pt x="304800" y="237113"/>
                  <a:pt x="304800" y="247650"/>
                </a:cubicBezTo>
                <a:cubicBezTo>
                  <a:pt x="304800" y="258187"/>
                  <a:pt x="296287" y="266700"/>
                  <a:pt x="285750" y="266700"/>
                </a:cubicBezTo>
                <a:lnTo>
                  <a:pt x="133350" y="266700"/>
                </a:lnTo>
                <a:cubicBezTo>
                  <a:pt x="122813" y="266700"/>
                  <a:pt x="114300" y="258187"/>
                  <a:pt x="114300" y="247650"/>
                </a:cubicBezTo>
                <a:cubicBezTo>
                  <a:pt x="114300" y="237113"/>
                  <a:pt x="122813" y="228600"/>
                  <a:pt x="133350" y="2286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9" name="Text 7"/>
          <p:cNvSpPr/>
          <p:nvPr/>
        </p:nvSpPr>
        <p:spPr>
          <a:xfrm>
            <a:off x="1206500" y="2984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 Execution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Code runs line-by-line in a fixed order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069" y="-774"/>
                </a:moveTo>
                <a:cubicBezTo>
                  <a:pt x="158770" y="-6727"/>
                  <a:pt x="146030" y="-6727"/>
                  <a:pt x="135731" y="-774"/>
                </a:cubicBezTo>
                <a:lnTo>
                  <a:pt x="85606" y="28158"/>
                </a:lnTo>
                <a:cubicBezTo>
                  <a:pt x="75307" y="34111"/>
                  <a:pt x="68937" y="45125"/>
                  <a:pt x="68937" y="57031"/>
                </a:cubicBezTo>
                <a:lnTo>
                  <a:pt x="68937" y="117693"/>
                </a:lnTo>
                <a:lnTo>
                  <a:pt x="16371" y="148054"/>
                </a:lnTo>
                <a:cubicBezTo>
                  <a:pt x="6072" y="154007"/>
                  <a:pt x="-298" y="165021"/>
                  <a:pt x="-298" y="176927"/>
                </a:cubicBezTo>
                <a:lnTo>
                  <a:pt x="-298" y="234851"/>
                </a:lnTo>
                <a:cubicBezTo>
                  <a:pt x="-298" y="246757"/>
                  <a:pt x="6072" y="257770"/>
                  <a:pt x="16371" y="263723"/>
                </a:cubicBezTo>
                <a:lnTo>
                  <a:pt x="66556" y="292656"/>
                </a:lnTo>
                <a:cubicBezTo>
                  <a:pt x="76855" y="298609"/>
                  <a:pt x="89595" y="298609"/>
                  <a:pt x="99893" y="292656"/>
                </a:cubicBezTo>
                <a:lnTo>
                  <a:pt x="152460" y="262295"/>
                </a:lnTo>
                <a:lnTo>
                  <a:pt x="205026" y="292656"/>
                </a:lnTo>
                <a:cubicBezTo>
                  <a:pt x="215325" y="298609"/>
                  <a:pt x="228064" y="298609"/>
                  <a:pt x="238363" y="292656"/>
                </a:cubicBezTo>
                <a:lnTo>
                  <a:pt x="288429" y="263723"/>
                </a:lnTo>
                <a:cubicBezTo>
                  <a:pt x="298728" y="257770"/>
                  <a:pt x="305098" y="246757"/>
                  <a:pt x="305098" y="234851"/>
                </a:cubicBezTo>
                <a:lnTo>
                  <a:pt x="305098" y="176927"/>
                </a:lnTo>
                <a:cubicBezTo>
                  <a:pt x="305098" y="165021"/>
                  <a:pt x="298728" y="154007"/>
                  <a:pt x="288429" y="148054"/>
                </a:cubicBezTo>
                <a:lnTo>
                  <a:pt x="235863" y="117693"/>
                </a:lnTo>
                <a:lnTo>
                  <a:pt x="235863" y="57031"/>
                </a:lnTo>
                <a:cubicBezTo>
                  <a:pt x="235863" y="45125"/>
                  <a:pt x="229493" y="34111"/>
                  <a:pt x="219194" y="28158"/>
                </a:cubicBezTo>
                <a:lnTo>
                  <a:pt x="169069" y="-774"/>
                </a:lnTo>
                <a:close/>
                <a:moveTo>
                  <a:pt x="138113" y="174188"/>
                </a:moveTo>
                <a:lnTo>
                  <a:pt x="138113" y="237589"/>
                </a:lnTo>
                <a:lnTo>
                  <a:pt x="85546" y="267950"/>
                </a:lnTo>
                <a:cubicBezTo>
                  <a:pt x="84832" y="268367"/>
                  <a:pt x="83999" y="268605"/>
                  <a:pt x="83165" y="268605"/>
                </a:cubicBezTo>
                <a:lnTo>
                  <a:pt x="83165" y="205919"/>
                </a:lnTo>
                <a:lnTo>
                  <a:pt x="138113" y="174188"/>
                </a:lnTo>
                <a:close/>
                <a:moveTo>
                  <a:pt x="275868" y="174546"/>
                </a:moveTo>
                <a:cubicBezTo>
                  <a:pt x="276285" y="175260"/>
                  <a:pt x="276523" y="176093"/>
                  <a:pt x="276523" y="176927"/>
                </a:cubicBezTo>
                <a:lnTo>
                  <a:pt x="276523" y="234851"/>
                </a:lnTo>
                <a:cubicBezTo>
                  <a:pt x="276523" y="236577"/>
                  <a:pt x="275630" y="238125"/>
                  <a:pt x="274141" y="238958"/>
                </a:cubicBezTo>
                <a:lnTo>
                  <a:pt x="223957" y="267891"/>
                </a:lnTo>
                <a:cubicBezTo>
                  <a:pt x="223242" y="268307"/>
                  <a:pt x="222409" y="268545"/>
                  <a:pt x="221575" y="268545"/>
                </a:cubicBezTo>
                <a:lnTo>
                  <a:pt x="221575" y="205859"/>
                </a:lnTo>
                <a:lnTo>
                  <a:pt x="275868" y="174546"/>
                </a:lnTo>
                <a:close/>
                <a:moveTo>
                  <a:pt x="207347" y="57031"/>
                </a:moveTo>
                <a:lnTo>
                  <a:pt x="207347" y="117693"/>
                </a:lnTo>
                <a:lnTo>
                  <a:pt x="152400" y="149423"/>
                </a:lnTo>
                <a:lnTo>
                  <a:pt x="152400" y="86023"/>
                </a:lnTo>
                <a:lnTo>
                  <a:pt x="206692" y="54709"/>
                </a:lnTo>
                <a:cubicBezTo>
                  <a:pt x="207109" y="55424"/>
                  <a:pt x="207347" y="56257"/>
                  <a:pt x="207347" y="5709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1" name="Text 9"/>
          <p:cNvSpPr/>
          <p:nvPr/>
        </p:nvSpPr>
        <p:spPr>
          <a:xfrm>
            <a:off x="1206500" y="3810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Function-Based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Programs divided into reusable functions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572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57150"/>
                </a:moveTo>
                <a:cubicBezTo>
                  <a:pt x="304800" y="87035"/>
                  <a:pt x="269617" y="131624"/>
                  <a:pt x="254437" y="149423"/>
                </a:cubicBezTo>
                <a:cubicBezTo>
                  <a:pt x="252174" y="152043"/>
                  <a:pt x="248841" y="153055"/>
                  <a:pt x="245805" y="152400"/>
                </a:cubicBezTo>
                <a:lnTo>
                  <a:pt x="190500" y="152400"/>
                </a:lnTo>
                <a:cubicBezTo>
                  <a:pt x="179963" y="152400"/>
                  <a:pt x="171450" y="160913"/>
                  <a:pt x="171450" y="171450"/>
                </a:cubicBezTo>
                <a:cubicBezTo>
                  <a:pt x="171450" y="181987"/>
                  <a:pt x="179963" y="190500"/>
                  <a:pt x="190500" y="190500"/>
                </a:cubicBezTo>
                <a:lnTo>
                  <a:pt x="247650" y="190500"/>
                </a:lnTo>
                <a:cubicBezTo>
                  <a:pt x="279202" y="190500"/>
                  <a:pt x="304800" y="216098"/>
                  <a:pt x="304800" y="247650"/>
                </a:cubicBezTo>
                <a:cubicBezTo>
                  <a:pt x="304800" y="279202"/>
                  <a:pt x="279202" y="304800"/>
                  <a:pt x="247650" y="304800"/>
                </a:cubicBezTo>
                <a:lnTo>
                  <a:pt x="83106" y="304800"/>
                </a:lnTo>
                <a:cubicBezTo>
                  <a:pt x="88285" y="298906"/>
                  <a:pt x="94595" y="291346"/>
                  <a:pt x="100965" y="282892"/>
                </a:cubicBezTo>
                <a:cubicBezTo>
                  <a:pt x="104715" y="277892"/>
                  <a:pt x="108585" y="272415"/>
                  <a:pt x="112276" y="266700"/>
                </a:cubicBezTo>
                <a:lnTo>
                  <a:pt x="247650" y="266700"/>
                </a:lnTo>
                <a:cubicBezTo>
                  <a:pt x="258187" y="266700"/>
                  <a:pt x="266700" y="258187"/>
                  <a:pt x="266700" y="247650"/>
                </a:cubicBezTo>
                <a:cubicBezTo>
                  <a:pt x="266700" y="237113"/>
                  <a:pt x="258187" y="228600"/>
                  <a:pt x="247650" y="228600"/>
                </a:cubicBezTo>
                <a:lnTo>
                  <a:pt x="190500" y="228600"/>
                </a:lnTo>
                <a:cubicBezTo>
                  <a:pt x="158948" y="228600"/>
                  <a:pt x="133350" y="203002"/>
                  <a:pt x="133350" y="171450"/>
                </a:cubicBezTo>
                <a:cubicBezTo>
                  <a:pt x="133350" y="139898"/>
                  <a:pt x="158948" y="114300"/>
                  <a:pt x="190500" y="114300"/>
                </a:cubicBezTo>
                <a:lnTo>
                  <a:pt x="214193" y="114300"/>
                </a:lnTo>
                <a:cubicBezTo>
                  <a:pt x="201692" y="95548"/>
                  <a:pt x="190500" y="73997"/>
                  <a:pt x="190500" y="57150"/>
                </a:cubicBezTo>
                <a:cubicBezTo>
                  <a:pt x="190500" y="25598"/>
                  <a:pt x="216098" y="0"/>
                  <a:pt x="247650" y="0"/>
                </a:cubicBezTo>
                <a:cubicBezTo>
                  <a:pt x="279202" y="0"/>
                  <a:pt x="304800" y="25598"/>
                  <a:pt x="304800" y="57150"/>
                </a:cubicBezTo>
                <a:close/>
                <a:moveTo>
                  <a:pt x="69711" y="291167"/>
                </a:moveTo>
                <a:cubicBezTo>
                  <a:pt x="67449" y="293727"/>
                  <a:pt x="65425" y="295989"/>
                  <a:pt x="63698" y="297894"/>
                </a:cubicBezTo>
                <a:lnTo>
                  <a:pt x="62627" y="299085"/>
                </a:lnTo>
                <a:lnTo>
                  <a:pt x="62508" y="298966"/>
                </a:lnTo>
                <a:cubicBezTo>
                  <a:pt x="58936" y="301704"/>
                  <a:pt x="53816" y="301347"/>
                  <a:pt x="50602" y="297894"/>
                </a:cubicBezTo>
                <a:cubicBezTo>
                  <a:pt x="35600" y="281583"/>
                  <a:pt x="0" y="239613"/>
                  <a:pt x="0" y="209550"/>
                </a:cubicBezTo>
                <a:cubicBezTo>
                  <a:pt x="0" y="177998"/>
                  <a:pt x="25598" y="152400"/>
                  <a:pt x="57150" y="152400"/>
                </a:cubicBezTo>
                <a:cubicBezTo>
                  <a:pt x="88702" y="152400"/>
                  <a:pt x="114300" y="177998"/>
                  <a:pt x="114300" y="209550"/>
                </a:cubicBezTo>
                <a:cubicBezTo>
                  <a:pt x="114300" y="227409"/>
                  <a:pt x="101739" y="249436"/>
                  <a:pt x="88404" y="267831"/>
                </a:cubicBezTo>
                <a:cubicBezTo>
                  <a:pt x="82034" y="276582"/>
                  <a:pt x="75486" y="284500"/>
                  <a:pt x="70068" y="290751"/>
                </a:cubicBezTo>
                <a:lnTo>
                  <a:pt x="69711" y="291167"/>
                </a:lnTo>
                <a:close/>
                <a:moveTo>
                  <a:pt x="76200" y="209550"/>
                </a:moveTo>
                <a:cubicBezTo>
                  <a:pt x="76200" y="199036"/>
                  <a:pt x="67664" y="190500"/>
                  <a:pt x="57150" y="190500"/>
                </a:cubicBezTo>
                <a:cubicBezTo>
                  <a:pt x="46636" y="190500"/>
                  <a:pt x="38100" y="199036"/>
                  <a:pt x="38100" y="209550"/>
                </a:cubicBezTo>
                <a:cubicBezTo>
                  <a:pt x="38100" y="220064"/>
                  <a:pt x="46636" y="228600"/>
                  <a:pt x="57150" y="228600"/>
                </a:cubicBezTo>
                <a:cubicBezTo>
                  <a:pt x="67664" y="228600"/>
                  <a:pt x="76200" y="220064"/>
                  <a:pt x="76200" y="209550"/>
                </a:cubicBezTo>
                <a:close/>
                <a:moveTo>
                  <a:pt x="247650" y="76200"/>
                </a:moveTo>
                <a:cubicBezTo>
                  <a:pt x="258164" y="76200"/>
                  <a:pt x="266700" y="67664"/>
                  <a:pt x="266700" y="57150"/>
                </a:cubicBezTo>
                <a:cubicBezTo>
                  <a:pt x="266700" y="46636"/>
                  <a:pt x="258164" y="38100"/>
                  <a:pt x="247650" y="38100"/>
                </a:cubicBezTo>
                <a:cubicBezTo>
                  <a:pt x="237136" y="38100"/>
                  <a:pt x="228600" y="46636"/>
                  <a:pt x="228600" y="57150"/>
                </a:cubicBezTo>
                <a:cubicBezTo>
                  <a:pt x="228600" y="67664"/>
                  <a:pt x="237136" y="76200"/>
                  <a:pt x="247650" y="762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06500" y="46355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Predetermined Flow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Fixed execution order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81050" y="533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5" name="Text 13"/>
          <p:cNvSpPr/>
          <p:nvPr/>
        </p:nvSpPr>
        <p:spPr>
          <a:xfrm>
            <a:off x="1206500" y="54610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Passing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Info shared via parameters or globals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41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858000"/>
            <a:ext cx="1778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6858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40000" y="7073900"/>
            <a:ext cx="381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2921000" y="6858000"/>
            <a:ext cx="1778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2921000" y="6858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Data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99000" y="7073900"/>
            <a:ext cx="381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5080000" y="6858000"/>
            <a:ext cx="1778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4" name="Text 22"/>
          <p:cNvSpPr/>
          <p:nvPr/>
        </p:nvSpPr>
        <p:spPr>
          <a:xfrm>
            <a:off x="5080000" y="6858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858000" y="7073900"/>
            <a:ext cx="381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7239000" y="6858000"/>
            <a:ext cx="1778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7" name="Text 25"/>
          <p:cNvSpPr/>
          <p:nvPr/>
        </p:nvSpPr>
        <p:spPr>
          <a:xfrm>
            <a:off x="7239000" y="6858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017000" y="7073900"/>
            <a:ext cx="381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9398000" y="6858000"/>
            <a:ext cx="1778000" cy="508000"/>
          </a:xfrm>
          <a:prstGeom prst="roundRect">
            <a:avLst>
              <a:gd name="adj" fmla="val 6000"/>
            </a:avLst>
          </a:prstGeom>
          <a:solidFill>
            <a:srgbClr val="6B8F9E"/>
          </a:solidFill>
          <a:ln/>
        </p:spPr>
      </p:sp>
      <p:sp>
        <p:nvSpPr>
          <p:cNvPr id="30" name="Text 28"/>
          <p:cNvSpPr/>
          <p:nvPr/>
        </p:nvSpPr>
        <p:spPr>
          <a:xfrm>
            <a:off x="9398000" y="6858000"/>
            <a:ext cx="177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747000"/>
            <a:ext cx="7112000" cy="635000"/>
          </a:xfrm>
          <a:prstGeom prst="roundRect">
            <a:avLst>
              <a:gd name="adj" fmla="val 4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54100" y="7899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33" name="Text 31"/>
          <p:cNvSpPr/>
          <p:nvPr/>
        </p:nvSpPr>
        <p:spPr>
          <a:xfrm>
            <a:off x="1460500" y="7810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program controls the flow — not the user.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1333500"/>
            <a:ext cx="7112000" cy="5207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35" name="Text 33"/>
          <p:cNvSpPr/>
          <p:nvPr/>
        </p:nvSpPr>
        <p:spPr>
          <a:xfrm>
            <a:off x="8636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CODE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36000" y="1841500"/>
            <a:ext cx="66040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Procedural style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main(String[] args)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 1: Read input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name = readInput();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 2: Process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result = process(name);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 3: Output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System.out.println(result);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Fixed sequence - always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runs in the same order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Event-Driven Programming?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8890000" cy="9525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838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Programming (EDP)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paradigm where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events determine program execution flow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program waits and reacts.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540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CORE CONCEPTS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048000"/>
            <a:ext cx="469900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225" y="323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3687" y="1736"/>
                </a:moveTo>
                <a:cubicBezTo>
                  <a:pt x="59313" y="-1111"/>
                  <a:pt x="66119" y="-486"/>
                  <a:pt x="71120" y="3334"/>
                </a:cubicBezTo>
                <a:lnTo>
                  <a:pt x="293370" y="169952"/>
                </a:lnTo>
                <a:cubicBezTo>
                  <a:pt x="299135" y="174258"/>
                  <a:pt x="301427" y="181759"/>
                  <a:pt x="299204" y="188565"/>
                </a:cubicBezTo>
                <a:cubicBezTo>
                  <a:pt x="296982" y="195372"/>
                  <a:pt x="290592" y="199956"/>
                  <a:pt x="283369" y="199956"/>
                </a:cubicBezTo>
                <a:lnTo>
                  <a:pt x="177592" y="199956"/>
                </a:lnTo>
                <a:lnTo>
                  <a:pt x="239335" y="323374"/>
                </a:lnTo>
                <a:cubicBezTo>
                  <a:pt x="244822" y="334347"/>
                  <a:pt x="240377" y="347682"/>
                  <a:pt x="229404" y="353169"/>
                </a:cubicBezTo>
                <a:cubicBezTo>
                  <a:pt x="218430" y="358656"/>
                  <a:pt x="205095" y="354211"/>
                  <a:pt x="199608" y="343237"/>
                </a:cubicBezTo>
                <a:lnTo>
                  <a:pt x="137864" y="219819"/>
                </a:lnTo>
                <a:lnTo>
                  <a:pt x="74454" y="304413"/>
                </a:lnTo>
                <a:cubicBezTo>
                  <a:pt x="70148" y="310178"/>
                  <a:pt x="62647" y="312470"/>
                  <a:pt x="55840" y="310247"/>
                </a:cubicBezTo>
                <a:cubicBezTo>
                  <a:pt x="49034" y="308025"/>
                  <a:pt x="44450" y="301635"/>
                  <a:pt x="44450" y="294481"/>
                </a:cubicBezTo>
                <a:lnTo>
                  <a:pt x="44450" y="16669"/>
                </a:lnTo>
                <a:cubicBezTo>
                  <a:pt x="44450" y="10349"/>
                  <a:pt x="47992" y="4584"/>
                  <a:pt x="53687" y="1736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0" name="Text 8"/>
          <p:cNvSpPr/>
          <p:nvPr/>
        </p:nvSpPr>
        <p:spPr>
          <a:xfrm>
            <a:off x="1498600" y="32131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68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object that generates the event (e.g., a button, text field)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3048000"/>
            <a:ext cx="469900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9000" y="323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63644" y="208"/>
                </a:moveTo>
                <a:cubicBezTo>
                  <a:pt x="257463" y="1042"/>
                  <a:pt x="251698" y="4514"/>
                  <a:pt x="248087" y="10001"/>
                </a:cubicBezTo>
                <a:cubicBezTo>
                  <a:pt x="243364" y="17224"/>
                  <a:pt x="243225" y="26739"/>
                  <a:pt x="247809" y="34032"/>
                </a:cubicBezTo>
                <a:cubicBezTo>
                  <a:pt x="251698" y="40213"/>
                  <a:pt x="258574" y="42853"/>
                  <a:pt x="264339" y="46881"/>
                </a:cubicBezTo>
                <a:cubicBezTo>
                  <a:pt x="269548" y="50492"/>
                  <a:pt x="276562" y="56049"/>
                  <a:pt x="283577" y="63689"/>
                </a:cubicBezTo>
                <a:cubicBezTo>
                  <a:pt x="297468" y="78760"/>
                  <a:pt x="311011" y="101402"/>
                  <a:pt x="311011" y="133350"/>
                </a:cubicBezTo>
                <a:cubicBezTo>
                  <a:pt x="311011" y="145643"/>
                  <a:pt x="320943" y="155575"/>
                  <a:pt x="333236" y="155575"/>
                </a:cubicBezTo>
                <a:cubicBezTo>
                  <a:pt x="345529" y="155575"/>
                  <a:pt x="355461" y="145643"/>
                  <a:pt x="355461" y="133350"/>
                </a:cubicBezTo>
                <a:cubicBezTo>
                  <a:pt x="355461" y="87511"/>
                  <a:pt x="335667" y="54590"/>
                  <a:pt x="316220" y="33546"/>
                </a:cubicBezTo>
                <a:cubicBezTo>
                  <a:pt x="306566" y="23058"/>
                  <a:pt x="296912" y="15419"/>
                  <a:pt x="289620" y="10418"/>
                </a:cubicBezTo>
                <a:cubicBezTo>
                  <a:pt x="281980" y="5140"/>
                  <a:pt x="273298" y="-1111"/>
                  <a:pt x="263505" y="208"/>
                </a:cubicBezTo>
                <a:close/>
                <a:moveTo>
                  <a:pt x="166688" y="88900"/>
                </a:moveTo>
                <a:cubicBezTo>
                  <a:pt x="126683" y="88900"/>
                  <a:pt x="93692" y="119182"/>
                  <a:pt x="89386" y="158006"/>
                </a:cubicBezTo>
                <a:cubicBezTo>
                  <a:pt x="88067" y="170230"/>
                  <a:pt x="77024" y="178981"/>
                  <a:pt x="64869" y="177661"/>
                </a:cubicBezTo>
                <a:cubicBezTo>
                  <a:pt x="52715" y="176341"/>
                  <a:pt x="43894" y="165298"/>
                  <a:pt x="45214" y="153144"/>
                </a:cubicBezTo>
                <a:cubicBezTo>
                  <a:pt x="51951" y="92025"/>
                  <a:pt x="103763" y="44450"/>
                  <a:pt x="166688" y="44450"/>
                </a:cubicBezTo>
                <a:cubicBezTo>
                  <a:pt x="234196" y="44450"/>
                  <a:pt x="288925" y="99179"/>
                  <a:pt x="288925" y="166688"/>
                </a:cubicBezTo>
                <a:cubicBezTo>
                  <a:pt x="288925" y="198636"/>
                  <a:pt x="276632" y="227737"/>
                  <a:pt x="256560" y="249545"/>
                </a:cubicBezTo>
                <a:cubicBezTo>
                  <a:pt x="248225" y="258574"/>
                  <a:pt x="244475" y="266769"/>
                  <a:pt x="244475" y="273645"/>
                </a:cubicBezTo>
                <a:lnTo>
                  <a:pt x="244475" y="277882"/>
                </a:lnTo>
                <a:cubicBezTo>
                  <a:pt x="244475" y="320873"/>
                  <a:pt x="209679" y="355669"/>
                  <a:pt x="166688" y="355669"/>
                </a:cubicBezTo>
                <a:cubicBezTo>
                  <a:pt x="154394" y="355669"/>
                  <a:pt x="144463" y="345738"/>
                  <a:pt x="144463" y="333444"/>
                </a:cubicBezTo>
                <a:cubicBezTo>
                  <a:pt x="144463" y="321151"/>
                  <a:pt x="154394" y="311219"/>
                  <a:pt x="166688" y="311219"/>
                </a:cubicBezTo>
                <a:cubicBezTo>
                  <a:pt x="185093" y="311219"/>
                  <a:pt x="200025" y="296287"/>
                  <a:pt x="200025" y="277882"/>
                </a:cubicBezTo>
                <a:lnTo>
                  <a:pt x="200025" y="273645"/>
                </a:lnTo>
                <a:cubicBezTo>
                  <a:pt x="200025" y="250795"/>
                  <a:pt x="212110" y="232251"/>
                  <a:pt x="223917" y="219472"/>
                </a:cubicBezTo>
                <a:cubicBezTo>
                  <a:pt x="236696" y="205581"/>
                  <a:pt x="244475" y="187107"/>
                  <a:pt x="244475" y="166757"/>
                </a:cubicBezTo>
                <a:cubicBezTo>
                  <a:pt x="244475" y="123765"/>
                  <a:pt x="209679" y="88969"/>
                  <a:pt x="166688" y="88969"/>
                </a:cubicBezTo>
                <a:close/>
                <a:moveTo>
                  <a:pt x="0" y="333375"/>
                </a:moveTo>
                <a:cubicBezTo>
                  <a:pt x="0" y="321109"/>
                  <a:pt x="9959" y="311150"/>
                  <a:pt x="22225" y="311150"/>
                </a:cubicBezTo>
                <a:cubicBezTo>
                  <a:pt x="34491" y="311150"/>
                  <a:pt x="44450" y="321109"/>
                  <a:pt x="44450" y="333375"/>
                </a:cubicBezTo>
                <a:cubicBezTo>
                  <a:pt x="44450" y="345641"/>
                  <a:pt x="34491" y="355600"/>
                  <a:pt x="22225" y="355600"/>
                </a:cubicBezTo>
                <a:cubicBezTo>
                  <a:pt x="9959" y="355600"/>
                  <a:pt x="0" y="345641"/>
                  <a:pt x="0" y="333375"/>
                </a:cubicBezTo>
                <a:close/>
                <a:moveTo>
                  <a:pt x="111125" y="266700"/>
                </a:moveTo>
                <a:cubicBezTo>
                  <a:pt x="123391" y="266700"/>
                  <a:pt x="133350" y="256741"/>
                  <a:pt x="133350" y="244475"/>
                </a:cubicBezTo>
                <a:cubicBezTo>
                  <a:pt x="133350" y="232209"/>
                  <a:pt x="123391" y="222250"/>
                  <a:pt x="111125" y="222250"/>
                </a:cubicBezTo>
                <a:cubicBezTo>
                  <a:pt x="98859" y="222250"/>
                  <a:pt x="88900" y="232209"/>
                  <a:pt x="88900" y="244475"/>
                </a:cubicBezTo>
                <a:cubicBezTo>
                  <a:pt x="88900" y="256741"/>
                  <a:pt x="98859" y="266700"/>
                  <a:pt x="111125" y="266700"/>
                </a:cubicBezTo>
                <a:close/>
                <a:moveTo>
                  <a:pt x="60146" y="251004"/>
                </a:moveTo>
                <a:cubicBezTo>
                  <a:pt x="51465" y="242322"/>
                  <a:pt x="37366" y="242322"/>
                  <a:pt x="28684" y="251004"/>
                </a:cubicBezTo>
                <a:cubicBezTo>
                  <a:pt x="20003" y="259685"/>
                  <a:pt x="20003" y="273784"/>
                  <a:pt x="28684" y="282466"/>
                </a:cubicBezTo>
                <a:lnTo>
                  <a:pt x="73134" y="326916"/>
                </a:lnTo>
                <a:cubicBezTo>
                  <a:pt x="81816" y="335598"/>
                  <a:pt x="95915" y="335598"/>
                  <a:pt x="104596" y="326916"/>
                </a:cubicBezTo>
                <a:cubicBezTo>
                  <a:pt x="113278" y="318234"/>
                  <a:pt x="113278" y="304135"/>
                  <a:pt x="104596" y="295454"/>
                </a:cubicBezTo>
                <a:lnTo>
                  <a:pt x="60146" y="251004"/>
                </a:lnTo>
                <a:close/>
                <a:moveTo>
                  <a:pt x="166688" y="144463"/>
                </a:moveTo>
                <a:cubicBezTo>
                  <a:pt x="154394" y="144463"/>
                  <a:pt x="144463" y="154394"/>
                  <a:pt x="144463" y="166688"/>
                </a:cubicBezTo>
                <a:cubicBezTo>
                  <a:pt x="144463" y="175925"/>
                  <a:pt x="137031" y="183356"/>
                  <a:pt x="127794" y="183356"/>
                </a:cubicBezTo>
                <a:cubicBezTo>
                  <a:pt x="118556" y="183356"/>
                  <a:pt x="111125" y="175925"/>
                  <a:pt x="111125" y="166688"/>
                </a:cubicBezTo>
                <a:cubicBezTo>
                  <a:pt x="111125" y="135989"/>
                  <a:pt x="135989" y="111125"/>
                  <a:pt x="166688" y="111125"/>
                </a:cubicBezTo>
                <a:cubicBezTo>
                  <a:pt x="197386" y="111125"/>
                  <a:pt x="222250" y="135989"/>
                  <a:pt x="222250" y="166688"/>
                </a:cubicBezTo>
                <a:cubicBezTo>
                  <a:pt x="222250" y="175925"/>
                  <a:pt x="214819" y="183356"/>
                  <a:pt x="205581" y="183356"/>
                </a:cubicBezTo>
                <a:cubicBezTo>
                  <a:pt x="196344" y="183356"/>
                  <a:pt x="188913" y="175925"/>
                  <a:pt x="188913" y="166688"/>
                </a:cubicBezTo>
                <a:cubicBezTo>
                  <a:pt x="188913" y="154394"/>
                  <a:pt x="178981" y="144463"/>
                  <a:pt x="166688" y="144463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32131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3683000"/>
            <a:ext cx="4191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Waits for and detects events, then triggers the handler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3048000"/>
            <a:ext cx="482600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44225" y="3238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04600" y="32131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Handler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3683000"/>
            <a:ext cx="431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callback function that executes in response to an event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762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EVENTS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207000"/>
            <a:ext cx="3556000" cy="571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207000"/>
            <a:ext cx="355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Actions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Mouse, Keyboard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08500" y="5207000"/>
            <a:ext cx="3556000" cy="571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4" name="Text 22"/>
          <p:cNvSpPr/>
          <p:nvPr/>
        </p:nvSpPr>
        <p:spPr>
          <a:xfrm>
            <a:off x="4508500" y="5207000"/>
            <a:ext cx="355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Events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Timers, Files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55000" y="5207000"/>
            <a:ext cx="3556000" cy="571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6" name="Text 24"/>
          <p:cNvSpPr/>
          <p:nvPr/>
        </p:nvSpPr>
        <p:spPr>
          <a:xfrm>
            <a:off x="8255000" y="5207000"/>
            <a:ext cx="355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Messages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Other Programs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001500" y="5207000"/>
            <a:ext cx="3492500" cy="571500"/>
          </a:xfrm>
          <a:prstGeom prst="roundRect">
            <a:avLst>
              <a:gd name="adj" fmla="val 6000"/>
            </a:avLst>
          </a:prstGeom>
          <a:solidFill>
            <a:srgbClr val="6B8F9E"/>
          </a:solidFill>
          <a:ln/>
        </p:spPr>
      </p:sp>
      <p:sp>
        <p:nvSpPr>
          <p:cNvPr id="28" name="Text 26"/>
          <p:cNvSpPr/>
          <p:nvPr/>
        </p:nvSpPr>
        <p:spPr>
          <a:xfrm>
            <a:off x="12001500" y="5207000"/>
            <a:ext cx="3492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Sensor Outputs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IoT Devices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6096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604000"/>
            <a:ext cx="2286000" cy="6350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6604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48000" y="6883400"/>
            <a:ext cx="635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3683000" y="6604000"/>
            <a:ext cx="2286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4" name="Text 32"/>
          <p:cNvSpPr/>
          <p:nvPr/>
        </p:nvSpPr>
        <p:spPr>
          <a:xfrm>
            <a:off x="3683000" y="6604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Occurs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969000" y="6883400"/>
            <a:ext cx="635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6604000" y="6604000"/>
            <a:ext cx="2286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7" name="Text 35"/>
          <p:cNvSpPr/>
          <p:nvPr/>
        </p:nvSpPr>
        <p:spPr>
          <a:xfrm>
            <a:off x="6604000" y="6604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 Detects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890000" y="6883400"/>
            <a:ext cx="635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9525000" y="6604000"/>
            <a:ext cx="2286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40" name="Text 38"/>
          <p:cNvSpPr/>
          <p:nvPr/>
        </p:nvSpPr>
        <p:spPr>
          <a:xfrm>
            <a:off x="9525000" y="6604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Handler Executes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811000" y="6883400"/>
            <a:ext cx="635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12446000" y="6604000"/>
            <a:ext cx="2286000" cy="635000"/>
          </a:xfrm>
          <a:prstGeom prst="roundRect">
            <a:avLst>
              <a:gd name="adj" fmla="val 6000"/>
            </a:avLst>
          </a:prstGeom>
          <a:solidFill>
            <a:srgbClr val="6B8F9E"/>
          </a:solidFill>
          <a:ln/>
        </p:spPr>
      </p:sp>
      <p:sp>
        <p:nvSpPr>
          <p:cNvPr id="43" name="Text 41"/>
          <p:cNvSpPr/>
          <p:nvPr/>
        </p:nvSpPr>
        <p:spPr>
          <a:xfrm>
            <a:off x="12446000" y="6604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Updates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000" y="7620000"/>
            <a:ext cx="14732000" cy="635000"/>
          </a:xfrm>
          <a:prstGeom prst="roundRect">
            <a:avLst>
              <a:gd name="adj" fmla="val 3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054100" y="77724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46" name="Text 44"/>
          <p:cNvSpPr/>
          <p:nvPr/>
        </p:nvSpPr>
        <p:spPr>
          <a:xfrm>
            <a:off x="1460500" y="7683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user controls the flow — not the program. EDP is the foundation of GUI applications.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Procedural vs Event-Driven Programming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6096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728453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Dimension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Procedural Programming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Event-Driven Programming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8945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Execution Flow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Sequential and predetermined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Determined by external events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45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Program-driven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User-driven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8945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Functions and procedures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Event sources, listeners, handlers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45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Data processing, calculations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GUI applications, interactive systems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8945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Organization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Top-down function calls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Event registration and callbacks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9459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Flexibility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Fixed execution order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Dynamic response to stimuli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747000"/>
            <a:ext cx="14732000" cy="635000"/>
          </a:xfrm>
          <a:prstGeom prst="roundRect">
            <a:avLst>
              <a:gd name="adj" fmla="val 3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16000" y="7886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8" name="Text 5"/>
          <p:cNvSpPr/>
          <p:nvPr/>
        </p:nvSpPr>
        <p:spPr>
          <a:xfrm>
            <a:off x="1460500" y="7810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Both paradigms can coexist — event-driven systems often use procedural code within event handlers.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udqyr7nww3t2/mnt/agents/output/acp-week8/images/2_Abstract_glowing_coding_big_dat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2B38">
                  <a:alpha val="94000"/>
                </a:srgbClr>
              </a:gs>
              <a:gs pos="60000">
                <a:srgbClr val="162B38">
                  <a:alpha val="88000"/>
                </a:srgbClr>
              </a:gs>
              <a:gs pos="100000">
                <a:srgbClr val="162B38">
                  <a:alpha val="6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D4763A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292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— CONTINUED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365500"/>
            <a:ext cx="762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619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Classes &amp; Event Information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4445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Java event class hierarchy and extracting event data from event objects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715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Event Class Hierarchy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EventObject Class &amp; Common Methods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Event Class Hierarchy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 HIERARCHY DIAGRAM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23000" y="1778000"/>
            <a:ext cx="3810000" cy="482600"/>
          </a:xfrm>
          <a:prstGeom prst="roundRect">
            <a:avLst>
              <a:gd name="adj" fmla="val 6000"/>
            </a:avLst>
          </a:prstGeom>
          <a:solidFill>
            <a:srgbClr val="6B8F9E"/>
          </a:solidFill>
          <a:ln/>
        </p:spPr>
      </p:sp>
      <p:sp>
        <p:nvSpPr>
          <p:cNvPr id="7" name="Text 5"/>
          <p:cNvSpPr/>
          <p:nvPr/>
        </p:nvSpPr>
        <p:spPr>
          <a:xfrm>
            <a:off x="6223000" y="1778000"/>
            <a:ext cx="381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java.lang.Object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2260600"/>
            <a:ext cx="0" cy="2794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5588000" y="2540000"/>
            <a:ext cx="5080000" cy="4826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0" name="Text 8"/>
          <p:cNvSpPr/>
          <p:nvPr/>
        </p:nvSpPr>
        <p:spPr>
          <a:xfrm>
            <a:off x="5588000" y="2540000"/>
            <a:ext cx="508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java.util.EventObject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3022600"/>
            <a:ext cx="0" cy="2794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5842000" y="3302000"/>
            <a:ext cx="4572000" cy="4826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3302000"/>
            <a:ext cx="4572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java.awt.AWTEvent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88000" y="3784600"/>
            <a:ext cx="0" cy="3810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0668000" y="3784600"/>
            <a:ext cx="0" cy="3810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2286000" y="4165600"/>
            <a:ext cx="3302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0668000" y="4165600"/>
            <a:ext cx="3302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62000" y="4254500"/>
            <a:ext cx="3048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254500"/>
            <a:ext cx="304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ComponentEvent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64000" y="4254500"/>
            <a:ext cx="2540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1" name="Text 19"/>
          <p:cNvSpPr/>
          <p:nvPr/>
        </p:nvSpPr>
        <p:spPr>
          <a:xfrm>
            <a:off x="4064000" y="4254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ActionEvent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0" y="4254500"/>
            <a:ext cx="2540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254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ItemEvent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52000" y="4254500"/>
            <a:ext cx="2540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5" name="Text 23"/>
          <p:cNvSpPr/>
          <p:nvPr/>
        </p:nvSpPr>
        <p:spPr>
          <a:xfrm>
            <a:off x="9652000" y="4254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WindowEvent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46000" y="4254500"/>
            <a:ext cx="3048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7" name="Text 25"/>
          <p:cNvSpPr/>
          <p:nvPr/>
        </p:nvSpPr>
        <p:spPr>
          <a:xfrm>
            <a:off x="12446000" y="4254500"/>
            <a:ext cx="304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TextEvent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286000" y="4699000"/>
            <a:ext cx="0" cy="3175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1016000" y="5016500"/>
            <a:ext cx="2540000" cy="4445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5016500"/>
            <a:ext cx="254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InputEvent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70000" y="5461000"/>
            <a:ext cx="0" cy="3175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3302000" y="5461000"/>
            <a:ext cx="0" cy="31750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270000" y="5778500"/>
            <a:ext cx="20320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762000" y="5842000"/>
            <a:ext cx="2032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5842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MouseEvent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048000" y="5842000"/>
            <a:ext cx="2032000" cy="444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7" name="Text 35"/>
          <p:cNvSpPr/>
          <p:nvPr/>
        </p:nvSpPr>
        <p:spPr>
          <a:xfrm>
            <a:off x="3048000" y="58420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KeyEvent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6731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6858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6000" y="7239000"/>
            <a:ext cx="1422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All event classes are in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java.awt.event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javax.swing.event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packages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EventObject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defines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getSource()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which returns the object that fired the event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Understanding this hierarchy is essential for writing correct event handlers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EventObject Class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CLASS FOR ALL EVENTS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778000"/>
            <a:ext cx="711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EventObject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C2C2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root class for all events in Java. Every event-listener method receives a single argument — an object that inherits from EventObject.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3175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3302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746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getSource()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Returns the Object that fired the 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getComponent()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Returns the Component (more specific than getSource)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getWhen()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Timestamp of when the event occurred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getID()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event type identifier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715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SUBCLASS-SPECIFIC METHODS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6096000"/>
            <a:ext cx="711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MouseEvent: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getX(), getY(), getClickCount(), getButton()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KeyEvent: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getKeyCode(), getKeyChar(), isActionKey()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ActionEvent: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getActionCommand(), getModifiers()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WindowEvent: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getWindow(), getOppositeWindow()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1333500"/>
            <a:ext cx="7112000" cy="6921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USAGE EXAMPLE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1841500"/>
            <a:ext cx="6604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Event handler receiving EventObject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actionPerformed(ActionEvent e) {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the source component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source = e.getSource();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btn = (JButton) source;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Get action command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cmd = e.getActionCommand();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Check which button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(cmd.equals("OK")) {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handleOk();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Low-Level Events vs Semantic Events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68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33500"/>
            <a:ext cx="7175500" cy="5715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335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LOW-LEVEL EVENTS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574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by physical devices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 clicks, moves, drags, enters, exits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presses, releases, typed characters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 opened, closed, iconified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gained or lost on a component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 moved, resized, visibility changed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18500" y="1333500"/>
            <a:ext cx="7175500" cy="68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18500" y="1333500"/>
            <a:ext cx="7175500" cy="571500"/>
          </a:xfrm>
          <a:prstGeom prst="roundRect">
            <a:avLst>
              <a:gd name="adj" fmla="val 3000"/>
            </a:avLst>
          </a:prstGeom>
          <a:solidFill>
            <a:srgbClr val="D4763A"/>
          </a:solidFill>
          <a:ln/>
        </p:spPr>
      </p:sp>
      <p:sp>
        <p:nvSpPr>
          <p:cNvPr id="12" name="Text 10"/>
          <p:cNvSpPr/>
          <p:nvPr/>
        </p:nvSpPr>
        <p:spPr>
          <a:xfrm>
            <a:off x="8318500" y="1333500"/>
            <a:ext cx="717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SEMANTIC EVENTS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20574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i="1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by logical user actions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72500" y="2540000"/>
            <a:ext cx="6604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Button click, menu selection, Enter in text field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Checkbox/radio button selected or deselected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AdjustmentEvent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Scrollbar adjustment, slider moved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field or text area content changed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i="1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Semantic events are higher-level abstractions that may be triggered by multiple low-level events.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Commonly Used Event Classes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6858000"/>
        </p:xfrm>
        <a:graphic>
          <a:graphicData uri="http://schemas.openxmlformats.org/drawingml/2006/table">
            <a:tbl>
              <a:tblPr/>
              <a:tblGrid>
                <a:gridCol w="2651760"/>
                <a:gridCol w="3977640"/>
                <a:gridCol w="8102600"/>
              </a:tblGrid>
              <a:tr h="68326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Event Class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Listener Interface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ActionListener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Component-defined action: button click, menu selection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MouseListener, MouseMotionListener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 interactions: clicks, moves, drags, enters, exits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Keyboard input: key presses, releases, typed characters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status changes: opened, closed, iconified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Item selection/deselection: checkboxes, radio buttons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Focus changes: gained or lost input focus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 changes: moved, resized, visibility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1841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AdjustmentEvent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AdjustmentListener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Scrollbar adjustments and slider movements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Getting Information from Events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METHODS (ALL EVENT TYPES)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7112000" cy="1778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getSource() / getComponent()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Identify the event source object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getWhen()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Timestamp of when event occurred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getID()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The event type identifier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381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MOUSEEVENT-SPECIFIC METHODS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91000"/>
          <a:ext cx="7112000" cy="1905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getX(), getY(), getPoint()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Cursor position relative to source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getClickCount()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consecutive clicks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getButton()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Which button changed state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isPopupTrigger()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Platform-specific popup trigger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38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KEYEVENT-SPECIFIC METHODS</a:t>
            </a:r>
            <a:endParaRPr lang="en-US" sz="16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778000"/>
          <a:ext cx="7112000" cy="1524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getKeyCode()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Virtual key code (VK_A, VK_ENTER...)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getKeyChar()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Unicode character value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isActionKey()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Whether it's an action key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8382000" y="355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MODIFIER KEY METHODS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382000" y="3937000"/>
            <a:ext cx="7112000" cy="2349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13" name="Text 8"/>
          <p:cNvSpPr/>
          <p:nvPr/>
        </p:nvSpPr>
        <p:spPr>
          <a:xfrm>
            <a:off x="8636000" y="4064000"/>
            <a:ext cx="6604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isAltDown()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Alt key was pressed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isControlDown()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Ctrl key was pressed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isShiftDown()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Shift key was pressed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isMetaDown()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Meta key was pressed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getModifiers()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All modifier states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762000" y="6477000"/>
            <a:ext cx="14732000" cy="1651000"/>
          </a:xfrm>
          <a:prstGeom prst="roundRect">
            <a:avLst>
              <a:gd name="adj" fmla="val 3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5" name="Shape 10"/>
          <p:cNvSpPr/>
          <p:nvPr/>
        </p:nvSpPr>
        <p:spPr>
          <a:xfrm>
            <a:off x="1054100" y="6667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6" name="Text 11"/>
          <p:cNvSpPr/>
          <p:nvPr/>
        </p:nvSpPr>
        <p:spPr>
          <a:xfrm>
            <a:off x="1460500" y="660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016000" y="7048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specific method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available. For example, use getComponent() instead of getSource() when you know the source is a Component — this avoids unnecessary casting and makes your code more readable and type-safe.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User Actions — ActionEvent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12000" cy="7620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ActionEvent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indicates a component-defined action occurred.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TRIGGERED BY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94000"/>
            <a:ext cx="342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794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Clicking a Button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81500" y="2794000"/>
            <a:ext cx="342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1" name="Text 9"/>
          <p:cNvSpPr/>
          <p:nvPr/>
        </p:nvSpPr>
        <p:spPr>
          <a:xfrm>
            <a:off x="4381500" y="27940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Double-clicking a List Item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492500"/>
            <a:ext cx="342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4925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Selecting a Menu Item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1500" y="3492500"/>
            <a:ext cx="342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5" name="Text 13"/>
          <p:cNvSpPr/>
          <p:nvPr/>
        </p:nvSpPr>
        <p:spPr>
          <a:xfrm>
            <a:off x="4381500" y="3492500"/>
            <a:ext cx="342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Pressing Enter in Text Field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254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USEFUL METHODS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635500"/>
          <a:ext cx="7112000" cy="1651000"/>
        </p:xfrm>
        <a:graphic>
          <a:graphicData uri="http://schemas.openxmlformats.org/drawingml/2006/table">
            <a:tbl>
              <a:tblPr/>
              <a:tblGrid>
                <a:gridCol w="3200400"/>
                <a:gridCol w="39116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getActionCommand()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the command string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getSource()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the event source object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getModifiers()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Modifier keys held during event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654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 INTERFACE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" y="6921500"/>
            <a:ext cx="7112000" cy="1206500"/>
          </a:xfrm>
          <a:prstGeom prst="roundRect">
            <a:avLst>
              <a:gd name="adj" fmla="val 4000"/>
            </a:avLst>
          </a:prstGeom>
          <a:solidFill>
            <a:srgbClr val="E8F0F4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000" y="70485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ActionListener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interface has one method: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actionPerformed(ActionEvent e)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82000" y="1333500"/>
            <a:ext cx="7112000" cy="6921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22" name="Text 19"/>
          <p:cNvSpPr/>
          <p:nvPr/>
        </p:nvSpPr>
        <p:spPr>
          <a:xfrm>
            <a:off x="8636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636000" y="1841500"/>
            <a:ext cx="6604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Create button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btn = </a:t>
            </a:r>
            <a:pPr>
              <a:lnSpc>
                <a:spcPct val="155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 Me"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Add ActionListener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btn.addActionListener(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ActionListener() {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ActionEvent e) {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cmd =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e.getActionCommand();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"Clicked: "</a:t>
            </a:r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cmd);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User Actions — MouseEvent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MOUSELISTENER (5 METHODS)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7112000" cy="20955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Called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mouseClicked()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After mouse button press and release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mousePressed()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mouse button is pushed down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mouseReleased()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mouse button is released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mouseEntered()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cursor enters component bounds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mouseExited()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cursor exits component bounds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4127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MOUSEMOTIONLISTENER (2 METHODS)</a:t>
            </a:r>
            <a:endParaRPr lang="en-US" sz="16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572000"/>
          <a:ext cx="7112000" cy="11430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Called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mouseMoved()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mouse position changes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mouseDragged()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mouse is dragged (button held)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CLICK EVENT SEQUENCE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762000" y="6413500"/>
            <a:ext cx="2159000" cy="5080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11" name="Text 7"/>
          <p:cNvSpPr/>
          <p:nvPr/>
        </p:nvSpPr>
        <p:spPr>
          <a:xfrm>
            <a:off x="762000" y="6413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MOUSE_PRESSED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2921000" y="6642100"/>
            <a:ext cx="3175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13" name="Shape 9"/>
          <p:cNvSpPr/>
          <p:nvPr/>
        </p:nvSpPr>
        <p:spPr>
          <a:xfrm>
            <a:off x="3238500" y="6413500"/>
            <a:ext cx="2159000" cy="5080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14" name="Text 10"/>
          <p:cNvSpPr/>
          <p:nvPr/>
        </p:nvSpPr>
        <p:spPr>
          <a:xfrm>
            <a:off x="3238500" y="6413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MOUSE_RELEASED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397500" y="6642100"/>
            <a:ext cx="317500" cy="0"/>
          </a:xfrm>
          <a:prstGeom prst="straightConnector1">
            <a:avLst/>
          </a:prstGeom>
          <a:noFill/>
          <a:ln w="25400">
            <a:solidFill>
              <a:srgbClr val="6B8F9E"/>
            </a:solidFill>
            <a:prstDash val="solid"/>
            <a:headEnd type="none"/>
            <a:tailEnd type="arrow"/>
          </a:ln>
        </p:spPr>
      </p:sp>
      <p:sp>
        <p:nvSpPr>
          <p:cNvPr id="16" name="Shape 12"/>
          <p:cNvSpPr/>
          <p:nvPr/>
        </p:nvSpPr>
        <p:spPr>
          <a:xfrm>
            <a:off x="5715000" y="6413500"/>
            <a:ext cx="215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7" name="Text 13"/>
          <p:cNvSpPr/>
          <p:nvPr/>
        </p:nvSpPr>
        <p:spPr>
          <a:xfrm>
            <a:off x="5715000" y="6413500"/>
            <a:ext cx="2159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MOUSE_CLICKED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38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 IN MOUSEEVENT</a:t>
            </a:r>
            <a:endParaRPr lang="en-US" sz="1600" dirty="0"/>
          </a:p>
        </p:txBody>
      </p:sp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778000"/>
          <a:ext cx="7112000" cy="2476500"/>
        </p:xfrm>
        <a:graphic>
          <a:graphicData uri="http://schemas.openxmlformats.org/drawingml/2006/table">
            <a:tbl>
              <a:tblPr/>
              <a:tblGrid>
                <a:gridCol w="2844800"/>
                <a:gridCol w="42672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getX(), getY()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Position relative to source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getClickCount()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Number of consecutive clicks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getButton()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BUTTON1, BUTTON2, BUTTON3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isPopupTrigger()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Platform popup trigger check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getPoint()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Point object with x, y coordinates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5"/>
          <p:cNvSpPr/>
          <p:nvPr/>
        </p:nvSpPr>
        <p:spPr>
          <a:xfrm>
            <a:off x="8382000" y="4572000"/>
            <a:ext cx="7112000" cy="1397000"/>
          </a:xfrm>
          <a:prstGeom prst="roundRect">
            <a:avLst>
              <a:gd name="adj" fmla="val 3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8674100" y="4762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22" name="Text 17"/>
          <p:cNvSpPr/>
          <p:nvPr/>
        </p:nvSpPr>
        <p:spPr>
          <a:xfrm>
            <a:off x="9080500" y="469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TIP: USE MOUSEADAPTER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36000" y="5143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MouseAdapter instead of implementing MouseListener — it provides empty implementations for all 5 methods.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8382000" y="6223000"/>
            <a:ext cx="7112000" cy="2222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25" name="Text 20"/>
          <p:cNvSpPr/>
          <p:nvPr/>
        </p:nvSpPr>
        <p:spPr>
          <a:xfrm>
            <a:off x="8636000" y="6350000"/>
            <a:ext cx="6604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Using MouseAdapter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btn.addMouseListener(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MouseAdapter()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mouseClicked(MouseEvent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"Clicks: 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e.getClickCount());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User Actions — KeyEvent &amp; WindowEvent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7175500" cy="68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333500"/>
            <a:ext cx="7175500" cy="508000"/>
          </a:xfrm>
          <a:prstGeom prst="roundRect">
            <a:avLst>
              <a:gd name="adj" fmla="val 3000"/>
            </a:avLst>
          </a:prstGeom>
          <a:solidFill>
            <a:srgbClr val="1B3A4B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333500"/>
            <a:ext cx="717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KEYEVENT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006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by keyboard 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1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KEYLISTENER INTERFACE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768600"/>
          <a:ext cx="6604000" cy="1397000"/>
        </p:xfrm>
        <a:graphic>
          <a:graphicData uri="http://schemas.openxmlformats.org/drawingml/2006/table">
            <a:tbl>
              <a:tblPr/>
              <a:tblGrid>
                <a:gridCol w="2311400"/>
                <a:gridCol w="4292600"/>
              </a:tblGrid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Called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keyPressed()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a key is pushed down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keyReleased()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a key is released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keyTyped()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a Unicode character is typed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1016000" y="438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METHODS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47244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getKeyCode()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Virtual key code (VK_A, VK_ENTER...)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getKeyChar()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Unicode character value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isActionKey()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Function, arrow, Home, End keys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00" y="6350000"/>
            <a:ext cx="6604000" cy="571500"/>
          </a:xfrm>
          <a:prstGeom prst="roundRect">
            <a:avLst>
              <a:gd name="adj" fmla="val 4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206500" y="64135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keyPressed/keyReleased use key codes; keyTyped uses Unicode.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7048500"/>
            <a:ext cx="6604000" cy="1143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16" name="Text 13"/>
          <p:cNvSpPr/>
          <p:nvPr/>
        </p:nvSpPr>
        <p:spPr>
          <a:xfrm>
            <a:off x="1206500" y="7150100"/>
            <a:ext cx="6223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field.addKeyListener(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KeyAdapter()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keyPressed(KeyEvent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(e.getKeyCode() == KeyEvent.VK_ENTER) submit(); } });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318500" y="1333500"/>
            <a:ext cx="7175500" cy="6858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18500" y="1333500"/>
            <a:ext cx="7175500" cy="508000"/>
          </a:xfrm>
          <a:prstGeom prst="roundRect">
            <a:avLst>
              <a:gd name="adj" fmla="val 3000"/>
            </a:avLst>
          </a:prstGeom>
          <a:solidFill>
            <a:srgbClr val="D4763A"/>
          </a:solidFill>
          <a:ln/>
        </p:spPr>
      </p:sp>
      <p:sp>
        <p:nvSpPr>
          <p:cNvPr id="19" name="Text 16"/>
          <p:cNvSpPr/>
          <p:nvPr/>
        </p:nvSpPr>
        <p:spPr>
          <a:xfrm>
            <a:off x="8318500" y="1333500"/>
            <a:ext cx="717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WINDOWEVENT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72500" y="2006600"/>
            <a:ext cx="660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6B8F9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 by window status changes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572500" y="241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WINDOWLISTENER (7 METHODS)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2500" y="2768600"/>
          <a:ext cx="6604000" cy="2921000"/>
        </p:xfrm>
        <a:graphic>
          <a:graphicData uri="http://schemas.openxmlformats.org/drawingml/2006/table">
            <a:tbl>
              <a:tblPr/>
              <a:tblGrid>
                <a:gridCol w="2641600"/>
                <a:gridCol w="3962400"/>
              </a:tblGrid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When Called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windowOpened()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is first opened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windowClosing()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 attempts to close window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windowClosed()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has been closed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windowIconified()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is minimized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windowDeiconified()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is restored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windowActivated()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gains focus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windowDeactivated()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 loses focus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8572500" y="5969000"/>
            <a:ext cx="6604000" cy="571500"/>
          </a:xfrm>
          <a:prstGeom prst="roundRect">
            <a:avLst>
              <a:gd name="adj" fmla="val 4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8763000" y="6032500"/>
            <a:ext cx="6223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WindowAdapter to avoid implementing all 7 methods.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8572500" y="6667500"/>
            <a:ext cx="6604000" cy="1587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26" name="Text 22"/>
          <p:cNvSpPr/>
          <p:nvPr/>
        </p:nvSpPr>
        <p:spPr>
          <a:xfrm>
            <a:off x="8763000" y="6769100"/>
            <a:ext cx="6223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frame.addWindowListener(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WindowAdapter()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windowClosing(WindowEvent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System.exit(0);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15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4699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71" y="193496"/>
                </a:moveTo>
                <a:cubicBezTo>
                  <a:pt x="357753" y="184815"/>
                  <a:pt x="357753" y="170716"/>
                  <a:pt x="349071" y="162034"/>
                </a:cubicBezTo>
                <a:lnTo>
                  <a:pt x="237946" y="50909"/>
                </a:lnTo>
                <a:cubicBezTo>
                  <a:pt x="229265" y="42228"/>
                  <a:pt x="215166" y="42228"/>
                  <a:pt x="206484" y="50909"/>
                </a:cubicBezTo>
                <a:cubicBezTo>
                  <a:pt x="197803" y="59591"/>
                  <a:pt x="197803" y="73690"/>
                  <a:pt x="206484" y="82371"/>
                </a:cubicBezTo>
                <a:lnTo>
                  <a:pt x="279688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279688" y="200025"/>
                </a:lnTo>
                <a:lnTo>
                  <a:pt x="206484" y="273229"/>
                </a:lnTo>
                <a:cubicBezTo>
                  <a:pt x="197802" y="281910"/>
                  <a:pt x="197802" y="296009"/>
                  <a:pt x="206484" y="304691"/>
                </a:cubicBezTo>
                <a:cubicBezTo>
                  <a:pt x="215166" y="313373"/>
                  <a:pt x="229265" y="313373"/>
                  <a:pt x="237946" y="304691"/>
                </a:cubicBezTo>
                <a:lnTo>
                  <a:pt x="349071" y="193566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19685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Paradigms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8600" y="2324100"/>
            <a:ext cx="368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= sequential; Event-driven = user controls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15000" y="1841500"/>
            <a:ext cx="4699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69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33350" y="44450"/>
                </a:moveTo>
                <a:cubicBezTo>
                  <a:pt x="133350" y="32157"/>
                  <a:pt x="143282" y="22225"/>
                  <a:pt x="155575" y="22225"/>
                </a:cubicBezTo>
                <a:lnTo>
                  <a:pt x="200025" y="22225"/>
                </a:lnTo>
                <a:cubicBezTo>
                  <a:pt x="212318" y="22225"/>
                  <a:pt x="222250" y="32157"/>
                  <a:pt x="222250" y="44450"/>
                </a:cubicBezTo>
                <a:lnTo>
                  <a:pt x="222250" y="88900"/>
                </a:lnTo>
                <a:cubicBezTo>
                  <a:pt x="222250" y="101193"/>
                  <a:pt x="212318" y="111125"/>
                  <a:pt x="200025" y="111125"/>
                </a:cubicBezTo>
                <a:lnTo>
                  <a:pt x="194469" y="111125"/>
                </a:lnTo>
                <a:lnTo>
                  <a:pt x="194469" y="155575"/>
                </a:lnTo>
                <a:lnTo>
                  <a:pt x="277813" y="155575"/>
                </a:lnTo>
                <a:cubicBezTo>
                  <a:pt x="305455" y="155575"/>
                  <a:pt x="327819" y="177939"/>
                  <a:pt x="327819" y="205581"/>
                </a:cubicBezTo>
                <a:lnTo>
                  <a:pt x="327819" y="244475"/>
                </a:lnTo>
                <a:lnTo>
                  <a:pt x="333375" y="244475"/>
                </a:lnTo>
                <a:cubicBezTo>
                  <a:pt x="345668" y="244475"/>
                  <a:pt x="355600" y="254407"/>
                  <a:pt x="355600" y="266700"/>
                </a:cubicBezTo>
                <a:lnTo>
                  <a:pt x="355600" y="311150"/>
                </a:lnTo>
                <a:cubicBezTo>
                  <a:pt x="355600" y="323443"/>
                  <a:pt x="345668" y="333375"/>
                  <a:pt x="333375" y="333375"/>
                </a:cubicBezTo>
                <a:lnTo>
                  <a:pt x="288925" y="333375"/>
                </a:lnTo>
                <a:cubicBezTo>
                  <a:pt x="276632" y="333375"/>
                  <a:pt x="266700" y="323443"/>
                  <a:pt x="266700" y="311150"/>
                </a:cubicBezTo>
                <a:lnTo>
                  <a:pt x="266700" y="266700"/>
                </a:lnTo>
                <a:cubicBezTo>
                  <a:pt x="266700" y="254407"/>
                  <a:pt x="276632" y="244475"/>
                  <a:pt x="288925" y="244475"/>
                </a:cubicBezTo>
                <a:lnTo>
                  <a:pt x="294481" y="244475"/>
                </a:lnTo>
                <a:lnTo>
                  <a:pt x="294481" y="205581"/>
                </a:lnTo>
                <a:cubicBezTo>
                  <a:pt x="294481" y="196344"/>
                  <a:pt x="287050" y="188913"/>
                  <a:pt x="277813" y="188913"/>
                </a:cubicBezTo>
                <a:lnTo>
                  <a:pt x="194469" y="188913"/>
                </a:lnTo>
                <a:lnTo>
                  <a:pt x="194469" y="244475"/>
                </a:lnTo>
                <a:lnTo>
                  <a:pt x="200025" y="244475"/>
                </a:lnTo>
                <a:cubicBezTo>
                  <a:pt x="212318" y="244475"/>
                  <a:pt x="222250" y="254407"/>
                  <a:pt x="222250" y="266700"/>
                </a:cubicBezTo>
                <a:lnTo>
                  <a:pt x="222250" y="311150"/>
                </a:lnTo>
                <a:cubicBezTo>
                  <a:pt x="222250" y="323443"/>
                  <a:pt x="212318" y="333375"/>
                  <a:pt x="200025" y="333375"/>
                </a:cubicBezTo>
                <a:lnTo>
                  <a:pt x="155575" y="333375"/>
                </a:lnTo>
                <a:cubicBezTo>
                  <a:pt x="143282" y="333375"/>
                  <a:pt x="133350" y="323443"/>
                  <a:pt x="133350" y="311150"/>
                </a:cubicBezTo>
                <a:lnTo>
                  <a:pt x="133350" y="266700"/>
                </a:lnTo>
                <a:cubicBezTo>
                  <a:pt x="133350" y="254407"/>
                  <a:pt x="143282" y="244475"/>
                  <a:pt x="155575" y="244475"/>
                </a:cubicBezTo>
                <a:lnTo>
                  <a:pt x="161131" y="244475"/>
                </a:lnTo>
                <a:lnTo>
                  <a:pt x="161131" y="188913"/>
                </a:lnTo>
                <a:lnTo>
                  <a:pt x="77788" y="188913"/>
                </a:lnTo>
                <a:cubicBezTo>
                  <a:pt x="68550" y="188913"/>
                  <a:pt x="61119" y="196344"/>
                  <a:pt x="61119" y="205581"/>
                </a:cubicBezTo>
                <a:lnTo>
                  <a:pt x="61119" y="244475"/>
                </a:lnTo>
                <a:lnTo>
                  <a:pt x="66675" y="244475"/>
                </a:lnTo>
                <a:cubicBezTo>
                  <a:pt x="78968" y="244475"/>
                  <a:pt x="88900" y="254407"/>
                  <a:pt x="88900" y="266700"/>
                </a:cubicBezTo>
                <a:lnTo>
                  <a:pt x="88900" y="311150"/>
                </a:lnTo>
                <a:cubicBezTo>
                  <a:pt x="88900" y="323443"/>
                  <a:pt x="78968" y="333375"/>
                  <a:pt x="66675" y="333375"/>
                </a:cubicBezTo>
                <a:lnTo>
                  <a:pt x="22225" y="333375"/>
                </a:lnTo>
                <a:cubicBezTo>
                  <a:pt x="9932" y="333375"/>
                  <a:pt x="0" y="323443"/>
                  <a:pt x="0" y="311150"/>
                </a:cubicBezTo>
                <a:lnTo>
                  <a:pt x="0" y="266700"/>
                </a:lnTo>
                <a:cubicBezTo>
                  <a:pt x="0" y="254407"/>
                  <a:pt x="9932" y="244475"/>
                  <a:pt x="22225" y="244475"/>
                </a:cubicBezTo>
                <a:lnTo>
                  <a:pt x="27781" y="244475"/>
                </a:lnTo>
                <a:lnTo>
                  <a:pt x="27781" y="205581"/>
                </a:lnTo>
                <a:cubicBezTo>
                  <a:pt x="27781" y="177939"/>
                  <a:pt x="50145" y="155575"/>
                  <a:pt x="77788" y="155575"/>
                </a:cubicBezTo>
                <a:lnTo>
                  <a:pt x="161131" y="155575"/>
                </a:lnTo>
                <a:lnTo>
                  <a:pt x="161131" y="111125"/>
                </a:lnTo>
                <a:lnTo>
                  <a:pt x="155575" y="111125"/>
                </a:lnTo>
                <a:cubicBezTo>
                  <a:pt x="143282" y="111125"/>
                  <a:pt x="133350" y="101193"/>
                  <a:pt x="133350" y="88900"/>
                </a:cubicBezTo>
                <a:lnTo>
                  <a:pt x="133350" y="44450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51600" y="19685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EventObject Hierarchy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51600" y="2324100"/>
            <a:ext cx="368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events extend EventObject in java.awt.event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68000" y="1841500"/>
            <a:ext cx="48260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22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6" name="Text 14"/>
          <p:cNvSpPr/>
          <p:nvPr/>
        </p:nvSpPr>
        <p:spPr>
          <a:xfrm>
            <a:off x="11404600" y="1968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Event Categories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04600" y="2324100"/>
            <a:ext cx="381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Low-level (physical) vs Semantic (logical) events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3492500"/>
            <a:ext cx="71755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8225" y="3746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53687" y="1736"/>
                </a:moveTo>
                <a:cubicBezTo>
                  <a:pt x="59313" y="-1111"/>
                  <a:pt x="66119" y="-486"/>
                  <a:pt x="71120" y="3334"/>
                </a:cubicBezTo>
                <a:lnTo>
                  <a:pt x="293370" y="169952"/>
                </a:lnTo>
                <a:cubicBezTo>
                  <a:pt x="299135" y="174258"/>
                  <a:pt x="301427" y="181759"/>
                  <a:pt x="299204" y="188565"/>
                </a:cubicBezTo>
                <a:cubicBezTo>
                  <a:pt x="296982" y="195372"/>
                  <a:pt x="290592" y="199956"/>
                  <a:pt x="283369" y="199956"/>
                </a:cubicBezTo>
                <a:lnTo>
                  <a:pt x="177592" y="199956"/>
                </a:lnTo>
                <a:lnTo>
                  <a:pt x="239335" y="323374"/>
                </a:lnTo>
                <a:cubicBezTo>
                  <a:pt x="244822" y="334347"/>
                  <a:pt x="240377" y="347682"/>
                  <a:pt x="229404" y="353169"/>
                </a:cubicBezTo>
                <a:cubicBezTo>
                  <a:pt x="218430" y="358656"/>
                  <a:pt x="205095" y="354211"/>
                  <a:pt x="199608" y="343237"/>
                </a:cubicBezTo>
                <a:lnTo>
                  <a:pt x="137864" y="219819"/>
                </a:lnTo>
                <a:lnTo>
                  <a:pt x="74454" y="304413"/>
                </a:lnTo>
                <a:cubicBezTo>
                  <a:pt x="70148" y="310178"/>
                  <a:pt x="62647" y="312470"/>
                  <a:pt x="55840" y="310247"/>
                </a:cubicBezTo>
                <a:cubicBezTo>
                  <a:pt x="49034" y="308025"/>
                  <a:pt x="44450" y="301635"/>
                  <a:pt x="44450" y="294481"/>
                </a:cubicBezTo>
                <a:lnTo>
                  <a:pt x="44450" y="16669"/>
                </a:lnTo>
                <a:cubicBezTo>
                  <a:pt x="44450" y="10349"/>
                  <a:pt x="47992" y="4584"/>
                  <a:pt x="53687" y="1736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36195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Event Classes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" y="39751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ActionEvent, MouseEvent, KeyEvent, WindowEvent — each with specific listeners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18500" y="3492500"/>
            <a:ext cx="7175500" cy="1460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94725" y="3746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88900" y="-22225"/>
                </a:moveTo>
                <a:cubicBezTo>
                  <a:pt x="101193" y="-22225"/>
                  <a:pt x="111125" y="-12293"/>
                  <a:pt x="111125" y="0"/>
                </a:cubicBezTo>
                <a:lnTo>
                  <a:pt x="111125" y="66675"/>
                </a:lnTo>
                <a:lnTo>
                  <a:pt x="200025" y="66675"/>
                </a:lnTo>
                <a:lnTo>
                  <a:pt x="200025" y="0"/>
                </a:lnTo>
                <a:cubicBezTo>
                  <a:pt x="200025" y="-12293"/>
                  <a:pt x="209957" y="-22225"/>
                  <a:pt x="222250" y="-22225"/>
                </a:cubicBezTo>
                <a:cubicBezTo>
                  <a:pt x="234543" y="-22225"/>
                  <a:pt x="244475" y="-12293"/>
                  <a:pt x="244475" y="0"/>
                </a:cubicBezTo>
                <a:lnTo>
                  <a:pt x="244475" y="66675"/>
                </a:ln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cubicBezTo>
                  <a:pt x="311150" y="101193"/>
                  <a:pt x="301218" y="111125"/>
                  <a:pt x="288925" y="111125"/>
                </a:cubicBezTo>
                <a:lnTo>
                  <a:pt x="288925" y="155575"/>
                </a:lnTo>
                <a:cubicBezTo>
                  <a:pt x="288925" y="221625"/>
                  <a:pt x="240863" y="276493"/>
                  <a:pt x="177800" y="287050"/>
                </a:cubicBezTo>
                <a:lnTo>
                  <a:pt x="177800" y="333375"/>
                </a:lnTo>
                <a:cubicBezTo>
                  <a:pt x="177800" y="345668"/>
                  <a:pt x="167868" y="355600"/>
                  <a:pt x="155575" y="355600"/>
                </a:cubicBezTo>
                <a:cubicBezTo>
                  <a:pt x="143282" y="355600"/>
                  <a:pt x="133350" y="345668"/>
                  <a:pt x="133350" y="333375"/>
                </a:cubicBezTo>
                <a:lnTo>
                  <a:pt x="133350" y="287050"/>
                </a:lnTo>
                <a:cubicBezTo>
                  <a:pt x="70287" y="276493"/>
                  <a:pt x="22225" y="221625"/>
                  <a:pt x="22225" y="15557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lnTo>
                  <a:pt x="66675" y="0"/>
                </a:lnTo>
                <a:cubicBezTo>
                  <a:pt x="66675" y="-12293"/>
                  <a:pt x="76607" y="-22225"/>
                  <a:pt x="88900" y="-2222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24" name="Text 22"/>
          <p:cNvSpPr/>
          <p:nvPr/>
        </p:nvSpPr>
        <p:spPr>
          <a:xfrm>
            <a:off x="9055100" y="36195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Listeners &amp; Adapters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55100" y="39751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Listeners define callback methods; Adapters provide empty implementations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4953000"/>
            <a:ext cx="14732000" cy="3302000"/>
          </a:xfrm>
          <a:prstGeom prst="roundRect">
            <a:avLst>
              <a:gd name="adj" fmla="val 2000"/>
            </a:avLst>
          </a:prstGeom>
          <a:solidFill>
            <a:srgbClr val="E8F0F4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5143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REFERENCE — EVENT FLOW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5778500"/>
            <a:ext cx="2540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9" name="Text 27"/>
          <p:cNvSpPr/>
          <p:nvPr/>
        </p:nvSpPr>
        <p:spPr>
          <a:xfrm>
            <a:off x="1397000" y="5842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0" y="60706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318000" y="5778500"/>
            <a:ext cx="2540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2" name="Text 30"/>
          <p:cNvSpPr/>
          <p:nvPr/>
        </p:nvSpPr>
        <p:spPr>
          <a:xfrm>
            <a:off x="4445000" y="5842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Object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58000" y="60706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7366000" y="5778500"/>
            <a:ext cx="2540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5" name="Text 33"/>
          <p:cNvSpPr/>
          <p:nvPr/>
        </p:nvSpPr>
        <p:spPr>
          <a:xfrm>
            <a:off x="7493000" y="5842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906000" y="60706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10414000" y="5778500"/>
            <a:ext cx="2540000" cy="6350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38" name="Text 36"/>
          <p:cNvSpPr/>
          <p:nvPr/>
        </p:nvSpPr>
        <p:spPr>
          <a:xfrm>
            <a:off x="10541000" y="584200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Handler Executes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954000" y="60706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3462000" y="5778500"/>
            <a:ext cx="1778000" cy="635000"/>
          </a:xfrm>
          <a:prstGeom prst="roundRect">
            <a:avLst>
              <a:gd name="adj" fmla="val 6000"/>
            </a:avLst>
          </a:prstGeom>
          <a:solidFill>
            <a:srgbClr val="6B8F9E"/>
          </a:solidFill>
          <a:ln/>
        </p:spPr>
      </p:sp>
      <p:sp>
        <p:nvSpPr>
          <p:cNvPr id="41" name="Text 39"/>
          <p:cNvSpPr/>
          <p:nvPr/>
        </p:nvSpPr>
        <p:spPr>
          <a:xfrm>
            <a:off x="13589000" y="5842000"/>
            <a:ext cx="152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Update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16000" y="67945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Events carry information — use getter methods to extract event details from the event object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Each event type has a corresponding listener interface that defines callback methods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Adapter classes provide empty implementations to avoid implementing all interface methods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udqyr7nww3t2/mnt/agents/output/acp-week8/images/2_Abstract_glowing_coding_big_dat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2B38">
                  <a:alpha val="94000"/>
                </a:srgbClr>
              </a:gs>
              <a:gs pos="60000">
                <a:srgbClr val="162B38">
                  <a:alpha val="88000"/>
                </a:srgbClr>
              </a:gs>
              <a:gs pos="100000">
                <a:srgbClr val="162B38">
                  <a:alpha val="6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D4763A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292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365500"/>
            <a:ext cx="762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619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Delegation Model &amp; Event Handlers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4445000"/>
            <a:ext cx="762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Java event delegation mechanism and implementing listeners with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7150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Delegation Event Model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Class &amp; Anonymous Inner Class Listeners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Event Handler Implementation Patterns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Delegation Event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Delegation Event Model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Java's standard mechanism for event handling (JDK 1.1+). Event processing is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"delegated"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 specific object (the listener) rather than being handled by the source itself.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KEY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4699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279400"/>
                </a:lnTo>
                <a:cubicBezTo>
                  <a:pt x="0" y="307419"/>
                  <a:pt x="22781" y="330200"/>
                  <a:pt x="50800" y="330200"/>
                </a:cubicBezTo>
                <a:lnTo>
                  <a:pt x="165100" y="330200"/>
                </a:lnTo>
                <a:lnTo>
                  <a:pt x="152400" y="368300"/>
                </a:lnTo>
                <a:lnTo>
                  <a:pt x="95250" y="368300"/>
                </a:lnTo>
                <a:cubicBezTo>
                  <a:pt x="84693" y="368300"/>
                  <a:pt x="76200" y="376793"/>
                  <a:pt x="76200" y="387350"/>
                </a:cubicBezTo>
                <a:cubicBezTo>
                  <a:pt x="76200" y="397907"/>
                  <a:pt x="84693" y="406400"/>
                  <a:pt x="95250" y="406400"/>
                </a:cubicBezTo>
                <a:lnTo>
                  <a:pt x="311150" y="406400"/>
                </a:lnTo>
                <a:cubicBezTo>
                  <a:pt x="321707" y="406400"/>
                  <a:pt x="330200" y="397907"/>
                  <a:pt x="330200" y="387350"/>
                </a:cubicBezTo>
                <a:cubicBezTo>
                  <a:pt x="330200" y="376793"/>
                  <a:pt x="321707" y="368300"/>
                  <a:pt x="311150" y="368300"/>
                </a:cubicBezTo>
                <a:lnTo>
                  <a:pt x="254000" y="368300"/>
                </a:lnTo>
                <a:lnTo>
                  <a:pt x="241300" y="330200"/>
                </a:lnTo>
                <a:lnTo>
                  <a:pt x="355600" y="330200"/>
                </a:lnTo>
                <a:cubicBezTo>
                  <a:pt x="383619" y="330200"/>
                  <a:pt x="406400" y="307419"/>
                  <a:pt x="406400" y="279400"/>
                </a:cubicBezTo>
                <a:lnTo>
                  <a:pt x="406400" y="76200"/>
                </a:lnTo>
                <a:cubicBezTo>
                  <a:pt x="406400" y="48181"/>
                  <a:pt x="383619" y="25400"/>
                  <a:pt x="355600" y="25400"/>
                </a:cubicBezTo>
                <a:lnTo>
                  <a:pt x="50800" y="25400"/>
                </a:lnTo>
                <a:close/>
                <a:moveTo>
                  <a:pt x="76200" y="76200"/>
                </a:moveTo>
                <a:lnTo>
                  <a:pt x="330200" y="76200"/>
                </a:lnTo>
                <a:cubicBezTo>
                  <a:pt x="344249" y="76200"/>
                  <a:pt x="355600" y="87551"/>
                  <a:pt x="355600" y="101600"/>
                </a:cubicBezTo>
                <a:lnTo>
                  <a:pt x="355600" y="228600"/>
                </a:lnTo>
                <a:cubicBezTo>
                  <a:pt x="355600" y="242649"/>
                  <a:pt x="344249" y="254000"/>
                  <a:pt x="330200" y="254000"/>
                </a:cubicBezTo>
                <a:lnTo>
                  <a:pt x="76200" y="254000"/>
                </a:lnTo>
                <a:cubicBezTo>
                  <a:pt x="62151" y="254000"/>
                  <a:pt x="50800" y="242649"/>
                  <a:pt x="50800" y="228600"/>
                </a:cubicBezTo>
                <a:lnTo>
                  <a:pt x="50800" y="101600"/>
                </a:lnTo>
                <a:cubicBezTo>
                  <a:pt x="50800" y="87551"/>
                  <a:pt x="62151" y="76200"/>
                  <a:pt x="76200" y="762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0" name="Text 8"/>
          <p:cNvSpPr/>
          <p:nvPr/>
        </p:nvSpPr>
        <p:spPr>
          <a:xfrm>
            <a:off x="1549400" y="3022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530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GUI component that generates events — JButton, JFrame, JTextField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2857500"/>
            <a:ext cx="4699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9000" y="304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0" y="50800"/>
                </a:moveTo>
                <a:cubicBezTo>
                  <a:pt x="17066" y="50800"/>
                  <a:pt x="0" y="67866"/>
                  <a:pt x="0" y="88900"/>
                </a:cubicBezTo>
                <a:cubicBezTo>
                  <a:pt x="0" y="100886"/>
                  <a:pt x="5636" y="112157"/>
                  <a:pt x="15240" y="119380"/>
                </a:cubicBezTo>
                <a:lnTo>
                  <a:pt x="180340" y="243205"/>
                </a:lnTo>
                <a:cubicBezTo>
                  <a:pt x="193913" y="253365"/>
                  <a:pt x="212487" y="253365"/>
                  <a:pt x="226060" y="243205"/>
                </a:cubicBezTo>
                <a:lnTo>
                  <a:pt x="391160" y="119380"/>
                </a:lnTo>
                <a:cubicBezTo>
                  <a:pt x="400764" y="112157"/>
                  <a:pt x="406400" y="100886"/>
                  <a:pt x="406400" y="88900"/>
                </a:cubicBezTo>
                <a:cubicBezTo>
                  <a:pt x="406400" y="67866"/>
                  <a:pt x="389334" y="50800"/>
                  <a:pt x="368300" y="50800"/>
                </a:cubicBezTo>
                <a:lnTo>
                  <a:pt x="38100" y="50800"/>
                </a:lnTo>
                <a:close/>
                <a:moveTo>
                  <a:pt x="0" y="155575"/>
                </a:moveTo>
                <a:lnTo>
                  <a:pt x="0" y="304800"/>
                </a:lnTo>
                <a:cubicBezTo>
                  <a:pt x="0" y="332819"/>
                  <a:pt x="22781" y="355600"/>
                  <a:pt x="50800" y="355600"/>
                </a:cubicBezTo>
                <a:lnTo>
                  <a:pt x="355600" y="355600"/>
                </a:lnTo>
                <a:cubicBezTo>
                  <a:pt x="383619" y="355600"/>
                  <a:pt x="406400" y="332819"/>
                  <a:pt x="406400" y="304800"/>
                </a:cubicBezTo>
                <a:lnTo>
                  <a:pt x="406400" y="155575"/>
                </a:lnTo>
                <a:lnTo>
                  <a:pt x="248920" y="273685"/>
                </a:lnTo>
                <a:cubicBezTo>
                  <a:pt x="221853" y="294005"/>
                  <a:pt x="184547" y="294005"/>
                  <a:pt x="157480" y="273685"/>
                </a:cubicBezTo>
                <a:lnTo>
                  <a:pt x="0" y="155575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02400" y="3022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Object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69000" y="3530600"/>
            <a:ext cx="4191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Encapsulates information about the event — ActionEvent, MouseEvent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2857500"/>
            <a:ext cx="4826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47400" y="3048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31750"/>
                </a:moveTo>
                <a:cubicBezTo>
                  <a:pt x="101600" y="14208"/>
                  <a:pt x="115808" y="0"/>
                  <a:pt x="133350" y="0"/>
                </a:cubicBezTo>
                <a:cubicBezTo>
                  <a:pt x="150892" y="0"/>
                  <a:pt x="165100" y="14208"/>
                  <a:pt x="165100" y="31750"/>
                </a:cubicBezTo>
                <a:lnTo>
                  <a:pt x="165100" y="149384"/>
                </a:lnTo>
                <a:cubicBezTo>
                  <a:pt x="171847" y="143351"/>
                  <a:pt x="180737" y="139700"/>
                  <a:pt x="190500" y="139700"/>
                </a:cubicBezTo>
                <a:cubicBezTo>
                  <a:pt x="206851" y="139700"/>
                  <a:pt x="220821" y="150019"/>
                  <a:pt x="226219" y="164465"/>
                </a:cubicBezTo>
                <a:cubicBezTo>
                  <a:pt x="233204" y="157083"/>
                  <a:pt x="243046" y="152400"/>
                  <a:pt x="254000" y="152400"/>
                </a:cubicBezTo>
                <a:cubicBezTo>
                  <a:pt x="274082" y="152400"/>
                  <a:pt x="290513" y="167878"/>
                  <a:pt x="292021" y="187563"/>
                </a:cubicBezTo>
                <a:cubicBezTo>
                  <a:pt x="298768" y="181451"/>
                  <a:pt x="307737" y="177800"/>
                  <a:pt x="317500" y="177800"/>
                </a:cubicBezTo>
                <a:cubicBezTo>
                  <a:pt x="338534" y="177800"/>
                  <a:pt x="355600" y="194866"/>
                  <a:pt x="355600" y="215900"/>
                </a:cubicBezTo>
                <a:lnTo>
                  <a:pt x="355600" y="304800"/>
                </a:lnTo>
                <a:cubicBezTo>
                  <a:pt x="355600" y="360918"/>
                  <a:pt x="310118" y="406400"/>
                  <a:pt x="254000" y="406400"/>
                </a:cubicBezTo>
                <a:lnTo>
                  <a:pt x="186293" y="406400"/>
                </a:lnTo>
                <a:cubicBezTo>
                  <a:pt x="182324" y="406400"/>
                  <a:pt x="178435" y="406162"/>
                  <a:pt x="174625" y="405606"/>
                </a:cubicBezTo>
                <a:cubicBezTo>
                  <a:pt x="130731" y="401161"/>
                  <a:pt x="90329" y="378619"/>
                  <a:pt x="63500" y="342900"/>
                </a:cubicBezTo>
                <a:lnTo>
                  <a:pt x="6350" y="266700"/>
                </a:lnTo>
                <a:cubicBezTo>
                  <a:pt x="-4207" y="252651"/>
                  <a:pt x="-1349" y="232807"/>
                  <a:pt x="12700" y="222250"/>
                </a:cubicBezTo>
                <a:cubicBezTo>
                  <a:pt x="26749" y="211693"/>
                  <a:pt x="46593" y="214551"/>
                  <a:pt x="57150" y="228600"/>
                </a:cubicBezTo>
                <a:lnTo>
                  <a:pt x="101600" y="287893"/>
                </a:lnTo>
                <a:lnTo>
                  <a:pt x="101600" y="31750"/>
                </a:lnTo>
                <a:close/>
                <a:moveTo>
                  <a:pt x="190500" y="241300"/>
                </a:moveTo>
                <a:cubicBezTo>
                  <a:pt x="190500" y="234315"/>
                  <a:pt x="184785" y="228600"/>
                  <a:pt x="177800" y="228600"/>
                </a:cubicBezTo>
                <a:cubicBezTo>
                  <a:pt x="170815" y="228600"/>
                  <a:pt x="165100" y="234315"/>
                  <a:pt x="165100" y="241300"/>
                </a:cubicBezTo>
                <a:lnTo>
                  <a:pt x="165100" y="317500"/>
                </a:lnTo>
                <a:cubicBezTo>
                  <a:pt x="165100" y="324485"/>
                  <a:pt x="170815" y="330200"/>
                  <a:pt x="177800" y="330200"/>
                </a:cubicBezTo>
                <a:cubicBezTo>
                  <a:pt x="184785" y="330200"/>
                  <a:pt x="190500" y="324485"/>
                  <a:pt x="190500" y="317500"/>
                </a:cubicBezTo>
                <a:lnTo>
                  <a:pt x="190500" y="241300"/>
                </a:lnTo>
                <a:close/>
                <a:moveTo>
                  <a:pt x="228600" y="228600"/>
                </a:moveTo>
                <a:cubicBezTo>
                  <a:pt x="221615" y="228600"/>
                  <a:pt x="215900" y="234315"/>
                  <a:pt x="215900" y="241300"/>
                </a:cubicBezTo>
                <a:lnTo>
                  <a:pt x="215900" y="317500"/>
                </a:lnTo>
                <a:cubicBezTo>
                  <a:pt x="215900" y="324485"/>
                  <a:pt x="221615" y="330200"/>
                  <a:pt x="228600" y="330200"/>
                </a:cubicBezTo>
                <a:cubicBezTo>
                  <a:pt x="235585" y="330200"/>
                  <a:pt x="241300" y="324485"/>
                  <a:pt x="241300" y="317500"/>
                </a:cubicBezTo>
                <a:lnTo>
                  <a:pt x="241300" y="241300"/>
                </a:lnTo>
                <a:cubicBezTo>
                  <a:pt x="241300" y="234315"/>
                  <a:pt x="235585" y="228600"/>
                  <a:pt x="228600" y="228600"/>
                </a:cubicBezTo>
                <a:close/>
                <a:moveTo>
                  <a:pt x="292100" y="241300"/>
                </a:moveTo>
                <a:cubicBezTo>
                  <a:pt x="292100" y="234315"/>
                  <a:pt x="286385" y="228600"/>
                  <a:pt x="279400" y="228600"/>
                </a:cubicBezTo>
                <a:cubicBezTo>
                  <a:pt x="272415" y="228600"/>
                  <a:pt x="266700" y="234315"/>
                  <a:pt x="266700" y="241300"/>
                </a:cubicBezTo>
                <a:lnTo>
                  <a:pt x="266700" y="317500"/>
                </a:lnTo>
                <a:cubicBezTo>
                  <a:pt x="266700" y="324485"/>
                  <a:pt x="272415" y="330200"/>
                  <a:pt x="279400" y="330200"/>
                </a:cubicBezTo>
                <a:cubicBezTo>
                  <a:pt x="286385" y="330200"/>
                  <a:pt x="292100" y="324485"/>
                  <a:pt x="292100" y="317500"/>
                </a:cubicBezTo>
                <a:lnTo>
                  <a:pt x="292100" y="241300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8" name="Text 16"/>
          <p:cNvSpPr/>
          <p:nvPr/>
        </p:nvSpPr>
        <p:spPr>
          <a:xfrm>
            <a:off x="11455400" y="3022600"/>
            <a:ext cx="368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22000" y="3530600"/>
            <a:ext cx="4318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object that receives and processes the event through callback methods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82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DELEGATION MODEL WORKS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334000"/>
            <a:ext cx="2032000" cy="6350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Action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794000" y="56261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302000" y="5334000"/>
            <a:ext cx="2032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5" name="Text 23"/>
          <p:cNvSpPr/>
          <p:nvPr/>
        </p:nvSpPr>
        <p:spPr>
          <a:xfrm>
            <a:off x="330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0" y="56261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5842000" y="5334000"/>
            <a:ext cx="2032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8" name="Text 26"/>
          <p:cNvSpPr/>
          <p:nvPr/>
        </p:nvSpPr>
        <p:spPr>
          <a:xfrm>
            <a:off x="584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Object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874000" y="56261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382000" y="5334000"/>
            <a:ext cx="2032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1" name="Text 29"/>
          <p:cNvSpPr/>
          <p:nvPr/>
        </p:nvSpPr>
        <p:spPr>
          <a:xfrm>
            <a:off x="838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414000" y="56261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10922000" y="5334000"/>
            <a:ext cx="2032000" cy="635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34" name="Text 32"/>
          <p:cNvSpPr/>
          <p:nvPr/>
        </p:nvSpPr>
        <p:spPr>
          <a:xfrm>
            <a:off x="1092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Handler Runs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954000" y="5626100"/>
            <a:ext cx="508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3462000" y="5334000"/>
            <a:ext cx="2032000" cy="635000"/>
          </a:xfrm>
          <a:prstGeom prst="roundRect">
            <a:avLst>
              <a:gd name="adj" fmla="val 6000"/>
            </a:avLst>
          </a:prstGeom>
          <a:solidFill>
            <a:srgbClr val="6B8F9E"/>
          </a:solidFill>
          <a:ln/>
        </p:spPr>
      </p:sp>
      <p:sp>
        <p:nvSpPr>
          <p:cNvPr id="37" name="Text 35"/>
          <p:cNvSpPr/>
          <p:nvPr/>
        </p:nvSpPr>
        <p:spPr>
          <a:xfrm>
            <a:off x="13462000" y="5334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UI Updates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2000" y="6350000"/>
            <a:ext cx="14732000" cy="1968500"/>
          </a:xfrm>
          <a:prstGeom prst="roundRect">
            <a:avLst>
              <a:gd name="adj" fmla="val 2000"/>
            </a:avLst>
          </a:prstGeom>
          <a:solidFill>
            <a:srgbClr val="E8F0F4"/>
          </a:solidFill>
          <a:ln/>
        </p:spPr>
      </p:sp>
      <p:sp>
        <p:nvSpPr>
          <p:cNvPr id="39" name="Text 37"/>
          <p:cNvSpPr/>
          <p:nvPr/>
        </p:nvSpPr>
        <p:spPr>
          <a:xfrm>
            <a:off x="1016000" y="647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 OF THE DELEGATION MODEL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16000" y="6921500"/>
            <a:ext cx="142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Separation of concerns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UI components and event handling logic are decoupled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listeners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Several listeners can register for the same event from one source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reusability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same listener can handle events from multiple sources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Source, Listener &amp; Handler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SOURCE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714500"/>
            <a:ext cx="7112000" cy="1651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1841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Any component that can generate events. Registration follows the pattern: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addXXXListener(XXXListener 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listeners can register to a single source.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1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LISTENER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000500"/>
            <a:ext cx="7112000" cy="1651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4127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interface defining methods to be called when events occur. Must implement all methods (or extend an Adapter).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5905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HANDLER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6286500"/>
            <a:ext cx="7112000" cy="1651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64135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actual method implementation that executes in response to an event. Contains the logic for what happens when the event fires.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1333500"/>
            <a:ext cx="7112000" cy="6921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EXAMPLE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1841500"/>
            <a:ext cx="6604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Event Source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button = </a:t>
            </a:r>
            <a:pPr>
              <a:lnSpc>
                <a:spcPct val="15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Event Listener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ActionListener listener =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Event Handler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System.out.println(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"Button clicked!"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4. Register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button.addActionListener(listener);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Steps to Handle Events in Java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571500" cy="571500"/>
          </a:xfrm>
          <a:prstGeom prst="ellipse">
            <a:avLst/>
          </a:prstGeom>
          <a:solidFill>
            <a:srgbClr val="D4763A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460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24000" y="1460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the Event Source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4000" y="1841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 which GUI component will generate events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603500"/>
            <a:ext cx="571500" cy="571500"/>
          </a:xfrm>
          <a:prstGeom prst="ellipse">
            <a:avLst/>
          </a:prstGeom>
          <a:solidFill>
            <a:srgbClr val="D4763A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603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24000" y="260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Determine the Event 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24000" y="2984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 kind of events will the source generate? (clicks, keystrokes, etc.)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746500"/>
            <a:ext cx="571500" cy="571500"/>
          </a:xfrm>
          <a:prstGeom prst="ellipse">
            <a:avLst/>
          </a:pr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746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746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Choose the Listener Interface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24000" y="4127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the appropriate listener interface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889500"/>
            <a:ext cx="571500" cy="571500"/>
          </a:xfrm>
          <a:prstGeom prst="ellipse">
            <a:avLst/>
          </a:prstGeom>
          <a:solidFill>
            <a:srgbClr val="D4763A"/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4889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24000" y="4889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the Listener Methods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4000" y="5270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the event handler code that executes when the event occurs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032500"/>
            <a:ext cx="571500" cy="571500"/>
          </a:xfrm>
          <a:prstGeom prst="ellipse">
            <a:avLst/>
          </a:prstGeom>
          <a:solidFill>
            <a:srgbClr val="D4763A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032500"/>
            <a:ext cx="571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603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 the Listener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6413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the listener to the source using addXXXListener()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1333500"/>
            <a:ext cx="7112000" cy="6921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26" name="Text 24"/>
          <p:cNvSpPr/>
          <p:nvPr/>
        </p:nvSpPr>
        <p:spPr>
          <a:xfrm>
            <a:off x="86360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EXAMPLE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6000" y="1841500"/>
            <a:ext cx="6604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 1: Event Source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btn =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"OK"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Steps 2-4: Listener + Handler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btn.addActionListener(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label.setText(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"OK clicked"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Using MouseAdapter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btn.addMouseListener(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MouseAdapter()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mouseEntered(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MouseEvent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btn.setBackground(Color.GREEN);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" y="7302500"/>
            <a:ext cx="7112000" cy="762000"/>
          </a:xfrm>
          <a:prstGeom prst="roundRect">
            <a:avLst>
              <a:gd name="adj" fmla="val 4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16000" y="749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30" name="Text 28"/>
          <p:cNvSpPr/>
          <p:nvPr/>
        </p:nvSpPr>
        <p:spPr>
          <a:xfrm>
            <a:off x="1460500" y="73660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Import java.awt.event.* or javax.swing.event.*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udqyr7nww3t2/mnt/agents/output/acp-week8/images/2_Abstract_glowing_coding_big_dat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2B38">
                  <a:alpha val="94000"/>
                </a:srgbClr>
              </a:gs>
              <a:gs pos="60000">
                <a:srgbClr val="162B38">
                  <a:alpha val="88000"/>
                </a:srgbClr>
              </a:gs>
              <a:gs pos="100000">
                <a:srgbClr val="162B38">
                  <a:alpha val="63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016000"/>
            <a:ext cx="5080000" cy="177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0" b="1" dirty="0">
                <a:solidFill>
                  <a:srgbClr val="D4763A">
                    <a:alpha val="18824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762000" y="292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4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16 — CONTINUED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3365500"/>
            <a:ext cx="762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6195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Class Listeners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762000" y="4445000"/>
            <a:ext cx="762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inner classes to implement clean, encapsulated event handling code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57150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Class as Event Listener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■</a:t>
            </a:r>
            <a:pPr>
              <a:lnSpc>
                <a:spcPct val="180000"/>
              </a:lnSpc>
            </a:pPr>
            <a:r>
              <a:rPr lang="en-US" sz="1500" dirty="0">
                <a:solidFill>
                  <a:srgbClr val="FFFFFF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Delegation Model with Inner Class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Class as Event Listener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762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class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class defined within another class. It provides encapsulation and direct access to the outer class's members for event handling.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413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FOR EVENT HANDLING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857500"/>
            <a:ext cx="34925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450" y="3048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Encapsulation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38354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Hidden from outside world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08500" y="2857500"/>
            <a:ext cx="34925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62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Access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62500" y="38354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 all outer class members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2857500"/>
            <a:ext cx="34925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6775" y="304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6669"/>
                </a:moveTo>
                <a:cubicBezTo>
                  <a:pt x="33337" y="7431"/>
                  <a:pt x="25906" y="0"/>
                  <a:pt x="16669" y="0"/>
                </a:cubicBezTo>
                <a:cubicBezTo>
                  <a:pt x="7431" y="0"/>
                  <a:pt x="0" y="7431"/>
                  <a:pt x="0" y="16669"/>
                </a:cubicBezTo>
                <a:lnTo>
                  <a:pt x="0" y="272256"/>
                </a:lnTo>
                <a:cubicBezTo>
                  <a:pt x="0" y="293717"/>
                  <a:pt x="17433" y="311150"/>
                  <a:pt x="38894" y="311150"/>
                </a:cubicBezTo>
                <a:lnTo>
                  <a:pt x="166688" y="311150"/>
                </a:lnTo>
                <a:lnTo>
                  <a:pt x="166688" y="277813"/>
                </a:lnTo>
                <a:lnTo>
                  <a:pt x="38894" y="277813"/>
                </a:lnTo>
                <a:cubicBezTo>
                  <a:pt x="35838" y="277813"/>
                  <a:pt x="33337" y="275312"/>
                  <a:pt x="33337" y="272256"/>
                </a:cubicBezTo>
                <a:lnTo>
                  <a:pt x="33337" y="111125"/>
                </a:lnTo>
                <a:lnTo>
                  <a:pt x="166688" y="111125"/>
                </a:lnTo>
                <a:lnTo>
                  <a:pt x="166688" y="77788"/>
                </a:lnTo>
                <a:lnTo>
                  <a:pt x="33337" y="77788"/>
                </a:lnTo>
                <a:lnTo>
                  <a:pt x="33337" y="16669"/>
                </a:lnTo>
                <a:close/>
                <a:moveTo>
                  <a:pt x="233363" y="155575"/>
                </a:moveTo>
                <a:lnTo>
                  <a:pt x="366712" y="155575"/>
                </a:lnTo>
                <a:cubicBezTo>
                  <a:pt x="385118" y="155575"/>
                  <a:pt x="400050" y="140643"/>
                  <a:pt x="400050" y="122238"/>
                </a:cubicBezTo>
                <a:lnTo>
                  <a:pt x="400050" y="55563"/>
                </a:lnTo>
                <a:cubicBezTo>
                  <a:pt x="400050" y="37157"/>
                  <a:pt x="385118" y="22225"/>
                  <a:pt x="366712" y="22225"/>
                </a:cubicBezTo>
                <a:lnTo>
                  <a:pt x="309275" y="22225"/>
                </a:lnTo>
                <a:cubicBezTo>
                  <a:pt x="303371" y="22225"/>
                  <a:pt x="297746" y="19864"/>
                  <a:pt x="293578" y="15696"/>
                </a:cubicBezTo>
                <a:lnTo>
                  <a:pt x="287605" y="9723"/>
                </a:lnTo>
                <a:cubicBezTo>
                  <a:pt x="281355" y="3473"/>
                  <a:pt x="272881" y="-69"/>
                  <a:pt x="264061" y="-69"/>
                </a:cubicBezTo>
                <a:lnTo>
                  <a:pt x="233363" y="0"/>
                </a:lnTo>
                <a:cubicBezTo>
                  <a:pt x="214957" y="0"/>
                  <a:pt x="200025" y="14932"/>
                  <a:pt x="200025" y="33337"/>
                </a:cubicBezTo>
                <a:lnTo>
                  <a:pt x="200025" y="122238"/>
                </a:lnTo>
                <a:cubicBezTo>
                  <a:pt x="200025" y="140643"/>
                  <a:pt x="214957" y="155575"/>
                  <a:pt x="233363" y="155575"/>
                </a:cubicBezTo>
                <a:close/>
                <a:moveTo>
                  <a:pt x="233363" y="355600"/>
                </a:moveTo>
                <a:lnTo>
                  <a:pt x="366712" y="355600"/>
                </a:lnTo>
                <a:cubicBezTo>
                  <a:pt x="385118" y="355600"/>
                  <a:pt x="400050" y="340668"/>
                  <a:pt x="400050" y="322263"/>
                </a:cubicBezTo>
                <a:lnTo>
                  <a:pt x="400050" y="255587"/>
                </a:lnTo>
                <a:cubicBezTo>
                  <a:pt x="400050" y="237182"/>
                  <a:pt x="385118" y="222250"/>
                  <a:pt x="366712" y="222250"/>
                </a:cubicBezTo>
                <a:lnTo>
                  <a:pt x="309275" y="222250"/>
                </a:lnTo>
                <a:cubicBezTo>
                  <a:pt x="303371" y="222250"/>
                  <a:pt x="297746" y="219889"/>
                  <a:pt x="293578" y="215721"/>
                </a:cubicBezTo>
                <a:lnTo>
                  <a:pt x="287605" y="209748"/>
                </a:lnTo>
                <a:cubicBezTo>
                  <a:pt x="281355" y="203498"/>
                  <a:pt x="272881" y="199956"/>
                  <a:pt x="264061" y="199956"/>
                </a:cubicBezTo>
                <a:lnTo>
                  <a:pt x="233363" y="200025"/>
                </a:lnTo>
                <a:cubicBezTo>
                  <a:pt x="214957" y="200025"/>
                  <a:pt x="200025" y="214957"/>
                  <a:pt x="200025" y="233363"/>
                </a:cubicBezTo>
                <a:lnTo>
                  <a:pt x="200025" y="322263"/>
                </a:lnTo>
                <a:cubicBezTo>
                  <a:pt x="200025" y="340668"/>
                  <a:pt x="214957" y="355600"/>
                  <a:pt x="233363" y="35560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8" name="Text 16"/>
          <p:cNvSpPr/>
          <p:nvPr/>
        </p:nvSpPr>
        <p:spPr>
          <a:xfrm>
            <a:off x="85090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9000" y="38354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 stays close to component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001500" y="2857500"/>
            <a:ext cx="34925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2555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5777" y="41672"/>
                </a:moveTo>
                <a:cubicBezTo>
                  <a:pt x="137864" y="-13891"/>
                  <a:pt x="218083" y="-13891"/>
                  <a:pt x="250170" y="41672"/>
                </a:cubicBezTo>
                <a:lnTo>
                  <a:pt x="276076" y="86539"/>
                </a:lnTo>
                <a:lnTo>
                  <a:pt x="295315" y="75426"/>
                </a:lnTo>
                <a:cubicBezTo>
                  <a:pt x="301149" y="72023"/>
                  <a:pt x="308441" y="72509"/>
                  <a:pt x="313789" y="76607"/>
                </a:cubicBezTo>
                <a:cubicBezTo>
                  <a:pt x="319137" y="80705"/>
                  <a:pt x="321499" y="87650"/>
                  <a:pt x="319762" y="94178"/>
                </a:cubicBezTo>
                <a:lnTo>
                  <a:pt x="303441" y="154880"/>
                </a:lnTo>
                <a:cubicBezTo>
                  <a:pt x="301079" y="163770"/>
                  <a:pt x="291911" y="169049"/>
                  <a:pt x="283021" y="166688"/>
                </a:cubicBezTo>
                <a:lnTo>
                  <a:pt x="222319" y="150435"/>
                </a:lnTo>
                <a:cubicBezTo>
                  <a:pt x="215791" y="148699"/>
                  <a:pt x="210999" y="143212"/>
                  <a:pt x="210096" y="136545"/>
                </a:cubicBezTo>
                <a:cubicBezTo>
                  <a:pt x="209193" y="129877"/>
                  <a:pt x="212457" y="123279"/>
                  <a:pt x="218291" y="119946"/>
                </a:cubicBezTo>
                <a:lnTo>
                  <a:pt x="237530" y="108833"/>
                </a:lnTo>
                <a:lnTo>
                  <a:pt x="211624" y="63966"/>
                </a:lnTo>
                <a:cubicBezTo>
                  <a:pt x="196622" y="38060"/>
                  <a:pt x="159256" y="38060"/>
                  <a:pt x="144254" y="63966"/>
                </a:cubicBezTo>
                <a:lnTo>
                  <a:pt x="140573" y="70287"/>
                </a:lnTo>
                <a:cubicBezTo>
                  <a:pt x="134461" y="80913"/>
                  <a:pt x="120848" y="84524"/>
                  <a:pt x="110222" y="78413"/>
                </a:cubicBezTo>
                <a:cubicBezTo>
                  <a:pt x="99596" y="72301"/>
                  <a:pt x="95984" y="58688"/>
                  <a:pt x="102096" y="47992"/>
                </a:cubicBezTo>
                <a:lnTo>
                  <a:pt x="105777" y="41672"/>
                </a:lnTo>
                <a:close/>
                <a:moveTo>
                  <a:pt x="312331" y="193844"/>
                </a:moveTo>
                <a:cubicBezTo>
                  <a:pt x="322957" y="187732"/>
                  <a:pt x="336570" y="191343"/>
                  <a:pt x="342682" y="201970"/>
                </a:cubicBezTo>
                <a:lnTo>
                  <a:pt x="346363" y="208290"/>
                </a:lnTo>
                <a:cubicBezTo>
                  <a:pt x="378450" y="263852"/>
                  <a:pt x="338376" y="333306"/>
                  <a:pt x="274201" y="333306"/>
                </a:cubicBezTo>
                <a:lnTo>
                  <a:pt x="222389" y="333306"/>
                </a:lnTo>
                <a:lnTo>
                  <a:pt x="222389" y="355531"/>
                </a:lnTo>
                <a:cubicBezTo>
                  <a:pt x="222389" y="362268"/>
                  <a:pt x="218361" y="368379"/>
                  <a:pt x="212110" y="370949"/>
                </a:cubicBezTo>
                <a:cubicBezTo>
                  <a:pt x="205859" y="373519"/>
                  <a:pt x="198705" y="372130"/>
                  <a:pt x="193913" y="367338"/>
                </a:cubicBezTo>
                <a:lnTo>
                  <a:pt x="149463" y="322888"/>
                </a:lnTo>
                <a:cubicBezTo>
                  <a:pt x="142935" y="316359"/>
                  <a:pt x="142935" y="305802"/>
                  <a:pt x="149463" y="299343"/>
                </a:cubicBezTo>
                <a:lnTo>
                  <a:pt x="193913" y="254893"/>
                </a:lnTo>
                <a:cubicBezTo>
                  <a:pt x="198705" y="250101"/>
                  <a:pt x="205859" y="248712"/>
                  <a:pt x="212110" y="251281"/>
                </a:cubicBezTo>
                <a:cubicBezTo>
                  <a:pt x="218361" y="253851"/>
                  <a:pt x="222389" y="259963"/>
                  <a:pt x="222389" y="266700"/>
                </a:cubicBezTo>
                <a:lnTo>
                  <a:pt x="222389" y="288925"/>
                </a:lnTo>
                <a:lnTo>
                  <a:pt x="274201" y="288925"/>
                </a:lnTo>
                <a:cubicBezTo>
                  <a:pt x="304135" y="288925"/>
                  <a:pt x="322888" y="256490"/>
                  <a:pt x="307886" y="230584"/>
                </a:cubicBezTo>
                <a:lnTo>
                  <a:pt x="304205" y="224264"/>
                </a:lnTo>
                <a:cubicBezTo>
                  <a:pt x="298093" y="213638"/>
                  <a:pt x="301704" y="200025"/>
                  <a:pt x="312331" y="193913"/>
                </a:cubicBezTo>
                <a:close/>
                <a:moveTo>
                  <a:pt x="35421" y="163493"/>
                </a:moveTo>
                <a:lnTo>
                  <a:pt x="16183" y="152380"/>
                </a:lnTo>
                <a:cubicBezTo>
                  <a:pt x="10349" y="148977"/>
                  <a:pt x="7084" y="142448"/>
                  <a:pt x="7987" y="135781"/>
                </a:cubicBezTo>
                <a:cubicBezTo>
                  <a:pt x="8890" y="129113"/>
                  <a:pt x="13682" y="123627"/>
                  <a:pt x="20211" y="121890"/>
                </a:cubicBezTo>
                <a:lnTo>
                  <a:pt x="80913" y="105569"/>
                </a:lnTo>
                <a:cubicBezTo>
                  <a:pt x="89803" y="103207"/>
                  <a:pt x="98971" y="108486"/>
                  <a:pt x="101332" y="117376"/>
                </a:cubicBezTo>
                <a:lnTo>
                  <a:pt x="117584" y="178078"/>
                </a:lnTo>
                <a:cubicBezTo>
                  <a:pt x="119320" y="184606"/>
                  <a:pt x="116959" y="191482"/>
                  <a:pt x="111611" y="195649"/>
                </a:cubicBezTo>
                <a:cubicBezTo>
                  <a:pt x="106263" y="199817"/>
                  <a:pt x="98971" y="200233"/>
                  <a:pt x="93137" y="196830"/>
                </a:cubicBezTo>
                <a:lnTo>
                  <a:pt x="73898" y="185718"/>
                </a:lnTo>
                <a:lnTo>
                  <a:pt x="47992" y="230584"/>
                </a:lnTo>
                <a:cubicBezTo>
                  <a:pt x="32990" y="256490"/>
                  <a:pt x="51743" y="288925"/>
                  <a:pt x="81677" y="288925"/>
                </a:cubicBezTo>
                <a:lnTo>
                  <a:pt x="89039" y="288925"/>
                </a:lnTo>
                <a:cubicBezTo>
                  <a:pt x="101332" y="288925"/>
                  <a:pt x="111264" y="298857"/>
                  <a:pt x="111264" y="311150"/>
                </a:cubicBezTo>
                <a:cubicBezTo>
                  <a:pt x="111264" y="323443"/>
                  <a:pt x="101332" y="333375"/>
                  <a:pt x="89039" y="333375"/>
                </a:cubicBezTo>
                <a:lnTo>
                  <a:pt x="81677" y="333375"/>
                </a:lnTo>
                <a:cubicBezTo>
                  <a:pt x="17572" y="333375"/>
                  <a:pt x="-22503" y="263922"/>
                  <a:pt x="9585" y="208359"/>
                </a:cubicBezTo>
                <a:lnTo>
                  <a:pt x="35421" y="163493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5500" y="3492500"/>
            <a:ext cx="2984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Reusability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55500" y="3835400"/>
            <a:ext cx="298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Reusable for similar events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482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INNER CLASSES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270500"/>
            <a:ext cx="4699000" cy="571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5270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 Inner Class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defined at class level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715000" y="5270500"/>
            <a:ext cx="4699000" cy="5715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5270500"/>
            <a:ext cx="4699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Inner Class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defined inside a method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668000" y="5270500"/>
            <a:ext cx="4826000" cy="571500"/>
          </a:xfrm>
          <a:prstGeom prst="roundRect">
            <a:avLst>
              <a:gd name="adj" fmla="val 6000"/>
            </a:avLst>
          </a:prstGeom>
          <a:solidFill>
            <a:srgbClr val="D4763A"/>
          </a:solidFill>
          <a:ln/>
        </p:spPr>
      </p:sp>
      <p:sp>
        <p:nvSpPr>
          <p:cNvPr id="30" name="Text 28"/>
          <p:cNvSpPr/>
          <p:nvPr/>
        </p:nvSpPr>
        <p:spPr>
          <a:xfrm>
            <a:off x="10668000" y="52705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Anonymous Inner Class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name, inline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223000"/>
            <a:ext cx="14732000" cy="1968500"/>
          </a:xfrm>
          <a:prstGeom prst="roundRect">
            <a:avLst>
              <a:gd name="adj" fmla="val 2000"/>
            </a:avLst>
          </a:prstGeom>
          <a:solidFill>
            <a:srgbClr val="E8F0F4"/>
          </a:solidFill>
          <a:ln/>
        </p:spPr>
      </p:sp>
      <p:sp>
        <p:nvSpPr>
          <p:cNvPr id="32" name="Shape 30"/>
          <p:cNvSpPr/>
          <p:nvPr/>
        </p:nvSpPr>
        <p:spPr>
          <a:xfrm>
            <a:off x="996950" y="64135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33" name="Text 31"/>
          <p:cNvSpPr/>
          <p:nvPr/>
        </p:nvSpPr>
        <p:spPr>
          <a:xfrm>
            <a:off x="1460500" y="635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16000" y="6858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classes are the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preferred approach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complex event handlers in professional Java development. They keep the event handling logic organized, encapsulated, and tightly integrated with the GUI components they serve.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simple one-time handlers, anonymous inner classes are more concise. For reusable complex handlers, named inner classes provide better structure.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Delegation Model with Inner Class Listener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outer class creates GUI components and manages application state. The inner class implements the listener interface and handles events with direct access to outer class fields.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28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PATTERN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730500"/>
            <a:ext cx="7175500" cy="5778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857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OUTER CLASS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200400"/>
            <a:ext cx="66675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MyFrame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 label;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 btn;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MyFrame()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 =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 =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Register inner listener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btn.addActionListener(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MyListener());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add(btn); add(label);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... inner class below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18500" y="2730500"/>
            <a:ext cx="7175500" cy="5778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11" name="Text 9"/>
          <p:cNvSpPr/>
          <p:nvPr/>
        </p:nvSpPr>
        <p:spPr>
          <a:xfrm>
            <a:off x="8572500" y="28575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LISTENER CLASS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572500" y="3200400"/>
            <a:ext cx="6667500" cy="520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Inner class implements listener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class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MyListener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ActionEvent e) {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 outer class field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label.setText(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"Button Clicked!"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Access outer class method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updateStatus();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37500" y="5334000"/>
            <a:ext cx="381000" cy="0"/>
          </a:xfrm>
          <a:prstGeom prst="straightConnector1">
            <a:avLst/>
          </a:prstGeom>
          <a:noFill/>
          <a:ln w="25400">
            <a:solidFill>
              <a:srgbClr val="D4763A"/>
            </a:solidFill>
            <a:prstDash val="solid"/>
            <a:headEnd type="arrow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Anonymous Inner Classes as Listeners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333500"/>
            <a:ext cx="14732000" cy="6985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397000"/>
            <a:ext cx="1422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Anonymous inner classes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B3A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the most concise way to implement listeners — defined inline at the point of registration with no separate class declaration.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4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200" kern="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7686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28956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source.addXXXListener(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XXXListener() {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handlerMethod(EventType e) {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handler code here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501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397500"/>
            <a:ext cx="469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2" name="Text 10"/>
          <p:cNvSpPr/>
          <p:nvPr/>
        </p:nvSpPr>
        <p:spPr>
          <a:xfrm>
            <a:off x="889000" y="5461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one-time event handlers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5397500"/>
            <a:ext cx="4699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4" name="Text 12"/>
          <p:cNvSpPr/>
          <p:nvPr/>
        </p:nvSpPr>
        <p:spPr>
          <a:xfrm>
            <a:off x="5842000" y="5461000"/>
            <a:ext cx="444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prototyping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5397500"/>
            <a:ext cx="4826000" cy="508000"/>
          </a:xfrm>
          <a:prstGeom prst="roundRect">
            <a:avLst>
              <a:gd name="adj" fmla="val 6000"/>
            </a:avLst>
          </a:prstGeom>
          <a:solidFill>
            <a:srgbClr val="1B3A4B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0" y="5461000"/>
            <a:ext cx="457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Listeners that won't be reused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096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0392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477000"/>
            <a:ext cx="7112000" cy="1968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6604000"/>
            <a:ext cx="660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Cannot be reused for multiple sources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Can make code harder to read if complex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constructor, cannot accept parameters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Difficult to debug due to lack of name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18500" y="6477000"/>
            <a:ext cx="7175500" cy="1968500"/>
          </a:xfrm>
          <a:prstGeom prst="roundRect">
            <a:avLst>
              <a:gd name="adj" fmla="val 3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616950" y="6477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22" name="Text 20"/>
          <p:cNvSpPr/>
          <p:nvPr/>
        </p:nvSpPr>
        <p:spPr>
          <a:xfrm>
            <a:off x="9055100" y="666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0" y="7175500"/>
            <a:ext cx="6667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i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"For a listener used once and only once, use an anonymous inner class. No two ways about it."</a:t>
            </a:r>
            <a:endParaRPr lang="en-US" sz="1600" dirty="0"/>
          </a:p>
          <a:p>
            <a:pPr algn="r">
              <a:lnSpc>
                <a:spcPct val="16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Campbell Ritchie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Anonymous Inner Class — Coding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1: BUTTON CLICK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752600"/>
            <a:ext cx="7175500" cy="3302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79600"/>
            <a:ext cx="66675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Anonymous ActionListener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button = 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 Me"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button.addActionListener(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ActionListener()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actionPerformed(ActionEvent e)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JOptionPane.showMessageDialog(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"Clicked!"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514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2: MOUSE LISTENER WITH ADAPTER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5524500"/>
            <a:ext cx="7175500" cy="3048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5651500"/>
            <a:ext cx="66675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Anonymous MouseAdapter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button.addMouseListener(</a:t>
            </a:r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MouseAdapter()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mouseEntered(MouseEvent e)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button.setBackground(Color.YELLOW);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mouseExited(MouseEvent e) {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button.setBackground(Color.WHITE);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35000"/>
              </a:lnSpc>
            </a:pPr>
            <a:r>
              <a:rPr lang="en-US" sz="12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18500" y="1333500"/>
            <a:ext cx="7175500" cy="69215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25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USE MOUSEADAPTER?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72500" y="2032000"/>
            <a:ext cx="66675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MouseListener has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methods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mouseClicked(), mousePressed(), mouseReleased()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mouseEntered(), mouseExited()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MouseAdapter provides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empty implementations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all 5 methods.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72500" y="5080000"/>
          <a:ext cx="6667500" cy="1905000"/>
        </p:xfrm>
        <a:graphic>
          <a:graphicData uri="http://schemas.openxmlformats.org/drawingml/2006/table">
            <a:tbl>
              <a:tblPr/>
              <a:tblGrid>
                <a:gridCol w="2667000"/>
                <a:gridCol w="2000250"/>
                <a:gridCol w="200025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Adapter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MouseAdapter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KeyAdapter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WindowAdapter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8572500" y="7112000"/>
            <a:ext cx="6667500" cy="571500"/>
          </a:xfrm>
          <a:prstGeom prst="roundRect">
            <a:avLst>
              <a:gd name="adj" fmla="val 4000"/>
            </a:avLst>
          </a:prstGeom>
          <a:solidFill>
            <a:srgbClr val="D4763A">
              <a:alpha val="8235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8763000" y="7175500"/>
            <a:ext cx="6286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Not all listeners have adapters (e.g., ActionListener has only 1 method).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 Handler Implementation Patterns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33500"/>
          <a:ext cx="14732000" cy="4318000"/>
        </p:xfrm>
        <a:graphic>
          <a:graphicData uri="http://schemas.openxmlformats.org/drawingml/2006/table">
            <a:tbl>
              <a:tblPr/>
              <a:tblGrid>
                <a:gridCol w="2209800"/>
                <a:gridCol w="5156200"/>
                <a:gridCol w="3683000"/>
                <a:gridCol w="3683000"/>
              </a:tblGrid>
              <a:tr h="689858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Pattern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 Structure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 Outer Class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MyFrame extends JFrame implements ActionListener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Simplest, direct access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Couples GUI and handler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 Named Inner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private class ButtonHandler implements ActionListener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 organized, reusable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code to write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 Anonymous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button.addActionListener(new ActionListener() {...})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Most concise for simple handlers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reusable, harder to debug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07036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 Lambda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button.addActionListener(e -&gt; handleClick())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Modern Java, very clean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C2C2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 8+ only, less explicit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EACH PATTERN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6413500"/>
            <a:ext cx="34925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2500" y="65405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1: Outer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2500" y="6921500"/>
            <a:ext cx="311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simple applications with few events. Quick to implement.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08500" y="6413500"/>
            <a:ext cx="34925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99000" y="65405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2: Named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99000" y="6921500"/>
            <a:ext cx="311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complex handlers that need to be reused or are lengthy.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55000" y="6413500"/>
            <a:ext cx="34925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45500" y="65405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3: Anonymous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45500" y="6921500"/>
            <a:ext cx="311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simple one-time handlers. Most common in practice.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2001500" y="6413500"/>
            <a:ext cx="34925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192000" y="6540500"/>
            <a:ext cx="311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4: Lambda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192000" y="6921500"/>
            <a:ext cx="3111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Java 8+ projects. Cleanest syntax for simple cases.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Coding Example — Calculator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simple calculator with two text fields, a result label, and an "Add" button using an inner class listener.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9525000" cy="6350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901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Calculator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 {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JTextField field1, field2;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 resultLabel;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Calculator() {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field1 =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JTextField(10);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field2 =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JTextField(10);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resultLabel =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JLabel(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"Result: "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addBtn =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"Add"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Register inner class listener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addBtn.addActionListener(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AddListener());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setLayout(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FlowLayout());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add(field1); add(field2);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add(addBtn); add(resultLabel);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Inner class listener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class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AddListener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 {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actionPerformed(ActionEvent e) {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n1 = Integer.parseInt(field1.getText());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n2 = Integer.parseInt(field2.getText());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resultLabel.setText(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"Result: "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(n1 + n2));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pPr>
              <a:lnSpc>
                <a:spcPct val="125000"/>
              </a:lnSpc>
            </a:pPr>
            <a:r>
              <a:rPr lang="en-US" sz="10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(NumberFormatException ex) {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resultLabel.setText(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"Invalid input!"</a:t>
            </a:r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5000"/>
              </a:lnSpc>
            </a:pPr>
            <a:r>
              <a:rPr lang="en-US" sz="10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04500" y="1841500"/>
            <a:ext cx="4889500" cy="6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58500" y="2540000"/>
            <a:ext cx="43815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Inner Class Access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AddListener directly accesses field1, field2, and resultLabel from the outer class.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Input Parsing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Integer.parseInt() converts text to numbers.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Error Handling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try-catch for NumberFormatException handles invalid input gracefully.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UI Update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resultLabel.setText() updates the display after calculation.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Coding Example — Multiple Events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2700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application combining ActionListener, KeyListener, and MouseListener on different components.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41500"/>
            <a:ext cx="9525000" cy="6350000"/>
          </a:xfrm>
          <a:prstGeom prst="roundRect">
            <a:avLst>
              <a:gd name="adj" fmla="val 3000"/>
            </a:avLst>
          </a:prstGeom>
          <a:solidFill>
            <a:srgbClr val="E8F0F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968500"/>
            <a:ext cx="9017000" cy="609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MultiEventDemo 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JFrame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 label;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MultiEventDemo()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JTextField field = 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JTextField(15);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JButton btn = 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JButton(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"Show"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 = 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JLabel(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"Type something..."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1. ActionListener on button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btn.addActionListener(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ActionListener()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actionPerformed(ActionEvent e)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label.setText(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"Button: "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field.getText());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2. KeyListener on text field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field.addKeyListener(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KeyAdapter()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keyReleased(KeyEvent e)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label.setText(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"Typing: "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field.getText());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6B8F9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3. MouseListener on button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btn.addMouseListener(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MouseAdapter()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mouseEntered(MouseEvent e)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btn.setBackground(Color.CYAN);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mouseExited(MouseEvent e) {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btn.setBackground(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add(field); add(btn); add(label);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setLayout(</a:t>
            </a:r>
            <a:pPr>
              <a:lnSpc>
                <a:spcPct val="120000"/>
              </a:lnSpc>
            </a:pPr>
            <a:r>
              <a:rPr lang="en-US" sz="9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FlowLayout());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604500" y="1841500"/>
            <a:ext cx="4889500" cy="635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585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58500" y="2540000"/>
            <a:ext cx="4381500" cy="539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Listeners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components with their own event handlers.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Event Types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Action, Key, and Mouse events in one application.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Mixed Patterns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Anonymous classes for Action and Key; MouseAdapter for Mouse.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Coordination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Shows how a GUI coordinates multiple event sources.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444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3A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&amp; Best Practices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016000"/>
            <a:ext cx="762000" cy="381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333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778000"/>
            <a:ext cx="7175500" cy="107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6950" y="2006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60080" y="50721"/>
                </a:moveTo>
                <a:lnTo>
                  <a:pt x="90666" y="127873"/>
                </a:lnTo>
                <a:cubicBezTo>
                  <a:pt x="87928" y="130909"/>
                  <a:pt x="88047" y="135612"/>
                  <a:pt x="90964" y="138529"/>
                </a:cubicBezTo>
                <a:cubicBezTo>
                  <a:pt x="109121" y="156686"/>
                  <a:pt x="138589" y="156686"/>
                  <a:pt x="156746" y="138529"/>
                </a:cubicBezTo>
                <a:lnTo>
                  <a:pt x="175677" y="119598"/>
                </a:lnTo>
                <a:cubicBezTo>
                  <a:pt x="178177" y="117098"/>
                  <a:pt x="181332" y="115729"/>
                  <a:pt x="184547" y="115491"/>
                </a:cubicBezTo>
                <a:cubicBezTo>
                  <a:pt x="188595" y="115133"/>
                  <a:pt x="192762" y="116503"/>
                  <a:pt x="195858" y="119598"/>
                </a:cubicBezTo>
                <a:lnTo>
                  <a:pt x="300990" y="223838"/>
                </a:lnTo>
                <a:lnTo>
                  <a:pt x="342900" y="190500"/>
                </a:lnTo>
                <a:lnTo>
                  <a:pt x="342900" y="19050"/>
                </a:lnTo>
                <a:lnTo>
                  <a:pt x="276225" y="57150"/>
                </a:lnTo>
                <a:lnTo>
                  <a:pt x="262057" y="47685"/>
                </a:lnTo>
                <a:cubicBezTo>
                  <a:pt x="252651" y="41434"/>
                  <a:pt x="241637" y="38100"/>
                  <a:pt x="230326" y="38100"/>
                </a:cubicBezTo>
                <a:lnTo>
                  <a:pt x="188416" y="38100"/>
                </a:lnTo>
                <a:cubicBezTo>
                  <a:pt x="187762" y="38100"/>
                  <a:pt x="187047" y="38100"/>
                  <a:pt x="186392" y="38160"/>
                </a:cubicBezTo>
                <a:cubicBezTo>
                  <a:pt x="176332" y="38695"/>
                  <a:pt x="166866" y="43220"/>
                  <a:pt x="160080" y="50721"/>
                </a:cubicBezTo>
                <a:close/>
                <a:moveTo>
                  <a:pt x="69413" y="108764"/>
                </a:moveTo>
                <a:lnTo>
                  <a:pt x="132993" y="38100"/>
                </a:lnTo>
                <a:lnTo>
                  <a:pt x="109418" y="38100"/>
                </a:lnTo>
                <a:cubicBezTo>
                  <a:pt x="94238" y="38100"/>
                  <a:pt x="79712" y="44113"/>
                  <a:pt x="68997" y="54828"/>
                </a:cubicBezTo>
                <a:lnTo>
                  <a:pt x="66675" y="57150"/>
                </a:lnTo>
                <a:lnTo>
                  <a:pt x="0" y="19050"/>
                </a:lnTo>
                <a:lnTo>
                  <a:pt x="0" y="190500"/>
                </a:lnTo>
                <a:lnTo>
                  <a:pt x="93107" y="268069"/>
                </a:lnTo>
                <a:cubicBezTo>
                  <a:pt x="106799" y="279499"/>
                  <a:pt x="124063" y="285750"/>
                  <a:pt x="141863" y="285750"/>
                </a:cubicBezTo>
                <a:lnTo>
                  <a:pt x="151209" y="285750"/>
                </a:lnTo>
                <a:lnTo>
                  <a:pt x="147042" y="281583"/>
                </a:lnTo>
                <a:cubicBezTo>
                  <a:pt x="141446" y="275987"/>
                  <a:pt x="141446" y="266938"/>
                  <a:pt x="147042" y="261402"/>
                </a:cubicBezTo>
                <a:cubicBezTo>
                  <a:pt x="152638" y="255865"/>
                  <a:pt x="161687" y="255806"/>
                  <a:pt x="167223" y="261402"/>
                </a:cubicBezTo>
                <a:lnTo>
                  <a:pt x="191631" y="285810"/>
                </a:lnTo>
                <a:lnTo>
                  <a:pt x="196989" y="285810"/>
                </a:lnTo>
                <a:cubicBezTo>
                  <a:pt x="208359" y="285810"/>
                  <a:pt x="219492" y="283250"/>
                  <a:pt x="229612" y="278487"/>
                </a:cubicBezTo>
                <a:lnTo>
                  <a:pt x="213717" y="262533"/>
                </a:lnTo>
                <a:cubicBezTo>
                  <a:pt x="208121" y="256937"/>
                  <a:pt x="208121" y="247888"/>
                  <a:pt x="213717" y="242352"/>
                </a:cubicBezTo>
                <a:cubicBezTo>
                  <a:pt x="219313" y="236815"/>
                  <a:pt x="228362" y="236756"/>
                  <a:pt x="233898" y="242352"/>
                </a:cubicBezTo>
                <a:lnTo>
                  <a:pt x="252948" y="261402"/>
                </a:lnTo>
                <a:lnTo>
                  <a:pt x="263366" y="250984"/>
                </a:lnTo>
                <a:cubicBezTo>
                  <a:pt x="268665" y="245685"/>
                  <a:pt x="270212" y="238006"/>
                  <a:pt x="267891" y="231279"/>
                </a:cubicBezTo>
                <a:lnTo>
                  <a:pt x="185797" y="149840"/>
                </a:lnTo>
                <a:lnTo>
                  <a:pt x="176927" y="158710"/>
                </a:lnTo>
                <a:cubicBezTo>
                  <a:pt x="147578" y="188059"/>
                  <a:pt x="100072" y="188059"/>
                  <a:pt x="70723" y="158710"/>
                </a:cubicBezTo>
                <a:cubicBezTo>
                  <a:pt x="57031" y="145018"/>
                  <a:pt x="56495" y="123051"/>
                  <a:pt x="69413" y="108704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1879600"/>
            <a:ext cx="622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Delegation Model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separates event sources from handlers for cleaner architecture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18500" y="1778000"/>
            <a:ext cx="7175500" cy="107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10600" y="20066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76200" y="57150"/>
                </a:moveTo>
                <a:lnTo>
                  <a:pt x="76200" y="95250"/>
                </a:lnTo>
                <a:lnTo>
                  <a:pt x="152400" y="95250"/>
                </a:lnTo>
                <a:lnTo>
                  <a:pt x="152400" y="57150"/>
                </a:lnTo>
                <a:cubicBezTo>
                  <a:pt x="152400" y="36135"/>
                  <a:pt x="135315" y="19050"/>
                  <a:pt x="114300" y="19050"/>
                </a:cubicBezTo>
                <a:cubicBezTo>
                  <a:pt x="93285" y="19050"/>
                  <a:pt x="76200" y="36135"/>
                  <a:pt x="76200" y="57150"/>
                </a:cubicBezTo>
                <a:close/>
                <a:moveTo>
                  <a:pt x="38100" y="95250"/>
                </a:moveTo>
                <a:lnTo>
                  <a:pt x="38100" y="57150"/>
                </a:lnTo>
                <a:cubicBezTo>
                  <a:pt x="38100" y="15061"/>
                  <a:pt x="72211" y="-19050"/>
                  <a:pt x="114300" y="-19050"/>
                </a:cubicBezTo>
                <a:cubicBezTo>
                  <a:pt x="156389" y="-19050"/>
                  <a:pt x="190500" y="15061"/>
                  <a:pt x="190500" y="57150"/>
                </a:cubicBezTo>
                <a:lnTo>
                  <a:pt x="190500" y="95250"/>
                </a:lnTo>
                <a:cubicBezTo>
                  <a:pt x="211515" y="95250"/>
                  <a:pt x="228600" y="112335"/>
                  <a:pt x="228600" y="13335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17085" y="95250"/>
                  <a:pt x="38100" y="9525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1" name="Text 9"/>
          <p:cNvSpPr/>
          <p:nvPr/>
        </p:nvSpPr>
        <p:spPr>
          <a:xfrm>
            <a:off x="9017000" y="1879600"/>
            <a:ext cx="622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classes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encapsulation and direct access to outer class members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048000"/>
            <a:ext cx="7175500" cy="107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5050" y="3276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4" name="Text 12"/>
          <p:cNvSpPr/>
          <p:nvPr/>
        </p:nvSpPr>
        <p:spPr>
          <a:xfrm>
            <a:off x="1460500" y="3149600"/>
            <a:ext cx="622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Anonymous inner classes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ideal for simple, one-time listeners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18500" y="3048000"/>
            <a:ext cx="7175500" cy="1079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72500" y="327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3350" y="0"/>
                </a:moveTo>
                <a:cubicBezTo>
                  <a:pt x="154365" y="0"/>
                  <a:pt x="171450" y="12799"/>
                  <a:pt x="171450" y="28575"/>
                </a:cubicBezTo>
                <a:cubicBezTo>
                  <a:pt x="171450" y="34766"/>
                  <a:pt x="168831" y="40481"/>
                  <a:pt x="164306" y="45184"/>
                </a:cubicBezTo>
                <a:cubicBezTo>
                  <a:pt x="160377" y="49292"/>
                  <a:pt x="157163" y="54293"/>
                  <a:pt x="157163" y="60008"/>
                </a:cubicBezTo>
                <a:cubicBezTo>
                  <a:pt x="157163" y="68937"/>
                  <a:pt x="164425" y="76200"/>
                  <a:pt x="173355" y="76200"/>
                </a:cubicBezTo>
                <a:lnTo>
                  <a:pt x="200025" y="76200"/>
                </a:lnTo>
                <a:cubicBezTo>
                  <a:pt x="215801" y="76200"/>
                  <a:pt x="228600" y="88999"/>
                  <a:pt x="228600" y="104775"/>
                </a:cubicBezTo>
                <a:lnTo>
                  <a:pt x="228600" y="131445"/>
                </a:lnTo>
                <a:cubicBezTo>
                  <a:pt x="228600" y="140375"/>
                  <a:pt x="235863" y="147638"/>
                  <a:pt x="244793" y="147638"/>
                </a:cubicBezTo>
                <a:cubicBezTo>
                  <a:pt x="250448" y="147638"/>
                  <a:pt x="255508" y="144423"/>
                  <a:pt x="259616" y="140494"/>
                </a:cubicBezTo>
                <a:cubicBezTo>
                  <a:pt x="264319" y="136029"/>
                  <a:pt x="270034" y="133350"/>
                  <a:pt x="276225" y="133350"/>
                </a:cubicBezTo>
                <a:cubicBezTo>
                  <a:pt x="292001" y="133350"/>
                  <a:pt x="304800" y="150435"/>
                  <a:pt x="304800" y="171450"/>
                </a:cubicBezTo>
                <a:cubicBezTo>
                  <a:pt x="304800" y="192465"/>
                  <a:pt x="292001" y="209550"/>
                  <a:pt x="276225" y="209550"/>
                </a:cubicBezTo>
                <a:cubicBezTo>
                  <a:pt x="270034" y="209550"/>
                  <a:pt x="264259" y="206931"/>
                  <a:pt x="259616" y="202406"/>
                </a:cubicBezTo>
                <a:cubicBezTo>
                  <a:pt x="255508" y="198477"/>
                  <a:pt x="250507" y="195263"/>
                  <a:pt x="244793" y="195263"/>
                </a:cubicBezTo>
                <a:cubicBezTo>
                  <a:pt x="235863" y="195263"/>
                  <a:pt x="228600" y="202525"/>
                  <a:pt x="228600" y="211455"/>
                </a:cubicBezTo>
                <a:lnTo>
                  <a:pt x="228600" y="276225"/>
                </a:lnTo>
                <a:cubicBezTo>
                  <a:pt x="228600" y="292001"/>
                  <a:pt x="215801" y="304800"/>
                  <a:pt x="200025" y="304800"/>
                </a:cubicBezTo>
                <a:lnTo>
                  <a:pt x="166211" y="304800"/>
                </a:lnTo>
                <a:cubicBezTo>
                  <a:pt x="158591" y="304800"/>
                  <a:pt x="152400" y="298609"/>
                  <a:pt x="152400" y="290989"/>
                </a:cubicBezTo>
                <a:cubicBezTo>
                  <a:pt x="152400" y="285512"/>
                  <a:pt x="155853" y="280690"/>
                  <a:pt x="160258" y="277416"/>
                </a:cubicBezTo>
                <a:cubicBezTo>
                  <a:pt x="167164" y="272236"/>
                  <a:pt x="171450" y="265093"/>
                  <a:pt x="171450" y="257175"/>
                </a:cubicBezTo>
                <a:cubicBezTo>
                  <a:pt x="171450" y="241399"/>
                  <a:pt x="154365" y="228600"/>
                  <a:pt x="133350" y="228600"/>
                </a:cubicBezTo>
                <a:cubicBezTo>
                  <a:pt x="112335" y="228600"/>
                  <a:pt x="95250" y="241399"/>
                  <a:pt x="95250" y="257175"/>
                </a:cubicBezTo>
                <a:cubicBezTo>
                  <a:pt x="95250" y="265093"/>
                  <a:pt x="99536" y="272236"/>
                  <a:pt x="106442" y="277416"/>
                </a:cubicBezTo>
                <a:cubicBezTo>
                  <a:pt x="110847" y="280690"/>
                  <a:pt x="114300" y="285452"/>
                  <a:pt x="114300" y="290989"/>
                </a:cubicBezTo>
                <a:cubicBezTo>
                  <a:pt x="114300" y="298609"/>
                  <a:pt x="108109" y="304800"/>
                  <a:pt x="100489" y="304800"/>
                </a:cubicBezTo>
                <a:lnTo>
                  <a:pt x="28575" y="304800"/>
                </a:lnTo>
                <a:cubicBezTo>
                  <a:pt x="12799" y="304800"/>
                  <a:pt x="0" y="292001"/>
                  <a:pt x="0" y="276225"/>
                </a:cubicBezTo>
                <a:lnTo>
                  <a:pt x="0" y="204311"/>
                </a:lnTo>
                <a:cubicBezTo>
                  <a:pt x="0" y="196691"/>
                  <a:pt x="6191" y="190500"/>
                  <a:pt x="13811" y="190500"/>
                </a:cubicBezTo>
                <a:cubicBezTo>
                  <a:pt x="19288" y="190500"/>
                  <a:pt x="24110" y="193953"/>
                  <a:pt x="27384" y="198358"/>
                </a:cubicBezTo>
                <a:cubicBezTo>
                  <a:pt x="32564" y="205264"/>
                  <a:pt x="39707" y="209550"/>
                  <a:pt x="47625" y="209550"/>
                </a:cubicBezTo>
                <a:cubicBezTo>
                  <a:pt x="63401" y="209550"/>
                  <a:pt x="76200" y="192465"/>
                  <a:pt x="76200" y="171450"/>
                </a:cubicBezTo>
                <a:cubicBezTo>
                  <a:pt x="76200" y="150435"/>
                  <a:pt x="63401" y="133350"/>
                  <a:pt x="47625" y="133350"/>
                </a:cubicBezTo>
                <a:cubicBezTo>
                  <a:pt x="39707" y="133350"/>
                  <a:pt x="32564" y="137636"/>
                  <a:pt x="27384" y="144542"/>
                </a:cubicBezTo>
                <a:cubicBezTo>
                  <a:pt x="24110" y="148947"/>
                  <a:pt x="19348" y="152400"/>
                  <a:pt x="13811" y="152400"/>
                </a:cubicBezTo>
                <a:cubicBezTo>
                  <a:pt x="6191" y="152400"/>
                  <a:pt x="0" y="146209"/>
                  <a:pt x="0" y="138589"/>
                </a:cubicBezTo>
                <a:lnTo>
                  <a:pt x="0" y="104775"/>
                </a:lnTo>
                <a:cubicBezTo>
                  <a:pt x="0" y="88999"/>
                  <a:pt x="12799" y="76200"/>
                  <a:pt x="28575" y="76200"/>
                </a:cubicBezTo>
                <a:lnTo>
                  <a:pt x="93345" y="76200"/>
                </a:lnTo>
                <a:cubicBezTo>
                  <a:pt x="102275" y="76200"/>
                  <a:pt x="109537" y="68937"/>
                  <a:pt x="109537" y="60007"/>
                </a:cubicBezTo>
                <a:cubicBezTo>
                  <a:pt x="109537" y="54352"/>
                  <a:pt x="106323" y="49292"/>
                  <a:pt x="102394" y="45184"/>
                </a:cubicBezTo>
                <a:cubicBezTo>
                  <a:pt x="97929" y="40481"/>
                  <a:pt x="95250" y="34766"/>
                  <a:pt x="95250" y="28575"/>
                </a:cubicBezTo>
                <a:cubicBezTo>
                  <a:pt x="95250" y="12799"/>
                  <a:pt x="112335" y="0"/>
                  <a:pt x="133350" y="0"/>
                </a:cubicBezTo>
                <a:close/>
              </a:path>
            </a:pathLst>
          </a:custGeom>
          <a:solidFill>
            <a:srgbClr val="D4763A"/>
          </a:solidFill>
          <a:ln/>
        </p:spPr>
      </p:sp>
      <p:sp>
        <p:nvSpPr>
          <p:cNvPr id="17" name="Text 15"/>
          <p:cNvSpPr/>
          <p:nvPr/>
        </p:nvSpPr>
        <p:spPr>
          <a:xfrm>
            <a:off x="9017000" y="3149600"/>
            <a:ext cx="6223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Adapter classes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avoid implementing all interface methods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4254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D476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635500"/>
            <a:ext cx="14732000" cy="3492500"/>
          </a:xfrm>
          <a:prstGeom prst="roundRect">
            <a:avLst>
              <a:gd name="adj" fmla="val 2000"/>
            </a:avLst>
          </a:prstGeom>
          <a:solidFill>
            <a:srgbClr val="E8F0F4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4826000"/>
            <a:ext cx="14224000" cy="31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Keep handler methods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and focused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delegate complex logic to separate methods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meaningful names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listener classes (e.g., SubmitButtonHandler)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 exceptions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event handlers, especially for user input parsing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Unregister listeners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components are disposed to prevent memory leaks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Consider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lambda expressions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functional interfaces (Java 8+)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import the correct packages: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java.awt.event.*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javax.swing.event.*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2C2C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the right pattern: Outer class for simple, Inner class for complex, Lambda for modern code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8 — ACP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478000" y="8763000"/>
            <a:ext cx="101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6B8F9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 / 30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rudqyr7nww3t2/mnt/agents/output/acp-week8/images/2_Abstract_glowing_coding_big_data.png">    </p:cNvPr>
          <p:cNvPicPr>
            <a:picLocks noChangeAspect="1"/>
          </p:cNvPicPr>
          <p:nvPr/>
        </p:nvPicPr>
        <p:blipFill>
          <a:blip r:embed="rId1"/>
          <a:srcRect l="0" r="0" t="7779" b="777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62B38">
                  <a:alpha val="90000"/>
                </a:srgbClr>
              </a:gs>
              <a:gs pos="50000">
                <a:srgbClr val="162B38">
                  <a:alpha val="80000"/>
                </a:srgbClr>
              </a:gs>
              <a:gs pos="100000">
                <a:srgbClr val="162B38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D4763A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3048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48000" y="4064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spc="300" kern="0" dirty="0">
                <a:solidFill>
                  <a:srgbClr val="D476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COMPUTER PROGRAMMING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23000" y="4826000"/>
            <a:ext cx="3810000" cy="12700"/>
          </a:xfrm>
          <a:prstGeom prst="rect">
            <a:avLst/>
          </a:prstGeom>
          <a:solidFill>
            <a:srgbClr val="FFFFFF">
              <a:alpha val="25098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 8 — Lectures 15 &amp; 16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Event-Driven Programming &amp; Delegation 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6350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implementing event handlers using different patterns.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Experiment with combining multiple event types in a single application.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8763000"/>
            <a:ext cx="16256000" cy="381000"/>
          </a:xfrm>
          <a:prstGeom prst="rect">
            <a:avLst/>
          </a:prstGeom>
          <a:solidFill>
            <a:srgbClr val="0F1F29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88011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Advanced Computer Programming — 2026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Computer Programming - Week 8</dc:title>
  <dc:subject>Advanced Computer Programming - Week 8</dc:subject>
  <dc:creator>Kimi</dc:creator>
  <cp:lastModifiedBy>Kimi</cp:lastModifiedBy>
  <cp:revision>1</cp:revision>
  <dcterms:created xsi:type="dcterms:W3CDTF">2026-05-25T17:21:08Z</dcterms:created>
  <dcterms:modified xsi:type="dcterms:W3CDTF">2026-05-25T17:21:08Z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{"Label":"Advanced Computer Programming - Week 8","ContentProducer":"001191110108MACG2KBH8F10000","ProduceID":"19e6019c-b3e2-8e8d-8000-000003895e97","ReservedCode1":"","ContentPropagator":"001191110108MACG2KBH8F20000","PropagateID":"19e6019c-b3e2-8e8d-8000-000003895e97","ReservedCode2":""}</vt:lpwstr>
  </property>
</Properties>
</file>