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6256000" cy="9144000"/>
  <p:notesSz cx="9144000" cy="16256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80000" cy="3810000"/>
          </a:xfrm>
          <a:custGeom>
            <a:avLst/>
            <a:gdLst/>
            <a:ahLst/>
            <a:cxnLst/>
            <a:rect l="l" t="t" r="r" b="b"/>
            <a:pathLst>
              <a:path w="5080000" h="3810000">
                <a:moveTo>
                  <a:pt x="0" y="0"/>
                </a:moveTo>
                <a:lnTo>
                  <a:pt x="5080000" y="0"/>
                </a:lnTo>
                <a:lnTo>
                  <a:pt x="5080000" y="1905000"/>
                </a:lnTo>
                <a:quadBezTo>
                  <a:pt x="4445000" y="2540000"/>
                  <a:pt x="3810000" y="2540000"/>
                </a:quadBezTo>
                <a:lnTo>
                  <a:pt x="1270000" y="2540000"/>
                </a:lnTo>
                <a:quadBezTo>
                  <a:pt x="635000" y="2540000"/>
                  <a:pt x="0" y="1905000"/>
                </a:quadBezTo>
                <a:close/>
              </a:path>
            </a:pathLst>
          </a:custGeom>
          <a:gradFill rotWithShape="1" flip="none">
            <a:gsLst>
              <a:gs pos="0">
                <a:srgbClr val="2E5E8A"/>
              </a:gs>
              <a:gs pos="50000">
                <a:srgbClr val="D0E0E3"/>
              </a:gs>
              <a:gs pos="100000">
                <a:srgbClr val="D0E0E3">
                  <a:alpha val="13000"/>
                </a:srgbClr>
              </a:gs>
            </a:gsLst>
            <a:lin ang="810000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11176000" y="6604000"/>
            <a:ext cx="5080000" cy="2540000"/>
          </a:xfrm>
          <a:custGeom>
            <a:avLst/>
            <a:gdLst/>
            <a:ahLst/>
            <a:cxnLst/>
            <a:rect l="l" t="t" r="r" b="b"/>
            <a:pathLst>
              <a:path w="5080000" h="2540000">
                <a:moveTo>
                  <a:pt x="5080000" y="2540000"/>
                </a:moveTo>
                <a:lnTo>
                  <a:pt x="0" y="2540000"/>
                </a:lnTo>
                <a:lnTo>
                  <a:pt x="0" y="1270000"/>
                </a:lnTo>
                <a:quadBezTo>
                  <a:pt x="635000" y="635000"/>
                  <a:pt x="1270000" y="635000"/>
                </a:quadBezTo>
                <a:lnTo>
                  <a:pt x="3810000" y="635000"/>
                </a:lnTo>
                <a:quadBezTo>
                  <a:pt x="4445000" y="635000"/>
                  <a:pt x="5080000" y="1270000"/>
                </a:quadBezTo>
                <a:close/>
              </a:path>
            </a:pathLst>
          </a:custGeom>
          <a:gradFill rotWithShape="1" flip="none">
            <a:gsLst>
              <a:gs pos="0">
                <a:srgbClr val="D0E0E3">
                  <a:alpha val="25000"/>
                </a:srgbClr>
              </a:gs>
              <a:gs pos="50000">
                <a:srgbClr val="D0E0E3"/>
              </a:gs>
              <a:gs pos="100000">
                <a:srgbClr val="D0D6DC"/>
              </a:gs>
            </a:gsLst>
            <a:lin ang="18900000" scaled="1"/>
          </a:gradFill>
          <a:ln/>
        </p:spPr>
      </p:sp>
      <p:sp>
        <p:nvSpPr>
          <p:cNvPr id="4" name="Text 2"/>
          <p:cNvSpPr/>
          <p:nvPr/>
        </p:nvSpPr>
        <p:spPr>
          <a:xfrm>
            <a:off x="1778000" y="2921000"/>
            <a:ext cx="127000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6800" b="1" spc="100" kern="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Lambda Expressions in Java</a:t>
            </a:r>
            <a:endParaRPr lang="en-US" sz="6800" dirty="0"/>
          </a:p>
        </p:txBody>
      </p:sp>
      <p:sp>
        <p:nvSpPr>
          <p:cNvPr id="5" name="Text 3"/>
          <p:cNvSpPr/>
          <p:nvPr/>
        </p:nvSpPr>
        <p:spPr>
          <a:xfrm>
            <a:off x="3048000" y="4318000"/>
            <a:ext cx="1016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Week 12 — Lecture 23 &amp; 24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0" y="5207000"/>
            <a:ext cx="2540000" cy="25400"/>
          </a:xfrm>
          <a:prstGeom prst="rect">
            <a:avLst/>
          </a:prstGeom>
          <a:solidFill>
            <a:srgbClr val="6B9CBF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318000" y="5715000"/>
            <a:ext cx="762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Understanding &amp; Applying Lambda Expressions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1016000"/>
            <a:ext cx="508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Contents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0160000" y="1270000"/>
            <a:ext cx="4826000" cy="6350000"/>
          </a:xfrm>
          <a:custGeom>
            <a:avLst/>
            <a:gdLst/>
            <a:ahLst/>
            <a:cxnLst/>
            <a:rect l="l" t="t" r="r" b="b"/>
            <a:pathLst>
              <a:path w="4826000" h="6350000">
                <a:moveTo>
                  <a:pt x="4826000" y="0"/>
                </a:moveTo>
                <a:lnTo>
                  <a:pt x="4826000" y="6350000"/>
                </a:lnTo>
                <a:lnTo>
                  <a:pt x="2413000" y="6350000"/>
                </a:lnTo>
                <a:quadBezTo>
                  <a:pt x="1778000" y="6350000"/>
                  <a:pt x="1143000" y="5715000"/>
                </a:quadBezTo>
                <a:lnTo>
                  <a:pt x="1143000" y="635000"/>
                </a:lnTo>
                <a:quadBezTo>
                  <a:pt x="1143000" y="0"/>
                  <a:pt x="1778000" y="0"/>
                </a:quadBezTo>
                <a:close/>
              </a:path>
            </a:pathLst>
          </a:custGeom>
          <a:gradFill rotWithShape="1" flip="none">
            <a:gsLst>
              <a:gs pos="0">
                <a:srgbClr val="D0E0E3">
                  <a:alpha val="6000"/>
                </a:srgbClr>
              </a:gs>
              <a:gs pos="70000">
                <a:srgbClr val="D0E0E3"/>
              </a:gs>
              <a:gs pos="100000">
                <a:srgbClr val="2E5E8A">
                  <a:alpha val="8000"/>
                </a:srgbClr>
              </a:gs>
            </a:gsLst>
            <a:lin ang="10800000" scaled="1"/>
          </a:gradFill>
          <a:ln/>
        </p:spPr>
      </p:sp>
      <p:sp>
        <p:nvSpPr>
          <p:cNvPr id="4" name="Shape 2"/>
          <p:cNvSpPr/>
          <p:nvPr/>
        </p:nvSpPr>
        <p:spPr>
          <a:xfrm>
            <a:off x="1524000" y="2540000"/>
            <a:ext cx="508000" cy="5080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5" name="Text 3"/>
          <p:cNvSpPr/>
          <p:nvPr/>
        </p:nvSpPr>
        <p:spPr>
          <a:xfrm>
            <a:off x="1460500" y="2540000"/>
            <a:ext cx="63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286000" y="2540000"/>
            <a:ext cx="635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2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Lecture 23: Using Lambda Expressions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524000" y="3556000"/>
            <a:ext cx="508000" cy="5080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8" name="Text 6"/>
          <p:cNvSpPr/>
          <p:nvPr/>
        </p:nvSpPr>
        <p:spPr>
          <a:xfrm>
            <a:off x="1460500" y="3556000"/>
            <a:ext cx="63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286000" y="3556000"/>
            <a:ext cx="635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2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Lecture 24: Examples of Lambda Expressions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1524000" y="4572000"/>
            <a:ext cx="508000" cy="5080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11" name="Text 9"/>
          <p:cNvSpPr/>
          <p:nvPr/>
        </p:nvSpPr>
        <p:spPr>
          <a:xfrm>
            <a:off x="1460500" y="4572000"/>
            <a:ext cx="63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286000" y="4572000"/>
            <a:ext cx="635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2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Summary, Best Practices &amp; Exercises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Learning Objectives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651000" y="2222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140196"/>
                </a:moveTo>
                <a:lnTo>
                  <a:pt x="254000" y="447080"/>
                </a:lnTo>
                <a:lnTo>
                  <a:pt x="254496" y="446881"/>
                </a:lnTo>
                <a:cubicBezTo>
                  <a:pt x="308670" y="424359"/>
                  <a:pt x="366812" y="412750"/>
                  <a:pt x="425450" y="412750"/>
                </a:cubicBezTo>
                <a:lnTo>
                  <a:pt x="444500" y="412750"/>
                </a:lnTo>
                <a:lnTo>
                  <a:pt x="444500" y="95250"/>
                </a:lnTo>
                <a:lnTo>
                  <a:pt x="425450" y="95250"/>
                </a:lnTo>
                <a:cubicBezTo>
                  <a:pt x="383580" y="95250"/>
                  <a:pt x="342007" y="103584"/>
                  <a:pt x="303312" y="119658"/>
                </a:cubicBezTo>
                <a:cubicBezTo>
                  <a:pt x="286643" y="126603"/>
                  <a:pt x="270173" y="133449"/>
                  <a:pt x="254000" y="140196"/>
                </a:cubicBezTo>
                <a:close/>
                <a:moveTo>
                  <a:pt x="229096" y="61020"/>
                </a:moveTo>
                <a:lnTo>
                  <a:pt x="254000" y="71438"/>
                </a:lnTo>
                <a:lnTo>
                  <a:pt x="278904" y="61020"/>
                </a:lnTo>
                <a:cubicBezTo>
                  <a:pt x="325338" y="41672"/>
                  <a:pt x="375146" y="31750"/>
                  <a:pt x="425450" y="31750"/>
                </a:cubicBezTo>
                <a:lnTo>
                  <a:pt x="460375" y="31750"/>
                </a:lnTo>
                <a:cubicBezTo>
                  <a:pt x="486668" y="31750"/>
                  <a:pt x="508000" y="53082"/>
                  <a:pt x="508000" y="79375"/>
                </a:cubicBezTo>
                <a:lnTo>
                  <a:pt x="508000" y="428625"/>
                </a:lnTo>
                <a:cubicBezTo>
                  <a:pt x="508000" y="454918"/>
                  <a:pt x="486668" y="476250"/>
                  <a:pt x="460375" y="476250"/>
                </a:cubicBezTo>
                <a:lnTo>
                  <a:pt x="425450" y="476250"/>
                </a:lnTo>
                <a:cubicBezTo>
                  <a:pt x="375146" y="476250"/>
                  <a:pt x="325338" y="486172"/>
                  <a:pt x="278904" y="505520"/>
                </a:cubicBezTo>
                <a:lnTo>
                  <a:pt x="266204" y="510778"/>
                </a:lnTo>
                <a:cubicBezTo>
                  <a:pt x="258366" y="514052"/>
                  <a:pt x="249634" y="514052"/>
                  <a:pt x="241796" y="510778"/>
                </a:cubicBezTo>
                <a:lnTo>
                  <a:pt x="229096" y="505520"/>
                </a:lnTo>
                <a:cubicBezTo>
                  <a:pt x="182662" y="486172"/>
                  <a:pt x="132854" y="476250"/>
                  <a:pt x="82550" y="476250"/>
                </a:cubicBezTo>
                <a:lnTo>
                  <a:pt x="47625" y="476250"/>
                </a:lnTo>
                <a:cubicBezTo>
                  <a:pt x="21332" y="476250"/>
                  <a:pt x="0" y="454918"/>
                  <a:pt x="0" y="428625"/>
                </a:cubicBezTo>
                <a:lnTo>
                  <a:pt x="0" y="79375"/>
                </a:lnTo>
                <a:cubicBezTo>
                  <a:pt x="0" y="53082"/>
                  <a:pt x="21332" y="31750"/>
                  <a:pt x="47625" y="31750"/>
                </a:cubicBezTo>
                <a:lnTo>
                  <a:pt x="82550" y="31750"/>
                </a:lnTo>
                <a:cubicBezTo>
                  <a:pt x="132854" y="31750"/>
                  <a:pt x="182662" y="41672"/>
                  <a:pt x="229096" y="61020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5" name="Text 3"/>
          <p:cNvSpPr/>
          <p:nvPr/>
        </p:nvSpPr>
        <p:spPr>
          <a:xfrm>
            <a:off x="2413000" y="2159000"/>
            <a:ext cx="5842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Understand lambda expressions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what they are, why they were introduced in Java 8, and how they enable functional programming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651000" y="3619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318206" y="1191"/>
                </a:moveTo>
                <a:cubicBezTo>
                  <a:pt x="303213" y="-3671"/>
                  <a:pt x="287602" y="6152"/>
                  <a:pt x="283281" y="23019"/>
                </a:cubicBezTo>
                <a:lnTo>
                  <a:pt x="170392" y="467519"/>
                </a:lnTo>
                <a:cubicBezTo>
                  <a:pt x="166070" y="484386"/>
                  <a:pt x="174801" y="501948"/>
                  <a:pt x="189794" y="506809"/>
                </a:cubicBezTo>
                <a:cubicBezTo>
                  <a:pt x="204787" y="511671"/>
                  <a:pt x="220398" y="501848"/>
                  <a:pt x="224719" y="484981"/>
                </a:cubicBezTo>
                <a:lnTo>
                  <a:pt x="337608" y="40481"/>
                </a:lnTo>
                <a:cubicBezTo>
                  <a:pt x="341930" y="23614"/>
                  <a:pt x="333199" y="6052"/>
                  <a:pt x="318206" y="1191"/>
                </a:cubicBezTo>
                <a:close/>
                <a:moveTo>
                  <a:pt x="375179" y="136227"/>
                </a:moveTo>
                <a:cubicBezTo>
                  <a:pt x="364155" y="148630"/>
                  <a:pt x="364155" y="168771"/>
                  <a:pt x="375179" y="181173"/>
                </a:cubicBezTo>
                <a:lnTo>
                  <a:pt x="439914" y="254000"/>
                </a:lnTo>
                <a:lnTo>
                  <a:pt x="375179" y="326827"/>
                </a:lnTo>
                <a:cubicBezTo>
                  <a:pt x="364155" y="339229"/>
                  <a:pt x="364155" y="359370"/>
                  <a:pt x="375179" y="371773"/>
                </a:cubicBezTo>
                <a:cubicBezTo>
                  <a:pt x="386203" y="384175"/>
                  <a:pt x="404107" y="384175"/>
                  <a:pt x="415131" y="371773"/>
                </a:cubicBezTo>
                <a:lnTo>
                  <a:pt x="499798" y="276523"/>
                </a:lnTo>
                <a:cubicBezTo>
                  <a:pt x="510822" y="264120"/>
                  <a:pt x="510822" y="243979"/>
                  <a:pt x="499798" y="231577"/>
                </a:cubicBezTo>
                <a:lnTo>
                  <a:pt x="415131" y="136327"/>
                </a:lnTo>
                <a:cubicBezTo>
                  <a:pt x="404107" y="123924"/>
                  <a:pt x="386203" y="123924"/>
                  <a:pt x="375179" y="136327"/>
                </a:cubicBezTo>
                <a:close/>
                <a:moveTo>
                  <a:pt x="132909" y="136227"/>
                </a:moveTo>
                <a:cubicBezTo>
                  <a:pt x="121885" y="123825"/>
                  <a:pt x="103981" y="123825"/>
                  <a:pt x="92957" y="136227"/>
                </a:cubicBezTo>
                <a:lnTo>
                  <a:pt x="8290" y="231477"/>
                </a:lnTo>
                <a:cubicBezTo>
                  <a:pt x="-2734" y="243880"/>
                  <a:pt x="-2734" y="264021"/>
                  <a:pt x="8290" y="276423"/>
                </a:cubicBezTo>
                <a:lnTo>
                  <a:pt x="92957" y="371673"/>
                </a:lnTo>
                <a:cubicBezTo>
                  <a:pt x="103981" y="384076"/>
                  <a:pt x="121885" y="384076"/>
                  <a:pt x="132909" y="371673"/>
                </a:cubicBezTo>
                <a:cubicBezTo>
                  <a:pt x="143933" y="359271"/>
                  <a:pt x="143933" y="339130"/>
                  <a:pt x="132909" y="326727"/>
                </a:cubicBezTo>
                <a:lnTo>
                  <a:pt x="68174" y="254000"/>
                </a:lnTo>
                <a:lnTo>
                  <a:pt x="132821" y="181173"/>
                </a:lnTo>
                <a:cubicBezTo>
                  <a:pt x="143845" y="168771"/>
                  <a:pt x="143845" y="148630"/>
                  <a:pt x="132821" y="136227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7" name="Text 5"/>
          <p:cNvSpPr/>
          <p:nvPr/>
        </p:nvSpPr>
        <p:spPr>
          <a:xfrm>
            <a:off x="2413000" y="3556000"/>
            <a:ext cx="5842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Write correct lambda syntax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parameters, arrow token, body expressions, and all shorthand variations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651000" y="5016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45143" y="-31750"/>
                </a:moveTo>
                <a:cubicBezTo>
                  <a:pt x="165213" y="-31750"/>
                  <a:pt x="181429" y="-17562"/>
                  <a:pt x="181429" y="0"/>
                </a:cubicBezTo>
                <a:lnTo>
                  <a:pt x="181429" y="95250"/>
                </a:lnTo>
                <a:lnTo>
                  <a:pt x="326571" y="95250"/>
                </a:lnTo>
                <a:lnTo>
                  <a:pt x="326571" y="0"/>
                </a:lnTo>
                <a:cubicBezTo>
                  <a:pt x="326571" y="-17562"/>
                  <a:pt x="342787" y="-31750"/>
                  <a:pt x="362857" y="-31750"/>
                </a:cubicBezTo>
                <a:cubicBezTo>
                  <a:pt x="382928" y="-31750"/>
                  <a:pt x="399143" y="-17562"/>
                  <a:pt x="399143" y="0"/>
                </a:cubicBezTo>
                <a:lnTo>
                  <a:pt x="399143" y="95250"/>
                </a:lnTo>
                <a:lnTo>
                  <a:pt x="471714" y="95250"/>
                </a:lnTo>
                <a:cubicBezTo>
                  <a:pt x="491785" y="95250"/>
                  <a:pt x="508000" y="109438"/>
                  <a:pt x="508000" y="127000"/>
                </a:cubicBezTo>
                <a:cubicBezTo>
                  <a:pt x="508000" y="144562"/>
                  <a:pt x="491785" y="158750"/>
                  <a:pt x="471714" y="158750"/>
                </a:cubicBezTo>
                <a:lnTo>
                  <a:pt x="471714" y="222250"/>
                </a:lnTo>
                <a:cubicBezTo>
                  <a:pt x="471714" y="316607"/>
                  <a:pt x="393246" y="394990"/>
                  <a:pt x="290286" y="410071"/>
                </a:cubicBezTo>
                <a:lnTo>
                  <a:pt x="290286" y="476250"/>
                </a:lnTo>
                <a:cubicBezTo>
                  <a:pt x="290286" y="493812"/>
                  <a:pt x="274071" y="508000"/>
                  <a:pt x="254000" y="508000"/>
                </a:cubicBezTo>
                <a:cubicBezTo>
                  <a:pt x="233929" y="508000"/>
                  <a:pt x="217714" y="493812"/>
                  <a:pt x="217714" y="476250"/>
                </a:cubicBezTo>
                <a:lnTo>
                  <a:pt x="217714" y="410071"/>
                </a:lnTo>
                <a:cubicBezTo>
                  <a:pt x="114754" y="394990"/>
                  <a:pt x="36286" y="316607"/>
                  <a:pt x="36286" y="222250"/>
                </a:cubicBezTo>
                <a:lnTo>
                  <a:pt x="36286" y="158750"/>
                </a:lnTo>
                <a:cubicBezTo>
                  <a:pt x="16215" y="158750"/>
                  <a:pt x="0" y="144562"/>
                  <a:pt x="0" y="127000"/>
                </a:cubicBezTo>
                <a:cubicBezTo>
                  <a:pt x="0" y="109438"/>
                  <a:pt x="16215" y="95250"/>
                  <a:pt x="36286" y="95250"/>
                </a:cubicBezTo>
                <a:lnTo>
                  <a:pt x="108857" y="95250"/>
                </a:lnTo>
                <a:lnTo>
                  <a:pt x="108857" y="0"/>
                </a:lnTo>
                <a:cubicBezTo>
                  <a:pt x="108857" y="-17562"/>
                  <a:pt x="125072" y="-31750"/>
                  <a:pt x="145143" y="-31750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9" name="Text 7"/>
          <p:cNvSpPr/>
          <p:nvPr/>
        </p:nvSpPr>
        <p:spPr>
          <a:xfrm>
            <a:off x="2413000" y="4953000"/>
            <a:ext cx="5842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Apply with functional interfaces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Predicate, Function, Consumer, Supplier and custom @FunctionalInterface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890000" y="2222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0" y="95250"/>
                </a:moveTo>
                <a:cubicBezTo>
                  <a:pt x="0" y="77688"/>
                  <a:pt x="14188" y="63500"/>
                  <a:pt x="31750" y="63500"/>
                </a:cubicBezTo>
                <a:lnTo>
                  <a:pt x="412750" y="63500"/>
                </a:lnTo>
                <a:cubicBezTo>
                  <a:pt x="430312" y="63500"/>
                  <a:pt x="444500" y="77688"/>
                  <a:pt x="444500" y="95250"/>
                </a:cubicBezTo>
                <a:cubicBezTo>
                  <a:pt x="444500" y="112812"/>
                  <a:pt x="430312" y="127000"/>
                  <a:pt x="412750" y="127000"/>
                </a:cubicBezTo>
                <a:lnTo>
                  <a:pt x="31750" y="127000"/>
                </a:lnTo>
                <a:cubicBezTo>
                  <a:pt x="14188" y="127000"/>
                  <a:pt x="0" y="112812"/>
                  <a:pt x="0" y="95250"/>
                </a:cubicBezTo>
                <a:close/>
                <a:moveTo>
                  <a:pt x="63500" y="254000"/>
                </a:moveTo>
                <a:cubicBezTo>
                  <a:pt x="63500" y="236438"/>
                  <a:pt x="77688" y="222250"/>
                  <a:pt x="95250" y="222250"/>
                </a:cubicBezTo>
                <a:lnTo>
                  <a:pt x="476250" y="222250"/>
                </a:lnTo>
                <a:cubicBezTo>
                  <a:pt x="493812" y="222250"/>
                  <a:pt x="508000" y="236438"/>
                  <a:pt x="508000" y="254000"/>
                </a:cubicBezTo>
                <a:cubicBezTo>
                  <a:pt x="508000" y="271562"/>
                  <a:pt x="493812" y="285750"/>
                  <a:pt x="476250" y="285750"/>
                </a:cubicBezTo>
                <a:lnTo>
                  <a:pt x="95250" y="285750"/>
                </a:lnTo>
                <a:cubicBezTo>
                  <a:pt x="77688" y="285750"/>
                  <a:pt x="63500" y="271562"/>
                  <a:pt x="63500" y="254000"/>
                </a:cubicBezTo>
                <a:close/>
                <a:moveTo>
                  <a:pt x="444500" y="412750"/>
                </a:moveTo>
                <a:cubicBezTo>
                  <a:pt x="444500" y="430312"/>
                  <a:pt x="430312" y="444500"/>
                  <a:pt x="412750" y="444500"/>
                </a:cubicBezTo>
                <a:lnTo>
                  <a:pt x="31750" y="444500"/>
                </a:lnTo>
                <a:cubicBezTo>
                  <a:pt x="14188" y="444500"/>
                  <a:pt x="0" y="430312"/>
                  <a:pt x="0" y="412750"/>
                </a:cubicBezTo>
                <a:cubicBezTo>
                  <a:pt x="0" y="395188"/>
                  <a:pt x="14188" y="381000"/>
                  <a:pt x="31750" y="381000"/>
                </a:cubicBezTo>
                <a:lnTo>
                  <a:pt x="412750" y="381000"/>
                </a:lnTo>
                <a:cubicBezTo>
                  <a:pt x="430312" y="381000"/>
                  <a:pt x="444500" y="395188"/>
                  <a:pt x="444500" y="412750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1" name="Text 9"/>
          <p:cNvSpPr/>
          <p:nvPr/>
        </p:nvSpPr>
        <p:spPr>
          <a:xfrm>
            <a:off x="9652000" y="2159000"/>
            <a:ext cx="5334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 Stream API operations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filter, map, reduce, collect with lambda expressions for data processing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890000" y="3619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304800" y="31750"/>
                </a:moveTo>
                <a:lnTo>
                  <a:pt x="406400" y="31750"/>
                </a:lnTo>
                <a:cubicBezTo>
                  <a:pt x="420449" y="31750"/>
                  <a:pt x="431800" y="45938"/>
                  <a:pt x="431800" y="63500"/>
                </a:cubicBezTo>
                <a:cubicBezTo>
                  <a:pt x="431800" y="81062"/>
                  <a:pt x="420449" y="95250"/>
                  <a:pt x="406400" y="95250"/>
                </a:cubicBezTo>
                <a:lnTo>
                  <a:pt x="316230" y="95250"/>
                </a:lnTo>
                <a:cubicBezTo>
                  <a:pt x="312103" y="120848"/>
                  <a:pt x="298053" y="141982"/>
                  <a:pt x="279400" y="152102"/>
                </a:cubicBezTo>
                <a:lnTo>
                  <a:pt x="279400" y="444500"/>
                </a:lnTo>
                <a:lnTo>
                  <a:pt x="406400" y="444500"/>
                </a:lnTo>
                <a:cubicBezTo>
                  <a:pt x="420449" y="444500"/>
                  <a:pt x="431800" y="458688"/>
                  <a:pt x="431800" y="476250"/>
                </a:cubicBezTo>
                <a:cubicBezTo>
                  <a:pt x="431800" y="493812"/>
                  <a:pt x="420449" y="508000"/>
                  <a:pt x="406400" y="508000"/>
                </a:cubicBezTo>
                <a:lnTo>
                  <a:pt x="101600" y="508000"/>
                </a:lnTo>
                <a:cubicBezTo>
                  <a:pt x="87551" y="508000"/>
                  <a:pt x="76200" y="493812"/>
                  <a:pt x="76200" y="476250"/>
                </a:cubicBezTo>
                <a:cubicBezTo>
                  <a:pt x="76200" y="458688"/>
                  <a:pt x="87551" y="444500"/>
                  <a:pt x="101600" y="444500"/>
                </a:cubicBezTo>
                <a:lnTo>
                  <a:pt x="228600" y="444500"/>
                </a:lnTo>
                <a:lnTo>
                  <a:pt x="228600" y="152102"/>
                </a:lnTo>
                <a:cubicBezTo>
                  <a:pt x="209947" y="141883"/>
                  <a:pt x="195898" y="120749"/>
                  <a:pt x="191770" y="95250"/>
                </a:cubicBezTo>
                <a:lnTo>
                  <a:pt x="101600" y="95250"/>
                </a:lnTo>
                <a:cubicBezTo>
                  <a:pt x="87551" y="95250"/>
                  <a:pt x="76200" y="81062"/>
                  <a:pt x="76200" y="63500"/>
                </a:cubicBezTo>
                <a:cubicBezTo>
                  <a:pt x="76200" y="45938"/>
                  <a:pt x="87551" y="31750"/>
                  <a:pt x="101600" y="31750"/>
                </a:cubicBezTo>
                <a:lnTo>
                  <a:pt x="203200" y="31750"/>
                </a:lnTo>
                <a:cubicBezTo>
                  <a:pt x="214789" y="12502"/>
                  <a:pt x="233204" y="0"/>
                  <a:pt x="254000" y="0"/>
                </a:cubicBezTo>
                <a:cubicBezTo>
                  <a:pt x="274796" y="0"/>
                  <a:pt x="293211" y="12502"/>
                  <a:pt x="304800" y="31750"/>
                </a:cubicBezTo>
                <a:close/>
                <a:moveTo>
                  <a:pt x="348933" y="317500"/>
                </a:moveTo>
                <a:lnTo>
                  <a:pt x="463868" y="317500"/>
                </a:lnTo>
                <a:lnTo>
                  <a:pt x="406400" y="194270"/>
                </a:lnTo>
                <a:lnTo>
                  <a:pt x="348933" y="317500"/>
                </a:lnTo>
                <a:close/>
                <a:moveTo>
                  <a:pt x="406400" y="412750"/>
                </a:moveTo>
                <a:cubicBezTo>
                  <a:pt x="356473" y="412750"/>
                  <a:pt x="314960" y="379016"/>
                  <a:pt x="306388" y="334466"/>
                </a:cubicBezTo>
                <a:cubicBezTo>
                  <a:pt x="304324" y="323552"/>
                  <a:pt x="307181" y="312341"/>
                  <a:pt x="311706" y="302617"/>
                </a:cubicBezTo>
                <a:lnTo>
                  <a:pt x="387271" y="140692"/>
                </a:lnTo>
                <a:cubicBezTo>
                  <a:pt x="391239" y="132159"/>
                  <a:pt x="398542" y="127000"/>
                  <a:pt x="406400" y="127000"/>
                </a:cubicBezTo>
                <a:cubicBezTo>
                  <a:pt x="414258" y="127000"/>
                  <a:pt x="421561" y="132259"/>
                  <a:pt x="425529" y="140692"/>
                </a:cubicBezTo>
                <a:lnTo>
                  <a:pt x="501094" y="302617"/>
                </a:lnTo>
                <a:cubicBezTo>
                  <a:pt x="505619" y="312341"/>
                  <a:pt x="508476" y="323552"/>
                  <a:pt x="506413" y="334466"/>
                </a:cubicBezTo>
                <a:cubicBezTo>
                  <a:pt x="497840" y="378916"/>
                  <a:pt x="456327" y="412750"/>
                  <a:pt x="406400" y="412750"/>
                </a:cubicBezTo>
                <a:close/>
                <a:moveTo>
                  <a:pt x="100648" y="194270"/>
                </a:moveTo>
                <a:lnTo>
                  <a:pt x="43180" y="317500"/>
                </a:lnTo>
                <a:lnTo>
                  <a:pt x="158194" y="317500"/>
                </a:lnTo>
                <a:lnTo>
                  <a:pt x="100648" y="194270"/>
                </a:lnTo>
                <a:close/>
                <a:moveTo>
                  <a:pt x="714" y="334466"/>
                </a:moveTo>
                <a:cubicBezTo>
                  <a:pt x="-1349" y="323552"/>
                  <a:pt x="1508" y="312341"/>
                  <a:pt x="6033" y="302617"/>
                </a:cubicBezTo>
                <a:lnTo>
                  <a:pt x="81598" y="140692"/>
                </a:lnTo>
                <a:cubicBezTo>
                  <a:pt x="85566" y="132159"/>
                  <a:pt x="92869" y="127000"/>
                  <a:pt x="100727" y="127000"/>
                </a:cubicBezTo>
                <a:cubicBezTo>
                  <a:pt x="108585" y="127000"/>
                  <a:pt x="115888" y="132259"/>
                  <a:pt x="119856" y="140692"/>
                </a:cubicBezTo>
                <a:lnTo>
                  <a:pt x="195421" y="302617"/>
                </a:lnTo>
                <a:cubicBezTo>
                  <a:pt x="199946" y="312341"/>
                  <a:pt x="202803" y="323552"/>
                  <a:pt x="200739" y="334466"/>
                </a:cubicBezTo>
                <a:cubicBezTo>
                  <a:pt x="192167" y="378916"/>
                  <a:pt x="150654" y="412750"/>
                  <a:pt x="100727" y="412750"/>
                </a:cubicBezTo>
                <a:cubicBezTo>
                  <a:pt x="50800" y="412750"/>
                  <a:pt x="9287" y="379016"/>
                  <a:pt x="714" y="334466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3" name="Text 11"/>
          <p:cNvSpPr/>
          <p:nvPr/>
        </p:nvSpPr>
        <p:spPr>
          <a:xfrm>
            <a:off x="9652000" y="3556000"/>
            <a:ext cx="5334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Compare approaches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lambda vs anonymous classes vs traditional loops with real metrics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890000" y="5016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50800" y="95250"/>
                </a:moveTo>
                <a:cubicBezTo>
                  <a:pt x="50800" y="60226"/>
                  <a:pt x="73581" y="31750"/>
                  <a:pt x="101600" y="31750"/>
                </a:cubicBezTo>
                <a:lnTo>
                  <a:pt x="406400" y="31750"/>
                </a:lnTo>
                <a:cubicBezTo>
                  <a:pt x="434419" y="31750"/>
                  <a:pt x="457200" y="60226"/>
                  <a:pt x="457200" y="95250"/>
                </a:cubicBezTo>
                <a:lnTo>
                  <a:pt x="457200" y="333375"/>
                </a:lnTo>
                <a:lnTo>
                  <a:pt x="406400" y="333375"/>
                </a:lnTo>
                <a:lnTo>
                  <a:pt x="406400" y="95250"/>
                </a:lnTo>
                <a:lnTo>
                  <a:pt x="101600" y="95250"/>
                </a:lnTo>
                <a:lnTo>
                  <a:pt x="101600" y="333375"/>
                </a:lnTo>
                <a:lnTo>
                  <a:pt x="50800" y="333375"/>
                </a:lnTo>
                <a:lnTo>
                  <a:pt x="50800" y="95250"/>
                </a:lnTo>
                <a:close/>
                <a:moveTo>
                  <a:pt x="0" y="400050"/>
                </a:moveTo>
                <a:cubicBezTo>
                  <a:pt x="0" y="389533"/>
                  <a:pt x="6826" y="381000"/>
                  <a:pt x="15240" y="381000"/>
                </a:cubicBezTo>
                <a:lnTo>
                  <a:pt x="492760" y="381000"/>
                </a:lnTo>
                <a:cubicBezTo>
                  <a:pt x="501174" y="381000"/>
                  <a:pt x="508000" y="389533"/>
                  <a:pt x="508000" y="400050"/>
                </a:cubicBezTo>
                <a:cubicBezTo>
                  <a:pt x="508000" y="442119"/>
                  <a:pt x="480695" y="476250"/>
                  <a:pt x="447040" y="476250"/>
                </a:cubicBezTo>
                <a:lnTo>
                  <a:pt x="60960" y="476250"/>
                </a:lnTo>
                <a:cubicBezTo>
                  <a:pt x="27305" y="476250"/>
                  <a:pt x="0" y="442119"/>
                  <a:pt x="0" y="400050"/>
                </a:cubicBezTo>
                <a:close/>
                <a:moveTo>
                  <a:pt x="223044" y="207367"/>
                </a:moveTo>
                <a:lnTo>
                  <a:pt x="198438" y="238125"/>
                </a:lnTo>
                <a:lnTo>
                  <a:pt x="223044" y="268883"/>
                </a:lnTo>
                <a:cubicBezTo>
                  <a:pt x="230505" y="278209"/>
                  <a:pt x="230505" y="293291"/>
                  <a:pt x="223044" y="302518"/>
                </a:cubicBezTo>
                <a:cubicBezTo>
                  <a:pt x="215583" y="311745"/>
                  <a:pt x="203518" y="311845"/>
                  <a:pt x="196136" y="302518"/>
                </a:cubicBezTo>
                <a:lnTo>
                  <a:pt x="158036" y="254893"/>
                </a:lnTo>
                <a:cubicBezTo>
                  <a:pt x="150574" y="245566"/>
                  <a:pt x="150574" y="230485"/>
                  <a:pt x="158036" y="221258"/>
                </a:cubicBezTo>
                <a:lnTo>
                  <a:pt x="196136" y="173633"/>
                </a:lnTo>
                <a:cubicBezTo>
                  <a:pt x="203597" y="164306"/>
                  <a:pt x="215662" y="164306"/>
                  <a:pt x="223044" y="173633"/>
                </a:cubicBezTo>
                <a:cubicBezTo>
                  <a:pt x="230426" y="182959"/>
                  <a:pt x="230505" y="198041"/>
                  <a:pt x="223044" y="207268"/>
                </a:cubicBezTo>
                <a:close/>
                <a:moveTo>
                  <a:pt x="311944" y="173633"/>
                </a:moveTo>
                <a:lnTo>
                  <a:pt x="350044" y="221258"/>
                </a:lnTo>
                <a:cubicBezTo>
                  <a:pt x="357505" y="230584"/>
                  <a:pt x="357505" y="245666"/>
                  <a:pt x="350044" y="254893"/>
                </a:cubicBezTo>
                <a:lnTo>
                  <a:pt x="311944" y="302518"/>
                </a:lnTo>
                <a:cubicBezTo>
                  <a:pt x="304483" y="311845"/>
                  <a:pt x="292418" y="311845"/>
                  <a:pt x="285036" y="302518"/>
                </a:cubicBezTo>
                <a:cubicBezTo>
                  <a:pt x="277654" y="293191"/>
                  <a:pt x="277574" y="278110"/>
                  <a:pt x="285036" y="268883"/>
                </a:cubicBezTo>
                <a:lnTo>
                  <a:pt x="309642" y="238125"/>
                </a:lnTo>
                <a:lnTo>
                  <a:pt x="285036" y="207367"/>
                </a:lnTo>
                <a:cubicBezTo>
                  <a:pt x="277574" y="198041"/>
                  <a:pt x="277574" y="182959"/>
                  <a:pt x="285036" y="173732"/>
                </a:cubicBezTo>
                <a:cubicBezTo>
                  <a:pt x="292497" y="164505"/>
                  <a:pt x="304562" y="164405"/>
                  <a:pt x="311944" y="173732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5" name="Text 13"/>
          <p:cNvSpPr/>
          <p:nvPr/>
        </p:nvSpPr>
        <p:spPr>
          <a:xfrm>
            <a:off x="9652000" y="4953000"/>
            <a:ext cx="5334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Build real-world examples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sorting, event handling, data pipelines, threading with lambdas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270000" y="6477000"/>
            <a:ext cx="13716000" cy="1016000"/>
          </a:xfrm>
          <a:prstGeom prst="roundRect">
            <a:avLst>
              <a:gd name="adj" fmla="val 8000"/>
            </a:avLst>
          </a:prstGeom>
          <a:gradFill rotWithShape="1" flip="none">
            <a:gsLst>
              <a:gs pos="0">
                <a:srgbClr val="2E5E8A"/>
              </a:gs>
              <a:gs pos="100000">
                <a:srgbClr val="2E5E8A">
                  <a:alpha val="80000"/>
                </a:srgbClr>
              </a:gs>
            </a:gsLst>
            <a:lin ang="0" scaled="1"/>
          </a:gradFill>
          <a:ln/>
        </p:spPr>
      </p:sp>
      <p:sp>
        <p:nvSpPr>
          <p:cNvPr id="17" name="Text 15"/>
          <p:cNvSpPr/>
          <p:nvPr/>
        </p:nvSpPr>
        <p:spPr>
          <a:xfrm>
            <a:off x="1778000" y="6604000"/>
            <a:ext cx="1270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Prerequisite:</a:t>
            </a:r>
            <a:pPr algn="ctr">
              <a:lnSpc>
                <a:spcPct val="120000"/>
              </a:lnSpc>
            </a:pPr>
            <a:r>
              <a:rPr lang="en-US" sz="2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Basic Java OOP knowledge | </a:t>
            </a:r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Tools:</a:t>
            </a:r>
            <a:pPr algn="ctr">
              <a:lnSpc>
                <a:spcPct val="120000"/>
              </a:lnSpc>
            </a:pPr>
            <a:r>
              <a:rPr lang="en-US" sz="2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JDK 8+ | </a:t>
            </a:r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Duration:</a:t>
            </a:r>
            <a:pPr algn="ctr">
              <a:lnSpc>
                <a:spcPct val="120000"/>
              </a:lnSpc>
            </a:pPr>
            <a:r>
              <a:rPr lang="en-US" sz="2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2 Lectures (90 min each)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E5E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40000"/>
            <a:ext cx="16256000" cy="4064000"/>
          </a:xfrm>
          <a:custGeom>
            <a:avLst/>
            <a:gdLst/>
            <a:ahLst/>
            <a:cxnLst/>
            <a:rect l="l" t="t" r="r" b="b"/>
            <a:pathLst>
              <a:path w="16256000" h="4064000">
                <a:moveTo>
                  <a:pt x="0" y="2032000"/>
                </a:moveTo>
                <a:quadBezTo>
                  <a:pt x="4064000" y="0"/>
                  <a:pt x="8128000" y="0"/>
                </a:quadBezTo>
                <a:quadBezTo>
                  <a:pt x="12192000" y="0"/>
                  <a:pt x="16256000" y="2032000"/>
                </a:quadBezTo>
                <a:lnTo>
                  <a:pt x="16256000" y="4064000"/>
                </a:lnTo>
                <a:lnTo>
                  <a:pt x="0" y="4064000"/>
                </a:lnTo>
                <a:close/>
              </a:path>
            </a:pathLst>
          </a:custGeom>
          <a:gradFill rotWithShape="1" flip="none">
            <a:gsLst>
              <a:gs pos="0">
                <a:srgbClr val="D0E0E3"/>
              </a:gs>
              <a:gs pos="50000">
                <a:srgbClr val="D0E0E3">
                  <a:alpha val="31000"/>
                </a:srgbClr>
              </a:gs>
              <a:gs pos="100000">
                <a:srgbClr val="2E5E8A">
                  <a:alpha val="19000"/>
                </a:srgbClr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1270000" y="3175000"/>
            <a:ext cx="254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72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23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1270000" y="266700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FCFDF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Lecture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318000" y="3048000"/>
            <a:ext cx="1016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6000" dirty="0">
                <a:solidFill>
                  <a:srgbClr val="FCFDF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Using Lambda Expressions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4318000" y="4318000"/>
            <a:ext cx="889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FCFDF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Definition, Syntax &amp; Real-World Applications</a:t>
            </a:r>
            <a:endParaRPr lang="en-US" sz="22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37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Are Lambda Expressions? — Definition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905000"/>
            <a:ext cx="13716000" cy="1524000"/>
          </a:xfrm>
          <a:prstGeom prst="roundRect">
            <a:avLst>
              <a:gd name="adj" fmla="val 8000"/>
            </a:avLst>
          </a:prstGeom>
          <a:gradFill rotWithShape="1" flip="none">
            <a:gsLst>
              <a:gs pos="0">
                <a:srgbClr val="2E5E8A"/>
              </a:gs>
              <a:gs pos="100000">
                <a:srgbClr val="2E5E8A">
                  <a:alpha val="80000"/>
                </a:srgbClr>
              </a:gs>
            </a:gsLst>
            <a:lin ang="0" scaled="1"/>
          </a:gradFill>
          <a:ln/>
        </p:spPr>
      </p:sp>
      <p:sp>
        <p:nvSpPr>
          <p:cNvPr id="5" name="Text 3"/>
          <p:cNvSpPr/>
          <p:nvPr/>
        </p:nvSpPr>
        <p:spPr>
          <a:xfrm>
            <a:off x="1778000" y="1905000"/>
            <a:ext cx="1270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Definition:</a:t>
            </a:r>
            <a:pPr algn="l">
              <a:lnSpc>
                <a:spcPct val="14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A lambda expression is an </a:t>
            </a:r>
            <a:pPr algn="l">
              <a:lnSpc>
                <a:spcPct val="14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anonymous function</a:t>
            </a:r>
            <a:pPr algn="l">
              <a:lnSpc>
                <a:spcPct val="14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that provides a clear and concise way to represent a single-method interface using an expression. It enables </a:t>
            </a:r>
            <a:pPr algn="l">
              <a:lnSpc>
                <a:spcPct val="14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functional programming</a:t>
            </a:r>
            <a:pPr algn="l">
              <a:lnSpc>
                <a:spcPct val="14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in Java.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70000" y="3746500"/>
            <a:ext cx="635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Key Characteristics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524000" y="4508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74512" y="-14287"/>
                </a:moveTo>
                <a:cubicBezTo>
                  <a:pt x="137364" y="-14287"/>
                  <a:pt x="115525" y="37773"/>
                  <a:pt x="104809" y="85725"/>
                </a:cubicBezTo>
                <a:lnTo>
                  <a:pt x="73479" y="85725"/>
                </a:lnTo>
                <a:cubicBezTo>
                  <a:pt x="59905" y="85725"/>
                  <a:pt x="48986" y="95280"/>
                  <a:pt x="48986" y="107156"/>
                </a:cubicBezTo>
                <a:cubicBezTo>
                  <a:pt x="48986" y="119033"/>
                  <a:pt x="59905" y="128588"/>
                  <a:pt x="73479" y="128588"/>
                </a:cubicBezTo>
                <a:lnTo>
                  <a:pt x="97971" y="128588"/>
                </a:lnTo>
                <a:lnTo>
                  <a:pt x="97971" y="157163"/>
                </a:lnTo>
                <a:cubicBezTo>
                  <a:pt x="97971" y="172343"/>
                  <a:pt x="101339" y="186809"/>
                  <a:pt x="107462" y="200025"/>
                </a:cubicBezTo>
                <a:lnTo>
                  <a:pt x="97971" y="200025"/>
                </a:lnTo>
                <a:lnTo>
                  <a:pt x="97971" y="200025"/>
                </a:lnTo>
                <a:lnTo>
                  <a:pt x="77050" y="200025"/>
                </a:lnTo>
                <a:cubicBezTo>
                  <a:pt x="61538" y="200025"/>
                  <a:pt x="48986" y="211009"/>
                  <a:pt x="48986" y="224582"/>
                </a:cubicBezTo>
                <a:cubicBezTo>
                  <a:pt x="48986" y="227261"/>
                  <a:pt x="49496" y="229850"/>
                  <a:pt x="50414" y="232350"/>
                </a:cubicBezTo>
                <a:lnTo>
                  <a:pt x="79908" y="309682"/>
                </a:lnTo>
                <a:cubicBezTo>
                  <a:pt x="41026" y="338971"/>
                  <a:pt x="16329" y="382280"/>
                  <a:pt x="16329" y="430679"/>
                </a:cubicBezTo>
                <a:cubicBezTo>
                  <a:pt x="16329" y="445324"/>
                  <a:pt x="29902" y="457200"/>
                  <a:pt x="46638" y="457200"/>
                </a:cubicBezTo>
                <a:lnTo>
                  <a:pt x="410562" y="457200"/>
                </a:lnTo>
                <a:cubicBezTo>
                  <a:pt x="427298" y="457200"/>
                  <a:pt x="440871" y="445324"/>
                  <a:pt x="440871" y="430679"/>
                </a:cubicBezTo>
                <a:cubicBezTo>
                  <a:pt x="440871" y="382280"/>
                  <a:pt x="416174" y="338971"/>
                  <a:pt x="377292" y="309771"/>
                </a:cubicBezTo>
                <a:lnTo>
                  <a:pt x="406786" y="232440"/>
                </a:lnTo>
                <a:cubicBezTo>
                  <a:pt x="407704" y="229939"/>
                  <a:pt x="408214" y="227350"/>
                  <a:pt x="408214" y="224671"/>
                </a:cubicBezTo>
                <a:cubicBezTo>
                  <a:pt x="408214" y="211098"/>
                  <a:pt x="395662" y="200114"/>
                  <a:pt x="380150" y="200114"/>
                </a:cubicBezTo>
                <a:lnTo>
                  <a:pt x="359229" y="200114"/>
                </a:lnTo>
                <a:lnTo>
                  <a:pt x="359229" y="200114"/>
                </a:lnTo>
                <a:lnTo>
                  <a:pt x="349738" y="200114"/>
                </a:lnTo>
                <a:cubicBezTo>
                  <a:pt x="355861" y="186898"/>
                  <a:pt x="359229" y="172432"/>
                  <a:pt x="359229" y="157252"/>
                </a:cubicBezTo>
                <a:lnTo>
                  <a:pt x="359229" y="128677"/>
                </a:lnTo>
                <a:lnTo>
                  <a:pt x="383721" y="128677"/>
                </a:lnTo>
                <a:cubicBezTo>
                  <a:pt x="397295" y="128677"/>
                  <a:pt x="408214" y="119122"/>
                  <a:pt x="408214" y="107246"/>
                </a:cubicBezTo>
                <a:cubicBezTo>
                  <a:pt x="408214" y="95369"/>
                  <a:pt x="397295" y="85814"/>
                  <a:pt x="383721" y="85814"/>
                </a:cubicBezTo>
                <a:lnTo>
                  <a:pt x="352391" y="85814"/>
                </a:lnTo>
                <a:cubicBezTo>
                  <a:pt x="341777" y="37862"/>
                  <a:pt x="319836" y="-14198"/>
                  <a:pt x="282688" y="-14198"/>
                </a:cubicBezTo>
                <a:cubicBezTo>
                  <a:pt x="272891" y="-14198"/>
                  <a:pt x="263298" y="-10716"/>
                  <a:pt x="254624" y="-6876"/>
                </a:cubicBezTo>
                <a:cubicBezTo>
                  <a:pt x="246255" y="-3215"/>
                  <a:pt x="235846" y="89"/>
                  <a:pt x="228600" y="89"/>
                </a:cubicBezTo>
                <a:cubicBezTo>
                  <a:pt x="221354" y="89"/>
                  <a:pt x="210945" y="-3215"/>
                  <a:pt x="202576" y="-6876"/>
                </a:cubicBezTo>
                <a:cubicBezTo>
                  <a:pt x="193902" y="-10805"/>
                  <a:pt x="184309" y="-14287"/>
                  <a:pt x="174512" y="-14287"/>
                </a:cubicBezTo>
                <a:close/>
                <a:moveTo>
                  <a:pt x="270136" y="418267"/>
                </a:moveTo>
                <a:lnTo>
                  <a:pt x="244827" y="354955"/>
                </a:lnTo>
                <a:lnTo>
                  <a:pt x="273299" y="325934"/>
                </a:lnTo>
                <a:cubicBezTo>
                  <a:pt x="276055" y="323076"/>
                  <a:pt x="277586" y="319504"/>
                  <a:pt x="277586" y="315754"/>
                </a:cubicBezTo>
                <a:cubicBezTo>
                  <a:pt x="277586" y="307092"/>
                  <a:pt x="269626" y="300127"/>
                  <a:pt x="259726" y="300127"/>
                </a:cubicBezTo>
                <a:lnTo>
                  <a:pt x="197474" y="300127"/>
                </a:lnTo>
                <a:cubicBezTo>
                  <a:pt x="187574" y="300127"/>
                  <a:pt x="179614" y="307092"/>
                  <a:pt x="179614" y="315754"/>
                </a:cubicBezTo>
                <a:cubicBezTo>
                  <a:pt x="179614" y="319504"/>
                  <a:pt x="181145" y="323076"/>
                  <a:pt x="183901" y="325934"/>
                </a:cubicBezTo>
                <a:lnTo>
                  <a:pt x="212373" y="354955"/>
                </a:lnTo>
                <a:lnTo>
                  <a:pt x="187064" y="418267"/>
                </a:lnTo>
                <a:lnTo>
                  <a:pt x="128894" y="257175"/>
                </a:lnTo>
                <a:lnTo>
                  <a:pt x="165327" y="257175"/>
                </a:lnTo>
                <a:cubicBezTo>
                  <a:pt x="184105" y="266283"/>
                  <a:pt x="205638" y="271463"/>
                  <a:pt x="228600" y="271463"/>
                </a:cubicBezTo>
                <a:cubicBezTo>
                  <a:pt x="251562" y="271463"/>
                  <a:pt x="273095" y="266283"/>
                  <a:pt x="291873" y="257175"/>
                </a:cubicBezTo>
                <a:lnTo>
                  <a:pt x="328306" y="257175"/>
                </a:lnTo>
                <a:lnTo>
                  <a:pt x="270136" y="418267"/>
                </a:lnTo>
                <a:close/>
                <a:moveTo>
                  <a:pt x="228600" y="228600"/>
                </a:moveTo>
                <a:cubicBezTo>
                  <a:pt x="193187" y="228600"/>
                  <a:pt x="163082" y="208865"/>
                  <a:pt x="151754" y="181273"/>
                </a:cubicBezTo>
                <a:cubicBezTo>
                  <a:pt x="157571" y="184130"/>
                  <a:pt x="164306" y="185738"/>
                  <a:pt x="171450" y="185738"/>
                </a:cubicBezTo>
                <a:lnTo>
                  <a:pt x="184105" y="185738"/>
                </a:lnTo>
                <a:cubicBezTo>
                  <a:pt x="200943" y="185738"/>
                  <a:pt x="215843" y="176272"/>
                  <a:pt x="221150" y="162342"/>
                </a:cubicBezTo>
                <a:cubicBezTo>
                  <a:pt x="223497" y="156091"/>
                  <a:pt x="233601" y="156091"/>
                  <a:pt x="235948" y="162342"/>
                </a:cubicBezTo>
                <a:cubicBezTo>
                  <a:pt x="241255" y="176272"/>
                  <a:pt x="256257" y="185738"/>
                  <a:pt x="272993" y="185738"/>
                </a:cubicBezTo>
                <a:lnTo>
                  <a:pt x="285648" y="185738"/>
                </a:lnTo>
                <a:cubicBezTo>
                  <a:pt x="292792" y="185738"/>
                  <a:pt x="299527" y="184130"/>
                  <a:pt x="305344" y="181273"/>
                </a:cubicBezTo>
                <a:cubicBezTo>
                  <a:pt x="294016" y="208865"/>
                  <a:pt x="263911" y="228600"/>
                  <a:pt x="228498" y="228600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8" name="Text 6"/>
          <p:cNvSpPr/>
          <p:nvPr/>
        </p:nvSpPr>
        <p:spPr>
          <a:xfrm>
            <a:off x="2159000" y="44450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Anonymous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159000" y="4826000"/>
            <a:ext cx="533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No name — defined inline where needed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524000" y="5524500"/>
            <a:ext cx="457200" cy="4572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11" name="Text 9"/>
          <p:cNvSpPr/>
          <p:nvPr/>
        </p:nvSpPr>
        <p:spPr>
          <a:xfrm>
            <a:off x="2159000" y="54610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Function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159000" y="5842000"/>
            <a:ext cx="533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Has parameters and a return body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382000" y="4508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74856" y="16431"/>
                </a:moveTo>
                <a:cubicBezTo>
                  <a:pt x="264140" y="20895"/>
                  <a:pt x="257175" y="31254"/>
                  <a:pt x="257175" y="42863"/>
                </a:cubicBezTo>
                <a:lnTo>
                  <a:pt x="257175" y="114300"/>
                </a:lnTo>
                <a:lnTo>
                  <a:pt x="157163" y="114300"/>
                </a:lnTo>
                <a:cubicBezTo>
                  <a:pt x="70366" y="114300"/>
                  <a:pt x="0" y="184666"/>
                  <a:pt x="0" y="271463"/>
                </a:cubicBezTo>
                <a:cubicBezTo>
                  <a:pt x="0" y="372636"/>
                  <a:pt x="72777" y="417820"/>
                  <a:pt x="89475" y="426928"/>
                </a:cubicBezTo>
                <a:cubicBezTo>
                  <a:pt x="91708" y="428179"/>
                  <a:pt x="94208" y="428625"/>
                  <a:pt x="96709" y="428625"/>
                </a:cubicBezTo>
                <a:cubicBezTo>
                  <a:pt x="106442" y="428625"/>
                  <a:pt x="114300" y="420678"/>
                  <a:pt x="114300" y="411034"/>
                </a:cubicBezTo>
                <a:cubicBezTo>
                  <a:pt x="114300" y="404336"/>
                  <a:pt x="110460" y="398175"/>
                  <a:pt x="105549" y="393621"/>
                </a:cubicBezTo>
                <a:cubicBezTo>
                  <a:pt x="97155" y="385763"/>
                  <a:pt x="85725" y="370046"/>
                  <a:pt x="85725" y="342989"/>
                </a:cubicBezTo>
                <a:cubicBezTo>
                  <a:pt x="85725" y="295662"/>
                  <a:pt x="124123" y="257264"/>
                  <a:pt x="171450" y="257264"/>
                </a:cubicBezTo>
                <a:lnTo>
                  <a:pt x="257175" y="257264"/>
                </a:lnTo>
                <a:lnTo>
                  <a:pt x="257175" y="328702"/>
                </a:lnTo>
                <a:cubicBezTo>
                  <a:pt x="257175" y="340221"/>
                  <a:pt x="264140" y="350669"/>
                  <a:pt x="274856" y="355134"/>
                </a:cubicBezTo>
                <a:cubicBezTo>
                  <a:pt x="285571" y="359599"/>
                  <a:pt x="297805" y="357098"/>
                  <a:pt x="306020" y="348972"/>
                </a:cubicBezTo>
                <a:lnTo>
                  <a:pt x="448895" y="206097"/>
                </a:lnTo>
                <a:cubicBezTo>
                  <a:pt x="460058" y="194935"/>
                  <a:pt x="460058" y="176808"/>
                  <a:pt x="448895" y="165646"/>
                </a:cubicBezTo>
                <a:lnTo>
                  <a:pt x="306020" y="22771"/>
                </a:lnTo>
                <a:cubicBezTo>
                  <a:pt x="297805" y="14555"/>
                  <a:pt x="285571" y="12144"/>
                  <a:pt x="274856" y="16609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14" name="Text 12"/>
          <p:cNvSpPr/>
          <p:nvPr/>
        </p:nvSpPr>
        <p:spPr>
          <a:xfrm>
            <a:off x="9017000" y="44450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Passed Around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017000" y="4826000"/>
            <a:ext cx="533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Can be assigned to variables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382000" y="5524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92460" y="6251"/>
                </a:moveTo>
                <a:cubicBezTo>
                  <a:pt x="400854" y="-2143"/>
                  <a:pt x="414427" y="-2143"/>
                  <a:pt x="422731" y="6251"/>
                </a:cubicBezTo>
                <a:lnTo>
                  <a:pt x="451306" y="34826"/>
                </a:lnTo>
                <a:cubicBezTo>
                  <a:pt x="459700" y="43220"/>
                  <a:pt x="459700" y="56793"/>
                  <a:pt x="451306" y="65097"/>
                </a:cubicBezTo>
                <a:lnTo>
                  <a:pt x="373618" y="142786"/>
                </a:lnTo>
                <a:lnTo>
                  <a:pt x="408444" y="177611"/>
                </a:lnTo>
                <a:cubicBezTo>
                  <a:pt x="414605" y="183773"/>
                  <a:pt x="416391" y="192971"/>
                  <a:pt x="413087" y="201007"/>
                </a:cubicBezTo>
                <a:cubicBezTo>
                  <a:pt x="409783" y="209044"/>
                  <a:pt x="402015" y="214313"/>
                  <a:pt x="393353" y="214313"/>
                </a:cubicBezTo>
                <a:lnTo>
                  <a:pt x="264765" y="214313"/>
                </a:lnTo>
                <a:cubicBezTo>
                  <a:pt x="252889" y="214313"/>
                  <a:pt x="243334" y="204758"/>
                  <a:pt x="243334" y="192881"/>
                </a:cubicBezTo>
                <a:lnTo>
                  <a:pt x="243334" y="64294"/>
                </a:lnTo>
                <a:cubicBezTo>
                  <a:pt x="243334" y="55632"/>
                  <a:pt x="248513" y="47774"/>
                  <a:pt x="256550" y="44470"/>
                </a:cubicBezTo>
                <a:cubicBezTo>
                  <a:pt x="264587" y="41166"/>
                  <a:pt x="273784" y="42952"/>
                  <a:pt x="279946" y="49113"/>
                </a:cubicBezTo>
                <a:lnTo>
                  <a:pt x="314771" y="83939"/>
                </a:lnTo>
                <a:lnTo>
                  <a:pt x="392460" y="6251"/>
                </a:lnTo>
                <a:close/>
                <a:moveTo>
                  <a:pt x="64740" y="242888"/>
                </a:moveTo>
                <a:lnTo>
                  <a:pt x="193328" y="242888"/>
                </a:lnTo>
                <a:cubicBezTo>
                  <a:pt x="205204" y="242888"/>
                  <a:pt x="214759" y="252442"/>
                  <a:pt x="214759" y="264319"/>
                </a:cubicBezTo>
                <a:lnTo>
                  <a:pt x="214759" y="392906"/>
                </a:lnTo>
                <a:cubicBezTo>
                  <a:pt x="214759" y="401568"/>
                  <a:pt x="209580" y="409426"/>
                  <a:pt x="201543" y="412730"/>
                </a:cubicBezTo>
                <a:cubicBezTo>
                  <a:pt x="193506" y="416034"/>
                  <a:pt x="184309" y="414248"/>
                  <a:pt x="178147" y="408087"/>
                </a:cubicBezTo>
                <a:lnTo>
                  <a:pt x="143321" y="373261"/>
                </a:lnTo>
                <a:lnTo>
                  <a:pt x="65633" y="450949"/>
                </a:lnTo>
                <a:cubicBezTo>
                  <a:pt x="57239" y="459343"/>
                  <a:pt x="43666" y="459343"/>
                  <a:pt x="35362" y="450949"/>
                </a:cubicBezTo>
                <a:lnTo>
                  <a:pt x="6787" y="422374"/>
                </a:lnTo>
                <a:cubicBezTo>
                  <a:pt x="-1607" y="413980"/>
                  <a:pt x="-1607" y="400407"/>
                  <a:pt x="6787" y="392103"/>
                </a:cubicBezTo>
                <a:lnTo>
                  <a:pt x="84475" y="314414"/>
                </a:lnTo>
                <a:lnTo>
                  <a:pt x="49649" y="279589"/>
                </a:lnTo>
                <a:cubicBezTo>
                  <a:pt x="43488" y="273427"/>
                  <a:pt x="41702" y="264229"/>
                  <a:pt x="45006" y="256193"/>
                </a:cubicBezTo>
                <a:cubicBezTo>
                  <a:pt x="48310" y="248156"/>
                  <a:pt x="56078" y="242888"/>
                  <a:pt x="64740" y="242888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17" name="Text 15"/>
          <p:cNvSpPr/>
          <p:nvPr/>
        </p:nvSpPr>
        <p:spPr>
          <a:xfrm>
            <a:off x="9017000" y="54610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Concise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017000" y="5842000"/>
            <a:ext cx="533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Reduces boilerplate code significantly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270000" y="6604000"/>
            <a:ext cx="13716000" cy="1016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651000" y="6858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63500"/>
                </a:moveTo>
                <a:cubicBezTo>
                  <a:pt x="347486" y="63500"/>
                  <a:pt x="423333" y="148828"/>
                  <a:pt x="423333" y="254000"/>
                </a:cubicBezTo>
                <a:cubicBezTo>
                  <a:pt x="423333" y="359172"/>
                  <a:pt x="347486" y="444500"/>
                  <a:pt x="254000" y="444500"/>
                </a:cubicBezTo>
                <a:cubicBezTo>
                  <a:pt x="196497" y="444500"/>
                  <a:pt x="145609" y="412254"/>
                  <a:pt x="115006" y="362843"/>
                </a:cubicBezTo>
                <a:cubicBezTo>
                  <a:pt x="106098" y="348456"/>
                  <a:pt x="88459" y="344984"/>
                  <a:pt x="75671" y="355005"/>
                </a:cubicBezTo>
                <a:cubicBezTo>
                  <a:pt x="62883" y="365026"/>
                  <a:pt x="59796" y="384870"/>
                  <a:pt x="68703" y="399256"/>
                </a:cubicBezTo>
                <a:cubicBezTo>
                  <a:pt x="109449" y="464939"/>
                  <a:pt x="177271" y="508000"/>
                  <a:pt x="254000" y="508000"/>
                </a:cubicBezTo>
                <a:cubicBezTo>
                  <a:pt x="378707" y="508000"/>
                  <a:pt x="479778" y="394295"/>
                  <a:pt x="479778" y="254000"/>
                </a:cubicBezTo>
                <a:cubicBezTo>
                  <a:pt x="479778" y="113705"/>
                  <a:pt x="378707" y="0"/>
                  <a:pt x="254000" y="0"/>
                </a:cubicBezTo>
                <a:cubicBezTo>
                  <a:pt x="178417" y="0"/>
                  <a:pt x="111566" y="41771"/>
                  <a:pt x="70556" y="105866"/>
                </a:cubicBezTo>
                <a:lnTo>
                  <a:pt x="70556" y="79375"/>
                </a:lnTo>
                <a:cubicBezTo>
                  <a:pt x="70556" y="61813"/>
                  <a:pt x="57944" y="47625"/>
                  <a:pt x="42333" y="47625"/>
                </a:cubicBezTo>
                <a:cubicBezTo>
                  <a:pt x="26723" y="47625"/>
                  <a:pt x="14111" y="61813"/>
                  <a:pt x="14111" y="79375"/>
                </a:cubicBezTo>
                <a:lnTo>
                  <a:pt x="14111" y="190500"/>
                </a:lnTo>
                <a:cubicBezTo>
                  <a:pt x="14111" y="208062"/>
                  <a:pt x="26723" y="222250"/>
                  <a:pt x="42333" y="222250"/>
                </a:cubicBezTo>
                <a:lnTo>
                  <a:pt x="64029" y="222250"/>
                </a:lnTo>
                <a:cubicBezTo>
                  <a:pt x="64470" y="222250"/>
                  <a:pt x="64911" y="222250"/>
                  <a:pt x="65352" y="222250"/>
                </a:cubicBezTo>
                <a:lnTo>
                  <a:pt x="141199" y="222250"/>
                </a:lnTo>
                <a:cubicBezTo>
                  <a:pt x="156810" y="222250"/>
                  <a:pt x="169422" y="208062"/>
                  <a:pt x="169422" y="190500"/>
                </a:cubicBezTo>
                <a:cubicBezTo>
                  <a:pt x="169422" y="172938"/>
                  <a:pt x="156810" y="158750"/>
                  <a:pt x="141199" y="158750"/>
                </a:cubicBezTo>
                <a:lnTo>
                  <a:pt x="107421" y="158750"/>
                </a:lnTo>
                <a:cubicBezTo>
                  <a:pt x="136613" y="101798"/>
                  <a:pt x="191382" y="63500"/>
                  <a:pt x="254000" y="63500"/>
                </a:cubicBezTo>
                <a:close/>
                <a:moveTo>
                  <a:pt x="275167" y="150813"/>
                </a:moveTo>
                <a:cubicBezTo>
                  <a:pt x="275167" y="137616"/>
                  <a:pt x="265730" y="127000"/>
                  <a:pt x="254000" y="127000"/>
                </a:cubicBezTo>
                <a:cubicBezTo>
                  <a:pt x="242270" y="127000"/>
                  <a:pt x="232833" y="137616"/>
                  <a:pt x="232833" y="150813"/>
                </a:cubicBezTo>
                <a:lnTo>
                  <a:pt x="232833" y="254000"/>
                </a:lnTo>
                <a:cubicBezTo>
                  <a:pt x="232833" y="260350"/>
                  <a:pt x="235038" y="266402"/>
                  <a:pt x="239007" y="270867"/>
                </a:cubicBezTo>
                <a:lnTo>
                  <a:pt x="302507" y="342305"/>
                </a:lnTo>
                <a:cubicBezTo>
                  <a:pt x="310797" y="351631"/>
                  <a:pt x="324203" y="351631"/>
                  <a:pt x="332405" y="342305"/>
                </a:cubicBezTo>
                <a:cubicBezTo>
                  <a:pt x="340607" y="332978"/>
                  <a:pt x="340695" y="317897"/>
                  <a:pt x="332405" y="308670"/>
                </a:cubicBezTo>
                <a:lnTo>
                  <a:pt x="275078" y="244177"/>
                </a:lnTo>
                <a:lnTo>
                  <a:pt x="275078" y="150813"/>
                </a:ln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21" name="Text 19"/>
          <p:cNvSpPr/>
          <p:nvPr/>
        </p:nvSpPr>
        <p:spPr>
          <a:xfrm>
            <a:off x="2413000" y="6731000"/>
            <a:ext cx="1219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History:</a:t>
            </a:r>
            <a:pPr algn="l">
              <a:lnSpc>
                <a:spcPct val="120000"/>
              </a:lnSpc>
            </a:pPr>
            <a:r>
              <a:rPr lang="en-US" sz="20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Introduced in </a:t>
            </a:r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Java 8</a:t>
            </a:r>
            <a:pPr algn="l">
              <a:lnSpc>
                <a:spcPct val="120000"/>
              </a:lnSpc>
            </a:pPr>
            <a:r>
              <a:rPr lang="en-US" sz="20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(March 2014) as part of </a:t>
            </a:r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Project Lambda</a:t>
            </a:r>
            <a:pPr algn="l">
              <a:lnSpc>
                <a:spcPct val="120000"/>
              </a:lnSpc>
            </a:pPr>
            <a:r>
              <a:rPr lang="en-US" sz="20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(JSR 335) — the biggest language change since Java 5 generics.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Use Lambda Expressions?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968500"/>
            <a:ext cx="4318000" cy="2286000"/>
          </a:xfrm>
          <a:prstGeom prst="roundRect">
            <a:avLst>
              <a:gd name="adj" fmla="val 10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51000" y="2222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452437" y="222250"/>
                </a:moveTo>
                <a:lnTo>
                  <a:pt x="309562" y="222250"/>
                </a:lnTo>
                <a:cubicBezTo>
                  <a:pt x="296366" y="222250"/>
                  <a:pt x="285750" y="211634"/>
                  <a:pt x="285750" y="198438"/>
                </a:cubicBezTo>
                <a:lnTo>
                  <a:pt x="285750" y="55563"/>
                </a:lnTo>
                <a:cubicBezTo>
                  <a:pt x="285750" y="45938"/>
                  <a:pt x="291505" y="37207"/>
                  <a:pt x="300434" y="33536"/>
                </a:cubicBezTo>
                <a:cubicBezTo>
                  <a:pt x="309364" y="29865"/>
                  <a:pt x="319584" y="31948"/>
                  <a:pt x="326430" y="38695"/>
                </a:cubicBezTo>
                <a:lnTo>
                  <a:pt x="366117" y="78383"/>
                </a:lnTo>
                <a:lnTo>
                  <a:pt x="438944" y="5556"/>
                </a:lnTo>
                <a:cubicBezTo>
                  <a:pt x="442516" y="1984"/>
                  <a:pt x="447377" y="0"/>
                  <a:pt x="452437" y="0"/>
                </a:cubicBezTo>
                <a:cubicBezTo>
                  <a:pt x="457498" y="0"/>
                  <a:pt x="462359" y="1984"/>
                  <a:pt x="466030" y="5655"/>
                </a:cubicBezTo>
                <a:lnTo>
                  <a:pt x="502444" y="42069"/>
                </a:lnTo>
                <a:cubicBezTo>
                  <a:pt x="506016" y="45641"/>
                  <a:pt x="508000" y="50502"/>
                  <a:pt x="508000" y="55563"/>
                </a:cubicBezTo>
                <a:cubicBezTo>
                  <a:pt x="508000" y="60623"/>
                  <a:pt x="506016" y="65484"/>
                  <a:pt x="502345" y="69155"/>
                </a:cubicBezTo>
                <a:lnTo>
                  <a:pt x="429617" y="141883"/>
                </a:lnTo>
                <a:lnTo>
                  <a:pt x="469305" y="181570"/>
                </a:lnTo>
                <a:cubicBezTo>
                  <a:pt x="476151" y="188416"/>
                  <a:pt x="478135" y="198636"/>
                  <a:pt x="474464" y="207566"/>
                </a:cubicBezTo>
                <a:cubicBezTo>
                  <a:pt x="470793" y="216495"/>
                  <a:pt x="462062" y="222250"/>
                  <a:pt x="452437" y="222250"/>
                </a:cubicBezTo>
                <a:close/>
                <a:moveTo>
                  <a:pt x="452437" y="285750"/>
                </a:moveTo>
                <a:cubicBezTo>
                  <a:pt x="462062" y="285750"/>
                  <a:pt x="470793" y="291505"/>
                  <a:pt x="474464" y="300434"/>
                </a:cubicBezTo>
                <a:cubicBezTo>
                  <a:pt x="478135" y="309364"/>
                  <a:pt x="476151" y="319584"/>
                  <a:pt x="469305" y="326430"/>
                </a:cubicBezTo>
                <a:lnTo>
                  <a:pt x="429617" y="366117"/>
                </a:lnTo>
                <a:lnTo>
                  <a:pt x="502444" y="438944"/>
                </a:lnTo>
                <a:cubicBezTo>
                  <a:pt x="506016" y="442516"/>
                  <a:pt x="508099" y="447377"/>
                  <a:pt x="508099" y="452537"/>
                </a:cubicBezTo>
                <a:cubicBezTo>
                  <a:pt x="508099" y="457696"/>
                  <a:pt x="506115" y="462459"/>
                  <a:pt x="502444" y="466130"/>
                </a:cubicBezTo>
                <a:lnTo>
                  <a:pt x="466030" y="502543"/>
                </a:lnTo>
                <a:cubicBezTo>
                  <a:pt x="462359" y="506016"/>
                  <a:pt x="457498" y="508000"/>
                  <a:pt x="452437" y="508000"/>
                </a:cubicBezTo>
                <a:cubicBezTo>
                  <a:pt x="447377" y="508000"/>
                  <a:pt x="442516" y="506016"/>
                  <a:pt x="438845" y="502345"/>
                </a:cubicBezTo>
                <a:lnTo>
                  <a:pt x="366117" y="429617"/>
                </a:lnTo>
                <a:lnTo>
                  <a:pt x="326430" y="469305"/>
                </a:lnTo>
                <a:cubicBezTo>
                  <a:pt x="319584" y="476151"/>
                  <a:pt x="309364" y="478135"/>
                  <a:pt x="300434" y="474464"/>
                </a:cubicBezTo>
                <a:cubicBezTo>
                  <a:pt x="291505" y="470793"/>
                  <a:pt x="285750" y="462062"/>
                  <a:pt x="285750" y="452437"/>
                </a:cubicBezTo>
                <a:lnTo>
                  <a:pt x="285750" y="309562"/>
                </a:lnTo>
                <a:cubicBezTo>
                  <a:pt x="285750" y="296366"/>
                  <a:pt x="296366" y="285750"/>
                  <a:pt x="309562" y="285750"/>
                </a:cubicBezTo>
                <a:lnTo>
                  <a:pt x="452437" y="285750"/>
                </a:lnTo>
                <a:close/>
                <a:moveTo>
                  <a:pt x="198438" y="285750"/>
                </a:moveTo>
                <a:cubicBezTo>
                  <a:pt x="211634" y="285750"/>
                  <a:pt x="222250" y="296366"/>
                  <a:pt x="222250" y="309562"/>
                </a:cubicBezTo>
                <a:lnTo>
                  <a:pt x="222250" y="452437"/>
                </a:lnTo>
                <a:cubicBezTo>
                  <a:pt x="222250" y="462062"/>
                  <a:pt x="216495" y="470793"/>
                  <a:pt x="207566" y="474464"/>
                </a:cubicBezTo>
                <a:cubicBezTo>
                  <a:pt x="198636" y="478135"/>
                  <a:pt x="188416" y="476151"/>
                  <a:pt x="181570" y="469305"/>
                </a:cubicBezTo>
                <a:lnTo>
                  <a:pt x="141883" y="429617"/>
                </a:lnTo>
                <a:lnTo>
                  <a:pt x="69056" y="502444"/>
                </a:lnTo>
                <a:cubicBezTo>
                  <a:pt x="65484" y="506016"/>
                  <a:pt x="60623" y="508000"/>
                  <a:pt x="55563" y="508000"/>
                </a:cubicBezTo>
                <a:cubicBezTo>
                  <a:pt x="50502" y="508000"/>
                  <a:pt x="45641" y="506016"/>
                  <a:pt x="41970" y="502345"/>
                </a:cubicBezTo>
                <a:lnTo>
                  <a:pt x="5655" y="466030"/>
                </a:lnTo>
                <a:cubicBezTo>
                  <a:pt x="1984" y="462359"/>
                  <a:pt x="0" y="457498"/>
                  <a:pt x="0" y="452437"/>
                </a:cubicBezTo>
                <a:cubicBezTo>
                  <a:pt x="0" y="447377"/>
                  <a:pt x="1984" y="442516"/>
                  <a:pt x="5655" y="438845"/>
                </a:cubicBezTo>
                <a:lnTo>
                  <a:pt x="78383" y="366117"/>
                </a:lnTo>
                <a:lnTo>
                  <a:pt x="38695" y="326430"/>
                </a:lnTo>
                <a:cubicBezTo>
                  <a:pt x="31849" y="319584"/>
                  <a:pt x="29865" y="309364"/>
                  <a:pt x="33536" y="300434"/>
                </a:cubicBezTo>
                <a:cubicBezTo>
                  <a:pt x="37207" y="291505"/>
                  <a:pt x="45938" y="285750"/>
                  <a:pt x="55563" y="285750"/>
                </a:cubicBezTo>
                <a:lnTo>
                  <a:pt x="198438" y="285750"/>
                </a:lnTo>
                <a:close/>
                <a:moveTo>
                  <a:pt x="55563" y="222250"/>
                </a:moveTo>
                <a:cubicBezTo>
                  <a:pt x="45938" y="222250"/>
                  <a:pt x="37207" y="216495"/>
                  <a:pt x="33536" y="207566"/>
                </a:cubicBezTo>
                <a:cubicBezTo>
                  <a:pt x="29865" y="198636"/>
                  <a:pt x="31948" y="188416"/>
                  <a:pt x="38695" y="181570"/>
                </a:cubicBezTo>
                <a:lnTo>
                  <a:pt x="78383" y="141883"/>
                </a:lnTo>
                <a:lnTo>
                  <a:pt x="5655" y="69155"/>
                </a:lnTo>
                <a:cubicBezTo>
                  <a:pt x="1984" y="65484"/>
                  <a:pt x="0" y="60623"/>
                  <a:pt x="0" y="55563"/>
                </a:cubicBezTo>
                <a:cubicBezTo>
                  <a:pt x="0" y="50502"/>
                  <a:pt x="1984" y="45641"/>
                  <a:pt x="5655" y="41970"/>
                </a:cubicBezTo>
                <a:lnTo>
                  <a:pt x="41970" y="5655"/>
                </a:lnTo>
                <a:cubicBezTo>
                  <a:pt x="45641" y="1984"/>
                  <a:pt x="50502" y="0"/>
                  <a:pt x="55563" y="0"/>
                </a:cubicBezTo>
                <a:cubicBezTo>
                  <a:pt x="60623" y="0"/>
                  <a:pt x="65484" y="1984"/>
                  <a:pt x="69155" y="5655"/>
                </a:cubicBezTo>
                <a:lnTo>
                  <a:pt x="141883" y="78383"/>
                </a:lnTo>
                <a:lnTo>
                  <a:pt x="181570" y="38695"/>
                </a:lnTo>
                <a:cubicBezTo>
                  <a:pt x="188416" y="31849"/>
                  <a:pt x="198636" y="29865"/>
                  <a:pt x="207566" y="33536"/>
                </a:cubicBezTo>
                <a:cubicBezTo>
                  <a:pt x="216495" y="37207"/>
                  <a:pt x="222250" y="45938"/>
                  <a:pt x="222250" y="55563"/>
                </a:cubicBezTo>
                <a:lnTo>
                  <a:pt x="222250" y="198438"/>
                </a:lnTo>
                <a:cubicBezTo>
                  <a:pt x="222250" y="211634"/>
                  <a:pt x="211634" y="222250"/>
                  <a:pt x="198438" y="222250"/>
                </a:cubicBezTo>
                <a:lnTo>
                  <a:pt x="55563" y="222250"/>
                </a:ln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6" name="Text 4"/>
          <p:cNvSpPr/>
          <p:nvPr/>
        </p:nvSpPr>
        <p:spPr>
          <a:xfrm>
            <a:off x="1651000" y="2857500"/>
            <a:ext cx="355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Less Code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51000" y="3302000"/>
            <a:ext cx="3556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Reduces lines of code by 60-80% compared to anonymous classes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969000" y="1968500"/>
            <a:ext cx="4318000" cy="2286000"/>
          </a:xfrm>
          <a:prstGeom prst="roundRect">
            <a:avLst>
              <a:gd name="adj" fmla="val 10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350000" y="2222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31750"/>
                </a:moveTo>
                <a:cubicBezTo>
                  <a:pt x="182739" y="31750"/>
                  <a:pt x="125677" y="68263"/>
                  <a:pt x="84138" y="111720"/>
                </a:cubicBezTo>
                <a:cubicBezTo>
                  <a:pt x="42863" y="154880"/>
                  <a:pt x="15258" y="206375"/>
                  <a:pt x="2117" y="241796"/>
                </a:cubicBezTo>
                <a:cubicBezTo>
                  <a:pt x="-794" y="249634"/>
                  <a:pt x="-794" y="258366"/>
                  <a:pt x="2117" y="266204"/>
                </a:cubicBezTo>
                <a:cubicBezTo>
                  <a:pt x="15258" y="301625"/>
                  <a:pt x="42863" y="353219"/>
                  <a:pt x="84138" y="396280"/>
                </a:cubicBezTo>
                <a:cubicBezTo>
                  <a:pt x="125677" y="439638"/>
                  <a:pt x="182739" y="476250"/>
                  <a:pt x="254000" y="476250"/>
                </a:cubicBezTo>
                <a:cubicBezTo>
                  <a:pt x="325261" y="476250"/>
                  <a:pt x="382323" y="439737"/>
                  <a:pt x="423863" y="396280"/>
                </a:cubicBezTo>
                <a:cubicBezTo>
                  <a:pt x="465138" y="353120"/>
                  <a:pt x="492742" y="301625"/>
                  <a:pt x="505883" y="266204"/>
                </a:cubicBezTo>
                <a:cubicBezTo>
                  <a:pt x="508794" y="258366"/>
                  <a:pt x="508794" y="249634"/>
                  <a:pt x="505883" y="241796"/>
                </a:cubicBezTo>
                <a:cubicBezTo>
                  <a:pt x="492742" y="206375"/>
                  <a:pt x="465138" y="154781"/>
                  <a:pt x="423863" y="111720"/>
                </a:cubicBezTo>
                <a:cubicBezTo>
                  <a:pt x="382323" y="68362"/>
                  <a:pt x="325261" y="31750"/>
                  <a:pt x="254000" y="31750"/>
                </a:cubicBezTo>
                <a:close/>
                <a:moveTo>
                  <a:pt x="127000" y="254000"/>
                </a:moveTo>
                <a:cubicBezTo>
                  <a:pt x="127000" y="175145"/>
                  <a:pt x="183907" y="111125"/>
                  <a:pt x="254000" y="111125"/>
                </a:cubicBezTo>
                <a:cubicBezTo>
                  <a:pt x="324093" y="111125"/>
                  <a:pt x="381000" y="175145"/>
                  <a:pt x="381000" y="254000"/>
                </a:cubicBezTo>
                <a:cubicBezTo>
                  <a:pt x="381000" y="332855"/>
                  <a:pt x="324093" y="396875"/>
                  <a:pt x="254000" y="396875"/>
                </a:cubicBezTo>
                <a:cubicBezTo>
                  <a:pt x="183907" y="396875"/>
                  <a:pt x="127000" y="332855"/>
                  <a:pt x="127000" y="254000"/>
                </a:cubicBezTo>
                <a:close/>
                <a:moveTo>
                  <a:pt x="254000" y="190500"/>
                </a:moveTo>
                <a:cubicBezTo>
                  <a:pt x="254000" y="225524"/>
                  <a:pt x="228688" y="254000"/>
                  <a:pt x="197556" y="254000"/>
                </a:cubicBezTo>
                <a:cubicBezTo>
                  <a:pt x="187413" y="254000"/>
                  <a:pt x="177888" y="251023"/>
                  <a:pt x="169598" y="245666"/>
                </a:cubicBezTo>
                <a:cubicBezTo>
                  <a:pt x="168716" y="256480"/>
                  <a:pt x="169510" y="267593"/>
                  <a:pt x="172156" y="278606"/>
                </a:cubicBezTo>
                <a:cubicBezTo>
                  <a:pt x="184238" y="329406"/>
                  <a:pt x="230717" y="359569"/>
                  <a:pt x="275872" y="345976"/>
                </a:cubicBezTo>
                <a:cubicBezTo>
                  <a:pt x="321028" y="332383"/>
                  <a:pt x="347839" y="280095"/>
                  <a:pt x="335756" y="229295"/>
                </a:cubicBezTo>
                <a:cubicBezTo>
                  <a:pt x="324997" y="183952"/>
                  <a:pt x="286808" y="155079"/>
                  <a:pt x="246592" y="159048"/>
                </a:cubicBezTo>
                <a:cubicBezTo>
                  <a:pt x="251266" y="168275"/>
                  <a:pt x="254000" y="178991"/>
                  <a:pt x="254000" y="190500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0" name="Text 8"/>
          <p:cNvSpPr/>
          <p:nvPr/>
        </p:nvSpPr>
        <p:spPr>
          <a:xfrm>
            <a:off x="6350000" y="2857500"/>
            <a:ext cx="355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Cleaner Syntax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350000" y="3302000"/>
            <a:ext cx="3556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More readable and expressive than verbose anonymous classes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668000" y="1968500"/>
            <a:ext cx="4318000" cy="2286000"/>
          </a:xfrm>
          <a:prstGeom prst="roundRect">
            <a:avLst>
              <a:gd name="adj" fmla="val 10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1049000" y="2222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0" y="79375"/>
                </a:moveTo>
                <a:cubicBezTo>
                  <a:pt x="0" y="53082"/>
                  <a:pt x="21332" y="31750"/>
                  <a:pt x="47625" y="31750"/>
                </a:cubicBezTo>
                <a:lnTo>
                  <a:pt x="142875" y="31750"/>
                </a:lnTo>
                <a:cubicBezTo>
                  <a:pt x="169168" y="31750"/>
                  <a:pt x="190500" y="53082"/>
                  <a:pt x="190500" y="79375"/>
                </a:cubicBezTo>
                <a:lnTo>
                  <a:pt x="190500" y="95250"/>
                </a:lnTo>
                <a:lnTo>
                  <a:pt x="317500" y="95250"/>
                </a:lnTo>
                <a:lnTo>
                  <a:pt x="317500" y="79375"/>
                </a:lnTo>
                <a:cubicBezTo>
                  <a:pt x="317500" y="53082"/>
                  <a:pt x="338832" y="31750"/>
                  <a:pt x="365125" y="31750"/>
                </a:cubicBezTo>
                <a:lnTo>
                  <a:pt x="460375" y="31750"/>
                </a:lnTo>
                <a:cubicBezTo>
                  <a:pt x="486668" y="31750"/>
                  <a:pt x="508000" y="53082"/>
                  <a:pt x="508000" y="79375"/>
                </a:cubicBezTo>
                <a:lnTo>
                  <a:pt x="508000" y="174625"/>
                </a:lnTo>
                <a:cubicBezTo>
                  <a:pt x="508000" y="200918"/>
                  <a:pt x="486668" y="222250"/>
                  <a:pt x="460375" y="222250"/>
                </a:cubicBezTo>
                <a:lnTo>
                  <a:pt x="365125" y="222250"/>
                </a:lnTo>
                <a:cubicBezTo>
                  <a:pt x="338832" y="222250"/>
                  <a:pt x="317500" y="200918"/>
                  <a:pt x="317500" y="174625"/>
                </a:cubicBezTo>
                <a:lnTo>
                  <a:pt x="317500" y="158750"/>
                </a:lnTo>
                <a:lnTo>
                  <a:pt x="190500" y="158750"/>
                </a:lnTo>
                <a:lnTo>
                  <a:pt x="190500" y="174625"/>
                </a:lnTo>
                <a:cubicBezTo>
                  <a:pt x="190500" y="181868"/>
                  <a:pt x="188813" y="188813"/>
                  <a:pt x="185936" y="194965"/>
                </a:cubicBezTo>
                <a:lnTo>
                  <a:pt x="254000" y="285750"/>
                </a:lnTo>
                <a:lnTo>
                  <a:pt x="333375" y="285750"/>
                </a:lnTo>
                <a:cubicBezTo>
                  <a:pt x="359668" y="285750"/>
                  <a:pt x="381000" y="307082"/>
                  <a:pt x="381000" y="333375"/>
                </a:cubicBezTo>
                <a:lnTo>
                  <a:pt x="381000" y="428625"/>
                </a:lnTo>
                <a:cubicBezTo>
                  <a:pt x="381000" y="454918"/>
                  <a:pt x="359668" y="476250"/>
                  <a:pt x="333375" y="476250"/>
                </a:cubicBezTo>
                <a:lnTo>
                  <a:pt x="238125" y="476250"/>
                </a:lnTo>
                <a:cubicBezTo>
                  <a:pt x="211832" y="476250"/>
                  <a:pt x="190500" y="454918"/>
                  <a:pt x="190500" y="428625"/>
                </a:cubicBezTo>
                <a:lnTo>
                  <a:pt x="190500" y="333375"/>
                </a:lnTo>
                <a:cubicBezTo>
                  <a:pt x="190500" y="326132"/>
                  <a:pt x="192187" y="319187"/>
                  <a:pt x="195064" y="313035"/>
                </a:cubicBezTo>
                <a:lnTo>
                  <a:pt x="127000" y="222250"/>
                </a:lnTo>
                <a:lnTo>
                  <a:pt x="47625" y="222250"/>
                </a:lnTo>
                <a:cubicBezTo>
                  <a:pt x="21332" y="222250"/>
                  <a:pt x="0" y="200918"/>
                  <a:pt x="0" y="174625"/>
                </a:cubicBezTo>
                <a:lnTo>
                  <a:pt x="0" y="79375"/>
                </a:ln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14" name="Text 12"/>
          <p:cNvSpPr/>
          <p:nvPr/>
        </p:nvSpPr>
        <p:spPr>
          <a:xfrm>
            <a:off x="11049000" y="2857500"/>
            <a:ext cx="355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Functional Programming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1049000" y="3302000"/>
            <a:ext cx="3556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Enables functional-style operations on collections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70000" y="4635500"/>
            <a:ext cx="635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Before vs After — Code Comparison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1270000" y="5207000"/>
            <a:ext cx="6604000" cy="2540000"/>
          </a:xfrm>
          <a:prstGeom prst="roundRect">
            <a:avLst>
              <a:gd name="adj" fmla="val 8000"/>
            </a:avLst>
          </a:prstGeom>
          <a:solidFill>
            <a:srgbClr val="F8F8F8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24000" y="5334000"/>
            <a:ext cx="1270000" cy="355600"/>
          </a:xfrm>
          <a:prstGeom prst="roundRect">
            <a:avLst>
              <a:gd name="adj" fmla="val 20000"/>
            </a:avLst>
          </a:prstGeom>
          <a:solidFill>
            <a:srgbClr val="D0D6DC"/>
          </a:solidFill>
          <a:ln/>
        </p:spPr>
      </p:sp>
      <p:sp>
        <p:nvSpPr>
          <p:cNvPr id="19" name="Text 17"/>
          <p:cNvSpPr/>
          <p:nvPr/>
        </p:nvSpPr>
        <p:spPr>
          <a:xfrm>
            <a:off x="1524000" y="5334000"/>
            <a:ext cx="127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Before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524000" y="5778500"/>
            <a:ext cx="6096000" cy="184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1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button.addActionListener(</a:t>
            </a:r>
            <a:endParaRPr lang="en-US" sz="1100" dirty="0"/>
          </a:p>
          <a:p>
            <a:pPr algn="l">
              <a:lnSpc>
                <a:spcPct val="150000"/>
              </a:lnSpc>
            </a:pPr>
            <a:r>
              <a:rPr lang="en-US" sz="11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 new ActionListener() {</a:t>
            </a:r>
            <a:endParaRPr lang="en-US" sz="1100" dirty="0"/>
          </a:p>
          <a:p>
            <a:pPr algn="l">
              <a:lnSpc>
                <a:spcPct val="150000"/>
              </a:lnSpc>
            </a:pPr>
            <a:r>
              <a:rPr lang="en-US" sz="11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   public void actionPerformed(</a:t>
            </a:r>
            <a:endParaRPr lang="en-US" sz="1100" dirty="0"/>
          </a:p>
          <a:p>
            <a:pPr algn="l">
              <a:lnSpc>
                <a:spcPct val="150000"/>
              </a:lnSpc>
            </a:pPr>
            <a:r>
              <a:rPr lang="en-US" sz="11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       ActionEvent e) {</a:t>
            </a:r>
            <a:endParaRPr lang="en-US" sz="1100" dirty="0"/>
          </a:p>
          <a:p>
            <a:pPr algn="l">
              <a:lnSpc>
                <a:spcPct val="150000"/>
              </a:lnSpc>
            </a:pPr>
            <a:r>
              <a:rPr lang="en-US" sz="11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     System.out.println("Click");</a:t>
            </a:r>
            <a:endParaRPr lang="en-US" sz="1100" dirty="0"/>
          </a:p>
          <a:p>
            <a:pPr algn="l">
              <a:lnSpc>
                <a:spcPct val="150000"/>
              </a:lnSpc>
            </a:pPr>
            <a:r>
              <a:rPr lang="en-US" sz="11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   }</a:t>
            </a:r>
            <a:endParaRPr lang="en-US" sz="1100" dirty="0"/>
          </a:p>
          <a:p>
            <a:pPr algn="l">
              <a:lnSpc>
                <a:spcPct val="150000"/>
              </a:lnSpc>
            </a:pPr>
            <a:r>
              <a:rPr lang="en-US" sz="11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 });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382000" y="5207000"/>
            <a:ext cx="6604000" cy="2540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FF7F50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636000" y="5334000"/>
            <a:ext cx="1270000" cy="355600"/>
          </a:xfrm>
          <a:prstGeom prst="roundRect">
            <a:avLst>
              <a:gd name="adj" fmla="val 20000"/>
            </a:avLst>
          </a:prstGeom>
          <a:solidFill>
            <a:srgbClr val="FF7F50"/>
          </a:solidFill>
          <a:ln/>
        </p:spPr>
      </p:sp>
      <p:sp>
        <p:nvSpPr>
          <p:cNvPr id="23" name="Text 21"/>
          <p:cNvSpPr/>
          <p:nvPr/>
        </p:nvSpPr>
        <p:spPr>
          <a:xfrm>
            <a:off x="8636000" y="5334000"/>
            <a:ext cx="127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After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636000" y="5842000"/>
            <a:ext cx="609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button.addActionListener(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 e -&gt; System.out.println("Click"));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636000" y="6985000"/>
            <a:ext cx="609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 lines → 1 line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Lambda Syntax &amp; Structure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841500"/>
            <a:ext cx="13716000" cy="762000"/>
          </a:xfrm>
          <a:prstGeom prst="roundRect">
            <a:avLst>
              <a:gd name="adj" fmla="val 8000"/>
            </a:avLst>
          </a:prstGeom>
          <a:gradFill rotWithShape="1" flip="none">
            <a:gsLst>
              <a:gs pos="0">
                <a:srgbClr val="2E5E8A"/>
              </a:gs>
              <a:gs pos="100000">
                <a:srgbClr val="2E5E8A">
                  <a:alpha val="80000"/>
                </a:srgbClr>
              </a:gs>
            </a:gsLst>
            <a:lin ang="0" scaled="1"/>
          </a:gradFill>
          <a:ln/>
        </p:spPr>
      </p:sp>
      <p:sp>
        <p:nvSpPr>
          <p:cNvPr id="5" name="Text 3"/>
          <p:cNvSpPr/>
          <p:nvPr/>
        </p:nvSpPr>
        <p:spPr>
          <a:xfrm>
            <a:off x="1778000" y="1841500"/>
            <a:ext cx="1270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Basic Syntax:  (parameters) -&gt; { body }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270000" y="2921000"/>
            <a:ext cx="4318000" cy="2921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524000" y="3111500"/>
            <a:ext cx="1524000" cy="355600"/>
          </a:xfrm>
          <a:prstGeom prst="roundRect">
            <a:avLst>
              <a:gd name="adj" fmla="val 20000"/>
            </a:avLst>
          </a:prstGeom>
          <a:solidFill>
            <a:srgbClr val="FF7F50"/>
          </a:solidFill>
          <a:ln/>
        </p:spPr>
      </p:sp>
      <p:sp>
        <p:nvSpPr>
          <p:cNvPr id="8" name="Text 6"/>
          <p:cNvSpPr/>
          <p:nvPr/>
        </p:nvSpPr>
        <p:spPr>
          <a:xfrm>
            <a:off x="1524000" y="3111500"/>
            <a:ext cx="152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Full Syntax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524000" y="3619500"/>
            <a:ext cx="3810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(int a, int b)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-&gt;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{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 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return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a + b;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}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524000" y="4762500"/>
            <a:ext cx="381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Explicit types, braces, and return statement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969000" y="2921000"/>
            <a:ext cx="4318000" cy="2921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23000" y="3111500"/>
            <a:ext cx="2032000" cy="355600"/>
          </a:xfrm>
          <a:prstGeom prst="roundRect">
            <a:avLst>
              <a:gd name="adj" fmla="val 20000"/>
            </a:avLst>
          </a:prstGeom>
          <a:solidFill>
            <a:srgbClr val="FF7F50"/>
          </a:solidFill>
          <a:ln/>
        </p:spPr>
      </p:sp>
      <p:sp>
        <p:nvSpPr>
          <p:cNvPr id="13" name="Text 11"/>
          <p:cNvSpPr/>
          <p:nvPr/>
        </p:nvSpPr>
        <p:spPr>
          <a:xfrm>
            <a:off x="6223000" y="3111500"/>
            <a:ext cx="203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Expression Body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223000" y="3619500"/>
            <a:ext cx="381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(a, b)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-&gt;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a + b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223000" y="4762500"/>
            <a:ext cx="381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Type inference, no braces, implicit return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668000" y="2921000"/>
            <a:ext cx="4318000" cy="2921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0922000" y="3111500"/>
            <a:ext cx="2286000" cy="355600"/>
          </a:xfrm>
          <a:prstGeom prst="roundRect">
            <a:avLst>
              <a:gd name="adj" fmla="val 20000"/>
            </a:avLst>
          </a:prstGeom>
          <a:solidFill>
            <a:srgbClr val="2E5E8A"/>
          </a:solidFill>
          <a:ln/>
        </p:spPr>
      </p:sp>
      <p:sp>
        <p:nvSpPr>
          <p:cNvPr id="18" name="Text 16"/>
          <p:cNvSpPr/>
          <p:nvPr/>
        </p:nvSpPr>
        <p:spPr>
          <a:xfrm>
            <a:off x="10922000" y="3111500"/>
            <a:ext cx="228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Single Parameter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922000" y="3619500"/>
            <a:ext cx="381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x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-&gt;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x * 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0922000" y="4762500"/>
            <a:ext cx="381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Optional parentheses for single parameter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270000" y="6223000"/>
            <a:ext cx="13716000" cy="1778000"/>
          </a:xfrm>
          <a:prstGeom prst="roundRect">
            <a:avLst>
              <a:gd name="adj" fmla="val 8000"/>
            </a:avLst>
          </a:prstGeom>
          <a:solidFill>
            <a:srgbClr val="F0F4F8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651000" y="6350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Key Rules to Remember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651000" y="6794500"/>
            <a:ext cx="12954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Parameter types can be </a:t>
            </a:r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inferred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by the compiler  • Parentheses optional for </a:t>
            </a:r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single parameter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(no type)  • Braces optional for </a:t>
            </a:r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single expression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return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statement optional without braces  • Must have </a:t>
            </a:r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parentheses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for zero or multiple parameters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07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 World Example — Custom Sorting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841500"/>
            <a:ext cx="13716000" cy="889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87500" y="20066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78594" y="42863"/>
                </a:moveTo>
                <a:lnTo>
                  <a:pt x="278606" y="42863"/>
                </a:lnTo>
                <a:cubicBezTo>
                  <a:pt x="282535" y="42863"/>
                  <a:pt x="285750" y="46077"/>
                  <a:pt x="285750" y="50006"/>
                </a:cubicBezTo>
                <a:lnTo>
                  <a:pt x="285750" y="85725"/>
                </a:lnTo>
                <a:lnTo>
                  <a:pt x="171450" y="85725"/>
                </a:lnTo>
                <a:lnTo>
                  <a:pt x="171450" y="50006"/>
                </a:lnTo>
                <a:cubicBezTo>
                  <a:pt x="171450" y="46077"/>
                  <a:pt x="174665" y="42863"/>
                  <a:pt x="178594" y="42863"/>
                </a:cubicBezTo>
                <a:close/>
                <a:moveTo>
                  <a:pt x="128588" y="50006"/>
                </a:moveTo>
                <a:lnTo>
                  <a:pt x="128588" y="85725"/>
                </a:lnTo>
                <a:lnTo>
                  <a:pt x="57150" y="85725"/>
                </a:lnTo>
                <a:cubicBezTo>
                  <a:pt x="25628" y="85725"/>
                  <a:pt x="0" y="111353"/>
                  <a:pt x="0" y="142875"/>
                </a:cubicBezTo>
                <a:lnTo>
                  <a:pt x="0" y="228600"/>
                </a:lnTo>
                <a:lnTo>
                  <a:pt x="457200" y="228600"/>
                </a:lnTo>
                <a:lnTo>
                  <a:pt x="457200" y="142875"/>
                </a:lnTo>
                <a:cubicBezTo>
                  <a:pt x="457200" y="111353"/>
                  <a:pt x="431572" y="85725"/>
                  <a:pt x="400050" y="85725"/>
                </a:cubicBezTo>
                <a:lnTo>
                  <a:pt x="328613" y="85725"/>
                </a:lnTo>
                <a:lnTo>
                  <a:pt x="328613" y="50006"/>
                </a:lnTo>
                <a:cubicBezTo>
                  <a:pt x="328613" y="22414"/>
                  <a:pt x="306199" y="0"/>
                  <a:pt x="278606" y="0"/>
                </a:cubicBezTo>
                <a:lnTo>
                  <a:pt x="178594" y="0"/>
                </a:lnTo>
                <a:cubicBezTo>
                  <a:pt x="151001" y="0"/>
                  <a:pt x="128588" y="22414"/>
                  <a:pt x="128588" y="50006"/>
                </a:cubicBezTo>
                <a:close/>
                <a:moveTo>
                  <a:pt x="457200" y="271463"/>
                </a:moveTo>
                <a:lnTo>
                  <a:pt x="285750" y="271463"/>
                </a:lnTo>
                <a:lnTo>
                  <a:pt x="285750" y="285750"/>
                </a:lnTo>
                <a:cubicBezTo>
                  <a:pt x="285750" y="301556"/>
                  <a:pt x="272981" y="314325"/>
                  <a:pt x="257175" y="314325"/>
                </a:cubicBezTo>
                <a:lnTo>
                  <a:pt x="200025" y="314325"/>
                </a:lnTo>
                <a:cubicBezTo>
                  <a:pt x="184219" y="314325"/>
                  <a:pt x="171450" y="301556"/>
                  <a:pt x="171450" y="285750"/>
                </a:cubicBezTo>
                <a:lnTo>
                  <a:pt x="171450" y="271463"/>
                </a:lnTo>
                <a:lnTo>
                  <a:pt x="0" y="271463"/>
                </a:lnTo>
                <a:lnTo>
                  <a:pt x="0" y="371475"/>
                </a:lnTo>
                <a:cubicBezTo>
                  <a:pt x="0" y="402997"/>
                  <a:pt x="25628" y="428625"/>
                  <a:pt x="57150" y="428625"/>
                </a:cubicBezTo>
                <a:lnTo>
                  <a:pt x="400050" y="428625"/>
                </a:lnTo>
                <a:cubicBezTo>
                  <a:pt x="431572" y="428625"/>
                  <a:pt x="457200" y="402997"/>
                  <a:pt x="457200" y="371475"/>
                </a:cubicBezTo>
                <a:lnTo>
                  <a:pt x="457200" y="271463"/>
                </a:ln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6" name="Text 4"/>
          <p:cNvSpPr/>
          <p:nvPr/>
        </p:nvSpPr>
        <p:spPr>
          <a:xfrm>
            <a:off x="2222500" y="1905000"/>
            <a:ext cx="1244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Scenario:</a:t>
            </a:r>
            <a:pPr algn="l">
              <a:lnSpc>
                <a:spcPct val="14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Sorting employees by salary in a company HR system. HR dashboards, payroll systems, and reporting tools all need this functionality.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70000" y="3048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Traditional Approach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270000" y="3492500"/>
            <a:ext cx="6604000" cy="2476500"/>
          </a:xfrm>
          <a:prstGeom prst="roundRect">
            <a:avLst>
              <a:gd name="adj" fmla="val 8000"/>
            </a:avLst>
          </a:prstGeom>
          <a:solidFill>
            <a:srgbClr val="F8F8F8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24000" y="3619500"/>
            <a:ext cx="6096000" cy="222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1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Collections.sort(employees,</a:t>
            </a:r>
            <a:endParaRPr lang="en-US" sz="1100" dirty="0"/>
          </a:p>
          <a:p>
            <a:pPr algn="l">
              <a:lnSpc>
                <a:spcPct val="160000"/>
              </a:lnSpc>
            </a:pPr>
            <a:r>
              <a:rPr lang="en-US" sz="11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 new Comparator&lt;Employee&gt;() {</a:t>
            </a:r>
            <a:endParaRPr lang="en-US" sz="1100" dirty="0"/>
          </a:p>
          <a:p>
            <a:pPr algn="l">
              <a:lnSpc>
                <a:spcPct val="160000"/>
              </a:lnSpc>
            </a:pPr>
            <a:r>
              <a:rPr lang="en-US" sz="11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   public int compare(</a:t>
            </a:r>
            <a:endParaRPr lang="en-US" sz="1100" dirty="0"/>
          </a:p>
          <a:p>
            <a:pPr algn="l">
              <a:lnSpc>
                <a:spcPct val="160000"/>
              </a:lnSpc>
            </a:pPr>
            <a:r>
              <a:rPr lang="en-US" sz="11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       Employee e1, Employee e2) {</a:t>
            </a:r>
            <a:endParaRPr lang="en-US" sz="1100" dirty="0"/>
          </a:p>
          <a:p>
            <a:pPr algn="l">
              <a:lnSpc>
                <a:spcPct val="160000"/>
              </a:lnSpc>
            </a:pPr>
            <a:r>
              <a:rPr lang="en-US" sz="11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     return Double.compare(</a:t>
            </a:r>
            <a:endParaRPr lang="en-US" sz="1100" dirty="0"/>
          </a:p>
          <a:p>
            <a:pPr algn="l">
              <a:lnSpc>
                <a:spcPct val="160000"/>
              </a:lnSpc>
            </a:pPr>
            <a:r>
              <a:rPr lang="en-US" sz="11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       e1.getSalary(), e2.getSalary());</a:t>
            </a:r>
            <a:endParaRPr lang="en-US" sz="1100" dirty="0"/>
          </a:p>
          <a:p>
            <a:pPr algn="l">
              <a:lnSpc>
                <a:spcPct val="160000"/>
              </a:lnSpc>
            </a:pPr>
            <a:r>
              <a:rPr lang="en-US" sz="11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   }</a:t>
            </a:r>
            <a:endParaRPr lang="en-US" sz="1100" dirty="0"/>
          </a:p>
          <a:p>
            <a:pPr algn="l">
              <a:lnSpc>
                <a:spcPct val="160000"/>
              </a:lnSpc>
            </a:pPr>
            <a:r>
              <a:rPr lang="en-US" sz="11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 });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382000" y="3048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Lambda Approach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8382000" y="3492500"/>
            <a:ext cx="6604000" cy="24765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FF7F50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636000" y="3683000"/>
            <a:ext cx="609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 Lambda with Comparator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employees.sort((e1, e2) -&gt; Double.compare(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 e1.getSalary(), e2.getSalary()));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636000" y="4826000"/>
            <a:ext cx="6096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 Method Reference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employees.sort(Comparator.comparing(Employee::getSalary));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270000" y="6350000"/>
            <a:ext cx="13716000" cy="1270000"/>
          </a:xfrm>
          <a:prstGeom prst="roundRect">
            <a:avLst>
              <a:gd name="adj" fmla="val 8000"/>
            </a:avLst>
          </a:prstGeom>
          <a:gradFill rotWithShape="1" flip="none">
            <a:gsLst>
              <a:gs pos="0">
                <a:srgbClr val="2E5E8A"/>
              </a:gs>
              <a:gs pos="100000">
                <a:srgbClr val="2E5E8A">
                  <a:alpha val="80000"/>
                </a:srgbClr>
              </a:gs>
            </a:gsLst>
            <a:lin ang="0" scaled="1"/>
          </a:gradFill>
          <a:ln/>
        </p:spPr>
      </p:sp>
      <p:sp>
        <p:nvSpPr>
          <p:cNvPr id="15" name="Shape 13"/>
          <p:cNvSpPr/>
          <p:nvPr/>
        </p:nvSpPr>
        <p:spPr>
          <a:xfrm>
            <a:off x="1651000" y="6667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63500" y="63500"/>
                </a:moveTo>
                <a:cubicBezTo>
                  <a:pt x="63500" y="45938"/>
                  <a:pt x="49312" y="31750"/>
                  <a:pt x="31750" y="31750"/>
                </a:cubicBezTo>
                <a:cubicBezTo>
                  <a:pt x="14188" y="31750"/>
                  <a:pt x="0" y="45938"/>
                  <a:pt x="0" y="63500"/>
                </a:cubicBezTo>
                <a:lnTo>
                  <a:pt x="0" y="396875"/>
                </a:lnTo>
                <a:cubicBezTo>
                  <a:pt x="0" y="440730"/>
                  <a:pt x="35520" y="476250"/>
                  <a:pt x="79375" y="476250"/>
                </a:cubicBezTo>
                <a:lnTo>
                  <a:pt x="476250" y="476250"/>
                </a:lnTo>
                <a:cubicBezTo>
                  <a:pt x="493812" y="476250"/>
                  <a:pt x="508000" y="462062"/>
                  <a:pt x="508000" y="444500"/>
                </a:cubicBezTo>
                <a:cubicBezTo>
                  <a:pt x="508000" y="426938"/>
                  <a:pt x="493812" y="412750"/>
                  <a:pt x="476250" y="412750"/>
                </a:cubicBezTo>
                <a:lnTo>
                  <a:pt x="79375" y="412750"/>
                </a:lnTo>
                <a:cubicBezTo>
                  <a:pt x="70644" y="412750"/>
                  <a:pt x="63500" y="405606"/>
                  <a:pt x="63500" y="396875"/>
                </a:cubicBezTo>
                <a:lnTo>
                  <a:pt x="63500" y="63500"/>
                </a:lnTo>
                <a:close/>
                <a:moveTo>
                  <a:pt x="466923" y="149423"/>
                </a:moveTo>
                <a:cubicBezTo>
                  <a:pt x="479326" y="137021"/>
                  <a:pt x="479326" y="116880"/>
                  <a:pt x="466923" y="104477"/>
                </a:cubicBezTo>
                <a:cubicBezTo>
                  <a:pt x="454521" y="92075"/>
                  <a:pt x="434380" y="92075"/>
                  <a:pt x="421977" y="104477"/>
                </a:cubicBezTo>
                <a:lnTo>
                  <a:pt x="317500" y="209054"/>
                </a:lnTo>
                <a:lnTo>
                  <a:pt x="260548" y="152202"/>
                </a:lnTo>
                <a:cubicBezTo>
                  <a:pt x="248146" y="139799"/>
                  <a:pt x="228005" y="139799"/>
                  <a:pt x="215602" y="152202"/>
                </a:cubicBezTo>
                <a:lnTo>
                  <a:pt x="120352" y="247452"/>
                </a:lnTo>
                <a:cubicBezTo>
                  <a:pt x="107950" y="259854"/>
                  <a:pt x="107950" y="279995"/>
                  <a:pt x="120352" y="292398"/>
                </a:cubicBezTo>
                <a:cubicBezTo>
                  <a:pt x="132755" y="304800"/>
                  <a:pt x="152896" y="304800"/>
                  <a:pt x="165298" y="292398"/>
                </a:cubicBezTo>
                <a:lnTo>
                  <a:pt x="238125" y="219571"/>
                </a:lnTo>
                <a:lnTo>
                  <a:pt x="295077" y="276523"/>
                </a:lnTo>
                <a:cubicBezTo>
                  <a:pt x="307479" y="288925"/>
                  <a:pt x="327620" y="288925"/>
                  <a:pt x="340023" y="276523"/>
                </a:cubicBezTo>
                <a:lnTo>
                  <a:pt x="467023" y="149523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2413000" y="6477000"/>
            <a:ext cx="1219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Real-World Impact:</a:t>
            </a:r>
            <a:pPr algn="l">
              <a:lnSpc>
                <a:spcPct val="15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Used in HR dashboards, payroll systems, e-commerce product sorting, leaderboard rankings, and any application that orders data dynamically.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08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37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Code Base Example — Event Handling in GUI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841500"/>
            <a:ext cx="13716000" cy="762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87500" y="20066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70122" y="1984"/>
                </a:moveTo>
                <a:cubicBezTo>
                  <a:pt x="77470" y="-1270"/>
                  <a:pt x="86360" y="-556"/>
                  <a:pt x="92891" y="3810"/>
                </a:cubicBezTo>
                <a:lnTo>
                  <a:pt x="383177" y="194231"/>
                </a:lnTo>
                <a:cubicBezTo>
                  <a:pt x="390706" y="199152"/>
                  <a:pt x="393700" y="207724"/>
                  <a:pt x="390797" y="215503"/>
                </a:cubicBezTo>
                <a:cubicBezTo>
                  <a:pt x="387894" y="223282"/>
                  <a:pt x="379549" y="228521"/>
                  <a:pt x="370114" y="228521"/>
                </a:cubicBezTo>
                <a:lnTo>
                  <a:pt x="231956" y="228521"/>
                </a:lnTo>
                <a:lnTo>
                  <a:pt x="312601" y="369570"/>
                </a:lnTo>
                <a:cubicBezTo>
                  <a:pt x="319768" y="382111"/>
                  <a:pt x="313962" y="397351"/>
                  <a:pt x="299629" y="403622"/>
                </a:cubicBezTo>
                <a:cubicBezTo>
                  <a:pt x="285296" y="409892"/>
                  <a:pt x="267879" y="404812"/>
                  <a:pt x="260713" y="392271"/>
                </a:cubicBezTo>
                <a:lnTo>
                  <a:pt x="180068" y="251222"/>
                </a:lnTo>
                <a:lnTo>
                  <a:pt x="97246" y="347901"/>
                </a:lnTo>
                <a:cubicBezTo>
                  <a:pt x="91621" y="354489"/>
                  <a:pt x="81824" y="357108"/>
                  <a:pt x="72934" y="354568"/>
                </a:cubicBezTo>
                <a:cubicBezTo>
                  <a:pt x="64044" y="352028"/>
                  <a:pt x="58057" y="344726"/>
                  <a:pt x="58057" y="336550"/>
                </a:cubicBezTo>
                <a:lnTo>
                  <a:pt x="58057" y="19050"/>
                </a:lnTo>
                <a:cubicBezTo>
                  <a:pt x="58057" y="11827"/>
                  <a:pt x="62684" y="5239"/>
                  <a:pt x="70122" y="1984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6" name="Text 4"/>
          <p:cNvSpPr/>
          <p:nvPr/>
        </p:nvSpPr>
        <p:spPr>
          <a:xfrm>
            <a:off x="2159000" y="1905000"/>
            <a:ext cx="12573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Scenario:</a:t>
            </a:r>
            <a:pPr algn="l">
              <a:lnSpc>
                <a:spcPct val="120000"/>
              </a:lnSpc>
            </a:pPr>
            <a:r>
              <a:rPr lang="en-US" sz="20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Button click handler in a JavaFX / Swing application — the most common lambda use case.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270000" y="2921000"/>
            <a:ext cx="660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Anonymous Inner Class (5 lines)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270000" y="3365500"/>
            <a:ext cx="6858000" cy="2540000"/>
          </a:xfrm>
          <a:prstGeom prst="roundRect">
            <a:avLst>
              <a:gd name="adj" fmla="val 8000"/>
            </a:avLst>
          </a:prstGeom>
          <a:solidFill>
            <a:srgbClr val="F8F8F8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24000" y="3492500"/>
            <a:ext cx="6350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1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button.addActionListener(</a:t>
            </a:r>
            <a:endParaRPr lang="en-US" sz="1100" dirty="0"/>
          </a:p>
          <a:p>
            <a:pPr algn="l">
              <a:lnSpc>
                <a:spcPct val="160000"/>
              </a:lnSpc>
            </a:pPr>
            <a:r>
              <a:rPr lang="en-US" sz="11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 </a:t>
            </a:r>
            <a:pPr algn="l">
              <a:lnSpc>
                <a:spcPct val="160000"/>
              </a:lnSpc>
            </a:pPr>
            <a:r>
              <a:rPr lang="en-US" sz="1100" b="1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new</a:t>
            </a:r>
            <a:pPr algn="l">
              <a:lnSpc>
                <a:spcPct val="160000"/>
              </a:lnSpc>
            </a:pPr>
            <a:r>
              <a:rPr lang="en-US" sz="11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ActionListener() {</a:t>
            </a:r>
            <a:endParaRPr lang="en-US" sz="1100" dirty="0"/>
          </a:p>
          <a:p>
            <a:pPr algn="l">
              <a:lnSpc>
                <a:spcPct val="160000"/>
              </a:lnSpc>
            </a:pPr>
            <a:r>
              <a:rPr lang="en-US" sz="11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   </a:t>
            </a:r>
            <a:pPr algn="l">
              <a:lnSpc>
                <a:spcPct val="160000"/>
              </a:lnSpc>
            </a:pPr>
            <a:r>
              <a:rPr lang="en-US" sz="1100" b="1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public void</a:t>
            </a:r>
            <a:pPr algn="l">
              <a:lnSpc>
                <a:spcPct val="160000"/>
              </a:lnSpc>
            </a:pPr>
            <a:r>
              <a:rPr lang="en-US" sz="11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actionPerformed(</a:t>
            </a:r>
            <a:endParaRPr lang="en-US" sz="1100" dirty="0"/>
          </a:p>
          <a:p>
            <a:pPr algn="l">
              <a:lnSpc>
                <a:spcPct val="160000"/>
              </a:lnSpc>
            </a:pPr>
            <a:r>
              <a:rPr lang="en-US" sz="11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       ActionEvent e) {</a:t>
            </a:r>
            <a:endParaRPr lang="en-US" sz="1100" dirty="0"/>
          </a:p>
          <a:p>
            <a:pPr algn="l">
              <a:lnSpc>
                <a:spcPct val="160000"/>
              </a:lnSpc>
            </a:pPr>
            <a:r>
              <a:rPr lang="en-US" sz="11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     System.out.println(</a:t>
            </a:r>
            <a:pPr algn="l">
              <a:lnSpc>
                <a:spcPct val="160000"/>
              </a:lnSpc>
            </a:pPr>
            <a:r>
              <a:rPr lang="en-US" sz="1100" b="1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"Clicked!"</a:t>
            </a:r>
            <a:pPr algn="l">
              <a:lnSpc>
                <a:spcPct val="160000"/>
              </a:lnSpc>
            </a:pPr>
            <a:r>
              <a:rPr lang="en-US" sz="11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);</a:t>
            </a:r>
            <a:endParaRPr lang="en-US" sz="1100" dirty="0"/>
          </a:p>
          <a:p>
            <a:pPr algn="l">
              <a:lnSpc>
                <a:spcPct val="160000"/>
              </a:lnSpc>
            </a:pPr>
            <a:r>
              <a:rPr lang="en-US" sz="11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   }</a:t>
            </a:r>
            <a:endParaRPr lang="en-US" sz="1100" dirty="0"/>
          </a:p>
          <a:p>
            <a:pPr algn="l">
              <a:lnSpc>
                <a:spcPct val="160000"/>
              </a:lnSpc>
            </a:pPr>
            <a:r>
              <a:rPr lang="en-US" sz="11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 }</a:t>
            </a:r>
            <a:endParaRPr lang="en-US" sz="1100" dirty="0"/>
          </a:p>
          <a:p>
            <a:pPr algn="l">
              <a:lnSpc>
                <a:spcPct val="160000"/>
              </a:lnSpc>
            </a:pPr>
            <a:r>
              <a:rPr lang="en-US" sz="11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);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382000" y="4191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498673" y="276423"/>
                </a:moveTo>
                <a:cubicBezTo>
                  <a:pt x="511076" y="264021"/>
                  <a:pt x="511076" y="243880"/>
                  <a:pt x="498673" y="231477"/>
                </a:cubicBezTo>
                <a:lnTo>
                  <a:pt x="339923" y="72727"/>
                </a:lnTo>
                <a:cubicBezTo>
                  <a:pt x="327521" y="60325"/>
                  <a:pt x="307380" y="60325"/>
                  <a:pt x="294977" y="72727"/>
                </a:cubicBezTo>
                <a:cubicBezTo>
                  <a:pt x="282575" y="85130"/>
                  <a:pt x="282575" y="105271"/>
                  <a:pt x="294977" y="117673"/>
                </a:cubicBezTo>
                <a:lnTo>
                  <a:pt x="399554" y="222250"/>
                </a:lnTo>
                <a:lnTo>
                  <a:pt x="31750" y="222250"/>
                </a:lnTo>
                <a:cubicBezTo>
                  <a:pt x="14188" y="222250"/>
                  <a:pt x="0" y="236438"/>
                  <a:pt x="0" y="254000"/>
                </a:cubicBezTo>
                <a:cubicBezTo>
                  <a:pt x="0" y="271562"/>
                  <a:pt x="14188" y="285750"/>
                  <a:pt x="31750" y="285750"/>
                </a:cubicBezTo>
                <a:lnTo>
                  <a:pt x="399554" y="285750"/>
                </a:lnTo>
                <a:lnTo>
                  <a:pt x="294977" y="390327"/>
                </a:lnTo>
                <a:cubicBezTo>
                  <a:pt x="282575" y="402729"/>
                  <a:pt x="282575" y="422870"/>
                  <a:pt x="294977" y="435273"/>
                </a:cubicBezTo>
                <a:cubicBezTo>
                  <a:pt x="307380" y="447675"/>
                  <a:pt x="327521" y="447675"/>
                  <a:pt x="339923" y="435273"/>
                </a:cubicBezTo>
                <a:lnTo>
                  <a:pt x="498673" y="276523"/>
                </a:ln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0" y="2921000"/>
            <a:ext cx="584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Lambda Expression (1 line)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9144000" y="3365500"/>
            <a:ext cx="5842000" cy="2540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FF7F50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461500" y="3873500"/>
            <a:ext cx="5207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2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button.addActionListener(</a:t>
            </a:r>
            <a:endParaRPr lang="en-US" sz="1200" dirty="0"/>
          </a:p>
          <a:p>
            <a:pPr algn="l">
              <a:lnSpc>
                <a:spcPct val="160000"/>
              </a:lnSpc>
            </a:pPr>
            <a:r>
              <a:rPr lang="en-US" sz="12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 e -&gt; System.out.println(</a:t>
            </a:r>
            <a:endParaRPr lang="en-US" sz="1200" dirty="0"/>
          </a:p>
          <a:p>
            <a:pPr algn="l">
              <a:lnSpc>
                <a:spcPct val="160000"/>
              </a:lnSpc>
            </a:pPr>
            <a:r>
              <a:rPr lang="en-US" sz="12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   "Clicked!"));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44000" y="5207000"/>
            <a:ext cx="2540000" cy="444500"/>
          </a:xfrm>
          <a:prstGeom prst="roundRect">
            <a:avLst>
              <a:gd name="adj" fmla="val 20000"/>
            </a:avLst>
          </a:prstGeom>
          <a:solidFill>
            <a:srgbClr val="FF7F50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0" y="5207000"/>
            <a:ext cx="254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80% less code!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270000" y="6350000"/>
            <a:ext cx="13716000" cy="1397000"/>
          </a:xfrm>
          <a:prstGeom prst="roundRect">
            <a:avLst>
              <a:gd name="adj" fmla="val 8000"/>
            </a:avLst>
          </a:prstGeom>
          <a:solidFill>
            <a:srgbClr val="F0F4F8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51000" y="6477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Common Usage Patterns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651000" y="6921500"/>
            <a:ext cx="12954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pPr algn="l">
              <a:lnSpc>
                <a:spcPct val="150000"/>
              </a:lnSpc>
            </a:pPr>
            <a:r>
              <a:rPr lang="en-US" sz="13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Login buttons</a:t>
            </a:r>
            <a:pPr algn="l">
              <a:lnSpc>
                <a:spcPct val="150000"/>
              </a:lnSpc>
            </a:pPr>
            <a:r>
              <a:rPr lang="en-US" sz="13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validate credentials on click  • </a:t>
            </a:r>
            <a:pPr algn="l">
              <a:lnSpc>
                <a:spcPct val="150000"/>
              </a:lnSpc>
            </a:pPr>
            <a:r>
              <a:rPr lang="en-US" sz="13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Form submissions</a:t>
            </a:r>
            <a:pPr algn="l">
              <a:lnSpc>
                <a:spcPct val="150000"/>
              </a:lnSpc>
            </a:pPr>
            <a:r>
              <a:rPr lang="en-US" sz="13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process data on submit  • </a:t>
            </a:r>
            <a:pPr algn="l">
              <a:lnSpc>
                <a:spcPct val="150000"/>
              </a:lnSpc>
            </a:pPr>
            <a:r>
              <a:rPr lang="en-US" sz="13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Menu actions</a:t>
            </a:r>
            <a:pPr algn="l">
              <a:lnSpc>
                <a:spcPct val="150000"/>
              </a:lnSpc>
            </a:pPr>
            <a:r>
              <a:rPr lang="en-US" sz="13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execute commands on selection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pPr algn="l">
              <a:lnSpc>
                <a:spcPct val="150000"/>
              </a:lnSpc>
            </a:pPr>
            <a:r>
              <a:rPr lang="en-US" sz="13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Mouse events</a:t>
            </a:r>
            <a:pPr algn="l">
              <a:lnSpc>
                <a:spcPct val="150000"/>
              </a:lnSpc>
            </a:pPr>
            <a:r>
              <a:rPr lang="en-US" sz="13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drag, hover, double-click handlers  • </a:t>
            </a:r>
            <a:pPr algn="l">
              <a:lnSpc>
                <a:spcPct val="150000"/>
              </a:lnSpc>
            </a:pPr>
            <a:r>
              <a:rPr lang="en-US" sz="13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Key listeners</a:t>
            </a:r>
            <a:pPr algn="l">
              <a:lnSpc>
                <a:spcPct val="150000"/>
              </a:lnSpc>
            </a:pPr>
            <a:r>
              <a:rPr lang="en-US" sz="13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shortcut key processing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09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Lambda with Functional Interfaces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841500"/>
            <a:ext cx="13716000" cy="889000"/>
          </a:xfrm>
          <a:prstGeom prst="roundRect">
            <a:avLst>
              <a:gd name="adj" fmla="val 8000"/>
            </a:avLst>
          </a:prstGeom>
          <a:gradFill rotWithShape="1" flip="none">
            <a:gsLst>
              <a:gs pos="0">
                <a:srgbClr val="2E5E8A"/>
              </a:gs>
              <a:gs pos="100000">
                <a:srgbClr val="2E5E8A">
                  <a:alpha val="80000"/>
                </a:srgbClr>
              </a:gs>
            </a:gsLst>
            <a:lin ang="0" scaled="1"/>
          </a:gradFill>
          <a:ln/>
        </p:spPr>
      </p:sp>
      <p:sp>
        <p:nvSpPr>
          <p:cNvPr id="5" name="Text 3"/>
          <p:cNvSpPr/>
          <p:nvPr/>
        </p:nvSpPr>
        <p:spPr>
          <a:xfrm>
            <a:off x="1778000" y="1841500"/>
            <a:ext cx="1270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Definition:</a:t>
            </a:r>
            <a:pPr algn="l">
              <a:lnSpc>
                <a:spcPct val="14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A functional interface has exactly </a:t>
            </a:r>
            <a:pPr algn="l">
              <a:lnSpc>
                <a:spcPct val="14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one abstract method</a:t>
            </a:r>
            <a:pPr algn="l">
              <a:lnSpc>
                <a:spcPct val="14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 Lambda expressions implement functional interfaces. Marked with </a:t>
            </a:r>
            <a:pPr algn="l">
              <a:lnSpc>
                <a:spcPct val="14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@FunctionalInterface</a:t>
            </a:r>
            <a:pPr algn="l">
              <a:lnSpc>
                <a:spcPct val="14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annotation.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270000" y="3048000"/>
            <a:ext cx="3238500" cy="2921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524000" y="3302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8575" y="57150"/>
                </a:moveTo>
                <a:cubicBezTo>
                  <a:pt x="17056" y="57150"/>
                  <a:pt x="6608" y="64115"/>
                  <a:pt x="2143" y="74831"/>
                </a:cubicBezTo>
                <a:cubicBezTo>
                  <a:pt x="-2322" y="85546"/>
                  <a:pt x="179" y="97780"/>
                  <a:pt x="8394" y="105906"/>
                </a:cubicBezTo>
                <a:lnTo>
                  <a:pt x="171450" y="269051"/>
                </a:lnTo>
                <a:lnTo>
                  <a:pt x="171450" y="371475"/>
                </a:lnTo>
                <a:cubicBezTo>
                  <a:pt x="171450" y="379065"/>
                  <a:pt x="174486" y="386298"/>
                  <a:pt x="179844" y="391656"/>
                </a:cubicBezTo>
                <a:lnTo>
                  <a:pt x="236994" y="448806"/>
                </a:lnTo>
                <a:cubicBezTo>
                  <a:pt x="245209" y="457021"/>
                  <a:pt x="257443" y="459432"/>
                  <a:pt x="268159" y="454968"/>
                </a:cubicBezTo>
                <a:cubicBezTo>
                  <a:pt x="278874" y="450503"/>
                  <a:pt x="285750" y="440144"/>
                  <a:pt x="285750" y="428625"/>
                </a:cubicBezTo>
                <a:lnTo>
                  <a:pt x="285750" y="269051"/>
                </a:lnTo>
                <a:lnTo>
                  <a:pt x="448806" y="105995"/>
                </a:lnTo>
                <a:cubicBezTo>
                  <a:pt x="457021" y="97780"/>
                  <a:pt x="459432" y="85546"/>
                  <a:pt x="454968" y="74831"/>
                </a:cubicBezTo>
                <a:cubicBezTo>
                  <a:pt x="450503" y="64115"/>
                  <a:pt x="440144" y="57150"/>
                  <a:pt x="428625" y="57150"/>
                </a:cubicBezTo>
                <a:lnTo>
                  <a:pt x="28575" y="57150"/>
                </a:ln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8" name="Text 6"/>
          <p:cNvSpPr/>
          <p:nvPr/>
        </p:nvSpPr>
        <p:spPr>
          <a:xfrm>
            <a:off x="1524000" y="3873500"/>
            <a:ext cx="27305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Predicate&lt;T&gt;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524000" y="4318000"/>
            <a:ext cx="27305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boolean test(T t)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524000" y="4762500"/>
            <a:ext cx="27305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Predicate&lt;Integer&gt; isEven = n -&gt; n % 2 == 0;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762500" y="3048000"/>
            <a:ext cx="3238500" cy="2921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16500" y="3302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48806" y="134481"/>
                </a:moveTo>
                <a:lnTo>
                  <a:pt x="363081" y="220206"/>
                </a:lnTo>
                <a:cubicBezTo>
                  <a:pt x="354866" y="228421"/>
                  <a:pt x="342632" y="230832"/>
                  <a:pt x="331916" y="226368"/>
                </a:cubicBezTo>
                <a:cubicBezTo>
                  <a:pt x="321201" y="221903"/>
                  <a:pt x="314325" y="211544"/>
                  <a:pt x="314325" y="200025"/>
                </a:cubicBezTo>
                <a:lnTo>
                  <a:pt x="314325" y="142875"/>
                </a:lnTo>
                <a:lnTo>
                  <a:pt x="28575" y="142875"/>
                </a:lnTo>
                <a:cubicBezTo>
                  <a:pt x="12769" y="142875"/>
                  <a:pt x="0" y="130106"/>
                  <a:pt x="0" y="114300"/>
                </a:cubicBezTo>
                <a:cubicBezTo>
                  <a:pt x="0" y="98494"/>
                  <a:pt x="12769" y="85725"/>
                  <a:pt x="28575" y="85725"/>
                </a:cubicBezTo>
                <a:lnTo>
                  <a:pt x="314325" y="85725"/>
                </a:lnTo>
                <a:lnTo>
                  <a:pt x="314325" y="28575"/>
                </a:lnTo>
                <a:cubicBezTo>
                  <a:pt x="314325" y="17056"/>
                  <a:pt x="321290" y="6608"/>
                  <a:pt x="332006" y="2143"/>
                </a:cubicBezTo>
                <a:cubicBezTo>
                  <a:pt x="342721" y="-2322"/>
                  <a:pt x="354955" y="179"/>
                  <a:pt x="363170" y="8305"/>
                </a:cubicBezTo>
                <a:lnTo>
                  <a:pt x="448895" y="94030"/>
                </a:lnTo>
                <a:cubicBezTo>
                  <a:pt x="460058" y="105192"/>
                  <a:pt x="460058" y="123319"/>
                  <a:pt x="448895" y="134481"/>
                </a:cubicBezTo>
                <a:close/>
                <a:moveTo>
                  <a:pt x="94030" y="448806"/>
                </a:moveTo>
                <a:lnTo>
                  <a:pt x="8305" y="363081"/>
                </a:lnTo>
                <a:cubicBezTo>
                  <a:pt x="-2857" y="351919"/>
                  <a:pt x="-2857" y="333792"/>
                  <a:pt x="8305" y="322630"/>
                </a:cubicBezTo>
                <a:lnTo>
                  <a:pt x="94030" y="236905"/>
                </a:lnTo>
                <a:cubicBezTo>
                  <a:pt x="102245" y="228689"/>
                  <a:pt x="114479" y="226278"/>
                  <a:pt x="125194" y="230743"/>
                </a:cubicBezTo>
                <a:cubicBezTo>
                  <a:pt x="135910" y="235208"/>
                  <a:pt x="142875" y="245656"/>
                  <a:pt x="142875" y="257175"/>
                </a:cubicBezTo>
                <a:lnTo>
                  <a:pt x="142875" y="314325"/>
                </a:lnTo>
                <a:lnTo>
                  <a:pt x="428625" y="314325"/>
                </a:lnTo>
                <a:cubicBezTo>
                  <a:pt x="444431" y="314325"/>
                  <a:pt x="457200" y="327094"/>
                  <a:pt x="457200" y="342900"/>
                </a:cubicBezTo>
                <a:cubicBezTo>
                  <a:pt x="457200" y="358706"/>
                  <a:pt x="444431" y="371475"/>
                  <a:pt x="428625" y="371475"/>
                </a:cubicBezTo>
                <a:lnTo>
                  <a:pt x="142875" y="371475"/>
                </a:lnTo>
                <a:lnTo>
                  <a:pt x="142875" y="428625"/>
                </a:lnTo>
                <a:cubicBezTo>
                  <a:pt x="142875" y="440144"/>
                  <a:pt x="135910" y="450592"/>
                  <a:pt x="125194" y="455057"/>
                </a:cubicBezTo>
                <a:cubicBezTo>
                  <a:pt x="114479" y="459522"/>
                  <a:pt x="102245" y="457021"/>
                  <a:pt x="94030" y="448895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3" name="Text 11"/>
          <p:cNvSpPr/>
          <p:nvPr/>
        </p:nvSpPr>
        <p:spPr>
          <a:xfrm>
            <a:off x="5016500" y="3873500"/>
            <a:ext cx="27305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Function&lt;T,R&gt;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016500" y="4318000"/>
            <a:ext cx="27305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 apply(T t)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016500" y="4762500"/>
            <a:ext cx="27305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Function&lt;String, Integer&gt; len = s -&gt; s.length();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255000" y="3048000"/>
            <a:ext cx="3238500" cy="2921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509000" y="3302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7145" y="-14287"/>
                </a:moveTo>
                <a:cubicBezTo>
                  <a:pt x="7644" y="-14287"/>
                  <a:pt x="0" y="-4733"/>
                  <a:pt x="0" y="7144"/>
                </a:cubicBezTo>
                <a:cubicBezTo>
                  <a:pt x="0" y="19020"/>
                  <a:pt x="7644" y="28575"/>
                  <a:pt x="17145" y="28575"/>
                </a:cubicBezTo>
                <a:lnTo>
                  <a:pt x="49506" y="28575"/>
                </a:lnTo>
                <a:cubicBezTo>
                  <a:pt x="52292" y="28575"/>
                  <a:pt x="54650" y="31075"/>
                  <a:pt x="55150" y="34469"/>
                </a:cubicBezTo>
                <a:lnTo>
                  <a:pt x="92369" y="290126"/>
                </a:lnTo>
                <a:cubicBezTo>
                  <a:pt x="96798" y="320665"/>
                  <a:pt x="118086" y="342900"/>
                  <a:pt x="142946" y="342900"/>
                </a:cubicBezTo>
                <a:lnTo>
                  <a:pt x="325755" y="342900"/>
                </a:lnTo>
                <a:cubicBezTo>
                  <a:pt x="335256" y="342900"/>
                  <a:pt x="342900" y="333345"/>
                  <a:pt x="342900" y="321469"/>
                </a:cubicBezTo>
                <a:cubicBezTo>
                  <a:pt x="342900" y="309592"/>
                  <a:pt x="335256" y="300038"/>
                  <a:pt x="325755" y="300038"/>
                </a:cubicBezTo>
                <a:lnTo>
                  <a:pt x="142946" y="300038"/>
                </a:lnTo>
                <a:cubicBezTo>
                  <a:pt x="134660" y="300038"/>
                  <a:pt x="127587" y="292626"/>
                  <a:pt x="126087" y="282446"/>
                </a:cubicBezTo>
                <a:lnTo>
                  <a:pt x="122444" y="257175"/>
                </a:lnTo>
                <a:lnTo>
                  <a:pt x="339328" y="257175"/>
                </a:lnTo>
                <a:cubicBezTo>
                  <a:pt x="361331" y="257175"/>
                  <a:pt x="380190" y="237619"/>
                  <a:pt x="384262" y="210562"/>
                </a:cubicBezTo>
                <a:lnTo>
                  <a:pt x="406408" y="62419"/>
                </a:lnTo>
                <a:cubicBezTo>
                  <a:pt x="409051" y="44827"/>
                  <a:pt x="398264" y="28575"/>
                  <a:pt x="383905" y="28575"/>
                </a:cubicBezTo>
                <a:lnTo>
                  <a:pt x="89083" y="28575"/>
                </a:lnTo>
                <a:lnTo>
                  <a:pt x="88797" y="26789"/>
                </a:lnTo>
                <a:cubicBezTo>
                  <a:pt x="85368" y="3036"/>
                  <a:pt x="68794" y="-14287"/>
                  <a:pt x="49435" y="-14287"/>
                </a:cubicBezTo>
                <a:lnTo>
                  <a:pt x="17145" y="-14287"/>
                </a:lnTo>
                <a:close/>
                <a:moveTo>
                  <a:pt x="148590" y="457200"/>
                </a:moveTo>
                <a:cubicBezTo>
                  <a:pt x="167515" y="457200"/>
                  <a:pt x="182880" y="437994"/>
                  <a:pt x="182880" y="414338"/>
                </a:cubicBezTo>
                <a:cubicBezTo>
                  <a:pt x="182880" y="390681"/>
                  <a:pt x="167515" y="371475"/>
                  <a:pt x="148590" y="371475"/>
                </a:cubicBezTo>
                <a:cubicBezTo>
                  <a:pt x="129665" y="371475"/>
                  <a:pt x="114300" y="390681"/>
                  <a:pt x="114300" y="414338"/>
                </a:cubicBezTo>
                <a:cubicBezTo>
                  <a:pt x="114300" y="437994"/>
                  <a:pt x="129665" y="457200"/>
                  <a:pt x="148590" y="457200"/>
                </a:cubicBezTo>
                <a:close/>
                <a:moveTo>
                  <a:pt x="308610" y="457200"/>
                </a:moveTo>
                <a:cubicBezTo>
                  <a:pt x="327535" y="457200"/>
                  <a:pt x="342900" y="437994"/>
                  <a:pt x="342900" y="414338"/>
                </a:cubicBezTo>
                <a:cubicBezTo>
                  <a:pt x="342900" y="390681"/>
                  <a:pt x="327535" y="371475"/>
                  <a:pt x="308610" y="371475"/>
                </a:cubicBezTo>
                <a:cubicBezTo>
                  <a:pt x="289685" y="371475"/>
                  <a:pt x="274320" y="390681"/>
                  <a:pt x="274320" y="414338"/>
                </a:cubicBezTo>
                <a:cubicBezTo>
                  <a:pt x="274320" y="437994"/>
                  <a:pt x="289685" y="457200"/>
                  <a:pt x="308610" y="457200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18" name="Text 16"/>
          <p:cNvSpPr/>
          <p:nvPr/>
        </p:nvSpPr>
        <p:spPr>
          <a:xfrm>
            <a:off x="8509000" y="3873500"/>
            <a:ext cx="27305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Consumer&lt;T&gt;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509000" y="4318000"/>
            <a:ext cx="27305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void accept(T t)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509000" y="4762500"/>
            <a:ext cx="27305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Consumer&lt;String&gt; print = s -&gt; System.out.println(s);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11747500" y="3048000"/>
            <a:ext cx="3238500" cy="2921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2001500" y="3302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00264" y="211812"/>
                </a:moveTo>
                <a:cubicBezTo>
                  <a:pt x="407694" y="222349"/>
                  <a:pt x="420481" y="224671"/>
                  <a:pt x="430125" y="216724"/>
                </a:cubicBezTo>
                <a:cubicBezTo>
                  <a:pt x="440627" y="207972"/>
                  <a:pt x="443484" y="190202"/>
                  <a:pt x="436483" y="177076"/>
                </a:cubicBezTo>
                <a:lnTo>
                  <a:pt x="402193" y="112782"/>
                </a:lnTo>
                <a:cubicBezTo>
                  <a:pt x="400193" y="109031"/>
                  <a:pt x="397478" y="105906"/>
                  <a:pt x="394264" y="103674"/>
                </a:cubicBezTo>
                <a:lnTo>
                  <a:pt x="251031" y="4197"/>
                </a:lnTo>
                <a:cubicBezTo>
                  <a:pt x="237244" y="-5358"/>
                  <a:pt x="220456" y="-5358"/>
                  <a:pt x="206597" y="4197"/>
                </a:cubicBezTo>
                <a:lnTo>
                  <a:pt x="63437" y="103584"/>
                </a:lnTo>
                <a:cubicBezTo>
                  <a:pt x="59579" y="106263"/>
                  <a:pt x="56507" y="110192"/>
                  <a:pt x="54435" y="115014"/>
                </a:cubicBezTo>
                <a:lnTo>
                  <a:pt x="19788" y="195292"/>
                </a:lnTo>
                <a:cubicBezTo>
                  <a:pt x="10787" y="216188"/>
                  <a:pt x="17074" y="242173"/>
                  <a:pt x="33790" y="253425"/>
                </a:cubicBezTo>
                <a:lnTo>
                  <a:pt x="57364" y="269230"/>
                </a:lnTo>
                <a:lnTo>
                  <a:pt x="57364" y="316825"/>
                </a:lnTo>
                <a:cubicBezTo>
                  <a:pt x="57364" y="337364"/>
                  <a:pt x="66223" y="356384"/>
                  <a:pt x="80510" y="366564"/>
                </a:cubicBezTo>
                <a:lnTo>
                  <a:pt x="206240" y="455593"/>
                </a:lnTo>
                <a:cubicBezTo>
                  <a:pt x="220242" y="465505"/>
                  <a:pt x="237315" y="465505"/>
                  <a:pt x="251317" y="455593"/>
                </a:cubicBezTo>
                <a:lnTo>
                  <a:pt x="377047" y="366564"/>
                </a:lnTo>
                <a:cubicBezTo>
                  <a:pt x="391406" y="356384"/>
                  <a:pt x="400193" y="337453"/>
                  <a:pt x="400193" y="316825"/>
                </a:cubicBezTo>
                <a:lnTo>
                  <a:pt x="400193" y="211901"/>
                </a:lnTo>
                <a:close/>
                <a:moveTo>
                  <a:pt x="228814" y="203061"/>
                </a:moveTo>
                <a:lnTo>
                  <a:pt x="121587" y="128588"/>
                </a:lnTo>
                <a:lnTo>
                  <a:pt x="228814" y="54114"/>
                </a:lnTo>
                <a:lnTo>
                  <a:pt x="336042" y="128588"/>
                </a:lnTo>
                <a:lnTo>
                  <a:pt x="228814" y="203061"/>
                </a:lnTo>
                <a:close/>
                <a:moveTo>
                  <a:pt x="199168" y="247888"/>
                </a:moveTo>
                <a:lnTo>
                  <a:pt x="183952" y="289143"/>
                </a:lnTo>
                <a:lnTo>
                  <a:pt x="65508" y="209848"/>
                </a:lnTo>
                <a:lnTo>
                  <a:pt x="83653" y="167700"/>
                </a:lnTo>
                <a:lnTo>
                  <a:pt x="199168" y="247888"/>
                </a:ln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23" name="Text 21"/>
          <p:cNvSpPr/>
          <p:nvPr/>
        </p:nvSpPr>
        <p:spPr>
          <a:xfrm>
            <a:off x="12001500" y="3873500"/>
            <a:ext cx="27305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Supplier&lt;T&gt;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2001500" y="4318000"/>
            <a:ext cx="27305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 get()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2001500" y="4762500"/>
            <a:ext cx="27305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Supplier&lt;LocalDate&gt; today = () -&gt; LocalDate.now();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1270000" y="6350000"/>
            <a:ext cx="13716000" cy="1397000"/>
          </a:xfrm>
          <a:prstGeom prst="roundRect">
            <a:avLst>
              <a:gd name="adj" fmla="val 8000"/>
            </a:avLst>
          </a:prstGeom>
          <a:solidFill>
            <a:srgbClr val="F0F4F8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651000" y="6477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Custom Functional Interface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651000" y="6921500"/>
            <a:ext cx="1295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@FunctionalInterface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 </a:t>
            </a:r>
            <a:pPr algn="l">
              <a:lnSpc>
                <a:spcPct val="160000"/>
              </a:lnSpc>
            </a:pPr>
            <a:r>
              <a:rPr lang="en-US" sz="15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interface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Calculator { </a:t>
            </a:r>
            <a:pPr algn="l">
              <a:lnSpc>
                <a:spcPct val="160000"/>
              </a:lnSpc>
            </a:pPr>
            <a:r>
              <a:rPr lang="en-US" sz="15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operate(</a:t>
            </a:r>
            <a:pPr algn="l">
              <a:lnSpc>
                <a:spcPct val="160000"/>
              </a:lnSpc>
            </a:pPr>
            <a:r>
              <a:rPr lang="en-US" sz="15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a, </a:t>
            </a:r>
            <a:pPr algn="l">
              <a:lnSpc>
                <a:spcPct val="160000"/>
              </a:lnSpc>
            </a:pPr>
            <a:r>
              <a:rPr lang="en-US" sz="15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b); }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Calculator add = (a, b) -&gt; a + b;  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 Result: add.operate(5, 3) = 8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37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Common Functional Interfaces — Reference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70000" y="1905000"/>
          <a:ext cx="8128000" cy="3302000"/>
        </p:xfrm>
        <a:graphic>
          <a:graphicData uri="http://schemas.openxmlformats.org/drawingml/2006/table">
            <a:tbl>
              <a:tblPr/>
              <a:tblGrid>
                <a:gridCol w="3088640"/>
                <a:gridCol w="3088640"/>
                <a:gridCol w="1950720"/>
              </a:tblGrid>
              <a:tr h="551434"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Interface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Method Signature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Use Case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</a:tr>
              <a:tr h="551434"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UnaryOperator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T apply(T t)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Transform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</a:tr>
              <a:tr h="551434"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BinaryOperator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T apply(T t1, T t2)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Combine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51434"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BiPredicate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boolean test(T t, U u)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Filter 2 args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</a:tr>
              <a:tr h="551434"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BiFunction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 apply(T t, U u)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Map 2 args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44830"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BiConsumer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void accept(T t, U u)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Process 2 args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9906000" y="1905000"/>
            <a:ext cx="508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Primitive Specializations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9906000" y="2476500"/>
            <a:ext cx="5080000" cy="27305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10160000" y="2603500"/>
            <a:ext cx="4572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IntPredicate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test(int value)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LongFunction&lt;R&gt;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apply(long)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DoubleSupplier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getAsDouble()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IntBinaryOperator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applyAsInt(a,b)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ToIntFunction&lt;T&gt;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applyAsInt(T)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ObjIntConsumer&lt;T&gt;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accept(T, int)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270000" y="5588000"/>
            <a:ext cx="13716000" cy="2159000"/>
          </a:xfrm>
          <a:prstGeom prst="roundRect">
            <a:avLst>
              <a:gd name="adj" fmla="val 8000"/>
            </a:avLst>
          </a:prstGeom>
          <a:solidFill>
            <a:srgbClr val="F0F4F8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651000" y="5842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48734" y="342900"/>
                </a:moveTo>
                <a:cubicBezTo>
                  <a:pt x="357426" y="322987"/>
                  <a:pt x="374809" y="304949"/>
                  <a:pt x="394454" y="289411"/>
                </a:cubicBezTo>
                <a:cubicBezTo>
                  <a:pt x="433387" y="258693"/>
                  <a:pt x="457200" y="217170"/>
                  <a:pt x="457200" y="171450"/>
                </a:cubicBezTo>
                <a:cubicBezTo>
                  <a:pt x="457200" y="76795"/>
                  <a:pt x="354806" y="0"/>
                  <a:pt x="228600" y="0"/>
                </a:cubicBezTo>
                <a:cubicBezTo>
                  <a:pt x="102394" y="0"/>
                  <a:pt x="0" y="76795"/>
                  <a:pt x="0" y="171450"/>
                </a:cubicBezTo>
                <a:cubicBezTo>
                  <a:pt x="0" y="217170"/>
                  <a:pt x="23813" y="258693"/>
                  <a:pt x="62746" y="289411"/>
                </a:cubicBezTo>
                <a:cubicBezTo>
                  <a:pt x="82391" y="304949"/>
                  <a:pt x="99893" y="322987"/>
                  <a:pt x="108466" y="342900"/>
                </a:cubicBezTo>
                <a:lnTo>
                  <a:pt x="348615" y="342900"/>
                </a:lnTo>
                <a:close/>
                <a:moveTo>
                  <a:pt x="342900" y="385763"/>
                </a:moveTo>
                <a:lnTo>
                  <a:pt x="114300" y="385763"/>
                </a:lnTo>
                <a:lnTo>
                  <a:pt x="114300" y="400050"/>
                </a:lnTo>
                <a:cubicBezTo>
                  <a:pt x="114300" y="439519"/>
                  <a:pt x="156924" y="471488"/>
                  <a:pt x="209550" y="471488"/>
                </a:cubicBezTo>
                <a:lnTo>
                  <a:pt x="247650" y="471488"/>
                </a:lnTo>
                <a:cubicBezTo>
                  <a:pt x="300276" y="471488"/>
                  <a:pt x="342900" y="439519"/>
                  <a:pt x="342900" y="400050"/>
                </a:cubicBezTo>
                <a:lnTo>
                  <a:pt x="342900" y="385763"/>
                </a:lnTo>
                <a:close/>
                <a:moveTo>
                  <a:pt x="219075" y="100013"/>
                </a:moveTo>
                <a:cubicBezTo>
                  <a:pt x="171688" y="100013"/>
                  <a:pt x="133350" y="128766"/>
                  <a:pt x="133350" y="164306"/>
                </a:cubicBezTo>
                <a:cubicBezTo>
                  <a:pt x="133350" y="176183"/>
                  <a:pt x="120610" y="185738"/>
                  <a:pt x="104775" y="185738"/>
                </a:cubicBezTo>
                <a:cubicBezTo>
                  <a:pt x="88940" y="185738"/>
                  <a:pt x="76200" y="176183"/>
                  <a:pt x="76200" y="164306"/>
                </a:cubicBezTo>
                <a:cubicBezTo>
                  <a:pt x="76200" y="105102"/>
                  <a:pt x="140137" y="57150"/>
                  <a:pt x="219075" y="57150"/>
                </a:cubicBezTo>
                <a:cubicBezTo>
                  <a:pt x="234910" y="57150"/>
                  <a:pt x="247650" y="66705"/>
                  <a:pt x="247650" y="78581"/>
                </a:cubicBezTo>
                <a:cubicBezTo>
                  <a:pt x="247650" y="90458"/>
                  <a:pt x="234910" y="100013"/>
                  <a:pt x="219075" y="100013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0" name="Text 7"/>
          <p:cNvSpPr/>
          <p:nvPr/>
        </p:nvSpPr>
        <p:spPr>
          <a:xfrm>
            <a:off x="2286000" y="5778500"/>
            <a:ext cx="381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How to Choose?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1651000" y="6350000"/>
            <a:ext cx="12954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7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1. </a:t>
            </a:r>
            <a:pPr algn="l">
              <a:lnSpc>
                <a:spcPct val="160000"/>
              </a:lnSpc>
            </a:pPr>
            <a:r>
              <a:rPr lang="en-US" sz="17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Input count:</a:t>
            </a:r>
            <a:pPr algn="l">
              <a:lnSpc>
                <a:spcPct val="160000"/>
              </a:lnSpc>
            </a:pPr>
            <a:r>
              <a:rPr lang="en-US" sz="17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1 parameter → standard (Predicate, Function); 2 parameters → Bi-version (BiPredicate, BiFunction)</a:t>
            </a:r>
            <a:endParaRPr lang="en-US" sz="1700" dirty="0"/>
          </a:p>
          <a:p>
            <a:pPr algn="l">
              <a:lnSpc>
                <a:spcPct val="160000"/>
              </a:lnSpc>
            </a:pPr>
            <a:r>
              <a:rPr lang="en-US" sz="17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2. </a:t>
            </a:r>
            <a:pPr algn="l">
              <a:lnSpc>
                <a:spcPct val="160000"/>
              </a:lnSpc>
            </a:pPr>
            <a:r>
              <a:rPr lang="en-US" sz="17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Return type:</a:t>
            </a:r>
            <a:pPr algn="l">
              <a:lnSpc>
                <a:spcPct val="160000"/>
              </a:lnSpc>
            </a:pPr>
            <a:r>
              <a:rPr lang="en-US" sz="17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boolean → Predicate; void → Consumer; specific type → Function/Supplier</a:t>
            </a:r>
            <a:endParaRPr lang="en-US" sz="1700" dirty="0"/>
          </a:p>
          <a:p>
            <a:pPr algn="l">
              <a:lnSpc>
                <a:spcPct val="160000"/>
              </a:lnSpc>
            </a:pPr>
            <a:r>
              <a:rPr lang="en-US" sz="17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3. </a:t>
            </a:r>
            <a:pPr algn="l">
              <a:lnSpc>
                <a:spcPct val="160000"/>
              </a:lnSpc>
            </a:pPr>
            <a:r>
              <a:rPr lang="en-US" sz="17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Primitive types:</a:t>
            </a:r>
            <a:pPr algn="l">
              <a:lnSpc>
                <a:spcPct val="160000"/>
              </a:lnSpc>
            </a:pPr>
            <a:r>
              <a:rPr lang="en-US" sz="17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Use Int/Long/Double specializations to avoid autoboxing overhead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11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E5E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40000"/>
            <a:ext cx="16256000" cy="4064000"/>
          </a:xfrm>
          <a:custGeom>
            <a:avLst/>
            <a:gdLst/>
            <a:ahLst/>
            <a:cxnLst/>
            <a:rect l="l" t="t" r="r" b="b"/>
            <a:pathLst>
              <a:path w="16256000" h="4064000">
                <a:moveTo>
                  <a:pt x="0" y="2032000"/>
                </a:moveTo>
                <a:quadBezTo>
                  <a:pt x="4064000" y="0"/>
                  <a:pt x="8128000" y="0"/>
                </a:quadBezTo>
                <a:quadBezTo>
                  <a:pt x="12192000" y="0"/>
                  <a:pt x="16256000" y="2032000"/>
                </a:quadBezTo>
                <a:lnTo>
                  <a:pt x="16256000" y="4064000"/>
                </a:lnTo>
                <a:lnTo>
                  <a:pt x="0" y="4064000"/>
                </a:lnTo>
                <a:close/>
              </a:path>
            </a:pathLst>
          </a:custGeom>
          <a:gradFill rotWithShape="1" flip="none">
            <a:gsLst>
              <a:gs pos="0">
                <a:srgbClr val="D0E0E3"/>
              </a:gs>
              <a:gs pos="50000">
                <a:srgbClr val="D0E0E3">
                  <a:alpha val="31000"/>
                </a:srgbClr>
              </a:gs>
              <a:gs pos="100000">
                <a:srgbClr val="2E5E8A">
                  <a:alpha val="19000"/>
                </a:srgbClr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1270000" y="266700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FCFDF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Lecture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70000" y="3175000"/>
            <a:ext cx="254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72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24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318000" y="3048000"/>
            <a:ext cx="1143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6000" dirty="0">
                <a:solidFill>
                  <a:srgbClr val="FCFDF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Lambda Expression Examples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4318000" y="4318000"/>
            <a:ext cx="889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FCFDF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Streams, Method References &amp; Advanced Patterns</a:t>
            </a:r>
            <a:endParaRPr lang="en-US" sz="22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Lambda in Stream API — Definition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841500"/>
            <a:ext cx="13716000" cy="1143000"/>
          </a:xfrm>
          <a:prstGeom prst="roundRect">
            <a:avLst>
              <a:gd name="adj" fmla="val 8000"/>
            </a:avLst>
          </a:prstGeom>
          <a:gradFill rotWithShape="1" flip="none">
            <a:gsLst>
              <a:gs pos="0">
                <a:srgbClr val="2E5E8A"/>
              </a:gs>
              <a:gs pos="100000">
                <a:srgbClr val="2E5E8A">
                  <a:alpha val="80000"/>
                </a:srgbClr>
              </a:gs>
            </a:gsLst>
            <a:lin ang="0" scaled="1"/>
          </a:gradFill>
          <a:ln/>
        </p:spPr>
      </p:sp>
      <p:sp>
        <p:nvSpPr>
          <p:cNvPr id="5" name="Text 3"/>
          <p:cNvSpPr/>
          <p:nvPr/>
        </p:nvSpPr>
        <p:spPr>
          <a:xfrm>
            <a:off x="1778000" y="1905000"/>
            <a:ext cx="1270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Definition:</a:t>
            </a:r>
            <a:pPr algn="l">
              <a:lnSpc>
                <a:spcPct val="15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The Stream API (java.util.stream) enables functional-style operations on collections. A Stream is a sequence of elements supporting sequential and parallel aggregate operations. Introduced in </a:t>
            </a:r>
            <a:pPr algn="l">
              <a:lnSpc>
                <a:spcPct val="15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Java 8</a:t>
            </a:r>
            <a:pPr algn="l">
              <a:lnSpc>
                <a:spcPct val="15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70000" y="3302000"/>
            <a:ext cx="508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Stream Pipeline Structure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270000" y="3937000"/>
            <a:ext cx="3048000" cy="762000"/>
          </a:xfrm>
          <a:prstGeom prst="roundRect">
            <a:avLst>
              <a:gd name="adj" fmla="val 12000"/>
            </a:avLst>
          </a:prstGeom>
          <a:solidFill>
            <a:srgbClr val="2E5E8A"/>
          </a:solidFill>
          <a:ln/>
        </p:spPr>
      </p:sp>
      <p:sp>
        <p:nvSpPr>
          <p:cNvPr id="8" name="Text 6"/>
          <p:cNvSpPr/>
          <p:nvPr/>
        </p:nvSpPr>
        <p:spPr>
          <a:xfrm>
            <a:off x="1270000" y="3937000"/>
            <a:ext cx="3048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Source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318000" y="4318000"/>
            <a:ext cx="762000" cy="0"/>
          </a:xfrm>
          <a:prstGeom prst="straightConnector1">
            <a:avLst/>
          </a:prstGeom>
          <a:noFill/>
          <a:ln w="38100">
            <a:solidFill>
              <a:srgbClr val="FF7F50"/>
            </a:solidFill>
            <a:prstDash val="solid"/>
            <a:headEnd type="none"/>
            <a:tailEnd type="arrow"/>
          </a:ln>
        </p:spPr>
      </p:sp>
      <p:sp>
        <p:nvSpPr>
          <p:cNvPr id="10" name="Shape 8"/>
          <p:cNvSpPr/>
          <p:nvPr/>
        </p:nvSpPr>
        <p:spPr>
          <a:xfrm>
            <a:off x="5080000" y="3937000"/>
            <a:ext cx="4318000" cy="762000"/>
          </a:xfrm>
          <a:prstGeom prst="roundRect">
            <a:avLst>
              <a:gd name="adj" fmla="val 12000"/>
            </a:avLst>
          </a:prstGeom>
          <a:solidFill>
            <a:srgbClr val="FF7F50"/>
          </a:solidFill>
          <a:ln/>
        </p:spPr>
      </p:sp>
      <p:sp>
        <p:nvSpPr>
          <p:cNvPr id="11" name="Text 9"/>
          <p:cNvSpPr/>
          <p:nvPr/>
        </p:nvSpPr>
        <p:spPr>
          <a:xfrm>
            <a:off x="5080000" y="3937000"/>
            <a:ext cx="4318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Intermediate Operations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398000" y="4318000"/>
            <a:ext cx="762000" cy="0"/>
          </a:xfrm>
          <a:prstGeom prst="straightConnector1">
            <a:avLst/>
          </a:prstGeom>
          <a:noFill/>
          <a:ln w="38100">
            <a:solidFill>
              <a:srgbClr val="FF7F50"/>
            </a:solidFill>
            <a:prstDash val="solid"/>
            <a:headEnd type="none"/>
            <a:tailEnd type="arrow"/>
          </a:ln>
        </p:spPr>
      </p:sp>
      <p:sp>
        <p:nvSpPr>
          <p:cNvPr id="13" name="Shape 11"/>
          <p:cNvSpPr/>
          <p:nvPr/>
        </p:nvSpPr>
        <p:spPr>
          <a:xfrm>
            <a:off x="10160000" y="3937000"/>
            <a:ext cx="3556000" cy="762000"/>
          </a:xfrm>
          <a:prstGeom prst="roundRect">
            <a:avLst>
              <a:gd name="adj" fmla="val 12000"/>
            </a:avLst>
          </a:prstGeom>
          <a:gradFill rotWithShape="1" flip="none">
            <a:gsLst>
              <a:gs pos="0">
                <a:srgbClr val="2E5E8A"/>
              </a:gs>
              <a:gs pos="100000">
                <a:srgbClr val="2E5E8A">
                  <a:alpha val="80000"/>
                </a:srgbClr>
              </a:gs>
            </a:gsLst>
            <a:lin ang="0" scaled="1"/>
          </a:gradFill>
          <a:ln/>
        </p:spPr>
      </p:sp>
      <p:sp>
        <p:nvSpPr>
          <p:cNvPr id="14" name="Text 12"/>
          <p:cNvSpPr/>
          <p:nvPr/>
        </p:nvSpPr>
        <p:spPr>
          <a:xfrm>
            <a:off x="10160000" y="3937000"/>
            <a:ext cx="3556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Terminal Operation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70000" y="4889500"/>
            <a:ext cx="304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Collection, array, or generator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080000" y="4889500"/>
            <a:ext cx="431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filter, map, sorted, distinct...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160000" y="4889500"/>
            <a:ext cx="355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forEach, collect, reduce, count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270000" y="5842000"/>
            <a:ext cx="13716000" cy="1905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651000" y="5969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Example Pipeline with Lambdas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651000" y="6413500"/>
            <a:ext cx="12954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List&lt;String&gt; result = names.stream()                    </a:t>
            </a:r>
            <a:pPr algn="l">
              <a:lnSpc>
                <a:spcPct val="150000"/>
              </a:lnSpc>
            </a:pPr>
            <a:r>
              <a:rPr lang="en-US" sz="13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 Source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   .filter(n -&gt; n.startsWith("A"))                      </a:t>
            </a:r>
            <a:pPr algn="l">
              <a:lnSpc>
                <a:spcPct val="150000"/>
              </a:lnSpc>
            </a:pPr>
            <a:r>
              <a:rPr lang="en-US" sz="13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 Intermediate: Predicate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   .map(String::toUpperCase)                             </a:t>
            </a:r>
            <a:pPr algn="l">
              <a:lnSpc>
                <a:spcPct val="150000"/>
              </a:lnSpc>
            </a:pPr>
            <a:r>
              <a:rPr lang="en-US" sz="13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 Intermediate: Function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   .collect(Collectors.toList());                        </a:t>
            </a:r>
            <a:pPr algn="l">
              <a:lnSpc>
                <a:spcPct val="150000"/>
              </a:lnSpc>
            </a:pPr>
            <a:r>
              <a:rPr lang="en-US" sz="13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 Terminal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13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Stream Operations Overview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18415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Intermediate Operations (return Stream)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270000" y="2349500"/>
            <a:ext cx="2540000" cy="1143000"/>
          </a:xfrm>
          <a:prstGeom prst="roundRect">
            <a:avLst>
              <a:gd name="adj" fmla="val 10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397000" y="2413000"/>
            <a:ext cx="228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filter()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97000" y="2794000"/>
            <a:ext cx="2286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Selects matching elements</a:t>
            </a:r>
            <a:endParaRPr lang="en-US" sz="1200" dirty="0"/>
          </a:p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Predicate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064000" y="2349500"/>
            <a:ext cx="2540000" cy="1143000"/>
          </a:xfrm>
          <a:prstGeom prst="roundRect">
            <a:avLst>
              <a:gd name="adj" fmla="val 10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191000" y="2413000"/>
            <a:ext cx="228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map()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191000" y="2794000"/>
            <a:ext cx="2286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Transforms each element</a:t>
            </a:r>
            <a:endParaRPr lang="en-US" sz="1300" dirty="0"/>
          </a:p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Function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858000" y="2349500"/>
            <a:ext cx="2540000" cy="1143000"/>
          </a:xfrm>
          <a:prstGeom prst="roundRect">
            <a:avLst>
              <a:gd name="adj" fmla="val 10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985000" y="2413000"/>
            <a:ext cx="228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sorted()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985000" y="2794000"/>
            <a:ext cx="2286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5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Sorts elements</a:t>
            </a:r>
            <a:endParaRPr lang="en-US" sz="1500" dirty="0"/>
          </a:p>
          <a:p>
            <a:pPr algn="ctr">
              <a:lnSpc>
                <a:spcPct val="140000"/>
              </a:lnSpc>
            </a:pPr>
            <a:r>
              <a:rPr lang="en-US" sz="1500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Comparator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9652000" y="2349500"/>
            <a:ext cx="2540000" cy="1143000"/>
          </a:xfrm>
          <a:prstGeom prst="roundRect">
            <a:avLst>
              <a:gd name="adj" fmla="val 10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779000" y="2413000"/>
            <a:ext cx="228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distinct()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779000" y="2794000"/>
            <a:ext cx="2286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5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Removes duplicates</a:t>
            </a:r>
            <a:endParaRPr lang="en-US" sz="1500" dirty="0"/>
          </a:p>
          <a:p>
            <a:pPr algn="ctr">
              <a:lnSpc>
                <a:spcPct val="140000"/>
              </a:lnSpc>
            </a:pPr>
            <a:r>
              <a:rPr lang="en-US" sz="1500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equals()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12446000" y="2349500"/>
            <a:ext cx="2540000" cy="1143000"/>
          </a:xfrm>
          <a:prstGeom prst="roundRect">
            <a:avLst>
              <a:gd name="adj" fmla="val 10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2573000" y="2413000"/>
            <a:ext cx="228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limit()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573000" y="2794000"/>
            <a:ext cx="2286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5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Truncates stream</a:t>
            </a:r>
            <a:endParaRPr lang="en-US" sz="1500" dirty="0"/>
          </a:p>
          <a:p>
            <a:pPr algn="ctr">
              <a:lnSpc>
                <a:spcPct val="140000"/>
              </a:lnSpc>
            </a:pPr>
            <a:r>
              <a:rPr lang="en-US" sz="1500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long 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270000" y="38100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Terminal Operations (produce result)</a:t>
            </a:r>
            <a:endParaRPr lang="en-US" sz="2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70000" y="4318000"/>
          <a:ext cx="13716000" cy="2540000"/>
        </p:xfrm>
        <a:graphic>
          <a:graphicData uri="http://schemas.openxmlformats.org/drawingml/2006/table">
            <a:tbl>
              <a:tblPr/>
              <a:tblGrid>
                <a:gridCol w="2468880"/>
                <a:gridCol w="4800600"/>
                <a:gridCol w="3017520"/>
                <a:gridCol w="3429000"/>
              </a:tblGrid>
              <a:tr h="50800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Operation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Description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Lambda Type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Returns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forEach()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Applies action to each element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Consumer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void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collect()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Gathers into collection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Collector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List/Set/Map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reduce()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Combines into single value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BinaryOperator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Optional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count()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Returns element count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—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long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22" name="Shape 19"/>
          <p:cNvSpPr/>
          <p:nvPr/>
        </p:nvSpPr>
        <p:spPr>
          <a:xfrm>
            <a:off x="1270000" y="7175500"/>
            <a:ext cx="13716000" cy="762000"/>
          </a:xfrm>
          <a:prstGeom prst="roundRect">
            <a:avLst>
              <a:gd name="adj" fmla="val 8000"/>
            </a:avLst>
          </a:prstGeom>
          <a:gradFill rotWithShape="1" flip="none">
            <a:gsLst>
              <a:gs pos="0">
                <a:srgbClr val="2E5E8A"/>
              </a:gs>
              <a:gs pos="100000">
                <a:srgbClr val="2E5E8A">
                  <a:alpha val="80000"/>
                </a:srgbClr>
              </a:gs>
            </a:gsLst>
            <a:lin ang="0" scaled="1"/>
          </a:gradFill>
          <a:ln/>
        </p:spPr>
      </p:sp>
      <p:sp>
        <p:nvSpPr>
          <p:cNvPr id="23" name="Text 20"/>
          <p:cNvSpPr/>
          <p:nvPr/>
        </p:nvSpPr>
        <p:spPr>
          <a:xfrm>
            <a:off x="1778000" y="7175500"/>
            <a:ext cx="1270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Lazy Evaluation:</a:t>
            </a:r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Intermediate operations are only executed when a terminal operation is called — efficient processing!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14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37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 World Example — E-Commerce Processing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841500"/>
            <a:ext cx="13716000" cy="889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87500" y="20066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7145" y="-14287"/>
                </a:moveTo>
                <a:cubicBezTo>
                  <a:pt x="7644" y="-14287"/>
                  <a:pt x="0" y="-4733"/>
                  <a:pt x="0" y="7144"/>
                </a:cubicBezTo>
                <a:cubicBezTo>
                  <a:pt x="0" y="19020"/>
                  <a:pt x="7644" y="28575"/>
                  <a:pt x="17145" y="28575"/>
                </a:cubicBezTo>
                <a:lnTo>
                  <a:pt x="49506" y="28575"/>
                </a:lnTo>
                <a:cubicBezTo>
                  <a:pt x="52292" y="28575"/>
                  <a:pt x="54650" y="31075"/>
                  <a:pt x="55150" y="34469"/>
                </a:cubicBezTo>
                <a:lnTo>
                  <a:pt x="92369" y="290126"/>
                </a:lnTo>
                <a:cubicBezTo>
                  <a:pt x="96798" y="320665"/>
                  <a:pt x="118086" y="342900"/>
                  <a:pt x="142946" y="342900"/>
                </a:cubicBezTo>
                <a:lnTo>
                  <a:pt x="325755" y="342900"/>
                </a:lnTo>
                <a:cubicBezTo>
                  <a:pt x="335256" y="342900"/>
                  <a:pt x="342900" y="333345"/>
                  <a:pt x="342900" y="321469"/>
                </a:cubicBezTo>
                <a:cubicBezTo>
                  <a:pt x="342900" y="309592"/>
                  <a:pt x="335256" y="300038"/>
                  <a:pt x="325755" y="300038"/>
                </a:cubicBezTo>
                <a:lnTo>
                  <a:pt x="142946" y="300038"/>
                </a:lnTo>
                <a:cubicBezTo>
                  <a:pt x="134660" y="300038"/>
                  <a:pt x="127587" y="292626"/>
                  <a:pt x="126087" y="282446"/>
                </a:cubicBezTo>
                <a:lnTo>
                  <a:pt x="122444" y="257175"/>
                </a:lnTo>
                <a:lnTo>
                  <a:pt x="339328" y="257175"/>
                </a:lnTo>
                <a:cubicBezTo>
                  <a:pt x="361331" y="257175"/>
                  <a:pt x="380190" y="237619"/>
                  <a:pt x="384262" y="210562"/>
                </a:cubicBezTo>
                <a:lnTo>
                  <a:pt x="406408" y="62419"/>
                </a:lnTo>
                <a:cubicBezTo>
                  <a:pt x="409051" y="44827"/>
                  <a:pt x="398264" y="28575"/>
                  <a:pt x="383905" y="28575"/>
                </a:cubicBezTo>
                <a:lnTo>
                  <a:pt x="89083" y="28575"/>
                </a:lnTo>
                <a:lnTo>
                  <a:pt x="88797" y="26789"/>
                </a:lnTo>
                <a:cubicBezTo>
                  <a:pt x="85368" y="3036"/>
                  <a:pt x="68794" y="-14287"/>
                  <a:pt x="49435" y="-14287"/>
                </a:cubicBezTo>
                <a:lnTo>
                  <a:pt x="17145" y="-14287"/>
                </a:lnTo>
                <a:close/>
                <a:moveTo>
                  <a:pt x="148590" y="457200"/>
                </a:moveTo>
                <a:cubicBezTo>
                  <a:pt x="167515" y="457200"/>
                  <a:pt x="182880" y="437994"/>
                  <a:pt x="182880" y="414338"/>
                </a:cubicBezTo>
                <a:cubicBezTo>
                  <a:pt x="182880" y="390681"/>
                  <a:pt x="167515" y="371475"/>
                  <a:pt x="148590" y="371475"/>
                </a:cubicBezTo>
                <a:cubicBezTo>
                  <a:pt x="129665" y="371475"/>
                  <a:pt x="114300" y="390681"/>
                  <a:pt x="114300" y="414338"/>
                </a:cubicBezTo>
                <a:cubicBezTo>
                  <a:pt x="114300" y="437994"/>
                  <a:pt x="129665" y="457200"/>
                  <a:pt x="148590" y="457200"/>
                </a:cubicBezTo>
                <a:close/>
                <a:moveTo>
                  <a:pt x="308610" y="457200"/>
                </a:moveTo>
                <a:cubicBezTo>
                  <a:pt x="327535" y="457200"/>
                  <a:pt x="342900" y="437994"/>
                  <a:pt x="342900" y="414338"/>
                </a:cubicBezTo>
                <a:cubicBezTo>
                  <a:pt x="342900" y="390681"/>
                  <a:pt x="327535" y="371475"/>
                  <a:pt x="308610" y="371475"/>
                </a:cubicBezTo>
                <a:cubicBezTo>
                  <a:pt x="289685" y="371475"/>
                  <a:pt x="274320" y="390681"/>
                  <a:pt x="274320" y="414338"/>
                </a:cubicBezTo>
                <a:cubicBezTo>
                  <a:pt x="274320" y="437994"/>
                  <a:pt x="289685" y="457200"/>
                  <a:pt x="308610" y="457200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6" name="Text 4"/>
          <p:cNvSpPr/>
          <p:nvPr/>
        </p:nvSpPr>
        <p:spPr>
          <a:xfrm>
            <a:off x="2222500" y="1905000"/>
            <a:ext cx="1244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9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Scenario:</a:t>
            </a:r>
            <a:pPr algn="l">
              <a:lnSpc>
                <a:spcPct val="140000"/>
              </a:lnSpc>
            </a:pPr>
            <a:r>
              <a:rPr lang="en-US" sz="19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Find top 5 best-selling products in "Electronics" category with price &gt; $100, sorted by sales count.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270000" y="30480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Traditional Approach (20+ lines)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270000" y="3492500"/>
            <a:ext cx="6350000" cy="2222500"/>
          </a:xfrm>
          <a:prstGeom prst="roundRect">
            <a:avLst>
              <a:gd name="adj" fmla="val 8000"/>
            </a:avLst>
          </a:prstGeom>
          <a:solidFill>
            <a:srgbClr val="F8F8F8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24000" y="3619500"/>
            <a:ext cx="5842000" cy="196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9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List&lt;Product&gt; filtered = new ArrayList&lt;&gt;();</a:t>
            </a:r>
            <a:endParaRPr lang="en-US" sz="900" dirty="0"/>
          </a:p>
          <a:p>
            <a:pPr algn="l">
              <a:lnSpc>
                <a:spcPct val="150000"/>
              </a:lnSpc>
            </a:pPr>
            <a:r>
              <a:rPr lang="en-US" sz="9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for (Product p : products) {</a:t>
            </a:r>
            <a:endParaRPr lang="en-US" sz="900" dirty="0"/>
          </a:p>
          <a:p>
            <a:pPr algn="l">
              <a:lnSpc>
                <a:spcPct val="150000"/>
              </a:lnSpc>
            </a:pPr>
            <a:r>
              <a:rPr lang="en-US" sz="9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 if ("Electronics".equals(p.getCategory())</a:t>
            </a:r>
            <a:endParaRPr lang="en-US" sz="900" dirty="0"/>
          </a:p>
          <a:p>
            <a:pPr algn="l">
              <a:lnSpc>
                <a:spcPct val="150000"/>
              </a:lnSpc>
            </a:pPr>
            <a:r>
              <a:rPr lang="en-US" sz="9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     &amp;&amp; p.getPrice() &gt; 100) {</a:t>
            </a:r>
            <a:endParaRPr lang="en-US" sz="900" dirty="0"/>
          </a:p>
          <a:p>
            <a:pPr algn="l">
              <a:lnSpc>
                <a:spcPct val="150000"/>
              </a:lnSpc>
            </a:pPr>
            <a:r>
              <a:rPr lang="en-US" sz="9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   filtered.add(p);</a:t>
            </a:r>
            <a:endParaRPr lang="en-US" sz="900" dirty="0"/>
          </a:p>
          <a:p>
            <a:pPr algn="l">
              <a:lnSpc>
                <a:spcPct val="150000"/>
              </a:lnSpc>
            </a:pPr>
            <a:r>
              <a:rPr lang="en-US" sz="9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 }</a:t>
            </a:r>
            <a:endParaRPr lang="en-US" sz="900" dirty="0"/>
          </a:p>
          <a:p>
            <a:pPr algn="l">
              <a:lnSpc>
                <a:spcPct val="150000"/>
              </a:lnSpc>
            </a:pPr>
            <a:r>
              <a:rPr lang="en-US" sz="9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}</a:t>
            </a:r>
            <a:endParaRPr lang="en-US" sz="900" dirty="0"/>
          </a:p>
          <a:p>
            <a:pPr algn="l">
              <a:lnSpc>
                <a:spcPct val="150000"/>
              </a:lnSpc>
            </a:pPr>
            <a:r>
              <a:rPr lang="en-US" sz="9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filtered.sort(...); // comparator</a:t>
            </a:r>
            <a:endParaRPr lang="en-US" sz="900" dirty="0"/>
          </a:p>
          <a:p>
            <a:pPr algn="l">
              <a:lnSpc>
                <a:spcPct val="150000"/>
              </a:lnSpc>
            </a:pPr>
            <a:r>
              <a:rPr lang="en-US" sz="9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return filtered.subList(0, 5);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128000" y="3048000"/>
            <a:ext cx="685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Lambda + Stream (5 lines)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8128000" y="3492500"/>
            <a:ext cx="6858000" cy="22225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FF7F50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382000" y="3619500"/>
            <a:ext cx="6350000" cy="196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8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List&lt;Product&gt; topProducts =</a:t>
            </a:r>
            <a:endParaRPr lang="en-US" sz="800" dirty="0"/>
          </a:p>
          <a:p>
            <a:pPr algn="l">
              <a:lnSpc>
                <a:spcPct val="160000"/>
              </a:lnSpc>
            </a:pPr>
            <a:r>
              <a:rPr lang="en-US" sz="8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 products.stream()</a:t>
            </a:r>
            <a:endParaRPr lang="en-US" sz="800" dirty="0"/>
          </a:p>
          <a:p>
            <a:pPr algn="l">
              <a:lnSpc>
                <a:spcPct val="160000"/>
              </a:lnSpc>
            </a:pPr>
            <a:r>
              <a:rPr lang="en-US" sz="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   .filter(p -&gt; "Electronics"</a:t>
            </a:r>
            <a:endParaRPr lang="en-US" sz="800" dirty="0"/>
          </a:p>
          <a:p>
            <a:pPr algn="l">
              <a:lnSpc>
                <a:spcPct val="160000"/>
              </a:lnSpc>
            </a:pPr>
            <a:r>
              <a:rPr lang="en-US" sz="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     .equals(p.getCategory()))</a:t>
            </a:r>
            <a:endParaRPr lang="en-US" sz="800" dirty="0"/>
          </a:p>
          <a:p>
            <a:pPr algn="l">
              <a:lnSpc>
                <a:spcPct val="160000"/>
              </a:lnSpc>
            </a:pPr>
            <a:r>
              <a:rPr lang="en-US" sz="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   .filter(p -&gt; p.getPrice() &gt; 100)</a:t>
            </a:r>
            <a:endParaRPr lang="en-US" sz="800" dirty="0"/>
          </a:p>
          <a:p>
            <a:pPr algn="l">
              <a:lnSpc>
                <a:spcPct val="160000"/>
              </a:lnSpc>
            </a:pPr>
            <a:r>
              <a:rPr lang="en-US" sz="8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   .sorted(comparing(Product::getSales)</a:t>
            </a:r>
            <a:endParaRPr lang="en-US" sz="800" dirty="0"/>
          </a:p>
          <a:p>
            <a:pPr algn="l">
              <a:lnSpc>
                <a:spcPct val="160000"/>
              </a:lnSpc>
            </a:pPr>
            <a:r>
              <a:rPr lang="en-US" sz="8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     .reversed())</a:t>
            </a:r>
            <a:endParaRPr lang="en-US" sz="800" dirty="0"/>
          </a:p>
          <a:p>
            <a:pPr algn="l">
              <a:lnSpc>
                <a:spcPct val="160000"/>
              </a:lnSpc>
            </a:pPr>
            <a:r>
              <a:rPr lang="en-US" sz="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   .limit(5)</a:t>
            </a:r>
            <a:endParaRPr lang="en-US" sz="800" dirty="0"/>
          </a:p>
          <a:p>
            <a:pPr algn="l">
              <a:lnSpc>
                <a:spcPct val="160000"/>
              </a:lnSpc>
            </a:pPr>
            <a:r>
              <a:rPr lang="en-US" sz="8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   .collect(toList());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270000" y="6096000"/>
            <a:ext cx="13716000" cy="1524000"/>
          </a:xfrm>
          <a:prstGeom prst="roundRect">
            <a:avLst>
              <a:gd name="adj" fmla="val 8000"/>
            </a:avLst>
          </a:prstGeom>
          <a:gradFill rotWithShape="1" flip="none">
            <a:gsLst>
              <a:gs pos="0">
                <a:srgbClr val="2E5E8A"/>
              </a:gs>
              <a:gs pos="100000">
                <a:srgbClr val="2E5E8A">
                  <a:alpha val="80000"/>
                </a:srgbClr>
              </a:gs>
            </a:gsLst>
            <a:lin ang="0" scaled="1"/>
          </a:gradFill>
          <a:ln/>
        </p:spPr>
      </p:sp>
      <p:sp>
        <p:nvSpPr>
          <p:cNvPr id="14" name="Shape 12"/>
          <p:cNvSpPr/>
          <p:nvPr/>
        </p:nvSpPr>
        <p:spPr>
          <a:xfrm>
            <a:off x="1651000" y="6413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27000" y="317500"/>
                </a:moveTo>
                <a:lnTo>
                  <a:pt x="24309" y="317500"/>
                </a:lnTo>
                <a:cubicBezTo>
                  <a:pt x="-397" y="317500"/>
                  <a:pt x="-15577" y="290612"/>
                  <a:pt x="-2877" y="269379"/>
                </a:cubicBezTo>
                <a:lnTo>
                  <a:pt x="49609" y="181868"/>
                </a:lnTo>
                <a:cubicBezTo>
                  <a:pt x="58241" y="167481"/>
                  <a:pt x="73720" y="158750"/>
                  <a:pt x="90488" y="158750"/>
                </a:cubicBezTo>
                <a:lnTo>
                  <a:pt x="184745" y="158750"/>
                </a:lnTo>
                <a:cubicBezTo>
                  <a:pt x="260251" y="30857"/>
                  <a:pt x="372864" y="24408"/>
                  <a:pt x="448171" y="35421"/>
                </a:cubicBezTo>
                <a:cubicBezTo>
                  <a:pt x="460871" y="37306"/>
                  <a:pt x="470793" y="47228"/>
                  <a:pt x="472579" y="59829"/>
                </a:cubicBezTo>
                <a:cubicBezTo>
                  <a:pt x="483592" y="135136"/>
                  <a:pt x="477143" y="247749"/>
                  <a:pt x="349250" y="323255"/>
                </a:cubicBezTo>
                <a:lnTo>
                  <a:pt x="349250" y="417513"/>
                </a:lnTo>
                <a:cubicBezTo>
                  <a:pt x="349250" y="434280"/>
                  <a:pt x="340519" y="449759"/>
                  <a:pt x="326132" y="458391"/>
                </a:cubicBezTo>
                <a:lnTo>
                  <a:pt x="238621" y="510877"/>
                </a:lnTo>
                <a:cubicBezTo>
                  <a:pt x="217488" y="523577"/>
                  <a:pt x="190500" y="508298"/>
                  <a:pt x="190500" y="483691"/>
                </a:cubicBezTo>
                <a:lnTo>
                  <a:pt x="190500" y="381000"/>
                </a:lnTo>
                <a:cubicBezTo>
                  <a:pt x="190500" y="345976"/>
                  <a:pt x="162024" y="317500"/>
                  <a:pt x="127000" y="317500"/>
                </a:cubicBezTo>
                <a:lnTo>
                  <a:pt x="126901" y="317500"/>
                </a:lnTo>
                <a:close/>
                <a:moveTo>
                  <a:pt x="396875" y="158750"/>
                </a:moveTo>
                <a:cubicBezTo>
                  <a:pt x="396875" y="132465"/>
                  <a:pt x="375535" y="111125"/>
                  <a:pt x="349250" y="111125"/>
                </a:cubicBezTo>
                <a:cubicBezTo>
                  <a:pt x="322965" y="111125"/>
                  <a:pt x="301625" y="132465"/>
                  <a:pt x="301625" y="158750"/>
                </a:cubicBezTo>
                <a:cubicBezTo>
                  <a:pt x="301625" y="185035"/>
                  <a:pt x="322965" y="206375"/>
                  <a:pt x="349250" y="206375"/>
                </a:cubicBezTo>
                <a:cubicBezTo>
                  <a:pt x="375535" y="206375"/>
                  <a:pt x="396875" y="185035"/>
                  <a:pt x="396875" y="15875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2413000" y="6223000"/>
            <a:ext cx="12192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Real-World Impact:</a:t>
            </a:r>
            <a:pPr algn="l">
              <a:lnSpc>
                <a:spcPct val="15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Dashboard analytics, recommendation engines, inventory management, search filtering, and report generation all leverage Stream + Lambda for efficient data processing.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15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Code Example — Filtering &amp; Mapping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841500"/>
            <a:ext cx="13716000" cy="6985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87500" y="19685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31750" y="145703"/>
                </a:moveTo>
                <a:lnTo>
                  <a:pt x="170127" y="209773"/>
                </a:lnTo>
                <a:cubicBezTo>
                  <a:pt x="176609" y="212750"/>
                  <a:pt x="183489" y="214313"/>
                  <a:pt x="190500" y="214313"/>
                </a:cubicBezTo>
                <a:cubicBezTo>
                  <a:pt x="197511" y="214313"/>
                  <a:pt x="204391" y="212750"/>
                  <a:pt x="210873" y="209773"/>
                </a:cubicBezTo>
                <a:lnTo>
                  <a:pt x="371210" y="135508"/>
                </a:lnTo>
                <a:cubicBezTo>
                  <a:pt x="377164" y="132755"/>
                  <a:pt x="381000" y="126281"/>
                  <a:pt x="381000" y="119062"/>
                </a:cubicBezTo>
                <a:cubicBezTo>
                  <a:pt x="381000" y="111844"/>
                  <a:pt x="377164" y="105370"/>
                  <a:pt x="371210" y="102617"/>
                </a:cubicBezTo>
                <a:lnTo>
                  <a:pt x="210873" y="28352"/>
                </a:lnTo>
                <a:cubicBezTo>
                  <a:pt x="204391" y="25375"/>
                  <a:pt x="197511" y="23812"/>
                  <a:pt x="190500" y="23812"/>
                </a:cubicBezTo>
                <a:cubicBezTo>
                  <a:pt x="183489" y="23812"/>
                  <a:pt x="176609" y="25375"/>
                  <a:pt x="170127" y="28352"/>
                </a:cubicBezTo>
                <a:lnTo>
                  <a:pt x="9790" y="102617"/>
                </a:lnTo>
                <a:cubicBezTo>
                  <a:pt x="3836" y="105370"/>
                  <a:pt x="0" y="111844"/>
                  <a:pt x="0" y="119063"/>
                </a:cubicBezTo>
                <a:lnTo>
                  <a:pt x="0" y="339328"/>
                </a:lnTo>
                <a:cubicBezTo>
                  <a:pt x="0" y="349225"/>
                  <a:pt x="7078" y="357188"/>
                  <a:pt x="15875" y="357188"/>
                </a:cubicBezTo>
                <a:cubicBezTo>
                  <a:pt x="24672" y="357188"/>
                  <a:pt x="31750" y="349225"/>
                  <a:pt x="31750" y="339328"/>
                </a:cubicBezTo>
                <a:lnTo>
                  <a:pt x="31750" y="145703"/>
                </a:lnTo>
                <a:close/>
                <a:moveTo>
                  <a:pt x="63500" y="199058"/>
                </a:moveTo>
                <a:lnTo>
                  <a:pt x="63500" y="285750"/>
                </a:lnTo>
                <a:cubicBezTo>
                  <a:pt x="63500" y="325189"/>
                  <a:pt x="120385" y="357188"/>
                  <a:pt x="190500" y="357188"/>
                </a:cubicBezTo>
                <a:cubicBezTo>
                  <a:pt x="260615" y="357188"/>
                  <a:pt x="317500" y="325189"/>
                  <a:pt x="317500" y="285750"/>
                </a:cubicBezTo>
                <a:lnTo>
                  <a:pt x="317500" y="198983"/>
                </a:lnTo>
                <a:lnTo>
                  <a:pt x="222978" y="242813"/>
                </a:lnTo>
                <a:cubicBezTo>
                  <a:pt x="212659" y="247576"/>
                  <a:pt x="201679" y="250031"/>
                  <a:pt x="190500" y="250031"/>
                </a:cubicBezTo>
                <a:cubicBezTo>
                  <a:pt x="179321" y="250031"/>
                  <a:pt x="168341" y="247576"/>
                  <a:pt x="158022" y="242813"/>
                </a:cubicBezTo>
                <a:lnTo>
                  <a:pt x="63500" y="198983"/>
                </a:ln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6" name="Text 4"/>
          <p:cNvSpPr/>
          <p:nvPr/>
        </p:nvSpPr>
        <p:spPr>
          <a:xfrm>
            <a:off x="2159000" y="1879600"/>
            <a:ext cx="12573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9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Scenario:</a:t>
            </a:r>
            <a:pPr algn="l">
              <a:lnSpc>
                <a:spcPct val="120000"/>
              </a:lnSpc>
            </a:pPr>
            <a:r>
              <a:rPr lang="en-US" sz="19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Processing student records — get names of students with GPA &gt; 3.5, calculate average GPA.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270000" y="2857500"/>
            <a:ext cx="660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Example 1: Filter + Map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270000" y="3276600"/>
            <a:ext cx="6858000" cy="19685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FF7F50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524000" y="3403600"/>
            <a:ext cx="6350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2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 Get honor student names</a:t>
            </a:r>
            <a:endParaRPr lang="en-US" sz="1200" dirty="0"/>
          </a:p>
          <a:p>
            <a:pPr algn="l">
              <a:lnSpc>
                <a:spcPct val="160000"/>
              </a:lnSpc>
            </a:pPr>
            <a:r>
              <a:rPr lang="en-US" sz="12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List&lt;String&gt; honorStudents =</a:t>
            </a:r>
            <a:endParaRPr lang="en-US" sz="1200" dirty="0"/>
          </a:p>
          <a:p>
            <a:pPr algn="l">
              <a:lnSpc>
                <a:spcPct val="160000"/>
              </a:lnSpc>
            </a:pPr>
            <a:r>
              <a:rPr lang="en-US" sz="12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 students.stream()</a:t>
            </a:r>
            <a:endParaRPr lang="en-US" sz="1200" dirty="0"/>
          </a:p>
          <a:p>
            <a:pPr algn="l">
              <a:lnSpc>
                <a:spcPct val="160000"/>
              </a:lnSpc>
            </a:pPr>
            <a:r>
              <a:rPr lang="en-US" sz="12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   .</a:t>
            </a:r>
            <a:pPr algn="l">
              <a:lnSpc>
                <a:spcPct val="160000"/>
              </a:lnSpc>
            </a:pPr>
            <a:r>
              <a:rPr lang="en-US" sz="12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filter</a:t>
            </a:r>
            <a:pPr algn="l">
              <a:lnSpc>
                <a:spcPct val="160000"/>
              </a:lnSpc>
            </a:pPr>
            <a:r>
              <a:rPr lang="en-US" sz="12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(s -&gt; s.getGpa() &gt; 3.5)</a:t>
            </a:r>
            <a:endParaRPr lang="en-US" sz="1200" dirty="0"/>
          </a:p>
          <a:p>
            <a:pPr algn="l">
              <a:lnSpc>
                <a:spcPct val="160000"/>
              </a:lnSpc>
            </a:pPr>
            <a:r>
              <a:rPr lang="en-US" sz="12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   .</a:t>
            </a:r>
            <a:pPr algn="l">
              <a:lnSpc>
                <a:spcPct val="160000"/>
              </a:lnSpc>
            </a:pPr>
            <a:r>
              <a:rPr lang="en-US" sz="12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map</a:t>
            </a:r>
            <a:pPr algn="l">
              <a:lnSpc>
                <a:spcPct val="160000"/>
              </a:lnSpc>
            </a:pPr>
            <a:r>
              <a:rPr lang="en-US" sz="12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(Student::getName)</a:t>
            </a:r>
            <a:endParaRPr lang="en-US" sz="1200" dirty="0"/>
          </a:p>
          <a:p>
            <a:pPr algn="l">
              <a:lnSpc>
                <a:spcPct val="160000"/>
              </a:lnSpc>
            </a:pPr>
            <a:r>
              <a:rPr lang="en-US" sz="12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   .collect(Collectors.toList());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36000" y="28575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Example 2: Average Calculation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8636000" y="3276600"/>
            <a:ext cx="6350000" cy="19685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2E5E8A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890000" y="3403600"/>
            <a:ext cx="5842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 Calculate average GPA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double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avgGpa = students.stream()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 .mapToDouble(Student::getGpa)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 .average()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 .orElse(0.0);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70000" y="55880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Traditional vs Lambda Comparison</a:t>
            </a:r>
            <a:endParaRPr lang="en-US" sz="2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70000" y="6032500"/>
          <a:ext cx="13716000" cy="1651000"/>
        </p:xfrm>
        <a:graphic>
          <a:graphicData uri="http://schemas.openxmlformats.org/drawingml/2006/table">
            <a:tbl>
              <a:tblPr/>
              <a:tblGrid>
                <a:gridCol w="3429000"/>
                <a:gridCol w="5212080"/>
                <a:gridCol w="5074920"/>
              </a:tblGrid>
              <a:tr h="54483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Metric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Traditional (for-loop)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Lambda + Stream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</a:tr>
              <a:tr h="54483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Lines of Code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8-12 lines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3-5 lines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5613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Readability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Imperative, verbose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Declarative, intent-clear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1270000" y="7747000"/>
            <a:ext cx="13716000" cy="635000"/>
          </a:xfrm>
          <a:prstGeom prst="roundRect">
            <a:avLst>
              <a:gd name="adj" fmla="val 8000"/>
            </a:avLst>
          </a:prstGeom>
          <a:solidFill>
            <a:srgbClr val="F0F4F8"/>
          </a:solidFill>
          <a:ln/>
        </p:spPr>
      </p:sp>
      <p:sp>
        <p:nvSpPr>
          <p:cNvPr id="16" name="Text 13"/>
          <p:cNvSpPr/>
          <p:nvPr/>
        </p:nvSpPr>
        <p:spPr>
          <a:xfrm>
            <a:off x="1651000" y="7747000"/>
            <a:ext cx="1295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7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Common in:</a:t>
            </a:r>
            <a:pPr algn="l">
              <a:lnSpc>
                <a:spcPct val="120000"/>
              </a:lnSpc>
            </a:pPr>
            <a:r>
              <a:rPr lang="en-US" sz="17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School management systems, gradebook apps, academic analytics, CRM systems, data reporting tools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37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Method References — Shorthand for Lambdas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841500"/>
            <a:ext cx="13716000" cy="762000"/>
          </a:xfrm>
          <a:prstGeom prst="roundRect">
            <a:avLst>
              <a:gd name="adj" fmla="val 8000"/>
            </a:avLst>
          </a:prstGeom>
          <a:gradFill rotWithShape="1" flip="none">
            <a:gsLst>
              <a:gs pos="0">
                <a:srgbClr val="2E5E8A"/>
              </a:gs>
              <a:gs pos="100000">
                <a:srgbClr val="2E5E8A">
                  <a:alpha val="80000"/>
                </a:srgbClr>
              </a:gs>
            </a:gsLst>
            <a:lin ang="0" scaled="1"/>
          </a:gradFill>
          <a:ln/>
        </p:spPr>
      </p:sp>
      <p:sp>
        <p:nvSpPr>
          <p:cNvPr id="5" name="Text 3"/>
          <p:cNvSpPr/>
          <p:nvPr/>
        </p:nvSpPr>
        <p:spPr>
          <a:xfrm>
            <a:off x="1778000" y="1841500"/>
            <a:ext cx="1270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Definition:</a:t>
            </a:r>
            <a:pPr algn="ctr">
              <a:lnSpc>
                <a:spcPct val="120000"/>
              </a:lnSpc>
            </a:pPr>
            <a:r>
              <a:rPr lang="en-US" sz="2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Method references are a shorthand notation of lambda expressions — </a:t>
            </a:r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ClassName::methodName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270000" y="2921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Four Types of Method References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270000" y="3492500"/>
            <a:ext cx="6604000" cy="12065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460500" y="3619500"/>
            <a:ext cx="1778000" cy="330200"/>
          </a:xfrm>
          <a:prstGeom prst="roundRect">
            <a:avLst>
              <a:gd name="adj" fmla="val 20000"/>
            </a:avLst>
          </a:prstGeom>
          <a:solidFill>
            <a:srgbClr val="FF7F50"/>
          </a:solidFill>
          <a:ln/>
        </p:spPr>
      </p:sp>
      <p:sp>
        <p:nvSpPr>
          <p:cNvPr id="9" name="Text 7"/>
          <p:cNvSpPr/>
          <p:nvPr/>
        </p:nvSpPr>
        <p:spPr>
          <a:xfrm>
            <a:off x="1460500" y="3619500"/>
            <a:ext cx="1778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Static Method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429000" y="3556000"/>
            <a:ext cx="42545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Math::</a:t>
            </a:r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max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 equivalent to (a,b) -&gt; Math.max(a,b)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382000" y="3492500"/>
            <a:ext cx="6604000" cy="12065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572500" y="3619500"/>
            <a:ext cx="2286000" cy="330200"/>
          </a:xfrm>
          <a:prstGeom prst="roundRect">
            <a:avLst>
              <a:gd name="adj" fmla="val 20000"/>
            </a:avLst>
          </a:prstGeom>
          <a:solidFill>
            <a:srgbClr val="FF7F50"/>
          </a:solidFill>
          <a:ln/>
        </p:spPr>
      </p:sp>
      <p:sp>
        <p:nvSpPr>
          <p:cNvPr id="13" name="Text 11"/>
          <p:cNvSpPr/>
          <p:nvPr/>
        </p:nvSpPr>
        <p:spPr>
          <a:xfrm>
            <a:off x="8572500" y="3619500"/>
            <a:ext cx="228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Instance (Object)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049000" y="3556000"/>
            <a:ext cx="37465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System.out::</a:t>
            </a:r>
            <a:pPr algn="l">
              <a:lnSpc>
                <a:spcPct val="160000"/>
              </a:lnSpc>
            </a:pPr>
            <a:r>
              <a:rPr lang="en-US" sz="14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println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 equivalent to s -&gt; System.out.println(s)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270000" y="4953000"/>
            <a:ext cx="6604000" cy="12065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460500" y="5080000"/>
            <a:ext cx="2286000" cy="330200"/>
          </a:xfrm>
          <a:prstGeom prst="roundRect">
            <a:avLst>
              <a:gd name="adj" fmla="val 20000"/>
            </a:avLst>
          </a:prstGeom>
          <a:solidFill>
            <a:srgbClr val="2E5E8A"/>
          </a:solidFill>
          <a:ln/>
        </p:spPr>
      </p:sp>
      <p:sp>
        <p:nvSpPr>
          <p:cNvPr id="17" name="Text 15"/>
          <p:cNvSpPr/>
          <p:nvPr/>
        </p:nvSpPr>
        <p:spPr>
          <a:xfrm>
            <a:off x="1460500" y="5080000"/>
            <a:ext cx="228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Instance (Class)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937000" y="5016500"/>
            <a:ext cx="37465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String::</a:t>
            </a:r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length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 equivalent to s -&gt; s.length()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382000" y="4953000"/>
            <a:ext cx="6604000" cy="12065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572500" y="5080000"/>
            <a:ext cx="1524000" cy="330200"/>
          </a:xfrm>
          <a:prstGeom prst="roundRect">
            <a:avLst>
              <a:gd name="adj" fmla="val 20000"/>
            </a:avLst>
          </a:prstGeom>
          <a:solidFill>
            <a:srgbClr val="2E5E8A"/>
          </a:solidFill>
          <a:ln/>
        </p:spPr>
      </p:sp>
      <p:sp>
        <p:nvSpPr>
          <p:cNvPr id="21" name="Text 19"/>
          <p:cNvSpPr/>
          <p:nvPr/>
        </p:nvSpPr>
        <p:spPr>
          <a:xfrm>
            <a:off x="8572500" y="5080000"/>
            <a:ext cx="1524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Constructor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287000" y="5016500"/>
            <a:ext cx="45085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ArrayList::</a:t>
            </a:r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new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 equivalent to () -&gt; new ArrayList&lt;&gt;()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270000" y="6540500"/>
            <a:ext cx="13716000" cy="1206500"/>
          </a:xfrm>
          <a:prstGeom prst="roundRect">
            <a:avLst>
              <a:gd name="adj" fmla="val 8000"/>
            </a:avLst>
          </a:prstGeom>
          <a:solidFill>
            <a:srgbClr val="F0F4F8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587500" y="6794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48734" y="342900"/>
                </a:moveTo>
                <a:cubicBezTo>
                  <a:pt x="357426" y="322987"/>
                  <a:pt x="374809" y="304949"/>
                  <a:pt x="394454" y="289411"/>
                </a:cubicBezTo>
                <a:cubicBezTo>
                  <a:pt x="433387" y="258693"/>
                  <a:pt x="457200" y="217170"/>
                  <a:pt x="457200" y="171450"/>
                </a:cubicBezTo>
                <a:cubicBezTo>
                  <a:pt x="457200" y="76795"/>
                  <a:pt x="354806" y="0"/>
                  <a:pt x="228600" y="0"/>
                </a:cubicBezTo>
                <a:cubicBezTo>
                  <a:pt x="102394" y="0"/>
                  <a:pt x="0" y="76795"/>
                  <a:pt x="0" y="171450"/>
                </a:cubicBezTo>
                <a:cubicBezTo>
                  <a:pt x="0" y="217170"/>
                  <a:pt x="23813" y="258693"/>
                  <a:pt x="62746" y="289411"/>
                </a:cubicBezTo>
                <a:cubicBezTo>
                  <a:pt x="82391" y="304949"/>
                  <a:pt x="99893" y="322987"/>
                  <a:pt x="108466" y="342900"/>
                </a:cubicBezTo>
                <a:lnTo>
                  <a:pt x="348615" y="342900"/>
                </a:lnTo>
                <a:close/>
                <a:moveTo>
                  <a:pt x="342900" y="385763"/>
                </a:moveTo>
                <a:lnTo>
                  <a:pt x="114300" y="385763"/>
                </a:lnTo>
                <a:lnTo>
                  <a:pt x="114300" y="400050"/>
                </a:lnTo>
                <a:cubicBezTo>
                  <a:pt x="114300" y="439519"/>
                  <a:pt x="156924" y="471488"/>
                  <a:pt x="209550" y="471488"/>
                </a:cubicBezTo>
                <a:lnTo>
                  <a:pt x="247650" y="471488"/>
                </a:lnTo>
                <a:cubicBezTo>
                  <a:pt x="300276" y="471488"/>
                  <a:pt x="342900" y="439519"/>
                  <a:pt x="342900" y="400050"/>
                </a:cubicBezTo>
                <a:lnTo>
                  <a:pt x="342900" y="385763"/>
                </a:lnTo>
                <a:close/>
                <a:moveTo>
                  <a:pt x="219075" y="100013"/>
                </a:moveTo>
                <a:cubicBezTo>
                  <a:pt x="171688" y="100013"/>
                  <a:pt x="133350" y="128766"/>
                  <a:pt x="133350" y="164306"/>
                </a:cubicBezTo>
                <a:cubicBezTo>
                  <a:pt x="133350" y="176183"/>
                  <a:pt x="120610" y="185738"/>
                  <a:pt x="104775" y="185738"/>
                </a:cubicBezTo>
                <a:cubicBezTo>
                  <a:pt x="88940" y="185738"/>
                  <a:pt x="76200" y="176183"/>
                  <a:pt x="76200" y="164306"/>
                </a:cubicBezTo>
                <a:cubicBezTo>
                  <a:pt x="76200" y="105102"/>
                  <a:pt x="140137" y="57150"/>
                  <a:pt x="219075" y="57150"/>
                </a:cubicBezTo>
                <a:cubicBezTo>
                  <a:pt x="234910" y="57150"/>
                  <a:pt x="247650" y="66705"/>
                  <a:pt x="247650" y="78581"/>
                </a:cubicBezTo>
                <a:cubicBezTo>
                  <a:pt x="247650" y="90458"/>
                  <a:pt x="234910" y="100013"/>
                  <a:pt x="219075" y="100013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25" name="Text 23"/>
          <p:cNvSpPr/>
          <p:nvPr/>
        </p:nvSpPr>
        <p:spPr>
          <a:xfrm>
            <a:off x="2222500" y="66675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When to Use?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651000" y="7112000"/>
            <a:ext cx="1295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Use method references when a lambda </a:t>
            </a:r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only calls an existing method</a:t>
            </a:r>
            <a:pPr algn="l">
              <a:lnSpc>
                <a:spcPct val="120000"/>
              </a:lnSpc>
            </a:pPr>
            <a:r>
              <a:rPr lang="en-US" sz="14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cleaner and more readable. Example: </a:t>
            </a:r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list.forEach(System.out::println)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17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37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 World Example — Callback Functions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841500"/>
            <a:ext cx="13716000" cy="889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87500" y="20066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96850" y="78581"/>
                </a:moveTo>
                <a:lnTo>
                  <a:pt x="260350" y="78581"/>
                </a:lnTo>
                <a:lnTo>
                  <a:pt x="260350" y="121444"/>
                </a:lnTo>
                <a:lnTo>
                  <a:pt x="196850" y="121444"/>
                </a:lnTo>
                <a:lnTo>
                  <a:pt x="196850" y="78581"/>
                </a:lnTo>
                <a:close/>
                <a:moveTo>
                  <a:pt x="190500" y="28575"/>
                </a:moveTo>
                <a:cubicBezTo>
                  <a:pt x="169466" y="28575"/>
                  <a:pt x="152400" y="47774"/>
                  <a:pt x="152400" y="71438"/>
                </a:cubicBezTo>
                <a:lnTo>
                  <a:pt x="152400" y="128588"/>
                </a:lnTo>
                <a:cubicBezTo>
                  <a:pt x="152400" y="152251"/>
                  <a:pt x="169466" y="171450"/>
                  <a:pt x="190500" y="171450"/>
                </a:cubicBezTo>
                <a:lnTo>
                  <a:pt x="203200" y="171450"/>
                </a:lnTo>
                <a:lnTo>
                  <a:pt x="203200" y="200025"/>
                </a:lnTo>
                <a:lnTo>
                  <a:pt x="25400" y="200025"/>
                </a:lnTo>
                <a:cubicBezTo>
                  <a:pt x="11351" y="200025"/>
                  <a:pt x="0" y="212794"/>
                  <a:pt x="0" y="228600"/>
                </a:cubicBezTo>
                <a:cubicBezTo>
                  <a:pt x="0" y="244406"/>
                  <a:pt x="11351" y="257175"/>
                  <a:pt x="25400" y="257175"/>
                </a:cubicBezTo>
                <a:lnTo>
                  <a:pt x="101600" y="257175"/>
                </a:lnTo>
                <a:lnTo>
                  <a:pt x="101600" y="285750"/>
                </a:lnTo>
                <a:lnTo>
                  <a:pt x="88900" y="285750"/>
                </a:lnTo>
                <a:cubicBezTo>
                  <a:pt x="67866" y="285750"/>
                  <a:pt x="50800" y="304949"/>
                  <a:pt x="50800" y="328613"/>
                </a:cubicBezTo>
                <a:lnTo>
                  <a:pt x="50800" y="385763"/>
                </a:lnTo>
                <a:cubicBezTo>
                  <a:pt x="50800" y="409426"/>
                  <a:pt x="67866" y="428625"/>
                  <a:pt x="88900" y="428625"/>
                </a:cubicBezTo>
                <a:lnTo>
                  <a:pt x="165100" y="428625"/>
                </a:lnTo>
                <a:cubicBezTo>
                  <a:pt x="186134" y="428625"/>
                  <a:pt x="203200" y="409426"/>
                  <a:pt x="203200" y="385763"/>
                </a:cubicBezTo>
                <a:lnTo>
                  <a:pt x="203200" y="328613"/>
                </a:lnTo>
                <a:cubicBezTo>
                  <a:pt x="203200" y="304949"/>
                  <a:pt x="186134" y="285750"/>
                  <a:pt x="165100" y="285750"/>
                </a:cubicBezTo>
                <a:lnTo>
                  <a:pt x="152400" y="285750"/>
                </a:lnTo>
                <a:lnTo>
                  <a:pt x="152400" y="257175"/>
                </a:lnTo>
                <a:lnTo>
                  <a:pt x="304800" y="257175"/>
                </a:lnTo>
                <a:lnTo>
                  <a:pt x="304800" y="285750"/>
                </a:lnTo>
                <a:lnTo>
                  <a:pt x="292100" y="285750"/>
                </a:lnTo>
                <a:cubicBezTo>
                  <a:pt x="271066" y="285750"/>
                  <a:pt x="254000" y="304949"/>
                  <a:pt x="254000" y="328613"/>
                </a:cubicBezTo>
                <a:lnTo>
                  <a:pt x="254000" y="385763"/>
                </a:lnTo>
                <a:cubicBezTo>
                  <a:pt x="254000" y="409426"/>
                  <a:pt x="271066" y="428625"/>
                  <a:pt x="292100" y="428625"/>
                </a:cubicBezTo>
                <a:lnTo>
                  <a:pt x="368300" y="428625"/>
                </a:lnTo>
                <a:cubicBezTo>
                  <a:pt x="389334" y="428625"/>
                  <a:pt x="406400" y="409426"/>
                  <a:pt x="406400" y="385763"/>
                </a:cubicBezTo>
                <a:lnTo>
                  <a:pt x="406400" y="328613"/>
                </a:lnTo>
                <a:cubicBezTo>
                  <a:pt x="406400" y="304949"/>
                  <a:pt x="389334" y="285750"/>
                  <a:pt x="368300" y="285750"/>
                </a:cubicBezTo>
                <a:lnTo>
                  <a:pt x="355600" y="285750"/>
                </a:lnTo>
                <a:lnTo>
                  <a:pt x="355600" y="257175"/>
                </a:lnTo>
                <a:lnTo>
                  <a:pt x="431800" y="257175"/>
                </a:lnTo>
                <a:cubicBezTo>
                  <a:pt x="445849" y="257175"/>
                  <a:pt x="457200" y="244406"/>
                  <a:pt x="457200" y="228600"/>
                </a:cubicBezTo>
                <a:cubicBezTo>
                  <a:pt x="457200" y="212794"/>
                  <a:pt x="445849" y="200025"/>
                  <a:pt x="431800" y="200025"/>
                </a:cubicBezTo>
                <a:lnTo>
                  <a:pt x="254000" y="200025"/>
                </a:lnTo>
                <a:lnTo>
                  <a:pt x="254000" y="171450"/>
                </a:lnTo>
                <a:lnTo>
                  <a:pt x="266700" y="171450"/>
                </a:lnTo>
                <a:cubicBezTo>
                  <a:pt x="287734" y="171450"/>
                  <a:pt x="304800" y="152251"/>
                  <a:pt x="304800" y="128588"/>
                </a:cubicBezTo>
                <a:lnTo>
                  <a:pt x="304800" y="71438"/>
                </a:lnTo>
                <a:cubicBezTo>
                  <a:pt x="304800" y="47774"/>
                  <a:pt x="287734" y="28575"/>
                  <a:pt x="266700" y="28575"/>
                </a:cubicBezTo>
                <a:lnTo>
                  <a:pt x="190500" y="28575"/>
                </a:lnTo>
                <a:close/>
                <a:moveTo>
                  <a:pt x="355600" y="335756"/>
                </a:moveTo>
                <a:lnTo>
                  <a:pt x="361950" y="335756"/>
                </a:lnTo>
                <a:lnTo>
                  <a:pt x="361950" y="378619"/>
                </a:lnTo>
                <a:lnTo>
                  <a:pt x="298450" y="378619"/>
                </a:lnTo>
                <a:lnTo>
                  <a:pt x="298450" y="335756"/>
                </a:lnTo>
                <a:lnTo>
                  <a:pt x="355600" y="335756"/>
                </a:lnTo>
                <a:close/>
                <a:moveTo>
                  <a:pt x="152400" y="335756"/>
                </a:moveTo>
                <a:lnTo>
                  <a:pt x="158750" y="335756"/>
                </a:lnTo>
                <a:lnTo>
                  <a:pt x="158750" y="378619"/>
                </a:lnTo>
                <a:lnTo>
                  <a:pt x="95250" y="378619"/>
                </a:lnTo>
                <a:lnTo>
                  <a:pt x="95250" y="335756"/>
                </a:lnTo>
                <a:lnTo>
                  <a:pt x="152400" y="335756"/>
                </a:ln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6" name="Text 4"/>
          <p:cNvSpPr/>
          <p:nvPr/>
        </p:nvSpPr>
        <p:spPr>
          <a:xfrm>
            <a:off x="2222500" y="1905000"/>
            <a:ext cx="1244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7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Scenario:</a:t>
            </a:r>
            <a:pPr algn="l">
              <a:lnSpc>
                <a:spcPct val="140000"/>
              </a:lnSpc>
            </a:pPr>
            <a:r>
              <a:rPr lang="en-US" sz="17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Asynchronous API calls in microservices where a callback executes when data arrives — non-blocking I/O pattern.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270000" y="30480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Traditional Callback Interface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270000" y="3492500"/>
            <a:ext cx="6604000" cy="1778000"/>
          </a:xfrm>
          <a:prstGeom prst="roundRect">
            <a:avLst>
              <a:gd name="adj" fmla="val 8000"/>
            </a:avLst>
          </a:prstGeom>
          <a:solidFill>
            <a:srgbClr val="F8F8F8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24000" y="3619500"/>
            <a:ext cx="6096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8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fetchUserData(userId, </a:t>
            </a:r>
            <a:pPr algn="l">
              <a:lnSpc>
                <a:spcPct val="160000"/>
              </a:lnSpc>
            </a:pPr>
            <a:r>
              <a:rPr lang="en-US" sz="800" b="1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new</a:t>
            </a:r>
            <a:pPr algn="l">
              <a:lnSpc>
                <a:spcPct val="160000"/>
              </a:lnSpc>
            </a:pPr>
            <a:r>
              <a:rPr lang="en-US" sz="8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Callback&lt;User&gt;() {</a:t>
            </a:r>
            <a:endParaRPr lang="en-US" sz="800" dirty="0"/>
          </a:p>
          <a:p>
            <a:pPr algn="l">
              <a:lnSpc>
                <a:spcPct val="160000"/>
              </a:lnSpc>
            </a:pPr>
            <a:r>
              <a:rPr lang="en-US" sz="8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 </a:t>
            </a:r>
            <a:pPr algn="l">
              <a:lnSpc>
                <a:spcPct val="160000"/>
              </a:lnSpc>
            </a:pPr>
            <a:r>
              <a:rPr lang="en-US" sz="800" b="1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public void</a:t>
            </a:r>
            <a:pPr algn="l">
              <a:lnSpc>
                <a:spcPct val="160000"/>
              </a:lnSpc>
            </a:pPr>
            <a:r>
              <a:rPr lang="en-US" sz="8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onSuccess(User user) {</a:t>
            </a:r>
            <a:endParaRPr lang="en-US" sz="800" dirty="0"/>
          </a:p>
          <a:p>
            <a:pPr algn="l">
              <a:lnSpc>
                <a:spcPct val="160000"/>
              </a:lnSpc>
            </a:pPr>
            <a:r>
              <a:rPr lang="en-US" sz="8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   processUser(user);</a:t>
            </a:r>
            <a:endParaRPr lang="en-US" sz="800" dirty="0"/>
          </a:p>
          <a:p>
            <a:pPr algn="l">
              <a:lnSpc>
                <a:spcPct val="160000"/>
              </a:lnSpc>
            </a:pPr>
            <a:r>
              <a:rPr lang="en-US" sz="8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 }</a:t>
            </a:r>
            <a:endParaRPr lang="en-US" sz="800" dirty="0"/>
          </a:p>
          <a:p>
            <a:pPr algn="l">
              <a:lnSpc>
                <a:spcPct val="160000"/>
              </a:lnSpc>
            </a:pPr>
            <a:r>
              <a:rPr lang="en-US" sz="8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 </a:t>
            </a:r>
            <a:pPr algn="l">
              <a:lnSpc>
                <a:spcPct val="160000"/>
              </a:lnSpc>
            </a:pPr>
            <a:r>
              <a:rPr lang="en-US" sz="800" b="1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public void</a:t>
            </a:r>
            <a:pPr algn="l">
              <a:lnSpc>
                <a:spcPct val="160000"/>
              </a:lnSpc>
            </a:pPr>
            <a:r>
              <a:rPr lang="en-US" sz="8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onError(Exception e) {</a:t>
            </a:r>
            <a:endParaRPr lang="en-US" sz="800" dirty="0"/>
          </a:p>
          <a:p>
            <a:pPr algn="l">
              <a:lnSpc>
                <a:spcPct val="160000"/>
              </a:lnSpc>
            </a:pPr>
            <a:r>
              <a:rPr lang="en-US" sz="8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   log.error(e);</a:t>
            </a:r>
            <a:endParaRPr lang="en-US" sz="800" dirty="0"/>
          </a:p>
          <a:p>
            <a:pPr algn="l">
              <a:lnSpc>
                <a:spcPct val="160000"/>
              </a:lnSpc>
            </a:pPr>
            <a:r>
              <a:rPr lang="en-US" sz="8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 }</a:t>
            </a:r>
            <a:endParaRPr lang="en-US" sz="800" dirty="0"/>
          </a:p>
          <a:p>
            <a:pPr algn="l">
              <a:lnSpc>
                <a:spcPct val="160000"/>
              </a:lnSpc>
            </a:pPr>
            <a:r>
              <a:rPr lang="en-US" sz="8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});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382000" y="3048000"/>
            <a:ext cx="660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Lambda Callback Approach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8382000" y="3492500"/>
            <a:ext cx="6604000" cy="1778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FF7F50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636000" y="3619500"/>
            <a:ext cx="6096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6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fetchUserData(userId, user -&gt; {</a:t>
            </a:r>
            <a:endParaRPr lang="en-US" sz="600" dirty="0"/>
          </a:p>
          <a:p>
            <a:pPr algn="l">
              <a:lnSpc>
                <a:spcPct val="160000"/>
              </a:lnSpc>
            </a:pPr>
            <a:r>
              <a:rPr lang="en-US" sz="6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 System.out.println(</a:t>
            </a:r>
            <a:endParaRPr lang="en-US" sz="600" dirty="0"/>
          </a:p>
          <a:p>
            <a:pPr algn="l">
              <a:lnSpc>
                <a:spcPct val="160000"/>
              </a:lnSpc>
            </a:pPr>
            <a:r>
              <a:rPr lang="en-US" sz="6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   "User: " + user.getName());</a:t>
            </a:r>
            <a:endParaRPr lang="en-US" sz="600" dirty="0"/>
          </a:p>
          <a:p>
            <a:pPr algn="l">
              <a:lnSpc>
                <a:spcPct val="160000"/>
              </a:lnSpc>
            </a:pPr>
            <a:r>
              <a:rPr lang="en-US" sz="6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 processUser(user);</a:t>
            </a:r>
            <a:endParaRPr lang="en-US" sz="600" dirty="0"/>
          </a:p>
          <a:p>
            <a:pPr algn="l">
              <a:lnSpc>
                <a:spcPct val="160000"/>
              </a:lnSpc>
            </a:pPr>
            <a:r>
              <a:rPr lang="en-US" sz="6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});</a:t>
            </a:r>
            <a:endParaRPr lang="en-US" sz="600" dirty="0"/>
          </a:p>
          <a:p>
            <a:pPr algn="l">
              <a:lnSpc>
                <a:spcPct val="160000"/>
              </a:lnSpc>
            </a:pPr>
            <a:r>
              <a:rPr lang="en-US" sz="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endParaRPr lang="en-US" sz="600" dirty="0"/>
          </a:p>
          <a:p>
            <a:pPr algn="l">
              <a:lnSpc>
                <a:spcPct val="160000"/>
              </a:lnSpc>
            </a:pPr>
            <a:r>
              <a:rPr lang="en-US" sz="6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 Or with CompletableFuture:</a:t>
            </a:r>
            <a:endParaRPr lang="en-US" sz="600" dirty="0"/>
          </a:p>
          <a:p>
            <a:pPr algn="l">
              <a:lnSpc>
                <a:spcPct val="160000"/>
              </a:lnSpc>
            </a:pPr>
            <a:r>
              <a:rPr lang="en-US" sz="6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future.thenApply(User::getName)</a:t>
            </a:r>
            <a:endParaRPr lang="en-US" sz="600" dirty="0"/>
          </a:p>
          <a:p>
            <a:pPr algn="l">
              <a:lnSpc>
                <a:spcPct val="160000"/>
              </a:lnSpc>
            </a:pPr>
            <a:r>
              <a:rPr lang="en-US" sz="6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     .thenAccept(System.out::println);</a:t>
            </a:r>
            <a:endParaRPr lang="en-US" sz="600" dirty="0"/>
          </a:p>
        </p:txBody>
      </p:sp>
      <p:sp>
        <p:nvSpPr>
          <p:cNvPr id="13" name="Shape 11"/>
          <p:cNvSpPr/>
          <p:nvPr/>
        </p:nvSpPr>
        <p:spPr>
          <a:xfrm>
            <a:off x="1270000" y="5651500"/>
            <a:ext cx="13716000" cy="2159000"/>
          </a:xfrm>
          <a:prstGeom prst="roundRect">
            <a:avLst>
              <a:gd name="adj" fmla="val 8000"/>
            </a:avLst>
          </a:prstGeom>
          <a:solidFill>
            <a:srgbClr val="F0F4F8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51000" y="57785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Real-World Applications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1778000" y="6413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79321" y="222250"/>
                </a:moveTo>
                <a:lnTo>
                  <a:pt x="127794" y="222250"/>
                </a:lnTo>
                <a:cubicBezTo>
                  <a:pt x="130096" y="273447"/>
                  <a:pt x="141446" y="320596"/>
                  <a:pt x="157559" y="355124"/>
                </a:cubicBezTo>
                <a:cubicBezTo>
                  <a:pt x="166608" y="374571"/>
                  <a:pt x="176371" y="388303"/>
                  <a:pt x="185420" y="396716"/>
                </a:cubicBezTo>
                <a:cubicBezTo>
                  <a:pt x="194310" y="405051"/>
                  <a:pt x="200422" y="406400"/>
                  <a:pt x="203597" y="406400"/>
                </a:cubicBezTo>
                <a:cubicBezTo>
                  <a:pt x="206772" y="406400"/>
                  <a:pt x="212884" y="405051"/>
                  <a:pt x="221774" y="396716"/>
                </a:cubicBezTo>
                <a:cubicBezTo>
                  <a:pt x="230822" y="388302"/>
                  <a:pt x="240586" y="374491"/>
                  <a:pt x="249634" y="355124"/>
                </a:cubicBezTo>
                <a:cubicBezTo>
                  <a:pt x="265747" y="320596"/>
                  <a:pt x="277098" y="273447"/>
                  <a:pt x="279400" y="222250"/>
                </a:cubicBezTo>
                <a:close/>
                <a:moveTo>
                  <a:pt x="127714" y="184150"/>
                </a:moveTo>
                <a:lnTo>
                  <a:pt x="279241" y="184150"/>
                </a:lnTo>
                <a:cubicBezTo>
                  <a:pt x="277019" y="132953"/>
                  <a:pt x="265668" y="85804"/>
                  <a:pt x="249555" y="51276"/>
                </a:cubicBezTo>
                <a:cubicBezTo>
                  <a:pt x="240506" y="31909"/>
                  <a:pt x="230743" y="18098"/>
                  <a:pt x="221694" y="9684"/>
                </a:cubicBezTo>
                <a:cubicBezTo>
                  <a:pt x="212804" y="1349"/>
                  <a:pt x="206692" y="0"/>
                  <a:pt x="203518" y="0"/>
                </a:cubicBezTo>
                <a:cubicBezTo>
                  <a:pt x="200342" y="0"/>
                  <a:pt x="194231" y="1349"/>
                  <a:pt x="185341" y="9684"/>
                </a:cubicBezTo>
                <a:cubicBezTo>
                  <a:pt x="176292" y="18098"/>
                  <a:pt x="166529" y="31909"/>
                  <a:pt x="157480" y="51276"/>
                </a:cubicBezTo>
                <a:cubicBezTo>
                  <a:pt x="141367" y="85804"/>
                  <a:pt x="130016" y="132953"/>
                  <a:pt x="127714" y="184150"/>
                </a:cubicBezTo>
                <a:close/>
                <a:moveTo>
                  <a:pt x="89614" y="184150"/>
                </a:moveTo>
                <a:cubicBezTo>
                  <a:pt x="92393" y="116205"/>
                  <a:pt x="109934" y="53102"/>
                  <a:pt x="135573" y="11668"/>
                </a:cubicBezTo>
                <a:cubicBezTo>
                  <a:pt x="62468" y="37544"/>
                  <a:pt x="8652" y="104140"/>
                  <a:pt x="1191" y="184150"/>
                </a:cubicBezTo>
                <a:lnTo>
                  <a:pt x="89614" y="184150"/>
                </a:lnTo>
                <a:close/>
                <a:moveTo>
                  <a:pt x="1191" y="222250"/>
                </a:moveTo>
                <a:cubicBezTo>
                  <a:pt x="8652" y="302260"/>
                  <a:pt x="62468" y="368856"/>
                  <a:pt x="135573" y="394732"/>
                </a:cubicBezTo>
                <a:cubicBezTo>
                  <a:pt x="109934" y="353298"/>
                  <a:pt x="92393" y="290195"/>
                  <a:pt x="89614" y="222250"/>
                </a:cubicBezTo>
                <a:lnTo>
                  <a:pt x="1191" y="222250"/>
                </a:lnTo>
                <a:close/>
                <a:moveTo>
                  <a:pt x="317421" y="222250"/>
                </a:moveTo>
                <a:cubicBezTo>
                  <a:pt x="314643" y="290195"/>
                  <a:pt x="297101" y="353298"/>
                  <a:pt x="271463" y="394732"/>
                </a:cubicBezTo>
                <a:cubicBezTo>
                  <a:pt x="344567" y="368776"/>
                  <a:pt x="398383" y="302260"/>
                  <a:pt x="405844" y="222250"/>
                </a:cubicBezTo>
                <a:lnTo>
                  <a:pt x="317421" y="222250"/>
                </a:lnTo>
                <a:close/>
                <a:moveTo>
                  <a:pt x="405844" y="184150"/>
                </a:moveTo>
                <a:cubicBezTo>
                  <a:pt x="398383" y="104140"/>
                  <a:pt x="344567" y="37544"/>
                  <a:pt x="271463" y="11668"/>
                </a:cubicBezTo>
                <a:cubicBezTo>
                  <a:pt x="297101" y="53102"/>
                  <a:pt x="314643" y="116205"/>
                  <a:pt x="317421" y="184150"/>
                </a:cubicBezTo>
                <a:lnTo>
                  <a:pt x="405844" y="184150"/>
                </a:ln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6" name="Text 14"/>
          <p:cNvSpPr/>
          <p:nvPr/>
        </p:nvSpPr>
        <p:spPr>
          <a:xfrm>
            <a:off x="2349500" y="6350000"/>
            <a:ext cx="2667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7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HTTP Requests</a:t>
            </a:r>
            <a:endParaRPr lang="en-US" sz="1700" dirty="0"/>
          </a:p>
          <a:p>
            <a:pPr algn="l">
              <a:lnSpc>
                <a:spcPct val="150000"/>
              </a:lnSpc>
            </a:pPr>
            <a:r>
              <a:rPr lang="en-US" sz="17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Async API callbacks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5334000" y="6413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406400" y="163354"/>
                </a:moveTo>
                <a:cubicBezTo>
                  <a:pt x="392974" y="171133"/>
                  <a:pt x="377553" y="177403"/>
                  <a:pt x="361496" y="182404"/>
                </a:cubicBezTo>
                <a:cubicBezTo>
                  <a:pt x="318861" y="195739"/>
                  <a:pt x="262890" y="203200"/>
                  <a:pt x="203200" y="203200"/>
                </a:cubicBezTo>
                <a:cubicBezTo>
                  <a:pt x="143510" y="203200"/>
                  <a:pt x="87449" y="195659"/>
                  <a:pt x="44904" y="182404"/>
                </a:cubicBezTo>
                <a:cubicBezTo>
                  <a:pt x="28938" y="177403"/>
                  <a:pt x="13426" y="171133"/>
                  <a:pt x="0" y="163354"/>
                </a:cubicBezTo>
                <a:lnTo>
                  <a:pt x="0" y="228600"/>
                </a:lnTo>
                <a:cubicBezTo>
                  <a:pt x="0" y="263684"/>
                  <a:pt x="90986" y="292100"/>
                  <a:pt x="203200" y="292100"/>
                </a:cubicBezTo>
                <a:cubicBezTo>
                  <a:pt x="315414" y="292100"/>
                  <a:pt x="406400" y="263684"/>
                  <a:pt x="406400" y="228600"/>
                </a:cubicBezTo>
                <a:lnTo>
                  <a:pt x="406400" y="163354"/>
                </a:lnTo>
                <a:close/>
                <a:moveTo>
                  <a:pt x="406400" y="101600"/>
                </a:moveTo>
                <a:lnTo>
                  <a:pt x="406400" y="63500"/>
                </a:lnTo>
                <a:cubicBezTo>
                  <a:pt x="406400" y="28416"/>
                  <a:pt x="315414" y="0"/>
                  <a:pt x="203200" y="0"/>
                </a:cubicBezTo>
                <a:cubicBezTo>
                  <a:pt x="90986" y="0"/>
                  <a:pt x="0" y="28416"/>
                  <a:pt x="0" y="63500"/>
                </a:cubicBezTo>
                <a:lnTo>
                  <a:pt x="0" y="101600"/>
                </a:lnTo>
                <a:cubicBezTo>
                  <a:pt x="0" y="136684"/>
                  <a:pt x="90986" y="165100"/>
                  <a:pt x="203200" y="165100"/>
                </a:cubicBezTo>
                <a:cubicBezTo>
                  <a:pt x="315414" y="165100"/>
                  <a:pt x="406400" y="136684"/>
                  <a:pt x="406400" y="101600"/>
                </a:cubicBezTo>
                <a:close/>
                <a:moveTo>
                  <a:pt x="361496" y="309404"/>
                </a:moveTo>
                <a:cubicBezTo>
                  <a:pt x="318951" y="322659"/>
                  <a:pt x="262981" y="330200"/>
                  <a:pt x="203200" y="330200"/>
                </a:cubicBezTo>
                <a:cubicBezTo>
                  <a:pt x="143419" y="330200"/>
                  <a:pt x="87449" y="322659"/>
                  <a:pt x="44904" y="309404"/>
                </a:cubicBezTo>
                <a:cubicBezTo>
                  <a:pt x="28938" y="304403"/>
                  <a:pt x="13426" y="298133"/>
                  <a:pt x="0" y="290354"/>
                </a:cubicBezTo>
                <a:lnTo>
                  <a:pt x="0" y="342900"/>
                </a:lnTo>
                <a:cubicBezTo>
                  <a:pt x="0" y="377984"/>
                  <a:pt x="90986" y="406400"/>
                  <a:pt x="203200" y="406400"/>
                </a:cubicBezTo>
                <a:cubicBezTo>
                  <a:pt x="315414" y="406400"/>
                  <a:pt x="406400" y="377984"/>
                  <a:pt x="406400" y="342900"/>
                </a:cubicBezTo>
                <a:lnTo>
                  <a:pt x="406400" y="290354"/>
                </a:lnTo>
                <a:cubicBezTo>
                  <a:pt x="392974" y="298133"/>
                  <a:pt x="377553" y="304403"/>
                  <a:pt x="361496" y="309404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8" name="Text 16"/>
          <p:cNvSpPr/>
          <p:nvPr/>
        </p:nvSpPr>
        <p:spPr>
          <a:xfrm>
            <a:off x="5905500" y="6350000"/>
            <a:ext cx="2667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7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Database Queries</a:t>
            </a:r>
            <a:endParaRPr lang="en-US" sz="1700" dirty="0"/>
          </a:p>
          <a:p>
            <a:pPr algn="l">
              <a:lnSpc>
                <a:spcPct val="150000"/>
              </a:lnSpc>
            </a:pPr>
            <a:r>
              <a:rPr lang="en-US" sz="17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Async result handlers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8890000" y="6413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38100" y="50800"/>
                </a:moveTo>
                <a:cubicBezTo>
                  <a:pt x="17066" y="50800"/>
                  <a:pt x="0" y="67866"/>
                  <a:pt x="0" y="88900"/>
                </a:cubicBezTo>
                <a:cubicBezTo>
                  <a:pt x="0" y="100886"/>
                  <a:pt x="5636" y="112157"/>
                  <a:pt x="15240" y="119380"/>
                </a:cubicBezTo>
                <a:lnTo>
                  <a:pt x="180340" y="243205"/>
                </a:lnTo>
                <a:cubicBezTo>
                  <a:pt x="193913" y="253365"/>
                  <a:pt x="212487" y="253365"/>
                  <a:pt x="226060" y="243205"/>
                </a:cubicBezTo>
                <a:lnTo>
                  <a:pt x="391160" y="119380"/>
                </a:lnTo>
                <a:cubicBezTo>
                  <a:pt x="400764" y="112157"/>
                  <a:pt x="406400" y="100886"/>
                  <a:pt x="406400" y="88900"/>
                </a:cubicBezTo>
                <a:cubicBezTo>
                  <a:pt x="406400" y="67866"/>
                  <a:pt x="389334" y="50800"/>
                  <a:pt x="368300" y="50800"/>
                </a:cubicBezTo>
                <a:lnTo>
                  <a:pt x="38100" y="50800"/>
                </a:lnTo>
                <a:close/>
                <a:moveTo>
                  <a:pt x="0" y="155575"/>
                </a:moveTo>
                <a:lnTo>
                  <a:pt x="0" y="304800"/>
                </a:lnTo>
                <a:cubicBezTo>
                  <a:pt x="0" y="332819"/>
                  <a:pt x="22781" y="355600"/>
                  <a:pt x="50800" y="355600"/>
                </a:cubicBezTo>
                <a:lnTo>
                  <a:pt x="355600" y="355600"/>
                </a:lnTo>
                <a:cubicBezTo>
                  <a:pt x="383619" y="355600"/>
                  <a:pt x="406400" y="332819"/>
                  <a:pt x="406400" y="304800"/>
                </a:cubicBezTo>
                <a:lnTo>
                  <a:pt x="406400" y="155575"/>
                </a:lnTo>
                <a:lnTo>
                  <a:pt x="248920" y="273685"/>
                </a:lnTo>
                <a:cubicBezTo>
                  <a:pt x="221853" y="294005"/>
                  <a:pt x="184547" y="294005"/>
                  <a:pt x="157480" y="273685"/>
                </a:cubicBezTo>
                <a:lnTo>
                  <a:pt x="0" y="155575"/>
                </a:ln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20" name="Text 18"/>
          <p:cNvSpPr/>
          <p:nvPr/>
        </p:nvSpPr>
        <p:spPr>
          <a:xfrm>
            <a:off x="9461500" y="6350000"/>
            <a:ext cx="2667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7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Message Queues</a:t>
            </a:r>
            <a:endParaRPr lang="en-US" sz="1700" dirty="0"/>
          </a:p>
          <a:p>
            <a:pPr algn="l">
              <a:lnSpc>
                <a:spcPct val="150000"/>
              </a:lnSpc>
            </a:pPr>
            <a:r>
              <a:rPr lang="en-US" sz="17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Event consumers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12446000" y="6413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95981" y="76200"/>
                </a:moveTo>
                <a:cubicBezTo>
                  <a:pt x="284268" y="76200"/>
                  <a:pt x="272909" y="79772"/>
                  <a:pt x="262961" y="86281"/>
                </a:cubicBezTo>
                <a:cubicBezTo>
                  <a:pt x="251813" y="73581"/>
                  <a:pt x="238831" y="62944"/>
                  <a:pt x="224508" y="54928"/>
                </a:cubicBezTo>
                <a:cubicBezTo>
                  <a:pt x="244404" y="35878"/>
                  <a:pt x="269734" y="25400"/>
                  <a:pt x="295981" y="25400"/>
                </a:cubicBezTo>
                <a:cubicBezTo>
                  <a:pt x="356941" y="25400"/>
                  <a:pt x="406400" y="80963"/>
                  <a:pt x="406400" y="149622"/>
                </a:cubicBezTo>
                <a:cubicBezTo>
                  <a:pt x="406400" y="182563"/>
                  <a:pt x="394758" y="214154"/>
                  <a:pt x="374086" y="237411"/>
                </a:cubicBezTo>
                <a:lnTo>
                  <a:pt x="323921" y="293846"/>
                </a:lnTo>
                <a:cubicBezTo>
                  <a:pt x="303248" y="317103"/>
                  <a:pt x="275167" y="330200"/>
                  <a:pt x="245886" y="330200"/>
                </a:cubicBezTo>
                <a:cubicBezTo>
                  <a:pt x="184926" y="330200"/>
                  <a:pt x="135467" y="274638"/>
                  <a:pt x="135467" y="205978"/>
                </a:cubicBezTo>
                <a:cubicBezTo>
                  <a:pt x="135467" y="204788"/>
                  <a:pt x="135467" y="203597"/>
                  <a:pt x="135537" y="202406"/>
                </a:cubicBezTo>
                <a:cubicBezTo>
                  <a:pt x="135890" y="188357"/>
                  <a:pt x="146262" y="177324"/>
                  <a:pt x="158750" y="177721"/>
                </a:cubicBezTo>
                <a:cubicBezTo>
                  <a:pt x="171238" y="178118"/>
                  <a:pt x="181046" y="189786"/>
                  <a:pt x="180693" y="203835"/>
                </a:cubicBezTo>
                <a:cubicBezTo>
                  <a:pt x="180693" y="204549"/>
                  <a:pt x="180693" y="205264"/>
                  <a:pt x="180693" y="205899"/>
                </a:cubicBezTo>
                <a:cubicBezTo>
                  <a:pt x="180693" y="246459"/>
                  <a:pt x="209903" y="279321"/>
                  <a:pt x="245957" y="279321"/>
                </a:cubicBezTo>
                <a:cubicBezTo>
                  <a:pt x="263243" y="279321"/>
                  <a:pt x="279823" y="271621"/>
                  <a:pt x="292100" y="257810"/>
                </a:cubicBezTo>
                <a:lnTo>
                  <a:pt x="342265" y="201374"/>
                </a:lnTo>
                <a:cubicBezTo>
                  <a:pt x="354471" y="187643"/>
                  <a:pt x="361386" y="168910"/>
                  <a:pt x="361386" y="149463"/>
                </a:cubicBezTo>
                <a:cubicBezTo>
                  <a:pt x="361386" y="108903"/>
                  <a:pt x="332176" y="76041"/>
                  <a:pt x="296122" y="76041"/>
                </a:cubicBezTo>
                <a:close/>
                <a:moveTo>
                  <a:pt x="194169" y="137557"/>
                </a:moveTo>
                <a:cubicBezTo>
                  <a:pt x="192828" y="136922"/>
                  <a:pt x="191488" y="136049"/>
                  <a:pt x="190288" y="135096"/>
                </a:cubicBezTo>
                <a:cubicBezTo>
                  <a:pt x="181398" y="129937"/>
                  <a:pt x="171238" y="127000"/>
                  <a:pt x="160584" y="127000"/>
                </a:cubicBezTo>
                <a:cubicBezTo>
                  <a:pt x="143298" y="127000"/>
                  <a:pt x="126718" y="134699"/>
                  <a:pt x="114441" y="148511"/>
                </a:cubicBezTo>
                <a:lnTo>
                  <a:pt x="64276" y="204946"/>
                </a:lnTo>
                <a:cubicBezTo>
                  <a:pt x="52070" y="218678"/>
                  <a:pt x="45156" y="237411"/>
                  <a:pt x="45156" y="256858"/>
                </a:cubicBezTo>
                <a:cubicBezTo>
                  <a:pt x="45156" y="297418"/>
                  <a:pt x="74366" y="330279"/>
                  <a:pt x="110419" y="330279"/>
                </a:cubicBezTo>
                <a:cubicBezTo>
                  <a:pt x="122061" y="330279"/>
                  <a:pt x="133421" y="326787"/>
                  <a:pt x="143369" y="320278"/>
                </a:cubicBezTo>
                <a:cubicBezTo>
                  <a:pt x="154517" y="332978"/>
                  <a:pt x="167499" y="343614"/>
                  <a:pt x="181892" y="351631"/>
                </a:cubicBezTo>
                <a:cubicBezTo>
                  <a:pt x="161996" y="370602"/>
                  <a:pt x="136737" y="381159"/>
                  <a:pt x="110419" y="381159"/>
                </a:cubicBezTo>
                <a:cubicBezTo>
                  <a:pt x="49459" y="381159"/>
                  <a:pt x="0" y="325596"/>
                  <a:pt x="0" y="256937"/>
                </a:cubicBezTo>
                <a:cubicBezTo>
                  <a:pt x="0" y="223996"/>
                  <a:pt x="11642" y="192405"/>
                  <a:pt x="32314" y="169148"/>
                </a:cubicBezTo>
                <a:lnTo>
                  <a:pt x="82479" y="112713"/>
                </a:lnTo>
                <a:cubicBezTo>
                  <a:pt x="103152" y="89456"/>
                  <a:pt x="131233" y="76359"/>
                  <a:pt x="160514" y="76359"/>
                </a:cubicBezTo>
                <a:cubicBezTo>
                  <a:pt x="221615" y="76359"/>
                  <a:pt x="270933" y="132398"/>
                  <a:pt x="270933" y="200898"/>
                </a:cubicBezTo>
                <a:cubicBezTo>
                  <a:pt x="270933" y="201930"/>
                  <a:pt x="270933" y="202962"/>
                  <a:pt x="270933" y="203994"/>
                </a:cubicBezTo>
                <a:cubicBezTo>
                  <a:pt x="270651" y="218043"/>
                  <a:pt x="260279" y="229076"/>
                  <a:pt x="247791" y="228759"/>
                </a:cubicBezTo>
                <a:cubicBezTo>
                  <a:pt x="235303" y="228441"/>
                  <a:pt x="225496" y="216773"/>
                  <a:pt x="225778" y="202724"/>
                </a:cubicBezTo>
                <a:cubicBezTo>
                  <a:pt x="225778" y="202089"/>
                  <a:pt x="225778" y="201533"/>
                  <a:pt x="225778" y="200898"/>
                </a:cubicBezTo>
                <a:cubicBezTo>
                  <a:pt x="225778" y="174149"/>
                  <a:pt x="213078" y="150654"/>
                  <a:pt x="194169" y="137716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22" name="Text 20"/>
          <p:cNvSpPr/>
          <p:nvPr/>
        </p:nvSpPr>
        <p:spPr>
          <a:xfrm>
            <a:off x="13017500" y="6350000"/>
            <a:ext cx="1651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Future Chain</a:t>
            </a:r>
            <a:endParaRPr lang="en-US" sz="1000" dirty="0"/>
          </a:p>
          <a:p>
            <a:pPr algn="l">
              <a:lnSpc>
                <a:spcPct val="150000"/>
              </a:lnSpc>
            </a:pPr>
            <a:r>
              <a:rPr lang="en-US" sz="10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thenApply, thenAccept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18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37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Code Base Example — Thread &amp; Runnable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841500"/>
            <a:ext cx="13716000" cy="6985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87500" y="19685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247590" y="156642"/>
                </a:moveTo>
                <a:cubicBezTo>
                  <a:pt x="254853" y="154186"/>
                  <a:pt x="262473" y="158502"/>
                  <a:pt x="265747" y="166911"/>
                </a:cubicBezTo>
                <a:lnTo>
                  <a:pt x="276820" y="194890"/>
                </a:lnTo>
                <a:cubicBezTo>
                  <a:pt x="282952" y="195932"/>
                  <a:pt x="288965" y="198016"/>
                  <a:pt x="294620" y="200918"/>
                </a:cubicBezTo>
                <a:lnTo>
                  <a:pt x="315456" y="183579"/>
                </a:lnTo>
                <a:cubicBezTo>
                  <a:pt x="321707" y="178371"/>
                  <a:pt x="329982" y="179412"/>
                  <a:pt x="335280" y="186035"/>
                </a:cubicBezTo>
                <a:lnTo>
                  <a:pt x="346710" y="200323"/>
                </a:lnTo>
                <a:cubicBezTo>
                  <a:pt x="352008" y="206946"/>
                  <a:pt x="352842" y="217363"/>
                  <a:pt x="348675" y="225103"/>
                </a:cubicBezTo>
                <a:lnTo>
                  <a:pt x="334804" y="251073"/>
                </a:lnTo>
                <a:cubicBezTo>
                  <a:pt x="335935" y="254571"/>
                  <a:pt x="336947" y="258217"/>
                  <a:pt x="337780" y="262012"/>
                </a:cubicBezTo>
                <a:cubicBezTo>
                  <a:pt x="338614" y="265807"/>
                  <a:pt x="339150" y="269528"/>
                  <a:pt x="339566" y="273323"/>
                </a:cubicBezTo>
                <a:lnTo>
                  <a:pt x="362010" y="287164"/>
                </a:lnTo>
                <a:cubicBezTo>
                  <a:pt x="368737" y="291331"/>
                  <a:pt x="372189" y="300856"/>
                  <a:pt x="370225" y="309860"/>
                </a:cubicBezTo>
                <a:lnTo>
                  <a:pt x="366058" y="329357"/>
                </a:lnTo>
                <a:cubicBezTo>
                  <a:pt x="364093" y="338361"/>
                  <a:pt x="357366" y="344463"/>
                  <a:pt x="349865" y="343867"/>
                </a:cubicBezTo>
                <a:lnTo>
                  <a:pt x="324862" y="341858"/>
                </a:lnTo>
                <a:cubicBezTo>
                  <a:pt x="321112" y="347886"/>
                  <a:pt x="316766" y="353467"/>
                  <a:pt x="311825" y="358229"/>
                </a:cubicBezTo>
                <a:lnTo>
                  <a:pt x="313432" y="389409"/>
                </a:lnTo>
                <a:cubicBezTo>
                  <a:pt x="313908" y="398785"/>
                  <a:pt x="309027" y="407268"/>
                  <a:pt x="301823" y="409649"/>
                </a:cubicBezTo>
                <a:lnTo>
                  <a:pt x="286226" y="414858"/>
                </a:lnTo>
                <a:cubicBezTo>
                  <a:pt x="278963" y="417314"/>
                  <a:pt x="271403" y="412998"/>
                  <a:pt x="268069" y="404589"/>
                </a:cubicBezTo>
                <a:lnTo>
                  <a:pt x="256996" y="376610"/>
                </a:lnTo>
                <a:cubicBezTo>
                  <a:pt x="250865" y="375568"/>
                  <a:pt x="244852" y="373484"/>
                  <a:pt x="239197" y="370582"/>
                </a:cubicBezTo>
                <a:lnTo>
                  <a:pt x="218361" y="387921"/>
                </a:lnTo>
                <a:cubicBezTo>
                  <a:pt x="212110" y="393129"/>
                  <a:pt x="203835" y="392088"/>
                  <a:pt x="198537" y="385465"/>
                </a:cubicBezTo>
                <a:lnTo>
                  <a:pt x="187107" y="371177"/>
                </a:lnTo>
                <a:cubicBezTo>
                  <a:pt x="181808" y="364554"/>
                  <a:pt x="180975" y="354211"/>
                  <a:pt x="185142" y="346397"/>
                </a:cubicBezTo>
                <a:lnTo>
                  <a:pt x="199013" y="320353"/>
                </a:lnTo>
                <a:cubicBezTo>
                  <a:pt x="197882" y="316855"/>
                  <a:pt x="196870" y="313209"/>
                  <a:pt x="196036" y="309414"/>
                </a:cubicBezTo>
                <a:cubicBezTo>
                  <a:pt x="195203" y="305619"/>
                  <a:pt x="194667" y="301823"/>
                  <a:pt x="194250" y="298103"/>
                </a:cubicBezTo>
                <a:lnTo>
                  <a:pt x="171807" y="284262"/>
                </a:lnTo>
                <a:cubicBezTo>
                  <a:pt x="165080" y="280095"/>
                  <a:pt x="161687" y="270570"/>
                  <a:pt x="163592" y="261565"/>
                </a:cubicBezTo>
                <a:lnTo>
                  <a:pt x="167759" y="242069"/>
                </a:lnTo>
                <a:cubicBezTo>
                  <a:pt x="169724" y="233065"/>
                  <a:pt x="176451" y="226963"/>
                  <a:pt x="183952" y="227558"/>
                </a:cubicBezTo>
                <a:lnTo>
                  <a:pt x="208895" y="229567"/>
                </a:lnTo>
                <a:cubicBezTo>
                  <a:pt x="212646" y="223540"/>
                  <a:pt x="216991" y="217959"/>
                  <a:pt x="221932" y="213196"/>
                </a:cubicBezTo>
                <a:lnTo>
                  <a:pt x="220325" y="182091"/>
                </a:lnTo>
                <a:cubicBezTo>
                  <a:pt x="219849" y="172715"/>
                  <a:pt x="224730" y="164232"/>
                  <a:pt x="231934" y="161851"/>
                </a:cubicBezTo>
                <a:lnTo>
                  <a:pt x="247531" y="156642"/>
                </a:lnTo>
                <a:close/>
                <a:moveTo>
                  <a:pt x="266938" y="253008"/>
                </a:moveTo>
                <a:cubicBezTo>
                  <a:pt x="252481" y="253028"/>
                  <a:pt x="240758" y="267716"/>
                  <a:pt x="240774" y="285787"/>
                </a:cubicBezTo>
                <a:cubicBezTo>
                  <a:pt x="240791" y="303858"/>
                  <a:pt x="252541" y="318513"/>
                  <a:pt x="266998" y="318492"/>
                </a:cubicBezTo>
                <a:cubicBezTo>
                  <a:pt x="281454" y="318472"/>
                  <a:pt x="293178" y="303784"/>
                  <a:pt x="293162" y="285713"/>
                </a:cubicBezTo>
                <a:cubicBezTo>
                  <a:pt x="293145" y="267642"/>
                  <a:pt x="281395" y="252987"/>
                  <a:pt x="266938" y="253008"/>
                </a:cubicBezTo>
                <a:close/>
                <a:moveTo>
                  <a:pt x="133886" y="-33858"/>
                </a:moveTo>
                <a:lnTo>
                  <a:pt x="149483" y="-28649"/>
                </a:lnTo>
                <a:cubicBezTo>
                  <a:pt x="156686" y="-26194"/>
                  <a:pt x="161568" y="-17711"/>
                  <a:pt x="161092" y="-8409"/>
                </a:cubicBezTo>
                <a:lnTo>
                  <a:pt x="159484" y="22696"/>
                </a:lnTo>
                <a:cubicBezTo>
                  <a:pt x="164425" y="27459"/>
                  <a:pt x="168771" y="32965"/>
                  <a:pt x="172522" y="39067"/>
                </a:cubicBezTo>
                <a:lnTo>
                  <a:pt x="197525" y="37058"/>
                </a:lnTo>
                <a:cubicBezTo>
                  <a:pt x="204966" y="36463"/>
                  <a:pt x="211753" y="42565"/>
                  <a:pt x="213717" y="51569"/>
                </a:cubicBezTo>
                <a:lnTo>
                  <a:pt x="217884" y="71065"/>
                </a:lnTo>
                <a:cubicBezTo>
                  <a:pt x="219789" y="80070"/>
                  <a:pt x="216396" y="89595"/>
                  <a:pt x="209669" y="93762"/>
                </a:cubicBezTo>
                <a:lnTo>
                  <a:pt x="187226" y="107603"/>
                </a:lnTo>
                <a:cubicBezTo>
                  <a:pt x="186809" y="111398"/>
                  <a:pt x="186214" y="115193"/>
                  <a:pt x="185440" y="118914"/>
                </a:cubicBezTo>
                <a:cubicBezTo>
                  <a:pt x="184666" y="122634"/>
                  <a:pt x="183594" y="126355"/>
                  <a:pt x="182463" y="129853"/>
                </a:cubicBezTo>
                <a:lnTo>
                  <a:pt x="196334" y="155897"/>
                </a:lnTo>
                <a:cubicBezTo>
                  <a:pt x="200501" y="163711"/>
                  <a:pt x="199668" y="174054"/>
                  <a:pt x="194370" y="180677"/>
                </a:cubicBezTo>
                <a:lnTo>
                  <a:pt x="182940" y="194965"/>
                </a:lnTo>
                <a:cubicBezTo>
                  <a:pt x="177641" y="201588"/>
                  <a:pt x="169366" y="202629"/>
                  <a:pt x="163116" y="197421"/>
                </a:cubicBezTo>
                <a:lnTo>
                  <a:pt x="142280" y="180082"/>
                </a:lnTo>
                <a:cubicBezTo>
                  <a:pt x="136624" y="182984"/>
                  <a:pt x="130612" y="185068"/>
                  <a:pt x="124480" y="186110"/>
                </a:cubicBezTo>
                <a:lnTo>
                  <a:pt x="113407" y="214089"/>
                </a:lnTo>
                <a:cubicBezTo>
                  <a:pt x="110073" y="222498"/>
                  <a:pt x="102453" y="226740"/>
                  <a:pt x="95250" y="224358"/>
                </a:cubicBezTo>
                <a:lnTo>
                  <a:pt x="79653" y="219149"/>
                </a:lnTo>
                <a:cubicBezTo>
                  <a:pt x="72390" y="216694"/>
                  <a:pt x="67568" y="208211"/>
                  <a:pt x="68044" y="198909"/>
                </a:cubicBezTo>
                <a:lnTo>
                  <a:pt x="69652" y="167729"/>
                </a:lnTo>
                <a:cubicBezTo>
                  <a:pt x="64710" y="162967"/>
                  <a:pt x="60365" y="157460"/>
                  <a:pt x="56614" y="151358"/>
                </a:cubicBezTo>
                <a:lnTo>
                  <a:pt x="31611" y="153367"/>
                </a:lnTo>
                <a:cubicBezTo>
                  <a:pt x="24170" y="153963"/>
                  <a:pt x="17383" y="147861"/>
                  <a:pt x="15419" y="138857"/>
                </a:cubicBezTo>
                <a:lnTo>
                  <a:pt x="11251" y="119360"/>
                </a:lnTo>
                <a:cubicBezTo>
                  <a:pt x="9346" y="110356"/>
                  <a:pt x="12740" y="100831"/>
                  <a:pt x="19467" y="96664"/>
                </a:cubicBezTo>
                <a:lnTo>
                  <a:pt x="41910" y="82823"/>
                </a:lnTo>
                <a:cubicBezTo>
                  <a:pt x="42327" y="79028"/>
                  <a:pt x="42922" y="75307"/>
                  <a:pt x="43696" y="71512"/>
                </a:cubicBezTo>
                <a:cubicBezTo>
                  <a:pt x="44529" y="67717"/>
                  <a:pt x="45482" y="64071"/>
                  <a:pt x="46673" y="60573"/>
                </a:cubicBezTo>
                <a:lnTo>
                  <a:pt x="32802" y="34603"/>
                </a:lnTo>
                <a:cubicBezTo>
                  <a:pt x="28635" y="26789"/>
                  <a:pt x="29468" y="16446"/>
                  <a:pt x="34766" y="9823"/>
                </a:cubicBezTo>
                <a:lnTo>
                  <a:pt x="46196" y="-4465"/>
                </a:lnTo>
                <a:cubicBezTo>
                  <a:pt x="51495" y="-11088"/>
                  <a:pt x="59769" y="-12129"/>
                  <a:pt x="66020" y="-6921"/>
                </a:cubicBezTo>
                <a:lnTo>
                  <a:pt x="86856" y="10418"/>
                </a:lnTo>
                <a:cubicBezTo>
                  <a:pt x="92512" y="7516"/>
                  <a:pt x="98524" y="5432"/>
                  <a:pt x="104656" y="4390"/>
                </a:cubicBezTo>
                <a:lnTo>
                  <a:pt x="115729" y="-23589"/>
                </a:lnTo>
                <a:cubicBezTo>
                  <a:pt x="119062" y="-31998"/>
                  <a:pt x="126623" y="-36240"/>
                  <a:pt x="133886" y="-33858"/>
                </a:cubicBezTo>
                <a:close/>
                <a:moveTo>
                  <a:pt x="114538" y="62508"/>
                </a:moveTo>
                <a:cubicBezTo>
                  <a:pt x="100081" y="62508"/>
                  <a:pt x="88344" y="77179"/>
                  <a:pt x="88344" y="95250"/>
                </a:cubicBezTo>
                <a:cubicBezTo>
                  <a:pt x="88344" y="113321"/>
                  <a:pt x="100081" y="127992"/>
                  <a:pt x="114538" y="127992"/>
                </a:cubicBezTo>
                <a:cubicBezTo>
                  <a:pt x="128995" y="127992"/>
                  <a:pt x="140732" y="113321"/>
                  <a:pt x="140732" y="95250"/>
                </a:cubicBezTo>
                <a:cubicBezTo>
                  <a:pt x="140732" y="77179"/>
                  <a:pt x="128995" y="62508"/>
                  <a:pt x="114538" y="62508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6" name="Text 4"/>
          <p:cNvSpPr/>
          <p:nvPr/>
        </p:nvSpPr>
        <p:spPr>
          <a:xfrm>
            <a:off x="2159000" y="1879600"/>
            <a:ext cx="12573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9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Scenario:</a:t>
            </a:r>
            <a:pPr algn="l">
              <a:lnSpc>
                <a:spcPct val="120000"/>
              </a:lnSpc>
            </a:pPr>
            <a:r>
              <a:rPr lang="en-US" sz="19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Creating background tasks for concurrent processing — web servers, batch jobs, schedulers.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270000" y="2857500"/>
            <a:ext cx="660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Anonymous Runnable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270000" y="3276600"/>
            <a:ext cx="6604000" cy="1651000"/>
          </a:xfrm>
          <a:prstGeom prst="roundRect">
            <a:avLst>
              <a:gd name="adj" fmla="val 8000"/>
            </a:avLst>
          </a:prstGeom>
          <a:solidFill>
            <a:srgbClr val="F8F8F8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24000" y="3403600"/>
            <a:ext cx="6096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9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Thread t = </a:t>
            </a:r>
            <a:pPr algn="l">
              <a:lnSpc>
                <a:spcPct val="160000"/>
              </a:lnSpc>
            </a:pPr>
            <a:r>
              <a:rPr lang="en-US" sz="900" b="1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new</a:t>
            </a:r>
            <a:pPr algn="l">
              <a:lnSpc>
                <a:spcPct val="160000"/>
              </a:lnSpc>
            </a:pPr>
            <a:r>
              <a:rPr lang="en-US" sz="9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Thread(</a:t>
            </a:r>
            <a:pPr algn="l">
              <a:lnSpc>
                <a:spcPct val="160000"/>
              </a:lnSpc>
            </a:pPr>
            <a:r>
              <a:rPr lang="en-US" sz="900" b="1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new</a:t>
            </a:r>
            <a:pPr algn="l">
              <a:lnSpc>
                <a:spcPct val="160000"/>
              </a:lnSpc>
            </a:pPr>
            <a:r>
              <a:rPr lang="en-US" sz="9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Runnable() {</a:t>
            </a:r>
            <a:endParaRPr lang="en-US" sz="900" dirty="0"/>
          </a:p>
          <a:p>
            <a:pPr algn="l">
              <a:lnSpc>
                <a:spcPct val="160000"/>
              </a:lnSpc>
            </a:pPr>
            <a:r>
              <a:rPr lang="en-US" sz="9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 </a:t>
            </a:r>
            <a:pPr algn="l">
              <a:lnSpc>
                <a:spcPct val="160000"/>
              </a:lnSpc>
            </a:pPr>
            <a:r>
              <a:rPr lang="en-US" sz="900" b="1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public void</a:t>
            </a:r>
            <a:pPr algn="l">
              <a:lnSpc>
                <a:spcPct val="160000"/>
              </a:lnSpc>
            </a:pPr>
            <a:r>
              <a:rPr lang="en-US" sz="9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run() {</a:t>
            </a:r>
            <a:endParaRPr lang="en-US" sz="900" dirty="0"/>
          </a:p>
          <a:p>
            <a:pPr algn="l">
              <a:lnSpc>
                <a:spcPct val="160000"/>
              </a:lnSpc>
            </a:pPr>
            <a:r>
              <a:rPr lang="en-US" sz="9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   System.out.println(</a:t>
            </a:r>
            <a:endParaRPr lang="en-US" sz="900" dirty="0"/>
          </a:p>
          <a:p>
            <a:pPr algn="l">
              <a:lnSpc>
                <a:spcPct val="160000"/>
              </a:lnSpc>
            </a:pPr>
            <a:r>
              <a:rPr lang="en-US" sz="9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     "Running task");</a:t>
            </a:r>
            <a:endParaRPr lang="en-US" sz="900" dirty="0"/>
          </a:p>
          <a:p>
            <a:pPr algn="l">
              <a:lnSpc>
                <a:spcPct val="160000"/>
              </a:lnSpc>
            </a:pPr>
            <a:r>
              <a:rPr lang="en-US" sz="9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 }</a:t>
            </a:r>
            <a:endParaRPr lang="en-US" sz="900" dirty="0"/>
          </a:p>
          <a:p>
            <a:pPr algn="l">
              <a:lnSpc>
                <a:spcPct val="160000"/>
              </a:lnSpc>
            </a:pPr>
            <a:r>
              <a:rPr lang="en-US" sz="9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});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382000" y="2857500"/>
            <a:ext cx="660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Lambda Runnable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8382000" y="3276600"/>
            <a:ext cx="6604000" cy="1651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FF7F50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636000" y="3492500"/>
            <a:ext cx="6096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9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Thread t = new Thread(</a:t>
            </a:r>
            <a:endParaRPr lang="en-US" sz="900" dirty="0"/>
          </a:p>
          <a:p>
            <a:pPr algn="l">
              <a:lnSpc>
                <a:spcPct val="160000"/>
              </a:lnSpc>
            </a:pPr>
            <a:r>
              <a:rPr lang="en-US" sz="9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 () -&gt; System.out.println(</a:t>
            </a:r>
            <a:endParaRPr lang="en-US" sz="900" dirty="0"/>
          </a:p>
          <a:p>
            <a:pPr algn="l">
              <a:lnSpc>
                <a:spcPct val="160000"/>
              </a:lnSpc>
            </a:pPr>
            <a:r>
              <a:rPr lang="en-US" sz="9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   "Running task"));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270000" y="5270500"/>
            <a:ext cx="762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ExecutorService with Lambdas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1270000" y="5715000"/>
            <a:ext cx="13716000" cy="14605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651000" y="5842000"/>
            <a:ext cx="12954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2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ExecutorService executor = Executors.newFixedThreadPool(4);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executor.submit(() -&gt; processOrder(order));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executor.invokeAll(tasks);  </a:t>
            </a:r>
            <a:pPr algn="l">
              <a:lnSpc>
                <a:spcPct val="150000"/>
              </a:lnSpc>
            </a:pPr>
            <a:r>
              <a:rPr lang="en-US" sz="12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 tasks is List&lt;Callable&lt;T&gt;&gt;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CompletableFuture.runAsync(() -&gt; sendEmail(user));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270000" y="7493000"/>
            <a:ext cx="13716000" cy="635000"/>
          </a:xfrm>
          <a:prstGeom prst="roundRect">
            <a:avLst>
              <a:gd name="adj" fmla="val 8000"/>
            </a:avLst>
          </a:prstGeom>
          <a:solidFill>
            <a:srgbClr val="F0F4F8"/>
          </a:solidFill>
          <a:ln/>
        </p:spPr>
      </p:sp>
      <p:sp>
        <p:nvSpPr>
          <p:cNvPr id="17" name="Text 15"/>
          <p:cNvSpPr/>
          <p:nvPr/>
        </p:nvSpPr>
        <p:spPr>
          <a:xfrm>
            <a:off x="1651000" y="7493000"/>
            <a:ext cx="1295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7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Used in:</a:t>
            </a:r>
            <a:pPr algn="l">
              <a:lnSpc>
                <a:spcPct val="120000"/>
              </a:lnSpc>
            </a:pPr>
            <a:r>
              <a:rPr lang="en-US" sz="17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Web servers (request handling), batch processing, background job schedulers, parallel stream processing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19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Lambda Best Practices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905000"/>
            <a:ext cx="6604000" cy="12065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60500" y="2095500"/>
            <a:ext cx="406400" cy="4064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6" name="Text 4"/>
          <p:cNvSpPr/>
          <p:nvPr/>
        </p:nvSpPr>
        <p:spPr>
          <a:xfrm>
            <a:off x="1460500" y="2095500"/>
            <a:ext cx="4064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032000" y="2032000"/>
            <a:ext cx="5651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Keep lambdas short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max 2-3 lines. Extract to method reference if longer.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382000" y="1905000"/>
            <a:ext cx="6604000" cy="12065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572500" y="2095500"/>
            <a:ext cx="406400" cy="4064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10" name="Text 8"/>
          <p:cNvSpPr/>
          <p:nvPr/>
        </p:nvSpPr>
        <p:spPr>
          <a:xfrm>
            <a:off x="8572500" y="2095500"/>
            <a:ext cx="4064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0" y="2032000"/>
            <a:ext cx="5651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Use descriptive names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(employee) not (e). Clarity over brevity.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270000" y="3365500"/>
            <a:ext cx="6604000" cy="12065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460500" y="3556000"/>
            <a:ext cx="406400" cy="406400"/>
          </a:xfrm>
          <a:prstGeom prst="ellipse">
            <a:avLst/>
          </a:prstGeom>
          <a:solidFill>
            <a:srgbClr val="2E5E8A"/>
          </a:solidFill>
          <a:ln/>
        </p:spPr>
      </p:sp>
      <p:sp>
        <p:nvSpPr>
          <p:cNvPr id="14" name="Text 12"/>
          <p:cNvSpPr/>
          <p:nvPr/>
        </p:nvSpPr>
        <p:spPr>
          <a:xfrm>
            <a:off x="1460500" y="3556000"/>
            <a:ext cx="4064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032000" y="3492500"/>
            <a:ext cx="5651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Prefer method references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String::toUpperCase over s -&gt; s.toUpperCase()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382000" y="3365500"/>
            <a:ext cx="6604000" cy="12065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572500" y="3556000"/>
            <a:ext cx="406400" cy="406400"/>
          </a:xfrm>
          <a:prstGeom prst="ellipse">
            <a:avLst/>
          </a:prstGeom>
          <a:solidFill>
            <a:srgbClr val="2E5E8A"/>
          </a:solidFill>
          <a:ln/>
        </p:spPr>
      </p:sp>
      <p:sp>
        <p:nvSpPr>
          <p:cNvPr id="18" name="Text 16"/>
          <p:cNvSpPr/>
          <p:nvPr/>
        </p:nvSpPr>
        <p:spPr>
          <a:xfrm>
            <a:off x="8572500" y="3556000"/>
            <a:ext cx="4064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144000" y="3492500"/>
            <a:ext cx="5651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Avoid side effects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don't modify external variables in stream ops.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270000" y="4826000"/>
            <a:ext cx="6604000" cy="12065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460500" y="5016500"/>
            <a:ext cx="406400" cy="4064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22" name="Text 20"/>
          <p:cNvSpPr/>
          <p:nvPr/>
        </p:nvSpPr>
        <p:spPr>
          <a:xfrm>
            <a:off x="1460500" y="5016500"/>
            <a:ext cx="4064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2032000" y="4953000"/>
            <a:ext cx="5651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Use parallel streams cautiously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only for large datasets (&gt;10K elements).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8382000" y="4826000"/>
            <a:ext cx="6604000" cy="12065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572500" y="5016500"/>
            <a:ext cx="406400" cy="4064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26" name="Text 24"/>
          <p:cNvSpPr/>
          <p:nvPr/>
        </p:nvSpPr>
        <p:spPr>
          <a:xfrm>
            <a:off x="8572500" y="5016500"/>
            <a:ext cx="4064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6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144000" y="4953000"/>
            <a:ext cx="5651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Prefer standard interfaces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use java.util.function before creating custom ones.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1270000" y="6413500"/>
            <a:ext cx="13716000" cy="1270000"/>
          </a:xfrm>
          <a:prstGeom prst="roundRect">
            <a:avLst>
              <a:gd name="adj" fmla="val 8000"/>
            </a:avLst>
          </a:prstGeom>
          <a:gradFill rotWithShape="1" flip="none">
            <a:gsLst>
              <a:gs pos="0">
                <a:srgbClr val="2E5E8A"/>
              </a:gs>
              <a:gs pos="100000">
                <a:srgbClr val="2E5E8A">
                  <a:alpha val="80000"/>
                </a:srgbClr>
              </a:gs>
            </a:gsLst>
            <a:lin ang="0" scaled="1"/>
          </a:gradFill>
          <a:ln/>
        </p:spPr>
      </p:sp>
      <p:sp>
        <p:nvSpPr>
          <p:cNvPr id="29" name="Shape 27"/>
          <p:cNvSpPr/>
          <p:nvPr/>
        </p:nvSpPr>
        <p:spPr>
          <a:xfrm>
            <a:off x="1651000" y="6667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72962" y="-18752"/>
                </a:moveTo>
                <a:cubicBezTo>
                  <a:pt x="269346" y="-26690"/>
                  <a:pt x="262026" y="-31750"/>
                  <a:pt x="254088" y="-31750"/>
                </a:cubicBezTo>
                <a:cubicBezTo>
                  <a:pt x="246151" y="-31750"/>
                  <a:pt x="238831" y="-26690"/>
                  <a:pt x="235215" y="-18752"/>
                </a:cubicBezTo>
                <a:lnTo>
                  <a:pt x="170303" y="124321"/>
                </a:lnTo>
                <a:lnTo>
                  <a:pt x="29281" y="149523"/>
                </a:lnTo>
                <a:cubicBezTo>
                  <a:pt x="21431" y="150912"/>
                  <a:pt x="14905" y="157162"/>
                  <a:pt x="12435" y="165695"/>
                </a:cubicBezTo>
                <a:cubicBezTo>
                  <a:pt x="9966" y="174228"/>
                  <a:pt x="11994" y="183555"/>
                  <a:pt x="17551" y="189905"/>
                </a:cubicBezTo>
                <a:lnTo>
                  <a:pt x="118445" y="303510"/>
                </a:lnTo>
                <a:lnTo>
                  <a:pt x="96220" y="462161"/>
                </a:lnTo>
                <a:cubicBezTo>
                  <a:pt x="94985" y="470991"/>
                  <a:pt x="98249" y="479921"/>
                  <a:pt x="104687" y="485180"/>
                </a:cubicBezTo>
                <a:cubicBezTo>
                  <a:pt x="111125" y="490438"/>
                  <a:pt x="119592" y="491232"/>
                  <a:pt x="126735" y="487164"/>
                </a:cubicBezTo>
                <a:lnTo>
                  <a:pt x="254088" y="414338"/>
                </a:lnTo>
                <a:lnTo>
                  <a:pt x="381353" y="487164"/>
                </a:lnTo>
                <a:cubicBezTo>
                  <a:pt x="388408" y="491232"/>
                  <a:pt x="396963" y="490438"/>
                  <a:pt x="403401" y="485180"/>
                </a:cubicBezTo>
                <a:cubicBezTo>
                  <a:pt x="409840" y="479921"/>
                  <a:pt x="413103" y="471091"/>
                  <a:pt x="411868" y="462161"/>
                </a:cubicBezTo>
                <a:lnTo>
                  <a:pt x="389555" y="303510"/>
                </a:lnTo>
                <a:lnTo>
                  <a:pt x="490449" y="189905"/>
                </a:lnTo>
                <a:cubicBezTo>
                  <a:pt x="496094" y="183555"/>
                  <a:pt x="498034" y="174228"/>
                  <a:pt x="495565" y="165695"/>
                </a:cubicBezTo>
                <a:cubicBezTo>
                  <a:pt x="493095" y="157163"/>
                  <a:pt x="486657" y="150912"/>
                  <a:pt x="478719" y="149523"/>
                </a:cubicBezTo>
                <a:lnTo>
                  <a:pt x="337785" y="124321"/>
                </a:lnTo>
                <a:lnTo>
                  <a:pt x="272962" y="-18752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2413000" y="6540500"/>
            <a:ext cx="1219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Golden Rule:</a:t>
            </a:r>
            <a:pPr algn="l">
              <a:lnSpc>
                <a:spcPct val="15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Lambdas should express </a:t>
            </a:r>
            <a:pPr algn="l">
              <a:lnSpc>
                <a:spcPct val="15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what</a:t>
            </a:r>
            <a:pPr algn="l">
              <a:lnSpc>
                <a:spcPct val="15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you want to do, not </a:t>
            </a:r>
            <a:pPr algn="l">
              <a:lnSpc>
                <a:spcPct val="15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how</a:t>
            </a:r>
            <a:pPr algn="l">
              <a:lnSpc>
                <a:spcPct val="15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to do it. Let the Stream API handle the implementation details.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Common Pitfalls to Avoid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905000"/>
            <a:ext cx="6604000" cy="1333500"/>
          </a:xfrm>
          <a:prstGeom prst="roundRect">
            <a:avLst>
              <a:gd name="adj" fmla="val 8000"/>
            </a:avLst>
          </a:prstGeom>
          <a:solidFill>
            <a:srgbClr val="FFF5F5"/>
          </a:solidFill>
          <a:ln w="12700">
            <a:solidFill>
              <a:srgbClr val="FFCC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24000" y="2159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381000"/>
                </a:moveTo>
                <a:cubicBezTo>
                  <a:pt x="295640" y="381000"/>
                  <a:pt x="381000" y="295640"/>
                  <a:pt x="381000" y="190500"/>
                </a:cubicBezTo>
                <a:cubicBezTo>
                  <a:pt x="381000" y="85360"/>
                  <a:pt x="295640" y="0"/>
                  <a:pt x="190500" y="0"/>
                </a:cubicBezTo>
                <a:cubicBezTo>
                  <a:pt x="85360" y="0"/>
                  <a:pt x="0" y="85360"/>
                  <a:pt x="0" y="190500"/>
                </a:cubicBezTo>
                <a:cubicBezTo>
                  <a:pt x="0" y="295640"/>
                  <a:pt x="85360" y="381000"/>
                  <a:pt x="190500" y="381000"/>
                </a:cubicBezTo>
                <a:close/>
                <a:moveTo>
                  <a:pt x="124271" y="124271"/>
                </a:moveTo>
                <a:cubicBezTo>
                  <a:pt x="131266" y="117277"/>
                  <a:pt x="142577" y="117277"/>
                  <a:pt x="149498" y="124271"/>
                </a:cubicBezTo>
                <a:lnTo>
                  <a:pt x="190426" y="165199"/>
                </a:lnTo>
                <a:lnTo>
                  <a:pt x="231353" y="124271"/>
                </a:lnTo>
                <a:cubicBezTo>
                  <a:pt x="238348" y="117277"/>
                  <a:pt x="249659" y="117277"/>
                  <a:pt x="256580" y="124271"/>
                </a:cubicBezTo>
                <a:cubicBezTo>
                  <a:pt x="263500" y="131266"/>
                  <a:pt x="263575" y="142577"/>
                  <a:pt x="256580" y="149498"/>
                </a:cubicBezTo>
                <a:lnTo>
                  <a:pt x="215652" y="190426"/>
                </a:lnTo>
                <a:lnTo>
                  <a:pt x="256580" y="231353"/>
                </a:lnTo>
                <a:cubicBezTo>
                  <a:pt x="263575" y="238348"/>
                  <a:pt x="263575" y="249659"/>
                  <a:pt x="256580" y="256580"/>
                </a:cubicBezTo>
                <a:cubicBezTo>
                  <a:pt x="249585" y="263500"/>
                  <a:pt x="238274" y="263575"/>
                  <a:pt x="231353" y="256580"/>
                </a:cubicBezTo>
                <a:lnTo>
                  <a:pt x="190426" y="215652"/>
                </a:lnTo>
                <a:lnTo>
                  <a:pt x="149498" y="256580"/>
                </a:lnTo>
                <a:cubicBezTo>
                  <a:pt x="142503" y="263575"/>
                  <a:pt x="131192" y="263575"/>
                  <a:pt x="124271" y="256580"/>
                </a:cubicBezTo>
                <a:cubicBezTo>
                  <a:pt x="117351" y="249585"/>
                  <a:pt x="117277" y="238274"/>
                  <a:pt x="124271" y="231353"/>
                </a:cubicBezTo>
                <a:lnTo>
                  <a:pt x="165199" y="190426"/>
                </a:lnTo>
                <a:lnTo>
                  <a:pt x="124271" y="149498"/>
                </a:lnTo>
                <a:cubicBezTo>
                  <a:pt x="117277" y="142503"/>
                  <a:pt x="117277" y="131192"/>
                  <a:pt x="124271" y="124271"/>
                </a:cubicBezTo>
                <a:close/>
              </a:path>
            </a:pathLst>
          </a:custGeom>
          <a:solidFill>
            <a:srgbClr val="E53E3E"/>
          </a:solidFill>
          <a:ln/>
        </p:spPr>
      </p:sp>
      <p:sp>
        <p:nvSpPr>
          <p:cNvPr id="6" name="Text 4"/>
          <p:cNvSpPr/>
          <p:nvPr/>
        </p:nvSpPr>
        <p:spPr>
          <a:xfrm>
            <a:off x="2095500" y="2057400"/>
            <a:ext cx="55245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C530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Modifying External Variables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095500" y="2476500"/>
            <a:ext cx="55245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Variables must be </a:t>
            </a:r>
            <a:pPr algn="l">
              <a:lnSpc>
                <a:spcPct val="150000"/>
              </a:lnSpc>
            </a:pPr>
            <a:r>
              <a:rPr lang="en-US" sz="14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effectively final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 Use atomic wrappers or collect results instead.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382000" y="1905000"/>
            <a:ext cx="6604000" cy="1333500"/>
          </a:xfrm>
          <a:prstGeom prst="roundRect">
            <a:avLst>
              <a:gd name="adj" fmla="val 8000"/>
            </a:avLst>
          </a:prstGeom>
          <a:solidFill>
            <a:srgbClr val="FFF5F5"/>
          </a:solidFill>
          <a:ln w="12700">
            <a:solidFill>
              <a:srgbClr val="FFCC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36000" y="2159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381000"/>
                </a:moveTo>
                <a:cubicBezTo>
                  <a:pt x="295640" y="381000"/>
                  <a:pt x="381000" y="295640"/>
                  <a:pt x="381000" y="190500"/>
                </a:cubicBezTo>
                <a:cubicBezTo>
                  <a:pt x="381000" y="85360"/>
                  <a:pt x="295640" y="0"/>
                  <a:pt x="190500" y="0"/>
                </a:cubicBezTo>
                <a:cubicBezTo>
                  <a:pt x="85360" y="0"/>
                  <a:pt x="0" y="85360"/>
                  <a:pt x="0" y="190500"/>
                </a:cubicBezTo>
                <a:cubicBezTo>
                  <a:pt x="0" y="295640"/>
                  <a:pt x="85360" y="381000"/>
                  <a:pt x="190500" y="381000"/>
                </a:cubicBezTo>
                <a:close/>
                <a:moveTo>
                  <a:pt x="124271" y="124271"/>
                </a:moveTo>
                <a:cubicBezTo>
                  <a:pt x="131266" y="117277"/>
                  <a:pt x="142577" y="117277"/>
                  <a:pt x="149498" y="124271"/>
                </a:cubicBezTo>
                <a:lnTo>
                  <a:pt x="190426" y="165199"/>
                </a:lnTo>
                <a:lnTo>
                  <a:pt x="231353" y="124271"/>
                </a:lnTo>
                <a:cubicBezTo>
                  <a:pt x="238348" y="117277"/>
                  <a:pt x="249659" y="117277"/>
                  <a:pt x="256580" y="124271"/>
                </a:cubicBezTo>
                <a:cubicBezTo>
                  <a:pt x="263500" y="131266"/>
                  <a:pt x="263575" y="142577"/>
                  <a:pt x="256580" y="149498"/>
                </a:cubicBezTo>
                <a:lnTo>
                  <a:pt x="215652" y="190426"/>
                </a:lnTo>
                <a:lnTo>
                  <a:pt x="256580" y="231353"/>
                </a:lnTo>
                <a:cubicBezTo>
                  <a:pt x="263575" y="238348"/>
                  <a:pt x="263575" y="249659"/>
                  <a:pt x="256580" y="256580"/>
                </a:cubicBezTo>
                <a:cubicBezTo>
                  <a:pt x="249585" y="263500"/>
                  <a:pt x="238274" y="263575"/>
                  <a:pt x="231353" y="256580"/>
                </a:cubicBezTo>
                <a:lnTo>
                  <a:pt x="190426" y="215652"/>
                </a:lnTo>
                <a:lnTo>
                  <a:pt x="149498" y="256580"/>
                </a:lnTo>
                <a:cubicBezTo>
                  <a:pt x="142503" y="263575"/>
                  <a:pt x="131192" y="263575"/>
                  <a:pt x="124271" y="256580"/>
                </a:cubicBezTo>
                <a:cubicBezTo>
                  <a:pt x="117351" y="249585"/>
                  <a:pt x="117277" y="238274"/>
                  <a:pt x="124271" y="231353"/>
                </a:cubicBezTo>
                <a:lnTo>
                  <a:pt x="165199" y="190426"/>
                </a:lnTo>
                <a:lnTo>
                  <a:pt x="124271" y="149498"/>
                </a:lnTo>
                <a:cubicBezTo>
                  <a:pt x="117277" y="142503"/>
                  <a:pt x="117277" y="131192"/>
                  <a:pt x="124271" y="124271"/>
                </a:cubicBezTo>
                <a:close/>
              </a:path>
            </a:pathLst>
          </a:custGeom>
          <a:solidFill>
            <a:srgbClr val="E53E3E"/>
          </a:solidFill>
          <a:ln/>
        </p:spPr>
      </p:sp>
      <p:sp>
        <p:nvSpPr>
          <p:cNvPr id="10" name="Text 8"/>
          <p:cNvSpPr/>
          <p:nvPr/>
        </p:nvSpPr>
        <p:spPr>
          <a:xfrm>
            <a:off x="9207500" y="2057400"/>
            <a:ext cx="55245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C530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Overusing Streams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207500" y="2476500"/>
            <a:ext cx="55245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Not every loop needs a stream. Simple iterations may be clearer as for-each loops.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270000" y="3492500"/>
            <a:ext cx="6604000" cy="1333500"/>
          </a:xfrm>
          <a:prstGeom prst="roundRect">
            <a:avLst>
              <a:gd name="adj" fmla="val 8000"/>
            </a:avLst>
          </a:prstGeom>
          <a:solidFill>
            <a:srgbClr val="FFF5F5"/>
          </a:solidFill>
          <a:ln w="12700">
            <a:solidFill>
              <a:srgbClr val="FFCCC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24000" y="37465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381000"/>
                </a:moveTo>
                <a:cubicBezTo>
                  <a:pt x="295640" y="381000"/>
                  <a:pt x="381000" y="295640"/>
                  <a:pt x="381000" y="190500"/>
                </a:cubicBezTo>
                <a:cubicBezTo>
                  <a:pt x="381000" y="85360"/>
                  <a:pt x="295640" y="0"/>
                  <a:pt x="190500" y="0"/>
                </a:cubicBezTo>
                <a:cubicBezTo>
                  <a:pt x="85360" y="0"/>
                  <a:pt x="0" y="85360"/>
                  <a:pt x="0" y="190500"/>
                </a:cubicBezTo>
                <a:cubicBezTo>
                  <a:pt x="0" y="295640"/>
                  <a:pt x="85360" y="381000"/>
                  <a:pt x="190500" y="381000"/>
                </a:cubicBezTo>
                <a:close/>
                <a:moveTo>
                  <a:pt x="124271" y="124271"/>
                </a:moveTo>
                <a:cubicBezTo>
                  <a:pt x="131266" y="117277"/>
                  <a:pt x="142577" y="117277"/>
                  <a:pt x="149498" y="124271"/>
                </a:cubicBezTo>
                <a:lnTo>
                  <a:pt x="190426" y="165199"/>
                </a:lnTo>
                <a:lnTo>
                  <a:pt x="231353" y="124271"/>
                </a:lnTo>
                <a:cubicBezTo>
                  <a:pt x="238348" y="117277"/>
                  <a:pt x="249659" y="117277"/>
                  <a:pt x="256580" y="124271"/>
                </a:cubicBezTo>
                <a:cubicBezTo>
                  <a:pt x="263500" y="131266"/>
                  <a:pt x="263575" y="142577"/>
                  <a:pt x="256580" y="149498"/>
                </a:cubicBezTo>
                <a:lnTo>
                  <a:pt x="215652" y="190426"/>
                </a:lnTo>
                <a:lnTo>
                  <a:pt x="256580" y="231353"/>
                </a:lnTo>
                <a:cubicBezTo>
                  <a:pt x="263575" y="238348"/>
                  <a:pt x="263575" y="249659"/>
                  <a:pt x="256580" y="256580"/>
                </a:cubicBezTo>
                <a:cubicBezTo>
                  <a:pt x="249585" y="263500"/>
                  <a:pt x="238274" y="263575"/>
                  <a:pt x="231353" y="256580"/>
                </a:cubicBezTo>
                <a:lnTo>
                  <a:pt x="190426" y="215652"/>
                </a:lnTo>
                <a:lnTo>
                  <a:pt x="149498" y="256580"/>
                </a:lnTo>
                <a:cubicBezTo>
                  <a:pt x="142503" y="263575"/>
                  <a:pt x="131192" y="263575"/>
                  <a:pt x="124271" y="256580"/>
                </a:cubicBezTo>
                <a:cubicBezTo>
                  <a:pt x="117351" y="249585"/>
                  <a:pt x="117277" y="238274"/>
                  <a:pt x="124271" y="231353"/>
                </a:cubicBezTo>
                <a:lnTo>
                  <a:pt x="165199" y="190426"/>
                </a:lnTo>
                <a:lnTo>
                  <a:pt x="124271" y="149498"/>
                </a:lnTo>
                <a:cubicBezTo>
                  <a:pt x="117277" y="142503"/>
                  <a:pt x="117277" y="131192"/>
                  <a:pt x="124271" y="124271"/>
                </a:cubicBezTo>
                <a:close/>
              </a:path>
            </a:pathLst>
          </a:custGeom>
          <a:solidFill>
            <a:srgbClr val="E53E3E"/>
          </a:solidFill>
          <a:ln/>
        </p:spPr>
      </p:sp>
      <p:sp>
        <p:nvSpPr>
          <p:cNvPr id="14" name="Text 12"/>
          <p:cNvSpPr/>
          <p:nvPr/>
        </p:nvSpPr>
        <p:spPr>
          <a:xfrm>
            <a:off x="2095500" y="3644900"/>
            <a:ext cx="55245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C530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Parallel Streams on Small Data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095500" y="4064000"/>
            <a:ext cx="55245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Parallel overhead exceeds benefit for small datasets. Use only for &gt;10K elements.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382000" y="3492500"/>
            <a:ext cx="6604000" cy="1333500"/>
          </a:xfrm>
          <a:prstGeom prst="roundRect">
            <a:avLst>
              <a:gd name="adj" fmla="val 8000"/>
            </a:avLst>
          </a:prstGeom>
          <a:solidFill>
            <a:srgbClr val="FFF5F5"/>
          </a:solidFill>
          <a:ln w="12700">
            <a:solidFill>
              <a:srgbClr val="FFCCC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36000" y="37465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381000"/>
                </a:moveTo>
                <a:cubicBezTo>
                  <a:pt x="295640" y="381000"/>
                  <a:pt x="381000" y="295640"/>
                  <a:pt x="381000" y="190500"/>
                </a:cubicBezTo>
                <a:cubicBezTo>
                  <a:pt x="381000" y="85360"/>
                  <a:pt x="295640" y="0"/>
                  <a:pt x="190500" y="0"/>
                </a:cubicBezTo>
                <a:cubicBezTo>
                  <a:pt x="85360" y="0"/>
                  <a:pt x="0" y="85360"/>
                  <a:pt x="0" y="190500"/>
                </a:cubicBezTo>
                <a:cubicBezTo>
                  <a:pt x="0" y="295640"/>
                  <a:pt x="85360" y="381000"/>
                  <a:pt x="190500" y="381000"/>
                </a:cubicBezTo>
                <a:close/>
                <a:moveTo>
                  <a:pt x="124271" y="124271"/>
                </a:moveTo>
                <a:cubicBezTo>
                  <a:pt x="131266" y="117277"/>
                  <a:pt x="142577" y="117277"/>
                  <a:pt x="149498" y="124271"/>
                </a:cubicBezTo>
                <a:lnTo>
                  <a:pt x="190426" y="165199"/>
                </a:lnTo>
                <a:lnTo>
                  <a:pt x="231353" y="124271"/>
                </a:lnTo>
                <a:cubicBezTo>
                  <a:pt x="238348" y="117277"/>
                  <a:pt x="249659" y="117277"/>
                  <a:pt x="256580" y="124271"/>
                </a:cubicBezTo>
                <a:cubicBezTo>
                  <a:pt x="263500" y="131266"/>
                  <a:pt x="263575" y="142577"/>
                  <a:pt x="256580" y="149498"/>
                </a:cubicBezTo>
                <a:lnTo>
                  <a:pt x="215652" y="190426"/>
                </a:lnTo>
                <a:lnTo>
                  <a:pt x="256580" y="231353"/>
                </a:lnTo>
                <a:cubicBezTo>
                  <a:pt x="263575" y="238348"/>
                  <a:pt x="263575" y="249659"/>
                  <a:pt x="256580" y="256580"/>
                </a:cubicBezTo>
                <a:cubicBezTo>
                  <a:pt x="249585" y="263500"/>
                  <a:pt x="238274" y="263575"/>
                  <a:pt x="231353" y="256580"/>
                </a:cubicBezTo>
                <a:lnTo>
                  <a:pt x="190426" y="215652"/>
                </a:lnTo>
                <a:lnTo>
                  <a:pt x="149498" y="256580"/>
                </a:lnTo>
                <a:cubicBezTo>
                  <a:pt x="142503" y="263575"/>
                  <a:pt x="131192" y="263575"/>
                  <a:pt x="124271" y="256580"/>
                </a:cubicBezTo>
                <a:cubicBezTo>
                  <a:pt x="117351" y="249585"/>
                  <a:pt x="117277" y="238274"/>
                  <a:pt x="124271" y="231353"/>
                </a:cubicBezTo>
                <a:lnTo>
                  <a:pt x="165199" y="190426"/>
                </a:lnTo>
                <a:lnTo>
                  <a:pt x="124271" y="149498"/>
                </a:lnTo>
                <a:cubicBezTo>
                  <a:pt x="117277" y="142503"/>
                  <a:pt x="117277" y="131192"/>
                  <a:pt x="124271" y="124271"/>
                </a:cubicBezTo>
                <a:close/>
              </a:path>
            </a:pathLst>
          </a:custGeom>
          <a:solidFill>
            <a:srgbClr val="E53E3E"/>
          </a:solidFill>
          <a:ln/>
        </p:spPr>
      </p:sp>
      <p:sp>
        <p:nvSpPr>
          <p:cNvPr id="18" name="Text 16"/>
          <p:cNvSpPr/>
          <p:nvPr/>
        </p:nvSpPr>
        <p:spPr>
          <a:xfrm>
            <a:off x="9207500" y="3644900"/>
            <a:ext cx="55245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C530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Nested Complex Lambdas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207500" y="4064000"/>
            <a:ext cx="55245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Deeply nested lambdas are hard to read and debug. Extract to named methods.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1270000" y="5080000"/>
            <a:ext cx="6604000" cy="1333500"/>
          </a:xfrm>
          <a:prstGeom prst="roundRect">
            <a:avLst>
              <a:gd name="adj" fmla="val 8000"/>
            </a:avLst>
          </a:prstGeom>
          <a:solidFill>
            <a:srgbClr val="FFF5F5"/>
          </a:solidFill>
          <a:ln w="12700">
            <a:solidFill>
              <a:srgbClr val="FFCCC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524000" y="5334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381000"/>
                </a:moveTo>
                <a:cubicBezTo>
                  <a:pt x="295640" y="381000"/>
                  <a:pt x="381000" y="295640"/>
                  <a:pt x="381000" y="190500"/>
                </a:cubicBezTo>
                <a:cubicBezTo>
                  <a:pt x="381000" y="85360"/>
                  <a:pt x="295640" y="0"/>
                  <a:pt x="190500" y="0"/>
                </a:cubicBezTo>
                <a:cubicBezTo>
                  <a:pt x="85360" y="0"/>
                  <a:pt x="0" y="85360"/>
                  <a:pt x="0" y="190500"/>
                </a:cubicBezTo>
                <a:cubicBezTo>
                  <a:pt x="0" y="295640"/>
                  <a:pt x="85360" y="381000"/>
                  <a:pt x="190500" y="381000"/>
                </a:cubicBezTo>
                <a:close/>
                <a:moveTo>
                  <a:pt x="124271" y="124271"/>
                </a:moveTo>
                <a:cubicBezTo>
                  <a:pt x="131266" y="117277"/>
                  <a:pt x="142577" y="117277"/>
                  <a:pt x="149498" y="124271"/>
                </a:cubicBezTo>
                <a:lnTo>
                  <a:pt x="190426" y="165199"/>
                </a:lnTo>
                <a:lnTo>
                  <a:pt x="231353" y="124271"/>
                </a:lnTo>
                <a:cubicBezTo>
                  <a:pt x="238348" y="117277"/>
                  <a:pt x="249659" y="117277"/>
                  <a:pt x="256580" y="124271"/>
                </a:cubicBezTo>
                <a:cubicBezTo>
                  <a:pt x="263500" y="131266"/>
                  <a:pt x="263575" y="142577"/>
                  <a:pt x="256580" y="149498"/>
                </a:cubicBezTo>
                <a:lnTo>
                  <a:pt x="215652" y="190426"/>
                </a:lnTo>
                <a:lnTo>
                  <a:pt x="256580" y="231353"/>
                </a:lnTo>
                <a:cubicBezTo>
                  <a:pt x="263575" y="238348"/>
                  <a:pt x="263575" y="249659"/>
                  <a:pt x="256580" y="256580"/>
                </a:cubicBezTo>
                <a:cubicBezTo>
                  <a:pt x="249585" y="263500"/>
                  <a:pt x="238274" y="263575"/>
                  <a:pt x="231353" y="256580"/>
                </a:cubicBezTo>
                <a:lnTo>
                  <a:pt x="190426" y="215652"/>
                </a:lnTo>
                <a:lnTo>
                  <a:pt x="149498" y="256580"/>
                </a:lnTo>
                <a:cubicBezTo>
                  <a:pt x="142503" y="263575"/>
                  <a:pt x="131192" y="263575"/>
                  <a:pt x="124271" y="256580"/>
                </a:cubicBezTo>
                <a:cubicBezTo>
                  <a:pt x="117351" y="249585"/>
                  <a:pt x="117277" y="238274"/>
                  <a:pt x="124271" y="231353"/>
                </a:cubicBezTo>
                <a:lnTo>
                  <a:pt x="165199" y="190426"/>
                </a:lnTo>
                <a:lnTo>
                  <a:pt x="124271" y="149498"/>
                </a:lnTo>
                <a:cubicBezTo>
                  <a:pt x="117277" y="142503"/>
                  <a:pt x="117277" y="131192"/>
                  <a:pt x="124271" y="124271"/>
                </a:cubicBezTo>
                <a:close/>
              </a:path>
            </a:pathLst>
          </a:custGeom>
          <a:solidFill>
            <a:srgbClr val="E53E3E"/>
          </a:solidFill>
          <a:ln/>
        </p:spPr>
      </p:sp>
      <p:sp>
        <p:nvSpPr>
          <p:cNvPr id="22" name="Text 20"/>
          <p:cNvSpPr/>
          <p:nvPr/>
        </p:nvSpPr>
        <p:spPr>
          <a:xfrm>
            <a:off x="2095500" y="5232400"/>
            <a:ext cx="55245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C530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Consuming Stream Twice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2095500" y="5651500"/>
            <a:ext cx="55245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Streams can only be consumed once. Reuse requires creating a new stream.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382000" y="5080000"/>
            <a:ext cx="6604000" cy="1333500"/>
          </a:xfrm>
          <a:prstGeom prst="roundRect">
            <a:avLst>
              <a:gd name="adj" fmla="val 8000"/>
            </a:avLst>
          </a:prstGeom>
          <a:solidFill>
            <a:srgbClr val="FFF5F5"/>
          </a:solidFill>
          <a:ln w="12700">
            <a:solidFill>
              <a:srgbClr val="FFCCC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636000" y="5334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381000"/>
                </a:moveTo>
                <a:cubicBezTo>
                  <a:pt x="295640" y="381000"/>
                  <a:pt x="381000" y="295640"/>
                  <a:pt x="381000" y="190500"/>
                </a:cubicBezTo>
                <a:cubicBezTo>
                  <a:pt x="381000" y="85360"/>
                  <a:pt x="295640" y="0"/>
                  <a:pt x="190500" y="0"/>
                </a:cubicBezTo>
                <a:cubicBezTo>
                  <a:pt x="85360" y="0"/>
                  <a:pt x="0" y="85360"/>
                  <a:pt x="0" y="190500"/>
                </a:cubicBezTo>
                <a:cubicBezTo>
                  <a:pt x="0" y="295640"/>
                  <a:pt x="85360" y="381000"/>
                  <a:pt x="190500" y="381000"/>
                </a:cubicBezTo>
                <a:close/>
                <a:moveTo>
                  <a:pt x="124271" y="124271"/>
                </a:moveTo>
                <a:cubicBezTo>
                  <a:pt x="131266" y="117277"/>
                  <a:pt x="142577" y="117277"/>
                  <a:pt x="149498" y="124271"/>
                </a:cubicBezTo>
                <a:lnTo>
                  <a:pt x="190426" y="165199"/>
                </a:lnTo>
                <a:lnTo>
                  <a:pt x="231353" y="124271"/>
                </a:lnTo>
                <a:cubicBezTo>
                  <a:pt x="238348" y="117277"/>
                  <a:pt x="249659" y="117277"/>
                  <a:pt x="256580" y="124271"/>
                </a:cubicBezTo>
                <a:cubicBezTo>
                  <a:pt x="263500" y="131266"/>
                  <a:pt x="263575" y="142577"/>
                  <a:pt x="256580" y="149498"/>
                </a:cubicBezTo>
                <a:lnTo>
                  <a:pt x="215652" y="190426"/>
                </a:lnTo>
                <a:lnTo>
                  <a:pt x="256580" y="231353"/>
                </a:lnTo>
                <a:cubicBezTo>
                  <a:pt x="263575" y="238348"/>
                  <a:pt x="263575" y="249659"/>
                  <a:pt x="256580" y="256580"/>
                </a:cubicBezTo>
                <a:cubicBezTo>
                  <a:pt x="249585" y="263500"/>
                  <a:pt x="238274" y="263575"/>
                  <a:pt x="231353" y="256580"/>
                </a:cubicBezTo>
                <a:lnTo>
                  <a:pt x="190426" y="215652"/>
                </a:lnTo>
                <a:lnTo>
                  <a:pt x="149498" y="256580"/>
                </a:lnTo>
                <a:cubicBezTo>
                  <a:pt x="142503" y="263575"/>
                  <a:pt x="131192" y="263575"/>
                  <a:pt x="124271" y="256580"/>
                </a:cubicBezTo>
                <a:cubicBezTo>
                  <a:pt x="117351" y="249585"/>
                  <a:pt x="117277" y="238274"/>
                  <a:pt x="124271" y="231353"/>
                </a:cubicBezTo>
                <a:lnTo>
                  <a:pt x="165199" y="190426"/>
                </a:lnTo>
                <a:lnTo>
                  <a:pt x="124271" y="149498"/>
                </a:lnTo>
                <a:cubicBezTo>
                  <a:pt x="117277" y="142503"/>
                  <a:pt x="117277" y="131192"/>
                  <a:pt x="124271" y="124271"/>
                </a:cubicBezTo>
                <a:close/>
              </a:path>
            </a:pathLst>
          </a:custGeom>
          <a:solidFill>
            <a:srgbClr val="E53E3E"/>
          </a:solidFill>
          <a:ln/>
        </p:spPr>
      </p:sp>
      <p:sp>
        <p:nvSpPr>
          <p:cNvPr id="26" name="Text 24"/>
          <p:cNvSpPr/>
          <p:nvPr/>
        </p:nvSpPr>
        <p:spPr>
          <a:xfrm>
            <a:off x="9207500" y="5232400"/>
            <a:ext cx="55245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C530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Ignoring Optional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207500" y="5651500"/>
            <a:ext cx="55245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5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Always handle Optional — use orElse(), orElseThrow(), or ifPresent().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1270000" y="6794500"/>
            <a:ext cx="13716000" cy="1016000"/>
          </a:xfrm>
          <a:prstGeom prst="roundRect">
            <a:avLst>
              <a:gd name="adj" fmla="val 8000"/>
            </a:avLst>
          </a:prstGeom>
          <a:solidFill>
            <a:srgbClr val="F0F4F8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587500" y="7048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48734" y="342900"/>
                </a:moveTo>
                <a:cubicBezTo>
                  <a:pt x="357426" y="322987"/>
                  <a:pt x="374809" y="304949"/>
                  <a:pt x="394454" y="289411"/>
                </a:cubicBezTo>
                <a:cubicBezTo>
                  <a:pt x="433387" y="258693"/>
                  <a:pt x="457200" y="217170"/>
                  <a:pt x="457200" y="171450"/>
                </a:cubicBezTo>
                <a:cubicBezTo>
                  <a:pt x="457200" y="76795"/>
                  <a:pt x="354806" y="0"/>
                  <a:pt x="228600" y="0"/>
                </a:cubicBezTo>
                <a:cubicBezTo>
                  <a:pt x="102394" y="0"/>
                  <a:pt x="0" y="76795"/>
                  <a:pt x="0" y="171450"/>
                </a:cubicBezTo>
                <a:cubicBezTo>
                  <a:pt x="0" y="217170"/>
                  <a:pt x="23813" y="258693"/>
                  <a:pt x="62746" y="289411"/>
                </a:cubicBezTo>
                <a:cubicBezTo>
                  <a:pt x="82391" y="304949"/>
                  <a:pt x="99893" y="322987"/>
                  <a:pt x="108466" y="342900"/>
                </a:cubicBezTo>
                <a:lnTo>
                  <a:pt x="348615" y="342900"/>
                </a:lnTo>
                <a:close/>
                <a:moveTo>
                  <a:pt x="342900" y="385763"/>
                </a:moveTo>
                <a:lnTo>
                  <a:pt x="114300" y="385763"/>
                </a:lnTo>
                <a:lnTo>
                  <a:pt x="114300" y="400050"/>
                </a:lnTo>
                <a:cubicBezTo>
                  <a:pt x="114300" y="439519"/>
                  <a:pt x="156924" y="471488"/>
                  <a:pt x="209550" y="471488"/>
                </a:cubicBezTo>
                <a:lnTo>
                  <a:pt x="247650" y="471488"/>
                </a:lnTo>
                <a:cubicBezTo>
                  <a:pt x="300276" y="471488"/>
                  <a:pt x="342900" y="439519"/>
                  <a:pt x="342900" y="400050"/>
                </a:cubicBezTo>
                <a:lnTo>
                  <a:pt x="342900" y="385763"/>
                </a:lnTo>
                <a:close/>
                <a:moveTo>
                  <a:pt x="219075" y="100013"/>
                </a:moveTo>
                <a:cubicBezTo>
                  <a:pt x="171688" y="100013"/>
                  <a:pt x="133350" y="128766"/>
                  <a:pt x="133350" y="164306"/>
                </a:cubicBezTo>
                <a:cubicBezTo>
                  <a:pt x="133350" y="176183"/>
                  <a:pt x="120610" y="185738"/>
                  <a:pt x="104775" y="185738"/>
                </a:cubicBezTo>
                <a:cubicBezTo>
                  <a:pt x="88940" y="185738"/>
                  <a:pt x="76200" y="176183"/>
                  <a:pt x="76200" y="164306"/>
                </a:cubicBezTo>
                <a:cubicBezTo>
                  <a:pt x="76200" y="105102"/>
                  <a:pt x="140137" y="57150"/>
                  <a:pt x="219075" y="57150"/>
                </a:cubicBezTo>
                <a:cubicBezTo>
                  <a:pt x="234910" y="57150"/>
                  <a:pt x="247650" y="66705"/>
                  <a:pt x="247650" y="78581"/>
                </a:cubicBezTo>
                <a:cubicBezTo>
                  <a:pt x="247650" y="90458"/>
                  <a:pt x="234910" y="100013"/>
                  <a:pt x="219075" y="100013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30" name="Text 28"/>
          <p:cNvSpPr/>
          <p:nvPr/>
        </p:nvSpPr>
        <p:spPr>
          <a:xfrm>
            <a:off x="2222500" y="6921500"/>
            <a:ext cx="12446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7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 Tip:</a:t>
            </a:r>
            <a:pPr algn="l">
              <a:lnSpc>
                <a:spcPct val="140000"/>
              </a:lnSpc>
            </a:pPr>
            <a:r>
              <a:rPr lang="en-US" sz="17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If a lambda exceeds 3 lines or has nested logic, extract it into a </a:t>
            </a:r>
            <a:pPr algn="l">
              <a:lnSpc>
                <a:spcPct val="140000"/>
              </a:lnSpc>
            </a:pPr>
            <a:r>
              <a:rPr lang="en-US" sz="17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named method</a:t>
            </a:r>
            <a:pPr algn="l">
              <a:lnSpc>
                <a:spcPct val="140000"/>
              </a:lnSpc>
            </a:pPr>
            <a:r>
              <a:rPr lang="en-US" sz="17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and use a method reference. Readability always wins.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21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Lambda vs Traditional — Side by Side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70000" y="1905000"/>
          <a:ext cx="13716000" cy="4318000"/>
        </p:xfrm>
        <a:graphic>
          <a:graphicData uri="http://schemas.openxmlformats.org/drawingml/2006/table">
            <a:tbl>
              <a:tblPr/>
              <a:tblGrid>
                <a:gridCol w="3017520"/>
                <a:gridCol w="5349240"/>
                <a:gridCol w="5349240"/>
              </a:tblGrid>
              <a:tr h="53975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Metric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Traditional Approach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Lambda + Stream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</a:tr>
              <a:tr h="53975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Code Length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5-10 lines (anonymous class)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1-2 lines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53975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Readability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Medium — verbose, boilerplate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High — intent is clear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53975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Debugging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Easier — named methods, clear stack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Harder — cryptic stack traces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</a:tr>
              <a:tr h="53975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Reusability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High — named, reusable methods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Low — inline, less reusable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</a:tr>
              <a:tr h="53975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Performance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Similar — JVM optimizes both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Similar — JVM optimizes both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53975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Learning Curve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Low — familiar OOP pattern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Medium — requires FP concepts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</a:tr>
              <a:tr h="53975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Parallelism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Complex — manual thread mgmt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Easy — .parallelStream()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1270000" y="6604000"/>
            <a:ext cx="13716000" cy="1270000"/>
          </a:xfrm>
          <a:prstGeom prst="roundRect">
            <a:avLst>
              <a:gd name="adj" fmla="val 8000"/>
            </a:avLst>
          </a:prstGeom>
          <a:gradFill rotWithShape="1" flip="none">
            <a:gsLst>
              <a:gs pos="0">
                <a:srgbClr val="2E5E8A"/>
              </a:gs>
              <a:gs pos="100000">
                <a:srgbClr val="2E5E8A">
                  <a:alpha val="80000"/>
                </a:srgbClr>
              </a:gs>
            </a:gsLst>
            <a:lin ang="0" scaled="1"/>
          </a:gradFill>
          <a:ln/>
        </p:spPr>
      </p:sp>
      <p:sp>
        <p:nvSpPr>
          <p:cNvPr id="6" name="Shape 3"/>
          <p:cNvSpPr/>
          <p:nvPr/>
        </p:nvSpPr>
        <p:spPr>
          <a:xfrm>
            <a:off x="1651000" y="6858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304800" y="31750"/>
                </a:moveTo>
                <a:lnTo>
                  <a:pt x="406400" y="31750"/>
                </a:lnTo>
                <a:cubicBezTo>
                  <a:pt x="420449" y="31750"/>
                  <a:pt x="431800" y="45938"/>
                  <a:pt x="431800" y="63500"/>
                </a:cubicBezTo>
                <a:cubicBezTo>
                  <a:pt x="431800" y="81062"/>
                  <a:pt x="420449" y="95250"/>
                  <a:pt x="406400" y="95250"/>
                </a:cubicBezTo>
                <a:lnTo>
                  <a:pt x="316230" y="95250"/>
                </a:lnTo>
                <a:cubicBezTo>
                  <a:pt x="312103" y="120848"/>
                  <a:pt x="298053" y="141982"/>
                  <a:pt x="279400" y="152102"/>
                </a:cubicBezTo>
                <a:lnTo>
                  <a:pt x="279400" y="444500"/>
                </a:lnTo>
                <a:lnTo>
                  <a:pt x="406400" y="444500"/>
                </a:lnTo>
                <a:cubicBezTo>
                  <a:pt x="420449" y="444500"/>
                  <a:pt x="431800" y="458688"/>
                  <a:pt x="431800" y="476250"/>
                </a:cubicBezTo>
                <a:cubicBezTo>
                  <a:pt x="431800" y="493812"/>
                  <a:pt x="420449" y="508000"/>
                  <a:pt x="406400" y="508000"/>
                </a:cubicBezTo>
                <a:lnTo>
                  <a:pt x="101600" y="508000"/>
                </a:lnTo>
                <a:cubicBezTo>
                  <a:pt x="87551" y="508000"/>
                  <a:pt x="76200" y="493812"/>
                  <a:pt x="76200" y="476250"/>
                </a:cubicBezTo>
                <a:cubicBezTo>
                  <a:pt x="76200" y="458688"/>
                  <a:pt x="87551" y="444500"/>
                  <a:pt x="101600" y="444500"/>
                </a:cubicBezTo>
                <a:lnTo>
                  <a:pt x="228600" y="444500"/>
                </a:lnTo>
                <a:lnTo>
                  <a:pt x="228600" y="152102"/>
                </a:lnTo>
                <a:cubicBezTo>
                  <a:pt x="209947" y="141883"/>
                  <a:pt x="195898" y="120749"/>
                  <a:pt x="191770" y="95250"/>
                </a:cubicBezTo>
                <a:lnTo>
                  <a:pt x="101600" y="95250"/>
                </a:lnTo>
                <a:cubicBezTo>
                  <a:pt x="87551" y="95250"/>
                  <a:pt x="76200" y="81062"/>
                  <a:pt x="76200" y="63500"/>
                </a:cubicBezTo>
                <a:cubicBezTo>
                  <a:pt x="76200" y="45938"/>
                  <a:pt x="87551" y="31750"/>
                  <a:pt x="101600" y="31750"/>
                </a:cubicBezTo>
                <a:lnTo>
                  <a:pt x="203200" y="31750"/>
                </a:lnTo>
                <a:cubicBezTo>
                  <a:pt x="214789" y="12502"/>
                  <a:pt x="233204" y="0"/>
                  <a:pt x="254000" y="0"/>
                </a:cubicBezTo>
                <a:cubicBezTo>
                  <a:pt x="274796" y="0"/>
                  <a:pt x="293211" y="12502"/>
                  <a:pt x="304800" y="31750"/>
                </a:cubicBezTo>
                <a:close/>
                <a:moveTo>
                  <a:pt x="348933" y="317500"/>
                </a:moveTo>
                <a:lnTo>
                  <a:pt x="463868" y="317500"/>
                </a:lnTo>
                <a:lnTo>
                  <a:pt x="406400" y="194270"/>
                </a:lnTo>
                <a:lnTo>
                  <a:pt x="348933" y="317500"/>
                </a:lnTo>
                <a:close/>
                <a:moveTo>
                  <a:pt x="406400" y="412750"/>
                </a:moveTo>
                <a:cubicBezTo>
                  <a:pt x="356473" y="412750"/>
                  <a:pt x="314960" y="379016"/>
                  <a:pt x="306388" y="334466"/>
                </a:cubicBezTo>
                <a:cubicBezTo>
                  <a:pt x="304324" y="323552"/>
                  <a:pt x="307181" y="312341"/>
                  <a:pt x="311706" y="302617"/>
                </a:cubicBezTo>
                <a:lnTo>
                  <a:pt x="387271" y="140692"/>
                </a:lnTo>
                <a:cubicBezTo>
                  <a:pt x="391239" y="132159"/>
                  <a:pt x="398542" y="127000"/>
                  <a:pt x="406400" y="127000"/>
                </a:cubicBezTo>
                <a:cubicBezTo>
                  <a:pt x="414258" y="127000"/>
                  <a:pt x="421561" y="132259"/>
                  <a:pt x="425529" y="140692"/>
                </a:cubicBezTo>
                <a:lnTo>
                  <a:pt x="501094" y="302617"/>
                </a:lnTo>
                <a:cubicBezTo>
                  <a:pt x="505619" y="312341"/>
                  <a:pt x="508476" y="323552"/>
                  <a:pt x="506413" y="334466"/>
                </a:cubicBezTo>
                <a:cubicBezTo>
                  <a:pt x="497840" y="378916"/>
                  <a:pt x="456327" y="412750"/>
                  <a:pt x="406400" y="412750"/>
                </a:cubicBezTo>
                <a:close/>
                <a:moveTo>
                  <a:pt x="100648" y="194270"/>
                </a:moveTo>
                <a:lnTo>
                  <a:pt x="43180" y="317500"/>
                </a:lnTo>
                <a:lnTo>
                  <a:pt x="158194" y="317500"/>
                </a:lnTo>
                <a:lnTo>
                  <a:pt x="100648" y="194270"/>
                </a:lnTo>
                <a:close/>
                <a:moveTo>
                  <a:pt x="714" y="334466"/>
                </a:moveTo>
                <a:cubicBezTo>
                  <a:pt x="-1349" y="323552"/>
                  <a:pt x="1508" y="312341"/>
                  <a:pt x="6033" y="302617"/>
                </a:cubicBezTo>
                <a:lnTo>
                  <a:pt x="81598" y="140692"/>
                </a:lnTo>
                <a:cubicBezTo>
                  <a:pt x="85566" y="132159"/>
                  <a:pt x="92869" y="127000"/>
                  <a:pt x="100727" y="127000"/>
                </a:cubicBezTo>
                <a:cubicBezTo>
                  <a:pt x="108585" y="127000"/>
                  <a:pt x="115888" y="132259"/>
                  <a:pt x="119856" y="140692"/>
                </a:cubicBezTo>
                <a:lnTo>
                  <a:pt x="195421" y="302617"/>
                </a:lnTo>
                <a:cubicBezTo>
                  <a:pt x="199946" y="312341"/>
                  <a:pt x="202803" y="323552"/>
                  <a:pt x="200739" y="334466"/>
                </a:cubicBezTo>
                <a:cubicBezTo>
                  <a:pt x="192167" y="378916"/>
                  <a:pt x="150654" y="412750"/>
                  <a:pt x="100727" y="412750"/>
                </a:cubicBezTo>
                <a:cubicBezTo>
                  <a:pt x="50800" y="412750"/>
                  <a:pt x="9287" y="379016"/>
                  <a:pt x="714" y="33446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Text 4"/>
          <p:cNvSpPr/>
          <p:nvPr/>
        </p:nvSpPr>
        <p:spPr>
          <a:xfrm>
            <a:off x="2413000" y="6731000"/>
            <a:ext cx="1219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Verdict:</a:t>
            </a:r>
            <a:pPr algn="l">
              <a:lnSpc>
                <a:spcPct val="15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Use lambdas for simple, one-off operations (filtering, mapping, sorting). Use traditional approaches for complex logic that needs debugging, reuse, or extensive error handling.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22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Takeaways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905000"/>
            <a:ext cx="4318000" cy="2667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24000" y="2159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508000"/>
                </a:moveTo>
                <a:cubicBezTo>
                  <a:pt x="394186" y="508000"/>
                  <a:pt x="508000" y="394186"/>
                  <a:pt x="508000" y="254000"/>
                </a:cubicBezTo>
                <a:cubicBezTo>
                  <a:pt x="508000" y="113814"/>
                  <a:pt x="394186" y="0"/>
                  <a:pt x="254000" y="0"/>
                </a:cubicBezTo>
                <a:cubicBezTo>
                  <a:pt x="113814" y="0"/>
                  <a:pt x="0" y="113814"/>
                  <a:pt x="0" y="254000"/>
                </a:cubicBezTo>
                <a:cubicBezTo>
                  <a:pt x="0" y="394186"/>
                  <a:pt x="113814" y="508000"/>
                  <a:pt x="254000" y="508000"/>
                </a:cubicBezTo>
                <a:close/>
                <a:moveTo>
                  <a:pt x="337741" y="211038"/>
                </a:moveTo>
                <a:lnTo>
                  <a:pt x="258366" y="338038"/>
                </a:lnTo>
                <a:cubicBezTo>
                  <a:pt x="254198" y="344686"/>
                  <a:pt x="247055" y="348853"/>
                  <a:pt x="239216" y="349250"/>
                </a:cubicBezTo>
                <a:cubicBezTo>
                  <a:pt x="231378" y="349647"/>
                  <a:pt x="223837" y="346075"/>
                  <a:pt x="219174" y="339725"/>
                </a:cubicBezTo>
                <a:lnTo>
                  <a:pt x="171549" y="276225"/>
                </a:lnTo>
                <a:cubicBezTo>
                  <a:pt x="163612" y="265708"/>
                  <a:pt x="165795" y="250825"/>
                  <a:pt x="176312" y="242888"/>
                </a:cubicBezTo>
                <a:cubicBezTo>
                  <a:pt x="186829" y="234950"/>
                  <a:pt x="201712" y="237133"/>
                  <a:pt x="209649" y="247650"/>
                </a:cubicBezTo>
                <a:lnTo>
                  <a:pt x="236438" y="283369"/>
                </a:lnTo>
                <a:lnTo>
                  <a:pt x="297359" y="185837"/>
                </a:lnTo>
                <a:cubicBezTo>
                  <a:pt x="304304" y="174724"/>
                  <a:pt x="318988" y="171252"/>
                  <a:pt x="330200" y="178296"/>
                </a:cubicBezTo>
                <a:cubicBezTo>
                  <a:pt x="341412" y="185341"/>
                  <a:pt x="344785" y="199926"/>
                  <a:pt x="337741" y="211138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6" name="Text 4"/>
          <p:cNvSpPr/>
          <p:nvPr/>
        </p:nvSpPr>
        <p:spPr>
          <a:xfrm>
            <a:off x="1524000" y="2794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Core Concept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24000" y="3238500"/>
            <a:ext cx="3810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Lambda expressions are concise, readable anonymous functions that implement functional interfaces with a single abstract method.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69000" y="1905000"/>
            <a:ext cx="4318000" cy="2667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23000" y="2159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508000"/>
                </a:moveTo>
                <a:cubicBezTo>
                  <a:pt x="394186" y="508000"/>
                  <a:pt x="508000" y="394186"/>
                  <a:pt x="508000" y="254000"/>
                </a:cubicBezTo>
                <a:cubicBezTo>
                  <a:pt x="508000" y="113814"/>
                  <a:pt x="394186" y="0"/>
                  <a:pt x="254000" y="0"/>
                </a:cubicBezTo>
                <a:cubicBezTo>
                  <a:pt x="113814" y="0"/>
                  <a:pt x="0" y="113814"/>
                  <a:pt x="0" y="254000"/>
                </a:cubicBezTo>
                <a:cubicBezTo>
                  <a:pt x="0" y="394186"/>
                  <a:pt x="113814" y="508000"/>
                  <a:pt x="254000" y="508000"/>
                </a:cubicBezTo>
                <a:close/>
                <a:moveTo>
                  <a:pt x="337741" y="211038"/>
                </a:moveTo>
                <a:lnTo>
                  <a:pt x="258366" y="338038"/>
                </a:lnTo>
                <a:cubicBezTo>
                  <a:pt x="254198" y="344686"/>
                  <a:pt x="247055" y="348853"/>
                  <a:pt x="239216" y="349250"/>
                </a:cubicBezTo>
                <a:cubicBezTo>
                  <a:pt x="231378" y="349647"/>
                  <a:pt x="223837" y="346075"/>
                  <a:pt x="219174" y="339725"/>
                </a:cubicBezTo>
                <a:lnTo>
                  <a:pt x="171549" y="276225"/>
                </a:lnTo>
                <a:cubicBezTo>
                  <a:pt x="163612" y="265708"/>
                  <a:pt x="165795" y="250825"/>
                  <a:pt x="176312" y="242888"/>
                </a:cubicBezTo>
                <a:cubicBezTo>
                  <a:pt x="186829" y="234950"/>
                  <a:pt x="201712" y="237133"/>
                  <a:pt x="209649" y="247650"/>
                </a:cubicBezTo>
                <a:lnTo>
                  <a:pt x="236438" y="283369"/>
                </a:lnTo>
                <a:lnTo>
                  <a:pt x="297359" y="185837"/>
                </a:lnTo>
                <a:cubicBezTo>
                  <a:pt x="304304" y="174724"/>
                  <a:pt x="318988" y="171252"/>
                  <a:pt x="330200" y="178296"/>
                </a:cubicBezTo>
                <a:cubicBezTo>
                  <a:pt x="341412" y="185341"/>
                  <a:pt x="344785" y="199926"/>
                  <a:pt x="337741" y="211138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0" name="Text 8"/>
          <p:cNvSpPr/>
          <p:nvPr/>
        </p:nvSpPr>
        <p:spPr>
          <a:xfrm>
            <a:off x="6223000" y="2794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Functional Interfaces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223000" y="3238500"/>
            <a:ext cx="3810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Predicate, Function, Consumer, Supplier are the four key built-in functional interfaces. Always check java.util.function first.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668000" y="1905000"/>
            <a:ext cx="4318000" cy="2667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0922000" y="2159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508000"/>
                </a:moveTo>
                <a:cubicBezTo>
                  <a:pt x="394186" y="508000"/>
                  <a:pt x="508000" y="394186"/>
                  <a:pt x="508000" y="254000"/>
                </a:cubicBezTo>
                <a:cubicBezTo>
                  <a:pt x="508000" y="113814"/>
                  <a:pt x="394186" y="0"/>
                  <a:pt x="254000" y="0"/>
                </a:cubicBezTo>
                <a:cubicBezTo>
                  <a:pt x="113814" y="0"/>
                  <a:pt x="0" y="113814"/>
                  <a:pt x="0" y="254000"/>
                </a:cubicBezTo>
                <a:cubicBezTo>
                  <a:pt x="0" y="394186"/>
                  <a:pt x="113814" y="508000"/>
                  <a:pt x="254000" y="508000"/>
                </a:cubicBezTo>
                <a:close/>
                <a:moveTo>
                  <a:pt x="337741" y="211038"/>
                </a:moveTo>
                <a:lnTo>
                  <a:pt x="258366" y="338038"/>
                </a:lnTo>
                <a:cubicBezTo>
                  <a:pt x="254198" y="344686"/>
                  <a:pt x="247055" y="348853"/>
                  <a:pt x="239216" y="349250"/>
                </a:cubicBezTo>
                <a:cubicBezTo>
                  <a:pt x="231378" y="349647"/>
                  <a:pt x="223837" y="346075"/>
                  <a:pt x="219174" y="339725"/>
                </a:cubicBezTo>
                <a:lnTo>
                  <a:pt x="171549" y="276225"/>
                </a:lnTo>
                <a:cubicBezTo>
                  <a:pt x="163612" y="265708"/>
                  <a:pt x="165795" y="250825"/>
                  <a:pt x="176312" y="242888"/>
                </a:cubicBezTo>
                <a:cubicBezTo>
                  <a:pt x="186829" y="234950"/>
                  <a:pt x="201712" y="237133"/>
                  <a:pt x="209649" y="247650"/>
                </a:cubicBezTo>
                <a:lnTo>
                  <a:pt x="236438" y="283369"/>
                </a:lnTo>
                <a:lnTo>
                  <a:pt x="297359" y="185837"/>
                </a:lnTo>
                <a:cubicBezTo>
                  <a:pt x="304304" y="174724"/>
                  <a:pt x="318988" y="171252"/>
                  <a:pt x="330200" y="178296"/>
                </a:cubicBezTo>
                <a:cubicBezTo>
                  <a:pt x="341412" y="185341"/>
                  <a:pt x="344785" y="199926"/>
                  <a:pt x="337741" y="211138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14" name="Text 12"/>
          <p:cNvSpPr/>
          <p:nvPr/>
        </p:nvSpPr>
        <p:spPr>
          <a:xfrm>
            <a:off x="10922000" y="2794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Stream API Power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0922000" y="3238500"/>
            <a:ext cx="3810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Stream API + Lambda creates a powerful data processing pipeline. filter, map, reduce, collect are your daily tools.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270000" y="4953000"/>
            <a:ext cx="6604000" cy="1206500"/>
          </a:xfrm>
          <a:prstGeom prst="roundRect">
            <a:avLst>
              <a:gd name="adj" fmla="val 8000"/>
            </a:avLst>
          </a:prstGeom>
          <a:gradFill rotWithShape="1" flip="none">
            <a:gsLst>
              <a:gs pos="0">
                <a:srgbClr val="E8F5E9"/>
              </a:gs>
              <a:gs pos="100000">
                <a:srgbClr val="C8E6C9"/>
              </a:gs>
            </a:gsLst>
            <a:lin ang="0" scaled="1"/>
          </a:gradFill>
          <a:ln/>
        </p:spPr>
      </p:sp>
      <p:sp>
        <p:nvSpPr>
          <p:cNvPr id="17" name="Shape 15"/>
          <p:cNvSpPr/>
          <p:nvPr/>
        </p:nvSpPr>
        <p:spPr>
          <a:xfrm>
            <a:off x="1524000" y="5207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63500" y="127000"/>
                </a:moveTo>
                <a:cubicBezTo>
                  <a:pt x="77549" y="127000"/>
                  <a:pt x="88900" y="138351"/>
                  <a:pt x="88900" y="152400"/>
                </a:cubicBezTo>
                <a:lnTo>
                  <a:pt x="88900" y="355600"/>
                </a:lnTo>
                <a:cubicBezTo>
                  <a:pt x="88900" y="369649"/>
                  <a:pt x="77549" y="381000"/>
                  <a:pt x="63500" y="381000"/>
                </a:cubicBezTo>
                <a:lnTo>
                  <a:pt x="25400" y="381000"/>
                </a:lnTo>
                <a:cubicBezTo>
                  <a:pt x="11351" y="381000"/>
                  <a:pt x="0" y="369649"/>
                  <a:pt x="0" y="355600"/>
                </a:cubicBezTo>
                <a:lnTo>
                  <a:pt x="0" y="152400"/>
                </a:lnTo>
                <a:cubicBezTo>
                  <a:pt x="0" y="138351"/>
                  <a:pt x="11351" y="127000"/>
                  <a:pt x="25400" y="127000"/>
                </a:cubicBezTo>
                <a:lnTo>
                  <a:pt x="63500" y="127000"/>
                </a:lnTo>
                <a:close/>
                <a:moveTo>
                  <a:pt x="214789" y="12700"/>
                </a:moveTo>
                <a:cubicBezTo>
                  <a:pt x="236458" y="12700"/>
                  <a:pt x="254000" y="30242"/>
                  <a:pt x="254000" y="51911"/>
                </a:cubicBezTo>
                <a:lnTo>
                  <a:pt x="254000" y="55245"/>
                </a:lnTo>
                <a:cubicBezTo>
                  <a:pt x="254000" y="60643"/>
                  <a:pt x="252968" y="66040"/>
                  <a:pt x="250984" y="71041"/>
                </a:cubicBezTo>
                <a:lnTo>
                  <a:pt x="228600" y="127000"/>
                </a:lnTo>
                <a:lnTo>
                  <a:pt x="355600" y="127000"/>
                </a:lnTo>
                <a:cubicBezTo>
                  <a:pt x="376634" y="127000"/>
                  <a:pt x="393700" y="144066"/>
                  <a:pt x="393700" y="165100"/>
                </a:cubicBezTo>
                <a:cubicBezTo>
                  <a:pt x="393700" y="180737"/>
                  <a:pt x="384254" y="194151"/>
                  <a:pt x="370761" y="200025"/>
                </a:cubicBezTo>
                <a:cubicBezTo>
                  <a:pt x="384254" y="205899"/>
                  <a:pt x="393700" y="219313"/>
                  <a:pt x="393700" y="234950"/>
                </a:cubicBezTo>
                <a:cubicBezTo>
                  <a:pt x="393700" y="253524"/>
                  <a:pt x="380365" y="269002"/>
                  <a:pt x="362744" y="272336"/>
                </a:cubicBezTo>
                <a:cubicBezTo>
                  <a:pt x="366236" y="278130"/>
                  <a:pt x="368300" y="284877"/>
                  <a:pt x="368300" y="292100"/>
                </a:cubicBezTo>
                <a:cubicBezTo>
                  <a:pt x="368300" y="309721"/>
                  <a:pt x="356394" y="324485"/>
                  <a:pt x="340201" y="328851"/>
                </a:cubicBezTo>
                <a:cubicBezTo>
                  <a:pt x="341948" y="333216"/>
                  <a:pt x="342900" y="337979"/>
                  <a:pt x="342900" y="342900"/>
                </a:cubicBezTo>
                <a:cubicBezTo>
                  <a:pt x="342900" y="363934"/>
                  <a:pt x="325834" y="381000"/>
                  <a:pt x="304800" y="381000"/>
                </a:cubicBezTo>
                <a:lnTo>
                  <a:pt x="235029" y="381000"/>
                </a:lnTo>
                <a:cubicBezTo>
                  <a:pt x="206216" y="381000"/>
                  <a:pt x="178197" y="371158"/>
                  <a:pt x="155734" y="353139"/>
                </a:cubicBezTo>
                <a:lnTo>
                  <a:pt x="146050" y="345440"/>
                </a:lnTo>
                <a:cubicBezTo>
                  <a:pt x="133985" y="335836"/>
                  <a:pt x="127000" y="321231"/>
                  <a:pt x="127000" y="305753"/>
                </a:cubicBezTo>
                <a:lnTo>
                  <a:pt x="127000" y="157639"/>
                </a:lnTo>
                <a:cubicBezTo>
                  <a:pt x="127000" y="145812"/>
                  <a:pt x="129778" y="134144"/>
                  <a:pt x="135017" y="123587"/>
                </a:cubicBezTo>
                <a:lnTo>
                  <a:pt x="179626" y="34369"/>
                </a:lnTo>
                <a:cubicBezTo>
                  <a:pt x="186293" y="21114"/>
                  <a:pt x="199866" y="12700"/>
                  <a:pt x="214789" y="12700"/>
                </a:cubicBezTo>
                <a:close/>
              </a:path>
            </a:pathLst>
          </a:custGeom>
          <a:solidFill>
            <a:srgbClr val="2E7D32"/>
          </a:solidFill>
          <a:ln/>
        </p:spPr>
      </p:sp>
      <p:sp>
        <p:nvSpPr>
          <p:cNvPr id="18" name="Text 16"/>
          <p:cNvSpPr/>
          <p:nvPr/>
        </p:nvSpPr>
        <p:spPr>
          <a:xfrm>
            <a:off x="2095500" y="50800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2E7D3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Use Lambdas For: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095500" y="5461000"/>
            <a:ext cx="55245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Sorting, filtering, mapping, callbacks, threading, simple event handling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382000" y="4953000"/>
            <a:ext cx="6604000" cy="1206500"/>
          </a:xfrm>
          <a:prstGeom prst="roundRect">
            <a:avLst>
              <a:gd name="adj" fmla="val 8000"/>
            </a:avLst>
          </a:prstGeom>
          <a:gradFill rotWithShape="1" flip="none">
            <a:gsLst>
              <a:gs pos="0">
                <a:srgbClr val="FFF3E0"/>
              </a:gs>
              <a:gs pos="100000">
                <a:srgbClr val="FFE0B2"/>
              </a:gs>
            </a:gsLst>
            <a:lin ang="0" scaled="1"/>
          </a:gradFill>
          <a:ln/>
        </p:spPr>
      </p:sp>
      <p:sp>
        <p:nvSpPr>
          <p:cNvPr id="21" name="Shape 19"/>
          <p:cNvSpPr/>
          <p:nvPr/>
        </p:nvSpPr>
        <p:spPr>
          <a:xfrm>
            <a:off x="8636000" y="5207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cubicBezTo>
                  <a:pt x="214868" y="0"/>
                  <a:pt x="225584" y="6429"/>
                  <a:pt x="231140" y="16669"/>
                </a:cubicBezTo>
                <a:lnTo>
                  <a:pt x="402590" y="334169"/>
                </a:lnTo>
                <a:cubicBezTo>
                  <a:pt x="407908" y="344011"/>
                  <a:pt x="407670" y="355918"/>
                  <a:pt x="401955" y="365522"/>
                </a:cubicBezTo>
                <a:cubicBezTo>
                  <a:pt x="396240" y="375126"/>
                  <a:pt x="385842" y="381000"/>
                  <a:pt x="374650" y="381000"/>
                </a:cubicBezTo>
                <a:lnTo>
                  <a:pt x="31750" y="381000"/>
                </a:lnTo>
                <a:cubicBezTo>
                  <a:pt x="20558" y="381000"/>
                  <a:pt x="10239" y="375126"/>
                  <a:pt x="4445" y="365522"/>
                </a:cubicBezTo>
                <a:cubicBezTo>
                  <a:pt x="-1349" y="355918"/>
                  <a:pt x="-1508" y="344011"/>
                  <a:pt x="3810" y="334169"/>
                </a:cubicBezTo>
                <a:lnTo>
                  <a:pt x="175260" y="16669"/>
                </a:lnTo>
                <a:cubicBezTo>
                  <a:pt x="180816" y="6429"/>
                  <a:pt x="191532" y="0"/>
                  <a:pt x="203200" y="0"/>
                </a:cubicBezTo>
                <a:close/>
                <a:moveTo>
                  <a:pt x="203200" y="133350"/>
                </a:moveTo>
                <a:cubicBezTo>
                  <a:pt x="192643" y="133350"/>
                  <a:pt x="184150" y="141843"/>
                  <a:pt x="184150" y="152400"/>
                </a:cubicBezTo>
                <a:lnTo>
                  <a:pt x="184150" y="241300"/>
                </a:lnTo>
                <a:cubicBezTo>
                  <a:pt x="184150" y="251857"/>
                  <a:pt x="192643" y="260350"/>
                  <a:pt x="203200" y="260350"/>
                </a:cubicBezTo>
                <a:cubicBezTo>
                  <a:pt x="213757" y="260350"/>
                  <a:pt x="222250" y="251857"/>
                  <a:pt x="222250" y="241300"/>
                </a:cubicBezTo>
                <a:lnTo>
                  <a:pt x="222250" y="152400"/>
                </a:lnTo>
                <a:cubicBezTo>
                  <a:pt x="222250" y="141843"/>
                  <a:pt x="213757" y="133350"/>
                  <a:pt x="203200" y="133350"/>
                </a:cubicBezTo>
                <a:close/>
                <a:moveTo>
                  <a:pt x="224393" y="304800"/>
                </a:moveTo>
                <a:cubicBezTo>
                  <a:pt x="224875" y="296933"/>
                  <a:pt x="220952" y="289449"/>
                  <a:pt x="214208" y="285370"/>
                </a:cubicBezTo>
                <a:cubicBezTo>
                  <a:pt x="207465" y="281291"/>
                  <a:pt x="199015" y="281291"/>
                  <a:pt x="192271" y="285370"/>
                </a:cubicBezTo>
                <a:cubicBezTo>
                  <a:pt x="185527" y="289449"/>
                  <a:pt x="181604" y="296933"/>
                  <a:pt x="182086" y="304800"/>
                </a:cubicBezTo>
                <a:cubicBezTo>
                  <a:pt x="181604" y="312667"/>
                  <a:pt x="185527" y="320151"/>
                  <a:pt x="192271" y="324230"/>
                </a:cubicBezTo>
                <a:cubicBezTo>
                  <a:pt x="199015" y="328309"/>
                  <a:pt x="207465" y="328309"/>
                  <a:pt x="214208" y="324230"/>
                </a:cubicBezTo>
                <a:cubicBezTo>
                  <a:pt x="220952" y="320151"/>
                  <a:pt x="224875" y="312667"/>
                  <a:pt x="224393" y="304800"/>
                </a:cubicBezTo>
                <a:close/>
              </a:path>
            </a:pathLst>
          </a:custGeom>
          <a:solidFill>
            <a:srgbClr val="E65100"/>
          </a:solidFill>
          <a:ln/>
        </p:spPr>
      </p:sp>
      <p:sp>
        <p:nvSpPr>
          <p:cNvPr id="22" name="Text 20"/>
          <p:cNvSpPr/>
          <p:nvPr/>
        </p:nvSpPr>
        <p:spPr>
          <a:xfrm>
            <a:off x="9207500" y="5080000"/>
            <a:ext cx="317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E651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Avoid Lambdas For: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207500" y="5461000"/>
            <a:ext cx="55245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Complex logic, nested operations, debugging-heavy code, extensive error handling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1270000" y="6540500"/>
            <a:ext cx="13716000" cy="1143000"/>
          </a:xfrm>
          <a:prstGeom prst="roundRect">
            <a:avLst>
              <a:gd name="adj" fmla="val 8000"/>
            </a:avLst>
          </a:prstGeom>
          <a:gradFill rotWithShape="1" flip="none">
            <a:gsLst>
              <a:gs pos="0">
                <a:srgbClr val="2E5E8A"/>
              </a:gs>
              <a:gs pos="100000">
                <a:srgbClr val="2E5E8A">
                  <a:alpha val="80000"/>
                </a:srgbClr>
              </a:gs>
            </a:gsLst>
            <a:lin ang="0" scaled="1"/>
          </a:gradFill>
          <a:ln/>
        </p:spPr>
      </p:sp>
      <p:sp>
        <p:nvSpPr>
          <p:cNvPr id="25" name="Text 23"/>
          <p:cNvSpPr/>
          <p:nvPr/>
        </p:nvSpPr>
        <p:spPr>
          <a:xfrm>
            <a:off x="1778000" y="6794500"/>
            <a:ext cx="1270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Practice is key — start with simple examples and build up your confidence!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23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Practice Exercises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879600"/>
            <a:ext cx="6604000" cy="12065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60500" y="2070100"/>
            <a:ext cx="457200" cy="4572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6" name="Text 4"/>
          <p:cNvSpPr/>
          <p:nvPr/>
        </p:nvSpPr>
        <p:spPr>
          <a:xfrm>
            <a:off x="1460500" y="20701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095500" y="2006600"/>
            <a:ext cx="55245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Convert Anonymous Class to Lambda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095500" y="2387600"/>
            <a:ext cx="55245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Runnable r = new Runnable() { public void run() { System.out.println("Hello"); } };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382000" y="1879600"/>
            <a:ext cx="6604000" cy="12065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572500" y="2070100"/>
            <a:ext cx="457200" cy="4572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11" name="Text 9"/>
          <p:cNvSpPr/>
          <p:nvPr/>
        </p:nvSpPr>
        <p:spPr>
          <a:xfrm>
            <a:off x="8572500" y="20701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207500" y="2006600"/>
            <a:ext cx="55245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Filter Even Numbers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207500" y="2387600"/>
            <a:ext cx="55245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Write a Stream pipeline to filter even numbers from List&lt;Integer&gt; numbers.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270000" y="3403600"/>
            <a:ext cx="6604000" cy="12065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460500" y="3594100"/>
            <a:ext cx="457200" cy="457200"/>
          </a:xfrm>
          <a:prstGeom prst="ellipse">
            <a:avLst/>
          </a:prstGeom>
          <a:solidFill>
            <a:srgbClr val="2E5E8A"/>
          </a:solidFill>
          <a:ln/>
        </p:spPr>
      </p:sp>
      <p:sp>
        <p:nvSpPr>
          <p:cNvPr id="16" name="Text 14"/>
          <p:cNvSpPr/>
          <p:nvPr/>
        </p:nvSpPr>
        <p:spPr>
          <a:xfrm>
            <a:off x="1460500" y="35941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095500" y="3530600"/>
            <a:ext cx="55245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Sort by String Length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095500" y="3911600"/>
            <a:ext cx="5524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Sort a List&lt;String&gt; by length using Comparator.comparing().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382000" y="3403600"/>
            <a:ext cx="6604000" cy="12065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572500" y="3594100"/>
            <a:ext cx="457200" cy="457200"/>
          </a:xfrm>
          <a:prstGeom prst="ellipse">
            <a:avLst/>
          </a:prstGeom>
          <a:solidFill>
            <a:srgbClr val="2E5E8A"/>
          </a:solidFill>
          <a:ln/>
        </p:spPr>
      </p:sp>
      <p:sp>
        <p:nvSpPr>
          <p:cNvPr id="21" name="Text 19"/>
          <p:cNvSpPr/>
          <p:nvPr/>
        </p:nvSpPr>
        <p:spPr>
          <a:xfrm>
            <a:off x="8572500" y="35941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207500" y="3530600"/>
            <a:ext cx="55245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Map to Lengths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207500" y="3911600"/>
            <a:ext cx="55245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Use map() to convert List&lt;String&gt; to List&lt;Integer&gt; (string lengths).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1270000" y="4927600"/>
            <a:ext cx="13716000" cy="1206500"/>
          </a:xfrm>
          <a:prstGeom prst="roundRect">
            <a:avLst>
              <a:gd name="adj" fmla="val 8000"/>
            </a:avLst>
          </a:prstGeom>
          <a:gradFill rotWithShape="1" flip="none">
            <a:gsLst>
              <a:gs pos="0">
                <a:srgbClr val="2E5E8A"/>
              </a:gs>
              <a:gs pos="100000">
                <a:srgbClr val="2E5E8A">
                  <a:alpha val="80000"/>
                </a:srgbClr>
              </a:gs>
            </a:gsLst>
            <a:lin ang="0" scaled="1"/>
          </a:gradFill>
          <a:ln/>
        </p:spPr>
      </p:sp>
      <p:sp>
        <p:nvSpPr>
          <p:cNvPr id="25" name="Shape 23"/>
          <p:cNvSpPr/>
          <p:nvPr/>
        </p:nvSpPr>
        <p:spPr>
          <a:xfrm>
            <a:off x="1460500" y="5181600"/>
            <a:ext cx="457200" cy="4572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26" name="Text 24"/>
          <p:cNvSpPr/>
          <p:nvPr/>
        </p:nvSpPr>
        <p:spPr>
          <a:xfrm>
            <a:off x="1460500" y="51816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2095500" y="5118100"/>
            <a:ext cx="508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Find Maximum Salary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2095500" y="5499100"/>
            <a:ext cx="12573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Find the maximum salary from a List&lt;Employee&gt; using reduce() or max().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1270000" y="6477000"/>
            <a:ext cx="13716000" cy="1270000"/>
          </a:xfrm>
          <a:prstGeom prst="roundRect">
            <a:avLst>
              <a:gd name="adj" fmla="val 8000"/>
            </a:avLst>
          </a:prstGeom>
          <a:solidFill>
            <a:srgbClr val="F0F4F8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587500" y="6731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28855" y="0"/>
                </a:moveTo>
                <a:lnTo>
                  <a:pt x="328880" y="0"/>
                </a:lnTo>
                <a:cubicBezTo>
                  <a:pt x="352544" y="0"/>
                  <a:pt x="371832" y="19467"/>
                  <a:pt x="370939" y="43041"/>
                </a:cubicBezTo>
                <a:cubicBezTo>
                  <a:pt x="370761" y="47774"/>
                  <a:pt x="370582" y="52507"/>
                  <a:pt x="370314" y="57150"/>
                </a:cubicBezTo>
                <a:lnTo>
                  <a:pt x="414605" y="57150"/>
                </a:lnTo>
                <a:cubicBezTo>
                  <a:pt x="437912" y="57150"/>
                  <a:pt x="458450" y="76438"/>
                  <a:pt x="456664" y="101620"/>
                </a:cubicBezTo>
                <a:cubicBezTo>
                  <a:pt x="449967" y="194221"/>
                  <a:pt x="402640" y="245120"/>
                  <a:pt x="351294" y="271730"/>
                </a:cubicBezTo>
                <a:cubicBezTo>
                  <a:pt x="337185" y="279053"/>
                  <a:pt x="322808" y="284500"/>
                  <a:pt x="309146" y="288518"/>
                </a:cubicBezTo>
                <a:cubicBezTo>
                  <a:pt x="291108" y="314057"/>
                  <a:pt x="272355" y="327541"/>
                  <a:pt x="257443" y="334774"/>
                </a:cubicBezTo>
                <a:lnTo>
                  <a:pt x="257443" y="400050"/>
                </a:lnTo>
                <a:lnTo>
                  <a:pt x="314593" y="400050"/>
                </a:lnTo>
                <a:cubicBezTo>
                  <a:pt x="330398" y="400050"/>
                  <a:pt x="343168" y="412819"/>
                  <a:pt x="343168" y="428625"/>
                </a:cubicBezTo>
                <a:cubicBezTo>
                  <a:pt x="343168" y="444431"/>
                  <a:pt x="330398" y="457200"/>
                  <a:pt x="314593" y="457200"/>
                </a:cubicBezTo>
                <a:lnTo>
                  <a:pt x="143143" y="457200"/>
                </a:lnTo>
                <a:cubicBezTo>
                  <a:pt x="127337" y="457200"/>
                  <a:pt x="114568" y="444431"/>
                  <a:pt x="114568" y="428625"/>
                </a:cubicBezTo>
                <a:cubicBezTo>
                  <a:pt x="114568" y="412819"/>
                  <a:pt x="127337" y="400050"/>
                  <a:pt x="143143" y="400050"/>
                </a:cubicBezTo>
                <a:lnTo>
                  <a:pt x="200293" y="400050"/>
                </a:lnTo>
                <a:lnTo>
                  <a:pt x="200293" y="334774"/>
                </a:lnTo>
                <a:cubicBezTo>
                  <a:pt x="186005" y="327898"/>
                  <a:pt x="168235" y="315129"/>
                  <a:pt x="150912" y="291644"/>
                </a:cubicBezTo>
                <a:cubicBezTo>
                  <a:pt x="134481" y="287357"/>
                  <a:pt x="116622" y="280839"/>
                  <a:pt x="99209" y="271016"/>
                </a:cubicBezTo>
                <a:cubicBezTo>
                  <a:pt x="50899" y="243959"/>
                  <a:pt x="7322" y="192971"/>
                  <a:pt x="1072" y="101441"/>
                </a:cubicBezTo>
                <a:cubicBezTo>
                  <a:pt x="-625" y="76349"/>
                  <a:pt x="19824" y="57061"/>
                  <a:pt x="43130" y="57061"/>
                </a:cubicBezTo>
                <a:lnTo>
                  <a:pt x="87422" y="57061"/>
                </a:lnTo>
                <a:cubicBezTo>
                  <a:pt x="87154" y="52417"/>
                  <a:pt x="86975" y="47774"/>
                  <a:pt x="86797" y="42952"/>
                </a:cubicBezTo>
                <a:cubicBezTo>
                  <a:pt x="85904" y="19288"/>
                  <a:pt x="105192" y="-89"/>
                  <a:pt x="128855" y="-89"/>
                </a:cubicBezTo>
                <a:close/>
                <a:moveTo>
                  <a:pt x="90636" y="100013"/>
                </a:moveTo>
                <a:lnTo>
                  <a:pt x="43845" y="100013"/>
                </a:lnTo>
                <a:cubicBezTo>
                  <a:pt x="49381" y="175647"/>
                  <a:pt x="84118" y="213509"/>
                  <a:pt x="119926" y="233601"/>
                </a:cubicBezTo>
                <a:cubicBezTo>
                  <a:pt x="107067" y="200293"/>
                  <a:pt x="96441" y="156805"/>
                  <a:pt x="90636" y="100013"/>
                </a:cubicBezTo>
                <a:close/>
                <a:moveTo>
                  <a:pt x="339328" y="229314"/>
                </a:moveTo>
                <a:cubicBezTo>
                  <a:pt x="375493" y="208062"/>
                  <a:pt x="408176" y="170289"/>
                  <a:pt x="413712" y="100013"/>
                </a:cubicBezTo>
                <a:lnTo>
                  <a:pt x="367010" y="100013"/>
                </a:lnTo>
                <a:cubicBezTo>
                  <a:pt x="361474" y="154394"/>
                  <a:pt x="351473" y="196632"/>
                  <a:pt x="339328" y="229314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31" name="Text 29"/>
          <p:cNvSpPr/>
          <p:nvPr/>
        </p:nvSpPr>
        <p:spPr>
          <a:xfrm>
            <a:off x="2222500" y="6604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Bonus Challenge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2222500" y="7048500"/>
            <a:ext cx="12446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Build a student grade analyzer: group by grade level, calculate average GPA per group, find top performer in each — all using Stream API + lambdas.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24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Quick Reference Guide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1778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Lambda Syntax Cheat Sheet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270000" y="2222500"/>
            <a:ext cx="6604000" cy="19685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524000" y="2349500"/>
            <a:ext cx="6096000" cy="184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(params) -&gt; expression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       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 single expression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(params) -&gt; { statements; }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 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 block body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() -&gt; value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               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 no parameters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x -&gt; x * 2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              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 single param, no parens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ClassName::methodName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   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 method reference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382000" y="1778000"/>
            <a:ext cx="660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Common Code Patterns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8382000" y="2222500"/>
            <a:ext cx="6604000" cy="19685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636000" y="2349500"/>
            <a:ext cx="6096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list.sort((a, b) -&gt; a.compareTo(b));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list.stream().filter(x -&gt; x &gt; 10).collect(toList());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map.forEach((k, v) -&gt; System.out.println(k + ": " + v));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Optional.ofNullable(v).orElseGet(() -&gt; defaultV);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CompletableFuture.supplyAsync(() -&gt; fetchData());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70000" y="4508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Functional Interface Quick Pick</a:t>
            </a:r>
            <a:endParaRPr lang="en-US" sz="22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70000" y="4953000"/>
          <a:ext cx="13716000" cy="2222500"/>
        </p:xfrm>
        <a:graphic>
          <a:graphicData uri="http://schemas.openxmlformats.org/drawingml/2006/table">
            <a:tbl>
              <a:tblPr/>
              <a:tblGrid>
                <a:gridCol w="3017520"/>
                <a:gridCol w="5486400"/>
                <a:gridCol w="5212080"/>
              </a:tblGrid>
              <a:tr h="48895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Need to...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Use Interface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Method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</a:tr>
              <a:tr h="43338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Test/Filter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Predicate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boolean test(T t)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</a:tr>
              <a:tr h="43338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Transform/Map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Function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 apply(T t)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43338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Process/Consume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Consumer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void accept(T t)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</a:tr>
              <a:tr h="43338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Generate/Supply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Supplier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T get()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1270000" y="7493000"/>
            <a:ext cx="762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Remember:</a:t>
            </a:r>
            <a:pPr algn="l">
              <a:lnSpc>
                <a:spcPct val="120000"/>
              </a:lnSpc>
            </a:pPr>
            <a:r>
              <a:rPr lang="en-US" sz="18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import java.util.function.* and java.util.stream.*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25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Summary &amp; Q&amp;A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879600"/>
            <a:ext cx="6604000" cy="2921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60500" y="2070100"/>
            <a:ext cx="1778000" cy="355600"/>
          </a:xfrm>
          <a:prstGeom prst="roundRect">
            <a:avLst>
              <a:gd name="adj" fmla="val 20000"/>
            </a:avLst>
          </a:prstGeom>
          <a:solidFill>
            <a:srgbClr val="FF7F50"/>
          </a:solidFill>
          <a:ln/>
        </p:spPr>
      </p:sp>
      <p:sp>
        <p:nvSpPr>
          <p:cNvPr id="6" name="Text 4"/>
          <p:cNvSpPr/>
          <p:nvPr/>
        </p:nvSpPr>
        <p:spPr>
          <a:xfrm>
            <a:off x="1460500" y="20701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Lecture 23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429000" y="2032000"/>
            <a:ext cx="419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Using Lambda Expressions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524000" y="2603500"/>
            <a:ext cx="6096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Lambda definition &amp; characteristics</a:t>
            </a: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Syntax variations &amp; shorthand rules</a:t>
            </a: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Functional interfaces (Predicate, Function, Consumer, Supplier)</a:t>
            </a: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Real-world: sorting, event handling</a:t>
            </a: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Code base: GUI callbacks, comparators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382000" y="1879600"/>
            <a:ext cx="6604000" cy="2921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572500" y="2070100"/>
            <a:ext cx="1778000" cy="355600"/>
          </a:xfrm>
          <a:prstGeom prst="roundRect">
            <a:avLst>
              <a:gd name="adj" fmla="val 20000"/>
            </a:avLst>
          </a:prstGeom>
          <a:solidFill>
            <a:srgbClr val="2E5E8A"/>
          </a:solidFill>
          <a:ln/>
        </p:spPr>
      </p:sp>
      <p:sp>
        <p:nvSpPr>
          <p:cNvPr id="11" name="Text 9"/>
          <p:cNvSpPr/>
          <p:nvPr/>
        </p:nvSpPr>
        <p:spPr>
          <a:xfrm>
            <a:off x="8572500" y="20701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Lecture 24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541000" y="2032000"/>
            <a:ext cx="419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Examples of Lambda Expression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636000" y="2603500"/>
            <a:ext cx="60960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Stream API definition &amp; pipeline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Intermediate &amp; terminal operations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Method references (4 types)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Real-world: e-commerce, callbacks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Code base: threading, filtering, mapping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270000" y="5143500"/>
            <a:ext cx="13716000" cy="1651000"/>
          </a:xfrm>
          <a:prstGeom prst="roundRect">
            <a:avLst>
              <a:gd name="adj" fmla="val 8000"/>
            </a:avLst>
          </a:prstGeom>
          <a:gradFill rotWithShape="1" flip="none">
            <a:gsLst>
              <a:gs pos="0">
                <a:srgbClr val="2E5E8A"/>
              </a:gs>
              <a:gs pos="100000">
                <a:srgbClr val="2E5E8A">
                  <a:alpha val="80000"/>
                </a:srgbClr>
              </a:gs>
            </a:gsLst>
            <a:lin ang="0" scaled="1"/>
          </a:gradFill>
          <a:ln/>
        </p:spPr>
      </p:sp>
      <p:sp>
        <p:nvSpPr>
          <p:cNvPr id="15" name="Shape 13"/>
          <p:cNvSpPr/>
          <p:nvPr/>
        </p:nvSpPr>
        <p:spPr>
          <a:xfrm>
            <a:off x="1651000" y="5461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42333" y="194270"/>
                </a:moveTo>
                <a:lnTo>
                  <a:pt x="226836" y="279698"/>
                </a:lnTo>
                <a:cubicBezTo>
                  <a:pt x="235479" y="283666"/>
                  <a:pt x="244651" y="285750"/>
                  <a:pt x="254000" y="285750"/>
                </a:cubicBezTo>
                <a:cubicBezTo>
                  <a:pt x="263349" y="285750"/>
                  <a:pt x="272521" y="283666"/>
                  <a:pt x="281164" y="279698"/>
                </a:cubicBezTo>
                <a:lnTo>
                  <a:pt x="494947" y="180677"/>
                </a:lnTo>
                <a:cubicBezTo>
                  <a:pt x="502885" y="177006"/>
                  <a:pt x="508000" y="168374"/>
                  <a:pt x="508000" y="158750"/>
                </a:cubicBezTo>
                <a:cubicBezTo>
                  <a:pt x="508000" y="149126"/>
                  <a:pt x="502885" y="140494"/>
                  <a:pt x="494947" y="136823"/>
                </a:cubicBezTo>
                <a:lnTo>
                  <a:pt x="281164" y="37802"/>
                </a:lnTo>
                <a:cubicBezTo>
                  <a:pt x="272521" y="33834"/>
                  <a:pt x="263349" y="31750"/>
                  <a:pt x="254000" y="31750"/>
                </a:cubicBezTo>
                <a:cubicBezTo>
                  <a:pt x="244651" y="31750"/>
                  <a:pt x="235479" y="33834"/>
                  <a:pt x="226836" y="37802"/>
                </a:cubicBezTo>
                <a:lnTo>
                  <a:pt x="13053" y="136823"/>
                </a:lnTo>
                <a:cubicBezTo>
                  <a:pt x="5115" y="140494"/>
                  <a:pt x="0" y="149126"/>
                  <a:pt x="0" y="158750"/>
                </a:cubicBezTo>
                <a:lnTo>
                  <a:pt x="0" y="452437"/>
                </a:lnTo>
                <a:cubicBezTo>
                  <a:pt x="0" y="465634"/>
                  <a:pt x="9437" y="476250"/>
                  <a:pt x="21167" y="476250"/>
                </a:cubicBezTo>
                <a:cubicBezTo>
                  <a:pt x="32897" y="476250"/>
                  <a:pt x="42333" y="465634"/>
                  <a:pt x="42333" y="452437"/>
                </a:cubicBezTo>
                <a:lnTo>
                  <a:pt x="42333" y="194270"/>
                </a:lnTo>
                <a:close/>
                <a:moveTo>
                  <a:pt x="84667" y="265410"/>
                </a:moveTo>
                <a:lnTo>
                  <a:pt x="84667" y="381000"/>
                </a:lnTo>
                <a:cubicBezTo>
                  <a:pt x="84667" y="433586"/>
                  <a:pt x="160514" y="476250"/>
                  <a:pt x="254000" y="476250"/>
                </a:cubicBezTo>
                <a:cubicBezTo>
                  <a:pt x="347486" y="476250"/>
                  <a:pt x="423333" y="433586"/>
                  <a:pt x="423333" y="381000"/>
                </a:cubicBezTo>
                <a:lnTo>
                  <a:pt x="423333" y="265311"/>
                </a:lnTo>
                <a:lnTo>
                  <a:pt x="297303" y="323751"/>
                </a:lnTo>
                <a:cubicBezTo>
                  <a:pt x="283545" y="330101"/>
                  <a:pt x="268905" y="333375"/>
                  <a:pt x="254000" y="333375"/>
                </a:cubicBezTo>
                <a:cubicBezTo>
                  <a:pt x="239095" y="333375"/>
                  <a:pt x="224455" y="330101"/>
                  <a:pt x="210697" y="323751"/>
                </a:cubicBezTo>
                <a:lnTo>
                  <a:pt x="84667" y="265311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2349500" y="5270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Key Skills Gained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2349500" y="5715000"/>
            <a:ext cx="12319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Writing concise lambda expressions  • Using functional interfaces effectively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Processing collections with Stream API  • Applying lambdas in real-world scenarios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270000" y="7112000"/>
            <a:ext cx="13716000" cy="1016000"/>
          </a:xfrm>
          <a:prstGeom prst="roundRect">
            <a:avLst>
              <a:gd name="adj" fmla="val 8000"/>
            </a:avLst>
          </a:prstGeom>
          <a:solidFill>
            <a:srgbClr val="F0F4F8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51000" y="7366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04800" y="128588"/>
                </a:moveTo>
                <a:cubicBezTo>
                  <a:pt x="304800" y="215384"/>
                  <a:pt x="236538" y="285750"/>
                  <a:pt x="152400" y="285750"/>
                </a:cubicBezTo>
                <a:cubicBezTo>
                  <a:pt x="131207" y="285750"/>
                  <a:pt x="111046" y="281285"/>
                  <a:pt x="92710" y="273248"/>
                </a:cubicBezTo>
                <a:lnTo>
                  <a:pt x="27940" y="311825"/>
                </a:lnTo>
                <a:cubicBezTo>
                  <a:pt x="20558" y="316200"/>
                  <a:pt x="11509" y="314682"/>
                  <a:pt x="5556" y="308074"/>
                </a:cubicBezTo>
                <a:cubicBezTo>
                  <a:pt x="-397" y="301466"/>
                  <a:pt x="-1746" y="291197"/>
                  <a:pt x="2223" y="282893"/>
                </a:cubicBezTo>
                <a:lnTo>
                  <a:pt x="30480" y="222885"/>
                </a:lnTo>
                <a:cubicBezTo>
                  <a:pt x="11351" y="196632"/>
                  <a:pt x="0" y="163949"/>
                  <a:pt x="0" y="128588"/>
                </a:cubicBezTo>
                <a:cubicBezTo>
                  <a:pt x="0" y="41791"/>
                  <a:pt x="68263" y="-28575"/>
                  <a:pt x="152400" y="-28575"/>
                </a:cubicBezTo>
                <a:cubicBezTo>
                  <a:pt x="236538" y="-28575"/>
                  <a:pt x="304800" y="41791"/>
                  <a:pt x="304800" y="128588"/>
                </a:cubicBezTo>
                <a:close/>
                <a:moveTo>
                  <a:pt x="304800" y="457200"/>
                </a:moveTo>
                <a:cubicBezTo>
                  <a:pt x="230108" y="457200"/>
                  <a:pt x="167958" y="401747"/>
                  <a:pt x="154940" y="328613"/>
                </a:cubicBezTo>
                <a:cubicBezTo>
                  <a:pt x="250190" y="327273"/>
                  <a:pt x="332978" y="251014"/>
                  <a:pt x="342106" y="147608"/>
                </a:cubicBezTo>
                <a:cubicBezTo>
                  <a:pt x="408226" y="164753"/>
                  <a:pt x="457200" y="226457"/>
                  <a:pt x="457200" y="300038"/>
                </a:cubicBezTo>
                <a:cubicBezTo>
                  <a:pt x="457200" y="335399"/>
                  <a:pt x="445849" y="368082"/>
                  <a:pt x="426720" y="394335"/>
                </a:cubicBezTo>
                <a:lnTo>
                  <a:pt x="454978" y="454342"/>
                </a:lnTo>
                <a:cubicBezTo>
                  <a:pt x="458867" y="462647"/>
                  <a:pt x="457518" y="472827"/>
                  <a:pt x="451644" y="479524"/>
                </a:cubicBezTo>
                <a:cubicBezTo>
                  <a:pt x="445770" y="486221"/>
                  <a:pt x="436642" y="487740"/>
                  <a:pt x="429260" y="483275"/>
                </a:cubicBezTo>
                <a:lnTo>
                  <a:pt x="364490" y="444698"/>
                </a:lnTo>
                <a:cubicBezTo>
                  <a:pt x="346154" y="452735"/>
                  <a:pt x="325993" y="457200"/>
                  <a:pt x="304800" y="457200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20" name="Text 18"/>
          <p:cNvSpPr/>
          <p:nvPr/>
        </p:nvSpPr>
        <p:spPr>
          <a:xfrm>
            <a:off x="2286000" y="7302500"/>
            <a:ext cx="12446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Questions &amp; Discussion</a:t>
            </a:r>
            <a:pPr algn="ctr">
              <a:lnSpc>
                <a:spcPct val="120000"/>
              </a:lnSpc>
            </a:pPr>
            <a:r>
              <a:rPr lang="en-US" sz="22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What's your biggest takeaway from this week?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2E5E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8128000" h="4572000">
                <a:moveTo>
                  <a:pt x="0" y="0"/>
                </a:moveTo>
                <a:lnTo>
                  <a:pt x="8128000" y="0"/>
                </a:lnTo>
                <a:lnTo>
                  <a:pt x="8128000" y="2286000"/>
                </a:lnTo>
                <a:quadBezTo>
                  <a:pt x="6096000" y="4572000"/>
                  <a:pt x="4064000" y="4572000"/>
                </a:quadBezTo>
                <a:lnTo>
                  <a:pt x="2032000" y="4572000"/>
                </a:lnTo>
                <a:quadBezTo>
                  <a:pt x="0" y="4572000"/>
                  <a:pt x="0" y="2286000"/>
                </a:quadBezTo>
                <a:close/>
              </a:path>
            </a:pathLst>
          </a:custGeom>
          <a:gradFill rotWithShape="1" flip="none">
            <a:gsLst>
              <a:gs pos="0">
                <a:srgbClr val="2E5E8A">
                  <a:alpha val="25000"/>
                </a:srgbClr>
              </a:gs>
              <a:gs pos="100000">
                <a:srgbClr val="D0E0E3"/>
              </a:gs>
            </a:gsLst>
            <a:lin ang="810000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8128000" y="45720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8128000" h="4572000">
                <a:moveTo>
                  <a:pt x="8128000" y="4572000"/>
                </a:moveTo>
                <a:lnTo>
                  <a:pt x="0" y="4572000"/>
                </a:lnTo>
                <a:lnTo>
                  <a:pt x="0" y="2286000"/>
                </a:lnTo>
                <a:quadBezTo>
                  <a:pt x="2032000" y="0"/>
                  <a:pt x="4064000" y="0"/>
                </a:quadBezTo>
                <a:lnTo>
                  <a:pt x="6096000" y="0"/>
                </a:lnTo>
                <a:quadBezTo>
                  <a:pt x="8128000" y="0"/>
                  <a:pt x="8128000" y="2286000"/>
                </a:quadBezTo>
                <a:close/>
              </a:path>
            </a:pathLst>
          </a:custGeom>
          <a:gradFill rotWithShape="1" flip="none">
            <a:gsLst>
              <a:gs pos="0">
                <a:srgbClr val="D0E0E3"/>
              </a:gs>
              <a:gs pos="100000">
                <a:srgbClr val="FF7F50">
                  <a:alpha val="13000"/>
                </a:srgbClr>
              </a:gs>
            </a:gsLst>
            <a:lin ang="18900000" scaled="1"/>
          </a:gradFill>
          <a:ln/>
        </p:spPr>
      </p:sp>
      <p:sp>
        <p:nvSpPr>
          <p:cNvPr id="4" name="Text 2"/>
          <p:cNvSpPr/>
          <p:nvPr/>
        </p:nvSpPr>
        <p:spPr>
          <a:xfrm>
            <a:off x="1778000" y="2286000"/>
            <a:ext cx="1270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6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Keep Coding with Lambdas!</a:t>
            </a:r>
            <a:endParaRPr lang="en-US" sz="6800" dirty="0"/>
          </a:p>
        </p:txBody>
      </p:sp>
      <p:sp>
        <p:nvSpPr>
          <p:cNvPr id="5" name="Text 3"/>
          <p:cNvSpPr/>
          <p:nvPr/>
        </p:nvSpPr>
        <p:spPr>
          <a:xfrm>
            <a:off x="3048000" y="3810000"/>
            <a:ext cx="1016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Write less code. Do more.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318000" y="48260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Next Week: Exception Handling &amp; File I/O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858000" y="5588000"/>
            <a:ext cx="2540000" cy="25400"/>
          </a:xfrm>
          <a:prstGeom prst="rect">
            <a:avLst/>
          </a:prstGeom>
          <a:solidFill>
            <a:srgbClr val="FFFFFF">
              <a:alpha val="25098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4318000" y="5842000"/>
            <a:ext cx="762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8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Week 12 — Lambda Expressions in Java</a:t>
            </a:r>
            <a:endParaRPr lang="en-US" sz="1800" dirty="0"/>
          </a:p>
          <a:p>
            <a:pPr algn="ctr">
              <a:lnSpc>
                <a:spcPct val="18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Lecture 23 &amp; 24</a:t>
            </a:r>
            <a:endParaRPr lang="en-US" sz="18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Lambda Expressions in Java</dc:title>
  <dc:subject>Lambda Expressions in Java</dc:subject>
  <dc:creator>Kimi</dc:creator>
  <cp:lastModifiedBy>Kimi</cp:lastModifiedBy>
  <cp:revision>1</cp:revision>
  <dcterms:created xsi:type="dcterms:W3CDTF">2026-06-26T05:11:36Z</dcterms:created>
  <dcterms:modified xsi:type="dcterms:W3CDTF">2026-06-26T05:11:36Z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{"Label":"Lambda Expressions in Java","ContentProducer":"001191110108MACG2KBH8F10000","ProduceID":"19f022dd-09a2-821b-8000-00005d07f6c4","ReservedCode1":"","ContentPropagator":"001191110108MACG2KBH8F20000","PropagateID":"19f0229c-8ef2-8402-8000-093999031768","ReservedCode2":""}</vt:lpwstr>
  </property>
</Properties>
</file>