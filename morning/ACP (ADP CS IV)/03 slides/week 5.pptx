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Quattrocento Sans" charset="-122" pitchFamily="34"/>
      <p:regular r:id="rId35"/>
    </p:embeddedFont>
    <p:embeddedFont>
      <p:font typeface="Liter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921000"/>
            <a:ext cx="2540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3302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400" kern="0" dirty="0">
                <a:solidFill>
                  <a:srgbClr val="6C7A8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78000" y="3810000"/>
            <a:ext cx="1270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5</a:t>
            </a:r>
            <a:endParaRPr lang="en-US" sz="4200" dirty="0"/>
          </a:p>
          <a:p>
            <a:pPr algn="ctr">
              <a:lnSpc>
                <a:spcPct val="120000"/>
              </a:lnSpc>
              <a:spcBef>
                <a:spcPts val="1200"/>
              </a:spcBef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 Classes, Interfaces &amp; Exception Handling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858000" y="5715000"/>
            <a:ext cx="2540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6" name="Text 4"/>
          <p:cNvSpPr/>
          <p:nvPr/>
        </p:nvSpPr>
        <p:spPr>
          <a:xfrm>
            <a:off x="1778000" y="5969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200" kern="0" dirty="0">
                <a:solidFill>
                  <a:srgbClr val="6C7A8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9 &amp; 10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016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TODAY'S AGENDA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635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14732000" cy="12700"/>
          </a:xfrm>
          <a:prstGeom prst="rect">
            <a:avLst/>
          </a:prstGeom>
          <a:solidFill>
            <a:srgbClr val="E0DCD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3048000"/>
            <a:ext cx="12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32000" y="3111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 Classes &amp; Interfaces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32000" y="3556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C7A8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 methods and classes, defining and implementing interfaces, interface as a type, multiple interfaces, and inheritance among interfaces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32000" y="4419600"/>
            <a:ext cx="10160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Abstract Methods &amp; Abstract Classes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Defining and Implementing Interfaces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Interface vs. Class &amp; Multiple Inheritance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588000"/>
            <a:ext cx="14732000" cy="12700"/>
          </a:xfrm>
          <a:prstGeom prst="rect">
            <a:avLst/>
          </a:prstGeom>
          <a:solidFill>
            <a:srgbClr val="E0DCD6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5969000"/>
            <a:ext cx="12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32000" y="6032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 Handling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32000" y="6477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C7A8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 of exceptions, try-catch blocks, finally clause, checked vs. unchecked exceptions, throwing and custom exceptions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32000" y="7340600"/>
            <a:ext cx="10160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Try-Catch Blocks &amp; Finally Clause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Checked vs. Unchecked Exceptions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Throwing, Re-throwing &amp; Custom Exceptions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286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6000" y="2794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4127500"/>
            <a:ext cx="1524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3815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 Classes &amp; Interfaces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5207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6C7A8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flexible, extensible object-oriented designs through abstraction and contracts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an Abstract Method?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206500"/>
            <a:ext cx="14732000" cy="1016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270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 method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method declared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an implementation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 body). Subclasses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 override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provide the implementation.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476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857500"/>
            <a:ext cx="6858000" cy="698500"/>
          </a:xfrm>
          <a:prstGeom prst="roundRect">
            <a:avLst>
              <a:gd name="adj" fmla="val 6000"/>
            </a:avLst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9210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792E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abstract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C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returnType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82AA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methodName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(params);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3810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RULES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41910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75B3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Declared with the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abstract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keyword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75B3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Ends with a semicolon —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method body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75B3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Must be inside an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abstract class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75B3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Subclasses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must override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all abstract methods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75B3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Used when parent cannot define meaningful default behavior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0" y="247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ANALOGY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0" y="2857500"/>
            <a:ext cx="7366000" cy="3937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0" y="311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65113" y="0"/>
                  <a:pt x="275530" y="5854"/>
                  <a:pt x="281186" y="15379"/>
                </a:cubicBezTo>
                <a:lnTo>
                  <a:pt x="376436" y="174129"/>
                </a:lnTo>
                <a:cubicBezTo>
                  <a:pt x="382290" y="183952"/>
                  <a:pt x="382488" y="196155"/>
                  <a:pt x="376833" y="206077"/>
                </a:cubicBezTo>
                <a:cubicBezTo>
                  <a:pt x="371177" y="215999"/>
                  <a:pt x="360660" y="222250"/>
                  <a:pt x="349250" y="222250"/>
                </a:cubicBezTo>
                <a:lnTo>
                  <a:pt x="158750" y="222250"/>
                </a:lnTo>
                <a:cubicBezTo>
                  <a:pt x="147340" y="222250"/>
                  <a:pt x="136723" y="216098"/>
                  <a:pt x="131167" y="206177"/>
                </a:cubicBezTo>
                <a:cubicBezTo>
                  <a:pt x="125611" y="196255"/>
                  <a:pt x="125710" y="184051"/>
                  <a:pt x="131564" y="174228"/>
                </a:cubicBezTo>
                <a:lnTo>
                  <a:pt x="226814" y="15478"/>
                </a:lnTo>
                <a:cubicBezTo>
                  <a:pt x="232470" y="5854"/>
                  <a:pt x="242888" y="0"/>
                  <a:pt x="254000" y="0"/>
                </a:cubicBezTo>
                <a:close/>
                <a:moveTo>
                  <a:pt x="127000" y="269875"/>
                </a:moveTo>
                <a:cubicBezTo>
                  <a:pt x="188332" y="269875"/>
                  <a:pt x="238125" y="319668"/>
                  <a:pt x="238125" y="381000"/>
                </a:cubicBezTo>
                <a:cubicBezTo>
                  <a:pt x="238125" y="442332"/>
                  <a:pt x="188332" y="492125"/>
                  <a:pt x="127000" y="492125"/>
                </a:cubicBezTo>
                <a:cubicBezTo>
                  <a:pt x="65668" y="492125"/>
                  <a:pt x="15875" y="442332"/>
                  <a:pt x="15875" y="381000"/>
                </a:cubicBezTo>
                <a:cubicBezTo>
                  <a:pt x="15875" y="319668"/>
                  <a:pt x="65668" y="269875"/>
                  <a:pt x="127000" y="269875"/>
                </a:cubicBezTo>
                <a:close/>
                <a:moveTo>
                  <a:pt x="325438" y="285750"/>
                </a:moveTo>
                <a:lnTo>
                  <a:pt x="436563" y="285750"/>
                </a:lnTo>
                <a:cubicBezTo>
                  <a:pt x="458490" y="285750"/>
                  <a:pt x="476250" y="303510"/>
                  <a:pt x="476250" y="325438"/>
                </a:cubicBezTo>
                <a:lnTo>
                  <a:pt x="476250" y="436563"/>
                </a:lnTo>
                <a:cubicBezTo>
                  <a:pt x="476250" y="458490"/>
                  <a:pt x="458490" y="476250"/>
                  <a:pt x="436563" y="476250"/>
                </a:cubicBezTo>
                <a:lnTo>
                  <a:pt x="325438" y="476250"/>
                </a:lnTo>
                <a:cubicBezTo>
                  <a:pt x="303510" y="476250"/>
                  <a:pt x="285750" y="458490"/>
                  <a:pt x="285750" y="436563"/>
                </a:cubicBezTo>
                <a:lnTo>
                  <a:pt x="285750" y="325438"/>
                </a:lnTo>
                <a:cubicBezTo>
                  <a:pt x="285750" y="303510"/>
                  <a:pt x="303510" y="285750"/>
                  <a:pt x="325438" y="285750"/>
                </a:cubicBezTo>
                <a:close/>
              </a:path>
            </a:pathLst>
          </a:custGeom>
          <a:solidFill>
            <a:srgbClr val="C75B39"/>
          </a:solidFill>
          <a:ln/>
        </p:spPr>
      </p:sp>
      <p:sp>
        <p:nvSpPr>
          <p:cNvPr id="15" name="Text 13"/>
          <p:cNvSpPr/>
          <p:nvPr/>
        </p:nvSpPr>
        <p:spPr>
          <a:xfrm>
            <a:off x="8509000" y="37465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Shape Area Calculation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9000" y="4254500"/>
            <a:ext cx="6604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 cannot define a generic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area()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method — each shape computes area differently: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Circle: π × r²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Rectangle: width × height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Triangle: ½ × base × height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Thus,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area()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declared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Shape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 Classes — Partial 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176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 class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cannot be instantiated directly. It serves as a base class defining common structure for related subclasses — combining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 methods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 body) and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concrete methods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(with implementation).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0066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3876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54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5032" y="286494"/>
                </a:moveTo>
                <a:lnTo>
                  <a:pt x="69106" y="100568"/>
                </a:lnTo>
                <a:cubicBezTo>
                  <a:pt x="53548" y="122376"/>
                  <a:pt x="44450" y="149046"/>
                  <a:pt x="44450" y="177800"/>
                </a:cubicBezTo>
                <a:cubicBezTo>
                  <a:pt x="44450" y="251420"/>
                  <a:pt x="104180" y="311150"/>
                  <a:pt x="177800" y="311150"/>
                </a:cubicBezTo>
                <a:cubicBezTo>
                  <a:pt x="206623" y="311150"/>
                  <a:pt x="233293" y="302052"/>
                  <a:pt x="255032" y="286494"/>
                </a:cubicBezTo>
                <a:close/>
                <a:moveTo>
                  <a:pt x="286494" y="255032"/>
                </a:moveTo>
                <a:cubicBezTo>
                  <a:pt x="302052" y="233224"/>
                  <a:pt x="311150" y="206554"/>
                  <a:pt x="311150" y="177800"/>
                </a:cubicBezTo>
                <a:cubicBezTo>
                  <a:pt x="311150" y="104180"/>
                  <a:pt x="251420" y="44450"/>
                  <a:pt x="177800" y="44450"/>
                </a:cubicBezTo>
                <a:cubicBezTo>
                  <a:pt x="148977" y="44450"/>
                  <a:pt x="122307" y="53548"/>
                  <a:pt x="100568" y="69106"/>
                </a:cubicBezTo>
                <a:lnTo>
                  <a:pt x="286494" y="255032"/>
                </a:ln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</a:path>
            </a:pathLst>
          </a:custGeom>
          <a:solidFill>
            <a:srgbClr val="C75B39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254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Instantiation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997200"/>
            <a:ext cx="292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create objects directly using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Must be subclassed.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45000" y="23876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676775" y="2540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C75B39"/>
          </a:solidFill>
          <a:ln/>
        </p:spPr>
      </p:sp>
      <p:sp>
        <p:nvSpPr>
          <p:cNvPr id="13" name="Text 11"/>
          <p:cNvSpPr/>
          <p:nvPr/>
        </p:nvSpPr>
        <p:spPr>
          <a:xfrm>
            <a:off x="5156200" y="254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Mixed Methods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99000" y="2997200"/>
            <a:ext cx="292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have both abstract methods and fully implemented methods.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8000" y="23876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16" name="Shape 14"/>
          <p:cNvSpPr/>
          <p:nvPr/>
        </p:nvSpPr>
        <p:spPr>
          <a:xfrm>
            <a:off x="8382000" y="254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3350" y="44450"/>
                </a:moveTo>
                <a:cubicBezTo>
                  <a:pt x="133350" y="32157"/>
                  <a:pt x="143282" y="22225"/>
                  <a:pt x="155575" y="22225"/>
                </a:cubicBezTo>
                <a:lnTo>
                  <a:pt x="200025" y="22225"/>
                </a:lnTo>
                <a:cubicBezTo>
                  <a:pt x="212318" y="22225"/>
                  <a:pt x="222250" y="32157"/>
                  <a:pt x="222250" y="44450"/>
                </a:cubicBezTo>
                <a:lnTo>
                  <a:pt x="222250" y="88900"/>
                </a:lnTo>
                <a:cubicBezTo>
                  <a:pt x="222250" y="101193"/>
                  <a:pt x="212318" y="111125"/>
                  <a:pt x="200025" y="111125"/>
                </a:cubicBezTo>
                <a:lnTo>
                  <a:pt x="194469" y="111125"/>
                </a:lnTo>
                <a:lnTo>
                  <a:pt x="194469" y="155575"/>
                </a:lnTo>
                <a:lnTo>
                  <a:pt x="277813" y="155575"/>
                </a:lnTo>
                <a:cubicBezTo>
                  <a:pt x="305455" y="155575"/>
                  <a:pt x="327819" y="177939"/>
                  <a:pt x="327819" y="205581"/>
                </a:cubicBezTo>
                <a:lnTo>
                  <a:pt x="327819" y="244475"/>
                </a:lnTo>
                <a:lnTo>
                  <a:pt x="333375" y="244475"/>
                </a:lnTo>
                <a:cubicBezTo>
                  <a:pt x="345668" y="244475"/>
                  <a:pt x="355600" y="254407"/>
                  <a:pt x="355600" y="2667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288925" y="333375"/>
                </a:lnTo>
                <a:cubicBezTo>
                  <a:pt x="276632" y="333375"/>
                  <a:pt x="266700" y="323443"/>
                  <a:pt x="266700" y="311150"/>
                </a:cubicBezTo>
                <a:lnTo>
                  <a:pt x="266700" y="266700"/>
                </a:lnTo>
                <a:cubicBezTo>
                  <a:pt x="266700" y="254407"/>
                  <a:pt x="276632" y="244475"/>
                  <a:pt x="288925" y="244475"/>
                </a:cubicBezTo>
                <a:lnTo>
                  <a:pt x="294481" y="244475"/>
                </a:lnTo>
                <a:lnTo>
                  <a:pt x="294481" y="205581"/>
                </a:lnTo>
                <a:cubicBezTo>
                  <a:pt x="294481" y="196344"/>
                  <a:pt x="287050" y="188913"/>
                  <a:pt x="277813" y="188913"/>
                </a:cubicBezTo>
                <a:lnTo>
                  <a:pt x="194469" y="188913"/>
                </a:lnTo>
                <a:lnTo>
                  <a:pt x="194469" y="244475"/>
                </a:lnTo>
                <a:lnTo>
                  <a:pt x="200025" y="244475"/>
                </a:lnTo>
                <a:cubicBezTo>
                  <a:pt x="212318" y="244475"/>
                  <a:pt x="222250" y="254407"/>
                  <a:pt x="222250" y="266700"/>
                </a:cubicBezTo>
                <a:lnTo>
                  <a:pt x="222250" y="311150"/>
                </a:lnTo>
                <a:cubicBezTo>
                  <a:pt x="222250" y="323443"/>
                  <a:pt x="212318" y="333375"/>
                  <a:pt x="200025" y="333375"/>
                </a:cubicBezTo>
                <a:lnTo>
                  <a:pt x="155575" y="333375"/>
                </a:lnTo>
                <a:cubicBezTo>
                  <a:pt x="143282" y="333375"/>
                  <a:pt x="133350" y="323443"/>
                  <a:pt x="133350" y="311150"/>
                </a:cubicBezTo>
                <a:lnTo>
                  <a:pt x="133350" y="266700"/>
                </a:lnTo>
                <a:cubicBezTo>
                  <a:pt x="133350" y="254407"/>
                  <a:pt x="143282" y="244475"/>
                  <a:pt x="155575" y="244475"/>
                </a:cubicBezTo>
                <a:lnTo>
                  <a:pt x="161131" y="244475"/>
                </a:lnTo>
                <a:lnTo>
                  <a:pt x="161131" y="188913"/>
                </a:lnTo>
                <a:lnTo>
                  <a:pt x="77788" y="188913"/>
                </a:lnTo>
                <a:cubicBezTo>
                  <a:pt x="68550" y="188913"/>
                  <a:pt x="61119" y="196344"/>
                  <a:pt x="61119" y="205581"/>
                </a:cubicBezTo>
                <a:lnTo>
                  <a:pt x="61119" y="244475"/>
                </a:lnTo>
                <a:lnTo>
                  <a:pt x="66675" y="244475"/>
                </a:lnTo>
                <a:cubicBezTo>
                  <a:pt x="78968" y="244475"/>
                  <a:pt x="88900" y="254407"/>
                  <a:pt x="88900" y="266700"/>
                </a:cubicBezTo>
                <a:lnTo>
                  <a:pt x="88900" y="311150"/>
                </a:lnTo>
                <a:cubicBezTo>
                  <a:pt x="88900" y="323443"/>
                  <a:pt x="78968" y="333375"/>
                  <a:pt x="66675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66700"/>
                </a:lnTo>
                <a:cubicBezTo>
                  <a:pt x="0" y="254407"/>
                  <a:pt x="9932" y="244475"/>
                  <a:pt x="22225" y="244475"/>
                </a:cubicBezTo>
                <a:lnTo>
                  <a:pt x="27781" y="244475"/>
                </a:lnTo>
                <a:lnTo>
                  <a:pt x="27781" y="205581"/>
                </a:lnTo>
                <a:cubicBezTo>
                  <a:pt x="27781" y="177939"/>
                  <a:pt x="50145" y="155575"/>
                  <a:pt x="77788" y="155575"/>
                </a:cubicBezTo>
                <a:lnTo>
                  <a:pt x="161131" y="155575"/>
                </a:lnTo>
                <a:lnTo>
                  <a:pt x="161131" y="111125"/>
                </a:lnTo>
                <a:lnTo>
                  <a:pt x="155575" y="111125"/>
                </a:lnTo>
                <a:cubicBezTo>
                  <a:pt x="143282" y="111125"/>
                  <a:pt x="133350" y="101193"/>
                  <a:pt x="133350" y="88900"/>
                </a:cubicBezTo>
                <a:lnTo>
                  <a:pt x="133350" y="44450"/>
                </a:lnTo>
                <a:close/>
              </a:path>
            </a:pathLst>
          </a:custGeom>
          <a:solidFill>
            <a:srgbClr val="C75B39"/>
          </a:solidFill>
          <a:ln/>
        </p:spPr>
      </p:sp>
      <p:sp>
        <p:nvSpPr>
          <p:cNvPr id="17" name="Text 15"/>
          <p:cNvSpPr/>
          <p:nvPr/>
        </p:nvSpPr>
        <p:spPr>
          <a:xfrm>
            <a:off x="8839200" y="254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Inheritance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2997200"/>
            <a:ext cx="292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class can extend only ONE abstract class.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811000" y="2387600"/>
            <a:ext cx="3683000" cy="1651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65000" y="254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783" y="-1736"/>
                </a:moveTo>
                <a:cubicBezTo>
                  <a:pt x="169535" y="-9654"/>
                  <a:pt x="186482" y="-9654"/>
                  <a:pt x="200233" y="-1736"/>
                </a:cubicBezTo>
                <a:lnTo>
                  <a:pt x="322401" y="68759"/>
                </a:lnTo>
                <a:cubicBezTo>
                  <a:pt x="336153" y="76676"/>
                  <a:pt x="344626" y="91400"/>
                  <a:pt x="344626" y="107236"/>
                </a:cubicBezTo>
                <a:lnTo>
                  <a:pt x="344626" y="248225"/>
                </a:lnTo>
                <a:cubicBezTo>
                  <a:pt x="344626" y="264130"/>
                  <a:pt x="336153" y="278785"/>
                  <a:pt x="322401" y="286702"/>
                </a:cubicBezTo>
                <a:lnTo>
                  <a:pt x="200233" y="357336"/>
                </a:lnTo>
                <a:cubicBezTo>
                  <a:pt x="186482" y="365254"/>
                  <a:pt x="169535" y="365254"/>
                  <a:pt x="155783" y="357336"/>
                </a:cubicBezTo>
                <a:lnTo>
                  <a:pt x="33685" y="286841"/>
                </a:lnTo>
                <a:cubicBezTo>
                  <a:pt x="19933" y="278924"/>
                  <a:pt x="11460" y="264200"/>
                  <a:pt x="11460" y="248364"/>
                </a:cubicBezTo>
                <a:lnTo>
                  <a:pt x="11460" y="107375"/>
                </a:lnTo>
                <a:cubicBezTo>
                  <a:pt x="11460" y="91470"/>
                  <a:pt x="19933" y="76815"/>
                  <a:pt x="33685" y="68898"/>
                </a:cubicBezTo>
                <a:lnTo>
                  <a:pt x="155783" y="-1736"/>
                </a:lnTo>
                <a:close/>
                <a:moveTo>
                  <a:pt x="300107" y="248295"/>
                </a:moveTo>
                <a:lnTo>
                  <a:pt x="300107" y="132933"/>
                </a:lnTo>
                <a:lnTo>
                  <a:pt x="200233" y="190579"/>
                </a:lnTo>
                <a:lnTo>
                  <a:pt x="200233" y="305941"/>
                </a:lnTo>
                <a:lnTo>
                  <a:pt x="300107" y="248295"/>
                </a:lnTo>
                <a:close/>
              </a:path>
            </a:pathLst>
          </a:custGeom>
          <a:solidFill>
            <a:srgbClr val="C75B39"/>
          </a:solidFill>
          <a:ln/>
        </p:spPr>
      </p:sp>
      <p:sp>
        <p:nvSpPr>
          <p:cNvPr id="21" name="Text 19"/>
          <p:cNvSpPr/>
          <p:nvPr/>
        </p:nvSpPr>
        <p:spPr>
          <a:xfrm>
            <a:off x="12522200" y="2540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Has State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065000" y="2997200"/>
            <a:ext cx="3175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have constructors, instance variables, and static methods.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4254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DECLARATION SYNTAX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4610100"/>
            <a:ext cx="6858000" cy="14605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4699000"/>
            <a:ext cx="6350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792E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abstract class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C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ClassName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C792E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abstract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C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82AA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methodName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();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C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82AA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concreteMethod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() { ... }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28000" y="4254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28000" y="4610100"/>
            <a:ext cx="7366000" cy="1587500"/>
          </a:xfrm>
          <a:prstGeom prst="roundRect">
            <a:avLst>
              <a:gd name="adj" fmla="val 5000"/>
            </a:avLst>
          </a:prstGeom>
          <a:solidFill>
            <a:srgbClr val="EDEAE5"/>
          </a:solidFill>
          <a:ln/>
        </p:spPr>
      </p:sp>
      <p:sp>
        <p:nvSpPr>
          <p:cNvPr id="28" name="Text 26"/>
          <p:cNvSpPr/>
          <p:nvPr/>
        </p:nvSpPr>
        <p:spPr>
          <a:xfrm>
            <a:off x="8382000" y="4724400"/>
            <a:ext cx="685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Classes are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closely related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share common code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Need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instance variables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maintain state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Need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constructors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non-public methods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Partial implementation with enforced override points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6350000"/>
            <a:ext cx="50800" cy="6350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000" y="6350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Rule: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a class contains at least one abstract method, the class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 declared abstract. However, an abstract class can have zero abstract methods.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 Class — Code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17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SHAPE ABSTRACT CLASS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460500"/>
            <a:ext cx="8636000" cy="31750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549400"/>
            <a:ext cx="8191500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 class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Abstract method — no body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 double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2A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area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Concrete method — has body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2A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System.out.println(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3E8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"This is a shape"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826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CIRCLE SUBCLASS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5168900"/>
            <a:ext cx="8636000" cy="24130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5257800"/>
            <a:ext cx="819150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Circle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Shape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radius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78C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9D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@Override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2A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area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78C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3.14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* radius * radius;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06000" y="1117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&amp; OUTPUT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906000" y="1460500"/>
            <a:ext cx="5588000" cy="22225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4600" y="1549400"/>
            <a:ext cx="5143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static void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2A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(String[] args)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Upcasting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Shape s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Circle();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s.display();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System.out.println(s.area());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906000" y="3937000"/>
            <a:ext cx="5588000" cy="1041400"/>
          </a:xfrm>
          <a:prstGeom prst="roundRect">
            <a:avLst>
              <a:gd name="adj" fmla="val 4000"/>
            </a:avLst>
          </a:prstGeom>
          <a:solidFill>
            <a:srgbClr val="EDEAE5"/>
          </a:solidFill>
          <a:ln/>
        </p:spPr>
      </p:sp>
      <p:sp>
        <p:nvSpPr>
          <p:cNvPr id="15" name="Text 13"/>
          <p:cNvSpPr/>
          <p:nvPr/>
        </p:nvSpPr>
        <p:spPr>
          <a:xfrm>
            <a:off x="10134600" y="4025900"/>
            <a:ext cx="5143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is a shape / 78.5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06000" y="4953000"/>
            <a:ext cx="5588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Concepts: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Circle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implements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area()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Upcasting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Shape s = new Circle();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Polymorphism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s.area()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calls Circle's version at runtime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Concrete method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display()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inherited directly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an Interface?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143000"/>
            <a:ext cx="14732000" cy="9525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2065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reference type that defines a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contract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 set of methods that implementing classes must provide. It specifies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class can do, not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it does it.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286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PROPERTIES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667000"/>
            <a:ext cx="711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methods are implicitly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fields are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static final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(constants only)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Cannot be instantiated directly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class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 interface using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Supports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inheritance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type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 8+: can have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methods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 9+: can have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methods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0" y="2286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JDK EXAMPLES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2667000"/>
            <a:ext cx="7112000" cy="3492500"/>
          </a:xfrm>
          <a:prstGeom prst="roundRect">
            <a:avLst>
              <a:gd name="adj" fmla="val 5000"/>
            </a:avLst>
          </a:prstGeom>
          <a:solidFill>
            <a:srgbClr val="EDEAE5"/>
          </a:solidFill>
          <a:ln/>
        </p:spPr>
      </p:sp>
      <p:sp>
        <p:nvSpPr>
          <p:cNvPr id="11" name="Text 9"/>
          <p:cNvSpPr/>
          <p:nvPr/>
        </p:nvSpPr>
        <p:spPr>
          <a:xfrm>
            <a:off x="8699500" y="2857500"/>
            <a:ext cx="6477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Comparable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Implemented by String, Integer, Date for natural ordering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Cloneable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Objects can be cloned via Object.clone()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Serializable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Classes convert to byte streams for storage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350000"/>
            <a:ext cx="50800" cy="7620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6350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Purpose: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Interfaces achieve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inheritance of type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enabling unrelated classes to share common behaviors without forcing an inheritance relationship.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Defining an Interface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17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SYNTAX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460500"/>
            <a:ext cx="7366000" cy="23495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549400"/>
            <a:ext cx="6921500" cy="226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Drawable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Implicitly public abstract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2A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Constant — public static final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MAX_SIZE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78C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962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RULES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318000"/>
            <a:ext cx="7366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Interface methods have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body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(abstract by default)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Interface fields are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constants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must be initialized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adjective/capability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names: Drawable, Comparable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Keep interfaces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focused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one responsibility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class must implement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interface methods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36000" y="1117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8+ FEATURES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460500"/>
            <a:ext cx="6858000" cy="1651000"/>
          </a:xfrm>
          <a:prstGeom prst="roundRect">
            <a:avLst>
              <a:gd name="adj" fmla="val 5000"/>
            </a:avLst>
          </a:prstGeom>
          <a:solidFill>
            <a:srgbClr val="EDEAE5"/>
          </a:solidFill>
          <a:ln/>
        </p:spPr>
      </p:sp>
      <p:sp>
        <p:nvSpPr>
          <p:cNvPr id="12" name="Text 10"/>
          <p:cNvSpPr/>
          <p:nvPr/>
        </p:nvSpPr>
        <p:spPr>
          <a:xfrm>
            <a:off x="8890000" y="1587500"/>
            <a:ext cx="635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methods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methods with body in interface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 methods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utility methods belonging to interface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methods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(Java 9+) — helper methods for default methods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330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METHOD EXAMPLE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36000" y="3683000"/>
            <a:ext cx="6858000" cy="26924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15" name="Text 13"/>
          <p:cNvSpPr/>
          <p:nvPr/>
        </p:nvSpPr>
        <p:spPr>
          <a:xfrm>
            <a:off x="8864600" y="3784600"/>
            <a:ext cx="641350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Logger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2A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(String msg);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Default method with body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void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2A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logInfo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(String msg)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3E8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"[INFO] 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msg);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604000"/>
            <a:ext cx="50800" cy="698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66040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Principle: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Default methods were introduced in Java 8 to allow adding new methods to existing interfaces without breaking all implementing classes — a key evolution for backward compatibility.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as a Type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176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interface can be used as a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 type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variables. An interface reference can point to any object of a class that implements it — enabling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polymorphism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loose coupling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968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88000" y="2413000"/>
            <a:ext cx="2540000" cy="762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8" name="Text 6"/>
          <p:cNvSpPr/>
          <p:nvPr/>
        </p:nvSpPr>
        <p:spPr>
          <a:xfrm>
            <a:off x="5588000" y="2413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Drawable 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0" y="3175000"/>
            <a:ext cx="0" cy="635000"/>
          </a:xfrm>
          <a:prstGeom prst="straightConnector1">
            <a:avLst/>
          </a:prstGeom>
          <a:noFill/>
          <a:ln w="25400">
            <a:solidFill>
              <a:srgbClr val="C75B39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5588000" y="3810000"/>
            <a:ext cx="2540000" cy="762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 w="25400">
            <a:solidFill>
              <a:srgbClr val="1B3A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88000" y="3810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Rectangle()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2794000"/>
            <a:ext cx="1270000" cy="1397000"/>
          </a:xfrm>
          <a:prstGeom prst="straightConnector1">
            <a:avLst/>
          </a:prstGeom>
          <a:noFill/>
          <a:ln w="25400">
            <a:solidFill>
              <a:srgbClr val="6C7A89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9398000" y="2413000"/>
            <a:ext cx="2540000" cy="762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 w="25400">
            <a:solidFill>
              <a:srgbClr val="1B3A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98000" y="2413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Circle()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 flipV="1">
            <a:off x="8128000" y="4318000"/>
            <a:ext cx="1270000" cy="254000"/>
          </a:xfrm>
          <a:prstGeom prst="straightConnector1">
            <a:avLst/>
          </a:prstGeom>
          <a:noFill/>
          <a:ln w="25400">
            <a:solidFill>
              <a:srgbClr val="6C7A89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9398000" y="3810000"/>
            <a:ext cx="2540000" cy="762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 w="25400">
            <a:solidFill>
              <a:srgbClr val="1B3A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8000" y="3810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Triangle()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88000" y="4762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C7A8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interface reference, many implementations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5270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651500"/>
            <a:ext cx="7112000" cy="20955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5740400"/>
            <a:ext cx="6667500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Interface reference, any implementation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Drawable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d1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Rectangle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Drawable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d2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Circle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d1.draw();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Calls Rectangle's draw()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d2.draw();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Calls Circle's draw()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2000" y="5270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82000" y="5651500"/>
            <a:ext cx="7112000" cy="2006600"/>
          </a:xfrm>
          <a:prstGeom prst="roundRect">
            <a:avLst>
              <a:gd name="adj" fmla="val 5000"/>
            </a:avLst>
          </a:prstGeom>
          <a:solidFill>
            <a:srgbClr val="EDEAE5"/>
          </a:solidFill>
          <a:ln/>
        </p:spPr>
      </p:sp>
      <p:sp>
        <p:nvSpPr>
          <p:cNvPr id="24" name="Text 22"/>
          <p:cNvSpPr/>
          <p:nvPr/>
        </p:nvSpPr>
        <p:spPr>
          <a:xfrm>
            <a:off x="8636000" y="5778500"/>
            <a:ext cx="6604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Decoupling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Code depends on interface, not implementation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Flexibility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Swap implementations without changing code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Polymorphism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Same call, different behavior at runtime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Testability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Easy to mock interfaces for unit testing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vs. Class — Key Differences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206500"/>
          <a:ext cx="14732000" cy="6477000"/>
        </p:xfrm>
        <a:graphic>
          <a:graphicData uri="http://schemas.openxmlformats.org/drawingml/2006/table">
            <a:tbl>
              <a:tblPr/>
              <a:tblGrid>
                <a:gridCol w="4124960"/>
                <a:gridCol w="5303520"/>
                <a:gridCol w="5303520"/>
              </a:tblGrid>
              <a:tr h="65153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Interface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72818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Instantiation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 be instantiated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75B3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Cannot be instantiated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818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Methods have bodies (implementation)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Methods are abstract (no body)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72818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Variables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Instance and static variables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Only constants (public static final)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818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Constructors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 have constructors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75B3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constructors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72818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Inheritance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Single inheritance (extends)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Multiple inheritance (implements)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818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Access Modifiers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Any (public, private, protected)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 by default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72818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Relationship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Defines what an object IS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Defines what an object CAN DO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818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Maintains state (instance vars)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state (behavior contract only)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7874000"/>
            <a:ext cx="50800" cy="5080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7874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class defines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"is-a"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relationship with shared implementation. An interface defines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"can-do"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relationship with a behavior contract.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Implementing an Interface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17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460500"/>
            <a:ext cx="7366000" cy="6985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524000"/>
            <a:ext cx="692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ClassName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implements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InterfaceName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 ...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495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RULES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730500"/>
            <a:ext cx="7366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Must provide implementations for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abstract methods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Methods must be declared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(cannot reduce visibility)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@Override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annotation for clarity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not all methods implemented, class must be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class can implement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interfaces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397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778500"/>
            <a:ext cx="7366000" cy="23114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5867400"/>
            <a:ext cx="6921500" cy="226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Drawable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2A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Rectangle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Drawable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9D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@Override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void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2A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System.out.println(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3E8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"Drawing Rectangle"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1117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FLOW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0" y="1651000"/>
            <a:ext cx="2540000" cy="6985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16510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Define Interface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414000" y="2349500"/>
            <a:ext cx="0" cy="508000"/>
          </a:xfrm>
          <a:prstGeom prst="straightConnector1">
            <a:avLst/>
          </a:prstGeom>
          <a:noFill/>
          <a:ln w="25400">
            <a:solidFill>
              <a:srgbClr val="C75B39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9144000" y="2857500"/>
            <a:ext cx="2540000" cy="6985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28575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Methods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414000" y="3556000"/>
            <a:ext cx="0" cy="508000"/>
          </a:xfrm>
          <a:prstGeom prst="straightConnector1">
            <a:avLst/>
          </a:prstGeom>
          <a:noFill/>
          <a:ln w="25400">
            <a:solidFill>
              <a:srgbClr val="C75B39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9144000" y="4064000"/>
            <a:ext cx="2540000" cy="698500"/>
          </a:xfrm>
          <a:prstGeom prst="roundRect">
            <a:avLst>
              <a:gd name="adj" fmla="val 8000"/>
            </a:avLst>
          </a:prstGeom>
          <a:solidFill>
            <a:srgbClr val="C75B39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40640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via Interface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36000" y="50800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Define the contract (interface)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 implements all methods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Client code uses interface type — decoupled from implementation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Implementing Multiple Interfaces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176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supports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inheritance of type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interfaces. A class can implement any number of interfaces, composing behaviors from multiple sources.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0320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IMPLEMENTATION SYNTAX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387600"/>
            <a:ext cx="7620000" cy="6350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2451100"/>
            <a:ext cx="7175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Duck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implements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Walkable, Swimmable, Flyable { ... 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111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492500"/>
            <a:ext cx="7620000" cy="34290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3581400"/>
            <a:ext cx="71755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CreditCardPayment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82A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processCredit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amt);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UpiPayment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82A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processUPI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(String id,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amt);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PaymentProcessor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CreditCardPayment, UpiPayment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9D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@Override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void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82A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processCredit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a) { ...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9D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@Override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void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82A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processUPI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(String i,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a) { ...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90000" y="203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90000" y="2387600"/>
            <a:ext cx="6604000" cy="2476500"/>
          </a:xfrm>
          <a:prstGeom prst="roundRect">
            <a:avLst>
              <a:gd name="adj" fmla="val 5000"/>
            </a:avLst>
          </a:prstGeom>
          <a:solidFill>
            <a:srgbClr val="EDEAE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2514600"/>
            <a:ext cx="609600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Diamond Problem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Unlike class multiple inheritance, interfaces avoid ambiguity since methods have no implementation.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 Composition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SmartPhone can be Camera + MusicPlayer + GPS + Phone simultaneously.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90000" y="495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DIAGRAM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0" y="5397500"/>
            <a:ext cx="1968500" cy="5715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5397500"/>
            <a:ext cx="196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Walkable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366500" y="5397500"/>
            <a:ext cx="1968500" cy="5715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9" name="Text 17"/>
          <p:cNvSpPr/>
          <p:nvPr/>
        </p:nvSpPr>
        <p:spPr>
          <a:xfrm>
            <a:off x="11366500" y="5397500"/>
            <a:ext cx="1968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Swimmable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589000" y="5397500"/>
            <a:ext cx="1778000" cy="5715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21" name="Text 19"/>
          <p:cNvSpPr/>
          <p:nvPr/>
        </p:nvSpPr>
        <p:spPr>
          <a:xfrm>
            <a:off x="13589000" y="53975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Flyable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121900" y="5969000"/>
            <a:ext cx="0" cy="444500"/>
          </a:xfrm>
          <a:prstGeom prst="straightConnector1">
            <a:avLst/>
          </a:prstGeom>
          <a:noFill/>
          <a:ln w="25400">
            <a:solidFill>
              <a:srgbClr val="C75B39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2344400" y="5969000"/>
            <a:ext cx="0" cy="444500"/>
          </a:xfrm>
          <a:prstGeom prst="straightConnector1">
            <a:avLst/>
          </a:prstGeom>
          <a:noFill/>
          <a:ln w="25400">
            <a:solidFill>
              <a:srgbClr val="C75B39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4478000" y="5969000"/>
            <a:ext cx="0" cy="444500"/>
          </a:xfrm>
          <a:prstGeom prst="straightConnector1">
            <a:avLst/>
          </a:prstGeom>
          <a:noFill/>
          <a:ln w="25400">
            <a:solidFill>
              <a:srgbClr val="C75B39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0668000" y="6413500"/>
            <a:ext cx="3556000" cy="635000"/>
          </a:xfrm>
          <a:prstGeom prst="roundRect">
            <a:avLst>
              <a:gd name="adj" fmla="val 8000"/>
            </a:avLst>
          </a:prstGeom>
          <a:solidFill>
            <a:srgbClr val="C75B39"/>
          </a:solidFill>
          <a:ln/>
        </p:spPr>
      </p:sp>
      <p:sp>
        <p:nvSpPr>
          <p:cNvPr id="26" name="Text 24"/>
          <p:cNvSpPr/>
          <p:nvPr/>
        </p:nvSpPr>
        <p:spPr>
          <a:xfrm>
            <a:off x="10668000" y="64135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Duck implements ...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Inheritance Among Interfaces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176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interface can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another interface using 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Unlike classes, interfaces support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inheritance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building specialized contracts on general ones.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032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387600"/>
            <a:ext cx="7112000" cy="14224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2476500"/>
            <a:ext cx="66675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Single inheritance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{ ...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Multiple inheritance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A, B { ... 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810000"/>
            <a:ext cx="393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COLLECTION FRAMEWORK EXAMPLE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26000" y="41910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1" name="Text 9"/>
          <p:cNvSpPr/>
          <p:nvPr/>
        </p:nvSpPr>
        <p:spPr>
          <a:xfrm>
            <a:off x="4826000" y="4191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0" y="4826000"/>
            <a:ext cx="0" cy="444500"/>
          </a:xfrm>
          <a:prstGeom prst="straightConnector1">
            <a:avLst/>
          </a:prstGeom>
          <a:noFill/>
          <a:ln w="25400">
            <a:solidFill>
              <a:srgbClr val="C75B39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4826000" y="52705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4" name="Text 12"/>
          <p:cNvSpPr/>
          <p:nvPr/>
        </p:nvSpPr>
        <p:spPr>
          <a:xfrm>
            <a:off x="4826000" y="5270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0" y="5905500"/>
            <a:ext cx="0" cy="444500"/>
          </a:xfrm>
          <a:prstGeom prst="straightConnector1">
            <a:avLst/>
          </a:prstGeom>
          <a:noFill/>
          <a:ln w="25400">
            <a:solidFill>
              <a:srgbClr val="C75B39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4826000" y="63500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C75B39"/>
          </a:solidFill>
          <a:ln/>
        </p:spPr>
      </p:sp>
      <p:sp>
        <p:nvSpPr>
          <p:cNvPr id="17" name="Text 15"/>
          <p:cNvSpPr/>
          <p:nvPr/>
        </p:nvSpPr>
        <p:spPr>
          <a:xfrm>
            <a:off x="4826000" y="6350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SortedSet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71755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SortedSet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extends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which extends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Collection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 class implementing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SortedSet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must implement methods from the entire chain.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36000" y="203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RULES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36000" y="2387600"/>
            <a:ext cx="6858000" cy="2349500"/>
          </a:xfrm>
          <a:prstGeom prst="roundRect">
            <a:avLst>
              <a:gd name="adj" fmla="val 5000"/>
            </a:avLst>
          </a:prstGeom>
          <a:solidFill>
            <a:srgbClr val="EDEAE5"/>
          </a:solidFill>
          <a:ln/>
        </p:spPr>
      </p:sp>
      <p:sp>
        <p:nvSpPr>
          <p:cNvPr id="21" name="Text 19"/>
          <p:cNvSpPr/>
          <p:nvPr/>
        </p:nvSpPr>
        <p:spPr>
          <a:xfrm>
            <a:off x="8890000" y="2540000"/>
            <a:ext cx="6350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Child interface inherits all parent methods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Implementing class must implement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methods from entire chain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Child can add new methods to the contract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Multiple parent interfaces allowed (unlike classes)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Builds specialized contracts on general ones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36000" y="495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36000" y="5334000"/>
            <a:ext cx="6858000" cy="20955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24" name="Text 22"/>
          <p:cNvSpPr/>
          <p:nvPr/>
        </p:nvSpPr>
        <p:spPr>
          <a:xfrm>
            <a:off x="8864600" y="5435600"/>
            <a:ext cx="6413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Readable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2A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Writable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2A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Inherits both read() and write()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FileIO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Readable, Writable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2A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additional method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 Class vs. Interface — When to Use What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206500"/>
            <a:ext cx="7112000" cy="3175000"/>
          </a:xfrm>
          <a:prstGeom prst="roundRect">
            <a:avLst>
              <a:gd name="adj" fmla="val 5000"/>
            </a:avLst>
          </a:prstGeom>
          <a:solidFill>
            <a:srgbClr val="EDEAE5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06500"/>
            <a:ext cx="63500" cy="3175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1333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Abstract Class When...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1803400"/>
            <a:ext cx="65405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Classes are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closely related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share common code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Need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instance variables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maintain state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Need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constructors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initialization logic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Need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non-public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methods (protected/private)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Want to provide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 implementation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Defining an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"is-a"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relationship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206500"/>
            <a:ext cx="7112000" cy="3175000"/>
          </a:xfrm>
          <a:prstGeom prst="roundRect">
            <a:avLst>
              <a:gd name="adj" fmla="val 5000"/>
            </a:avLst>
          </a:prstGeom>
          <a:solidFill>
            <a:srgbClr val="EDEAE5"/>
          </a:solidFill>
          <a:ln/>
        </p:spPr>
      </p:sp>
      <p:sp>
        <p:nvSpPr>
          <p:cNvPr id="10" name="Shape 8"/>
          <p:cNvSpPr/>
          <p:nvPr/>
        </p:nvSpPr>
        <p:spPr>
          <a:xfrm>
            <a:off x="8382000" y="1206500"/>
            <a:ext cx="63500" cy="31750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1" name="Text 9"/>
          <p:cNvSpPr/>
          <p:nvPr/>
        </p:nvSpPr>
        <p:spPr>
          <a:xfrm>
            <a:off x="8699500" y="1333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Interface When...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99500" y="1803400"/>
            <a:ext cx="65405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Unrelated classes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share a behavior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Want to specify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capability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implementation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Need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inheritance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type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Want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loose coupling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components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Need to define a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contract/API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others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Defining a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"can-do"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relationship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635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JDK EXAMPLE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016500"/>
            <a:ext cx="14732000" cy="12065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" y="5118100"/>
            <a:ext cx="14287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HashMap uses BOTH abstract class and interfaces together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HashMap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AbstractMap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Cloneable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Serializable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 ... }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477000"/>
            <a:ext cx="50800" cy="7620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6477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Together is Powerful: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Abstract classes and interfaces are not mutually exclusive. The best designs often use both — abstract classes for shared implementation and interfaces for behavior contracts. HashMap extends AbstractMap (shared code) and implements Map, Cloneable, Serializable (capabilities).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286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6000" y="2794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4127500"/>
            <a:ext cx="1524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3815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 Handling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5207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6C7A8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Writing robust, fault-tolerant Java programs through structured error management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an Exception?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143000"/>
            <a:ext cx="14732000" cy="9525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2065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exception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an event that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disrupts the normal flow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program execution. It occurs during runtime due to unexpected conditions or errors, and is represented as an object in Java's 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Throwable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hierarchy.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349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EXCEPTION SCENARIOS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730500"/>
            <a:ext cx="3429000" cy="1270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9" name="Shape 7"/>
          <p:cNvSpPr/>
          <p:nvPr/>
        </p:nvSpPr>
        <p:spPr>
          <a:xfrm>
            <a:off x="1036638" y="2857500"/>
            <a:ext cx="288925" cy="330200"/>
          </a:xfrm>
          <a:custGeom>
            <a:avLst/>
            <a:gdLst/>
            <a:ahLst/>
            <a:cxnLst/>
            <a:rect l="l" t="t" r="r" b="b"/>
            <a:pathLst>
              <a:path w="288925" h="330200">
                <a:moveTo>
                  <a:pt x="144463" y="30956"/>
                </a:moveTo>
                <a:cubicBezTo>
                  <a:pt x="164395" y="30956"/>
                  <a:pt x="180578" y="47139"/>
                  <a:pt x="180578" y="67072"/>
                </a:cubicBezTo>
                <a:cubicBezTo>
                  <a:pt x="180578" y="87005"/>
                  <a:pt x="164395" y="103188"/>
                  <a:pt x="144463" y="103188"/>
                </a:cubicBezTo>
                <a:cubicBezTo>
                  <a:pt x="124530" y="103188"/>
                  <a:pt x="108347" y="87005"/>
                  <a:pt x="108347" y="67072"/>
                </a:cubicBezTo>
                <a:cubicBezTo>
                  <a:pt x="108347" y="47139"/>
                  <a:pt x="124530" y="30956"/>
                  <a:pt x="144463" y="30956"/>
                </a:cubicBezTo>
                <a:close/>
                <a:moveTo>
                  <a:pt x="0" y="165100"/>
                </a:moveTo>
                <a:cubicBezTo>
                  <a:pt x="0" y="153685"/>
                  <a:pt x="9222" y="144463"/>
                  <a:pt x="20638" y="144463"/>
                </a:cubicBezTo>
                <a:lnTo>
                  <a:pt x="268288" y="144463"/>
                </a:lnTo>
                <a:cubicBezTo>
                  <a:pt x="279703" y="144463"/>
                  <a:pt x="288925" y="153685"/>
                  <a:pt x="288925" y="165100"/>
                </a:cubicBezTo>
                <a:cubicBezTo>
                  <a:pt x="288925" y="176515"/>
                  <a:pt x="279703" y="185738"/>
                  <a:pt x="268288" y="185738"/>
                </a:cubicBezTo>
                <a:lnTo>
                  <a:pt x="20638" y="185738"/>
                </a:lnTo>
                <a:cubicBezTo>
                  <a:pt x="9222" y="185738"/>
                  <a:pt x="0" y="176515"/>
                  <a:pt x="0" y="165100"/>
                </a:cubicBezTo>
                <a:close/>
                <a:moveTo>
                  <a:pt x="108347" y="263128"/>
                </a:moveTo>
                <a:cubicBezTo>
                  <a:pt x="108347" y="243195"/>
                  <a:pt x="124530" y="227013"/>
                  <a:pt x="144463" y="227013"/>
                </a:cubicBezTo>
                <a:cubicBezTo>
                  <a:pt x="164395" y="227013"/>
                  <a:pt x="180578" y="243195"/>
                  <a:pt x="180578" y="263128"/>
                </a:cubicBezTo>
                <a:cubicBezTo>
                  <a:pt x="180578" y="283061"/>
                  <a:pt x="164395" y="299244"/>
                  <a:pt x="144463" y="299244"/>
                </a:cubicBezTo>
                <a:cubicBezTo>
                  <a:pt x="124530" y="299244"/>
                  <a:pt x="108347" y="283061"/>
                  <a:pt x="108347" y="263128"/>
                </a:cubicBezTo>
                <a:close/>
              </a:path>
            </a:pathLst>
          </a:custGeom>
          <a:solidFill>
            <a:srgbClr val="C75B39"/>
          </a:solidFill>
          <a:ln/>
        </p:spPr>
      </p:sp>
      <p:sp>
        <p:nvSpPr>
          <p:cNvPr id="10" name="Text 8"/>
          <p:cNvSpPr/>
          <p:nvPr/>
        </p:nvSpPr>
        <p:spPr>
          <a:xfrm>
            <a:off x="1447800" y="2857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Arithmetic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276600"/>
            <a:ext cx="292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Dividing by zero triggers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ArithmeticException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45000" y="2730500"/>
            <a:ext cx="3429000" cy="1270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13" name="Shape 11"/>
          <p:cNvSpPr/>
          <p:nvPr/>
        </p:nvSpPr>
        <p:spPr>
          <a:xfrm>
            <a:off x="4740275" y="2857500"/>
            <a:ext cx="247650" cy="330200"/>
          </a:xfrm>
          <a:custGeom>
            <a:avLst/>
            <a:gdLst/>
            <a:ahLst/>
            <a:cxnLst/>
            <a:rect l="l" t="t" r="r" b="b"/>
            <a:pathLst>
              <a:path w="247650" h="330200">
                <a:moveTo>
                  <a:pt x="41275" y="0"/>
                </a:moveTo>
                <a:cubicBezTo>
                  <a:pt x="18509" y="0"/>
                  <a:pt x="0" y="18509"/>
                  <a:pt x="0" y="41275"/>
                </a:cubicBezTo>
                <a:lnTo>
                  <a:pt x="0" y="288925"/>
                </a:lnTo>
                <a:cubicBezTo>
                  <a:pt x="0" y="311691"/>
                  <a:pt x="18509" y="330200"/>
                  <a:pt x="41275" y="330200"/>
                </a:cubicBezTo>
                <a:lnTo>
                  <a:pt x="206375" y="330200"/>
                </a:lnTo>
                <a:cubicBezTo>
                  <a:pt x="229141" y="330200"/>
                  <a:pt x="247650" y="311691"/>
                  <a:pt x="247650" y="288925"/>
                </a:cubicBezTo>
                <a:lnTo>
                  <a:pt x="247650" y="109959"/>
                </a:lnTo>
                <a:cubicBezTo>
                  <a:pt x="247650" y="98996"/>
                  <a:pt x="243329" y="88483"/>
                  <a:pt x="235590" y="80744"/>
                </a:cubicBezTo>
                <a:lnTo>
                  <a:pt x="166841" y="12060"/>
                </a:lnTo>
                <a:cubicBezTo>
                  <a:pt x="159102" y="4321"/>
                  <a:pt x="148654" y="0"/>
                  <a:pt x="137691" y="0"/>
                </a:cubicBezTo>
                <a:lnTo>
                  <a:pt x="41275" y="0"/>
                </a:lnTo>
                <a:close/>
                <a:moveTo>
                  <a:pt x="209922" y="113506"/>
                </a:moveTo>
                <a:lnTo>
                  <a:pt x="149622" y="113506"/>
                </a:lnTo>
                <a:cubicBezTo>
                  <a:pt x="141044" y="113506"/>
                  <a:pt x="134144" y="106606"/>
                  <a:pt x="134144" y="98028"/>
                </a:cubicBezTo>
                <a:lnTo>
                  <a:pt x="134144" y="37728"/>
                </a:lnTo>
                <a:lnTo>
                  <a:pt x="209922" y="113506"/>
                </a:lnTo>
                <a:close/>
              </a:path>
            </a:pathLst>
          </a:custGeom>
          <a:solidFill>
            <a:srgbClr val="C75B39"/>
          </a:solidFill>
          <a:ln/>
        </p:spPr>
      </p:sp>
      <p:sp>
        <p:nvSpPr>
          <p:cNvPr id="14" name="Text 12"/>
          <p:cNvSpPr/>
          <p:nvPr/>
        </p:nvSpPr>
        <p:spPr>
          <a:xfrm>
            <a:off x="5130800" y="2857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I/O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99000" y="3276600"/>
            <a:ext cx="292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file causes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FileNotFoundException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8000" y="2730500"/>
            <a:ext cx="3429000" cy="1270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17" name="Shape 15"/>
          <p:cNvSpPr/>
          <p:nvPr/>
        </p:nvSpPr>
        <p:spPr>
          <a:xfrm>
            <a:off x="8382000" y="2857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25797" y="30956"/>
                </a:moveTo>
                <a:cubicBezTo>
                  <a:pt x="17219" y="30956"/>
                  <a:pt x="10319" y="37857"/>
                  <a:pt x="10319" y="46434"/>
                </a:cubicBezTo>
                <a:lnTo>
                  <a:pt x="10319" y="77391"/>
                </a:lnTo>
                <a:cubicBezTo>
                  <a:pt x="10319" y="85968"/>
                  <a:pt x="17219" y="92869"/>
                  <a:pt x="25797" y="92869"/>
                </a:cubicBezTo>
                <a:lnTo>
                  <a:pt x="56753" y="92869"/>
                </a:lnTo>
                <a:cubicBezTo>
                  <a:pt x="65331" y="92869"/>
                  <a:pt x="72231" y="85968"/>
                  <a:pt x="72231" y="77391"/>
                </a:cubicBezTo>
                <a:lnTo>
                  <a:pt x="72231" y="46434"/>
                </a:lnTo>
                <a:cubicBezTo>
                  <a:pt x="72231" y="37857"/>
                  <a:pt x="65331" y="30956"/>
                  <a:pt x="56753" y="30956"/>
                </a:cubicBezTo>
                <a:lnTo>
                  <a:pt x="25797" y="30956"/>
                </a:lnTo>
                <a:close/>
                <a:moveTo>
                  <a:pt x="123825" y="41275"/>
                </a:moveTo>
                <a:cubicBezTo>
                  <a:pt x="112410" y="41275"/>
                  <a:pt x="103188" y="50497"/>
                  <a:pt x="103188" y="61912"/>
                </a:cubicBezTo>
                <a:cubicBezTo>
                  <a:pt x="103188" y="73328"/>
                  <a:pt x="112410" y="82550"/>
                  <a:pt x="123825" y="82550"/>
                </a:cubicBezTo>
                <a:lnTo>
                  <a:pt x="309563" y="82550"/>
                </a:lnTo>
                <a:cubicBezTo>
                  <a:pt x="320978" y="82550"/>
                  <a:pt x="330200" y="73328"/>
                  <a:pt x="330200" y="61912"/>
                </a:cubicBezTo>
                <a:cubicBezTo>
                  <a:pt x="330200" y="50497"/>
                  <a:pt x="320978" y="41275"/>
                  <a:pt x="309563" y="41275"/>
                </a:cubicBezTo>
                <a:lnTo>
                  <a:pt x="123825" y="41275"/>
                </a:lnTo>
                <a:close/>
                <a:moveTo>
                  <a:pt x="123825" y="144463"/>
                </a:moveTo>
                <a:cubicBezTo>
                  <a:pt x="112410" y="144463"/>
                  <a:pt x="103188" y="153685"/>
                  <a:pt x="103188" y="165100"/>
                </a:cubicBezTo>
                <a:cubicBezTo>
                  <a:pt x="103188" y="176515"/>
                  <a:pt x="112410" y="185738"/>
                  <a:pt x="123825" y="185738"/>
                </a:cubicBezTo>
                <a:lnTo>
                  <a:pt x="309563" y="185738"/>
                </a:lnTo>
                <a:cubicBezTo>
                  <a:pt x="320978" y="185738"/>
                  <a:pt x="330200" y="176515"/>
                  <a:pt x="330200" y="165100"/>
                </a:cubicBezTo>
                <a:cubicBezTo>
                  <a:pt x="330200" y="153685"/>
                  <a:pt x="320978" y="144463"/>
                  <a:pt x="309563" y="144463"/>
                </a:cubicBezTo>
                <a:lnTo>
                  <a:pt x="123825" y="144463"/>
                </a:lnTo>
                <a:close/>
                <a:moveTo>
                  <a:pt x="123825" y="247650"/>
                </a:moveTo>
                <a:cubicBezTo>
                  <a:pt x="112410" y="247650"/>
                  <a:pt x="103188" y="256872"/>
                  <a:pt x="103188" y="268288"/>
                </a:cubicBezTo>
                <a:cubicBezTo>
                  <a:pt x="103188" y="279703"/>
                  <a:pt x="112410" y="288925"/>
                  <a:pt x="123825" y="288925"/>
                </a:cubicBezTo>
                <a:lnTo>
                  <a:pt x="309563" y="288925"/>
                </a:lnTo>
                <a:cubicBezTo>
                  <a:pt x="320978" y="288925"/>
                  <a:pt x="330200" y="279703"/>
                  <a:pt x="330200" y="268288"/>
                </a:cubicBezTo>
                <a:cubicBezTo>
                  <a:pt x="330200" y="256872"/>
                  <a:pt x="320978" y="247650"/>
                  <a:pt x="309563" y="247650"/>
                </a:cubicBezTo>
                <a:lnTo>
                  <a:pt x="123825" y="247650"/>
                </a:lnTo>
                <a:close/>
                <a:moveTo>
                  <a:pt x="10319" y="149622"/>
                </a:moveTo>
                <a:lnTo>
                  <a:pt x="10319" y="180578"/>
                </a:lnTo>
                <a:cubicBezTo>
                  <a:pt x="10319" y="189156"/>
                  <a:pt x="17219" y="196056"/>
                  <a:pt x="25797" y="196056"/>
                </a:cubicBezTo>
                <a:lnTo>
                  <a:pt x="56753" y="196056"/>
                </a:lnTo>
                <a:cubicBezTo>
                  <a:pt x="65331" y="196056"/>
                  <a:pt x="72231" y="189156"/>
                  <a:pt x="72231" y="180578"/>
                </a:cubicBezTo>
                <a:lnTo>
                  <a:pt x="72231" y="149622"/>
                </a:lnTo>
                <a:cubicBezTo>
                  <a:pt x="72231" y="141044"/>
                  <a:pt x="65331" y="134144"/>
                  <a:pt x="56753" y="134144"/>
                </a:cubicBezTo>
                <a:lnTo>
                  <a:pt x="25797" y="134144"/>
                </a:lnTo>
                <a:cubicBezTo>
                  <a:pt x="17219" y="134144"/>
                  <a:pt x="10319" y="141044"/>
                  <a:pt x="10319" y="149622"/>
                </a:cubicBezTo>
                <a:close/>
                <a:moveTo>
                  <a:pt x="25797" y="237331"/>
                </a:moveTo>
                <a:cubicBezTo>
                  <a:pt x="17219" y="237331"/>
                  <a:pt x="10319" y="244232"/>
                  <a:pt x="10319" y="252809"/>
                </a:cubicBezTo>
                <a:lnTo>
                  <a:pt x="10319" y="283766"/>
                </a:lnTo>
                <a:cubicBezTo>
                  <a:pt x="10319" y="292343"/>
                  <a:pt x="17219" y="299244"/>
                  <a:pt x="25797" y="299244"/>
                </a:cubicBezTo>
                <a:lnTo>
                  <a:pt x="56753" y="299244"/>
                </a:lnTo>
                <a:cubicBezTo>
                  <a:pt x="65331" y="299244"/>
                  <a:pt x="72231" y="292343"/>
                  <a:pt x="72231" y="283766"/>
                </a:cubicBezTo>
                <a:lnTo>
                  <a:pt x="72231" y="252809"/>
                </a:lnTo>
                <a:cubicBezTo>
                  <a:pt x="72231" y="244232"/>
                  <a:pt x="65331" y="237331"/>
                  <a:pt x="56753" y="237331"/>
                </a:cubicBezTo>
                <a:lnTo>
                  <a:pt x="25797" y="237331"/>
                </a:lnTo>
                <a:close/>
              </a:path>
            </a:pathLst>
          </a:custGeom>
          <a:solidFill>
            <a:srgbClr val="C75B39"/>
          </a:solidFill>
          <a:ln/>
        </p:spPr>
      </p:sp>
      <p:sp>
        <p:nvSpPr>
          <p:cNvPr id="18" name="Text 16"/>
          <p:cNvSpPr/>
          <p:nvPr/>
        </p:nvSpPr>
        <p:spPr>
          <a:xfrm>
            <a:off x="8813800" y="2857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Array Bounds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0" y="3276600"/>
            <a:ext cx="292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Invalid index throws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ArrayIndexOutOfBounds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11000" y="2730500"/>
            <a:ext cx="3683000" cy="1270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65000" y="2857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236815" y="266030"/>
                </a:moveTo>
                <a:lnTo>
                  <a:pt x="64170" y="93385"/>
                </a:lnTo>
                <a:cubicBezTo>
                  <a:pt x="49723" y="113635"/>
                  <a:pt x="41275" y="138400"/>
                  <a:pt x="41275" y="165100"/>
                </a:cubicBezTo>
                <a:cubicBezTo>
                  <a:pt x="41275" y="233462"/>
                  <a:pt x="96738" y="288925"/>
                  <a:pt x="165100" y="288925"/>
                </a:cubicBezTo>
                <a:cubicBezTo>
                  <a:pt x="191864" y="288925"/>
                  <a:pt x="216629" y="280477"/>
                  <a:pt x="236815" y="266030"/>
                </a:cubicBezTo>
                <a:close/>
                <a:moveTo>
                  <a:pt x="266030" y="236815"/>
                </a:moveTo>
                <a:cubicBezTo>
                  <a:pt x="280477" y="216565"/>
                  <a:pt x="288925" y="191800"/>
                  <a:pt x="288925" y="165100"/>
                </a:cubicBezTo>
                <a:cubicBezTo>
                  <a:pt x="288925" y="96738"/>
                  <a:pt x="233462" y="41275"/>
                  <a:pt x="165100" y="41275"/>
                </a:cubicBezTo>
                <a:cubicBezTo>
                  <a:pt x="138336" y="41275"/>
                  <a:pt x="113571" y="49723"/>
                  <a:pt x="93385" y="64170"/>
                </a:cubicBezTo>
                <a:lnTo>
                  <a:pt x="266030" y="236815"/>
                </a:lnTo>
                <a:close/>
                <a:moveTo>
                  <a:pt x="0" y="165100"/>
                </a:moveTo>
                <a:cubicBezTo>
                  <a:pt x="0" y="73979"/>
                  <a:pt x="73979" y="0"/>
                  <a:pt x="165100" y="0"/>
                </a:cubicBezTo>
                <a:cubicBezTo>
                  <a:pt x="256221" y="0"/>
                  <a:pt x="330200" y="73979"/>
                  <a:pt x="330200" y="165100"/>
                </a:cubicBezTo>
                <a:cubicBezTo>
                  <a:pt x="330200" y="256221"/>
                  <a:pt x="256221" y="330200"/>
                  <a:pt x="165100" y="330200"/>
                </a:cubicBezTo>
                <a:cubicBezTo>
                  <a:pt x="73979" y="330200"/>
                  <a:pt x="0" y="256221"/>
                  <a:pt x="0" y="165100"/>
                </a:cubicBezTo>
                <a:close/>
              </a:path>
            </a:pathLst>
          </a:custGeom>
          <a:solidFill>
            <a:srgbClr val="C75B39"/>
          </a:solidFill>
          <a:ln/>
        </p:spPr>
      </p:sp>
      <p:sp>
        <p:nvSpPr>
          <p:cNvPr id="22" name="Text 20"/>
          <p:cNvSpPr/>
          <p:nvPr/>
        </p:nvSpPr>
        <p:spPr>
          <a:xfrm>
            <a:off x="12496800" y="28575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Null Pointer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065000" y="3276600"/>
            <a:ext cx="317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Null dereference causes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NullPointerException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4254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EXCEPTION HANDLING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4610100"/>
            <a:ext cx="7112000" cy="13335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26" name="Text 24"/>
          <p:cNvSpPr/>
          <p:nvPr/>
        </p:nvSpPr>
        <p:spPr>
          <a:xfrm>
            <a:off x="990600" y="4699000"/>
            <a:ext cx="6667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78C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78C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CRASH!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System.out.println(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3E8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"Done"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Never runs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53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Exception: java.lang.ArithmeticException: / by zero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82000" y="4254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EXCEPTION HANDLING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82000" y="4610100"/>
            <a:ext cx="7112000" cy="14224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29" name="Text 27"/>
          <p:cNvSpPr/>
          <p:nvPr/>
        </p:nvSpPr>
        <p:spPr>
          <a:xfrm>
            <a:off x="8610600" y="4699000"/>
            <a:ext cx="6667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78C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78C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catch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(ArithmeticException e)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System.out.println(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3E8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"Cannot divide by zero"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System.out.println(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3E8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"Done"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Executes!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6159500"/>
            <a:ext cx="1473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handling, the program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crashes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subsequent code never runs. With handling, the error is caught, a message is displayed, and the program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continues executing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normally. Exception handling separates error management from business logic.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Exception Hierarchy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17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exceptions in Java are objects rooted in the 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java.lang.Throwable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class, branching into two main categories: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23000" y="1714500"/>
            <a:ext cx="3810000" cy="635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7" name="Text 5"/>
          <p:cNvSpPr/>
          <p:nvPr/>
        </p:nvSpPr>
        <p:spPr>
          <a:xfrm>
            <a:off x="6223000" y="17145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java.lang.Throwable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0000" y="2349500"/>
            <a:ext cx="1778000" cy="698500"/>
          </a:xfrm>
          <a:prstGeom prst="straightConnector1">
            <a:avLst/>
          </a:prstGeom>
          <a:noFill/>
          <a:ln w="25400">
            <a:solidFill>
              <a:srgbClr val="6C7A89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 flipH="1">
            <a:off x="9398000" y="2349500"/>
            <a:ext cx="1778000" cy="698500"/>
          </a:xfrm>
          <a:prstGeom prst="straightConnector1">
            <a:avLst/>
          </a:prstGeom>
          <a:noFill/>
          <a:ln w="25400">
            <a:solidFill>
              <a:srgbClr val="6C7A89"/>
            </a:solidFill>
            <a:prstDash val="solid"/>
            <a:headEnd type="arrow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540000" y="3048000"/>
            <a:ext cx="3302000" cy="635000"/>
          </a:xfrm>
          <a:prstGeom prst="roundRect">
            <a:avLst>
              <a:gd name="adj" fmla="val 8000"/>
            </a:avLst>
          </a:prstGeom>
          <a:solidFill>
            <a:srgbClr val="8B4513"/>
          </a:solidFill>
          <a:ln/>
        </p:spPr>
      </p:sp>
      <p:sp>
        <p:nvSpPr>
          <p:cNvPr id="11" name="Text 9"/>
          <p:cNvSpPr/>
          <p:nvPr/>
        </p:nvSpPr>
        <p:spPr>
          <a:xfrm>
            <a:off x="2540000" y="30480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(Irrecoverable)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414000" y="3048000"/>
            <a:ext cx="3302000" cy="635000"/>
          </a:xfrm>
          <a:prstGeom prst="roundRect">
            <a:avLst>
              <a:gd name="adj" fmla="val 8000"/>
            </a:avLst>
          </a:prstGeom>
          <a:solidFill>
            <a:srgbClr val="C75B39"/>
          </a:solidFill>
          <a:ln/>
        </p:spPr>
      </p:sp>
      <p:sp>
        <p:nvSpPr>
          <p:cNvPr id="13" name="Text 11"/>
          <p:cNvSpPr/>
          <p:nvPr/>
        </p:nvSpPr>
        <p:spPr>
          <a:xfrm>
            <a:off x="10414000" y="30480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 (Recoverable)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91000" y="3683000"/>
            <a:ext cx="0" cy="508000"/>
          </a:xfrm>
          <a:prstGeom prst="straightConnector1">
            <a:avLst/>
          </a:prstGeom>
          <a:noFill/>
          <a:ln w="25400">
            <a:solidFill>
              <a:srgbClr val="8B4513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968500" y="4191000"/>
            <a:ext cx="3175000" cy="5715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 w="25400">
            <a:solidFill>
              <a:srgbClr val="8B451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8500" y="4191000"/>
            <a:ext cx="317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OutOfMemoryError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91000" y="4762500"/>
            <a:ext cx="0" cy="508000"/>
          </a:xfrm>
          <a:prstGeom prst="straightConnector1">
            <a:avLst/>
          </a:prstGeom>
          <a:noFill/>
          <a:ln w="25400">
            <a:solidFill>
              <a:srgbClr val="8B4513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968500" y="5270500"/>
            <a:ext cx="3175000" cy="5715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 w="25400">
            <a:solidFill>
              <a:srgbClr val="8B45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8500" y="5270500"/>
            <a:ext cx="317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StackOverflowError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065000" y="3683000"/>
            <a:ext cx="0" cy="508000"/>
          </a:xfrm>
          <a:prstGeom prst="straightConnector1">
            <a:avLst/>
          </a:prstGeom>
          <a:noFill/>
          <a:ln w="25400">
            <a:solidFill>
              <a:srgbClr val="C75B39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9842500" y="4191000"/>
            <a:ext cx="3175000" cy="5715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 w="25400">
            <a:solidFill>
              <a:srgbClr val="C75B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42500" y="4191000"/>
            <a:ext cx="317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RuntimeException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065000" y="4762500"/>
            <a:ext cx="0" cy="508000"/>
          </a:xfrm>
          <a:prstGeom prst="straightConnector1">
            <a:avLst/>
          </a:prstGeom>
          <a:noFill/>
          <a:ln w="25400">
            <a:solidFill>
              <a:srgbClr val="C75B39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9842500" y="5270500"/>
            <a:ext cx="3175000" cy="5715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 w="25400">
            <a:solidFill>
              <a:srgbClr val="C75B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42500" y="5270500"/>
            <a:ext cx="317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Checked Exceptions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62230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8B451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Serious, irrecoverable problems outside application control. Examples: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OutOfMemoryError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StackOverflowError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 not catch these.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28000" y="6223000"/>
            <a:ext cx="736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RuntimeException: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Programming bugs —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NullPointerException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ArrayIndexOutOfBoundsException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ArithmeticException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Unchecked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compiler.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7302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Checked Exceptions: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other exceptions extending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Exception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IOException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SQLException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FileNotFoundException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Compiler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forces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handling via try-catch or throws declaration.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of Exception Handling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206500"/>
            <a:ext cx="4699000" cy="17145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06500"/>
            <a:ext cx="50800" cy="1714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7" name="Shape 5"/>
          <p:cNvSpPr/>
          <p:nvPr/>
        </p:nvSpPr>
        <p:spPr>
          <a:xfrm>
            <a:off x="1038225" y="1371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55563" y="72231"/>
                </a:moveTo>
                <a:cubicBezTo>
                  <a:pt x="64762" y="72231"/>
                  <a:pt x="72231" y="64762"/>
                  <a:pt x="72231" y="55563"/>
                </a:cubicBezTo>
                <a:cubicBezTo>
                  <a:pt x="72231" y="46363"/>
                  <a:pt x="64762" y="38894"/>
                  <a:pt x="55563" y="38894"/>
                </a:cubicBezTo>
                <a:cubicBezTo>
                  <a:pt x="46363" y="38894"/>
                  <a:pt x="38894" y="46363"/>
                  <a:pt x="38894" y="55563"/>
                </a:cubicBezTo>
                <a:cubicBezTo>
                  <a:pt x="38894" y="64762"/>
                  <a:pt x="46363" y="72231"/>
                  <a:pt x="55563" y="72231"/>
                </a:cubicBezTo>
                <a:close/>
                <a:moveTo>
                  <a:pt x="111125" y="55563"/>
                </a:moveTo>
                <a:cubicBezTo>
                  <a:pt x="111125" y="78343"/>
                  <a:pt x="97443" y="97929"/>
                  <a:pt x="77788" y="106472"/>
                </a:cubicBezTo>
                <a:lnTo>
                  <a:pt x="77788" y="155575"/>
                </a:lnTo>
                <a:lnTo>
                  <a:pt x="200025" y="155575"/>
                </a:lnTo>
                <a:cubicBezTo>
                  <a:pt x="218430" y="155575"/>
                  <a:pt x="233363" y="140643"/>
                  <a:pt x="233363" y="122238"/>
                </a:cubicBezTo>
                <a:lnTo>
                  <a:pt x="233363" y="106472"/>
                </a:lnTo>
                <a:cubicBezTo>
                  <a:pt x="213707" y="97929"/>
                  <a:pt x="200025" y="78343"/>
                  <a:pt x="200025" y="55563"/>
                </a:cubicBezTo>
                <a:cubicBezTo>
                  <a:pt x="200025" y="24864"/>
                  <a:pt x="224889" y="0"/>
                  <a:pt x="255587" y="0"/>
                </a:cubicBezTo>
                <a:cubicBezTo>
                  <a:pt x="286286" y="0"/>
                  <a:pt x="311150" y="24864"/>
                  <a:pt x="311150" y="55563"/>
                </a:cubicBezTo>
                <a:cubicBezTo>
                  <a:pt x="311150" y="78343"/>
                  <a:pt x="297468" y="97929"/>
                  <a:pt x="277813" y="106472"/>
                </a:cubicBezTo>
                <a:lnTo>
                  <a:pt x="277813" y="122238"/>
                </a:lnTo>
                <a:cubicBezTo>
                  <a:pt x="277813" y="165229"/>
                  <a:pt x="243016" y="200025"/>
                  <a:pt x="200025" y="200025"/>
                </a:cubicBezTo>
                <a:lnTo>
                  <a:pt x="77788" y="200025"/>
                </a:lnTo>
                <a:lnTo>
                  <a:pt x="77788" y="249128"/>
                </a:lnTo>
                <a:cubicBezTo>
                  <a:pt x="97443" y="257671"/>
                  <a:pt x="111125" y="277257"/>
                  <a:pt x="111125" y="300038"/>
                </a:cubicBezTo>
                <a:cubicBezTo>
                  <a:pt x="111125" y="330736"/>
                  <a:pt x="86261" y="355600"/>
                  <a:pt x="55563" y="355600"/>
                </a:cubicBezTo>
                <a:cubicBezTo>
                  <a:pt x="24864" y="355600"/>
                  <a:pt x="0" y="330736"/>
                  <a:pt x="0" y="300038"/>
                </a:cubicBezTo>
                <a:cubicBezTo>
                  <a:pt x="0" y="277257"/>
                  <a:pt x="13682" y="257671"/>
                  <a:pt x="33337" y="249128"/>
                </a:cubicBezTo>
                <a:lnTo>
                  <a:pt x="33337" y="106541"/>
                </a:lnTo>
                <a:cubicBezTo>
                  <a:pt x="13682" y="97929"/>
                  <a:pt x="0" y="78343"/>
                  <a:pt x="0" y="55563"/>
                </a:cubicBezTo>
                <a:cubicBezTo>
                  <a:pt x="0" y="24864"/>
                  <a:pt x="24864" y="0"/>
                  <a:pt x="55563" y="0"/>
                </a:cubicBezTo>
                <a:cubicBezTo>
                  <a:pt x="86261" y="0"/>
                  <a:pt x="111125" y="24864"/>
                  <a:pt x="111125" y="55563"/>
                </a:cubicBezTo>
                <a:close/>
                <a:moveTo>
                  <a:pt x="272256" y="55563"/>
                </a:moveTo>
                <a:cubicBezTo>
                  <a:pt x="272256" y="46363"/>
                  <a:pt x="264787" y="38894"/>
                  <a:pt x="255587" y="38894"/>
                </a:cubicBezTo>
                <a:cubicBezTo>
                  <a:pt x="246388" y="38894"/>
                  <a:pt x="238919" y="46363"/>
                  <a:pt x="238919" y="55563"/>
                </a:cubicBezTo>
                <a:cubicBezTo>
                  <a:pt x="238919" y="64762"/>
                  <a:pt x="246388" y="72231"/>
                  <a:pt x="255587" y="72231"/>
                </a:cubicBezTo>
                <a:cubicBezTo>
                  <a:pt x="264787" y="72231"/>
                  <a:pt x="272256" y="64762"/>
                  <a:pt x="272256" y="55563"/>
                </a:cubicBezTo>
                <a:close/>
                <a:moveTo>
                  <a:pt x="55563" y="316706"/>
                </a:moveTo>
                <a:cubicBezTo>
                  <a:pt x="64762" y="316706"/>
                  <a:pt x="72231" y="309237"/>
                  <a:pt x="72231" y="300038"/>
                </a:cubicBezTo>
                <a:cubicBezTo>
                  <a:pt x="72231" y="290838"/>
                  <a:pt x="64762" y="283369"/>
                  <a:pt x="55563" y="283369"/>
                </a:cubicBezTo>
                <a:cubicBezTo>
                  <a:pt x="46363" y="283369"/>
                  <a:pt x="38894" y="290838"/>
                  <a:pt x="38894" y="300038"/>
                </a:cubicBezTo>
                <a:cubicBezTo>
                  <a:pt x="38894" y="309237"/>
                  <a:pt x="46363" y="316706"/>
                  <a:pt x="55563" y="316706"/>
                </a:cubicBezTo>
                <a:close/>
              </a:path>
            </a:pathLst>
          </a:custGeom>
          <a:solidFill>
            <a:srgbClr val="C75B39"/>
          </a:solidFill>
          <a:ln/>
        </p:spPr>
      </p:sp>
      <p:sp>
        <p:nvSpPr>
          <p:cNvPr id="8" name="Text 6"/>
          <p:cNvSpPr/>
          <p:nvPr/>
        </p:nvSpPr>
        <p:spPr>
          <a:xfrm>
            <a:off x="1473200" y="1371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Separation of Concerns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1803400"/>
            <a:ext cx="419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Error-handling code is separated from normal business logic, making code cleaner and more readable.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1206500"/>
            <a:ext cx="4699000" cy="17145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0" y="1206500"/>
            <a:ext cx="50800" cy="1714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2" name="Shape 10"/>
          <p:cNvSpPr/>
          <p:nvPr/>
        </p:nvSpPr>
        <p:spPr>
          <a:xfrm>
            <a:off x="5969000" y="1371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C75B39"/>
          </a:solidFill>
          <a:ln/>
        </p:spPr>
      </p:sp>
      <p:sp>
        <p:nvSpPr>
          <p:cNvPr id="13" name="Text 11"/>
          <p:cNvSpPr/>
          <p:nvPr/>
        </p:nvSpPr>
        <p:spPr>
          <a:xfrm>
            <a:off x="6426200" y="1371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Graceful Recovery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69000" y="1803400"/>
            <a:ext cx="419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 can continue running instead of crashing. Users see meaningful messages, not stack traces.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000" y="1206500"/>
            <a:ext cx="4826000" cy="17145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68000" y="1206500"/>
            <a:ext cx="50800" cy="1714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22000" y="1371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C75B39"/>
          </a:solidFill>
          <a:ln/>
        </p:spPr>
      </p:sp>
      <p:sp>
        <p:nvSpPr>
          <p:cNvPr id="18" name="Text 16"/>
          <p:cNvSpPr/>
          <p:nvPr/>
        </p:nvSpPr>
        <p:spPr>
          <a:xfrm>
            <a:off x="11379200" y="1371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Propagation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22000" y="1803400"/>
            <a:ext cx="431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Errors propagate up the call stack until caught. Methods don't need to handle every error locally.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3175000"/>
            <a:ext cx="4699000" cy="17145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21" name="Shape 19"/>
          <p:cNvSpPr/>
          <p:nvPr/>
        </p:nvSpPr>
        <p:spPr>
          <a:xfrm>
            <a:off x="762000" y="3175000"/>
            <a:ext cx="50800" cy="1714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0450" y="33401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16277" y="22225"/>
                </a:moveTo>
                <a:lnTo>
                  <a:pt x="222250" y="22225"/>
                </a:lnTo>
                <a:cubicBezTo>
                  <a:pt x="246767" y="22225"/>
                  <a:pt x="266700" y="42158"/>
                  <a:pt x="266700" y="666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66675"/>
                </a:lnTo>
                <a:cubicBezTo>
                  <a:pt x="0" y="42158"/>
                  <a:pt x="19933" y="22225"/>
                  <a:pt x="44450" y="22225"/>
                </a:cubicBezTo>
                <a:lnTo>
                  <a:pt x="50423" y="22225"/>
                </a:lnTo>
                <a:cubicBezTo>
                  <a:pt x="58063" y="8959"/>
                  <a:pt x="72440" y="0"/>
                  <a:pt x="88900" y="0"/>
                </a:cubicBezTo>
                <a:lnTo>
                  <a:pt x="177800" y="0"/>
                </a:lnTo>
                <a:cubicBezTo>
                  <a:pt x="194260" y="0"/>
                  <a:pt x="208637" y="8959"/>
                  <a:pt x="216277" y="22225"/>
                </a:cubicBezTo>
                <a:close/>
                <a:moveTo>
                  <a:pt x="172244" y="77788"/>
                </a:moveTo>
                <a:cubicBezTo>
                  <a:pt x="181481" y="77788"/>
                  <a:pt x="188913" y="70356"/>
                  <a:pt x="188913" y="61119"/>
                </a:cubicBezTo>
                <a:cubicBezTo>
                  <a:pt x="188913" y="51881"/>
                  <a:pt x="181481" y="44450"/>
                  <a:pt x="172244" y="44450"/>
                </a:cubicBezTo>
                <a:lnTo>
                  <a:pt x="94456" y="44450"/>
                </a:lnTo>
                <a:cubicBezTo>
                  <a:pt x="85219" y="44450"/>
                  <a:pt x="77788" y="51881"/>
                  <a:pt x="77788" y="61119"/>
                </a:cubicBezTo>
                <a:cubicBezTo>
                  <a:pt x="77788" y="70356"/>
                  <a:pt x="85219" y="77788"/>
                  <a:pt x="94456" y="77788"/>
                </a:cubicBezTo>
                <a:lnTo>
                  <a:pt x="172244" y="77788"/>
                </a:lnTo>
                <a:close/>
                <a:moveTo>
                  <a:pt x="191968" y="181064"/>
                </a:moveTo>
                <a:cubicBezTo>
                  <a:pt x="196830" y="173286"/>
                  <a:pt x="194469" y="163006"/>
                  <a:pt x="186690" y="158075"/>
                </a:cubicBezTo>
                <a:cubicBezTo>
                  <a:pt x="178911" y="153144"/>
                  <a:pt x="168632" y="155575"/>
                  <a:pt x="163701" y="163354"/>
                </a:cubicBezTo>
                <a:lnTo>
                  <a:pt x="121057" y="231626"/>
                </a:lnTo>
                <a:lnTo>
                  <a:pt x="102304" y="206623"/>
                </a:lnTo>
                <a:cubicBezTo>
                  <a:pt x="96748" y="199261"/>
                  <a:pt x="86330" y="197733"/>
                  <a:pt x="78968" y="203289"/>
                </a:cubicBezTo>
                <a:cubicBezTo>
                  <a:pt x="71606" y="208846"/>
                  <a:pt x="70078" y="219264"/>
                  <a:pt x="75634" y="226626"/>
                </a:cubicBezTo>
                <a:lnTo>
                  <a:pt x="108972" y="271076"/>
                </a:lnTo>
                <a:cubicBezTo>
                  <a:pt x="112236" y="275451"/>
                  <a:pt x="117515" y="277951"/>
                  <a:pt x="123001" y="277743"/>
                </a:cubicBezTo>
                <a:cubicBezTo>
                  <a:pt x="128488" y="277535"/>
                  <a:pt x="133489" y="274618"/>
                  <a:pt x="136406" y="269895"/>
                </a:cubicBezTo>
                <a:lnTo>
                  <a:pt x="191968" y="180995"/>
                </a:lnTo>
                <a:close/>
              </a:path>
            </a:pathLst>
          </a:custGeom>
          <a:solidFill>
            <a:srgbClr val="C75B39"/>
          </a:solidFill>
          <a:ln/>
        </p:spPr>
      </p:sp>
      <p:sp>
        <p:nvSpPr>
          <p:cNvPr id="23" name="Text 21"/>
          <p:cNvSpPr/>
          <p:nvPr/>
        </p:nvSpPr>
        <p:spPr>
          <a:xfrm>
            <a:off x="1473200" y="33401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Compile-Time Enforcement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3771900"/>
            <a:ext cx="419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Checked exceptions force developers to handle errors at compile time, preventing missed cases.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0" y="3175000"/>
            <a:ext cx="4699000" cy="17145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26" name="Shape 24"/>
          <p:cNvSpPr/>
          <p:nvPr/>
        </p:nvSpPr>
        <p:spPr>
          <a:xfrm>
            <a:off x="5715000" y="3175000"/>
            <a:ext cx="50800" cy="1714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27" name="Shape 25"/>
          <p:cNvSpPr/>
          <p:nvPr/>
        </p:nvSpPr>
        <p:spPr>
          <a:xfrm>
            <a:off x="5969000" y="3340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C75B39"/>
          </a:solidFill>
          <a:ln/>
        </p:spPr>
      </p:sp>
      <p:sp>
        <p:nvSpPr>
          <p:cNvPr id="28" name="Text 26"/>
          <p:cNvSpPr/>
          <p:nvPr/>
        </p:nvSpPr>
        <p:spPr>
          <a:xfrm>
            <a:off x="6426200" y="33401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Rich Error Information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69000" y="3771900"/>
            <a:ext cx="419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Exception objects carry messages, stack traces, and causes — making debugging much easier.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668000" y="3175000"/>
            <a:ext cx="4826000" cy="17145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31" name="Shape 29"/>
          <p:cNvSpPr/>
          <p:nvPr/>
        </p:nvSpPr>
        <p:spPr>
          <a:xfrm>
            <a:off x="10668000" y="3175000"/>
            <a:ext cx="50800" cy="1714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2" name="Shape 30"/>
          <p:cNvSpPr/>
          <p:nvPr/>
        </p:nvSpPr>
        <p:spPr>
          <a:xfrm>
            <a:off x="10922000" y="3340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55563"/>
                </a:moveTo>
                <a:cubicBezTo>
                  <a:pt x="0" y="37157"/>
                  <a:pt x="14932" y="22225"/>
                  <a:pt x="33337" y="22225"/>
                </a:cubicBezTo>
                <a:lnTo>
                  <a:pt x="100013" y="22225"/>
                </a:lnTo>
                <a:cubicBezTo>
                  <a:pt x="118418" y="22225"/>
                  <a:pt x="133350" y="37157"/>
                  <a:pt x="133350" y="55563"/>
                </a:cubicBezTo>
                <a:lnTo>
                  <a:pt x="133350" y="66675"/>
                </a:lnTo>
                <a:lnTo>
                  <a:pt x="222250" y="66675"/>
                </a:lnTo>
                <a:lnTo>
                  <a:pt x="222250" y="55563"/>
                </a:lnTo>
                <a:cubicBezTo>
                  <a:pt x="222250" y="37157"/>
                  <a:pt x="237182" y="22225"/>
                  <a:pt x="255587" y="22225"/>
                </a:cubicBezTo>
                <a:lnTo>
                  <a:pt x="322263" y="22225"/>
                </a:lnTo>
                <a:cubicBezTo>
                  <a:pt x="340668" y="22225"/>
                  <a:pt x="355600" y="37157"/>
                  <a:pt x="355600" y="55563"/>
                </a:cubicBezTo>
                <a:lnTo>
                  <a:pt x="355600" y="122238"/>
                </a:lnTo>
                <a:cubicBezTo>
                  <a:pt x="355600" y="140643"/>
                  <a:pt x="340668" y="155575"/>
                  <a:pt x="322263" y="155575"/>
                </a:cubicBezTo>
                <a:lnTo>
                  <a:pt x="255587" y="155575"/>
                </a:lnTo>
                <a:cubicBezTo>
                  <a:pt x="237182" y="155575"/>
                  <a:pt x="222250" y="140643"/>
                  <a:pt x="222250" y="122238"/>
                </a:cubicBezTo>
                <a:lnTo>
                  <a:pt x="222250" y="111125"/>
                </a:lnTo>
                <a:lnTo>
                  <a:pt x="133350" y="111125"/>
                </a:lnTo>
                <a:lnTo>
                  <a:pt x="133350" y="122238"/>
                </a:lnTo>
                <a:cubicBezTo>
                  <a:pt x="133350" y="127308"/>
                  <a:pt x="132169" y="132169"/>
                  <a:pt x="130155" y="136475"/>
                </a:cubicBezTo>
                <a:lnTo>
                  <a:pt x="177800" y="200025"/>
                </a:lnTo>
                <a:lnTo>
                  <a:pt x="233363" y="200025"/>
                </a:lnTo>
                <a:cubicBezTo>
                  <a:pt x="251768" y="200025"/>
                  <a:pt x="266700" y="214957"/>
                  <a:pt x="266700" y="233363"/>
                </a:cubicBezTo>
                <a:lnTo>
                  <a:pt x="266700" y="300038"/>
                </a:lnTo>
                <a:cubicBezTo>
                  <a:pt x="266700" y="318443"/>
                  <a:pt x="251768" y="333375"/>
                  <a:pt x="233363" y="333375"/>
                </a:cubicBezTo>
                <a:lnTo>
                  <a:pt x="166688" y="333375"/>
                </a:lnTo>
                <a:cubicBezTo>
                  <a:pt x="148282" y="333375"/>
                  <a:pt x="133350" y="318443"/>
                  <a:pt x="133350" y="300038"/>
                </a:cubicBezTo>
                <a:lnTo>
                  <a:pt x="133350" y="233363"/>
                </a:lnTo>
                <a:cubicBezTo>
                  <a:pt x="133350" y="228292"/>
                  <a:pt x="134531" y="223431"/>
                  <a:pt x="136545" y="219125"/>
                </a:cubicBezTo>
                <a:lnTo>
                  <a:pt x="88900" y="155575"/>
                </a:lnTo>
                <a:lnTo>
                  <a:pt x="33337" y="155575"/>
                </a:lnTo>
                <a:cubicBezTo>
                  <a:pt x="14932" y="155575"/>
                  <a:pt x="0" y="140643"/>
                  <a:pt x="0" y="122238"/>
                </a:cubicBezTo>
                <a:lnTo>
                  <a:pt x="0" y="55563"/>
                </a:lnTo>
                <a:close/>
              </a:path>
            </a:pathLst>
          </a:custGeom>
          <a:solidFill>
            <a:srgbClr val="C75B39"/>
          </a:solidFill>
          <a:ln/>
        </p:spPr>
      </p:sp>
      <p:sp>
        <p:nvSpPr>
          <p:cNvPr id="33" name="Text 31"/>
          <p:cNvSpPr/>
          <p:nvPr/>
        </p:nvSpPr>
        <p:spPr>
          <a:xfrm>
            <a:off x="11379200" y="3340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Grouped Error Handling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22000" y="3771900"/>
            <a:ext cx="431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catch blocks handle different exception types with targeted responses.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5207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COMPARISON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2000" y="5588000"/>
            <a:ext cx="7112000" cy="21336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37" name="Text 35"/>
          <p:cNvSpPr/>
          <p:nvPr/>
        </p:nvSpPr>
        <p:spPr>
          <a:xfrm>
            <a:off x="990600" y="5689600"/>
            <a:ext cx="6667500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53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Without exception handling (messy)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err = openFile(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C3E8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"data.txt"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(err == NOT_FOUND) handleMissing();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else if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(err == NO_PERM) handlePermission();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else if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(err == IO_ERR) handleIOError();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82000" y="5588000"/>
            <a:ext cx="7112000" cy="21336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39" name="Text 37"/>
          <p:cNvSpPr/>
          <p:nvPr/>
        </p:nvSpPr>
        <p:spPr>
          <a:xfrm>
            <a:off x="8610600" y="5689600"/>
            <a:ext cx="6667500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3E8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With exception handling (clean)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 openFile(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C3E8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"data.txt"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catch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(FileNotFoundException e)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handleMissing();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catch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(SecurityException e)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handlePermission(); }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try-catch Block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17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block contains risky code; the 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catch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block handles exceptions if they occur.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651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SYNTAX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006600"/>
            <a:ext cx="7112000" cy="22860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2095500"/>
            <a:ext cx="6667500" cy="226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Code that might throw exception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riskyOperation();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catch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(ExceptionType e)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Handle the exception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System.out.println(e.getMessage());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381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RULES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356100"/>
            <a:ext cx="7112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Multiple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catch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blocks handle different exception types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Catch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specific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exception first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e.getMessage()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returns error description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e.printStackTrace()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prints full stack trace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try must be followed by catch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finally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1651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CATCH BLOCKS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2006600"/>
            <a:ext cx="7112000" cy="29464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13" name="Text 11"/>
          <p:cNvSpPr/>
          <p:nvPr/>
        </p:nvSpPr>
        <p:spPr>
          <a:xfrm>
            <a:off x="8610600" y="2095500"/>
            <a:ext cx="66675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[] arr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78C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];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78C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78C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arr[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78C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]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78C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catch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(ArithmeticException e)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Caught first: division by zero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catch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(ArrayIndexOutOfBoundsException e)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Caught if arr[10] executes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0" y="5016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FLOW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36000" y="5143500"/>
            <a:ext cx="1778000" cy="5715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6" name="Text 14"/>
          <p:cNvSpPr/>
          <p:nvPr/>
        </p:nvSpPr>
        <p:spPr>
          <a:xfrm>
            <a:off x="8636000" y="51435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 try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414000" y="5613400"/>
            <a:ext cx="635000" cy="0"/>
          </a:xfrm>
          <a:prstGeom prst="straightConnector1">
            <a:avLst/>
          </a:prstGeom>
          <a:noFill/>
          <a:ln w="25400">
            <a:solidFill>
              <a:srgbClr val="C75B39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1049000" y="5143500"/>
            <a:ext cx="1778000" cy="5715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9" name="Text 17"/>
          <p:cNvSpPr/>
          <p:nvPr/>
        </p:nvSpPr>
        <p:spPr>
          <a:xfrm>
            <a:off x="11049000" y="51435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827000" y="5422900"/>
            <a:ext cx="635000" cy="0"/>
          </a:xfrm>
          <a:prstGeom prst="straightConnector1">
            <a:avLst/>
          </a:prstGeom>
          <a:noFill/>
          <a:ln w="25400">
            <a:solidFill>
              <a:srgbClr val="C75B39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3462000" y="5143500"/>
            <a:ext cx="1778000" cy="571500"/>
          </a:xfrm>
          <a:prstGeom prst="roundRect">
            <a:avLst>
              <a:gd name="adj" fmla="val 8000"/>
            </a:avLst>
          </a:prstGeom>
          <a:solidFill>
            <a:srgbClr val="C75B39"/>
          </a:solidFill>
          <a:ln/>
        </p:spPr>
      </p:sp>
      <p:sp>
        <p:nvSpPr>
          <p:cNvPr id="22" name="Text 20"/>
          <p:cNvSpPr/>
          <p:nvPr/>
        </p:nvSpPr>
        <p:spPr>
          <a:xfrm>
            <a:off x="13462000" y="51435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 block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 flipV="1">
            <a:off x="11938000" y="4445000"/>
            <a:ext cx="0" cy="698500"/>
          </a:xfrm>
          <a:prstGeom prst="straightConnector1">
            <a:avLst/>
          </a:prstGeom>
          <a:noFill/>
          <a:ln w="25400">
            <a:solidFill>
              <a:srgbClr val="6C7A89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1049000" y="3873500"/>
            <a:ext cx="1778000" cy="571500"/>
          </a:xfrm>
          <a:prstGeom prst="roundRect">
            <a:avLst>
              <a:gd name="adj" fmla="val 8000"/>
            </a:avLst>
          </a:prstGeom>
          <a:solidFill>
            <a:srgbClr val="6C7A89"/>
          </a:solidFill>
          <a:ln/>
        </p:spPr>
      </p:sp>
      <p:sp>
        <p:nvSpPr>
          <p:cNvPr id="25" name="Text 23"/>
          <p:cNvSpPr/>
          <p:nvPr/>
        </p:nvSpPr>
        <p:spPr>
          <a:xfrm>
            <a:off x="11049000" y="38735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82000" y="5969000"/>
            <a:ext cx="711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C7A8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no exception occurs, catch blocks are skipped. If exception occurs, matching catch executes, then continues.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try-catch — Code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17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READING EXAMPLE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460500"/>
            <a:ext cx="8636000" cy="46355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549400"/>
            <a:ext cx="8191500" cy="452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java.io.*;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static void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82A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(String[] args)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FileReader f =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FileReader(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C3E8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"data.txt"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BufferedReader b =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BufferedReader(f);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 line = b.readLine();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System.out.println(line);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f.close();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catch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(FileNotFoundException e)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System.out.println(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C3E8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"File missing: 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e.getMessage());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catch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(IOException e)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System.out.println(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C3E8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"I/O error: 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e.getMessage());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6000" y="1117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SCENARIOS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06000" y="1460500"/>
            <a:ext cx="5588000" cy="1397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0" y="15494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 (file exists)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0" y="1905000"/>
            <a:ext cx="508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Hello, World!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C7A8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 continues normally.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906000" y="3048000"/>
            <a:ext cx="5588000" cy="1397000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0" y="31369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C62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Failure (file missing)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0" y="3492500"/>
            <a:ext cx="508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missing: data.txt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C7A8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 continues gracefully.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06000" y="4699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06000" y="5054600"/>
            <a:ext cx="558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FileNotFoundException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subclass of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IOException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Catch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subclass first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then parent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Reversing catch order causes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compile error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e.getMessage()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gives user-friendly error info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Program continues after catch block completes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finally Clause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1430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181100"/>
            <a:ext cx="14224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finally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block executes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whether an exception occurs or not. It is used for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cleanup operations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like closing files, releasing connections, and freeing resources.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133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SYNTAX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489200"/>
            <a:ext cx="7112000" cy="33020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2578100"/>
            <a:ext cx="66675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Risky code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openAndProcessFile();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catch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(IOException e)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Error handling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logError(e);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finally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Always executes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closeFile();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Cleanup!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9784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BEHAVIOR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334000"/>
          <a:ext cx="7112000" cy="1651000"/>
        </p:xfrm>
        <a:graphic>
          <a:graphicData uri="http://schemas.openxmlformats.org/drawingml/2006/table">
            <a:tbl>
              <a:tblPr/>
              <a:tblGrid>
                <a:gridCol w="2489200"/>
                <a:gridCol w="2275840"/>
                <a:gridCol w="2346960"/>
              </a:tblGrid>
              <a:tr h="491519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Scenario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catch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finally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57974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exception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Skipped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75B3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Executes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74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Exception caught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Executes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75B3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Executes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382000" y="2133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82000" y="2489200"/>
            <a:ext cx="711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finally runs even if try/catch has a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Prevents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leaks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always close files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Critical for: files, DB connections, network sockets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skipped if JVM exits (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System.exit()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 7+: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try-with-resources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cleaner alternative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82000" y="5207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TRY-WITH-RESOURCES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382000" y="5588000"/>
            <a:ext cx="7112000" cy="20066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16" name="Text 13"/>
          <p:cNvSpPr/>
          <p:nvPr/>
        </p:nvSpPr>
        <p:spPr>
          <a:xfrm>
            <a:off x="8610600" y="5689600"/>
            <a:ext cx="6667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Auto-closes resources — cleaner!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(FileReader f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FileReader(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3E8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"file.txt"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Use the file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catch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(IOException e)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e.printStackTrace();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Checked vs. Unchecked Exceptions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143000"/>
          <a:ext cx="14732000" cy="43180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51917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Aspect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Checked Exception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Unchecked Exception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633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Checked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At compile time by compiler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At runtime only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Parent Class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Extends Exception (not Runtime)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Extends RuntimeException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633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Cause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External factors (file I/O, network, DB)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Programming bugs (logic errors)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Handling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Required: try-catch or throws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Optional: not enforced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633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IOException, SQLException, FileNotFoundException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NullPointerException, ArrayIndexOutOfBounds, ArithmeticException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313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For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Recoverable errors the app should anticipate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Programming errors that should be fixed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571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CHECKED EXAMPLE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6070600"/>
            <a:ext cx="7112000" cy="18796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8" name="Text 5"/>
          <p:cNvSpPr/>
          <p:nvPr/>
        </p:nvSpPr>
        <p:spPr>
          <a:xfrm>
            <a:off x="990600" y="6159500"/>
            <a:ext cx="666750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Compiler forces handling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FileReader f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FileReader(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3E8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"data.txt"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catch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(FileNotFoundException e) { ...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OR: void method() throws FileNotFoundException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82000" y="571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UNCHECKED EXAMPLE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382000" y="6070600"/>
            <a:ext cx="7112000" cy="18796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11" name="Text 8"/>
          <p:cNvSpPr/>
          <p:nvPr/>
        </p:nvSpPr>
        <p:spPr>
          <a:xfrm>
            <a:off x="8610600" y="6159500"/>
            <a:ext cx="666750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Compiles fine, crashes at runtime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 name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null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len = name.length();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NullPointerException!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No compiler warning — it's a bug!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2000" y="8064500"/>
            <a:ext cx="50800" cy="5080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3" name="Text 10"/>
          <p:cNvSpPr/>
          <p:nvPr/>
        </p:nvSpPr>
        <p:spPr>
          <a:xfrm>
            <a:off x="1016000" y="8064500"/>
            <a:ext cx="132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checked for recoverable errors, unchecked for programming bugs.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Declaring Exceptions with throws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176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the 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throws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keyword in a method signature to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declare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which checked exceptions the method might throw. This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delegates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responsibility of handling to the caller.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032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387600"/>
            <a:ext cx="7366000" cy="6985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2451100"/>
            <a:ext cx="692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void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82A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readFile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(String path)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throws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FileNotFoundException, IOException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200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530600"/>
            <a:ext cx="7366000" cy="30480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3619500"/>
            <a:ext cx="6921500" cy="29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Method declares what it might throw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String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82A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readFirstLine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(String path)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throws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IOException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BufferedReader br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BufferedReader(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FileReader(path));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 line = br.readLine();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br.close();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line;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6604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RULES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6959600"/>
            <a:ext cx="7366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Caller must handle or declare checked exceptions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declare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exceptions (comma-separated)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Unchecked exceptions don't need to be declared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Propagates checked exceptions up the call stack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36000" y="203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PROPAGATION CHAIN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0" y="25400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0" y="2540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readFile()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414000" y="3175000"/>
            <a:ext cx="0" cy="508000"/>
          </a:xfrm>
          <a:prstGeom prst="straightConnector1">
            <a:avLst/>
          </a:prstGeom>
          <a:noFill/>
          <a:ln w="25400">
            <a:solidFill>
              <a:srgbClr val="C75B39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9144000" y="36830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3683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processData()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414000" y="4318000"/>
            <a:ext cx="0" cy="508000"/>
          </a:xfrm>
          <a:prstGeom prst="straightConnector1">
            <a:avLst/>
          </a:prstGeom>
          <a:noFill/>
          <a:ln w="25400">
            <a:solidFill>
              <a:srgbClr val="C75B39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9144000" y="48260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C75B39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4826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main() — handles 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36000" y="57150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readFile()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throws →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processData()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throws →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main()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handles with try-catch. The exception propagates up until someone catches it.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Throwing Exceptions with throw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176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the 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throw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keyword to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manually raise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 exception. This is used for enforcing business rules, validating inputs, and signaling error conditions programmatically.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032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387600"/>
            <a:ext cx="7112000" cy="6350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2451100"/>
            <a:ext cx="6667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throw new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ExceptionType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C3E8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"Descriptive error message"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111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USE CASES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467100"/>
            <a:ext cx="7112000" cy="30480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3556000"/>
            <a:ext cx="6667500" cy="29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Validate input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(age &lt;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78C6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throw 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IllegalArgumentException(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3E8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"Age cannot be negative"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Enforce business rule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(balance &lt; amount)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throw 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IllegalStateException(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3E8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"Insufficient funds"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6540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RULES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6896100"/>
            <a:ext cx="7112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throw both built-in and custom exceptions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Normal program flow stops after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throw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Exception propagates to nearest matching catch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provide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descriptive messages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0" y="203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 CONSTRUCTORS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2260600"/>
          <a:ext cx="7112000" cy="2222500"/>
        </p:xfrm>
        <a:graphic>
          <a:graphicData uri="http://schemas.openxmlformats.org/drawingml/2006/table">
            <a:tbl>
              <a:tblPr/>
              <a:tblGrid>
                <a:gridCol w="3200400"/>
                <a:gridCol w="3911600"/>
              </a:tblGrid>
              <a:tr h="498147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Constructor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Usage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57478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new Exception()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message, no cause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8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new Exception(String)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With error message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57478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new Exception(String, Throwable)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With message and cause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8382000" y="4762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CHAINING WITH CAUSE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382000" y="5143500"/>
            <a:ext cx="7112000" cy="17145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18" name="Text 15"/>
          <p:cNvSpPr/>
          <p:nvPr/>
        </p:nvSpPr>
        <p:spPr>
          <a:xfrm>
            <a:off x="8610600" y="5232400"/>
            <a:ext cx="66675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 processFile();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catch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(IOException e)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throw 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AppException(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3E8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"Processing failed"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Re-throwing Exceptions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176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Re-throwing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means catching an exception and throwing it again — either as-is or wrapped in a different exception type. Common in layered architectures.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905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RE-THROW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260600"/>
            <a:ext cx="7112000" cy="17145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2349500"/>
            <a:ext cx="66675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 riskyOperation();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catch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(IOException e)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logError(e);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Re-throw same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089400"/>
            <a:ext cx="393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WRAP AND RE-THROW (PREFERRED)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445000"/>
            <a:ext cx="7112000" cy="17780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4533900"/>
            <a:ext cx="66675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 queryDatabase();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catch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(SQLException e)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throw 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DataAccessException(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3E8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"DB query failed"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63754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RE-THROW?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67310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Hide implementation details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callers don't need to know about SQL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Domain-specific errors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use meaningful exception types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Preserve stack trace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pass original as cause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Layered architecture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DAO → Service → Controller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0" y="190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LAYERED ARCHITECTURE FLOW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890000" y="2413000"/>
            <a:ext cx="2794000" cy="635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0" y="2413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DAO Layer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90000" y="30734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C7A8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catches SQLException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287000" y="3327400"/>
            <a:ext cx="0" cy="444500"/>
          </a:xfrm>
          <a:prstGeom prst="straightConnector1">
            <a:avLst/>
          </a:prstGeom>
          <a:noFill/>
          <a:ln w="25400">
            <a:solidFill>
              <a:srgbClr val="C75B39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8890000" y="3771900"/>
            <a:ext cx="2794000" cy="635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20" name="Text 18"/>
          <p:cNvSpPr/>
          <p:nvPr/>
        </p:nvSpPr>
        <p:spPr>
          <a:xfrm>
            <a:off x="8890000" y="37719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Layer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90000" y="44323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C7A8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wraps in DataAccessException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287000" y="4686300"/>
            <a:ext cx="0" cy="444500"/>
          </a:xfrm>
          <a:prstGeom prst="straightConnector1">
            <a:avLst/>
          </a:prstGeom>
          <a:noFill/>
          <a:ln w="25400">
            <a:solidFill>
              <a:srgbClr val="C75B39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8890000" y="5130800"/>
            <a:ext cx="2794000" cy="635000"/>
          </a:xfrm>
          <a:prstGeom prst="roundRect">
            <a:avLst>
              <a:gd name="adj" fmla="val 8000"/>
            </a:avLst>
          </a:prstGeom>
          <a:solidFill>
            <a:srgbClr val="C75B39"/>
          </a:solidFill>
          <a:ln/>
        </p:spPr>
      </p:sp>
      <p:sp>
        <p:nvSpPr>
          <p:cNvPr id="24" name="Text 22"/>
          <p:cNvSpPr/>
          <p:nvPr/>
        </p:nvSpPr>
        <p:spPr>
          <a:xfrm>
            <a:off x="8890000" y="51308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Controller Layer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90000" y="57912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C7A8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handles, returns error response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Custom Exception Classes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1176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exceptions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represent application-specific errors. Extend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Exception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(checked) or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RuntimeException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(unchecked). Name ends with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"Exception"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879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CHECKED CUSTOM EXCEPTION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222500"/>
            <a:ext cx="7112000" cy="25146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2311400"/>
            <a:ext cx="66675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Checked: must handle or declare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class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InsufficientBalanceException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Exception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InsufficientBalanceException(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 msg, Throwable cause)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(msg, cause);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8006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UNCHECKED CUSTOM EXCEPTION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156200"/>
            <a:ext cx="7112000" cy="19685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5245100"/>
            <a:ext cx="66675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76E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Unchecked: extends RuntimeException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class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C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InvalidUserInputException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RuntimeException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InvalidUserInputException(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 msg) {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(msg);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7175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7518400"/>
            <a:ext cx="7112000" cy="152400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7607300"/>
            <a:ext cx="666750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void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82AA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withdraw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amt)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throws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InsufficientBalanceException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(balance &lt; amt)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C792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throw new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InsufficientBalanceException(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C3E8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"Need: 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+amt);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1879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 PATTERNS</a:t>
            </a:r>
            <a:endParaRPr lang="en-US" sz="1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2222500"/>
          <a:ext cx="7112000" cy="1968500"/>
        </p:xfrm>
        <a:graphic>
          <a:graphicData uri="http://schemas.openxmlformats.org/drawingml/2006/table">
            <a:tbl>
              <a:tblPr/>
              <a:tblGrid>
                <a:gridCol w="3911600"/>
                <a:gridCol w="3200400"/>
              </a:tblGrid>
              <a:tr h="43460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Constructor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38347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Exception()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Default, no details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347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Exception(String)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Error message only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  <a:tr h="38347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Exception(Throwable)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Root cause only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347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Exception(String, Throwable)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Message + cause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A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8382000" y="4419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82000" y="4762500"/>
            <a:ext cx="7112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Descriptive error types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self-documenting code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Granular handling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catch specific domain errors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semantics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errors match business language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debugging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meaningful messages and causes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382000" y="6794500"/>
            <a:ext cx="7112000" cy="698500"/>
          </a:xfrm>
          <a:prstGeom prst="roundRect">
            <a:avLst>
              <a:gd name="adj" fmla="val 5000"/>
            </a:avLst>
          </a:prstGeom>
          <a:solidFill>
            <a:srgbClr val="EDEAE5"/>
          </a:solidFill>
          <a:ln/>
        </p:spPr>
      </p:sp>
      <p:sp>
        <p:nvSpPr>
          <p:cNvPr id="20" name="Text 17"/>
          <p:cNvSpPr/>
          <p:nvPr/>
        </p:nvSpPr>
        <p:spPr>
          <a:xfrm>
            <a:off x="8636000" y="6883400"/>
            <a:ext cx="660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Naming: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PaymentFailedException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UserNotFoundException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InvalidTokenException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 Handling Best Practices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89000"/>
            <a:ext cx="1016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206500"/>
            <a:ext cx="4699000" cy="1651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06500"/>
            <a:ext cx="50800" cy="16510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3081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97000" y="13081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 Specific Exceptions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1689100"/>
            <a:ext cx="425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Avoid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catch (Exception e)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Catch the most specific exception type to enable targeted handling and avoid masking bugs.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1206500"/>
            <a:ext cx="4699000" cy="1651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0" y="1206500"/>
            <a:ext cx="50800" cy="16510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3081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0000" y="13081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Never Swallow Exceptions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0" y="1689100"/>
            <a:ext cx="425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Empty catch blocks are the worst practice. At minimum, log the exception. Silent failures make debugging a nightmare.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000" y="1206500"/>
            <a:ext cx="4826000" cy="1651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68000" y="1206500"/>
            <a:ext cx="50800" cy="16510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17" name="Text 15"/>
          <p:cNvSpPr/>
          <p:nvPr/>
        </p:nvSpPr>
        <p:spPr>
          <a:xfrm>
            <a:off x="10896600" y="13081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03000" y="1308100"/>
            <a:ext cx="393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Don't Use for Flow Control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896600" y="1689100"/>
            <a:ext cx="4381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Exceptions are expensive. Use if-else for normal branching. Reserve exceptions for truly exceptional conditions.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3111500"/>
            <a:ext cx="4699000" cy="1651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21" name="Shape 19"/>
          <p:cNvSpPr/>
          <p:nvPr/>
        </p:nvSpPr>
        <p:spPr>
          <a:xfrm>
            <a:off x="762000" y="3111500"/>
            <a:ext cx="50800" cy="16510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22" name="Text 20"/>
          <p:cNvSpPr/>
          <p:nvPr/>
        </p:nvSpPr>
        <p:spPr>
          <a:xfrm>
            <a:off x="990600" y="32131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97000" y="32131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Preserve the Cause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0600" y="3594100"/>
            <a:ext cx="425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wrapping exceptions, always pass the original exception as the cause. This preserves the full stack trace for debugging.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0" y="3111500"/>
            <a:ext cx="4699000" cy="1651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26" name="Shape 24"/>
          <p:cNvSpPr/>
          <p:nvPr/>
        </p:nvSpPr>
        <p:spPr>
          <a:xfrm>
            <a:off x="5715000" y="3111500"/>
            <a:ext cx="50800" cy="16510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32131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0000" y="32131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Up Resources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43600" y="3594100"/>
            <a:ext cx="425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use finally or try-with-resources to close files, connections, and streams. Prevent resource leaks.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668000" y="3111500"/>
            <a:ext cx="4826000" cy="1651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/>
        </p:spPr>
      </p:sp>
      <p:sp>
        <p:nvSpPr>
          <p:cNvPr id="31" name="Shape 29"/>
          <p:cNvSpPr/>
          <p:nvPr/>
        </p:nvSpPr>
        <p:spPr>
          <a:xfrm>
            <a:off x="10668000" y="3111500"/>
            <a:ext cx="50800" cy="16510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2" name="Text 30"/>
          <p:cNvSpPr/>
          <p:nvPr/>
        </p:nvSpPr>
        <p:spPr>
          <a:xfrm>
            <a:off x="10896600" y="32131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303000" y="3213100"/>
            <a:ext cx="393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Meaningful Messages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896600" y="3594100"/>
            <a:ext cx="4381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descriptive error messages with context. "User ID 42 not found in database" is better than "Not found".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5016500"/>
            <a:ext cx="7112000" cy="1397000"/>
          </a:xfrm>
          <a:prstGeom prst="roundRect">
            <a:avLst>
              <a:gd name="adj" fmla="val 5000"/>
            </a:avLst>
          </a:prstGeom>
          <a:solidFill>
            <a:srgbClr val="EDEAE5"/>
          </a:solidFill>
          <a:ln/>
        </p:spPr>
      </p:sp>
      <p:sp>
        <p:nvSpPr>
          <p:cNvPr id="36" name="Shape 34"/>
          <p:cNvSpPr/>
          <p:nvPr/>
        </p:nvSpPr>
        <p:spPr>
          <a:xfrm>
            <a:off x="762000" y="5016500"/>
            <a:ext cx="50800" cy="13970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7" name="Text 35"/>
          <p:cNvSpPr/>
          <p:nvPr/>
        </p:nvSpPr>
        <p:spPr>
          <a:xfrm>
            <a:off x="990600" y="51181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397000" y="51181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 Exceptions Properly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90600" y="5499100"/>
            <a:ext cx="666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logging frameworks (SLF4J, Log4j) instead of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e.printStackTrace()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Include context, severity levels, and structured log formats for production debugging.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82000" y="5016500"/>
            <a:ext cx="7112000" cy="1397000"/>
          </a:xfrm>
          <a:prstGeom prst="roundRect">
            <a:avLst>
              <a:gd name="adj" fmla="val 5000"/>
            </a:avLst>
          </a:prstGeom>
          <a:solidFill>
            <a:srgbClr val="EDEAE5"/>
          </a:solidFill>
          <a:ln/>
        </p:spPr>
      </p:sp>
      <p:sp>
        <p:nvSpPr>
          <p:cNvPr id="41" name="Shape 39"/>
          <p:cNvSpPr/>
          <p:nvPr/>
        </p:nvSpPr>
        <p:spPr>
          <a:xfrm>
            <a:off x="8382000" y="5016500"/>
            <a:ext cx="50800" cy="13970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42" name="Text 40"/>
          <p:cNvSpPr/>
          <p:nvPr/>
        </p:nvSpPr>
        <p:spPr>
          <a:xfrm>
            <a:off x="8610600" y="5118100"/>
            <a:ext cx="406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17000" y="51181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 at the Right Level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10600" y="5499100"/>
            <a:ext cx="666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Catch exceptions where you can take meaningful corrective action. Don't catch too early (loses context) or too late (can't recover).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62000" y="6731000"/>
            <a:ext cx="50800" cy="6985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46" name="Text 44"/>
          <p:cNvSpPr/>
          <p:nvPr/>
        </p:nvSpPr>
        <p:spPr>
          <a:xfrm>
            <a:off x="1016000" y="67310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Golden Rule: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Exceptions are not just errors — they are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signals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Listen to them carefully, handle them thoughtfully, and always leave your code in a clean, predictable state.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3462000" y="8636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6C7A8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Lecture 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524000"/>
            <a:ext cx="2540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1778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400" kern="0" dirty="0">
                <a:solidFill>
                  <a:srgbClr val="C75B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5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78000" y="22225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3048000"/>
            <a:ext cx="2540000" cy="38100"/>
          </a:xfrm>
          <a:prstGeom prst="rect">
            <a:avLst/>
          </a:prstGeom>
          <a:solidFill>
            <a:srgbClr val="C75B39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3429000"/>
            <a:ext cx="1320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 classes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 partial implementation with single inheritance;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define behavior contracts with multiple inheritance support.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4318000"/>
            <a:ext cx="1320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Choose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 classes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"is-a" relationships with shared code;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"can-do" capabilities across unrelated classes.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4000" y="5207000"/>
            <a:ext cx="1320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Exception handling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separates error management from business logic for cleaner, more robust programs.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6096000"/>
            <a:ext cx="1320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checked exceptions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recoverable errors,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unchecked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programming bugs.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24000" y="6985000"/>
            <a:ext cx="1320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follow best practices: catch specific exceptions, never swallow errors, clean up resources, provide meaningful messages.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75B39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Computer Programming - Week 5</dc:title>
  <dc:subject>Advanced Computer Programming - Week 5</dc:subject>
  <dc:creator>Kimi</dc:creator>
  <cp:lastModifiedBy>Kimi</cp:lastModifiedBy>
  <cp:revision>1</cp:revision>
  <dcterms:created xsi:type="dcterms:W3CDTF">2026-05-25T17:20:40Z</dcterms:created>
  <dcterms:modified xsi:type="dcterms:W3CDTF">2026-05-25T17:20:40Z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{"Label":"Advanced Computer Programming - Week 5","ContentProducer":"001191110108MACG2KBH8F10000","ProduceID":"19e60191-e422-889d-8000-00001f5298ea","ReservedCode1":"","ContentPropagator":"001191110108MACG2KBH8F20000","PropagateID":"19e60191-e422-889d-8000-00001f5298ea","ReservedCode2":""}</vt:lpwstr>
  </property>
</Properties>
</file>