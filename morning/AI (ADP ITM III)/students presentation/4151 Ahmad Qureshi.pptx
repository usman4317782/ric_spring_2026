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WEEK 12 COURSEWORK</a:t>
            </a:r>
          </a:p>
          <a:p>
            <a:pPr algn="ctr">
              <a:spcAft>
                <a:spcPts val="1400"/>
              </a:spcAft>
              <a:defRPr sz="4800" b="1">
                <a:solidFill>
                  <a:srgbClr val="FFFFFF"/>
                </a:solidFill>
                <a:latin typeface="Arial"/>
              </a:defRPr>
            </a:pPr>
            <a:r>
              <a:t>Machine Learning Concepts</a:t>
            </a:r>
          </a:p>
          <a:p>
            <a:pPr algn="ctr">
              <a:defRPr sz="2000">
                <a:solidFill>
                  <a:srgbClr val="38BDF8"/>
                </a:solidFill>
                <a:latin typeface="Arial"/>
              </a:defRPr>
            </a:pPr>
            <a:r>
              <a:t>Classification, Regression, Clustering &amp; K-Nearest Neighbors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Machine Learning Types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28416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277977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2563EB"/>
                </a:solidFill>
                <a:latin typeface="Arial"/>
              </a:defRPr>
            </a:pPr>
            <a:r>
              <a:t>Supervised</a:t>
            </a:r>
          </a:p>
          <a:p>
            <a:pPr>
              <a:defRPr sz="1500">
                <a:solidFill>
                  <a:srgbClr val="64748B"/>
                </a:solidFill>
                <a:latin typeface="Arial"/>
              </a:defRPr>
            </a:pPr>
            <a:r>
              <a:t>Learns from labeled training data to predict outcomes for unseen inputs. Includes both classification and regression tasks.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463040"/>
            <a:ext cx="3328416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00016" y="1828800"/>
            <a:ext cx="277977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2563EB"/>
                </a:solidFill>
                <a:latin typeface="Arial"/>
              </a:defRPr>
            </a:pPr>
            <a:r>
              <a:t>Unsupervised</a:t>
            </a:r>
          </a:p>
          <a:p>
            <a:pPr>
              <a:defRPr sz="1500">
                <a:solidFill>
                  <a:srgbClr val="64748B"/>
                </a:solidFill>
                <a:latin typeface="Arial"/>
              </a:defRPr>
            </a:pPr>
            <a:r>
              <a:t>Discovers hidden patterns or intrinsic structures within unlabeled datasets. Key tasks include clustering and dimensionality reduction.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463040"/>
            <a:ext cx="3328416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94192" y="1828800"/>
            <a:ext cx="277977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2563EB"/>
                </a:solidFill>
                <a:latin typeface="Arial"/>
              </a:defRPr>
            </a:pPr>
            <a:r>
              <a:t>Reinforcement</a:t>
            </a:r>
          </a:p>
          <a:p>
            <a:pPr>
              <a:defRPr sz="1500">
                <a:solidFill>
                  <a:srgbClr val="64748B"/>
                </a:solidFill>
                <a:latin typeface="Arial"/>
              </a:defRPr>
            </a:pPr>
            <a:r>
              <a:t>Agents learn optimal decision-making strategies through trial and error, receiving rewards or penalties from an environment.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Introduction to Classification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75504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444398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1">
                <a:solidFill>
                  <a:srgbClr val="2563EB"/>
                </a:solidFill>
                <a:latin typeface="Arial"/>
              </a:defRPr>
            </a:pPr>
            <a:r>
              <a:t>Binary Classification</a:t>
            </a:r>
          </a:p>
          <a:p>
            <a:pPr>
              <a:spcAft>
                <a:spcPts val="1200"/>
              </a:spcAft>
              <a:defRPr sz="1500">
                <a:solidFill>
                  <a:srgbClr val="64748B"/>
                </a:solidFill>
                <a:latin typeface="Arial"/>
              </a:defRPr>
            </a:pPr>
            <a:r>
              <a:t>• Categorizes data points into one of two mutually exclusive classes (e.g., Spam vs. Not Spam, Disease vs. Healthy).</a:t>
            </a:r>
          </a:p>
          <a:p>
            <a:pPr>
              <a:spcAft>
                <a:spcPts val="1200"/>
              </a:spcAft>
              <a:defRPr sz="1500">
                <a:solidFill>
                  <a:srgbClr val="64748B"/>
                </a:solidFill>
                <a:latin typeface="Arial"/>
              </a:defRPr>
            </a:pPr>
            <a:r>
              <a:t>• Algorithm constructs a decision boundary separating the feature space into two distinct classification regions.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2784" y="1463040"/>
            <a:ext cx="5175504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38544" y="1828800"/>
            <a:ext cx="444398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1">
                <a:solidFill>
                  <a:srgbClr val="2563EB"/>
                </a:solidFill>
                <a:latin typeface="Arial"/>
              </a:defRPr>
            </a:pPr>
            <a:r>
              <a:t>Multi-Class Classification</a:t>
            </a:r>
          </a:p>
          <a:p>
            <a:pPr>
              <a:spcAft>
                <a:spcPts val="1200"/>
              </a:spcAft>
              <a:defRPr sz="1500">
                <a:solidFill>
                  <a:srgbClr val="64748B"/>
                </a:solidFill>
                <a:latin typeface="Arial"/>
              </a:defRPr>
            </a:pPr>
            <a:r>
              <a:t>• Assigns instances into one of three or more target classes (e.g., Handwritten digit recognition 0-9, Species identification).</a:t>
            </a:r>
          </a:p>
          <a:p>
            <a:pPr>
              <a:spcAft>
                <a:spcPts val="1200"/>
              </a:spcAft>
              <a:defRPr sz="1500">
                <a:solidFill>
                  <a:srgbClr val="64748B"/>
                </a:solidFill>
                <a:latin typeface="Arial"/>
              </a:defRPr>
            </a:pPr>
            <a:r>
              <a:t>• Utilizes strategies like One-vs-Rest (OvR) or One-vs-One (OvO) to decompose complex decision spaces.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What is Regression?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17550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b="1" sz="1600">
                <a:solidFill>
                  <a:srgbClr val="0F172A"/>
                </a:solidFill>
              </a:rPr>
              <a:t>• Continuous Predictions:</a:t>
            </a:r>
            <a:r>
              <a:rPr sz="1600">
                <a:solidFill>
                  <a:srgbClr val="64748B"/>
                </a:solidFill>
              </a:rPr>
              <a:t> Unlike classification, regression algorithms predict continuous numeric quantities (e.g., stock prices, temperature, revenue).</a:t>
            </a:r>
          </a:p>
          <a:p>
            <a:pPr>
              <a:spcAft>
                <a:spcPts val="1800"/>
              </a:spcAft>
            </a:pPr>
            <a:r>
              <a:rPr b="1" sz="1600">
                <a:solidFill>
                  <a:srgbClr val="0F172A"/>
                </a:solidFill>
              </a:rPr>
              <a:t>• Linear Regression:</a:t>
            </a:r>
            <a:r>
              <a:rPr sz="1600">
                <a:solidFill>
                  <a:srgbClr val="64748B"/>
                </a:solidFill>
              </a:rPr>
              <a:t> Models the relationship between dependent and independent variables by fitting a linear equation to observed data.</a:t>
            </a:r>
          </a:p>
          <a:p>
            <a:pPr>
              <a:spcAft>
                <a:spcPts val="1800"/>
              </a:spcAft>
            </a:pPr>
            <a:r>
              <a:rPr b="1" sz="1600">
                <a:solidFill>
                  <a:srgbClr val="0F172A"/>
                </a:solidFill>
              </a:rPr>
              <a:t>• Evaluation Metrics:</a:t>
            </a:r>
            <a:r>
              <a:rPr sz="1600">
                <a:solidFill>
                  <a:srgbClr val="64748B"/>
                </a:solidFill>
              </a:rPr>
              <a:t> Model accuracy is measured using metrics such as Mean Squared Error (MSE) and R-Squared (R²).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72784" y="1463040"/>
            <a:ext cx="5175504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38544" y="1828800"/>
            <a:ext cx="444398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 b="1">
                <a:solidFill>
                  <a:srgbClr val="2563EB"/>
                </a:solidFill>
                <a:latin typeface="Arial"/>
              </a:defRPr>
            </a:pPr>
            <a:r>
              <a:t>Key Regression Formula</a:t>
            </a:r>
          </a:p>
          <a:p>
            <a:pPr algn="ctr">
              <a:spcAft>
                <a:spcPts val="2000"/>
              </a:spcAft>
              <a:defRPr sz="2600" b="1">
                <a:solidFill>
                  <a:srgbClr val="0F172A"/>
                </a:solidFill>
                <a:latin typeface="Courier New"/>
              </a:defRPr>
            </a:pPr>
            <a:r>
              <a:t>y = β₀ + β₁X + ε</a:t>
            </a:r>
          </a:p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Where y is the continuous dependent variable, X is the independent feature, β represents coefficients, and ε is the residual error term.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Clustering Techniques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011680"/>
            <a:ext cx="963137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 b="1">
                <a:solidFill>
                  <a:srgbClr val="2563EB"/>
                </a:solidFill>
                <a:latin typeface="Arial"/>
              </a:defRPr>
            </a:pPr>
            <a:r>
              <a:t>Unsupervised Grouping Strategy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  <a:latin typeface="Arial"/>
              </a:defRPr>
            </a:pPr>
            <a:r>
              <a:t>• Clustering partitions unlabeled data into clusters where intra-cluster items are highly similar and inter-cluster items are distinct.</a:t>
            </a:r>
          </a:p>
          <a:p>
            <a:pPr>
              <a:defRPr sz="1700">
                <a:solidFill>
                  <a:srgbClr val="0F172A"/>
                </a:solidFill>
                <a:latin typeface="Arial"/>
              </a:defRPr>
            </a:pPr>
            <a:r>
              <a:t>• K-Means calculates iterative centroids to minimize variance/distance, enabling market segmentation, anomaly detection, and data compression.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K-Nearest Neighbors (KNN)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600">
                <a:solidFill>
                  <a:srgbClr val="2563EB"/>
                </a:solidFill>
              </a:rPr>
              <a:t>• Lazy Learning Instance Model: </a:t>
            </a:r>
            <a:r>
              <a:rPr sz="1600">
                <a:solidFill>
                  <a:srgbClr val="64748B"/>
                </a:solidFill>
              </a:rPr>
              <a:t>KNN does not learn an explicit model during training; it stores dataset points and performs computation during prediction.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2563EB"/>
                </a:solidFill>
              </a:rPr>
              <a:t>• Parameter 'K' Choice: </a:t>
            </a:r>
            <a:r>
              <a:rPr sz="1600">
                <a:solidFill>
                  <a:srgbClr val="64748B"/>
                </a:solidFill>
              </a:rPr>
              <a:t>Smaller K values capture fine details but are sensitive to noise; larger K values smooth boundaries but may blur class distinctions.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2563EB"/>
                </a:solidFill>
              </a:rPr>
              <a:t>• Euclidean Distance Metric: </a:t>
            </a:r>
            <a:r>
              <a:rPr sz="1600">
                <a:solidFill>
                  <a:srgbClr val="64748B"/>
                </a:solidFill>
              </a:rPr>
              <a:t>Proximity between feature vectors x and y is computed using distance metrics: d(x, y) = √[Σ(xᵢ - yᵢ)²]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2563EB"/>
                </a:solidFill>
              </a:rPr>
              <a:t>• Versatile Applicability: </a:t>
            </a:r>
            <a:r>
              <a:rPr sz="1600">
                <a:solidFill>
                  <a:srgbClr val="64748B"/>
                </a:solidFill>
              </a:rPr>
              <a:t>Works effectively for both classification (majority vote) and continuous regression (average neighbor value).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ML Paradigm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8229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Algorithm Task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Learning Type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Data Requirement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Output Type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Popular Algorithms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Supervised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Labeled Examples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Discrete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Logistic Regression, KNN, SVM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Supervised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Labeled Examples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Continuous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Linear Regression, Ridge, Lasso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Clustering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Unsupervised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Unlabeled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Cluster Groups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K-Means, DBSCAN, Hierarchical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Instance-Based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Supervised / Lazy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Stored Instances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Discrete / Continuous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K-Nearest Neighbors (KNN)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4800" b="1">
                <a:solidFill>
                  <a:srgbClr val="FFFFFF"/>
                </a:solidFill>
                <a:latin typeface="Arial"/>
              </a:defRPr>
            </a:pPr>
            <a:r>
              <a:t>Questions &amp; Discussion</a:t>
            </a:r>
          </a:p>
          <a:p>
            <a:pPr algn="ctr">
              <a:spcAft>
                <a:spcPts val="2400"/>
              </a:spcAft>
              <a:defRPr sz="2000">
                <a:solidFill>
                  <a:srgbClr val="38BDF8"/>
                </a:solidFill>
                <a:latin typeface="Arial"/>
              </a:defRPr>
            </a:pPr>
            <a:r>
              <a:t>Week 12: Classification, Regression, Clustering &amp; KNN</a:t>
            </a:r>
          </a:p>
          <a:p>
            <a:pPr algn="ctr">
              <a:defRPr sz="1600">
                <a:solidFill>
                  <a:srgbClr val="64748B"/>
                </a:solidFill>
                <a:latin typeface="Arial"/>
              </a:defRPr>
            </a:pPr>
            <a:r>
              <a:t>Machine Learning Coursework Lecture Series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