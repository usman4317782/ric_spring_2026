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Roboto" panose="02000000000000000000" pitchFamily="2" charset="0"/>
      <p:regular r:id="rId18"/>
    </p:embeddedFont>
    <p:embeddedFont>
      <p:font typeface="Roboto Bold" panose="02000000000000000000" charset="0"/>
      <p:regular r:id="rId19"/>
    </p:embeddedFont>
    <p:embeddedFont>
      <p:font typeface="Roboto Light" panose="02000000000000000000" pitchFamily="2" charset="0"/>
      <p:regular r:id="rId20"/>
    </p:embeddedFont>
    <p:embeddedFont>
      <p:font typeface="Roboto Medium" panose="02000000000000000000" pitchFamily="2" charset="0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8453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240CC-9F34-6D58-BDAB-0D82B25D8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2C5AA7-7A4B-74AD-0DD2-CFB598F1EB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4D3479-8A15-E760-8668-2BF61F6B0D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162EE-66B0-63B0-2DAB-CF5FF2D8C5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289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47837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Working with Text Data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247528"/>
            <a:ext cx="4722763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Sentiment Analysis of Movie Reviews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96119" y="3168848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Presented by: Muhammad Mubashir 4160 — Course: Artificial Intelligence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283271"/>
            <a:ext cx="4722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What is Text Data?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925119" y="1850231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 data is any information expressed in words rather than numbers. It's the raw material for many AI tasks.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925119" y="2463329"/>
            <a:ext cx="472276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Movie reviews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Emails and chat messages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Social media posts and news articles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feedback and support tickets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925119" y="3678734"/>
            <a:ext cx="517996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 sentence: This sentence is an example of </a:t>
            </a:r>
            <a:r>
              <a:rPr lang="en-US" sz="8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text data</a:t>
            </a: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8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981C93-4009-32F8-1B06-698FDCED2786}"/>
              </a:ext>
            </a:extLst>
          </p:cNvPr>
          <p:cNvSpPr/>
          <p:nvPr/>
        </p:nvSpPr>
        <p:spPr>
          <a:xfrm>
            <a:off x="8049490" y="4843172"/>
            <a:ext cx="1055591" cy="22939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13086"/>
            <a:ext cx="3053135" cy="17173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99892" y="1237506"/>
            <a:ext cx="4752677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Types of Data Represented as String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899892" y="1733624"/>
            <a:ext cx="520987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</a:t>
            </a:r>
            <a:r>
              <a:rPr lang="en-US" sz="110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string</a:t>
            </a: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a sequence of characters used to store textual information.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899892" y="2087984"/>
            <a:ext cx="4752677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 name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Email address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Movie review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 description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Comments &amp; chat messages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899892" y="3547839"/>
            <a:ext cx="4752677" cy="372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Concatenated example (raw input): </a:t>
            </a:r>
            <a:r>
              <a:rPr lang="en-US" sz="850" dirty="0">
                <a:solidFill>
                  <a:srgbClr val="CFD0D8"/>
                </a:solidFill>
                <a:highlight>
                  <a:srgbClr val="0D0D2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DataStringNameAliReviewGreat Movie!Emailali@gmail.comCityLahore</a:t>
            </a:r>
            <a:endParaRPr lang="en-US" sz="8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AC7288-E4E0-956B-6119-7BA0BF52EAEB}"/>
              </a:ext>
            </a:extLst>
          </p:cNvPr>
          <p:cNvSpPr/>
          <p:nvPr/>
        </p:nvSpPr>
        <p:spPr>
          <a:xfrm>
            <a:off x="8063345" y="4842164"/>
            <a:ext cx="1046424" cy="2216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00583"/>
            <a:ext cx="4722763" cy="343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What is Text Processing?</a:t>
            </a:r>
            <a:endParaRPr lang="en-US" sz="2150" dirty="0"/>
          </a:p>
        </p:txBody>
      </p:sp>
      <p:sp>
        <p:nvSpPr>
          <p:cNvPr id="4" name="Text 1"/>
          <p:cNvSpPr/>
          <p:nvPr/>
        </p:nvSpPr>
        <p:spPr>
          <a:xfrm>
            <a:off x="496119" y="1043360"/>
            <a:ext cx="4722763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Before models can interpret text, data must be prepared through cleaning and transformation.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96119" y="1625650"/>
            <a:ext cx="274662" cy="1715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01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96119" y="1839962"/>
            <a:ext cx="2294855" cy="19050"/>
          </a:xfrm>
          <a:prstGeom prst="rect">
            <a:avLst/>
          </a:prstGeom>
          <a:solidFill>
            <a:srgbClr val="5A6E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496119" y="1946672"/>
            <a:ext cx="2294855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Remove noise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96119" y="2240979"/>
            <a:ext cx="2294855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Strip punctuation, emojis (if needed), and extraneous characters.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923952" y="1625650"/>
            <a:ext cx="274662" cy="1715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02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923952" y="1839962"/>
            <a:ext cx="2294930" cy="19050"/>
          </a:xfrm>
          <a:prstGeom prst="rect">
            <a:avLst/>
          </a:prstGeom>
          <a:solidFill>
            <a:srgbClr val="5A6E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8"/>
          <p:cNvSpPr/>
          <p:nvPr/>
        </p:nvSpPr>
        <p:spPr>
          <a:xfrm>
            <a:off x="2923952" y="1946672"/>
            <a:ext cx="2294930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Normalise text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923952" y="2240979"/>
            <a:ext cx="2294930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Convert to lowercase and collapse extra spaces.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96119" y="2909590"/>
            <a:ext cx="274662" cy="1715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03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96119" y="3123902"/>
            <a:ext cx="4722763" cy="19050"/>
          </a:xfrm>
          <a:prstGeom prst="rect">
            <a:avLst/>
          </a:prstGeom>
          <a:solidFill>
            <a:srgbClr val="5A6E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2"/>
          <p:cNvSpPr/>
          <p:nvPr/>
        </p:nvSpPr>
        <p:spPr>
          <a:xfrm>
            <a:off x="496119" y="3230612"/>
            <a:ext cx="4722763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Tokenize &amp; filter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96119" y="3524920"/>
            <a:ext cx="472276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Split into words and remove stop words (common words with little meaning).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96119" y="3993877"/>
            <a:ext cx="4722763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Example</a:t>
            </a:r>
            <a:endParaRPr lang="en-US" sz="105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Original: "This Movie Is Amazing!!"</a:t>
            </a:r>
            <a:endParaRPr lang="en-US" sz="105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Processed: </a:t>
            </a:r>
            <a:r>
              <a:rPr lang="en-US" sz="1050" dirty="0">
                <a:solidFill>
                  <a:srgbClr val="CFD0D8"/>
                </a:solidFill>
                <a:highlight>
                  <a:srgbClr val="5A6ED8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movie amazing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74068"/>
            <a:ext cx="3902943" cy="21953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49701" y="1051545"/>
            <a:ext cx="390294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What is Sentiment Analysis?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749701" y="154766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Sentiment Analysis is an AI technique that detects the emotion or opinion expressed in 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749701" y="2128838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Positive</a:t>
            </a: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conveys praise, enjoyment (</a:t>
            </a: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😊</a:t>
            </a: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Neutral</a:t>
            </a: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factual or indifferent tone (</a:t>
            </a: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😐</a:t>
            </a: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Negative</a:t>
            </a: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displeasure or criticism (</a:t>
            </a: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☹</a:t>
            </a: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3067869"/>
            <a:ext cx="3902943" cy="1006376"/>
          </a:xfrm>
          <a:prstGeom prst="roundRect">
            <a:avLst>
              <a:gd name="adj" fmla="val 5917"/>
            </a:avLst>
          </a:prstGeom>
          <a:solidFill>
            <a:srgbClr val="182567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1460" y="3282925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3230835"/>
            <a:ext cx="330048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Uses natural language processing (NLP) and machine learning models to map words and phrases to sentiment labels.</a:t>
            </a:r>
            <a:endParaRPr lang="en-US" sz="11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13B19B-6F02-D617-05E8-F87C83D84137}"/>
              </a:ext>
            </a:extLst>
          </p:cNvPr>
          <p:cNvSpPr/>
          <p:nvPr/>
        </p:nvSpPr>
        <p:spPr>
          <a:xfrm>
            <a:off x="8063345" y="4842164"/>
            <a:ext cx="1011382" cy="21474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58217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Example Movie Reviews &amp; Labels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96119" y="1496095"/>
            <a:ext cx="8151763" cy="2448223"/>
          </a:xfrm>
          <a:prstGeom prst="roundRect">
            <a:avLst>
              <a:gd name="adj" fmla="val 2432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500881" y="1500857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500881" y="1500857"/>
            <a:ext cx="4071119" cy="406450"/>
          </a:xfrm>
          <a:custGeom>
            <a:avLst/>
            <a:gdLst/>
            <a:ahLst/>
            <a:cxnLst/>
            <a:rect l="l" t="t" r="r" b="b"/>
            <a:pathLst>
              <a:path w="4071119" h="406450">
                <a:moveTo>
                  <a:pt x="49619" y="0"/>
                </a:moveTo>
                <a:lnTo>
                  <a:pt x="4071119" y="0"/>
                </a:lnTo>
                <a:lnTo>
                  <a:pt x="4071119" y="406450"/>
                </a:lnTo>
                <a:lnTo>
                  <a:pt x="0" y="406450"/>
                </a:lnTo>
                <a:lnTo>
                  <a:pt x="0" y="49619"/>
                </a:lnTo>
                <a:arcTo wR="49619" hR="49619" stAng="10800000" swAng="5400000"/>
                <a:close/>
              </a:path>
            </a:pathLst>
          </a:custGeom>
          <a:solidFill>
            <a:srgbClr val="24379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642640" y="1590675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Movie Review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500857"/>
            <a:ext cx="4071119" cy="406450"/>
          </a:xfrm>
          <a:custGeom>
            <a:avLst/>
            <a:gdLst/>
            <a:ahLst/>
            <a:cxnLst/>
            <a:rect l="l" t="t" r="r" b="b"/>
            <a:pathLst>
              <a:path w="4071119" h="406450">
                <a:moveTo>
                  <a:pt x="0" y="0"/>
                </a:moveTo>
                <a:lnTo>
                  <a:pt x="4021500" y="0"/>
                </a:lnTo>
                <a:arcTo wR="49619" hR="49619" stAng="16200000" swAng="5400000"/>
                <a:lnTo>
                  <a:pt x="4071119" y="406450"/>
                </a:lnTo>
                <a:lnTo>
                  <a:pt x="0" y="406450"/>
                </a:lnTo>
                <a:lnTo>
                  <a:pt x="0" y="0"/>
                </a:lnTo>
                <a:close/>
              </a:path>
            </a:pathLst>
          </a:custGeom>
          <a:solidFill>
            <a:srgbClr val="24379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4716140" y="1590675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Sentiment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0881" y="1907307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642640" y="1997125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movie was fantastic.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16140" y="1997125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Positive </a:t>
            </a: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😊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0881" y="2313756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642640" y="2403574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was an average movie.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16140" y="2403574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Neutral </a:t>
            </a: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😐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0881" y="2720206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642640" y="2810024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 hated this movie.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16140" y="2810024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Negative </a:t>
            </a: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☹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0881" y="3126656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642640" y="3216473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Excellent acting and story.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16140" y="3216473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Positive </a:t>
            </a: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😊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0881" y="3533105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642640" y="3622923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Waste of time.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16140" y="3622923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Negative </a:t>
            </a: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☹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6119" y="4103787"/>
            <a:ext cx="860896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labelled examples form the training and evaluation data for supervised sentiment models.</a:t>
            </a:r>
            <a:endParaRPr lang="en-US" sz="85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93BED0B-04AC-121D-E151-DEA5C1E615BB}"/>
              </a:ext>
            </a:extLst>
          </p:cNvPr>
          <p:cNvSpPr/>
          <p:nvPr/>
        </p:nvSpPr>
        <p:spPr>
          <a:xfrm>
            <a:off x="7987145" y="4825265"/>
            <a:ext cx="1069446" cy="27362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140991"/>
            <a:ext cx="4722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How Sentiment Analysis Works</a:t>
            </a:r>
            <a:endParaRPr lang="en-US" sz="22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1707952"/>
            <a:ext cx="4722763" cy="177217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312044" y="2981302"/>
            <a:ext cx="712323" cy="27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Output Sentiment</a:t>
            </a:r>
            <a:endParaRPr lang="en-US" sz="850" dirty="0"/>
          </a:p>
        </p:txBody>
      </p:sp>
      <p:sp>
        <p:nvSpPr>
          <p:cNvPr id="6" name="Text 2"/>
          <p:cNvSpPr/>
          <p:nvPr/>
        </p:nvSpPr>
        <p:spPr>
          <a:xfrm>
            <a:off x="3414322" y="3049912"/>
            <a:ext cx="712323" cy="13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Train / Infer</a:t>
            </a: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2521479" y="2981302"/>
            <a:ext cx="712323" cy="27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Extract Features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1628635" y="3049912"/>
            <a:ext cx="712323" cy="13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Clean Text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716276" y="2981302"/>
            <a:ext cx="712323" cy="27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Collect Reviews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496119" y="3639592"/>
            <a:ext cx="4722763" cy="3628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Caption: A streamlined pipeline shows how raw reviews become labelled sentiment outputs used in reporting or product decisions.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045146"/>
            <a:ext cx="3053135" cy="30531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99892" y="1357685"/>
            <a:ext cx="4752677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Real‑Life Applications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899892" y="1853803"/>
            <a:ext cx="475267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Companies use sentiment analysis to turn large volumes of text into actionable insights.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899892" y="2434977"/>
            <a:ext cx="4752677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 public reaction to new films (streaming platforms)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Analyse product feedback to guide improvements (e‑commerce)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 trends and moderate toxic content on social media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Summarise customer sentiment at scale for decision-makers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899892" y="3618458"/>
            <a:ext cx="520987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Example: Thousands of movie reviews reveal whether audiences enjoyed a title and why.</a:t>
            </a:r>
            <a:endParaRPr lang="en-US" sz="8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124784-A307-B0CB-C657-85BD48CB4BF7}"/>
              </a:ext>
            </a:extLst>
          </p:cNvPr>
          <p:cNvSpPr/>
          <p:nvPr/>
        </p:nvSpPr>
        <p:spPr>
          <a:xfrm>
            <a:off x="8021782" y="4883585"/>
            <a:ext cx="1087987" cy="19955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760214"/>
            <a:ext cx="4722763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Advantages of Automated Sentiment Analysis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925119" y="1681535"/>
            <a:ext cx="2290465" cy="1279996"/>
          </a:xfrm>
          <a:prstGeom prst="roundRect">
            <a:avLst>
              <a:gd name="adj" fmla="val 4652"/>
            </a:avLst>
          </a:prstGeom>
          <a:solidFill>
            <a:srgbClr val="182567"/>
          </a:solidFill>
          <a:ln w="4763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PK" dirty="0"/>
          </a:p>
        </p:txBody>
      </p:sp>
      <p:sp>
        <p:nvSpPr>
          <p:cNvPr id="5" name="Text 2"/>
          <p:cNvSpPr/>
          <p:nvPr/>
        </p:nvSpPr>
        <p:spPr>
          <a:xfrm>
            <a:off x="4071640" y="1828056"/>
            <a:ext cx="1997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Speed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71640" y="2134567"/>
            <a:ext cx="19974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Quickly checks thousands of reviews and comments.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57342" y="1681535"/>
            <a:ext cx="2290539" cy="1279996"/>
          </a:xfrm>
          <a:prstGeom prst="roundRect">
            <a:avLst>
              <a:gd name="adj" fmla="val 4652"/>
            </a:avLst>
          </a:prstGeom>
          <a:solidFill>
            <a:srgbClr val="182567"/>
          </a:solidFill>
          <a:ln w="4763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PK" dirty="0"/>
          </a:p>
        </p:txBody>
      </p:sp>
      <p:sp>
        <p:nvSpPr>
          <p:cNvPr id="8" name="Text 5"/>
          <p:cNvSpPr/>
          <p:nvPr/>
        </p:nvSpPr>
        <p:spPr>
          <a:xfrm>
            <a:off x="6503863" y="1828056"/>
            <a:ext cx="19974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Scalability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503863" y="2134567"/>
            <a:ext cx="19974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Handles large datasets without proportional human efforts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25119" y="3103290"/>
            <a:ext cx="2290465" cy="1279996"/>
          </a:xfrm>
          <a:prstGeom prst="roundRect">
            <a:avLst>
              <a:gd name="adj" fmla="val 4652"/>
            </a:avLst>
          </a:prstGeom>
          <a:solidFill>
            <a:srgbClr val="182567"/>
          </a:solidFill>
          <a:ln w="4763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8"/>
          <p:cNvSpPr/>
          <p:nvPr/>
        </p:nvSpPr>
        <p:spPr>
          <a:xfrm>
            <a:off x="4071640" y="3249811"/>
            <a:ext cx="1997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Customer understanding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71640" y="3556322"/>
            <a:ext cx="19974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Helps identify what customers like, dislike, or want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357342" y="3103290"/>
            <a:ext cx="2290539" cy="1279996"/>
          </a:xfrm>
          <a:prstGeom prst="roundRect">
            <a:avLst>
              <a:gd name="adj" fmla="val 4652"/>
            </a:avLst>
          </a:prstGeom>
          <a:solidFill>
            <a:srgbClr val="182567"/>
          </a:solidFill>
          <a:ln w="4763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1"/>
          <p:cNvSpPr/>
          <p:nvPr/>
        </p:nvSpPr>
        <p:spPr>
          <a:xfrm>
            <a:off x="6503863" y="3249811"/>
            <a:ext cx="19974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Better decisions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503863" y="3556322"/>
            <a:ext cx="19974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Helps businesses improve their products, marketing, and services..</a:t>
            </a:r>
            <a:endParaRPr lang="en-US" sz="11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7170A0-073C-58C1-F9BC-02032AD9EF0E}"/>
              </a:ext>
            </a:extLst>
          </p:cNvPr>
          <p:cNvSpPr/>
          <p:nvPr/>
        </p:nvSpPr>
        <p:spPr>
          <a:xfrm>
            <a:off x="8007927" y="4849091"/>
            <a:ext cx="1087582" cy="2286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056829"/>
            <a:ext cx="4722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Conclusion &amp; Key Takeaways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96119" y="1623789"/>
            <a:ext cx="4722763" cy="128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 data is stored as </a:t>
            </a:r>
            <a:r>
              <a:rPr lang="en-US" sz="110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strings</a:t>
            </a: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includes reviews, comments and messages.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Clean, tokenised text improves model accuracy.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Sentiment analysis classifies text as </a:t>
            </a:r>
            <a:r>
              <a:rPr lang="en-US" sz="1100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Positive</a:t>
            </a: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100" dirty="0">
                <a:solidFill>
                  <a:srgbClr val="24379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Neutral</a:t>
            </a: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or </a:t>
            </a:r>
            <a:r>
              <a:rPr lang="en-US" sz="1100" dirty="0">
                <a:solidFill>
                  <a:srgbClr val="0000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Negative</a:t>
            </a: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Applied at scale, it saves time and supports better business decisions.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066008"/>
            <a:ext cx="4722763" cy="1020589"/>
          </a:xfrm>
          <a:prstGeom prst="roundRect">
            <a:avLst>
              <a:gd name="adj" fmla="val 5834"/>
            </a:avLst>
          </a:prstGeom>
          <a:solidFill>
            <a:srgbClr val="182567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877" y="3266777"/>
            <a:ext cx="177180" cy="1417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6816" y="3243188"/>
            <a:ext cx="412030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Next steps: gather labelled reviews, choose features (bag-of-words or embeddings), and evaluate model performance on a holdout set.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1CACC-1724-F664-CF81-C1E5438A3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160A3B2-09BF-56E7-703D-B0CAECFFF8FD}"/>
              </a:ext>
            </a:extLst>
          </p:cNvPr>
          <p:cNvSpPr/>
          <p:nvPr/>
        </p:nvSpPr>
        <p:spPr>
          <a:xfrm>
            <a:off x="3373500" y="2332223"/>
            <a:ext cx="2396999" cy="875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0E72AA-C512-1484-AB86-6DB110E2E573}"/>
              </a:ext>
            </a:extLst>
          </p:cNvPr>
          <p:cNvSpPr/>
          <p:nvPr/>
        </p:nvSpPr>
        <p:spPr>
          <a:xfrm>
            <a:off x="8021782" y="4883585"/>
            <a:ext cx="1087987" cy="19955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07230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559</Words>
  <Application>Microsoft Office PowerPoint</Application>
  <PresentationFormat>On-screen Show (16:9)</PresentationFormat>
  <Paragraphs>93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Roboto Light</vt:lpstr>
      <vt:lpstr>Roboto</vt:lpstr>
      <vt:lpstr>Consolas</vt:lpstr>
      <vt:lpstr>Roboto Medium</vt:lpstr>
      <vt:lpstr>Roboto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mubashir ali</cp:lastModifiedBy>
  <cp:revision>3</cp:revision>
  <dcterms:created xsi:type="dcterms:W3CDTF">2026-08-05T16:06:19Z</dcterms:created>
  <dcterms:modified xsi:type="dcterms:W3CDTF">2026-08-11T17:11:27Z</dcterms:modified>
</cp:coreProperties>
</file>