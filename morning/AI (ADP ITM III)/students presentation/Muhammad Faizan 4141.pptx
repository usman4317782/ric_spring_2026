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</p:embeddedFont>
    <p:embeddedFont>
      <p:font typeface="Roboto Bold" panose="02000000000000000000" charset="0"/>
      <p:regular r:id="rId22"/>
    </p:embeddedFont>
    <p:embeddedFont>
      <p:font typeface="Roboto Medium" panose="02000000000000000000" pitchFamily="2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0453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DF0D0-43F9-6037-85D2-45E052B61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D873B9-9C5B-55BB-0523-CD1C24005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788A7F-2D42-B6D9-CD5C-983440AB6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2453D-62F1-2DBC-162B-2B619B5F14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710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C2D14-5A66-9545-81EE-F894CDC2D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6F0B2-C893-16ED-3844-0F12ADDF80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8C2447-FBBE-0DFE-83F9-0408C1487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4FB96-0E17-47A3-B6A1-DE8802337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541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80186" y="1044431"/>
            <a:ext cx="5196714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496119" y="2412281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6B1670-7C43-3F9D-F266-DA00216DBAC5}"/>
              </a:ext>
            </a:extLst>
          </p:cNvPr>
          <p:cNvSpPr txBox="1"/>
          <p:nvPr/>
        </p:nvSpPr>
        <p:spPr>
          <a:xfrm>
            <a:off x="496119" y="2571750"/>
            <a:ext cx="4791469" cy="705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Presented by:</a:t>
            </a: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Malik Faizan /  4141 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Submitted to:</a:t>
            </a: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Sir Usman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Class: </a:t>
            </a:r>
            <a:r>
              <a:rPr lang="en-US" sz="1050" b="1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</a:t>
            </a:r>
            <a:r>
              <a:rPr lang="en-US" sz="10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TM</a:t>
            </a: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Semester 03</a:t>
            </a:r>
            <a:endParaRPr lang="en-US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019729-92BE-6C07-5033-CCDB290576C5}"/>
              </a:ext>
            </a:extLst>
          </p:cNvPr>
          <p:cNvSpPr txBox="1"/>
          <p:nvPr/>
        </p:nvSpPr>
        <p:spPr>
          <a:xfrm>
            <a:off x="466330" y="1903184"/>
            <a:ext cx="634109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3100" b="1" dirty="0">
                <a:solidFill>
                  <a:schemeClr val="bg1">
                    <a:lumMod val="95000"/>
                  </a:schemeClr>
                </a:solidFill>
              </a:rPr>
              <a:t>Artificial</a:t>
            </a:r>
            <a:r>
              <a:rPr lang="en-US" sz="3100" b="1" dirty="0">
                <a:solidFill>
                  <a:schemeClr val="bg1">
                    <a:lumMod val="95000"/>
                  </a:schemeClr>
                </a:solidFill>
              </a:rPr>
              <a:t> Intelligence</a:t>
            </a:r>
            <a:endParaRPr lang="en-PK" sz="3100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4" name="Picture 13" descr="Abstract blockchain network background">
            <a:extLst>
              <a:ext uri="{FF2B5EF4-FFF2-40B4-BE49-F238E27FC236}">
                <a16:creationId xmlns:a16="http://schemas.microsoft.com/office/drawing/2014/main" id="{8FF68338-2B7F-6AF6-BEC0-6A12A4057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628F3-CE12-CB3F-A292-77F919FCB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5F5A2EB-239B-453A-0D53-9D646B3D7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680FB39-211A-2228-EA0C-8EFBF2812C4E}"/>
              </a:ext>
            </a:extLst>
          </p:cNvPr>
          <p:cNvSpPr/>
          <p:nvPr/>
        </p:nvSpPr>
        <p:spPr>
          <a:xfrm>
            <a:off x="496119" y="870719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Introduction to Probability‑Based Classification</a:t>
            </a:r>
            <a:endParaRPr lang="en-US" sz="27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8FBBD2D-256B-543D-EA72-07A22A3B9054}"/>
              </a:ext>
            </a:extLst>
          </p:cNvPr>
          <p:cNvSpPr/>
          <p:nvPr/>
        </p:nvSpPr>
        <p:spPr>
          <a:xfrm>
            <a:off x="496119" y="2412281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Probability‑based classification uses probabilistic reasoning to predict which category an input belongs to. It quantifies uncertainty and ranks classes by likelihood — for example, deciding if an email is </a:t>
            </a:r>
            <a:r>
              <a:rPr lang="en-US" sz="11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Spam</a:t>
            </a: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</a:t>
            </a:r>
            <a:r>
              <a:rPr lang="en-US" sz="11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Not Spam</a:t>
            </a: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based on calculated probabilities.</a:t>
            </a:r>
            <a:endParaRPr lang="en-US" sz="11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EFB6F24-5598-ADB6-B090-2AD6A70CB05D}"/>
              </a:ext>
            </a:extLst>
          </p:cNvPr>
          <p:cNvSpPr/>
          <p:nvPr/>
        </p:nvSpPr>
        <p:spPr>
          <a:xfrm>
            <a:off x="496119" y="3479006"/>
            <a:ext cx="4722763" cy="793775"/>
          </a:xfrm>
          <a:prstGeom prst="roundRect">
            <a:avLst>
              <a:gd name="adj" fmla="val 7501"/>
            </a:avLst>
          </a:prstGeom>
          <a:solidFill>
            <a:srgbClr val="18256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7AA711D8-11EE-10A4-1F9C-6B8B170483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7" y="3679775"/>
            <a:ext cx="177180" cy="141759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C2D8AA5D-891B-D547-4F30-45D129A536B5}"/>
              </a:ext>
            </a:extLst>
          </p:cNvPr>
          <p:cNvSpPr/>
          <p:nvPr/>
        </p:nvSpPr>
        <p:spPr>
          <a:xfrm>
            <a:off x="956816" y="3656186"/>
            <a:ext cx="4120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Theme accents: #5A6ED8, #243799 used for emphasis throughout the deck.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59140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11076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Revision of Probability Concepts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25119" y="1678037"/>
            <a:ext cx="4722763" cy="844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Probability measures how likely an event is to occur. Values range from </a:t>
            </a:r>
            <a:r>
              <a:rPr lang="en-US" sz="11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</a:t>
            </a: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(impossible) to </a:t>
            </a:r>
            <a:r>
              <a:rPr lang="en-US" sz="11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</a:t>
            </a: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(certain). The basic formula is: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highlight>
                  <a:srgbClr val="0D0D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Probability = Favorable outcomes / Total outcomes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682180"/>
            <a:ext cx="354360" cy="3543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56658" y="2682180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Simple example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456658" y="2988692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Toss a fair coin: P(Heads) = 1/2 = 0.5.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3499024"/>
            <a:ext cx="354360" cy="35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456658" y="3499024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Key property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456658" y="3805535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mutually exclusive outcomes sum to 1 (completeness).</a:t>
            </a:r>
            <a:endParaRPr lang="en-US" sz="1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517791-D867-255B-847E-3BC044B7FD35}"/>
              </a:ext>
            </a:extLst>
          </p:cNvPr>
          <p:cNvSpPr/>
          <p:nvPr/>
        </p:nvSpPr>
        <p:spPr>
          <a:xfrm>
            <a:off x="7980218" y="4849091"/>
            <a:ext cx="1108364" cy="22145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288"/>
            <a:ext cx="8151763" cy="315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Conditional Probability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935757"/>
            <a:ext cx="8151763" cy="513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spcAft>
                <a:spcPts val="950"/>
              </a:spcAft>
              <a:buNone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Conditional probability describes the probability of an event A given that B has occurred. It refines predictions using available evidence.</a:t>
            </a:r>
            <a:endParaRPr lang="en-US" sz="9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Formula:</a:t>
            </a: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950" dirty="0">
                <a:solidFill>
                  <a:srgbClr val="CFD0D8"/>
                </a:solidFill>
                <a:highlight>
                  <a:srgbClr val="0D0D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P(A|B)</a:t>
            </a: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probability of A when B is true.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01924"/>
            <a:ext cx="5190753" cy="29197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99708" y="2530450"/>
            <a:ext cx="26528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Practical intuition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99708" y="2840162"/>
            <a:ext cx="2652861" cy="964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we know a student studied (B), the chance they pass (A) usually increases: </a:t>
            </a:r>
            <a:r>
              <a:rPr lang="en-US" sz="950" dirty="0">
                <a:solidFill>
                  <a:srgbClr val="CFD0D8"/>
                </a:solidFill>
                <a:highlight>
                  <a:srgbClr val="0D0D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P(Pass | Studied) &gt; P(Pass)</a:t>
            </a: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Conditional probability is the bridge from raw data to informed prediction.</a:t>
            </a:r>
            <a:endParaRPr lang="en-US" sz="9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65DAA0-9B87-E2B8-F587-2497CFE1478D}"/>
              </a:ext>
            </a:extLst>
          </p:cNvPr>
          <p:cNvSpPr/>
          <p:nvPr/>
        </p:nvSpPr>
        <p:spPr>
          <a:xfrm>
            <a:off x="8035636" y="4842163"/>
            <a:ext cx="1025237" cy="2493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14871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Prior Probability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681832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 probability represents initial belief about class frequencies before seeing new evidence. In classification it captures class prevalence in the training data.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521744"/>
            <a:ext cx="2290465" cy="1506810"/>
          </a:xfrm>
          <a:prstGeom prst="roundRect">
            <a:avLst>
              <a:gd name="adj" fmla="val 3952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3"/>
          <p:cNvSpPr/>
          <p:nvPr/>
        </p:nvSpPr>
        <p:spPr>
          <a:xfrm>
            <a:off x="642640" y="2668265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How to compute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974777"/>
            <a:ext cx="1997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Prior(class) = count(samples in class) / total samples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8342" y="2521744"/>
            <a:ext cx="2290539" cy="1506810"/>
          </a:xfrm>
          <a:prstGeom prst="roundRect">
            <a:avLst>
              <a:gd name="adj" fmla="val 3952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3074863" y="2668265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Example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74863" y="2974777"/>
            <a:ext cx="199749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70% of emails are normal and 30% are spam, then Prior(Normal)=0.70, Prior(Spam)=0.30.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64878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Posterior Probability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731838"/>
            <a:ext cx="4722763" cy="1293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Posterior probability is the updated probability of a class after incorporating evidence. It combines the prior with the likelihood of observed features.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words: </a:t>
            </a:r>
            <a:r>
              <a:rPr lang="en-US" sz="11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Prior → Evidence → Posterior</a:t>
            </a: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After seeing words like </a:t>
            </a:r>
            <a:r>
              <a:rPr lang="en-US" sz="1100" i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"Win"</a:t>
            </a: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</a:t>
            </a:r>
            <a:r>
              <a:rPr lang="en-US" sz="1100" i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"Free"</a:t>
            </a: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the posterior probability of an email being spam typically increases.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84847"/>
            <a:ext cx="4722763" cy="793775"/>
          </a:xfrm>
          <a:prstGeom prst="roundRect">
            <a:avLst>
              <a:gd name="adj" fmla="val 7501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7" y="3385617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6816" y="3362027"/>
            <a:ext cx="4120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Posterior is central to Bayesian classifiers — it is what we ultimately compare across classes.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4876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Introduction to Naive Bayes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001837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Naive Bayes is a probabilistic classifier built on Bayes' Theorem. It assumes features are independent given the class — the "naïve" assumption — which simplifies computation and scales to high‑dimensional data.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068562"/>
            <a:ext cx="354360" cy="3543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6119" y="2600102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Why use it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96119" y="2906613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Fast, simple, robust for text tasks (spam, sentiment, topic tagging).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416945"/>
            <a:ext cx="354360" cy="35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6119" y="3948485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Assumption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96119" y="425499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Features are conditionally independent given the class — often false but still effective in practice.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47762"/>
            <a:ext cx="8151763" cy="22348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78791" y="1955340"/>
            <a:ext cx="1231850" cy="220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Collect Data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1478791" y="2238642"/>
            <a:ext cx="1231850" cy="35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Gather labeled training examples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141353" y="2017098"/>
            <a:ext cx="1231850" cy="220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Estimate Priors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141353" y="2300400"/>
            <a:ext cx="1231850" cy="35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 P(class) from labels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835284" y="1955340"/>
            <a:ext cx="1231850" cy="441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Compute Likelihoods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835284" y="2459206"/>
            <a:ext cx="1231850" cy="529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Estimate P(feature|class) values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13530" y="1840646"/>
            <a:ext cx="1231849" cy="220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Classify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13530" y="2123949"/>
            <a:ext cx="1231849" cy="529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 posteriors and pick highest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6119" y="3542109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diagram summarises the algorithmic steps. The model multiplies priors by feature likelihoods to obtain unnormalised posteriors, then selects the class with the highest posterior.</a:t>
            </a:r>
            <a:endParaRPr lang="en-US" sz="11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B1F4C-1707-A25C-4DBE-DB1E49430E35}"/>
              </a:ext>
            </a:extLst>
          </p:cNvPr>
          <p:cNvSpPr/>
          <p:nvPr/>
        </p:nvSpPr>
        <p:spPr>
          <a:xfrm>
            <a:off x="8063345" y="4842165"/>
            <a:ext cx="1025237" cy="2216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70669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Working of the Naive Bayes Algorithm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25119" y="1391989"/>
            <a:ext cx="4722763" cy="617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a class C and features f1..fn, Naive Bayes computes: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highlight>
                  <a:srgbClr val="0D0D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P(C | f1..fn) ∝ P(C) × Π P(fi | C)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169319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3"/>
          <p:cNvSpPr/>
          <p:nvPr/>
        </p:nvSpPr>
        <p:spPr>
          <a:xfrm>
            <a:off x="4385816" y="2217986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Steps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385816" y="2524497"/>
            <a:ext cx="4262065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Estimate P(C) from class frequencies (prior).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Estimate P(fi|C) from feature counts (likelihood).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Multiply and compare posteriors across classes.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925119" y="3587576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4385816" y="3636243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Practical notes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385816" y="3942755"/>
            <a:ext cx="4262065" cy="7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Smoothing (e.g., Laplace) prevents zero probabilities.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log probabilities to avoid underflow (sum logs instead of multiplying).</a:t>
            </a:r>
            <a:endParaRPr lang="en-US" sz="1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715A4C-C8F3-2B7C-5960-D7ADF7DFC63F}"/>
              </a:ext>
            </a:extLst>
          </p:cNvPr>
          <p:cNvSpPr/>
          <p:nvPr/>
        </p:nvSpPr>
        <p:spPr>
          <a:xfrm>
            <a:off x="8070273" y="4856018"/>
            <a:ext cx="1011382" cy="22145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13086"/>
            <a:ext cx="3053135" cy="17173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9892" y="899145"/>
            <a:ext cx="4752677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Naive Bayes Classification — Example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99892" y="1749623"/>
            <a:ext cx="475267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Given: Prior(Spam)=0.30, Prior(NotSpam)=0.70. For the message "Congratulations! You won a free prize", compute likelihoods of each word given each class, multiply by priors to get posteriors: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99892" y="2557611"/>
            <a:ext cx="4752677" cy="7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Posterior(Spam) &gt; Posterior(NotSpam) → predict </a:t>
            </a:r>
            <a:r>
              <a:rPr lang="en-US" sz="11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Spam</a:t>
            </a: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Laplace smoothing to handle unseen words and log-sums to stabilise computation.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899892" y="3447083"/>
            <a:ext cx="4752677" cy="779562"/>
          </a:xfrm>
          <a:prstGeom prst="roundRect">
            <a:avLst>
              <a:gd name="adj" fmla="val 7638"/>
            </a:avLst>
          </a:prstGeom>
          <a:solidFill>
            <a:srgbClr val="18256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651" y="3662139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0590" y="3610049"/>
            <a:ext cx="415022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Result: words common in spam raise P(Spam | message) – the classifier assigns the label with the larger posterior.</a:t>
            </a:r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427B8C-CC21-B7DE-E981-548CF25034E2}"/>
              </a:ext>
            </a:extLst>
          </p:cNvPr>
          <p:cNvSpPr/>
          <p:nvPr/>
        </p:nvSpPr>
        <p:spPr>
          <a:xfrm>
            <a:off x="7987145" y="4821382"/>
            <a:ext cx="1101437" cy="24245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1733"/>
            <a:ext cx="4722763" cy="33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Advantages, Limitations &amp; Next Steps</a:t>
            </a:r>
            <a:endParaRPr lang="en-US" sz="2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942752"/>
            <a:ext cx="2297013" cy="165214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6430" y="1096863"/>
            <a:ext cx="19125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726430" y="1385218"/>
            <a:ext cx="1912590" cy="105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Simple, computationally efficient, scales to large feature sets, effective for text classification, needs little training data.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1868" y="942752"/>
            <a:ext cx="2297013" cy="165214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152180" y="1096863"/>
            <a:ext cx="19125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3152180" y="1385218"/>
            <a:ext cx="1912590" cy="105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independence assumption can be violated, zero‑frequency issues without smoothing, ignores feature interactions.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723629"/>
            <a:ext cx="2297013" cy="165214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6430" y="2877741"/>
            <a:ext cx="19125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Practical tips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726430" y="3166095"/>
            <a:ext cx="1912590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Laplace smoothing, use TF or TF‑IDF feature weighting, prefer log probabilities, evaluate with cross‑validation.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1868" y="2723629"/>
            <a:ext cx="2297013" cy="165214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152180" y="2877741"/>
            <a:ext cx="19125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3152180" y="3166095"/>
            <a:ext cx="1912590" cy="105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Naive Bayes remains a powerful baseline: interpretable, fast, and often surprisingly accurate for many real‑world classification tasks.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496119" y="4520654"/>
            <a:ext cx="5179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Presented by:</a:t>
            </a: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Malik Faizan — </a:t>
            </a:r>
            <a:r>
              <a:rPr lang="en-US" sz="10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Submitted to:</a:t>
            </a: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Sir Usman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AA5C8-814E-8780-2279-C33FDF115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DF92431A-0192-EEA2-04D4-29997728A996}"/>
              </a:ext>
            </a:extLst>
          </p:cNvPr>
          <p:cNvSpPr txBox="1"/>
          <p:nvPr/>
        </p:nvSpPr>
        <p:spPr>
          <a:xfrm>
            <a:off x="2171700" y="2287056"/>
            <a:ext cx="48006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100" b="1" dirty="0">
                <a:solidFill>
                  <a:schemeClr val="bg1">
                    <a:lumMod val="95000"/>
                  </a:schemeClr>
                </a:solidFill>
              </a:rPr>
              <a:t>Thank you</a:t>
            </a:r>
            <a:endParaRPr lang="en-PK" sz="31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64D8F0-75B3-5C0A-3BDE-472150493B5D}"/>
              </a:ext>
            </a:extLst>
          </p:cNvPr>
          <p:cNvSpPr/>
          <p:nvPr/>
        </p:nvSpPr>
        <p:spPr>
          <a:xfrm>
            <a:off x="8014855" y="4856018"/>
            <a:ext cx="1080654" cy="20089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45617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832</Words>
  <Application>Microsoft Office PowerPoint</Application>
  <PresentationFormat>On-screen Show (16:9)</PresentationFormat>
  <Paragraphs>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Roboto</vt:lpstr>
      <vt:lpstr>Roboto Bold</vt:lpstr>
      <vt:lpstr>Arial</vt:lpstr>
      <vt:lpstr>Roboto Medium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mubashir ali</cp:lastModifiedBy>
  <cp:revision>2</cp:revision>
  <dcterms:created xsi:type="dcterms:W3CDTF">2026-08-11T15:58:30Z</dcterms:created>
  <dcterms:modified xsi:type="dcterms:W3CDTF">2026-08-11T16:29:15Z</dcterms:modified>
</cp:coreProperties>
</file>